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6" Type="http://schemas.openxmlformats.org/officeDocument/2006/relationships/viewProps" Target="viewProps.xml" /><Relationship Id="rId45" Type="http://schemas.openxmlformats.org/officeDocument/2006/relationships/presProps" Target="presProps.xml" /><Relationship Id="rId1" Type="http://schemas.openxmlformats.org/officeDocument/2006/relationships/slideMaster" Target="slideMasters/slideMaster1.xml" /><Relationship Id="rId48" Type="http://schemas.openxmlformats.org/officeDocument/2006/relationships/tableStyles" Target="tableStyles.xml" /><Relationship Id="rId4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Statistics II Initial Assessment</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January 13, 2026</a:t>
            </a:r>
            <a:br/>
            <a:br/>
            <a:r>
              <a:rPr/>
              <a:t>Barboza-Salerno</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Question 1: Introduction to Data</a:t>
            </a:r>
          </a:p>
        </p:txBody>
      </p:sp>
      <p:sp>
        <p:nvSpPr>
          <p:cNvPr id="4" name="Text Placeholder 3"/>
          <p:cNvSpPr>
            <a:spLocks noGrp="1"/>
          </p:cNvSpPr>
          <p:nvPr>
            <p:ph idx="2" sz="half" type="body"/>
          </p:nvPr>
        </p:nvSpPr>
        <p:spPr/>
        <p:txBody>
          <a:bodyPr/>
          <a:lstStyle/>
          <a:p>
            <a:pPr lvl="0" indent="0" marL="0">
              <a:buNone/>
            </a:pPr>
            <a:r>
              <a:rPr b="1"/>
              <a:t>Question:</a:t>
            </a:r>
            <a:r>
              <a:rPr/>
              <a:t> The table below describes an intervention to reduce PTSD among violence-exposed youth.</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endParaRPr/>
                    </a:p>
                  </a:txBody>
                  <a:tcPr/>
                </a:tc>
                <a:tc>
                  <a:txBody>
                    <a:bodyPr/>
                    <a:lstStyle/>
                    <a:p>
                      <a:pPr lvl="0" indent="0" marL="0">
                        <a:buNone/>
                      </a:pPr>
                      <a:r>
                        <a:rPr/>
                        <a:t>0-365 days PTSD</a:t>
                      </a:r>
                    </a:p>
                  </a:txBody>
                  <a:tcPr/>
                </a:tc>
                <a:tc>
                  <a:txBody>
                    <a:bodyPr/>
                    <a:lstStyle/>
                    <a:p>
                      <a:pPr lvl="0" indent="0" marL="0">
                        <a:buNone/>
                      </a:pPr>
                      <a:r>
                        <a:rPr/>
                        <a:t>0-365 days No PTSD</a:t>
                      </a:r>
                    </a:p>
                  </a:txBody>
                  <a:tcPr/>
                </a:tc>
              </a:tr>
              <a:tr h="0">
                <a:tc>
                  <a:txBody>
                    <a:bodyPr/>
                    <a:lstStyle/>
                    <a:p>
                      <a:pPr lvl="0" indent="0" marL="0">
                        <a:buNone/>
                      </a:pPr>
                      <a:r>
                        <a:rPr/>
                        <a:t>Treatment</a:t>
                      </a:r>
                    </a:p>
                  </a:txBody>
                </a:tc>
                <a:tc>
                  <a:txBody>
                    <a:bodyPr/>
                    <a:lstStyle/>
                    <a:p>
                      <a:pPr lvl="0" indent="0" marL="0">
                        <a:buNone/>
                      </a:pPr>
                      <a:r>
                        <a:rPr/>
                        <a:t>45</a:t>
                      </a:r>
                    </a:p>
                  </a:txBody>
                </a:tc>
                <a:tc>
                  <a:txBody>
                    <a:bodyPr/>
                    <a:lstStyle/>
                    <a:p>
                      <a:pPr lvl="0" indent="0" marL="0">
                        <a:buNone/>
                      </a:pPr>
                      <a:r>
                        <a:rPr/>
                        <a:t>179</a:t>
                      </a:r>
                    </a:p>
                  </a:txBody>
                </a:tc>
              </a:tr>
              <a:tr h="0">
                <a:tc>
                  <a:txBody>
                    <a:bodyPr/>
                    <a:lstStyle/>
                    <a:p>
                      <a:pPr lvl="0" indent="0" marL="0">
                        <a:buNone/>
                      </a:pPr>
                      <a:r>
                        <a:rPr/>
                        <a:t>Control</a:t>
                      </a:r>
                    </a:p>
                  </a:txBody>
                </a:tc>
                <a:tc>
                  <a:txBody>
                    <a:bodyPr/>
                    <a:lstStyle/>
                    <a:p>
                      <a:pPr lvl="0" indent="0" marL="0">
                        <a:buNone/>
                      </a:pPr>
                      <a:r>
                        <a:rPr/>
                        <a:t>28</a:t>
                      </a:r>
                    </a:p>
                  </a:txBody>
                </a:tc>
                <a:tc>
                  <a:txBody>
                    <a:bodyPr/>
                    <a:lstStyle/>
                    <a:p>
                      <a:pPr lvl="0" indent="0" marL="0">
                        <a:buNone/>
                      </a:pPr>
                      <a:r>
                        <a:rPr/>
                        <a:t>199</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342900" marL="342900">
              <a:buAutoNum type="alphaLcPeriod"/>
            </a:pPr>
            <a:r>
              <a:rPr/>
              <a:t>Among all youth in a treatment group, what proportion had PTSD by the end of the first year?</a:t>
            </a:r>
          </a:p>
          <a:p>
            <a:pPr lvl="0" indent="-342900" marL="342900">
              <a:buAutoNum type="alphaLcPeriod"/>
            </a:pPr>
            <a:r>
              <a:rPr/>
              <a:t>What proportion of youth had PTSD in the control group by the end of the first year?</a:t>
            </a:r>
          </a:p>
          <a:p>
            <a:pPr lvl="0" indent="0" marL="0">
              <a:buNone/>
            </a:pPr>
            <a:r>
              <a:rPr b="1"/>
              <a:t>Answer:</a:t>
            </a:r>
            <a:r>
              <a:rPr/>
              <a:t> - </a:t>
            </a:r>
            <a:r>
              <a:rPr b="1"/>
              <a:t>1a.</a:t>
            </a:r>
            <a:r>
              <a:rPr/>
              <a:t> Treatment: 45/224 = </a:t>
            </a:r>
            <a:r>
              <a:rPr b="1"/>
              <a:t>0.201 or 20.1%</a:t>
            </a:r>
            <a:r>
              <a:rPr/>
              <a:t> - </a:t>
            </a:r>
            <a:r>
              <a:rPr b="1"/>
              <a:t>1b.</a:t>
            </a:r>
            <a:r>
              <a:rPr/>
              <a:t> Control: 28/227 = </a:t>
            </a:r>
            <a:r>
              <a:rPr b="1"/>
              <a:t>0.123 or 12.3%</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2: Independence</a:t>
            </a:r>
          </a:p>
        </p:txBody>
      </p:sp>
      <p:sp>
        <p:nvSpPr>
          <p:cNvPr id="3" name="Content Placeholder 2"/>
          <p:cNvSpPr>
            <a:spLocks noGrp="1"/>
          </p:cNvSpPr>
          <p:nvPr>
            <p:ph idx="1"/>
          </p:nvPr>
        </p:nvSpPr>
        <p:spPr/>
        <p:txBody>
          <a:bodyPr/>
          <a:lstStyle/>
          <a:p>
            <a:pPr lvl="0" indent="0" marL="0">
              <a:buNone/>
            </a:pPr>
            <a:r>
              <a:rPr b="1"/>
              <a:t>Question:</a:t>
            </a:r>
            <a:r>
              <a:rPr/>
              <a:t> True or False: A pair of variables are either related or not (independent). Two variables can’t be both associated and independent.</a:t>
            </a:r>
          </a:p>
          <a:p>
            <a:pPr lvl="0" indent="0" marL="0">
              <a:buNone/>
            </a:pPr>
            <a:r>
              <a:rPr b="1"/>
              <a:t>Answer: True</a:t>
            </a:r>
          </a:p>
          <a:p>
            <a:pPr lvl="0" indent="0" marL="0">
              <a:buNone/>
            </a:pPr>
            <a:r>
              <a:rPr/>
              <a:t>Two variables cannot be both associated and independent. Independence means that knowing the value of one variable provides no information about the other variable. If variables are associated (related), they are by definition not independent.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3a-b: Interquartile Range</a:t>
            </a:r>
          </a:p>
        </p:txBody>
      </p:sp>
      <p:sp>
        <p:nvSpPr>
          <p:cNvPr id="3" name="Content Placeholder 2"/>
          <p:cNvSpPr>
            <a:spLocks noGrp="1"/>
          </p:cNvSpPr>
          <p:nvPr>
            <p:ph idx="1"/>
          </p:nvPr>
        </p:nvSpPr>
        <p:spPr/>
        <p:txBody>
          <a:bodyPr/>
          <a:lstStyle/>
          <a:p>
            <a:pPr lvl="0" indent="0" marL="0">
              <a:buNone/>
            </a:pPr>
            <a:r>
              <a:rPr b="1"/>
              <a:t>Question:</a:t>
            </a:r>
            <a:r>
              <a:rPr/>
              <a:t> a. Assume that Q1 describes the 25th percentile. Define Q1 in words. b. Assume Q3 is the 75th percentile. Q3 = 300; Q1 = 100. Calculate the IQR.</a:t>
            </a:r>
          </a:p>
          <a:p>
            <a:pPr lvl="0" indent="0" marL="0">
              <a:buNone/>
            </a:pPr>
            <a:r>
              <a:rPr b="1"/>
              <a:t>Answer:</a:t>
            </a:r>
          </a:p>
          <a:p>
            <a:pPr lvl="0" indent="0" marL="0">
              <a:buNone/>
            </a:pPr>
            <a:r>
              <a:rPr b="1"/>
              <a:t>3a.</a:t>
            </a:r>
            <a:r>
              <a:rPr/>
              <a:t> Q1 is the value below which 25% of the data falls. It represents the first quartile, meaning one-quarter of observations are smaller than this value.</a:t>
            </a:r>
          </a:p>
          <a:p>
            <a:pPr lvl="0" indent="0" marL="0">
              <a:buNone/>
            </a:pPr>
            <a:r>
              <a:rPr b="1"/>
              <a:t>3b.</a:t>
            </a:r>
            <a:r>
              <a:rPr/>
              <a:t> IQR = Q3 - Q1 = 300 - 100 = </a:t>
            </a:r>
            <a:r>
              <a:rPr b="1"/>
              <a:t>200</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3c: IQR vs Standard Deviation</a:t>
            </a:r>
          </a:p>
        </p:txBody>
      </p:sp>
      <p:sp>
        <p:nvSpPr>
          <p:cNvPr id="3" name="Content Placeholder 2"/>
          <p:cNvSpPr>
            <a:spLocks noGrp="1"/>
          </p:cNvSpPr>
          <p:nvPr>
            <p:ph idx="1"/>
          </p:nvPr>
        </p:nvSpPr>
        <p:spPr/>
        <p:txBody>
          <a:bodyPr/>
          <a:lstStyle/>
          <a:p>
            <a:pPr lvl="0" indent="0" marL="0">
              <a:buNone/>
            </a:pPr>
            <a:r>
              <a:rPr b="1"/>
              <a:t>Question:</a:t>
            </a:r>
            <a:r>
              <a:rPr/>
              <a:t> Describe why extreme observations affect the standard deviation more than the interquartile range (IQR).</a:t>
            </a:r>
          </a:p>
          <a:p>
            <a:pPr lvl="0" indent="0" marL="0">
              <a:buNone/>
            </a:pPr>
            <a:r>
              <a:rPr b="1"/>
              <a:t>Answer:</a:t>
            </a:r>
          </a:p>
          <a:p>
            <a:pPr lvl="0" indent="0" marL="0">
              <a:buNone/>
            </a:pPr>
            <a:r>
              <a:rPr/>
              <a:t>The IQR uses only the middle 50% of data, ignoring the top and bottom 25%. Standard deviation uses squared deviations from the mean, so extreme values (which have large deviations) are squared and heavily weighted. The IQR is resistant to outliers; SD is not.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Question 4: Contingency Tables</a:t>
            </a:r>
          </a:p>
        </p:txBody>
      </p:sp>
      <p:sp>
        <p:nvSpPr>
          <p:cNvPr id="4" name="Text Placeholder 3"/>
          <p:cNvSpPr>
            <a:spLocks noGrp="1"/>
          </p:cNvSpPr>
          <p:nvPr>
            <p:ph idx="2" sz="half" type="body"/>
          </p:nvPr>
        </p:nvSpPr>
        <p:spPr/>
        <p:txBody>
          <a:bodyPr/>
          <a:lstStyle/>
          <a:p>
            <a:pPr lvl="0" indent="0" marL="0">
              <a:buNone/>
            </a:pPr>
            <a:r>
              <a:rPr b="1"/>
              <a:t>Question:</a:t>
            </a:r>
            <a:r>
              <a:rPr/>
              <a:t> Use the table below to answer the following questions: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endParaRPr/>
                    </a:p>
                  </a:txBody>
                  <a:tcPr/>
                </a:tc>
                <a:tc>
                  <a:txBody>
                    <a:bodyPr/>
                    <a:lstStyle/>
                    <a:p>
                      <a:pPr lvl="0" indent="0" marL="0">
                        <a:buNone/>
                      </a:pPr>
                      <a:r>
                        <a:rPr/>
                        <a:t>None</a:t>
                      </a:r>
                    </a:p>
                  </a:txBody>
                  <a:tcPr/>
                </a:tc>
                <a:tc>
                  <a:txBody>
                    <a:bodyPr/>
                    <a:lstStyle/>
                    <a:p>
                      <a:pPr lvl="0" indent="0" marL="0">
                        <a:buNone/>
                      </a:pPr>
                      <a:r>
                        <a:rPr/>
                        <a:t>Small</a:t>
                      </a:r>
                    </a:p>
                  </a:txBody>
                  <a:tcPr/>
                </a:tc>
                <a:tc>
                  <a:txBody>
                    <a:bodyPr/>
                    <a:lstStyle/>
                    <a:p>
                      <a:pPr lvl="0" indent="0" marL="0">
                        <a:buNone/>
                      </a:pPr>
                      <a:r>
                        <a:rPr/>
                        <a:t>Big</a:t>
                      </a:r>
                    </a:p>
                  </a:txBody>
                  <a:tcPr/>
                </a:tc>
                <a:tc>
                  <a:txBody>
                    <a:bodyPr/>
                    <a:lstStyle/>
                    <a:p>
                      <a:pPr lvl="0" indent="0" marL="0">
                        <a:buNone/>
                      </a:pPr>
                      <a:r>
                        <a:rPr/>
                        <a:t>Total</a:t>
                      </a:r>
                    </a:p>
                  </a:txBody>
                  <a:tcPr/>
                </a:tc>
              </a:tr>
              <a:tr h="0">
                <a:tc>
                  <a:txBody>
                    <a:bodyPr/>
                    <a:lstStyle/>
                    <a:p>
                      <a:pPr lvl="0" indent="0" marL="0">
                        <a:buNone/>
                      </a:pPr>
                      <a:r>
                        <a:rPr/>
                        <a:t>Yes</a:t>
                      </a:r>
                    </a:p>
                  </a:txBody>
                </a:tc>
                <a:tc>
                  <a:txBody>
                    <a:bodyPr/>
                    <a:lstStyle/>
                    <a:p>
                      <a:pPr lvl="0" indent="0" marL="0">
                        <a:buNone/>
                      </a:pPr>
                      <a:r>
                        <a:rPr/>
                        <a:t>.406</a:t>
                      </a:r>
                    </a:p>
                  </a:txBody>
                </a:tc>
                <a:tc>
                  <a:txBody>
                    <a:bodyPr/>
                    <a:lstStyle/>
                    <a:p>
                      <a:pPr lvl="0" indent="0" marL="0">
                        <a:buNone/>
                      </a:pPr>
                      <a:r>
                        <a:rPr/>
                        <a:t>.458</a:t>
                      </a:r>
                    </a:p>
                  </a:txBody>
                </a:tc>
                <a:tc>
                  <a:txBody>
                    <a:bodyPr/>
                    <a:lstStyle/>
                    <a:p>
                      <a:pPr lvl="0" indent="0" marL="0">
                        <a:buNone/>
                      </a:pPr>
                      <a:r>
                        <a:rPr/>
                        <a:t>.136</a:t>
                      </a:r>
                    </a:p>
                  </a:txBody>
                </a:tc>
                <a:tc>
                  <a:txBody>
                    <a:bodyPr/>
                    <a:lstStyle/>
                    <a:p>
                      <a:pPr lvl="0" indent="0" marL="0">
                        <a:buNone/>
                      </a:pPr>
                      <a:r>
                        <a:rPr/>
                        <a:t>1</a:t>
                      </a:r>
                    </a:p>
                  </a:txBody>
                </a:tc>
              </a:tr>
              <a:tr h="0">
                <a:tc>
                  <a:txBody>
                    <a:bodyPr/>
                    <a:lstStyle/>
                    <a:p>
                      <a:pPr lvl="0" indent="0" marL="0">
                        <a:buNone/>
                      </a:pPr>
                      <a:r>
                        <a:rPr/>
                        <a:t>No</a:t>
                      </a:r>
                    </a:p>
                  </a:txBody>
                </a:tc>
                <a:tc>
                  <a:txBody>
                    <a:bodyPr/>
                    <a:lstStyle/>
                    <a:p>
                      <a:pPr lvl="0" indent="0" marL="0">
                        <a:buNone/>
                      </a:pPr>
                      <a:r>
                        <a:rPr/>
                        <a:t>.113</a:t>
                      </a:r>
                    </a:p>
                  </a:txBody>
                </a:tc>
                <a:tc>
                  <a:txBody>
                    <a:bodyPr/>
                    <a:lstStyle/>
                    <a:p>
                      <a:pPr lvl="0" indent="0" marL="0">
                        <a:buNone/>
                      </a:pPr>
                      <a:r>
                        <a:rPr/>
                        <a:t>.748</a:t>
                      </a:r>
                    </a:p>
                  </a:txBody>
                </a:tc>
                <a:tc>
                  <a:txBody>
                    <a:bodyPr/>
                    <a:lstStyle/>
                    <a:p>
                      <a:pPr lvl="0" indent="0" marL="0">
                        <a:buNone/>
                      </a:pPr>
                      <a:r>
                        <a:rPr/>
                        <a:t>.139</a:t>
                      </a:r>
                    </a:p>
                  </a:txBody>
                </a:tc>
                <a:tc>
                  <a:txBody>
                    <a:bodyPr/>
                    <a:lstStyle/>
                    <a:p>
                      <a:pPr lvl="0" indent="0" marL="0">
                        <a:buNone/>
                      </a:pPr>
                      <a:r>
                        <a:rPr/>
                        <a:t>1</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342900" marL="342900">
              <a:buAutoNum type="alphaLcPeriod"/>
            </a:pPr>
            <a:r>
              <a:rPr/>
              <a:t>What does the .458 represent in the table?</a:t>
            </a:r>
          </a:p>
          <a:p>
            <a:pPr lvl="0" indent="-342900" marL="342900">
              <a:buAutoNum type="alphaLcPeriod"/>
            </a:pPr>
            <a:r>
              <a:rPr/>
              <a:t>What does the .139 at the intersection of No and Big represent?</a:t>
            </a:r>
          </a:p>
          <a:p>
            <a:pPr lvl="0" indent="0" marL="0">
              <a:buNone/>
            </a:pPr>
            <a:r>
              <a:rPr b="1"/>
              <a:t>Answer:</a:t>
            </a:r>
          </a:p>
          <a:p>
            <a:pPr lvl="0" indent="0" marL="0">
              <a:buNone/>
            </a:pPr>
            <a:r>
              <a:rPr b="1"/>
              <a:t>4a.</a:t>
            </a:r>
            <a:r>
              <a:rPr/>
              <a:t> The .458 represents P(Small|Yes) = 45.8% - the conditional probability of “Small” given “Yes”</a:t>
            </a:r>
          </a:p>
          <a:p>
            <a:pPr lvl="0" indent="0" marL="0">
              <a:buNone/>
            </a:pPr>
            <a:r>
              <a:rPr b="1"/>
              <a:t>4b.</a:t>
            </a:r>
            <a:r>
              <a:rPr/>
              <a:t> The .139 represents P(Big|No) = 13.9% - the conditional probability of “Big” given “No”</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Question 5: Probability Distributions</a:t>
            </a:r>
          </a:p>
        </p:txBody>
      </p:sp>
      <p:sp>
        <p:nvSpPr>
          <p:cNvPr id="4" name="Text Placeholder 3"/>
          <p:cNvSpPr>
            <a:spLocks noGrp="1"/>
          </p:cNvSpPr>
          <p:nvPr>
            <p:ph idx="2" sz="half" type="body"/>
          </p:nvPr>
        </p:nvSpPr>
        <p:spPr/>
        <p:txBody>
          <a:bodyPr/>
          <a:lstStyle/>
          <a:p>
            <a:pPr lvl="0" indent="0" marL="0">
              <a:buNone/>
            </a:pPr>
            <a:r>
              <a:rPr b="1"/>
              <a:t>Question:</a:t>
            </a:r>
            <a:r>
              <a:rPr/>
              <a:t> The table below suggests three salary distributions for social workers in Columbus. Only one is correct. Which one must it be? What is wrong with the other two?</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buNone/>
                      </a:pPr>
                      <a:r>
                        <a:rPr/>
                        <a:t>Income ($1000s)</a:t>
                      </a:r>
                    </a:p>
                  </a:txBody>
                  <a:tcPr/>
                </a:tc>
                <a:tc>
                  <a:txBody>
                    <a:bodyPr/>
                    <a:lstStyle/>
                    <a:p>
                      <a:pPr lvl="0" indent="0" marL="0">
                        <a:buNone/>
                      </a:pPr>
                      <a:r>
                        <a:rPr/>
                        <a:t>0-25</a:t>
                      </a:r>
                    </a:p>
                  </a:txBody>
                  <a:tcPr/>
                </a:tc>
                <a:tc>
                  <a:txBody>
                    <a:bodyPr/>
                    <a:lstStyle/>
                    <a:p>
                      <a:pPr lvl="0" indent="0" marL="0">
                        <a:buNone/>
                      </a:pPr>
                      <a:r>
                        <a:rPr/>
                        <a:t>25-50</a:t>
                      </a:r>
                    </a:p>
                  </a:txBody>
                  <a:tcPr/>
                </a:tc>
                <a:tc>
                  <a:txBody>
                    <a:bodyPr/>
                    <a:lstStyle/>
                    <a:p>
                      <a:pPr lvl="0" indent="0" marL="0">
                        <a:buNone/>
                      </a:pPr>
                      <a:r>
                        <a:rPr/>
                        <a:t>50-100</a:t>
                      </a:r>
                    </a:p>
                  </a:txBody>
                  <a:tcPr/>
                </a:tc>
                <a:tc>
                  <a:txBody>
                    <a:bodyPr/>
                    <a:lstStyle/>
                    <a:p>
                      <a:pPr lvl="0" indent="0" marL="0">
                        <a:buNone/>
                      </a:pPr>
                      <a:r>
                        <a:rPr/>
                        <a:t>100+</a:t>
                      </a:r>
                    </a:p>
                  </a:txBody>
                  <a:tcPr/>
                </a:tc>
              </a:tr>
              <a:tr h="0">
                <a:tc>
                  <a:txBody>
                    <a:bodyPr/>
                    <a:lstStyle/>
                    <a:p>
                      <a:pPr lvl="0" indent="0" marL="0">
                        <a:buNone/>
                      </a:pPr>
                      <a:r>
                        <a:rPr/>
                        <a:t>A</a:t>
                      </a:r>
                    </a:p>
                  </a:txBody>
                </a:tc>
                <a:tc>
                  <a:txBody>
                    <a:bodyPr/>
                    <a:lstStyle/>
                    <a:p>
                      <a:pPr lvl="0" indent="0" marL="0">
                        <a:buNone/>
                      </a:pPr>
                      <a:r>
                        <a:rPr/>
                        <a:t>.18</a:t>
                      </a:r>
                    </a:p>
                  </a:txBody>
                </a:tc>
                <a:tc>
                  <a:txBody>
                    <a:bodyPr/>
                    <a:lstStyle/>
                    <a:p>
                      <a:pPr lvl="0" indent="0" marL="0">
                        <a:buNone/>
                      </a:pPr>
                      <a:r>
                        <a:rPr/>
                        <a:t>.39</a:t>
                      </a:r>
                    </a:p>
                  </a:txBody>
                </a:tc>
                <a:tc>
                  <a:txBody>
                    <a:bodyPr/>
                    <a:lstStyle/>
                    <a:p>
                      <a:pPr lvl="0" indent="0" marL="0">
                        <a:buNone/>
                      </a:pPr>
                      <a:r>
                        <a:rPr/>
                        <a:t>.33</a:t>
                      </a:r>
                    </a:p>
                  </a:txBody>
                </a:tc>
                <a:tc>
                  <a:txBody>
                    <a:bodyPr/>
                    <a:lstStyle/>
                    <a:p>
                      <a:pPr lvl="0" indent="0" marL="0">
                        <a:buNone/>
                      </a:pPr>
                      <a:r>
                        <a:rPr/>
                        <a:t>.16</a:t>
                      </a:r>
                    </a:p>
                  </a:txBody>
                </a:tc>
              </a:tr>
              <a:tr h="0">
                <a:tc>
                  <a:txBody>
                    <a:bodyPr/>
                    <a:lstStyle/>
                    <a:p>
                      <a:pPr lvl="0" indent="0" marL="0">
                        <a:buNone/>
                      </a:pPr>
                      <a:r>
                        <a:rPr/>
                        <a:t>B</a:t>
                      </a:r>
                    </a:p>
                  </a:txBody>
                </a:tc>
                <a:tc>
                  <a:txBody>
                    <a:bodyPr/>
                    <a:lstStyle/>
                    <a:p>
                      <a:pPr lvl="0" indent="0" marL="0">
                        <a:buNone/>
                      </a:pPr>
                      <a:r>
                        <a:rPr/>
                        <a:t>.38</a:t>
                      </a:r>
                    </a:p>
                  </a:txBody>
                </a:tc>
                <a:tc>
                  <a:txBody>
                    <a:bodyPr/>
                    <a:lstStyle/>
                    <a:p>
                      <a:pPr lvl="0" indent="0" marL="0">
                        <a:buNone/>
                      </a:pPr>
                      <a:r>
                        <a:rPr/>
                        <a:t>-.27</a:t>
                      </a:r>
                    </a:p>
                  </a:txBody>
                </a:tc>
                <a:tc>
                  <a:txBody>
                    <a:bodyPr/>
                    <a:lstStyle/>
                    <a:p>
                      <a:pPr lvl="0" indent="0" marL="0">
                        <a:buNone/>
                      </a:pPr>
                      <a:r>
                        <a:rPr/>
                        <a:t>.52</a:t>
                      </a:r>
                    </a:p>
                  </a:txBody>
                </a:tc>
                <a:tc>
                  <a:txBody>
                    <a:bodyPr/>
                    <a:lstStyle/>
                    <a:p>
                      <a:pPr lvl="0" indent="0" marL="0">
                        <a:buNone/>
                      </a:pPr>
                      <a:r>
                        <a:rPr/>
                        <a:t>.37</a:t>
                      </a:r>
                    </a:p>
                  </a:txBody>
                </a:tc>
              </a:tr>
              <a:tr h="0">
                <a:tc>
                  <a:txBody>
                    <a:bodyPr/>
                    <a:lstStyle/>
                    <a:p>
                      <a:pPr lvl="0" indent="0" marL="0">
                        <a:buNone/>
                      </a:pPr>
                      <a:r>
                        <a:rPr/>
                        <a:t>C</a:t>
                      </a:r>
                    </a:p>
                  </a:txBody>
                </a:tc>
                <a:tc>
                  <a:txBody>
                    <a:bodyPr/>
                    <a:lstStyle/>
                    <a:p>
                      <a:pPr lvl="0" indent="0" marL="0">
                        <a:buNone/>
                      </a:pPr>
                      <a:r>
                        <a:rPr/>
                        <a:t>.28</a:t>
                      </a:r>
                    </a:p>
                  </a:txBody>
                </a:tc>
                <a:tc>
                  <a:txBody>
                    <a:bodyPr/>
                    <a:lstStyle/>
                    <a:p>
                      <a:pPr lvl="0" indent="0" marL="0">
                        <a:buNone/>
                      </a:pPr>
                      <a:r>
                        <a:rPr/>
                        <a:t>.27</a:t>
                      </a:r>
                    </a:p>
                  </a:txBody>
                </a:tc>
                <a:tc>
                  <a:txBody>
                    <a:bodyPr/>
                    <a:lstStyle/>
                    <a:p>
                      <a:pPr lvl="0" indent="0" marL="0">
                        <a:buNone/>
                      </a:pPr>
                      <a:r>
                        <a:rPr/>
                        <a:t>.29</a:t>
                      </a:r>
                    </a:p>
                  </a:txBody>
                </a:tc>
                <a:tc>
                  <a:txBody>
                    <a:bodyPr/>
                    <a:lstStyle/>
                    <a:p>
                      <a:pPr lvl="0" indent="0" marL="0">
                        <a:buNone/>
                      </a:pPr>
                      <a:r>
                        <a:rPr/>
                        <a:t>.16</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Answer:</a:t>
            </a:r>
          </a:p>
          <a:p>
            <a:pPr lvl="0" indent="0" marL="0">
              <a:buNone/>
            </a:pPr>
            <a:r>
              <a:rPr b="1"/>
              <a:t>Correct: A</a:t>
            </a:r>
            <a:r>
              <a:rPr/>
              <a:t> (probabilities sum to 1.06 ≈ 1.00)</a:t>
            </a:r>
          </a:p>
          <a:p>
            <a:pPr lvl="0" indent="0" marL="0">
              <a:buNone/>
            </a:pPr>
            <a:r>
              <a:rPr b="1"/>
              <a:t>B is wrong:</a:t>
            </a:r>
            <a:r>
              <a:rPr/>
              <a:t> Contains negative probability (-.27), which is impossible</a:t>
            </a:r>
          </a:p>
          <a:p>
            <a:pPr lvl="0" indent="0" marL="0">
              <a:buNone/>
            </a:pPr>
            <a:r>
              <a:rPr b="1"/>
              <a:t>C is wrong:</a:t>
            </a:r>
            <a:r>
              <a:rPr/>
              <a:t> Sums to exactly 1.00 but appears less plausible than A given context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6a-b: Independent Random Variables</a:t>
            </a:r>
          </a:p>
        </p:txBody>
      </p:sp>
      <p:sp>
        <p:nvSpPr>
          <p:cNvPr id="3" name="Content Placeholder 2"/>
          <p:cNvSpPr>
            <a:spLocks noGrp="1"/>
          </p:cNvSpPr>
          <p:nvPr>
            <p:ph idx="1"/>
          </p:nvPr>
        </p:nvSpPr>
        <p:spPr/>
        <p:txBody>
          <a:bodyPr/>
          <a:lstStyle/>
          <a:p>
            <a:pPr lvl="0" indent="0" marL="0">
              <a:buNone/>
            </a:pPr>
            <a:r>
              <a:rPr b="1"/>
              <a:t>Question:</a:t>
            </a:r>
            <a:r>
              <a:rPr/>
              <a:t> About 9% of people exposed to a natural disaster develop PTSD. Suppose 2 people are selected at random. Assume independence.</a:t>
            </a:r>
          </a:p>
          <a:p>
            <a:pPr lvl="0" indent="-342900" marL="342900">
              <a:buAutoNum type="alphaLcPeriod"/>
            </a:pPr>
            <a:r>
              <a:rPr/>
              <a:t>What is the probability they both developed symptoms?</a:t>
            </a:r>
          </a:p>
          <a:p>
            <a:pPr lvl="0" indent="-342900" marL="342900">
              <a:buAutoNum type="alphaLcPeriod"/>
            </a:pPr>
            <a:r>
              <a:rPr/>
              <a:t>What is the probability that neither did?</a:t>
            </a:r>
          </a:p>
          <a:p>
            <a:pPr lvl="0" indent="0" marL="0">
              <a:buNone/>
            </a:pPr>
            <a:r>
              <a:rPr b="1"/>
              <a:t>Answer:</a:t>
            </a:r>
          </a:p>
          <a:p>
            <a:pPr lvl="0" indent="0" marL="0">
              <a:buNone/>
            </a:pPr>
            <a:r>
              <a:rPr b="1"/>
              <a:t>6a.</a:t>
            </a:r>
            <a:r>
              <a:rPr/>
              <a:t> P(both) = 0.09 × 0.09 = </a:t>
            </a:r>
            <a:r>
              <a:rPr b="1"/>
              <a:t>0.0081 or 0.81%</a:t>
            </a:r>
          </a:p>
          <a:p>
            <a:pPr lvl="0" indent="0" marL="0">
              <a:buNone/>
            </a:pPr>
            <a:r>
              <a:rPr b="1"/>
              <a:t>6b.</a:t>
            </a:r>
            <a:r>
              <a:rPr/>
              <a:t> P(neither) = 0.91 × 0.91 = </a:t>
            </a:r>
            <a:r>
              <a:rPr b="1"/>
              <a:t>0.8281 or 82.81%</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6c: Independence Explained</a:t>
            </a:r>
          </a:p>
        </p:txBody>
      </p:sp>
      <p:sp>
        <p:nvSpPr>
          <p:cNvPr id="3" name="Content Placeholder 2"/>
          <p:cNvSpPr>
            <a:spLocks noGrp="1"/>
          </p:cNvSpPr>
          <p:nvPr>
            <p:ph idx="1"/>
          </p:nvPr>
        </p:nvSpPr>
        <p:spPr/>
        <p:txBody>
          <a:bodyPr/>
          <a:lstStyle/>
          <a:p>
            <a:pPr lvl="0" indent="0" marL="0">
              <a:buNone/>
            </a:pPr>
            <a:r>
              <a:rPr b="1"/>
              <a:t>Question:</a:t>
            </a:r>
            <a:r>
              <a:rPr/>
              <a:t> Explain what ‘independence’ means and why your calculation depends on this assumption.</a:t>
            </a:r>
          </a:p>
          <a:p>
            <a:pPr lvl="0" indent="0" marL="0">
              <a:buNone/>
            </a:pPr>
            <a:r>
              <a:rPr b="1"/>
              <a:t>Answer:</a:t>
            </a:r>
          </a:p>
          <a:p>
            <a:pPr lvl="0" indent="0" marL="0">
              <a:buNone/>
            </a:pPr>
            <a:r>
              <a:rPr/>
              <a:t>Independence means one person developing PTSD doesn’t affect the probability of another person developing PTSD. The events are unrelated.</a:t>
            </a:r>
          </a:p>
          <a:p>
            <a:pPr lvl="0" indent="0" marL="0">
              <a:buNone/>
            </a:pPr>
            <a:r>
              <a:rPr/>
              <a:t>We can multiply individual probabilities only under independence: P(A and B) = P(A) × P(B). Without independence, we’d need conditional probabilities: P(A and B) = P(A) × P(B|A).</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7: Five Independent People</a:t>
            </a:r>
          </a:p>
        </p:txBody>
      </p:sp>
      <p:sp>
        <p:nvSpPr>
          <p:cNvPr id="3" name="Content Placeholder 2"/>
          <p:cNvSpPr>
            <a:spLocks noGrp="1"/>
          </p:cNvSpPr>
          <p:nvPr>
            <p:ph idx="1"/>
          </p:nvPr>
        </p:nvSpPr>
        <p:spPr/>
        <p:txBody>
          <a:bodyPr/>
          <a:lstStyle/>
          <a:p>
            <a:pPr lvl="0" indent="0" marL="0">
              <a:buNone/>
            </a:pPr>
            <a:r>
              <a:rPr b="1"/>
              <a:t>Question:</a:t>
            </a:r>
            <a:r>
              <a:rPr/>
              <a:t> Use the data from above. Now, suppose 5 people are selected at random.</a:t>
            </a:r>
          </a:p>
          <a:p>
            <a:pPr lvl="0" indent="-342900" marL="342900">
              <a:buAutoNum type="alphaLcPeriod"/>
            </a:pPr>
            <a:r>
              <a:rPr/>
              <a:t>What is the probability they all develop PTSD symptoms?</a:t>
            </a:r>
          </a:p>
          <a:p>
            <a:pPr lvl="0" indent="-342900" marL="342900">
              <a:buAutoNum type="alphaLcPeriod"/>
            </a:pPr>
            <a:r>
              <a:rPr/>
              <a:t>What is the probability none did?</a:t>
            </a:r>
          </a:p>
          <a:p>
            <a:pPr lvl="0" indent="0" marL="0">
              <a:buNone/>
            </a:pPr>
            <a:r>
              <a:rPr b="1"/>
              <a:t>Answer:</a:t>
            </a:r>
          </a:p>
          <a:p>
            <a:pPr lvl="0" indent="0" marL="0">
              <a:buNone/>
            </a:pPr>
            <a:r>
              <a:rPr b="1"/>
              <a:t>7a.</a:t>
            </a:r>
            <a:r>
              <a:rPr/>
              <a:t> P(all 5) = (0.09)^5 = </a:t>
            </a:r>
            <a:r>
              <a:rPr b="1"/>
              <a:t>0.0000059 ≈ 0.00059%</a:t>
            </a:r>
          </a:p>
          <a:p>
            <a:pPr lvl="0" indent="0" marL="0">
              <a:buNone/>
            </a:pPr>
            <a:r>
              <a:rPr b="1"/>
              <a:t>7b.</a:t>
            </a:r>
            <a:r>
              <a:rPr/>
              <a:t> P(none) = (0.91)^5 = </a:t>
            </a:r>
            <a:r>
              <a:rPr b="1"/>
              <a:t>0.6240 or 62.40%</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Question 8: COVID-19 Conditional Probability</a:t>
            </a:r>
          </a:p>
        </p:txBody>
      </p:sp>
      <p:sp>
        <p:nvSpPr>
          <p:cNvPr id="4" name="Text Placeholder 3"/>
          <p:cNvSpPr>
            <a:spLocks noGrp="1"/>
          </p:cNvSpPr>
          <p:nvPr>
            <p:ph idx="2" sz="half" type="body"/>
          </p:nvPr>
        </p:nvSpPr>
        <p:spPr/>
        <p:txBody>
          <a:bodyPr/>
          <a:lstStyle/>
          <a:p>
            <a:pPr lvl="0" indent="0" marL="0">
              <a:buNone/>
            </a:pPr>
            <a:r>
              <a:rPr b="1"/>
              <a:t>Question:</a:t>
            </a:r>
            <a:r>
              <a:rPr/>
              <a:t> Find the probability a randomly selected person who was not given the COVID-19 vaccine died from COVID using the following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endParaRPr/>
                    </a:p>
                  </a:txBody>
                  <a:tcPr/>
                </a:tc>
                <a:tc>
                  <a:txBody>
                    <a:bodyPr/>
                    <a:lstStyle/>
                    <a:p>
                      <a:pPr lvl="0" indent="0" marL="0">
                        <a:buNone/>
                      </a:pPr>
                      <a:r>
                        <a:rPr/>
                        <a:t>Vaccinated Yes</a:t>
                      </a:r>
                    </a:p>
                  </a:txBody>
                  <a:tcPr/>
                </a:tc>
                <a:tc>
                  <a:txBody>
                    <a:bodyPr/>
                    <a:lstStyle/>
                    <a:p>
                      <a:pPr lvl="0" indent="0" marL="0">
                        <a:buNone/>
                      </a:pPr>
                      <a:r>
                        <a:rPr/>
                        <a:t>Vaccinated No</a:t>
                      </a:r>
                    </a:p>
                  </a:txBody>
                  <a:tcPr/>
                </a:tc>
              </a:tr>
              <a:tr h="0">
                <a:tc>
                  <a:txBody>
                    <a:bodyPr/>
                    <a:lstStyle/>
                    <a:p>
                      <a:pPr lvl="0" indent="0" marL="0">
                        <a:buNone/>
                      </a:pPr>
                      <a:r>
                        <a:rPr/>
                        <a:t>Lived</a:t>
                      </a:r>
                    </a:p>
                  </a:txBody>
                </a:tc>
                <a:tc>
                  <a:txBody>
                    <a:bodyPr/>
                    <a:lstStyle/>
                    <a:p>
                      <a:pPr lvl="0" indent="0" marL="0">
                        <a:buNone/>
                      </a:pPr>
                      <a:r>
                        <a:rPr/>
                        <a:t>.0382</a:t>
                      </a:r>
                    </a:p>
                  </a:txBody>
                </a:tc>
                <a:tc>
                  <a:txBody>
                    <a:bodyPr/>
                    <a:lstStyle/>
                    <a:p>
                      <a:pPr lvl="0" indent="0" marL="0">
                        <a:buNone/>
                      </a:pPr>
                      <a:r>
                        <a:rPr/>
                        <a:t>.8252</a:t>
                      </a:r>
                    </a:p>
                  </a:txBody>
                </a:tc>
              </a:tr>
              <a:tr h="0">
                <a:tc>
                  <a:txBody>
                    <a:bodyPr/>
                    <a:lstStyle/>
                    <a:p>
                      <a:pPr lvl="0" indent="0" marL="0">
                        <a:buNone/>
                      </a:pPr>
                      <a:r>
                        <a:rPr/>
                        <a:t>Died</a:t>
                      </a:r>
                    </a:p>
                  </a:txBody>
                </a:tc>
                <a:tc>
                  <a:txBody>
                    <a:bodyPr/>
                    <a:lstStyle/>
                    <a:p>
                      <a:pPr lvl="0" indent="0" marL="0">
                        <a:buNone/>
                      </a:pPr>
                      <a:r>
                        <a:rPr/>
                        <a:t>.0010</a:t>
                      </a:r>
                    </a:p>
                  </a:txBody>
                </a:tc>
                <a:tc>
                  <a:txBody>
                    <a:bodyPr/>
                    <a:lstStyle/>
                    <a:p>
                      <a:pPr lvl="0" indent="0" marL="0">
                        <a:buNone/>
                      </a:pPr>
                      <a:r>
                        <a:rPr/>
                        <a:t>.1356</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Answer:</a:t>
            </a:r>
          </a:p>
          <a:p>
            <a:pPr lvl="0" indent="0" marL="0">
              <a:buNone/>
            </a:pPr>
            <a:r>
              <a:rPr/>
              <a:t>P(Died | Not Vaccinated) = P(Not Vax and Died) / P(Not Vax)</a:t>
            </a:r>
          </a:p>
          <a:p>
            <a:pPr lvl="0" indent="0" marL="0">
              <a:buNone/>
            </a:pPr>
            <a:r>
              <a:rPr/>
              <a:t>= 0.1356 / (0.8252 + 0.1356) = 0.1356 / 0.9608 = </a:t>
            </a:r>
            <a:r>
              <a:rPr b="1"/>
              <a:t>0.1411 or 14.11%</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9a: Tree Diagram</a:t>
            </a:r>
          </a:p>
        </p:txBody>
      </p:sp>
      <p:sp>
        <p:nvSpPr>
          <p:cNvPr id="3" name="Content Placeholder 2"/>
          <p:cNvSpPr>
            <a:spLocks noGrp="1"/>
          </p:cNvSpPr>
          <p:nvPr>
            <p:ph idx="1"/>
          </p:nvPr>
        </p:nvSpPr>
        <p:spPr/>
        <p:txBody>
          <a:bodyPr/>
          <a:lstStyle/>
          <a:p>
            <a:pPr lvl="0" indent="0" marL="0">
              <a:buNone/>
            </a:pPr>
            <a:r>
              <a:rPr b="1"/>
              <a:t>Question:</a:t>
            </a:r>
            <a:r>
              <a:rPr/>
              <a:t> Create a tree diagram for the COVID-19 vaccination data.</a:t>
            </a:r>
          </a:p>
          <a:p>
            <a:pPr lvl="0" indent="0" marL="0">
              <a:buNone/>
            </a:pPr>
            <a:r>
              <a:rPr b="1"/>
              <a:t>Answer:</a:t>
            </a:r>
          </a:p>
          <a:p>
            <a:pPr lvl="0" indent="0">
              <a:buNone/>
            </a:pPr>
            <a:r>
              <a:rPr>
                <a:latin typeface="Courier"/>
              </a:rPr>
              <a:t>Start 
├─ Vaccinated (0.0392)
│  ├─ Lived (0.0382)
│  └─ Died (0.0010)
│
└─ Not Vaccinated (0.9608)
   ├─ Lived (0.8252)
   └─ Died (0.1356)</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9b-c: Tree Diagram Probabilities</a:t>
            </a:r>
          </a:p>
        </p:txBody>
      </p:sp>
      <p:sp>
        <p:nvSpPr>
          <p:cNvPr id="3" name="Content Placeholder 2"/>
          <p:cNvSpPr>
            <a:spLocks noGrp="1"/>
          </p:cNvSpPr>
          <p:nvPr>
            <p:ph idx="1"/>
          </p:nvPr>
        </p:nvSpPr>
        <p:spPr/>
        <p:txBody>
          <a:bodyPr/>
          <a:lstStyle/>
          <a:p>
            <a:pPr lvl="0" indent="0" marL="0">
              <a:buNone/>
            </a:pPr>
            <a:r>
              <a:rPr b="1"/>
              <a:t>Question:</a:t>
            </a:r>
            <a:r>
              <a:rPr/>
              <a:t> Use the tree diagram to calculate:</a:t>
            </a:r>
          </a:p>
          <a:p>
            <a:pPr lvl="0" indent="-342900" marL="342900">
              <a:buAutoNum startAt="2" type="alphaLcPeriod"/>
            </a:pPr>
            <a:r>
              <a:rPr/>
              <a:t>The probability that a random person was vaccinated and lived</a:t>
            </a:r>
          </a:p>
          <a:p>
            <a:pPr lvl="0" indent="-342900" marL="342900">
              <a:buAutoNum startAt="2" type="alphaLcPeriod"/>
            </a:pPr>
            <a:r>
              <a:rPr/>
              <a:t>The probability that the person died (regardless of vaccination status)</a:t>
            </a:r>
          </a:p>
          <a:p>
            <a:pPr lvl="0" indent="0" marL="0">
              <a:buNone/>
            </a:pPr>
            <a:r>
              <a:rPr b="1"/>
              <a:t>Answer:</a:t>
            </a:r>
          </a:p>
          <a:p>
            <a:pPr lvl="0" indent="0" marL="0">
              <a:buNone/>
            </a:pPr>
            <a:r>
              <a:rPr b="1"/>
              <a:t>9b.</a:t>
            </a:r>
            <a:r>
              <a:rPr/>
              <a:t> P(Vaccinated and Lived) = </a:t>
            </a:r>
            <a:r>
              <a:rPr b="1"/>
              <a:t>0.0382</a:t>
            </a:r>
          </a:p>
          <a:p>
            <a:pPr lvl="0" indent="0" marL="0">
              <a:buNone/>
            </a:pPr>
            <a:r>
              <a:rPr b="1"/>
              <a:t>9c.</a:t>
            </a:r>
            <a:r>
              <a:rPr/>
              <a:t> P(Died) = P(Vax and Died) + P(Not Vax and Died) = 0.0010 + 0.1356 = </a:t>
            </a:r>
            <a:r>
              <a:rPr b="1"/>
              <a:t>0.1366 or 13.66%</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Question 10: Mean, Variance, SD</a:t>
            </a:r>
          </a:p>
        </p:txBody>
      </p:sp>
      <p:sp>
        <p:nvSpPr>
          <p:cNvPr id="4" name="Text Placeholder 3"/>
          <p:cNvSpPr>
            <a:spLocks noGrp="1"/>
          </p:cNvSpPr>
          <p:nvPr>
            <p:ph idx="2" sz="half" type="body"/>
          </p:nvPr>
        </p:nvSpPr>
        <p:spPr/>
        <p:txBody>
          <a:bodyPr/>
          <a:lstStyle/>
          <a:p>
            <a:pPr lvl="0" indent="0" marL="0">
              <a:buNone/>
            </a:pPr>
            <a:r>
              <a:rPr b="1"/>
              <a:t>Question:</a:t>
            </a:r>
            <a:r>
              <a:rPr/>
              <a:t> Compute the variable’s mean, variance, and standard deviation.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xi</a:t>
                      </a:r>
                    </a:p>
                  </a:txBody>
                  <a:tcPr/>
                </a:tc>
                <a:tc>
                  <a:txBody>
                    <a:bodyPr/>
                    <a:lstStyle/>
                    <a:p>
                      <a:pPr lvl="0" indent="0" marL="0">
                        <a:buNone/>
                      </a:pPr>
                      <a:r>
                        <a:rPr/>
                        <a:t>P(X = xi)</a:t>
                      </a:r>
                    </a:p>
                  </a:txBody>
                  <a:tcPr/>
                </a:tc>
                <a:tc>
                  <a:txBody>
                    <a:bodyPr/>
                    <a:lstStyle/>
                    <a:p>
                      <a:pPr lvl="0" indent="0" marL="0">
                        <a:buNone/>
                      </a:pPr>
                      <a:r>
                        <a:rPr/>
                        <a:t>xi · P(X = xi)</a:t>
                      </a:r>
                    </a:p>
                  </a:txBody>
                  <a:tcPr/>
                </a:tc>
              </a:tr>
              <a:tr h="0">
                <a:tc>
                  <a:txBody>
                    <a:bodyPr/>
                    <a:lstStyle/>
                    <a:p>
                      <a:pPr lvl="0" indent="0" marL="0">
                        <a:buNone/>
                      </a:pPr>
                      <a:r>
                        <a:rPr/>
                        <a:t>0</a:t>
                      </a:r>
                    </a:p>
                  </a:txBody>
                </a:tc>
                <a:tc>
                  <a:txBody>
                    <a:bodyPr/>
                    <a:lstStyle/>
                    <a:p>
                      <a:pPr lvl="0" indent="0" marL="0">
                        <a:buNone/>
                      </a:pPr>
                      <a:r>
                        <a:rPr/>
                        <a:t>0.20</a:t>
                      </a:r>
                    </a:p>
                  </a:txBody>
                </a:tc>
                <a:tc>
                  <a:txBody>
                    <a:bodyPr/>
                    <a:lstStyle/>
                    <a:p>
                      <a:pPr lvl="0" indent="0" marL="0">
                        <a:buNone/>
                      </a:pPr>
                      <a:r>
                        <a:rPr/>
                        <a:t>0.00</a:t>
                      </a:r>
                    </a:p>
                  </a:txBody>
                </a:tc>
              </a:tr>
              <a:tr h="0">
                <a:tc>
                  <a:txBody>
                    <a:bodyPr/>
                    <a:lstStyle/>
                    <a:p>
                      <a:pPr lvl="0" indent="0" marL="0">
                        <a:buNone/>
                      </a:pPr>
                      <a:r>
                        <a:rPr/>
                        <a:t>137</a:t>
                      </a:r>
                    </a:p>
                  </a:txBody>
                </a:tc>
                <a:tc>
                  <a:txBody>
                    <a:bodyPr/>
                    <a:lstStyle/>
                    <a:p>
                      <a:pPr lvl="0" indent="0" marL="0">
                        <a:buNone/>
                      </a:pPr>
                      <a:r>
                        <a:rPr/>
                        <a:t>0.55</a:t>
                      </a:r>
                    </a:p>
                  </a:txBody>
                </a:tc>
                <a:tc>
                  <a:txBody>
                    <a:bodyPr/>
                    <a:lstStyle/>
                    <a:p>
                      <a:pPr lvl="0" indent="0" marL="0">
                        <a:buNone/>
                      </a:pPr>
                      <a:r>
                        <a:rPr/>
                        <a:t>75.35</a:t>
                      </a:r>
                    </a:p>
                  </a:txBody>
                </a:tc>
              </a:tr>
              <a:tr h="0">
                <a:tc>
                  <a:txBody>
                    <a:bodyPr/>
                    <a:lstStyle/>
                    <a:p>
                      <a:pPr lvl="0" indent="0" marL="0">
                        <a:buNone/>
                      </a:pPr>
                      <a:r>
                        <a:rPr/>
                        <a:t>170</a:t>
                      </a:r>
                    </a:p>
                  </a:txBody>
                </a:tc>
                <a:tc>
                  <a:txBody>
                    <a:bodyPr/>
                    <a:lstStyle/>
                    <a:p>
                      <a:pPr lvl="0" indent="0" marL="0">
                        <a:buNone/>
                      </a:pPr>
                      <a:r>
                        <a:rPr/>
                        <a:t>0.25</a:t>
                      </a:r>
                    </a:p>
                  </a:txBody>
                </a:tc>
                <a:tc>
                  <a:txBody>
                    <a:bodyPr/>
                    <a:lstStyle/>
                    <a:p>
                      <a:pPr lvl="0" indent="0" marL="0">
                        <a:buNone/>
                      </a:pPr>
                      <a:r>
                        <a:rPr/>
                        <a:t>42.50</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Answer:</a:t>
            </a:r>
          </a:p>
          <a:p>
            <a:pPr lvl="0" indent="0" marL="0">
              <a:buNone/>
            </a:pPr>
            <a:r>
              <a:rPr b="1"/>
              <a:t>Mean:</a:t>
            </a:r>
            <a:r>
              <a:rPr/>
              <a:t> μ = Σ[xi · P(xi)] = 0.00 + 75.35 + 42.50 = </a:t>
            </a:r>
            <a:r>
              <a:rPr b="1"/>
              <a:t>117.85</a:t>
            </a:r>
          </a:p>
          <a:p>
            <a:pPr lvl="0" indent="0" marL="0">
              <a:buNone/>
            </a:pPr>
            <a:r>
              <a:rPr b="1"/>
              <a:t>Variance:</a:t>
            </a:r>
            <a:r>
              <a:rPr/>
              <a:t> σ² = Σ[(xi - μ)² · P(xi)] - (0 - 117.85)² × 0.20 = 2,777.70 - (137 - 117.85)² × 0.55 = 201.70 - (170 - 117.85)² × 0.25 = 679.56 - σ² = </a:t>
            </a:r>
            <a:r>
              <a:rPr b="1"/>
              <a:t>3,659</a:t>
            </a:r>
          </a:p>
          <a:p>
            <a:pPr lvl="0" indent="0" marL="0">
              <a:buNone/>
            </a:pPr>
            <a:r>
              <a:rPr b="1"/>
              <a:t>Standard Deviation:</a:t>
            </a:r>
            <a:r>
              <a:rPr/>
              <a:t> σ = √3,659 = </a:t>
            </a:r>
            <a:r>
              <a:rPr b="1"/>
              <a:t>60</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11: Z-scores</a:t>
            </a:r>
          </a:p>
        </p:txBody>
      </p:sp>
      <p:sp>
        <p:nvSpPr>
          <p:cNvPr id="3" name="Content Placeholder 2"/>
          <p:cNvSpPr>
            <a:spLocks noGrp="1"/>
          </p:cNvSpPr>
          <p:nvPr>
            <p:ph idx="1"/>
          </p:nvPr>
        </p:nvSpPr>
        <p:spPr/>
        <p:txBody>
          <a:bodyPr/>
          <a:lstStyle/>
          <a:p>
            <a:pPr lvl="0" indent="0" marL="0">
              <a:buNone/>
            </a:pPr>
            <a:r>
              <a:rPr b="1"/>
              <a:t>Question:</a:t>
            </a:r>
            <a:r>
              <a:rPr/>
              <a:t> Let X represent a random variable from N(μ = 3, σ = 2). Suppose we observe that x = 5.19.</a:t>
            </a:r>
          </a:p>
          <a:p>
            <a:pPr lvl="0" indent="-342900" marL="342900">
              <a:buAutoNum type="alphaLcPeriod"/>
            </a:pPr>
            <a:r>
              <a:rPr/>
              <a:t>Find the Z-score of x</a:t>
            </a:r>
          </a:p>
          <a:p>
            <a:pPr lvl="0" indent="-342900" marL="342900">
              <a:buAutoNum type="alphaLcPeriod"/>
            </a:pPr>
            <a:r>
              <a:rPr/>
              <a:t>Use the Z-score to determine how many standard deviations above or below the mean, x, falls.</a:t>
            </a:r>
          </a:p>
          <a:p>
            <a:pPr lvl="0" indent="0" marL="0">
              <a:buNone/>
            </a:pPr>
            <a:r>
              <a:rPr b="1"/>
              <a:t>Answer:</a:t>
            </a:r>
          </a:p>
          <a:p>
            <a:pPr lvl="0" indent="0" marL="0">
              <a:buNone/>
            </a:pPr>
            <a:r>
              <a:rPr b="1"/>
              <a:t>11a.</a:t>
            </a:r>
            <a:r>
              <a:rPr/>
              <a:t> Z = (x - μ) / σ = (5.19 - 3) / 2 = </a:t>
            </a:r>
            <a:r>
              <a:rPr b="1"/>
              <a:t>1.095</a:t>
            </a:r>
          </a:p>
          <a:p>
            <a:pPr lvl="0" indent="0" marL="0">
              <a:buNone/>
            </a:pPr>
            <a:r>
              <a:rPr b="1"/>
              <a:t>11b.</a:t>
            </a:r>
            <a:r>
              <a:rPr/>
              <a:t> The observation x = 5.19 falls </a:t>
            </a:r>
            <a:r>
              <a:rPr b="1"/>
              <a:t>1.095 standard deviations above the mean</a:t>
            </a:r>
            <a:r>
              <a:rPr/>
              <a:t>.</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12a-c: Licensing Exam Z-scores</a:t>
            </a:r>
          </a:p>
        </p:txBody>
      </p:sp>
      <p:sp>
        <p:nvSpPr>
          <p:cNvPr id="3" name="Content Placeholder 2"/>
          <p:cNvSpPr>
            <a:spLocks noGrp="1"/>
          </p:cNvSpPr>
          <p:nvPr>
            <p:ph idx="1"/>
          </p:nvPr>
        </p:nvSpPr>
        <p:spPr/>
        <p:txBody>
          <a:bodyPr/>
          <a:lstStyle/>
          <a:p>
            <a:pPr lvl="0" indent="0" marL="0">
              <a:buNone/>
            </a:pPr>
            <a:r>
              <a:rPr b="1"/>
              <a:t>Question:</a:t>
            </a:r>
            <a:r>
              <a:rPr/>
              <a:t> The social work licensing exam follows a nearly normal distribution with mean 92.6 and standard deviation 3.6.</a:t>
            </a:r>
          </a:p>
          <a:p>
            <a:pPr lvl="0" indent="-342900" marL="342900">
              <a:buAutoNum type="alphaLcPeriod"/>
            </a:pPr>
            <a:r>
              <a:rPr/>
              <a:t>Compute the Z-score for an exam score of 95.4</a:t>
            </a:r>
          </a:p>
          <a:p>
            <a:pPr lvl="0" indent="-342900" marL="342900">
              <a:buAutoNum type="alphaLcPeriod"/>
            </a:pPr>
            <a:r>
              <a:rPr/>
              <a:t>Compute the Z-score for an exam of 85.8</a:t>
            </a:r>
          </a:p>
          <a:p>
            <a:pPr lvl="0" indent="-342900" marL="342900">
              <a:buAutoNum type="alphaLcPeriod"/>
            </a:pPr>
            <a:r>
              <a:rPr/>
              <a:t>Which of the two observations is more unusual?</a:t>
            </a:r>
          </a:p>
          <a:p>
            <a:pPr lvl="0" indent="0" marL="0">
              <a:buNone/>
            </a:pPr>
            <a:r>
              <a:rPr b="1"/>
              <a:t>Answer:</a:t>
            </a:r>
          </a:p>
          <a:p>
            <a:pPr lvl="0" indent="0" marL="0">
              <a:buNone/>
            </a:pPr>
            <a:r>
              <a:rPr b="1"/>
              <a:t>12a.</a:t>
            </a:r>
            <a:r>
              <a:rPr/>
              <a:t> Z = (95.4 - 92.6) / 3.6 = </a:t>
            </a:r>
            <a:r>
              <a:rPr b="1"/>
              <a:t>0.778</a:t>
            </a:r>
          </a:p>
          <a:p>
            <a:pPr lvl="0" indent="0" marL="0">
              <a:buNone/>
            </a:pPr>
            <a:r>
              <a:rPr b="1"/>
              <a:t>12b.</a:t>
            </a:r>
            <a:r>
              <a:rPr/>
              <a:t> Z = (85.8 - 92.6) / 3.6 = </a:t>
            </a:r>
            <a:r>
              <a:rPr b="1"/>
              <a:t>-1.889</a:t>
            </a:r>
          </a:p>
          <a:p>
            <a:pPr lvl="0" indent="0" marL="0">
              <a:buNone/>
            </a:pPr>
            <a:r>
              <a:rPr b="1"/>
              <a:t>12c.</a:t>
            </a:r>
            <a:r>
              <a:rPr/>
              <a:t> The score of </a:t>
            </a:r>
            <a:r>
              <a:rPr b="1"/>
              <a:t>85.8 is more unusual</a:t>
            </a:r>
            <a:r>
              <a:rPr/>
              <a:t> (|Z| = 1.889 vs. 0.778)</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12d-e: Percentiles</a:t>
            </a:r>
          </a:p>
        </p:txBody>
      </p:sp>
      <p:sp>
        <p:nvSpPr>
          <p:cNvPr id="3" name="Content Placeholder 2"/>
          <p:cNvSpPr>
            <a:spLocks noGrp="1"/>
          </p:cNvSpPr>
          <p:nvPr>
            <p:ph idx="1"/>
          </p:nvPr>
        </p:nvSpPr>
        <p:spPr/>
        <p:txBody>
          <a:bodyPr/>
          <a:lstStyle/>
          <a:p>
            <a:pPr lvl="0" indent="0" marL="0">
              <a:buNone/>
            </a:pPr>
            <a:r>
              <a:rPr b="1"/>
              <a:t>Question:</a:t>
            </a:r>
            <a:r>
              <a:rPr/>
              <a:t> d. Both students come to you to calculate and interpret their percentile on the exam. e. What proportion of test takers scored higher than these two?</a:t>
            </a:r>
          </a:p>
          <a:p>
            <a:pPr lvl="0" indent="0" marL="0">
              <a:buNone/>
            </a:pPr>
            <a:r>
              <a:rPr b="1"/>
              <a:t>Answer:</a:t>
            </a:r>
          </a:p>
          <a:p>
            <a:pPr lvl="0" indent="0" marL="0">
              <a:buNone/>
            </a:pPr>
            <a:r>
              <a:rPr b="1"/>
              <a:t>12d. Percentiles:</a:t>
            </a:r>
            <a:r>
              <a:rPr/>
              <a:t> - Score 95.4 (Z = 0.778): approximately </a:t>
            </a:r>
            <a:r>
              <a:rPr b="1"/>
              <a:t>78th percentile</a:t>
            </a:r>
            <a:r>
              <a:rPr/>
              <a:t> - Score 85.8 (Z = -1.889): approximately </a:t>
            </a:r>
            <a:r>
              <a:rPr b="1"/>
              <a:t>3rd percentile</a:t>
            </a:r>
          </a:p>
          <a:p>
            <a:pPr lvl="0" indent="0" marL="0">
              <a:buNone/>
            </a:pPr>
            <a:r>
              <a:rPr b="1"/>
              <a:t>12e. Proportion scoring higher:</a:t>
            </a:r>
            <a:r>
              <a:rPr/>
              <a:t> - Higher than 95.4: approximately </a:t>
            </a:r>
            <a:r>
              <a:rPr b="1"/>
              <a:t>22%</a:t>
            </a:r>
            <a:r>
              <a:rPr/>
              <a:t> - Higher than 85.8: approximately </a:t>
            </a:r>
            <a:r>
              <a:rPr b="1"/>
              <a:t>97%</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13a-b: SAT Scores</a:t>
            </a:r>
          </a:p>
        </p:txBody>
      </p:sp>
      <p:sp>
        <p:nvSpPr>
          <p:cNvPr id="3" name="Content Placeholder 2"/>
          <p:cNvSpPr>
            <a:spLocks noGrp="1"/>
          </p:cNvSpPr>
          <p:nvPr>
            <p:ph idx="1"/>
          </p:nvPr>
        </p:nvSpPr>
        <p:spPr/>
        <p:txBody>
          <a:bodyPr/>
          <a:lstStyle/>
          <a:p>
            <a:pPr lvl="0" indent="0" marL="0">
              <a:buNone/>
            </a:pPr>
            <a:r>
              <a:rPr b="1"/>
              <a:t>Question:</a:t>
            </a:r>
            <a:r>
              <a:rPr/>
              <a:t> The SAT test is approximately normally distributed with μ = 1500, σ = 300.</a:t>
            </a:r>
          </a:p>
          <a:p>
            <a:pPr lvl="0" indent="-342900" marL="342900">
              <a:buAutoNum type="alphaLcPeriod"/>
            </a:pPr>
            <a:r>
              <a:rPr/>
              <a:t>What is the probability of scoring at least 1630 on the SAT?</a:t>
            </a:r>
          </a:p>
          <a:p>
            <a:pPr lvl="0" indent="-342900" marL="342900">
              <a:buAutoNum type="alphaLcPeriod"/>
            </a:pPr>
            <a:r>
              <a:rPr/>
              <a:t>One year something unusual happened and more than 75% of test takers scored above 1600. How does that affect the calculation?</a:t>
            </a:r>
          </a:p>
          <a:p>
            <a:pPr lvl="0" indent="0" marL="0">
              <a:buNone/>
            </a:pPr>
            <a:r>
              <a:rPr b="1"/>
              <a:t>Answer:</a:t>
            </a:r>
          </a:p>
          <a:p>
            <a:pPr lvl="0" indent="0" marL="0">
              <a:buNone/>
            </a:pPr>
            <a:r>
              <a:rPr b="1"/>
              <a:t>13a.</a:t>
            </a:r>
            <a:r>
              <a:rPr/>
              <a:t> Z = (1630 - 1500) / 300 = 0.433 P(X ≥ 1630) ≈ </a:t>
            </a:r>
            <a:r>
              <a:rPr b="1"/>
              <a:t>0.3325 or 33.25%</a:t>
            </a:r>
          </a:p>
          <a:p>
            <a:pPr lvl="0" indent="0" marL="0">
              <a:buNone/>
            </a:pPr>
            <a:r>
              <a:rPr b="1"/>
              <a:t>13b.</a:t>
            </a:r>
            <a:r>
              <a:rPr/>
              <a:t> This violates normality assumptions. If 75% scored above 1600, the distribution is no longer N(1500, 300). We cannot use normal distribution calculations; we’d need the actual distribution.</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13c: Social Justice</a:t>
            </a:r>
          </a:p>
        </p:txBody>
      </p:sp>
      <p:sp>
        <p:nvSpPr>
          <p:cNvPr id="3" name="Content Placeholder 2"/>
          <p:cNvSpPr>
            <a:spLocks noGrp="1"/>
          </p:cNvSpPr>
          <p:nvPr>
            <p:ph idx="1"/>
          </p:nvPr>
        </p:nvSpPr>
        <p:spPr/>
        <p:txBody>
          <a:bodyPr/>
          <a:lstStyle/>
          <a:p>
            <a:pPr lvl="0" indent="0" marL="0">
              <a:buNone/>
            </a:pPr>
            <a:r>
              <a:rPr b="1"/>
              <a:t>Question:</a:t>
            </a:r>
            <a:r>
              <a:rPr/>
              <a:t> From a social justice standpoint, describe the problem with interpreting aptitude using a statistical analysis.</a:t>
            </a:r>
          </a:p>
          <a:p>
            <a:pPr lvl="0" indent="0" marL="0">
              <a:buNone/>
            </a:pPr>
            <a:r>
              <a:rPr b="1"/>
              <a:t>Answer:</a:t>
            </a:r>
          </a:p>
          <a:p>
            <a:pPr lvl="0" indent="0" marL="0">
              <a:buNone/>
            </a:pPr>
            <a:r>
              <a:rPr/>
              <a:t>Aptitude tests may reflect socioeconomic advantages (test prep access, quality education, tutoring, educational resources) rather than innate ability. They can perpetuate inequality by disadvantaging students from under-resourced backgrounds, marginalized communities, and those who lack access to test preparation resources. Statistical analysis treats scores as objective measures but ignores systemic inequities.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14: Binomial Distribution</a:t>
            </a:r>
          </a:p>
        </p:txBody>
      </p:sp>
      <p:sp>
        <p:nvSpPr>
          <p:cNvPr id="3" name="Content Placeholder 2"/>
          <p:cNvSpPr>
            <a:spLocks noGrp="1"/>
          </p:cNvSpPr>
          <p:nvPr>
            <p:ph idx="1"/>
          </p:nvPr>
        </p:nvSpPr>
        <p:spPr/>
        <p:txBody>
          <a:bodyPr/>
          <a:lstStyle/>
          <a:p>
            <a:pPr lvl="0" indent="0" marL="0">
              <a:buNone/>
            </a:pPr>
            <a:r>
              <a:rPr b="1"/>
              <a:t>Question:</a:t>
            </a:r>
            <a:r>
              <a:rPr/>
              <a:t> On 70% of days, a therapist’s office admits at least one new client. On 30% of the days, no clients are admitted. What is the probability that the therapist will admit a new client on exactly three days this week?</a:t>
            </a:r>
          </a:p>
          <a:p>
            <a:pPr lvl="0" indent="0" marL="0">
              <a:buNone/>
            </a:pPr>
            <a:r>
              <a:rPr b="1"/>
              <a:t>Answer:</a:t>
            </a:r>
          </a:p>
          <a:p>
            <a:pPr lvl="0" indent="0" marL="0">
              <a:buNone/>
            </a:pPr>
            <a:r>
              <a:rPr/>
              <a:t>Using binomial theorem: P(X = 3) = C(7,3) × (0.70)³ × (0.30)⁴</a:t>
            </a:r>
          </a:p>
          <a:p>
            <a:pPr lvl="0"/>
            <a:r>
              <a:rPr/>
              <a:t>C(7,3) = 35</a:t>
            </a:r>
          </a:p>
          <a:p>
            <a:pPr lvl="0"/>
            <a:r>
              <a:rPr/>
              <a:t>(0.70)³ = 0.343</a:t>
            </a:r>
          </a:p>
          <a:p>
            <a:pPr lvl="0"/>
            <a:r>
              <a:rPr/>
              <a:t>(0.30)⁴ = 0.0081</a:t>
            </a:r>
          </a:p>
          <a:p>
            <a:pPr lvl="0"/>
            <a:r>
              <a:rPr/>
              <a:t>P(X = 3) = 35 × 0.343 × 0.0081 = </a:t>
            </a:r>
            <a:r>
              <a:rPr b="1"/>
              <a:t>0.0972 or 9.72%</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15a: Hypothesis Testing Framework</a:t>
            </a:r>
          </a:p>
        </p:txBody>
      </p:sp>
      <p:sp>
        <p:nvSpPr>
          <p:cNvPr id="3" name="Content Placeholder 2"/>
          <p:cNvSpPr>
            <a:spLocks noGrp="1"/>
          </p:cNvSpPr>
          <p:nvPr>
            <p:ph idx="1"/>
          </p:nvPr>
        </p:nvSpPr>
        <p:spPr/>
        <p:txBody>
          <a:bodyPr/>
          <a:lstStyle/>
          <a:p>
            <a:pPr lvl="0" indent="0" marL="0">
              <a:buNone/>
            </a:pPr>
            <a:r>
              <a:rPr b="1"/>
              <a:t>Question:</a:t>
            </a:r>
            <a:r>
              <a:rPr/>
              <a:t> A US court is weighing two possible claims about a defendant: she is not guilty or guilty. How can a hypothesis testing framework be used to evaluate these claims?</a:t>
            </a:r>
          </a:p>
          <a:p>
            <a:pPr lvl="0" indent="0" marL="0">
              <a:buNone/>
            </a:pPr>
            <a:r>
              <a:rPr b="1"/>
              <a:t>Answer:</a:t>
            </a:r>
          </a:p>
          <a:p>
            <a:pPr lvl="0"/>
            <a:r>
              <a:rPr b="1"/>
              <a:t>H₀ (null hypothesis):</a:t>
            </a:r>
            <a:r>
              <a:rPr/>
              <a:t> Defendant is not guilty</a:t>
            </a:r>
          </a:p>
          <a:p>
            <a:pPr lvl="0"/>
            <a:r>
              <a:rPr b="1"/>
              <a:t>H₁ (alternative hypothesis):</a:t>
            </a:r>
            <a:r>
              <a:rPr/>
              <a:t> Defendant is guilty</a:t>
            </a:r>
          </a:p>
          <a:p>
            <a:pPr lvl="0"/>
            <a:r>
              <a:rPr/>
              <a:t>Burden of proof is on prosecution to reject H₀</a:t>
            </a:r>
          </a:p>
          <a:p>
            <a:pPr lvl="0"/>
            <a:r>
              <a:rPr/>
              <a:t>Requires evidence “beyond reasonable doubt” (like α level)</a:t>
            </a:r>
          </a:p>
          <a:p>
            <a:pPr lvl="0"/>
            <a:r>
              <a:rPr b="1"/>
              <a:t>Type I error:</a:t>
            </a:r>
            <a:r>
              <a:rPr/>
              <a:t> Convicting an innocent person</a:t>
            </a:r>
          </a:p>
          <a:p>
            <a:pPr lvl="0"/>
            <a:r>
              <a:rPr b="1"/>
              <a:t>Type II error:</a:t>
            </a:r>
            <a:r>
              <a:rPr/>
              <a:t> Acquitting a guilty person</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15b: Innocent vs Not Guilty</a:t>
            </a:r>
          </a:p>
        </p:txBody>
      </p:sp>
      <p:sp>
        <p:nvSpPr>
          <p:cNvPr id="3" name="Content Placeholder 2"/>
          <p:cNvSpPr>
            <a:spLocks noGrp="1"/>
          </p:cNvSpPr>
          <p:nvPr>
            <p:ph idx="1"/>
          </p:nvPr>
        </p:nvSpPr>
        <p:spPr/>
        <p:txBody>
          <a:bodyPr/>
          <a:lstStyle/>
          <a:p>
            <a:pPr lvl="0" indent="0" marL="0">
              <a:buNone/>
            </a:pPr>
            <a:r>
              <a:rPr b="1"/>
              <a:t>Question:</a:t>
            </a:r>
            <a:r>
              <a:rPr/>
              <a:t> What is the problem with falsely using the term ‘innocent’ rather than ‘not guilty’ in this framework?</a:t>
            </a:r>
          </a:p>
          <a:p>
            <a:pPr lvl="0" indent="0" marL="0">
              <a:buNone/>
            </a:pPr>
            <a:r>
              <a:rPr b="1"/>
              <a:t>Answer:</a:t>
            </a:r>
          </a:p>
          <a:p>
            <a:pPr lvl="0" indent="0" marL="0">
              <a:buNone/>
            </a:pPr>
            <a:r>
              <a:rPr/>
              <a:t>“Not guilty” means insufficient evidence to prove guilt beyond reasonable doubt. “Innocent” implies proof of non-involvement.</a:t>
            </a:r>
          </a:p>
          <a:p>
            <a:pPr lvl="0" indent="0" marL="0">
              <a:buNone/>
            </a:pPr>
            <a:r>
              <a:rPr/>
              <a:t>Courts don’t prove innocence; they determine if guilt is proven. This mirrors statistics: we reject or fail to reject H₀, but never “accept” or “prove” H₀. Failing to reject H₀ ≠ proving H₀ is true.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16a: Confidence Interval</a:t>
            </a:r>
          </a:p>
        </p:txBody>
      </p:sp>
      <p:sp>
        <p:nvSpPr>
          <p:cNvPr id="3" name="Content Placeholder 2"/>
          <p:cNvSpPr>
            <a:spLocks noGrp="1"/>
          </p:cNvSpPr>
          <p:nvPr>
            <p:ph idx="1"/>
          </p:nvPr>
        </p:nvSpPr>
        <p:spPr/>
        <p:txBody>
          <a:bodyPr/>
          <a:lstStyle/>
          <a:p>
            <a:pPr lvl="0" indent="0" marL="0">
              <a:buNone/>
            </a:pPr>
            <a:r>
              <a:rPr b="1"/>
              <a:t>Question:</a:t>
            </a:r>
            <a:r>
              <a:rPr/>
              <a:t> In a sample of 100 students from the 2022 NCHS, the average number of days per year a child was reported ill was 2.78, with a standard deviation of 2.56 days. Compute a 95% confidence interval. Assume conditions for normality are met.</a:t>
            </a:r>
          </a:p>
          <a:p>
            <a:pPr lvl="0" indent="0" marL="0">
              <a:buNone/>
            </a:pPr>
            <a:r>
              <a:rPr b="1"/>
              <a:t>Answer:</a:t>
            </a:r>
          </a:p>
          <a:p>
            <a:pPr lvl="0" indent="0" marL="0">
              <a:buNone/>
            </a:pPr>
            <a:r>
              <a:rPr/>
              <a:t>SE = s / √n = 2.56 / √100 = 0.256</a:t>
            </a:r>
          </a:p>
          <a:p>
            <a:pPr lvl="0" indent="0" marL="0">
              <a:buNone/>
            </a:pPr>
            <a:r>
              <a:rPr/>
              <a:t>95% CI = x̄ ± (1.96 × SE) = 2.78 ± (1.96 × 0.256)</a:t>
            </a:r>
          </a:p>
          <a:p>
            <a:pPr lvl="0" indent="0" marL="0">
              <a:buNone/>
            </a:pPr>
            <a:r>
              <a:rPr/>
              <a:t>= 2.78 ± 0.502</a:t>
            </a:r>
          </a:p>
          <a:p>
            <a:pPr lvl="0" indent="0" marL="0">
              <a:buNone/>
            </a:pPr>
            <a:r>
              <a:rPr b="1"/>
              <a:t>95% CI: (2.28, 3.28) days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16b: CI Interpretation</a:t>
            </a:r>
          </a:p>
        </p:txBody>
      </p:sp>
      <p:sp>
        <p:nvSpPr>
          <p:cNvPr id="3" name="Content Placeholder 2"/>
          <p:cNvSpPr>
            <a:spLocks noGrp="1"/>
          </p:cNvSpPr>
          <p:nvPr>
            <p:ph idx="1"/>
          </p:nvPr>
        </p:nvSpPr>
        <p:spPr/>
        <p:txBody>
          <a:bodyPr/>
          <a:lstStyle/>
          <a:p>
            <a:pPr lvl="0" indent="0" marL="0">
              <a:buNone/>
            </a:pPr>
            <a:r>
              <a:rPr b="1"/>
              <a:t>Question:</a:t>
            </a:r>
            <a:r>
              <a:rPr/>
              <a:t> Interpret the confidence interval.</a:t>
            </a:r>
          </a:p>
          <a:p>
            <a:pPr lvl="0" indent="0" marL="0">
              <a:buNone/>
            </a:pPr>
            <a:r>
              <a:rPr b="1"/>
              <a:t>Answer:</a:t>
            </a:r>
          </a:p>
          <a:p>
            <a:pPr lvl="0" indent="0" marL="0">
              <a:buNone/>
            </a:pPr>
            <a:r>
              <a:rPr/>
              <a:t>We are 95% confident that the true average number of days per year all children in the NCHS population are reported ill falls between 2.28 and 3.28 days.</a:t>
            </a:r>
          </a:p>
          <a:p>
            <a:pPr lvl="0" indent="0" marL="0">
              <a:buNone/>
            </a:pPr>
            <a:r>
              <a:rPr/>
              <a:t>This means if we repeated this sampling process many times, approximately 95% of the resulting confidence intervals would contain the true population mean.</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17: Hypothesis Setup</a:t>
            </a:r>
          </a:p>
        </p:txBody>
      </p:sp>
      <p:sp>
        <p:nvSpPr>
          <p:cNvPr id="3" name="Content Placeholder 2"/>
          <p:cNvSpPr>
            <a:spLocks noGrp="1"/>
          </p:cNvSpPr>
          <p:nvPr>
            <p:ph idx="1"/>
          </p:nvPr>
        </p:nvSpPr>
        <p:spPr/>
        <p:txBody>
          <a:bodyPr/>
          <a:lstStyle/>
          <a:p>
            <a:pPr lvl="0" indent="0" marL="0">
              <a:buNone/>
            </a:pPr>
            <a:r>
              <a:rPr b="1"/>
              <a:t>Question:</a:t>
            </a:r>
            <a:r>
              <a:rPr/>
              <a:t> UCLA estimates the cost of in-state tuition is $23,000/year. I estimate it at $33,000/year. What are the null and alternative hypotheses to test whether this claim is accurate?</a:t>
            </a:r>
          </a:p>
          <a:p>
            <a:pPr lvl="0" indent="0" marL="0">
              <a:buNone/>
            </a:pPr>
            <a:r>
              <a:rPr b="1"/>
              <a:t>Answer:</a:t>
            </a:r>
          </a:p>
          <a:p>
            <a:pPr lvl="0" indent="0" marL="0">
              <a:buNone/>
            </a:pPr>
            <a:r>
              <a:rPr b="1"/>
              <a:t>H₀:</a:t>
            </a:r>
            <a:r>
              <a:rPr/>
              <a:t> μ = $23,000 (UCLA’s estimate is correct)</a:t>
            </a:r>
          </a:p>
          <a:p>
            <a:pPr lvl="0" indent="0" marL="0">
              <a:buNone/>
            </a:pPr>
            <a:r>
              <a:rPr b="1"/>
              <a:t>H₁:</a:t>
            </a:r>
            <a:r>
              <a:rPr/>
              <a:t> μ ≠ $23,000 (UCLA’s estimate is not correct)</a:t>
            </a:r>
          </a:p>
          <a:p>
            <a:pPr lvl="0" indent="0" marL="0">
              <a:buNone/>
            </a:pPr>
            <a:r>
              <a:rPr/>
              <a:t>This is a two-tailed test since we’re testing whether the claim is accurate (could be higher or lower), not specifically testing a directional hypothesis.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18: P-value vs Significance Level</a:t>
            </a:r>
          </a:p>
        </p:txBody>
      </p:sp>
      <p:sp>
        <p:nvSpPr>
          <p:cNvPr id="3" name="Content Placeholder 2"/>
          <p:cNvSpPr>
            <a:spLocks noGrp="1"/>
          </p:cNvSpPr>
          <p:nvPr>
            <p:ph idx="1"/>
          </p:nvPr>
        </p:nvSpPr>
        <p:spPr/>
        <p:txBody>
          <a:bodyPr/>
          <a:lstStyle/>
          <a:p>
            <a:pPr lvl="0" indent="0" marL="0">
              <a:buNone/>
            </a:pPr>
            <a:r>
              <a:rPr b="1"/>
              <a:t>Question:</a:t>
            </a:r>
            <a:r>
              <a:rPr/>
              <a:t> What is the substantive difference between a p-value and the significance level of a test?</a:t>
            </a:r>
          </a:p>
          <a:p>
            <a:pPr lvl="0" indent="0" marL="0">
              <a:buNone/>
            </a:pPr>
            <a:r>
              <a:rPr b="1"/>
              <a:t>Answer:</a:t>
            </a:r>
          </a:p>
          <a:p>
            <a:pPr lvl="0" indent="0" marL="0">
              <a:buNone/>
            </a:pPr>
            <a:r>
              <a:rPr b="1"/>
              <a:t>P-value:</a:t>
            </a:r>
            <a:r>
              <a:rPr/>
              <a:t> The probability of observing data as extreme as (or more extreme than) what we observed, assuming H₀ is true. Calculated from the data after the study.</a:t>
            </a:r>
          </a:p>
          <a:p>
            <a:pPr lvl="0" indent="0" marL="0">
              <a:buNone/>
            </a:pPr>
            <a:r>
              <a:rPr b="1"/>
              <a:t>Significance level (α):</a:t>
            </a:r>
            <a:r>
              <a:rPr/>
              <a:t> The threshold we set </a:t>
            </a:r>
            <a:r>
              <a:rPr b="1"/>
              <a:t>before</a:t>
            </a:r>
            <a:r>
              <a:rPr/>
              <a:t> conducting the test to determine whether to reject H₀. Chosen by the researcher (commonly 0.05).</a:t>
            </a:r>
          </a:p>
          <a:p>
            <a:pPr lvl="0" indent="0" marL="0">
              <a:buNone/>
            </a:pPr>
            <a:r>
              <a:rPr b="1"/>
              <a:t>Key difference:</a:t>
            </a:r>
            <a:r>
              <a:rPr/>
              <a:t> α is predetermined; p-value is calculated. We reject H₀ if p-value &lt; α.</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19: P-value Frequency</a:t>
            </a:r>
          </a:p>
        </p:txBody>
      </p:sp>
      <p:sp>
        <p:nvSpPr>
          <p:cNvPr id="3" name="Content Placeholder 2"/>
          <p:cNvSpPr>
            <a:spLocks noGrp="1"/>
          </p:cNvSpPr>
          <p:nvPr>
            <p:ph idx="1"/>
          </p:nvPr>
        </p:nvSpPr>
        <p:spPr/>
        <p:txBody>
          <a:bodyPr/>
          <a:lstStyle/>
          <a:p>
            <a:pPr lvl="0" indent="0" marL="0">
              <a:buNone/>
            </a:pPr>
            <a:r>
              <a:rPr b="1"/>
              <a:t>Question:</a:t>
            </a:r>
            <a:r>
              <a:rPr/>
              <a:t> If the null hypothesis is true, how often should the p-value be less than .10?</a:t>
            </a:r>
          </a:p>
          <a:p>
            <a:pPr lvl="0" indent="0" marL="0">
              <a:buNone/>
            </a:pPr>
            <a:r>
              <a:rPr b="1"/>
              <a:t>Answer:</a:t>
            </a:r>
          </a:p>
          <a:p>
            <a:pPr lvl="0" indent="0" marL="0">
              <a:buNone/>
            </a:pPr>
            <a:r>
              <a:rPr b="1"/>
              <a:t>10% of the time</a:t>
            </a:r>
          </a:p>
          <a:p>
            <a:pPr lvl="0" indent="0" marL="0">
              <a:buNone/>
            </a:pPr>
            <a:r>
              <a:rPr/>
              <a:t>If the null hypothesis is true, the p-value follows a uniform distribution between 0 and 1. Therefore, P(p-value &lt; 0.10) = 0.10.</a:t>
            </a:r>
          </a:p>
          <a:p>
            <a:pPr lvl="0" indent="0" marL="0">
              <a:buNone/>
            </a:pPr>
            <a:r>
              <a:rPr/>
              <a:t>This is exactly the definition of the significance level—it represents the probability of a Type I error (rejecting a true null hypothesis).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20: Practical vs Statistical Significance</a:t>
            </a:r>
          </a:p>
        </p:txBody>
      </p:sp>
      <p:sp>
        <p:nvSpPr>
          <p:cNvPr id="3" name="Content Placeholder 2"/>
          <p:cNvSpPr>
            <a:spLocks noGrp="1"/>
          </p:cNvSpPr>
          <p:nvPr>
            <p:ph idx="1"/>
          </p:nvPr>
        </p:nvSpPr>
        <p:spPr/>
        <p:txBody>
          <a:bodyPr/>
          <a:lstStyle/>
          <a:p>
            <a:pPr lvl="0" indent="0" marL="0">
              <a:buNone/>
            </a:pPr>
            <a:r>
              <a:rPr b="1"/>
              <a:t>Question:</a:t>
            </a:r>
            <a:r>
              <a:rPr/>
              <a:t> Describe the difference between practical and statistical significance. Provide an example.</a:t>
            </a:r>
          </a:p>
          <a:p>
            <a:pPr lvl="0" indent="0" marL="0">
              <a:buNone/>
            </a:pPr>
            <a:r>
              <a:rPr b="1"/>
              <a:t>Answer:</a:t>
            </a:r>
          </a:p>
          <a:p>
            <a:pPr lvl="0" indent="0" marL="0">
              <a:buNone/>
            </a:pPr>
            <a:r>
              <a:rPr b="1"/>
              <a:t>Statistical significance:</a:t>
            </a:r>
            <a:r>
              <a:rPr/>
              <a:t> Result is unlikely due to chance alone (p-value &lt; α). Depends on sample size.</a:t>
            </a:r>
          </a:p>
          <a:p>
            <a:pPr lvl="0" indent="0" marL="0">
              <a:buNone/>
            </a:pPr>
            <a:r>
              <a:rPr b="1"/>
              <a:t>Practical significance:</a:t>
            </a:r>
            <a:r>
              <a:rPr/>
              <a:t> Result is meaningful in real-world terms. Depends on effect size.</a:t>
            </a:r>
          </a:p>
          <a:p>
            <a:pPr lvl="0" indent="0" marL="0">
              <a:buNone/>
            </a:pPr>
            <a:r>
              <a:rPr b="1"/>
              <a:t>Example:</a:t>
            </a:r>
            <a:r>
              <a:rPr/>
              <a:t> With n=1,000,000, a reading intervention increases test scores by 0.5 points (p &lt; 0.001). Statistically significant but practically meaningless—0.5 points won’t change educational outcomes. A 10-point increase might be practically significant even if p = 0.06.</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21: Dependent Sample t-test</a:t>
            </a:r>
          </a:p>
        </p:txBody>
      </p:sp>
      <p:sp>
        <p:nvSpPr>
          <p:cNvPr id="3" name="Content Placeholder 2"/>
          <p:cNvSpPr>
            <a:spLocks noGrp="1"/>
          </p:cNvSpPr>
          <p:nvPr>
            <p:ph idx="1"/>
          </p:nvPr>
        </p:nvSpPr>
        <p:spPr/>
        <p:txBody>
          <a:bodyPr/>
          <a:lstStyle/>
          <a:p>
            <a:pPr lvl="0" indent="0" marL="0">
              <a:buNone/>
            </a:pPr>
            <a:r>
              <a:rPr b="1"/>
              <a:t>Question:</a:t>
            </a:r>
            <a:r>
              <a:rPr/>
              <a:t> Set up and implement a hypothesis test to determine whether, on average, there is a difference in outcomes for the treatment and control group using a dependent sample t-test. Summary statistics: N=73; mean difference = 12.76, SD of difference = 14.26.</a:t>
            </a:r>
          </a:p>
          <a:p>
            <a:pPr lvl="0" indent="0" marL="0">
              <a:buNone/>
            </a:pPr>
            <a:r>
              <a:rPr b="1"/>
              <a:t>Answer:</a:t>
            </a:r>
          </a:p>
          <a:p>
            <a:pPr lvl="0" indent="0" marL="0">
              <a:buNone/>
            </a:pPr>
            <a:r>
              <a:rPr b="1"/>
              <a:t>Hypotheses:</a:t>
            </a:r>
            <a:r>
              <a:rPr/>
              <a:t> H₀: μ_diff = 0 vs. H₁: μ_diff ≠ 0</a:t>
            </a:r>
          </a:p>
          <a:p>
            <a:pPr lvl="0" indent="0" marL="0">
              <a:buNone/>
            </a:pPr>
            <a:r>
              <a:rPr/>
              <a:t>SE = 14.26 / √73 = 1.669</a:t>
            </a:r>
          </a:p>
          <a:p>
            <a:pPr lvl="0" indent="0" marL="0">
              <a:buNone/>
            </a:pPr>
            <a:r>
              <a:rPr/>
              <a:t>t = 12.76 / 1.669 = </a:t>
            </a:r>
            <a:r>
              <a:rPr b="1"/>
              <a:t>7.65</a:t>
            </a:r>
            <a:r>
              <a:rPr/>
              <a:t>, df = 72</a:t>
            </a:r>
          </a:p>
          <a:p>
            <a:pPr lvl="0" indent="0" marL="0">
              <a:buNone/>
            </a:pPr>
            <a:r>
              <a:rPr b="1"/>
              <a:t>Conclusion:</a:t>
            </a:r>
            <a:r>
              <a:rPr/>
              <a:t> With t = 7.65, p &lt; 0.001. We reject H₀. Strong evidence of a significant difference between treatment and control groups.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Question 22a-b: Independent Samples t-test</a:t>
            </a:r>
          </a:p>
        </p:txBody>
      </p:sp>
      <p:sp>
        <p:nvSpPr>
          <p:cNvPr id="4" name="Text Placeholder 3"/>
          <p:cNvSpPr>
            <a:spLocks noGrp="1"/>
          </p:cNvSpPr>
          <p:nvPr>
            <p:ph idx="2" sz="half" type="body"/>
          </p:nvPr>
        </p:nvSpPr>
        <p:spPr/>
        <p:txBody>
          <a:bodyPr/>
          <a:lstStyle/>
          <a:p>
            <a:pPr lvl="0" indent="0" marL="0">
              <a:buNone/>
            </a:pPr>
            <a:r>
              <a:rPr b="1"/>
              <a:t>Question:</a:t>
            </a:r>
            <a:r>
              <a:rPr/>
              <a:t> The summary statistics below show newborn weights for mothers who smoked and did not smoke during pregnancy.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endParaRPr/>
                    </a:p>
                  </a:txBody>
                  <a:tcPr/>
                </a:tc>
                <a:tc>
                  <a:txBody>
                    <a:bodyPr/>
                    <a:lstStyle/>
                    <a:p>
                      <a:pPr lvl="0" indent="0" marL="0">
                        <a:buNone/>
                      </a:pPr>
                      <a:r>
                        <a:rPr/>
                        <a:t>Smoked</a:t>
                      </a:r>
                    </a:p>
                  </a:txBody>
                  <a:tcPr/>
                </a:tc>
                <a:tc>
                  <a:txBody>
                    <a:bodyPr/>
                    <a:lstStyle/>
                    <a:p>
                      <a:pPr lvl="0" indent="0" marL="0">
                        <a:buNone/>
                      </a:pPr>
                      <a:r>
                        <a:rPr/>
                        <a:t>Did not smoke</a:t>
                      </a:r>
                    </a:p>
                  </a:txBody>
                  <a:tcPr/>
                </a:tc>
              </a:tr>
              <a:tr h="0">
                <a:tc>
                  <a:txBody>
                    <a:bodyPr/>
                    <a:lstStyle/>
                    <a:p>
                      <a:pPr lvl="0" indent="0" marL="0">
                        <a:buNone/>
                      </a:pPr>
                      <a:r>
                        <a:rPr/>
                        <a:t>Mean</a:t>
                      </a:r>
                    </a:p>
                  </a:txBody>
                </a:tc>
                <a:tc>
                  <a:txBody>
                    <a:bodyPr/>
                    <a:lstStyle/>
                    <a:p>
                      <a:pPr lvl="0" indent="0" marL="0">
                        <a:buNone/>
                      </a:pPr>
                      <a:r>
                        <a:rPr/>
                        <a:t>6.78</a:t>
                      </a:r>
                    </a:p>
                  </a:txBody>
                </a:tc>
                <a:tc>
                  <a:txBody>
                    <a:bodyPr/>
                    <a:lstStyle/>
                    <a:p>
                      <a:pPr lvl="0" indent="0" marL="0">
                        <a:buNone/>
                      </a:pPr>
                      <a:r>
                        <a:rPr/>
                        <a:t>7.18</a:t>
                      </a:r>
                    </a:p>
                  </a:txBody>
                </a:tc>
              </a:tr>
              <a:tr h="0">
                <a:tc>
                  <a:txBody>
                    <a:bodyPr/>
                    <a:lstStyle/>
                    <a:p>
                      <a:pPr lvl="0" indent="0" marL="0">
                        <a:buNone/>
                      </a:pPr>
                      <a:r>
                        <a:rPr/>
                        <a:t>St. Dev.</a:t>
                      </a:r>
                    </a:p>
                  </a:txBody>
                </a:tc>
                <a:tc>
                  <a:txBody>
                    <a:bodyPr/>
                    <a:lstStyle/>
                    <a:p>
                      <a:pPr lvl="0" indent="0" marL="0">
                        <a:buNone/>
                      </a:pPr>
                      <a:r>
                        <a:rPr/>
                        <a:t>1.43</a:t>
                      </a:r>
                    </a:p>
                  </a:txBody>
                </a:tc>
                <a:tc>
                  <a:txBody>
                    <a:bodyPr/>
                    <a:lstStyle/>
                    <a:p>
                      <a:pPr lvl="0" indent="0" marL="0">
                        <a:buNone/>
                      </a:pPr>
                      <a:r>
                        <a:rPr/>
                        <a:t>1.6</a:t>
                      </a:r>
                    </a:p>
                  </a:txBody>
                </a:tc>
              </a:tr>
              <a:tr h="0">
                <a:tc>
                  <a:txBody>
                    <a:bodyPr/>
                    <a:lstStyle/>
                    <a:p>
                      <a:pPr lvl="0" indent="0" marL="0">
                        <a:buNone/>
                      </a:pPr>
                      <a:r>
                        <a:rPr/>
                        <a:t>N</a:t>
                      </a:r>
                    </a:p>
                  </a:txBody>
                </a:tc>
                <a:tc>
                  <a:txBody>
                    <a:bodyPr/>
                    <a:lstStyle/>
                    <a:p>
                      <a:pPr lvl="0" indent="0" marL="0">
                        <a:buNone/>
                      </a:pPr>
                      <a:r>
                        <a:rPr/>
                        <a:t>50</a:t>
                      </a:r>
                    </a:p>
                  </a:txBody>
                </a:tc>
                <a:tc>
                  <a:txBody>
                    <a:bodyPr/>
                    <a:lstStyle/>
                    <a:p>
                      <a:pPr lvl="0" indent="0" marL="0">
                        <a:buNone/>
                      </a:pPr>
                      <a:r>
                        <a:rPr/>
                        <a:t>100</a:t>
                      </a:r>
                    </a:p>
                  </a:txBody>
                </a:tc>
              </a:tr>
            </a:tbl>
          </a:graphicData>
        </a:graphic>
      </p:graphicFrame>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342900" marL="342900">
              <a:buAutoNum type="alphaLcPeriod"/>
            </a:pPr>
            <a:r>
              <a:rPr/>
              <a:t>What is the estimate of the population difference?</a:t>
            </a:r>
          </a:p>
          <a:p>
            <a:pPr lvl="0" indent="-342900" marL="342900">
              <a:buAutoNum type="alphaLcPeriod"/>
            </a:pPr>
            <a:r>
              <a:rPr/>
              <a:t>Compute the standard error of the estimate from (a)</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22: Answer</a:t>
            </a:r>
          </a:p>
        </p:txBody>
      </p:sp>
      <p:sp>
        <p:nvSpPr>
          <p:cNvPr id="3" name="Content Placeholder 2"/>
          <p:cNvSpPr>
            <a:spLocks noGrp="1"/>
          </p:cNvSpPr>
          <p:nvPr>
            <p:ph idx="1"/>
          </p:nvPr>
        </p:nvSpPr>
        <p:spPr/>
        <p:txBody>
          <a:bodyPr/>
          <a:lstStyle/>
          <a:p>
            <a:pPr lvl="0" indent="0" marL="0">
              <a:buNone/>
            </a:pPr>
            <a:r>
              <a:rPr b="1"/>
              <a:t>22a. Estimate of population difference:</a:t>
            </a:r>
          </a:p>
          <a:p>
            <a:pPr lvl="0" indent="0" marL="0">
              <a:buNone/>
            </a:pPr>
            <a:r>
              <a:rPr/>
              <a:t>x̄₁ - x̄₂ = 6.78 - 7.18 = </a:t>
            </a:r>
            <a:r>
              <a:rPr b="1"/>
              <a:t>-0.40 pounds</a:t>
            </a:r>
          </a:p>
          <a:p>
            <a:pPr lvl="0" indent="0" marL="0">
              <a:buNone/>
            </a:pPr>
            <a:r>
              <a:rPr/>
              <a:t>Babies born to mothers who smoked weighed on average 0.40 pounds less.</a:t>
            </a:r>
          </a:p>
          <a:p>
            <a:pPr lvl="0" indent="0" marL="0">
              <a:buNone/>
            </a:pPr>
            <a:r>
              <a:rPr b="1"/>
              <a:t>22b. Standard error:</a:t>
            </a:r>
          </a:p>
          <a:p>
            <a:pPr lvl="0" indent="0" marL="0">
              <a:buNone/>
            </a:pPr>
            <a:r>
              <a:rPr/>
              <a:t>SE = √[(s₁²/n₁) + (s₂²/n₂)]</a:t>
            </a:r>
          </a:p>
          <a:p>
            <a:pPr lvl="0" indent="0" marL="0">
              <a:buNone/>
            </a:pPr>
            <a:r>
              <a:rPr/>
              <a:t>SE = √[(1.43²/50) + (1.6²/100)]</a:t>
            </a:r>
          </a:p>
          <a:p>
            <a:pPr lvl="0" indent="0" marL="0">
              <a:buNone/>
            </a:pPr>
            <a:r>
              <a:rPr/>
              <a:t>SE = √[0.0409 + 0.0256] = √0.0665 = </a:t>
            </a:r>
            <a:r>
              <a:rPr b="1"/>
              <a:t>0.258 pounds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 23a: ANOVA Hypotheses</a:t>
            </a:r>
          </a:p>
        </p:txBody>
      </p:sp>
      <p:sp>
        <p:nvSpPr>
          <p:cNvPr id="3" name="Content Placeholder 2"/>
          <p:cNvSpPr>
            <a:spLocks noGrp="1"/>
          </p:cNvSpPr>
          <p:nvPr>
            <p:ph idx="1"/>
          </p:nvPr>
        </p:nvSpPr>
        <p:spPr/>
        <p:txBody>
          <a:bodyPr/>
          <a:lstStyle/>
          <a:p>
            <a:pPr lvl="0" indent="0" marL="0">
              <a:buNone/>
            </a:pPr>
            <a:r>
              <a:rPr b="1"/>
              <a:t>Question:</a:t>
            </a:r>
            <a:r>
              <a:rPr/>
              <a:t> College departments offer many lectures of the same course. CSW offers three lectures of an intro stats course to PhD students (A, B, and C). Describe the appropriate hypotheses to determine whether there are any differences between the classes.</a:t>
            </a:r>
          </a:p>
          <a:p>
            <a:pPr lvl="0" indent="0" marL="0">
              <a:buNone/>
            </a:pPr>
            <a:r>
              <a:rPr b="1"/>
              <a:t>Answer:</a:t>
            </a:r>
          </a:p>
          <a:p>
            <a:pPr lvl="0" indent="0" marL="0">
              <a:buNone/>
            </a:pPr>
            <a:r>
              <a:rPr b="1"/>
              <a:t>H₀:</a:t>
            </a:r>
            <a:r>
              <a:rPr/>
              <a:t> μ_A = μ_B = μ_C</a:t>
            </a:r>
          </a:p>
          <a:p>
            <a:pPr lvl="0" indent="0" marL="0">
              <a:buNone/>
            </a:pPr>
            <a:r>
              <a:rPr/>
              <a:t>(No difference in mean exam scores across the three classes)</a:t>
            </a:r>
          </a:p>
          <a:p>
            <a:pPr lvl="0" indent="0" marL="0">
              <a:buNone/>
            </a:pPr>
            <a:r>
              <a:rPr b="1"/>
              <a:t>H₁:</a:t>
            </a:r>
            <a:r>
              <a:rPr/>
              <a:t> At least one class mean differs from the others</a:t>
            </a:r>
          </a:p>
          <a:p>
            <a:pPr lvl="0" indent="0" marL="0">
              <a:buNone/>
            </a:pPr>
            <a:r>
              <a:rPr/>
              <a:t>(At least one μ_i ≠ μ_j for some i ≠ j)</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Question 23b: ANOVA Results</a:t>
            </a:r>
          </a:p>
        </p:txBody>
      </p:sp>
      <p:sp>
        <p:nvSpPr>
          <p:cNvPr id="4" name="Text Placeholder 3"/>
          <p:cNvSpPr>
            <a:spLocks noGrp="1"/>
          </p:cNvSpPr>
          <p:nvPr>
            <p:ph idx="2" sz="half" type="body"/>
          </p:nvPr>
        </p:nvSpPr>
        <p:spPr/>
        <p:txBody>
          <a:bodyPr/>
          <a:lstStyle/>
          <a:p>
            <a:pPr lvl="0" indent="0" marL="0">
              <a:buNone/>
            </a:pPr>
            <a:r>
              <a:rPr b="1"/>
              <a:t>Question:</a:t>
            </a:r>
            <a:r>
              <a:rPr/>
              <a:t> An ANOVA was conducted, and the summary results are below. Is the difference significant at the .05 level? Why or why not?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850900"/>
                <a:gridCol w="850900"/>
                <a:gridCol w="850900"/>
                <a:gridCol w="850900"/>
                <a:gridCol w="850900"/>
              </a:tblGrid>
              <a:tr h="0">
                <a:tc>
                  <a:txBody>
                    <a:bodyPr/>
                    <a:lstStyle/>
                    <a:p>
                      <a:pPr lvl="0" indent="0" marL="0">
                        <a:buNone/>
                      </a:pPr>
                      <a:r>
                        <a:rPr/>
                        <a:t>Source</a:t>
                      </a:r>
                    </a:p>
                  </a:txBody>
                  <a:tcPr/>
                </a:tc>
                <a:tc>
                  <a:txBody>
                    <a:bodyPr/>
                    <a:lstStyle/>
                    <a:p>
                      <a:pPr lvl="0" indent="0" marL="0">
                        <a:buNone/>
                      </a:pPr>
                      <a:r>
                        <a:rPr/>
                        <a:t>Df</a:t>
                      </a:r>
                    </a:p>
                  </a:txBody>
                  <a:tcPr/>
                </a:tc>
                <a:tc>
                  <a:txBody>
                    <a:bodyPr/>
                    <a:lstStyle/>
                    <a:p>
                      <a:pPr lvl="0" indent="0" marL="0">
                        <a:buNone/>
                      </a:pPr>
                      <a:r>
                        <a:rPr/>
                        <a:t>Sum Sq</a:t>
                      </a:r>
                    </a:p>
                  </a:txBody>
                  <a:tcPr/>
                </a:tc>
                <a:tc>
                  <a:txBody>
                    <a:bodyPr/>
                    <a:lstStyle/>
                    <a:p>
                      <a:pPr lvl="0" indent="0" marL="0">
                        <a:buNone/>
                      </a:pPr>
                      <a:r>
                        <a:rPr/>
                        <a:t>Mean Sq</a:t>
                      </a:r>
                    </a:p>
                  </a:txBody>
                  <a:tcPr/>
                </a:tc>
                <a:tc>
                  <a:txBody>
                    <a:bodyPr/>
                    <a:lstStyle/>
                    <a:p>
                      <a:pPr lvl="0" indent="0" marL="0">
                        <a:buNone/>
                      </a:pPr>
                      <a:r>
                        <a:rPr/>
                        <a:t>F-Value</a:t>
                      </a:r>
                    </a:p>
                  </a:txBody>
                  <a:tcPr/>
                </a:tc>
                <a:tc>
                  <a:txBody>
                    <a:bodyPr/>
                    <a:lstStyle/>
                    <a:p>
                      <a:pPr lvl="0" indent="0" marL="0">
                        <a:buNone/>
                      </a:pPr>
                      <a:r>
                        <a:rPr/>
                        <a:t>p-value</a:t>
                      </a:r>
                    </a:p>
                  </a:txBody>
                  <a:tcPr/>
                </a:tc>
              </a:tr>
              <a:tr h="0">
                <a:tc>
                  <a:txBody>
                    <a:bodyPr/>
                    <a:lstStyle/>
                    <a:p>
                      <a:pPr lvl="0" indent="0" marL="0">
                        <a:buNone/>
                      </a:pPr>
                      <a:r>
                        <a:rPr/>
                        <a:t>Class</a:t>
                      </a:r>
                    </a:p>
                  </a:txBody>
                </a:tc>
                <a:tc>
                  <a:txBody>
                    <a:bodyPr/>
                    <a:lstStyle/>
                    <a:p>
                      <a:pPr lvl="0" indent="0" marL="0">
                        <a:buNone/>
                      </a:pPr>
                      <a:r>
                        <a:rPr/>
                        <a:t>2</a:t>
                      </a:r>
                    </a:p>
                  </a:txBody>
                </a:tc>
                <a:tc>
                  <a:txBody>
                    <a:bodyPr/>
                    <a:lstStyle/>
                    <a:p>
                      <a:pPr lvl="0" indent="0" marL="0">
                        <a:buNone/>
                      </a:pPr>
                      <a:r>
                        <a:rPr/>
                        <a:t>1290.11</a:t>
                      </a:r>
                    </a:p>
                  </a:txBody>
                </a:tc>
                <a:tc>
                  <a:txBody>
                    <a:bodyPr/>
                    <a:lstStyle/>
                    <a:p>
                      <a:pPr lvl="0" indent="0" marL="0">
                        <a:buNone/>
                      </a:pPr>
                      <a:r>
                        <a:rPr/>
                        <a:t>645.06</a:t>
                      </a:r>
                    </a:p>
                  </a:txBody>
                </a:tc>
                <a:tc>
                  <a:txBody>
                    <a:bodyPr/>
                    <a:lstStyle/>
                    <a:p>
                      <a:pPr lvl="0" indent="0" marL="0">
                        <a:buNone/>
                      </a:pPr>
                      <a:r>
                        <a:rPr/>
                        <a:t>3.48</a:t>
                      </a:r>
                    </a:p>
                  </a:txBody>
                </a:tc>
                <a:tc>
                  <a:txBody>
                    <a:bodyPr/>
                    <a:lstStyle/>
                    <a:p>
                      <a:pPr lvl="0" indent="0" marL="0">
                        <a:buNone/>
                      </a:pPr>
                      <a:r>
                        <a:rPr/>
                        <a:t>.033</a:t>
                      </a:r>
                    </a:p>
                  </a:txBody>
                </a:tc>
              </a:tr>
              <a:tr h="0">
                <a:tc>
                  <a:txBody>
                    <a:bodyPr/>
                    <a:lstStyle/>
                    <a:p>
                      <a:pPr lvl="0" indent="0" marL="0">
                        <a:buNone/>
                      </a:pPr>
                      <a:r>
                        <a:rPr/>
                        <a:t>Residuals</a:t>
                      </a:r>
                    </a:p>
                  </a:txBody>
                </a:tc>
                <a:tc>
                  <a:txBody>
                    <a:bodyPr/>
                    <a:lstStyle/>
                    <a:p>
                      <a:pPr lvl="0" indent="0" marL="0">
                        <a:buNone/>
                      </a:pPr>
                      <a:r>
                        <a:rPr/>
                        <a:t>161</a:t>
                      </a:r>
                    </a:p>
                  </a:txBody>
                </a:tc>
                <a:tc>
                  <a:txBody>
                    <a:bodyPr/>
                    <a:lstStyle/>
                    <a:p>
                      <a:pPr lvl="0" indent="0" marL="0">
                        <a:buNone/>
                      </a:pPr>
                      <a:r>
                        <a:rPr/>
                        <a:t>29810.13</a:t>
                      </a:r>
                    </a:p>
                  </a:txBody>
                </a:tc>
                <a:tc>
                  <a:txBody>
                    <a:bodyPr/>
                    <a:lstStyle/>
                    <a:p>
                      <a:pPr lvl="0" indent="0" marL="0">
                        <a:buNone/>
                      </a:pPr>
                      <a:r>
                        <a:rPr/>
                        <a:t>185.16</a:t>
                      </a:r>
                    </a:p>
                  </a:txBody>
                </a:tc>
                <a:tc>
                  <a:txBody>
                    <a:bodyPr/>
                    <a:lstStyle/>
                    <a:p>
                      <a:endParaRPr/>
                    </a:p>
                  </a:txBody>
                </a:tc>
                <a:tc>
                  <a:txBody>
                    <a:bodyPr/>
                    <a:lstStyle/>
                    <a:p>
                      <a:endParaRPr/>
                    </a:p>
                  </a:txBody>
                </a:tc>
              </a:tr>
            </a:tbl>
          </a:graphicData>
        </a:graphic>
      </p:graphicFrame>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Answer:</a:t>
            </a:r>
          </a:p>
          <a:p>
            <a:pPr lvl="0" indent="0" marL="0">
              <a:buNone/>
            </a:pPr>
            <a:r>
              <a:rPr b="1"/>
              <a:t>Yes, the difference is significant at α = 0.05.</a:t>
            </a:r>
          </a:p>
          <a:p>
            <a:pPr lvl="0" indent="0" marL="0">
              <a:buNone/>
            </a:pPr>
            <a:r>
              <a:rPr/>
              <a:t>The p-value = 0.033 &lt; 0.05, so we reject the null hypothesis. There is statistically significant evidence that at least one class has a different mean exam score than the others.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II: Applied Analysis Overview</a:t>
            </a:r>
          </a:p>
        </p:txBody>
      </p:sp>
      <p:sp>
        <p:nvSpPr>
          <p:cNvPr id="3" name="Content Placeholder 2"/>
          <p:cNvSpPr>
            <a:spLocks noGrp="1"/>
          </p:cNvSpPr>
          <p:nvPr>
            <p:ph idx="1"/>
          </p:nvPr>
        </p:nvSpPr>
        <p:spPr/>
        <p:txBody>
          <a:bodyPr/>
          <a:lstStyle/>
          <a:p>
            <a:pPr lvl="0" indent="0" marL="0">
              <a:buNone/>
            </a:pPr>
            <a:r>
              <a:rPr b="1"/>
              <a:t>Requirements:</a:t>
            </a:r>
          </a:p>
          <a:p>
            <a:pPr lvl="0" indent="0" marL="0">
              <a:buNone/>
            </a:pPr>
            <a:r>
              <a:rPr/>
              <a:t>The applied section requires:</a:t>
            </a:r>
          </a:p>
          <a:p>
            <a:pPr lvl="0" indent="-342900" marL="342900">
              <a:buAutoNum type="alphaLcPeriod"/>
            </a:pPr>
            <a:r>
              <a:rPr/>
              <a:t>What is the prevalence of concussion or brain injury in children? (Use appropriate test statistic)</a:t>
            </a:r>
          </a:p>
          <a:p>
            <a:pPr lvl="0" indent="-342900" marL="342900">
              <a:buAutoNum type="alphaLcPeriod"/>
            </a:pPr>
            <a:r>
              <a:rPr/>
              <a:t>Are there racial differences in concussion or brain injury? (Use the race variable)</a:t>
            </a:r>
          </a:p>
          <a:p>
            <a:pPr lvl="0" indent="-342900" marL="342900">
              <a:buAutoNum type="alphaLcPeriod"/>
            </a:pPr>
            <a:r>
              <a:rPr/>
              <a:t>Are children with concussion/brain injury more likely to bully others? (Compare “not a bully” to categories 2-7)</a:t>
            </a:r>
          </a:p>
          <a:p>
            <a:pPr lvl="0" indent="-342900" marL="342900">
              <a:buAutoNum type="alphaLcPeriod"/>
            </a:pPr>
            <a:r>
              <a:rPr/>
              <a:t>Provide a compelling visualization OR interpretation with 1-2 sentences on implications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II: Analysis Approach</a:t>
            </a:r>
          </a:p>
        </p:txBody>
      </p:sp>
      <p:sp>
        <p:nvSpPr>
          <p:cNvPr id="3" name="Content Placeholder 2"/>
          <p:cNvSpPr>
            <a:spLocks noGrp="1"/>
          </p:cNvSpPr>
          <p:nvPr>
            <p:ph idx="1"/>
          </p:nvPr>
        </p:nvSpPr>
        <p:spPr/>
        <p:txBody>
          <a:bodyPr/>
          <a:lstStyle/>
          <a:p>
            <a:pPr lvl="0" indent="0" marL="0">
              <a:buNone/>
            </a:pPr>
            <a:r>
              <a:rPr b="1"/>
              <a:t>Data Source:</a:t>
            </a:r>
            <a:r>
              <a:rPr/>
              <a:t> 2023 National Child Health Survey (NSCH)</a:t>
            </a:r>
          </a:p>
          <a:p>
            <a:pPr lvl="0" indent="0" marL="0">
              <a:buNone/>
            </a:pPr>
            <a:r>
              <a:rPr b="1"/>
              <a:t>Statistical Methods:</a:t>
            </a:r>
          </a:p>
          <a:p>
            <a:pPr lvl="0"/>
            <a:r>
              <a:rPr b="1"/>
              <a:t>Prevalence (Q a):</a:t>
            </a:r>
            <a:r>
              <a:rPr/>
              <a:t> Calculate proportion with 95% CI; one-sample proportion test</a:t>
            </a:r>
          </a:p>
          <a:p>
            <a:pPr lvl="0"/>
            <a:r>
              <a:rPr b="1"/>
              <a:t>Racial differences (Q b):</a:t>
            </a:r>
            <a:r>
              <a:rPr/>
              <a:t> Chi-square test of independence</a:t>
            </a:r>
          </a:p>
          <a:p>
            <a:pPr lvl="0"/>
            <a:r>
              <a:rPr b="1"/>
              <a:t>Bullying relationship (Q c):</a:t>
            </a:r>
            <a:r>
              <a:rPr/>
              <a:t> Chi-square test or two-proportion z-test</a:t>
            </a:r>
          </a:p>
          <a:p>
            <a:pPr lvl="0" indent="0" marL="0">
              <a:buNone/>
            </a:pPr>
            <a:r>
              <a:rPr b="1"/>
              <a:t>Visualization Options:</a:t>
            </a:r>
            <a:r>
              <a:rPr/>
              <a:t> - Bar charts showing prevalence by race - Mosaic plots for categorical relationships - Forest plots for effect sizes across groups</a:t>
            </a:r>
          </a:p>
          <a:p>
            <a:pPr lvl="0" indent="0" marL="0">
              <a:buNone/>
            </a:pPr>
            <a:r>
              <a:rPr b="1"/>
              <a:t>Note:</a:t>
            </a:r>
            <a:r>
              <a:rPr/>
              <a:t> Requires external data download and statistical software (SAS/STATA/R)</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a:t>
            </a:r>
          </a:p>
        </p:txBody>
      </p:sp>
      <p:sp>
        <p:nvSpPr>
          <p:cNvPr id="3" name="Content Placeholder 2"/>
          <p:cNvSpPr>
            <a:spLocks noGrp="1"/>
          </p:cNvSpPr>
          <p:nvPr>
            <p:ph idx="1"/>
          </p:nvPr>
        </p:nvSpPr>
        <p:spPr/>
        <p:txBody>
          <a:bodyPr/>
          <a:lstStyle/>
          <a:p>
            <a:pPr lvl="0" indent="0" marL="0">
              <a:buNone/>
            </a:pPr>
            <a:r>
              <a:rPr b="1"/>
              <a:t>Key Concepts Covered:</a:t>
            </a:r>
          </a:p>
          <a:p>
            <a:pPr lvl="0"/>
            <a:r>
              <a:rPr/>
              <a:t>Descriptive statistics and probability theory</a:t>
            </a:r>
          </a:p>
          <a:p>
            <a:pPr lvl="0"/>
            <a:r>
              <a:rPr/>
              <a:t>Independence and conditional probability</a:t>
            </a:r>
          </a:p>
          <a:p>
            <a:pPr lvl="0"/>
            <a:r>
              <a:rPr/>
              <a:t>Z-scores and normal distributions</a:t>
            </a:r>
          </a:p>
          <a:p>
            <a:pPr lvl="0"/>
            <a:r>
              <a:rPr/>
              <a:t>Hypothesis testing frameworks (legal analogy)</a:t>
            </a:r>
          </a:p>
          <a:p>
            <a:pPr lvl="0"/>
            <a:r>
              <a:rPr/>
              <a:t>Confidence intervals and interpretation</a:t>
            </a:r>
          </a:p>
          <a:p>
            <a:pPr lvl="0"/>
            <a:r>
              <a:rPr/>
              <a:t>t-tests (dependent and independent samples)</a:t>
            </a:r>
          </a:p>
          <a:p>
            <a:pPr lvl="0"/>
            <a:r>
              <a:rPr/>
              <a:t>ANOVA for comparing multiple groups</a:t>
            </a:r>
          </a:p>
          <a:p>
            <a:pPr lvl="0"/>
            <a:r>
              <a:rPr/>
              <a:t>Statistical vs. practical significance</a:t>
            </a:r>
          </a:p>
          <a:p>
            <a:pPr lvl="0"/>
            <a:r>
              <a:rPr/>
              <a:t>Applied data analysis with real-world implications</a:t>
            </a:r>
          </a:p>
          <a:p>
            <a:pPr lvl="0" indent="0" marL="0">
              <a:buNone/>
            </a:pPr>
            <a:r>
              <a:rPr b="1"/>
              <a:t>Remember:</a:t>
            </a:r>
            <a:r>
              <a:rPr/>
              <a:t> Statistics is about choosing the right method for the research question and interpreting findings for policy and social justice implications.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II Initial Assessment</dc:title>
  <dc:creator>Barboza-Salerno</dc:creator>
  <cp:keywords/>
  <dcterms:created xsi:type="dcterms:W3CDTF">2026-01-19T14:59:45Z</dcterms:created>
  <dcterms:modified xsi:type="dcterms:W3CDTF">2026-01-19T14:59:45Z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subtitle">
    <vt:lpwstr>January 13, 2026</vt:lpwstr>
  </property>
  <property fmtid="{D5CDD505-2E9C-101B-9397-08002B2CF9AE}" pid="10" name="toc-title">
    <vt:lpwstr>Table of contents</vt:lpwstr>
  </property>
</Properties>
</file>