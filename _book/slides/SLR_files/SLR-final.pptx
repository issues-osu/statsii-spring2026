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75"/>
  </p:notesMasterIdLst>
  <p:sldIdLst>
    <p:sldId id="256" r:id="rId3"/>
    <p:sldId id="390" r:id="rId4"/>
    <p:sldId id="258" r:id="rId5"/>
    <p:sldId id="391" r:id="rId6"/>
    <p:sldId id="775" r:id="rId7"/>
    <p:sldId id="274" r:id="rId8"/>
    <p:sldId id="275" r:id="rId9"/>
    <p:sldId id="276" r:id="rId10"/>
    <p:sldId id="277" r:id="rId11"/>
    <p:sldId id="279" r:id="rId12"/>
    <p:sldId id="281" r:id="rId13"/>
    <p:sldId id="259" r:id="rId14"/>
    <p:sldId id="260" r:id="rId15"/>
    <p:sldId id="261" r:id="rId16"/>
    <p:sldId id="262" r:id="rId17"/>
    <p:sldId id="263" r:id="rId18"/>
    <p:sldId id="264" r:id="rId19"/>
    <p:sldId id="731" r:id="rId20"/>
    <p:sldId id="752" r:id="rId21"/>
    <p:sldId id="745" r:id="rId22"/>
    <p:sldId id="741" r:id="rId23"/>
    <p:sldId id="784" r:id="rId24"/>
    <p:sldId id="739" r:id="rId25"/>
    <p:sldId id="767" r:id="rId26"/>
    <p:sldId id="768" r:id="rId27"/>
    <p:sldId id="779" r:id="rId28"/>
    <p:sldId id="769" r:id="rId29"/>
    <p:sldId id="777" r:id="rId30"/>
    <p:sldId id="778" r:id="rId31"/>
    <p:sldId id="268" r:id="rId32"/>
    <p:sldId id="270" r:id="rId33"/>
    <p:sldId id="271" r:id="rId34"/>
    <p:sldId id="272" r:id="rId35"/>
    <p:sldId id="273" r:id="rId36"/>
    <p:sldId id="283" r:id="rId37"/>
    <p:sldId id="755" r:id="rId38"/>
    <p:sldId id="770" r:id="rId39"/>
    <p:sldId id="780" r:id="rId40"/>
    <p:sldId id="781" r:id="rId41"/>
    <p:sldId id="771" r:id="rId42"/>
    <p:sldId id="772" r:id="rId43"/>
    <p:sldId id="284" r:id="rId44"/>
    <p:sldId id="285" r:id="rId45"/>
    <p:sldId id="286" r:id="rId46"/>
    <p:sldId id="287" r:id="rId47"/>
    <p:sldId id="288" r:id="rId48"/>
    <p:sldId id="289" r:id="rId49"/>
    <p:sldId id="290" r:id="rId50"/>
    <p:sldId id="322" r:id="rId51"/>
    <p:sldId id="774" r:id="rId52"/>
    <p:sldId id="311" r:id="rId53"/>
    <p:sldId id="312" r:id="rId54"/>
    <p:sldId id="313" r:id="rId55"/>
    <p:sldId id="314" r:id="rId56"/>
    <p:sldId id="315" r:id="rId57"/>
    <p:sldId id="316" r:id="rId58"/>
    <p:sldId id="317" r:id="rId59"/>
    <p:sldId id="318" r:id="rId60"/>
    <p:sldId id="320" r:id="rId61"/>
    <p:sldId id="321" r:id="rId62"/>
    <p:sldId id="323" r:id="rId63"/>
    <p:sldId id="324" r:id="rId64"/>
    <p:sldId id="325" r:id="rId65"/>
    <p:sldId id="326" r:id="rId66"/>
    <p:sldId id="327" r:id="rId67"/>
    <p:sldId id="328" r:id="rId68"/>
    <p:sldId id="329" r:id="rId69"/>
    <p:sldId id="330" r:id="rId70"/>
    <p:sldId id="331" r:id="rId71"/>
    <p:sldId id="332" r:id="rId72"/>
    <p:sldId id="333" r:id="rId73"/>
    <p:sldId id="776" r:id="rId7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97" autoAdjust="0"/>
    <p:restoredTop sz="94660"/>
  </p:normalViewPr>
  <p:slideViewPr>
    <p:cSldViewPr>
      <p:cViewPr varScale="1">
        <p:scale>
          <a:sx n="217" d="100"/>
          <a:sy n="217" d="100"/>
        </p:scale>
        <p:origin x="6798" y="1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401589-A7AB-4B38-9636-83BDFB45624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C417045-28FB-4818-88E1-6C881253EE46}">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&gt;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positively correlated</a:t>
          </a:r>
        </a:p>
      </dgm:t>
    </dgm:pt>
    <dgm:pt modelId="{6AF7D822-FF40-4DF1-93C1-A8C0E56E1AFA}" type="parTrans" cxnId="{D6BB6852-AA13-487C-B199-9F36ED8C51F8}">
      <dgm:prSet/>
      <dgm:spPr/>
      <dgm:t>
        <a:bodyPr/>
        <a:lstStyle/>
        <a:p>
          <a:endParaRPr lang="en-US"/>
        </a:p>
      </dgm:t>
    </dgm:pt>
    <dgm:pt modelId="{2EA2DB50-6AF0-45EA-BAE5-C63007AEDE1D}" type="sibTrans" cxnId="{D6BB6852-AA13-487C-B199-9F36ED8C51F8}">
      <dgm:prSet/>
      <dgm:spPr/>
      <dgm:t>
        <a:bodyPr/>
        <a:lstStyle/>
        <a:p>
          <a:endParaRPr lang="en-US"/>
        </a:p>
      </dgm:t>
    </dgm:pt>
    <dgm:pt modelId="{30F3931F-7DB6-480E-85B0-5F10B533C5A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&lt;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solidFill>
                <a:schemeClr val="tx1"/>
              </a:solidFill>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X and Y are inversely correlated</a:t>
          </a:r>
        </a:p>
      </dgm:t>
    </dgm:pt>
    <dgm:pt modelId="{4F25E870-508B-4F79-8D73-E61360CC3162}" type="parTrans" cxnId="{3D641764-93FF-4B8D-B187-6D826AE6C785}">
      <dgm:prSet/>
      <dgm:spPr/>
      <dgm:t>
        <a:bodyPr/>
        <a:lstStyle/>
        <a:p>
          <a:endParaRPr lang="en-US"/>
        </a:p>
      </dgm:t>
    </dgm:pt>
    <dgm:pt modelId="{1C0493DF-036E-4135-9950-A53DA0C87BFA}" type="sibTrans" cxnId="{3D641764-93FF-4B8D-B187-6D826AE6C785}">
      <dgm:prSet/>
      <dgm:spPr/>
      <dgm:t>
        <a:bodyPr/>
        <a:lstStyle/>
        <a:p>
          <a:endParaRPr lang="en-US"/>
        </a:p>
      </dgm:t>
    </dgm:pt>
    <dgm:pt modelId="{0B1C0C58-1EF1-4F17-A7B6-10E1FC3C99B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independent</a:t>
          </a:r>
        </a:p>
      </dgm:t>
    </dgm:pt>
    <dgm:pt modelId="{17600C08-B89D-4166-A2F9-2BF1C863630C}" type="parTrans" cxnId="{8530520B-4A9B-4631-88E7-EFF26DD449A3}">
      <dgm:prSet/>
      <dgm:spPr/>
      <dgm:t>
        <a:bodyPr/>
        <a:lstStyle/>
        <a:p>
          <a:endParaRPr lang="en-US"/>
        </a:p>
      </dgm:t>
    </dgm:pt>
    <dgm:pt modelId="{3B1F0E69-559E-42BC-9A18-6229087CD319}" type="sibTrans" cxnId="{8530520B-4A9B-4631-88E7-EFF26DD449A3}">
      <dgm:prSet/>
      <dgm:spPr/>
      <dgm:t>
        <a:bodyPr/>
        <a:lstStyle/>
        <a:p>
          <a:endParaRPr lang="en-US"/>
        </a:p>
      </dgm:t>
    </dgm:pt>
    <dgm:pt modelId="{03C578B1-3675-4D34-B088-0684D894EB2B}" type="pres">
      <dgm:prSet presAssocID="{D6401589-A7AB-4B38-9636-83BDFB45624C}" presName="linear" presStyleCnt="0">
        <dgm:presLayoutVars>
          <dgm:animLvl val="lvl"/>
          <dgm:resizeHandles val="exact"/>
        </dgm:presLayoutVars>
      </dgm:prSet>
      <dgm:spPr/>
    </dgm:pt>
    <dgm:pt modelId="{835DCBA9-6AA4-4F95-BA7D-FD4E5AAB0827}" type="pres">
      <dgm:prSet presAssocID="{1C417045-28FB-4818-88E1-6C881253EE46}" presName="parentText" presStyleLbl="node1" presStyleIdx="0" presStyleCnt="3">
        <dgm:presLayoutVars>
          <dgm:chMax val="0"/>
          <dgm:bulletEnabled val="1"/>
        </dgm:presLayoutVars>
      </dgm:prSet>
      <dgm:spPr/>
    </dgm:pt>
    <dgm:pt modelId="{EB1C585F-6BE3-4A69-AEA4-AC9BAC73FECB}" type="pres">
      <dgm:prSet presAssocID="{2EA2DB50-6AF0-45EA-BAE5-C63007AEDE1D}" presName="spacer" presStyleCnt="0"/>
      <dgm:spPr/>
    </dgm:pt>
    <dgm:pt modelId="{82E3281D-6BEE-4F09-BFB0-B2A59AC5A9A5}" type="pres">
      <dgm:prSet presAssocID="{30F3931F-7DB6-480E-85B0-5F10B533C5A8}" presName="parentText" presStyleLbl="node1" presStyleIdx="1" presStyleCnt="3">
        <dgm:presLayoutVars>
          <dgm:chMax val="0"/>
          <dgm:bulletEnabled val="1"/>
        </dgm:presLayoutVars>
      </dgm:prSet>
      <dgm:spPr/>
    </dgm:pt>
    <dgm:pt modelId="{B5F01E34-0835-4898-9598-DCBCDB677A48}" type="pres">
      <dgm:prSet presAssocID="{1C0493DF-036E-4135-9950-A53DA0C87BFA}" presName="spacer" presStyleCnt="0"/>
      <dgm:spPr/>
    </dgm:pt>
    <dgm:pt modelId="{07676FB8-9069-41E2-B804-810EBC751492}" type="pres">
      <dgm:prSet presAssocID="{0B1C0C58-1EF1-4F17-A7B6-10E1FC3C99B8}" presName="parentText" presStyleLbl="node1" presStyleIdx="2" presStyleCnt="3">
        <dgm:presLayoutVars>
          <dgm:chMax val="0"/>
          <dgm:bulletEnabled val="1"/>
        </dgm:presLayoutVars>
      </dgm:prSet>
      <dgm:spPr/>
    </dgm:pt>
  </dgm:ptLst>
  <dgm:cxnLst>
    <dgm:cxn modelId="{8530520B-4A9B-4631-88E7-EFF26DD449A3}" srcId="{D6401589-A7AB-4B38-9636-83BDFB45624C}" destId="{0B1C0C58-1EF1-4F17-A7B6-10E1FC3C99B8}" srcOrd="2" destOrd="0" parTransId="{17600C08-B89D-4166-A2F9-2BF1C863630C}" sibTransId="{3B1F0E69-559E-42BC-9A18-6229087CD319}"/>
    <dgm:cxn modelId="{B5B82E3E-6A7E-4495-991C-E8DF5018EA99}" type="presOf" srcId="{0B1C0C58-1EF1-4F17-A7B6-10E1FC3C99B8}" destId="{07676FB8-9069-41E2-B804-810EBC751492}" srcOrd="0" destOrd="0" presId="urn:microsoft.com/office/officeart/2005/8/layout/vList2"/>
    <dgm:cxn modelId="{343F6741-FC54-411C-B716-F7479A3FE284}" type="presOf" srcId="{30F3931F-7DB6-480E-85B0-5F10B533C5A8}" destId="{82E3281D-6BEE-4F09-BFB0-B2A59AC5A9A5}" srcOrd="0" destOrd="0" presId="urn:microsoft.com/office/officeart/2005/8/layout/vList2"/>
    <dgm:cxn modelId="{3D641764-93FF-4B8D-B187-6D826AE6C785}" srcId="{D6401589-A7AB-4B38-9636-83BDFB45624C}" destId="{30F3931F-7DB6-480E-85B0-5F10B533C5A8}" srcOrd="1" destOrd="0" parTransId="{4F25E870-508B-4F79-8D73-E61360CC3162}" sibTransId="{1C0493DF-036E-4135-9950-A53DA0C87BFA}"/>
    <dgm:cxn modelId="{D6BB6852-AA13-487C-B199-9F36ED8C51F8}" srcId="{D6401589-A7AB-4B38-9636-83BDFB45624C}" destId="{1C417045-28FB-4818-88E1-6C881253EE46}" srcOrd="0" destOrd="0" parTransId="{6AF7D822-FF40-4DF1-93C1-A8C0E56E1AFA}" sibTransId="{2EA2DB50-6AF0-45EA-BAE5-C63007AEDE1D}"/>
    <dgm:cxn modelId="{9501C176-66DC-4D98-98A0-66AC7EB6CFB5}" type="presOf" srcId="{D6401589-A7AB-4B38-9636-83BDFB45624C}" destId="{03C578B1-3675-4D34-B088-0684D894EB2B}" srcOrd="0" destOrd="0" presId="urn:microsoft.com/office/officeart/2005/8/layout/vList2"/>
    <dgm:cxn modelId="{4FDFACEF-177D-4807-8EAD-2A054BD65AFC}" type="presOf" srcId="{1C417045-28FB-4818-88E1-6C881253EE46}" destId="{835DCBA9-6AA4-4F95-BA7D-FD4E5AAB0827}" srcOrd="0" destOrd="0" presId="urn:microsoft.com/office/officeart/2005/8/layout/vList2"/>
    <dgm:cxn modelId="{9E727835-5D33-446C-99DF-C3E6C5B53CBE}" type="presParOf" srcId="{03C578B1-3675-4D34-B088-0684D894EB2B}" destId="{835DCBA9-6AA4-4F95-BA7D-FD4E5AAB0827}" srcOrd="0" destOrd="0" presId="urn:microsoft.com/office/officeart/2005/8/layout/vList2"/>
    <dgm:cxn modelId="{B5410610-9951-47D0-8738-35983CD67125}" type="presParOf" srcId="{03C578B1-3675-4D34-B088-0684D894EB2B}" destId="{EB1C585F-6BE3-4A69-AEA4-AC9BAC73FECB}" srcOrd="1" destOrd="0" presId="urn:microsoft.com/office/officeart/2005/8/layout/vList2"/>
    <dgm:cxn modelId="{3F0A8A25-21E5-41F1-A887-DE7B7CB50041}" type="presParOf" srcId="{03C578B1-3675-4D34-B088-0684D894EB2B}" destId="{82E3281D-6BEE-4F09-BFB0-B2A59AC5A9A5}" srcOrd="2" destOrd="0" presId="urn:microsoft.com/office/officeart/2005/8/layout/vList2"/>
    <dgm:cxn modelId="{CBC73D3B-68A3-4016-BA08-017AC9EB064D}" type="presParOf" srcId="{03C578B1-3675-4D34-B088-0684D894EB2B}" destId="{B5F01E34-0835-4898-9598-DCBCDB677A48}" srcOrd="3" destOrd="0" presId="urn:microsoft.com/office/officeart/2005/8/layout/vList2"/>
    <dgm:cxn modelId="{B6533F7F-EDFC-4F4A-BCD5-7024E2214824}" type="presParOf" srcId="{03C578B1-3675-4D34-B088-0684D894EB2B}" destId="{07676FB8-9069-41E2-B804-810EBC75149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DCBA9-6AA4-4F95-BA7D-FD4E5AAB0827}">
      <dsp:nvSpPr>
        <dsp:cNvPr id="0" name=""/>
        <dsp:cNvSpPr/>
      </dsp:nvSpPr>
      <dsp:spPr>
        <a:xfrm>
          <a:off x="0" y="103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&gt;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positively correlated</a:t>
          </a:r>
        </a:p>
      </dsp:txBody>
      <dsp:txXfrm>
        <a:off x="21018" y="31390"/>
        <a:ext cx="1974375" cy="388524"/>
      </dsp:txXfrm>
    </dsp:sp>
    <dsp:sp modelId="{82E3281D-6BEE-4F09-BFB0-B2A59AC5A9A5}">
      <dsp:nvSpPr>
        <dsp:cNvPr id="0" name=""/>
        <dsp:cNvSpPr/>
      </dsp:nvSpPr>
      <dsp:spPr>
        <a:xfrm>
          <a:off x="0" y="5071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&lt;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solidFill>
                <a:schemeClr val="tx1"/>
              </a:solidFill>
              <a:latin typeface="Arial" panose="020B0604020202020204" pitchFamily="34" charset="0"/>
              <a:cs typeface="Arial" panose="020B0604020202020204" pitchFamily="34" charset="0"/>
            </a:rPr>
            <a:t> </a:t>
          </a:r>
          <a:r>
            <a:rPr lang="en-US" sz="1000" kern="1200" dirty="0">
              <a:latin typeface="Arial" panose="020B0604020202020204" pitchFamily="34" charset="0"/>
              <a:cs typeface="Arial" panose="020B0604020202020204" pitchFamily="34" charset="0"/>
            </a:rPr>
            <a:t>X and Y are inversely correlated</a:t>
          </a:r>
        </a:p>
      </dsp:txBody>
      <dsp:txXfrm>
        <a:off x="21018" y="528190"/>
        <a:ext cx="1974375" cy="388524"/>
      </dsp:txXfrm>
    </dsp:sp>
    <dsp:sp modelId="{07676FB8-9069-41E2-B804-810EBC751492}">
      <dsp:nvSpPr>
        <dsp:cNvPr id="0" name=""/>
        <dsp:cNvSpPr/>
      </dsp:nvSpPr>
      <dsp:spPr>
        <a:xfrm>
          <a:off x="0" y="10039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independent</a:t>
          </a:r>
        </a:p>
      </dsp:txBody>
      <dsp:txXfrm>
        <a:off x="21018" y="1024990"/>
        <a:ext cx="1974375" cy="3885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6.0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1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1108 70,'-23'-1,"-40"-8,-11 0,-215 7,152 4,100-3,0 3,0 1,0 2,-44 11,44-6,0 2,-48 22,78-30,-1 1,2 0,-1 0,0 0,1 1,-6 7,1-1,2 0,-12 19,15-20,0-1,1 2,1-1,0 0,1 1,0-1,-2 18,3-5,0-1,4 43,-2-61,1 0,1 1,-1-1,1 0,-1-1,1 1,1 0,-1 0,1-1,0 1,0-1,0 1,6 4,4 4,1 0,23 15,-5-6,1-2,0-2,2-1,54 19,152 30,-111-41,150 9,134-14,-289-15,498 12,-422-12,107 0,123 0,-254 0,143 7,95-4,-269-9,-38 1,117-1,-182-3,0-1,-1-3,46-13,-82 19,-1 1,1-1,-1 0,0-1,8-3,-11 4,0 0,0 0,0 0,0 1,0-2,0 1,0 0,0 0,-1-1,0 1,1-1,0-3,2-5,0 1,-1 0,-1-1,0 1,0-1,-1 1,0-14,-2 0,-1-1,-1 0,-8-33,7 32,3 19,1 1,-2 0,-2-12,0 6,1 0,-3-22,5 27,0-1,-1 0,1 0,-2 0,1 1,-1-1,0 1,0 0,-6-10,-4 0,-1 0,-1 2,0-1,-1 1,0 1,-34-22,27 23,-1 0,1 2,-37-12,-80-13,-64 3,-32 3,0 0,-119 17,160 8,3-1,-10 2,4-1,170 5,-286-6,161 2,-25-1,-144 0,197 6,-217-1,330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9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8.1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1 277,'3'-7,"3"-6,4-7,5-6,3-6,2 0,1 0,0 2,-4 6,-2 3,-3 7,-3 3,-2 2,-1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9.3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0,'0'1,"1"0,0-1,-1 1,1-1,-1 1,1 0,0-1,-1 0,1 1,-1-1,1 1,0-1,0 1,0-1,0 0,0 0,2 1,20 8,0-2,1 0,42 6,74-1,-46-10,-31-1,-62-1,0 0,0 0,-1 0,1 0,0 0,0 0,0 0,0 0,-1 0,2 0,-2 1,1-1,0 1,0-1,-1 0,1 1,0 0,0-1,-1 0,1 1,-1 0,1-1,0 1,-1 0,0-1,1 1,-1 0,1 1,0 0,-1 1,0 0,1-1,-1 1,-1 0,1-1,-1 5,0 2,0 5,-5 16,5-25,0-1,0 0,-1 1,0-1,0 0,0 0,-5 7,1-5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4.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1,'0'3,"0"5,0 7,0 7,0 1,0 2,0-3,0 4,0 1,0-1,0 2,2 1,0-2,0-4,0-3,-1-6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5.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89 89,'0'0,"0"-1,1 0,-1 0,0 1,0-1,1 1,-1-1,0 0,1 1,-1-1,1 0,-1 1,0-1,1 1,0-1,-1 1,1-1,-1 1,1-1,0 1,0-1,18-7,-14 7,33-14,1 2,1 2,74-11,-81 19,0 1,0 2,42 5,-58-3,0 1,0 1,-1 0,0 1,1 1,-1 1,-1 0,17 10,-26-12,0-1,1 1,-2 0,1 1,-1-1,1 1,-1 0,-1 1,1-1,-2 1,1 0,0 0,-1 0,0 0,-1 1,1-1,-2 1,3 10,-2-5,0 0,-1 0,0 16,-2-25,1 0,-1-1,1 1,-1 0,0 0,0-1,0 1,-1 0,0-1,1 1,-1-1,0 1,0-1,-1 0,-4 5,1-3,0 0,-1 0,0 0,-1-1,1 0,-15 5,-51 14,73-23,-42 10,0-2,-85 4,-88-12,133-1,56 1,11 0,-1 0,-15-3,30 2,-1 1,1 0,-1 0,1-1,-1 1,1-1,0 0,-1 1,-1-2,-1-2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6.9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78,'12'0,"-4"1,1-1,-1-1,0 1,0-1,9-3,-15 4,-1-1,0 1,1 0,-1-1,1 0,-1 0,0 1,0-1,1 0,-1 0,0 0,0 0,0 0,0 0,0 0,0 0,0-1,0 1,-1 0,1-1,0 1,-1 0,1-1,-1 1,0 0,0-1,1 0,-1 1,0-1,0 1,0-1,0 1,0-1,-1-1,1 1,-1 1,1-1,-1 1,0 0,0 0,1-1,-1 1,0 0,0 0,0 0,0 0,-1 0,1 0,0 0,0 0,0 0,-1 1,1-1,0 0,-1 1,-1-1,-1-1,0 1,-1-1,0 1,0 0,-7 0,11 1,0 0,0 0,0 0,0 0,0 0,0 0,0 1,0-1,0 0,0 1,0-1,1 0,-2 1,2-1,-1 1,0 0,0-1,1 1,-1-1,-1 3,1-2,0 1,0-1,1 1,-1 0,0-1,0 1,1 0,0-1,-1 1,1 0,0 2,-1 0,1 0,1 0,-1 1,1-1,-1 0,1 0,0 0,1 0,2 6,-1-4,1 0,0 0,1-1,-1 1,1-1,0-1,0 1,1 0,6 3,1 1,1-2,0 1,16 5,-6-4,0-1,1-1,-1-1,51 5,-74-11,1 1,-1-1,0 0,0 0,1 0,-1-1,0 1,0 0,0-1,1 1,-1 0,0-1,0 1,1-1,-1 1,2-2,2-5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7.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1,'3'2,"0"0,0 0,0 1,-1 0,1-1,-1 1,1 0,1 4,1 0,15 22,-2 0,-2 1,14 33,0 0,59 123,-82-174,-1-4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8.2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1,'2'0,"3"0,5 0,4 0,5 0,12 2,9 0,7 0,2 0,-3-1,-5 0,-8-1,-8 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9.1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1 130,'3'0,"0"-1,0 0,0 1,0-1,0 0,0 0,-1 0,1-1,0 1,0-1,-1 0,1 1,2-4,3-2,0 0,8-11,-12 13,-1 1,0 0,0-1,4-7,-6 10,0 0,-1 0,1 0,0 0,-1 0,0 0,1 1,-1-1,0 0,0-1,0 2,0-1,0 0,-1 0,0-4,0 5,1 0,-1 1,0-2,0 2,1-1,-1 0,0 0,0 0,0 1,0-1,0 0,0 1,0-1,0 1,-1 0,1-1,0 1,0-1,0 1,-1 0,1 0,0 0,-2 0,-4 0,0 0,-10 2,16-2,0 0,-1 0,1 0,0 1,-1-1,1 0,-1 1,1 0,0-1,0 1,0-1,-1 1,1 0,0 0,0 0,0 0,0 0,0 0,0 0,0 0,0 0,1 0,-2 2,1-1,1 0,-1 0,0 1,1-1,-1 1,1-1,0 1,0-1,0 0,0 1,0-1,1 4,0-2,0 0,0-1,1 1,-1 0,1-1,0 1,3 4,-4-6,0 0,1 0,-1 0,1-1,-1 1,1-1,0 1,-1-1,1 0,0 0,0 0,0 0,2 1,4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0.0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37,'1'0,"-1"0,1 0,0 0,-1 0,1 1,0-1,-1 0,1 1,-1-1,1 0,-1 0,1 1,-1-1,1 0,-1 1,1 0,-1-1,1 0,-1 1,0-1,1 2,7 14,-2-2,-10-40,4 25,0 0,0-1,0 1,0-1,0 1,0 0,0-1,0 1,0 0,1-1,-1 1,1-1,-1 1,1 0,-1 0,1-1,0 1,0 0,-1 0,1 0,0 0,0 0,1-1,1 0,1 0,-1 0,1 0,-1 0,1 0,7-1,-2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20,'0'0,"1"0,0 1,-1-1,0 0,1 0,-1 0,0 1,1-1,-1 1,1-1,-1 0,0 0,0 1,1-1,-1 0,0 1,0-1,1 1,-1-1,0 1,0-1,0 0,1 1,-1-1,0 1,0-1,0 1,1 15,0-14,-3 12,-1-10,1-10,1 1,0 1,1 0,-1 0,1 0,0-1,1 1,0-4,-1 7,1-1,-1 1,0 0,1-1,0 1,-1 0,1 0,-1-1,1 1,0 0,1-1,-1 1,-1 0,1 1,-1 0,1-1,0 1,-1 0,1-1,0 1,0 0,-1-1,1 1,0 0,-1 0,1 0,0 0,0 0,-1 0,1 0,0 0,0 0,-1 0,2 1,0 0,1 0,-1-1,1 2,-1-1,0 0,0 1,0-1,1 1,-1-1,-1 1,1 0,0 0,0 0,-1 0,1 0,2 5,-2-2,1 1,-1 0,0-1,0 1,2 12,-1-8,-3-10,0 0,0 0,0 0,0 1,0-1,0 0,0 0,1 0,-1 0,0 1,0-1,0 0,1 0,-1 0,0 0,0 0,0 0,0 0,0 0,1 0,-1 0,0 0,0 0,0 0,0 0,1 0,0 0,0-1,0 1,0-1,1 0,-2 1,1-1,0 0,0 0,0 0,0 0,-1 0,2-1,7-11,12-14,-19 25,0-1,0 1,1 0,0 0,-1 0,1 0,5-3,-8 5,1 0,0 0,-1-1,1 1,0 0,-1 0,1-1,0 1,-1 0,1 0,0 0,0 0,-1 0,1 0,-1 1,1-1,0 0,-1 0,1 1,0-1,0 0,-1 0,1 1,0 0,0 0,0 0,0 0,0 0,0 0,0 1,-1-1,1 0,0 0,-1 1,1-1,0 2,0 3,0 1,1-1,-2 0,1 8,-1-5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8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1,'2'0,"0"2,0 1,0 3,0 2,1 1,0 0,-1 1,-1-1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2.2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1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65,'3'-3,"-1"-1,1 1,3-7,-5 7,0 1,1-1,-1 1,1 0,0 0,0 0,-1 0,1 0,0 0,1 0,3-2,-1 1,0 0,0 1,1 0,-1 0,9-2,-13 3,0 1,0 0,0 0,0 0,0 0,0 0,0 0,0 0,0 0,0 1,0-1,0 0,0 1,0-1,0 0,0 1,-1-1,2 1,-2 0,1-1,0 1,0-1,-1 1,1 0,-1 0,1-1,0 1,-1 0,1 0,-1 0,0 0,1 0,-1 0,1 0,-1-1,0 2,0-2,0 1,0 1,0 0,1 33,-1-24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8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0,'2'0,"2"0,0 2,0 2,-1 3,0 1,0 1,0 0,-1 1,-1-2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4.2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5.2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 0,'0'0,"-1"0,1 0,-1 0,0 0,1 0,-1 0,1 0,0 0,-1 0,0 0,1 1,-1-1,1 0,0 0,-1 1,0-1,1 0,0 0,-1 1,1-1,-1 0,1 1,-1-1,1 1,0-1,0 0,-1 1,1-1,0 1,-1-1,1 1,0-1,0 1,0-1,0 1,-1-1,1 1,0-1,0 1,0-1,0 1,0-1,0 1,0-1,1 1,-1 0,0-1,0 1,0-1,0 0,0 1,1 0,2 5,-1-1,1 1,6 8,-4-6,-4-5,1 0,-1 0,0-1,0 1,0 0,0 1,1 4,-2-7,0 0,0 0,0-1,0 1,0 0,0 0,-1 0,1 0,0-1,-1 1,1 0,0 0,0-1,-1 1,1-1,-1 1,1 0,-1-1,1 1,-1-1,1 1,-1 0,0-1,1 1,-1-1,1 0,-1 1,0-1,0 1,1-1,-1 0,0 0,0 0,0 1,0-1,-18 1,10-1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1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0,'2'2,"-1"1,0-2,0 2,0-1,0 1,0-1,-1 1,1-1,0 5,0 0,8 28,-2 1,-2-1,2 68,-7-85,0-9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7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31,'2'0,"1"0,5 0,4-2,2 0,3-2,4 1,-1-1,-2 1,-2 0,-4-1,-4-1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2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0,'0'2,"2"0,-1 2,2 1,-2 2,0 2,0 0,-1-1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6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8.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88 0,'-4'0,"-2"1,1 0,0 0,0 0,1 0,-1 1,0 0,0 0,1 0,-1 0,1 1,-8 6,10-7,-1 1,2-1,-1 1,0 0,1-1,-1 1,1 0,0 0,0 0,0 0,1 0,-1 1,1-1,-1 6,1-8,0 1,0 0,0-1,1 1,-1 0,1-1,-1 1,0-1,1 1,-1 0,1-1,0 1,0-1,0 0,0 1,0-1,0 1,0-1,0 0,1 0,-1 0,0 0,0 0,1 0,-1 0,1 0,-1-1,3 2,6 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E2C36CDA-9252-41FA-A476-027AA634B0CE}" type="datetimeFigureOut">
              <a:rPr lang="en-US" smtClean="0"/>
              <a:t>1/26/2026</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31848BF-DA09-4B1A-93DA-2A3A3196492C}" type="slidenum">
              <a:rPr lang="en-US" smtClean="0"/>
              <a:t>‹#›</a:t>
            </a:fld>
            <a:endParaRPr lang="en-US"/>
          </a:p>
        </p:txBody>
      </p:sp>
    </p:spTree>
    <p:extLst>
      <p:ext uri="{BB962C8B-B14F-4D97-AF65-F5344CB8AC3E}">
        <p14:creationId xmlns:p14="http://schemas.microsoft.com/office/powerpoint/2010/main" val="1960984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848BF-DA09-4B1A-93DA-2A3A3196492C}" type="slidenum">
              <a:rPr lang="en-US" smtClean="0"/>
              <a:t>5</a:t>
            </a:fld>
            <a:endParaRPr lang="en-US"/>
          </a:p>
        </p:txBody>
      </p:sp>
    </p:spTree>
    <p:extLst>
      <p:ext uri="{BB962C8B-B14F-4D97-AF65-F5344CB8AC3E}">
        <p14:creationId xmlns:p14="http://schemas.microsoft.com/office/powerpoint/2010/main" val="4231443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rPr>
              <a:t>m = slope </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Y</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over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X</a:t>
            </a:r>
            <a:endParaRPr kumimoji="0" lang="en-US" altLang="en-US" sz="1200" b="0" i="1" u="none" strike="noStrike" kern="1200" cap="none" spc="0" normalizeH="0" baseline="0" noProof="0" dirty="0">
              <a:ln>
                <a:noFill/>
              </a:ln>
              <a:solidFill>
                <a:prstClr val="white"/>
              </a:solidFill>
              <a:effectLst/>
              <a:uLnTx/>
              <a:uFillTx/>
              <a:latin typeface="Lucida Grande"/>
              <a:ea typeface="+mn-ea"/>
              <a:cs typeface="+mn-cs"/>
            </a:endParaRPr>
          </a:p>
          <a:p>
            <a:endParaRPr lang="en-US" dirty="0"/>
          </a:p>
        </p:txBody>
      </p:sp>
      <p:sp>
        <p:nvSpPr>
          <p:cNvPr id="4" name="Slide Number Placeholder 3"/>
          <p:cNvSpPr>
            <a:spLocks noGrp="1"/>
          </p:cNvSpPr>
          <p:nvPr>
            <p:ph type="sldNum" sz="quarter" idx="5"/>
          </p:nvPr>
        </p:nvSpPr>
        <p:spPr/>
        <p:txBody>
          <a:bodyPr/>
          <a:lstStyle/>
          <a:p>
            <a:fld id="{714D021D-2B26-4719-9098-EA777E5221A3}" type="slidenum">
              <a:rPr lang="en-US" smtClean="0"/>
              <a:t>24</a:t>
            </a:fld>
            <a:endParaRPr lang="en-US"/>
          </a:p>
        </p:txBody>
      </p:sp>
    </p:spTree>
    <p:extLst>
      <p:ext uri="{BB962C8B-B14F-4D97-AF65-F5344CB8AC3E}">
        <p14:creationId xmlns:p14="http://schemas.microsoft.com/office/powerpoint/2010/main" val="2822147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9CA3FC-A089-45E3-A57B-CD2C3DFC3694}"/>
              </a:ext>
            </a:extLst>
          </p:cNvPr>
          <p:cNvSpPr>
            <a:spLocks noGrp="1" noChangeArrowheads="1"/>
          </p:cNvSpPr>
          <p:nvPr>
            <p:ph type="sldNum" sz="quarter" idx="5"/>
          </p:nvPr>
        </p:nvSpPr>
        <p:spPr>
          <a:ln/>
        </p:spPr>
        <p:txBody>
          <a:bodyPr/>
          <a:lstStyle/>
          <a:p>
            <a:fld id="{28FD4DB9-74D8-4AE8-A7C1-D436FF785786}" type="slidenum">
              <a:rPr lang="en-US" altLang="en-US"/>
              <a:pPr/>
              <a:t>25</a:t>
            </a:fld>
            <a:endParaRPr lang="en-US" altLang="en-US"/>
          </a:p>
        </p:txBody>
      </p:sp>
      <p:sp>
        <p:nvSpPr>
          <p:cNvPr id="112642" name="Rectangle 2">
            <a:extLst>
              <a:ext uri="{FF2B5EF4-FFF2-40B4-BE49-F238E27FC236}">
                <a16:creationId xmlns:a16="http://schemas.microsoft.com/office/drawing/2014/main" id="{0AF44005-3B9B-4FD1-9D20-DDAC9FA7F6B7}"/>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5458960-7BC9-49F9-9D8B-E5100AB7A86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7EFB-C731-0428-8187-6A1E94C55C4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0F767E2C-15C7-30F5-58D0-3EAAC0ECC9D3}"/>
              </a:ext>
            </a:extLst>
          </p:cNvPr>
          <p:cNvSpPr>
            <a:spLocks noGrp="1" noChangeArrowheads="1"/>
          </p:cNvSpPr>
          <p:nvPr>
            <p:ph type="sldNum" sz="quarter" idx="5"/>
          </p:nvPr>
        </p:nvSpPr>
        <p:spPr>
          <a:ln/>
        </p:spPr>
        <p:txBody>
          <a:bodyPr/>
          <a:lstStyle/>
          <a:p>
            <a:fld id="{28FD4DB9-74D8-4AE8-A7C1-D436FF785786}" type="slidenum">
              <a:rPr lang="en-US" altLang="en-US"/>
              <a:pPr/>
              <a:t>26</a:t>
            </a:fld>
            <a:endParaRPr lang="en-US" altLang="en-US"/>
          </a:p>
        </p:txBody>
      </p:sp>
      <p:sp>
        <p:nvSpPr>
          <p:cNvPr id="112642" name="Rectangle 2">
            <a:extLst>
              <a:ext uri="{FF2B5EF4-FFF2-40B4-BE49-F238E27FC236}">
                <a16:creationId xmlns:a16="http://schemas.microsoft.com/office/drawing/2014/main" id="{0BD0E044-DD51-AFAC-C639-ADAB81CABFBA}"/>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C14ED3A-97FC-3B91-653A-91BE7B8A47A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91173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want a line that fits the data well, meaning the residuals—the vertical distances between the observed points and the line—are small overall. There are different reasonable ways to define “small.” One option is to minimize the </a:t>
            </a:r>
            <a:r>
              <a:rPr lang="en-US" b="1" dirty="0"/>
              <a:t>sum of absolute residuals</a:t>
            </a:r>
            <a:r>
              <a:rPr lang="en-US" dirty="0"/>
              <a:t>, which treats all errors proportionally. Another option is to minimize the </a:t>
            </a:r>
            <a:r>
              <a:rPr lang="en-US" b="1" dirty="0"/>
              <a:t>sum of squared residuals</a:t>
            </a:r>
            <a:r>
              <a:rPr lang="en-US" dirty="0"/>
              <a:t>, which is what least squares does.</a:t>
            </a:r>
          </a:p>
          <a:p>
            <a:r>
              <a:rPr lang="en-US" dirty="0"/>
              <a:t>BLUE = smallest possible variance among estimators</a:t>
            </a:r>
          </a:p>
        </p:txBody>
      </p:sp>
      <p:sp>
        <p:nvSpPr>
          <p:cNvPr id="4" name="Slide Number Placeholder 3"/>
          <p:cNvSpPr>
            <a:spLocks noGrp="1"/>
          </p:cNvSpPr>
          <p:nvPr>
            <p:ph type="sldNum" sz="quarter" idx="5"/>
          </p:nvPr>
        </p:nvSpPr>
        <p:spPr/>
        <p:txBody>
          <a:bodyPr/>
          <a:lstStyle/>
          <a:p>
            <a:fld id="{A31848BF-DA09-4B1A-93DA-2A3A3196492C}" type="slidenum">
              <a:rPr lang="en-US" smtClean="0"/>
              <a:t>48</a:t>
            </a:fld>
            <a:endParaRPr lang="en-US"/>
          </a:p>
        </p:txBody>
      </p:sp>
    </p:spTree>
    <p:extLst>
      <p:ext uri="{BB962C8B-B14F-4D97-AF65-F5344CB8AC3E}">
        <p14:creationId xmlns:p14="http://schemas.microsoft.com/office/powerpoint/2010/main" val="199962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47294" y="85632"/>
            <a:ext cx="3915511" cy="421640"/>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7" name="Holder 7"/>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5" name="Holder 5"/>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4" name="Holder 4"/>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665815"/>
            <a:ext cx="1486877" cy="372410"/>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72141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93102"/>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a:xfrm>
            <a:off x="230505" y="3218497"/>
            <a:ext cx="1060323" cy="276999"/>
          </a:xfrm>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a:xfrm>
            <a:off x="1567434" y="3218497"/>
            <a:ext cx="1475232" cy="276999"/>
          </a:xfrm>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a:xfrm>
            <a:off x="4349813" y="3198815"/>
            <a:ext cx="196341" cy="115416"/>
          </a:xfrm>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9717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4A2A-263B-AE0F-6450-BAF676EFBFFA}"/>
              </a:ext>
            </a:extLst>
          </p:cNvPr>
          <p:cNvSpPr>
            <a:spLocks noGrp="1"/>
          </p:cNvSpPr>
          <p:nvPr>
            <p:ph type="ctrTitle"/>
          </p:nvPr>
        </p:nvSpPr>
        <p:spPr>
          <a:xfrm>
            <a:off x="576263" y="566377"/>
            <a:ext cx="3457575" cy="1204854"/>
          </a:xfrm>
        </p:spPr>
        <p:txBody>
          <a:bodyPr anchor="b"/>
          <a:lstStyle>
            <a:lvl1pPr algn="ctr">
              <a:defRPr sz="2269"/>
            </a:lvl1pPr>
          </a:lstStyle>
          <a:p>
            <a:r>
              <a:rPr lang="en-US"/>
              <a:t>Click to edit Master title style</a:t>
            </a:r>
          </a:p>
        </p:txBody>
      </p:sp>
      <p:sp>
        <p:nvSpPr>
          <p:cNvPr id="3" name="Subtitle 2">
            <a:extLst>
              <a:ext uri="{FF2B5EF4-FFF2-40B4-BE49-F238E27FC236}">
                <a16:creationId xmlns:a16="http://schemas.microsoft.com/office/drawing/2014/main" id="{38BC4274-0C0C-C8C7-210C-8C79C761828A}"/>
              </a:ext>
            </a:extLst>
          </p:cNvPr>
          <p:cNvSpPr>
            <a:spLocks noGrp="1"/>
          </p:cNvSpPr>
          <p:nvPr>
            <p:ph type="subTitle" idx="1"/>
          </p:nvPr>
        </p:nvSpPr>
        <p:spPr>
          <a:xfrm>
            <a:off x="576263" y="1817695"/>
            <a:ext cx="3457575" cy="835547"/>
          </a:xfrm>
        </p:spPr>
        <p:txBody>
          <a:bodyPr/>
          <a:lstStyle>
            <a:lvl1pPr marL="0" indent="0" algn="ctr">
              <a:buNone/>
              <a:defRPr sz="907"/>
            </a:lvl1pPr>
            <a:lvl2pPr marL="172867" indent="0" algn="ctr">
              <a:buNone/>
              <a:defRPr sz="756"/>
            </a:lvl2pPr>
            <a:lvl3pPr marL="345735" indent="0" algn="ctr">
              <a:buNone/>
              <a:defRPr sz="681"/>
            </a:lvl3pPr>
            <a:lvl4pPr marL="518602" indent="0" algn="ctr">
              <a:buNone/>
              <a:defRPr sz="605"/>
            </a:lvl4pPr>
            <a:lvl5pPr marL="691469" indent="0" algn="ctr">
              <a:buNone/>
              <a:defRPr sz="605"/>
            </a:lvl5pPr>
            <a:lvl6pPr marL="864337" indent="0" algn="ctr">
              <a:buNone/>
              <a:defRPr sz="605"/>
            </a:lvl6pPr>
            <a:lvl7pPr marL="1037204" indent="0" algn="ctr">
              <a:buNone/>
              <a:defRPr sz="605"/>
            </a:lvl7pPr>
            <a:lvl8pPr marL="1210071" indent="0" algn="ctr">
              <a:buNone/>
              <a:defRPr sz="605"/>
            </a:lvl8pPr>
            <a:lvl9pPr marL="1382939" indent="0" algn="ctr">
              <a:buNone/>
              <a:defRPr sz="605"/>
            </a:lvl9pPr>
          </a:lstStyle>
          <a:p>
            <a:r>
              <a:rPr lang="en-US"/>
              <a:t>Click to edit Master subtitle style</a:t>
            </a:r>
          </a:p>
        </p:txBody>
      </p:sp>
      <p:sp>
        <p:nvSpPr>
          <p:cNvPr id="4" name="Date Placeholder 3">
            <a:extLst>
              <a:ext uri="{FF2B5EF4-FFF2-40B4-BE49-F238E27FC236}">
                <a16:creationId xmlns:a16="http://schemas.microsoft.com/office/drawing/2014/main" id="{4D94A290-DE13-817B-A33C-56CA6F9CFAD8}"/>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6F0D5F97-44F9-BDD9-AC3D-6C72E0168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AFBFB3-B345-1B0C-FCAF-5EC2EEEADDCA}"/>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4952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AEC4-2464-FD3A-8116-9C3CDC1F05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143AA-D9B9-B6B2-C04D-01168FC6B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2AD8C-7036-2600-73EF-01326908899A}"/>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DB0967D2-1FD8-CED0-6A98-DE8BAC4593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4B0BE-6429-1483-FCDB-A347294D75A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8312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790-D63F-665B-332A-A73FC62F3034}"/>
              </a:ext>
            </a:extLst>
          </p:cNvPr>
          <p:cNvSpPr>
            <a:spLocks noGrp="1"/>
          </p:cNvSpPr>
          <p:nvPr>
            <p:ph type="title"/>
          </p:nvPr>
        </p:nvSpPr>
        <p:spPr>
          <a:xfrm>
            <a:off x="314543" y="862785"/>
            <a:ext cx="3976211" cy="1439576"/>
          </a:xfrm>
        </p:spPr>
        <p:txBody>
          <a:bodyPr anchor="b"/>
          <a:lstStyle>
            <a:lvl1pPr>
              <a:defRPr sz="2269"/>
            </a:lvl1pPr>
          </a:lstStyle>
          <a:p>
            <a:r>
              <a:rPr lang="en-US"/>
              <a:t>Click to edit Master title style</a:t>
            </a:r>
          </a:p>
        </p:txBody>
      </p:sp>
      <p:sp>
        <p:nvSpPr>
          <p:cNvPr id="3" name="Text Placeholder 2">
            <a:extLst>
              <a:ext uri="{FF2B5EF4-FFF2-40B4-BE49-F238E27FC236}">
                <a16:creationId xmlns:a16="http://schemas.microsoft.com/office/drawing/2014/main" id="{54644AE9-8E33-F886-5979-1EE8142ACA18}"/>
              </a:ext>
            </a:extLst>
          </p:cNvPr>
          <p:cNvSpPr>
            <a:spLocks noGrp="1"/>
          </p:cNvSpPr>
          <p:nvPr>
            <p:ph type="body" idx="1"/>
          </p:nvPr>
        </p:nvSpPr>
        <p:spPr>
          <a:xfrm>
            <a:off x="314543" y="2315979"/>
            <a:ext cx="3976211" cy="757039"/>
          </a:xfrm>
        </p:spPr>
        <p:txBody>
          <a:bodyPr/>
          <a:lstStyle>
            <a:lvl1pPr marL="0" indent="0">
              <a:buNone/>
              <a:defRPr sz="907">
                <a:solidFill>
                  <a:schemeClr val="tx1">
                    <a:tint val="82000"/>
                  </a:schemeClr>
                </a:solidFill>
              </a:defRPr>
            </a:lvl1pPr>
            <a:lvl2pPr marL="172867" indent="0">
              <a:buNone/>
              <a:defRPr sz="756">
                <a:solidFill>
                  <a:schemeClr val="tx1">
                    <a:tint val="82000"/>
                  </a:schemeClr>
                </a:solidFill>
              </a:defRPr>
            </a:lvl2pPr>
            <a:lvl3pPr marL="345735" indent="0">
              <a:buNone/>
              <a:defRPr sz="681">
                <a:solidFill>
                  <a:schemeClr val="tx1">
                    <a:tint val="82000"/>
                  </a:schemeClr>
                </a:solidFill>
              </a:defRPr>
            </a:lvl3pPr>
            <a:lvl4pPr marL="518602" indent="0">
              <a:buNone/>
              <a:defRPr sz="605">
                <a:solidFill>
                  <a:schemeClr val="tx1">
                    <a:tint val="82000"/>
                  </a:schemeClr>
                </a:solidFill>
              </a:defRPr>
            </a:lvl4pPr>
            <a:lvl5pPr marL="691469" indent="0">
              <a:buNone/>
              <a:defRPr sz="605">
                <a:solidFill>
                  <a:schemeClr val="tx1">
                    <a:tint val="82000"/>
                  </a:schemeClr>
                </a:solidFill>
              </a:defRPr>
            </a:lvl5pPr>
            <a:lvl6pPr marL="864337" indent="0">
              <a:buNone/>
              <a:defRPr sz="605">
                <a:solidFill>
                  <a:schemeClr val="tx1">
                    <a:tint val="82000"/>
                  </a:schemeClr>
                </a:solidFill>
              </a:defRPr>
            </a:lvl6pPr>
            <a:lvl7pPr marL="1037204" indent="0">
              <a:buNone/>
              <a:defRPr sz="605">
                <a:solidFill>
                  <a:schemeClr val="tx1">
                    <a:tint val="82000"/>
                  </a:schemeClr>
                </a:solidFill>
              </a:defRPr>
            </a:lvl7pPr>
            <a:lvl8pPr marL="1210071" indent="0">
              <a:buNone/>
              <a:defRPr sz="605">
                <a:solidFill>
                  <a:schemeClr val="tx1">
                    <a:tint val="82000"/>
                  </a:schemeClr>
                </a:solidFill>
              </a:defRPr>
            </a:lvl8pPr>
            <a:lvl9pPr marL="1382939" indent="0">
              <a:buNone/>
              <a:defRPr sz="605">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0905E-946C-9846-CA8D-B4971BDB6E81}"/>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60F12F5C-763A-8589-8BEE-B92B47BF1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96218-E479-7F09-8654-A3CEE30DC93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8519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28FB-2BC6-4DE6-2E8E-FB5281167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26613-A6EE-6B01-A4CF-5CC5CA084968}"/>
              </a:ext>
            </a:extLst>
          </p:cNvPr>
          <p:cNvSpPr>
            <a:spLocks noGrp="1"/>
          </p:cNvSpPr>
          <p:nvPr>
            <p:ph sz="half" idx="1"/>
          </p:nvPr>
        </p:nvSpPr>
        <p:spPr>
          <a:xfrm>
            <a:off x="316944"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A05404-5F99-88D7-6B61-28DCD771A31D}"/>
              </a:ext>
            </a:extLst>
          </p:cNvPr>
          <p:cNvSpPr>
            <a:spLocks noGrp="1"/>
          </p:cNvSpPr>
          <p:nvPr>
            <p:ph sz="half" idx="2"/>
          </p:nvPr>
        </p:nvSpPr>
        <p:spPr>
          <a:xfrm>
            <a:off x="2333863"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23FCA8-3C03-B8FF-4945-7DFF4CED08CD}"/>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299EC9EC-DAF5-F48D-063A-7F5F5128C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542DA-9819-1F9B-1D5A-023D3D315E4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3302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4E00-338C-F52B-0ED7-EA71FA327154}"/>
              </a:ext>
            </a:extLst>
          </p:cNvPr>
          <p:cNvSpPr>
            <a:spLocks noGrp="1"/>
          </p:cNvSpPr>
          <p:nvPr>
            <p:ph type="title"/>
          </p:nvPr>
        </p:nvSpPr>
        <p:spPr>
          <a:xfrm>
            <a:off x="317545" y="184253"/>
            <a:ext cx="3976211" cy="6689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C67FD-29B0-AB66-F5E7-BE3523FF8FE6}"/>
              </a:ext>
            </a:extLst>
          </p:cNvPr>
          <p:cNvSpPr>
            <a:spLocks noGrp="1"/>
          </p:cNvSpPr>
          <p:nvPr>
            <p:ph type="body" idx="1"/>
          </p:nvPr>
        </p:nvSpPr>
        <p:spPr>
          <a:xfrm>
            <a:off x="317545" y="848365"/>
            <a:ext cx="1950288"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4" name="Content Placeholder 3">
            <a:extLst>
              <a:ext uri="{FF2B5EF4-FFF2-40B4-BE49-F238E27FC236}">
                <a16:creationId xmlns:a16="http://schemas.microsoft.com/office/drawing/2014/main" id="{CA22C1F2-33BE-42BD-CBE9-6BF5CD1370B5}"/>
              </a:ext>
            </a:extLst>
          </p:cNvPr>
          <p:cNvSpPr>
            <a:spLocks noGrp="1"/>
          </p:cNvSpPr>
          <p:nvPr>
            <p:ph sz="half" idx="2"/>
          </p:nvPr>
        </p:nvSpPr>
        <p:spPr>
          <a:xfrm>
            <a:off x="317545" y="1264135"/>
            <a:ext cx="1950288"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F8D876-C6D9-6B46-6F58-8AA848E51636}"/>
              </a:ext>
            </a:extLst>
          </p:cNvPr>
          <p:cNvSpPr>
            <a:spLocks noGrp="1"/>
          </p:cNvSpPr>
          <p:nvPr>
            <p:ph type="body" sz="quarter" idx="3"/>
          </p:nvPr>
        </p:nvSpPr>
        <p:spPr>
          <a:xfrm>
            <a:off x="2333863" y="848365"/>
            <a:ext cx="1959893"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6" name="Content Placeholder 5">
            <a:extLst>
              <a:ext uri="{FF2B5EF4-FFF2-40B4-BE49-F238E27FC236}">
                <a16:creationId xmlns:a16="http://schemas.microsoft.com/office/drawing/2014/main" id="{1C160C0C-2A07-FDED-DF68-854E76481756}"/>
              </a:ext>
            </a:extLst>
          </p:cNvPr>
          <p:cNvSpPr>
            <a:spLocks noGrp="1"/>
          </p:cNvSpPr>
          <p:nvPr>
            <p:ph sz="quarter" idx="4"/>
          </p:nvPr>
        </p:nvSpPr>
        <p:spPr>
          <a:xfrm>
            <a:off x="2333863" y="1264135"/>
            <a:ext cx="1959893"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A450-199D-0E95-AC91-597F88AA621B}"/>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8" name="Footer Placeholder 7">
            <a:extLst>
              <a:ext uri="{FF2B5EF4-FFF2-40B4-BE49-F238E27FC236}">
                <a16:creationId xmlns:a16="http://schemas.microsoft.com/office/drawing/2014/main" id="{899F4C1C-DDA3-6373-7574-9583EF3E52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C84775-046C-888C-33C3-40CFA63399BF}"/>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505197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9ABA-87FD-F208-A3C1-91E7D21B1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4942C3-1E27-9E5C-D266-F83FA0D7CBB7}"/>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4" name="Footer Placeholder 3">
            <a:extLst>
              <a:ext uri="{FF2B5EF4-FFF2-40B4-BE49-F238E27FC236}">
                <a16:creationId xmlns:a16="http://schemas.microsoft.com/office/drawing/2014/main" id="{05DDEAB2-624E-2213-D019-6310B0CCE6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446F8C-81BD-B7ED-FBEF-A0CDC914FE1D}"/>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19797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5AE98E-FF86-04F5-FE65-0CEBAFF47D8F}"/>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3" name="Footer Placeholder 2">
            <a:extLst>
              <a:ext uri="{FF2B5EF4-FFF2-40B4-BE49-F238E27FC236}">
                <a16:creationId xmlns:a16="http://schemas.microsoft.com/office/drawing/2014/main" id="{218C8B99-5F61-2DD5-D8BD-1F26DB6F3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2B595-2F9A-CD4B-5143-A83B7FD06DD5}"/>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57136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245937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270349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AE8F-DC50-FD98-FFAE-9C0D191985F2}"/>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Picture Placeholder 2">
            <a:extLst>
              <a:ext uri="{FF2B5EF4-FFF2-40B4-BE49-F238E27FC236}">
                <a16:creationId xmlns:a16="http://schemas.microsoft.com/office/drawing/2014/main" id="{B20B2C57-2F40-1264-EE09-3BF055BE27C2}"/>
              </a:ext>
            </a:extLst>
          </p:cNvPr>
          <p:cNvSpPr>
            <a:spLocks noGrp="1"/>
          </p:cNvSpPr>
          <p:nvPr>
            <p:ph type="pic" idx="1"/>
          </p:nvPr>
        </p:nvSpPr>
        <p:spPr>
          <a:xfrm>
            <a:off x="1959893" y="498284"/>
            <a:ext cx="2333863" cy="2459376"/>
          </a:xfrm>
        </p:spPr>
        <p:txBody>
          <a:bodyPr/>
          <a:lstStyle>
            <a:lvl1pPr marL="0" indent="0">
              <a:buNone/>
              <a:defRPr sz="1210"/>
            </a:lvl1pPr>
            <a:lvl2pPr marL="172867" indent="0">
              <a:buNone/>
              <a:defRPr sz="1059"/>
            </a:lvl2pPr>
            <a:lvl3pPr marL="345735" indent="0">
              <a:buNone/>
              <a:defRPr sz="907"/>
            </a:lvl3pPr>
            <a:lvl4pPr marL="518602" indent="0">
              <a:buNone/>
              <a:defRPr sz="756"/>
            </a:lvl4pPr>
            <a:lvl5pPr marL="691469" indent="0">
              <a:buNone/>
              <a:defRPr sz="756"/>
            </a:lvl5pPr>
            <a:lvl6pPr marL="864337" indent="0">
              <a:buNone/>
              <a:defRPr sz="756"/>
            </a:lvl6pPr>
            <a:lvl7pPr marL="1037204" indent="0">
              <a:buNone/>
              <a:defRPr sz="756"/>
            </a:lvl7pPr>
            <a:lvl8pPr marL="1210071" indent="0">
              <a:buNone/>
              <a:defRPr sz="756"/>
            </a:lvl8pPr>
            <a:lvl9pPr marL="1382939" indent="0">
              <a:buNone/>
              <a:defRPr sz="756"/>
            </a:lvl9pPr>
          </a:lstStyle>
          <a:p>
            <a:endParaRPr lang="en-US"/>
          </a:p>
        </p:txBody>
      </p:sp>
      <p:sp>
        <p:nvSpPr>
          <p:cNvPr id="4" name="Text Placeholder 3">
            <a:extLst>
              <a:ext uri="{FF2B5EF4-FFF2-40B4-BE49-F238E27FC236}">
                <a16:creationId xmlns:a16="http://schemas.microsoft.com/office/drawing/2014/main" id="{C2325671-F457-FF62-FEE9-1F757C77AD7E}"/>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78367808-B131-7A3E-E88C-FAE2BE17D509}"/>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FCE64A3B-021B-278E-D72A-DB240005F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9C4A1-9AB9-2491-26BF-42E34ABE2B8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057158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CD66-9D65-F2CF-632E-46561E049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890A87-1C37-1B7E-1DA1-AEB7A1B33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E56C3-8F9A-26EC-BECA-B6D7E24AFF03}"/>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B8978444-04AE-9EB2-3D87-05B2D6E8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22D95-4838-BBA3-D612-AFC2E7E00317}"/>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081156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8734E0-AA1E-A108-BBA9-872490BA2190}"/>
              </a:ext>
            </a:extLst>
          </p:cNvPr>
          <p:cNvSpPr>
            <a:spLocks noGrp="1"/>
          </p:cNvSpPr>
          <p:nvPr>
            <p:ph type="title" orient="vert"/>
          </p:nvPr>
        </p:nvSpPr>
        <p:spPr>
          <a:xfrm>
            <a:off x="3299103" y="184253"/>
            <a:ext cx="994053" cy="293282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6F89A9-C7F1-E173-1837-DA53F7DB5264}"/>
              </a:ext>
            </a:extLst>
          </p:cNvPr>
          <p:cNvSpPr>
            <a:spLocks noGrp="1"/>
          </p:cNvSpPr>
          <p:nvPr>
            <p:ph type="body" orient="vert" idx="1"/>
          </p:nvPr>
        </p:nvSpPr>
        <p:spPr>
          <a:xfrm>
            <a:off x="316944" y="184253"/>
            <a:ext cx="2924532" cy="29328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56675-9D53-85F0-E8B9-F153C459E945}"/>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A9C5A0BE-223C-1858-D12E-AAF8C53EE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F1BF2-522D-AC25-9358-19B08D3AD29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649700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4610100" cy="3460750"/>
          </a:xfrm>
          <a:prstGeom prst="rect">
            <a:avLst/>
          </a:prstGeom>
          <a:solidFill>
            <a:schemeClr val="accent6"/>
          </a:solidFill>
          <a:ln w="12700" cap="flat">
            <a:noFill/>
            <a:prstDash val="solid"/>
            <a:miter/>
          </a:ln>
        </p:spPr>
        <p:txBody>
          <a:bodyPr rot="0" spcFirstLastPara="0" vertOverflow="overflow" horzOverflow="overflow" vert="horz" wrap="square" lIns="34576" tIns="17288" rIns="34576" bIns="17288"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924802" y="-6409"/>
            <a:ext cx="2756456" cy="3473568"/>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316945" y="79015"/>
            <a:ext cx="3976211" cy="668918"/>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527857" y="755819"/>
            <a:ext cx="3554387" cy="2127208"/>
          </a:xfrm>
        </p:spPr>
        <p:txBody>
          <a:bodyPr anchor="ctr" anchorCtr="0">
            <a:normAutofit/>
          </a:bodyPr>
          <a:lstStyle>
            <a:lvl1pPr marL="0" indent="0" algn="ctr">
              <a:buNone/>
              <a:defRPr sz="529">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582775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75424"/>
            <a:ext cx="4608195" cy="3081020"/>
          </a:xfrm>
          <a:custGeom>
            <a:avLst/>
            <a:gdLst/>
            <a:ahLst/>
            <a:cxnLst/>
            <a:rect l="l" t="t" r="r" b="b"/>
            <a:pathLst>
              <a:path w="4608195" h="3081020">
                <a:moveTo>
                  <a:pt x="0" y="3080575"/>
                </a:moveTo>
                <a:lnTo>
                  <a:pt x="4608004" y="3080575"/>
                </a:lnTo>
                <a:lnTo>
                  <a:pt x="4608004" y="0"/>
                </a:lnTo>
                <a:lnTo>
                  <a:pt x="0" y="0"/>
                </a:lnTo>
                <a:lnTo>
                  <a:pt x="0" y="3080575"/>
                </a:lnTo>
                <a:close/>
              </a:path>
            </a:pathLst>
          </a:custGeom>
          <a:solidFill>
            <a:srgbClr val="F9F9F9"/>
          </a:solidFill>
        </p:spPr>
        <p:txBody>
          <a:bodyPr wrap="square" lIns="0" tIns="0" rIns="0" bIns="0" rtlCol="0"/>
          <a:lstStyle/>
          <a:p>
            <a:endParaRPr/>
          </a:p>
        </p:txBody>
      </p:sp>
      <p:sp>
        <p:nvSpPr>
          <p:cNvPr id="17" name="bg object 17"/>
          <p:cNvSpPr/>
          <p:nvPr/>
        </p:nvSpPr>
        <p:spPr>
          <a:xfrm>
            <a:off x="0" y="-12"/>
            <a:ext cx="4608195" cy="375920"/>
          </a:xfrm>
          <a:custGeom>
            <a:avLst/>
            <a:gdLst/>
            <a:ahLst/>
            <a:cxnLst/>
            <a:rect l="l" t="t" r="r" b="b"/>
            <a:pathLst>
              <a:path w="4608195" h="375920">
                <a:moveTo>
                  <a:pt x="4608004" y="0"/>
                </a:moveTo>
                <a:lnTo>
                  <a:pt x="0" y="0"/>
                </a:lnTo>
                <a:lnTo>
                  <a:pt x="0" y="375437"/>
                </a:lnTo>
                <a:lnTo>
                  <a:pt x="4608004" y="375437"/>
                </a:lnTo>
                <a:lnTo>
                  <a:pt x="4608004" y="0"/>
                </a:lnTo>
                <a:close/>
              </a:path>
            </a:pathLst>
          </a:custGeom>
          <a:solidFill>
            <a:srgbClr val="22373A"/>
          </a:solidFill>
        </p:spPr>
        <p:txBody>
          <a:bodyPr wrap="square" lIns="0" tIns="0" rIns="0" bIns="0" rtlCol="0"/>
          <a:lstStyle/>
          <a:p>
            <a:endParaRPr/>
          </a:p>
        </p:txBody>
      </p:sp>
      <p:sp>
        <p:nvSpPr>
          <p:cNvPr id="2" name="Holder 2"/>
          <p:cNvSpPr>
            <a:spLocks noGrp="1"/>
          </p:cNvSpPr>
          <p:nvPr>
            <p:ph type="title"/>
          </p:nvPr>
        </p:nvSpPr>
        <p:spPr>
          <a:xfrm>
            <a:off x="122770" y="83027"/>
            <a:ext cx="3828415" cy="198754"/>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a:xfrm>
            <a:off x="274281" y="732354"/>
            <a:ext cx="2392045" cy="2339975"/>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a:xfrm>
            <a:off x="4349813" y="3198815"/>
            <a:ext cx="196341" cy="146748"/>
          </a:xfrm>
          <a:prstGeom prst="rect">
            <a:avLst/>
          </a:prstGeom>
        </p:spPr>
        <p:txBody>
          <a:bodyPr wrap="square" lIns="0" tIns="0" rIns="0" bIns="0">
            <a:spAutoFit/>
          </a:bodyPr>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9"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454B59-47F4-8222-A636-737CFC6E7A8E}"/>
              </a:ext>
            </a:extLst>
          </p:cNvPr>
          <p:cNvSpPr>
            <a:spLocks noGrp="1"/>
          </p:cNvSpPr>
          <p:nvPr>
            <p:ph type="title"/>
          </p:nvPr>
        </p:nvSpPr>
        <p:spPr>
          <a:xfrm>
            <a:off x="316945" y="184253"/>
            <a:ext cx="3976211" cy="66891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B033A4-1C04-D531-AC84-5012F7945857}"/>
              </a:ext>
            </a:extLst>
          </p:cNvPr>
          <p:cNvSpPr>
            <a:spLocks noGrp="1"/>
          </p:cNvSpPr>
          <p:nvPr>
            <p:ph type="body" idx="1"/>
          </p:nvPr>
        </p:nvSpPr>
        <p:spPr>
          <a:xfrm>
            <a:off x="316945" y="921265"/>
            <a:ext cx="3976211" cy="2195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4A4CC-045F-0BE4-B63E-44A1C86F9DFC}"/>
              </a:ext>
            </a:extLst>
          </p:cNvPr>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a:defRPr sz="454">
                <a:solidFill>
                  <a:schemeClr val="tx1">
                    <a:tint val="82000"/>
                  </a:schemeClr>
                </a:solidFill>
              </a:defRPr>
            </a:lvl1p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B7F47A00-0C50-92D5-E4A2-DFC6D3777008}"/>
              </a:ext>
            </a:extLst>
          </p:cNvPr>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a:defRPr sz="45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68390F-09B2-5F68-F4FC-A894CCFFCD79}"/>
              </a:ext>
            </a:extLst>
          </p:cNvPr>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a:defRPr sz="454">
                <a:solidFill>
                  <a:schemeClr val="tx1">
                    <a:tint val="82000"/>
                  </a:schemeClr>
                </a:solidFill>
              </a:defRPr>
            </a:lvl1pPr>
          </a:lstStyle>
          <a:p>
            <a:fld id="{B736D9D1-13E3-432F-B20E-C00DD3263056}" type="slidenum">
              <a:rPr lang="en-US" smtClean="0"/>
              <a:t>‹#›</a:t>
            </a:fld>
            <a:endParaRPr lang="en-US"/>
          </a:p>
        </p:txBody>
      </p:sp>
    </p:spTree>
    <p:extLst>
      <p:ext uri="{BB962C8B-B14F-4D97-AF65-F5344CB8AC3E}">
        <p14:creationId xmlns:p14="http://schemas.microsoft.com/office/powerpoint/2010/main" val="377064479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345735" rtl="0" eaLnBrk="1" latinLnBrk="0" hangingPunct="1">
        <a:lnSpc>
          <a:spcPct val="90000"/>
        </a:lnSpc>
        <a:spcBef>
          <a:spcPct val="0"/>
        </a:spcBef>
        <a:buNone/>
        <a:defRPr sz="1664" kern="1200">
          <a:solidFill>
            <a:schemeClr val="tx1"/>
          </a:solidFill>
          <a:latin typeface="+mj-lt"/>
          <a:ea typeface="+mj-ea"/>
          <a:cs typeface="+mj-cs"/>
        </a:defRPr>
      </a:lvl1pPr>
    </p:titleStyle>
    <p:bodyStyle>
      <a:lvl1pPr marL="86434" indent="-86434" algn="l" defTabSz="345735" rtl="0" eaLnBrk="1" latinLnBrk="0" hangingPunct="1">
        <a:lnSpc>
          <a:spcPct val="90000"/>
        </a:lnSpc>
        <a:spcBef>
          <a:spcPts val="378"/>
        </a:spcBef>
        <a:buFont typeface="Arial" panose="020B0604020202020204" pitchFamily="34" charset="0"/>
        <a:buChar char="•"/>
        <a:defRPr sz="1059" kern="1200">
          <a:solidFill>
            <a:schemeClr val="tx1"/>
          </a:solidFill>
          <a:latin typeface="+mn-lt"/>
          <a:ea typeface="+mn-ea"/>
          <a:cs typeface="+mn-cs"/>
        </a:defRPr>
      </a:lvl1pPr>
      <a:lvl2pPr marL="259301" indent="-86434" algn="l" defTabSz="345735" rtl="0" eaLnBrk="1" latinLnBrk="0" hangingPunct="1">
        <a:lnSpc>
          <a:spcPct val="90000"/>
        </a:lnSpc>
        <a:spcBef>
          <a:spcPts val="189"/>
        </a:spcBef>
        <a:buFont typeface="Arial" panose="020B0604020202020204" pitchFamily="34" charset="0"/>
        <a:buChar char="•"/>
        <a:defRPr sz="907" kern="1200">
          <a:solidFill>
            <a:schemeClr val="tx1"/>
          </a:solidFill>
          <a:latin typeface="+mn-lt"/>
          <a:ea typeface="+mn-ea"/>
          <a:cs typeface="+mn-cs"/>
        </a:defRPr>
      </a:lvl2pPr>
      <a:lvl3pPr marL="432168" indent="-86434" algn="l" defTabSz="345735" rtl="0" eaLnBrk="1" latinLnBrk="0" hangingPunct="1">
        <a:lnSpc>
          <a:spcPct val="90000"/>
        </a:lnSpc>
        <a:spcBef>
          <a:spcPts val="189"/>
        </a:spcBef>
        <a:buFont typeface="Arial" panose="020B0604020202020204" pitchFamily="34" charset="0"/>
        <a:buChar char="•"/>
        <a:defRPr sz="756" kern="1200">
          <a:solidFill>
            <a:schemeClr val="tx1"/>
          </a:solidFill>
          <a:latin typeface="+mn-lt"/>
          <a:ea typeface="+mn-ea"/>
          <a:cs typeface="+mn-cs"/>
        </a:defRPr>
      </a:lvl3pPr>
      <a:lvl4pPr marL="605036"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4pPr>
      <a:lvl5pPr marL="777903"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5pPr>
      <a:lvl6pPr marL="950770"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6pPr>
      <a:lvl7pPr marL="1123638"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7pPr>
      <a:lvl8pPr marL="1296505"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8pPr>
      <a:lvl9pPr marL="1469372"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9pPr>
    </p:bodyStyle>
    <p:otherStyle>
      <a:defPPr>
        <a:defRPr lang="en-US"/>
      </a:defPPr>
      <a:lvl1pPr marL="0" algn="l" defTabSz="345735" rtl="0" eaLnBrk="1" latinLnBrk="0" hangingPunct="1">
        <a:defRPr sz="681" kern="1200">
          <a:solidFill>
            <a:schemeClr val="tx1"/>
          </a:solidFill>
          <a:latin typeface="+mn-lt"/>
          <a:ea typeface="+mn-ea"/>
          <a:cs typeface="+mn-cs"/>
        </a:defRPr>
      </a:lvl1pPr>
      <a:lvl2pPr marL="172867" algn="l" defTabSz="345735" rtl="0" eaLnBrk="1" latinLnBrk="0" hangingPunct="1">
        <a:defRPr sz="681" kern="1200">
          <a:solidFill>
            <a:schemeClr val="tx1"/>
          </a:solidFill>
          <a:latin typeface="+mn-lt"/>
          <a:ea typeface="+mn-ea"/>
          <a:cs typeface="+mn-cs"/>
        </a:defRPr>
      </a:lvl2pPr>
      <a:lvl3pPr marL="345735" algn="l" defTabSz="345735" rtl="0" eaLnBrk="1" latinLnBrk="0" hangingPunct="1">
        <a:defRPr sz="681" kern="1200">
          <a:solidFill>
            <a:schemeClr val="tx1"/>
          </a:solidFill>
          <a:latin typeface="+mn-lt"/>
          <a:ea typeface="+mn-ea"/>
          <a:cs typeface="+mn-cs"/>
        </a:defRPr>
      </a:lvl3pPr>
      <a:lvl4pPr marL="518602" algn="l" defTabSz="345735" rtl="0" eaLnBrk="1" latinLnBrk="0" hangingPunct="1">
        <a:defRPr sz="681" kern="1200">
          <a:solidFill>
            <a:schemeClr val="tx1"/>
          </a:solidFill>
          <a:latin typeface="+mn-lt"/>
          <a:ea typeface="+mn-ea"/>
          <a:cs typeface="+mn-cs"/>
        </a:defRPr>
      </a:lvl4pPr>
      <a:lvl5pPr marL="691469" algn="l" defTabSz="345735" rtl="0" eaLnBrk="1" latinLnBrk="0" hangingPunct="1">
        <a:defRPr sz="681" kern="1200">
          <a:solidFill>
            <a:schemeClr val="tx1"/>
          </a:solidFill>
          <a:latin typeface="+mn-lt"/>
          <a:ea typeface="+mn-ea"/>
          <a:cs typeface="+mn-cs"/>
        </a:defRPr>
      </a:lvl5pPr>
      <a:lvl6pPr marL="864337" algn="l" defTabSz="345735" rtl="0" eaLnBrk="1" latinLnBrk="0" hangingPunct="1">
        <a:defRPr sz="681" kern="1200">
          <a:solidFill>
            <a:schemeClr val="tx1"/>
          </a:solidFill>
          <a:latin typeface="+mn-lt"/>
          <a:ea typeface="+mn-ea"/>
          <a:cs typeface="+mn-cs"/>
        </a:defRPr>
      </a:lvl6pPr>
      <a:lvl7pPr marL="1037204" algn="l" defTabSz="345735" rtl="0" eaLnBrk="1" latinLnBrk="0" hangingPunct="1">
        <a:defRPr sz="681" kern="1200">
          <a:solidFill>
            <a:schemeClr val="tx1"/>
          </a:solidFill>
          <a:latin typeface="+mn-lt"/>
          <a:ea typeface="+mn-ea"/>
          <a:cs typeface="+mn-cs"/>
        </a:defRPr>
      </a:lvl7pPr>
      <a:lvl8pPr marL="1210071" algn="l" defTabSz="345735" rtl="0" eaLnBrk="1" latinLnBrk="0" hangingPunct="1">
        <a:defRPr sz="681" kern="1200">
          <a:solidFill>
            <a:schemeClr val="tx1"/>
          </a:solidFill>
          <a:latin typeface="+mn-lt"/>
          <a:ea typeface="+mn-ea"/>
          <a:cs typeface="+mn-cs"/>
        </a:defRPr>
      </a:lvl8pPr>
      <a:lvl9pPr marL="1382939" algn="l" defTabSz="345735" rtl="0" eaLnBrk="1" latinLnBrk="0" hangingPunct="1">
        <a:defRPr sz="6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creativecommons.org/licenses/by-sa/3.0/u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file:///C:\Users\barboza-salerno.1\phhbhp7534barboza\slides\01-class_05_transform-data.html" TargetMode="External"/><Relationship Id="rId2" Type="http://schemas.openxmlformats.org/officeDocument/2006/relationships/hyperlink" Target="file:///C:\Users\barboza-salerno.1\phhbhp7534barboza\slides\01-class_03_data-basics.html" TargetMode="External"/><Relationship Id="rId1" Type="http://schemas.openxmlformats.org/officeDocument/2006/relationships/slideLayout" Target="../slideLayouts/slideLayout2.xml"/><Relationship Id="rId5" Type="http://schemas.openxmlformats.org/officeDocument/2006/relationships/hyperlink" Target="https://issues-osu.github.io/statsii-spring2026/Monitoring-the-future-example.html" TargetMode="External"/><Relationship Id="rId4" Type="http://schemas.openxmlformats.org/officeDocument/2006/relationships/hyperlink" Target="https://issues-osu.github.io/statsii-spring2026/syllabus.html#week-3-january-27-202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40.png"/><Relationship Id="rId26" Type="http://schemas.openxmlformats.org/officeDocument/2006/relationships/image" Target="../media/image18.png"/><Relationship Id="rId39" Type="http://schemas.openxmlformats.org/officeDocument/2006/relationships/customXml" Target="../ink/ink20.xml"/><Relationship Id="rId21" Type="http://schemas.openxmlformats.org/officeDocument/2006/relationships/customXml" Target="../ink/ink10.xml"/><Relationship Id="rId34" Type="http://schemas.openxmlformats.org/officeDocument/2006/relationships/customXml" Target="../ink/ink17.xml"/><Relationship Id="rId42" Type="http://schemas.openxmlformats.org/officeDocument/2006/relationships/image" Target="../media/image25.png"/><Relationship Id="rId47" Type="http://schemas.openxmlformats.org/officeDocument/2006/relationships/image" Target="../media/image27.png"/><Relationship Id="rId7" Type="http://schemas.openxmlformats.org/officeDocument/2006/relationships/customXml" Target="../ink/ink3.xml"/><Relationship Id="rId2" Type="http://schemas.openxmlformats.org/officeDocument/2006/relationships/image" Target="../media/image11.png"/><Relationship Id="rId16" Type="http://schemas.openxmlformats.org/officeDocument/2006/relationships/image" Target="../media/image130.png"/><Relationship Id="rId29" Type="http://schemas.openxmlformats.org/officeDocument/2006/relationships/customXml" Target="../ink/ink14.xml"/><Relationship Id="rId1" Type="http://schemas.openxmlformats.org/officeDocument/2006/relationships/slideLayout" Target="../slideLayouts/slideLayout4.xml"/><Relationship Id="rId6" Type="http://schemas.openxmlformats.org/officeDocument/2006/relationships/image" Target="../media/image90.png"/><Relationship Id="rId11" Type="http://schemas.openxmlformats.org/officeDocument/2006/relationships/customXml" Target="../ink/ink5.xml"/><Relationship Id="rId24" Type="http://schemas.openxmlformats.org/officeDocument/2006/relationships/image" Target="../media/image17.png"/><Relationship Id="rId32" Type="http://schemas.openxmlformats.org/officeDocument/2006/relationships/customXml" Target="../ink/ink16.xml"/><Relationship Id="rId37" Type="http://schemas.openxmlformats.org/officeDocument/2006/relationships/customXml" Target="../ink/ink19.xml"/><Relationship Id="rId40" Type="http://schemas.openxmlformats.org/officeDocument/2006/relationships/image" Target="../media/image24.png"/><Relationship Id="rId45" Type="http://schemas.openxmlformats.org/officeDocument/2006/relationships/customXml" Target="../ink/ink23.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9.png"/><Relationship Id="rId36" Type="http://schemas.openxmlformats.org/officeDocument/2006/relationships/customXml" Target="../ink/ink18.xml"/><Relationship Id="rId10" Type="http://schemas.openxmlformats.org/officeDocument/2006/relationships/image" Target="../media/image100.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6.png"/><Relationship Id="rId4" Type="http://schemas.openxmlformats.org/officeDocument/2006/relationships/image" Target="../media/image16.png"/><Relationship Id="rId9" Type="http://schemas.openxmlformats.org/officeDocument/2006/relationships/customXml" Target="../ink/ink4.xml"/><Relationship Id="rId14" Type="http://schemas.openxmlformats.org/officeDocument/2006/relationships/image" Target="../media/image120.png"/><Relationship Id="rId22" Type="http://schemas.openxmlformats.org/officeDocument/2006/relationships/image" Target="../media/image160.png"/><Relationship Id="rId27" Type="http://schemas.openxmlformats.org/officeDocument/2006/relationships/customXml" Target="../ink/ink13.xml"/><Relationship Id="rId30" Type="http://schemas.openxmlformats.org/officeDocument/2006/relationships/image" Target="../media/image20.png"/><Relationship Id="rId35" Type="http://schemas.openxmlformats.org/officeDocument/2006/relationships/image" Target="../media/image22.png"/><Relationship Id="rId43" Type="http://schemas.openxmlformats.org/officeDocument/2006/relationships/customXml" Target="../ink/ink22.xml"/><Relationship Id="rId8" Type="http://schemas.openxmlformats.org/officeDocument/2006/relationships/image" Target="../media/image80.png"/><Relationship Id="rId3" Type="http://schemas.openxmlformats.org/officeDocument/2006/relationships/customXml" Target="../ink/ink1.xml"/><Relationship Id="rId12" Type="http://schemas.openxmlformats.org/officeDocument/2006/relationships/image" Target="../media/image1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21.png"/><Relationship Id="rId38" Type="http://schemas.openxmlformats.org/officeDocument/2006/relationships/image" Target="../media/image23.png"/><Relationship Id="rId46" Type="http://schemas.openxmlformats.org/officeDocument/2006/relationships/customXml" Target="../ink/ink24.xml"/><Relationship Id="rId20" Type="http://schemas.openxmlformats.org/officeDocument/2006/relationships/image" Target="../media/image150.png"/><Relationship Id="rId41" Type="http://schemas.openxmlformats.org/officeDocument/2006/relationships/customXml" Target="../ink/ink21.xml"/></Relationships>
</file>

<file path=ppt/slides/_rels/slide2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3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4608195" cy="3455670"/>
            <a:chOff x="0" y="0"/>
            <a:chExt cx="4608195" cy="3455670"/>
          </a:xfrm>
        </p:grpSpPr>
        <p:pic>
          <p:nvPicPr>
            <p:cNvPr id="3" name="object 3"/>
            <p:cNvPicPr/>
            <p:nvPr/>
          </p:nvPicPr>
          <p:blipFill>
            <a:blip r:embed="rId2" cstate="print"/>
            <a:stretch>
              <a:fillRect/>
            </a:stretch>
          </p:blipFill>
          <p:spPr>
            <a:xfrm>
              <a:off x="0" y="0"/>
              <a:ext cx="4607960" cy="3455631"/>
            </a:xfrm>
            <a:prstGeom prst="rect">
              <a:avLst/>
            </a:prstGeom>
          </p:spPr>
        </p:pic>
        <p:pic>
          <p:nvPicPr>
            <p:cNvPr id="4" name="object 4"/>
            <p:cNvPicPr/>
            <p:nvPr/>
          </p:nvPicPr>
          <p:blipFill>
            <a:blip r:embed="rId3" cstate="print"/>
            <a:stretch>
              <a:fillRect/>
            </a:stretch>
          </p:blipFill>
          <p:spPr>
            <a:xfrm>
              <a:off x="3527996" y="84647"/>
              <a:ext cx="719957" cy="220114"/>
            </a:xfrm>
            <a:prstGeom prst="rect">
              <a:avLst/>
            </a:prstGeom>
          </p:spPr>
        </p:pic>
      </p:grpSp>
      <p:sp>
        <p:nvSpPr>
          <p:cNvPr id="5" name="object 5"/>
          <p:cNvSpPr txBox="1">
            <a:spLocks noGrp="1"/>
          </p:cNvSpPr>
          <p:nvPr>
            <p:ph type="title"/>
          </p:nvPr>
        </p:nvSpPr>
        <p:spPr>
          <a:xfrm>
            <a:off x="347294" y="1267805"/>
            <a:ext cx="3601720" cy="221856"/>
          </a:xfrm>
          <a:prstGeom prst="rect">
            <a:avLst/>
          </a:prstGeom>
        </p:spPr>
        <p:txBody>
          <a:bodyPr vert="horz" wrap="square" lIns="0" tIns="13970" rIns="0" bIns="0" rtlCol="0">
            <a:spAutoFit/>
          </a:bodyPr>
          <a:lstStyle/>
          <a:p>
            <a:pPr marL="12700">
              <a:lnSpc>
                <a:spcPct val="100000"/>
              </a:lnSpc>
              <a:spcBef>
                <a:spcPts val="110"/>
              </a:spcBef>
            </a:pPr>
            <a:r>
              <a:rPr sz="1350" dirty="0">
                <a:solidFill>
                  <a:srgbClr val="22373A"/>
                </a:solidFill>
              </a:rPr>
              <a:t>Introduction to </a:t>
            </a:r>
            <a:r>
              <a:rPr lang="en-US" sz="1350" dirty="0">
                <a:solidFill>
                  <a:srgbClr val="22373A"/>
                </a:solidFill>
              </a:rPr>
              <a:t>L</a:t>
            </a:r>
            <a:r>
              <a:rPr sz="1350" dirty="0">
                <a:solidFill>
                  <a:srgbClr val="22373A"/>
                </a:solidFill>
              </a:rPr>
              <a:t>inear</a:t>
            </a:r>
            <a:r>
              <a:rPr sz="1350" spc="5" dirty="0">
                <a:solidFill>
                  <a:srgbClr val="22373A"/>
                </a:solidFill>
              </a:rPr>
              <a:t> </a:t>
            </a:r>
            <a:r>
              <a:rPr lang="en-US" sz="1350" spc="-10" dirty="0">
                <a:solidFill>
                  <a:srgbClr val="22373A"/>
                </a:solidFill>
              </a:rPr>
              <a:t>R</a:t>
            </a:r>
            <a:r>
              <a:rPr sz="1350" spc="-10" dirty="0">
                <a:solidFill>
                  <a:srgbClr val="22373A"/>
                </a:solidFill>
              </a:rPr>
              <a:t>egression</a:t>
            </a:r>
            <a:endParaRPr sz="1350" dirty="0"/>
          </a:p>
        </p:txBody>
      </p:sp>
      <p:sp>
        <p:nvSpPr>
          <p:cNvPr id="6" name="object 6"/>
          <p:cNvSpPr/>
          <p:nvPr/>
        </p:nvSpPr>
        <p:spPr>
          <a:xfrm>
            <a:off x="359994" y="1732959"/>
            <a:ext cx="3888104" cy="5080"/>
          </a:xfrm>
          <a:custGeom>
            <a:avLst/>
            <a:gdLst/>
            <a:ahLst/>
            <a:cxnLst/>
            <a:rect l="l" t="t" r="r" b="b"/>
            <a:pathLst>
              <a:path w="3888104" h="5080">
                <a:moveTo>
                  <a:pt x="0" y="5060"/>
                </a:moveTo>
                <a:lnTo>
                  <a:pt x="0" y="0"/>
                </a:lnTo>
                <a:lnTo>
                  <a:pt x="3888051" y="0"/>
                </a:lnTo>
                <a:lnTo>
                  <a:pt x="3888051" y="5060"/>
                </a:lnTo>
                <a:lnTo>
                  <a:pt x="0" y="5060"/>
                </a:lnTo>
                <a:close/>
              </a:path>
            </a:pathLst>
          </a:custGeom>
          <a:solidFill>
            <a:srgbClr val="EB801A"/>
          </a:solidFill>
        </p:spPr>
        <p:txBody>
          <a:bodyPr wrap="square" lIns="0" tIns="0" rIns="0" bIns="0" rtlCol="0"/>
          <a:lstStyle/>
          <a:p>
            <a:endParaRPr/>
          </a:p>
        </p:txBody>
      </p:sp>
      <p:sp>
        <p:nvSpPr>
          <p:cNvPr id="7" name="object 7"/>
          <p:cNvSpPr txBox="1"/>
          <p:nvPr/>
        </p:nvSpPr>
        <p:spPr>
          <a:xfrm>
            <a:off x="347294" y="2020131"/>
            <a:ext cx="3870325" cy="982192"/>
          </a:xfrm>
          <a:prstGeom prst="rect">
            <a:avLst/>
          </a:prstGeom>
        </p:spPr>
        <p:txBody>
          <a:bodyPr vert="horz" wrap="square" lIns="0" tIns="12065" rIns="0" bIns="0" rtlCol="0">
            <a:spAutoFit/>
          </a:bodyPr>
          <a:lstStyle/>
          <a:p>
            <a:pPr marL="12700">
              <a:lnSpc>
                <a:spcPct val="100000"/>
              </a:lnSpc>
              <a:spcBef>
                <a:spcPts val="95"/>
              </a:spcBef>
            </a:pPr>
            <a:r>
              <a:rPr lang="en-US" sz="950" dirty="0">
                <a:solidFill>
                  <a:srgbClr val="22373A"/>
                </a:solidFill>
                <a:latin typeface="Arial"/>
                <a:cs typeface="Arial"/>
              </a:rPr>
              <a:t>January 27, 2026</a:t>
            </a:r>
            <a:endParaRPr sz="950" dirty="0">
              <a:latin typeface="Arial"/>
              <a:cs typeface="Arial"/>
            </a:endParaRPr>
          </a:p>
          <a:p>
            <a:pPr>
              <a:lnSpc>
                <a:spcPct val="100000"/>
              </a:lnSpc>
            </a:pPr>
            <a:endParaRPr sz="950" dirty="0">
              <a:latin typeface="Arial"/>
              <a:cs typeface="Arial"/>
            </a:endParaRPr>
          </a:p>
          <a:p>
            <a:pPr>
              <a:lnSpc>
                <a:spcPct val="100000"/>
              </a:lnSpc>
              <a:spcBef>
                <a:spcPts val="40"/>
              </a:spcBef>
            </a:pPr>
            <a:endParaRPr sz="950" dirty="0">
              <a:latin typeface="Arial"/>
              <a:cs typeface="Arial"/>
            </a:endParaRPr>
          </a:p>
          <a:p>
            <a:pPr marL="12700">
              <a:lnSpc>
                <a:spcPct val="100000"/>
              </a:lnSpc>
            </a:pPr>
            <a:r>
              <a:rPr sz="850" dirty="0">
                <a:solidFill>
                  <a:srgbClr val="22373A"/>
                </a:solidFill>
                <a:latin typeface="Arial"/>
                <a:cs typeface="Arial"/>
              </a:rPr>
              <a:t>Slides</a:t>
            </a:r>
            <a:r>
              <a:rPr sz="850" spc="-15" dirty="0">
                <a:solidFill>
                  <a:srgbClr val="22373A"/>
                </a:solidFill>
                <a:latin typeface="Arial"/>
                <a:cs typeface="Arial"/>
              </a:rPr>
              <a:t> </a:t>
            </a:r>
            <a:r>
              <a:rPr sz="850" spc="-10" dirty="0">
                <a:solidFill>
                  <a:srgbClr val="22373A"/>
                </a:solidFill>
                <a:latin typeface="Arial"/>
                <a:cs typeface="Arial"/>
              </a:rPr>
              <a:t>developed </a:t>
            </a:r>
            <a:r>
              <a:rPr sz="850" dirty="0">
                <a:solidFill>
                  <a:srgbClr val="22373A"/>
                </a:solidFill>
                <a:latin typeface="Arial"/>
                <a:cs typeface="Arial"/>
              </a:rPr>
              <a:t>by</a:t>
            </a:r>
            <a:r>
              <a:rPr sz="850" spc="-5" dirty="0">
                <a:solidFill>
                  <a:srgbClr val="22373A"/>
                </a:solidFill>
                <a:latin typeface="Arial"/>
                <a:cs typeface="Arial"/>
              </a:rPr>
              <a:t> </a:t>
            </a:r>
            <a:r>
              <a:rPr sz="850" dirty="0">
                <a:solidFill>
                  <a:srgbClr val="22373A"/>
                </a:solidFill>
                <a:latin typeface="Arial"/>
                <a:cs typeface="Arial"/>
              </a:rPr>
              <a:t>Mine</a:t>
            </a:r>
            <a:r>
              <a:rPr sz="850" spc="-10" dirty="0">
                <a:solidFill>
                  <a:srgbClr val="22373A"/>
                </a:solidFill>
                <a:latin typeface="Arial"/>
                <a:cs typeface="Arial"/>
              </a:rPr>
              <a:t> </a:t>
            </a:r>
            <a:r>
              <a:rPr sz="850" spc="-235" dirty="0">
                <a:solidFill>
                  <a:srgbClr val="22373A"/>
                </a:solidFill>
                <a:latin typeface="Arial"/>
                <a:cs typeface="Arial"/>
              </a:rPr>
              <a:t>C¸</a:t>
            </a:r>
            <a:r>
              <a:rPr sz="850" spc="-75" dirty="0">
                <a:solidFill>
                  <a:srgbClr val="22373A"/>
                </a:solidFill>
                <a:latin typeface="Arial"/>
                <a:cs typeface="Arial"/>
              </a:rPr>
              <a:t> </a:t>
            </a:r>
            <a:r>
              <a:rPr sz="850" spc="-10" dirty="0">
                <a:solidFill>
                  <a:srgbClr val="22373A"/>
                </a:solidFill>
                <a:latin typeface="Arial"/>
                <a:cs typeface="Arial"/>
              </a:rPr>
              <a:t>etinkaya-</a:t>
            </a:r>
            <a:r>
              <a:rPr sz="850" dirty="0">
                <a:solidFill>
                  <a:srgbClr val="22373A"/>
                </a:solidFill>
                <a:latin typeface="Arial"/>
                <a:cs typeface="Arial"/>
              </a:rPr>
              <a:t>Rundel</a:t>
            </a:r>
            <a:r>
              <a:rPr sz="850" spc="-10" dirty="0">
                <a:solidFill>
                  <a:srgbClr val="22373A"/>
                </a:solidFill>
                <a:latin typeface="Arial"/>
                <a:cs typeface="Arial"/>
              </a:rPr>
              <a:t> </a:t>
            </a:r>
            <a:r>
              <a:rPr sz="850" dirty="0">
                <a:solidFill>
                  <a:srgbClr val="22373A"/>
                </a:solidFill>
                <a:latin typeface="Arial"/>
                <a:cs typeface="Arial"/>
              </a:rPr>
              <a:t>of</a:t>
            </a:r>
            <a:r>
              <a:rPr sz="850" spc="-5" dirty="0">
                <a:solidFill>
                  <a:srgbClr val="22373A"/>
                </a:solidFill>
                <a:latin typeface="Arial"/>
                <a:cs typeface="Arial"/>
              </a:rPr>
              <a:t> </a:t>
            </a:r>
            <a:r>
              <a:rPr sz="850" spc="-10" dirty="0" err="1">
                <a:solidFill>
                  <a:srgbClr val="22373A"/>
                </a:solidFill>
                <a:latin typeface="Arial"/>
                <a:cs typeface="Arial"/>
              </a:rPr>
              <a:t>OpenIntro</a:t>
            </a:r>
            <a:r>
              <a:rPr lang="en-US" sz="850" spc="-10" dirty="0">
                <a:solidFill>
                  <a:srgbClr val="22373A"/>
                </a:solidFill>
                <a:latin typeface="Arial"/>
                <a:cs typeface="Arial"/>
              </a:rPr>
              <a:t> and substantially revised by Dr. Gia Elise Barboza-Salerno</a:t>
            </a:r>
            <a:r>
              <a:rPr sz="850" spc="-10" dirty="0">
                <a:solidFill>
                  <a:srgbClr val="22373A"/>
                </a:solidFill>
                <a:latin typeface="Arial"/>
                <a:cs typeface="Arial"/>
              </a:rPr>
              <a:t>.</a:t>
            </a:r>
            <a:endParaRPr sz="850" dirty="0">
              <a:latin typeface="Arial"/>
              <a:cs typeface="Arial"/>
            </a:endParaRPr>
          </a:p>
          <a:p>
            <a:pPr marL="12700" marR="5080">
              <a:lnSpc>
                <a:spcPct val="106700"/>
              </a:lnSpc>
            </a:pPr>
            <a:r>
              <a:rPr sz="850" dirty="0">
                <a:solidFill>
                  <a:srgbClr val="22373A"/>
                </a:solidFill>
                <a:latin typeface="Arial"/>
                <a:cs typeface="Arial"/>
              </a:rPr>
              <a:t>The</a:t>
            </a:r>
            <a:r>
              <a:rPr sz="850" spc="-15" dirty="0">
                <a:solidFill>
                  <a:srgbClr val="22373A"/>
                </a:solidFill>
                <a:latin typeface="Arial"/>
                <a:cs typeface="Arial"/>
              </a:rPr>
              <a:t> </a:t>
            </a:r>
            <a:r>
              <a:rPr sz="850" dirty="0">
                <a:solidFill>
                  <a:srgbClr val="22373A"/>
                </a:solidFill>
                <a:latin typeface="Arial"/>
                <a:cs typeface="Arial"/>
              </a:rPr>
              <a:t>slides</a:t>
            </a:r>
            <a:r>
              <a:rPr sz="850" spc="-10" dirty="0">
                <a:solidFill>
                  <a:srgbClr val="22373A"/>
                </a:solidFill>
                <a:latin typeface="Arial"/>
                <a:cs typeface="Arial"/>
              </a:rPr>
              <a:t> </a:t>
            </a:r>
            <a:r>
              <a:rPr sz="850" dirty="0">
                <a:solidFill>
                  <a:srgbClr val="22373A"/>
                </a:solidFill>
                <a:latin typeface="Arial"/>
                <a:cs typeface="Arial"/>
              </a:rPr>
              <a:t>may</a:t>
            </a:r>
            <a:r>
              <a:rPr sz="850" spc="-15" dirty="0">
                <a:solidFill>
                  <a:srgbClr val="22373A"/>
                </a:solidFill>
                <a:latin typeface="Arial"/>
                <a:cs typeface="Arial"/>
              </a:rPr>
              <a:t> </a:t>
            </a:r>
            <a:r>
              <a:rPr sz="850" dirty="0">
                <a:solidFill>
                  <a:srgbClr val="22373A"/>
                </a:solidFill>
                <a:latin typeface="Arial"/>
                <a:cs typeface="Arial"/>
              </a:rPr>
              <a:t>be</a:t>
            </a:r>
            <a:r>
              <a:rPr sz="850" spc="-10" dirty="0">
                <a:solidFill>
                  <a:srgbClr val="22373A"/>
                </a:solidFill>
                <a:latin typeface="Arial"/>
                <a:cs typeface="Arial"/>
              </a:rPr>
              <a:t> </a:t>
            </a:r>
            <a:r>
              <a:rPr sz="850" dirty="0">
                <a:solidFill>
                  <a:srgbClr val="22373A"/>
                </a:solidFill>
                <a:latin typeface="Arial"/>
                <a:cs typeface="Arial"/>
              </a:rPr>
              <a:t>copied,</a:t>
            </a:r>
            <a:r>
              <a:rPr sz="850" spc="-15" dirty="0">
                <a:solidFill>
                  <a:srgbClr val="22373A"/>
                </a:solidFill>
                <a:latin typeface="Arial"/>
                <a:cs typeface="Arial"/>
              </a:rPr>
              <a:t> </a:t>
            </a:r>
            <a:r>
              <a:rPr sz="850" dirty="0">
                <a:solidFill>
                  <a:srgbClr val="22373A"/>
                </a:solidFill>
                <a:latin typeface="Arial"/>
                <a:cs typeface="Arial"/>
              </a:rPr>
              <a:t>edited,</a:t>
            </a:r>
            <a:r>
              <a:rPr sz="850" spc="-10" dirty="0">
                <a:solidFill>
                  <a:srgbClr val="22373A"/>
                </a:solidFill>
                <a:latin typeface="Arial"/>
                <a:cs typeface="Arial"/>
              </a:rPr>
              <a:t> </a:t>
            </a:r>
            <a:r>
              <a:rPr sz="850" dirty="0">
                <a:solidFill>
                  <a:srgbClr val="22373A"/>
                </a:solidFill>
                <a:latin typeface="Arial"/>
                <a:cs typeface="Arial"/>
              </a:rPr>
              <a:t>and/or</a:t>
            </a:r>
            <a:r>
              <a:rPr sz="850" spc="-15" dirty="0">
                <a:solidFill>
                  <a:srgbClr val="22373A"/>
                </a:solidFill>
                <a:latin typeface="Arial"/>
                <a:cs typeface="Arial"/>
              </a:rPr>
              <a:t> </a:t>
            </a:r>
            <a:r>
              <a:rPr sz="850" dirty="0">
                <a:solidFill>
                  <a:srgbClr val="22373A"/>
                </a:solidFill>
                <a:latin typeface="Arial"/>
                <a:cs typeface="Arial"/>
              </a:rPr>
              <a:t>shared</a:t>
            </a:r>
            <a:r>
              <a:rPr sz="850" spc="-10" dirty="0">
                <a:solidFill>
                  <a:srgbClr val="22373A"/>
                </a:solidFill>
                <a:latin typeface="Arial"/>
                <a:cs typeface="Arial"/>
              </a:rPr>
              <a:t> </a:t>
            </a:r>
            <a:r>
              <a:rPr sz="850" dirty="0">
                <a:solidFill>
                  <a:srgbClr val="22373A"/>
                </a:solidFill>
                <a:latin typeface="Arial"/>
                <a:cs typeface="Arial"/>
              </a:rPr>
              <a:t>via</a:t>
            </a:r>
            <a:r>
              <a:rPr sz="850" spc="-15" dirty="0">
                <a:solidFill>
                  <a:srgbClr val="22373A"/>
                </a:solidFill>
                <a:latin typeface="Arial"/>
                <a:cs typeface="Arial"/>
              </a:rPr>
              <a:t> </a:t>
            </a:r>
            <a:r>
              <a:rPr sz="850" dirty="0">
                <a:solidFill>
                  <a:srgbClr val="22373A"/>
                </a:solidFill>
                <a:latin typeface="Arial"/>
                <a:cs typeface="Arial"/>
              </a:rPr>
              <a:t>the</a:t>
            </a:r>
            <a:r>
              <a:rPr sz="850" spc="-10" dirty="0">
                <a:solidFill>
                  <a:srgbClr val="22373A"/>
                </a:solidFill>
                <a:latin typeface="Arial"/>
                <a:cs typeface="Arial"/>
              </a:rPr>
              <a:t> </a:t>
            </a:r>
            <a:r>
              <a:rPr sz="850" dirty="0">
                <a:solidFill>
                  <a:srgbClr val="4C4C4C"/>
                </a:solidFill>
                <a:latin typeface="Arial"/>
                <a:cs typeface="Arial"/>
                <a:hlinkClick r:id="rId4"/>
              </a:rPr>
              <a:t>CC</a:t>
            </a:r>
            <a:r>
              <a:rPr sz="850" spc="-15" dirty="0">
                <a:solidFill>
                  <a:srgbClr val="4C4C4C"/>
                </a:solidFill>
                <a:latin typeface="Arial"/>
                <a:cs typeface="Arial"/>
                <a:hlinkClick r:id="rId4"/>
              </a:rPr>
              <a:t> </a:t>
            </a:r>
            <a:r>
              <a:rPr sz="850" spc="-45" dirty="0">
                <a:solidFill>
                  <a:srgbClr val="4C4C4C"/>
                </a:solidFill>
                <a:latin typeface="Arial"/>
                <a:cs typeface="Arial"/>
                <a:hlinkClick r:id="rId4"/>
              </a:rPr>
              <a:t>BY-</a:t>
            </a:r>
            <a:r>
              <a:rPr sz="850" dirty="0">
                <a:solidFill>
                  <a:srgbClr val="4C4C4C"/>
                </a:solidFill>
                <a:latin typeface="Arial"/>
                <a:cs typeface="Arial"/>
                <a:hlinkClick r:id="rId4"/>
              </a:rPr>
              <a:t>SA</a:t>
            </a:r>
            <a:r>
              <a:rPr sz="850" spc="-10" dirty="0">
                <a:solidFill>
                  <a:srgbClr val="4C4C4C"/>
                </a:solidFill>
                <a:latin typeface="Arial"/>
                <a:cs typeface="Arial"/>
                <a:hlinkClick r:id="rId4"/>
              </a:rPr>
              <a:t> license.</a:t>
            </a:r>
            <a:r>
              <a:rPr sz="850" spc="500" dirty="0">
                <a:solidFill>
                  <a:srgbClr val="4C4C4C"/>
                </a:solidFill>
                <a:latin typeface="Arial"/>
                <a:cs typeface="Arial"/>
              </a:rPr>
              <a:t> </a:t>
            </a:r>
            <a:r>
              <a:rPr sz="850" dirty="0">
                <a:solidFill>
                  <a:srgbClr val="22373A"/>
                </a:solidFill>
                <a:latin typeface="Arial"/>
                <a:cs typeface="Arial"/>
              </a:rPr>
              <a:t>Some</a:t>
            </a:r>
            <a:r>
              <a:rPr sz="850" spc="-35" dirty="0">
                <a:solidFill>
                  <a:srgbClr val="22373A"/>
                </a:solidFill>
                <a:latin typeface="Arial"/>
                <a:cs typeface="Arial"/>
              </a:rPr>
              <a:t> </a:t>
            </a:r>
            <a:r>
              <a:rPr sz="850" dirty="0">
                <a:solidFill>
                  <a:srgbClr val="22373A"/>
                </a:solidFill>
                <a:latin typeface="Arial"/>
                <a:cs typeface="Arial"/>
              </a:rPr>
              <a:t>images</a:t>
            </a:r>
            <a:r>
              <a:rPr sz="850" spc="-30" dirty="0">
                <a:solidFill>
                  <a:srgbClr val="22373A"/>
                </a:solidFill>
                <a:latin typeface="Arial"/>
                <a:cs typeface="Arial"/>
              </a:rPr>
              <a:t> </a:t>
            </a:r>
            <a:r>
              <a:rPr sz="850" dirty="0">
                <a:solidFill>
                  <a:srgbClr val="22373A"/>
                </a:solidFill>
                <a:latin typeface="Arial"/>
                <a:cs typeface="Arial"/>
              </a:rPr>
              <a:t>may</a:t>
            </a:r>
            <a:r>
              <a:rPr sz="850" spc="-30" dirty="0">
                <a:solidFill>
                  <a:srgbClr val="22373A"/>
                </a:solidFill>
                <a:latin typeface="Arial"/>
                <a:cs typeface="Arial"/>
              </a:rPr>
              <a:t> </a:t>
            </a:r>
            <a:r>
              <a:rPr sz="850" dirty="0">
                <a:solidFill>
                  <a:srgbClr val="22373A"/>
                </a:solidFill>
                <a:latin typeface="Arial"/>
                <a:cs typeface="Arial"/>
              </a:rPr>
              <a:t>be</a:t>
            </a:r>
            <a:r>
              <a:rPr sz="850" spc="-30" dirty="0">
                <a:solidFill>
                  <a:srgbClr val="22373A"/>
                </a:solidFill>
                <a:latin typeface="Arial"/>
                <a:cs typeface="Arial"/>
              </a:rPr>
              <a:t> </a:t>
            </a:r>
            <a:r>
              <a:rPr sz="850" dirty="0">
                <a:solidFill>
                  <a:srgbClr val="22373A"/>
                </a:solidFill>
                <a:latin typeface="Arial"/>
                <a:cs typeface="Arial"/>
              </a:rPr>
              <a:t>included</a:t>
            </a:r>
            <a:r>
              <a:rPr sz="850" spc="-30" dirty="0">
                <a:solidFill>
                  <a:srgbClr val="22373A"/>
                </a:solidFill>
                <a:latin typeface="Arial"/>
                <a:cs typeface="Arial"/>
              </a:rPr>
              <a:t> </a:t>
            </a:r>
            <a:r>
              <a:rPr sz="850" dirty="0">
                <a:solidFill>
                  <a:srgbClr val="22373A"/>
                </a:solidFill>
                <a:latin typeface="Arial"/>
                <a:cs typeface="Arial"/>
              </a:rPr>
              <a:t>under</a:t>
            </a:r>
            <a:r>
              <a:rPr sz="850" spc="-30" dirty="0">
                <a:solidFill>
                  <a:srgbClr val="22373A"/>
                </a:solidFill>
                <a:latin typeface="Arial"/>
                <a:cs typeface="Arial"/>
              </a:rPr>
              <a:t> </a:t>
            </a:r>
            <a:r>
              <a:rPr sz="850" dirty="0">
                <a:solidFill>
                  <a:srgbClr val="22373A"/>
                </a:solidFill>
                <a:latin typeface="Arial"/>
                <a:cs typeface="Arial"/>
              </a:rPr>
              <a:t>fair</a:t>
            </a:r>
            <a:r>
              <a:rPr sz="850" spc="-25" dirty="0">
                <a:solidFill>
                  <a:srgbClr val="22373A"/>
                </a:solidFill>
                <a:latin typeface="Arial"/>
                <a:cs typeface="Arial"/>
              </a:rPr>
              <a:t> </a:t>
            </a:r>
            <a:r>
              <a:rPr sz="850" dirty="0">
                <a:solidFill>
                  <a:srgbClr val="22373A"/>
                </a:solidFill>
                <a:latin typeface="Arial"/>
                <a:cs typeface="Arial"/>
              </a:rPr>
              <a:t>use</a:t>
            </a:r>
            <a:r>
              <a:rPr sz="850" spc="-30" dirty="0">
                <a:solidFill>
                  <a:srgbClr val="22373A"/>
                </a:solidFill>
                <a:latin typeface="Arial"/>
                <a:cs typeface="Arial"/>
              </a:rPr>
              <a:t> </a:t>
            </a:r>
            <a:r>
              <a:rPr sz="850" dirty="0">
                <a:solidFill>
                  <a:srgbClr val="22373A"/>
                </a:solidFill>
                <a:latin typeface="Arial"/>
                <a:cs typeface="Arial"/>
              </a:rPr>
              <a:t>guidelines</a:t>
            </a:r>
            <a:r>
              <a:rPr sz="850" spc="-30" dirty="0">
                <a:solidFill>
                  <a:srgbClr val="22373A"/>
                </a:solidFill>
                <a:latin typeface="Arial"/>
                <a:cs typeface="Arial"/>
              </a:rPr>
              <a:t> </a:t>
            </a:r>
            <a:r>
              <a:rPr sz="850" dirty="0">
                <a:solidFill>
                  <a:srgbClr val="22373A"/>
                </a:solidFill>
                <a:latin typeface="Arial"/>
                <a:cs typeface="Arial"/>
              </a:rPr>
              <a:t>(educational</a:t>
            </a:r>
            <a:r>
              <a:rPr sz="850" spc="-30" dirty="0">
                <a:solidFill>
                  <a:srgbClr val="22373A"/>
                </a:solidFill>
                <a:latin typeface="Arial"/>
                <a:cs typeface="Arial"/>
              </a:rPr>
              <a:t> </a:t>
            </a:r>
            <a:r>
              <a:rPr sz="850" spc="-10" dirty="0">
                <a:solidFill>
                  <a:srgbClr val="22373A"/>
                </a:solidFill>
                <a:latin typeface="Arial"/>
                <a:cs typeface="Arial"/>
              </a:rPr>
              <a:t>purposes).</a:t>
            </a:r>
            <a:endParaRPr sz="850" dirty="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56B65D-CB87-68AF-2C9B-8E44AC1F6327}"/>
              </a:ext>
            </a:extLst>
          </p:cNvPr>
          <p:cNvSpPr>
            <a:spLocks noGrp="1"/>
          </p:cNvSpPr>
          <p:nvPr>
            <p:ph type="title"/>
          </p:nvPr>
        </p:nvSpPr>
        <p:spPr>
          <a:xfrm>
            <a:off x="122770" y="83027"/>
            <a:ext cx="3828415" cy="169277"/>
          </a:xfrm>
        </p:spPr>
        <p:txBody>
          <a:bodyPr/>
          <a:lstStyle/>
          <a:p>
            <a:r>
              <a:rPr lang="en-US" dirty="0"/>
              <a:t>Overview</a:t>
            </a:r>
          </a:p>
        </p:txBody>
      </p:sp>
      <p:sp>
        <p:nvSpPr>
          <p:cNvPr id="4" name="Text Placeholder 3">
            <a:extLst>
              <a:ext uri="{FF2B5EF4-FFF2-40B4-BE49-F238E27FC236}">
                <a16:creationId xmlns:a16="http://schemas.microsoft.com/office/drawing/2014/main" id="{E55A4F88-9584-7B4B-CCB9-5AB5AA48F84A}"/>
              </a:ext>
            </a:extLst>
          </p:cNvPr>
          <p:cNvSpPr>
            <a:spLocks noGrp="1"/>
          </p:cNvSpPr>
          <p:nvPr>
            <p:ph type="body" idx="1"/>
          </p:nvPr>
        </p:nvSpPr>
        <p:spPr>
          <a:xfrm>
            <a:off x="274281" y="732354"/>
            <a:ext cx="4088169" cy="1954381"/>
          </a:xfrm>
        </p:spPr>
        <p:txBody>
          <a:bodyPr/>
          <a:lstStyle/>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Finish Intro to R</a:t>
            </a:r>
          </a:p>
          <a:p>
            <a:pPr marL="628650"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hlinkClick r:id="rId2" action="ppaction://hlinkfile"/>
              </a:rPr>
              <a:t>Data Basics</a:t>
            </a:r>
            <a:endParaRPr lang="en-US" sz="1000" dirty="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hlinkClick r:id="rId3"/>
              </a:rPr>
              <a:t>Data transformations</a:t>
            </a:r>
            <a:endParaRPr lang="en-US" sz="10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hlinkClick r:id="rId4"/>
              </a:rPr>
              <a:t>Escape Room &amp; Infant Mortality Example</a:t>
            </a:r>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hlinkClick r:id="rId5"/>
              </a:rPr>
              <a:t>Lab 1: Monitoring the Future</a:t>
            </a:r>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Discuss the final project</a:t>
            </a:r>
          </a:p>
          <a:p>
            <a:r>
              <a:rPr lang="en-US" sz="1100" dirty="0">
                <a:latin typeface="Arial" panose="020B0604020202020204" pitchFamily="34" charset="0"/>
                <a:cs typeface="Arial" panose="020B0604020202020204" pitchFamily="34" charset="0"/>
              </a:rPr>
              <a:t>Simple linear regression (an overview)</a:t>
            </a:r>
          </a:p>
          <a:p>
            <a:r>
              <a:rPr lang="en-US" sz="1100" dirty="0">
                <a:latin typeface="Arial" panose="020B0604020202020204" pitchFamily="34" charset="0"/>
                <a:cs typeface="Arial" panose="020B0604020202020204" pitchFamily="34" charset="0"/>
              </a:rPr>
              <a:t>In-class exercise</a:t>
            </a:r>
          </a:p>
          <a:p>
            <a:r>
              <a:rPr lang="en-US" sz="1100" dirty="0">
                <a:latin typeface="Arial" panose="020B0604020202020204" pitchFamily="34" charset="0"/>
                <a:cs typeface="Arial" panose="020B0604020202020204" pitchFamily="34" charset="0"/>
              </a:rPr>
              <a:t>SLR mechanics in R</a:t>
            </a:r>
          </a:p>
          <a:p>
            <a:r>
              <a:rPr lang="en-US" sz="1100" dirty="0">
                <a:latin typeface="Arial" panose="020B0604020202020204" pitchFamily="34" charset="0"/>
                <a:cs typeface="Arial" panose="020B0604020202020204" pitchFamily="34" charset="0"/>
              </a:rPr>
              <a:t>Review JASP file for annotative SLR explanation</a:t>
            </a:r>
          </a:p>
          <a:p>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3511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dirty="0"/>
              <a:t>Modeling</a:t>
            </a:r>
            <a:r>
              <a:rPr spc="145" dirty="0"/>
              <a:t> </a:t>
            </a:r>
            <a:r>
              <a:rPr dirty="0">
                <a:solidFill>
                  <a:srgbClr val="FF0000"/>
                </a:solidFill>
              </a:rPr>
              <a:t>numerical</a:t>
            </a:r>
            <a:r>
              <a:rPr spc="150" dirty="0"/>
              <a:t> </a:t>
            </a:r>
            <a:r>
              <a:rPr spc="-10" dirty="0"/>
              <a:t>variables</a:t>
            </a:r>
          </a:p>
        </p:txBody>
      </p:sp>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1</a:t>
            </a:r>
          </a:p>
        </p:txBody>
      </p:sp>
      <p:sp>
        <p:nvSpPr>
          <p:cNvPr id="3" name="object 3"/>
          <p:cNvSpPr txBox="1"/>
          <p:nvPr/>
        </p:nvSpPr>
        <p:spPr>
          <a:xfrm>
            <a:off x="347294" y="493950"/>
            <a:ext cx="3726815"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this</a:t>
            </a:r>
            <a:r>
              <a:rPr sz="1000" spc="90" dirty="0">
                <a:solidFill>
                  <a:srgbClr val="22373A"/>
                </a:solidFill>
                <a:latin typeface="Arial"/>
                <a:cs typeface="Arial"/>
              </a:rPr>
              <a:t> </a:t>
            </a:r>
            <a:r>
              <a:rPr sz="1000" dirty="0">
                <a:solidFill>
                  <a:srgbClr val="22373A"/>
                </a:solidFill>
                <a:latin typeface="Arial"/>
                <a:cs typeface="Arial"/>
              </a:rPr>
              <a:t>unit</a:t>
            </a:r>
            <a:r>
              <a:rPr sz="1000" spc="90" dirty="0">
                <a:solidFill>
                  <a:srgbClr val="22373A"/>
                </a:solidFill>
                <a:latin typeface="Arial"/>
                <a:cs typeface="Arial"/>
              </a:rPr>
              <a:t> </a:t>
            </a:r>
            <a:r>
              <a:rPr sz="1000" dirty="0">
                <a:solidFill>
                  <a:srgbClr val="22373A"/>
                </a:solidFill>
                <a:latin typeface="Arial"/>
                <a:cs typeface="Arial"/>
              </a:rPr>
              <a:t>we</a:t>
            </a:r>
            <a:r>
              <a:rPr sz="1000" spc="90" dirty="0">
                <a:solidFill>
                  <a:srgbClr val="22373A"/>
                </a:solidFill>
                <a:latin typeface="Arial"/>
                <a:cs typeface="Arial"/>
              </a:rPr>
              <a:t> </a:t>
            </a:r>
            <a:r>
              <a:rPr sz="1000" dirty="0">
                <a:solidFill>
                  <a:srgbClr val="22373A"/>
                </a:solidFill>
                <a:latin typeface="Arial"/>
                <a:cs typeface="Arial"/>
              </a:rPr>
              <a:t>will</a:t>
            </a:r>
            <a:r>
              <a:rPr sz="1000" spc="90" dirty="0">
                <a:solidFill>
                  <a:srgbClr val="22373A"/>
                </a:solidFill>
                <a:latin typeface="Arial"/>
                <a:cs typeface="Arial"/>
              </a:rPr>
              <a:t> </a:t>
            </a:r>
            <a:r>
              <a:rPr sz="1000" dirty="0">
                <a:solidFill>
                  <a:srgbClr val="22373A"/>
                </a:solidFill>
                <a:latin typeface="Arial"/>
                <a:cs typeface="Arial"/>
              </a:rPr>
              <a:t>learn</a:t>
            </a:r>
            <a:r>
              <a:rPr sz="1000" spc="90"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quantify</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relationship</a:t>
            </a:r>
            <a:r>
              <a:rPr sz="1000" spc="90" dirty="0">
                <a:solidFill>
                  <a:srgbClr val="22373A"/>
                </a:solidFill>
                <a:latin typeface="Arial"/>
                <a:cs typeface="Arial"/>
              </a:rPr>
              <a:t> </a:t>
            </a:r>
            <a:r>
              <a:rPr sz="1000" dirty="0">
                <a:solidFill>
                  <a:srgbClr val="22373A"/>
                </a:solidFill>
                <a:latin typeface="Arial"/>
                <a:cs typeface="Arial"/>
              </a:rPr>
              <a:t>between</a:t>
            </a:r>
            <a:r>
              <a:rPr sz="1000" spc="90" dirty="0">
                <a:solidFill>
                  <a:srgbClr val="22373A"/>
                </a:solidFill>
                <a:latin typeface="Arial"/>
                <a:cs typeface="Arial"/>
              </a:rPr>
              <a:t> </a:t>
            </a:r>
            <a:r>
              <a:rPr sz="1000" spc="-25" dirty="0">
                <a:solidFill>
                  <a:srgbClr val="22373A"/>
                </a:solidFill>
                <a:latin typeface="Arial"/>
                <a:cs typeface="Arial"/>
              </a:rPr>
              <a:t>two </a:t>
            </a:r>
            <a:r>
              <a:rPr sz="1000" dirty="0">
                <a:solidFill>
                  <a:srgbClr val="22373A"/>
                </a:solidFill>
                <a:latin typeface="Arial"/>
                <a:cs typeface="Arial"/>
              </a:rPr>
              <a:t>numerical</a:t>
            </a:r>
            <a:r>
              <a:rPr sz="1000" spc="100" dirty="0">
                <a:solidFill>
                  <a:srgbClr val="22373A"/>
                </a:solidFill>
                <a:latin typeface="Arial"/>
                <a:cs typeface="Arial"/>
              </a:rPr>
              <a:t> </a:t>
            </a:r>
            <a:r>
              <a:rPr sz="1000" dirty="0">
                <a:solidFill>
                  <a:srgbClr val="22373A"/>
                </a:solidFill>
                <a:latin typeface="Arial"/>
                <a:cs typeface="Arial"/>
              </a:rPr>
              <a:t>variables,</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well</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modeling</a:t>
            </a:r>
            <a:r>
              <a:rPr sz="1000" spc="105" dirty="0">
                <a:solidFill>
                  <a:srgbClr val="22373A"/>
                </a:solidFill>
                <a:latin typeface="Arial"/>
                <a:cs typeface="Arial"/>
              </a:rPr>
              <a:t> </a:t>
            </a:r>
            <a:r>
              <a:rPr sz="1000" dirty="0">
                <a:solidFill>
                  <a:srgbClr val="22373A"/>
                </a:solidFill>
                <a:latin typeface="Arial"/>
                <a:cs typeface="Arial"/>
              </a:rPr>
              <a:t>numerical</a:t>
            </a:r>
            <a:r>
              <a:rPr sz="1000" spc="100"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variables</a:t>
            </a:r>
            <a:r>
              <a:rPr sz="1000" spc="114" dirty="0">
                <a:solidFill>
                  <a:srgbClr val="22373A"/>
                </a:solidFill>
                <a:latin typeface="Arial"/>
                <a:cs typeface="Arial"/>
              </a:rPr>
              <a:t> </a:t>
            </a:r>
            <a:r>
              <a:rPr sz="1000" dirty="0">
                <a:solidFill>
                  <a:srgbClr val="22373A"/>
                </a:solidFill>
                <a:latin typeface="Arial"/>
                <a:cs typeface="Arial"/>
              </a:rPr>
              <a:t>using</a:t>
            </a:r>
            <a:r>
              <a:rPr sz="1000" spc="120" dirty="0">
                <a:solidFill>
                  <a:srgbClr val="22373A"/>
                </a:solidFill>
                <a:latin typeface="Arial"/>
                <a:cs typeface="Arial"/>
              </a:rPr>
              <a:t> </a:t>
            </a:r>
            <a:r>
              <a:rPr sz="1000" dirty="0">
                <a:solidFill>
                  <a:srgbClr val="22373A"/>
                </a:solidFill>
                <a:latin typeface="Arial"/>
                <a:cs typeface="Arial"/>
              </a:rPr>
              <a:t>a</a:t>
            </a:r>
            <a:r>
              <a:rPr sz="1000" spc="120" dirty="0">
                <a:solidFill>
                  <a:srgbClr val="22373A"/>
                </a:solidFill>
                <a:latin typeface="Arial"/>
                <a:cs typeface="Arial"/>
              </a:rPr>
              <a:t> </a:t>
            </a:r>
            <a:r>
              <a:rPr sz="1000" dirty="0">
                <a:solidFill>
                  <a:srgbClr val="22373A"/>
                </a:solidFill>
                <a:latin typeface="Arial"/>
                <a:cs typeface="Arial"/>
              </a:rPr>
              <a:t>numerical</a:t>
            </a:r>
            <a:r>
              <a:rPr sz="1000" spc="114" dirty="0">
                <a:solidFill>
                  <a:srgbClr val="22373A"/>
                </a:solidFill>
                <a:latin typeface="Arial"/>
                <a:cs typeface="Arial"/>
              </a:rPr>
              <a:t> </a:t>
            </a:r>
            <a:r>
              <a:rPr sz="1000" dirty="0">
                <a:solidFill>
                  <a:srgbClr val="22373A"/>
                </a:solidFill>
                <a:latin typeface="Arial"/>
                <a:cs typeface="Arial"/>
              </a:rPr>
              <a:t>or</a:t>
            </a:r>
            <a:r>
              <a:rPr sz="1000" spc="120" dirty="0">
                <a:solidFill>
                  <a:srgbClr val="22373A"/>
                </a:solidFill>
                <a:latin typeface="Arial"/>
                <a:cs typeface="Arial"/>
              </a:rPr>
              <a:t> </a:t>
            </a:r>
            <a:r>
              <a:rPr sz="1000" dirty="0">
                <a:solidFill>
                  <a:srgbClr val="22373A"/>
                </a:solidFill>
                <a:latin typeface="Arial"/>
                <a:cs typeface="Arial"/>
              </a:rPr>
              <a:t>categorical</a:t>
            </a:r>
            <a:r>
              <a:rPr sz="1000" spc="120" dirty="0">
                <a:solidFill>
                  <a:srgbClr val="22373A"/>
                </a:solidFill>
                <a:latin typeface="Arial"/>
                <a:cs typeface="Arial"/>
              </a:rPr>
              <a:t> </a:t>
            </a:r>
            <a:r>
              <a:rPr sz="1000" dirty="0">
                <a:solidFill>
                  <a:srgbClr val="22373A"/>
                </a:solidFill>
                <a:latin typeface="Arial"/>
                <a:cs typeface="Arial"/>
              </a:rPr>
              <a:t>explanatory</a:t>
            </a:r>
            <a:r>
              <a:rPr sz="1000" spc="114" dirty="0">
                <a:solidFill>
                  <a:srgbClr val="22373A"/>
                </a:solidFill>
                <a:latin typeface="Arial"/>
                <a:cs typeface="Arial"/>
              </a:rPr>
              <a:t> </a:t>
            </a:r>
            <a:r>
              <a:rPr sz="1000" spc="-10" dirty="0">
                <a:solidFill>
                  <a:srgbClr val="22373A"/>
                </a:solidFill>
                <a:latin typeface="Arial"/>
                <a:cs typeface="Arial"/>
              </a:rPr>
              <a:t>variable.</a:t>
            </a:r>
            <a:endParaRPr sz="10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7FBBE-A20C-4B1D-90B6-5532C7C6904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4</a:t>
            </a:fld>
            <a:endParaRPr lang="ru-RU"/>
          </a:p>
        </p:txBody>
      </p:sp>
      <p:sp>
        <p:nvSpPr>
          <p:cNvPr id="10" name="Title 2">
            <a:extLst>
              <a:ext uri="{FF2B5EF4-FFF2-40B4-BE49-F238E27FC236}">
                <a16:creationId xmlns:a16="http://schemas.microsoft.com/office/drawing/2014/main" id="{3C249D8E-1B1B-4C20-A54F-B66E633DC791}"/>
              </a:ext>
            </a:extLst>
          </p:cNvPr>
          <p:cNvSpPr>
            <a:spLocks noGrp="1"/>
          </p:cNvSpPr>
          <p:nvPr>
            <p:ph type="title" idx="4294967295"/>
          </p:nvPr>
        </p:nvSpPr>
        <p:spPr>
          <a:xfrm>
            <a:off x="0" y="493212"/>
            <a:ext cx="3976211" cy="169277"/>
          </a:xfrm>
        </p:spPr>
        <p:txBody>
          <a:bodyPr/>
          <a:lstStyle/>
          <a:p>
            <a:r>
              <a:rPr lang="en-US" dirty="0"/>
              <a:t>Model selection for continuous dependent variables</a:t>
            </a:r>
          </a:p>
        </p:txBody>
      </p:sp>
      <p:graphicFrame>
        <p:nvGraphicFramePr>
          <p:cNvPr id="5" name="Group 3">
            <a:extLst>
              <a:ext uri="{FF2B5EF4-FFF2-40B4-BE49-F238E27FC236}">
                <a16:creationId xmlns:a16="http://schemas.microsoft.com/office/drawing/2014/main" id="{6B88C205-B8AB-46D7-9FF7-6073B30B4B4F}"/>
              </a:ext>
            </a:extLst>
          </p:cNvPr>
          <p:cNvGraphicFramePr>
            <a:graphicFrameLocks/>
          </p:cNvGraphicFramePr>
          <p:nvPr>
            <p:extLst>
              <p:ext uri="{D42A27DB-BD31-4B8C-83A1-F6EECF244321}">
                <p14:modId xmlns:p14="http://schemas.microsoft.com/office/powerpoint/2010/main" val="3600472292"/>
              </p:ext>
            </p:extLst>
          </p:nvPr>
        </p:nvGraphicFramePr>
        <p:xfrm>
          <a:off x="67553" y="526916"/>
          <a:ext cx="3679969" cy="2354916"/>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Alternatives if the normality assumption 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T-test:</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ANOVA:</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6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6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6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Paired ttest:</a:t>
                      </a:r>
                      <a:r>
                        <a:rPr kumimoji="0" lang="en-US" altLang="en-US" sz="6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6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6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6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6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6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E9666A15-4B6E-4872-ABFD-077460EEFFA7}"/>
              </a:ext>
            </a:extLst>
          </p:cNvPr>
          <p:cNvSpPr>
            <a:spLocks noChangeArrowheads="1"/>
          </p:cNvSpPr>
          <p:nvPr/>
        </p:nvSpPr>
        <p:spPr bwMode="auto">
          <a:xfrm>
            <a:off x="400050" y="1730375"/>
            <a:ext cx="12954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TextBox 2">
            <a:extLst>
              <a:ext uri="{FF2B5EF4-FFF2-40B4-BE49-F238E27FC236}">
                <a16:creationId xmlns:a16="http://schemas.microsoft.com/office/drawing/2014/main" id="{E4921D0B-B0DC-F6DB-27B0-4F92CB19AE92}"/>
              </a:ext>
            </a:extLst>
          </p:cNvPr>
          <p:cNvSpPr txBox="1"/>
          <p:nvPr/>
        </p:nvSpPr>
        <p:spPr>
          <a:xfrm>
            <a:off x="104605" y="2984563"/>
            <a:ext cx="3044423" cy="369332"/>
          </a:xfrm>
          <a:prstGeom prst="rect">
            <a:avLst/>
          </a:prstGeom>
          <a:noFill/>
        </p:spPr>
        <p:txBody>
          <a:bodyPr wrap="none" rtlCol="0">
            <a:spAutoFit/>
          </a:bodyPr>
          <a:lstStyle/>
          <a:p>
            <a:r>
              <a:rPr lang="en-US" dirty="0"/>
              <a:t>See </a:t>
            </a:r>
            <a:r>
              <a:rPr lang="en-US" dirty="0" err="1"/>
              <a:t>PTSD_foster_care.jasp</a:t>
            </a:r>
            <a:endParaRPr lang="en-US" dirty="0"/>
          </a:p>
        </p:txBody>
      </p:sp>
      <p:sp>
        <p:nvSpPr>
          <p:cNvPr id="6" name="TextBox 5">
            <a:extLst>
              <a:ext uri="{FF2B5EF4-FFF2-40B4-BE49-F238E27FC236}">
                <a16:creationId xmlns:a16="http://schemas.microsoft.com/office/drawing/2014/main" id="{9C3954E8-BE2A-F162-86B2-3DBE5997F031}"/>
              </a:ext>
            </a:extLst>
          </p:cNvPr>
          <p:cNvSpPr txBox="1"/>
          <p:nvPr/>
        </p:nvSpPr>
        <p:spPr>
          <a:xfrm>
            <a:off x="0" y="21870"/>
            <a:ext cx="4514850" cy="276999"/>
          </a:xfrm>
          <a:prstGeom prst="rect">
            <a:avLst/>
          </a:prstGeom>
          <a:noFill/>
        </p:spPr>
        <p:txBody>
          <a:bodyPr wrap="square">
            <a:spAutoFit/>
          </a:bodyPr>
          <a:lstStyle/>
          <a:p>
            <a:r>
              <a:rPr lang="en-US" sz="1200" dirty="0">
                <a:solidFill>
                  <a:schemeClr val="bg1"/>
                </a:solidFill>
              </a:rPr>
              <a:t>Model selection for continuous dependent variables</a:t>
            </a:r>
          </a:p>
        </p:txBody>
      </p:sp>
    </p:spTree>
    <p:extLst>
      <p:ext uri="{BB962C8B-B14F-4D97-AF65-F5344CB8AC3E}">
        <p14:creationId xmlns:p14="http://schemas.microsoft.com/office/powerpoint/2010/main" val="3779475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2FD20C-5C16-4480-9078-9A041F9C49FE}"/>
              </a:ext>
            </a:extLst>
          </p:cNvPr>
          <p:cNvSpPr>
            <a:spLocks noGrp="1"/>
          </p:cNvSpPr>
          <p:nvPr>
            <p:ph type="sldNum" sz="quarter" idx="10"/>
          </p:nvPr>
        </p:nvSpPr>
        <p:spPr>
          <a:xfrm>
            <a:off x="4060548" y="3011360"/>
            <a:ext cx="207758" cy="138063"/>
          </a:xfrm>
        </p:spPr>
        <p:txBody>
          <a:bodyPr anchor="ctr">
            <a:normAutofit fontScale="62500" lnSpcReduction="20000"/>
          </a:bodyPr>
          <a:lstStyle/>
          <a:p>
            <a:pPr>
              <a:spcAft>
                <a:spcPts val="227"/>
              </a:spcAft>
            </a:pPr>
            <a:fld id="{D495E168-DA5E-4888-8D8A-92B118324C14}" type="slidenum">
              <a:rPr lang="ru-RU" smtClean="0"/>
              <a:pPr>
                <a:spcAft>
                  <a:spcPts val="227"/>
                </a:spcAft>
              </a:pPr>
              <a:t>5</a:t>
            </a:fld>
            <a:endParaRPr lang="ru-RU" dirty="0"/>
          </a:p>
        </p:txBody>
      </p:sp>
      <p:sp>
        <p:nvSpPr>
          <p:cNvPr id="3" name="Title 2">
            <a:extLst>
              <a:ext uri="{FF2B5EF4-FFF2-40B4-BE49-F238E27FC236}">
                <a16:creationId xmlns:a16="http://schemas.microsoft.com/office/drawing/2014/main" id="{39196108-FA77-4C93-B1A1-5D75989603D6}"/>
              </a:ext>
            </a:extLst>
          </p:cNvPr>
          <p:cNvSpPr>
            <a:spLocks noGrp="1"/>
          </p:cNvSpPr>
          <p:nvPr>
            <p:ph type="title"/>
          </p:nvPr>
        </p:nvSpPr>
        <p:spPr>
          <a:xfrm>
            <a:off x="101429" y="53975"/>
            <a:ext cx="3140030" cy="251616"/>
          </a:xfrm>
        </p:spPr>
        <p:txBody>
          <a:bodyPr anchor="b">
            <a:normAutofit/>
          </a:bodyPr>
          <a:lstStyle/>
          <a:p>
            <a:r>
              <a:rPr lang="en-US" dirty="0"/>
              <a:t>Covariance and Correlation</a:t>
            </a:r>
          </a:p>
        </p:txBody>
      </p:sp>
      <p:graphicFrame>
        <p:nvGraphicFramePr>
          <p:cNvPr id="18" name="Text Placeholder 13">
            <a:extLst>
              <a:ext uri="{FF2B5EF4-FFF2-40B4-BE49-F238E27FC236}">
                <a16:creationId xmlns:a16="http://schemas.microsoft.com/office/drawing/2014/main" id="{75528EAE-1FB9-4AD9-849A-781C5322E27C}"/>
              </a:ext>
            </a:extLst>
          </p:cNvPr>
          <p:cNvGraphicFramePr/>
          <p:nvPr>
            <p:extLst>
              <p:ext uri="{D42A27DB-BD31-4B8C-83A1-F6EECF244321}">
                <p14:modId xmlns:p14="http://schemas.microsoft.com/office/powerpoint/2010/main" val="1168093618"/>
              </p:ext>
            </p:extLst>
          </p:nvPr>
        </p:nvGraphicFramePr>
        <p:xfrm>
          <a:off x="307826" y="1604890"/>
          <a:ext cx="2016411" cy="1444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BF5E089-DC0C-4586-9CEC-32FD71571E93}"/>
                  </a:ext>
                </a:extLst>
              </p:cNvPr>
              <p:cNvSpPr txBox="1"/>
              <p:nvPr/>
            </p:nvSpPr>
            <p:spPr>
              <a:xfrm>
                <a:off x="174656" y="1051091"/>
                <a:ext cx="1905000" cy="2795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907" b="0" i="1" smtClean="0">
                          <a:solidFill>
                            <a:schemeClr val="tx1"/>
                          </a:solidFill>
                          <a:latin typeface="Cambria Math" panose="02040503050406030204" pitchFamily="18" charset="0"/>
                        </a:rPr>
                        <m:t>𝐶𝑂𝑉</m:t>
                      </m:r>
                      <m:d>
                        <m:dPr>
                          <m:ctrlPr>
                            <a:rPr lang="en-US" sz="907" i="1">
                              <a:solidFill>
                                <a:schemeClr val="tx1"/>
                              </a:solidFill>
                              <a:latin typeface="Cambria Math" panose="02040503050406030204" pitchFamily="18" charset="0"/>
                            </a:rPr>
                          </m:ctrlPr>
                        </m:dPr>
                        <m:e>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e>
                      </m:d>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m:rPr>
                                  <m:brk m:alnAt="23"/>
                                </m:rP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 (</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𝑋</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𝑌</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−1</m:t>
                          </m:r>
                        </m:den>
                      </m:f>
                    </m:oMath>
                  </m:oMathPara>
                </a14:m>
                <a:endParaRPr lang="en-US" sz="907" dirty="0">
                  <a:solidFill>
                    <a:schemeClr val="tx1"/>
                  </a:solidFill>
                </a:endParaRPr>
              </a:p>
            </p:txBody>
          </p:sp>
        </mc:Choice>
        <mc:Fallback xmlns="">
          <p:sp>
            <p:nvSpPr>
              <p:cNvPr id="19" name="TextBox 18">
                <a:extLst>
                  <a:ext uri="{FF2B5EF4-FFF2-40B4-BE49-F238E27FC236}">
                    <a16:creationId xmlns:a16="http://schemas.microsoft.com/office/drawing/2014/main" id="{8BF5E089-DC0C-4586-9CEC-32FD71571E93}"/>
                  </a:ext>
                </a:extLst>
              </p:cNvPr>
              <p:cNvSpPr txBox="1">
                <a:spLocks noRot="1" noChangeAspect="1" noMove="1" noResize="1" noEditPoints="1" noAdjustHandles="1" noChangeArrowheads="1" noChangeShapeType="1" noTextEdit="1"/>
              </p:cNvSpPr>
              <p:nvPr/>
            </p:nvSpPr>
            <p:spPr>
              <a:xfrm>
                <a:off x="174656" y="1051091"/>
                <a:ext cx="1905000" cy="279564"/>
              </a:xfrm>
              <a:prstGeom prst="rect">
                <a:avLst/>
              </a:prstGeom>
              <a:blipFill>
                <a:blip r:embed="rId8"/>
                <a:stretch>
                  <a:fillRect t="-80435" r="-2244" b="-8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5B688BDD-4774-6E44-43EB-CA701FA2C447}"/>
                  </a:ext>
                </a:extLst>
              </p:cNvPr>
              <p:cNvSpPr txBox="1"/>
              <p:nvPr/>
            </p:nvSpPr>
            <p:spPr bwMode="auto">
              <a:xfrm>
                <a:off x="2371485" y="892174"/>
                <a:ext cx="1831343" cy="1215092"/>
              </a:xfrm>
              <a:prstGeom prst="rect">
                <a:avLst/>
              </a:prstGeom>
              <a:noFill/>
              <a:ln w="9525">
                <a:solidFill>
                  <a:schemeClr val="bg1"/>
                </a:solidFill>
                <a:miter lim="800000"/>
                <a:headEnd/>
                <a:tailEnd/>
              </a:ln>
              <a:effectLst/>
            </p:spPr>
            <p:txBody>
              <a:bodyPr>
                <a:normAutofit/>
              </a:bodyPr>
              <a:lstStyle/>
              <a:p>
                <a:pPr/>
                <a14:m>
                  <m:oMathPara xmlns:m="http://schemas.openxmlformats.org/officeDocument/2006/math">
                    <m:oMathParaPr>
                      <m:jc m:val="center"/>
                    </m:oMathParaPr>
                    <m:oMath xmlns:m="http://schemas.openxmlformats.org/officeDocument/2006/math">
                      <m:acc>
                        <m:accPr>
                          <m:chr m:val="̂"/>
                          <m:ctrlPr>
                            <a:rPr lang="en-US" sz="907" i="1" smtClean="0">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𝑟</m:t>
                          </m:r>
                        </m:e>
                      </m:acc>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r>
                            <a:rPr lang="en-US" sz="907" b="0" i="1" smtClean="0">
                              <a:solidFill>
                                <a:schemeClr val="tx1"/>
                              </a:solidFill>
                              <a:latin typeface="Cambria Math" panose="02040503050406030204" pitchFamily="18" charset="0"/>
                            </a:rPr>
                            <m:t>𝐶𝑂𝑉</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r>
                            <a:rPr lang="en-US" sz="907" i="1">
                              <a:solidFill>
                                <a:schemeClr val="tx1"/>
                              </a:solidFill>
                              <a:latin typeface="Cambria Math" panose="02040503050406030204" pitchFamily="18" charset="0"/>
                            </a:rPr>
                            <m:t>)</m:t>
                          </m:r>
                        </m:num>
                        <m:den>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𝑥</m:t>
                                  </m:r>
                                </m:e>
                              </m:func>
                            </m:e>
                          </m:rad>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𝑦</m:t>
                                  </m:r>
                                </m:e>
                              </m:func>
                            </m:e>
                          </m:rad>
                        </m:den>
                      </m:f>
                      <m:r>
                        <a:rPr lang="en-US" sz="907" i="1">
                          <a:solidFill>
                            <a:schemeClr val="tx1"/>
                          </a:solidFill>
                          <a:latin typeface="Cambria Math" panose="02040503050406030204" pitchFamily="18" charset="0"/>
                        </a:rPr>
                        <m:t>=</m:t>
                      </m:r>
                    </m:oMath>
                  </m:oMathPara>
                </a14:m>
                <a:endParaRPr lang="en-US" sz="907" i="1" dirty="0">
                  <a:solidFill>
                    <a:schemeClr val="tx1"/>
                  </a:solidFill>
                  <a:latin typeface="Cambria Math" panose="02040503050406030204" pitchFamily="18" charset="0"/>
                </a:endParaRPr>
              </a:p>
              <a:p>
                <a:endParaRPr lang="en-US" sz="907" i="1" dirty="0">
                  <a:solidFill>
                    <a:schemeClr val="tx1"/>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sz="907" i="1">
                              <a:solidFill>
                                <a:schemeClr val="tx1"/>
                              </a:solidFill>
                              <a:latin typeface="Cambria Math" panose="02040503050406030204" pitchFamily="18" charset="0"/>
                            </a:rPr>
                          </m:ctrlPr>
                        </m:fPr>
                        <m:num>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−1</m:t>
                              </m:r>
                            </m:den>
                          </m:f>
                        </m:num>
                        <m:den>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−1</m:t>
                                  </m:r>
                                </m:den>
                              </m:f>
                            </m:e>
                          </m:rad>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−1</m:t>
                                  </m:r>
                                </m:den>
                              </m:f>
                            </m:e>
                          </m:rad>
                        </m:den>
                      </m:f>
                    </m:oMath>
                  </m:oMathPara>
                </a14:m>
                <a:endParaRPr lang="en-US" dirty="0">
                  <a:solidFill>
                    <a:schemeClr val="tx1"/>
                  </a:solidFill>
                </a:endParaRPr>
              </a:p>
            </p:txBody>
          </p:sp>
        </mc:Choice>
        <mc:Fallback xmlns="">
          <p:sp>
            <p:nvSpPr>
              <p:cNvPr id="4" name="Object 4">
                <a:extLst>
                  <a:ext uri="{FF2B5EF4-FFF2-40B4-BE49-F238E27FC236}">
                    <a16:creationId xmlns:a16="http://schemas.microsoft.com/office/drawing/2014/main" id="{5B688BDD-4774-6E44-43EB-CA701FA2C447}"/>
                  </a:ext>
                </a:extLst>
              </p:cNvPr>
              <p:cNvSpPr txBox="1">
                <a:spLocks noRot="1" noChangeAspect="1" noMove="1" noResize="1" noEditPoints="1" noAdjustHandles="1" noChangeArrowheads="1" noChangeShapeType="1" noTextEdit="1"/>
              </p:cNvSpPr>
              <p:nvPr/>
            </p:nvSpPr>
            <p:spPr bwMode="auto">
              <a:xfrm>
                <a:off x="2371485" y="892174"/>
                <a:ext cx="1831343" cy="1215092"/>
              </a:xfrm>
              <a:prstGeom prst="rect">
                <a:avLst/>
              </a:prstGeom>
              <a:blipFill>
                <a:blip r:embed="rId9"/>
                <a:stretch>
                  <a:fillRect l="-1325" b="-2970"/>
                </a:stretch>
              </a:blipFill>
              <a:ln w="9525">
                <a:solidFill>
                  <a:schemeClr val="bg1"/>
                </a:solidFill>
                <a:miter lim="800000"/>
                <a:headEnd/>
                <a:tailEnd/>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48EE8184-59BA-2B9A-44B6-9994FD42EFC9}"/>
              </a:ext>
            </a:extLst>
          </p:cNvPr>
          <p:cNvSpPr txBox="1"/>
          <p:nvPr/>
        </p:nvSpPr>
        <p:spPr>
          <a:xfrm>
            <a:off x="2363063" y="1932051"/>
            <a:ext cx="1988765" cy="1112869"/>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The estimated correlation coefficient is just the standardized covariance (do you understand what standardization is?)</a:t>
            </a:r>
          </a:p>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It measures the relative strength of the </a:t>
            </a:r>
            <a:r>
              <a:rPr lang="en-US" altLang="en-US" sz="800" b="1" i="1" dirty="0">
                <a:solidFill>
                  <a:schemeClr val="accent5"/>
                </a:solidFill>
                <a:latin typeface="Arial" panose="020B0604020202020204" pitchFamily="34" charset="0"/>
                <a:cs typeface="Arial" panose="020B0604020202020204" pitchFamily="34" charset="0"/>
              </a:rPr>
              <a:t>linear</a:t>
            </a:r>
            <a:r>
              <a:rPr lang="en-US" altLang="en-US" sz="800" i="1" dirty="0">
                <a:latin typeface="Arial" panose="020B0604020202020204" pitchFamily="34" charset="0"/>
                <a:cs typeface="Arial" panose="020B0604020202020204" pitchFamily="34" charset="0"/>
              </a:rPr>
              <a:t> </a:t>
            </a:r>
            <a:r>
              <a:rPr lang="en-US" altLang="en-US" sz="800" dirty="0">
                <a:latin typeface="Arial" panose="020B0604020202020204" pitchFamily="34" charset="0"/>
                <a:cs typeface="Arial" panose="020B0604020202020204" pitchFamily="34" charset="0"/>
              </a:rPr>
              <a:t>relationship between two variables.</a:t>
            </a:r>
          </a:p>
        </p:txBody>
      </p:sp>
      <p:sp>
        <p:nvSpPr>
          <p:cNvPr id="5" name="Oval 4">
            <a:extLst>
              <a:ext uri="{FF2B5EF4-FFF2-40B4-BE49-F238E27FC236}">
                <a16:creationId xmlns:a16="http://schemas.microsoft.com/office/drawing/2014/main" id="{E011BB00-40BB-5A33-2E77-B80AFC44EDF6}"/>
              </a:ext>
            </a:extLst>
          </p:cNvPr>
          <p:cNvSpPr/>
          <p:nvPr/>
        </p:nvSpPr>
        <p:spPr>
          <a:xfrm>
            <a:off x="174656" y="1051091"/>
            <a:ext cx="685800" cy="3776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CC0469F2-F30A-6FD7-3A6A-CC20AEE742D7}"/>
              </a:ext>
            </a:extLst>
          </p:cNvPr>
          <p:cNvCxnSpPr>
            <a:stCxn id="5" idx="0"/>
            <a:endCxn id="4" idx="0"/>
          </p:cNvCxnSpPr>
          <p:nvPr/>
        </p:nvCxnSpPr>
        <p:spPr>
          <a:xfrm rot="5400000" flipH="1" flipV="1">
            <a:off x="1822898" y="-413167"/>
            <a:ext cx="158917" cy="2769601"/>
          </a:xfrm>
          <a:prstGeom prst="bentConnector3">
            <a:avLst>
              <a:gd name="adj1" fmla="val 243849"/>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75877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4" grpId="0" animBg="1"/>
      <p:bldP spid="6"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559175" cy="421640"/>
          </a:xfrm>
          <a:prstGeom prst="rect">
            <a:avLst/>
          </a:prstGeom>
        </p:spPr>
        <p:txBody>
          <a:bodyPr vert="horz" wrap="square" lIns="0" tIns="11430" rIns="0" bIns="0" rtlCol="0">
            <a:spAutoFit/>
          </a:bodyPr>
          <a:lstStyle/>
          <a:p>
            <a:pPr marL="147955" marR="508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855344"/>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1090930"/>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a:p>
            <a:pPr marL="148590" indent="-135890">
              <a:lnSpc>
                <a:spcPct val="100000"/>
              </a:lnSpc>
              <a:spcBef>
                <a:spcPts val="660"/>
              </a:spcBef>
              <a:buFont typeface="Lucida Sans"/>
              <a:buChar char="•"/>
              <a:tabLst>
                <a:tab pos="148590" algn="l"/>
              </a:tabLst>
            </a:pPr>
            <a:r>
              <a:rPr sz="1000" dirty="0">
                <a:solidFill>
                  <a:srgbClr val="22373A"/>
                </a:solidFill>
                <a:latin typeface="Arial"/>
                <a:cs typeface="Arial"/>
              </a:rPr>
              <a:t>A</a:t>
            </a:r>
            <a:r>
              <a:rPr sz="1000" spc="6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0</a:t>
            </a:r>
            <a:r>
              <a:rPr sz="1000" spc="70" dirty="0">
                <a:solidFill>
                  <a:srgbClr val="22373A"/>
                </a:solidFill>
                <a:latin typeface="Arial"/>
                <a:cs typeface="Arial"/>
              </a:rPr>
              <a:t> </a:t>
            </a:r>
            <a:r>
              <a:rPr sz="1000" dirty="0">
                <a:solidFill>
                  <a:srgbClr val="22373A"/>
                </a:solidFill>
                <a:latin typeface="Arial"/>
                <a:cs typeface="Arial"/>
              </a:rPr>
              <a:t>indicates</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spc="-10" dirty="0">
                <a:solidFill>
                  <a:srgbClr val="22373A"/>
                </a:solidFill>
                <a:latin typeface="Arial"/>
                <a:cs typeface="Arial"/>
              </a:rPr>
              <a:t>association.</a:t>
            </a:r>
            <a:endParaRPr sz="100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7515"/>
          </a:xfrm>
          <a:custGeom>
            <a:avLst/>
            <a:gdLst/>
            <a:ahLst/>
            <a:cxnLst/>
            <a:rect l="l" t="t" r="r" b="b"/>
            <a:pathLst>
              <a:path w="3989704" h="437515">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6219"/>
                </a:lnTo>
                <a:lnTo>
                  <a:pt x="4013" y="405955"/>
                </a:lnTo>
                <a:lnTo>
                  <a:pt x="14922" y="422109"/>
                </a:lnTo>
                <a:lnTo>
                  <a:pt x="31076" y="433019"/>
                </a:lnTo>
                <a:lnTo>
                  <a:pt x="50812" y="437032"/>
                </a:lnTo>
                <a:lnTo>
                  <a:pt x="3938854" y="437032"/>
                </a:lnTo>
                <a:lnTo>
                  <a:pt x="3958577" y="433019"/>
                </a:lnTo>
                <a:lnTo>
                  <a:pt x="3974731" y="422109"/>
                </a:lnTo>
                <a:lnTo>
                  <a:pt x="3985653" y="405955"/>
                </a:lnTo>
                <a:lnTo>
                  <a:pt x="3989654" y="386219"/>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323294"/>
            <a:ext cx="555625" cy="1150620"/>
          </a:xfrm>
          <a:prstGeom prst="rect">
            <a:avLst/>
          </a:prstGeom>
        </p:spPr>
        <p:txBody>
          <a:bodyPr vert="horz" wrap="square" lIns="0" tIns="17145" rIns="0" bIns="0" rtlCol="0">
            <a:spAutoFit/>
          </a:bodyPr>
          <a:lstStyle/>
          <a:p>
            <a:pPr marL="241300" indent="-228600">
              <a:lnSpc>
                <a:spcPct val="100000"/>
              </a:lnSpc>
              <a:spcBef>
                <a:spcPts val="135"/>
              </a:spcBef>
              <a:buAutoNum type="alphaLcParenBoth"/>
              <a:tabLst>
                <a:tab pos="241300" algn="l"/>
              </a:tabLst>
            </a:pPr>
            <a:r>
              <a:rPr sz="1000" spc="-25" dirty="0">
                <a:solidFill>
                  <a:srgbClr val="22373A"/>
                </a:solidFill>
                <a:latin typeface="Arial"/>
                <a:cs typeface="Arial"/>
              </a:rPr>
              <a:t>0.6</a:t>
            </a:r>
            <a:endParaRPr sz="1000" dirty="0">
              <a:latin typeface="Arial"/>
              <a:cs typeface="Arial"/>
            </a:endParaRPr>
          </a:p>
          <a:p>
            <a:pPr marL="241300" indent="-228600">
              <a:lnSpc>
                <a:spcPct val="100000"/>
              </a:lnSpc>
              <a:spcBef>
                <a:spcPts val="840"/>
              </a:spcBef>
              <a:buAutoNum type="alphaLcParenBoth"/>
              <a:tabLst>
                <a:tab pos="241300" algn="l"/>
              </a:tabLst>
            </a:pPr>
            <a:r>
              <a:rPr sz="1000" dirty="0">
                <a:solidFill>
                  <a:srgbClr val="22373A"/>
                </a:solidFill>
                <a:latin typeface="Arial"/>
                <a:cs typeface="Arial"/>
              </a:rPr>
              <a:t>-</a:t>
            </a:r>
            <a:r>
              <a:rPr sz="1000" spc="-20" dirty="0">
                <a:solidFill>
                  <a:srgbClr val="22373A"/>
                </a:solidFill>
                <a:latin typeface="Arial"/>
                <a:cs typeface="Arial"/>
              </a:rPr>
              <a:t>0.75</a:t>
            </a:r>
            <a:endParaRPr sz="1000" dirty="0">
              <a:latin typeface="Arial"/>
              <a:cs typeface="Arial"/>
            </a:endParaRPr>
          </a:p>
          <a:p>
            <a:pPr marL="240665" indent="-220979">
              <a:lnSpc>
                <a:spcPct val="100000"/>
              </a:lnSpc>
              <a:spcBef>
                <a:spcPts val="660"/>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0.1</a:t>
            </a:r>
            <a:endParaRPr sz="1000" dirty="0">
              <a:latin typeface="Arial"/>
              <a:cs typeface="Arial"/>
            </a:endParaRPr>
          </a:p>
          <a:p>
            <a:pPr marL="241300" indent="-228600">
              <a:lnSpc>
                <a:spcPct val="100000"/>
              </a:lnSpc>
              <a:spcBef>
                <a:spcPts val="655"/>
              </a:spcBef>
              <a:buAutoNum type="alphaLcParenBoth"/>
              <a:tabLst>
                <a:tab pos="241300" algn="l"/>
              </a:tabLst>
            </a:pPr>
            <a:r>
              <a:rPr sz="1000" spc="-20" dirty="0">
                <a:solidFill>
                  <a:srgbClr val="22373A"/>
                </a:solidFill>
                <a:latin typeface="Arial"/>
                <a:cs typeface="Arial"/>
              </a:rPr>
              <a:t>0.02</a:t>
            </a:r>
            <a:endParaRPr sz="1000" dirty="0">
              <a:latin typeface="Arial"/>
              <a:cs typeface="Arial"/>
            </a:endParaRPr>
          </a:p>
          <a:p>
            <a:pPr marL="241300" indent="-228600">
              <a:lnSpc>
                <a:spcPct val="100000"/>
              </a:lnSpc>
              <a:spcBef>
                <a:spcPts val="660"/>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1.5</a:t>
            </a:r>
            <a:endParaRPr sz="1000" dirty="0">
              <a:latin typeface="Arial"/>
              <a:cs typeface="Arial"/>
            </a:endParaRPr>
          </a:p>
        </p:txBody>
      </p:sp>
      <p:grpSp>
        <p:nvGrpSpPr>
          <p:cNvPr id="5" name="object 5"/>
          <p:cNvGrpSpPr/>
          <p:nvPr/>
        </p:nvGrpSpPr>
        <p:grpSpPr>
          <a:xfrm>
            <a:off x="2427070" y="1114897"/>
            <a:ext cx="1804035" cy="1410970"/>
            <a:chOff x="2427070" y="1114897"/>
            <a:chExt cx="1804035" cy="1410970"/>
          </a:xfrm>
        </p:grpSpPr>
        <p:sp>
          <p:nvSpPr>
            <p:cNvPr id="6" name="object 6"/>
            <p:cNvSpPr/>
            <p:nvPr/>
          </p:nvSpPr>
          <p:spPr>
            <a:xfrm>
              <a:off x="2749535" y="1472473"/>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749535" y="1472473"/>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4018724"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4018724"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3212167" y="160838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212167" y="160838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2868183" y="1117119"/>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868183" y="1117119"/>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2891865" y="16606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891865" y="16606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3793329"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793329"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650999" y="218324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650999" y="218324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793329" y="2151900"/>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793329" y="2151900"/>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3473086" y="1242542"/>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473086" y="1242542"/>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318915" y="173380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318915" y="173380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366338" y="173380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366338" y="173380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769646" y="189056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769646" y="189056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3734064" y="1765146"/>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734064" y="176514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461245" y="18278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461245" y="18278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3520510"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520510"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3911977"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911977"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3781488"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781488"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93519"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93519"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2737694" y="122162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37694" y="122162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3544251" y="181740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544251" y="181740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662899" y="22354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662899" y="22354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60357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60357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662899" y="19219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662899" y="19219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4137313" y="23190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137313" y="23190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2903765" y="115894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03765" y="115894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74590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74590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3959400" y="15665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959400" y="15665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4042466"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4042466"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3425662"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25662"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4196637" y="241317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96637" y="241317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496827" y="218324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496827" y="218324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2963030" y="1138033"/>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963030" y="1138033"/>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259591" y="1535214"/>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259591" y="1535214"/>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2927448"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927448"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3911977" y="17547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911977" y="17547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615416" y="19428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615416" y="19428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437503" y="1462046"/>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437503" y="1462046"/>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3579834" y="182788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579834" y="182788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473086" y="2036904"/>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473086" y="2036904"/>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2880024" y="192190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880024" y="192190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2856283" y="1587469"/>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856283" y="1587469"/>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3793329" y="193239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793329" y="193239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2880024" y="1514301"/>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880024" y="1514301"/>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2429292" y="139930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429292" y="139930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3876394" y="202641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876394" y="202641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3817070" y="196373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817070" y="196373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686581"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686581"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3840812" y="186965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840812" y="186965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607205" y="1326137"/>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607205" y="1326137"/>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3781488" y="2099586"/>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781488" y="2099586"/>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4054307"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54307"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777341" y="2480920"/>
              <a:ext cx="1186180" cy="42545"/>
            </a:xfrm>
            <a:custGeom>
              <a:avLst/>
              <a:gdLst/>
              <a:ahLst/>
              <a:cxnLst/>
              <a:rect l="l" t="t" r="r" b="b"/>
              <a:pathLst>
                <a:path w="1186179" h="42544">
                  <a:moveTo>
                    <a:pt x="0" y="0"/>
                  </a:moveTo>
                  <a:lnTo>
                    <a:pt x="1186123" y="0"/>
                  </a:lnTo>
                </a:path>
                <a:path w="1186179" h="42544">
                  <a:moveTo>
                    <a:pt x="0" y="0"/>
                  </a:moveTo>
                  <a:lnTo>
                    <a:pt x="0" y="42416"/>
                  </a:lnTo>
                </a:path>
                <a:path w="1186179" h="42544">
                  <a:moveTo>
                    <a:pt x="593061" y="0"/>
                  </a:moveTo>
                  <a:lnTo>
                    <a:pt x="593061" y="42416"/>
                  </a:lnTo>
                </a:path>
                <a:path w="1186179"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705671"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3891795"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1" name="object 111"/>
          <p:cNvSpPr/>
          <p:nvPr/>
        </p:nvSpPr>
        <p:spPr>
          <a:xfrm>
            <a:off x="2332088" y="1133025"/>
            <a:ext cx="42545" cy="1254760"/>
          </a:xfrm>
          <a:custGeom>
            <a:avLst/>
            <a:gdLst/>
            <a:ahLst/>
            <a:cxnLst/>
            <a:rect l="l" t="t" r="r" b="b"/>
            <a:pathLst>
              <a:path w="42544" h="1254760">
                <a:moveTo>
                  <a:pt x="42416" y="1254225"/>
                </a:moveTo>
                <a:lnTo>
                  <a:pt x="42416" y="0"/>
                </a:lnTo>
              </a:path>
              <a:path w="42544" h="1254760">
                <a:moveTo>
                  <a:pt x="42416" y="1254225"/>
                </a:moveTo>
                <a:lnTo>
                  <a:pt x="0" y="1254225"/>
                </a:lnTo>
              </a:path>
              <a:path w="42544" h="1254760">
                <a:moveTo>
                  <a:pt x="42416" y="1045207"/>
                </a:moveTo>
                <a:lnTo>
                  <a:pt x="0" y="1045207"/>
                </a:lnTo>
              </a:path>
              <a:path w="42544" h="1254760">
                <a:moveTo>
                  <a:pt x="42416" y="836189"/>
                </a:moveTo>
                <a:lnTo>
                  <a:pt x="0" y="836189"/>
                </a:lnTo>
              </a:path>
              <a:path w="42544" h="1254760">
                <a:moveTo>
                  <a:pt x="42416" y="627112"/>
                </a:moveTo>
                <a:lnTo>
                  <a:pt x="0" y="627112"/>
                </a:lnTo>
              </a:path>
              <a:path w="42544" h="1254760">
                <a:moveTo>
                  <a:pt x="42416" y="418094"/>
                </a:moveTo>
                <a:lnTo>
                  <a:pt x="0" y="418094"/>
                </a:lnTo>
              </a:path>
              <a:path w="42544" h="1254760">
                <a:moveTo>
                  <a:pt x="42416" y="209017"/>
                </a:moveTo>
                <a:lnTo>
                  <a:pt x="0" y="209017"/>
                </a:lnTo>
              </a:path>
              <a:path w="42544" h="1254760">
                <a:moveTo>
                  <a:pt x="42416" y="0"/>
                </a:moveTo>
                <a:lnTo>
                  <a:pt x="0" y="0"/>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184481" y="1261418"/>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3" name="object 113"/>
          <p:cNvSpPr txBox="1"/>
          <p:nvPr/>
        </p:nvSpPr>
        <p:spPr>
          <a:xfrm>
            <a:off x="347294" y="417889"/>
            <a:ext cx="3913504" cy="787400"/>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dirty="0">
              <a:latin typeface="Arial"/>
              <a:cs typeface="Arial"/>
            </a:endParaRPr>
          </a:p>
          <a:p>
            <a:pPr marL="12700">
              <a:lnSpc>
                <a:spcPct val="100000"/>
              </a:lnSpc>
              <a:spcBef>
                <a:spcPts val="359"/>
              </a:spcBef>
            </a:pPr>
            <a:r>
              <a:rPr sz="1000" dirty="0">
                <a:solidFill>
                  <a:srgbClr val="3884B7"/>
                </a:solidFill>
                <a:latin typeface="Arial"/>
                <a:cs typeface="Arial"/>
              </a:rPr>
              <a:t>%</a:t>
            </a:r>
            <a:r>
              <a:rPr sz="1000" spc="55" dirty="0">
                <a:solidFill>
                  <a:srgbClr val="3884B7"/>
                </a:solidFill>
                <a:latin typeface="Arial"/>
                <a:cs typeface="Arial"/>
              </a:rPr>
              <a:t> </a:t>
            </a:r>
            <a:r>
              <a:rPr sz="1000" dirty="0">
                <a:solidFill>
                  <a:srgbClr val="3884B7"/>
                </a:solidFill>
                <a:latin typeface="Arial"/>
                <a:cs typeface="Arial"/>
              </a:rPr>
              <a:t>in</a:t>
            </a:r>
            <a:r>
              <a:rPr sz="1000" spc="60" dirty="0">
                <a:solidFill>
                  <a:srgbClr val="3884B7"/>
                </a:solidFill>
                <a:latin typeface="Arial"/>
                <a:cs typeface="Arial"/>
              </a:rPr>
              <a:t> </a:t>
            </a:r>
            <a:r>
              <a:rPr sz="1000" dirty="0">
                <a:solidFill>
                  <a:srgbClr val="3884B7"/>
                </a:solidFill>
                <a:latin typeface="Arial"/>
                <a:cs typeface="Arial"/>
              </a:rPr>
              <a:t>poverty</a:t>
            </a:r>
            <a:r>
              <a:rPr sz="1000" spc="60" dirty="0">
                <a:solidFill>
                  <a:srgbClr val="3884B7"/>
                </a:solidFill>
                <a:latin typeface="Arial"/>
                <a:cs typeface="Arial"/>
              </a:rPr>
              <a:t> </a:t>
            </a:r>
            <a:r>
              <a:rPr sz="1000" dirty="0">
                <a:solidFill>
                  <a:srgbClr val="3884B7"/>
                </a:solidFill>
                <a:latin typeface="Arial"/>
                <a:cs typeface="Arial"/>
              </a:rPr>
              <a:t>and</a:t>
            </a:r>
            <a:r>
              <a:rPr sz="1000" spc="60" dirty="0">
                <a:solidFill>
                  <a:srgbClr val="3884B7"/>
                </a:solidFill>
                <a:latin typeface="Arial"/>
                <a:cs typeface="Arial"/>
              </a:rPr>
              <a:t> </a:t>
            </a:r>
            <a:r>
              <a:rPr sz="1000" dirty="0">
                <a:solidFill>
                  <a:srgbClr val="3884B7"/>
                </a:solidFill>
                <a:latin typeface="Arial"/>
                <a:cs typeface="Arial"/>
              </a:rPr>
              <a:t>%</a:t>
            </a:r>
            <a:r>
              <a:rPr sz="1000" spc="60" dirty="0">
                <a:solidFill>
                  <a:srgbClr val="3884B7"/>
                </a:solidFill>
                <a:latin typeface="Arial"/>
                <a:cs typeface="Arial"/>
              </a:rPr>
              <a:t> </a:t>
            </a:r>
            <a:r>
              <a:rPr sz="1000" dirty="0">
                <a:solidFill>
                  <a:srgbClr val="3884B7"/>
                </a:solidFill>
                <a:latin typeface="Arial"/>
                <a:cs typeface="Arial"/>
              </a:rPr>
              <a:t>HS</a:t>
            </a:r>
            <a:r>
              <a:rPr sz="1000" spc="60" dirty="0">
                <a:solidFill>
                  <a:srgbClr val="3884B7"/>
                </a:solidFill>
                <a:latin typeface="Arial"/>
                <a:cs typeface="Arial"/>
              </a:rPr>
              <a:t> </a:t>
            </a:r>
            <a:r>
              <a:rPr sz="1000" spc="-20" dirty="0">
                <a:solidFill>
                  <a:srgbClr val="3884B7"/>
                </a:solidFill>
                <a:latin typeface="Arial"/>
                <a:cs typeface="Arial"/>
              </a:rPr>
              <a:t>grad?</a:t>
            </a:r>
            <a:endParaRPr sz="1000" dirty="0">
              <a:latin typeface="Arial"/>
              <a:cs typeface="Arial"/>
            </a:endParaRPr>
          </a:p>
          <a:p>
            <a:pPr>
              <a:lnSpc>
                <a:spcPct val="100000"/>
              </a:lnSpc>
              <a:spcBef>
                <a:spcPts val="770"/>
              </a:spcBef>
            </a:pPr>
            <a:endParaRPr sz="1000" dirty="0">
              <a:latin typeface="Arial"/>
              <a:cs typeface="Arial"/>
            </a:endParaRPr>
          </a:p>
          <a:p>
            <a:pPr marR="87630" algn="ctr">
              <a:lnSpc>
                <a:spcPct val="100000"/>
              </a:lnSpc>
            </a:pPr>
            <a:r>
              <a:rPr sz="800" spc="-25" dirty="0">
                <a:latin typeface="Arial"/>
                <a:cs typeface="Arial"/>
              </a:rPr>
              <a:t>18</a:t>
            </a:r>
            <a:endParaRPr sz="800" dirty="0">
              <a:latin typeface="Arial"/>
              <a:cs typeface="Arial"/>
            </a:endParaRPr>
          </a:p>
        </p:txBody>
      </p:sp>
      <p:sp>
        <p:nvSpPr>
          <p:cNvPr id="114" name="object 114"/>
          <p:cNvSpPr/>
          <p:nvPr/>
        </p:nvSpPr>
        <p:spPr>
          <a:xfrm>
            <a:off x="2374505" y="1081183"/>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5" name="object 115"/>
          <p:cNvSpPr txBox="1"/>
          <p:nvPr/>
        </p:nvSpPr>
        <p:spPr>
          <a:xfrm>
            <a:off x="3060318" y="2463979"/>
            <a:ext cx="537210" cy="330835"/>
          </a:xfrm>
          <a:prstGeom prst="rect">
            <a:avLst/>
          </a:prstGeom>
        </p:spPr>
        <p:txBody>
          <a:bodyPr vert="horz" wrap="square" lIns="0" tIns="42545" rIns="0" bIns="0" rtlCol="0">
            <a:spAutoFit/>
          </a:bodyPr>
          <a:lstStyle/>
          <a:p>
            <a:pPr marL="250825">
              <a:lnSpc>
                <a:spcPct val="100000"/>
              </a:lnSpc>
              <a:spcBef>
                <a:spcPts val="33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16" name="object 116"/>
          <p:cNvSpPr txBox="1"/>
          <p:nvPr/>
        </p:nvSpPr>
        <p:spPr>
          <a:xfrm>
            <a:off x="2036761" y="1476599"/>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7" name="object 117"/>
          <p:cNvSpPr/>
          <p:nvPr/>
        </p:nvSpPr>
        <p:spPr>
          <a:xfrm>
            <a:off x="2374505" y="1217328"/>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18" name="object 118"/>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9</a:t>
            </a:r>
            <a:endParaRPr sz="75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6245"/>
          </a:xfrm>
          <a:custGeom>
            <a:avLst/>
            <a:gdLst/>
            <a:ahLst/>
            <a:cxnLst/>
            <a:rect l="l" t="t" r="r" b="b"/>
            <a:pathLst>
              <a:path w="3989704" h="43624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5432"/>
                </a:lnTo>
                <a:lnTo>
                  <a:pt x="4013" y="405168"/>
                </a:lnTo>
                <a:lnTo>
                  <a:pt x="14922" y="421322"/>
                </a:lnTo>
                <a:lnTo>
                  <a:pt x="31076" y="432231"/>
                </a:lnTo>
                <a:lnTo>
                  <a:pt x="50812" y="436245"/>
                </a:lnTo>
                <a:lnTo>
                  <a:pt x="3938854" y="436245"/>
                </a:lnTo>
                <a:lnTo>
                  <a:pt x="3958577" y="432231"/>
                </a:lnTo>
                <a:lnTo>
                  <a:pt x="3974731" y="421322"/>
                </a:lnTo>
                <a:lnTo>
                  <a:pt x="3985653" y="405168"/>
                </a:lnTo>
                <a:lnTo>
                  <a:pt x="3989654" y="385432"/>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244609"/>
            <a:ext cx="482600" cy="1228090"/>
          </a:xfrm>
          <a:prstGeom prst="rect">
            <a:avLst/>
          </a:prstGeom>
        </p:spPr>
        <p:txBody>
          <a:bodyPr vert="horz" wrap="square" lIns="0" tIns="95250" rIns="0" bIns="0" rtlCol="0">
            <a:spAutoFit/>
          </a:bodyPr>
          <a:lstStyle/>
          <a:p>
            <a:pPr marL="241300" indent="-228600">
              <a:lnSpc>
                <a:spcPct val="100000"/>
              </a:lnSpc>
              <a:spcBef>
                <a:spcPts val="750"/>
              </a:spcBef>
              <a:buAutoNum type="alphaLcParenBoth"/>
              <a:tabLst>
                <a:tab pos="241300" algn="l"/>
              </a:tabLst>
            </a:pPr>
            <a:r>
              <a:rPr sz="1000" spc="-25" dirty="0">
                <a:solidFill>
                  <a:srgbClr val="22373A"/>
                </a:solidFill>
                <a:latin typeface="Arial"/>
                <a:cs typeface="Arial"/>
              </a:rPr>
              <a:t>0.1</a:t>
            </a:r>
            <a:endParaRPr sz="1000" dirty="0">
              <a:latin typeface="Arial"/>
              <a:cs typeface="Arial"/>
            </a:endParaRPr>
          </a:p>
          <a:p>
            <a:pPr marL="241300" indent="-228600">
              <a:lnSpc>
                <a:spcPct val="100000"/>
              </a:lnSpc>
              <a:spcBef>
                <a:spcPts val="655"/>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0.6</a:t>
            </a:r>
            <a:endParaRPr sz="1000" dirty="0">
              <a:latin typeface="Arial"/>
              <a:cs typeface="Arial"/>
            </a:endParaRPr>
          </a:p>
          <a:p>
            <a:pPr marL="240665" indent="-220979">
              <a:lnSpc>
                <a:spcPct val="100000"/>
              </a:lnSpc>
              <a:spcBef>
                <a:spcPts val="655"/>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0.4</a:t>
            </a:r>
            <a:endParaRPr sz="1000" dirty="0">
              <a:latin typeface="Arial"/>
              <a:cs typeface="Arial"/>
            </a:endParaRPr>
          </a:p>
          <a:p>
            <a:pPr marL="241300" indent="-228600">
              <a:lnSpc>
                <a:spcPct val="100000"/>
              </a:lnSpc>
              <a:spcBef>
                <a:spcPts val="660"/>
              </a:spcBef>
              <a:buAutoNum type="alphaLcParenBoth"/>
              <a:tabLst>
                <a:tab pos="241300" algn="l"/>
              </a:tabLst>
            </a:pPr>
            <a:r>
              <a:rPr sz="1000" spc="-25" dirty="0">
                <a:solidFill>
                  <a:srgbClr val="22373A"/>
                </a:solidFill>
                <a:latin typeface="Arial"/>
                <a:cs typeface="Arial"/>
              </a:rPr>
              <a:t>0.9</a:t>
            </a:r>
            <a:endParaRPr sz="1000" dirty="0">
              <a:latin typeface="Arial"/>
              <a:cs typeface="Arial"/>
            </a:endParaRPr>
          </a:p>
          <a:p>
            <a:pPr marL="241300" indent="-228600">
              <a:lnSpc>
                <a:spcPct val="100000"/>
              </a:lnSpc>
              <a:spcBef>
                <a:spcPts val="840"/>
              </a:spcBef>
              <a:buAutoNum type="alphaLcParenBoth"/>
              <a:tabLst>
                <a:tab pos="241300" algn="l"/>
              </a:tabLst>
            </a:pPr>
            <a:r>
              <a:rPr sz="1000" spc="-25" dirty="0">
                <a:solidFill>
                  <a:srgbClr val="22373A"/>
                </a:solidFill>
                <a:latin typeface="Arial"/>
                <a:cs typeface="Arial"/>
              </a:rPr>
              <a:t>0.5</a:t>
            </a:r>
            <a:endParaRPr sz="1000" dirty="0">
              <a:latin typeface="Arial"/>
              <a:cs typeface="Arial"/>
            </a:endParaRPr>
          </a:p>
        </p:txBody>
      </p:sp>
      <p:grpSp>
        <p:nvGrpSpPr>
          <p:cNvPr id="5" name="object 5"/>
          <p:cNvGrpSpPr/>
          <p:nvPr/>
        </p:nvGrpSpPr>
        <p:grpSpPr>
          <a:xfrm>
            <a:off x="2329866" y="1114109"/>
            <a:ext cx="1901189" cy="1410970"/>
            <a:chOff x="2329866" y="1114109"/>
            <a:chExt cx="1901189" cy="1410970"/>
          </a:xfrm>
        </p:grpSpPr>
        <p:sp>
          <p:nvSpPr>
            <p:cNvPr id="6" name="object 6"/>
            <p:cNvSpPr/>
            <p:nvPr/>
          </p:nvSpPr>
          <p:spPr>
            <a:xfrm>
              <a:off x="3448284" y="1471686"/>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448284" y="1471686"/>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906947"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906947"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2954724" y="16075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2954724" y="16075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3113962" y="1116332"/>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3113962" y="1116332"/>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3193551" y="165984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193551" y="165984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2715897" y="2015204"/>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715897" y="2015204"/>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113962"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113962"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273140" y="215111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273140" y="215111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4196637" y="12417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4196637" y="12417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097997"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097997"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496061"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496061"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161680" y="188978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161680" y="188978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2572565" y="1764358"/>
              <a:ext cx="32384" cy="32384"/>
            </a:xfrm>
            <a:custGeom>
              <a:avLst/>
              <a:gdLst/>
              <a:ahLst/>
              <a:cxnLst/>
              <a:rect l="l" t="t" r="r" b="b"/>
              <a:pathLst>
                <a:path w="32385" h="32385">
                  <a:moveTo>
                    <a:pt x="24683" y="0"/>
                  </a:moveTo>
                  <a:lnTo>
                    <a:pt x="7187" y="0"/>
                  </a:lnTo>
                  <a:lnTo>
                    <a:pt x="0" y="7128"/>
                  </a:lnTo>
                  <a:lnTo>
                    <a:pt x="0" y="15906"/>
                  </a:lnTo>
                  <a:lnTo>
                    <a:pt x="0" y="24683"/>
                  </a:lnTo>
                  <a:lnTo>
                    <a:pt x="7187" y="31812"/>
                  </a:lnTo>
                  <a:lnTo>
                    <a:pt x="24683" y="31812"/>
                  </a:lnTo>
                  <a:lnTo>
                    <a:pt x="31812" y="24683"/>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572565" y="176435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145774"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145774"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2954724" y="208837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2954724" y="208837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556659"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556659"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2668119" y="201520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668119" y="201520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66184"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66184"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3830443" y="1220841"/>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3830443" y="1220841"/>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2699991" y="181661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699991" y="181661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432378" y="22347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432378" y="22347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082090"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082090"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177645"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177645"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604436" y="231830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604436" y="231830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3941904" y="11581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941904" y="11581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034313"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034313"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604436" y="156576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604436" y="156576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636307" y="200477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36307" y="200477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2954724" y="213019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2954724" y="213019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636307" y="241238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36307" y="241238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193551"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193551"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3289105" y="1137246"/>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3289105" y="1137246"/>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527933" y="153442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527933" y="153442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3177645"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77645"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429292" y="175393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429292" y="175393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113962" y="194203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113962" y="194203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002501" y="14612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002501" y="14612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2747709"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747709"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034313" y="20361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034313" y="20361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3241328"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3241328"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3543839" y="1586681"/>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543839" y="1586681"/>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2620342" y="19316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2620342" y="19316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3241328" y="1513513"/>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3241328" y="1513513"/>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3209457" y="1398518"/>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9457" y="1398518"/>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684026" y="202563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684026" y="202563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668119" y="196294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668119" y="196294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082090" y="208837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82090" y="208837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763674" y="186886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763674" y="186886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891041" y="1325350"/>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891041" y="1325350"/>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2715897" y="209879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2715897" y="209879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572565" y="200477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572565" y="200477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332088" y="1132238"/>
              <a:ext cx="1737360" cy="1390650"/>
            </a:xfrm>
            <a:custGeom>
              <a:avLst/>
              <a:gdLst/>
              <a:ahLst/>
              <a:cxnLst/>
              <a:rect l="l" t="t" r="r" b="b"/>
              <a:pathLst>
                <a:path w="1737360" h="1390650">
                  <a:moveTo>
                    <a:pt x="144981" y="1347894"/>
                  </a:moveTo>
                  <a:lnTo>
                    <a:pt x="1737181" y="1347894"/>
                  </a:lnTo>
                </a:path>
                <a:path w="1737360" h="1390650">
                  <a:moveTo>
                    <a:pt x="144981" y="1347894"/>
                  </a:moveTo>
                  <a:lnTo>
                    <a:pt x="144981" y="1390311"/>
                  </a:lnTo>
                </a:path>
                <a:path w="1737360" h="1390650">
                  <a:moveTo>
                    <a:pt x="463397" y="1347894"/>
                  </a:moveTo>
                  <a:lnTo>
                    <a:pt x="463397" y="1390311"/>
                  </a:lnTo>
                </a:path>
                <a:path w="1737360" h="1390650">
                  <a:moveTo>
                    <a:pt x="781814" y="1347894"/>
                  </a:moveTo>
                  <a:lnTo>
                    <a:pt x="781814" y="1390311"/>
                  </a:lnTo>
                </a:path>
                <a:path w="1737360" h="1390650">
                  <a:moveTo>
                    <a:pt x="1100289" y="1347894"/>
                  </a:moveTo>
                  <a:lnTo>
                    <a:pt x="1100289" y="1390311"/>
                  </a:lnTo>
                </a:path>
                <a:path w="1737360" h="1390650">
                  <a:moveTo>
                    <a:pt x="1418706" y="1347894"/>
                  </a:moveTo>
                  <a:lnTo>
                    <a:pt x="1418706" y="1390311"/>
                  </a:lnTo>
                </a:path>
                <a:path w="1737360" h="1390650">
                  <a:moveTo>
                    <a:pt x="1737181" y="1347894"/>
                  </a:moveTo>
                  <a:lnTo>
                    <a:pt x="1737181" y="1390311"/>
                  </a:lnTo>
                </a:path>
                <a:path w="1737360" h="1390650">
                  <a:moveTo>
                    <a:pt x="42416" y="1254225"/>
                  </a:moveTo>
                  <a:lnTo>
                    <a:pt x="42416" y="0"/>
                  </a:lnTo>
                </a:path>
                <a:path w="1737360" h="1390650">
                  <a:moveTo>
                    <a:pt x="42416" y="1254225"/>
                  </a:moveTo>
                  <a:lnTo>
                    <a:pt x="0" y="1254225"/>
                  </a:lnTo>
                </a:path>
                <a:path w="1737360" h="1390650">
                  <a:moveTo>
                    <a:pt x="42416" y="1045207"/>
                  </a:moveTo>
                  <a:lnTo>
                    <a:pt x="0" y="1045207"/>
                  </a:lnTo>
                </a:path>
                <a:path w="1737360" h="1390650">
                  <a:moveTo>
                    <a:pt x="42416" y="836189"/>
                  </a:moveTo>
                  <a:lnTo>
                    <a:pt x="0" y="836189"/>
                  </a:lnTo>
                </a:path>
                <a:path w="1737360" h="1390650">
                  <a:moveTo>
                    <a:pt x="42416" y="627112"/>
                  </a:moveTo>
                  <a:lnTo>
                    <a:pt x="0" y="627112"/>
                  </a:lnTo>
                </a:path>
                <a:path w="1737360" h="1390650">
                  <a:moveTo>
                    <a:pt x="42416" y="418094"/>
                  </a:moveTo>
                  <a:lnTo>
                    <a:pt x="0" y="418094"/>
                  </a:lnTo>
                </a:path>
                <a:path w="1737360" h="1390650">
                  <a:moveTo>
                    <a:pt x="42416" y="209017"/>
                  </a:moveTo>
                  <a:lnTo>
                    <a:pt x="0" y="209017"/>
                  </a:lnTo>
                </a:path>
                <a:path w="173736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184481" y="1260631"/>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0" name="object 110"/>
          <p:cNvSpPr txBox="1"/>
          <p:nvPr/>
        </p:nvSpPr>
        <p:spPr>
          <a:xfrm>
            <a:off x="347294" y="417889"/>
            <a:ext cx="3913504" cy="786765"/>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dirty="0">
              <a:latin typeface="Arial"/>
              <a:cs typeface="Arial"/>
            </a:endParaRPr>
          </a:p>
          <a:p>
            <a:pPr marL="12700">
              <a:lnSpc>
                <a:spcPct val="100000"/>
              </a:lnSpc>
              <a:spcBef>
                <a:spcPts val="359"/>
              </a:spcBef>
            </a:pPr>
            <a:r>
              <a:rPr sz="1000" dirty="0">
                <a:solidFill>
                  <a:srgbClr val="3884B7"/>
                </a:solidFill>
                <a:latin typeface="Arial"/>
                <a:cs typeface="Arial"/>
              </a:rPr>
              <a:t>%</a:t>
            </a:r>
            <a:r>
              <a:rPr sz="1000" spc="85" dirty="0">
                <a:solidFill>
                  <a:srgbClr val="3884B7"/>
                </a:solidFill>
                <a:latin typeface="Arial"/>
                <a:cs typeface="Arial"/>
              </a:rPr>
              <a:t> </a:t>
            </a:r>
            <a:r>
              <a:rPr sz="1000" dirty="0">
                <a:solidFill>
                  <a:srgbClr val="3884B7"/>
                </a:solidFill>
                <a:latin typeface="Arial"/>
                <a:cs typeface="Arial"/>
              </a:rPr>
              <a:t>in</a:t>
            </a:r>
            <a:r>
              <a:rPr sz="1000" spc="90" dirty="0">
                <a:solidFill>
                  <a:srgbClr val="3884B7"/>
                </a:solidFill>
                <a:latin typeface="Arial"/>
                <a:cs typeface="Arial"/>
              </a:rPr>
              <a:t> </a:t>
            </a:r>
            <a:r>
              <a:rPr sz="1000" dirty="0">
                <a:solidFill>
                  <a:srgbClr val="3884B7"/>
                </a:solidFill>
                <a:latin typeface="Arial"/>
                <a:cs typeface="Arial"/>
              </a:rPr>
              <a:t>poverty</a:t>
            </a:r>
            <a:r>
              <a:rPr sz="1000" spc="90" dirty="0">
                <a:solidFill>
                  <a:srgbClr val="3884B7"/>
                </a:solidFill>
                <a:latin typeface="Arial"/>
                <a:cs typeface="Arial"/>
              </a:rPr>
              <a:t> </a:t>
            </a:r>
            <a:r>
              <a:rPr sz="1000" dirty="0">
                <a:solidFill>
                  <a:srgbClr val="3884B7"/>
                </a:solidFill>
                <a:latin typeface="Arial"/>
                <a:cs typeface="Arial"/>
              </a:rPr>
              <a:t>and</a:t>
            </a:r>
            <a:r>
              <a:rPr sz="1000" spc="90" dirty="0">
                <a:solidFill>
                  <a:srgbClr val="3884B7"/>
                </a:solidFill>
                <a:latin typeface="Arial"/>
                <a:cs typeface="Arial"/>
              </a:rPr>
              <a:t> </a:t>
            </a:r>
            <a:r>
              <a:rPr sz="1000" dirty="0">
                <a:solidFill>
                  <a:srgbClr val="3884B7"/>
                </a:solidFill>
                <a:latin typeface="Arial"/>
                <a:cs typeface="Arial"/>
              </a:rPr>
              <a:t>%</a:t>
            </a:r>
            <a:r>
              <a:rPr sz="1000" spc="90" dirty="0">
                <a:solidFill>
                  <a:srgbClr val="3884B7"/>
                </a:solidFill>
                <a:latin typeface="Arial"/>
                <a:cs typeface="Arial"/>
              </a:rPr>
              <a:t> </a:t>
            </a:r>
            <a:r>
              <a:rPr sz="1000" dirty="0">
                <a:solidFill>
                  <a:srgbClr val="3884B7"/>
                </a:solidFill>
                <a:latin typeface="Arial"/>
                <a:cs typeface="Arial"/>
              </a:rPr>
              <a:t>female</a:t>
            </a:r>
            <a:r>
              <a:rPr sz="1000" spc="85" dirty="0">
                <a:solidFill>
                  <a:srgbClr val="3884B7"/>
                </a:solidFill>
                <a:latin typeface="Arial"/>
                <a:cs typeface="Arial"/>
              </a:rPr>
              <a:t> </a:t>
            </a:r>
            <a:r>
              <a:rPr sz="1000" dirty="0">
                <a:solidFill>
                  <a:srgbClr val="3884B7"/>
                </a:solidFill>
                <a:latin typeface="Arial"/>
                <a:cs typeface="Arial"/>
              </a:rPr>
              <a:t>householder,</a:t>
            </a:r>
            <a:r>
              <a:rPr sz="1000" spc="90" dirty="0">
                <a:solidFill>
                  <a:srgbClr val="3884B7"/>
                </a:solidFill>
                <a:latin typeface="Arial"/>
                <a:cs typeface="Arial"/>
              </a:rPr>
              <a:t> </a:t>
            </a:r>
            <a:r>
              <a:rPr sz="1000" dirty="0">
                <a:solidFill>
                  <a:srgbClr val="3884B7"/>
                </a:solidFill>
                <a:latin typeface="Arial"/>
                <a:cs typeface="Arial"/>
              </a:rPr>
              <a:t>no</a:t>
            </a:r>
            <a:r>
              <a:rPr sz="1000" spc="90" dirty="0">
                <a:solidFill>
                  <a:srgbClr val="3884B7"/>
                </a:solidFill>
                <a:latin typeface="Arial"/>
                <a:cs typeface="Arial"/>
              </a:rPr>
              <a:t> </a:t>
            </a:r>
            <a:r>
              <a:rPr sz="1000" dirty="0">
                <a:solidFill>
                  <a:srgbClr val="3884B7"/>
                </a:solidFill>
                <a:latin typeface="Arial"/>
                <a:cs typeface="Arial"/>
              </a:rPr>
              <a:t>husband</a:t>
            </a:r>
            <a:r>
              <a:rPr sz="1000" spc="90" dirty="0">
                <a:solidFill>
                  <a:srgbClr val="3884B7"/>
                </a:solidFill>
                <a:latin typeface="Arial"/>
                <a:cs typeface="Arial"/>
              </a:rPr>
              <a:t> </a:t>
            </a:r>
            <a:r>
              <a:rPr sz="1000" spc="-10" dirty="0">
                <a:solidFill>
                  <a:srgbClr val="3884B7"/>
                </a:solidFill>
                <a:latin typeface="Arial"/>
                <a:cs typeface="Arial"/>
              </a:rPr>
              <a:t>present?</a:t>
            </a:r>
            <a:endParaRPr sz="1000" dirty="0">
              <a:latin typeface="Arial"/>
              <a:cs typeface="Arial"/>
            </a:endParaRPr>
          </a:p>
          <a:p>
            <a:pPr>
              <a:lnSpc>
                <a:spcPct val="100000"/>
              </a:lnSpc>
              <a:spcBef>
                <a:spcPts val="760"/>
              </a:spcBef>
            </a:pPr>
            <a:endParaRPr sz="1000" dirty="0">
              <a:latin typeface="Arial"/>
              <a:cs typeface="Arial"/>
            </a:endParaRPr>
          </a:p>
          <a:p>
            <a:pPr marR="87630" algn="ctr">
              <a:lnSpc>
                <a:spcPct val="100000"/>
              </a:lnSpc>
              <a:spcBef>
                <a:spcPts val="5"/>
              </a:spcBef>
            </a:pPr>
            <a:r>
              <a:rPr sz="800" spc="-25" dirty="0">
                <a:latin typeface="Arial"/>
                <a:cs typeface="Arial"/>
              </a:rPr>
              <a:t>18</a:t>
            </a:r>
            <a:endParaRPr sz="800" dirty="0">
              <a:latin typeface="Arial"/>
              <a:cs typeface="Arial"/>
            </a:endParaRPr>
          </a:p>
        </p:txBody>
      </p:sp>
      <p:sp>
        <p:nvSpPr>
          <p:cNvPr id="111" name="object 111"/>
          <p:cNvSpPr/>
          <p:nvPr/>
        </p:nvSpPr>
        <p:spPr>
          <a:xfrm>
            <a:off x="2374505" y="1080396"/>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294763" y="2463191"/>
            <a:ext cx="2068830" cy="330835"/>
          </a:xfrm>
          <a:prstGeom prst="rect">
            <a:avLst/>
          </a:prstGeom>
        </p:spPr>
        <p:txBody>
          <a:bodyPr vert="horz" wrap="square" lIns="0" tIns="42545" rIns="0" bIns="0" rtlCol="0">
            <a:spAutoFit/>
          </a:bodyPr>
          <a:lstStyle/>
          <a:p>
            <a:pPr marL="152400">
              <a:lnSpc>
                <a:spcPct val="100000"/>
              </a:lnSpc>
              <a:spcBef>
                <a:spcPts val="335"/>
              </a:spcBef>
              <a:tabLst>
                <a:tab pos="441325" algn="l"/>
                <a:tab pos="760095" algn="l"/>
                <a:tab pos="1078230" algn="l"/>
                <a:tab pos="1397000" algn="l"/>
                <a:tab pos="1715135" algn="l"/>
              </a:tabLst>
            </a:pPr>
            <a:r>
              <a:rPr sz="800" spc="-50" dirty="0">
                <a:latin typeface="Arial"/>
                <a:cs typeface="Arial"/>
              </a:rPr>
              <a:t>8</a:t>
            </a:r>
            <a:r>
              <a:rPr sz="800" dirty="0">
                <a:latin typeface="Arial"/>
                <a:cs typeface="Arial"/>
              </a:rPr>
              <a:t>	</a:t>
            </a:r>
            <a:r>
              <a:rPr sz="800" spc="-25" dirty="0">
                <a:latin typeface="Arial"/>
                <a:cs typeface="Arial"/>
              </a:rPr>
              <a:t>10</a:t>
            </a:r>
            <a:r>
              <a:rPr sz="800" dirty="0">
                <a:latin typeface="Arial"/>
                <a:cs typeface="Arial"/>
              </a:rPr>
              <a:t>	</a:t>
            </a:r>
            <a:r>
              <a:rPr sz="800" spc="-25" dirty="0">
                <a:latin typeface="Arial"/>
                <a:cs typeface="Arial"/>
              </a:rPr>
              <a:t>12</a:t>
            </a:r>
            <a:r>
              <a:rPr sz="800" dirty="0">
                <a:latin typeface="Arial"/>
                <a:cs typeface="Arial"/>
              </a:rPr>
              <a:t>	</a:t>
            </a:r>
            <a:r>
              <a:rPr sz="800" spc="-25" dirty="0">
                <a:latin typeface="Arial"/>
                <a:cs typeface="Arial"/>
              </a:rPr>
              <a:t>14</a:t>
            </a:r>
            <a:r>
              <a:rPr sz="800" dirty="0">
                <a:latin typeface="Arial"/>
                <a:cs typeface="Arial"/>
              </a:rPr>
              <a:t>	</a:t>
            </a:r>
            <a:r>
              <a:rPr sz="800" spc="-25" dirty="0">
                <a:latin typeface="Arial"/>
                <a:cs typeface="Arial"/>
              </a:rPr>
              <a:t>16</a:t>
            </a:r>
            <a:r>
              <a:rPr sz="800" dirty="0">
                <a:latin typeface="Arial"/>
                <a:cs typeface="Arial"/>
              </a:rPr>
              <a:t>	</a:t>
            </a:r>
            <a:r>
              <a:rPr sz="800" spc="-25" dirty="0">
                <a:latin typeface="Arial"/>
                <a:cs typeface="Arial"/>
              </a:rPr>
              <a:t>18</a:t>
            </a:r>
            <a:endParaRPr sz="800">
              <a:latin typeface="Arial"/>
              <a:cs typeface="Arial"/>
            </a:endParaRPr>
          </a:p>
          <a:p>
            <a:pPr marL="12700">
              <a:lnSpc>
                <a:spcPct val="100000"/>
              </a:lnSpc>
              <a:spcBef>
                <a:spcPts val="240"/>
              </a:spcBef>
            </a:pPr>
            <a:r>
              <a:rPr sz="800" dirty="0">
                <a:latin typeface="Arial"/>
                <a:cs typeface="Arial"/>
              </a:rPr>
              <a:t>%</a:t>
            </a:r>
            <a:r>
              <a:rPr sz="800" spc="60" dirty="0">
                <a:latin typeface="Arial"/>
                <a:cs typeface="Arial"/>
              </a:rPr>
              <a:t> </a:t>
            </a:r>
            <a:r>
              <a:rPr sz="800" dirty="0">
                <a:latin typeface="Arial"/>
                <a:cs typeface="Arial"/>
              </a:rPr>
              <a:t>female</a:t>
            </a:r>
            <a:r>
              <a:rPr sz="800" spc="65" dirty="0">
                <a:latin typeface="Arial"/>
                <a:cs typeface="Arial"/>
              </a:rPr>
              <a:t> </a:t>
            </a:r>
            <a:r>
              <a:rPr sz="800" dirty="0">
                <a:latin typeface="Arial"/>
                <a:cs typeface="Arial"/>
              </a:rPr>
              <a:t>householder,</a:t>
            </a:r>
            <a:r>
              <a:rPr sz="800" spc="60" dirty="0">
                <a:latin typeface="Arial"/>
                <a:cs typeface="Arial"/>
              </a:rPr>
              <a:t> </a:t>
            </a:r>
            <a:r>
              <a:rPr sz="800" dirty="0">
                <a:latin typeface="Arial"/>
                <a:cs typeface="Arial"/>
              </a:rPr>
              <a:t>no</a:t>
            </a:r>
            <a:r>
              <a:rPr sz="800" spc="65" dirty="0">
                <a:latin typeface="Arial"/>
                <a:cs typeface="Arial"/>
              </a:rPr>
              <a:t> </a:t>
            </a:r>
            <a:r>
              <a:rPr sz="800" dirty="0">
                <a:latin typeface="Arial"/>
                <a:cs typeface="Arial"/>
              </a:rPr>
              <a:t>husband</a:t>
            </a:r>
            <a:r>
              <a:rPr sz="800" spc="65" dirty="0">
                <a:latin typeface="Arial"/>
                <a:cs typeface="Arial"/>
              </a:rPr>
              <a:t> </a:t>
            </a:r>
            <a:r>
              <a:rPr sz="800" spc="-10" dirty="0">
                <a:latin typeface="Arial"/>
                <a:cs typeface="Arial"/>
              </a:rPr>
              <a:t>present</a:t>
            </a:r>
            <a:endParaRPr sz="800">
              <a:latin typeface="Arial"/>
              <a:cs typeface="Arial"/>
            </a:endParaRPr>
          </a:p>
        </p:txBody>
      </p:sp>
      <p:sp>
        <p:nvSpPr>
          <p:cNvPr id="114" name="object 11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10</a:t>
            </a:r>
            <a:endParaRPr sz="750">
              <a:latin typeface="Arial"/>
              <a:cs typeface="Arial"/>
            </a:endParaRPr>
          </a:p>
        </p:txBody>
      </p:sp>
      <p:sp>
        <p:nvSpPr>
          <p:cNvPr id="113" name="object 113"/>
          <p:cNvSpPr txBox="1"/>
          <p:nvPr/>
        </p:nvSpPr>
        <p:spPr>
          <a:xfrm>
            <a:off x="2036761" y="147581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Assessing</a:t>
            </a:r>
            <a:r>
              <a:rPr spc="114" dirty="0"/>
              <a:t> </a:t>
            </a:r>
            <a:r>
              <a:rPr dirty="0"/>
              <a:t>the</a:t>
            </a:r>
            <a:r>
              <a:rPr spc="114" dirty="0"/>
              <a:t> </a:t>
            </a:r>
            <a:r>
              <a:rPr spc="-10" dirty="0"/>
              <a:t>correlation</a:t>
            </a:r>
          </a:p>
        </p:txBody>
      </p:sp>
      <p:sp>
        <p:nvSpPr>
          <p:cNvPr id="3" name="object 3"/>
          <p:cNvSpPr/>
          <p:nvPr/>
        </p:nvSpPr>
        <p:spPr>
          <a:xfrm>
            <a:off x="309181" y="436410"/>
            <a:ext cx="3989704" cy="410209"/>
          </a:xfrm>
          <a:custGeom>
            <a:avLst/>
            <a:gdLst/>
            <a:ahLst/>
            <a:cxnLst/>
            <a:rect l="l" t="t" r="r" b="b"/>
            <a:pathLst>
              <a:path w="3989704" h="410209">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359295"/>
                </a:lnTo>
                <a:lnTo>
                  <a:pt x="4013" y="379031"/>
                </a:lnTo>
                <a:lnTo>
                  <a:pt x="14922" y="395185"/>
                </a:lnTo>
                <a:lnTo>
                  <a:pt x="31076" y="406095"/>
                </a:lnTo>
                <a:lnTo>
                  <a:pt x="50812" y="410108"/>
                </a:lnTo>
                <a:lnTo>
                  <a:pt x="3938854" y="410108"/>
                </a:lnTo>
                <a:lnTo>
                  <a:pt x="3958577" y="406095"/>
                </a:lnTo>
                <a:lnTo>
                  <a:pt x="3974731" y="395185"/>
                </a:lnTo>
                <a:lnTo>
                  <a:pt x="3985653" y="379031"/>
                </a:lnTo>
                <a:lnTo>
                  <a:pt x="3989654" y="359295"/>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17889"/>
            <a:ext cx="3913504" cy="421640"/>
          </a:xfrm>
          <a:prstGeom prst="rect">
            <a:avLst/>
          </a:prstGeom>
        </p:spPr>
        <p:txBody>
          <a:bodyPr vert="horz" wrap="square" lIns="0" tIns="11430" rIns="0" bIns="0" rtlCol="0">
            <a:spAutoFit/>
          </a:bodyPr>
          <a:lstStyle/>
          <a:p>
            <a:pPr marL="12700" marR="5080">
              <a:lnSpc>
                <a:spcPct val="129900"/>
              </a:lnSpc>
              <a:spcBef>
                <a:spcPts val="90"/>
              </a:spcBef>
            </a:pPr>
            <a:r>
              <a:rPr sz="1000" dirty="0">
                <a:solidFill>
                  <a:srgbClr val="3884B7"/>
                </a:solidFill>
                <a:latin typeface="Arial"/>
                <a:cs typeface="Arial"/>
              </a:rPr>
              <a:t>Which</a:t>
            </a:r>
            <a:r>
              <a:rPr sz="1000" spc="114" dirty="0">
                <a:solidFill>
                  <a:srgbClr val="3884B7"/>
                </a:solidFill>
                <a:latin typeface="Arial"/>
                <a:cs typeface="Arial"/>
              </a:rPr>
              <a:t> </a:t>
            </a:r>
            <a:r>
              <a:rPr sz="1000" dirty="0">
                <a:solidFill>
                  <a:srgbClr val="3884B7"/>
                </a:solidFill>
                <a:latin typeface="Arial"/>
                <a:cs typeface="Arial"/>
              </a:rPr>
              <a:t>of</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following</a:t>
            </a:r>
            <a:r>
              <a:rPr sz="1000" spc="114" dirty="0">
                <a:solidFill>
                  <a:srgbClr val="3884B7"/>
                </a:solidFill>
                <a:latin typeface="Arial"/>
                <a:cs typeface="Arial"/>
              </a:rPr>
              <a:t> </a:t>
            </a:r>
            <a:r>
              <a:rPr sz="1000" dirty="0">
                <a:solidFill>
                  <a:srgbClr val="3884B7"/>
                </a:solidFill>
                <a:latin typeface="Arial"/>
                <a:cs typeface="Arial"/>
              </a:rPr>
              <a:t>is</a:t>
            </a:r>
            <a:r>
              <a:rPr sz="1000" spc="114" dirty="0">
                <a:solidFill>
                  <a:srgbClr val="3884B7"/>
                </a:solidFill>
                <a:latin typeface="Arial"/>
                <a:cs typeface="Arial"/>
              </a:rPr>
              <a:t> </a:t>
            </a:r>
            <a:r>
              <a:rPr sz="1000" dirty="0">
                <a:solidFill>
                  <a:srgbClr val="3884B7"/>
                </a:solidFill>
                <a:latin typeface="Arial"/>
                <a:cs typeface="Arial"/>
              </a:rPr>
              <a:t>has</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strongest</a:t>
            </a:r>
            <a:r>
              <a:rPr sz="1000" spc="114" dirty="0">
                <a:solidFill>
                  <a:srgbClr val="3884B7"/>
                </a:solidFill>
                <a:latin typeface="Arial"/>
                <a:cs typeface="Arial"/>
              </a:rPr>
              <a:t> </a:t>
            </a:r>
            <a:r>
              <a:rPr sz="1000" dirty="0">
                <a:solidFill>
                  <a:srgbClr val="3884B7"/>
                </a:solidFill>
                <a:latin typeface="Arial"/>
                <a:cs typeface="Arial"/>
              </a:rPr>
              <a:t>correlation,</a:t>
            </a:r>
            <a:r>
              <a:rPr sz="1000" spc="120" dirty="0">
                <a:solidFill>
                  <a:srgbClr val="3884B7"/>
                </a:solidFill>
                <a:latin typeface="Arial"/>
                <a:cs typeface="Arial"/>
              </a:rPr>
              <a:t> </a:t>
            </a:r>
            <a:r>
              <a:rPr sz="1000" dirty="0">
                <a:solidFill>
                  <a:srgbClr val="3884B7"/>
                </a:solidFill>
                <a:latin typeface="Arial"/>
                <a:cs typeface="Arial"/>
              </a:rPr>
              <a:t>i.e.</a:t>
            </a:r>
            <a:r>
              <a:rPr sz="1000" spc="275" dirty="0">
                <a:solidFill>
                  <a:srgbClr val="3884B7"/>
                </a:solidFill>
                <a:latin typeface="Arial"/>
                <a:cs typeface="Arial"/>
              </a:rPr>
              <a:t> </a:t>
            </a:r>
            <a:r>
              <a:rPr sz="1000" spc="-10" dirty="0">
                <a:solidFill>
                  <a:srgbClr val="3884B7"/>
                </a:solidFill>
                <a:latin typeface="Arial"/>
                <a:cs typeface="Arial"/>
              </a:rPr>
              <a:t>correla- </a:t>
            </a:r>
            <a:r>
              <a:rPr sz="1000" dirty="0">
                <a:solidFill>
                  <a:srgbClr val="3884B7"/>
                </a:solidFill>
                <a:latin typeface="Arial"/>
                <a:cs typeface="Arial"/>
              </a:rPr>
              <a:t>tion</a:t>
            </a:r>
            <a:r>
              <a:rPr sz="1000" spc="85" dirty="0">
                <a:solidFill>
                  <a:srgbClr val="3884B7"/>
                </a:solidFill>
                <a:latin typeface="Arial"/>
                <a:cs typeface="Arial"/>
              </a:rPr>
              <a:t> </a:t>
            </a:r>
            <a:r>
              <a:rPr sz="1000" dirty="0">
                <a:solidFill>
                  <a:srgbClr val="3884B7"/>
                </a:solidFill>
                <a:latin typeface="Arial"/>
                <a:cs typeface="Arial"/>
              </a:rPr>
              <a:t>coefficient</a:t>
            </a:r>
            <a:r>
              <a:rPr sz="1000" spc="90" dirty="0">
                <a:solidFill>
                  <a:srgbClr val="3884B7"/>
                </a:solidFill>
                <a:latin typeface="Arial"/>
                <a:cs typeface="Arial"/>
              </a:rPr>
              <a:t> </a:t>
            </a:r>
            <a:r>
              <a:rPr sz="1000" dirty="0">
                <a:solidFill>
                  <a:srgbClr val="3884B7"/>
                </a:solidFill>
                <a:latin typeface="Arial"/>
                <a:cs typeface="Arial"/>
              </a:rPr>
              <a:t>closest</a:t>
            </a:r>
            <a:r>
              <a:rPr sz="1000" spc="90" dirty="0">
                <a:solidFill>
                  <a:srgbClr val="3884B7"/>
                </a:solidFill>
                <a:latin typeface="Arial"/>
                <a:cs typeface="Arial"/>
              </a:rPr>
              <a:t> </a:t>
            </a:r>
            <a:r>
              <a:rPr sz="1000" dirty="0">
                <a:solidFill>
                  <a:srgbClr val="3884B7"/>
                </a:solidFill>
                <a:latin typeface="Arial"/>
                <a:cs typeface="Arial"/>
              </a:rPr>
              <a:t>to</a:t>
            </a:r>
            <a:r>
              <a:rPr sz="1000" spc="90" dirty="0">
                <a:solidFill>
                  <a:srgbClr val="3884B7"/>
                </a:solidFill>
                <a:latin typeface="Arial"/>
                <a:cs typeface="Arial"/>
              </a:rPr>
              <a:t> </a:t>
            </a:r>
            <a:r>
              <a:rPr sz="1000" dirty="0">
                <a:solidFill>
                  <a:srgbClr val="3884B7"/>
                </a:solidFill>
                <a:latin typeface="Arial"/>
                <a:cs typeface="Arial"/>
              </a:rPr>
              <a:t>+1</a:t>
            </a:r>
            <a:r>
              <a:rPr sz="1000" spc="90" dirty="0">
                <a:solidFill>
                  <a:srgbClr val="3884B7"/>
                </a:solidFill>
                <a:latin typeface="Arial"/>
                <a:cs typeface="Arial"/>
              </a:rPr>
              <a:t> </a:t>
            </a:r>
            <a:r>
              <a:rPr sz="1000" dirty="0">
                <a:solidFill>
                  <a:srgbClr val="3884B7"/>
                </a:solidFill>
                <a:latin typeface="Arial"/>
                <a:cs typeface="Arial"/>
              </a:rPr>
              <a:t>or</a:t>
            </a:r>
            <a:r>
              <a:rPr sz="1000" spc="85" dirty="0">
                <a:solidFill>
                  <a:srgbClr val="3884B7"/>
                </a:solidFill>
                <a:latin typeface="Arial"/>
                <a:cs typeface="Arial"/>
              </a:rPr>
              <a:t> </a:t>
            </a:r>
            <a:r>
              <a:rPr sz="1000" dirty="0">
                <a:solidFill>
                  <a:srgbClr val="3884B7"/>
                </a:solidFill>
                <a:latin typeface="Arial"/>
                <a:cs typeface="Arial"/>
              </a:rPr>
              <a:t>-</a:t>
            </a:r>
            <a:r>
              <a:rPr sz="1000" spc="-25" dirty="0">
                <a:solidFill>
                  <a:srgbClr val="3884B7"/>
                </a:solidFill>
                <a:latin typeface="Arial"/>
                <a:cs typeface="Arial"/>
              </a:rPr>
              <a:t>1?</a:t>
            </a:r>
            <a:endParaRPr sz="1000" dirty="0">
              <a:latin typeface="Arial"/>
              <a:cs typeface="Arial"/>
            </a:endParaRPr>
          </a:p>
        </p:txBody>
      </p:sp>
      <p:pic>
        <p:nvPicPr>
          <p:cNvPr id="5" name="object 5"/>
          <p:cNvPicPr/>
          <p:nvPr/>
        </p:nvPicPr>
        <p:blipFill>
          <a:blip r:embed="rId2" cstate="print"/>
          <a:stretch>
            <a:fillRect/>
          </a:stretch>
        </p:blipFill>
        <p:spPr>
          <a:xfrm>
            <a:off x="696992" y="1037630"/>
            <a:ext cx="1030067" cy="705170"/>
          </a:xfrm>
          <a:prstGeom prst="rect">
            <a:avLst/>
          </a:prstGeom>
        </p:spPr>
      </p:pic>
      <p:sp>
        <p:nvSpPr>
          <p:cNvPr id="6" name="object 6"/>
          <p:cNvSpPr txBox="1"/>
          <p:nvPr/>
        </p:nvSpPr>
        <p:spPr>
          <a:xfrm>
            <a:off x="1145363"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(a)</a:t>
            </a:r>
            <a:endParaRPr sz="700">
              <a:latin typeface="Arial"/>
              <a:cs typeface="Arial"/>
            </a:endParaRPr>
          </a:p>
        </p:txBody>
      </p:sp>
      <p:pic>
        <p:nvPicPr>
          <p:cNvPr id="7" name="object 7"/>
          <p:cNvPicPr/>
          <p:nvPr/>
        </p:nvPicPr>
        <p:blipFill>
          <a:blip r:embed="rId3" cstate="print"/>
          <a:stretch>
            <a:fillRect/>
          </a:stretch>
        </p:blipFill>
        <p:spPr>
          <a:xfrm>
            <a:off x="1863439" y="1037630"/>
            <a:ext cx="1030067" cy="705170"/>
          </a:xfrm>
          <a:prstGeom prst="rect">
            <a:avLst/>
          </a:prstGeom>
        </p:spPr>
      </p:pic>
      <p:sp>
        <p:nvSpPr>
          <p:cNvPr id="8" name="object 8"/>
          <p:cNvSpPr txBox="1"/>
          <p:nvPr/>
        </p:nvSpPr>
        <p:spPr>
          <a:xfrm>
            <a:off x="2311751"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(b)</a:t>
            </a:r>
            <a:endParaRPr sz="700">
              <a:latin typeface="Arial"/>
              <a:cs typeface="Arial"/>
            </a:endParaRPr>
          </a:p>
        </p:txBody>
      </p:sp>
      <p:pic>
        <p:nvPicPr>
          <p:cNvPr id="9" name="object 9"/>
          <p:cNvPicPr/>
          <p:nvPr/>
        </p:nvPicPr>
        <p:blipFill>
          <a:blip r:embed="rId4" cstate="print"/>
          <a:stretch>
            <a:fillRect/>
          </a:stretch>
        </p:blipFill>
        <p:spPr>
          <a:xfrm>
            <a:off x="696992" y="1949579"/>
            <a:ext cx="1030067" cy="705170"/>
          </a:xfrm>
          <a:prstGeom prst="rect">
            <a:avLst/>
          </a:prstGeom>
        </p:spPr>
      </p:pic>
      <p:sp>
        <p:nvSpPr>
          <p:cNvPr id="10" name="object 10"/>
          <p:cNvSpPr txBox="1"/>
          <p:nvPr/>
        </p:nvSpPr>
        <p:spPr>
          <a:xfrm>
            <a:off x="1147837" y="2642963"/>
            <a:ext cx="12890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(c)</a:t>
            </a:r>
            <a:endParaRPr sz="700">
              <a:latin typeface="Arial"/>
              <a:cs typeface="Arial"/>
            </a:endParaRPr>
          </a:p>
        </p:txBody>
      </p:sp>
      <p:pic>
        <p:nvPicPr>
          <p:cNvPr id="11" name="object 11"/>
          <p:cNvPicPr/>
          <p:nvPr/>
        </p:nvPicPr>
        <p:blipFill>
          <a:blip r:embed="rId5" cstate="print"/>
          <a:stretch>
            <a:fillRect/>
          </a:stretch>
        </p:blipFill>
        <p:spPr>
          <a:xfrm>
            <a:off x="1863439" y="1949579"/>
            <a:ext cx="1030067" cy="705170"/>
          </a:xfrm>
          <a:prstGeom prst="rect">
            <a:avLst/>
          </a:prstGeom>
        </p:spPr>
      </p:pic>
      <p:sp>
        <p:nvSpPr>
          <p:cNvPr id="12" name="object 12"/>
          <p:cNvSpPr txBox="1"/>
          <p:nvPr/>
        </p:nvSpPr>
        <p:spPr>
          <a:xfrm>
            <a:off x="2311751" y="264296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(d)</a:t>
            </a:r>
            <a:endParaRPr sz="700">
              <a:latin typeface="Arial"/>
              <a:cs typeface="Arial"/>
            </a:endParaRPr>
          </a:p>
        </p:txBody>
      </p:sp>
      <p:sp>
        <p:nvSpPr>
          <p:cNvPr id="13" name="object 13"/>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11</a:t>
            </a:r>
            <a:endParaRPr sz="750">
              <a:latin typeface="Arial"/>
              <a:cs typeface="Arial"/>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a:t>
            </a: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dirty="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18351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 vs. HS graduate 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44069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65976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91757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290955" cy="113792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665605" cy="159258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a:p>
            <a:pPr marL="12700" marR="5080" indent="36195">
              <a:lnSpc>
                <a:spcPct val="129900"/>
              </a:lnSpc>
              <a:spcBef>
                <a:spcPts val="464"/>
              </a:spcBef>
            </a:pPr>
            <a:r>
              <a:rPr sz="1000" i="1" dirty="0">
                <a:solidFill>
                  <a:srgbClr val="22373A"/>
                </a:solidFill>
                <a:latin typeface="Arial"/>
                <a:cs typeface="Arial"/>
              </a:rPr>
              <a:t>linear,</a:t>
            </a:r>
            <a:r>
              <a:rPr sz="1000" i="1" spc="80" dirty="0">
                <a:solidFill>
                  <a:srgbClr val="22373A"/>
                </a:solidFill>
                <a:latin typeface="Arial"/>
                <a:cs typeface="Arial"/>
              </a:rPr>
              <a:t> </a:t>
            </a:r>
            <a:r>
              <a:rPr sz="1000" i="1" dirty="0">
                <a:solidFill>
                  <a:srgbClr val="22373A"/>
                </a:solidFill>
                <a:latin typeface="Arial"/>
                <a:cs typeface="Arial"/>
              </a:rPr>
              <a:t>negative,</a:t>
            </a:r>
            <a:r>
              <a:rPr sz="1000" i="1" spc="80" dirty="0">
                <a:solidFill>
                  <a:srgbClr val="22373A"/>
                </a:solidFill>
                <a:latin typeface="Arial"/>
                <a:cs typeface="Arial"/>
              </a:rPr>
              <a:t> </a:t>
            </a:r>
            <a:r>
              <a:rPr sz="1000" i="1" spc="-10" dirty="0">
                <a:solidFill>
                  <a:srgbClr val="22373A"/>
                </a:solidFill>
                <a:latin typeface="Arial"/>
                <a:cs typeface="Arial"/>
              </a:rPr>
              <a:t>moderately strong</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CBF56-2F47-407A-C2F9-5CDFE89EACC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9B6A0A-8C46-7468-A7A7-028D54FB42B0}"/>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18</a:t>
            </a:fld>
            <a:endParaRPr lang="ru-RU"/>
          </a:p>
        </p:txBody>
      </p:sp>
      <p:graphicFrame>
        <p:nvGraphicFramePr>
          <p:cNvPr id="5" name="Group 3">
            <a:extLst>
              <a:ext uri="{FF2B5EF4-FFF2-40B4-BE49-F238E27FC236}">
                <a16:creationId xmlns:a16="http://schemas.microsoft.com/office/drawing/2014/main" id="{2313D4FC-D99C-B8E0-0FE8-E9FDE5109873}"/>
              </a:ext>
            </a:extLst>
          </p:cNvPr>
          <p:cNvGraphicFramePr>
            <a:graphicFrameLocks/>
          </p:cNvGraphicFramePr>
          <p:nvPr>
            <p:extLst>
              <p:ext uri="{D42A27DB-BD31-4B8C-83A1-F6EECF244321}">
                <p14:modId xmlns:p14="http://schemas.microsoft.com/office/powerpoint/2010/main" val="3490702610"/>
              </p:ext>
            </p:extLst>
          </p:nvPr>
        </p:nvGraphicFramePr>
        <p:xfrm>
          <a:off x="95250" y="511175"/>
          <a:ext cx="3679969" cy="1619448"/>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Alternatives if the </a:t>
                      </a:r>
                      <a:r>
                        <a:rPr kumimoji="0" lang="en-US" altLang="en-US" sz="400" b="0" i="0" u="none" strike="noStrike" cap="none" spc="0" normalizeH="0" baseline="0" dirty="0">
                          <a:ln>
                            <a:noFill/>
                          </a:ln>
                          <a:solidFill>
                            <a:srgbClr val="FF0000"/>
                          </a:solidFill>
                          <a:effectLst/>
                          <a:latin typeface="Tahoma" panose="020B0604030504040204" pitchFamily="34" charset="0"/>
                        </a:rPr>
                        <a:t>normality assumption </a:t>
                      </a:r>
                      <a:r>
                        <a:rPr kumimoji="0" lang="en-US" altLang="en-US" sz="400" b="0" i="0" u="none" strike="noStrike" cap="none" spc="0" normalizeH="0" baseline="0" dirty="0">
                          <a:ln>
                            <a:noFill/>
                          </a:ln>
                          <a:solidFill>
                            <a:schemeClr val="tx1"/>
                          </a:solidFill>
                          <a:effectLst/>
                          <a:latin typeface="Tahoma" panose="020B0604030504040204" pitchFamily="34" charset="0"/>
                        </a:rPr>
                        <a:t>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T-test:</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ANOVA:</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4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4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4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Paired ttest:</a:t>
                      </a:r>
                      <a:r>
                        <a:rPr kumimoji="0" lang="en-US" altLang="en-US" sz="4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4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4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4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4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4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0E10988C-1E19-1611-EE8E-042A7294D5A3}"/>
              </a:ext>
            </a:extLst>
          </p:cNvPr>
          <p:cNvSpPr>
            <a:spLocks noChangeArrowheads="1"/>
          </p:cNvSpPr>
          <p:nvPr/>
        </p:nvSpPr>
        <p:spPr bwMode="auto">
          <a:xfrm>
            <a:off x="552450" y="1499870"/>
            <a:ext cx="1123712" cy="46101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TextBox 5">
            <a:extLst>
              <a:ext uri="{FF2B5EF4-FFF2-40B4-BE49-F238E27FC236}">
                <a16:creationId xmlns:a16="http://schemas.microsoft.com/office/drawing/2014/main" id="{AB6CE3F2-631B-252B-EEA0-FC6EFFF57504}"/>
              </a:ext>
            </a:extLst>
          </p:cNvPr>
          <p:cNvSpPr txBox="1"/>
          <p:nvPr/>
        </p:nvSpPr>
        <p:spPr>
          <a:xfrm>
            <a:off x="-21951" y="37699"/>
            <a:ext cx="5718480" cy="261610"/>
          </a:xfrm>
          <a:prstGeom prst="rect">
            <a:avLst/>
          </a:prstGeom>
          <a:noFill/>
        </p:spPr>
        <p:txBody>
          <a:bodyPr wrap="square">
            <a:spAutoFit/>
          </a:bodyPr>
          <a:lstStyle/>
          <a:p>
            <a:r>
              <a:rPr lang="en-US" sz="1100" dirty="0">
                <a:solidFill>
                  <a:schemeClr val="bg1"/>
                </a:solidFill>
                <a:latin typeface="Arial" panose="020B0604020202020204" pitchFamily="34" charset="0"/>
                <a:cs typeface="Arial" panose="020B0604020202020204" pitchFamily="34" charset="0"/>
              </a:rPr>
              <a:t>Model selection for continuous dependent variables</a:t>
            </a:r>
          </a:p>
        </p:txBody>
      </p:sp>
    </p:spTree>
    <p:extLst>
      <p:ext uri="{BB962C8B-B14F-4D97-AF65-F5344CB8AC3E}">
        <p14:creationId xmlns:p14="http://schemas.microsoft.com/office/powerpoint/2010/main" val="525046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122770" y="83027"/>
            <a:ext cx="3828415" cy="169277"/>
          </a:xfrm>
        </p:spPr>
        <p:txBody>
          <a:bodyPr/>
          <a:lstStyle/>
          <a:p>
            <a:r>
              <a:rPr lang="en-US" dirty="0"/>
              <a:t>Uses of Linear Regression Analysis</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95250" y="511175"/>
            <a:ext cx="4182537" cy="1692771"/>
          </a:xfrm>
        </p:spPr>
        <p:txBody>
          <a:bodyPr/>
          <a:lstStyle/>
          <a:p>
            <a:pPr algn="l" rtl="0" eaLnBrk="1" hangingPunct="1"/>
            <a:r>
              <a:rPr lang="en-US" altLang="en-US" dirty="0">
                <a:solidFill>
                  <a:schemeClr val="tx1"/>
                </a:solidFill>
                <a:latin typeface="Arial" panose="020B0604020202020204" pitchFamily="34" charset="0"/>
                <a:cs typeface="Arial" panose="020B0604020202020204" pitchFamily="34" charset="0"/>
              </a:rPr>
              <a:t>Regression analysis serves </a:t>
            </a:r>
            <a:r>
              <a:rPr lang="en-US" altLang="en-US" b="1" dirty="0">
                <a:solidFill>
                  <a:schemeClr val="tx1"/>
                </a:solidFill>
                <a:latin typeface="Arial" panose="020B0604020202020204" pitchFamily="34" charset="0"/>
                <a:cs typeface="Arial" panose="020B0604020202020204" pitchFamily="34" charset="0"/>
              </a:rPr>
              <a:t>3 major purposes</a:t>
            </a:r>
            <a:r>
              <a:rPr lang="en-US" altLang="en-US" dirty="0">
                <a:solidFill>
                  <a:schemeClr val="tx1"/>
                </a:solidFill>
                <a:latin typeface="Arial" panose="020B0604020202020204" pitchFamily="34" charset="0"/>
                <a:cs typeface="Arial" panose="020B0604020202020204" pitchFamily="34" charset="0"/>
              </a:rPr>
              <a:t>:</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Description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Prediction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Control </a:t>
            </a:r>
            <a:r>
              <a:rPr lang="en-US" alt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ceteris paribus</a:t>
            </a:r>
          </a:p>
          <a:p>
            <a:pPr marL="488350" lvl="2" indent="-194476" algn="l" rtl="0">
              <a:buFont typeface="+mj-lt"/>
              <a:buAutoNum type="arabicPeriod"/>
            </a:pPr>
            <a:endParaRPr lang="en-US" altLang="en-US" sz="1000" dirty="0">
              <a:solidFill>
                <a:schemeClr val="tx1"/>
              </a:solidFill>
              <a:highlight>
                <a:srgbClr val="00FFFF"/>
              </a:highlight>
              <a:latin typeface="Arial" panose="020B0604020202020204" pitchFamily="34" charset="0"/>
              <a:cs typeface="Arial" panose="020B0604020202020204" pitchFamily="34" charset="0"/>
            </a:endParaRPr>
          </a:p>
          <a:p>
            <a:pPr algn="l" rtl="0" eaLnBrk="1" hangingPunct="1"/>
            <a:r>
              <a:rPr lang="en-US" altLang="en-US" dirty="0">
                <a:solidFill>
                  <a:schemeClr val="tx1"/>
                </a:solidFill>
                <a:latin typeface="Arial" panose="020B0604020202020204" pitchFamily="34" charset="0"/>
                <a:cs typeface="Arial" panose="020B0604020202020204" pitchFamily="34" charset="0"/>
              </a:rPr>
              <a:t>The several purposes of regression analysis frequently overlap in practice</a:t>
            </a:r>
          </a:p>
          <a:p>
            <a:pPr algn="l" rtl="0" eaLnBrk="1" hangingPunct="1"/>
            <a:endParaRPr lang="en-US" altLang="en-US" dirty="0">
              <a:solidFill>
                <a:schemeClr val="tx1"/>
              </a:solidFill>
              <a:latin typeface="Arial" panose="020B0604020202020204" pitchFamily="34" charset="0"/>
              <a:cs typeface="Arial" panose="020B0604020202020204" pitchFamily="34" charset="0"/>
            </a:endParaRPr>
          </a:p>
          <a:p>
            <a:pPr algn="l" rtl="0" eaLnBrk="1" hangingPunct="1"/>
            <a:r>
              <a:rPr lang="en-US" altLang="en-US" dirty="0">
                <a:solidFill>
                  <a:srgbClr val="FF0000"/>
                </a:solidFill>
                <a:latin typeface="Arial" panose="020B0604020202020204" pitchFamily="34" charset="0"/>
                <a:cs typeface="Arial" panose="020B0604020202020204" pitchFamily="34" charset="0"/>
              </a:rPr>
              <a:t>Caution</a:t>
            </a:r>
            <a:r>
              <a:rPr lang="en-US" altLang="en-US" dirty="0">
                <a:solidFill>
                  <a:schemeClr val="tx1"/>
                </a:solidFill>
                <a:latin typeface="Arial" panose="020B0604020202020204" pitchFamily="34" charset="0"/>
                <a:cs typeface="Arial" panose="020B0604020202020204" pitchFamily="34" charset="0"/>
              </a:rPr>
              <a:t>: this model has many assumptions that most often fail in real life. It is a model that rarely, if ever, works in our field, for reasons we will discuss later.</a:t>
            </a:r>
          </a:p>
          <a:p>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1935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57DDA7-C7CD-DBE7-3F0A-EF45A297ABA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5" name="Title 4">
            <a:extLst>
              <a:ext uri="{FF2B5EF4-FFF2-40B4-BE49-F238E27FC236}">
                <a16:creationId xmlns:a16="http://schemas.microsoft.com/office/drawing/2014/main" id="{2F5E8456-0E59-7F79-5D1E-9EA252C5B15E}"/>
              </a:ext>
            </a:extLst>
          </p:cNvPr>
          <p:cNvSpPr>
            <a:spLocks noGrp="1"/>
          </p:cNvSpPr>
          <p:nvPr>
            <p:ph type="title"/>
          </p:nvPr>
        </p:nvSpPr>
        <p:spPr>
          <a:xfrm>
            <a:off x="122770" y="83027"/>
            <a:ext cx="3828415" cy="169277"/>
          </a:xfrm>
        </p:spPr>
        <p:txBody>
          <a:bodyPr/>
          <a:lstStyle/>
          <a:p>
            <a:r>
              <a:rPr lang="en-US" dirty="0"/>
              <a:t>What is Simple Linear Regression (SLR)?</a:t>
            </a:r>
          </a:p>
        </p:txBody>
      </p:sp>
      <p:sp>
        <p:nvSpPr>
          <p:cNvPr id="6" name="Content Placeholder 5">
            <a:extLst>
              <a:ext uri="{FF2B5EF4-FFF2-40B4-BE49-F238E27FC236}">
                <a16:creationId xmlns:a16="http://schemas.microsoft.com/office/drawing/2014/main" id="{229D4745-E67D-4A50-6236-19BDD9DB023D}"/>
              </a:ext>
            </a:extLst>
          </p:cNvPr>
          <p:cNvSpPr>
            <a:spLocks noGrp="1"/>
          </p:cNvSpPr>
          <p:nvPr>
            <p:ph idx="1"/>
          </p:nvPr>
        </p:nvSpPr>
        <p:spPr>
          <a:xfrm>
            <a:off x="122770" y="434975"/>
            <a:ext cx="4191000" cy="1538883"/>
          </a:xfrm>
        </p:spPr>
        <p:txBody>
          <a:bodyPr/>
          <a:lstStyle/>
          <a:p>
            <a:pPr algn="l" rtl="0" eaLnBrk="1" hangingPunct="1">
              <a:lnSpc>
                <a:spcPct val="90000"/>
              </a:lnSpc>
            </a:pPr>
            <a:r>
              <a:rPr lang="en-US" altLang="ar-SA" dirty="0">
                <a:latin typeface="Arial" panose="020B0604020202020204" pitchFamily="34" charset="0"/>
                <a:cs typeface="Arial" panose="020B0604020202020204" pitchFamily="34" charset="0"/>
              </a:rPr>
              <a:t>Simple regression analysis is a statistical tool that allows us to estimate the relationship between two variables: a dependent variable (typically labeled </a:t>
            </a:r>
            <a:r>
              <a:rPr lang="en-US" altLang="ar-SA" i="1" dirty="0">
                <a:latin typeface="Arial" panose="020B0604020202020204" pitchFamily="34" charset="0"/>
                <a:cs typeface="Arial" panose="020B0604020202020204" pitchFamily="34" charset="0"/>
              </a:rPr>
              <a:t>Y</a:t>
            </a:r>
            <a:r>
              <a:rPr lang="en-US" altLang="ar-SA" dirty="0">
                <a:latin typeface="Arial" panose="020B0604020202020204" pitchFamily="34" charset="0"/>
                <a:cs typeface="Arial" panose="020B0604020202020204" pitchFamily="34" charset="0"/>
              </a:rPr>
              <a:t>) and an independent variable (typically labeled </a:t>
            </a:r>
            <a:r>
              <a:rPr lang="en-US" altLang="ar-SA" i="1" dirty="0">
                <a:latin typeface="Arial" panose="020B0604020202020204" pitchFamily="34" charset="0"/>
                <a:cs typeface="Arial" panose="020B0604020202020204" pitchFamily="34" charset="0"/>
              </a:rPr>
              <a:t>X</a:t>
            </a:r>
            <a:r>
              <a:rPr lang="en-US" altLang="ar-SA" dirty="0">
                <a:latin typeface="Arial" panose="020B0604020202020204" pitchFamily="34" charset="0"/>
                <a:cs typeface="Arial" panose="020B0604020202020204" pitchFamily="34" charset="0"/>
              </a:rPr>
              <a:t>)</a:t>
            </a:r>
            <a:endParaRPr lang="en-US" altLang="ar-SA" sz="1800" dirty="0">
              <a:latin typeface="Arial" panose="020B0604020202020204" pitchFamily="34" charset="0"/>
              <a:cs typeface="Arial" panose="020B0604020202020204" pitchFamily="34" charset="0"/>
            </a:endParaRPr>
          </a:p>
          <a:p>
            <a:pPr marL="171450" indent="-171450" algn="l" rtl="0" eaLnBrk="1" hangingPunct="1">
              <a:lnSpc>
                <a:spcPct val="90000"/>
              </a:lnSpc>
              <a:buFont typeface="Arial" panose="020B0604020202020204" pitchFamily="34" charset="0"/>
              <a:buChar char="•"/>
            </a:pPr>
            <a:r>
              <a:rPr lang="en-US" altLang="ar-SA" sz="1000" dirty="0">
                <a:latin typeface="Arial" panose="020B0604020202020204" pitchFamily="34" charset="0"/>
                <a:cs typeface="Arial" panose="020B0604020202020204" pitchFamily="34" charset="0"/>
              </a:rPr>
              <a:t>The dependent variable is the variable for which we want to make a prediction</a:t>
            </a:r>
            <a:endParaRPr lang="en-US" altLang="ar-SA" dirty="0">
              <a:latin typeface="Arial" panose="020B0604020202020204" pitchFamily="34" charset="0"/>
              <a:cs typeface="Arial" panose="020B0604020202020204" pitchFamily="34" charset="0"/>
            </a:endParaRPr>
          </a:p>
          <a:p>
            <a:pPr marL="171450" indent="-171450" algn="l" rtl="0" eaLnBrk="1" hangingPunct="1">
              <a:lnSpc>
                <a:spcPct val="90000"/>
              </a:lnSpc>
              <a:buFont typeface="Arial" panose="020B0604020202020204" pitchFamily="34" charset="0"/>
              <a:buChar char="•"/>
            </a:pPr>
            <a:r>
              <a:rPr lang="en-US" altLang="ar-SA" dirty="0">
                <a:latin typeface="Arial" panose="020B0604020202020204" pitchFamily="34" charset="0"/>
                <a:cs typeface="Arial" panose="020B0604020202020204" pitchFamily="34" charset="0"/>
              </a:rPr>
              <a:t>SLR estimates a </a:t>
            </a:r>
            <a:r>
              <a:rPr lang="en-US" altLang="ar-SA" b="1" dirty="0">
                <a:latin typeface="Arial" panose="020B0604020202020204" pitchFamily="34" charset="0"/>
                <a:cs typeface="Arial" panose="020B0604020202020204" pitchFamily="34" charset="0"/>
              </a:rPr>
              <a:t>linear equation </a:t>
            </a:r>
            <a:r>
              <a:rPr lang="en-US" altLang="ar-SA" dirty="0">
                <a:latin typeface="Arial" panose="020B0604020202020204" pitchFamily="34" charset="0"/>
                <a:cs typeface="Arial" panose="020B0604020202020204" pitchFamily="34" charset="0"/>
              </a:rPr>
              <a:t>that predicts the dependent variable based on values of the independent variable (</a:t>
            </a:r>
            <a:r>
              <a:rPr lang="en-US" altLang="ar-SA" i="1" dirty="0">
                <a:latin typeface="Arial" panose="020B0604020202020204" pitchFamily="34" charset="0"/>
                <a:cs typeface="Arial" panose="020B0604020202020204" pitchFamily="34" charset="0"/>
              </a:rPr>
              <a:t>X</a:t>
            </a:r>
            <a:r>
              <a:rPr lang="en-US" altLang="ar-SA" dirty="0">
                <a:latin typeface="Arial" panose="020B0604020202020204" pitchFamily="34" charset="0"/>
                <a:cs typeface="Arial" panose="020B0604020202020204" pitchFamily="34" charset="0"/>
              </a:rPr>
              <a:t>)</a:t>
            </a:r>
          </a:p>
          <a:p>
            <a:pPr algn="l" rtl="0" eaLnBrk="1" hangingPunct="1">
              <a:lnSpc>
                <a:spcPct val="90000"/>
              </a:lnSpc>
            </a:pPr>
            <a:endParaRPr lang="en-US" altLang="ar-SA" dirty="0">
              <a:latin typeface="Arial" panose="020B0604020202020204" pitchFamily="34" charset="0"/>
              <a:cs typeface="Arial" panose="020B0604020202020204" pitchFamily="34" charset="0"/>
            </a:endParaRPr>
          </a:p>
          <a:p>
            <a:pPr algn="l" rtl="0" eaLnBrk="1" hangingPunct="1">
              <a:lnSpc>
                <a:spcPct val="90000"/>
              </a:lnSpc>
            </a:pPr>
            <a:r>
              <a:rPr lang="en-US" altLang="ar-SA" sz="1000" dirty="0">
                <a:latin typeface="Arial" panose="020B0604020202020204" pitchFamily="34" charset="0"/>
                <a:cs typeface="Arial" panose="020B0604020202020204" pitchFamily="34" charset="0"/>
              </a:rPr>
              <a:t>While various non-linear forms may be used, linear models are the most common (and the most useless)</a:t>
            </a:r>
          </a:p>
          <a:p>
            <a:endParaRPr lang="en-US"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6163880E-57D5-BDAD-1DB8-5FEA636484DF}"/>
              </a:ext>
            </a:extLst>
          </p:cNvPr>
          <p:cNvSpPr/>
          <p:nvPr/>
        </p:nvSpPr>
        <p:spPr>
          <a:xfrm>
            <a:off x="476250" y="2492375"/>
            <a:ext cx="1066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92D050"/>
                </a:solidFill>
              </a:rPr>
              <a:t>X</a:t>
            </a:r>
          </a:p>
        </p:txBody>
      </p:sp>
      <p:sp>
        <p:nvSpPr>
          <p:cNvPr id="4" name="Rectangle 3">
            <a:extLst>
              <a:ext uri="{FF2B5EF4-FFF2-40B4-BE49-F238E27FC236}">
                <a16:creationId xmlns:a16="http://schemas.microsoft.com/office/drawing/2014/main" id="{3B04ED68-2892-92C4-EEDF-A2260CCA8AFA}"/>
              </a:ext>
            </a:extLst>
          </p:cNvPr>
          <p:cNvSpPr/>
          <p:nvPr/>
        </p:nvSpPr>
        <p:spPr>
          <a:xfrm>
            <a:off x="3048000" y="2492375"/>
            <a:ext cx="1066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rgbClr val="0070C0"/>
                </a:solidFill>
              </a:rPr>
              <a:t>Y</a:t>
            </a:r>
          </a:p>
        </p:txBody>
      </p:sp>
      <p:cxnSp>
        <p:nvCxnSpPr>
          <p:cNvPr id="8" name="Straight Arrow Connector 7">
            <a:extLst>
              <a:ext uri="{FF2B5EF4-FFF2-40B4-BE49-F238E27FC236}">
                <a16:creationId xmlns:a16="http://schemas.microsoft.com/office/drawing/2014/main" id="{49E506CE-36A9-7FBE-255C-3EB85AB40BAD}"/>
              </a:ext>
            </a:extLst>
          </p:cNvPr>
          <p:cNvCxnSpPr>
            <a:stCxn id="3" idx="3"/>
            <a:endCxn id="4" idx="1"/>
          </p:cNvCxnSpPr>
          <p:nvPr/>
        </p:nvCxnSpPr>
        <p:spPr>
          <a:xfrm>
            <a:off x="1543050" y="2759075"/>
            <a:ext cx="1504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279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8F9E8-9C66-496D-B37E-83065854B139}"/>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3" name="Title 2">
            <a:extLst>
              <a:ext uri="{FF2B5EF4-FFF2-40B4-BE49-F238E27FC236}">
                <a16:creationId xmlns:a16="http://schemas.microsoft.com/office/drawing/2014/main" id="{17523E8C-F049-4B08-BEAA-E3C6C7BC7099}"/>
              </a:ext>
            </a:extLst>
          </p:cNvPr>
          <p:cNvSpPr>
            <a:spLocks noGrp="1"/>
          </p:cNvSpPr>
          <p:nvPr>
            <p:ph type="title"/>
          </p:nvPr>
        </p:nvSpPr>
        <p:spPr>
          <a:xfrm>
            <a:off x="122770" y="83027"/>
            <a:ext cx="3828415" cy="169277"/>
          </a:xfrm>
        </p:spPr>
        <p:txBody>
          <a:bodyPr/>
          <a:lstStyle/>
          <a:p>
            <a:r>
              <a:rPr lang="en-US" altLang="en-US" dirty="0">
                <a:ea typeface="ＭＳ Ｐゴシック" panose="020B0600070205080204" pitchFamily="34" charset="-128"/>
              </a:rPr>
              <a:t>Linear regression –Terminology</a:t>
            </a:r>
            <a:endParaRPr lang="en-US" dirty="0"/>
          </a:p>
        </p:txBody>
      </p:sp>
      <p:sp>
        <p:nvSpPr>
          <p:cNvPr id="4" name="Content Placeholder 3">
            <a:extLst>
              <a:ext uri="{FF2B5EF4-FFF2-40B4-BE49-F238E27FC236}">
                <a16:creationId xmlns:a16="http://schemas.microsoft.com/office/drawing/2014/main" id="{ABEF4A57-9583-44FE-A333-D825FEAABA11}"/>
              </a:ext>
            </a:extLst>
          </p:cNvPr>
          <p:cNvSpPr>
            <a:spLocks noGrp="1"/>
          </p:cNvSpPr>
          <p:nvPr>
            <p:ph idx="1"/>
          </p:nvPr>
        </p:nvSpPr>
        <p:spPr>
          <a:xfrm>
            <a:off x="102831" y="499269"/>
            <a:ext cx="3478569" cy="1846659"/>
          </a:xfrm>
        </p:spPr>
        <p:txBody>
          <a:bodyPr/>
          <a:lstStyle/>
          <a:p>
            <a:r>
              <a:rPr lang="en-US" dirty="0">
                <a:latin typeface="Arial" panose="020B0604020202020204" pitchFamily="34" charset="0"/>
                <a:cs typeface="Arial" panose="020B0604020202020204" pitchFamily="34" charset="0"/>
              </a:rPr>
              <a:t>Outcome, </a:t>
            </a:r>
            <a:r>
              <a:rPr lang="en-US" i="1" dirty="0">
                <a:latin typeface="Arial" panose="020B0604020202020204" pitchFamily="34" charset="0"/>
                <a:cs typeface="Arial" panose="020B0604020202020204" pitchFamily="34" charset="0"/>
              </a:rPr>
              <a:t>Y</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Response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MUST be continuous (e.g., height, weight)</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Is a variable measured using a Likert score continuous?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Explanatory variable (predictor), </a:t>
            </a:r>
            <a:r>
              <a:rPr lang="en-US" i="1" dirty="0">
                <a:latin typeface="Arial" panose="020B0604020202020204" pitchFamily="34" charset="0"/>
                <a:cs typeface="Arial" panose="020B0604020202020204" pitchFamily="34" charset="0"/>
              </a:rPr>
              <a:t>X</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Independent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Covariate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Can be continuous or categorical (e.g., age, has PTSD, gender)</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2751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1A698-0A26-2F4E-B7D4-2D1006BA7C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7A4479-D472-E742-FCA4-5DED360313E5}"/>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3" name="Title 2">
            <a:extLst>
              <a:ext uri="{FF2B5EF4-FFF2-40B4-BE49-F238E27FC236}">
                <a16:creationId xmlns:a16="http://schemas.microsoft.com/office/drawing/2014/main" id="{1DA607BE-1B17-A5E4-B23B-2E0124A11FB2}"/>
              </a:ext>
            </a:extLst>
          </p:cNvPr>
          <p:cNvSpPr>
            <a:spLocks noGrp="1"/>
          </p:cNvSpPr>
          <p:nvPr>
            <p:ph type="title"/>
          </p:nvPr>
        </p:nvSpPr>
        <p:spPr>
          <a:xfrm>
            <a:off x="122770" y="83027"/>
            <a:ext cx="3828415" cy="169277"/>
          </a:xfrm>
        </p:spPr>
        <p:txBody>
          <a:bodyPr/>
          <a:lstStyle/>
          <a:p>
            <a:r>
              <a:rPr lang="en-US" altLang="en-US" dirty="0">
                <a:ea typeface="ＭＳ Ｐゴシック" panose="020B0600070205080204" pitchFamily="34" charset="-128"/>
              </a:rPr>
              <a:t>What is SLR Useful For?</a:t>
            </a:r>
            <a:endParaRPr lang="en-US" dirty="0"/>
          </a:p>
        </p:txBody>
      </p:sp>
      <p:sp>
        <p:nvSpPr>
          <p:cNvPr id="4" name="Content Placeholder 3">
            <a:extLst>
              <a:ext uri="{FF2B5EF4-FFF2-40B4-BE49-F238E27FC236}">
                <a16:creationId xmlns:a16="http://schemas.microsoft.com/office/drawing/2014/main" id="{678A997C-1AED-4B1B-996E-1FD6A864F7AC}"/>
              </a:ext>
            </a:extLst>
          </p:cNvPr>
          <p:cNvSpPr>
            <a:spLocks noGrp="1"/>
          </p:cNvSpPr>
          <p:nvPr>
            <p:ph idx="1"/>
          </p:nvPr>
        </p:nvSpPr>
        <p:spPr>
          <a:xfrm>
            <a:off x="102831" y="499269"/>
            <a:ext cx="3478569" cy="923330"/>
          </a:xfrm>
        </p:spPr>
        <p:txBody>
          <a:bodyPr/>
          <a:lstStyle/>
          <a:p>
            <a:r>
              <a:rPr lang="en-US" dirty="0">
                <a:latin typeface="Arial" panose="020B0604020202020204" pitchFamily="34" charset="0"/>
                <a:cs typeface="Arial" panose="020B0604020202020204" pitchFamily="34" charset="0"/>
              </a:rPr>
              <a:t>Applications:      </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Predicting outcomes (e.g., predicting sales from advertising spend).</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Understanding relationships (e.g., the relationship between study hours and test scores)</a:t>
            </a: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Quantifying the impact of one variable on another. </a:t>
            </a:r>
          </a:p>
        </p:txBody>
      </p:sp>
      <p:sp>
        <p:nvSpPr>
          <p:cNvPr id="6" name="TextBox 5">
            <a:extLst>
              <a:ext uri="{FF2B5EF4-FFF2-40B4-BE49-F238E27FC236}">
                <a16:creationId xmlns:a16="http://schemas.microsoft.com/office/drawing/2014/main" id="{BFD75F5B-FA10-CC28-642C-DDEC3C6FC35A}"/>
              </a:ext>
            </a:extLst>
          </p:cNvPr>
          <p:cNvSpPr txBox="1"/>
          <p:nvPr/>
        </p:nvSpPr>
        <p:spPr>
          <a:xfrm>
            <a:off x="323849" y="1761152"/>
            <a:ext cx="3828415" cy="523220"/>
          </a:xfrm>
          <a:prstGeom prst="rect">
            <a:avLst/>
          </a:prstGeom>
          <a:noFill/>
        </p:spPr>
        <p:txBody>
          <a:bodyPr wrap="square">
            <a:spAutoFit/>
          </a:bodyPr>
          <a:lstStyle/>
          <a:p>
            <a:r>
              <a:rPr lang="en-US" sz="1400" dirty="0">
                <a:solidFill>
                  <a:srgbClr val="0070C0"/>
                </a:solidFill>
                <a:latin typeface="Arial" panose="020B0604020202020204" pitchFamily="34" charset="0"/>
                <a:cs typeface="Arial" panose="020B0604020202020204" pitchFamily="34" charset="0"/>
              </a:rPr>
              <a:t>SLR is foundational for more complex modeling techniques.</a:t>
            </a:r>
          </a:p>
        </p:txBody>
      </p:sp>
    </p:spTree>
    <p:extLst>
      <p:ext uri="{BB962C8B-B14F-4D97-AF65-F5344CB8AC3E}">
        <p14:creationId xmlns:p14="http://schemas.microsoft.com/office/powerpoint/2010/main" val="104993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DF10A-CC81-404A-BAE5-F2AFADF85F5A}"/>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93CB6580-7287-4513-9175-76E38676F98F}"/>
              </a:ext>
            </a:extLst>
          </p:cNvPr>
          <p:cNvSpPr>
            <a:spLocks noGrp="1"/>
          </p:cNvSpPr>
          <p:nvPr>
            <p:ph type="title"/>
          </p:nvPr>
        </p:nvSpPr>
        <p:spPr>
          <a:xfrm>
            <a:off x="122770" y="83027"/>
            <a:ext cx="3828415" cy="169277"/>
          </a:xfrm>
        </p:spPr>
        <p:txBody>
          <a:bodyPr/>
          <a:lstStyle/>
          <a:p>
            <a:r>
              <a:rPr lang="en-US" dirty="0"/>
              <a:t>Introduction: Linear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245968FD-F5FB-4A28-843F-9E4EE7202D2C}"/>
                  </a:ext>
                </a:extLst>
              </p:cNvPr>
              <p:cNvSpPr>
                <a:spLocks noGrp="1"/>
              </p:cNvSpPr>
              <p:nvPr>
                <p:ph idx="1"/>
              </p:nvPr>
            </p:nvSpPr>
            <p:spPr>
              <a:xfrm>
                <a:off x="122770" y="511175"/>
                <a:ext cx="4011969" cy="2339975"/>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Aims to predict the value of an </a:t>
                </a:r>
                <a:r>
                  <a:rPr lang="en-US" altLang="en-US"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outcome of a continuous variable, </a:t>
                </a:r>
                <a:r>
                  <a:rPr lang="en-US" altLang="en-US"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dirty="0">
                    <a:latin typeface="Arial" panose="020B0604020202020204" pitchFamily="34" charset="0"/>
                    <a:ea typeface="ＭＳ Ｐゴシック" panose="020B0600070205080204" pitchFamily="34" charset="-128"/>
                    <a:cs typeface="Arial" panose="020B0604020202020204" pitchFamily="34" charset="0"/>
                  </a:rPr>
                  <a:t>, based on the value of one or more explanatory variables, </a:t>
                </a:r>
                <a14:m>
                  <m:oMath xmlns:m="http://schemas.openxmlformats.org/officeDocument/2006/math">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1</m:t>
                        </m:r>
                      </m:sub>
                    </m:sSub>
                    <m:r>
                      <a:rPr lang="en-US" altLang="en-US" i="1">
                        <a:latin typeface="Cambria Math" panose="02040503050406030204" pitchFamily="18" charset="0"/>
                        <a:ea typeface="ＭＳ Ｐゴシック" panose="020B0600070205080204" pitchFamily="34" charset="-128"/>
                      </a:rPr>
                      <m:t>, …</m:t>
                    </m:r>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𝑛</m:t>
                        </m:r>
                      </m:sub>
                    </m:sSub>
                  </m:oMath>
                </a14:m>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endPar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n refers to the number of total explanatory or independent variables in your model.</a:t>
                </a:r>
              </a:p>
              <a:p>
                <a:endPar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Key question: What is the relationship between </a:t>
                </a:r>
                <a:r>
                  <a:rPr lang="en-US" altLang="en-US" sz="1000"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average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and</a:t>
                </a:r>
                <a:r>
                  <a:rPr lang="en-US" altLang="en-US" sz="1000" dirty="0">
                    <a:solidFill>
                      <a:schemeClr val="accent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000" i="1" dirty="0" err="1">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s</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The regression “models” this as a line</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We care about “slope” of the line, including magnitude &amp; direction</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When the slope=0 there is “no association” between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Y</a:t>
                </a:r>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How precisely can we predict a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conditional on certain values of the independent variables?</a:t>
                </a:r>
                <a:endParaRPr lang="en-US" sz="1000" dirty="0">
                  <a:latin typeface="Arial" panose="020B0604020202020204" pitchFamily="34" charset="0"/>
                  <a:cs typeface="Arial" panose="020B0604020202020204" pitchFamily="34" charset="0"/>
                </a:endParaRPr>
              </a:p>
            </p:txBody>
          </p:sp>
        </mc:Choice>
        <mc:Fallback xmlns="">
          <p:sp>
            <p:nvSpPr>
              <p:cNvPr id="10" name="Content Placeholder 9">
                <a:extLst>
                  <a:ext uri="{FF2B5EF4-FFF2-40B4-BE49-F238E27FC236}">
                    <a16:creationId xmlns:a16="http://schemas.microsoft.com/office/drawing/2014/main" id="{245968FD-F5FB-4A28-843F-9E4EE7202D2C}"/>
                  </a:ext>
                </a:extLst>
              </p:cNvPr>
              <p:cNvSpPr>
                <a:spLocks noGrp="1" noRot="1" noChangeAspect="1" noMove="1" noResize="1" noEditPoints="1" noAdjustHandles="1" noChangeArrowheads="1" noChangeShapeType="1" noTextEdit="1"/>
              </p:cNvSpPr>
              <p:nvPr>
                <p:ph idx="1"/>
              </p:nvPr>
            </p:nvSpPr>
            <p:spPr>
              <a:xfrm>
                <a:off x="122770" y="511175"/>
                <a:ext cx="4011969" cy="2339975"/>
              </a:xfrm>
              <a:blipFill>
                <a:blip r:embed="rId2"/>
                <a:stretch>
                  <a:fillRect l="-1976" t="-2083" r="-1672"/>
                </a:stretch>
              </a:blipFill>
            </p:spPr>
            <p:txBody>
              <a:bodyPr/>
              <a:lstStyle/>
              <a:p>
                <a:r>
                  <a:rPr lang="en-US">
                    <a:noFill/>
                  </a:rPr>
                  <a:t> </a:t>
                </a:r>
              </a:p>
            </p:txBody>
          </p:sp>
        </mc:Fallback>
      </mc:AlternateContent>
    </p:spTree>
    <p:extLst>
      <p:ext uri="{BB962C8B-B14F-4D97-AF65-F5344CB8AC3E}">
        <p14:creationId xmlns:p14="http://schemas.microsoft.com/office/powerpoint/2010/main" val="1655984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76244" y="469642"/>
            <a:ext cx="4415339" cy="415498"/>
          </a:xfrm>
        </p:spPr>
        <p:txBody>
          <a:bodyPr/>
          <a:lstStyle/>
          <a:p>
            <a:pPr>
              <a:lnSpc>
                <a:spcPct val="90000"/>
              </a:lnSpc>
            </a:pPr>
            <a:r>
              <a:rPr lang="en-US" altLang="en-US" dirty="0">
                <a:latin typeface="Arial" panose="020B0604020202020204" pitchFamily="34" charset="0"/>
                <a:cs typeface="Arial" panose="020B0604020202020204" pitchFamily="34" charset="0"/>
              </a:rPr>
              <a:t>Linear regression is merely an extension of the equation</a:t>
            </a:r>
          </a:p>
          <a:p>
            <a:pPr>
              <a:lnSpc>
                <a:spcPct val="90000"/>
              </a:lnSpc>
            </a:pPr>
            <a:endParaRPr lang="en-US" altLang="en-US" dirty="0">
              <a:latin typeface="Arial" panose="020B0604020202020204" pitchFamily="34" charset="0"/>
              <a:cs typeface="Arial" panose="020B0604020202020204" pitchFamily="34" charset="0"/>
            </a:endParaRPr>
          </a:p>
          <a:p>
            <a:pPr lvl="1">
              <a:lnSpc>
                <a:spcPct val="90000"/>
              </a:lnSpc>
              <a:buFontTx/>
              <a:buNone/>
            </a:pPr>
            <a:endParaRPr lang="en-US" altLang="en-US" sz="1000" dirty="0">
              <a:latin typeface="Arial" panose="020B0604020202020204" pitchFamily="34" charset="0"/>
              <a:cs typeface="Arial" panose="020B0604020202020204" pitchFamily="34" charset="0"/>
            </a:endParaRPr>
          </a:p>
        </p:txBody>
      </p:sp>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2052381" y="1349375"/>
            <a:ext cx="2439202" cy="1300652"/>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37987" y="2639381"/>
            <a:ext cx="25359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X</a:t>
            </a:r>
          </a:p>
        </p:txBody>
      </p:sp>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838020" y="1267814"/>
            <a:ext cx="24878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Y</a:t>
            </a: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2052381" y="1412452"/>
            <a:ext cx="1408796" cy="894892"/>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885618" y="2203623"/>
            <a:ext cx="22794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Times New Roman" panose="02020603050405020304" pitchFamily="18" charset="0"/>
                <a:ea typeface="+mn-ea"/>
                <a:cs typeface="+mn-cs"/>
              </a:rPr>
              <a:t>b</a:t>
            </a:r>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189800" y="2052953"/>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204851" y="2220804"/>
            <a:ext cx="33695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431284" y="2081150"/>
            <a:ext cx="34015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C6B8D43-2081-666E-D8C9-ED70C622D35E}"/>
                  </a:ext>
                </a:extLst>
              </p:cNvPr>
              <p:cNvSpPr txBox="1"/>
              <p:nvPr/>
            </p:nvSpPr>
            <p:spPr>
              <a:xfrm>
                <a:off x="3115116" y="421285"/>
                <a:ext cx="1155139" cy="20941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361" i="1">
                          <a:solidFill>
                            <a:schemeClr val="tx1"/>
                          </a:solidFill>
                          <a:latin typeface="Cambria Math" panose="02040503050406030204" pitchFamily="18" charset="0"/>
                        </a:rPr>
                        <m:t>𝑌</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𝑚𝑋</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 name="TextBox 1">
                <a:extLst>
                  <a:ext uri="{FF2B5EF4-FFF2-40B4-BE49-F238E27FC236}">
                    <a16:creationId xmlns:a16="http://schemas.microsoft.com/office/drawing/2014/main" id="{CC6B8D43-2081-666E-D8C9-ED70C622D35E}"/>
                  </a:ext>
                </a:extLst>
              </p:cNvPr>
              <p:cNvSpPr txBox="1">
                <a:spLocks noRot="1" noChangeAspect="1" noMove="1" noResize="1" noEditPoints="1" noAdjustHandles="1" noChangeArrowheads="1" noChangeShapeType="1" noTextEdit="1"/>
              </p:cNvSpPr>
              <p:nvPr/>
            </p:nvSpPr>
            <p:spPr>
              <a:xfrm>
                <a:off x="3115116" y="421285"/>
                <a:ext cx="1155139" cy="209416"/>
              </a:xfrm>
              <a:prstGeom prst="rect">
                <a:avLst/>
              </a:prstGeom>
              <a:blipFill>
                <a:blip r:embed="rId3"/>
                <a:stretch>
                  <a:fillRect b="-14706"/>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F9A79B0E-2E88-FF6C-6E6C-EF60208A79BF}"/>
              </a:ext>
            </a:extLst>
          </p:cNvPr>
          <p:cNvSpPr>
            <a:spLocks noGrp="1" noChangeArrowheads="1"/>
          </p:cNvSpPr>
          <p:nvPr>
            <p:ph type="title"/>
          </p:nvPr>
        </p:nvSpPr>
        <p:spPr>
          <a:xfrm>
            <a:off x="66288" y="79841"/>
            <a:ext cx="3686562" cy="233117"/>
          </a:xfrm>
          <a:noFill/>
          <a:ln/>
        </p:spPr>
        <p:txBody>
          <a:bodyPr>
            <a:normAutofit/>
          </a:bodyPr>
          <a:lstStyle/>
          <a:p>
            <a:pPr algn="l"/>
            <a:r>
              <a:rPr lang="en-US" altLang="en-US" sz="1361" dirty="0"/>
              <a:t>Functional Form (the equation we learned)</a:t>
            </a:r>
          </a:p>
        </p:txBody>
      </p:sp>
      <p:sp>
        <p:nvSpPr>
          <p:cNvPr id="5" name="TextBox 4">
            <a:extLst>
              <a:ext uri="{FF2B5EF4-FFF2-40B4-BE49-F238E27FC236}">
                <a16:creationId xmlns:a16="http://schemas.microsoft.com/office/drawing/2014/main" id="{3F849DA1-676A-FE43-D758-CB092F478CA5}"/>
              </a:ext>
            </a:extLst>
          </p:cNvPr>
          <p:cNvSpPr txBox="1"/>
          <p:nvPr/>
        </p:nvSpPr>
        <p:spPr>
          <a:xfrm>
            <a:off x="-29553" y="1619485"/>
            <a:ext cx="2323514" cy="923330"/>
          </a:xfrm>
          <a:prstGeom prst="rect">
            <a:avLst/>
          </a:prstGeom>
          <a:noFill/>
        </p:spPr>
        <p:txBody>
          <a:bodyPr wrap="square">
            <a:spAutoFit/>
          </a:bodyPr>
          <a:lstStyle/>
          <a:p>
            <a:pPr marL="173038" lvl="1">
              <a:lnSpc>
                <a:spcPct val="90000"/>
              </a:lnSpc>
              <a:buFontTx/>
              <a:buNone/>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3038" lvl="1">
              <a:lnSpc>
                <a:spcPct val="90000"/>
              </a:lnSpc>
              <a:buFontTx/>
              <a:buNone/>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 independent variable</a:t>
            </a:r>
          </a:p>
          <a:p>
            <a:pPr marL="173038" lvl="1">
              <a:lnSpc>
                <a:spcPct val="90000"/>
              </a:lnSpc>
              <a:buFontTx/>
              <a:buNone/>
            </a:pPr>
            <a:r>
              <a:rPr lang="en-US" altLang="en-US" sz="1000" dirty="0">
                <a:latin typeface="Arial" panose="020B0604020202020204" pitchFamily="34" charset="0"/>
                <a:cs typeface="Arial" panose="020B0604020202020204" pitchFamily="34" charset="0"/>
              </a:rPr>
              <a:t>b = </a:t>
            </a: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-intercept</a:t>
            </a:r>
          </a:p>
          <a:p>
            <a:pPr marL="173038" lvl="1">
              <a:lnSpc>
                <a:spcPct val="90000"/>
              </a:lnSpc>
              <a:buFontTx/>
              <a:buNone/>
            </a:pPr>
            <a:r>
              <a:rPr lang="en-US" altLang="en-US" sz="1000" dirty="0">
                <a:latin typeface="Arial" panose="020B0604020202020204" pitchFamily="34" charset="0"/>
                <a:cs typeface="Arial" panose="020B0604020202020204" pitchFamily="34" charset="0"/>
              </a:rPr>
              <a:t>m = slope of the line</a:t>
            </a:r>
          </a:p>
          <a:p>
            <a:pPr marL="173038" lvl="1">
              <a:lnSpc>
                <a:spcPct val="90000"/>
              </a:lnSpc>
              <a:buFontTx/>
              <a:buNone/>
            </a:pPr>
            <a:endParaRPr lang="en-US" altLang="en-US" sz="1000" dirty="0">
              <a:latin typeface="Arial" panose="020B0604020202020204" pitchFamily="34" charset="0"/>
              <a:cs typeface="Arial" panose="020B0604020202020204" pitchFamily="34" charset="0"/>
            </a:endParaRPr>
          </a:p>
          <a:p>
            <a:pPr marL="173038" lvl="1">
              <a:lnSpc>
                <a:spcPct val="90000"/>
              </a:lnSpc>
              <a:buFontTx/>
              <a:buNone/>
            </a:pPr>
            <a:r>
              <a:rPr lang="en-US" altLang="en-US" sz="1000" dirty="0">
                <a:latin typeface="Arial" panose="020B0604020202020204" pitchFamily="34" charset="0"/>
                <a:cs typeface="Arial" panose="020B0604020202020204" pitchFamily="34" charset="0"/>
              </a:rPr>
              <a:t>Define b, and m</a:t>
            </a:r>
          </a:p>
        </p:txBody>
      </p:sp>
    </p:spTree>
    <p:extLst>
      <p:ext uri="{BB962C8B-B14F-4D97-AF65-F5344CB8AC3E}">
        <p14:creationId xmlns:p14="http://schemas.microsoft.com/office/powerpoint/2010/main" val="3887467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Text Box 6">
            <a:extLst>
              <a:ext uri="{FF2B5EF4-FFF2-40B4-BE49-F238E27FC236}">
                <a16:creationId xmlns:a16="http://schemas.microsoft.com/office/drawing/2014/main" id="{DD9C6A54-212B-48AC-80B8-546D9C759BF0}"/>
              </a:ext>
            </a:extLst>
          </p:cNvPr>
          <p:cNvSpPr txBox="1">
            <a:spLocks noChangeArrowheads="1"/>
          </p:cNvSpPr>
          <p:nvPr/>
        </p:nvSpPr>
        <p:spPr bwMode="auto">
          <a:xfrm>
            <a:off x="2592670" y="2282995"/>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EFDFE6A6-CFB2-41F2-B985-2967467DA248}"/>
              </a:ext>
            </a:extLst>
          </p:cNvPr>
          <p:cNvSpPr txBox="1">
            <a:spLocks noChangeArrowheads="1"/>
          </p:cNvSpPr>
          <p:nvPr/>
        </p:nvSpPr>
        <p:spPr bwMode="auto">
          <a:xfrm rot="16200000">
            <a:off x="1400263" y="1342031"/>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0D99BDB0-AF20-4C1E-8E0F-0B67D24F9362}"/>
              </a:ext>
            </a:extLst>
          </p:cNvPr>
          <p:cNvSpPr txBox="1">
            <a:spLocks noChangeArrowheads="1"/>
          </p:cNvSpPr>
          <p:nvPr/>
        </p:nvSpPr>
        <p:spPr bwMode="auto">
          <a:xfrm>
            <a:off x="86438" y="2995571"/>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0" name="Text Box 12">
            <a:extLst>
              <a:ext uri="{FF2B5EF4-FFF2-40B4-BE49-F238E27FC236}">
                <a16:creationId xmlns:a16="http://schemas.microsoft.com/office/drawing/2014/main" id="{3226909B-8DC7-4934-A33C-F28B7A9667A8}"/>
              </a:ext>
            </a:extLst>
          </p:cNvPr>
          <p:cNvSpPr txBox="1">
            <a:spLocks noChangeArrowheads="1"/>
          </p:cNvSpPr>
          <p:nvPr/>
        </p:nvSpPr>
        <p:spPr bwMode="auto">
          <a:xfrm>
            <a:off x="86438" y="1011022"/>
            <a:ext cx="1786987"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800" dirty="0"/>
              <a:t>According to this model, every extra square foot adds about $75 to the predicted price of a house. So, a house that is 100 square feet larger is predicted to cost about $7,500 more than a smaller otherwise similar house.</a:t>
            </a:r>
            <a:endParaRPr lang="en-US" altLang="en-US" sz="756" dirty="0"/>
          </a:p>
        </p:txBody>
      </p:sp>
      <p:sp>
        <p:nvSpPr>
          <p:cNvPr id="68621" name="Line 13">
            <a:extLst>
              <a:ext uri="{FF2B5EF4-FFF2-40B4-BE49-F238E27FC236}">
                <a16:creationId xmlns:a16="http://schemas.microsoft.com/office/drawing/2014/main" id="{91B4E5DC-DB82-4422-B0CB-A4040AABF6B1}"/>
              </a:ext>
            </a:extLst>
          </p:cNvPr>
          <p:cNvSpPr>
            <a:spLocks noChangeShapeType="1"/>
          </p:cNvSpPr>
          <p:nvPr/>
        </p:nvSpPr>
        <p:spPr bwMode="auto">
          <a:xfrm flipV="1">
            <a:off x="2129524" y="1114403"/>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1DE9E29E-8200-4FD0-B81A-82514C14E662}"/>
              </a:ext>
            </a:extLst>
          </p:cNvPr>
          <p:cNvSpPr txBox="1">
            <a:spLocks noChangeArrowheads="1"/>
          </p:cNvSpPr>
          <p:nvPr/>
        </p:nvSpPr>
        <p:spPr bwMode="auto">
          <a:xfrm rot="20257664">
            <a:off x="2174017" y="1696874"/>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5A729D9B-D855-4E37-A907-F7F207706799}"/>
              </a:ext>
            </a:extLst>
          </p:cNvPr>
          <p:cNvSpPr>
            <a:spLocks noChangeShapeType="1"/>
          </p:cNvSpPr>
          <p:nvPr/>
        </p:nvSpPr>
        <p:spPr bwMode="auto">
          <a:xfrm>
            <a:off x="1956645" y="2144779"/>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8" name="Rectangle 20">
            <a:extLst>
              <a:ext uri="{FF2B5EF4-FFF2-40B4-BE49-F238E27FC236}">
                <a16:creationId xmlns:a16="http://schemas.microsoft.com/office/drawing/2014/main" id="{8B460409-62EE-4B1B-BD28-288EB4D24413}"/>
              </a:ext>
            </a:extLst>
          </p:cNvPr>
          <p:cNvSpPr>
            <a:spLocks noGrp="1" noChangeArrowheads="1"/>
          </p:cNvSpPr>
          <p:nvPr>
            <p:ph type="title"/>
          </p:nvPr>
        </p:nvSpPr>
        <p:spPr>
          <a:xfrm>
            <a:off x="46423" y="465179"/>
            <a:ext cx="3325427" cy="209416"/>
          </a:xfrm>
          <a:noFill/>
          <a:ln/>
        </p:spPr>
        <p:txBody>
          <a:bodyPr/>
          <a:lstStyle/>
          <a:p>
            <a:pPr algn="l"/>
            <a:r>
              <a:rPr lang="en-US" altLang="en-US" sz="1361" dirty="0"/>
              <a:t>The Model</a:t>
            </a:r>
          </a:p>
        </p:txBody>
      </p:sp>
      <p:sp>
        <p:nvSpPr>
          <p:cNvPr id="68629" name="Rectangle 21">
            <a:extLst>
              <a:ext uri="{FF2B5EF4-FFF2-40B4-BE49-F238E27FC236}">
                <a16:creationId xmlns:a16="http://schemas.microsoft.com/office/drawing/2014/main" id="{4A1173F1-0F1C-4EE1-998F-CE4ABB619B39}"/>
              </a:ext>
            </a:extLst>
          </p:cNvPr>
          <p:cNvSpPr>
            <a:spLocks noChangeArrowheads="1"/>
          </p:cNvSpPr>
          <p:nvPr/>
        </p:nvSpPr>
        <p:spPr bwMode="auto">
          <a:xfrm>
            <a:off x="63533" y="439984"/>
            <a:ext cx="3765517"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probabilistic component</a:t>
            </a:r>
          </a:p>
        </p:txBody>
      </p:sp>
      <p:sp>
        <p:nvSpPr>
          <p:cNvPr id="2" name="Freeform 10">
            <a:extLst>
              <a:ext uri="{FF2B5EF4-FFF2-40B4-BE49-F238E27FC236}">
                <a16:creationId xmlns:a16="http://schemas.microsoft.com/office/drawing/2014/main" id="{A5F93AF5-267A-3982-C3E5-4A8F02DC6FD7}"/>
              </a:ext>
            </a:extLst>
          </p:cNvPr>
          <p:cNvSpPr>
            <a:spLocks/>
          </p:cNvSpPr>
          <p:nvPr/>
        </p:nvSpPr>
        <p:spPr bwMode="auto">
          <a:xfrm>
            <a:off x="2129471" y="1046365"/>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graphicFrame>
        <p:nvGraphicFramePr>
          <p:cNvPr id="3" name="Table 8">
            <a:extLst>
              <a:ext uri="{FF2B5EF4-FFF2-40B4-BE49-F238E27FC236}">
                <a16:creationId xmlns:a16="http://schemas.microsoft.com/office/drawing/2014/main" id="{764CA06A-0C4F-177A-DDFA-1D66A49E46B0}"/>
              </a:ext>
            </a:extLst>
          </p:cNvPr>
          <p:cNvGraphicFramePr>
            <a:graphicFrameLocks noGrp="1"/>
          </p:cNvGraphicFramePr>
          <p:nvPr>
            <p:extLst>
              <p:ext uri="{D42A27DB-BD31-4B8C-83A1-F6EECF244321}">
                <p14:modId xmlns:p14="http://schemas.microsoft.com/office/powerpoint/2010/main" val="2369097774"/>
              </p:ext>
            </p:extLst>
          </p:nvPr>
        </p:nvGraphicFramePr>
        <p:xfrm>
          <a:off x="163543" y="1987185"/>
          <a:ext cx="1252722" cy="565024"/>
        </p:xfrm>
        <a:graphic>
          <a:graphicData uri="http://schemas.openxmlformats.org/drawingml/2006/table">
            <a:tbl>
              <a:tblPr firstRow="1" bandRow="1">
                <a:tableStyleId>{5C22544A-7EE6-4342-B048-85BDC9FD1C3A}</a:tableStyleId>
              </a:tblPr>
              <a:tblGrid>
                <a:gridCol w="626361">
                  <a:extLst>
                    <a:ext uri="{9D8B030D-6E8A-4147-A177-3AD203B41FA5}">
                      <a16:colId xmlns:a16="http://schemas.microsoft.com/office/drawing/2014/main" val="2079246040"/>
                    </a:ext>
                  </a:extLst>
                </a:gridCol>
                <a:gridCol w="626361">
                  <a:extLst>
                    <a:ext uri="{9D8B030D-6E8A-4147-A177-3AD203B41FA5}">
                      <a16:colId xmlns:a16="http://schemas.microsoft.com/office/drawing/2014/main" val="2065902541"/>
                    </a:ext>
                  </a:extLst>
                </a:gridCol>
              </a:tblGrid>
              <a:tr h="140224">
                <a:tc>
                  <a:txBody>
                    <a:bodyPr/>
                    <a:lstStyle/>
                    <a:p>
                      <a:r>
                        <a:rPr lang="en-US" sz="700" dirty="0"/>
                        <a:t>Housing Size</a:t>
                      </a:r>
                    </a:p>
                  </a:txBody>
                  <a:tcPr marL="34576" marR="34576" marT="17288" marB="17288"/>
                </a:tc>
                <a:tc>
                  <a:txBody>
                    <a:bodyPr/>
                    <a:lstStyle/>
                    <a:p>
                      <a:r>
                        <a:rPr lang="en-US" sz="700" dirty="0"/>
                        <a:t>Housing Cost</a:t>
                      </a:r>
                    </a:p>
                  </a:txBody>
                  <a:tcPr marL="34576" marR="34576" marT="17288" marB="17288"/>
                </a:tc>
                <a:extLst>
                  <a:ext uri="{0D108BD9-81ED-4DB2-BD59-A6C34878D82A}">
                    <a16:rowId xmlns:a16="http://schemas.microsoft.com/office/drawing/2014/main" val="2767904598"/>
                  </a:ext>
                </a:extLst>
              </a:tr>
              <a:tr h="140224">
                <a:tc>
                  <a:txBody>
                    <a:bodyPr/>
                    <a:lstStyle/>
                    <a:p>
                      <a:r>
                        <a:rPr lang="en-US" sz="700" dirty="0"/>
                        <a:t>0 sq. ft.</a:t>
                      </a:r>
                    </a:p>
                  </a:txBody>
                  <a:tcPr marL="34576" marR="34576" marT="17288" marB="17288"/>
                </a:tc>
                <a:tc>
                  <a:txBody>
                    <a:bodyPr/>
                    <a:lstStyle/>
                    <a:p>
                      <a:pPr algn="r"/>
                      <a:r>
                        <a:rPr lang="en-US" sz="700" dirty="0"/>
                        <a:t>$25,000</a:t>
                      </a:r>
                    </a:p>
                  </a:txBody>
                  <a:tcPr marL="34576" marR="34576" marT="17288" marB="17288"/>
                </a:tc>
                <a:extLst>
                  <a:ext uri="{0D108BD9-81ED-4DB2-BD59-A6C34878D82A}">
                    <a16:rowId xmlns:a16="http://schemas.microsoft.com/office/drawing/2014/main" val="1342670120"/>
                  </a:ext>
                </a:extLst>
              </a:tr>
              <a:tr h="140224">
                <a:tc>
                  <a:txBody>
                    <a:bodyPr/>
                    <a:lstStyle/>
                    <a:p>
                      <a:r>
                        <a:rPr lang="en-US" sz="700" dirty="0"/>
                        <a:t>1,000 sq. ft.</a:t>
                      </a:r>
                    </a:p>
                  </a:txBody>
                  <a:tcPr marL="34576" marR="34576" marT="17288" marB="17288"/>
                </a:tc>
                <a:tc>
                  <a:txBody>
                    <a:bodyPr/>
                    <a:lstStyle/>
                    <a:p>
                      <a:pPr algn="r"/>
                      <a:r>
                        <a:rPr lang="en-US" sz="700" dirty="0"/>
                        <a:t>$100,000</a:t>
                      </a:r>
                    </a:p>
                  </a:txBody>
                  <a:tcPr marL="34576" marR="34576" marT="17288" marB="17288"/>
                </a:tc>
                <a:extLst>
                  <a:ext uri="{0D108BD9-81ED-4DB2-BD59-A6C34878D82A}">
                    <a16:rowId xmlns:a16="http://schemas.microsoft.com/office/drawing/2014/main" val="1839207845"/>
                  </a:ext>
                </a:extLst>
              </a:tr>
              <a:tr h="140224">
                <a:tc>
                  <a:txBody>
                    <a:bodyPr/>
                    <a:lstStyle/>
                    <a:p>
                      <a:r>
                        <a:rPr lang="en-US" sz="700" dirty="0"/>
                        <a:t>2,500 sq. ft.</a:t>
                      </a:r>
                    </a:p>
                  </a:txBody>
                  <a:tcPr marL="34576" marR="34576" marT="17288" marB="17288"/>
                </a:tc>
                <a:tc>
                  <a:txBody>
                    <a:bodyPr/>
                    <a:lstStyle/>
                    <a:p>
                      <a:pPr algn="r"/>
                      <a:r>
                        <a:rPr lang="en-US" sz="700" dirty="0"/>
                        <a:t>$212,500</a:t>
                      </a:r>
                    </a:p>
                  </a:txBody>
                  <a:tcPr marL="34576" marR="34576" marT="17288" marB="17288"/>
                </a:tc>
                <a:extLst>
                  <a:ext uri="{0D108BD9-81ED-4DB2-BD59-A6C34878D82A}">
                    <a16:rowId xmlns:a16="http://schemas.microsoft.com/office/drawing/2014/main" val="3391701846"/>
                  </a:ext>
                </a:extLst>
              </a:tr>
            </a:tbl>
          </a:graphicData>
        </a:graphic>
      </p:graphicFrame>
      <p:sp>
        <p:nvSpPr>
          <p:cNvPr id="4" name="TextBox 3">
            <a:extLst>
              <a:ext uri="{FF2B5EF4-FFF2-40B4-BE49-F238E27FC236}">
                <a16:creationId xmlns:a16="http://schemas.microsoft.com/office/drawing/2014/main" id="{CDB8797E-5FA8-7EB4-4B3F-25241CA05CCE}"/>
              </a:ext>
            </a:extLst>
          </p:cNvPr>
          <p:cNvSpPr txBox="1"/>
          <p:nvPr/>
        </p:nvSpPr>
        <p:spPr>
          <a:xfrm>
            <a:off x="1946793" y="2487992"/>
            <a:ext cx="2415658" cy="3693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What is the expected value of the house when the size of the home is 0 square feet?</a:t>
            </a:r>
          </a:p>
        </p:txBody>
      </p:sp>
      <p:sp>
        <p:nvSpPr>
          <p:cNvPr id="5" name="Rectangle 20">
            <a:extLst>
              <a:ext uri="{FF2B5EF4-FFF2-40B4-BE49-F238E27FC236}">
                <a16:creationId xmlns:a16="http://schemas.microsoft.com/office/drawing/2014/main" id="{204F8AB1-5134-E3EF-2B92-3B9E61855265}"/>
              </a:ext>
            </a:extLst>
          </p:cNvPr>
          <p:cNvSpPr txBox="1">
            <a:spLocks noChangeArrowheads="1"/>
          </p:cNvSpPr>
          <p:nvPr/>
        </p:nvSpPr>
        <p:spPr>
          <a:xfrm>
            <a:off x="66288" y="79841"/>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a:t>Functional Form (the equation we learned)</a:t>
            </a:r>
            <a:endParaRPr lang="en-US" altLang="en-US" sz="136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8619"/>
                                        </p:tgtEl>
                                        <p:attrNameLst>
                                          <p:attrName>style.visibility</p:attrName>
                                        </p:attrNameLst>
                                      </p:cBhvr>
                                      <p:to>
                                        <p:strVal val="visible"/>
                                      </p:to>
                                    </p:set>
                                    <p:anim calcmode="lin" valueType="num">
                                      <p:cBhvr additive="base">
                                        <p:cTn id="19" dur="500" fill="hold"/>
                                        <p:tgtEl>
                                          <p:spTgt spid="68619"/>
                                        </p:tgtEl>
                                        <p:attrNameLst>
                                          <p:attrName>ppt_x</p:attrName>
                                        </p:attrNameLst>
                                      </p:cBhvr>
                                      <p:tavLst>
                                        <p:tav tm="0">
                                          <p:val>
                                            <p:strVal val="#ppt_x"/>
                                          </p:val>
                                        </p:tav>
                                        <p:tav tm="100000">
                                          <p:val>
                                            <p:strVal val="#ppt_x"/>
                                          </p:val>
                                        </p:tav>
                                      </p:tavLst>
                                    </p:anim>
                                    <p:anim calcmode="lin" valueType="num">
                                      <p:cBhvr additive="base">
                                        <p:cTn id="20" dur="500" fill="hold"/>
                                        <p:tgtEl>
                                          <p:spTgt spid="686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BE24-4128-0368-186F-D8236490C628}"/>
            </a:ext>
          </a:extLst>
        </p:cNvPr>
        <p:cNvGrpSpPr/>
        <p:nvPr/>
      </p:nvGrpSpPr>
      <p:grpSpPr>
        <a:xfrm>
          <a:off x="0" y="0"/>
          <a:ext cx="0" cy="0"/>
          <a:chOff x="0" y="0"/>
          <a:chExt cx="0" cy="0"/>
        </a:xfrm>
      </p:grpSpPr>
      <p:sp>
        <p:nvSpPr>
          <p:cNvPr id="68614" name="Text Box 6">
            <a:extLst>
              <a:ext uri="{FF2B5EF4-FFF2-40B4-BE49-F238E27FC236}">
                <a16:creationId xmlns:a16="http://schemas.microsoft.com/office/drawing/2014/main" id="{B6CD975B-C1B1-120C-BAE8-0D4B94C4CF28}"/>
              </a:ext>
            </a:extLst>
          </p:cNvPr>
          <p:cNvSpPr txBox="1">
            <a:spLocks noChangeArrowheads="1"/>
          </p:cNvSpPr>
          <p:nvPr/>
        </p:nvSpPr>
        <p:spPr bwMode="auto">
          <a:xfrm>
            <a:off x="2693228" y="2750630"/>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C08E4C95-DE7B-1FCE-8F37-7A3E74D0E9FF}"/>
              </a:ext>
            </a:extLst>
          </p:cNvPr>
          <p:cNvSpPr txBox="1">
            <a:spLocks noChangeArrowheads="1"/>
          </p:cNvSpPr>
          <p:nvPr/>
        </p:nvSpPr>
        <p:spPr bwMode="auto">
          <a:xfrm rot="16200000">
            <a:off x="1500821" y="1809666"/>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A285D0D5-A2BC-6CEA-435D-C5E629F8E380}"/>
              </a:ext>
            </a:extLst>
          </p:cNvPr>
          <p:cNvSpPr txBox="1">
            <a:spLocks noChangeArrowheads="1"/>
          </p:cNvSpPr>
          <p:nvPr/>
        </p:nvSpPr>
        <p:spPr bwMode="auto">
          <a:xfrm>
            <a:off x="42598" y="651048"/>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1" name="Line 13">
            <a:extLst>
              <a:ext uri="{FF2B5EF4-FFF2-40B4-BE49-F238E27FC236}">
                <a16:creationId xmlns:a16="http://schemas.microsoft.com/office/drawing/2014/main" id="{9860957E-28F0-769A-69FB-006E69423EE4}"/>
              </a:ext>
            </a:extLst>
          </p:cNvPr>
          <p:cNvSpPr>
            <a:spLocks noChangeShapeType="1"/>
          </p:cNvSpPr>
          <p:nvPr/>
        </p:nvSpPr>
        <p:spPr bwMode="auto">
          <a:xfrm flipV="1">
            <a:off x="2230082" y="1582038"/>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42AC7E32-272C-DEE5-F800-E27F344E8A65}"/>
              </a:ext>
            </a:extLst>
          </p:cNvPr>
          <p:cNvSpPr txBox="1">
            <a:spLocks noChangeArrowheads="1"/>
          </p:cNvSpPr>
          <p:nvPr/>
        </p:nvSpPr>
        <p:spPr bwMode="auto">
          <a:xfrm rot="20257664">
            <a:off x="2274575" y="2164509"/>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AE2E7FB6-234A-C86B-7DB1-3D2B19A2AEA4}"/>
              </a:ext>
            </a:extLst>
          </p:cNvPr>
          <p:cNvSpPr>
            <a:spLocks noChangeShapeType="1"/>
          </p:cNvSpPr>
          <p:nvPr/>
        </p:nvSpPr>
        <p:spPr bwMode="auto">
          <a:xfrm>
            <a:off x="2057203" y="2612414"/>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9" name="Rectangle 21">
            <a:extLst>
              <a:ext uri="{FF2B5EF4-FFF2-40B4-BE49-F238E27FC236}">
                <a16:creationId xmlns:a16="http://schemas.microsoft.com/office/drawing/2014/main" id="{A2066A60-7817-B96A-4FA7-FBFF1285681A}"/>
              </a:ext>
            </a:extLst>
          </p:cNvPr>
          <p:cNvSpPr>
            <a:spLocks noChangeArrowheads="1"/>
          </p:cNvSpPr>
          <p:nvPr/>
        </p:nvSpPr>
        <p:spPr bwMode="auto">
          <a:xfrm>
            <a:off x="42598" y="448174"/>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a:t>
            </a:r>
            <a:r>
              <a:rPr lang="en-US" altLang="en-US" sz="1000" u="sng" dirty="0">
                <a:solidFill>
                  <a:srgbClr val="FF0000"/>
                </a:solidFill>
                <a:latin typeface="Arial" panose="020B0604020202020204" pitchFamily="34" charset="0"/>
                <a:cs typeface="Arial" panose="020B0604020202020204" pitchFamily="34" charset="0"/>
              </a:rPr>
              <a:t>deterministic</a:t>
            </a:r>
            <a:r>
              <a:rPr lang="en-US" altLang="en-US" sz="1000" dirty="0">
                <a:solidFill>
                  <a:srgbClr val="FF0000"/>
                </a:solidFill>
                <a:latin typeface="Arial" panose="020B0604020202020204" pitchFamily="34" charset="0"/>
                <a:cs typeface="Arial" panose="020B0604020202020204" pitchFamily="34" charset="0"/>
              </a:rPr>
              <a:t> and a probabilistic component</a:t>
            </a:r>
          </a:p>
        </p:txBody>
      </p:sp>
      <p:sp>
        <p:nvSpPr>
          <p:cNvPr id="2" name="Freeform 10">
            <a:extLst>
              <a:ext uri="{FF2B5EF4-FFF2-40B4-BE49-F238E27FC236}">
                <a16:creationId xmlns:a16="http://schemas.microsoft.com/office/drawing/2014/main" id="{8DB12A0F-F90F-6C9A-AD08-D48EFB06D58C}"/>
              </a:ext>
            </a:extLst>
          </p:cNvPr>
          <p:cNvSpPr>
            <a:spLocks/>
          </p:cNvSpPr>
          <p:nvPr/>
        </p:nvSpPr>
        <p:spPr bwMode="auto">
          <a:xfrm>
            <a:off x="2230029" y="1514000"/>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sp>
        <p:nvSpPr>
          <p:cNvPr id="5" name="Rectangle 20">
            <a:extLst>
              <a:ext uri="{FF2B5EF4-FFF2-40B4-BE49-F238E27FC236}">
                <a16:creationId xmlns:a16="http://schemas.microsoft.com/office/drawing/2014/main" id="{F9180DEF-45F2-8764-8BEA-D73A992292A5}"/>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
        <p:nvSpPr>
          <p:cNvPr id="9" name="TextBox 8">
            <a:extLst>
              <a:ext uri="{FF2B5EF4-FFF2-40B4-BE49-F238E27FC236}">
                <a16:creationId xmlns:a16="http://schemas.microsoft.com/office/drawing/2014/main" id="{8680A465-9A90-CD78-573D-CE4FFDB47518}"/>
              </a:ext>
            </a:extLst>
          </p:cNvPr>
          <p:cNvSpPr txBox="1"/>
          <p:nvPr/>
        </p:nvSpPr>
        <p:spPr>
          <a:xfrm>
            <a:off x="69854" y="1147883"/>
            <a:ext cx="1870965" cy="1477328"/>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To get the predicted price of a </a:t>
            </a:r>
            <a:r>
              <a:rPr lang="en-US" sz="1000" i="1" dirty="0">
                <a:latin typeface="Arial" panose="020B0604020202020204" pitchFamily="34" charset="0"/>
                <a:cs typeface="Arial" panose="020B0604020202020204" pitchFamily="34" charset="0"/>
              </a:rPr>
              <a:t>typical house</a:t>
            </a:r>
            <a:r>
              <a:rPr lang="en-US" sz="1000" dirty="0">
                <a:latin typeface="Arial" panose="020B0604020202020204" pitchFamily="34" charset="0"/>
                <a:cs typeface="Arial" panose="020B0604020202020204" pitchFamily="34" charset="0"/>
              </a:rPr>
              <a:t>, you would plug in the </a:t>
            </a:r>
            <a:r>
              <a:rPr lang="en-US" sz="1000" b="1" dirty="0">
                <a:latin typeface="Arial" panose="020B0604020202020204" pitchFamily="34" charset="0"/>
                <a:cs typeface="Arial" panose="020B0604020202020204" pitchFamily="34" charset="0"/>
              </a:rPr>
              <a:t>average square footage</a:t>
            </a:r>
            <a:r>
              <a:rPr lang="en-US" sz="1000" dirty="0">
                <a:latin typeface="Arial" panose="020B0604020202020204" pitchFamily="34" charset="0"/>
                <a:cs typeface="Arial" panose="020B0604020202020204" pitchFamily="34" charset="0"/>
              </a:rPr>
              <a:t> from the dataset. </a:t>
            </a: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For example, if the average house is 2,000 square feet, then the predicted price of a typical house would be: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73A984-5D2D-1935-17DB-0C37BF3D2ADF}"/>
                  </a:ext>
                </a:extLst>
              </p:cNvPr>
              <p:cNvSpPr txBox="1"/>
              <p:nvPr/>
            </p:nvSpPr>
            <p:spPr>
              <a:xfrm>
                <a:off x="-1708" y="2722789"/>
                <a:ext cx="2103229" cy="246221"/>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sz="1000" smtClean="0">
                          <a:latin typeface="Cambria Math" panose="02040503050406030204" pitchFamily="18" charset="0"/>
                        </a:rPr>
                        <m:t>25</m:t>
                      </m:r>
                      <m:r>
                        <a:rPr lang="en-US" sz="1000" smtClean="0">
                          <a:latin typeface="Cambria Math" panose="02040503050406030204" pitchFamily="18" charset="0"/>
                        </a:rPr>
                        <m:t>,</m:t>
                      </m:r>
                      <m:r>
                        <a:rPr lang="en-US" sz="1000" smtClean="0">
                          <a:latin typeface="Cambria Math" panose="02040503050406030204" pitchFamily="18" charset="0"/>
                        </a:rPr>
                        <m:t>000</m:t>
                      </m:r>
                      <m:r>
                        <a:rPr lang="en-US" sz="1000" i="0">
                          <a:latin typeface="Cambria Math" panose="02040503050406030204" pitchFamily="18" charset="0"/>
                        </a:rPr>
                        <m:t>+</m:t>
                      </m:r>
                      <m:r>
                        <a:rPr lang="en-US" sz="1000" i="0">
                          <a:latin typeface="Cambria Math" panose="02040503050406030204" pitchFamily="18" charset="0"/>
                        </a:rPr>
                        <m:t>75</m:t>
                      </m:r>
                      <m:r>
                        <a:rPr lang="en-US" sz="1000" i="0">
                          <a:latin typeface="Cambria Math" panose="02040503050406030204" pitchFamily="18" charset="0"/>
                        </a:rPr>
                        <m:t>×</m:t>
                      </m:r>
                      <m:r>
                        <a:rPr lang="en-US" sz="1000" i="0">
                          <a:latin typeface="Cambria Math" panose="02040503050406030204" pitchFamily="18" charset="0"/>
                        </a:rPr>
                        <m:t>2</m:t>
                      </m:r>
                      <m:r>
                        <a:rPr lang="en-US" sz="1000" i="0">
                          <a:latin typeface="Cambria Math" panose="02040503050406030204" pitchFamily="18" charset="0"/>
                        </a:rPr>
                        <m:t>,</m:t>
                      </m:r>
                      <m:r>
                        <a:rPr lang="en-US" sz="1000" i="0">
                          <a:latin typeface="Cambria Math" panose="02040503050406030204" pitchFamily="18" charset="0"/>
                        </a:rPr>
                        <m:t>000</m:t>
                      </m:r>
                      <m:r>
                        <a:rPr lang="en-US" sz="1000" i="0">
                          <a:latin typeface="Cambria Math" panose="02040503050406030204" pitchFamily="18" charset="0"/>
                        </a:rPr>
                        <m:t>=</m:t>
                      </m:r>
                      <m:r>
                        <a:rPr lang="en-US" sz="1000" i="0">
                          <a:latin typeface="Cambria Math" panose="02040503050406030204" pitchFamily="18" charset="0"/>
                        </a:rPr>
                        <m:t>175</m:t>
                      </m:r>
                      <m:r>
                        <a:rPr lang="en-US" sz="1000" i="0">
                          <a:latin typeface="Cambria Math" panose="02040503050406030204" pitchFamily="18" charset="0"/>
                        </a:rPr>
                        <m:t>,</m:t>
                      </m:r>
                      <m:r>
                        <a:rPr lang="en-US" sz="1000" i="0">
                          <a:latin typeface="Cambria Math" panose="02040503050406030204" pitchFamily="18" charset="0"/>
                        </a:rPr>
                        <m:t>000</m:t>
                      </m:r>
                    </m:oMath>
                  </m:oMathPara>
                </a14:m>
                <a:endParaRPr lang="en-US" sz="1000"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EE73A984-5D2D-1935-17DB-0C37BF3D2ADF}"/>
                  </a:ext>
                </a:extLst>
              </p:cNvPr>
              <p:cNvSpPr txBox="1">
                <a:spLocks noRot="1" noChangeAspect="1" noMove="1" noResize="1" noEditPoints="1" noAdjustHandles="1" noChangeArrowheads="1" noChangeShapeType="1" noTextEdit="1"/>
              </p:cNvSpPr>
              <p:nvPr/>
            </p:nvSpPr>
            <p:spPr>
              <a:xfrm>
                <a:off x="-1708" y="2722789"/>
                <a:ext cx="2103229" cy="24622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75529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2" name="Text Box 10">
            <a:extLst>
              <a:ext uri="{FF2B5EF4-FFF2-40B4-BE49-F238E27FC236}">
                <a16:creationId xmlns:a16="http://schemas.microsoft.com/office/drawing/2014/main" id="{4B367DB7-AC62-450D-B792-C44B58C06CCE}"/>
              </a:ext>
            </a:extLst>
          </p:cNvPr>
          <p:cNvSpPr txBox="1">
            <a:spLocks noChangeArrowheads="1"/>
          </p:cNvSpPr>
          <p:nvPr/>
        </p:nvSpPr>
        <p:spPr bwMode="auto">
          <a:xfrm rot="20207">
            <a:off x="1813637" y="1356369"/>
            <a:ext cx="1806905" cy="231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907" dirty="0"/>
              <a:t>House cost = 25000 + 75 (Size)</a:t>
            </a:r>
          </a:p>
        </p:txBody>
      </p:sp>
      <p:sp>
        <p:nvSpPr>
          <p:cNvPr id="69635" name="Text Box 3">
            <a:extLst>
              <a:ext uri="{FF2B5EF4-FFF2-40B4-BE49-F238E27FC236}">
                <a16:creationId xmlns:a16="http://schemas.microsoft.com/office/drawing/2014/main" id="{57B32E86-DD05-4957-B6D5-F85EF84BAC8A}"/>
              </a:ext>
            </a:extLst>
          </p:cNvPr>
          <p:cNvSpPr txBox="1">
            <a:spLocks noChangeArrowheads="1"/>
          </p:cNvSpPr>
          <p:nvPr/>
        </p:nvSpPr>
        <p:spPr bwMode="auto">
          <a:xfrm>
            <a:off x="1274407" y="2094186"/>
            <a:ext cx="81624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dirty="0">
                <a:latin typeface="Arial" panose="020B0604020202020204" pitchFamily="34" charset="0"/>
                <a:cs typeface="Arial" panose="020B0604020202020204" pitchFamily="34" charset="0"/>
              </a:rPr>
              <a:t>House size</a:t>
            </a:r>
          </a:p>
        </p:txBody>
      </p:sp>
      <p:sp>
        <p:nvSpPr>
          <p:cNvPr id="69637" name="Freeform 5">
            <a:extLst>
              <a:ext uri="{FF2B5EF4-FFF2-40B4-BE49-F238E27FC236}">
                <a16:creationId xmlns:a16="http://schemas.microsoft.com/office/drawing/2014/main" id="{C02AB34F-1222-425D-92CC-BAD566FED14F}"/>
              </a:ext>
            </a:extLst>
          </p:cNvPr>
          <p:cNvSpPr>
            <a:spLocks/>
          </p:cNvSpPr>
          <p:nvPr/>
        </p:nvSpPr>
        <p:spPr bwMode="auto">
          <a:xfrm>
            <a:off x="331258" y="1733743"/>
            <a:ext cx="2470621" cy="369332"/>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noFill/>
          <a:ln w="9525" cap="flat" cmpd="sng">
            <a:solidFill>
              <a:schemeClr val="bg1"/>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0" name="Line 8">
            <a:extLst>
              <a:ext uri="{FF2B5EF4-FFF2-40B4-BE49-F238E27FC236}">
                <a16:creationId xmlns:a16="http://schemas.microsoft.com/office/drawing/2014/main" id="{FB9127DB-E17A-44FE-BFD7-7AC00DFC173C}"/>
              </a:ext>
            </a:extLst>
          </p:cNvPr>
          <p:cNvSpPr>
            <a:spLocks noChangeShapeType="1"/>
          </p:cNvSpPr>
          <p:nvPr/>
        </p:nvSpPr>
        <p:spPr bwMode="auto">
          <a:xfrm flipV="1">
            <a:off x="335785" y="1377604"/>
            <a:ext cx="1629710" cy="677109"/>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3" name="Text Box 11">
            <a:extLst>
              <a:ext uri="{FF2B5EF4-FFF2-40B4-BE49-F238E27FC236}">
                <a16:creationId xmlns:a16="http://schemas.microsoft.com/office/drawing/2014/main" id="{D02459E2-BDF9-4E2E-AEB8-B64E82B1DEB9}"/>
              </a:ext>
            </a:extLst>
          </p:cNvPr>
          <p:cNvSpPr txBox="1">
            <a:spLocks noChangeArrowheads="1"/>
          </p:cNvSpPr>
          <p:nvPr/>
        </p:nvSpPr>
        <p:spPr bwMode="auto">
          <a:xfrm rot="61149">
            <a:off x="3476890" y="1308567"/>
            <a:ext cx="39145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latin typeface="Symbol" panose="05050102010706020507" pitchFamily="18" charset="2"/>
              </a:rPr>
              <a:t>+ </a:t>
            </a:r>
            <a:r>
              <a:rPr lang="en-US" altLang="en-US" sz="1100" b="1" dirty="0">
                <a:latin typeface="Symbol" panose="05050102010706020507" pitchFamily="18" charset="2"/>
              </a:rPr>
              <a:t>e</a:t>
            </a:r>
          </a:p>
        </p:txBody>
      </p:sp>
      <p:grpSp>
        <p:nvGrpSpPr>
          <p:cNvPr id="69663" name="Group 31">
            <a:extLst>
              <a:ext uri="{FF2B5EF4-FFF2-40B4-BE49-F238E27FC236}">
                <a16:creationId xmlns:a16="http://schemas.microsoft.com/office/drawing/2014/main" id="{A9F2C7C2-2664-4F3D-B69E-761C57B8CA19}"/>
              </a:ext>
            </a:extLst>
          </p:cNvPr>
          <p:cNvGrpSpPr>
            <a:grpSpLocks/>
          </p:cNvGrpSpPr>
          <p:nvPr/>
        </p:nvGrpSpPr>
        <p:grpSpPr bwMode="auto">
          <a:xfrm>
            <a:off x="595104" y="1737768"/>
            <a:ext cx="51624" cy="374571"/>
            <a:chOff x="2208" y="2256"/>
            <a:chExt cx="86" cy="624"/>
          </a:xfrm>
          <a:solidFill>
            <a:schemeClr val="bg2">
              <a:lumMod val="20000"/>
              <a:lumOff val="80000"/>
            </a:schemeClr>
          </a:solidFill>
        </p:grpSpPr>
        <p:pic>
          <p:nvPicPr>
            <p:cNvPr id="69644" name="Picture 12">
              <a:extLst>
                <a:ext uri="{FF2B5EF4-FFF2-40B4-BE49-F238E27FC236}">
                  <a16:creationId xmlns:a16="http://schemas.microsoft.com/office/drawing/2014/main" id="{5C8AD8D4-D53C-4310-B993-1EBE9E6C3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256"/>
              <a:ext cx="86" cy="86"/>
            </a:xfrm>
            <a:prstGeom prst="rect">
              <a:avLst/>
            </a:prstGeom>
            <a:grpFill/>
          </p:spPr>
        </p:pic>
        <p:pic>
          <p:nvPicPr>
            <p:cNvPr id="69645" name="Picture 13">
              <a:extLst>
                <a:ext uri="{FF2B5EF4-FFF2-40B4-BE49-F238E27FC236}">
                  <a16:creationId xmlns:a16="http://schemas.microsoft.com/office/drawing/2014/main" id="{8E171B8C-950F-4CC6-9151-7AF094AF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410"/>
              <a:ext cx="86" cy="86"/>
            </a:xfrm>
            <a:prstGeom prst="rect">
              <a:avLst/>
            </a:prstGeom>
            <a:grpFill/>
          </p:spPr>
        </p:pic>
        <p:pic>
          <p:nvPicPr>
            <p:cNvPr id="69646" name="Picture 14">
              <a:extLst>
                <a:ext uri="{FF2B5EF4-FFF2-40B4-BE49-F238E27FC236}">
                  <a16:creationId xmlns:a16="http://schemas.microsoft.com/office/drawing/2014/main" id="{01DFBDB9-E87C-4DB6-8890-E7EFA9ADC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544"/>
              <a:ext cx="86" cy="86"/>
            </a:xfrm>
            <a:prstGeom prst="rect">
              <a:avLst/>
            </a:prstGeom>
            <a:grpFill/>
          </p:spPr>
        </p:pic>
        <p:pic>
          <p:nvPicPr>
            <p:cNvPr id="69647" name="Picture 15">
              <a:extLst>
                <a:ext uri="{FF2B5EF4-FFF2-40B4-BE49-F238E27FC236}">
                  <a16:creationId xmlns:a16="http://schemas.microsoft.com/office/drawing/2014/main" id="{554C30A7-C2EC-40A9-B9BF-FF509517D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794"/>
              <a:ext cx="86" cy="86"/>
            </a:xfrm>
            <a:prstGeom prst="rect">
              <a:avLst/>
            </a:prstGeom>
            <a:grpFill/>
          </p:spPr>
        </p:pic>
      </p:grpSp>
      <p:grpSp>
        <p:nvGrpSpPr>
          <p:cNvPr id="69664" name="Group 32">
            <a:extLst>
              <a:ext uri="{FF2B5EF4-FFF2-40B4-BE49-F238E27FC236}">
                <a16:creationId xmlns:a16="http://schemas.microsoft.com/office/drawing/2014/main" id="{F20358C2-B154-4A0C-A581-3CE217DE0082}"/>
              </a:ext>
            </a:extLst>
          </p:cNvPr>
          <p:cNvGrpSpPr>
            <a:grpSpLocks/>
          </p:cNvGrpSpPr>
          <p:nvPr/>
        </p:nvGrpSpPr>
        <p:grpSpPr bwMode="auto">
          <a:xfrm>
            <a:off x="773985" y="1651329"/>
            <a:ext cx="51624" cy="374571"/>
            <a:chOff x="2506" y="2112"/>
            <a:chExt cx="86" cy="624"/>
          </a:xfrm>
          <a:solidFill>
            <a:schemeClr val="bg2">
              <a:lumMod val="20000"/>
              <a:lumOff val="80000"/>
            </a:schemeClr>
          </a:solidFill>
        </p:grpSpPr>
        <p:pic>
          <p:nvPicPr>
            <p:cNvPr id="69648" name="Picture 16">
              <a:extLst>
                <a:ext uri="{FF2B5EF4-FFF2-40B4-BE49-F238E27FC236}">
                  <a16:creationId xmlns:a16="http://schemas.microsoft.com/office/drawing/2014/main" id="{16C94E26-539F-44DE-9D5D-48996735D9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112"/>
              <a:ext cx="86" cy="86"/>
            </a:xfrm>
            <a:prstGeom prst="rect">
              <a:avLst/>
            </a:prstGeom>
            <a:grpFill/>
          </p:spPr>
        </p:pic>
        <p:pic>
          <p:nvPicPr>
            <p:cNvPr id="69649" name="Picture 17">
              <a:extLst>
                <a:ext uri="{FF2B5EF4-FFF2-40B4-BE49-F238E27FC236}">
                  <a16:creationId xmlns:a16="http://schemas.microsoft.com/office/drawing/2014/main" id="{985EC1EB-33D3-423D-978D-7629B7F0D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266"/>
              <a:ext cx="86" cy="86"/>
            </a:xfrm>
            <a:prstGeom prst="rect">
              <a:avLst/>
            </a:prstGeom>
            <a:grpFill/>
          </p:spPr>
        </p:pic>
        <p:pic>
          <p:nvPicPr>
            <p:cNvPr id="69650" name="Picture 18">
              <a:extLst>
                <a:ext uri="{FF2B5EF4-FFF2-40B4-BE49-F238E27FC236}">
                  <a16:creationId xmlns:a16="http://schemas.microsoft.com/office/drawing/2014/main" id="{C03EBBAF-25D8-41CE-8582-1CADA3EE2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400"/>
              <a:ext cx="86" cy="86"/>
            </a:xfrm>
            <a:prstGeom prst="rect">
              <a:avLst/>
            </a:prstGeom>
            <a:grpFill/>
          </p:spPr>
        </p:pic>
        <p:pic>
          <p:nvPicPr>
            <p:cNvPr id="69651" name="Picture 19">
              <a:extLst>
                <a:ext uri="{FF2B5EF4-FFF2-40B4-BE49-F238E27FC236}">
                  <a16:creationId xmlns:a16="http://schemas.microsoft.com/office/drawing/2014/main" id="{8737210C-3211-470E-8AE8-7C1304261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650"/>
              <a:ext cx="86" cy="86"/>
            </a:xfrm>
            <a:prstGeom prst="rect">
              <a:avLst/>
            </a:prstGeom>
            <a:grpFill/>
          </p:spPr>
        </p:pic>
      </p:grpSp>
      <p:grpSp>
        <p:nvGrpSpPr>
          <p:cNvPr id="69666" name="Group 34">
            <a:extLst>
              <a:ext uri="{FF2B5EF4-FFF2-40B4-BE49-F238E27FC236}">
                <a16:creationId xmlns:a16="http://schemas.microsoft.com/office/drawing/2014/main" id="{0DDB9AF8-D2A5-44C2-B7FA-C7EAE99A44A0}"/>
              </a:ext>
            </a:extLst>
          </p:cNvPr>
          <p:cNvGrpSpPr>
            <a:grpSpLocks/>
          </p:cNvGrpSpPr>
          <p:nvPr/>
        </p:nvGrpSpPr>
        <p:grpSpPr bwMode="auto">
          <a:xfrm>
            <a:off x="1381162" y="1485136"/>
            <a:ext cx="51624" cy="374571"/>
            <a:chOff x="3466" y="1872"/>
            <a:chExt cx="86" cy="624"/>
          </a:xfrm>
          <a:solidFill>
            <a:schemeClr val="bg2">
              <a:lumMod val="20000"/>
              <a:lumOff val="80000"/>
            </a:schemeClr>
          </a:solidFill>
        </p:grpSpPr>
        <p:pic>
          <p:nvPicPr>
            <p:cNvPr id="69656" name="Picture 24">
              <a:extLst>
                <a:ext uri="{FF2B5EF4-FFF2-40B4-BE49-F238E27FC236}">
                  <a16:creationId xmlns:a16="http://schemas.microsoft.com/office/drawing/2014/main" id="{AF5CDE29-0EB1-4762-9EBB-8372EFD1B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1872"/>
              <a:ext cx="86" cy="86"/>
            </a:xfrm>
            <a:prstGeom prst="rect">
              <a:avLst/>
            </a:prstGeom>
            <a:grpFill/>
          </p:spPr>
        </p:pic>
        <p:pic>
          <p:nvPicPr>
            <p:cNvPr id="69657" name="Picture 25">
              <a:extLst>
                <a:ext uri="{FF2B5EF4-FFF2-40B4-BE49-F238E27FC236}">
                  <a16:creationId xmlns:a16="http://schemas.microsoft.com/office/drawing/2014/main" id="{567D7E98-A2FE-4354-A66F-4831A5BEA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026"/>
              <a:ext cx="86" cy="86"/>
            </a:xfrm>
            <a:prstGeom prst="rect">
              <a:avLst/>
            </a:prstGeom>
            <a:grpFill/>
          </p:spPr>
        </p:pic>
        <p:pic>
          <p:nvPicPr>
            <p:cNvPr id="69658" name="Picture 26">
              <a:extLst>
                <a:ext uri="{FF2B5EF4-FFF2-40B4-BE49-F238E27FC236}">
                  <a16:creationId xmlns:a16="http://schemas.microsoft.com/office/drawing/2014/main" id="{A4A6CB68-6262-4C7A-928C-321E9B559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160"/>
              <a:ext cx="86" cy="86"/>
            </a:xfrm>
            <a:prstGeom prst="rect">
              <a:avLst/>
            </a:prstGeom>
            <a:grpFill/>
          </p:spPr>
        </p:pic>
        <p:pic>
          <p:nvPicPr>
            <p:cNvPr id="69659" name="Picture 27">
              <a:extLst>
                <a:ext uri="{FF2B5EF4-FFF2-40B4-BE49-F238E27FC236}">
                  <a16:creationId xmlns:a16="http://schemas.microsoft.com/office/drawing/2014/main" id="{230751AE-6294-4F65-B1BB-7F91C3BA8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410"/>
              <a:ext cx="86" cy="86"/>
            </a:xfrm>
            <a:prstGeom prst="rect">
              <a:avLst/>
            </a:prstGeom>
            <a:grpFill/>
          </p:spPr>
        </p:pic>
      </p:grpSp>
      <p:grpSp>
        <p:nvGrpSpPr>
          <p:cNvPr id="69665" name="Group 33">
            <a:extLst>
              <a:ext uri="{FF2B5EF4-FFF2-40B4-BE49-F238E27FC236}">
                <a16:creationId xmlns:a16="http://schemas.microsoft.com/office/drawing/2014/main" id="{2415F5F8-E748-4FE9-AE5D-B7910BCAD7C4}"/>
              </a:ext>
            </a:extLst>
          </p:cNvPr>
          <p:cNvGrpSpPr>
            <a:grpSpLocks/>
          </p:cNvGrpSpPr>
          <p:nvPr/>
        </p:nvGrpSpPr>
        <p:grpSpPr bwMode="auto">
          <a:xfrm>
            <a:off x="1056114" y="1478450"/>
            <a:ext cx="51624" cy="576263"/>
            <a:chOff x="2976" y="1824"/>
            <a:chExt cx="86" cy="960"/>
          </a:xfrm>
          <a:solidFill>
            <a:schemeClr val="bg2">
              <a:lumMod val="20000"/>
              <a:lumOff val="80000"/>
            </a:schemeClr>
          </a:solidFill>
        </p:grpSpPr>
        <p:pic>
          <p:nvPicPr>
            <p:cNvPr id="69652" name="Picture 20">
              <a:extLst>
                <a:ext uri="{FF2B5EF4-FFF2-40B4-BE49-F238E27FC236}">
                  <a16:creationId xmlns:a16="http://schemas.microsoft.com/office/drawing/2014/main" id="{290BD3D1-5C04-4880-9BF6-1C6F9CCCB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824"/>
              <a:ext cx="86" cy="86"/>
            </a:xfrm>
            <a:prstGeom prst="rect">
              <a:avLst/>
            </a:prstGeom>
            <a:grpFill/>
          </p:spPr>
        </p:pic>
        <p:pic>
          <p:nvPicPr>
            <p:cNvPr id="69653" name="Picture 21">
              <a:extLst>
                <a:ext uri="{FF2B5EF4-FFF2-40B4-BE49-F238E27FC236}">
                  <a16:creationId xmlns:a16="http://schemas.microsoft.com/office/drawing/2014/main" id="{45428437-9A2C-4FFF-AEBF-2858231D9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978"/>
              <a:ext cx="86" cy="86"/>
            </a:xfrm>
            <a:prstGeom prst="rect">
              <a:avLst/>
            </a:prstGeom>
            <a:grpFill/>
          </p:spPr>
        </p:pic>
        <p:pic>
          <p:nvPicPr>
            <p:cNvPr id="69654" name="Picture 22">
              <a:extLst>
                <a:ext uri="{FF2B5EF4-FFF2-40B4-BE49-F238E27FC236}">
                  <a16:creationId xmlns:a16="http://schemas.microsoft.com/office/drawing/2014/main" id="{4CD620A2-848A-4A55-866C-36AD871F2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112"/>
              <a:ext cx="86" cy="86"/>
            </a:xfrm>
            <a:prstGeom prst="rect">
              <a:avLst/>
            </a:prstGeom>
            <a:grpFill/>
          </p:spPr>
        </p:pic>
        <p:pic>
          <p:nvPicPr>
            <p:cNvPr id="69655" name="Picture 23">
              <a:extLst>
                <a:ext uri="{FF2B5EF4-FFF2-40B4-BE49-F238E27FC236}">
                  <a16:creationId xmlns:a16="http://schemas.microsoft.com/office/drawing/2014/main" id="{A2512740-504A-42AD-84CF-5DBF3E43C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362"/>
              <a:ext cx="86" cy="86"/>
            </a:xfrm>
            <a:prstGeom prst="rect">
              <a:avLst/>
            </a:prstGeom>
            <a:grpFill/>
          </p:spPr>
        </p:pic>
        <p:pic>
          <p:nvPicPr>
            <p:cNvPr id="69660" name="Picture 28">
              <a:extLst>
                <a:ext uri="{FF2B5EF4-FFF2-40B4-BE49-F238E27FC236}">
                  <a16:creationId xmlns:a16="http://schemas.microsoft.com/office/drawing/2014/main" id="{CC20FE5B-B389-4985-8961-EEC52E11A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458"/>
              <a:ext cx="86" cy="86"/>
            </a:xfrm>
            <a:prstGeom prst="rect">
              <a:avLst/>
            </a:prstGeom>
            <a:grpFill/>
          </p:spPr>
        </p:pic>
        <p:pic>
          <p:nvPicPr>
            <p:cNvPr id="69661" name="Picture 29">
              <a:extLst>
                <a:ext uri="{FF2B5EF4-FFF2-40B4-BE49-F238E27FC236}">
                  <a16:creationId xmlns:a16="http://schemas.microsoft.com/office/drawing/2014/main" id="{A96C494B-6F6C-40B7-B222-6EE35A3CB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698"/>
              <a:ext cx="86" cy="86"/>
            </a:xfrm>
            <a:prstGeom prst="rect">
              <a:avLst/>
            </a:prstGeom>
            <a:grpFill/>
          </p:spPr>
        </p:pic>
      </p:grpSp>
      <p:sp>
        <p:nvSpPr>
          <p:cNvPr id="69662" name="Text Box 30">
            <a:extLst>
              <a:ext uri="{FF2B5EF4-FFF2-40B4-BE49-F238E27FC236}">
                <a16:creationId xmlns:a16="http://schemas.microsoft.com/office/drawing/2014/main" id="{C3F30D71-3CFE-40EC-88DF-1A70CFEA92C2}"/>
              </a:ext>
            </a:extLst>
          </p:cNvPr>
          <p:cNvSpPr txBox="1">
            <a:spLocks noChangeArrowheads="1"/>
          </p:cNvSpPr>
          <p:nvPr/>
        </p:nvSpPr>
        <p:spPr bwMode="auto">
          <a:xfrm>
            <a:off x="67977" y="545611"/>
            <a:ext cx="3874257" cy="255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59" dirty="0"/>
              <a:t>However, house cost vary even among same size houses!</a:t>
            </a:r>
          </a:p>
        </p:txBody>
      </p:sp>
      <p:sp>
        <p:nvSpPr>
          <p:cNvPr id="69668" name="Text Box 36">
            <a:extLst>
              <a:ext uri="{FF2B5EF4-FFF2-40B4-BE49-F238E27FC236}">
                <a16:creationId xmlns:a16="http://schemas.microsoft.com/office/drawing/2014/main" id="{58200BAF-D4CC-4737-82FF-8975D7B3DD87}"/>
              </a:ext>
            </a:extLst>
          </p:cNvPr>
          <p:cNvSpPr txBox="1">
            <a:spLocks noChangeArrowheads="1"/>
          </p:cNvSpPr>
          <p:nvPr/>
        </p:nvSpPr>
        <p:spPr bwMode="auto">
          <a:xfrm>
            <a:off x="14955" y="2561236"/>
            <a:ext cx="259449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00" dirty="0">
                <a:latin typeface="Arial" panose="020B0604020202020204" pitchFamily="34" charset="0"/>
                <a:cs typeface="Arial" panose="020B0604020202020204" pitchFamily="34" charset="0"/>
              </a:rPr>
              <a:t>Since cost behave unpredictably, we add a random component. </a:t>
            </a:r>
          </a:p>
        </p:txBody>
      </p:sp>
      <p:grpSp>
        <p:nvGrpSpPr>
          <p:cNvPr id="69675" name="Group 43">
            <a:extLst>
              <a:ext uri="{FF2B5EF4-FFF2-40B4-BE49-F238E27FC236}">
                <a16:creationId xmlns:a16="http://schemas.microsoft.com/office/drawing/2014/main" id="{309328DB-57DC-470A-A48C-06D3A909490C}"/>
              </a:ext>
            </a:extLst>
          </p:cNvPr>
          <p:cNvGrpSpPr>
            <a:grpSpLocks/>
          </p:cNvGrpSpPr>
          <p:nvPr/>
        </p:nvGrpSpPr>
        <p:grpSpPr bwMode="auto">
          <a:xfrm>
            <a:off x="1320234" y="1540878"/>
            <a:ext cx="36016" cy="324148"/>
            <a:chOff x="3468" y="2172"/>
            <a:chExt cx="60" cy="540"/>
          </a:xfrm>
          <a:solidFill>
            <a:schemeClr val="bg2">
              <a:lumMod val="20000"/>
              <a:lumOff val="80000"/>
            </a:schemeClr>
          </a:solidFill>
        </p:grpSpPr>
        <p:sp>
          <p:nvSpPr>
            <p:cNvPr id="69671" name="Line 39">
              <a:extLst>
                <a:ext uri="{FF2B5EF4-FFF2-40B4-BE49-F238E27FC236}">
                  <a16:creationId xmlns:a16="http://schemas.microsoft.com/office/drawing/2014/main" id="{FD483504-7CE0-454B-997E-3AF4B5A6C639}"/>
                </a:ext>
              </a:extLst>
            </p:cNvPr>
            <p:cNvSpPr>
              <a:spLocks noChangeShapeType="1"/>
            </p:cNvSpPr>
            <p:nvPr/>
          </p:nvSpPr>
          <p:spPr bwMode="auto">
            <a:xfrm>
              <a:off x="3468" y="2340"/>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72" name="Line 40">
              <a:extLst>
                <a:ext uri="{FF2B5EF4-FFF2-40B4-BE49-F238E27FC236}">
                  <a16:creationId xmlns:a16="http://schemas.microsoft.com/office/drawing/2014/main" id="{F94FEC71-A1FF-4AB3-A372-8854795C23F0}"/>
                </a:ext>
              </a:extLst>
            </p:cNvPr>
            <p:cNvSpPr>
              <a:spLocks noChangeShapeType="1"/>
            </p:cNvSpPr>
            <p:nvPr/>
          </p:nvSpPr>
          <p:spPr bwMode="auto">
            <a:xfrm>
              <a:off x="3528" y="2328"/>
              <a:ext cx="0" cy="384"/>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674" name="Line 42">
              <a:extLst>
                <a:ext uri="{FF2B5EF4-FFF2-40B4-BE49-F238E27FC236}">
                  <a16:creationId xmlns:a16="http://schemas.microsoft.com/office/drawing/2014/main" id="{D112CB89-1629-43B1-BAAC-30A21EE23665}"/>
                </a:ext>
              </a:extLst>
            </p:cNvPr>
            <p:cNvSpPr>
              <a:spLocks noChangeShapeType="1"/>
            </p:cNvSpPr>
            <p:nvPr/>
          </p:nvSpPr>
          <p:spPr bwMode="auto">
            <a:xfrm flipV="1">
              <a:off x="3504" y="2172"/>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37" name="Text Box 7">
            <a:extLst>
              <a:ext uri="{FF2B5EF4-FFF2-40B4-BE49-F238E27FC236}">
                <a16:creationId xmlns:a16="http://schemas.microsoft.com/office/drawing/2014/main" id="{0C5A73D2-11E2-4EB7-9469-1D4E61D8F0A9}"/>
              </a:ext>
            </a:extLst>
          </p:cNvPr>
          <p:cNvSpPr txBox="1">
            <a:spLocks noChangeArrowheads="1"/>
          </p:cNvSpPr>
          <p:nvPr/>
        </p:nvSpPr>
        <p:spPr bwMode="auto">
          <a:xfrm rot="16200000">
            <a:off x="-271170" y="1283190"/>
            <a:ext cx="1065202"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Cost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1885393-F517-4F67-8B26-550DE37F0B1A}"/>
                  </a:ext>
                </a:extLst>
              </p14:cNvPr>
              <p14:cNvContentPartPr/>
              <p14:nvPr/>
            </p14:nvContentPartPr>
            <p14:xfrm>
              <a:off x="3702532" y="1970558"/>
              <a:ext cx="136" cy="136"/>
            </p14:xfrm>
          </p:contentPart>
        </mc:Choice>
        <mc:Fallback xmlns="">
          <p:pic>
            <p:nvPicPr>
              <p:cNvPr id="5" name="Ink 4">
                <a:extLst>
                  <a:ext uri="{FF2B5EF4-FFF2-40B4-BE49-F238E27FC236}">
                    <a16:creationId xmlns:a16="http://schemas.microsoft.com/office/drawing/2014/main" id="{61885393-F517-4F67-8B26-550DE37F0B1A}"/>
                  </a:ext>
                </a:extLst>
              </p:cNvPr>
              <p:cNvPicPr/>
              <p:nvPr/>
            </p:nvPicPr>
            <p:blipFill>
              <a:blip r:embed="rId4"/>
              <a:stretch>
                <a:fillRect/>
              </a:stretch>
            </p:blipFill>
            <p:spPr>
              <a:xfrm>
                <a:off x="3699132" y="1967158"/>
                <a:ext cx="6800" cy="6800"/>
              </a:xfrm>
              <a:prstGeom prst="rect">
                <a:avLst/>
              </a:prstGeom>
            </p:spPr>
          </p:pic>
        </mc:Fallback>
      </mc:AlternateContent>
      <p:grpSp>
        <p:nvGrpSpPr>
          <p:cNvPr id="8" name="Group 7">
            <a:extLst>
              <a:ext uri="{FF2B5EF4-FFF2-40B4-BE49-F238E27FC236}">
                <a16:creationId xmlns:a16="http://schemas.microsoft.com/office/drawing/2014/main" id="{CFC9D8E6-8C52-4F57-AB59-0AEBD45D3C40}"/>
              </a:ext>
            </a:extLst>
          </p:cNvPr>
          <p:cNvGrpSpPr/>
          <p:nvPr/>
        </p:nvGrpSpPr>
        <p:grpSpPr>
          <a:xfrm>
            <a:off x="1851096" y="1115012"/>
            <a:ext cx="1715856" cy="520814"/>
            <a:chOff x="6842484" y="2253495"/>
            <a:chExt cx="4537800" cy="137736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0E9ADB8-3045-4E2D-A7FA-B0DCC5803802}"/>
                    </a:ext>
                  </a:extLst>
                </p14:cNvPr>
                <p14:cNvContentPartPr/>
                <p14:nvPr/>
              </p14:nvContentPartPr>
              <p14:xfrm>
                <a:off x="6842484" y="2778735"/>
                <a:ext cx="4537800" cy="852120"/>
              </p14:xfrm>
            </p:contentPart>
          </mc:Choice>
          <mc:Fallback xmlns="">
            <p:pic>
              <p:nvPicPr>
                <p:cNvPr id="2" name="Ink 1">
                  <a:extLst>
                    <a:ext uri="{FF2B5EF4-FFF2-40B4-BE49-F238E27FC236}">
                      <a16:creationId xmlns:a16="http://schemas.microsoft.com/office/drawing/2014/main" id="{E0E9ADB8-3045-4E2D-A7FA-B0DCC5803802}"/>
                    </a:ext>
                  </a:extLst>
                </p:cNvPr>
                <p:cNvPicPr/>
                <p:nvPr/>
              </p:nvPicPr>
              <p:blipFill>
                <a:blip r:embed="rId6"/>
                <a:stretch>
                  <a:fillRect/>
                </a:stretch>
              </p:blipFill>
              <p:spPr>
                <a:xfrm>
                  <a:off x="6833484" y="2770095"/>
                  <a:ext cx="455544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19B070B9-FD66-4076-AEF0-3A387F43D5C9}"/>
                    </a:ext>
                  </a:extLst>
                </p14:cNvPr>
                <p14:cNvContentPartPr/>
                <p14:nvPr/>
              </p14:nvContentPartPr>
              <p14:xfrm>
                <a:off x="8053884" y="2798175"/>
                <a:ext cx="360" cy="360"/>
              </p14:xfrm>
            </p:contentPart>
          </mc:Choice>
          <mc:Fallback xmlns="">
            <p:pic>
              <p:nvPicPr>
                <p:cNvPr id="3" name="Ink 2">
                  <a:extLst>
                    <a:ext uri="{FF2B5EF4-FFF2-40B4-BE49-F238E27FC236}">
                      <a16:creationId xmlns:a16="http://schemas.microsoft.com/office/drawing/2014/main" id="{19B070B9-FD66-4076-AEF0-3A387F43D5C9}"/>
                    </a:ext>
                  </a:extLst>
                </p:cNvPr>
                <p:cNvPicPr/>
                <p:nvPr/>
              </p:nvPicPr>
              <p:blipFill>
                <a:blip r:embed="rId8"/>
                <a:stretch>
                  <a:fillRect/>
                </a:stretch>
              </p:blipFill>
              <p:spPr>
                <a:xfrm>
                  <a:off x="8045244" y="27895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D2C69D87-2FDF-42A2-BC19-0D1D5C39D9F3}"/>
                    </a:ext>
                  </a:extLst>
                </p14:cNvPr>
                <p14:cNvContentPartPr/>
                <p14:nvPr/>
              </p14:nvContentPartPr>
              <p14:xfrm>
                <a:off x="8848044" y="2433135"/>
                <a:ext cx="171360" cy="263880"/>
              </p14:xfrm>
            </p:contentPart>
          </mc:Choice>
          <mc:Fallback xmlns="">
            <p:pic>
              <p:nvPicPr>
                <p:cNvPr id="6" name="Ink 5">
                  <a:extLst>
                    <a:ext uri="{FF2B5EF4-FFF2-40B4-BE49-F238E27FC236}">
                      <a16:creationId xmlns:a16="http://schemas.microsoft.com/office/drawing/2014/main" id="{D2C69D87-2FDF-42A2-BC19-0D1D5C39D9F3}"/>
                    </a:ext>
                  </a:extLst>
                </p:cNvPr>
                <p:cNvPicPr/>
                <p:nvPr/>
              </p:nvPicPr>
              <p:blipFill>
                <a:blip r:embed="rId10"/>
                <a:stretch>
                  <a:fillRect/>
                </a:stretch>
              </p:blipFill>
              <p:spPr>
                <a:xfrm>
                  <a:off x="8839404" y="2424135"/>
                  <a:ext cx="1890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E51E2B65-7877-4C26-BA39-AC8583764032}"/>
                    </a:ext>
                  </a:extLst>
                </p14:cNvPr>
                <p14:cNvContentPartPr/>
                <p14:nvPr/>
              </p14:nvContentPartPr>
              <p14:xfrm>
                <a:off x="8931204" y="2253495"/>
                <a:ext cx="448560" cy="188280"/>
              </p14:xfrm>
            </p:contentPart>
          </mc:Choice>
          <mc:Fallback xmlns="">
            <p:pic>
              <p:nvPicPr>
                <p:cNvPr id="7" name="Ink 6">
                  <a:extLst>
                    <a:ext uri="{FF2B5EF4-FFF2-40B4-BE49-F238E27FC236}">
                      <a16:creationId xmlns:a16="http://schemas.microsoft.com/office/drawing/2014/main" id="{E51E2B65-7877-4C26-BA39-AC8583764032}"/>
                    </a:ext>
                  </a:extLst>
                </p:cNvPr>
                <p:cNvPicPr/>
                <p:nvPr/>
              </p:nvPicPr>
              <p:blipFill>
                <a:blip r:embed="rId12"/>
                <a:stretch>
                  <a:fillRect/>
                </a:stretch>
              </p:blipFill>
              <p:spPr>
                <a:xfrm>
                  <a:off x="8922564" y="2244495"/>
                  <a:ext cx="466200" cy="205920"/>
                </a:xfrm>
                <a:prstGeom prst="rect">
                  <a:avLst/>
                </a:prstGeom>
              </p:spPr>
            </p:pic>
          </mc:Fallback>
        </mc:AlternateContent>
      </p:grpSp>
      <p:grpSp>
        <p:nvGrpSpPr>
          <p:cNvPr id="29" name="Group 28">
            <a:extLst>
              <a:ext uri="{FF2B5EF4-FFF2-40B4-BE49-F238E27FC236}">
                <a16:creationId xmlns:a16="http://schemas.microsoft.com/office/drawing/2014/main" id="{C0628BCA-0C3E-4F24-9B03-62A51DAE185B}"/>
              </a:ext>
            </a:extLst>
          </p:cNvPr>
          <p:cNvGrpSpPr/>
          <p:nvPr/>
        </p:nvGrpSpPr>
        <p:grpSpPr>
          <a:xfrm>
            <a:off x="2696296" y="926343"/>
            <a:ext cx="1045032" cy="174785"/>
            <a:chOff x="9077724" y="1754535"/>
            <a:chExt cx="2763720" cy="46224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81D7ACBA-8DF7-4DA5-85C0-6D939FBD425D}"/>
                    </a:ext>
                  </a:extLst>
                </p14:cNvPr>
                <p14:cNvContentPartPr/>
                <p14:nvPr/>
              </p14:nvContentPartPr>
              <p14:xfrm>
                <a:off x="9318924" y="1818975"/>
                <a:ext cx="9000" cy="322200"/>
              </p14:xfrm>
            </p:contentPart>
          </mc:Choice>
          <mc:Fallback xmlns="">
            <p:pic>
              <p:nvPicPr>
                <p:cNvPr id="9" name="Ink 8">
                  <a:extLst>
                    <a:ext uri="{FF2B5EF4-FFF2-40B4-BE49-F238E27FC236}">
                      <a16:creationId xmlns:a16="http://schemas.microsoft.com/office/drawing/2014/main" id="{81D7ACBA-8DF7-4DA5-85C0-6D939FBD425D}"/>
                    </a:ext>
                  </a:extLst>
                </p:cNvPr>
                <p:cNvPicPr/>
                <p:nvPr/>
              </p:nvPicPr>
              <p:blipFill>
                <a:blip r:embed="rId14"/>
                <a:stretch>
                  <a:fillRect/>
                </a:stretch>
              </p:blipFill>
              <p:spPr>
                <a:xfrm>
                  <a:off x="9310284" y="1810335"/>
                  <a:ext cx="2664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0011536D-7604-4126-B335-279E34EEB595}"/>
                    </a:ext>
                  </a:extLst>
                </p14:cNvPr>
                <p14:cNvContentPartPr/>
                <p14:nvPr/>
              </p14:nvContentPartPr>
              <p14:xfrm>
                <a:off x="9077724" y="1790175"/>
                <a:ext cx="741240" cy="392040"/>
              </p14:xfrm>
            </p:contentPart>
          </mc:Choice>
          <mc:Fallback xmlns="">
            <p:pic>
              <p:nvPicPr>
                <p:cNvPr id="10" name="Ink 9">
                  <a:extLst>
                    <a:ext uri="{FF2B5EF4-FFF2-40B4-BE49-F238E27FC236}">
                      <a16:creationId xmlns:a16="http://schemas.microsoft.com/office/drawing/2014/main" id="{0011536D-7604-4126-B335-279E34EEB595}"/>
                    </a:ext>
                  </a:extLst>
                </p:cNvPr>
                <p:cNvPicPr/>
                <p:nvPr/>
              </p:nvPicPr>
              <p:blipFill>
                <a:blip r:embed="rId16"/>
                <a:stretch>
                  <a:fillRect/>
                </a:stretch>
              </p:blipFill>
              <p:spPr>
                <a:xfrm>
                  <a:off x="9068724" y="1781535"/>
                  <a:ext cx="75888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CB7971FB-7EF5-4B81-B540-BAC59A1794FA}"/>
                    </a:ext>
                  </a:extLst>
                </p14:cNvPr>
                <p14:cNvContentPartPr/>
                <p14:nvPr/>
              </p14:nvContentPartPr>
              <p14:xfrm>
                <a:off x="9863964" y="2014095"/>
                <a:ext cx="326880" cy="202680"/>
              </p14:xfrm>
            </p:contentPart>
          </mc:Choice>
          <mc:Fallback xmlns="">
            <p:pic>
              <p:nvPicPr>
                <p:cNvPr id="11" name="Ink 10">
                  <a:extLst>
                    <a:ext uri="{FF2B5EF4-FFF2-40B4-BE49-F238E27FC236}">
                      <a16:creationId xmlns:a16="http://schemas.microsoft.com/office/drawing/2014/main" id="{CB7971FB-7EF5-4B81-B540-BAC59A1794FA}"/>
                    </a:ext>
                  </a:extLst>
                </p:cNvPr>
                <p:cNvPicPr/>
                <p:nvPr/>
              </p:nvPicPr>
              <p:blipFill>
                <a:blip r:embed="rId18"/>
                <a:stretch>
                  <a:fillRect/>
                </a:stretch>
              </p:blipFill>
              <p:spPr>
                <a:xfrm>
                  <a:off x="9855324" y="2005455"/>
                  <a:ext cx="344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0800CADD-8EB6-4D7F-B1B4-DCEF2ECDDA0F}"/>
                    </a:ext>
                  </a:extLst>
                </p14:cNvPr>
                <p14:cNvContentPartPr/>
                <p14:nvPr/>
              </p14:nvContentPartPr>
              <p14:xfrm>
                <a:off x="10002564" y="1754535"/>
                <a:ext cx="235080" cy="433080"/>
              </p14:xfrm>
            </p:contentPart>
          </mc:Choice>
          <mc:Fallback xmlns="">
            <p:pic>
              <p:nvPicPr>
                <p:cNvPr id="12" name="Ink 11">
                  <a:extLst>
                    <a:ext uri="{FF2B5EF4-FFF2-40B4-BE49-F238E27FC236}">
                      <a16:creationId xmlns:a16="http://schemas.microsoft.com/office/drawing/2014/main" id="{0800CADD-8EB6-4D7F-B1B4-DCEF2ECDDA0F}"/>
                    </a:ext>
                  </a:extLst>
                </p:cNvPr>
                <p:cNvPicPr/>
                <p:nvPr/>
              </p:nvPicPr>
              <p:blipFill>
                <a:blip r:embed="rId20"/>
                <a:stretch>
                  <a:fillRect/>
                </a:stretch>
              </p:blipFill>
              <p:spPr>
                <a:xfrm>
                  <a:off x="9993924" y="1745895"/>
                  <a:ext cx="2527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73F029E8-606D-4CE3-9583-87E23E273F2A}"/>
                    </a:ext>
                  </a:extLst>
                </p14:cNvPr>
                <p14:cNvContentPartPr/>
                <p14:nvPr/>
              </p14:nvContentPartPr>
              <p14:xfrm>
                <a:off x="10002564" y="2003655"/>
                <a:ext cx="361440" cy="10080"/>
              </p14:xfrm>
            </p:contentPart>
          </mc:Choice>
          <mc:Fallback xmlns="">
            <p:pic>
              <p:nvPicPr>
                <p:cNvPr id="13" name="Ink 12">
                  <a:extLst>
                    <a:ext uri="{FF2B5EF4-FFF2-40B4-BE49-F238E27FC236}">
                      <a16:creationId xmlns:a16="http://schemas.microsoft.com/office/drawing/2014/main" id="{73F029E8-606D-4CE3-9583-87E23E273F2A}"/>
                    </a:ext>
                  </a:extLst>
                </p:cNvPr>
                <p:cNvPicPr/>
                <p:nvPr/>
              </p:nvPicPr>
              <p:blipFill>
                <a:blip r:embed="rId22"/>
                <a:stretch>
                  <a:fillRect/>
                </a:stretch>
              </p:blipFill>
              <p:spPr>
                <a:xfrm>
                  <a:off x="9993924" y="1995015"/>
                  <a:ext cx="3790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833174E2-95F6-4DA5-9DCB-D281B258935D}"/>
                    </a:ext>
                  </a:extLst>
                </p14:cNvPr>
                <p14:cNvContentPartPr/>
                <p14:nvPr/>
              </p14:nvContentPartPr>
              <p14:xfrm>
                <a:off x="10390644" y="2010495"/>
                <a:ext cx="94680" cy="123120"/>
              </p14:xfrm>
            </p:contentPart>
          </mc:Choice>
          <mc:Fallback xmlns="">
            <p:pic>
              <p:nvPicPr>
                <p:cNvPr id="14" name="Ink 13">
                  <a:extLst>
                    <a:ext uri="{FF2B5EF4-FFF2-40B4-BE49-F238E27FC236}">
                      <a16:creationId xmlns:a16="http://schemas.microsoft.com/office/drawing/2014/main" id="{833174E2-95F6-4DA5-9DCB-D281B258935D}"/>
                    </a:ext>
                  </a:extLst>
                </p:cNvPr>
                <p:cNvPicPr/>
                <p:nvPr/>
              </p:nvPicPr>
              <p:blipFill>
                <a:blip r:embed="rId24"/>
                <a:stretch>
                  <a:fillRect/>
                </a:stretch>
              </p:blipFill>
              <p:spPr>
                <a:xfrm>
                  <a:off x="10382004" y="2001855"/>
                  <a:ext cx="11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732AAB4-887F-4D91-8EE7-3B0FE0DBF107}"/>
                    </a:ext>
                  </a:extLst>
                </p14:cNvPr>
                <p14:cNvContentPartPr/>
                <p14:nvPr/>
              </p14:nvContentPartPr>
              <p14:xfrm>
                <a:off x="10584684" y="2015175"/>
                <a:ext cx="70920" cy="71280"/>
              </p14:xfrm>
            </p:contentPart>
          </mc:Choice>
          <mc:Fallback xmlns="">
            <p:pic>
              <p:nvPicPr>
                <p:cNvPr id="15" name="Ink 14">
                  <a:extLst>
                    <a:ext uri="{FF2B5EF4-FFF2-40B4-BE49-F238E27FC236}">
                      <a16:creationId xmlns:a16="http://schemas.microsoft.com/office/drawing/2014/main" id="{B732AAB4-887F-4D91-8EE7-3B0FE0DBF107}"/>
                    </a:ext>
                  </a:extLst>
                </p:cNvPr>
                <p:cNvPicPr/>
                <p:nvPr/>
              </p:nvPicPr>
              <p:blipFill>
                <a:blip r:embed="rId26"/>
                <a:stretch>
                  <a:fillRect/>
                </a:stretch>
              </p:blipFill>
              <p:spPr>
                <a:xfrm>
                  <a:off x="10575684" y="2006175"/>
                  <a:ext cx="885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B6AFFAE3-3F25-49F6-9AA8-99482F01F5B9}"/>
                    </a:ext>
                  </a:extLst>
                </p14:cNvPr>
                <p14:cNvContentPartPr/>
                <p14:nvPr/>
              </p14:nvContentPartPr>
              <p14:xfrm>
                <a:off x="10769364" y="2022375"/>
                <a:ext cx="177120" cy="86400"/>
              </p14:xfrm>
            </p:contentPart>
          </mc:Choice>
          <mc:Fallback xmlns="">
            <p:pic>
              <p:nvPicPr>
                <p:cNvPr id="16" name="Ink 15">
                  <a:extLst>
                    <a:ext uri="{FF2B5EF4-FFF2-40B4-BE49-F238E27FC236}">
                      <a16:creationId xmlns:a16="http://schemas.microsoft.com/office/drawing/2014/main" id="{B6AFFAE3-3F25-49F6-9AA8-99482F01F5B9}"/>
                    </a:ext>
                  </a:extLst>
                </p:cNvPr>
                <p:cNvPicPr/>
                <p:nvPr/>
              </p:nvPicPr>
              <p:blipFill>
                <a:blip r:embed="rId28"/>
                <a:stretch>
                  <a:fillRect/>
                </a:stretch>
              </p:blipFill>
              <p:spPr>
                <a:xfrm>
                  <a:off x="10760364" y="2013735"/>
                  <a:ext cx="1947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1E81E0C3-0D13-44C1-AFE3-1EC634C6F5F0}"/>
                    </a:ext>
                  </a:extLst>
                </p14:cNvPr>
                <p14:cNvContentPartPr/>
                <p14:nvPr/>
              </p14:nvContentPartPr>
              <p14:xfrm>
                <a:off x="11000484" y="2040735"/>
                <a:ext cx="18360" cy="53640"/>
              </p14:xfrm>
            </p:contentPart>
          </mc:Choice>
          <mc:Fallback xmlns="">
            <p:pic>
              <p:nvPicPr>
                <p:cNvPr id="17" name="Ink 16">
                  <a:extLst>
                    <a:ext uri="{FF2B5EF4-FFF2-40B4-BE49-F238E27FC236}">
                      <a16:creationId xmlns:a16="http://schemas.microsoft.com/office/drawing/2014/main" id="{1E81E0C3-0D13-44C1-AFE3-1EC634C6F5F0}"/>
                    </a:ext>
                  </a:extLst>
                </p:cNvPr>
                <p:cNvPicPr/>
                <p:nvPr/>
              </p:nvPicPr>
              <p:blipFill>
                <a:blip r:embed="rId30"/>
                <a:stretch>
                  <a:fillRect/>
                </a:stretch>
              </p:blipFill>
              <p:spPr>
                <a:xfrm>
                  <a:off x="10991484" y="2032095"/>
                  <a:ext cx="36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69DD0885-45C9-4D92-8E85-599B5DDC156F}"/>
                    </a:ext>
                  </a:extLst>
                </p14:cNvPr>
                <p14:cNvContentPartPr/>
                <p14:nvPr/>
              </p14:nvContentPartPr>
              <p14:xfrm>
                <a:off x="11018844" y="1893135"/>
                <a:ext cx="360" cy="360"/>
              </p14:xfrm>
            </p:contentPart>
          </mc:Choice>
          <mc:Fallback xmlns="">
            <p:pic>
              <p:nvPicPr>
                <p:cNvPr id="18" name="Ink 17">
                  <a:extLst>
                    <a:ext uri="{FF2B5EF4-FFF2-40B4-BE49-F238E27FC236}">
                      <a16:creationId xmlns:a16="http://schemas.microsoft.com/office/drawing/2014/main" id="{69DD0885-45C9-4D92-8E85-599B5DDC156F}"/>
                    </a:ext>
                  </a:extLst>
                </p:cNvPr>
                <p:cNvPicPr/>
                <p:nvPr/>
              </p:nvPicPr>
              <p:blipFill>
                <a:blip r:embed="rId8"/>
                <a:stretch>
                  <a:fillRect/>
                </a:stretch>
              </p:blipFill>
              <p:spPr>
                <a:xfrm>
                  <a:off x="11009844" y="188449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02144126-3E16-4FB9-B91C-461F56C9AC60}"/>
                    </a:ext>
                  </a:extLst>
                </p14:cNvPr>
                <p14:cNvContentPartPr/>
                <p14:nvPr/>
              </p14:nvContentPartPr>
              <p14:xfrm>
                <a:off x="11083284" y="1988895"/>
                <a:ext cx="103320" cy="66960"/>
              </p14:xfrm>
            </p:contentPart>
          </mc:Choice>
          <mc:Fallback xmlns="">
            <p:pic>
              <p:nvPicPr>
                <p:cNvPr id="19" name="Ink 18">
                  <a:extLst>
                    <a:ext uri="{FF2B5EF4-FFF2-40B4-BE49-F238E27FC236}">
                      <a16:creationId xmlns:a16="http://schemas.microsoft.com/office/drawing/2014/main" id="{02144126-3E16-4FB9-B91C-461F56C9AC60}"/>
                    </a:ext>
                  </a:extLst>
                </p:cNvPr>
                <p:cNvPicPr/>
                <p:nvPr/>
              </p:nvPicPr>
              <p:blipFill>
                <a:blip r:embed="rId33"/>
                <a:stretch>
                  <a:fillRect/>
                </a:stretch>
              </p:blipFill>
              <p:spPr>
                <a:xfrm>
                  <a:off x="11074644" y="1979895"/>
                  <a:ext cx="1209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B1A51FB5-8D0A-41EE-BA36-D99D1A1CA689}"/>
                    </a:ext>
                  </a:extLst>
                </p14:cNvPr>
                <p14:cNvContentPartPr/>
                <p14:nvPr/>
              </p14:nvContentPartPr>
              <p14:xfrm>
                <a:off x="11240604" y="2013375"/>
                <a:ext cx="27720" cy="54360"/>
              </p14:xfrm>
            </p:contentPart>
          </mc:Choice>
          <mc:Fallback xmlns="">
            <p:pic>
              <p:nvPicPr>
                <p:cNvPr id="20" name="Ink 19">
                  <a:extLst>
                    <a:ext uri="{FF2B5EF4-FFF2-40B4-BE49-F238E27FC236}">
                      <a16:creationId xmlns:a16="http://schemas.microsoft.com/office/drawing/2014/main" id="{B1A51FB5-8D0A-41EE-BA36-D99D1A1CA689}"/>
                    </a:ext>
                  </a:extLst>
                </p:cNvPr>
                <p:cNvPicPr/>
                <p:nvPr/>
              </p:nvPicPr>
              <p:blipFill>
                <a:blip r:embed="rId35"/>
                <a:stretch>
                  <a:fillRect/>
                </a:stretch>
              </p:blipFill>
              <p:spPr>
                <a:xfrm>
                  <a:off x="11231604" y="2004375"/>
                  <a:ext cx="45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346C401D-1C87-4218-BAE9-B87A06BE0343}"/>
                    </a:ext>
                  </a:extLst>
                </p14:cNvPr>
                <p14:cNvContentPartPr/>
                <p14:nvPr/>
              </p14:nvContentPartPr>
              <p14:xfrm>
                <a:off x="11230884" y="1865415"/>
                <a:ext cx="360" cy="360"/>
              </p14:xfrm>
            </p:contentPart>
          </mc:Choice>
          <mc:Fallback xmlns="">
            <p:pic>
              <p:nvPicPr>
                <p:cNvPr id="21" name="Ink 20">
                  <a:extLst>
                    <a:ext uri="{FF2B5EF4-FFF2-40B4-BE49-F238E27FC236}">
                      <a16:creationId xmlns:a16="http://schemas.microsoft.com/office/drawing/2014/main" id="{346C401D-1C87-4218-BAE9-B87A06BE0343}"/>
                    </a:ext>
                  </a:extLst>
                </p:cNvPr>
                <p:cNvPicPr/>
                <p:nvPr/>
              </p:nvPicPr>
              <p:blipFill>
                <a:blip r:embed="rId8"/>
                <a:stretch>
                  <a:fillRect/>
                </a:stretch>
              </p:blipFill>
              <p:spPr>
                <a:xfrm>
                  <a:off x="11222244" y="18567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16642188-5E87-4338-996E-AA1C23E2D9AD}"/>
                    </a:ext>
                  </a:extLst>
                </p14:cNvPr>
                <p14:cNvContentPartPr/>
                <p14:nvPr/>
              </p14:nvContentPartPr>
              <p14:xfrm>
                <a:off x="11363364" y="1966935"/>
                <a:ext cx="42840" cy="104040"/>
              </p14:xfrm>
            </p:contentPart>
          </mc:Choice>
          <mc:Fallback xmlns="">
            <p:pic>
              <p:nvPicPr>
                <p:cNvPr id="22" name="Ink 21">
                  <a:extLst>
                    <a:ext uri="{FF2B5EF4-FFF2-40B4-BE49-F238E27FC236}">
                      <a16:creationId xmlns:a16="http://schemas.microsoft.com/office/drawing/2014/main" id="{16642188-5E87-4338-996E-AA1C23E2D9AD}"/>
                    </a:ext>
                  </a:extLst>
                </p:cNvPr>
                <p:cNvPicPr/>
                <p:nvPr/>
              </p:nvPicPr>
              <p:blipFill>
                <a:blip r:embed="rId38"/>
                <a:stretch>
                  <a:fillRect/>
                </a:stretch>
              </p:blipFill>
              <p:spPr>
                <a:xfrm>
                  <a:off x="11354364" y="1957935"/>
                  <a:ext cx="60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C6A48323-6061-4381-A039-CB61379C822A}"/>
                    </a:ext>
                  </a:extLst>
                </p14:cNvPr>
                <p14:cNvContentPartPr/>
                <p14:nvPr/>
              </p14:nvContentPartPr>
              <p14:xfrm>
                <a:off x="11508084" y="1791615"/>
                <a:ext cx="37800" cy="257760"/>
              </p14:xfrm>
            </p:contentPart>
          </mc:Choice>
          <mc:Fallback xmlns="">
            <p:pic>
              <p:nvPicPr>
                <p:cNvPr id="23" name="Ink 22">
                  <a:extLst>
                    <a:ext uri="{FF2B5EF4-FFF2-40B4-BE49-F238E27FC236}">
                      <a16:creationId xmlns:a16="http://schemas.microsoft.com/office/drawing/2014/main" id="{C6A48323-6061-4381-A039-CB61379C822A}"/>
                    </a:ext>
                  </a:extLst>
                </p:cNvPr>
                <p:cNvPicPr/>
                <p:nvPr/>
              </p:nvPicPr>
              <p:blipFill>
                <a:blip r:embed="rId40"/>
                <a:stretch>
                  <a:fillRect/>
                </a:stretch>
              </p:blipFill>
              <p:spPr>
                <a:xfrm>
                  <a:off x="11499444" y="1782615"/>
                  <a:ext cx="55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35D367A9-E935-4B97-867A-06ACEFCEA825}"/>
                    </a:ext>
                  </a:extLst>
                </p14:cNvPr>
                <p14:cNvContentPartPr/>
                <p14:nvPr/>
              </p14:nvContentPartPr>
              <p14:xfrm>
                <a:off x="11462004" y="1984575"/>
                <a:ext cx="144360" cy="28800"/>
              </p14:xfrm>
            </p:contentPart>
          </mc:Choice>
          <mc:Fallback xmlns="">
            <p:pic>
              <p:nvPicPr>
                <p:cNvPr id="24" name="Ink 23">
                  <a:extLst>
                    <a:ext uri="{FF2B5EF4-FFF2-40B4-BE49-F238E27FC236}">
                      <a16:creationId xmlns:a16="http://schemas.microsoft.com/office/drawing/2014/main" id="{35D367A9-E935-4B97-867A-06ACEFCEA825}"/>
                    </a:ext>
                  </a:extLst>
                </p:cNvPr>
                <p:cNvPicPr/>
                <p:nvPr/>
              </p:nvPicPr>
              <p:blipFill>
                <a:blip r:embed="rId42"/>
                <a:stretch>
                  <a:fillRect/>
                </a:stretch>
              </p:blipFill>
              <p:spPr>
                <a:xfrm>
                  <a:off x="11453364" y="1975935"/>
                  <a:ext cx="162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0CEDE632-C1D5-42ED-88B0-7C6718780D5C}"/>
                    </a:ext>
                  </a:extLst>
                </p14:cNvPr>
                <p14:cNvContentPartPr/>
                <p14:nvPr/>
              </p14:nvContentPartPr>
              <p14:xfrm>
                <a:off x="11628324" y="2077815"/>
                <a:ext cx="9720" cy="43920"/>
              </p14:xfrm>
            </p:contentPart>
          </mc:Choice>
          <mc:Fallback xmlns="">
            <p:pic>
              <p:nvPicPr>
                <p:cNvPr id="25" name="Ink 24">
                  <a:extLst>
                    <a:ext uri="{FF2B5EF4-FFF2-40B4-BE49-F238E27FC236}">
                      <a16:creationId xmlns:a16="http://schemas.microsoft.com/office/drawing/2014/main" id="{0CEDE632-C1D5-42ED-88B0-7C6718780D5C}"/>
                    </a:ext>
                  </a:extLst>
                </p:cNvPr>
                <p:cNvPicPr/>
                <p:nvPr/>
              </p:nvPicPr>
              <p:blipFill>
                <a:blip r:embed="rId44"/>
                <a:stretch>
                  <a:fillRect/>
                </a:stretch>
              </p:blipFill>
              <p:spPr>
                <a:xfrm>
                  <a:off x="11619324" y="2068815"/>
                  <a:ext cx="273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A9B540C2-9311-48C0-86E2-FCF844EFF044}"/>
                    </a:ext>
                  </a:extLst>
                </p14:cNvPr>
                <p14:cNvContentPartPr/>
                <p14:nvPr/>
              </p14:nvContentPartPr>
              <p14:xfrm>
                <a:off x="11646684" y="1948575"/>
                <a:ext cx="360" cy="360"/>
              </p14:xfrm>
            </p:contentPart>
          </mc:Choice>
          <mc:Fallback xmlns="">
            <p:pic>
              <p:nvPicPr>
                <p:cNvPr id="26" name="Ink 25">
                  <a:extLst>
                    <a:ext uri="{FF2B5EF4-FFF2-40B4-BE49-F238E27FC236}">
                      <a16:creationId xmlns:a16="http://schemas.microsoft.com/office/drawing/2014/main" id="{A9B540C2-9311-48C0-86E2-FCF844EFF044}"/>
                    </a:ext>
                  </a:extLst>
                </p:cNvPr>
                <p:cNvPicPr/>
                <p:nvPr/>
              </p:nvPicPr>
              <p:blipFill>
                <a:blip r:embed="rId8"/>
                <a:stretch>
                  <a:fillRect/>
                </a:stretch>
              </p:blipFill>
              <p:spPr>
                <a:xfrm>
                  <a:off x="11638044" y="19399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153EBC1-5D94-423C-AE9F-00A1E2A3199E}"/>
                    </a:ext>
                  </a:extLst>
                </p14:cNvPr>
                <p14:cNvContentPartPr/>
                <p14:nvPr/>
              </p14:nvContentPartPr>
              <p14:xfrm>
                <a:off x="11756844" y="2013375"/>
                <a:ext cx="84600" cy="112680"/>
              </p14:xfrm>
            </p:contentPart>
          </mc:Choice>
          <mc:Fallback xmlns="">
            <p:pic>
              <p:nvPicPr>
                <p:cNvPr id="28" name="Ink 27">
                  <a:extLst>
                    <a:ext uri="{FF2B5EF4-FFF2-40B4-BE49-F238E27FC236}">
                      <a16:creationId xmlns:a16="http://schemas.microsoft.com/office/drawing/2014/main" id="{8153EBC1-5D94-423C-AE9F-00A1E2A3199E}"/>
                    </a:ext>
                  </a:extLst>
                </p:cNvPr>
                <p:cNvPicPr/>
                <p:nvPr/>
              </p:nvPicPr>
              <p:blipFill>
                <a:blip r:embed="rId47"/>
                <a:stretch>
                  <a:fillRect/>
                </a:stretch>
              </p:blipFill>
              <p:spPr>
                <a:xfrm>
                  <a:off x="11747844" y="2004375"/>
                  <a:ext cx="102240" cy="130320"/>
                </a:xfrm>
                <a:prstGeom prst="rect">
                  <a:avLst/>
                </a:prstGeom>
              </p:spPr>
            </p:pic>
          </mc:Fallback>
        </mc:AlternateContent>
      </p:grpSp>
      <p:sp>
        <p:nvSpPr>
          <p:cNvPr id="4" name="Freeform 5">
            <a:extLst>
              <a:ext uri="{FF2B5EF4-FFF2-40B4-BE49-F238E27FC236}">
                <a16:creationId xmlns:a16="http://schemas.microsoft.com/office/drawing/2014/main" id="{DD9ECB62-22F4-C870-CBCF-36ADCD01F7D5}"/>
              </a:ext>
            </a:extLst>
          </p:cNvPr>
          <p:cNvSpPr>
            <a:spLocks/>
          </p:cNvSpPr>
          <p:nvPr/>
        </p:nvSpPr>
        <p:spPr bwMode="auto">
          <a:xfrm>
            <a:off x="331258" y="994907"/>
            <a:ext cx="3208197" cy="110816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cxnSp>
        <p:nvCxnSpPr>
          <p:cNvPr id="27" name="Straight Arrow Connector 26">
            <a:extLst>
              <a:ext uri="{FF2B5EF4-FFF2-40B4-BE49-F238E27FC236}">
                <a16:creationId xmlns:a16="http://schemas.microsoft.com/office/drawing/2014/main" id="{A13C7575-2669-7BFD-0CBE-5CB2FF252733}"/>
              </a:ext>
            </a:extLst>
          </p:cNvPr>
          <p:cNvCxnSpPr>
            <a:cxnSpLocks/>
            <a:stCxn id="30" idx="0"/>
            <a:endCxn id="69643" idx="2"/>
          </p:cNvCxnSpPr>
          <p:nvPr/>
        </p:nvCxnSpPr>
        <p:spPr>
          <a:xfrm flipH="1" flipV="1">
            <a:off x="3669880" y="1616320"/>
            <a:ext cx="92475" cy="93326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0" name="TextBox 29">
            <a:extLst>
              <a:ext uri="{FF2B5EF4-FFF2-40B4-BE49-F238E27FC236}">
                <a16:creationId xmlns:a16="http://schemas.microsoft.com/office/drawing/2014/main" id="{1754FDC7-8C3A-0CAD-F568-57CB4B5E92C2}"/>
              </a:ext>
            </a:extLst>
          </p:cNvPr>
          <p:cNvSpPr txBox="1"/>
          <p:nvPr/>
        </p:nvSpPr>
        <p:spPr>
          <a:xfrm>
            <a:off x="3007721" y="2549585"/>
            <a:ext cx="1509268" cy="55399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What types of variables might be part of the error term?</a:t>
            </a:r>
          </a:p>
        </p:txBody>
      </p:sp>
      <p:cxnSp>
        <p:nvCxnSpPr>
          <p:cNvPr id="31" name="Straight Arrow Connector 30">
            <a:extLst>
              <a:ext uri="{FF2B5EF4-FFF2-40B4-BE49-F238E27FC236}">
                <a16:creationId xmlns:a16="http://schemas.microsoft.com/office/drawing/2014/main" id="{C5082E46-309E-3AFD-8928-6DB943D62349}"/>
              </a:ext>
            </a:extLst>
          </p:cNvPr>
          <p:cNvCxnSpPr>
            <a:cxnSpLocks/>
            <a:stCxn id="69668" idx="3"/>
            <a:endCxn id="69643" idx="2"/>
          </p:cNvCxnSpPr>
          <p:nvPr/>
        </p:nvCxnSpPr>
        <p:spPr>
          <a:xfrm flipV="1">
            <a:off x="2609448" y="1616320"/>
            <a:ext cx="1060432" cy="114497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2" name="Rectangle 21">
            <a:extLst>
              <a:ext uri="{FF2B5EF4-FFF2-40B4-BE49-F238E27FC236}">
                <a16:creationId xmlns:a16="http://schemas.microsoft.com/office/drawing/2014/main" id="{786E7703-BB0E-4D0F-ED42-4FF593C0169F}"/>
              </a:ext>
            </a:extLst>
          </p:cNvPr>
          <p:cNvSpPr>
            <a:spLocks noChangeArrowheads="1"/>
          </p:cNvSpPr>
          <p:nvPr/>
        </p:nvSpPr>
        <p:spPr bwMode="auto">
          <a:xfrm>
            <a:off x="58457" y="373657"/>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a:t>
            </a:r>
            <a:r>
              <a:rPr lang="en-US" altLang="en-US" sz="1000" u="sng" dirty="0">
                <a:solidFill>
                  <a:srgbClr val="FF0000"/>
                </a:solidFill>
                <a:latin typeface="Arial" panose="020B0604020202020204" pitchFamily="34" charset="0"/>
                <a:cs typeface="Arial" panose="020B0604020202020204" pitchFamily="34" charset="0"/>
              </a:rPr>
              <a:t>probabilistic</a:t>
            </a:r>
            <a:r>
              <a:rPr lang="en-US" altLang="en-US" sz="1000" dirty="0">
                <a:solidFill>
                  <a:srgbClr val="FF0000"/>
                </a:solidFill>
                <a:latin typeface="Arial" panose="020B0604020202020204" pitchFamily="34" charset="0"/>
                <a:cs typeface="Arial" panose="020B0604020202020204" pitchFamily="34" charset="0"/>
              </a:rPr>
              <a:t> component</a:t>
            </a:r>
          </a:p>
        </p:txBody>
      </p:sp>
      <p:sp>
        <p:nvSpPr>
          <p:cNvPr id="33" name="Rectangle 20">
            <a:extLst>
              <a:ext uri="{FF2B5EF4-FFF2-40B4-BE49-F238E27FC236}">
                <a16:creationId xmlns:a16="http://schemas.microsoft.com/office/drawing/2014/main" id="{B7198190-E0FC-1940-D167-76E78F167EE8}"/>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9662"/>
                                        </p:tgtEl>
                                        <p:attrNameLst>
                                          <p:attrName>style.visibility</p:attrName>
                                        </p:attrNameLst>
                                      </p:cBhvr>
                                      <p:to>
                                        <p:strVal val="visible"/>
                                      </p:to>
                                    </p:set>
                                    <p:anim calcmode="lin" valueType="num">
                                      <p:cBhvr additive="base">
                                        <p:cTn id="7" dur="500" fill="hold"/>
                                        <p:tgtEl>
                                          <p:spTgt spid="69662"/>
                                        </p:tgtEl>
                                        <p:attrNameLst>
                                          <p:attrName>ppt_x</p:attrName>
                                        </p:attrNameLst>
                                      </p:cBhvr>
                                      <p:tavLst>
                                        <p:tav tm="0">
                                          <p:val>
                                            <p:strVal val="#ppt_x"/>
                                          </p:val>
                                        </p:tav>
                                        <p:tav tm="100000">
                                          <p:val>
                                            <p:strVal val="#ppt_x"/>
                                          </p:val>
                                        </p:tav>
                                      </p:tavLst>
                                    </p:anim>
                                    <p:anim calcmode="lin" valueType="num">
                                      <p:cBhvr additive="base">
                                        <p:cTn id="8" dur="500" fill="hold"/>
                                        <p:tgtEl>
                                          <p:spTgt spid="696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69663"/>
                                        </p:tgtEl>
                                        <p:attrNameLst>
                                          <p:attrName>style.visibility</p:attrName>
                                        </p:attrNameLst>
                                      </p:cBhvr>
                                      <p:to>
                                        <p:strVal val="visible"/>
                                      </p:to>
                                    </p:set>
                                    <p:animEffect transition="in" filter="wipe(up)">
                                      <p:cBhvr>
                                        <p:cTn id="13" dur="500"/>
                                        <p:tgtEl>
                                          <p:spTgt spid="69663"/>
                                        </p:tgtEl>
                                      </p:cBhvr>
                                    </p:animEffect>
                                  </p:childTnLst>
                                </p:cTn>
                              </p:par>
                            </p:childTnLst>
                          </p:cTn>
                        </p:par>
                        <p:par>
                          <p:cTn id="14" fill="hold" nodeType="afterGroup">
                            <p:stCondLst>
                              <p:cond delay="500"/>
                            </p:stCondLst>
                            <p:childTnLst>
                              <p:par>
                                <p:cTn id="15" presetID="22" presetClass="entr" presetSubtype="4" fill="hold" nodeType="afterEffect">
                                  <p:stCondLst>
                                    <p:cond delay="0"/>
                                  </p:stCondLst>
                                  <p:childTnLst>
                                    <p:set>
                                      <p:cBhvr>
                                        <p:cTn id="16" dur="1" fill="hold">
                                          <p:stCondLst>
                                            <p:cond delay="0"/>
                                          </p:stCondLst>
                                        </p:cTn>
                                        <p:tgtEl>
                                          <p:spTgt spid="69664"/>
                                        </p:tgtEl>
                                        <p:attrNameLst>
                                          <p:attrName>style.visibility</p:attrName>
                                        </p:attrNameLst>
                                      </p:cBhvr>
                                      <p:to>
                                        <p:strVal val="visible"/>
                                      </p:to>
                                    </p:set>
                                    <p:animEffect transition="in" filter="wipe(down)">
                                      <p:cBhvr>
                                        <p:cTn id="17" dur="500"/>
                                        <p:tgtEl>
                                          <p:spTgt spid="69664"/>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69665"/>
                                        </p:tgtEl>
                                        <p:attrNameLst>
                                          <p:attrName>style.visibility</p:attrName>
                                        </p:attrNameLst>
                                      </p:cBhvr>
                                      <p:to>
                                        <p:strVal val="visible"/>
                                      </p:to>
                                    </p:set>
                                    <p:animEffect transition="in" filter="wipe(up)">
                                      <p:cBhvr>
                                        <p:cTn id="21" dur="500"/>
                                        <p:tgtEl>
                                          <p:spTgt spid="69665"/>
                                        </p:tgtEl>
                                      </p:cBhvr>
                                    </p:animEffect>
                                  </p:childTnLst>
                                </p:cTn>
                              </p:par>
                            </p:childTnLst>
                          </p:cTn>
                        </p:par>
                        <p:par>
                          <p:cTn id="22" fill="hold" nodeType="afterGroup">
                            <p:stCondLst>
                              <p:cond delay="1500"/>
                            </p:stCondLst>
                            <p:childTnLst>
                              <p:par>
                                <p:cTn id="23" presetID="22" presetClass="entr" presetSubtype="4" fill="hold" nodeType="afterEffect">
                                  <p:stCondLst>
                                    <p:cond delay="0"/>
                                  </p:stCondLst>
                                  <p:childTnLst>
                                    <p:set>
                                      <p:cBhvr>
                                        <p:cTn id="24" dur="1" fill="hold">
                                          <p:stCondLst>
                                            <p:cond delay="0"/>
                                          </p:stCondLst>
                                        </p:cTn>
                                        <p:tgtEl>
                                          <p:spTgt spid="69666"/>
                                        </p:tgtEl>
                                        <p:attrNameLst>
                                          <p:attrName>style.visibility</p:attrName>
                                        </p:attrNameLst>
                                      </p:cBhvr>
                                      <p:to>
                                        <p:strVal val="visible"/>
                                      </p:to>
                                    </p:set>
                                    <p:animEffect transition="in" filter="wipe(down)">
                                      <p:cBhvr>
                                        <p:cTn id="25" dur="500"/>
                                        <p:tgtEl>
                                          <p:spTgt spid="6966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9668"/>
                                        </p:tgtEl>
                                        <p:attrNameLst>
                                          <p:attrName>style.visibility</p:attrName>
                                        </p:attrNameLst>
                                      </p:cBhvr>
                                      <p:to>
                                        <p:strVal val="visible"/>
                                      </p:to>
                                    </p:set>
                                  </p:childTnLst>
                                </p:cTn>
                              </p:par>
                            </p:childTnLst>
                          </p:cTn>
                        </p:par>
                        <p:par>
                          <p:cTn id="30" fill="hold" nodeType="afterGroup">
                            <p:stCondLst>
                              <p:cond delay="500"/>
                            </p:stCondLst>
                            <p:childTnLst>
                              <p:par>
                                <p:cTn id="31" presetID="16" presetClass="entr" presetSubtype="42" fill="hold" nodeType="afterEffect">
                                  <p:stCondLst>
                                    <p:cond delay="0"/>
                                  </p:stCondLst>
                                  <p:childTnLst>
                                    <p:set>
                                      <p:cBhvr>
                                        <p:cTn id="32" dur="1" fill="hold">
                                          <p:stCondLst>
                                            <p:cond delay="0"/>
                                          </p:stCondLst>
                                        </p:cTn>
                                        <p:tgtEl>
                                          <p:spTgt spid="69675"/>
                                        </p:tgtEl>
                                        <p:attrNameLst>
                                          <p:attrName>style.visibility</p:attrName>
                                        </p:attrNameLst>
                                      </p:cBhvr>
                                      <p:to>
                                        <p:strVal val="visible"/>
                                      </p:to>
                                    </p:set>
                                    <p:animEffect transition="in" filter="barn(outHorizontal)">
                                      <p:cBhvr>
                                        <p:cTn id="33" dur="500"/>
                                        <p:tgtEl>
                                          <p:spTgt spid="696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69643"/>
                                        </p:tgtEl>
                                        <p:attrNameLst>
                                          <p:attrName>style.visibility</p:attrName>
                                        </p:attrNameLst>
                                      </p:cBhvr>
                                      <p:to>
                                        <p:strVal val="visible"/>
                                      </p:to>
                                    </p:set>
                                    <p:anim calcmode="lin" valueType="num">
                                      <p:cBhvr additive="base">
                                        <p:cTn id="38" dur="500" fill="hold"/>
                                        <p:tgtEl>
                                          <p:spTgt spid="69643"/>
                                        </p:tgtEl>
                                        <p:attrNameLst>
                                          <p:attrName>ppt_x</p:attrName>
                                        </p:attrNameLst>
                                      </p:cBhvr>
                                      <p:tavLst>
                                        <p:tav tm="0">
                                          <p:val>
                                            <p:strVal val="1+#ppt_w/2"/>
                                          </p:val>
                                        </p:tav>
                                        <p:tav tm="100000">
                                          <p:val>
                                            <p:strVal val="#ppt_x"/>
                                          </p:val>
                                        </p:tav>
                                      </p:tavLst>
                                    </p:anim>
                                    <p:anim calcmode="lin" valueType="num">
                                      <p:cBhvr additive="base">
                                        <p:cTn id="39" dur="500" fill="hold"/>
                                        <p:tgtEl>
                                          <p:spTgt spid="6964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1000"/>
                                        <p:tgtEl>
                                          <p:spTgt spid="27"/>
                                        </p:tgtEl>
                                      </p:cBhvr>
                                    </p:animEffect>
                                    <p:anim calcmode="lin" valueType="num">
                                      <p:cBhvr>
                                        <p:cTn id="50" dur="1000" fill="hold"/>
                                        <p:tgtEl>
                                          <p:spTgt spid="27"/>
                                        </p:tgtEl>
                                        <p:attrNameLst>
                                          <p:attrName>ppt_x</p:attrName>
                                        </p:attrNameLst>
                                      </p:cBhvr>
                                      <p:tavLst>
                                        <p:tav tm="0">
                                          <p:val>
                                            <p:strVal val="#ppt_x"/>
                                          </p:val>
                                        </p:tav>
                                        <p:tav tm="100000">
                                          <p:val>
                                            <p:strVal val="#ppt_x"/>
                                          </p:val>
                                        </p:tav>
                                      </p:tavLst>
                                    </p:anim>
                                    <p:anim calcmode="lin" valueType="num">
                                      <p:cBhvr>
                                        <p:cTn id="51" dur="1000" fill="hold"/>
                                        <p:tgtEl>
                                          <p:spTgt spid="2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1000"/>
                                        <p:tgtEl>
                                          <p:spTgt spid="31"/>
                                        </p:tgtEl>
                                      </p:cBhvr>
                                    </p:animEffect>
                                    <p:anim calcmode="lin" valueType="num">
                                      <p:cBhvr>
                                        <p:cTn id="55" dur="1000" fill="hold"/>
                                        <p:tgtEl>
                                          <p:spTgt spid="31"/>
                                        </p:tgtEl>
                                        <p:attrNameLst>
                                          <p:attrName>ppt_x</p:attrName>
                                        </p:attrNameLst>
                                      </p:cBhvr>
                                      <p:tavLst>
                                        <p:tav tm="0">
                                          <p:val>
                                            <p:strVal val="#ppt_x"/>
                                          </p:val>
                                        </p:tav>
                                        <p:tav tm="100000">
                                          <p:val>
                                            <p:strVal val="#ppt_x"/>
                                          </p:val>
                                        </p:tav>
                                      </p:tavLst>
                                    </p:anim>
                                    <p:anim calcmode="lin" valueType="num">
                                      <p:cBhvr>
                                        <p:cTn id="5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autoUpdateAnimBg="0"/>
      <p:bldP spid="69662" grpId="0" autoUpdateAnimBg="0"/>
      <p:bldP spid="69668" grpId="0" autoUpdateAnimBg="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17F01-715F-27AF-9AAA-E313E132D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1B5E07-048C-51E7-6120-A511091CBCB5}"/>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263CE914-1C49-BF75-8E4F-103BC171BDB2}"/>
              </a:ext>
            </a:extLst>
          </p:cNvPr>
          <p:cNvSpPr>
            <a:spLocks noGrp="1"/>
          </p:cNvSpPr>
          <p:nvPr>
            <p:ph type="title"/>
          </p:nvPr>
        </p:nvSpPr>
        <p:spPr>
          <a:xfrm>
            <a:off x="122770" y="83027"/>
            <a:ext cx="3828415" cy="169277"/>
          </a:xfrm>
        </p:spPr>
        <p:txBody>
          <a:bodyPr/>
          <a:lstStyle/>
          <a:p>
            <a:r>
              <a:rPr lang="en-US" dirty="0"/>
              <a:t>A more realistic example</a:t>
            </a:r>
          </a:p>
        </p:txBody>
      </p:sp>
      <mc:AlternateContent xmlns:mc="http://schemas.openxmlformats.org/markup-compatibility/2006" xmlns:a14="http://schemas.microsoft.com/office/drawing/2010/main">
        <mc:Choice Requires="a14">
          <p:sp>
            <p:nvSpPr>
              <p:cNvPr id="5" name="object 4"/>
              <p:cNvSpPr txBox="1"/>
              <p:nvPr/>
            </p:nvSpPr>
            <p:spPr>
              <a:xfrm>
                <a:off x="138303" y="1037189"/>
                <a:ext cx="3763963" cy="542456"/>
              </a:xfrm>
              <a:prstGeom prst="rect">
                <a:avLst/>
              </a:prstGeom>
            </p:spPr>
            <p:txBody>
              <a:bodyPr vert="horz" wrap="square" lIns="0" tIns="11430" rIns="0" bIns="0" rtlCol="0">
                <a:spAutoFit/>
              </a:bodyPr>
              <a:lstStyle/>
              <a:p>
                <a:pPr marL="1080135">
                  <a:lnSpc>
                    <a:spcPct val="100000"/>
                  </a:lnSpc>
                  <a:spcBef>
                    <a:spcPts val="90"/>
                  </a:spcBef>
                </a:pPr>
                <a14:m>
                  <m:oMath xmlns:m="http://schemas.openxmlformats.org/officeDocument/2006/math">
                    <m:acc>
                      <m:accPr>
                        <m:chr m:val="̂"/>
                        <m:ctrlPr>
                          <a:rPr lang="ar-AE" sz="1100" i="1" spc="-50" dirty="0" smtClean="0">
                            <a:solidFill>
                              <a:srgbClr val="22373A"/>
                            </a:solidFill>
                            <a:latin typeface="Cambria Math" panose="02040503050406030204" pitchFamily="18" charset="0"/>
                            <a:cs typeface="Times New Roman"/>
                          </a:rPr>
                        </m:ctrlPr>
                      </m:accPr>
                      <m:e>
                        <m:r>
                          <a:rPr lang="en-US" sz="1100" b="0" i="1" spc="-50" dirty="0" smtClean="0">
                            <a:solidFill>
                              <a:srgbClr val="22373A"/>
                            </a:solidFill>
                            <a:latin typeface="Cambria Math" panose="02040503050406030204" pitchFamily="18" charset="0"/>
                            <a:cs typeface="Times New Roman"/>
                          </a:rPr>
                          <m:t>𝑝𝑜𝑣𝑒𝑟𝑡𝑦</m:t>
                        </m:r>
                      </m:e>
                    </m:acc>
                  </m:oMath>
                </a14:m>
                <a:r>
                  <a:rPr lang="en-US" sz="1100" i="1" spc="15"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spc="-20" dirty="0">
                    <a:solidFill>
                      <a:srgbClr val="22373A"/>
                    </a:solidFill>
                    <a:latin typeface="Palatino Linotype"/>
                    <a:cs typeface="Palatino Linotype"/>
                  </a:rPr>
                  <a:t>64</a:t>
                </a:r>
                <a:r>
                  <a:rPr lang="en-US" sz="1100" b="0" spc="-20" dirty="0">
                    <a:solidFill>
                      <a:srgbClr val="22373A"/>
                    </a:solidFill>
                    <a:latin typeface="Bookman Old Style"/>
                    <a:cs typeface="Bookman Old Style"/>
                  </a:rPr>
                  <a:t>.</a:t>
                </a:r>
                <a:r>
                  <a:rPr lang="en-US" sz="1100" spc="-20" dirty="0">
                    <a:solidFill>
                      <a:srgbClr val="22373A"/>
                    </a:solidFill>
                    <a:latin typeface="Palatino Linotype"/>
                    <a:cs typeface="Palatino Linotype"/>
                  </a:rPr>
                  <a:t>78</a:t>
                </a:r>
                <a:r>
                  <a:rPr lang="en-US" sz="1100" spc="-3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spc="-25" dirty="0">
                    <a:solidFill>
                      <a:srgbClr val="22373A"/>
                    </a:solidFill>
                    <a:latin typeface="Palatino Linotype"/>
                    <a:cs typeface="Palatino Linotype"/>
                  </a:rPr>
                  <a:t>0</a:t>
                </a:r>
                <a:r>
                  <a:rPr lang="en-US" sz="1100" b="0" spc="-25" dirty="0">
                    <a:solidFill>
                      <a:srgbClr val="22373A"/>
                    </a:solidFill>
                    <a:latin typeface="Bookman Old Style"/>
                    <a:cs typeface="Bookman Old Style"/>
                  </a:rPr>
                  <a:t>.</a:t>
                </a:r>
                <a:r>
                  <a:rPr lang="en-US" sz="1100" spc="-25" dirty="0">
                    <a:solidFill>
                      <a:srgbClr val="22373A"/>
                    </a:solidFill>
                    <a:latin typeface="Palatino Linotype"/>
                    <a:cs typeface="Palatino Linotype"/>
                  </a:rPr>
                  <a:t>62</a:t>
                </a:r>
                <a:r>
                  <a:rPr lang="en-US" sz="1100" spc="-40" dirty="0">
                    <a:solidFill>
                      <a:srgbClr val="22373A"/>
                    </a:solidFill>
                    <a:latin typeface="Palatino Linotype"/>
                    <a:cs typeface="Palatino Linotype"/>
                  </a:rPr>
                  <a:t> </a:t>
                </a:r>
                <a:r>
                  <a:rPr lang="en-US" sz="1100" spc="-37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10" dirty="0" err="1">
                    <a:solidFill>
                      <a:srgbClr val="22373A"/>
                    </a:solidFill>
                    <a:latin typeface="Times New Roman"/>
                    <a:cs typeface="Times New Roman"/>
                  </a:rPr>
                  <a:t>HS</a:t>
                </a:r>
                <a:r>
                  <a:rPr lang="en-US" sz="1200" i="1" spc="-15" baseline="-10416" dirty="0" err="1">
                    <a:solidFill>
                      <a:srgbClr val="22373A"/>
                    </a:solidFill>
                    <a:latin typeface="Times New Roman"/>
                    <a:cs typeface="Times New Roman"/>
                  </a:rPr>
                  <a:t>grad</a:t>
                </a:r>
                <a:endParaRPr lang="en-US" sz="1200" baseline="-10416" dirty="0">
                  <a:latin typeface="Times New Roman"/>
                  <a:cs typeface="Times New Roman"/>
                </a:endParaRPr>
              </a:p>
              <a:p>
                <a:pPr>
                  <a:lnSpc>
                    <a:spcPct val="100000"/>
                  </a:lnSpc>
                  <a:spcBef>
                    <a:spcPts val="265"/>
                  </a:spcBef>
                </a:pPr>
                <a:endParaRPr lang="en-US" sz="1100" dirty="0">
                  <a:latin typeface="Times New Roman"/>
                  <a:cs typeface="Times New Roman"/>
                </a:endParaRPr>
              </a:p>
              <a:p>
                <a:pPr marL="25400">
                  <a:lnSpc>
                    <a:spcPct val="100000"/>
                  </a:lnSpc>
                </a:pPr>
                <a:r>
                  <a:rPr lang="en-US" sz="1000" dirty="0">
                    <a:solidFill>
                      <a:srgbClr val="22373A"/>
                    </a:solidFill>
                    <a:latin typeface="Arial"/>
                    <a:cs typeface="Arial"/>
                  </a:rPr>
                  <a:t>The</a:t>
                </a:r>
                <a:r>
                  <a:rPr lang="en-US" sz="1000" spc="60" dirty="0">
                    <a:solidFill>
                      <a:srgbClr val="22373A"/>
                    </a:solidFill>
                    <a:latin typeface="Arial"/>
                    <a:cs typeface="Arial"/>
                  </a:rPr>
                  <a:t> </a:t>
                </a:r>
                <a:r>
                  <a:rPr lang="en-US" sz="1000" dirty="0">
                    <a:solidFill>
                      <a:srgbClr val="22373A"/>
                    </a:solidFill>
                    <a:latin typeface="Arial"/>
                    <a:cs typeface="Arial"/>
                  </a:rPr>
                  <a:t>“hat”</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used</a:t>
                </a:r>
                <a:r>
                  <a:rPr lang="en-US" sz="1000" spc="65" dirty="0">
                    <a:solidFill>
                      <a:srgbClr val="22373A"/>
                    </a:solidFill>
                    <a:latin typeface="Arial"/>
                    <a:cs typeface="Arial"/>
                  </a:rPr>
                  <a:t> </a:t>
                </a:r>
                <a:r>
                  <a:rPr lang="en-US" sz="1000" dirty="0">
                    <a:solidFill>
                      <a:srgbClr val="22373A"/>
                    </a:solidFill>
                    <a:latin typeface="Arial"/>
                    <a:cs typeface="Arial"/>
                  </a:rPr>
                  <a:t>to</a:t>
                </a:r>
                <a:r>
                  <a:rPr lang="en-US" sz="1000" spc="65" dirty="0">
                    <a:solidFill>
                      <a:srgbClr val="22373A"/>
                    </a:solidFill>
                    <a:latin typeface="Arial"/>
                    <a:cs typeface="Arial"/>
                  </a:rPr>
                  <a:t> </a:t>
                </a:r>
                <a:r>
                  <a:rPr lang="en-US" sz="1000" dirty="0">
                    <a:solidFill>
                      <a:srgbClr val="22373A"/>
                    </a:solidFill>
                    <a:latin typeface="Arial"/>
                    <a:cs typeface="Arial"/>
                  </a:rPr>
                  <a:t>signify</a:t>
                </a:r>
                <a:r>
                  <a:rPr lang="en-US" sz="1000" spc="65" dirty="0">
                    <a:solidFill>
                      <a:srgbClr val="22373A"/>
                    </a:solidFill>
                    <a:latin typeface="Arial"/>
                    <a:cs typeface="Arial"/>
                  </a:rPr>
                  <a:t> </a:t>
                </a:r>
                <a:r>
                  <a:rPr lang="en-US" sz="1000" dirty="0">
                    <a:solidFill>
                      <a:srgbClr val="22373A"/>
                    </a:solidFill>
                    <a:latin typeface="Arial"/>
                    <a:cs typeface="Arial"/>
                  </a:rPr>
                  <a:t>that</a:t>
                </a:r>
                <a:r>
                  <a:rPr lang="en-US" sz="1000" spc="65" dirty="0">
                    <a:solidFill>
                      <a:srgbClr val="22373A"/>
                    </a:solidFill>
                    <a:latin typeface="Arial"/>
                    <a:cs typeface="Arial"/>
                  </a:rPr>
                  <a:t> </a:t>
                </a:r>
                <a:r>
                  <a:rPr lang="en-US" sz="1000" dirty="0">
                    <a:solidFill>
                      <a:srgbClr val="22373A"/>
                    </a:solidFill>
                    <a:latin typeface="Arial"/>
                    <a:cs typeface="Arial"/>
                  </a:rPr>
                  <a:t>this</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an</a:t>
                </a:r>
                <a:r>
                  <a:rPr lang="en-US" sz="1000" spc="65" dirty="0">
                    <a:solidFill>
                      <a:srgbClr val="22373A"/>
                    </a:solidFill>
                    <a:latin typeface="Arial"/>
                    <a:cs typeface="Arial"/>
                  </a:rPr>
                  <a:t> </a:t>
                </a:r>
                <a:r>
                  <a:rPr lang="en-US" sz="1000" spc="-10" dirty="0">
                    <a:solidFill>
                      <a:srgbClr val="22373A"/>
                    </a:solidFill>
                    <a:latin typeface="Arial"/>
                    <a:cs typeface="Arial"/>
                  </a:rPr>
                  <a:t>estimate.</a:t>
                </a:r>
                <a:endParaRPr sz="1000" dirty="0">
                  <a:latin typeface="Arial"/>
                  <a:cs typeface="Arial"/>
                </a:endParaRPr>
              </a:p>
            </p:txBody>
          </p:sp>
        </mc:Choice>
        <mc:Fallback xmlns="">
          <p:sp>
            <p:nvSpPr>
              <p:cNvPr id="5" name="object 4"/>
              <p:cNvSpPr txBox="1">
                <a:spLocks noRot="1" noChangeAspect="1" noMove="1" noResize="1" noEditPoints="1" noAdjustHandles="1" noChangeArrowheads="1" noChangeShapeType="1" noTextEdit="1"/>
              </p:cNvSpPr>
              <p:nvPr/>
            </p:nvSpPr>
            <p:spPr>
              <a:xfrm>
                <a:off x="138303" y="1037189"/>
                <a:ext cx="3763963" cy="542456"/>
              </a:xfrm>
              <a:prstGeom prst="rect">
                <a:avLst/>
              </a:prstGeom>
              <a:blipFill>
                <a:blip r:embed="rId2"/>
                <a:stretch>
                  <a:fillRect l="-1459" t="-8989" b="-13483"/>
                </a:stretch>
              </a:blipFill>
            </p:spPr>
            <p:txBody>
              <a:bodyPr/>
              <a:lstStyle/>
              <a:p>
                <a:r>
                  <a:rPr lang="en-US">
                    <a:noFill/>
                  </a:rPr>
                  <a:t> </a:t>
                </a:r>
              </a:p>
            </p:txBody>
          </p:sp>
        </mc:Fallback>
      </mc:AlternateContent>
      <p:sp>
        <p:nvSpPr>
          <p:cNvPr id="6" name="object 3"/>
          <p:cNvSpPr txBox="1">
            <a:spLocks/>
          </p:cNvSpPr>
          <p:nvPr/>
        </p:nvSpPr>
        <p:spPr>
          <a:xfrm>
            <a:off x="122770" y="466900"/>
            <a:ext cx="4114800" cy="390813"/>
          </a:xfrm>
          <a:prstGeom prst="rect">
            <a:avLst/>
          </a:prstGeom>
        </p:spPr>
        <p:txBody>
          <a:bodyPr vert="horz" wrap="square" lIns="0" tIns="11430" rIns="0" bIns="0" rtlCol="0">
            <a:spAutoFit/>
          </a:bodyPr>
          <a:lstStyle>
            <a:lvl1pPr>
              <a:defRPr sz="1100" b="1" i="0">
                <a:solidFill>
                  <a:srgbClr val="F9F9F9"/>
                </a:solidFill>
                <a:latin typeface="Arial"/>
                <a:ea typeface="+mj-ea"/>
                <a:cs typeface="Arial"/>
              </a:defRPr>
            </a:lvl1pPr>
          </a:lstStyle>
          <a:p>
            <a:pPr marL="12700" marR="5080">
              <a:lnSpc>
                <a:spcPct val="129800"/>
              </a:lnSpc>
              <a:spcBef>
                <a:spcPts val="90"/>
              </a:spcBef>
            </a:pPr>
            <a:r>
              <a:rPr lang="en-US" sz="1000" b="0" dirty="0">
                <a:solidFill>
                  <a:srgbClr val="22373A"/>
                </a:solidFill>
              </a:rPr>
              <a:t>The</a:t>
            </a:r>
            <a:r>
              <a:rPr lang="en-US" sz="1000" b="0" spc="80" dirty="0">
                <a:solidFill>
                  <a:srgbClr val="22373A"/>
                </a:solidFill>
              </a:rPr>
              <a:t> </a:t>
            </a:r>
            <a:r>
              <a:rPr lang="en-US" sz="1000" b="0" dirty="0">
                <a:solidFill>
                  <a:srgbClr val="22373A"/>
                </a:solidFill>
              </a:rPr>
              <a:t>linear</a:t>
            </a:r>
            <a:r>
              <a:rPr lang="en-US" sz="1000" b="0" spc="80" dirty="0">
                <a:solidFill>
                  <a:srgbClr val="22373A"/>
                </a:solidFill>
              </a:rPr>
              <a:t> </a:t>
            </a:r>
            <a:r>
              <a:rPr lang="en-US" sz="1000" b="0" dirty="0">
                <a:solidFill>
                  <a:srgbClr val="22373A"/>
                </a:solidFill>
              </a:rPr>
              <a:t>model</a:t>
            </a:r>
            <a:r>
              <a:rPr lang="en-US" sz="1000" b="0" spc="85" dirty="0">
                <a:solidFill>
                  <a:srgbClr val="22373A"/>
                </a:solidFill>
              </a:rPr>
              <a:t> </a:t>
            </a:r>
            <a:r>
              <a:rPr lang="en-US" sz="1000" b="0" dirty="0">
                <a:solidFill>
                  <a:srgbClr val="22373A"/>
                </a:solidFill>
              </a:rPr>
              <a:t>for</a:t>
            </a:r>
            <a:r>
              <a:rPr lang="en-US" sz="1000" b="0" spc="85" dirty="0">
                <a:solidFill>
                  <a:srgbClr val="22373A"/>
                </a:solidFill>
              </a:rPr>
              <a:t> </a:t>
            </a:r>
            <a:r>
              <a:rPr lang="en-US" sz="1000" b="0" dirty="0">
                <a:solidFill>
                  <a:srgbClr val="22373A"/>
                </a:solidFill>
              </a:rPr>
              <a:t>predicting</a:t>
            </a:r>
            <a:r>
              <a:rPr lang="en-US" sz="1000" b="0" spc="85" dirty="0">
                <a:solidFill>
                  <a:srgbClr val="22373A"/>
                </a:solidFill>
              </a:rPr>
              <a:t> </a:t>
            </a:r>
            <a:r>
              <a:rPr lang="en-US" sz="1000" b="0" dirty="0">
                <a:solidFill>
                  <a:srgbClr val="22373A"/>
                </a:solidFill>
              </a:rPr>
              <a:t>poverty</a:t>
            </a:r>
            <a:r>
              <a:rPr lang="en-US" sz="1000" b="0" spc="80" dirty="0">
                <a:solidFill>
                  <a:srgbClr val="22373A"/>
                </a:solidFill>
              </a:rPr>
              <a:t> </a:t>
            </a:r>
            <a:r>
              <a:rPr lang="en-US" sz="1000" b="0" dirty="0">
                <a:solidFill>
                  <a:srgbClr val="22373A"/>
                </a:solidFill>
              </a:rPr>
              <a:t>from</a:t>
            </a:r>
            <a:r>
              <a:rPr lang="en-US" sz="1000" b="0" spc="80" dirty="0">
                <a:solidFill>
                  <a:srgbClr val="22373A"/>
                </a:solidFill>
              </a:rPr>
              <a:t> </a:t>
            </a:r>
            <a:r>
              <a:rPr lang="en-US" sz="1000" b="0" dirty="0">
                <a:solidFill>
                  <a:srgbClr val="22373A"/>
                </a:solidFill>
              </a:rPr>
              <a:t>high</a:t>
            </a:r>
            <a:r>
              <a:rPr lang="en-US" sz="1000" b="0" spc="85" dirty="0">
                <a:solidFill>
                  <a:srgbClr val="22373A"/>
                </a:solidFill>
              </a:rPr>
              <a:t> </a:t>
            </a:r>
            <a:r>
              <a:rPr lang="en-US" sz="1000" b="0" dirty="0">
                <a:solidFill>
                  <a:srgbClr val="22373A"/>
                </a:solidFill>
              </a:rPr>
              <a:t>school</a:t>
            </a:r>
            <a:r>
              <a:rPr lang="en-US" sz="1000" b="0" spc="80" dirty="0">
                <a:solidFill>
                  <a:srgbClr val="22373A"/>
                </a:solidFill>
              </a:rPr>
              <a:t> </a:t>
            </a:r>
            <a:r>
              <a:rPr lang="en-US" sz="1000" b="0" spc="-10" dirty="0">
                <a:solidFill>
                  <a:srgbClr val="22373A"/>
                </a:solidFill>
              </a:rPr>
              <a:t>graduation </a:t>
            </a:r>
            <a:r>
              <a:rPr lang="en-US" sz="1000" b="0" dirty="0">
                <a:solidFill>
                  <a:srgbClr val="22373A"/>
                </a:solidFill>
              </a:rPr>
              <a:t>rate</a:t>
            </a:r>
            <a:r>
              <a:rPr lang="en-US" sz="1000" b="0" spc="50" dirty="0">
                <a:solidFill>
                  <a:srgbClr val="22373A"/>
                </a:solidFill>
              </a:rPr>
              <a:t> </a:t>
            </a:r>
            <a:r>
              <a:rPr lang="en-US" sz="1000" b="0" dirty="0">
                <a:solidFill>
                  <a:srgbClr val="22373A"/>
                </a:solidFill>
              </a:rPr>
              <a:t>in</a:t>
            </a:r>
            <a:r>
              <a:rPr lang="en-US" sz="1000" b="0" spc="55" dirty="0">
                <a:solidFill>
                  <a:srgbClr val="22373A"/>
                </a:solidFill>
              </a:rPr>
              <a:t> </a:t>
            </a:r>
            <a:r>
              <a:rPr lang="en-US" sz="1000" b="0" dirty="0">
                <a:solidFill>
                  <a:srgbClr val="22373A"/>
                </a:solidFill>
              </a:rPr>
              <a:t>the</a:t>
            </a:r>
            <a:r>
              <a:rPr lang="en-US" sz="1000" b="0" spc="55" dirty="0">
                <a:solidFill>
                  <a:srgbClr val="22373A"/>
                </a:solidFill>
              </a:rPr>
              <a:t> </a:t>
            </a:r>
            <a:r>
              <a:rPr lang="en-US" sz="1000" b="0" dirty="0">
                <a:solidFill>
                  <a:srgbClr val="22373A"/>
                </a:solidFill>
              </a:rPr>
              <a:t>US</a:t>
            </a:r>
            <a:r>
              <a:rPr lang="en-US" sz="1000" b="0" spc="50" dirty="0">
                <a:solidFill>
                  <a:srgbClr val="22373A"/>
                </a:solidFill>
              </a:rPr>
              <a:t> </a:t>
            </a:r>
            <a:r>
              <a:rPr lang="en-US" sz="1000" b="0" spc="-25" dirty="0">
                <a:solidFill>
                  <a:srgbClr val="22373A"/>
                </a:solidFill>
              </a:rPr>
              <a:t>is</a:t>
            </a:r>
            <a:endParaRPr lang="en-US" sz="1000" dirty="0"/>
          </a:p>
        </p:txBody>
      </p:sp>
    </p:spTree>
    <p:extLst>
      <p:ext uri="{BB962C8B-B14F-4D97-AF65-F5344CB8AC3E}">
        <p14:creationId xmlns:p14="http://schemas.microsoft.com/office/powerpoint/2010/main" val="634478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50380-D1D7-57C8-94CF-53CFFF152B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0671F1-C1DB-8C61-315C-8C2602C7C434}"/>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C2DB406C-11F7-EF62-24FF-2C9C477593B6}"/>
              </a:ext>
            </a:extLst>
          </p:cNvPr>
          <p:cNvSpPr>
            <a:spLocks noGrp="1"/>
          </p:cNvSpPr>
          <p:nvPr>
            <p:ph type="title"/>
          </p:nvPr>
        </p:nvSpPr>
        <p:spPr>
          <a:xfrm>
            <a:off x="122770" y="83027"/>
            <a:ext cx="3828415" cy="169277"/>
          </a:xfrm>
        </p:spPr>
        <p:txBody>
          <a:bodyPr/>
          <a:lstStyle/>
          <a:p>
            <a:r>
              <a:rPr lang="en-US" dirty="0"/>
              <a:t>Introduction: Linear Regression</a:t>
            </a:r>
          </a:p>
        </p:txBody>
      </p:sp>
      <p:sp>
        <p:nvSpPr>
          <p:cNvPr id="4" name="object 4"/>
          <p:cNvSpPr txBox="1"/>
          <p:nvPr/>
        </p:nvSpPr>
        <p:spPr>
          <a:xfrm>
            <a:off x="104306" y="511175"/>
            <a:ext cx="3913504" cy="421640"/>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3884B7"/>
                </a:solidFill>
                <a:latin typeface="Arial"/>
                <a:cs typeface="Arial"/>
              </a:rPr>
              <a:t>The</a:t>
            </a:r>
            <a:r>
              <a:rPr sz="1000" spc="150" dirty="0">
                <a:solidFill>
                  <a:srgbClr val="3884B7"/>
                </a:solidFill>
                <a:latin typeface="Arial"/>
                <a:cs typeface="Arial"/>
              </a:rPr>
              <a:t> </a:t>
            </a:r>
            <a:r>
              <a:rPr sz="1000" dirty="0">
                <a:solidFill>
                  <a:srgbClr val="3884B7"/>
                </a:solidFill>
                <a:latin typeface="Arial"/>
                <a:cs typeface="Arial"/>
              </a:rPr>
              <a:t>high</a:t>
            </a:r>
            <a:r>
              <a:rPr sz="1000" spc="155" dirty="0">
                <a:solidFill>
                  <a:srgbClr val="3884B7"/>
                </a:solidFill>
                <a:latin typeface="Arial"/>
                <a:cs typeface="Arial"/>
              </a:rPr>
              <a:t> </a:t>
            </a:r>
            <a:r>
              <a:rPr sz="1000" dirty="0">
                <a:solidFill>
                  <a:srgbClr val="3884B7"/>
                </a:solidFill>
                <a:latin typeface="Arial"/>
                <a:cs typeface="Arial"/>
              </a:rPr>
              <a:t>school</a:t>
            </a:r>
            <a:r>
              <a:rPr sz="1000" spc="155" dirty="0">
                <a:solidFill>
                  <a:srgbClr val="3884B7"/>
                </a:solidFill>
                <a:latin typeface="Arial"/>
                <a:cs typeface="Arial"/>
              </a:rPr>
              <a:t> </a:t>
            </a:r>
            <a:r>
              <a:rPr sz="1000" dirty="0">
                <a:solidFill>
                  <a:srgbClr val="3884B7"/>
                </a:solidFill>
                <a:latin typeface="Arial"/>
                <a:cs typeface="Arial"/>
              </a:rPr>
              <a:t>graduate</a:t>
            </a:r>
            <a:r>
              <a:rPr sz="1000" spc="155" dirty="0">
                <a:solidFill>
                  <a:srgbClr val="3884B7"/>
                </a:solidFill>
                <a:latin typeface="Arial"/>
                <a:cs typeface="Arial"/>
              </a:rPr>
              <a:t> </a:t>
            </a:r>
            <a:r>
              <a:rPr sz="1000" dirty="0">
                <a:solidFill>
                  <a:srgbClr val="3884B7"/>
                </a:solidFill>
                <a:latin typeface="Arial"/>
                <a:cs typeface="Arial"/>
              </a:rPr>
              <a:t>rate</a:t>
            </a:r>
            <a:r>
              <a:rPr sz="1000" spc="155" dirty="0">
                <a:solidFill>
                  <a:srgbClr val="3884B7"/>
                </a:solidFill>
                <a:latin typeface="Arial"/>
                <a:cs typeface="Arial"/>
              </a:rPr>
              <a:t> </a:t>
            </a:r>
            <a:r>
              <a:rPr sz="1000" dirty="0">
                <a:solidFill>
                  <a:srgbClr val="3884B7"/>
                </a:solidFill>
                <a:latin typeface="Arial"/>
                <a:cs typeface="Arial"/>
              </a:rPr>
              <a:t>in</a:t>
            </a:r>
            <a:r>
              <a:rPr sz="1000" spc="155" dirty="0">
                <a:solidFill>
                  <a:srgbClr val="3884B7"/>
                </a:solidFill>
                <a:latin typeface="Arial"/>
                <a:cs typeface="Arial"/>
              </a:rPr>
              <a:t> </a:t>
            </a:r>
            <a:r>
              <a:rPr sz="1000" dirty="0">
                <a:solidFill>
                  <a:srgbClr val="3884B7"/>
                </a:solidFill>
                <a:latin typeface="Arial"/>
                <a:cs typeface="Arial"/>
              </a:rPr>
              <a:t>Georgia</a:t>
            </a:r>
            <a:r>
              <a:rPr sz="1000" spc="150" dirty="0">
                <a:solidFill>
                  <a:srgbClr val="3884B7"/>
                </a:solidFill>
                <a:latin typeface="Arial"/>
                <a:cs typeface="Arial"/>
              </a:rPr>
              <a:t> </a:t>
            </a:r>
            <a:r>
              <a:rPr sz="1000" dirty="0">
                <a:solidFill>
                  <a:srgbClr val="3884B7"/>
                </a:solidFill>
                <a:latin typeface="Arial"/>
                <a:cs typeface="Arial"/>
              </a:rPr>
              <a:t>is</a:t>
            </a:r>
            <a:r>
              <a:rPr sz="1000" spc="155" dirty="0">
                <a:solidFill>
                  <a:srgbClr val="3884B7"/>
                </a:solidFill>
                <a:latin typeface="Arial"/>
                <a:cs typeface="Arial"/>
              </a:rPr>
              <a:t> </a:t>
            </a:r>
            <a:r>
              <a:rPr sz="1000" dirty="0">
                <a:solidFill>
                  <a:srgbClr val="3884B7"/>
                </a:solidFill>
                <a:latin typeface="Arial"/>
                <a:cs typeface="Arial"/>
              </a:rPr>
              <a:t>85.1%.</a:t>
            </a:r>
            <a:r>
              <a:rPr sz="1000" spc="395" dirty="0">
                <a:solidFill>
                  <a:srgbClr val="3884B7"/>
                </a:solidFill>
                <a:latin typeface="Arial"/>
                <a:cs typeface="Arial"/>
              </a:rPr>
              <a:t> </a:t>
            </a:r>
            <a:r>
              <a:rPr sz="1000" dirty="0">
                <a:solidFill>
                  <a:srgbClr val="3884B7"/>
                </a:solidFill>
                <a:latin typeface="Arial"/>
                <a:cs typeface="Arial"/>
              </a:rPr>
              <a:t>What</a:t>
            </a:r>
            <a:r>
              <a:rPr sz="1000" spc="155" dirty="0">
                <a:solidFill>
                  <a:srgbClr val="3884B7"/>
                </a:solidFill>
                <a:latin typeface="Arial"/>
                <a:cs typeface="Arial"/>
              </a:rPr>
              <a:t> </a:t>
            </a:r>
            <a:r>
              <a:rPr sz="1000" spc="-10" dirty="0">
                <a:solidFill>
                  <a:srgbClr val="3884B7"/>
                </a:solidFill>
                <a:latin typeface="Arial"/>
                <a:cs typeface="Arial"/>
              </a:rPr>
              <a:t>poverty </a:t>
            </a:r>
            <a:r>
              <a:rPr sz="1000" dirty="0">
                <a:solidFill>
                  <a:srgbClr val="3884B7"/>
                </a:solidFill>
                <a:latin typeface="Arial"/>
                <a:cs typeface="Arial"/>
              </a:rPr>
              <a:t>level</a:t>
            </a:r>
            <a:r>
              <a:rPr sz="1000" spc="70" dirty="0">
                <a:solidFill>
                  <a:srgbClr val="3884B7"/>
                </a:solidFill>
                <a:latin typeface="Arial"/>
                <a:cs typeface="Arial"/>
              </a:rPr>
              <a:t> </a:t>
            </a:r>
            <a:r>
              <a:rPr sz="1000" dirty="0">
                <a:solidFill>
                  <a:srgbClr val="3884B7"/>
                </a:solidFill>
                <a:latin typeface="Arial"/>
                <a:cs typeface="Arial"/>
              </a:rPr>
              <a:t>does</a:t>
            </a:r>
            <a:r>
              <a:rPr sz="1000" spc="75"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model</a:t>
            </a:r>
            <a:r>
              <a:rPr sz="1000" spc="70" dirty="0">
                <a:solidFill>
                  <a:srgbClr val="3884B7"/>
                </a:solidFill>
                <a:latin typeface="Arial"/>
                <a:cs typeface="Arial"/>
              </a:rPr>
              <a:t> </a:t>
            </a:r>
            <a:r>
              <a:rPr sz="1000" dirty="0">
                <a:solidFill>
                  <a:srgbClr val="3884B7"/>
                </a:solidFill>
                <a:latin typeface="Arial"/>
                <a:cs typeface="Arial"/>
              </a:rPr>
              <a:t>predict</a:t>
            </a:r>
            <a:r>
              <a:rPr sz="1000" spc="75" dirty="0">
                <a:solidFill>
                  <a:srgbClr val="3884B7"/>
                </a:solidFill>
                <a:latin typeface="Arial"/>
                <a:cs typeface="Arial"/>
              </a:rPr>
              <a:t> </a:t>
            </a:r>
            <a:r>
              <a:rPr sz="1000" dirty="0">
                <a:solidFill>
                  <a:srgbClr val="3884B7"/>
                </a:solidFill>
                <a:latin typeface="Arial"/>
                <a:cs typeface="Arial"/>
              </a:rPr>
              <a:t>for</a:t>
            </a:r>
            <a:r>
              <a:rPr sz="1000" spc="75" dirty="0">
                <a:solidFill>
                  <a:srgbClr val="3884B7"/>
                </a:solidFill>
                <a:latin typeface="Arial"/>
                <a:cs typeface="Arial"/>
              </a:rPr>
              <a:t> </a:t>
            </a:r>
            <a:r>
              <a:rPr sz="1000" dirty="0">
                <a:solidFill>
                  <a:srgbClr val="3884B7"/>
                </a:solidFill>
                <a:latin typeface="Arial"/>
                <a:cs typeface="Arial"/>
              </a:rPr>
              <a:t>this</a:t>
            </a:r>
            <a:r>
              <a:rPr sz="1000" spc="75" dirty="0">
                <a:solidFill>
                  <a:srgbClr val="3884B7"/>
                </a:solidFill>
                <a:latin typeface="Arial"/>
                <a:cs typeface="Arial"/>
              </a:rPr>
              <a:t> </a:t>
            </a:r>
            <a:r>
              <a:rPr sz="1000" spc="-10" dirty="0">
                <a:solidFill>
                  <a:srgbClr val="3884B7"/>
                </a:solidFill>
                <a:latin typeface="Arial"/>
                <a:cs typeface="Arial"/>
              </a:rPr>
              <a:t>state?</a:t>
            </a:r>
            <a:endParaRPr sz="1000" dirty="0">
              <a:latin typeface="Arial"/>
              <a:cs typeface="Arial"/>
            </a:endParaRPr>
          </a:p>
        </p:txBody>
      </p:sp>
      <p:sp>
        <p:nvSpPr>
          <p:cNvPr id="3" name="object 5"/>
          <p:cNvSpPr txBox="1"/>
          <p:nvPr/>
        </p:nvSpPr>
        <p:spPr>
          <a:xfrm>
            <a:off x="1771650" y="1240407"/>
            <a:ext cx="1644650" cy="191770"/>
          </a:xfrm>
          <a:prstGeom prst="rect">
            <a:avLst/>
          </a:prstGeom>
        </p:spPr>
        <p:txBody>
          <a:bodyPr vert="horz" wrap="square" lIns="0" tIns="11430" rIns="0" bIns="0" rtlCol="0">
            <a:spAutoFit/>
          </a:bodyPr>
          <a:lstStyle/>
          <a:p>
            <a:pPr marL="12700">
              <a:lnSpc>
                <a:spcPct val="100000"/>
              </a:lnSpc>
              <a:spcBef>
                <a:spcPts val="90"/>
              </a:spcBef>
            </a:pP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25" dirty="0">
                <a:solidFill>
                  <a:srgbClr val="22373A"/>
                </a:solidFill>
                <a:latin typeface="Palatino Linotype"/>
                <a:cs typeface="Palatino Linotype"/>
              </a:rPr>
              <a:t>0</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62</a:t>
            </a:r>
            <a:r>
              <a:rPr sz="1100" spc="-45" dirty="0">
                <a:solidFill>
                  <a:srgbClr val="22373A"/>
                </a:solidFill>
                <a:latin typeface="Palatino Linotype"/>
                <a:cs typeface="Palatino Linotype"/>
              </a:rPr>
              <a:t> </a:t>
            </a:r>
            <a:r>
              <a:rPr sz="1100" spc="-37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85</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1</a:t>
            </a:r>
            <a:r>
              <a:rPr sz="110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12</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018</a:t>
            </a:r>
            <a:endParaRPr sz="1100" dirty="0">
              <a:latin typeface="Palatino Linotype"/>
              <a:cs typeface="Palatino Linotype"/>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A641DD-F7D7-D69D-354F-4219F3E72993}"/>
                  </a:ext>
                </a:extLst>
              </p:cNvPr>
              <p:cNvSpPr txBox="1"/>
              <p:nvPr/>
            </p:nvSpPr>
            <p:spPr>
              <a:xfrm>
                <a:off x="0" y="955806"/>
                <a:ext cx="3752850" cy="261610"/>
              </a:xfrm>
              <a:prstGeom prst="rect">
                <a:avLst/>
              </a:prstGeom>
              <a:noFill/>
            </p:spPr>
            <p:txBody>
              <a:bodyPr wrap="square">
                <a:spAutoFit/>
              </a:bodyPr>
              <a:lstStyle/>
              <a:p>
                <a:pPr marL="1080135" marR="0" lvl="0" indent="0" defTabSz="914400" eaLnBrk="1" fontAlgn="auto" latinLnBrk="0" hangingPunct="1">
                  <a:lnSpc>
                    <a:spcPct val="100000"/>
                  </a:lnSpc>
                  <a:spcBef>
                    <a:spcPts val="90"/>
                  </a:spcBef>
                  <a:spcAft>
                    <a:spcPts val="0"/>
                  </a:spcAft>
                  <a:buClrTx/>
                  <a:buSzTx/>
                  <a:buFontTx/>
                  <a:buNone/>
                  <a:tabLst/>
                  <a:defRPr/>
                </a:pPr>
                <a14:m>
                  <m:oMath xmlns:m="http://schemas.openxmlformats.org/officeDocument/2006/math">
                    <m:acc>
                      <m:accPr>
                        <m:chr m:val="̂"/>
                        <m:ctrlPr>
                          <a:rPr kumimoji="0" lang="ar-AE"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ctrlPr>
                      </m:accPr>
                      <m:e>
                        <m:r>
                          <a:rPr kumimoji="0" lang="en-US"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t>𝑝𝑜𝑣𝑒𝑟𝑡𝑦</m:t>
                        </m:r>
                      </m:e>
                    </m:acc>
                  </m:oMath>
                </a14:m>
                <a:r>
                  <a:rPr kumimoji="0" lang="en-US" sz="1100" b="0" i="1" u="none" strike="noStrike" kern="0" cap="none" spc="15" normalizeH="0" baseline="0" noProof="0" dirty="0">
                    <a:ln>
                      <a:noFill/>
                    </a:ln>
                    <a:solidFill>
                      <a:srgbClr val="22373A"/>
                    </a:solidFill>
                    <a:effectLst/>
                    <a:uLnTx/>
                    <a:uFillTx/>
                    <a:latin typeface="Times New Roman"/>
                    <a:cs typeface="Times New Roman"/>
                  </a:rPr>
                  <a:t> </a:t>
                </a:r>
                <a:r>
                  <a:rPr kumimoji="0" lang="en-US" sz="1100" b="0" i="0" u="none" strike="noStrike" kern="0" cap="none" spc="0" normalizeH="0" baseline="0" noProof="0" dirty="0">
                    <a:ln>
                      <a:noFill/>
                    </a:ln>
                    <a:solidFill>
                      <a:srgbClr val="22373A"/>
                    </a:solidFill>
                    <a:effectLst/>
                    <a:uLnTx/>
                    <a:uFillTx/>
                    <a:latin typeface="Lucida Sans"/>
                    <a:cs typeface="Lucida Sans"/>
                  </a:rPr>
                  <a:t>=</a:t>
                </a:r>
                <a:r>
                  <a:rPr kumimoji="0" lang="en-US" sz="1100" b="0" i="0" u="none" strike="noStrike" kern="0" cap="none" spc="-50" normalizeH="0" baseline="0" noProof="0" dirty="0">
                    <a:ln>
                      <a:noFill/>
                    </a:ln>
                    <a:solidFill>
                      <a:srgbClr val="22373A"/>
                    </a:solidFill>
                    <a:effectLst/>
                    <a:uLnTx/>
                    <a:uFillTx/>
                    <a:latin typeface="Lucida Sans"/>
                    <a:cs typeface="Lucida Sans"/>
                  </a:rPr>
                  <a:t> </a:t>
                </a:r>
                <a:r>
                  <a:rPr kumimoji="0" lang="en-US" sz="1100" b="0" i="0" u="none" strike="noStrike" kern="0" cap="none" spc="-20" normalizeH="0" baseline="0" noProof="0" dirty="0">
                    <a:ln>
                      <a:noFill/>
                    </a:ln>
                    <a:solidFill>
                      <a:srgbClr val="22373A"/>
                    </a:solidFill>
                    <a:effectLst/>
                    <a:uLnTx/>
                    <a:uFillTx/>
                    <a:latin typeface="Palatino Linotype"/>
                    <a:cs typeface="Palatino Linotype"/>
                  </a:rPr>
                  <a:t>64</a:t>
                </a:r>
                <a:r>
                  <a:rPr kumimoji="0" lang="en-US" sz="1100" b="0" i="0" u="none" strike="noStrike" kern="0" cap="none" spc="-20" normalizeH="0" baseline="0" noProof="0" dirty="0">
                    <a:ln>
                      <a:noFill/>
                    </a:ln>
                    <a:solidFill>
                      <a:srgbClr val="22373A"/>
                    </a:solidFill>
                    <a:effectLst/>
                    <a:uLnTx/>
                    <a:uFillTx/>
                    <a:latin typeface="Bookman Old Style"/>
                    <a:cs typeface="Bookman Old Style"/>
                  </a:rPr>
                  <a:t>.</a:t>
                </a:r>
                <a:r>
                  <a:rPr kumimoji="0" lang="en-US" sz="1100" b="0" i="0" u="none" strike="noStrike" kern="0" cap="none" spc="-20" normalizeH="0" baseline="0" noProof="0" dirty="0">
                    <a:ln>
                      <a:noFill/>
                    </a:ln>
                    <a:solidFill>
                      <a:srgbClr val="22373A"/>
                    </a:solidFill>
                    <a:effectLst/>
                    <a:uLnTx/>
                    <a:uFillTx/>
                    <a:latin typeface="Palatino Linotype"/>
                    <a:cs typeface="Palatino Linotype"/>
                  </a:rPr>
                  <a:t>78</a:t>
                </a:r>
                <a:r>
                  <a:rPr kumimoji="0" lang="en-US" sz="1100" b="0" i="0" u="none" strike="noStrike" kern="0" cap="none" spc="-35" normalizeH="0" baseline="0" noProof="0" dirty="0">
                    <a:ln>
                      <a:noFill/>
                    </a:ln>
                    <a:solidFill>
                      <a:srgbClr val="22373A"/>
                    </a:solidFill>
                    <a:effectLst/>
                    <a:uLnTx/>
                    <a:uFillTx/>
                    <a:latin typeface="Palatino Linotype"/>
                    <a:cs typeface="Palatino Linotype"/>
                  </a:rPr>
                  <a:t> </a:t>
                </a:r>
                <a:r>
                  <a:rPr kumimoji="0" lang="en-US" sz="1100" b="0" i="0" u="none" strike="noStrike" kern="0" cap="none" spc="-19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0" u="none" strike="noStrike" kern="0" cap="none" spc="-25" normalizeH="0" baseline="0" noProof="0" dirty="0">
                    <a:ln>
                      <a:noFill/>
                    </a:ln>
                    <a:solidFill>
                      <a:srgbClr val="22373A"/>
                    </a:solidFill>
                    <a:effectLst/>
                    <a:uLnTx/>
                    <a:uFillTx/>
                    <a:latin typeface="Palatino Linotype"/>
                    <a:cs typeface="Palatino Linotype"/>
                  </a:rPr>
                  <a:t>0</a:t>
                </a:r>
                <a:r>
                  <a:rPr kumimoji="0" lang="en-US" sz="1100" b="0" i="0" u="none" strike="noStrike" kern="0" cap="none" spc="-25" normalizeH="0" baseline="0" noProof="0" dirty="0">
                    <a:ln>
                      <a:noFill/>
                    </a:ln>
                    <a:solidFill>
                      <a:srgbClr val="22373A"/>
                    </a:solidFill>
                    <a:effectLst/>
                    <a:uLnTx/>
                    <a:uFillTx/>
                    <a:latin typeface="Bookman Old Style"/>
                    <a:cs typeface="Bookman Old Style"/>
                  </a:rPr>
                  <a:t>.</a:t>
                </a:r>
                <a:r>
                  <a:rPr kumimoji="0" lang="en-US" sz="1100" b="0" i="0" u="none" strike="noStrike" kern="0" cap="none" spc="-25" normalizeH="0" baseline="0" noProof="0" dirty="0">
                    <a:ln>
                      <a:noFill/>
                    </a:ln>
                    <a:solidFill>
                      <a:srgbClr val="22373A"/>
                    </a:solidFill>
                    <a:effectLst/>
                    <a:uLnTx/>
                    <a:uFillTx/>
                    <a:latin typeface="Palatino Linotype"/>
                    <a:cs typeface="Palatino Linotype"/>
                  </a:rPr>
                  <a:t>62</a:t>
                </a:r>
                <a:r>
                  <a:rPr kumimoji="0" lang="en-US" sz="1100" b="0" i="0" u="none" strike="noStrike" kern="0" cap="none" spc="-40" normalizeH="0" baseline="0" noProof="0" dirty="0">
                    <a:ln>
                      <a:noFill/>
                    </a:ln>
                    <a:solidFill>
                      <a:srgbClr val="22373A"/>
                    </a:solidFill>
                    <a:effectLst/>
                    <a:uLnTx/>
                    <a:uFillTx/>
                    <a:latin typeface="Palatino Linotype"/>
                    <a:cs typeface="Palatino Linotype"/>
                  </a:rPr>
                  <a:t> </a:t>
                </a:r>
                <a:r>
                  <a:rPr kumimoji="0" lang="en-US" sz="1100" b="0" i="0" u="none" strike="noStrike" kern="0" cap="none" spc="-37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1" u="none" strike="noStrike" kern="0" cap="none" spc="-10" normalizeH="0" baseline="0" noProof="0" dirty="0" err="1">
                    <a:ln>
                      <a:noFill/>
                    </a:ln>
                    <a:solidFill>
                      <a:srgbClr val="22373A"/>
                    </a:solidFill>
                    <a:effectLst/>
                    <a:uLnTx/>
                    <a:uFillTx/>
                    <a:latin typeface="Times New Roman"/>
                    <a:cs typeface="Times New Roman"/>
                  </a:rPr>
                  <a:t>HS</a:t>
                </a:r>
                <a:r>
                  <a:rPr kumimoji="0" lang="en-US" sz="1200" b="0" i="1" u="none" strike="noStrike" kern="0" cap="none" spc="-15" normalizeH="0" baseline="-10416" noProof="0" dirty="0" err="1">
                    <a:ln>
                      <a:noFill/>
                    </a:ln>
                    <a:solidFill>
                      <a:srgbClr val="22373A"/>
                    </a:solidFill>
                    <a:effectLst/>
                    <a:uLnTx/>
                    <a:uFillTx/>
                    <a:latin typeface="Times New Roman"/>
                    <a:cs typeface="Times New Roman"/>
                  </a:rPr>
                  <a:t>grad</a:t>
                </a:r>
                <a:endParaRPr kumimoji="0" lang="en-US" sz="1200" b="0" i="0" u="none" strike="noStrike" kern="0" cap="none" spc="0" normalizeH="0" baseline="-10416" noProof="0" dirty="0">
                  <a:ln>
                    <a:noFill/>
                  </a:ln>
                  <a:solidFill>
                    <a:sysClr val="windowText" lastClr="000000"/>
                  </a:solidFill>
                  <a:effectLst/>
                  <a:uLnTx/>
                  <a:uFillTx/>
                  <a:latin typeface="Times New Roman"/>
                  <a:cs typeface="Times New Roman"/>
                </a:endParaRPr>
              </a:p>
            </p:txBody>
          </p:sp>
        </mc:Choice>
        <mc:Fallback xmlns="">
          <p:sp>
            <p:nvSpPr>
              <p:cNvPr id="12" name="TextBox 11">
                <a:extLst>
                  <a:ext uri="{FF2B5EF4-FFF2-40B4-BE49-F238E27FC236}">
                    <a16:creationId xmlns:a16="http://schemas.microsoft.com/office/drawing/2014/main" id="{F8A641DD-F7D7-D69D-354F-4219F3E72993}"/>
                  </a:ext>
                </a:extLst>
              </p:cNvPr>
              <p:cNvSpPr txBox="1">
                <a:spLocks noRot="1" noChangeAspect="1" noMove="1" noResize="1" noEditPoints="1" noAdjustHandles="1" noChangeArrowheads="1" noChangeShapeType="1" noTextEdit="1"/>
              </p:cNvSpPr>
              <p:nvPr/>
            </p:nvSpPr>
            <p:spPr>
              <a:xfrm>
                <a:off x="0" y="955806"/>
                <a:ext cx="3752850" cy="261610"/>
              </a:xfrm>
              <a:prstGeom prst="rect">
                <a:avLst/>
              </a:prstGeom>
              <a:blipFill>
                <a:blip r:embed="rId2"/>
                <a:stretch>
                  <a:fillRect t="-6977" b="-16279"/>
                </a:stretch>
              </a:blipFill>
            </p:spPr>
            <p:txBody>
              <a:bodyPr/>
              <a:lstStyle/>
              <a:p>
                <a:r>
                  <a:rPr lang="en-US">
                    <a:noFill/>
                  </a:rPr>
                  <a:t> </a:t>
                </a:r>
              </a:p>
            </p:txBody>
          </p:sp>
        </mc:Fallback>
      </mc:AlternateContent>
    </p:spTree>
    <p:extLst>
      <p:ext uri="{BB962C8B-B14F-4D97-AF65-F5344CB8AC3E}">
        <p14:creationId xmlns:p14="http://schemas.microsoft.com/office/powerpoint/2010/main" val="2334747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Eyeballing</a:t>
            </a:r>
            <a:r>
              <a:rPr spc="100" dirty="0"/>
              <a:t> </a:t>
            </a:r>
            <a:r>
              <a:rPr dirty="0"/>
              <a:t>the</a:t>
            </a:r>
            <a:r>
              <a:rPr spc="105" dirty="0"/>
              <a:t> </a:t>
            </a:r>
            <a:r>
              <a:rPr spc="-20" dirty="0"/>
              <a:t>line</a:t>
            </a:r>
          </a:p>
        </p:txBody>
      </p:sp>
      <p:sp>
        <p:nvSpPr>
          <p:cNvPr id="3" name="object 3"/>
          <p:cNvSpPr/>
          <p:nvPr/>
        </p:nvSpPr>
        <p:spPr>
          <a:xfrm>
            <a:off x="189191" y="924623"/>
            <a:ext cx="1268095" cy="1426845"/>
          </a:xfrm>
          <a:custGeom>
            <a:avLst/>
            <a:gdLst/>
            <a:ahLst/>
            <a:cxnLst/>
            <a:rect l="l" t="t" r="r" b="b"/>
            <a:pathLst>
              <a:path w="1268095" h="1426845">
                <a:moveTo>
                  <a:pt x="1268031" y="44411"/>
                </a:moveTo>
                <a:lnTo>
                  <a:pt x="1266723" y="44411"/>
                </a:lnTo>
                <a:lnTo>
                  <a:pt x="1264031" y="31076"/>
                </a:lnTo>
                <a:lnTo>
                  <a:pt x="1253109" y="14922"/>
                </a:lnTo>
                <a:lnTo>
                  <a:pt x="1236954" y="4013"/>
                </a:lnTo>
                <a:lnTo>
                  <a:pt x="1217231" y="0"/>
                </a:lnTo>
                <a:lnTo>
                  <a:pt x="50812" y="0"/>
                </a:lnTo>
                <a:lnTo>
                  <a:pt x="31076" y="4013"/>
                </a:lnTo>
                <a:lnTo>
                  <a:pt x="14922" y="14922"/>
                </a:lnTo>
                <a:lnTo>
                  <a:pt x="4013" y="31076"/>
                </a:lnTo>
                <a:lnTo>
                  <a:pt x="1295" y="44411"/>
                </a:lnTo>
                <a:lnTo>
                  <a:pt x="0" y="44411"/>
                </a:lnTo>
                <a:lnTo>
                  <a:pt x="0" y="50812"/>
                </a:lnTo>
                <a:lnTo>
                  <a:pt x="0" y="82384"/>
                </a:lnTo>
                <a:lnTo>
                  <a:pt x="0" y="1375651"/>
                </a:lnTo>
                <a:lnTo>
                  <a:pt x="4013" y="1395374"/>
                </a:lnTo>
                <a:lnTo>
                  <a:pt x="14922" y="1411528"/>
                </a:lnTo>
                <a:lnTo>
                  <a:pt x="31076" y="1422438"/>
                </a:lnTo>
                <a:lnTo>
                  <a:pt x="50812" y="1426451"/>
                </a:lnTo>
                <a:lnTo>
                  <a:pt x="1217231" y="1426451"/>
                </a:lnTo>
                <a:lnTo>
                  <a:pt x="1236954" y="1422438"/>
                </a:lnTo>
                <a:lnTo>
                  <a:pt x="1253109" y="1411528"/>
                </a:lnTo>
                <a:lnTo>
                  <a:pt x="1264031" y="1395374"/>
                </a:lnTo>
                <a:lnTo>
                  <a:pt x="1268031" y="1375651"/>
                </a:lnTo>
                <a:lnTo>
                  <a:pt x="1268031" y="82384"/>
                </a:lnTo>
                <a:lnTo>
                  <a:pt x="1268031" y="50812"/>
                </a:lnTo>
                <a:lnTo>
                  <a:pt x="1268031" y="44411"/>
                </a:lnTo>
                <a:close/>
              </a:path>
            </a:pathLst>
          </a:custGeom>
          <a:solidFill>
            <a:srgbClr val="F9F9F9"/>
          </a:solidFill>
        </p:spPr>
        <p:txBody>
          <a:bodyPr wrap="square" lIns="0" tIns="0" rIns="0" bIns="0" rtlCol="0"/>
          <a:lstStyle/>
          <a:p>
            <a:endParaRPr/>
          </a:p>
        </p:txBody>
      </p:sp>
      <p:sp>
        <p:nvSpPr>
          <p:cNvPr id="4" name="object 4"/>
          <p:cNvSpPr txBox="1"/>
          <p:nvPr/>
        </p:nvSpPr>
        <p:spPr>
          <a:xfrm>
            <a:off x="227304" y="906116"/>
            <a:ext cx="1191895" cy="1410970"/>
          </a:xfrm>
          <a:prstGeom prst="rect">
            <a:avLst/>
          </a:prstGeom>
        </p:spPr>
        <p:txBody>
          <a:bodyPr vert="horz" wrap="square" lIns="0" tIns="11430" rIns="0" bIns="0" rtlCol="0">
            <a:spAutoFit/>
          </a:bodyPr>
          <a:lstStyle/>
          <a:p>
            <a:pPr marL="12700" marR="5080" algn="just">
              <a:lnSpc>
                <a:spcPct val="129800"/>
              </a:lnSpc>
              <a:spcBef>
                <a:spcPts val="90"/>
              </a:spcBef>
            </a:pPr>
            <a:r>
              <a:rPr sz="1000" dirty="0">
                <a:solidFill>
                  <a:srgbClr val="3884B7"/>
                </a:solidFill>
                <a:latin typeface="Arial"/>
                <a:cs typeface="Arial"/>
              </a:rPr>
              <a:t>Which</a:t>
            </a:r>
            <a:r>
              <a:rPr sz="1000" spc="125" dirty="0">
                <a:solidFill>
                  <a:srgbClr val="3884B7"/>
                </a:solidFill>
                <a:latin typeface="Arial"/>
                <a:cs typeface="Arial"/>
              </a:rPr>
              <a:t> </a:t>
            </a:r>
            <a:r>
              <a:rPr sz="1000" dirty="0">
                <a:solidFill>
                  <a:srgbClr val="3884B7"/>
                </a:solidFill>
                <a:latin typeface="Arial"/>
                <a:cs typeface="Arial"/>
              </a:rPr>
              <a:t>of</a:t>
            </a:r>
            <a:r>
              <a:rPr sz="1000" spc="125" dirty="0">
                <a:solidFill>
                  <a:srgbClr val="3884B7"/>
                </a:solidFill>
                <a:latin typeface="Arial"/>
                <a:cs typeface="Arial"/>
              </a:rPr>
              <a:t> </a:t>
            </a:r>
            <a:r>
              <a:rPr sz="1000" dirty="0">
                <a:solidFill>
                  <a:srgbClr val="3884B7"/>
                </a:solidFill>
                <a:latin typeface="Arial"/>
                <a:cs typeface="Arial"/>
              </a:rPr>
              <a:t>the</a:t>
            </a:r>
            <a:r>
              <a:rPr sz="1000" spc="130" dirty="0">
                <a:solidFill>
                  <a:srgbClr val="3884B7"/>
                </a:solidFill>
                <a:latin typeface="Arial"/>
                <a:cs typeface="Arial"/>
              </a:rPr>
              <a:t> </a:t>
            </a:r>
            <a:r>
              <a:rPr sz="1000" spc="-10" dirty="0">
                <a:solidFill>
                  <a:srgbClr val="3884B7"/>
                </a:solidFill>
                <a:latin typeface="Arial"/>
                <a:cs typeface="Arial"/>
              </a:rPr>
              <a:t>follow- </a:t>
            </a:r>
            <a:r>
              <a:rPr sz="1000" dirty="0">
                <a:solidFill>
                  <a:srgbClr val="3884B7"/>
                </a:solidFill>
                <a:latin typeface="Arial"/>
                <a:cs typeface="Arial"/>
              </a:rPr>
              <a:t>ing</a:t>
            </a:r>
            <a:r>
              <a:rPr sz="1000" spc="470" dirty="0">
                <a:solidFill>
                  <a:srgbClr val="3884B7"/>
                </a:solidFill>
                <a:latin typeface="Arial"/>
                <a:cs typeface="Arial"/>
              </a:rPr>
              <a:t> </a:t>
            </a:r>
            <a:r>
              <a:rPr sz="1000" dirty="0">
                <a:solidFill>
                  <a:srgbClr val="3884B7"/>
                </a:solidFill>
                <a:latin typeface="Arial"/>
                <a:cs typeface="Arial"/>
              </a:rPr>
              <a:t>appears</a:t>
            </a:r>
            <a:r>
              <a:rPr sz="1000" spc="475" dirty="0">
                <a:solidFill>
                  <a:srgbClr val="3884B7"/>
                </a:solidFill>
                <a:latin typeface="Arial"/>
                <a:cs typeface="Arial"/>
              </a:rPr>
              <a:t> </a:t>
            </a:r>
            <a:r>
              <a:rPr sz="1000" dirty="0">
                <a:solidFill>
                  <a:srgbClr val="3884B7"/>
                </a:solidFill>
                <a:latin typeface="Arial"/>
                <a:cs typeface="Arial"/>
              </a:rPr>
              <a:t>to</a:t>
            </a:r>
            <a:r>
              <a:rPr sz="1000" spc="470" dirty="0">
                <a:solidFill>
                  <a:srgbClr val="3884B7"/>
                </a:solidFill>
                <a:latin typeface="Arial"/>
                <a:cs typeface="Arial"/>
              </a:rPr>
              <a:t> </a:t>
            </a:r>
            <a:r>
              <a:rPr sz="1000" spc="-25" dirty="0">
                <a:solidFill>
                  <a:srgbClr val="3884B7"/>
                </a:solidFill>
                <a:latin typeface="Arial"/>
                <a:cs typeface="Arial"/>
              </a:rPr>
              <a:t>be </a:t>
            </a:r>
            <a:r>
              <a:rPr sz="1000" dirty="0">
                <a:solidFill>
                  <a:srgbClr val="3884B7"/>
                </a:solidFill>
                <a:latin typeface="Arial"/>
                <a:cs typeface="Arial"/>
              </a:rPr>
              <a:t>the</a:t>
            </a:r>
            <a:r>
              <a:rPr sz="1000" spc="60" dirty="0">
                <a:solidFill>
                  <a:srgbClr val="3884B7"/>
                </a:solidFill>
                <a:latin typeface="Arial"/>
                <a:cs typeface="Arial"/>
              </a:rPr>
              <a:t> </a:t>
            </a:r>
            <a:r>
              <a:rPr sz="1000" dirty="0">
                <a:solidFill>
                  <a:srgbClr val="3884B7"/>
                </a:solidFill>
                <a:latin typeface="Arial"/>
                <a:cs typeface="Arial"/>
              </a:rPr>
              <a:t>line</a:t>
            </a:r>
            <a:r>
              <a:rPr sz="1000" spc="65" dirty="0">
                <a:solidFill>
                  <a:srgbClr val="3884B7"/>
                </a:solidFill>
                <a:latin typeface="Arial"/>
                <a:cs typeface="Arial"/>
              </a:rPr>
              <a:t> </a:t>
            </a:r>
            <a:r>
              <a:rPr sz="1000" dirty="0">
                <a:solidFill>
                  <a:srgbClr val="3884B7"/>
                </a:solidFill>
                <a:latin typeface="Arial"/>
                <a:cs typeface="Arial"/>
              </a:rPr>
              <a:t>that</a:t>
            </a:r>
            <a:r>
              <a:rPr sz="1000" spc="65" dirty="0">
                <a:solidFill>
                  <a:srgbClr val="3884B7"/>
                </a:solidFill>
                <a:latin typeface="Arial"/>
                <a:cs typeface="Arial"/>
              </a:rPr>
              <a:t> </a:t>
            </a:r>
            <a:r>
              <a:rPr sz="1000" dirty="0">
                <a:solidFill>
                  <a:srgbClr val="3884B7"/>
                </a:solidFill>
                <a:latin typeface="Arial"/>
                <a:cs typeface="Arial"/>
              </a:rPr>
              <a:t>best</a:t>
            </a:r>
            <a:r>
              <a:rPr sz="1000" spc="65" dirty="0">
                <a:solidFill>
                  <a:srgbClr val="3884B7"/>
                </a:solidFill>
                <a:latin typeface="Arial"/>
                <a:cs typeface="Arial"/>
              </a:rPr>
              <a:t> </a:t>
            </a:r>
            <a:r>
              <a:rPr sz="1000" spc="-20" dirty="0">
                <a:solidFill>
                  <a:srgbClr val="3884B7"/>
                </a:solidFill>
                <a:latin typeface="Arial"/>
                <a:cs typeface="Arial"/>
              </a:rPr>
              <a:t>fits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linear</a:t>
            </a:r>
            <a:r>
              <a:rPr sz="1000" spc="120" dirty="0">
                <a:solidFill>
                  <a:srgbClr val="3884B7"/>
                </a:solidFill>
                <a:latin typeface="Arial"/>
                <a:cs typeface="Arial"/>
              </a:rPr>
              <a:t>  </a:t>
            </a:r>
            <a:r>
              <a:rPr sz="1000" spc="-10" dirty="0">
                <a:solidFill>
                  <a:srgbClr val="3884B7"/>
                </a:solidFill>
                <a:latin typeface="Arial"/>
                <a:cs typeface="Arial"/>
              </a:rPr>
              <a:t>relation- </a:t>
            </a:r>
            <a:r>
              <a:rPr sz="1000" dirty="0">
                <a:solidFill>
                  <a:srgbClr val="3884B7"/>
                </a:solidFill>
                <a:latin typeface="Arial"/>
                <a:cs typeface="Arial"/>
              </a:rPr>
              <a:t>ship</a:t>
            </a:r>
            <a:r>
              <a:rPr sz="1000" spc="340" dirty="0">
                <a:solidFill>
                  <a:srgbClr val="3884B7"/>
                </a:solidFill>
                <a:latin typeface="Arial"/>
                <a:cs typeface="Arial"/>
              </a:rPr>
              <a:t> </a:t>
            </a:r>
            <a:r>
              <a:rPr sz="1000" dirty="0">
                <a:solidFill>
                  <a:srgbClr val="3884B7"/>
                </a:solidFill>
                <a:latin typeface="Arial"/>
                <a:cs typeface="Arial"/>
              </a:rPr>
              <a:t>between</a:t>
            </a:r>
            <a:r>
              <a:rPr sz="1000" spc="345" dirty="0">
                <a:solidFill>
                  <a:srgbClr val="3884B7"/>
                </a:solidFill>
                <a:latin typeface="Arial"/>
                <a:cs typeface="Arial"/>
              </a:rPr>
              <a:t> </a:t>
            </a:r>
            <a:r>
              <a:rPr sz="1000" dirty="0">
                <a:solidFill>
                  <a:srgbClr val="3884B7"/>
                </a:solidFill>
                <a:latin typeface="Arial"/>
                <a:cs typeface="Arial"/>
              </a:rPr>
              <a:t>%</a:t>
            </a:r>
            <a:r>
              <a:rPr sz="1000" spc="340" dirty="0">
                <a:solidFill>
                  <a:srgbClr val="3884B7"/>
                </a:solidFill>
                <a:latin typeface="Arial"/>
                <a:cs typeface="Arial"/>
              </a:rPr>
              <a:t> </a:t>
            </a:r>
            <a:r>
              <a:rPr sz="1000" spc="-25" dirty="0">
                <a:solidFill>
                  <a:srgbClr val="3884B7"/>
                </a:solidFill>
                <a:latin typeface="Arial"/>
                <a:cs typeface="Arial"/>
              </a:rPr>
              <a:t>in </a:t>
            </a:r>
            <a:r>
              <a:rPr sz="1000" dirty="0">
                <a:solidFill>
                  <a:srgbClr val="3884B7"/>
                </a:solidFill>
                <a:latin typeface="Arial"/>
                <a:cs typeface="Arial"/>
              </a:rPr>
              <a:t>poverty</a:t>
            </a:r>
            <a:r>
              <a:rPr sz="1000" spc="350" dirty="0">
                <a:solidFill>
                  <a:srgbClr val="3884B7"/>
                </a:solidFill>
                <a:latin typeface="Arial"/>
                <a:cs typeface="Arial"/>
              </a:rPr>
              <a:t> </a:t>
            </a:r>
            <a:r>
              <a:rPr sz="1000" dirty="0">
                <a:solidFill>
                  <a:srgbClr val="3884B7"/>
                </a:solidFill>
                <a:latin typeface="Arial"/>
                <a:cs typeface="Arial"/>
              </a:rPr>
              <a:t>and</a:t>
            </a:r>
            <a:r>
              <a:rPr sz="1000" spc="345" dirty="0">
                <a:solidFill>
                  <a:srgbClr val="3884B7"/>
                </a:solidFill>
                <a:latin typeface="Arial"/>
                <a:cs typeface="Arial"/>
              </a:rPr>
              <a:t> </a:t>
            </a:r>
            <a:r>
              <a:rPr sz="1000" dirty="0">
                <a:solidFill>
                  <a:srgbClr val="3884B7"/>
                </a:solidFill>
                <a:latin typeface="Arial"/>
                <a:cs typeface="Arial"/>
              </a:rPr>
              <a:t>%</a:t>
            </a:r>
            <a:r>
              <a:rPr sz="1000" spc="350" dirty="0">
                <a:solidFill>
                  <a:srgbClr val="3884B7"/>
                </a:solidFill>
                <a:latin typeface="Arial"/>
                <a:cs typeface="Arial"/>
              </a:rPr>
              <a:t> </a:t>
            </a:r>
            <a:r>
              <a:rPr sz="1000" spc="-25" dirty="0">
                <a:solidFill>
                  <a:srgbClr val="3884B7"/>
                </a:solidFill>
                <a:latin typeface="Arial"/>
                <a:cs typeface="Arial"/>
              </a:rPr>
              <a:t>HS </a:t>
            </a:r>
            <a:r>
              <a:rPr sz="1000" dirty="0">
                <a:solidFill>
                  <a:srgbClr val="3884B7"/>
                </a:solidFill>
                <a:latin typeface="Arial"/>
                <a:cs typeface="Arial"/>
              </a:rPr>
              <a:t>grad?</a:t>
            </a:r>
            <a:r>
              <a:rPr sz="1000" spc="185" dirty="0">
                <a:solidFill>
                  <a:srgbClr val="3884B7"/>
                </a:solidFill>
                <a:latin typeface="Arial"/>
                <a:cs typeface="Arial"/>
              </a:rPr>
              <a:t> </a:t>
            </a:r>
            <a:r>
              <a:rPr sz="1000" dirty="0">
                <a:solidFill>
                  <a:srgbClr val="3884B7"/>
                </a:solidFill>
                <a:latin typeface="Arial"/>
                <a:cs typeface="Arial"/>
              </a:rPr>
              <a:t>Choose</a:t>
            </a:r>
            <a:r>
              <a:rPr sz="1000" spc="100" dirty="0">
                <a:solidFill>
                  <a:srgbClr val="3884B7"/>
                </a:solidFill>
                <a:latin typeface="Arial"/>
                <a:cs typeface="Arial"/>
              </a:rPr>
              <a:t> </a:t>
            </a:r>
            <a:r>
              <a:rPr sz="1000" spc="-20" dirty="0">
                <a:solidFill>
                  <a:srgbClr val="3884B7"/>
                </a:solidFill>
                <a:latin typeface="Arial"/>
                <a:cs typeface="Arial"/>
              </a:rPr>
              <a:t>one.</a:t>
            </a:r>
            <a:endParaRPr sz="1000" dirty="0">
              <a:latin typeface="Arial"/>
              <a:cs typeface="Arial"/>
            </a:endParaRPr>
          </a:p>
        </p:txBody>
      </p:sp>
      <p:grpSp>
        <p:nvGrpSpPr>
          <p:cNvPr id="5" name="object 5"/>
          <p:cNvGrpSpPr/>
          <p:nvPr/>
        </p:nvGrpSpPr>
        <p:grpSpPr>
          <a:xfrm>
            <a:off x="2103352" y="701113"/>
            <a:ext cx="2105025" cy="1979930"/>
            <a:chOff x="2103352" y="701113"/>
            <a:chExt cx="2105025" cy="1979930"/>
          </a:xfrm>
        </p:grpSpPr>
        <p:sp>
          <p:nvSpPr>
            <p:cNvPr id="6" name="object 6"/>
            <p:cNvSpPr/>
            <p:nvPr/>
          </p:nvSpPr>
          <p:spPr>
            <a:xfrm>
              <a:off x="2479818" y="1206445"/>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479818" y="1206445"/>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396050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396050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3019543" y="139861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019543" y="139861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2618237" y="703970"/>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618237" y="703970"/>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645866" y="14724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645866" y="14724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3697551"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697551"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3531503" y="221153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531503" y="221153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3697551" y="216720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697551" y="216720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3323942" y="881290"/>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323942" y="881290"/>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3144079" y="1575999"/>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144079" y="1575999"/>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3199406" y="157599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199406" y="157599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3669922" y="179771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669922" y="179771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3628410" y="162032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628410" y="162032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3310128" y="170898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310128" y="170898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379269"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379269"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3835970"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835970"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3683736"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683736"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2881124"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2881124"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466003" y="851737"/>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466003" y="851737"/>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3406966" y="169421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406966" y="169421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3545386" y="2285415"/>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545386" y="2285415"/>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3476176"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476176"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545386" y="184204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45386" y="184204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4098857" y="240369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098857" y="240369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659749" y="76307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659749" y="76307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642224"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642224"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891297" y="133950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891297" y="133950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3988204"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3988204"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26861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26861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4168067" y="2536687"/>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68067" y="2536687"/>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3351640" y="22115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351640" y="22115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728890" y="73352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728890" y="73352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3074870" y="1295174"/>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074870" y="1295174"/>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2687378"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687378"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3835970" y="1605552"/>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835970" y="1605552"/>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3489990" y="187160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489990" y="187160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3282430" y="1191668"/>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282430" y="1191668"/>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3448478" y="1708989"/>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448478" y="1708989"/>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3323942" y="200459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323942" y="200459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2632051" y="184204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632051" y="184204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604354" y="1369057"/>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604354" y="1369057"/>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3697551" y="1856824"/>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697551" y="1856824"/>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2632051" y="1265620"/>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632051" y="1265620"/>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2106209" y="110300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106209" y="110300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794458" y="198981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794458" y="198981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3725248" y="1901154"/>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725248" y="1901154"/>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573015"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573015"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3752946" y="176816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752946" y="176816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313769" y="999572"/>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313769" y="999572"/>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683736" y="209331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683736" y="209331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4002018"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02018"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8" name="object 108"/>
            <p:cNvSpPr/>
            <p:nvPr/>
          </p:nvSpPr>
          <p:spPr>
            <a:xfrm>
              <a:off x="2512258" y="262857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9" name="object 109"/>
          <p:cNvSpPr txBox="1"/>
          <p:nvPr/>
        </p:nvSpPr>
        <p:spPr>
          <a:xfrm>
            <a:off x="2430760"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10" name="object 110"/>
          <p:cNvSpPr txBox="1"/>
          <p:nvPr/>
        </p:nvSpPr>
        <p:spPr>
          <a:xfrm>
            <a:off x="3814542"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11" name="object 111"/>
          <p:cNvSpPr/>
          <p:nvPr/>
        </p:nvSpPr>
        <p:spPr>
          <a:xfrm>
            <a:off x="1992807" y="722527"/>
            <a:ext cx="49530" cy="1774189"/>
          </a:xfrm>
          <a:custGeom>
            <a:avLst/>
            <a:gdLst/>
            <a:ahLst/>
            <a:cxnLst/>
            <a:rect l="l" t="t" r="r" b="b"/>
            <a:pathLst>
              <a:path w="49530" h="1774189">
                <a:moveTo>
                  <a:pt x="49484" y="1773609"/>
                </a:moveTo>
                <a:lnTo>
                  <a:pt x="49484" y="0"/>
                </a:lnTo>
              </a:path>
              <a:path w="49530" h="1774189">
                <a:moveTo>
                  <a:pt x="49484" y="1773609"/>
                </a:moveTo>
                <a:lnTo>
                  <a:pt x="0" y="1773609"/>
                </a:lnTo>
              </a:path>
              <a:path w="49530" h="1774189">
                <a:moveTo>
                  <a:pt x="49484" y="1478008"/>
                </a:moveTo>
                <a:lnTo>
                  <a:pt x="0" y="1478008"/>
                </a:lnTo>
              </a:path>
              <a:path w="49530" h="1774189">
                <a:moveTo>
                  <a:pt x="49484" y="1182406"/>
                </a:moveTo>
                <a:lnTo>
                  <a:pt x="0" y="1182406"/>
                </a:lnTo>
              </a:path>
              <a:path w="49530" h="1774189">
                <a:moveTo>
                  <a:pt x="49484" y="886804"/>
                </a:moveTo>
                <a:lnTo>
                  <a:pt x="0" y="886804"/>
                </a:lnTo>
              </a:path>
              <a:path w="49530" h="1774189">
                <a:moveTo>
                  <a:pt x="49484" y="591203"/>
                </a:moveTo>
                <a:lnTo>
                  <a:pt x="0" y="591203"/>
                </a:lnTo>
              </a:path>
              <a:path w="49530" h="1774189">
                <a:moveTo>
                  <a:pt x="49484" y="295601"/>
                </a:moveTo>
                <a:lnTo>
                  <a:pt x="0" y="295601"/>
                </a:lnTo>
              </a:path>
              <a:path w="49530" h="1774189">
                <a:moveTo>
                  <a:pt x="49484" y="0"/>
                </a:moveTo>
                <a:lnTo>
                  <a:pt x="0" y="0"/>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1891516" y="2404124"/>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6</a:t>
            </a:r>
            <a:endParaRPr sz="950">
              <a:latin typeface="Arial"/>
              <a:cs typeface="Arial"/>
            </a:endParaRPr>
          </a:p>
        </p:txBody>
      </p:sp>
      <p:sp>
        <p:nvSpPr>
          <p:cNvPr id="113" name="object 113"/>
          <p:cNvSpPr txBox="1"/>
          <p:nvPr/>
        </p:nvSpPr>
        <p:spPr>
          <a:xfrm>
            <a:off x="1891516" y="2108523"/>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8</a:t>
            </a:r>
            <a:endParaRPr sz="950">
              <a:latin typeface="Arial"/>
              <a:cs typeface="Arial"/>
            </a:endParaRPr>
          </a:p>
        </p:txBody>
      </p:sp>
      <p:sp>
        <p:nvSpPr>
          <p:cNvPr id="114" name="object 114"/>
          <p:cNvSpPr txBox="1"/>
          <p:nvPr/>
        </p:nvSpPr>
        <p:spPr>
          <a:xfrm>
            <a:off x="1822718" y="1812921"/>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10</a:t>
            </a:r>
            <a:endParaRPr sz="950">
              <a:latin typeface="Arial"/>
              <a:cs typeface="Arial"/>
            </a:endParaRPr>
          </a:p>
        </p:txBody>
      </p:sp>
      <p:sp>
        <p:nvSpPr>
          <p:cNvPr id="115" name="object 115"/>
          <p:cNvSpPr txBox="1"/>
          <p:nvPr/>
        </p:nvSpPr>
        <p:spPr>
          <a:xfrm>
            <a:off x="1822718" y="15173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12</a:t>
            </a:r>
            <a:endParaRPr sz="950">
              <a:latin typeface="Arial"/>
              <a:cs typeface="Arial"/>
            </a:endParaRPr>
          </a:p>
        </p:txBody>
      </p:sp>
      <p:sp>
        <p:nvSpPr>
          <p:cNvPr id="116" name="object 116"/>
          <p:cNvSpPr txBox="1"/>
          <p:nvPr/>
        </p:nvSpPr>
        <p:spPr>
          <a:xfrm>
            <a:off x="1822718" y="1221718"/>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14</a:t>
            </a:r>
            <a:endParaRPr sz="950">
              <a:latin typeface="Arial"/>
              <a:cs typeface="Arial"/>
            </a:endParaRPr>
          </a:p>
        </p:txBody>
      </p:sp>
      <p:sp>
        <p:nvSpPr>
          <p:cNvPr id="117" name="object 117"/>
          <p:cNvSpPr txBox="1"/>
          <p:nvPr/>
        </p:nvSpPr>
        <p:spPr>
          <a:xfrm>
            <a:off x="1822718" y="926116"/>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16</a:t>
            </a:r>
            <a:endParaRPr sz="950">
              <a:latin typeface="Arial"/>
              <a:cs typeface="Arial"/>
            </a:endParaRPr>
          </a:p>
        </p:txBody>
      </p:sp>
      <p:sp>
        <p:nvSpPr>
          <p:cNvPr id="118" name="object 118"/>
          <p:cNvSpPr txBox="1"/>
          <p:nvPr/>
        </p:nvSpPr>
        <p:spPr>
          <a:xfrm>
            <a:off x="1822718" y="630514"/>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18</a:t>
            </a:r>
            <a:endParaRPr sz="950">
              <a:latin typeface="Arial"/>
              <a:cs typeface="Arial"/>
            </a:endParaRPr>
          </a:p>
        </p:txBody>
      </p:sp>
      <p:sp>
        <p:nvSpPr>
          <p:cNvPr id="119" name="object 119"/>
          <p:cNvSpPr/>
          <p:nvPr/>
        </p:nvSpPr>
        <p:spPr>
          <a:xfrm>
            <a:off x="2042292" y="649194"/>
            <a:ext cx="2226945" cy="1979930"/>
          </a:xfrm>
          <a:custGeom>
            <a:avLst/>
            <a:gdLst/>
            <a:ahLst/>
            <a:cxnLst/>
            <a:rect l="l" t="t" r="r" b="b"/>
            <a:pathLst>
              <a:path w="2226945" h="1979930">
                <a:moveTo>
                  <a:pt x="0" y="1979383"/>
                </a:moveTo>
                <a:lnTo>
                  <a:pt x="2226806" y="1979383"/>
                </a:lnTo>
                <a:lnTo>
                  <a:pt x="2226806" y="0"/>
                </a:lnTo>
                <a:lnTo>
                  <a:pt x="0" y="0"/>
                </a:lnTo>
                <a:lnTo>
                  <a:pt x="0" y="1979383"/>
                </a:lnTo>
              </a:path>
            </a:pathLst>
          </a:custGeom>
          <a:ln w="5154">
            <a:solidFill>
              <a:srgbClr val="000000"/>
            </a:solidFill>
          </a:ln>
        </p:spPr>
        <p:txBody>
          <a:bodyPr wrap="square" lIns="0" tIns="0" rIns="0" bIns="0" rtlCol="0"/>
          <a:lstStyle/>
          <a:p>
            <a:endParaRPr/>
          </a:p>
        </p:txBody>
      </p:sp>
      <p:sp>
        <p:nvSpPr>
          <p:cNvPr id="120" name="object 120"/>
          <p:cNvSpPr txBox="1"/>
          <p:nvPr/>
        </p:nvSpPr>
        <p:spPr>
          <a:xfrm>
            <a:off x="2844506" y="261092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21" name="object 121"/>
          <p:cNvSpPr txBox="1"/>
          <p:nvPr/>
        </p:nvSpPr>
        <p:spPr>
          <a:xfrm>
            <a:off x="1650382" y="1285814"/>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grpSp>
        <p:nvGrpSpPr>
          <p:cNvPr id="122" name="object 122"/>
          <p:cNvGrpSpPr/>
          <p:nvPr/>
        </p:nvGrpSpPr>
        <p:grpSpPr>
          <a:xfrm>
            <a:off x="2034559" y="641462"/>
            <a:ext cx="2242820" cy="1995170"/>
            <a:chOff x="2034559" y="641462"/>
            <a:chExt cx="2242820" cy="1995170"/>
          </a:xfrm>
        </p:grpSpPr>
        <p:sp>
          <p:nvSpPr>
            <p:cNvPr id="123" name="object 123"/>
            <p:cNvSpPr/>
            <p:nvPr/>
          </p:nvSpPr>
          <p:spPr>
            <a:xfrm>
              <a:off x="2042291" y="841771"/>
              <a:ext cx="2226945" cy="1477645"/>
            </a:xfrm>
            <a:custGeom>
              <a:avLst/>
              <a:gdLst/>
              <a:ahLst/>
              <a:cxnLst/>
              <a:rect l="l" t="t" r="r" b="b"/>
              <a:pathLst>
                <a:path w="2226945" h="1477645">
                  <a:moveTo>
                    <a:pt x="0" y="0"/>
                  </a:moveTo>
                  <a:lnTo>
                    <a:pt x="2226806" y="1477527"/>
                  </a:lnTo>
                </a:path>
              </a:pathLst>
            </a:custGeom>
            <a:ln w="15463">
              <a:solidFill>
                <a:srgbClr val="F05133"/>
              </a:solidFill>
            </a:ln>
          </p:spPr>
          <p:txBody>
            <a:bodyPr wrap="square" lIns="0" tIns="0" rIns="0" bIns="0" rtlCol="0"/>
            <a:lstStyle/>
            <a:p>
              <a:endParaRPr/>
            </a:p>
          </p:txBody>
        </p:sp>
        <p:sp>
          <p:nvSpPr>
            <p:cNvPr id="124" name="object 124"/>
            <p:cNvSpPr/>
            <p:nvPr/>
          </p:nvSpPr>
          <p:spPr>
            <a:xfrm>
              <a:off x="2042291" y="1249469"/>
              <a:ext cx="1889760" cy="1379220"/>
            </a:xfrm>
            <a:custGeom>
              <a:avLst/>
              <a:gdLst/>
              <a:ahLst/>
              <a:cxnLst/>
              <a:rect l="l" t="t" r="r" b="b"/>
              <a:pathLst>
                <a:path w="1889760" h="1379220">
                  <a:moveTo>
                    <a:pt x="0" y="0"/>
                  </a:moveTo>
                  <a:lnTo>
                    <a:pt x="1889508" y="1379107"/>
                  </a:lnTo>
                </a:path>
              </a:pathLst>
            </a:custGeom>
            <a:ln w="15463">
              <a:solidFill>
                <a:srgbClr val="4C721D"/>
              </a:solidFill>
              <a:prstDash val="dash"/>
            </a:ln>
          </p:spPr>
          <p:txBody>
            <a:bodyPr wrap="square" lIns="0" tIns="0" rIns="0" bIns="0" rtlCol="0"/>
            <a:lstStyle/>
            <a:p>
              <a:endParaRPr/>
            </a:p>
          </p:txBody>
        </p:sp>
        <p:sp>
          <p:nvSpPr>
            <p:cNvPr id="125" name="object 125"/>
            <p:cNvSpPr/>
            <p:nvPr/>
          </p:nvSpPr>
          <p:spPr>
            <a:xfrm>
              <a:off x="2042291" y="1313730"/>
              <a:ext cx="2226945" cy="0"/>
            </a:xfrm>
            <a:custGeom>
              <a:avLst/>
              <a:gdLst/>
              <a:ahLst/>
              <a:cxnLst/>
              <a:rect l="l" t="t" r="r" b="b"/>
              <a:pathLst>
                <a:path w="2226945">
                  <a:moveTo>
                    <a:pt x="0" y="0"/>
                  </a:moveTo>
                  <a:lnTo>
                    <a:pt x="2226806" y="0"/>
                  </a:lnTo>
                </a:path>
              </a:pathLst>
            </a:custGeom>
            <a:ln w="15463">
              <a:solidFill>
                <a:srgbClr val="000000"/>
              </a:solidFill>
              <a:prstDash val="dot"/>
            </a:ln>
          </p:spPr>
          <p:txBody>
            <a:bodyPr wrap="square" lIns="0" tIns="0" rIns="0" bIns="0" rtlCol="0"/>
            <a:lstStyle/>
            <a:p>
              <a:endParaRPr/>
            </a:p>
          </p:txBody>
        </p:sp>
        <p:sp>
          <p:nvSpPr>
            <p:cNvPr id="126" name="object 126"/>
            <p:cNvSpPr/>
            <p:nvPr/>
          </p:nvSpPr>
          <p:spPr>
            <a:xfrm>
              <a:off x="2455039" y="649194"/>
              <a:ext cx="1544320" cy="1979930"/>
            </a:xfrm>
            <a:custGeom>
              <a:avLst/>
              <a:gdLst/>
              <a:ahLst/>
              <a:cxnLst/>
              <a:rect l="l" t="t" r="r" b="b"/>
              <a:pathLst>
                <a:path w="1544320" h="1979930">
                  <a:moveTo>
                    <a:pt x="0" y="0"/>
                  </a:moveTo>
                  <a:lnTo>
                    <a:pt x="1544290" y="1979383"/>
                  </a:lnTo>
                </a:path>
              </a:pathLst>
            </a:custGeom>
            <a:ln w="15463">
              <a:solidFill>
                <a:srgbClr val="F4DC00"/>
              </a:solidFill>
              <a:prstDash val="dot"/>
            </a:ln>
          </p:spPr>
          <p:txBody>
            <a:bodyPr wrap="square" lIns="0" tIns="0" rIns="0" bIns="0" rtlCol="0"/>
            <a:lstStyle/>
            <a:p>
              <a:endParaRPr/>
            </a:p>
          </p:txBody>
        </p:sp>
        <p:sp>
          <p:nvSpPr>
            <p:cNvPr id="127" name="object 127"/>
            <p:cNvSpPr/>
            <p:nvPr/>
          </p:nvSpPr>
          <p:spPr>
            <a:xfrm>
              <a:off x="3722980" y="748163"/>
              <a:ext cx="434975" cy="495300"/>
            </a:xfrm>
            <a:custGeom>
              <a:avLst/>
              <a:gdLst/>
              <a:ahLst/>
              <a:cxnLst/>
              <a:rect l="l" t="t" r="r" b="b"/>
              <a:pathLst>
                <a:path w="434975" h="495300">
                  <a:moveTo>
                    <a:pt x="0" y="0"/>
                  </a:moveTo>
                  <a:lnTo>
                    <a:pt x="434777" y="0"/>
                  </a:lnTo>
                  <a:lnTo>
                    <a:pt x="434777" y="494845"/>
                  </a:lnTo>
                  <a:lnTo>
                    <a:pt x="0" y="494845"/>
                  </a:lnTo>
                  <a:lnTo>
                    <a:pt x="0" y="0"/>
                  </a:lnTo>
                  <a:close/>
                </a:path>
              </a:pathLst>
            </a:custGeom>
            <a:ln w="5154">
              <a:solidFill>
                <a:srgbClr val="000000"/>
              </a:solidFill>
            </a:ln>
          </p:spPr>
          <p:txBody>
            <a:bodyPr wrap="square" lIns="0" tIns="0" rIns="0" bIns="0" rtlCol="0"/>
            <a:lstStyle/>
            <a:p>
              <a:endParaRPr/>
            </a:p>
          </p:txBody>
        </p:sp>
        <p:sp>
          <p:nvSpPr>
            <p:cNvPr id="128" name="object 128"/>
            <p:cNvSpPr/>
            <p:nvPr/>
          </p:nvSpPr>
          <p:spPr>
            <a:xfrm>
              <a:off x="3797207" y="847132"/>
              <a:ext cx="148590" cy="0"/>
            </a:xfrm>
            <a:custGeom>
              <a:avLst/>
              <a:gdLst/>
              <a:ahLst/>
              <a:cxnLst/>
              <a:rect l="l" t="t" r="r" b="b"/>
              <a:pathLst>
                <a:path w="148589">
                  <a:moveTo>
                    <a:pt x="0" y="0"/>
                  </a:moveTo>
                  <a:lnTo>
                    <a:pt x="148453" y="0"/>
                  </a:lnTo>
                </a:path>
              </a:pathLst>
            </a:custGeom>
            <a:ln w="15463">
              <a:solidFill>
                <a:srgbClr val="F05133"/>
              </a:solidFill>
            </a:ln>
          </p:spPr>
          <p:txBody>
            <a:bodyPr wrap="square" lIns="0" tIns="0" rIns="0" bIns="0" rtlCol="0"/>
            <a:lstStyle/>
            <a:p>
              <a:endParaRPr/>
            </a:p>
          </p:txBody>
        </p:sp>
        <p:sp>
          <p:nvSpPr>
            <p:cNvPr id="129" name="object 129"/>
            <p:cNvSpPr/>
            <p:nvPr/>
          </p:nvSpPr>
          <p:spPr>
            <a:xfrm>
              <a:off x="3797207" y="946101"/>
              <a:ext cx="148590" cy="0"/>
            </a:xfrm>
            <a:custGeom>
              <a:avLst/>
              <a:gdLst/>
              <a:ahLst/>
              <a:cxnLst/>
              <a:rect l="l" t="t" r="r" b="b"/>
              <a:pathLst>
                <a:path w="148589">
                  <a:moveTo>
                    <a:pt x="0" y="0"/>
                  </a:moveTo>
                  <a:lnTo>
                    <a:pt x="148453" y="0"/>
                  </a:lnTo>
                </a:path>
              </a:pathLst>
            </a:custGeom>
            <a:ln w="15463">
              <a:solidFill>
                <a:srgbClr val="4C721D"/>
              </a:solidFill>
              <a:prstDash val="dash"/>
            </a:ln>
          </p:spPr>
          <p:txBody>
            <a:bodyPr wrap="square" lIns="0" tIns="0" rIns="0" bIns="0" rtlCol="0"/>
            <a:lstStyle/>
            <a:p>
              <a:endParaRPr/>
            </a:p>
          </p:txBody>
        </p:sp>
        <p:sp>
          <p:nvSpPr>
            <p:cNvPr id="130" name="object 130"/>
            <p:cNvSpPr/>
            <p:nvPr/>
          </p:nvSpPr>
          <p:spPr>
            <a:xfrm>
              <a:off x="3797207" y="1045070"/>
              <a:ext cx="148590" cy="0"/>
            </a:xfrm>
            <a:custGeom>
              <a:avLst/>
              <a:gdLst/>
              <a:ahLst/>
              <a:cxnLst/>
              <a:rect l="l" t="t" r="r" b="b"/>
              <a:pathLst>
                <a:path w="148589">
                  <a:moveTo>
                    <a:pt x="0" y="0"/>
                  </a:moveTo>
                  <a:lnTo>
                    <a:pt x="148453" y="0"/>
                  </a:lnTo>
                </a:path>
              </a:pathLst>
            </a:custGeom>
            <a:ln w="15463">
              <a:solidFill>
                <a:srgbClr val="000000"/>
              </a:solidFill>
              <a:prstDash val="dot"/>
            </a:ln>
          </p:spPr>
          <p:txBody>
            <a:bodyPr wrap="square" lIns="0" tIns="0" rIns="0" bIns="0" rtlCol="0"/>
            <a:lstStyle/>
            <a:p>
              <a:endParaRPr/>
            </a:p>
          </p:txBody>
        </p:sp>
        <p:sp>
          <p:nvSpPr>
            <p:cNvPr id="131" name="object 131"/>
            <p:cNvSpPr/>
            <p:nvPr/>
          </p:nvSpPr>
          <p:spPr>
            <a:xfrm>
              <a:off x="3797207" y="1144040"/>
              <a:ext cx="148590" cy="0"/>
            </a:xfrm>
            <a:custGeom>
              <a:avLst/>
              <a:gdLst/>
              <a:ahLst/>
              <a:cxnLst/>
              <a:rect l="l" t="t" r="r" b="b"/>
              <a:pathLst>
                <a:path w="148589">
                  <a:moveTo>
                    <a:pt x="0" y="0"/>
                  </a:moveTo>
                  <a:lnTo>
                    <a:pt x="148453" y="0"/>
                  </a:lnTo>
                </a:path>
              </a:pathLst>
            </a:custGeom>
            <a:ln w="15463">
              <a:solidFill>
                <a:srgbClr val="F4DC00"/>
              </a:solidFill>
              <a:prstDash val="dot"/>
            </a:ln>
          </p:spPr>
          <p:txBody>
            <a:bodyPr wrap="square" lIns="0" tIns="0" rIns="0" bIns="0" rtlCol="0"/>
            <a:lstStyle/>
            <a:p>
              <a:endParaRPr/>
            </a:p>
          </p:txBody>
        </p:sp>
      </p:grpSp>
      <p:sp>
        <p:nvSpPr>
          <p:cNvPr id="132" name="object 132"/>
          <p:cNvSpPr txBox="1"/>
          <p:nvPr/>
        </p:nvSpPr>
        <p:spPr>
          <a:xfrm>
            <a:off x="4007188" y="781580"/>
            <a:ext cx="126364" cy="421640"/>
          </a:xfrm>
          <a:prstGeom prst="rect">
            <a:avLst/>
          </a:prstGeom>
        </p:spPr>
        <p:txBody>
          <a:bodyPr vert="horz" wrap="square" lIns="0" tIns="12700" rIns="0" bIns="0" rtlCol="0">
            <a:spAutoFit/>
          </a:bodyPr>
          <a:lstStyle/>
          <a:p>
            <a:pPr marL="12700">
              <a:lnSpc>
                <a:spcPct val="100000"/>
              </a:lnSpc>
              <a:spcBef>
                <a:spcPts val="100"/>
              </a:spcBef>
            </a:pPr>
            <a:r>
              <a:rPr sz="650" spc="-25" dirty="0">
                <a:latin typeface="Arial"/>
                <a:cs typeface="Arial"/>
              </a:rPr>
              <a:t>(a)</a:t>
            </a:r>
            <a:endParaRPr sz="650">
              <a:latin typeface="Arial"/>
              <a:cs typeface="Arial"/>
            </a:endParaRPr>
          </a:p>
          <a:p>
            <a:pPr marL="12700">
              <a:lnSpc>
                <a:spcPct val="100000"/>
              </a:lnSpc>
            </a:pPr>
            <a:r>
              <a:rPr sz="650" spc="-25" dirty="0">
                <a:latin typeface="Arial"/>
                <a:cs typeface="Arial"/>
              </a:rPr>
              <a:t>(b)</a:t>
            </a:r>
            <a:endParaRPr sz="650">
              <a:latin typeface="Arial"/>
              <a:cs typeface="Arial"/>
            </a:endParaRPr>
          </a:p>
          <a:p>
            <a:pPr marL="12700">
              <a:lnSpc>
                <a:spcPct val="100000"/>
              </a:lnSpc>
            </a:pPr>
            <a:r>
              <a:rPr sz="650" spc="-25" dirty="0">
                <a:latin typeface="Arial"/>
                <a:cs typeface="Arial"/>
              </a:rPr>
              <a:t>(c)</a:t>
            </a:r>
            <a:endParaRPr sz="650">
              <a:latin typeface="Arial"/>
              <a:cs typeface="Arial"/>
            </a:endParaRPr>
          </a:p>
          <a:p>
            <a:pPr marL="12700">
              <a:lnSpc>
                <a:spcPct val="100000"/>
              </a:lnSpc>
            </a:pPr>
            <a:r>
              <a:rPr sz="650" spc="-25" dirty="0">
                <a:latin typeface="Arial"/>
                <a:cs typeface="Arial"/>
              </a:rPr>
              <a:t>(d)</a:t>
            </a:r>
            <a:endParaRPr sz="650">
              <a:latin typeface="Arial"/>
              <a:cs typeface="Arial"/>
            </a:endParaRPr>
          </a:p>
        </p:txBody>
      </p:sp>
      <p:sp>
        <p:nvSpPr>
          <p:cNvPr id="133" name="object 133"/>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5</a:t>
            </a:r>
            <a:endParaRPr sz="750">
              <a:latin typeface="Arial"/>
              <a:cs typeface="Arial"/>
            </a:endParaRPr>
          </a:p>
        </p:txBody>
      </p:sp>
      <p:sp>
        <p:nvSpPr>
          <p:cNvPr id="134" name="Left Brace 133">
            <a:extLst>
              <a:ext uri="{FF2B5EF4-FFF2-40B4-BE49-F238E27FC236}">
                <a16:creationId xmlns:a16="http://schemas.microsoft.com/office/drawing/2014/main" id="{DC6667A9-A2A9-AA34-6694-01153444CC22}"/>
              </a:ext>
            </a:extLst>
          </p:cNvPr>
          <p:cNvSpPr/>
          <p:nvPr/>
        </p:nvSpPr>
        <p:spPr>
          <a:xfrm rot="16200000">
            <a:off x="3075622" y="1971042"/>
            <a:ext cx="228600" cy="2226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1484E575-6A3C-DB30-3C77-876FEEE15AF8}"/>
              </a:ext>
            </a:extLst>
          </p:cNvPr>
          <p:cNvSpPr txBox="1"/>
          <p:nvPr/>
        </p:nvSpPr>
        <p:spPr>
          <a:xfrm>
            <a:off x="2215937" y="3198815"/>
            <a:ext cx="1947969"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Plot different values of HS grad</a:t>
            </a:r>
          </a:p>
        </p:txBody>
      </p:sp>
      <p:cxnSp>
        <p:nvCxnSpPr>
          <p:cNvPr id="137" name="Straight Connector 136">
            <a:extLst>
              <a:ext uri="{FF2B5EF4-FFF2-40B4-BE49-F238E27FC236}">
                <a16:creationId xmlns:a16="http://schemas.microsoft.com/office/drawing/2014/main" id="{26C4AE4C-13BC-8BBF-E1EA-ABFA569CDBA3}"/>
              </a:ext>
            </a:extLst>
          </p:cNvPr>
          <p:cNvCxnSpPr>
            <a:cxnSpLocks/>
          </p:cNvCxnSpPr>
          <p:nvPr/>
        </p:nvCxnSpPr>
        <p:spPr>
          <a:xfrm flipV="1">
            <a:off x="3205383" y="1616663"/>
            <a:ext cx="0" cy="1023956"/>
          </a:xfrm>
          <a:prstGeom prst="line">
            <a:avLst/>
          </a:prstGeom>
        </p:spPr>
        <p:style>
          <a:lnRef idx="1">
            <a:schemeClr val="accent4"/>
          </a:lnRef>
          <a:fillRef idx="0">
            <a:schemeClr val="accent4"/>
          </a:fillRef>
          <a:effectRef idx="0">
            <a:schemeClr val="accent4"/>
          </a:effectRef>
          <a:fontRef idx="minor">
            <a:schemeClr val="tx1"/>
          </a:fontRef>
        </p:style>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anim calcmode="lin" valueType="num">
                                      <p:cBhvr additive="base">
                                        <p:cTn id="7" dur="500" fill="hold"/>
                                        <p:tgtEl>
                                          <p:spTgt spid="135"/>
                                        </p:tgtEl>
                                        <p:attrNameLst>
                                          <p:attrName>ppt_x</p:attrName>
                                        </p:attrNameLst>
                                      </p:cBhvr>
                                      <p:tavLst>
                                        <p:tav tm="0">
                                          <p:val>
                                            <p:strVal val="#ppt_x"/>
                                          </p:val>
                                        </p:tav>
                                        <p:tav tm="100000">
                                          <p:val>
                                            <p:strVal val="#ppt_x"/>
                                          </p:val>
                                        </p:tav>
                                      </p:tavLst>
                                    </p:anim>
                                    <p:anim calcmode="lin" valueType="num">
                                      <p:cBhvr additive="base">
                                        <p:cTn id="8" dur="500" fill="hold"/>
                                        <p:tgtEl>
                                          <p:spTgt spid="1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4"/>
                                        </p:tgtEl>
                                        <p:attrNameLst>
                                          <p:attrName>style.visibility</p:attrName>
                                        </p:attrNameLst>
                                      </p:cBhvr>
                                      <p:to>
                                        <p:strVal val="visible"/>
                                      </p:to>
                                    </p:set>
                                    <p:anim calcmode="lin" valueType="num">
                                      <p:cBhvr additive="base">
                                        <p:cTn id="11" dur="500" fill="hold"/>
                                        <p:tgtEl>
                                          <p:spTgt spid="134"/>
                                        </p:tgtEl>
                                        <p:attrNameLst>
                                          <p:attrName>ppt_x</p:attrName>
                                        </p:attrNameLst>
                                      </p:cBhvr>
                                      <p:tavLst>
                                        <p:tav tm="0">
                                          <p:val>
                                            <p:strVal val="#ppt_x"/>
                                          </p:val>
                                        </p:tav>
                                        <p:tav tm="100000">
                                          <p:val>
                                            <p:strVal val="#ppt_x"/>
                                          </p:val>
                                        </p:tav>
                                      </p:tavLst>
                                    </p:anim>
                                    <p:anim calcmode="lin" valueType="num">
                                      <p:cBhvr additive="base">
                                        <p:cTn id="12"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anim calcmode="lin" valueType="num">
                                      <p:cBhvr additive="base">
                                        <p:cTn id="17" dur="500" fill="hold"/>
                                        <p:tgtEl>
                                          <p:spTgt spid="137"/>
                                        </p:tgtEl>
                                        <p:attrNameLst>
                                          <p:attrName>ppt_x</p:attrName>
                                        </p:attrNameLst>
                                      </p:cBhvr>
                                      <p:tavLst>
                                        <p:tav tm="0">
                                          <p:val>
                                            <p:strVal val="#ppt_x"/>
                                          </p:val>
                                        </p:tav>
                                        <p:tav tm="100000">
                                          <p:val>
                                            <p:strVal val="#ppt_x"/>
                                          </p:val>
                                        </p:tav>
                                      </p:tavLst>
                                    </p:anim>
                                    <p:anim calcmode="lin" valueType="num">
                                      <p:cBhvr additive="base">
                                        <p:cTn id="18"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Residuals</a:t>
            </a:r>
          </a:p>
        </p:txBody>
      </p:sp>
      <p:grpSp>
        <p:nvGrpSpPr>
          <p:cNvPr id="3" name="object 3"/>
          <p:cNvGrpSpPr/>
          <p:nvPr/>
        </p:nvGrpSpPr>
        <p:grpSpPr>
          <a:xfrm>
            <a:off x="1271096" y="1163820"/>
            <a:ext cx="2405380" cy="1881505"/>
            <a:chOff x="1271096" y="1163820"/>
            <a:chExt cx="2405380" cy="1881505"/>
          </a:xfrm>
        </p:grpSpPr>
        <p:sp>
          <p:nvSpPr>
            <p:cNvPr id="4" name="object 4"/>
            <p:cNvSpPr/>
            <p:nvPr/>
          </p:nvSpPr>
          <p:spPr>
            <a:xfrm>
              <a:off x="1701252" y="1640791"/>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01252" y="1640791"/>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6" name="object 6"/>
            <p:cNvSpPr/>
            <p:nvPr/>
          </p:nvSpPr>
          <p:spPr>
            <a:xfrm>
              <a:off x="3393468"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393468"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8" name="object 8"/>
            <p:cNvSpPr/>
            <p:nvPr/>
          </p:nvSpPr>
          <p:spPr>
            <a:xfrm>
              <a:off x="2318081" y="1821998"/>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8081" y="1821998"/>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 name="object 10"/>
            <p:cNvSpPr/>
            <p:nvPr/>
          </p:nvSpPr>
          <p:spPr>
            <a:xfrm>
              <a:off x="1859446" y="116699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859446" y="116699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2" name="object 12"/>
            <p:cNvSpPr/>
            <p:nvPr/>
          </p:nvSpPr>
          <p:spPr>
            <a:xfrm>
              <a:off x="1891021" y="189167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891021" y="189167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4" name="object 14"/>
            <p:cNvSpPr/>
            <p:nvPr/>
          </p:nvSpPr>
          <p:spPr>
            <a:xfrm>
              <a:off x="3092947"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092947"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6" name="object 16"/>
            <p:cNvSpPr/>
            <p:nvPr/>
          </p:nvSpPr>
          <p:spPr>
            <a:xfrm>
              <a:off x="2903178" y="258846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903178" y="258846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8" name="object 18"/>
            <p:cNvSpPr/>
            <p:nvPr/>
          </p:nvSpPr>
          <p:spPr>
            <a:xfrm>
              <a:off x="3092947" y="254667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092947" y="254667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0" name="object 20"/>
            <p:cNvSpPr/>
            <p:nvPr/>
          </p:nvSpPr>
          <p:spPr>
            <a:xfrm>
              <a:off x="2665966" y="1334222"/>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65966" y="1334222"/>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22" name="object 22"/>
            <p:cNvSpPr/>
            <p:nvPr/>
          </p:nvSpPr>
          <p:spPr>
            <a:xfrm>
              <a:off x="2460408" y="1989225"/>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60408" y="1989225"/>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24" name="object 24"/>
            <p:cNvSpPr/>
            <p:nvPr/>
          </p:nvSpPr>
          <p:spPr>
            <a:xfrm>
              <a:off x="2523639" y="1989225"/>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523639" y="1989225"/>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6" name="object 26"/>
            <p:cNvSpPr/>
            <p:nvPr/>
          </p:nvSpPr>
          <p:spPr>
            <a:xfrm>
              <a:off x="3061371" y="21982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061371" y="21982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28" name="object 28"/>
            <p:cNvSpPr/>
            <p:nvPr/>
          </p:nvSpPr>
          <p:spPr>
            <a:xfrm>
              <a:off x="3013929" y="2031012"/>
              <a:ext cx="42545" cy="42545"/>
            </a:xfrm>
            <a:custGeom>
              <a:avLst/>
              <a:gdLst/>
              <a:ahLst/>
              <a:cxnLst/>
              <a:rect l="l" t="t" r="r" b="b"/>
              <a:pathLst>
                <a:path w="42544" h="42544">
                  <a:moveTo>
                    <a:pt x="21207" y="0"/>
                  </a:moveTo>
                  <a:lnTo>
                    <a:pt x="12956" y="1667"/>
                  </a:lnTo>
                  <a:lnTo>
                    <a:pt x="6215" y="6215"/>
                  </a:lnTo>
                  <a:lnTo>
                    <a:pt x="1667" y="12956"/>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013929" y="2031012"/>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30" name="object 30"/>
            <p:cNvSpPr/>
            <p:nvPr/>
          </p:nvSpPr>
          <p:spPr>
            <a:xfrm>
              <a:off x="2650178" y="21146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50178" y="21146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2" name="object 32"/>
            <p:cNvSpPr/>
            <p:nvPr/>
          </p:nvSpPr>
          <p:spPr>
            <a:xfrm>
              <a:off x="2729196"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729196"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4" name="object 34"/>
            <p:cNvSpPr/>
            <p:nvPr/>
          </p:nvSpPr>
          <p:spPr>
            <a:xfrm>
              <a:off x="3251141"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251141"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6" name="object 36"/>
            <p:cNvSpPr/>
            <p:nvPr/>
          </p:nvSpPr>
          <p:spPr>
            <a:xfrm>
              <a:off x="3077159"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077159"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8" name="object 38"/>
            <p:cNvSpPr/>
            <p:nvPr/>
          </p:nvSpPr>
          <p:spPr>
            <a:xfrm>
              <a:off x="2159888"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59888"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40" name="object 40"/>
            <p:cNvSpPr/>
            <p:nvPr/>
          </p:nvSpPr>
          <p:spPr>
            <a:xfrm>
              <a:off x="1685464" y="13063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685464" y="13063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2" name="object 42"/>
            <p:cNvSpPr/>
            <p:nvPr/>
          </p:nvSpPr>
          <p:spPr>
            <a:xfrm>
              <a:off x="2760850" y="210068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60850" y="210068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44" name="object 44"/>
            <p:cNvSpPr/>
            <p:nvPr/>
          </p:nvSpPr>
          <p:spPr>
            <a:xfrm>
              <a:off x="2919044" y="2658131"/>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919044" y="2658131"/>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46" name="object 46"/>
            <p:cNvSpPr/>
            <p:nvPr/>
          </p:nvSpPr>
          <p:spPr>
            <a:xfrm>
              <a:off x="283994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83994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8" name="object 48"/>
            <p:cNvSpPr/>
            <p:nvPr/>
          </p:nvSpPr>
          <p:spPr>
            <a:xfrm>
              <a:off x="2919044" y="224002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919044" y="224002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0" name="object 50"/>
            <p:cNvSpPr/>
            <p:nvPr/>
          </p:nvSpPr>
          <p:spPr>
            <a:xfrm>
              <a:off x="3551583" y="2769589"/>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51583" y="2769589"/>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2" name="object 52"/>
            <p:cNvSpPr/>
            <p:nvPr/>
          </p:nvSpPr>
          <p:spPr>
            <a:xfrm>
              <a:off x="1906888" y="12227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06888" y="12227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54" name="object 54"/>
            <p:cNvSpPr/>
            <p:nvPr/>
          </p:nvSpPr>
          <p:spPr>
            <a:xfrm>
              <a:off x="302971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02971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6" name="object 56"/>
            <p:cNvSpPr/>
            <p:nvPr/>
          </p:nvSpPr>
          <p:spPr>
            <a:xfrm>
              <a:off x="3314371" y="1766230"/>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314371" y="1766230"/>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8" name="object 58"/>
            <p:cNvSpPr/>
            <p:nvPr/>
          </p:nvSpPr>
          <p:spPr>
            <a:xfrm>
              <a:off x="3425122"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425122"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0" name="object 60"/>
            <p:cNvSpPr/>
            <p:nvPr/>
          </p:nvSpPr>
          <p:spPr>
            <a:xfrm>
              <a:off x="2602735" y="2518789"/>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02735" y="2518789"/>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2" name="object 62"/>
            <p:cNvSpPr/>
            <p:nvPr/>
          </p:nvSpPr>
          <p:spPr>
            <a:xfrm>
              <a:off x="3630680" y="289502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630680" y="289502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4" name="object 64"/>
            <p:cNvSpPr/>
            <p:nvPr/>
          </p:nvSpPr>
          <p:spPr>
            <a:xfrm>
              <a:off x="2697620" y="2588460"/>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97620" y="2588460"/>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6" name="object 66"/>
            <p:cNvSpPr/>
            <p:nvPr/>
          </p:nvSpPr>
          <p:spPr>
            <a:xfrm>
              <a:off x="1985906" y="119487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985906" y="119487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68" name="object 68"/>
            <p:cNvSpPr/>
            <p:nvPr/>
          </p:nvSpPr>
          <p:spPr>
            <a:xfrm>
              <a:off x="2381312" y="1724443"/>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81312" y="1724443"/>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0" name="object 70"/>
            <p:cNvSpPr/>
            <p:nvPr/>
          </p:nvSpPr>
          <p:spPr>
            <a:xfrm>
              <a:off x="1938464"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38464"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2" name="object 72"/>
            <p:cNvSpPr/>
            <p:nvPr/>
          </p:nvSpPr>
          <p:spPr>
            <a:xfrm>
              <a:off x="3251141" y="201710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251141" y="201710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4" name="object 74"/>
            <p:cNvSpPr/>
            <p:nvPr/>
          </p:nvSpPr>
          <p:spPr>
            <a:xfrm>
              <a:off x="2855735" y="226791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855735" y="226791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76" name="object 76"/>
            <p:cNvSpPr/>
            <p:nvPr/>
          </p:nvSpPr>
          <p:spPr>
            <a:xfrm>
              <a:off x="2618523" y="1626888"/>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618523" y="1626888"/>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8" name="object 78"/>
            <p:cNvSpPr/>
            <p:nvPr/>
          </p:nvSpPr>
          <p:spPr>
            <a:xfrm>
              <a:off x="2808293" y="211466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808293" y="211466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0" name="object 80"/>
            <p:cNvSpPr/>
            <p:nvPr/>
          </p:nvSpPr>
          <p:spPr>
            <a:xfrm>
              <a:off x="2665966" y="239334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65966" y="239334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2" name="object 82"/>
            <p:cNvSpPr/>
            <p:nvPr/>
          </p:nvSpPr>
          <p:spPr>
            <a:xfrm>
              <a:off x="1875233" y="224002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875233" y="224002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84" name="object 84"/>
            <p:cNvSpPr/>
            <p:nvPr/>
          </p:nvSpPr>
          <p:spPr>
            <a:xfrm>
              <a:off x="1843579" y="179411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843579" y="179411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6" name="object 86"/>
            <p:cNvSpPr/>
            <p:nvPr/>
          </p:nvSpPr>
          <p:spPr>
            <a:xfrm>
              <a:off x="3092947" y="2254007"/>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092947" y="2254007"/>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8" name="object 88"/>
            <p:cNvSpPr/>
            <p:nvPr/>
          </p:nvSpPr>
          <p:spPr>
            <a:xfrm>
              <a:off x="1875233" y="169655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875233" y="169655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0" name="object 90"/>
            <p:cNvSpPr/>
            <p:nvPr/>
          </p:nvSpPr>
          <p:spPr>
            <a:xfrm>
              <a:off x="1274271" y="154323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274271" y="154323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2" name="object 92"/>
            <p:cNvSpPr/>
            <p:nvPr/>
          </p:nvSpPr>
          <p:spPr>
            <a:xfrm>
              <a:off x="3203698" y="237936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3698" y="237936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94" name="object 94"/>
            <p:cNvSpPr/>
            <p:nvPr/>
          </p:nvSpPr>
          <p:spPr>
            <a:xfrm>
              <a:off x="3124602" y="229579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124602" y="229579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6" name="object 96"/>
            <p:cNvSpPr/>
            <p:nvPr/>
          </p:nvSpPr>
          <p:spPr>
            <a:xfrm>
              <a:off x="2950620"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950620"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8" name="object 98"/>
            <p:cNvSpPr/>
            <p:nvPr/>
          </p:nvSpPr>
          <p:spPr>
            <a:xfrm>
              <a:off x="3156256" y="2170354"/>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156256" y="2170354"/>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00" name="object 100"/>
            <p:cNvSpPr/>
            <p:nvPr/>
          </p:nvSpPr>
          <p:spPr>
            <a:xfrm>
              <a:off x="1511482" y="144568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511482" y="144568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2" name="object 102"/>
            <p:cNvSpPr/>
            <p:nvPr/>
          </p:nvSpPr>
          <p:spPr>
            <a:xfrm>
              <a:off x="3077159" y="247692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3077159" y="247692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4" name="object 104"/>
            <p:cNvSpPr/>
            <p:nvPr/>
          </p:nvSpPr>
          <p:spPr>
            <a:xfrm>
              <a:off x="3440910"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440910"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6" name="object 106"/>
            <p:cNvSpPr/>
            <p:nvPr/>
          </p:nvSpPr>
          <p:spPr>
            <a:xfrm>
              <a:off x="1738326" y="2985358"/>
              <a:ext cx="1581785" cy="57150"/>
            </a:xfrm>
            <a:custGeom>
              <a:avLst/>
              <a:gdLst/>
              <a:ahLst/>
              <a:cxnLst/>
              <a:rect l="l" t="t" r="r" b="b"/>
              <a:pathLst>
                <a:path w="1581785" h="57150">
                  <a:moveTo>
                    <a:pt x="0" y="0"/>
                  </a:moveTo>
                  <a:lnTo>
                    <a:pt x="1581464" y="0"/>
                  </a:lnTo>
                </a:path>
                <a:path w="1581785" h="57150">
                  <a:moveTo>
                    <a:pt x="0" y="0"/>
                  </a:moveTo>
                  <a:lnTo>
                    <a:pt x="0" y="56553"/>
                  </a:lnTo>
                </a:path>
                <a:path w="1581785" h="57150">
                  <a:moveTo>
                    <a:pt x="790732" y="0"/>
                  </a:moveTo>
                  <a:lnTo>
                    <a:pt x="790732" y="56553"/>
                  </a:lnTo>
                </a:path>
                <a:path w="1581785" h="57150">
                  <a:moveTo>
                    <a:pt x="1581464" y="0"/>
                  </a:moveTo>
                  <a:lnTo>
                    <a:pt x="1581464" y="56553"/>
                  </a:lnTo>
                </a:path>
              </a:pathLst>
            </a:custGeom>
            <a:ln w="5891">
              <a:solidFill>
                <a:srgbClr val="000000"/>
              </a:solidFill>
            </a:ln>
          </p:spPr>
          <p:txBody>
            <a:bodyPr wrap="square" lIns="0" tIns="0" rIns="0" bIns="0" rtlCol="0"/>
            <a:lstStyle/>
            <a:p>
              <a:endParaRPr/>
            </a:p>
          </p:txBody>
        </p:sp>
      </p:grpSp>
      <p:sp>
        <p:nvSpPr>
          <p:cNvPr id="107" name="object 107"/>
          <p:cNvSpPr txBox="1"/>
          <p:nvPr/>
        </p:nvSpPr>
        <p:spPr>
          <a:xfrm>
            <a:off x="1647001"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80</a:t>
            </a:r>
            <a:endParaRPr sz="1100">
              <a:latin typeface="Arial"/>
              <a:cs typeface="Arial"/>
            </a:endParaRPr>
          </a:p>
        </p:txBody>
      </p:sp>
      <p:sp>
        <p:nvSpPr>
          <p:cNvPr id="108" name="object 108"/>
          <p:cNvSpPr txBox="1"/>
          <p:nvPr/>
        </p:nvSpPr>
        <p:spPr>
          <a:xfrm>
            <a:off x="3228465"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90</a:t>
            </a:r>
            <a:endParaRPr sz="1100">
              <a:latin typeface="Arial"/>
              <a:cs typeface="Arial"/>
            </a:endParaRPr>
          </a:p>
        </p:txBody>
      </p:sp>
      <p:sp>
        <p:nvSpPr>
          <p:cNvPr id="109" name="object 109"/>
          <p:cNvSpPr/>
          <p:nvPr/>
        </p:nvSpPr>
        <p:spPr>
          <a:xfrm>
            <a:off x="1144668" y="1188203"/>
            <a:ext cx="57150" cy="1672589"/>
          </a:xfrm>
          <a:custGeom>
            <a:avLst/>
            <a:gdLst/>
            <a:ahLst/>
            <a:cxnLst/>
            <a:rect l="l" t="t" r="r" b="b"/>
            <a:pathLst>
              <a:path w="57150" h="1672589">
                <a:moveTo>
                  <a:pt x="56553" y="1672264"/>
                </a:moveTo>
                <a:lnTo>
                  <a:pt x="56553" y="0"/>
                </a:lnTo>
              </a:path>
              <a:path w="57150" h="1672589">
                <a:moveTo>
                  <a:pt x="56553" y="1672264"/>
                </a:moveTo>
                <a:lnTo>
                  <a:pt x="0" y="1672264"/>
                </a:lnTo>
              </a:path>
              <a:path w="57150" h="1672589">
                <a:moveTo>
                  <a:pt x="56553" y="1393580"/>
                </a:moveTo>
                <a:lnTo>
                  <a:pt x="0" y="1393580"/>
                </a:lnTo>
              </a:path>
              <a:path w="57150" h="1672589">
                <a:moveTo>
                  <a:pt x="56553" y="1114895"/>
                </a:moveTo>
                <a:lnTo>
                  <a:pt x="0" y="1114895"/>
                </a:lnTo>
              </a:path>
              <a:path w="57150" h="1672589">
                <a:moveTo>
                  <a:pt x="56553" y="836132"/>
                </a:moveTo>
                <a:lnTo>
                  <a:pt x="0" y="836132"/>
                </a:lnTo>
              </a:path>
              <a:path w="57150" h="1672589">
                <a:moveTo>
                  <a:pt x="56553" y="557447"/>
                </a:moveTo>
                <a:lnTo>
                  <a:pt x="0" y="557447"/>
                </a:lnTo>
              </a:path>
              <a:path w="57150" h="1672589">
                <a:moveTo>
                  <a:pt x="56553" y="278684"/>
                </a:moveTo>
                <a:lnTo>
                  <a:pt x="0" y="278684"/>
                </a:lnTo>
              </a:path>
              <a:path w="57150" h="1672589">
                <a:moveTo>
                  <a:pt x="56553" y="0"/>
                </a:moveTo>
                <a:lnTo>
                  <a:pt x="0" y="0"/>
                </a:lnTo>
              </a:path>
            </a:pathLst>
          </a:custGeom>
          <a:ln w="5891">
            <a:solidFill>
              <a:srgbClr val="000000"/>
            </a:solidFill>
          </a:ln>
        </p:spPr>
        <p:txBody>
          <a:bodyPr wrap="square" lIns="0" tIns="0" rIns="0" bIns="0" rtlCol="0"/>
          <a:lstStyle/>
          <a:p>
            <a:endParaRPr/>
          </a:p>
        </p:txBody>
      </p:sp>
      <p:sp>
        <p:nvSpPr>
          <p:cNvPr id="110" name="object 110"/>
          <p:cNvSpPr txBox="1"/>
          <p:nvPr/>
        </p:nvSpPr>
        <p:spPr>
          <a:xfrm>
            <a:off x="347294" y="493950"/>
            <a:ext cx="3401695" cy="2458720"/>
          </a:xfrm>
          <a:prstGeom prst="rect">
            <a:avLst/>
          </a:prstGeom>
        </p:spPr>
        <p:txBody>
          <a:bodyPr vert="horz" wrap="square" lIns="0" tIns="11430" rIns="0" bIns="0" rtlCol="0">
            <a:spAutoFit/>
          </a:bodyPr>
          <a:lstStyle/>
          <a:p>
            <a:pPr marL="12700" marR="5080">
              <a:lnSpc>
                <a:spcPct val="129900"/>
              </a:lnSpc>
              <a:spcBef>
                <a:spcPts val="90"/>
              </a:spcBef>
            </a:pPr>
            <a:r>
              <a:rPr sz="1000" i="1" dirty="0">
                <a:solidFill>
                  <a:srgbClr val="0DA5FF"/>
                </a:solidFill>
                <a:latin typeface="Arial"/>
                <a:cs typeface="Arial"/>
              </a:rPr>
              <a:t>Residuals</a:t>
            </a:r>
            <a:r>
              <a:rPr sz="1000" i="1" spc="70" dirty="0">
                <a:solidFill>
                  <a:srgbClr val="0DA5FF"/>
                </a:solidFill>
                <a:latin typeface="Arial"/>
                <a:cs typeface="Arial"/>
              </a:rPr>
              <a:t> </a:t>
            </a:r>
            <a:r>
              <a:rPr sz="1000" dirty="0">
                <a:solidFill>
                  <a:srgbClr val="22373A"/>
                </a:solidFill>
                <a:latin typeface="Arial"/>
                <a:cs typeface="Arial"/>
              </a:rPr>
              <a:t>are</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leftovers</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fit:</a:t>
            </a:r>
            <a:r>
              <a:rPr sz="1000" spc="155" dirty="0">
                <a:solidFill>
                  <a:srgbClr val="22373A"/>
                </a:solidFill>
                <a:latin typeface="Arial"/>
                <a:cs typeface="Arial"/>
              </a:rPr>
              <a:t> </a:t>
            </a:r>
            <a:r>
              <a:rPr sz="1000" dirty="0">
                <a:solidFill>
                  <a:srgbClr val="22373A"/>
                </a:solidFill>
                <a:latin typeface="Arial"/>
                <a:cs typeface="Arial"/>
              </a:rPr>
              <a:t>Data</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Fit</a:t>
            </a:r>
            <a:r>
              <a:rPr sz="1000" spc="75" dirty="0">
                <a:solidFill>
                  <a:srgbClr val="22373A"/>
                </a:solidFill>
                <a:latin typeface="Arial"/>
                <a:cs typeface="Arial"/>
              </a:rPr>
              <a:t> </a:t>
            </a:r>
            <a:r>
              <a:rPr sz="1000" spc="-50" dirty="0">
                <a:solidFill>
                  <a:srgbClr val="22373A"/>
                </a:solidFill>
                <a:latin typeface="Arial"/>
                <a:cs typeface="Arial"/>
              </a:rPr>
              <a:t>+ </a:t>
            </a:r>
            <a:r>
              <a:rPr sz="1000" spc="-10" dirty="0">
                <a:solidFill>
                  <a:srgbClr val="22373A"/>
                </a:solidFill>
                <a:latin typeface="Arial"/>
                <a:cs typeface="Arial"/>
              </a:rPr>
              <a:t>Residual</a:t>
            </a:r>
            <a:endParaRPr sz="1000">
              <a:latin typeface="Arial"/>
              <a:cs typeface="Arial"/>
            </a:endParaRPr>
          </a:p>
          <a:p>
            <a:pPr>
              <a:lnSpc>
                <a:spcPct val="100000"/>
              </a:lnSpc>
              <a:spcBef>
                <a:spcPts val="405"/>
              </a:spcBef>
            </a:pPr>
            <a:endParaRPr sz="1000">
              <a:latin typeface="Arial"/>
              <a:cs typeface="Arial"/>
            </a:endParaRPr>
          </a:p>
          <a:p>
            <a:pPr marL="617220">
              <a:lnSpc>
                <a:spcPct val="100000"/>
              </a:lnSpc>
              <a:spcBef>
                <a:spcPts val="5"/>
              </a:spcBef>
            </a:pPr>
            <a:r>
              <a:rPr sz="1100" spc="-25" dirty="0">
                <a:latin typeface="Arial"/>
                <a:cs typeface="Arial"/>
              </a:rPr>
              <a:t>18</a:t>
            </a:r>
            <a:endParaRPr sz="1100">
              <a:latin typeface="Arial"/>
              <a:cs typeface="Arial"/>
            </a:endParaRPr>
          </a:p>
          <a:p>
            <a:pPr marL="617220">
              <a:lnSpc>
                <a:spcPct val="100000"/>
              </a:lnSpc>
              <a:spcBef>
                <a:spcPts val="875"/>
              </a:spcBef>
            </a:pPr>
            <a:r>
              <a:rPr sz="1100" spc="-25" dirty="0">
                <a:latin typeface="Arial"/>
                <a:cs typeface="Arial"/>
              </a:rPr>
              <a:t>16</a:t>
            </a:r>
            <a:endParaRPr sz="1100">
              <a:latin typeface="Arial"/>
              <a:cs typeface="Arial"/>
            </a:endParaRPr>
          </a:p>
          <a:p>
            <a:pPr marL="617220">
              <a:lnSpc>
                <a:spcPct val="100000"/>
              </a:lnSpc>
              <a:spcBef>
                <a:spcPts val="869"/>
              </a:spcBef>
            </a:pPr>
            <a:r>
              <a:rPr sz="1100" spc="-25" dirty="0">
                <a:latin typeface="Arial"/>
                <a:cs typeface="Arial"/>
              </a:rPr>
              <a:t>14</a:t>
            </a:r>
            <a:endParaRPr sz="1100">
              <a:latin typeface="Arial"/>
              <a:cs typeface="Arial"/>
            </a:endParaRPr>
          </a:p>
          <a:p>
            <a:pPr marL="617220">
              <a:lnSpc>
                <a:spcPct val="100000"/>
              </a:lnSpc>
              <a:spcBef>
                <a:spcPts val="875"/>
              </a:spcBef>
            </a:pPr>
            <a:r>
              <a:rPr sz="1100" spc="-25" dirty="0">
                <a:latin typeface="Arial"/>
                <a:cs typeface="Arial"/>
              </a:rPr>
              <a:t>12</a:t>
            </a:r>
            <a:endParaRPr sz="1100">
              <a:latin typeface="Arial"/>
              <a:cs typeface="Arial"/>
            </a:endParaRPr>
          </a:p>
          <a:p>
            <a:pPr marL="617220">
              <a:lnSpc>
                <a:spcPct val="100000"/>
              </a:lnSpc>
              <a:spcBef>
                <a:spcPts val="875"/>
              </a:spcBef>
            </a:pPr>
            <a:r>
              <a:rPr sz="1100" spc="-25" dirty="0">
                <a:latin typeface="Arial"/>
                <a:cs typeface="Arial"/>
              </a:rPr>
              <a:t>10</a:t>
            </a:r>
            <a:endParaRPr sz="1100">
              <a:latin typeface="Arial"/>
              <a:cs typeface="Arial"/>
            </a:endParaRPr>
          </a:p>
          <a:p>
            <a:pPr marL="695960">
              <a:lnSpc>
                <a:spcPct val="100000"/>
              </a:lnSpc>
              <a:spcBef>
                <a:spcPts val="875"/>
              </a:spcBef>
            </a:pPr>
            <a:r>
              <a:rPr sz="1100" spc="-50" dirty="0">
                <a:latin typeface="Arial"/>
                <a:cs typeface="Arial"/>
              </a:rPr>
              <a:t>8</a:t>
            </a:r>
            <a:endParaRPr sz="1100">
              <a:latin typeface="Arial"/>
              <a:cs typeface="Arial"/>
            </a:endParaRPr>
          </a:p>
          <a:p>
            <a:pPr marL="695960">
              <a:lnSpc>
                <a:spcPct val="100000"/>
              </a:lnSpc>
              <a:spcBef>
                <a:spcPts val="875"/>
              </a:spcBef>
            </a:pPr>
            <a:r>
              <a:rPr sz="1100" spc="-50" dirty="0">
                <a:latin typeface="Arial"/>
                <a:cs typeface="Arial"/>
              </a:rPr>
              <a:t>6</a:t>
            </a:r>
            <a:endParaRPr sz="1100">
              <a:latin typeface="Arial"/>
              <a:cs typeface="Arial"/>
            </a:endParaRPr>
          </a:p>
        </p:txBody>
      </p:sp>
      <p:sp>
        <p:nvSpPr>
          <p:cNvPr id="111" name="object 111"/>
          <p:cNvSpPr/>
          <p:nvPr/>
        </p:nvSpPr>
        <p:spPr>
          <a:xfrm>
            <a:off x="1201222" y="1119082"/>
            <a:ext cx="2545080" cy="1866900"/>
          </a:xfrm>
          <a:custGeom>
            <a:avLst/>
            <a:gdLst/>
            <a:ahLst/>
            <a:cxnLst/>
            <a:rect l="l" t="t" r="r" b="b"/>
            <a:pathLst>
              <a:path w="2545079" h="1866900">
                <a:moveTo>
                  <a:pt x="0" y="1866275"/>
                </a:moveTo>
                <a:lnTo>
                  <a:pt x="2544921" y="1866275"/>
                </a:lnTo>
                <a:lnTo>
                  <a:pt x="2544921" y="0"/>
                </a:lnTo>
                <a:lnTo>
                  <a:pt x="0" y="0"/>
                </a:lnTo>
                <a:lnTo>
                  <a:pt x="0" y="1866275"/>
                </a:lnTo>
              </a:path>
            </a:pathLst>
          </a:custGeom>
          <a:ln w="5891">
            <a:solidFill>
              <a:srgbClr val="000000"/>
            </a:solidFill>
          </a:ln>
        </p:spPr>
        <p:txBody>
          <a:bodyPr wrap="square" lIns="0" tIns="0" rIns="0" bIns="0" rtlCol="0"/>
          <a:lstStyle/>
          <a:p>
            <a:endParaRPr/>
          </a:p>
        </p:txBody>
      </p:sp>
      <p:sp>
        <p:nvSpPr>
          <p:cNvPr id="112" name="object 112"/>
          <p:cNvSpPr txBox="1"/>
          <p:nvPr/>
        </p:nvSpPr>
        <p:spPr>
          <a:xfrm>
            <a:off x="2119853" y="2967002"/>
            <a:ext cx="708025" cy="433070"/>
          </a:xfrm>
          <a:prstGeom prst="rect">
            <a:avLst/>
          </a:prstGeom>
        </p:spPr>
        <p:txBody>
          <a:bodyPr vert="horz" wrap="square" lIns="0" tIns="48260" rIns="0" bIns="0" rtlCol="0">
            <a:spAutoFit/>
          </a:bodyPr>
          <a:lstStyle/>
          <a:p>
            <a:pPr marL="330200">
              <a:lnSpc>
                <a:spcPct val="100000"/>
              </a:lnSpc>
              <a:spcBef>
                <a:spcPts val="380"/>
              </a:spcBef>
            </a:pPr>
            <a:r>
              <a:rPr sz="1100" spc="-25" dirty="0">
                <a:latin typeface="Arial"/>
                <a:cs typeface="Arial"/>
              </a:rPr>
              <a:t>85</a:t>
            </a:r>
            <a:endParaRPr sz="1100">
              <a:latin typeface="Arial"/>
              <a:cs typeface="Arial"/>
            </a:endParaRPr>
          </a:p>
          <a:p>
            <a:pPr marL="12700">
              <a:lnSpc>
                <a:spcPct val="100000"/>
              </a:lnSpc>
              <a:spcBef>
                <a:spcPts val="280"/>
              </a:spcBef>
            </a:pPr>
            <a:r>
              <a:rPr sz="1100" dirty="0">
                <a:latin typeface="Arial"/>
                <a:cs typeface="Arial"/>
              </a:rPr>
              <a:t>% HS</a:t>
            </a:r>
            <a:r>
              <a:rPr sz="1100" spc="5" dirty="0">
                <a:latin typeface="Arial"/>
                <a:cs typeface="Arial"/>
              </a:rPr>
              <a:t> </a:t>
            </a:r>
            <a:r>
              <a:rPr sz="1100" spc="-20" dirty="0">
                <a:latin typeface="Arial"/>
                <a:cs typeface="Arial"/>
              </a:rPr>
              <a:t>grad</a:t>
            </a:r>
            <a:endParaRPr sz="1100">
              <a:latin typeface="Arial"/>
              <a:cs typeface="Arial"/>
            </a:endParaRPr>
          </a:p>
        </p:txBody>
      </p:sp>
      <p:sp>
        <p:nvSpPr>
          <p:cNvPr id="113" name="object 113"/>
          <p:cNvSpPr txBox="1"/>
          <p:nvPr/>
        </p:nvSpPr>
        <p:spPr>
          <a:xfrm>
            <a:off x="755140" y="1650524"/>
            <a:ext cx="183515" cy="803910"/>
          </a:xfrm>
          <a:prstGeom prst="rect">
            <a:avLst/>
          </a:prstGeom>
        </p:spPr>
        <p:txBody>
          <a:bodyPr vert="vert270" wrap="square" lIns="0" tIns="635" rIns="0" bIns="0" rtlCol="0">
            <a:spAutoFit/>
          </a:bodyPr>
          <a:lstStyle/>
          <a:p>
            <a:pPr marL="12700">
              <a:lnSpc>
                <a:spcPct val="100000"/>
              </a:lnSpc>
              <a:spcBef>
                <a:spcPts val="5"/>
              </a:spcBef>
            </a:pPr>
            <a:r>
              <a:rPr sz="1100" dirty="0">
                <a:latin typeface="Arial"/>
                <a:cs typeface="Arial"/>
              </a:rPr>
              <a:t>% in</a:t>
            </a:r>
            <a:r>
              <a:rPr sz="1100" spc="5" dirty="0">
                <a:latin typeface="Arial"/>
                <a:cs typeface="Arial"/>
              </a:rPr>
              <a:t> </a:t>
            </a:r>
            <a:r>
              <a:rPr sz="1100" spc="-10" dirty="0">
                <a:latin typeface="Arial"/>
                <a:cs typeface="Arial"/>
              </a:rPr>
              <a:t>poverty</a:t>
            </a:r>
            <a:endParaRPr sz="1100">
              <a:latin typeface="Arial"/>
              <a:cs typeface="Arial"/>
            </a:endParaRPr>
          </a:p>
        </p:txBody>
      </p:sp>
      <p:grpSp>
        <p:nvGrpSpPr>
          <p:cNvPr id="114" name="object 114"/>
          <p:cNvGrpSpPr/>
          <p:nvPr/>
        </p:nvGrpSpPr>
        <p:grpSpPr>
          <a:xfrm>
            <a:off x="1192385" y="1188203"/>
            <a:ext cx="2562860" cy="1728470"/>
            <a:chOff x="1192385" y="1188203"/>
            <a:chExt cx="2562860" cy="1728470"/>
          </a:xfrm>
        </p:grpSpPr>
        <p:sp>
          <p:nvSpPr>
            <p:cNvPr id="115" name="object 115"/>
            <p:cNvSpPr/>
            <p:nvPr/>
          </p:nvSpPr>
          <p:spPr>
            <a:xfrm>
              <a:off x="1295478" y="1188203"/>
              <a:ext cx="2356485" cy="1728470"/>
            </a:xfrm>
            <a:custGeom>
              <a:avLst/>
              <a:gdLst/>
              <a:ahLst/>
              <a:cxnLst/>
              <a:rect l="l" t="t" r="r" b="b"/>
              <a:pathLst>
                <a:path w="2356485" h="1728470">
                  <a:moveTo>
                    <a:pt x="426981" y="473795"/>
                  </a:moveTo>
                  <a:lnTo>
                    <a:pt x="426981" y="397761"/>
                  </a:lnTo>
                </a:path>
                <a:path w="2356485" h="1728470">
                  <a:moveTo>
                    <a:pt x="2119197" y="1351793"/>
                  </a:moveTo>
                  <a:lnTo>
                    <a:pt x="2119197" y="1324066"/>
                  </a:lnTo>
                </a:path>
                <a:path w="2356485" h="1728470">
                  <a:moveTo>
                    <a:pt x="1043810" y="655003"/>
                  </a:moveTo>
                  <a:lnTo>
                    <a:pt x="1043810" y="735356"/>
                  </a:lnTo>
                </a:path>
                <a:path w="2356485" h="1728470">
                  <a:moveTo>
                    <a:pt x="585174" y="0"/>
                  </a:moveTo>
                  <a:lnTo>
                    <a:pt x="585174" y="484320"/>
                  </a:lnTo>
                </a:path>
                <a:path w="2356485" h="1728470">
                  <a:moveTo>
                    <a:pt x="616750" y="724674"/>
                  </a:moveTo>
                  <a:lnTo>
                    <a:pt x="616750" y="501679"/>
                  </a:lnTo>
                </a:path>
                <a:path w="2356485" h="1728470">
                  <a:moveTo>
                    <a:pt x="1818676" y="1198469"/>
                  </a:moveTo>
                  <a:lnTo>
                    <a:pt x="1818676" y="1159588"/>
                  </a:lnTo>
                </a:path>
                <a:path w="2356485" h="1728470">
                  <a:moveTo>
                    <a:pt x="1628906" y="1421464"/>
                  </a:moveTo>
                  <a:lnTo>
                    <a:pt x="1628906" y="1055671"/>
                  </a:lnTo>
                </a:path>
                <a:path w="2356485" h="1728470">
                  <a:moveTo>
                    <a:pt x="1818676" y="1379677"/>
                  </a:moveTo>
                  <a:lnTo>
                    <a:pt x="1818676" y="1159588"/>
                  </a:lnTo>
                </a:path>
                <a:path w="2356485" h="1728470">
                  <a:moveTo>
                    <a:pt x="1391695" y="167226"/>
                  </a:moveTo>
                  <a:lnTo>
                    <a:pt x="1391695" y="925833"/>
                  </a:lnTo>
                </a:path>
                <a:path w="2356485" h="1728470">
                  <a:moveTo>
                    <a:pt x="1186137" y="822229"/>
                  </a:moveTo>
                  <a:lnTo>
                    <a:pt x="1186137" y="813275"/>
                  </a:lnTo>
                </a:path>
                <a:path w="2356485" h="1728470">
                  <a:moveTo>
                    <a:pt x="1249367" y="822229"/>
                  </a:moveTo>
                  <a:lnTo>
                    <a:pt x="1249367" y="847914"/>
                  </a:lnTo>
                </a:path>
                <a:path w="2356485" h="1728470">
                  <a:moveTo>
                    <a:pt x="1787100" y="1031243"/>
                  </a:moveTo>
                  <a:lnTo>
                    <a:pt x="1787100" y="1142308"/>
                  </a:lnTo>
                </a:path>
                <a:path w="2356485" h="1728470">
                  <a:moveTo>
                    <a:pt x="1739658" y="864016"/>
                  </a:moveTo>
                  <a:lnTo>
                    <a:pt x="1739658" y="1116309"/>
                  </a:lnTo>
                </a:path>
                <a:path w="2356485" h="1728470">
                  <a:moveTo>
                    <a:pt x="1375907" y="947669"/>
                  </a:moveTo>
                  <a:lnTo>
                    <a:pt x="1375907" y="917192"/>
                  </a:lnTo>
                </a:path>
                <a:path w="2356485" h="1728470">
                  <a:moveTo>
                    <a:pt x="1454925" y="1296024"/>
                  </a:moveTo>
                  <a:lnTo>
                    <a:pt x="1454925" y="960472"/>
                  </a:lnTo>
                </a:path>
                <a:path w="2356485" h="1728470">
                  <a:moveTo>
                    <a:pt x="1976869" y="1351793"/>
                  </a:moveTo>
                  <a:lnTo>
                    <a:pt x="1976869" y="1246147"/>
                  </a:lnTo>
                </a:path>
                <a:path w="2356485" h="1728470">
                  <a:moveTo>
                    <a:pt x="1802888" y="1198469"/>
                  </a:moveTo>
                  <a:lnTo>
                    <a:pt x="1802888" y="1150948"/>
                  </a:lnTo>
                </a:path>
                <a:path w="2356485" h="1728470">
                  <a:moveTo>
                    <a:pt x="885617" y="682887"/>
                  </a:moveTo>
                  <a:lnTo>
                    <a:pt x="885617" y="648797"/>
                  </a:lnTo>
                </a:path>
                <a:path w="2356485" h="1728470">
                  <a:moveTo>
                    <a:pt x="411193" y="139342"/>
                  </a:moveTo>
                  <a:lnTo>
                    <a:pt x="411193" y="389121"/>
                  </a:lnTo>
                </a:path>
                <a:path w="2356485" h="1728470">
                  <a:moveTo>
                    <a:pt x="1486579" y="933687"/>
                  </a:moveTo>
                  <a:lnTo>
                    <a:pt x="1486579" y="977752"/>
                  </a:lnTo>
                </a:path>
                <a:path w="2356485" h="1728470">
                  <a:moveTo>
                    <a:pt x="1644773" y="1491135"/>
                  </a:moveTo>
                  <a:lnTo>
                    <a:pt x="1644773" y="1064389"/>
                  </a:lnTo>
                </a:path>
                <a:path w="2356485" h="1728470">
                  <a:moveTo>
                    <a:pt x="1565676" y="1170585"/>
                  </a:moveTo>
                  <a:lnTo>
                    <a:pt x="1565676" y="1021110"/>
                  </a:lnTo>
                </a:path>
                <a:path w="2356485" h="1728470">
                  <a:moveTo>
                    <a:pt x="1644773" y="1073030"/>
                  </a:moveTo>
                  <a:lnTo>
                    <a:pt x="1644773" y="1064389"/>
                  </a:lnTo>
                </a:path>
                <a:path w="2356485" h="1728470">
                  <a:moveTo>
                    <a:pt x="2277312" y="1602593"/>
                  </a:moveTo>
                  <a:lnTo>
                    <a:pt x="2277312" y="1410624"/>
                  </a:lnTo>
                </a:path>
                <a:path w="2356485" h="1728470">
                  <a:moveTo>
                    <a:pt x="632617" y="55768"/>
                  </a:moveTo>
                  <a:lnTo>
                    <a:pt x="632617" y="510319"/>
                  </a:lnTo>
                </a:path>
                <a:path w="2356485" h="1728470">
                  <a:moveTo>
                    <a:pt x="1755446" y="1170585"/>
                  </a:moveTo>
                  <a:lnTo>
                    <a:pt x="1755446" y="1124949"/>
                  </a:lnTo>
                </a:path>
                <a:path w="2356485" h="1728470">
                  <a:moveTo>
                    <a:pt x="2040100" y="599234"/>
                  </a:moveTo>
                  <a:lnTo>
                    <a:pt x="2040100" y="1280786"/>
                  </a:lnTo>
                </a:path>
                <a:path w="2356485" h="1728470">
                  <a:moveTo>
                    <a:pt x="2150851" y="1184566"/>
                  </a:moveTo>
                  <a:lnTo>
                    <a:pt x="2150851" y="1341425"/>
                  </a:lnTo>
                </a:path>
                <a:path w="2356485" h="1728470">
                  <a:moveTo>
                    <a:pt x="1328464" y="1351793"/>
                  </a:moveTo>
                  <a:lnTo>
                    <a:pt x="1328464" y="891193"/>
                  </a:lnTo>
                </a:path>
                <a:path w="2356485" h="1728470">
                  <a:moveTo>
                    <a:pt x="2356408" y="1728033"/>
                  </a:moveTo>
                  <a:lnTo>
                    <a:pt x="2356408" y="1453904"/>
                  </a:lnTo>
                </a:path>
                <a:path w="2356485" h="1728470">
                  <a:moveTo>
                    <a:pt x="1423349" y="1421464"/>
                  </a:moveTo>
                  <a:lnTo>
                    <a:pt x="1423349" y="943191"/>
                  </a:lnTo>
                </a:path>
                <a:path w="2356485" h="1728470">
                  <a:moveTo>
                    <a:pt x="711635" y="27884"/>
                  </a:moveTo>
                  <a:lnTo>
                    <a:pt x="711635" y="553598"/>
                  </a:lnTo>
                </a:path>
                <a:path w="2356485" h="1728470">
                  <a:moveTo>
                    <a:pt x="1107040" y="557447"/>
                  </a:moveTo>
                  <a:lnTo>
                    <a:pt x="1107040" y="769995"/>
                  </a:lnTo>
                </a:path>
                <a:path w="2356485" h="1728470">
                  <a:moveTo>
                    <a:pt x="664193" y="682887"/>
                  </a:moveTo>
                  <a:lnTo>
                    <a:pt x="664193" y="527599"/>
                  </a:lnTo>
                </a:path>
                <a:path w="2356485" h="1728470">
                  <a:moveTo>
                    <a:pt x="1976869" y="850113"/>
                  </a:moveTo>
                  <a:lnTo>
                    <a:pt x="1976869" y="1246147"/>
                  </a:lnTo>
                </a:path>
                <a:path w="2356485" h="1728470">
                  <a:moveTo>
                    <a:pt x="1581464" y="1100914"/>
                  </a:moveTo>
                  <a:lnTo>
                    <a:pt x="1581464" y="1029750"/>
                  </a:lnTo>
                </a:path>
                <a:path w="2356485" h="1728470">
                  <a:moveTo>
                    <a:pt x="1344252" y="459892"/>
                  </a:moveTo>
                  <a:lnTo>
                    <a:pt x="1344252" y="899912"/>
                  </a:lnTo>
                </a:path>
                <a:path w="2356485" h="1728470">
                  <a:moveTo>
                    <a:pt x="1534022" y="947669"/>
                  </a:moveTo>
                  <a:lnTo>
                    <a:pt x="1534022" y="1003751"/>
                  </a:lnTo>
                </a:path>
                <a:path w="2356485" h="1728470">
                  <a:moveTo>
                    <a:pt x="1391695" y="1226353"/>
                  </a:moveTo>
                  <a:lnTo>
                    <a:pt x="1391695" y="925833"/>
                  </a:lnTo>
                </a:path>
                <a:path w="2356485" h="1728470">
                  <a:moveTo>
                    <a:pt x="600962" y="1073030"/>
                  </a:moveTo>
                  <a:lnTo>
                    <a:pt x="600962" y="492960"/>
                  </a:lnTo>
                </a:path>
                <a:path w="2356485" h="1728470">
                  <a:moveTo>
                    <a:pt x="569308" y="627118"/>
                  </a:moveTo>
                  <a:lnTo>
                    <a:pt x="569308" y="475680"/>
                  </a:lnTo>
                </a:path>
                <a:path w="2356485" h="1728470">
                  <a:moveTo>
                    <a:pt x="1818676" y="1087011"/>
                  </a:moveTo>
                  <a:lnTo>
                    <a:pt x="1818676" y="1159588"/>
                  </a:lnTo>
                </a:path>
                <a:path w="2356485" h="1728470">
                  <a:moveTo>
                    <a:pt x="600962" y="529563"/>
                  </a:moveTo>
                  <a:lnTo>
                    <a:pt x="600962" y="492960"/>
                  </a:lnTo>
                </a:path>
                <a:path w="2356485" h="1728470">
                  <a:moveTo>
                    <a:pt x="0" y="376239"/>
                  </a:moveTo>
                  <a:lnTo>
                    <a:pt x="0" y="164006"/>
                  </a:lnTo>
                </a:path>
                <a:path w="2356485" h="1728470">
                  <a:moveTo>
                    <a:pt x="1929427" y="1212372"/>
                  </a:moveTo>
                  <a:lnTo>
                    <a:pt x="1929427" y="1220148"/>
                  </a:lnTo>
                </a:path>
                <a:path w="2356485" h="1728470">
                  <a:moveTo>
                    <a:pt x="1850330" y="1128798"/>
                  </a:moveTo>
                  <a:lnTo>
                    <a:pt x="1850330" y="1176869"/>
                  </a:lnTo>
                </a:path>
                <a:path w="2356485" h="1728470">
                  <a:moveTo>
                    <a:pt x="1676349" y="1296024"/>
                  </a:moveTo>
                  <a:lnTo>
                    <a:pt x="1676349" y="1081670"/>
                  </a:lnTo>
                </a:path>
                <a:path w="2356485" h="1728470">
                  <a:moveTo>
                    <a:pt x="1881985" y="1003358"/>
                  </a:moveTo>
                  <a:lnTo>
                    <a:pt x="1881985" y="1194228"/>
                  </a:lnTo>
                </a:path>
                <a:path w="2356485" h="1728470">
                  <a:moveTo>
                    <a:pt x="237211" y="278684"/>
                  </a:moveTo>
                  <a:lnTo>
                    <a:pt x="237211" y="293844"/>
                  </a:lnTo>
                </a:path>
                <a:path w="2356485" h="1728470">
                  <a:moveTo>
                    <a:pt x="1802888" y="1309927"/>
                  </a:moveTo>
                  <a:lnTo>
                    <a:pt x="1802888" y="1150948"/>
                  </a:lnTo>
                </a:path>
                <a:path w="2356485" h="1728470">
                  <a:moveTo>
                    <a:pt x="2166639" y="1184566"/>
                  </a:moveTo>
                  <a:lnTo>
                    <a:pt x="2166639" y="1350065"/>
                  </a:lnTo>
                </a:path>
              </a:pathLst>
            </a:custGeom>
            <a:ln w="5891">
              <a:solidFill>
                <a:srgbClr val="4C721D"/>
              </a:solidFill>
            </a:ln>
          </p:spPr>
          <p:txBody>
            <a:bodyPr wrap="square" lIns="0" tIns="0" rIns="0" bIns="0" rtlCol="0"/>
            <a:lstStyle/>
            <a:p>
              <a:endParaRPr/>
            </a:p>
          </p:txBody>
        </p:sp>
        <p:sp>
          <p:nvSpPr>
            <p:cNvPr id="116" name="object 116"/>
            <p:cNvSpPr/>
            <p:nvPr/>
          </p:nvSpPr>
          <p:spPr>
            <a:xfrm>
              <a:off x="1201222" y="1300604"/>
              <a:ext cx="2545080" cy="1393190"/>
            </a:xfrm>
            <a:custGeom>
              <a:avLst/>
              <a:gdLst/>
              <a:ahLst/>
              <a:cxnLst/>
              <a:rect l="l" t="t" r="r" b="b"/>
              <a:pathLst>
                <a:path w="2545079" h="1393189">
                  <a:moveTo>
                    <a:pt x="0" y="0"/>
                  </a:moveTo>
                  <a:lnTo>
                    <a:pt x="2544921" y="1393108"/>
                  </a:lnTo>
                </a:path>
              </a:pathLst>
            </a:custGeom>
            <a:ln w="17673">
              <a:solidFill>
                <a:srgbClr val="F05133"/>
              </a:solidFill>
            </a:ln>
          </p:spPr>
          <p:txBody>
            <a:bodyPr wrap="square" lIns="0" tIns="0" rIns="0" bIns="0" rtlCol="0"/>
            <a:lstStyle/>
            <a:p>
              <a:endParaRPr/>
            </a:p>
          </p:txBody>
        </p:sp>
      </p:grpSp>
      <p:sp>
        <p:nvSpPr>
          <p:cNvPr id="117" name="object 117"/>
          <p:cNvSpPr txBox="1"/>
          <p:nvPr/>
        </p:nvSpPr>
        <p:spPr>
          <a:xfrm>
            <a:off x="4428680" y="3194296"/>
            <a:ext cx="79375" cy="140970"/>
          </a:xfrm>
          <a:prstGeom prst="rect">
            <a:avLst/>
          </a:prstGeom>
        </p:spPr>
        <p:txBody>
          <a:bodyPr vert="horz" wrap="square" lIns="0" tIns="13335" rIns="0" bIns="0" rtlCol="0">
            <a:spAutoFit/>
          </a:bodyPr>
          <a:lstStyle/>
          <a:p>
            <a:pPr marL="12700">
              <a:lnSpc>
                <a:spcPct val="100000"/>
              </a:lnSpc>
              <a:spcBef>
                <a:spcPts val="105"/>
              </a:spcBef>
            </a:pPr>
            <a:r>
              <a:rPr sz="750" spc="-50" dirty="0">
                <a:solidFill>
                  <a:srgbClr val="22373A"/>
                </a:solidFill>
                <a:latin typeface="Arial"/>
                <a:cs typeface="Arial"/>
              </a:rPr>
              <a:t>6</a:t>
            </a:r>
            <a:endParaRPr sz="750">
              <a:latin typeface="Arial"/>
              <a:cs typeface="Arial"/>
            </a:endParaRPr>
          </a:p>
        </p:txBody>
      </p:sp>
      <p:cxnSp>
        <p:nvCxnSpPr>
          <p:cNvPr id="119" name="Straight Arrow Connector 118">
            <a:extLst>
              <a:ext uri="{FF2B5EF4-FFF2-40B4-BE49-F238E27FC236}">
                <a16:creationId xmlns:a16="http://schemas.microsoft.com/office/drawing/2014/main" id="{35C4BAE5-3CDA-9171-57BC-66AEE9384EF5}"/>
              </a:ext>
            </a:extLst>
          </p:cNvPr>
          <p:cNvCxnSpPr/>
          <p:nvPr/>
        </p:nvCxnSpPr>
        <p:spPr>
          <a:xfrm flipV="1">
            <a:off x="2000250" y="663575"/>
            <a:ext cx="1143000" cy="524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92E5DF3-21C6-504E-0667-2251D1800C47}"/>
              </a:ext>
            </a:extLst>
          </p:cNvPr>
          <p:cNvCxnSpPr>
            <a:cxnSpLocks/>
          </p:cNvCxnSpPr>
          <p:nvPr/>
        </p:nvCxnSpPr>
        <p:spPr>
          <a:xfrm flipH="1" flipV="1">
            <a:off x="3143250" y="663575"/>
            <a:ext cx="15240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21894" y="455668"/>
                <a:ext cx="3935729" cy="867482"/>
              </a:xfrm>
              <a:prstGeom prst="rect">
                <a:avLst/>
              </a:prstGeom>
            </p:spPr>
            <p:txBody>
              <a:bodyPr vert="horz" wrap="square" lIns="0" tIns="17145" rIns="0" bIns="0" rtlCol="0">
                <a:spAutoFit/>
              </a:bodyPr>
              <a:lstStyle/>
              <a:p>
                <a:pPr marL="38100">
                  <a:lnSpc>
                    <a:spcPct val="100000"/>
                  </a:lnSpc>
                  <a:spcBef>
                    <a:spcPts val="135"/>
                  </a:spcBef>
                </a:pPr>
                <a:r>
                  <a:rPr sz="1000" spc="-10" dirty="0">
                    <a:solidFill>
                      <a:srgbClr val="2A526C"/>
                    </a:solidFill>
                    <a:latin typeface="Arial"/>
                    <a:cs typeface="Arial"/>
                  </a:rPr>
                  <a:t>Residual</a:t>
                </a:r>
                <a:endParaRPr sz="1000" dirty="0">
                  <a:latin typeface="Arial"/>
                  <a:cs typeface="Arial"/>
                </a:endParaRPr>
              </a:p>
              <a:p>
                <a:pPr marL="38100">
                  <a:lnSpc>
                    <a:spcPct val="100000"/>
                  </a:lnSpc>
                  <a:spcBef>
                    <a:spcPts val="1070"/>
                  </a:spcBef>
                </a:pPr>
                <a:r>
                  <a:rPr sz="1000" dirty="0">
                    <a:solidFill>
                      <a:srgbClr val="22373A"/>
                    </a:solidFill>
                    <a:latin typeface="Arial"/>
                    <a:cs typeface="Arial"/>
                  </a:rPr>
                  <a:t>Residual</a:t>
                </a:r>
                <a:r>
                  <a:rPr sz="1000" spc="100"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difference</a:t>
                </a:r>
                <a:r>
                  <a:rPr sz="1000" spc="100" dirty="0">
                    <a:solidFill>
                      <a:srgbClr val="22373A"/>
                    </a:solidFill>
                    <a:latin typeface="Arial"/>
                    <a:cs typeface="Arial"/>
                  </a:rPr>
                  <a:t> </a:t>
                </a:r>
                <a:r>
                  <a:rPr sz="1000" dirty="0">
                    <a:solidFill>
                      <a:srgbClr val="22373A"/>
                    </a:solidFill>
                    <a:latin typeface="Arial"/>
                    <a:cs typeface="Arial"/>
                  </a:rPr>
                  <a:t>between</a:t>
                </a:r>
                <a:r>
                  <a:rPr sz="1000" spc="105"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observed</a:t>
                </a:r>
                <a:r>
                  <a:rPr sz="1000" spc="105" dirty="0">
                    <a:solidFill>
                      <a:srgbClr val="22373A"/>
                    </a:solidFill>
                    <a:latin typeface="Arial"/>
                    <a:cs typeface="Arial"/>
                  </a:rPr>
                  <a:t> </a:t>
                </a:r>
                <a:r>
                  <a:rPr sz="1000" dirty="0">
                    <a:solidFill>
                      <a:srgbClr val="22373A"/>
                    </a:solidFill>
                    <a:latin typeface="Arial"/>
                    <a:cs typeface="Arial"/>
                  </a:rPr>
                  <a:t>(</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000" dirty="0">
                    <a:solidFill>
                      <a:srgbClr val="22373A"/>
                    </a:solidFill>
                    <a:latin typeface="Arial"/>
                    <a:cs typeface="Arial"/>
                  </a:rPr>
                  <a:t>)</a:t>
                </a:r>
                <a:r>
                  <a:rPr sz="1000" spc="100" dirty="0">
                    <a:solidFill>
                      <a:srgbClr val="22373A"/>
                    </a:solidFill>
                    <a:latin typeface="Arial"/>
                    <a:cs typeface="Arial"/>
                  </a:rPr>
                  <a:t> </a:t>
                </a:r>
                <a:r>
                  <a:rPr sz="1000" dirty="0">
                    <a:solidFill>
                      <a:srgbClr val="22373A"/>
                    </a:solidFill>
                    <a:latin typeface="Arial"/>
                    <a:cs typeface="Arial"/>
                  </a:rPr>
                  <a:t>and</a:t>
                </a:r>
                <a:r>
                  <a:rPr sz="1000" spc="100" dirty="0">
                    <a:solidFill>
                      <a:srgbClr val="22373A"/>
                    </a:solidFill>
                    <a:latin typeface="Arial"/>
                    <a:cs typeface="Arial"/>
                  </a:rPr>
                  <a:t> </a:t>
                </a:r>
                <a:r>
                  <a:rPr sz="1000" spc="-10" dirty="0">
                    <a:solidFill>
                      <a:srgbClr val="22373A"/>
                    </a:solidFill>
                    <a:latin typeface="Arial"/>
                    <a:cs typeface="Arial"/>
                  </a:rPr>
                  <a:t>predicted</a:t>
                </a:r>
                <a:endParaRPr sz="1000" dirty="0">
                  <a:latin typeface="Arial"/>
                  <a:cs typeface="Arial"/>
                </a:endParaRPr>
              </a:p>
              <a:p>
                <a:pPr marL="38100">
                  <a:lnSpc>
                    <a:spcPct val="100000"/>
                  </a:lnSpc>
                  <a:spcBef>
                    <a:spcPts val="235"/>
                  </a:spcBef>
                </a:pPr>
                <a14:m>
                  <m:oMath xmlns:m="http://schemas.openxmlformats.org/officeDocument/2006/math">
                    <m:acc>
                      <m:accPr>
                        <m:chr m:val="̂"/>
                        <m:ctrlPr>
                          <a:rPr lang="en-US" sz="1000" i="1" spc="-25" dirty="0" smtClean="0">
                            <a:solidFill>
                              <a:srgbClr val="22373A"/>
                            </a:solidFill>
                            <a:latin typeface="Cambria Math" panose="02040503050406030204" pitchFamily="18" charset="0"/>
                            <a:cs typeface="Times New Roman"/>
                          </a:rPr>
                        </m:ctrlPr>
                      </m:accPr>
                      <m:e>
                        <m:r>
                          <a:rPr lang="en-US"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sz="1000" spc="-20" dirty="0">
                    <a:solidFill>
                      <a:srgbClr val="22373A"/>
                    </a:solidFill>
                    <a:latin typeface="Arial"/>
                    <a:cs typeface="Arial"/>
                  </a:rPr>
                  <a:t>.</a:t>
                </a:r>
                <a:endParaRPr sz="1000" dirty="0">
                  <a:latin typeface="Arial"/>
                  <a:cs typeface="Arial"/>
                </a:endParaRPr>
              </a:p>
              <a:p>
                <a:pPr marL="1680210">
                  <a:lnSpc>
                    <a:spcPct val="100000"/>
                  </a:lnSpc>
                  <a:spcBef>
                    <a:spcPts val="240"/>
                  </a:spcBef>
                </a:pPr>
                <a:r>
                  <a:rPr sz="1100" i="1" dirty="0">
                    <a:solidFill>
                      <a:srgbClr val="22373A"/>
                    </a:solidFill>
                    <a:latin typeface="Times New Roman"/>
                    <a:cs typeface="Times New Roman"/>
                  </a:rPr>
                  <a:t>e</a:t>
                </a:r>
                <a:r>
                  <a:rPr sz="1200" i="1" baseline="-10416" dirty="0">
                    <a:solidFill>
                      <a:srgbClr val="22373A"/>
                    </a:solidFill>
                    <a:latin typeface="Times New Roman"/>
                    <a:cs typeface="Times New Roman"/>
                  </a:rPr>
                  <a:t>i</a:t>
                </a:r>
                <a:r>
                  <a:rPr sz="1200" i="1" spc="202"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200" i="1" spc="127" baseline="-10416" dirty="0">
                    <a:solidFill>
                      <a:srgbClr val="22373A"/>
                    </a:solidFill>
                    <a:latin typeface="Times New Roman"/>
                    <a:cs typeface="Times New Roman"/>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14:m>
                  <m:oMath xmlns:m="http://schemas.openxmlformats.org/officeDocument/2006/math">
                    <m:acc>
                      <m:accPr>
                        <m:chr m:val="̂"/>
                        <m:ctrlPr>
                          <a:rPr lang="en-US" sz="1100" i="1" spc="-25" dirty="0" smtClean="0">
                            <a:solidFill>
                              <a:srgbClr val="22373A"/>
                            </a:solidFill>
                            <a:latin typeface="Cambria Math" panose="02040503050406030204" pitchFamily="18" charset="0"/>
                            <a:cs typeface="Times New Roman"/>
                          </a:rPr>
                        </m:ctrlPr>
                      </m:accPr>
                      <m:e>
                        <m:r>
                          <a:rPr lang="en-US"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sz="1200" baseline="-10416" dirty="0">
                  <a:latin typeface="Times New Roman"/>
                  <a:cs typeface="Times New Roman"/>
                </a:endParaRPr>
              </a:p>
            </p:txBody>
          </p:sp>
        </mc:Choice>
        <mc:Fallback>
          <p:sp>
            <p:nvSpPr>
              <p:cNvPr id="4" name="object 4"/>
              <p:cNvSpPr txBox="1">
                <a:spLocks noRot="1" noChangeAspect="1" noMove="1" noResize="1" noEditPoints="1" noAdjustHandles="1" noChangeArrowheads="1" noChangeShapeType="1" noTextEdit="1"/>
              </p:cNvSpPr>
              <p:nvPr/>
            </p:nvSpPr>
            <p:spPr>
              <a:xfrm>
                <a:off x="321894" y="455668"/>
                <a:ext cx="3935729" cy="867482"/>
              </a:xfrm>
              <a:prstGeom prst="rect">
                <a:avLst/>
              </a:prstGeom>
              <a:blipFill>
                <a:blip r:embed="rId2"/>
                <a:stretch>
                  <a:fillRect l="-1085" t="-3521" r="-155" b="-8451"/>
                </a:stretch>
              </a:blipFill>
            </p:spPr>
            <p:txBody>
              <a:bodyPr/>
              <a:lstStyle/>
              <a:p>
                <a:r>
                  <a:rPr lang="en-US">
                    <a:noFill/>
                  </a:rPr>
                  <a:t> </a:t>
                </a:r>
              </a:p>
            </p:txBody>
          </p:sp>
        </mc:Fallback>
      </mc:AlternateContent>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dirty="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dirty="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dirty="0">
              <a:latin typeface="Arial"/>
              <a:cs typeface="Arial"/>
            </a:endParaRPr>
          </a:p>
        </p:txBody>
      </p:sp>
      <p:sp>
        <p:nvSpPr>
          <p:cNvPr id="121" name="object 121"/>
          <p:cNvSpPr txBox="1"/>
          <p:nvPr/>
        </p:nvSpPr>
        <p:spPr>
          <a:xfrm>
            <a:off x="1064750" y="248455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dirty="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4" name="object 124"/>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5" name="object 125"/>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6" name="object 126"/>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7" name="object 127"/>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 calcmode="lin" valueType="num">
                                      <p:cBhvr additive="base">
                                        <p:cTn id="7" dur="500" fill="hold"/>
                                        <p:tgtEl>
                                          <p:spTgt spid="122"/>
                                        </p:tgtEl>
                                        <p:attrNameLst>
                                          <p:attrName>ppt_x</p:attrName>
                                        </p:attrNameLst>
                                      </p:cBhvr>
                                      <p:tavLst>
                                        <p:tav tm="0">
                                          <p:val>
                                            <p:strVal val="#ppt_x"/>
                                          </p:val>
                                        </p:tav>
                                        <p:tav tm="100000">
                                          <p:val>
                                            <p:strVal val="#ppt_x"/>
                                          </p:val>
                                        </p:tav>
                                      </p:tavLst>
                                    </p:anim>
                                    <p:anim calcmode="lin" valueType="num">
                                      <p:cBhvr additive="base">
                                        <p:cTn id="8" dur="500" fill="hold"/>
                                        <p:tgtEl>
                                          <p:spTgt spid="1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0"/>
                                        </p:tgtEl>
                                        <p:attrNameLst>
                                          <p:attrName>style.visibility</p:attrName>
                                        </p:attrNameLst>
                                      </p:cBhvr>
                                      <p:to>
                                        <p:strVal val="visible"/>
                                      </p:to>
                                    </p:set>
                                    <p:anim calcmode="lin" valueType="num">
                                      <p:cBhvr additive="base">
                                        <p:cTn id="11" dur="500" fill="hold"/>
                                        <p:tgtEl>
                                          <p:spTgt spid="120"/>
                                        </p:tgtEl>
                                        <p:attrNameLst>
                                          <p:attrName>ppt_x</p:attrName>
                                        </p:attrNameLst>
                                      </p:cBhvr>
                                      <p:tavLst>
                                        <p:tav tm="0">
                                          <p:val>
                                            <p:strVal val="#ppt_x"/>
                                          </p:val>
                                        </p:tav>
                                        <p:tav tm="100000">
                                          <p:val>
                                            <p:strVal val="#ppt_x"/>
                                          </p:val>
                                        </p:tav>
                                      </p:tavLst>
                                    </p:anim>
                                    <p:anim calcmode="lin" valueType="num">
                                      <p:cBhvr additive="base">
                                        <p:cTn id="12" dur="500" fill="hold"/>
                                        <p:tgtEl>
                                          <p:spTgt spid="12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anim calcmode="lin" valueType="num">
                                      <p:cBhvr additive="base">
                                        <p:cTn id="15" dur="500" fill="hold"/>
                                        <p:tgtEl>
                                          <p:spTgt spid="115"/>
                                        </p:tgtEl>
                                        <p:attrNameLst>
                                          <p:attrName>ppt_x</p:attrName>
                                        </p:attrNameLst>
                                      </p:cBhvr>
                                      <p:tavLst>
                                        <p:tav tm="0">
                                          <p:val>
                                            <p:strVal val="#ppt_x"/>
                                          </p:val>
                                        </p:tav>
                                        <p:tav tm="100000">
                                          <p:val>
                                            <p:strVal val="#ppt_x"/>
                                          </p:val>
                                        </p:tav>
                                      </p:tavLst>
                                    </p:anim>
                                    <p:anim calcmode="lin" valueType="num">
                                      <p:cBhvr additive="base">
                                        <p:cTn id="16" dur="500" fill="hold"/>
                                        <p:tgtEl>
                                          <p:spTgt spid="1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anim calcmode="lin" valueType="num">
                                      <p:cBhvr additive="base">
                                        <p:cTn id="19" dur="500" fill="hold"/>
                                        <p:tgtEl>
                                          <p:spTgt spid="114"/>
                                        </p:tgtEl>
                                        <p:attrNameLst>
                                          <p:attrName>ppt_x</p:attrName>
                                        </p:attrNameLst>
                                      </p:cBhvr>
                                      <p:tavLst>
                                        <p:tav tm="0">
                                          <p:val>
                                            <p:strVal val="#ppt_x"/>
                                          </p:val>
                                        </p:tav>
                                        <p:tav tm="100000">
                                          <p:val>
                                            <p:strVal val="#ppt_x"/>
                                          </p:val>
                                        </p:tav>
                                      </p:tavLst>
                                    </p:anim>
                                    <p:anim calcmode="lin" valueType="num">
                                      <p:cBhvr additive="base">
                                        <p:cTn id="20" dur="500" fill="hold"/>
                                        <p:tgtEl>
                                          <p:spTgt spid="1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0"/>
                                        </p:tgtEl>
                                        <p:attrNameLst>
                                          <p:attrName>style.visibility</p:attrName>
                                        </p:attrNameLst>
                                      </p:cBhvr>
                                      <p:to>
                                        <p:strVal val="visible"/>
                                      </p:to>
                                    </p:set>
                                    <p:anim calcmode="lin" valueType="num">
                                      <p:cBhvr additive="base">
                                        <p:cTn id="23" dur="500" fill="hold"/>
                                        <p:tgtEl>
                                          <p:spTgt spid="110"/>
                                        </p:tgtEl>
                                        <p:attrNameLst>
                                          <p:attrName>ppt_x</p:attrName>
                                        </p:attrNameLst>
                                      </p:cBhvr>
                                      <p:tavLst>
                                        <p:tav tm="0">
                                          <p:val>
                                            <p:strVal val="#ppt_x"/>
                                          </p:val>
                                        </p:tav>
                                        <p:tav tm="100000">
                                          <p:val>
                                            <p:strVal val="#ppt_x"/>
                                          </p:val>
                                        </p:tav>
                                      </p:tavLst>
                                    </p:anim>
                                    <p:anim calcmode="lin" valueType="num">
                                      <p:cBhvr additive="base">
                                        <p:cTn id="24"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1"/>
                                        </p:tgtEl>
                                        <p:attrNameLst>
                                          <p:attrName>style.visibility</p:attrName>
                                        </p:attrNameLst>
                                      </p:cBhvr>
                                      <p:to>
                                        <p:strVal val="visible"/>
                                      </p:to>
                                    </p:set>
                                    <p:anim calcmode="lin" valueType="num">
                                      <p:cBhvr additive="base">
                                        <p:cTn id="29" dur="500" fill="hold"/>
                                        <p:tgtEl>
                                          <p:spTgt spid="121"/>
                                        </p:tgtEl>
                                        <p:attrNameLst>
                                          <p:attrName>ppt_x</p:attrName>
                                        </p:attrNameLst>
                                      </p:cBhvr>
                                      <p:tavLst>
                                        <p:tav tm="0">
                                          <p:val>
                                            <p:strVal val="#ppt_x"/>
                                          </p:val>
                                        </p:tav>
                                        <p:tav tm="100000">
                                          <p:val>
                                            <p:strVal val="#ppt_x"/>
                                          </p:val>
                                        </p:tav>
                                      </p:tavLst>
                                    </p:anim>
                                    <p:anim calcmode="lin" valueType="num">
                                      <p:cBhvr additive="base">
                                        <p:cTn id="30" dur="500" fill="hold"/>
                                        <p:tgtEl>
                                          <p:spTgt spid="12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8"/>
                                        </p:tgtEl>
                                        <p:attrNameLst>
                                          <p:attrName>style.visibility</p:attrName>
                                        </p:attrNameLst>
                                      </p:cBhvr>
                                      <p:to>
                                        <p:strVal val="visible"/>
                                      </p:to>
                                    </p:set>
                                    <p:anim calcmode="lin" valueType="num">
                                      <p:cBhvr additive="base">
                                        <p:cTn id="33" dur="500" fill="hold"/>
                                        <p:tgtEl>
                                          <p:spTgt spid="118"/>
                                        </p:tgtEl>
                                        <p:attrNameLst>
                                          <p:attrName>ppt_x</p:attrName>
                                        </p:attrNameLst>
                                      </p:cBhvr>
                                      <p:tavLst>
                                        <p:tav tm="0">
                                          <p:val>
                                            <p:strVal val="#ppt_x"/>
                                          </p:val>
                                        </p:tav>
                                        <p:tav tm="100000">
                                          <p:val>
                                            <p:strVal val="#ppt_x"/>
                                          </p:val>
                                        </p:tav>
                                      </p:tavLst>
                                    </p:anim>
                                    <p:anim calcmode="lin" valueType="num">
                                      <p:cBhvr additive="base">
                                        <p:cTn id="34" dur="500" fill="hold"/>
                                        <p:tgtEl>
                                          <p:spTgt spid="11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6"/>
                                        </p:tgtEl>
                                        <p:attrNameLst>
                                          <p:attrName>style.visibility</p:attrName>
                                        </p:attrNameLst>
                                      </p:cBhvr>
                                      <p:to>
                                        <p:strVal val="visible"/>
                                      </p:to>
                                    </p:set>
                                    <p:anim calcmode="lin" valueType="num">
                                      <p:cBhvr additive="base">
                                        <p:cTn id="37" dur="500" fill="hold"/>
                                        <p:tgtEl>
                                          <p:spTgt spid="116"/>
                                        </p:tgtEl>
                                        <p:attrNameLst>
                                          <p:attrName>ppt_x</p:attrName>
                                        </p:attrNameLst>
                                      </p:cBhvr>
                                      <p:tavLst>
                                        <p:tav tm="0">
                                          <p:val>
                                            <p:strVal val="#ppt_x"/>
                                          </p:val>
                                        </p:tav>
                                        <p:tav tm="100000">
                                          <p:val>
                                            <p:strVal val="#ppt_x"/>
                                          </p:val>
                                        </p:tav>
                                      </p:tavLst>
                                    </p:anim>
                                    <p:anim calcmode="lin" valueType="num">
                                      <p:cBhvr additive="base">
                                        <p:cTn id="38" dur="500" fill="hold"/>
                                        <p:tgtEl>
                                          <p:spTgt spid="11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9"/>
                                        </p:tgtEl>
                                        <p:attrNameLst>
                                          <p:attrName>style.visibility</p:attrName>
                                        </p:attrNameLst>
                                      </p:cBhvr>
                                      <p:to>
                                        <p:strVal val="visible"/>
                                      </p:to>
                                    </p:set>
                                    <p:anim calcmode="lin" valueType="num">
                                      <p:cBhvr additive="base">
                                        <p:cTn id="41" dur="500" fill="hold"/>
                                        <p:tgtEl>
                                          <p:spTgt spid="119"/>
                                        </p:tgtEl>
                                        <p:attrNameLst>
                                          <p:attrName>ppt_x</p:attrName>
                                        </p:attrNameLst>
                                      </p:cBhvr>
                                      <p:tavLst>
                                        <p:tav tm="0">
                                          <p:val>
                                            <p:strVal val="#ppt_x"/>
                                          </p:val>
                                        </p:tav>
                                        <p:tav tm="100000">
                                          <p:val>
                                            <p:strVal val="#ppt_x"/>
                                          </p:val>
                                        </p:tav>
                                      </p:tavLst>
                                    </p:anim>
                                    <p:anim calcmode="lin" valueType="num">
                                      <p:cBhvr additive="base">
                                        <p:cTn id="42" dur="500" fill="hold"/>
                                        <p:tgtEl>
                                          <p:spTgt spid="11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7"/>
                                        </p:tgtEl>
                                        <p:attrNameLst>
                                          <p:attrName>style.visibility</p:attrName>
                                        </p:attrNameLst>
                                      </p:cBhvr>
                                      <p:to>
                                        <p:strVal val="visible"/>
                                      </p:to>
                                    </p:set>
                                    <p:anim calcmode="lin" valueType="num">
                                      <p:cBhvr additive="base">
                                        <p:cTn id="45" dur="500" fill="hold"/>
                                        <p:tgtEl>
                                          <p:spTgt spid="117"/>
                                        </p:tgtEl>
                                        <p:attrNameLst>
                                          <p:attrName>ppt_x</p:attrName>
                                        </p:attrNameLst>
                                      </p:cBhvr>
                                      <p:tavLst>
                                        <p:tav tm="0">
                                          <p:val>
                                            <p:strVal val="#ppt_x"/>
                                          </p:val>
                                        </p:tav>
                                        <p:tav tm="100000">
                                          <p:val>
                                            <p:strVal val="#ppt_x"/>
                                          </p:val>
                                        </p:tav>
                                      </p:tavLst>
                                    </p:anim>
                                    <p:anim calcmode="lin" valueType="num">
                                      <p:cBhvr additive="base">
                                        <p:cTn id="46"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p:bldP spid="116" grpId="0" animBg="1"/>
      <p:bldP spid="117" grpId="0"/>
      <p:bldP spid="118" grpId="0"/>
      <p:bldP spid="119" grpId="0"/>
      <p:bldP spid="120" grpId="0"/>
      <p:bldP spid="121" grpId="0"/>
      <p:bldP spid="12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lang="en-US" sz="1000" spc="-10" dirty="0">
                    <a:solidFill>
                      <a:srgbClr val="2A526C"/>
                    </a:solidFill>
                    <a:latin typeface="Arial"/>
                    <a:cs typeface="Arial"/>
                  </a:rPr>
                  <a:t>Residual</a:t>
                </a:r>
                <a:endParaRPr lang="en-US" sz="1000" dirty="0">
                  <a:latin typeface="Arial"/>
                  <a:cs typeface="Arial"/>
                </a:endParaRPr>
              </a:p>
              <a:p>
                <a:pPr marL="38100">
                  <a:lnSpc>
                    <a:spcPct val="100000"/>
                  </a:lnSpc>
                  <a:spcBef>
                    <a:spcPts val="1070"/>
                  </a:spcBef>
                </a:pPr>
                <a:r>
                  <a:rPr lang="en-US" sz="1000" dirty="0">
                    <a:solidFill>
                      <a:srgbClr val="22373A"/>
                    </a:solidFill>
                    <a:latin typeface="Arial"/>
                    <a:cs typeface="Arial"/>
                  </a:rPr>
                  <a:t>Residual</a:t>
                </a:r>
                <a:r>
                  <a:rPr lang="en-US" sz="1000" spc="100"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difference</a:t>
                </a:r>
                <a:r>
                  <a:rPr lang="en-US" sz="1000" spc="100" dirty="0">
                    <a:solidFill>
                      <a:srgbClr val="22373A"/>
                    </a:solidFill>
                    <a:latin typeface="Arial"/>
                    <a:cs typeface="Arial"/>
                  </a:rPr>
                  <a:t> </a:t>
                </a:r>
                <a:r>
                  <a:rPr lang="en-US" sz="1000" dirty="0">
                    <a:solidFill>
                      <a:srgbClr val="22373A"/>
                    </a:solidFill>
                    <a:latin typeface="Arial"/>
                    <a:cs typeface="Arial"/>
                  </a:rPr>
                  <a:t>between</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observed</a:t>
                </a:r>
                <a:r>
                  <a:rPr lang="en-US" sz="1000" spc="105" dirty="0">
                    <a:solidFill>
                      <a:srgbClr val="22373A"/>
                    </a:solidFill>
                    <a:latin typeface="Arial"/>
                    <a:cs typeface="Arial"/>
                  </a:rPr>
                  <a:t> </a:t>
                </a:r>
                <a:r>
                  <a:rPr lang="en-US" sz="1000" dirty="0">
                    <a:solidFill>
                      <a:srgbClr val="22373A"/>
                    </a:solidFill>
                    <a:latin typeface="Arial"/>
                    <a:cs typeface="Arial"/>
                  </a:rPr>
                  <a:t>(</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000" dirty="0">
                    <a:solidFill>
                      <a:srgbClr val="22373A"/>
                    </a:solidFill>
                    <a:latin typeface="Arial"/>
                    <a:cs typeface="Arial"/>
                  </a:rPr>
                  <a:t>)</a:t>
                </a:r>
                <a:r>
                  <a:rPr lang="en-US" sz="1000" spc="100" dirty="0">
                    <a:solidFill>
                      <a:srgbClr val="22373A"/>
                    </a:solidFill>
                    <a:latin typeface="Arial"/>
                    <a:cs typeface="Arial"/>
                  </a:rPr>
                  <a:t> </a:t>
                </a:r>
                <a:r>
                  <a:rPr lang="en-US" sz="1000" dirty="0">
                    <a:solidFill>
                      <a:srgbClr val="22373A"/>
                    </a:solidFill>
                    <a:latin typeface="Arial"/>
                    <a:cs typeface="Arial"/>
                  </a:rPr>
                  <a:t>and</a:t>
                </a:r>
                <a:r>
                  <a:rPr lang="en-US" sz="1000" spc="100" dirty="0">
                    <a:solidFill>
                      <a:srgbClr val="22373A"/>
                    </a:solidFill>
                    <a:latin typeface="Arial"/>
                    <a:cs typeface="Arial"/>
                  </a:rPr>
                  <a:t> </a:t>
                </a:r>
                <a:r>
                  <a:rPr lang="en-US" sz="1000" spc="-10" dirty="0">
                    <a:solidFill>
                      <a:srgbClr val="22373A"/>
                    </a:solidFill>
                    <a:latin typeface="Arial"/>
                    <a:cs typeface="Arial"/>
                  </a:rPr>
                  <a:t>predicted</a:t>
                </a:r>
                <a:endParaRPr lang="en-US" sz="1000" dirty="0">
                  <a:latin typeface="Arial"/>
                  <a:cs typeface="Arial"/>
                </a:endParaRPr>
              </a:p>
              <a:p>
                <a:pPr marL="38100">
                  <a:lnSpc>
                    <a:spcPct val="100000"/>
                  </a:lnSpc>
                  <a:spcBef>
                    <a:spcPts val="235"/>
                  </a:spcBef>
                </a:pPr>
                <a14:m>
                  <m:oMath xmlns:m="http://schemas.openxmlformats.org/officeDocument/2006/math">
                    <m:acc>
                      <m:accPr>
                        <m:chr m:val="̂"/>
                        <m:ctrlPr>
                          <a:rPr lang="ar-AE" sz="1000" i="1" spc="-25" dirty="0" smtClean="0">
                            <a:solidFill>
                              <a:srgbClr val="22373A"/>
                            </a:solidFill>
                            <a:latin typeface="Cambria Math" panose="02040503050406030204" pitchFamily="18" charset="0"/>
                            <a:cs typeface="Times New Roman"/>
                          </a:rPr>
                        </m:ctrlPr>
                      </m:accPr>
                      <m:e>
                        <m:r>
                          <a:rPr lang="ar-AE"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lang="ar-AE" sz="1000" spc="-20" dirty="0">
                    <a:solidFill>
                      <a:srgbClr val="22373A"/>
                    </a:solidFill>
                    <a:latin typeface="Arial"/>
                    <a:cs typeface="Arial"/>
                  </a:rPr>
                  <a:t>.</a:t>
                </a:r>
                <a:endParaRPr lang="ar-AE" sz="1000" dirty="0">
                  <a:latin typeface="Arial"/>
                  <a:cs typeface="Arial"/>
                </a:endParaRPr>
              </a:p>
              <a:p>
                <a:pPr marL="1680210">
                  <a:lnSpc>
                    <a:spcPct val="100000"/>
                  </a:lnSpc>
                  <a:spcBef>
                    <a:spcPts val="240"/>
                  </a:spcBef>
                </a:pPr>
                <a:r>
                  <a:rPr lang="en-US" sz="1100" i="1" dirty="0">
                    <a:solidFill>
                      <a:srgbClr val="22373A"/>
                    </a:solidFill>
                    <a:latin typeface="Times New Roman"/>
                    <a:cs typeface="Times New Roman"/>
                  </a:rPr>
                  <a:t>e</a:t>
                </a:r>
                <a:r>
                  <a:rPr lang="en-US" sz="1200" i="1" baseline="-10416" dirty="0">
                    <a:solidFill>
                      <a:srgbClr val="22373A"/>
                    </a:solidFill>
                    <a:latin typeface="Times New Roman"/>
                    <a:cs typeface="Times New Roman"/>
                  </a:rPr>
                  <a:t>i</a:t>
                </a:r>
                <a:r>
                  <a:rPr lang="en-US" sz="1200" i="1" spc="202" baseline="-10416"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5" dirty="0">
                    <a:solidFill>
                      <a:srgbClr val="22373A"/>
                    </a:solidFill>
                    <a:latin typeface="Lucida Sans"/>
                    <a:cs typeface="Lucida Sans"/>
                  </a:rPr>
                  <a:t> </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200" i="1" spc="127" baseline="-10416" dirty="0">
                    <a:solidFill>
                      <a:srgbClr val="22373A"/>
                    </a:solidFill>
                    <a:latin typeface="Times New Roman"/>
                    <a:cs typeface="Times New Roman"/>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14:m>
                  <m:oMath xmlns:m="http://schemas.openxmlformats.org/officeDocument/2006/math">
                    <m:acc>
                      <m:accPr>
                        <m:chr m:val="̂"/>
                        <m:ctrlPr>
                          <a:rPr lang="ar-AE" sz="1100" i="1" spc="-25" dirty="0" smtClean="0">
                            <a:solidFill>
                              <a:srgbClr val="22373A"/>
                            </a:solidFill>
                            <a:latin typeface="Cambria Math" panose="02040503050406030204" pitchFamily="18" charset="0"/>
                            <a:cs typeface="Times New Roman"/>
                          </a:rPr>
                        </m:ctrlPr>
                      </m:accPr>
                      <m:e>
                        <m:r>
                          <a:rPr lang="ar-AE"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lang="ar-AE" sz="1200" baseline="-10416" dirty="0">
                  <a:latin typeface="Times New Roman"/>
                  <a:cs typeface="Times New Roman"/>
                </a:endParaRPr>
              </a:p>
            </p:txBody>
          </p:sp>
        </mc:Choice>
        <mc:Fallback>
          <p:sp>
            <p:nvSpPr>
              <p:cNvPr id="4" name="object 4"/>
              <p:cNvSpPr txBox="1">
                <a:spLocks noRot="1" noChangeAspect="1" noMove="1" noResize="1" noEditPoints="1" noAdjustHandles="1" noChangeArrowheads="1" noChangeShapeType="1" noTextEdit="1"/>
              </p:cNvSpPr>
              <p:nvPr/>
            </p:nvSpPr>
            <p:spPr>
              <a:xfrm>
                <a:off x="321894" y="455668"/>
                <a:ext cx="3935729" cy="882015"/>
              </a:xfrm>
              <a:prstGeom prst="rect">
                <a:avLst/>
              </a:prstGeom>
              <a:blipFill>
                <a:blip r:embed="rId2"/>
                <a:stretch>
                  <a:fillRect l="-1085" t="-3472" r="-155" b="-6944"/>
                </a:stretch>
              </a:blipFill>
            </p:spPr>
            <p:txBody>
              <a:bodyPr/>
              <a:lstStyle/>
              <a:p>
                <a:r>
                  <a:rPr lang="en-US">
                    <a:noFill/>
                  </a:rPr>
                  <a:t> </a:t>
                </a:r>
              </a:p>
            </p:txBody>
          </p:sp>
        </mc:Fallback>
      </mc:AlternateContent>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1" name="object 121"/>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2939897" y="1751199"/>
            <a:ext cx="1362710" cy="619125"/>
          </a:xfrm>
          <a:prstGeom prst="rect">
            <a:avLst/>
          </a:prstGeom>
        </p:spPr>
        <p:txBody>
          <a:bodyPr vert="horz" wrap="square" lIns="0" tIns="11430" rIns="0" bIns="0" rtlCol="0">
            <a:spAutoFit/>
          </a:bodyPr>
          <a:lstStyle/>
          <a:p>
            <a:pPr marL="147955" marR="5080"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p:txBody>
      </p:sp>
      <p:sp>
        <p:nvSpPr>
          <p:cNvPr id="124" name="object 124"/>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5" name="object 125"/>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6" name="object 126"/>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7" name="object 127"/>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8" name="object 128"/>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lang="en-US" sz="1000" spc="-10" dirty="0">
                    <a:solidFill>
                      <a:srgbClr val="2A526C"/>
                    </a:solidFill>
                    <a:latin typeface="Arial"/>
                    <a:cs typeface="Arial"/>
                  </a:rPr>
                  <a:t>Residual</a:t>
                </a:r>
                <a:endParaRPr lang="en-US" sz="1000" dirty="0">
                  <a:latin typeface="Arial"/>
                  <a:cs typeface="Arial"/>
                </a:endParaRPr>
              </a:p>
              <a:p>
                <a:pPr marL="38100">
                  <a:lnSpc>
                    <a:spcPct val="100000"/>
                  </a:lnSpc>
                  <a:spcBef>
                    <a:spcPts val="1070"/>
                  </a:spcBef>
                </a:pPr>
                <a:r>
                  <a:rPr lang="en-US" sz="1000" dirty="0">
                    <a:solidFill>
                      <a:srgbClr val="22373A"/>
                    </a:solidFill>
                    <a:latin typeface="Arial"/>
                    <a:cs typeface="Arial"/>
                  </a:rPr>
                  <a:t>Residual</a:t>
                </a:r>
                <a:r>
                  <a:rPr lang="en-US" sz="1000" spc="100"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difference</a:t>
                </a:r>
                <a:r>
                  <a:rPr lang="en-US" sz="1000" spc="100" dirty="0">
                    <a:solidFill>
                      <a:srgbClr val="22373A"/>
                    </a:solidFill>
                    <a:latin typeface="Arial"/>
                    <a:cs typeface="Arial"/>
                  </a:rPr>
                  <a:t> </a:t>
                </a:r>
                <a:r>
                  <a:rPr lang="en-US" sz="1000" dirty="0">
                    <a:solidFill>
                      <a:srgbClr val="22373A"/>
                    </a:solidFill>
                    <a:latin typeface="Arial"/>
                    <a:cs typeface="Arial"/>
                  </a:rPr>
                  <a:t>between</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observed</a:t>
                </a:r>
                <a:r>
                  <a:rPr lang="en-US" sz="1000" spc="105" dirty="0">
                    <a:solidFill>
                      <a:srgbClr val="22373A"/>
                    </a:solidFill>
                    <a:latin typeface="Arial"/>
                    <a:cs typeface="Arial"/>
                  </a:rPr>
                  <a:t> </a:t>
                </a:r>
                <a:r>
                  <a:rPr lang="en-US" sz="1000" dirty="0">
                    <a:solidFill>
                      <a:srgbClr val="22373A"/>
                    </a:solidFill>
                    <a:latin typeface="Arial"/>
                    <a:cs typeface="Arial"/>
                  </a:rPr>
                  <a:t>(</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000" dirty="0">
                    <a:solidFill>
                      <a:srgbClr val="22373A"/>
                    </a:solidFill>
                    <a:latin typeface="Arial"/>
                    <a:cs typeface="Arial"/>
                  </a:rPr>
                  <a:t>)</a:t>
                </a:r>
                <a:r>
                  <a:rPr lang="en-US" sz="1000" spc="100" dirty="0">
                    <a:solidFill>
                      <a:srgbClr val="22373A"/>
                    </a:solidFill>
                    <a:latin typeface="Arial"/>
                    <a:cs typeface="Arial"/>
                  </a:rPr>
                  <a:t> </a:t>
                </a:r>
                <a:r>
                  <a:rPr lang="en-US" sz="1000" dirty="0">
                    <a:solidFill>
                      <a:srgbClr val="22373A"/>
                    </a:solidFill>
                    <a:latin typeface="Arial"/>
                    <a:cs typeface="Arial"/>
                  </a:rPr>
                  <a:t>and</a:t>
                </a:r>
                <a:r>
                  <a:rPr lang="en-US" sz="1000" spc="100" dirty="0">
                    <a:solidFill>
                      <a:srgbClr val="22373A"/>
                    </a:solidFill>
                    <a:latin typeface="Arial"/>
                    <a:cs typeface="Arial"/>
                  </a:rPr>
                  <a:t> </a:t>
                </a:r>
                <a:r>
                  <a:rPr lang="en-US" sz="1000" spc="-10" dirty="0">
                    <a:solidFill>
                      <a:srgbClr val="22373A"/>
                    </a:solidFill>
                    <a:latin typeface="Arial"/>
                    <a:cs typeface="Arial"/>
                  </a:rPr>
                  <a:t>predicted</a:t>
                </a:r>
                <a:endParaRPr lang="en-US" sz="1000" dirty="0">
                  <a:latin typeface="Arial"/>
                  <a:cs typeface="Arial"/>
                </a:endParaRPr>
              </a:p>
              <a:p>
                <a:pPr marL="38100">
                  <a:lnSpc>
                    <a:spcPct val="100000"/>
                  </a:lnSpc>
                  <a:spcBef>
                    <a:spcPts val="235"/>
                  </a:spcBef>
                </a:pPr>
                <a14:m>
                  <m:oMath xmlns:m="http://schemas.openxmlformats.org/officeDocument/2006/math">
                    <m:acc>
                      <m:accPr>
                        <m:chr m:val="̂"/>
                        <m:ctrlPr>
                          <a:rPr lang="ar-AE" sz="1000" i="1" spc="-25" dirty="0" smtClean="0">
                            <a:solidFill>
                              <a:srgbClr val="22373A"/>
                            </a:solidFill>
                            <a:latin typeface="Cambria Math" panose="02040503050406030204" pitchFamily="18" charset="0"/>
                            <a:cs typeface="Times New Roman"/>
                          </a:rPr>
                        </m:ctrlPr>
                      </m:accPr>
                      <m:e>
                        <m:r>
                          <a:rPr lang="ar-AE" sz="1000" i="1" spc="-25" dirty="0" smtClean="0">
                            <a:solidFill>
                              <a:srgbClr val="22373A"/>
                            </a:solidFill>
                            <a:latin typeface="Cambria Math" panose="02040503050406030204" pitchFamily="18" charset="0"/>
                            <a:cs typeface="Times New Roman"/>
                          </a:rPr>
                          <m:t>𝑦</m:t>
                        </m:r>
                        <m:r>
                          <m:rPr>
                            <m:nor/>
                          </m:rPr>
                          <a:rPr lang="en-US" sz="1050" i="1" spc="-37" baseline="-10416" dirty="0" err="1">
                            <a:solidFill>
                              <a:srgbClr val="22373A"/>
                            </a:solidFill>
                            <a:latin typeface="Times New Roman"/>
                            <a:cs typeface="Times New Roman"/>
                          </a:rPr>
                          <m:t>i</m:t>
                        </m:r>
                      </m:e>
                    </m:acc>
                  </m:oMath>
                </a14:m>
                <a:r>
                  <a:rPr lang="ar-AE" sz="1000" spc="-20" dirty="0">
                    <a:solidFill>
                      <a:srgbClr val="22373A"/>
                    </a:solidFill>
                    <a:latin typeface="Arial"/>
                    <a:cs typeface="Arial"/>
                  </a:rPr>
                  <a:t>.</a:t>
                </a:r>
                <a:endParaRPr lang="ar-AE" sz="1000" dirty="0">
                  <a:latin typeface="Arial"/>
                  <a:cs typeface="Arial"/>
                </a:endParaRPr>
              </a:p>
              <a:p>
                <a:pPr marL="1680210">
                  <a:lnSpc>
                    <a:spcPct val="100000"/>
                  </a:lnSpc>
                  <a:spcBef>
                    <a:spcPts val="240"/>
                  </a:spcBef>
                </a:pPr>
                <a:r>
                  <a:rPr lang="en-US" sz="1100" i="1" dirty="0">
                    <a:solidFill>
                      <a:srgbClr val="22373A"/>
                    </a:solidFill>
                    <a:latin typeface="Times New Roman"/>
                    <a:cs typeface="Times New Roman"/>
                  </a:rPr>
                  <a:t>e</a:t>
                </a:r>
                <a:r>
                  <a:rPr lang="en-US" sz="1200" i="1" baseline="-10416" dirty="0">
                    <a:solidFill>
                      <a:srgbClr val="22373A"/>
                    </a:solidFill>
                    <a:latin typeface="Times New Roman"/>
                    <a:cs typeface="Times New Roman"/>
                  </a:rPr>
                  <a:t>i</a:t>
                </a:r>
                <a:r>
                  <a:rPr lang="en-US" sz="1200" i="1" spc="202" baseline="-10416"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5" dirty="0">
                    <a:solidFill>
                      <a:srgbClr val="22373A"/>
                    </a:solidFill>
                    <a:latin typeface="Lucida Sans"/>
                    <a:cs typeface="Lucida Sans"/>
                  </a:rPr>
                  <a:t> </a:t>
                </a:r>
                <a:r>
                  <a:rPr lang="en-US" sz="1100" i="1" dirty="0">
                    <a:solidFill>
                      <a:srgbClr val="22373A"/>
                    </a:solidFill>
                    <a:latin typeface="Times New Roman"/>
                    <a:cs typeface="Times New Roman"/>
                  </a:rPr>
                  <a:t>y</a:t>
                </a:r>
                <a:r>
                  <a:rPr lang="en-US" sz="1200" i="1" baseline="-10416" dirty="0">
                    <a:solidFill>
                      <a:srgbClr val="22373A"/>
                    </a:solidFill>
                    <a:latin typeface="Times New Roman"/>
                    <a:cs typeface="Times New Roman"/>
                  </a:rPr>
                  <a:t>i</a:t>
                </a:r>
                <a:r>
                  <a:rPr lang="en-US" sz="1200" i="1" spc="127" baseline="-10416" dirty="0">
                    <a:solidFill>
                      <a:srgbClr val="22373A"/>
                    </a:solidFill>
                    <a:latin typeface="Times New Roman"/>
                    <a:cs typeface="Times New Roman"/>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14:m>
                  <m:oMath xmlns:m="http://schemas.openxmlformats.org/officeDocument/2006/math">
                    <m:acc>
                      <m:accPr>
                        <m:chr m:val="̂"/>
                        <m:ctrlPr>
                          <a:rPr lang="ar-AE" sz="1100" i="1" spc="-25" dirty="0" smtClean="0">
                            <a:solidFill>
                              <a:srgbClr val="22373A"/>
                            </a:solidFill>
                            <a:latin typeface="Cambria Math" panose="02040503050406030204" pitchFamily="18" charset="0"/>
                            <a:cs typeface="Times New Roman"/>
                          </a:rPr>
                        </m:ctrlPr>
                      </m:accPr>
                      <m:e>
                        <m:r>
                          <a:rPr lang="ar-AE" sz="1100" i="1" spc="-25" dirty="0" smtClean="0">
                            <a:solidFill>
                              <a:srgbClr val="22373A"/>
                            </a:solidFill>
                            <a:latin typeface="Cambria Math" panose="02040503050406030204" pitchFamily="18" charset="0"/>
                            <a:cs typeface="Times New Roman"/>
                          </a:rPr>
                          <m:t>𝑦</m:t>
                        </m:r>
                        <m:r>
                          <m:rPr>
                            <m:nor/>
                          </m:rPr>
                          <a:rPr lang="en-US" sz="1200" i="1" spc="-37" baseline="-10416" dirty="0" err="1">
                            <a:solidFill>
                              <a:srgbClr val="22373A"/>
                            </a:solidFill>
                            <a:latin typeface="Times New Roman"/>
                            <a:cs typeface="Times New Roman"/>
                          </a:rPr>
                          <m:t>i</m:t>
                        </m:r>
                      </m:e>
                    </m:acc>
                  </m:oMath>
                </a14:m>
                <a:endParaRPr lang="ar-AE" sz="1200" baseline="-10416" dirty="0">
                  <a:latin typeface="Times New Roman"/>
                  <a:cs typeface="Times New Roman"/>
                </a:endParaRPr>
              </a:p>
            </p:txBody>
          </p:sp>
        </mc:Choice>
        <mc:Fallback>
          <p:sp>
            <p:nvSpPr>
              <p:cNvPr id="4" name="object 4"/>
              <p:cNvSpPr txBox="1">
                <a:spLocks noRot="1" noChangeAspect="1" noMove="1" noResize="1" noEditPoints="1" noAdjustHandles="1" noChangeArrowheads="1" noChangeShapeType="1" noTextEdit="1"/>
              </p:cNvSpPr>
              <p:nvPr/>
            </p:nvSpPr>
            <p:spPr>
              <a:xfrm>
                <a:off x="321894" y="455668"/>
                <a:ext cx="3935729" cy="882015"/>
              </a:xfrm>
              <a:prstGeom prst="rect">
                <a:avLst/>
              </a:prstGeom>
              <a:blipFill>
                <a:blip r:embed="rId2"/>
                <a:stretch>
                  <a:fillRect l="-1085" t="-3472" r="-155" b="-6944"/>
                </a:stretch>
              </a:blipFill>
            </p:spPr>
            <p:txBody>
              <a:bodyPr/>
              <a:lstStyle/>
              <a:p>
                <a:r>
                  <a:rPr lang="en-US">
                    <a:noFill/>
                  </a:rPr>
                  <a:t> </a:t>
                </a:r>
              </a:p>
            </p:txBody>
          </p:sp>
        </mc:Fallback>
      </mc:AlternateContent>
      <p:grpSp>
        <p:nvGrpSpPr>
          <p:cNvPr id="5" name="object 5"/>
          <p:cNvGrpSpPr/>
          <p:nvPr/>
        </p:nvGrpSpPr>
        <p:grpSpPr>
          <a:xfrm>
            <a:off x="631899" y="1613029"/>
            <a:ext cx="1804035" cy="1410970"/>
            <a:chOff x="631899" y="1613029"/>
            <a:chExt cx="1804035"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8"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8"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8"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8"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982171" y="2979052"/>
              <a:ext cx="1186180" cy="42545"/>
            </a:xfrm>
            <a:custGeom>
              <a:avLst/>
              <a:gdLst/>
              <a:ahLst/>
              <a:cxnLst/>
              <a:rect l="l" t="t" r="r" b="b"/>
              <a:pathLst>
                <a:path w="1186180" h="42544">
                  <a:moveTo>
                    <a:pt x="0" y="0"/>
                  </a:moveTo>
                  <a:lnTo>
                    <a:pt x="1186123" y="0"/>
                  </a:lnTo>
                </a:path>
                <a:path w="1186180" h="42544">
                  <a:moveTo>
                    <a:pt x="0" y="0"/>
                  </a:moveTo>
                  <a:lnTo>
                    <a:pt x="0" y="42416"/>
                  </a:lnTo>
                </a:path>
                <a:path w="1186180" h="42544">
                  <a:moveTo>
                    <a:pt x="593061" y="0"/>
                  </a:moveTo>
                  <a:lnTo>
                    <a:pt x="593061" y="42416"/>
                  </a:lnTo>
                </a:path>
                <a:path w="1186180"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910501"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1503563"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85</a:t>
            </a:r>
            <a:endParaRPr sz="800">
              <a:latin typeface="Arial"/>
              <a:cs typeface="Arial"/>
            </a:endParaRPr>
          </a:p>
        </p:txBody>
      </p:sp>
      <p:sp>
        <p:nvSpPr>
          <p:cNvPr id="111" name="object 111"/>
          <p:cNvSpPr txBox="1"/>
          <p:nvPr/>
        </p:nvSpPr>
        <p:spPr>
          <a:xfrm>
            <a:off x="2096625"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2" name="object 112"/>
          <p:cNvSpPr/>
          <p:nvPr/>
        </p:nvSpPr>
        <p:spPr>
          <a:xfrm>
            <a:off x="536918" y="1631157"/>
            <a:ext cx="42545" cy="1254760"/>
          </a:xfrm>
          <a:custGeom>
            <a:avLst/>
            <a:gdLst/>
            <a:ahLst/>
            <a:cxnLst/>
            <a:rect l="l" t="t" r="r" b="b"/>
            <a:pathLst>
              <a:path w="42545" h="1254760">
                <a:moveTo>
                  <a:pt x="42416" y="1254225"/>
                </a:moveTo>
                <a:lnTo>
                  <a:pt x="42416" y="0"/>
                </a:lnTo>
              </a:path>
              <a:path w="42545" h="1254760">
                <a:moveTo>
                  <a:pt x="42416" y="1254225"/>
                </a:moveTo>
                <a:lnTo>
                  <a:pt x="0" y="1254225"/>
                </a:lnTo>
              </a:path>
              <a:path w="42545" h="1254760">
                <a:moveTo>
                  <a:pt x="42416" y="1045207"/>
                </a:moveTo>
                <a:lnTo>
                  <a:pt x="0" y="1045207"/>
                </a:lnTo>
              </a:path>
              <a:path w="42545" h="1254760">
                <a:moveTo>
                  <a:pt x="42416" y="836189"/>
                </a:moveTo>
                <a:lnTo>
                  <a:pt x="0" y="836189"/>
                </a:lnTo>
              </a:path>
              <a:path w="42545" h="1254760">
                <a:moveTo>
                  <a:pt x="42416" y="627112"/>
                </a:moveTo>
                <a:lnTo>
                  <a:pt x="0" y="627112"/>
                </a:lnTo>
              </a:path>
              <a:path w="42545" h="1254760">
                <a:moveTo>
                  <a:pt x="42416" y="418094"/>
                </a:moveTo>
                <a:lnTo>
                  <a:pt x="0" y="418094"/>
                </a:lnTo>
              </a:path>
              <a:path w="42545" h="1254760">
                <a:moveTo>
                  <a:pt x="42416" y="209017"/>
                </a:moveTo>
                <a:lnTo>
                  <a:pt x="0" y="209017"/>
                </a:lnTo>
              </a:path>
              <a:path w="42545" h="1254760">
                <a:moveTo>
                  <a:pt x="42416" y="0"/>
                </a:moveTo>
                <a:lnTo>
                  <a:pt x="0" y="0"/>
                </a:lnTo>
              </a:path>
            </a:pathLst>
          </a:custGeom>
          <a:ln w="4418">
            <a:solidFill>
              <a:srgbClr val="000000"/>
            </a:solidFill>
          </a:ln>
        </p:spPr>
        <p:txBody>
          <a:bodyPr wrap="square" lIns="0" tIns="0" rIns="0" bIns="0" rtlCol="0"/>
          <a:lstStyle/>
          <a:p>
            <a:endParaRPr/>
          </a:p>
        </p:txBody>
      </p:sp>
      <p:sp>
        <p:nvSpPr>
          <p:cNvPr id="113" name="object 113"/>
          <p:cNvSpPr txBox="1"/>
          <p:nvPr/>
        </p:nvSpPr>
        <p:spPr>
          <a:xfrm>
            <a:off x="389311" y="1550474"/>
            <a:ext cx="143510" cy="140716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85"/>
              </a:spcBef>
            </a:pPr>
            <a:r>
              <a:rPr sz="800" spc="-50" dirty="0">
                <a:latin typeface="Arial"/>
                <a:cs typeface="Arial"/>
              </a:rPr>
              <a:t>6</a:t>
            </a:r>
            <a:endParaRPr sz="800">
              <a:latin typeface="Arial"/>
              <a:cs typeface="Arial"/>
            </a:endParaRPr>
          </a:p>
        </p:txBody>
      </p:sp>
      <p:grpSp>
        <p:nvGrpSpPr>
          <p:cNvPr id="114" name="object 114"/>
          <p:cNvGrpSpPr/>
          <p:nvPr/>
        </p:nvGrpSpPr>
        <p:grpSpPr>
          <a:xfrm>
            <a:off x="577112" y="1577093"/>
            <a:ext cx="1913255" cy="1404620"/>
            <a:chOff x="577112" y="1577093"/>
            <a:chExt cx="1913255" cy="1404620"/>
          </a:xfrm>
        </p:grpSpPr>
        <p:sp>
          <p:nvSpPr>
            <p:cNvPr id="115" name="object 115"/>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6" name="object 116"/>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7" name="object 117"/>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8" name="object 118"/>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9" name="object 119"/>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21" name="object 121"/>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22" name="object 122"/>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23" name="object 123"/>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4" name="object 124"/>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5" name="object 125"/>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6" name="object 126"/>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7" name="object 127"/>
          <p:cNvSpPr txBox="1"/>
          <p:nvPr/>
        </p:nvSpPr>
        <p:spPr>
          <a:xfrm>
            <a:off x="2939897" y="1751199"/>
            <a:ext cx="1399540" cy="1250950"/>
          </a:xfrm>
          <a:prstGeom prst="rect">
            <a:avLst/>
          </a:prstGeom>
        </p:spPr>
        <p:txBody>
          <a:bodyPr vert="horz" wrap="square" lIns="0" tIns="11430" rIns="0" bIns="0" rtlCol="0">
            <a:spAutoFit/>
          </a:bodyPr>
          <a:lstStyle/>
          <a:p>
            <a:pPr marL="147955" marR="41275"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147955" marR="5080" indent="-135890" algn="just">
              <a:lnSpc>
                <a:spcPct val="129800"/>
              </a:lnSpc>
              <a:spcBef>
                <a:spcPts val="30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RI</a:t>
            </a:r>
            <a:r>
              <a:rPr sz="1000" spc="6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4.16%</a:t>
            </a:r>
            <a:r>
              <a:rPr sz="1000" spc="65" dirty="0">
                <a:solidFill>
                  <a:srgbClr val="22373A"/>
                </a:solidFill>
                <a:latin typeface="Arial"/>
                <a:cs typeface="Arial"/>
              </a:rPr>
              <a:t> </a:t>
            </a:r>
            <a:r>
              <a:rPr sz="1000" dirty="0">
                <a:solidFill>
                  <a:srgbClr val="22373A"/>
                </a:solidFill>
                <a:latin typeface="Arial"/>
                <a:cs typeface="Arial"/>
              </a:rPr>
              <a:t>less</a:t>
            </a:r>
            <a:r>
              <a:rPr sz="1000" spc="65" dirty="0">
                <a:solidFill>
                  <a:srgbClr val="22373A"/>
                </a:solidFill>
                <a:latin typeface="Arial"/>
                <a:cs typeface="Arial"/>
              </a:rPr>
              <a:t> </a:t>
            </a:r>
            <a:r>
              <a:rPr sz="1000" spc="-20" dirty="0">
                <a:solidFill>
                  <a:srgbClr val="22373A"/>
                </a:solidFill>
                <a:latin typeface="Arial"/>
                <a:cs typeface="Arial"/>
              </a:rPr>
              <a:t>than 	</a:t>
            </a:r>
            <a:r>
              <a:rPr sz="1000" spc="-10" dirty="0">
                <a:solidFill>
                  <a:srgbClr val="22373A"/>
                </a:solidFill>
                <a:latin typeface="Arial"/>
                <a:cs typeface="Arial"/>
              </a:rPr>
              <a:t>predicted.</a:t>
            </a:r>
            <a:endParaRPr sz="1000">
              <a:latin typeface="Arial"/>
              <a:cs typeface="Arial"/>
            </a:endParaRPr>
          </a:p>
        </p:txBody>
      </p:sp>
      <p:sp>
        <p:nvSpPr>
          <p:cNvPr id="128" name="object 128"/>
          <p:cNvSpPr txBox="1"/>
          <p:nvPr/>
        </p:nvSpPr>
        <p:spPr>
          <a:xfrm>
            <a:off x="1265148" y="3150304"/>
            <a:ext cx="537210" cy="144145"/>
          </a:xfrm>
          <a:prstGeom prst="rect">
            <a:avLst/>
          </a:prstGeom>
        </p:spPr>
        <p:txBody>
          <a:bodyPr vert="horz" wrap="square" lIns="0" tIns="6985" rIns="0" bIns="0" rtlCol="0">
            <a:spAutoFit/>
          </a:bodyPr>
          <a:lstStyle/>
          <a:p>
            <a:pPr marL="12700">
              <a:lnSpc>
                <a:spcPct val="100000"/>
              </a:lnSpc>
              <a:spcBef>
                <a:spcPts val="55"/>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9" name="object 129"/>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7</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txBox="1">
            <a:spLocks noGrp="1"/>
          </p:cNvSpPr>
          <p:nvPr>
            <p:ph type="title"/>
          </p:nvPr>
        </p:nvSpPr>
        <p:spPr>
          <a:xfrm>
            <a:off x="843508" y="1235910"/>
            <a:ext cx="2446020" cy="549275"/>
          </a:xfrm>
          <a:prstGeom prst="rect">
            <a:avLst/>
          </a:prstGeom>
        </p:spPr>
        <p:txBody>
          <a:bodyPr vert="horz" wrap="square" lIns="0" tIns="12065" rIns="0" bIns="0" rtlCol="0">
            <a:spAutoFit/>
          </a:bodyPr>
          <a:lstStyle/>
          <a:p>
            <a:pPr marL="12700" marR="5080">
              <a:lnSpc>
                <a:spcPct val="127299"/>
              </a:lnSpc>
              <a:spcBef>
                <a:spcPts val="95"/>
              </a:spcBef>
            </a:pPr>
            <a:r>
              <a:rPr sz="1350" dirty="0">
                <a:solidFill>
                  <a:srgbClr val="22373A"/>
                </a:solidFill>
                <a:hlinkClick r:id="rId2" action="ppaction://hlinksldjump"/>
              </a:rPr>
              <a:t>Fitting</a:t>
            </a:r>
            <a:r>
              <a:rPr sz="1350" spc="5" dirty="0">
                <a:solidFill>
                  <a:srgbClr val="22373A"/>
                </a:solidFill>
                <a:hlinkClick r:id="rId2" action="ppaction://hlinksldjump"/>
              </a:rPr>
              <a:t> </a:t>
            </a:r>
            <a:r>
              <a:rPr sz="1350" dirty="0">
                <a:solidFill>
                  <a:srgbClr val="22373A"/>
                </a:solidFill>
                <a:hlinkClick r:id="rId2" action="ppaction://hlinksldjump"/>
              </a:rPr>
              <a:t>a</a:t>
            </a:r>
            <a:r>
              <a:rPr sz="1350" spc="10" dirty="0">
                <a:solidFill>
                  <a:srgbClr val="22373A"/>
                </a:solidFill>
                <a:hlinkClick r:id="rId2" action="ppaction://hlinksldjump"/>
              </a:rPr>
              <a:t> </a:t>
            </a:r>
            <a:r>
              <a:rPr sz="1350" dirty="0">
                <a:solidFill>
                  <a:srgbClr val="22373A"/>
                </a:solidFill>
                <a:hlinkClick r:id="rId2" action="ppaction://hlinksldjump"/>
              </a:rPr>
              <a:t>line</a:t>
            </a:r>
            <a:r>
              <a:rPr sz="1350" spc="5" dirty="0">
                <a:solidFill>
                  <a:srgbClr val="22373A"/>
                </a:solidFill>
                <a:hlinkClick r:id="rId2" action="ppaction://hlinksldjump"/>
              </a:rPr>
              <a:t> </a:t>
            </a:r>
            <a:r>
              <a:rPr sz="1350" dirty="0">
                <a:solidFill>
                  <a:srgbClr val="22373A"/>
                </a:solidFill>
                <a:hlinkClick r:id="rId2" action="ppaction://hlinksldjump"/>
              </a:rPr>
              <a:t>by</a:t>
            </a:r>
            <a:r>
              <a:rPr sz="1350" spc="10" dirty="0">
                <a:solidFill>
                  <a:srgbClr val="22373A"/>
                </a:solidFill>
                <a:hlinkClick r:id="rId2" action="ppaction://hlinksldjump"/>
              </a:rPr>
              <a:t> </a:t>
            </a:r>
            <a:r>
              <a:rPr sz="1350" dirty="0">
                <a:solidFill>
                  <a:srgbClr val="22373A"/>
                </a:solidFill>
                <a:hlinkClick r:id="rId2" action="ppaction://hlinksldjump"/>
              </a:rPr>
              <a:t>least</a:t>
            </a:r>
            <a:r>
              <a:rPr sz="1350" spc="5" dirty="0">
                <a:solidFill>
                  <a:srgbClr val="22373A"/>
                </a:solidFill>
                <a:hlinkClick r:id="rId2" action="ppaction://hlinksldjump"/>
              </a:rPr>
              <a:t> </a:t>
            </a:r>
            <a:r>
              <a:rPr sz="1350" spc="-10" dirty="0">
                <a:solidFill>
                  <a:srgbClr val="22373A"/>
                </a:solidFill>
                <a:hlinkClick r:id="rId2" action="ppaction://hlinksldjump"/>
              </a:rPr>
              <a:t>squares</a:t>
            </a:r>
            <a:r>
              <a:rPr sz="1350" spc="-10" dirty="0">
                <a:solidFill>
                  <a:srgbClr val="22373A"/>
                </a:solidFill>
              </a:rPr>
              <a:t> </a:t>
            </a:r>
            <a:r>
              <a:rPr sz="1350" spc="-10" dirty="0">
                <a:solidFill>
                  <a:srgbClr val="22373A"/>
                </a:solidFill>
                <a:hlinkClick r:id="rId2" action="ppaction://hlinksldjump"/>
              </a:rPr>
              <a:t>regression</a:t>
            </a:r>
            <a:endParaRPr sz="1350"/>
          </a:p>
        </p:txBody>
      </p:sp>
      <p:grpSp>
        <p:nvGrpSpPr>
          <p:cNvPr id="4" name="object 4"/>
          <p:cNvGrpSpPr/>
          <p:nvPr/>
        </p:nvGrpSpPr>
        <p:grpSpPr>
          <a:xfrm>
            <a:off x="856208" y="1902567"/>
            <a:ext cx="2896235" cy="5080"/>
            <a:chOff x="856208" y="1902567"/>
            <a:chExt cx="2896235" cy="5080"/>
          </a:xfrm>
        </p:grpSpPr>
        <p:sp>
          <p:nvSpPr>
            <p:cNvPr id="5" name="object 5"/>
            <p:cNvSpPr/>
            <p:nvPr/>
          </p:nvSpPr>
          <p:spPr>
            <a:xfrm>
              <a:off x="856208" y="1902567"/>
              <a:ext cx="2896235" cy="5080"/>
            </a:xfrm>
            <a:custGeom>
              <a:avLst/>
              <a:gdLst/>
              <a:ahLst/>
              <a:cxnLst/>
              <a:rect l="l" t="t" r="r" b="b"/>
              <a:pathLst>
                <a:path w="2896235" h="5080">
                  <a:moveTo>
                    <a:pt x="0" y="5060"/>
                  </a:moveTo>
                  <a:lnTo>
                    <a:pt x="0" y="0"/>
                  </a:lnTo>
                  <a:lnTo>
                    <a:pt x="2895623" y="0"/>
                  </a:lnTo>
                  <a:lnTo>
                    <a:pt x="2895623" y="5060"/>
                  </a:lnTo>
                  <a:lnTo>
                    <a:pt x="0" y="5060"/>
                  </a:lnTo>
                  <a:close/>
                </a:path>
              </a:pathLst>
            </a:custGeom>
            <a:solidFill>
              <a:srgbClr val="D5C5B6"/>
            </a:solidFill>
          </p:spPr>
          <p:txBody>
            <a:bodyPr wrap="square" lIns="0" tIns="0" rIns="0" bIns="0" rtlCol="0"/>
            <a:lstStyle/>
            <a:p>
              <a:endParaRPr/>
            </a:p>
          </p:txBody>
        </p:sp>
        <p:sp>
          <p:nvSpPr>
            <p:cNvPr id="6" name="object 6"/>
            <p:cNvSpPr/>
            <p:nvPr/>
          </p:nvSpPr>
          <p:spPr>
            <a:xfrm>
              <a:off x="856208" y="1902567"/>
              <a:ext cx="589915" cy="5080"/>
            </a:xfrm>
            <a:custGeom>
              <a:avLst/>
              <a:gdLst/>
              <a:ahLst/>
              <a:cxnLst/>
              <a:rect l="l" t="t" r="r" b="b"/>
              <a:pathLst>
                <a:path w="589915" h="5080">
                  <a:moveTo>
                    <a:pt x="0" y="5060"/>
                  </a:moveTo>
                  <a:lnTo>
                    <a:pt x="0" y="0"/>
                  </a:lnTo>
                  <a:lnTo>
                    <a:pt x="589852" y="0"/>
                  </a:lnTo>
                  <a:lnTo>
                    <a:pt x="589852" y="5060"/>
                  </a:lnTo>
                  <a:lnTo>
                    <a:pt x="0" y="5060"/>
                  </a:lnTo>
                  <a:close/>
                </a:path>
              </a:pathLst>
            </a:custGeom>
            <a:solidFill>
              <a:srgbClr val="EB801A"/>
            </a:solidFill>
          </p:spPr>
          <p:txBody>
            <a:bodyPr wrap="square" lIns="0" tIns="0" rIns="0" bIns="0" rtlCol="0"/>
            <a:lstStyle/>
            <a:p>
              <a:endParaRPr/>
            </a:p>
          </p:txBody>
        </p:sp>
      </p:gr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36065" y="3276497"/>
            <a:ext cx="1037273" cy="184253"/>
          </a:xfrm>
          <a:prstGeom prst="rect">
            <a:avLst/>
          </a:prstGeom>
        </p:spPr>
        <p:txBody>
          <a:bodyPr vert="horz" lIns="91440" tIns="45720" rIns="91440" bIns="45720" rtlCol="0" anchor="ctr"/>
          <a:lstStyle>
            <a:defPPr>
              <a:defRPr kern="0"/>
            </a:defPPr>
            <a:lvl1pPr algn="l">
              <a:defRPr sz="454">
                <a:solidFill>
                  <a:schemeClr val="tx1">
                    <a:tint val="82000"/>
                  </a:schemeClr>
                </a:solidFill>
              </a:defRPr>
            </a:lvl1pPr>
          </a:lstStyle>
          <a:p>
            <a:pPr defTabSz="345735" rtl="0"/>
            <a:fld id="{B9EAF301-0D02-440D-8BAB-7507B1BE5B26}" type="datetimeFigureOut">
              <a:rPr lang="en-US" smtClean="0"/>
              <a:pPr/>
              <a:t>1/26/2026</a:t>
            </a:fld>
            <a:endParaRPr lang="ru-RU" kern="1200" dirty="0">
              <a:solidFill>
                <a:prstClr val="black">
                  <a:tint val="82000"/>
                </a:prstClr>
              </a:solidFill>
              <a:latin typeface="Aptos" panose="02110004020202020204"/>
              <a:ea typeface="+mn-ea"/>
              <a:cs typeface="+mn-cs"/>
            </a:endParaRPr>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34290" y="68894"/>
            <a:ext cx="3976211" cy="326922"/>
          </a:xfrm>
        </p:spPr>
        <p:txBody>
          <a:bodyPr>
            <a:normAutofit/>
          </a:bodyPr>
          <a:lstStyle/>
          <a:p>
            <a:r>
              <a:rPr lang="en-US" sz="1100" dirty="0">
                <a:latin typeface="Arial" panose="020B0604020202020204" pitchFamily="34" charset="0"/>
                <a:cs typeface="Arial" panose="020B0604020202020204" pitchFamily="34" charset="0"/>
              </a:rPr>
              <a:t>Formal statement of the model</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109904" y="838550"/>
            <a:ext cx="3976211" cy="2195814"/>
          </a:xfrm>
        </p:spPr>
        <p:txBody>
          <a:bodyPr>
            <a:noAutofit/>
          </a:bodyPr>
          <a:lstStyle/>
          <a:p>
            <a:pPr>
              <a:lnSpc>
                <a:spcPct val="100000"/>
              </a:lnSpc>
              <a:spcBef>
                <a:spcPts val="0"/>
              </a:spcBef>
            </a:pPr>
            <a:r>
              <a:rPr lang="en-US" altLang="ar-SA" sz="1000" dirty="0">
                <a:latin typeface="Arial" panose="020B0604020202020204" pitchFamily="34" charset="0"/>
                <a:cs typeface="Arial" panose="020B0604020202020204" pitchFamily="34" charset="0"/>
              </a:rPr>
              <a:t>If the scatter plot of our sample data suggests a linear relationship between two variables i.e. we can summarize the relationship by drawing a straight line on the plot.</a:t>
            </a:r>
          </a:p>
          <a:p>
            <a:pPr>
              <a:lnSpc>
                <a:spcPct val="100000"/>
              </a:lnSpc>
              <a:spcBef>
                <a:spcPts val="0"/>
              </a:spcBef>
            </a:pPr>
            <a:endParaRPr lang="en-US" altLang="ar-SA"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dirty="0">
                <a:latin typeface="Arial" panose="020B0604020202020204" pitchFamily="34" charset="0"/>
                <a:cs typeface="Arial" panose="020B0604020202020204" pitchFamily="34" charset="0"/>
                <a:sym typeface="Symbol" pitchFamily="18" charset="2"/>
              </a:rPr>
              <a:t>The values of the regression </a:t>
            </a:r>
            <a:r>
              <a:rPr lang="en-US" altLang="en-US" sz="1000" u="sng" dirty="0">
                <a:latin typeface="Arial" panose="020B0604020202020204" pitchFamily="34" charset="0"/>
                <a:cs typeface="Arial" panose="020B0604020202020204" pitchFamily="34" charset="0"/>
                <a:sym typeface="Symbol" pitchFamily="18" charset="2"/>
              </a:rPr>
              <a:t>parameters</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a:t>
            </a:r>
            <a:r>
              <a:rPr lang="en-US" altLang="en-US" sz="1000" dirty="0">
                <a:latin typeface="Arial" panose="020B0604020202020204" pitchFamily="34" charset="0"/>
                <a:cs typeface="Arial" panose="020B0604020202020204" pitchFamily="34" charset="0"/>
                <a:sym typeface="Symbol" pitchFamily="18" charset="2"/>
              </a:rPr>
              <a:t>, and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 </a:t>
            </a:r>
            <a:r>
              <a:rPr lang="en-US" altLang="en-US" sz="1000" dirty="0">
                <a:latin typeface="Arial" panose="020B0604020202020204" pitchFamily="34" charset="0"/>
                <a:cs typeface="Arial" panose="020B0604020202020204" pitchFamily="34" charset="0"/>
                <a:sym typeface="Symbol" pitchFamily="18" charset="2"/>
              </a:rPr>
              <a:t>are not known. We estimate them from data. </a:t>
            </a:r>
          </a:p>
          <a:p>
            <a:pPr marL="228600" lvl="1" indent="-171450">
              <a:lnSpc>
                <a:spcPct val="100000"/>
              </a:lnSpc>
              <a:spcBef>
                <a:spcPts val="0"/>
              </a:spcBef>
              <a:buFont typeface="Arial" panose="020B0604020202020204" pitchFamily="34" charset="0"/>
              <a:buChar char="•"/>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  </a:t>
            </a:r>
            <a:r>
              <a:rPr lang="en-US" altLang="en-US" sz="1000" dirty="0">
                <a:latin typeface="Arial" panose="020B0604020202020204" pitchFamily="34" charset="0"/>
                <a:cs typeface="Arial" panose="020B0604020202020204" pitchFamily="34" charset="0"/>
                <a:sym typeface="Symbol" pitchFamily="18" charset="2"/>
              </a:rPr>
              <a:t>is the intercept of Y</a:t>
            </a:r>
          </a:p>
          <a:p>
            <a:pPr marL="228600" lvl="1" indent="-171450">
              <a:lnSpc>
                <a:spcPct val="100000"/>
              </a:lnSpc>
              <a:spcBef>
                <a:spcPts val="0"/>
              </a:spcBef>
              <a:buFont typeface="Arial" panose="020B0604020202020204" pitchFamily="34" charset="0"/>
              <a:buChar char="•"/>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a:t>
            </a:r>
            <a:r>
              <a:rPr lang="en-US" altLang="en-US" sz="1000" dirty="0">
                <a:latin typeface="Arial" panose="020B0604020202020204" pitchFamily="34" charset="0"/>
                <a:cs typeface="Arial" panose="020B0604020202020204" pitchFamily="34" charset="0"/>
                <a:sym typeface="Symbol" pitchFamily="18" charset="2"/>
              </a:rPr>
              <a:t> is the change in </a:t>
            </a:r>
            <a:r>
              <a:rPr lang="en-US" altLang="en-US" sz="1000" i="1" dirty="0">
                <a:latin typeface="Arial" panose="020B0604020202020204" pitchFamily="34" charset="0"/>
                <a:cs typeface="Arial" panose="020B0604020202020204" pitchFamily="34" charset="0"/>
                <a:sym typeface="Symbol" pitchFamily="18" charset="2"/>
              </a:rPr>
              <a:t>Y</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u="sng" dirty="0">
                <a:latin typeface="Arial" panose="020B0604020202020204" pitchFamily="34" charset="0"/>
                <a:cs typeface="Arial" panose="020B0604020202020204" pitchFamily="34" charset="0"/>
                <a:sym typeface="Symbol" pitchFamily="18" charset="2"/>
              </a:rPr>
              <a:t>per a 1-unit increase </a:t>
            </a:r>
            <a:r>
              <a:rPr lang="en-US" altLang="en-US" sz="1000" dirty="0">
                <a:latin typeface="Arial" panose="020B0604020202020204" pitchFamily="34" charset="0"/>
                <a:cs typeface="Arial" panose="020B0604020202020204" pitchFamily="34" charset="0"/>
                <a:sym typeface="Symbol" pitchFamily="18" charset="2"/>
              </a:rPr>
              <a:t>in X</a:t>
            </a:r>
          </a:p>
          <a:p>
            <a:pPr marL="228600" lvl="1" indent="-171450">
              <a:lnSpc>
                <a:spcPct val="100000"/>
              </a:lnSpc>
              <a:spcBef>
                <a:spcPts val="0"/>
              </a:spcBef>
              <a:buFont typeface="Arial" panose="020B0604020202020204" pitchFamily="34" charset="0"/>
              <a:buChar char="•"/>
              <a:defRPr/>
            </a:pPr>
            <a:r>
              <a:rPr lang="en-US" sz="1000" b="1" dirty="0">
                <a:latin typeface="Arial" panose="020B0604020202020204" pitchFamily="34" charset="0"/>
                <a:cs typeface="Arial" panose="020B0604020202020204" pitchFamily="34" charset="0"/>
                <a:sym typeface="Symbol" pitchFamily="18" charset="2"/>
              </a:rPr>
              <a:t>Note</a:t>
            </a:r>
            <a:r>
              <a:rPr lang="en-US" sz="1000" dirty="0">
                <a:latin typeface="Arial" panose="020B0604020202020204" pitchFamily="34" charset="0"/>
                <a:cs typeface="Arial" panose="020B0604020202020204" pitchFamily="34" charset="0"/>
                <a:sym typeface="Symbol" pitchFamily="18" charset="2"/>
              </a:rPr>
              <a:t>: the unit of increase depends on how </a:t>
            </a:r>
            <a:r>
              <a:rPr lang="en-US" sz="1000" b="1" i="1" dirty="0">
                <a:latin typeface="Arial" panose="020B0604020202020204" pitchFamily="34" charset="0"/>
                <a:cs typeface="Arial" panose="020B0604020202020204" pitchFamily="34" charset="0"/>
                <a:sym typeface="Symbol" pitchFamily="18" charset="2"/>
              </a:rPr>
              <a:t>X</a:t>
            </a:r>
            <a:r>
              <a:rPr lang="en-US" sz="1000" b="1" dirty="0">
                <a:latin typeface="Arial" panose="020B0604020202020204" pitchFamily="34" charset="0"/>
                <a:cs typeface="Arial" panose="020B0604020202020204" pitchFamily="34" charset="0"/>
                <a:sym typeface="Symbol" pitchFamily="18" charset="2"/>
              </a:rPr>
              <a:t> is measured in your data</a:t>
            </a:r>
            <a:endParaRPr lang="en-US"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is a known independent variable</a:t>
            </a:r>
          </a:p>
          <a:p>
            <a:pPr>
              <a:lnSpc>
                <a:spcPct val="100000"/>
              </a:lnSpc>
              <a:spcBef>
                <a:spcPts val="0"/>
              </a:spcBef>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dirty="0">
                <a:latin typeface="Arial" panose="020B0604020202020204" pitchFamily="34" charset="0"/>
                <a:cs typeface="Arial" panose="020B0604020202020204" pitchFamily="34" charset="0"/>
                <a:sym typeface="Symbol" pitchFamily="18" charset="2"/>
              </a:rPr>
              <a:t> is called the error term </a:t>
            </a:r>
          </a:p>
          <a:p>
            <a:pPr marL="172867" indent="-172867">
              <a:lnSpc>
                <a:spcPct val="100000"/>
              </a:lnSpc>
              <a:spcBef>
                <a:spcPts val="0"/>
              </a:spcBef>
            </a:pPr>
            <a:endParaRPr lang="en-US" altLang="en-US" sz="1000" dirty="0">
              <a:latin typeface="Arial" panose="020B0604020202020204" pitchFamily="34" charset="0"/>
              <a:cs typeface="Arial" panose="020B0604020202020204" pitchFamily="34" charset="0"/>
            </a:endParaRPr>
          </a:p>
          <a:p>
            <a:pPr>
              <a:lnSpc>
                <a:spcPct val="100000"/>
              </a:lnSpc>
              <a:spcBef>
                <a:spcPts val="0"/>
              </a:spcBef>
            </a:pPr>
            <a:endParaRPr lang="en-US" sz="10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62F4CF-7D9D-7A25-3541-6622780921C8}"/>
                  </a:ext>
                </a:extLst>
              </p:cNvPr>
              <p:cNvSpPr txBox="1"/>
              <p:nvPr/>
            </p:nvSpPr>
            <p:spPr>
              <a:xfrm>
                <a:off x="95250" y="429601"/>
                <a:ext cx="1668405" cy="276999"/>
              </a:xfrm>
              <a:prstGeom prst="rect">
                <a:avLst/>
              </a:prstGeom>
              <a:noFill/>
            </p:spPr>
            <p:txBody>
              <a:bodyPr wrap="none" lIns="0" tIns="0" rIns="0" bIns="0" rtlCol="0">
                <a:spAutoFit/>
              </a:bodyPr>
              <a:lstStyle/>
              <a:p>
                <a:pPr algn="l" defTabSz="345735" rtl="0"/>
                <a14:m>
                  <m:oMath xmlns:m="http://schemas.openxmlformats.org/officeDocument/2006/math">
                    <m:r>
                      <a:rPr lang="en-US" i="1" kern="1200" smtClean="0">
                        <a:solidFill>
                          <a:prstClr val="black"/>
                        </a:solidFill>
                        <a:latin typeface="Cambria Math" panose="02040503050406030204" pitchFamily="18" charset="0"/>
                        <a:ea typeface="+mn-ea"/>
                        <a:cs typeface="+mn-cs"/>
                      </a:rPr>
                      <m:t>𝑌</m:t>
                    </m:r>
                    <m:r>
                      <a:rPr lang="en-US" i="1" kern="1200" smtClean="0">
                        <a:solidFill>
                          <a:prstClr val="black"/>
                        </a:solidFill>
                        <a:latin typeface="Cambria Math" panose="02040503050406030204" pitchFamily="18" charset="0"/>
                        <a:ea typeface="+mn-ea"/>
                        <a:cs typeface="+mn-cs"/>
                      </a:rPr>
                      <m:t>= </m:t>
                    </m:r>
                    <m:sSub>
                      <m:sSubPr>
                        <m:ctrlPr>
                          <a:rPr lang="en-US" i="1" kern="1200">
                            <a:solidFill>
                              <a:prstClr val="black"/>
                            </a:solidFill>
                            <a:latin typeface="Cambria Math" panose="02040503050406030204" pitchFamily="18" charset="0"/>
                            <a:ea typeface="+mn-ea"/>
                            <a:cs typeface="+mn-cs"/>
                          </a:rPr>
                        </m:ctrlPr>
                      </m:sSubPr>
                      <m:e>
                        <m:r>
                          <a:rPr lang="en-US" i="1" kern="1200">
                            <a:solidFill>
                              <a:prstClr val="black"/>
                            </a:solidFill>
                            <a:latin typeface="Cambria Math" panose="02040503050406030204" pitchFamily="18" charset="0"/>
                            <a:ea typeface="Cambria Math" panose="02040503050406030204" pitchFamily="18" charset="0"/>
                            <a:cs typeface="+mn-cs"/>
                          </a:rPr>
                          <m:t>𝛽</m:t>
                        </m:r>
                      </m:e>
                      <m:sub>
                        <m:r>
                          <a:rPr lang="en-US" i="1" kern="1200">
                            <a:solidFill>
                              <a:prstClr val="black"/>
                            </a:solidFill>
                            <a:latin typeface="Cambria Math" panose="02040503050406030204" pitchFamily="18" charset="0"/>
                            <a:ea typeface="+mn-ea"/>
                            <a:cs typeface="+mn-cs"/>
                          </a:rPr>
                          <m:t>0</m:t>
                        </m:r>
                      </m:sub>
                    </m:sSub>
                    <m:r>
                      <a:rPr lang="en-US" i="1" kern="1200">
                        <a:solidFill>
                          <a:prstClr val="black"/>
                        </a:solidFill>
                        <a:latin typeface="Cambria Math" panose="02040503050406030204" pitchFamily="18" charset="0"/>
                        <a:ea typeface="+mn-ea"/>
                        <a:cs typeface="+mn-cs"/>
                      </a:rPr>
                      <m:t>+</m:t>
                    </m:r>
                    <m:sSub>
                      <m:sSubPr>
                        <m:ctrlPr>
                          <a:rPr lang="en-US" i="1" kern="1200">
                            <a:solidFill>
                              <a:prstClr val="black"/>
                            </a:solidFill>
                            <a:latin typeface="Cambria Math" panose="02040503050406030204" pitchFamily="18" charset="0"/>
                            <a:ea typeface="+mn-ea"/>
                            <a:cs typeface="+mn-cs"/>
                          </a:rPr>
                        </m:ctrlPr>
                      </m:sSubPr>
                      <m:e>
                        <m:r>
                          <a:rPr lang="en-US" i="1" kern="1200">
                            <a:solidFill>
                              <a:prstClr val="black"/>
                            </a:solidFill>
                            <a:latin typeface="Cambria Math" panose="02040503050406030204" pitchFamily="18" charset="0"/>
                            <a:ea typeface="Cambria Math" panose="02040503050406030204" pitchFamily="18" charset="0"/>
                            <a:cs typeface="+mn-cs"/>
                          </a:rPr>
                          <m:t>𝛽</m:t>
                        </m:r>
                      </m:e>
                      <m:sub>
                        <m:r>
                          <a:rPr lang="en-US" b="0" i="1" kern="1200" smtClean="0">
                            <a:solidFill>
                              <a:prstClr val="black"/>
                            </a:solidFill>
                            <a:latin typeface="Cambria Math" panose="02040503050406030204" pitchFamily="18" charset="0"/>
                            <a:ea typeface="Cambria Math" panose="02040503050406030204" pitchFamily="18" charset="0"/>
                            <a:cs typeface="+mn-cs"/>
                          </a:rPr>
                          <m:t>1</m:t>
                        </m:r>
                      </m:sub>
                    </m:sSub>
                  </m:oMath>
                </a14:m>
                <a:r>
                  <a:rPr lang="en-US" i="1" kern="1200" dirty="0">
                    <a:solidFill>
                      <a:prstClr val="black"/>
                    </a:solidFill>
                    <a:latin typeface="Aptos" panose="02110004020202020204"/>
                    <a:ea typeface="+mn-ea"/>
                    <a:cs typeface="+mn-cs"/>
                  </a:rPr>
                  <a:t>X </a:t>
                </a:r>
                <a:r>
                  <a:rPr lang="en-US" kern="1200" dirty="0">
                    <a:solidFill>
                      <a:prstClr val="black"/>
                    </a:solidFill>
                    <a:latin typeface="Aptos" panose="02110004020202020204"/>
                    <a:ea typeface="+mn-ea"/>
                    <a:cs typeface="+mn-cs"/>
                  </a:rPr>
                  <a:t>+ </a:t>
                </a:r>
                <a:r>
                  <a:rPr lang="el-GR" i="1" kern="1200" dirty="0">
                    <a:solidFill>
                      <a:prstClr val="black"/>
                    </a:solidFill>
                    <a:latin typeface="Times New Roman" panose="02020603050405020304" pitchFamily="18" charset="0"/>
                    <a:ea typeface="+mn-ea"/>
                    <a:cs typeface="Times New Roman" panose="02020603050405020304" pitchFamily="18" charset="0"/>
                  </a:rPr>
                  <a:t>ε</a:t>
                </a:r>
                <a:endParaRPr lang="en-US" i="1" kern="1200" dirty="0">
                  <a:solidFill>
                    <a:prstClr val="black"/>
                  </a:solidFill>
                  <a:latin typeface="Aptos" panose="02110004020202020204"/>
                  <a:ea typeface="+mn-ea"/>
                  <a:cs typeface="+mn-cs"/>
                </a:endParaRPr>
              </a:p>
            </p:txBody>
          </p:sp>
        </mc:Choice>
        <mc:Fallback>
          <p:sp>
            <p:nvSpPr>
              <p:cNvPr id="5" name="TextBox 4">
                <a:extLst>
                  <a:ext uri="{FF2B5EF4-FFF2-40B4-BE49-F238E27FC236}">
                    <a16:creationId xmlns:a16="http://schemas.microsoft.com/office/drawing/2014/main" id="{B162F4CF-7D9D-7A25-3541-6622780921C8}"/>
                  </a:ext>
                </a:extLst>
              </p:cNvPr>
              <p:cNvSpPr txBox="1">
                <a:spLocks noRot="1" noChangeAspect="1" noMove="1" noResize="1" noEditPoints="1" noAdjustHandles="1" noChangeArrowheads="1" noChangeShapeType="1" noTextEdit="1"/>
              </p:cNvSpPr>
              <p:nvPr/>
            </p:nvSpPr>
            <p:spPr>
              <a:xfrm>
                <a:off x="95250" y="429601"/>
                <a:ext cx="1668405" cy="276999"/>
              </a:xfrm>
              <a:prstGeom prst="rect">
                <a:avLst/>
              </a:prstGeom>
              <a:blipFill>
                <a:blip r:embed="rId2"/>
                <a:stretch>
                  <a:fillRect l="-5128" t="-30435" r="-7692" b="-52174"/>
                </a:stretch>
              </a:blipFill>
            </p:spPr>
            <p:txBody>
              <a:bodyPr/>
              <a:lstStyle/>
              <a:p>
                <a:r>
                  <a:rPr lang="en-US">
                    <a:noFill/>
                  </a:rPr>
                  <a:t> </a:t>
                </a:r>
              </a:p>
            </p:txBody>
          </p:sp>
        </mc:Fallback>
      </mc:AlternateContent>
    </p:spTree>
    <p:extLst>
      <p:ext uri="{BB962C8B-B14F-4D97-AF65-F5344CB8AC3E}">
        <p14:creationId xmlns:p14="http://schemas.microsoft.com/office/powerpoint/2010/main" val="1921768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695525" y="1355656"/>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i="1" dirty="0">
                <a:latin typeface="Arial" panose="020B0604020202020204" pitchFamily="34" charset="0"/>
                <a:cs typeface="Arial" panose="020B0604020202020204" pitchFamily="34" charset="0"/>
              </a:rPr>
              <a:t>Y</a:t>
            </a:r>
            <a:endParaRPr lang="en-US" altLang="en-US" sz="907" i="1" dirty="0">
              <a:latin typeface="Arial" panose="020B0604020202020204" pitchFamily="34" charset="0"/>
              <a:cs typeface="Arial" panose="020B0604020202020204" pitchFamily="34" charset="0"/>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549203" y="2404873"/>
            <a:ext cx="406767"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r"/>
            <a:r>
              <a:rPr lang="en-US" altLang="en-US" sz="1000" dirty="0">
                <a:latin typeface="Symbol" panose="05050102010706020507" pitchFamily="18" charset="2"/>
              </a:rPr>
              <a:t>b</a:t>
            </a:r>
            <a:r>
              <a:rPr lang="en-US" altLang="en-US" sz="1000" baseline="-25000" dirty="0">
                <a:latin typeface="Times New Roman" panose="02020603050405020304" pitchFamily="18" charset="0"/>
              </a:rPr>
              <a:t>0</a:t>
            </a:r>
            <a:endParaRPr lang="en-US" altLang="en-US" sz="100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73069" y="1496415"/>
                <a:ext cx="1650599" cy="969496"/>
              </a:xfrm>
              <a:ln>
                <a:noFill/>
              </a:ln>
            </p:spPr>
            <p:style>
              <a:lnRef idx="2">
                <a:schemeClr val="dk1"/>
              </a:lnRef>
              <a:fillRef idx="1">
                <a:schemeClr val="lt1"/>
              </a:fillRef>
              <a:effectRef idx="0">
                <a:schemeClr val="dk1"/>
              </a:effectRef>
              <a:fontRef idx="minor">
                <a:schemeClr val="dk1"/>
              </a:fontRef>
            </p:style>
            <p:txBody>
              <a:bodyPr/>
              <a:lstStyle/>
              <a:p>
                <a:pPr marL="171450" indent="-171450">
                  <a:lnSpc>
                    <a:spcPct val="90000"/>
                  </a:lnSpc>
                  <a:buFont typeface="Arial" panose="020B0604020202020204" pitchFamily="34" charset="0"/>
                  <a:buChar char="•"/>
                </a:pPr>
                <a:r>
                  <a:rPr lang="en-US" altLang="en-US" dirty="0">
                    <a:latin typeface="Arial" panose="020B0604020202020204" pitchFamily="34" charset="0"/>
                    <a:cs typeface="Arial" panose="020B0604020202020204" pitchFamily="34" charset="0"/>
                  </a:rPr>
                  <a:t>The first-order linear model</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X </a:t>
                </a:r>
                <a:r>
                  <a:rPr lang="en-US" altLang="en-US" sz="1000" dirty="0">
                    <a:latin typeface="Arial" panose="020B0604020202020204" pitchFamily="34" charset="0"/>
                    <a:cs typeface="Arial" panose="020B0604020202020204" pitchFamily="34" charset="0"/>
                  </a:rPr>
                  <a:t>= independent variable</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 Y-intercept</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 slope of the line</a:t>
                </a:r>
              </a:p>
              <a:p>
                <a:pPr marL="171450" indent="-171450">
                  <a:lnSpc>
                    <a:spcPct val="90000"/>
                  </a:lnSpc>
                  <a:buFont typeface="Arial" panose="020B0604020202020204" pitchFamily="34" charset="0"/>
                  <a:buChar char="•"/>
                </a:pPr>
                <a14:m>
                  <m:oMath xmlns:m="http://schemas.openxmlformats.org/officeDocument/2006/math">
                    <m:r>
                      <a:rPr lang="en-US" i="1">
                        <a:latin typeface="Cambria Math" panose="02040503050406030204" pitchFamily="18" charset="0"/>
                        <a:ea typeface="Cambria Math" panose="02040503050406030204" pitchFamily="18" charset="0"/>
                      </a:rPr>
                      <m:t>𝜀</m:t>
                    </m:r>
                  </m:oMath>
                </a14:m>
                <a:r>
                  <a:rPr lang="en-US" altLang="en-US" sz="1000" dirty="0">
                    <a:latin typeface="Arial" panose="020B0604020202020204" pitchFamily="34" charset="0"/>
                    <a:cs typeface="Arial" panose="020B0604020202020204" pitchFamily="34" charset="0"/>
                  </a:rPr>
                  <a:t> = error variable</a:t>
                </a:r>
              </a:p>
            </p:txBody>
          </p:sp>
        </mc:Choice>
        <mc:Fallback>
          <p:sp>
            <p:nvSpPr>
              <p:cNvPr id="5123" name="Rectangle 3">
                <a:extLst>
                  <a:ext uri="{FF2B5EF4-FFF2-40B4-BE49-F238E27FC236}">
                    <a16:creationId xmlns:a16="http://schemas.microsoft.com/office/drawing/2014/main" id="{3AB8544D-C554-42E4-9EFA-0D06D3EFB969}"/>
                  </a:ext>
                </a:extLst>
              </p:cNvPr>
              <p:cNvSpPr>
                <a:spLocks noGrp="1" noRot="1" noChangeAspect="1" noMove="1" noResize="1" noEditPoints="1" noAdjustHandles="1" noChangeArrowheads="1" noChangeShapeType="1" noTextEdit="1"/>
              </p:cNvSpPr>
              <p:nvPr>
                <p:ph type="body" idx="1"/>
              </p:nvPr>
            </p:nvSpPr>
            <p:spPr>
              <a:xfrm>
                <a:off x="73069" y="1496415"/>
                <a:ext cx="1650599" cy="969496"/>
              </a:xfrm>
              <a:blipFill>
                <a:blip r:embed="rId2"/>
                <a:stretch>
                  <a:fillRect l="-4428" t="-5625" r="-369" b="-6250"/>
                </a:stretch>
              </a:blipFill>
              <a:ln>
                <a:noFill/>
              </a:ln>
            </p:spPr>
            <p:txBody>
              <a:bodyPr/>
              <a:lstStyle/>
              <a:p>
                <a:r>
                  <a:rPr lang="en-US">
                    <a:noFill/>
                  </a:rPr>
                  <a:t> </a:t>
                </a:r>
              </a:p>
            </p:txBody>
          </p:sp>
        </mc:Fallback>
      </mc:AlternateContent>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1924050" y="1353129"/>
            <a:ext cx="2462469" cy="1542198"/>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10050" y="2936767"/>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Arial" panose="020B0604020202020204" pitchFamily="34" charset="0"/>
                <a:cs typeface="Arial" panose="020B0604020202020204" pitchFamily="34" charset="0"/>
              </a:rPr>
              <a:t>X</a:t>
            </a:r>
            <a:endParaRPr lang="en-US" altLang="en-US" sz="907" dirty="0">
              <a:latin typeface="Arial" panose="020B0604020202020204" pitchFamily="34" charset="0"/>
              <a:cs typeface="Arial" panose="020B0604020202020204" pitchFamily="34" charset="0"/>
            </a:endParaRP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1924050" y="1426106"/>
            <a:ext cx="1704406" cy="1126539"/>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061470" y="2298254"/>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091857" y="2491705"/>
            <a:ext cx="388248"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342291" y="2321707"/>
            <a:ext cx="396262"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Rise</a:t>
            </a:r>
          </a:p>
        </p:txBody>
      </p:sp>
      <p:sp>
        <p:nvSpPr>
          <p:cNvPr id="5136" name="Text Box 16">
            <a:extLst>
              <a:ext uri="{FF2B5EF4-FFF2-40B4-BE49-F238E27FC236}">
                <a16:creationId xmlns:a16="http://schemas.microsoft.com/office/drawing/2014/main" id="{45030B29-F80D-4506-8FDF-6BFFF304252A}"/>
              </a:ext>
            </a:extLst>
          </p:cNvPr>
          <p:cNvSpPr txBox="1">
            <a:spLocks noChangeArrowheads="1"/>
          </p:cNvSpPr>
          <p:nvPr/>
        </p:nvSpPr>
        <p:spPr bwMode="auto">
          <a:xfrm rot="19788360">
            <a:off x="2398171" y="1640654"/>
            <a:ext cx="885179"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Symbol" panose="05050102010706020507" pitchFamily="18" charset="2"/>
              </a:rPr>
              <a:t>b</a:t>
            </a:r>
            <a:r>
              <a:rPr lang="en-US" altLang="en-US" sz="1000" baseline="-25000" dirty="0">
                <a:latin typeface="Symbol" panose="05050102010706020507" pitchFamily="18" charset="2"/>
              </a:rPr>
              <a:t>1</a:t>
            </a:r>
            <a:r>
              <a:rPr lang="en-US" altLang="en-US" sz="1000" dirty="0"/>
              <a:t> = Rise/Run</a:t>
            </a:r>
          </a:p>
        </p:txBody>
      </p:sp>
      <mc:AlternateContent xmlns:mc="http://schemas.openxmlformats.org/markup-compatibility/2006">
        <mc:Choice xmlns:a14="http://schemas.microsoft.com/office/drawing/2010/main" Requires="a14">
          <p:sp>
            <p:nvSpPr>
              <p:cNvPr id="5138" name="Text Box 18">
                <a:extLst>
                  <a:ext uri="{FF2B5EF4-FFF2-40B4-BE49-F238E27FC236}">
                    <a16:creationId xmlns:a16="http://schemas.microsoft.com/office/drawing/2014/main" id="{E334A014-6370-478B-BED6-B83DFB7BE8BC}"/>
                  </a:ext>
                </a:extLst>
              </p:cNvPr>
              <p:cNvSpPr txBox="1">
                <a:spLocks noChangeArrowheads="1"/>
              </p:cNvSpPr>
              <p:nvPr/>
            </p:nvSpPr>
            <p:spPr bwMode="auto">
              <a:xfrm>
                <a:off x="20228" y="819913"/>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p:sp>
            <p:nvSpPr>
              <p:cNvPr id="5138" name="Text Box 18">
                <a:extLst>
                  <a:ext uri="{FF2B5EF4-FFF2-40B4-BE49-F238E27FC236}">
                    <a16:creationId xmlns:a16="http://schemas.microsoft.com/office/drawing/2014/main" id="{E334A014-6370-478B-BED6-B83DFB7BE8BC}"/>
                  </a:ext>
                </a:extLst>
              </p:cNvPr>
              <p:cNvSpPr txBox="1">
                <a:spLocks noRot="1" noChangeAspect="1" noMove="1" noResize="1" noEditPoints="1" noAdjustHandles="1" noChangeArrowheads="1" noChangeShapeType="1" noTextEdit="1"/>
              </p:cNvSpPr>
              <p:nvPr/>
            </p:nvSpPr>
            <p:spPr bwMode="auto">
              <a:xfrm>
                <a:off x="20228" y="819913"/>
                <a:ext cx="4341801" cy="400110"/>
              </a:xfrm>
              <a:prstGeom prst="rect">
                <a:avLst/>
              </a:prstGeom>
              <a:blipFill>
                <a:blip r:embed="rId3"/>
                <a:stretch>
                  <a:fillRect t="-1538"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F612BD-3D0F-E76B-F6ED-63F51C791103}"/>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93F612BD-3D0F-E76B-F6ED-63F51C791103}"/>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4"/>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3A4D71AF-DBC3-A30A-E159-06FFB7B4C4EC}"/>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The SLR Model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1D5D-403D-5645-6987-6B15D0C495F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38" name="Text Box 18">
                <a:extLst>
                  <a:ext uri="{FF2B5EF4-FFF2-40B4-BE49-F238E27FC236}">
                    <a16:creationId xmlns:a16="http://schemas.microsoft.com/office/drawing/2014/main" id="{E70D9790-1B21-D629-C49E-E9331FF764C2}"/>
                  </a:ext>
                </a:extLst>
              </p:cNvPr>
              <p:cNvSpPr txBox="1">
                <a:spLocks noChangeArrowheads="1"/>
              </p:cNvSpPr>
              <p:nvPr/>
            </p:nvSpPr>
            <p:spPr bwMode="auto">
              <a:xfrm>
                <a:off x="73070" y="815975"/>
                <a:ext cx="4293644"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p:sp>
            <p:nvSpPr>
              <p:cNvPr id="5138" name="Text Box 18">
                <a:extLst>
                  <a:ext uri="{FF2B5EF4-FFF2-40B4-BE49-F238E27FC236}">
                    <a16:creationId xmlns:a16="http://schemas.microsoft.com/office/drawing/2014/main" id="{E70D9790-1B21-D629-C49E-E9331FF764C2}"/>
                  </a:ext>
                </a:extLst>
              </p:cNvPr>
              <p:cNvSpPr txBox="1">
                <a:spLocks noRot="1" noChangeAspect="1" noMove="1" noResize="1" noEditPoints="1" noAdjustHandles="1" noChangeArrowheads="1" noChangeShapeType="1" noTextEdit="1"/>
              </p:cNvSpPr>
              <p:nvPr/>
            </p:nvSpPr>
            <p:spPr bwMode="auto">
              <a:xfrm>
                <a:off x="73070" y="815975"/>
                <a:ext cx="4293644" cy="400110"/>
              </a:xfrm>
              <a:prstGeom prst="rect">
                <a:avLst/>
              </a:prstGeom>
              <a:blipFill>
                <a:blip r:embed="rId2"/>
                <a:stretch>
                  <a:fillRect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40F0C21-596D-BE3E-C78C-BC1AFAEFE2BF}"/>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A40F0C21-596D-BE3E-C78C-BC1AFAEFE2BF}"/>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BA4006C5-7FC4-0065-9E60-2ABF130BB3DA}"/>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p:sp>
        <p:nvSpPr>
          <p:cNvPr id="5" name="Text Placeholder 4">
            <a:extLst>
              <a:ext uri="{FF2B5EF4-FFF2-40B4-BE49-F238E27FC236}">
                <a16:creationId xmlns:a16="http://schemas.microsoft.com/office/drawing/2014/main" id="{6545DD29-BE72-2DCC-F266-53EAFEF751E9}"/>
              </a:ext>
            </a:extLst>
          </p:cNvPr>
          <p:cNvSpPr>
            <a:spLocks noGrp="1"/>
          </p:cNvSpPr>
          <p:nvPr>
            <p:ph type="body" idx="1"/>
          </p:nvPr>
        </p:nvSpPr>
        <p:spPr>
          <a:xfrm>
            <a:off x="133208" y="1259928"/>
            <a:ext cx="4159055" cy="1231106"/>
          </a:xfrm>
        </p:spPr>
        <p:txBody>
          <a:bodyPr/>
          <a:lstStyle/>
          <a:p>
            <a:r>
              <a:rPr lang="en-US" b="1" dirty="0"/>
              <a:t>Rise over run</a:t>
            </a:r>
            <a:r>
              <a:rPr lang="en-US" dirty="0"/>
              <a:t> is the way we describe the </a:t>
            </a:r>
            <a:r>
              <a:rPr lang="en-US" b="1" dirty="0"/>
              <a:t>slope</a:t>
            </a:r>
            <a:r>
              <a:rPr lang="en-US" dirty="0"/>
              <a:t> of a line.</a:t>
            </a:r>
          </a:p>
          <a:p>
            <a:r>
              <a:rPr lang="en-US" dirty="0"/>
              <a:t>It means:</a:t>
            </a:r>
          </a:p>
          <a:p>
            <a:pPr marL="285750" indent="-173038">
              <a:buFont typeface="Arial" panose="020B0604020202020204" pitchFamily="34" charset="0"/>
              <a:buChar char="•"/>
            </a:pPr>
            <a:r>
              <a:rPr lang="en-US" dirty="0"/>
              <a:t>how much the outcome (</a:t>
            </a:r>
            <a:r>
              <a:rPr lang="en-US" i="1" dirty="0"/>
              <a:t>Y</a:t>
            </a:r>
            <a:r>
              <a:rPr lang="en-US" dirty="0"/>
              <a:t>) changes when the predictor (</a:t>
            </a:r>
            <a:r>
              <a:rPr lang="en-US" i="1" dirty="0"/>
              <a:t>X</a:t>
            </a:r>
            <a:r>
              <a:rPr lang="en-US" dirty="0"/>
              <a:t>) increases </a:t>
            </a:r>
            <a:r>
              <a:rPr lang="en-US" b="1" dirty="0"/>
              <a:t>by one unit.</a:t>
            </a:r>
          </a:p>
          <a:p>
            <a:r>
              <a:rPr lang="en-US" dirty="0"/>
              <a:t>In a regression context:</a:t>
            </a:r>
          </a:p>
          <a:p>
            <a:pPr marL="285750" indent="-171450">
              <a:buFont typeface="Arial" panose="020B0604020202020204" pitchFamily="34" charset="0"/>
              <a:buChar char="•"/>
            </a:pPr>
            <a:r>
              <a:rPr lang="en-US" b="1" dirty="0"/>
              <a:t>Rise</a:t>
            </a:r>
            <a:r>
              <a:rPr lang="en-US" dirty="0"/>
              <a:t> = change in the predicted outcome (ΔY)</a:t>
            </a:r>
          </a:p>
          <a:p>
            <a:pPr marL="285750" indent="-171450">
              <a:buFont typeface="Arial" panose="020B0604020202020204" pitchFamily="34" charset="0"/>
              <a:buChar char="•"/>
            </a:pPr>
            <a:r>
              <a:rPr lang="en-US" b="1" dirty="0"/>
              <a:t>Run</a:t>
            </a:r>
            <a:r>
              <a:rPr lang="en-US" dirty="0"/>
              <a:t> = change in the predictor (ΔX)</a:t>
            </a:r>
          </a:p>
          <a:p>
            <a:endParaRPr lang="en-US" dirty="0"/>
          </a:p>
        </p:txBody>
      </p:sp>
    </p:spTree>
    <p:extLst>
      <p:ext uri="{BB962C8B-B14F-4D97-AF65-F5344CB8AC3E}">
        <p14:creationId xmlns:p14="http://schemas.microsoft.com/office/powerpoint/2010/main" val="4230630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9263-EC9F-CA69-BB2D-1B01FBFABC9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38" name="Text Box 18">
                <a:extLst>
                  <a:ext uri="{FF2B5EF4-FFF2-40B4-BE49-F238E27FC236}">
                    <a16:creationId xmlns:a16="http://schemas.microsoft.com/office/drawing/2014/main" id="{787DA396-11F2-E5DE-275B-AAFAC0946944}"/>
                  </a:ext>
                </a:extLst>
              </p:cNvPr>
              <p:cNvSpPr txBox="1">
                <a:spLocks noChangeArrowheads="1"/>
              </p:cNvSpPr>
              <p:nvPr/>
            </p:nvSpPr>
            <p:spPr bwMode="auto">
              <a:xfrm>
                <a:off x="0" y="754948"/>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p:sp>
            <p:nvSpPr>
              <p:cNvPr id="5138" name="Text Box 18">
                <a:extLst>
                  <a:ext uri="{FF2B5EF4-FFF2-40B4-BE49-F238E27FC236}">
                    <a16:creationId xmlns:a16="http://schemas.microsoft.com/office/drawing/2014/main" id="{787DA396-11F2-E5DE-275B-AAFAC0946944}"/>
                  </a:ext>
                </a:extLst>
              </p:cNvPr>
              <p:cNvSpPr txBox="1">
                <a:spLocks noRot="1" noChangeAspect="1" noMove="1" noResize="1" noEditPoints="1" noAdjustHandles="1" noChangeArrowheads="1" noChangeShapeType="1" noTextEdit="1"/>
              </p:cNvSpPr>
              <p:nvPr/>
            </p:nvSpPr>
            <p:spPr bwMode="auto">
              <a:xfrm>
                <a:off x="0" y="754948"/>
                <a:ext cx="4341801" cy="400110"/>
              </a:xfrm>
              <a:prstGeom prst="rect">
                <a:avLst/>
              </a:prstGeom>
              <a:blipFill>
                <a:blip r:embed="rId2"/>
                <a:stretch>
                  <a:fillRect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205FA6-2A4E-4D76-05F9-C2865527BD68}"/>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F8205FA6-2A4E-4D76-05F9-C2865527BD68}"/>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7C665D7D-484D-9F7C-5249-6ED8A59D90C2}"/>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0E3F7CE-C5D2-7EA3-0F3F-425E223BC97F}"/>
                  </a:ext>
                </a:extLst>
              </p:cNvPr>
              <p:cNvSpPr txBox="1"/>
              <p:nvPr/>
            </p:nvSpPr>
            <p:spPr>
              <a:xfrm>
                <a:off x="73069" y="1171013"/>
                <a:ext cx="3810000" cy="1464568"/>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So,</a:t>
                </a:r>
              </a:p>
              <a:p>
                <a:pPr>
                  <a:buNone/>
                </a:pPr>
                <a14:m>
                  <m:oMathPara xmlns:m="http://schemas.openxmlformats.org/officeDocument/2006/math">
                    <m:oMathParaPr>
                      <m:jc m:val="centerGroup"/>
                    </m:oMathParaPr>
                    <m:oMath xmlns:m="http://schemas.openxmlformats.org/officeDocument/2006/math">
                      <m:r>
                        <m:rPr>
                          <m:nor/>
                        </m:rPr>
                        <a:rPr lang="en-US" sz="1000" b="0">
                          <a:latin typeface="Arial" panose="020B0604020202020204" pitchFamily="34" charset="0"/>
                          <a:cs typeface="Arial" panose="020B0604020202020204" pitchFamily="34" charset="0"/>
                        </a:rPr>
                        <m:t>slope</m:t>
                      </m:r>
                      <m:r>
                        <a:rPr lang="en-US" sz="1000" b="0" i="0">
                          <a:latin typeface="Cambria Math" panose="02040503050406030204" pitchFamily="18" charset="0"/>
                        </a:rPr>
                        <m:t>=</m:t>
                      </m:r>
                      <m:f>
                        <m:fPr>
                          <m:ctrlPr>
                            <a:rPr lang="ar-AE" sz="1000" b="0" i="1">
                              <a:latin typeface="Cambria Math" panose="02040503050406030204" pitchFamily="18" charset="0"/>
                            </a:rPr>
                          </m:ctrlPr>
                        </m:fPr>
                        <m:num>
                          <m:r>
                            <m:rPr>
                              <m:nor/>
                            </m:rPr>
                            <a:rPr lang="en-US" sz="1000" b="0" i="1">
                              <a:latin typeface="Arial" panose="020B0604020202020204" pitchFamily="34" charset="0"/>
                              <a:cs typeface="Arial" panose="020B0604020202020204" pitchFamily="34" charset="0"/>
                            </a:rPr>
                            <m:t>rise</m:t>
                          </m:r>
                        </m:num>
                        <m:den>
                          <m:r>
                            <m:rPr>
                              <m:nor/>
                            </m:rPr>
                            <a:rPr lang="en-US" sz="1000" b="0" i="1">
                              <a:latin typeface="Arial" panose="020B0604020202020204" pitchFamily="34" charset="0"/>
                              <a:cs typeface="Arial" panose="020B0604020202020204" pitchFamily="34" charset="0"/>
                            </a:rPr>
                            <m:t>run</m:t>
                          </m:r>
                        </m:den>
                      </m:f>
                      <m:r>
                        <a:rPr lang="ar-AE" sz="1000" b="0" i="0">
                          <a:latin typeface="Cambria Math" panose="02040503050406030204" pitchFamily="18" charset="0"/>
                        </a:rPr>
                        <m:t>=</m:t>
                      </m:r>
                      <m:f>
                        <m:fPr>
                          <m:ctrlPr>
                            <a:rPr lang="ar-AE" sz="1000" b="0" i="1">
                              <a:latin typeface="Cambria Math" panose="02040503050406030204" pitchFamily="18" charset="0"/>
                            </a:rPr>
                          </m:ctrlPr>
                        </m:fPr>
                        <m:num>
                          <m:r>
                            <m:rPr>
                              <m:sty m:val="p"/>
                            </m:rPr>
                            <a:rPr lang="el-GR" sz="1000" b="0" i="0">
                              <a:latin typeface="Cambria Math" panose="02040503050406030204" pitchFamily="18" charset="0"/>
                            </a:rPr>
                            <m:t>Δ</m:t>
                          </m:r>
                          <m:r>
                            <a:rPr lang="el-GR" sz="1000" b="0" i="1">
                              <a:latin typeface="Cambria Math" panose="02040503050406030204" pitchFamily="18" charset="0"/>
                            </a:rPr>
                            <m:t>𝑌</m:t>
                          </m:r>
                        </m:num>
                        <m:den>
                          <m:r>
                            <m:rPr>
                              <m:sty m:val="p"/>
                            </m:rPr>
                            <a:rPr lang="el-GR" sz="1000" b="0" i="0">
                              <a:latin typeface="Cambria Math" panose="02040503050406030204" pitchFamily="18" charset="0"/>
                            </a:rPr>
                            <m:t>Δ</m:t>
                          </m:r>
                          <m:r>
                            <a:rPr lang="el-GR" sz="1000" b="0" i="1">
                              <a:latin typeface="Cambria Math" panose="02040503050406030204" pitchFamily="18" charset="0"/>
                            </a:rPr>
                            <m:t>𝑋</m:t>
                          </m:r>
                        </m:den>
                      </m:f>
                    </m:oMath>
                  </m:oMathPara>
                </a14:m>
                <a:endParaRPr lang="ar-AE" sz="1000" b="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Using the house price example,</a:t>
                </a:r>
              </a:p>
              <a:p>
                <a:pPr>
                  <a:buNone/>
                </a:pPr>
                <a:endParaRPr lang="en-US" sz="1000" b="0" dirty="0">
                  <a:latin typeface="Arial" panose="020B0604020202020204" pitchFamily="34" charset="0"/>
                  <a:cs typeface="Arial" panose="020B0604020202020204" pitchFamily="34" charset="0"/>
                </a:endParaRPr>
              </a:p>
              <a:p>
                <a:pPr>
                  <a:buNone/>
                </a:pPr>
                <a14:m>
                  <m:oMathPara xmlns:m="http://schemas.openxmlformats.org/officeDocument/2006/math">
                    <m:oMathParaPr>
                      <m:jc m:val="left"/>
                    </m:oMathParaPr>
                    <m:oMath xmlns:m="http://schemas.openxmlformats.org/officeDocument/2006/math">
                      <m:r>
                        <m:rPr>
                          <m:nor/>
                        </m:rPr>
                        <a:rPr lang="en-US" sz="1000" b="0">
                          <a:latin typeface="Arial" panose="020B0604020202020204" pitchFamily="34" charset="0"/>
                          <a:cs typeface="Arial" panose="020B0604020202020204" pitchFamily="34" charset="0"/>
                        </a:rPr>
                        <m:t>House</m:t>
                      </m:r>
                      <m:r>
                        <m:rPr>
                          <m:nor/>
                        </m:rPr>
                        <a:rPr lang="en-US" sz="1000" b="0" i="1">
                          <a:latin typeface="Arial" panose="020B0604020202020204" pitchFamily="34" charset="0"/>
                          <a:cs typeface="Arial" panose="020B0604020202020204" pitchFamily="34" charset="0"/>
                        </a:rPr>
                        <m:t> </m:t>
                      </m:r>
                      <m:r>
                        <m:rPr>
                          <m:nor/>
                        </m:rPr>
                        <a:rPr lang="en-US" sz="1000" b="0">
                          <a:latin typeface="Arial" panose="020B0604020202020204" pitchFamily="34" charset="0"/>
                          <a:cs typeface="Arial" panose="020B0604020202020204" pitchFamily="34" charset="0"/>
                        </a:rPr>
                        <m:t>cost</m:t>
                      </m:r>
                      <m:r>
                        <a:rPr lang="en-US" sz="1000" b="0" i="0">
                          <a:latin typeface="Cambria Math" panose="02040503050406030204" pitchFamily="18" charset="0"/>
                        </a:rPr>
                        <m:t>=</m:t>
                      </m:r>
                      <m:r>
                        <a:rPr lang="en-US" sz="1000" b="0" i="0" smtClean="0">
                          <a:latin typeface="Cambria Math" panose="02040503050406030204" pitchFamily="18" charset="0"/>
                        </a:rPr>
                        <m:t>$</m:t>
                      </m:r>
                      <m:r>
                        <a:rPr lang="en-US" sz="1000" b="0" i="0" smtClean="0">
                          <a:latin typeface="Cambria Math" panose="02040503050406030204" pitchFamily="18" charset="0"/>
                        </a:rPr>
                        <m:t>2</m:t>
                      </m:r>
                      <m:r>
                        <a:rPr lang="en-US" sz="1000" b="0" i="0">
                          <a:latin typeface="Cambria Math" panose="02040503050406030204" pitchFamily="18" charset="0"/>
                        </a:rPr>
                        <m:t>5</m:t>
                      </m:r>
                      <m:r>
                        <a:rPr lang="en-US" sz="1000" b="0" i="0">
                          <a:latin typeface="Cambria Math" panose="02040503050406030204" pitchFamily="18" charset="0"/>
                        </a:rPr>
                        <m:t>,</m:t>
                      </m:r>
                      <m:r>
                        <a:rPr lang="en-US" sz="1000" b="0" i="0">
                          <a:latin typeface="Cambria Math" panose="02040503050406030204" pitchFamily="18" charset="0"/>
                        </a:rPr>
                        <m:t>000</m:t>
                      </m:r>
                      <m:r>
                        <a:rPr lang="en-US" sz="1000" b="0" i="0">
                          <a:latin typeface="Cambria Math" panose="02040503050406030204" pitchFamily="18" charset="0"/>
                        </a:rPr>
                        <m:t>+</m:t>
                      </m:r>
                      <m:r>
                        <a:rPr lang="en-US" sz="1000" b="0" i="0">
                          <a:latin typeface="Cambria Math" panose="02040503050406030204" pitchFamily="18" charset="0"/>
                        </a:rPr>
                        <m:t>75</m:t>
                      </m:r>
                      <m:d>
                        <m:dPr>
                          <m:ctrlPr>
                            <a:rPr lang="ar-AE" sz="1000" b="0" i="1">
                              <a:latin typeface="Cambria Math" panose="02040503050406030204" pitchFamily="18" charset="0"/>
                            </a:rPr>
                          </m:ctrlPr>
                        </m:dPr>
                        <m:e>
                          <m:r>
                            <m:rPr>
                              <m:nor/>
                            </m:rPr>
                            <a:rPr lang="en-US" sz="1000" b="0">
                              <a:latin typeface="Arial" panose="020B0604020202020204" pitchFamily="34" charset="0"/>
                              <a:cs typeface="Arial" panose="020B0604020202020204" pitchFamily="34" charset="0"/>
                            </a:rPr>
                            <m:t>Size</m:t>
                          </m:r>
                        </m:e>
                      </m:d>
                    </m:oMath>
                  </m:oMathPara>
                </a14:m>
                <a:endParaRPr lang="ar-AE" sz="1000" b="0" dirty="0">
                  <a:latin typeface="Arial" panose="020B0604020202020204" pitchFamily="34" charset="0"/>
                  <a:cs typeface="Arial" panose="020B0604020202020204" pitchFamily="34" charset="0"/>
                </a:endParaRP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run</a:t>
                </a:r>
                <a:r>
                  <a:rPr lang="en-US" sz="1000" dirty="0">
                    <a:latin typeface="Arial" panose="020B0604020202020204" pitchFamily="34" charset="0"/>
                    <a:cs typeface="Arial" panose="020B0604020202020204" pitchFamily="34" charset="0"/>
                  </a:rPr>
                  <a:t> is 1 additional square foot.</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rise</a:t>
                </a:r>
                <a:r>
                  <a:rPr lang="en-US" sz="1000" dirty="0">
                    <a:latin typeface="Arial" panose="020B0604020202020204" pitchFamily="34" charset="0"/>
                    <a:cs typeface="Arial" panose="020B0604020202020204" pitchFamily="34" charset="0"/>
                  </a:rPr>
                  <a:t> is a $75 increase in cost.</a:t>
                </a:r>
              </a:p>
            </p:txBody>
          </p:sp>
        </mc:Choice>
        <mc:Fallback>
          <p:sp>
            <p:nvSpPr>
              <p:cNvPr id="7" name="TextBox 6">
                <a:extLst>
                  <a:ext uri="{FF2B5EF4-FFF2-40B4-BE49-F238E27FC236}">
                    <a16:creationId xmlns:a16="http://schemas.microsoft.com/office/drawing/2014/main" id="{D0E3F7CE-C5D2-7EA3-0F3F-425E223BC97F}"/>
                  </a:ext>
                </a:extLst>
              </p:cNvPr>
              <p:cNvSpPr txBox="1">
                <a:spLocks noRot="1" noChangeAspect="1" noMove="1" noResize="1" noEditPoints="1" noAdjustHandles="1" noChangeArrowheads="1" noChangeShapeType="1" noTextEdit="1"/>
              </p:cNvSpPr>
              <p:nvPr/>
            </p:nvSpPr>
            <p:spPr>
              <a:xfrm>
                <a:off x="73069" y="1171013"/>
                <a:ext cx="3810000" cy="1464568"/>
              </a:xfrm>
              <a:prstGeom prst="rect">
                <a:avLst/>
              </a:prstGeom>
              <a:blipFill>
                <a:blip r:embed="rId4"/>
                <a:stretch>
                  <a:fillRect b="-1250"/>
                </a:stretch>
              </a:blipFill>
            </p:spPr>
            <p:txBody>
              <a:bodyPr/>
              <a:lstStyle/>
              <a:p>
                <a:r>
                  <a:rPr lang="en-US">
                    <a:noFill/>
                  </a:rPr>
                  <a:t> </a:t>
                </a:r>
              </a:p>
            </p:txBody>
          </p:sp>
        </mc:Fallback>
      </mc:AlternateContent>
    </p:spTree>
    <p:extLst>
      <p:ext uri="{BB962C8B-B14F-4D97-AF65-F5344CB8AC3E}">
        <p14:creationId xmlns:p14="http://schemas.microsoft.com/office/powerpoint/2010/main" val="4138454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98E72F4-F025-446E-84A3-F88D6ABA068C}"/>
              </a:ext>
            </a:extLst>
          </p:cNvPr>
          <p:cNvSpPr>
            <a:spLocks noGrp="1" noChangeArrowheads="1"/>
          </p:cNvSpPr>
          <p:nvPr>
            <p:ph type="title"/>
          </p:nvPr>
        </p:nvSpPr>
        <p:spPr>
          <a:xfrm>
            <a:off x="65469" y="103606"/>
            <a:ext cx="3828415" cy="169277"/>
          </a:xfrm>
        </p:spPr>
        <p:txBody>
          <a:bodyPr/>
          <a:lstStyle/>
          <a:p>
            <a:pPr algn="l"/>
            <a:r>
              <a:rPr lang="en-US" altLang="en-US" dirty="0">
                <a:solidFill>
                  <a:schemeClr val="bg1"/>
                </a:solidFill>
              </a:rPr>
              <a:t>Estimating the model parameters?</a:t>
            </a:r>
          </a:p>
        </p:txBody>
      </p:sp>
      <p:sp>
        <p:nvSpPr>
          <p:cNvPr id="8195" name="Rectangle 3">
            <a:extLst>
              <a:ext uri="{FF2B5EF4-FFF2-40B4-BE49-F238E27FC236}">
                <a16:creationId xmlns:a16="http://schemas.microsoft.com/office/drawing/2014/main" id="{3C7DAE65-B90A-4087-AD06-B7EFBCD11183}"/>
              </a:ext>
            </a:extLst>
          </p:cNvPr>
          <p:cNvSpPr>
            <a:spLocks noGrp="1" noChangeArrowheads="1"/>
          </p:cNvSpPr>
          <p:nvPr>
            <p:ph type="body" idx="1"/>
          </p:nvPr>
        </p:nvSpPr>
        <p:spPr>
          <a:xfrm>
            <a:off x="122808" y="454150"/>
            <a:ext cx="4522754" cy="437249"/>
          </a:xfrm>
        </p:spPr>
        <p:txBody>
          <a:bodyPr>
            <a:normAutofit/>
          </a:bodyPr>
          <a:lstStyle/>
          <a:p>
            <a:r>
              <a:rPr lang="en-US" altLang="en-US" dirty="0">
                <a:solidFill>
                  <a:schemeClr val="tx1"/>
                </a:solidFill>
                <a:latin typeface="Arial" panose="020B0604020202020204" pitchFamily="34" charset="0"/>
                <a:cs typeface="Arial" panose="020B0604020202020204" pitchFamily="34" charset="0"/>
              </a:rPr>
              <a:t>The estimates are determined by </a:t>
            </a:r>
            <a:r>
              <a:rPr lang="en-US" altLang="en-US" sz="1000" dirty="0">
                <a:solidFill>
                  <a:schemeClr val="tx1"/>
                </a:solidFill>
                <a:latin typeface="Arial" panose="020B0604020202020204" pitchFamily="34" charset="0"/>
                <a:cs typeface="Arial" panose="020B0604020202020204" pitchFamily="34" charset="0"/>
              </a:rPr>
              <a:t>drawing a sample from the population of interest and fitting a straight line to the data.</a:t>
            </a:r>
          </a:p>
        </p:txBody>
      </p:sp>
      <p:sp>
        <p:nvSpPr>
          <p:cNvPr id="8220" name="Text Box 28">
            <a:extLst>
              <a:ext uri="{FF2B5EF4-FFF2-40B4-BE49-F238E27FC236}">
                <a16:creationId xmlns:a16="http://schemas.microsoft.com/office/drawing/2014/main" id="{28E18FEA-2677-4911-B0DD-9AD084C03CCE}"/>
              </a:ext>
            </a:extLst>
          </p:cNvPr>
          <p:cNvSpPr txBox="1">
            <a:spLocks noChangeArrowheads="1"/>
          </p:cNvSpPr>
          <p:nvPr/>
        </p:nvSpPr>
        <p:spPr bwMode="auto">
          <a:xfrm>
            <a:off x="65469" y="3196051"/>
            <a:ext cx="2772981" cy="231923"/>
          </a:xfrm>
          <a:prstGeom prst="rect">
            <a:avLst/>
          </a:prstGeom>
          <a:solidFill>
            <a:srgbClr val="D1D1D1"/>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defTabSz="345735" rtl="0">
              <a:defRPr/>
            </a:pPr>
            <a:r>
              <a:rPr lang="en-US" altLang="en-US" sz="907" kern="1200" dirty="0">
                <a:solidFill>
                  <a:schemeClr val="tx1"/>
                </a:solidFill>
                <a:latin typeface="Lucida Grande"/>
                <a:ea typeface="+mn-ea"/>
                <a:cs typeface="+mn-cs"/>
              </a:rPr>
              <a:t>Question: What should be considered a good line?</a:t>
            </a:r>
          </a:p>
        </p:txBody>
      </p:sp>
      <p:sp>
        <p:nvSpPr>
          <p:cNvPr id="2" name="Freeform 4">
            <a:extLst>
              <a:ext uri="{FF2B5EF4-FFF2-40B4-BE49-F238E27FC236}">
                <a16:creationId xmlns:a16="http://schemas.microsoft.com/office/drawing/2014/main" id="{603B9FEE-D4EA-42ED-B3B8-635CE1C359D2}"/>
              </a:ext>
            </a:extLst>
          </p:cNvPr>
          <p:cNvSpPr>
            <a:spLocks/>
          </p:cNvSpPr>
          <p:nvPr/>
        </p:nvSpPr>
        <p:spPr bwMode="auto">
          <a:xfrm>
            <a:off x="191991" y="856078"/>
            <a:ext cx="4335141" cy="2224086"/>
          </a:xfrm>
          <a:custGeom>
            <a:avLst/>
            <a:gdLst>
              <a:gd name="T0" fmla="*/ 0 w 2112"/>
              <a:gd name="T1" fmla="*/ 0 h 1248"/>
              <a:gd name="T2" fmla="*/ 0 w 2112"/>
              <a:gd name="T3" fmla="*/ 1248 h 1248"/>
              <a:gd name="T4" fmla="*/ 2112 w 2112"/>
              <a:gd name="T5" fmla="*/ 1248 h 1248"/>
            </a:gdLst>
            <a:ahLst/>
            <a:cxnLst>
              <a:cxn ang="0">
                <a:pos x="T0" y="T1"/>
              </a:cxn>
              <a:cxn ang="0">
                <a:pos x="T2" y="T3"/>
              </a:cxn>
              <a:cxn ang="0">
                <a:pos x="T4" y="T5"/>
              </a:cxn>
            </a:cxnLst>
            <a:rect l="0" t="0" r="r" b="b"/>
            <a:pathLst>
              <a:path w="2112" h="1248">
                <a:moveTo>
                  <a:pt x="0" y="0"/>
                </a:moveTo>
                <a:lnTo>
                  <a:pt x="0" y="1248"/>
                </a:lnTo>
                <a:lnTo>
                  <a:pt x="2112" y="1248"/>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3" name="Text Box 7">
            <a:extLst>
              <a:ext uri="{FF2B5EF4-FFF2-40B4-BE49-F238E27FC236}">
                <a16:creationId xmlns:a16="http://schemas.microsoft.com/office/drawing/2014/main" id="{69B5A2CA-DB67-564F-24B4-B40604F08A59}"/>
              </a:ext>
            </a:extLst>
          </p:cNvPr>
          <p:cNvSpPr txBox="1">
            <a:spLocks noChangeArrowheads="1"/>
          </p:cNvSpPr>
          <p:nvPr/>
        </p:nvSpPr>
        <p:spPr bwMode="auto">
          <a:xfrm>
            <a:off x="405963" y="98410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a:t>
            </a:r>
          </a:p>
        </p:txBody>
      </p:sp>
      <p:sp>
        <p:nvSpPr>
          <p:cNvPr id="4" name="Text Box 8">
            <a:extLst>
              <a:ext uri="{FF2B5EF4-FFF2-40B4-BE49-F238E27FC236}">
                <a16:creationId xmlns:a16="http://schemas.microsoft.com/office/drawing/2014/main" id="{2563B560-3602-EF26-CCED-FB6F2B97D36A}"/>
              </a:ext>
            </a:extLst>
          </p:cNvPr>
          <p:cNvSpPr txBox="1">
            <a:spLocks noChangeArrowheads="1"/>
          </p:cNvSpPr>
          <p:nvPr/>
        </p:nvSpPr>
        <p:spPr bwMode="auto">
          <a:xfrm>
            <a:off x="861916" y="12878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5" name="Text Box 9">
            <a:extLst>
              <a:ext uri="{FF2B5EF4-FFF2-40B4-BE49-F238E27FC236}">
                <a16:creationId xmlns:a16="http://schemas.microsoft.com/office/drawing/2014/main" id="{174DEC48-E8F2-7B72-653B-78ACE9586906}"/>
              </a:ext>
            </a:extLst>
          </p:cNvPr>
          <p:cNvSpPr txBox="1">
            <a:spLocks noChangeArrowheads="1"/>
          </p:cNvSpPr>
          <p:nvPr/>
        </p:nvSpPr>
        <p:spPr bwMode="auto">
          <a:xfrm>
            <a:off x="861916" y="1745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6" name="Text Box 10">
            <a:extLst>
              <a:ext uri="{FF2B5EF4-FFF2-40B4-BE49-F238E27FC236}">
                <a16:creationId xmlns:a16="http://schemas.microsoft.com/office/drawing/2014/main" id="{2A042AC5-D48F-66AD-9D1B-3AA491C90612}"/>
              </a:ext>
            </a:extLst>
          </p:cNvPr>
          <p:cNvSpPr txBox="1">
            <a:spLocks noChangeArrowheads="1"/>
          </p:cNvSpPr>
          <p:nvPr/>
        </p:nvSpPr>
        <p:spPr bwMode="auto">
          <a:xfrm>
            <a:off x="861916" y="2089565"/>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7" name="Text Box 11">
            <a:extLst>
              <a:ext uri="{FF2B5EF4-FFF2-40B4-BE49-F238E27FC236}">
                <a16:creationId xmlns:a16="http://schemas.microsoft.com/office/drawing/2014/main" id="{2938622B-F781-D46A-7937-AE00AC5866BC}"/>
              </a:ext>
            </a:extLst>
          </p:cNvPr>
          <p:cNvSpPr txBox="1">
            <a:spLocks noChangeArrowheads="1"/>
          </p:cNvSpPr>
          <p:nvPr/>
        </p:nvSpPr>
        <p:spPr bwMode="auto">
          <a:xfrm>
            <a:off x="1380073" y="1964705"/>
            <a:ext cx="2998788" cy="366713"/>
          </a:xfrm>
          <a:prstGeom prst="rect">
            <a:avLst/>
          </a:prstGeom>
          <a:solidFill>
            <a:schemeClr val="bg1">
              <a:alpha val="9000"/>
            </a:schemeClr>
          </a:solidFill>
          <a:ln>
            <a:noFill/>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w</a:t>
            </a:r>
          </a:p>
        </p:txBody>
      </p:sp>
      <p:sp>
        <p:nvSpPr>
          <p:cNvPr id="8" name="Text Box 12">
            <a:extLst>
              <a:ext uri="{FF2B5EF4-FFF2-40B4-BE49-F238E27FC236}">
                <a16:creationId xmlns:a16="http://schemas.microsoft.com/office/drawing/2014/main" id="{7D09B257-07C7-7E67-1A6B-A5C474E4C694}"/>
              </a:ext>
            </a:extLst>
          </p:cNvPr>
          <p:cNvSpPr txBox="1">
            <a:spLocks noChangeArrowheads="1"/>
          </p:cNvSpPr>
          <p:nvPr/>
        </p:nvSpPr>
        <p:spPr bwMode="auto">
          <a:xfrm>
            <a:off x="1963641" y="15926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9" name="Text Box 13">
            <a:extLst>
              <a:ext uri="{FF2B5EF4-FFF2-40B4-BE49-F238E27FC236}">
                <a16:creationId xmlns:a16="http://schemas.microsoft.com/office/drawing/2014/main" id="{9E056192-10C4-E429-BAF1-3FB1C808A907}"/>
              </a:ext>
            </a:extLst>
          </p:cNvPr>
          <p:cNvSpPr txBox="1">
            <a:spLocks noChangeArrowheads="1"/>
          </p:cNvSpPr>
          <p:nvPr/>
        </p:nvSpPr>
        <p:spPr bwMode="auto">
          <a:xfrm>
            <a:off x="2576730" y="2160784"/>
            <a:ext cx="11430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10" name="Text Box 14">
            <a:extLst>
              <a:ext uri="{FF2B5EF4-FFF2-40B4-BE49-F238E27FC236}">
                <a16:creationId xmlns:a16="http://schemas.microsoft.com/office/drawing/2014/main" id="{906C77C9-2F6F-66EE-9B54-4AA8DAFEE83A}"/>
              </a:ext>
            </a:extLst>
          </p:cNvPr>
          <p:cNvSpPr txBox="1">
            <a:spLocks noChangeArrowheads="1"/>
          </p:cNvSpPr>
          <p:nvPr/>
        </p:nvSpPr>
        <p:spPr bwMode="auto">
          <a:xfrm>
            <a:off x="3388273" y="1597073"/>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a:t>
            </a:r>
          </a:p>
        </p:txBody>
      </p:sp>
      <p:sp>
        <p:nvSpPr>
          <p:cNvPr id="11" name="Text Box 15">
            <a:extLst>
              <a:ext uri="{FF2B5EF4-FFF2-40B4-BE49-F238E27FC236}">
                <a16:creationId xmlns:a16="http://schemas.microsoft.com/office/drawing/2014/main" id="{50D40F5F-5CE9-1805-F038-1C7D4ED921BB}"/>
              </a:ext>
            </a:extLst>
          </p:cNvPr>
          <p:cNvSpPr txBox="1">
            <a:spLocks noChangeArrowheads="1"/>
          </p:cNvSpPr>
          <p:nvPr/>
        </p:nvSpPr>
        <p:spPr bwMode="auto">
          <a:xfrm>
            <a:off x="1387379" y="2202277"/>
            <a:ext cx="904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12" name="Text Box 16">
            <a:extLst>
              <a:ext uri="{FF2B5EF4-FFF2-40B4-BE49-F238E27FC236}">
                <a16:creationId xmlns:a16="http://schemas.microsoft.com/office/drawing/2014/main" id="{22E77D7F-313A-A486-96A9-4DDD0322B37F}"/>
              </a:ext>
            </a:extLst>
          </p:cNvPr>
          <p:cNvSpPr txBox="1">
            <a:spLocks noChangeArrowheads="1"/>
          </p:cNvSpPr>
          <p:nvPr/>
        </p:nvSpPr>
        <p:spPr bwMode="auto">
          <a:xfrm>
            <a:off x="2573241" y="2507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13" name="Line 18">
            <a:extLst>
              <a:ext uri="{FF2B5EF4-FFF2-40B4-BE49-F238E27FC236}">
                <a16:creationId xmlns:a16="http://schemas.microsoft.com/office/drawing/2014/main" id="{CBA1FF9E-E119-2D6D-285C-77B243A07BEA}"/>
              </a:ext>
            </a:extLst>
          </p:cNvPr>
          <p:cNvSpPr>
            <a:spLocks noChangeShapeType="1"/>
          </p:cNvSpPr>
          <p:nvPr/>
        </p:nvSpPr>
        <p:spPr bwMode="auto">
          <a:xfrm>
            <a:off x="1019872" y="1471233"/>
            <a:ext cx="0" cy="914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4" name="Line 19">
            <a:extLst>
              <a:ext uri="{FF2B5EF4-FFF2-40B4-BE49-F238E27FC236}">
                <a16:creationId xmlns:a16="http://schemas.microsoft.com/office/drawing/2014/main" id="{2B091453-0026-60B9-4800-AC1AA70B07D7}"/>
              </a:ext>
            </a:extLst>
          </p:cNvPr>
          <p:cNvSpPr>
            <a:spLocks noChangeShapeType="1"/>
          </p:cNvSpPr>
          <p:nvPr/>
        </p:nvSpPr>
        <p:spPr bwMode="auto">
          <a:xfrm>
            <a:off x="1538654" y="1938799"/>
            <a:ext cx="0" cy="609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5" name="Line 21">
            <a:extLst>
              <a:ext uri="{FF2B5EF4-FFF2-40B4-BE49-F238E27FC236}">
                <a16:creationId xmlns:a16="http://schemas.microsoft.com/office/drawing/2014/main" id="{BCB65E08-107F-F58A-D563-33E9A2F95F51}"/>
              </a:ext>
            </a:extLst>
          </p:cNvPr>
          <p:cNvSpPr>
            <a:spLocks noChangeShapeType="1"/>
          </p:cNvSpPr>
          <p:nvPr/>
        </p:nvSpPr>
        <p:spPr bwMode="auto">
          <a:xfrm>
            <a:off x="2121597" y="1706977"/>
            <a:ext cx="0" cy="990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6" name="Line 22">
            <a:extLst>
              <a:ext uri="{FF2B5EF4-FFF2-40B4-BE49-F238E27FC236}">
                <a16:creationId xmlns:a16="http://schemas.microsoft.com/office/drawing/2014/main" id="{562C9278-21AB-DA77-37BD-AC8C998EEAE3}"/>
              </a:ext>
            </a:extLst>
          </p:cNvPr>
          <p:cNvSpPr>
            <a:spLocks noChangeShapeType="1"/>
          </p:cNvSpPr>
          <p:nvPr/>
        </p:nvSpPr>
        <p:spPr bwMode="auto">
          <a:xfrm>
            <a:off x="2731197" y="1997489"/>
            <a:ext cx="0" cy="8382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7" name="Line 23">
            <a:extLst>
              <a:ext uri="{FF2B5EF4-FFF2-40B4-BE49-F238E27FC236}">
                <a16:creationId xmlns:a16="http://schemas.microsoft.com/office/drawing/2014/main" id="{34F78A89-EA2B-8F1E-DC44-73F587C20595}"/>
              </a:ext>
            </a:extLst>
          </p:cNvPr>
          <p:cNvSpPr>
            <a:spLocks noChangeShapeType="1"/>
          </p:cNvSpPr>
          <p:nvPr/>
        </p:nvSpPr>
        <p:spPr bwMode="auto">
          <a:xfrm>
            <a:off x="3541834" y="1830802"/>
            <a:ext cx="0" cy="533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8" name="Line 24">
            <a:extLst>
              <a:ext uri="{FF2B5EF4-FFF2-40B4-BE49-F238E27FC236}">
                <a16:creationId xmlns:a16="http://schemas.microsoft.com/office/drawing/2014/main" id="{E9618FD3-AC25-D0E3-8F91-E585839D1832}"/>
              </a:ext>
            </a:extLst>
          </p:cNvPr>
          <p:cNvSpPr>
            <a:spLocks noChangeShapeType="1"/>
          </p:cNvSpPr>
          <p:nvPr/>
        </p:nvSpPr>
        <p:spPr bwMode="auto">
          <a:xfrm>
            <a:off x="191990" y="1597439"/>
            <a:ext cx="4114800" cy="1066800"/>
          </a:xfrm>
          <a:prstGeom prst="line">
            <a:avLst/>
          </a:prstGeom>
          <a:noFill/>
          <a:ln w="9525">
            <a:solidFill>
              <a:schemeClr val="accent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9" name="Line 25">
            <a:extLst>
              <a:ext uri="{FF2B5EF4-FFF2-40B4-BE49-F238E27FC236}">
                <a16:creationId xmlns:a16="http://schemas.microsoft.com/office/drawing/2014/main" id="{8B9EA568-BB0F-6F96-A9C8-DDA7C1B38F06}"/>
              </a:ext>
            </a:extLst>
          </p:cNvPr>
          <p:cNvSpPr>
            <a:spLocks noChangeShapeType="1"/>
          </p:cNvSpPr>
          <p:nvPr/>
        </p:nvSpPr>
        <p:spPr bwMode="auto">
          <a:xfrm>
            <a:off x="191990" y="1098964"/>
            <a:ext cx="4038600" cy="1905000"/>
          </a:xfrm>
          <a:prstGeom prst="line">
            <a:avLst/>
          </a:prstGeom>
          <a:noFill/>
          <a:ln w="9525">
            <a:solidFill>
              <a:schemeClr val="tx2">
                <a:lumMod val="40000"/>
                <a:lumOff val="6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Lucida Grande"/>
              <a:ea typeface="+mn-ea"/>
              <a:cs typeface="+mn-cs"/>
            </a:endParaRPr>
          </a:p>
        </p:txBody>
      </p:sp>
      <p:sp>
        <p:nvSpPr>
          <p:cNvPr id="20" name="Line 27">
            <a:extLst>
              <a:ext uri="{FF2B5EF4-FFF2-40B4-BE49-F238E27FC236}">
                <a16:creationId xmlns:a16="http://schemas.microsoft.com/office/drawing/2014/main" id="{A88E0F08-4C63-3063-E053-14E852FD1BE8}"/>
              </a:ext>
            </a:extLst>
          </p:cNvPr>
          <p:cNvSpPr>
            <a:spLocks noChangeShapeType="1"/>
          </p:cNvSpPr>
          <p:nvPr/>
        </p:nvSpPr>
        <p:spPr bwMode="auto">
          <a:xfrm>
            <a:off x="191990" y="1860964"/>
            <a:ext cx="4038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21" name="Text Box 29">
            <a:extLst>
              <a:ext uri="{FF2B5EF4-FFF2-40B4-BE49-F238E27FC236}">
                <a16:creationId xmlns:a16="http://schemas.microsoft.com/office/drawing/2014/main" id="{603503AE-F570-B58F-98EE-B95FB1854494}"/>
              </a:ext>
            </a:extLst>
          </p:cNvPr>
          <p:cNvSpPr txBox="1">
            <a:spLocks noChangeArrowheads="1"/>
          </p:cNvSpPr>
          <p:nvPr/>
        </p:nvSpPr>
        <p:spPr bwMode="auto">
          <a:xfrm>
            <a:off x="4245245" y="3036268"/>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Lucida Grande"/>
                <a:ea typeface="+mn-ea"/>
                <a:cs typeface="+mn-cs"/>
              </a:rPr>
              <a:t>X</a:t>
            </a:r>
          </a:p>
        </p:txBody>
      </p:sp>
      <p:sp>
        <p:nvSpPr>
          <p:cNvPr id="22" name="Text Box 30">
            <a:extLst>
              <a:ext uri="{FF2B5EF4-FFF2-40B4-BE49-F238E27FC236}">
                <a16:creationId xmlns:a16="http://schemas.microsoft.com/office/drawing/2014/main" id="{9589DCBE-DD85-225C-CBFE-986E8113AA92}"/>
              </a:ext>
            </a:extLst>
          </p:cNvPr>
          <p:cNvSpPr txBox="1">
            <a:spLocks noChangeArrowheads="1"/>
          </p:cNvSpPr>
          <p:nvPr/>
        </p:nvSpPr>
        <p:spPr bwMode="auto">
          <a:xfrm>
            <a:off x="-88089" y="77753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chemeClr val="tx1"/>
                </a:solidFill>
                <a:effectLst/>
                <a:uLnTx/>
                <a:uFillTx/>
                <a:latin typeface="Lucida Grande"/>
                <a:ea typeface="+mn-ea"/>
                <a:cs typeface="+mn-cs"/>
              </a:rPr>
              <a:t>Y</a:t>
            </a:r>
          </a:p>
        </p:txBody>
      </p:sp>
    </p:spTree>
    <p:extLst>
      <p:ext uri="{BB962C8B-B14F-4D97-AF65-F5344CB8AC3E}">
        <p14:creationId xmlns:p14="http://schemas.microsoft.com/office/powerpoint/2010/main" val="4189850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20"/>
                                        </p:tgtEl>
                                        <p:attrNameLst>
                                          <p:attrName>style.visibility</p:attrName>
                                        </p:attrNameLst>
                                      </p:cBhvr>
                                      <p:to>
                                        <p:strVal val="visible"/>
                                      </p:to>
                                    </p:set>
                                    <p:animEffect transition="in" filter="box(in)">
                                      <p:cBhvr>
                                        <p:cTn id="7" dur="500"/>
                                        <p:tgtEl>
                                          <p:spTgt spid="8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C589ADD-B4D9-4709-B8DC-0BF19E645694}"/>
              </a:ext>
            </a:extLst>
          </p:cNvPr>
          <p:cNvSpPr>
            <a:spLocks noGrp="1" noChangeArrowheads="1"/>
          </p:cNvSpPr>
          <p:nvPr>
            <p:ph type="title"/>
          </p:nvPr>
        </p:nvSpPr>
        <p:spPr>
          <a:xfrm>
            <a:off x="292681" y="824490"/>
            <a:ext cx="3783268" cy="295935"/>
          </a:xfrm>
        </p:spPr>
        <p:txBody>
          <a:bodyPr>
            <a:normAutofit/>
          </a:bodyPr>
          <a:lstStyle/>
          <a:p>
            <a:r>
              <a:rPr lang="en-US" altLang="en-US" dirty="0"/>
              <a:t>The Least Squares (Regression) Line</a:t>
            </a:r>
          </a:p>
        </p:txBody>
      </p:sp>
      <p:sp>
        <p:nvSpPr>
          <p:cNvPr id="70663" name="Text Box 7">
            <a:extLst>
              <a:ext uri="{FF2B5EF4-FFF2-40B4-BE49-F238E27FC236}">
                <a16:creationId xmlns:a16="http://schemas.microsoft.com/office/drawing/2014/main" id="{ADA6FF94-A1BF-4E68-B685-A2E63D15B309}"/>
              </a:ext>
            </a:extLst>
          </p:cNvPr>
          <p:cNvSpPr txBox="1">
            <a:spLocks noChangeArrowheads="1"/>
          </p:cNvSpPr>
          <p:nvPr/>
        </p:nvSpPr>
        <p:spPr bwMode="auto">
          <a:xfrm>
            <a:off x="326071" y="1391015"/>
            <a:ext cx="3837230" cy="69730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endParaRPr lang="en-US" altLang="en-US" sz="907" dirty="0"/>
          </a:p>
          <a:p>
            <a:pPr algn="l"/>
            <a:r>
              <a:rPr lang="en-US" altLang="en-US" sz="907" dirty="0"/>
              <a:t>A good line is one that minimizes the sum of squared differences between the points and the line.</a:t>
            </a:r>
            <a:endParaRPr lang="en-US" altLang="en-US" sz="1210" dirty="0"/>
          </a:p>
          <a:p>
            <a:pPr algn="l"/>
            <a:endParaRPr lang="en-US" altLang="en-US" sz="1210" dirty="0"/>
          </a:p>
        </p:txBody>
      </p:sp>
      <p:sp>
        <p:nvSpPr>
          <p:cNvPr id="2" name="Rectangle 2">
            <a:extLst>
              <a:ext uri="{FF2B5EF4-FFF2-40B4-BE49-F238E27FC236}">
                <a16:creationId xmlns:a16="http://schemas.microsoft.com/office/drawing/2014/main" id="{4ADC1918-57B1-E0FD-65FF-394EEF65D438}"/>
              </a:ext>
            </a:extLst>
          </p:cNvPr>
          <p:cNvSpPr txBox="1">
            <a:spLocks noChangeArrowheads="1"/>
          </p:cNvSpPr>
          <p:nvPr/>
        </p:nvSpPr>
        <p:spPr>
          <a:xfrm>
            <a:off x="65469" y="103606"/>
            <a:ext cx="3828415" cy="169277"/>
          </a:xfrm>
          <a:prstGeom prst="rect">
            <a:avLst/>
          </a:prstGeom>
        </p:spPr>
        <p:txBody>
          <a:bodyPr wrap="square" lIns="0" tIns="0" rIns="0" bIns="0">
            <a:spAutoFit/>
          </a:bodyPr>
          <a:lstStyle>
            <a:lvl1pPr>
              <a:defRPr sz="1100" b="1" i="0">
                <a:solidFill>
                  <a:srgbClr val="F9F9F9"/>
                </a:solidFill>
                <a:latin typeface="Arial"/>
                <a:ea typeface="+mj-ea"/>
                <a:cs typeface="Arial"/>
              </a:defRPr>
            </a:lvl1pPr>
          </a:lstStyle>
          <a:p>
            <a:pPr algn="l"/>
            <a:r>
              <a:rPr lang="en-US" altLang="en-US">
                <a:solidFill>
                  <a:schemeClr val="bg1"/>
                </a:solidFill>
              </a:rPr>
              <a:t>Estimating the model parameters?</a:t>
            </a:r>
            <a:endParaRPr lang="en-US" altLang="en-US" dirty="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314896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An</a:t>
            </a:r>
            <a:r>
              <a:rPr sz="1100" b="1" spc="85" dirty="0">
                <a:solidFill>
                  <a:srgbClr val="F9F9F9"/>
                </a:solidFill>
                <a:latin typeface="Arial"/>
                <a:cs typeface="Arial"/>
              </a:rPr>
              <a:t> </a:t>
            </a:r>
            <a:r>
              <a:rPr sz="1100" b="1" dirty="0">
                <a:solidFill>
                  <a:srgbClr val="F9F9F9"/>
                </a:solidFill>
                <a:latin typeface="Arial"/>
                <a:cs typeface="Arial"/>
              </a:rPr>
              <a:t>objective</a:t>
            </a:r>
            <a:r>
              <a:rPr sz="1100" b="1" spc="90" dirty="0">
                <a:solidFill>
                  <a:srgbClr val="F9F9F9"/>
                </a:solidFill>
                <a:latin typeface="Arial"/>
                <a:cs typeface="Arial"/>
              </a:rPr>
              <a:t> </a:t>
            </a:r>
            <a:r>
              <a:rPr sz="1100" b="1" dirty="0">
                <a:solidFill>
                  <a:srgbClr val="F9F9F9"/>
                </a:solidFill>
                <a:latin typeface="Arial"/>
                <a:cs typeface="Arial"/>
              </a:rPr>
              <a:t>measure</a:t>
            </a:r>
            <a:r>
              <a:rPr sz="1100" b="1" spc="90" dirty="0">
                <a:solidFill>
                  <a:srgbClr val="F9F9F9"/>
                </a:solidFill>
                <a:latin typeface="Arial"/>
                <a:cs typeface="Arial"/>
              </a:rPr>
              <a:t> </a:t>
            </a:r>
            <a:r>
              <a:rPr sz="1100" b="1" dirty="0">
                <a:solidFill>
                  <a:srgbClr val="F9F9F9"/>
                </a:solidFill>
                <a:latin typeface="Arial"/>
                <a:cs typeface="Arial"/>
              </a:rPr>
              <a:t>for</a:t>
            </a:r>
            <a:r>
              <a:rPr sz="1100" b="1" spc="90" dirty="0">
                <a:solidFill>
                  <a:srgbClr val="F9F9F9"/>
                </a:solidFill>
                <a:latin typeface="Arial"/>
                <a:cs typeface="Arial"/>
              </a:rPr>
              <a:t> </a:t>
            </a:r>
            <a:r>
              <a:rPr sz="1100" b="1" dirty="0">
                <a:solidFill>
                  <a:srgbClr val="F9F9F9"/>
                </a:solidFill>
                <a:latin typeface="Arial"/>
                <a:cs typeface="Arial"/>
              </a:rPr>
              <a:t>finding</a:t>
            </a:r>
            <a:r>
              <a:rPr sz="1100" b="1" spc="90" dirty="0">
                <a:solidFill>
                  <a:srgbClr val="F9F9F9"/>
                </a:solidFill>
                <a:latin typeface="Arial"/>
                <a:cs typeface="Arial"/>
              </a:rPr>
              <a:t> </a:t>
            </a:r>
            <a:r>
              <a:rPr sz="1100" b="1" dirty="0">
                <a:solidFill>
                  <a:srgbClr val="F9F9F9"/>
                </a:solidFill>
                <a:latin typeface="Arial"/>
                <a:cs typeface="Arial"/>
              </a:rPr>
              <a:t>the</a:t>
            </a:r>
            <a:r>
              <a:rPr sz="1100" b="1" spc="90" dirty="0">
                <a:solidFill>
                  <a:srgbClr val="F9F9F9"/>
                </a:solidFill>
                <a:latin typeface="Arial"/>
                <a:cs typeface="Arial"/>
              </a:rPr>
              <a:t> </a:t>
            </a:r>
            <a:r>
              <a:rPr sz="1100" b="1" dirty="0">
                <a:solidFill>
                  <a:srgbClr val="F9F9F9"/>
                </a:solidFill>
                <a:latin typeface="Arial"/>
                <a:cs typeface="Arial"/>
              </a:rPr>
              <a:t>best</a:t>
            </a:r>
            <a:r>
              <a:rPr sz="1100" b="1" spc="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87070" y="548581"/>
            <a:ext cx="2468880" cy="183515"/>
          </a:xfrm>
          <a:prstGeom prst="rect">
            <a:avLst/>
          </a:prstGeom>
        </p:spPr>
        <p:txBody>
          <a:bodyPr vert="horz" wrap="square" lIns="0" tIns="17145" rIns="0" bIns="0" rtlCol="0">
            <a:spAutoFit/>
          </a:bodyPr>
          <a:lstStyle/>
          <a:p>
            <a:pPr marL="148590" indent="-135890">
              <a:lnSpc>
                <a:spcPct val="100000"/>
              </a:lnSpc>
              <a:spcBef>
                <a:spcPts val="135"/>
              </a:spcBef>
              <a:buFont typeface="Lucida Sans"/>
              <a:buChar char="•"/>
              <a:tabLst>
                <a:tab pos="1485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61670" y="490121"/>
            <a:ext cx="3820795" cy="789940"/>
          </a:xfrm>
          <a:prstGeom prst="rect">
            <a:avLst/>
          </a:prstGeom>
        </p:spPr>
        <p:txBody>
          <a:bodyPr vert="horz" wrap="square" lIns="0" tIns="75565" rIns="0" bIns="0" rtlCol="0">
            <a:spAutoFit/>
          </a:bodyPr>
          <a:lstStyle/>
          <a:p>
            <a:pPr marL="173990" indent="-135890">
              <a:lnSpc>
                <a:spcPct val="100000"/>
              </a:lnSpc>
              <a:spcBef>
                <a:spcPts val="595"/>
              </a:spcBef>
              <a:buFont typeface="Lucida Sans"/>
              <a:buChar char="•"/>
              <a:tabLst>
                <a:tab pos="1739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50850" marR="30480" lvl="1" indent="-168275">
              <a:lnSpc>
                <a:spcPct val="120600"/>
              </a:lnSpc>
              <a:spcBef>
                <a:spcPts val="190"/>
              </a:spcBef>
              <a:buAutoNum type="arabicPeriod"/>
              <a:tabLst>
                <a:tab pos="4521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1609725">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1592580"/>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1816100"/>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a:latin typeface="Arial"/>
              <a:cs typeface="Arial"/>
            </a:endParaRP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2013585"/>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lang="en-US" sz="950" dirty="0">
              <a:latin typeface="Arial"/>
              <a:cs typeface="Arial"/>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2997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lang="en-US"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lang="en-US" sz="950" dirty="0">
              <a:latin typeface="Arial"/>
              <a:cs typeface="Arial"/>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6371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sz="950" dirty="0">
              <a:latin typeface="Arial"/>
              <a:cs typeface="Arial"/>
            </a:endParaRPr>
          </a:p>
          <a:p>
            <a:pPr marL="476250" marR="215900" lvl="1" indent="-168275">
              <a:lnSpc>
                <a:spcPct val="120600"/>
              </a:lnSpc>
              <a:buAutoNum type="arabicPeriod"/>
              <a:tabLst>
                <a:tab pos="477520" algn="l"/>
              </a:tabLst>
            </a:pPr>
            <a:r>
              <a:rPr lang="en-US" sz="950" dirty="0">
                <a:solidFill>
                  <a:srgbClr val="22373A"/>
                </a:solidFill>
                <a:latin typeface="Arial"/>
                <a:cs typeface="Arial"/>
              </a:rPr>
              <a:t>Squaring errors means larger errors are more heavily penalized</a:t>
            </a:r>
            <a:endParaRPr sz="950" dirty="0">
              <a:latin typeface="Arial"/>
              <a:cs typeface="Arial"/>
            </a:endParaRPr>
          </a:p>
        </p:txBody>
      </p:sp>
      <p:sp>
        <p:nvSpPr>
          <p:cNvPr id="6" name="TextBox 5">
            <a:extLst>
              <a:ext uri="{FF2B5EF4-FFF2-40B4-BE49-F238E27FC236}">
                <a16:creationId xmlns:a16="http://schemas.microsoft.com/office/drawing/2014/main" id="{1EC3C6C9-E935-E771-04E7-ABC2A911F813}"/>
              </a:ext>
            </a:extLst>
          </p:cNvPr>
          <p:cNvSpPr txBox="1"/>
          <p:nvPr/>
        </p:nvSpPr>
        <p:spPr>
          <a:xfrm>
            <a:off x="13188" y="3150063"/>
            <a:ext cx="2304756" cy="246221"/>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Handout SSE.docx</a:t>
            </a: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Interpretation</a:t>
            </a:r>
            <a:r>
              <a:rPr spc="100" dirty="0"/>
              <a:t> </a:t>
            </a:r>
            <a:r>
              <a:rPr dirty="0"/>
              <a:t>of</a:t>
            </a:r>
            <a:r>
              <a:rPr spc="100" dirty="0"/>
              <a:t> </a:t>
            </a:r>
            <a:r>
              <a:rPr dirty="0"/>
              <a:t>slope</a:t>
            </a:r>
            <a:r>
              <a:rPr spc="105" dirty="0"/>
              <a:t> </a:t>
            </a:r>
            <a:r>
              <a:rPr dirty="0"/>
              <a:t>and</a:t>
            </a:r>
            <a:r>
              <a:rPr spc="100" dirty="0"/>
              <a:t> </a:t>
            </a:r>
            <a:r>
              <a:rPr spc="-10" dirty="0"/>
              <a:t>intercept</a:t>
            </a:r>
          </a:p>
        </p:txBody>
      </p:sp>
      <p:sp>
        <p:nvSpPr>
          <p:cNvPr id="3" name="object 3"/>
          <p:cNvSpPr txBox="1"/>
          <p:nvPr/>
        </p:nvSpPr>
        <p:spPr>
          <a:xfrm>
            <a:off x="117389" y="863830"/>
            <a:ext cx="2116079" cy="1267655"/>
          </a:xfrm>
          <a:prstGeom prst="rect">
            <a:avLst/>
          </a:prstGeom>
        </p:spPr>
        <p:txBody>
          <a:bodyPr vert="horz" wrap="square" lIns="0" tIns="5715" rIns="0" bIns="0" rtlCol="0">
            <a:spAutoFit/>
          </a:bodyPr>
          <a:lstStyle/>
          <a:p>
            <a:pPr marL="183515" marR="89535" indent="-171450">
              <a:spcBef>
                <a:spcPts val="45"/>
              </a:spcBef>
              <a:buClr>
                <a:srgbClr val="22373A"/>
              </a:buClr>
              <a:buFont typeface="Arial" panose="020B0604020202020204" pitchFamily="34" charset="0"/>
              <a:buChar char="•"/>
              <a:tabLst>
                <a:tab pos="149860" algn="l"/>
              </a:tabLst>
            </a:pPr>
            <a:r>
              <a:rPr sz="1000" i="1" dirty="0">
                <a:solidFill>
                  <a:srgbClr val="0DA5FF"/>
                </a:solidFill>
                <a:latin typeface="Arial"/>
                <a:cs typeface="Arial"/>
              </a:rPr>
              <a:t>Intercept:</a:t>
            </a:r>
            <a:r>
              <a:rPr sz="1000" i="1" spc="120" dirty="0">
                <a:solidFill>
                  <a:srgbClr val="0DA5FF"/>
                </a:solidFill>
                <a:latin typeface="Arial"/>
                <a:cs typeface="Arial"/>
              </a:rPr>
              <a:t> </a:t>
            </a:r>
            <a:r>
              <a:rPr sz="1000" dirty="0">
                <a:solidFill>
                  <a:srgbClr val="22373A"/>
                </a:solidFill>
                <a:latin typeface="Arial"/>
                <a:cs typeface="Arial"/>
              </a:rPr>
              <a:t>When</a:t>
            </a:r>
            <a:r>
              <a:rPr sz="1000" spc="55" dirty="0">
                <a:solidFill>
                  <a:srgbClr val="22373A"/>
                </a:solidFill>
                <a:latin typeface="Arial"/>
                <a:cs typeface="Arial"/>
              </a:rPr>
              <a:t> </a:t>
            </a:r>
            <a:r>
              <a:rPr sz="1100" i="1" dirty="0">
                <a:solidFill>
                  <a:srgbClr val="22373A"/>
                </a:solidFill>
                <a:latin typeface="Times New Roman"/>
                <a:cs typeface="Times New Roman"/>
              </a:rPr>
              <a:t>x</a:t>
            </a:r>
            <a:r>
              <a:rPr sz="1100" i="1" spc="70" dirty="0">
                <a:solidFill>
                  <a:srgbClr val="22373A"/>
                </a:solidFill>
                <a:latin typeface="Times New Roman"/>
                <a:cs typeface="Times New Roman"/>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dirty="0">
                <a:solidFill>
                  <a:srgbClr val="22373A"/>
                </a:solidFill>
                <a:latin typeface="Palatino Linotype"/>
                <a:cs typeface="Palatino Linotype"/>
              </a:rPr>
              <a:t>0</a:t>
            </a:r>
            <a:r>
              <a:rPr sz="1000" dirty="0">
                <a:solidFill>
                  <a:srgbClr val="22373A"/>
                </a:solidFill>
                <a:latin typeface="Arial"/>
                <a:cs typeface="Arial"/>
              </a:rPr>
              <a:t>,</a:t>
            </a:r>
            <a:r>
              <a:rPr sz="1000" spc="50" dirty="0">
                <a:solidFill>
                  <a:srgbClr val="22373A"/>
                </a:solidFill>
                <a:latin typeface="Arial"/>
                <a:cs typeface="Arial"/>
              </a:rPr>
              <a:t> </a:t>
            </a:r>
            <a:r>
              <a:rPr sz="1100" i="1" dirty="0">
                <a:solidFill>
                  <a:srgbClr val="22373A"/>
                </a:solidFill>
                <a:latin typeface="Times New Roman"/>
                <a:cs typeface="Times New Roman"/>
              </a:rPr>
              <a:t>y</a:t>
            </a:r>
            <a:r>
              <a:rPr sz="1100" i="1" spc="50" dirty="0">
                <a:solidFill>
                  <a:srgbClr val="22373A"/>
                </a:solidFill>
                <a:latin typeface="Times New Roman"/>
                <a:cs typeface="Times New Roman"/>
              </a:rPr>
              <a:t> </a:t>
            </a:r>
            <a:r>
              <a:rPr sz="1000" spc="-25" dirty="0">
                <a:solidFill>
                  <a:srgbClr val="22373A"/>
                </a:solidFill>
                <a:latin typeface="Arial"/>
                <a:cs typeface="Arial"/>
              </a:rPr>
              <a:t>is</a:t>
            </a:r>
            <a:r>
              <a:rPr lang="en-US" sz="1000" spc="-25"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equal</a:t>
            </a:r>
            <a:r>
              <a:rPr sz="1000" spc="95" dirty="0">
                <a:solidFill>
                  <a:srgbClr val="22373A"/>
                </a:solidFill>
                <a:latin typeface="Arial"/>
                <a:cs typeface="Arial"/>
              </a:rPr>
              <a:t> </a:t>
            </a:r>
            <a:r>
              <a:rPr sz="1000" spc="-25" dirty="0">
                <a:solidFill>
                  <a:srgbClr val="22373A"/>
                </a:solidFill>
                <a:latin typeface="Arial"/>
                <a:cs typeface="Arial"/>
              </a:rPr>
              <a:t>the</a:t>
            </a:r>
            <a:r>
              <a:rPr lang="en-US" sz="1000" spc="-25" dirty="0">
                <a:solidFill>
                  <a:srgbClr val="22373A"/>
                </a:solidFill>
                <a:latin typeface="Arial"/>
                <a:cs typeface="Arial"/>
              </a:rPr>
              <a:t> </a:t>
            </a:r>
            <a:r>
              <a:rPr sz="1000" spc="-10" dirty="0">
                <a:solidFill>
                  <a:srgbClr val="22373A"/>
                </a:solidFill>
                <a:latin typeface="Arial"/>
                <a:cs typeface="Arial"/>
              </a:rPr>
              <a:t>intercept.</a:t>
            </a:r>
            <a:endParaRPr sz="1000" dirty="0">
              <a:latin typeface="Arial"/>
              <a:cs typeface="Arial"/>
            </a:endParaRPr>
          </a:p>
          <a:p>
            <a:pPr marL="183515" marR="5080" indent="-171450">
              <a:buClr>
                <a:srgbClr val="22373A"/>
              </a:buClr>
              <a:buFont typeface="Arial" panose="020B0604020202020204" pitchFamily="34" charset="0"/>
              <a:buChar char="•"/>
              <a:tabLst>
                <a:tab pos="149860" algn="l"/>
              </a:tabLst>
            </a:pPr>
            <a:r>
              <a:rPr sz="1000" i="1" dirty="0">
                <a:solidFill>
                  <a:srgbClr val="0DA5FF"/>
                </a:solidFill>
                <a:latin typeface="Arial"/>
                <a:cs typeface="Arial"/>
              </a:rPr>
              <a:t>Slope:</a:t>
            </a:r>
            <a:r>
              <a:rPr sz="1000" i="1" spc="135" dirty="0">
                <a:solidFill>
                  <a:srgbClr val="0DA5FF"/>
                </a:solidFill>
                <a:latin typeface="Arial"/>
                <a:cs typeface="Arial"/>
              </a:rPr>
              <a:t> </a:t>
            </a:r>
            <a:endParaRPr lang="en-US" sz="1000" i="1" spc="135" dirty="0">
              <a:solidFill>
                <a:srgbClr val="0DA5FF"/>
              </a:solidFill>
              <a:latin typeface="Arial"/>
              <a:cs typeface="Arial"/>
            </a:endParaRPr>
          </a:p>
          <a:p>
            <a:pPr marL="342900" marR="5080" lvl="3" indent="-171450">
              <a:buClr>
                <a:srgbClr val="22373A"/>
              </a:buClr>
              <a:buFont typeface="Arial" panose="020B0604020202020204" pitchFamily="34" charset="0"/>
              <a:buChar char="•"/>
            </a:pPr>
            <a:r>
              <a:rPr sz="1000" dirty="0">
                <a:solidFill>
                  <a:srgbClr val="22373A"/>
                </a:solidFill>
                <a:latin typeface="Arial"/>
                <a:cs typeface="Arial"/>
              </a:rPr>
              <a:t>For</a:t>
            </a:r>
            <a:r>
              <a:rPr sz="1000" spc="60" dirty="0">
                <a:solidFill>
                  <a:srgbClr val="22373A"/>
                </a:solidFill>
                <a:latin typeface="Arial"/>
                <a:cs typeface="Arial"/>
              </a:rPr>
              <a:t> </a:t>
            </a:r>
            <a:r>
              <a:rPr sz="1000" dirty="0">
                <a:solidFill>
                  <a:srgbClr val="22373A"/>
                </a:solidFill>
                <a:latin typeface="Arial"/>
                <a:cs typeface="Arial"/>
              </a:rPr>
              <a:t>each</a:t>
            </a:r>
            <a:r>
              <a:rPr sz="1000" spc="60" dirty="0">
                <a:solidFill>
                  <a:srgbClr val="22373A"/>
                </a:solidFill>
                <a:latin typeface="Arial"/>
                <a:cs typeface="Arial"/>
              </a:rPr>
              <a:t> </a:t>
            </a:r>
            <a:r>
              <a:rPr sz="1000" dirty="0">
                <a:solidFill>
                  <a:srgbClr val="22373A"/>
                </a:solidFill>
                <a:latin typeface="Arial"/>
                <a:cs typeface="Arial"/>
              </a:rPr>
              <a:t>unit</a:t>
            </a:r>
            <a:r>
              <a:rPr sz="1000" spc="60" dirty="0">
                <a:solidFill>
                  <a:srgbClr val="22373A"/>
                </a:solidFill>
                <a:latin typeface="Arial"/>
                <a:cs typeface="Arial"/>
              </a:rPr>
              <a:t> </a:t>
            </a:r>
            <a:r>
              <a:rPr sz="1000" dirty="0">
                <a:solidFill>
                  <a:srgbClr val="22373A"/>
                </a:solidFill>
                <a:latin typeface="Arial"/>
                <a:cs typeface="Arial"/>
              </a:rPr>
              <a:t>in</a:t>
            </a:r>
            <a:r>
              <a:rPr sz="1000" spc="55" dirty="0">
                <a:solidFill>
                  <a:srgbClr val="22373A"/>
                </a:solidFill>
                <a:latin typeface="Arial"/>
                <a:cs typeface="Arial"/>
              </a:rPr>
              <a:t> </a:t>
            </a:r>
            <a:r>
              <a:rPr sz="1100" i="1" dirty="0">
                <a:solidFill>
                  <a:srgbClr val="22373A"/>
                </a:solidFill>
                <a:latin typeface="Times New Roman"/>
                <a:cs typeface="Times New Roman"/>
              </a:rPr>
              <a:t>x</a:t>
            </a:r>
            <a:r>
              <a:rPr sz="1000" dirty="0">
                <a:solidFill>
                  <a:srgbClr val="22373A"/>
                </a:solidFill>
                <a:latin typeface="Arial"/>
                <a:cs typeface="Arial"/>
              </a:rPr>
              <a:t>,</a:t>
            </a:r>
            <a:r>
              <a:rPr sz="1000" spc="60" dirty="0">
                <a:solidFill>
                  <a:srgbClr val="22373A"/>
                </a:solidFill>
                <a:latin typeface="Arial"/>
                <a:cs typeface="Arial"/>
              </a:rPr>
              <a:t> </a:t>
            </a:r>
            <a:r>
              <a:rPr sz="1100" i="1" spc="-50" dirty="0">
                <a:solidFill>
                  <a:srgbClr val="22373A"/>
                </a:solidFill>
                <a:latin typeface="Times New Roman"/>
                <a:cs typeface="Times New Roman"/>
              </a:rPr>
              <a:t>y 	</a:t>
            </a:r>
            <a:r>
              <a:rPr sz="1000" dirty="0">
                <a:solidFill>
                  <a:srgbClr val="22373A"/>
                </a:solidFill>
                <a:latin typeface="Arial"/>
                <a:cs typeface="Arial"/>
              </a:rPr>
              <a:t>is</a:t>
            </a:r>
            <a:r>
              <a:rPr sz="1000" spc="90"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lang="en-US" sz="1000" dirty="0">
                <a:solidFill>
                  <a:srgbClr val="22373A"/>
                </a:solidFill>
                <a:latin typeface="Arial"/>
                <a:cs typeface="Arial"/>
              </a:rPr>
              <a:t>increase/decrease</a:t>
            </a:r>
            <a:r>
              <a:rPr sz="1000" spc="75"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0"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25" dirty="0">
                <a:solidFill>
                  <a:srgbClr val="22373A"/>
                </a:solidFill>
                <a:latin typeface="Arial"/>
                <a:cs typeface="Arial"/>
              </a:rPr>
              <a:t>the </a:t>
            </a:r>
            <a:r>
              <a:rPr sz="1000" spc="-10" dirty="0">
                <a:solidFill>
                  <a:srgbClr val="22373A"/>
                </a:solidFill>
                <a:latin typeface="Arial"/>
                <a:cs typeface="Arial"/>
              </a:rPr>
              <a:t>slope.</a:t>
            </a:r>
            <a:endParaRPr lang="en-US" sz="1000" spc="-10" dirty="0">
              <a:solidFill>
                <a:srgbClr val="22373A"/>
              </a:solidFill>
              <a:latin typeface="Arial"/>
              <a:cs typeface="Arial"/>
            </a:endParaRPr>
          </a:p>
          <a:p>
            <a:pPr marL="342900" marR="5080" lvl="3" indent="-171450">
              <a:buClr>
                <a:srgbClr val="22373A"/>
              </a:buClr>
              <a:buFont typeface="Arial" panose="020B0604020202020204" pitchFamily="34" charset="0"/>
              <a:buChar char="•"/>
            </a:pPr>
            <a:r>
              <a:rPr lang="en-US" sz="1000" spc="-10" dirty="0">
                <a:solidFill>
                  <a:srgbClr val="22373A"/>
                </a:solidFill>
                <a:latin typeface="Arial"/>
                <a:cs typeface="Arial"/>
              </a:rPr>
              <a:t>When the slope is 0, there is no relationship between X and Y</a:t>
            </a:r>
            <a:endParaRPr sz="1000" dirty="0">
              <a:latin typeface="Arial"/>
              <a:cs typeface="Arial"/>
            </a:endParaRPr>
          </a:p>
        </p:txBody>
      </p:sp>
      <p:pic>
        <p:nvPicPr>
          <p:cNvPr id="4" name="object 4"/>
          <p:cNvPicPr/>
          <p:nvPr/>
        </p:nvPicPr>
        <p:blipFill>
          <a:blip r:embed="rId2" cstate="print"/>
          <a:stretch>
            <a:fillRect/>
          </a:stretch>
        </p:blipFill>
        <p:spPr>
          <a:xfrm>
            <a:off x="2420537" y="759737"/>
            <a:ext cx="1943929" cy="1311437"/>
          </a:xfrm>
          <a:prstGeom prst="rect">
            <a:avLst/>
          </a:prstGeom>
        </p:spPr>
      </p:pic>
      <p:sp>
        <p:nvSpPr>
          <p:cNvPr id="5" name="object 5"/>
          <p:cNvSpPr/>
          <p:nvPr/>
        </p:nvSpPr>
        <p:spPr>
          <a:xfrm>
            <a:off x="2623037" y="1425574"/>
            <a:ext cx="1726775" cy="45719"/>
          </a:xfrm>
          <a:custGeom>
            <a:avLst/>
            <a:gdLst/>
            <a:ahLst/>
            <a:cxnLst/>
            <a:rect l="l" t="t" r="r" b="b"/>
            <a:pathLst>
              <a:path w="900430">
                <a:moveTo>
                  <a:pt x="0" y="0"/>
                </a:moveTo>
                <a:lnTo>
                  <a:pt x="899998" y="0"/>
                </a:lnTo>
              </a:path>
            </a:pathLst>
          </a:custGeom>
          <a:ln/>
        </p:spPr>
        <p:style>
          <a:lnRef idx="1">
            <a:schemeClr val="accent2"/>
          </a:lnRef>
          <a:fillRef idx="0">
            <a:schemeClr val="accent2"/>
          </a:fillRef>
          <a:effectRef idx="0">
            <a:schemeClr val="accent2"/>
          </a:effectRef>
          <a:fontRef idx="minor">
            <a:schemeClr val="tx1"/>
          </a:fontRef>
        </p:style>
        <p:txBody>
          <a:bodyPr wrap="square" lIns="0" tIns="0" rIns="0" bIns="0" rtlCol="0"/>
          <a:lstStyle/>
          <a:p>
            <a:endParaRPr dirty="0"/>
          </a:p>
        </p:txBody>
      </p:sp>
      <p:sp>
        <p:nvSpPr>
          <p:cNvPr id="6" name="object 6"/>
          <p:cNvSpPr txBox="1"/>
          <p:nvPr/>
        </p:nvSpPr>
        <p:spPr>
          <a:xfrm>
            <a:off x="322163" y="2995410"/>
            <a:ext cx="3888216" cy="320601"/>
          </a:xfrm>
          <a:prstGeom prst="rect">
            <a:avLst/>
          </a:prstGeom>
        </p:spPr>
        <p:txBody>
          <a:bodyPr vert="horz" wrap="square" lIns="0" tIns="12700" rIns="0" bIns="0" rtlCol="0">
            <a:spAutoFit/>
          </a:bodyPr>
          <a:lstStyle/>
          <a:p>
            <a:pPr marL="12700" marR="5080">
              <a:spcBef>
                <a:spcPts val="100"/>
              </a:spcBef>
            </a:pPr>
            <a:r>
              <a:rPr sz="1000" dirty="0">
                <a:solidFill>
                  <a:srgbClr val="E2004C"/>
                </a:solidFill>
                <a:latin typeface="Arial"/>
                <a:cs typeface="Arial"/>
              </a:rPr>
              <a:t>Note</a:t>
            </a:r>
            <a:r>
              <a:rPr sz="1000" i="1" dirty="0">
                <a:solidFill>
                  <a:srgbClr val="E2004C"/>
                </a:solidFill>
                <a:latin typeface="Arial"/>
                <a:cs typeface="Arial"/>
              </a:rPr>
              <a:t>:</a:t>
            </a:r>
            <a:r>
              <a:rPr sz="1000" i="1" spc="30" dirty="0">
                <a:solidFill>
                  <a:srgbClr val="E2004C"/>
                </a:solidFill>
                <a:latin typeface="Arial"/>
                <a:cs typeface="Arial"/>
              </a:rPr>
              <a:t> </a:t>
            </a:r>
            <a:r>
              <a:rPr sz="1000" dirty="0">
                <a:solidFill>
                  <a:srgbClr val="333333"/>
                </a:solidFill>
                <a:latin typeface="Arial"/>
                <a:cs typeface="Arial"/>
              </a:rPr>
              <a:t>These</a:t>
            </a:r>
            <a:r>
              <a:rPr sz="1000" spc="-15" dirty="0">
                <a:solidFill>
                  <a:srgbClr val="333333"/>
                </a:solidFill>
                <a:latin typeface="Arial"/>
                <a:cs typeface="Arial"/>
              </a:rPr>
              <a:t> </a:t>
            </a:r>
            <a:r>
              <a:rPr sz="1000" dirty="0">
                <a:solidFill>
                  <a:srgbClr val="333333"/>
                </a:solidFill>
                <a:latin typeface="Arial"/>
                <a:cs typeface="Arial"/>
              </a:rPr>
              <a:t>statements</a:t>
            </a:r>
            <a:r>
              <a:rPr sz="1000" spc="-20" dirty="0">
                <a:solidFill>
                  <a:srgbClr val="333333"/>
                </a:solidFill>
                <a:latin typeface="Arial"/>
                <a:cs typeface="Arial"/>
              </a:rPr>
              <a:t> </a:t>
            </a:r>
            <a:r>
              <a:rPr sz="1000" dirty="0">
                <a:solidFill>
                  <a:srgbClr val="333333"/>
                </a:solidFill>
                <a:latin typeface="Arial"/>
                <a:cs typeface="Arial"/>
              </a:rPr>
              <a:t>are</a:t>
            </a:r>
            <a:r>
              <a:rPr sz="1000" spc="-15" dirty="0">
                <a:solidFill>
                  <a:srgbClr val="333333"/>
                </a:solidFill>
                <a:latin typeface="Arial"/>
                <a:cs typeface="Arial"/>
              </a:rPr>
              <a:t> </a:t>
            </a:r>
            <a:r>
              <a:rPr sz="1000" dirty="0">
                <a:solidFill>
                  <a:srgbClr val="333333"/>
                </a:solidFill>
                <a:latin typeface="Arial"/>
                <a:cs typeface="Arial"/>
              </a:rPr>
              <a:t>not</a:t>
            </a:r>
            <a:r>
              <a:rPr sz="1000" spc="-20" dirty="0">
                <a:solidFill>
                  <a:srgbClr val="333333"/>
                </a:solidFill>
                <a:latin typeface="Arial"/>
                <a:cs typeface="Arial"/>
              </a:rPr>
              <a:t> </a:t>
            </a:r>
            <a:r>
              <a:rPr sz="1000" dirty="0">
                <a:solidFill>
                  <a:srgbClr val="333333"/>
                </a:solidFill>
                <a:latin typeface="Arial"/>
                <a:cs typeface="Arial"/>
              </a:rPr>
              <a:t>causal,</a:t>
            </a:r>
            <a:r>
              <a:rPr sz="1000" spc="-20" dirty="0">
                <a:solidFill>
                  <a:srgbClr val="333333"/>
                </a:solidFill>
                <a:latin typeface="Arial"/>
                <a:cs typeface="Arial"/>
              </a:rPr>
              <a:t> </a:t>
            </a:r>
            <a:r>
              <a:rPr sz="1000" dirty="0">
                <a:solidFill>
                  <a:srgbClr val="333333"/>
                </a:solidFill>
                <a:latin typeface="Arial"/>
                <a:cs typeface="Arial"/>
              </a:rPr>
              <a:t>unless</a:t>
            </a:r>
            <a:r>
              <a:rPr sz="1000" spc="-15" dirty="0">
                <a:solidFill>
                  <a:srgbClr val="333333"/>
                </a:solidFill>
                <a:latin typeface="Arial"/>
                <a:cs typeface="Arial"/>
              </a:rPr>
              <a:t> </a:t>
            </a:r>
            <a:r>
              <a:rPr sz="1000" dirty="0">
                <a:solidFill>
                  <a:srgbClr val="333333"/>
                </a:solidFill>
                <a:latin typeface="Arial"/>
                <a:cs typeface="Arial"/>
              </a:rPr>
              <a:t>the</a:t>
            </a:r>
            <a:r>
              <a:rPr sz="1000" spc="-20" dirty="0">
                <a:solidFill>
                  <a:srgbClr val="333333"/>
                </a:solidFill>
                <a:latin typeface="Arial"/>
                <a:cs typeface="Arial"/>
              </a:rPr>
              <a:t> </a:t>
            </a:r>
            <a:r>
              <a:rPr sz="1000" dirty="0">
                <a:solidFill>
                  <a:srgbClr val="333333"/>
                </a:solidFill>
                <a:latin typeface="Arial"/>
                <a:cs typeface="Arial"/>
              </a:rPr>
              <a:t>study</a:t>
            </a:r>
            <a:r>
              <a:rPr sz="1000" spc="-15" dirty="0">
                <a:solidFill>
                  <a:srgbClr val="333333"/>
                </a:solidFill>
                <a:latin typeface="Arial"/>
                <a:cs typeface="Arial"/>
              </a:rPr>
              <a:t> </a:t>
            </a:r>
            <a:r>
              <a:rPr sz="1000" dirty="0">
                <a:solidFill>
                  <a:srgbClr val="333333"/>
                </a:solidFill>
                <a:latin typeface="Arial"/>
                <a:cs typeface="Arial"/>
              </a:rPr>
              <a:t>is</a:t>
            </a:r>
            <a:r>
              <a:rPr sz="1000" spc="-20" dirty="0">
                <a:solidFill>
                  <a:srgbClr val="333333"/>
                </a:solidFill>
                <a:latin typeface="Arial"/>
                <a:cs typeface="Arial"/>
              </a:rPr>
              <a:t> </a:t>
            </a:r>
            <a:r>
              <a:rPr sz="1000" dirty="0">
                <a:solidFill>
                  <a:srgbClr val="333333"/>
                </a:solidFill>
                <a:latin typeface="Arial"/>
                <a:cs typeface="Arial"/>
              </a:rPr>
              <a:t>a</a:t>
            </a:r>
            <a:r>
              <a:rPr sz="1000" spc="-15" dirty="0">
                <a:solidFill>
                  <a:srgbClr val="333333"/>
                </a:solidFill>
                <a:latin typeface="Arial"/>
                <a:cs typeface="Arial"/>
              </a:rPr>
              <a:t> </a:t>
            </a:r>
            <a:r>
              <a:rPr sz="1000" spc="-10" dirty="0">
                <a:solidFill>
                  <a:srgbClr val="333333"/>
                </a:solidFill>
                <a:latin typeface="Arial"/>
                <a:cs typeface="Arial"/>
              </a:rPr>
              <a:t>randomized </a:t>
            </a:r>
            <a:r>
              <a:rPr sz="1000" dirty="0">
                <a:solidFill>
                  <a:srgbClr val="333333"/>
                </a:solidFill>
                <a:latin typeface="Arial"/>
                <a:cs typeface="Arial"/>
              </a:rPr>
              <a:t>controlled</a:t>
            </a:r>
            <a:r>
              <a:rPr sz="1000" spc="-40" dirty="0">
                <a:solidFill>
                  <a:srgbClr val="333333"/>
                </a:solidFill>
                <a:latin typeface="Arial"/>
                <a:cs typeface="Arial"/>
              </a:rPr>
              <a:t> </a:t>
            </a:r>
            <a:r>
              <a:rPr sz="1000" spc="-10" dirty="0">
                <a:solidFill>
                  <a:srgbClr val="333333"/>
                </a:solidFill>
                <a:latin typeface="Arial"/>
                <a:cs typeface="Arial"/>
              </a:rPr>
              <a:t>experiment.</a:t>
            </a:r>
            <a:endParaRPr sz="1000" dirty="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27</a:t>
            </a:r>
          </a:p>
        </p:txBody>
      </p:sp>
      <p:sp>
        <p:nvSpPr>
          <p:cNvPr id="8" name="TextBox 7">
            <a:extLst>
              <a:ext uri="{FF2B5EF4-FFF2-40B4-BE49-F238E27FC236}">
                <a16:creationId xmlns:a16="http://schemas.microsoft.com/office/drawing/2014/main" id="{87C6EC70-A41B-AB38-2DB4-34CD3A316FA0}"/>
              </a:ext>
            </a:extLst>
          </p:cNvPr>
          <p:cNvSpPr txBox="1"/>
          <p:nvPr/>
        </p:nvSpPr>
        <p:spPr>
          <a:xfrm>
            <a:off x="3959977" y="1413020"/>
            <a:ext cx="465192" cy="169277"/>
          </a:xfrm>
          <a:prstGeom prst="rect">
            <a:avLst/>
          </a:prstGeom>
          <a:noFill/>
        </p:spPr>
        <p:txBody>
          <a:bodyPr wrap="none" rtlCol="0">
            <a:spAutoFit/>
          </a:bodyPr>
          <a:lstStyle/>
          <a:p>
            <a:r>
              <a:rPr lang="en-US" sz="500" b="1" dirty="0">
                <a:solidFill>
                  <a:srgbClr val="FF0000"/>
                </a:solidFill>
                <a:latin typeface="Arial" panose="020B0604020202020204" pitchFamily="34" charset="0"/>
                <a:cs typeface="Arial" panose="020B0604020202020204" pitchFamily="34" charset="0"/>
              </a:rPr>
              <a:t>Slope = 0</a:t>
            </a:r>
          </a:p>
        </p:txBody>
      </p:sp>
      <p:sp>
        <p:nvSpPr>
          <p:cNvPr id="12" name="TextBox 11">
            <a:extLst>
              <a:ext uri="{FF2B5EF4-FFF2-40B4-BE49-F238E27FC236}">
                <a16:creationId xmlns:a16="http://schemas.microsoft.com/office/drawing/2014/main" id="{F9782DC9-CCBA-22BA-2798-58AFB6BF6C21}"/>
              </a:ext>
            </a:extLst>
          </p:cNvPr>
          <p:cNvSpPr txBox="1"/>
          <p:nvPr/>
        </p:nvSpPr>
        <p:spPr>
          <a:xfrm>
            <a:off x="2533650" y="2071174"/>
            <a:ext cx="2012504" cy="861774"/>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When the slope = 0, every X value gives the same Y value. I.e., no matter what value </a:t>
            </a:r>
            <a:r>
              <a:rPr lang="en-US" sz="1000" i="1" dirty="0">
                <a:latin typeface="Arial" panose="020B0604020202020204" pitchFamily="34" charset="0"/>
                <a:cs typeface="Arial" panose="020B0604020202020204" pitchFamily="34" charset="0"/>
              </a:rPr>
              <a:t>X</a:t>
            </a:r>
            <a:r>
              <a:rPr lang="en-US" sz="1000" dirty="0">
                <a:latin typeface="Arial" panose="020B0604020202020204" pitchFamily="34" charset="0"/>
                <a:cs typeface="Arial" panose="020B0604020202020204" pitchFamily="34" charset="0"/>
              </a:rPr>
              <a:t> takes, the predicted value of </a:t>
            </a:r>
            <a:r>
              <a:rPr lang="en-US" sz="1000" i="1" dirty="0">
                <a:latin typeface="Arial" panose="020B0604020202020204" pitchFamily="34" charset="0"/>
                <a:cs typeface="Arial" panose="020B0604020202020204" pitchFamily="34" charset="0"/>
              </a:rPr>
              <a:t>Y</a:t>
            </a:r>
            <a:r>
              <a:rPr lang="en-US" sz="1000" dirty="0">
                <a:latin typeface="Arial" panose="020B0604020202020204" pitchFamily="34" charset="0"/>
                <a:cs typeface="Arial" panose="020B0604020202020204" pitchFamily="34" charset="0"/>
              </a:rPr>
              <a:t> stays the same</a:t>
            </a:r>
          </a:p>
        </p:txBody>
      </p:sp>
    </p:spTree>
    <p:extLst>
      <p:ext uri="{BB962C8B-B14F-4D97-AF65-F5344CB8AC3E}">
        <p14:creationId xmlns:p14="http://schemas.microsoft.com/office/powerpoint/2010/main" val="29114031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7416DCA-FDDC-4FEB-B8E9-130E606DBE17}"/>
              </a:ext>
            </a:extLst>
          </p:cNvPr>
          <p:cNvSpPr>
            <a:spLocks noGrp="1" noChangeArrowheads="1"/>
          </p:cNvSpPr>
          <p:nvPr>
            <p:ph type="title"/>
          </p:nvPr>
        </p:nvSpPr>
        <p:spPr>
          <a:xfrm>
            <a:off x="95250" y="130175"/>
            <a:ext cx="3387642" cy="295935"/>
          </a:xfrm>
        </p:spPr>
        <p:txBody>
          <a:bodyPr>
            <a:normAutofit fontScale="90000"/>
          </a:bodyPr>
          <a:lstStyle/>
          <a:p>
            <a:r>
              <a:rPr lang="en-US" altLang="en-US" dirty="0"/>
              <a:t>The Estimated Coefficients (Intuition)</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pPr algn="l"/>
                          <a:r>
                            <a:rPr lang="en-US" sz="800" dirty="0"/>
                            <a:t>Correlation scaled into units of </a:t>
                          </a:r>
                          <a14:m>
                            <m:oMath xmlns:m="http://schemas.openxmlformats.org/officeDocument/2006/math">
                              <m:r>
                                <a:rPr lang="en-US" sz="800" i="1" kern="1200">
                                  <a:solidFill>
                                    <a:schemeClr val="dk1"/>
                                  </a:solidFill>
                                  <a:latin typeface="Cambria Math" panose="02040503050406030204" pitchFamily="18" charset="0"/>
                                  <a:ea typeface="+mn-ea"/>
                                  <a:cs typeface="+mn-cs"/>
                                </a:rPr>
                                <m:t>𝑌</m:t>
                              </m:r>
                            </m:oMath>
                          </a14:m>
                          <a:r>
                            <a:rPr lang="en-US" sz="800" dirty="0"/>
                            <a:t>per unit of </a:t>
                          </a:r>
                          <a14:m>
                            <m:oMath xmlns:m="http://schemas.openxmlformats.org/officeDocument/2006/math">
                              <m:r>
                                <a:rPr lang="en-US" sz="800" i="1" kern="1200">
                                  <a:solidFill>
                                    <a:schemeClr val="dk1"/>
                                  </a:solidFill>
                                  <a:latin typeface="Cambria Math" panose="02040503050406030204" pitchFamily="18" charset="0"/>
                                  <a:ea typeface="+mn-ea"/>
                                  <a:cs typeface="+mn-cs"/>
                                </a:rPr>
                                <m:t>𝑋</m:t>
                              </m:r>
                            </m:oMath>
                          </a14:m>
                          <a:endParaRPr lang="en-US" sz="800" dirty="0"/>
                        </a:p>
                      </a:txBody>
                      <a:tcPr anchor="ctr"/>
                    </a:tc>
                    <a:extLst>
                      <a:ext uri="{0D108BD9-81ED-4DB2-BD59-A6C34878D82A}">
                        <a16:rowId xmlns:a16="http://schemas.microsoft.com/office/drawing/2014/main" val="122052095"/>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pPr algn="l"/>
                          <a:r>
                            <a:rPr lang="en-US" sz="800" dirty="0">
                              <a:solidFill>
                                <a:schemeClr val="bg1"/>
                              </a:solidFill>
                            </a:rPr>
                            <a:t>Measures how much </a:t>
                          </a:r>
                          <a14:m>
                            <m:oMath xmlns:m="http://schemas.openxmlformats.org/officeDocument/2006/math">
                              <m:r>
                                <a:rPr lang="en-US" sz="800" i="1" kern="1200">
                                  <a:solidFill>
                                    <a:schemeClr val="bg1"/>
                                  </a:solidFill>
                                  <a:latin typeface="Cambria Math" panose="02040503050406030204" pitchFamily="18" charset="0"/>
                                  <a:ea typeface="+mn-ea"/>
                                  <a:cs typeface="+mn-cs"/>
                                </a:rPr>
                                <m:t>𝑌</m:t>
                              </m:r>
                            </m:oMath>
                          </a14:m>
                          <a:r>
                            <a:rPr lang="en-US" sz="800" dirty="0">
                              <a:solidFill>
                                <a:schemeClr val="bg1"/>
                              </a:solidFill>
                            </a:rPr>
                            <a:t>changes, on average, for a one-unit increase in </a:t>
                          </a:r>
                          <a14:m>
                            <m:oMath xmlns:m="http://schemas.openxmlformats.org/officeDocument/2006/math">
                              <m:r>
                                <a:rPr lang="en-US" sz="800" i="1" kern="1200">
                                  <a:solidFill>
                                    <a:schemeClr val="bg1"/>
                                  </a:solidFill>
                                  <a:latin typeface="Cambria Math" panose="02040503050406030204" pitchFamily="18" charset="0"/>
                                  <a:ea typeface="+mn-ea"/>
                                  <a:cs typeface="+mn-cs"/>
                                </a:rPr>
                                <m:t>𝑋</m:t>
                              </m:r>
                            </m:oMath>
                          </a14:m>
                          <a:endParaRPr lang="en-US" sz="800"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val="2994568982"/>
                      </a:ext>
                    </a:extLst>
                  </a:tr>
                </a:tbl>
              </a:graphicData>
            </a:graphic>
          </p:graphicFrame>
        </mc:Choice>
        <mc:Fallback xmlns="">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endParaRPr lang="en-US"/>
                        </a:p>
                      </a:txBody>
                      <a:tcPr anchor="ctr">
                        <a:blipFill>
                          <a:blip r:embed="rId2"/>
                          <a:stretch>
                            <a:fillRect l="-111963" t="-449180" r="-1227" b="-126230"/>
                          </a:stretch>
                        </a:blipFill>
                      </a:tcPr>
                    </a:tc>
                    <a:extLst>
                      <a:ext uri="{0D108BD9-81ED-4DB2-BD59-A6C34878D82A}">
                        <a16:rowId xmlns:a16="http://schemas.microsoft.com/office/drawing/2014/main" val="122052095"/>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endParaRPr lang="en-US"/>
                        </a:p>
                      </a:txBody>
                      <a:tcPr anchor="ctr">
                        <a:blipFill>
                          <a:blip r:embed="rId2"/>
                          <a:stretch>
                            <a:fillRect l="-111963" t="-446667" r="-1227" b="-2667"/>
                          </a:stretch>
                        </a:blipFill>
                      </a:tcPr>
                    </a:tc>
                    <a:extLst>
                      <a:ext uri="{0D108BD9-81ED-4DB2-BD59-A6C34878D82A}">
                        <a16:rowId xmlns:a16="http://schemas.microsoft.com/office/drawing/2014/main" val="2994568982"/>
                      </a:ext>
                    </a:extLst>
                  </a:tr>
                </a:tbl>
              </a:graphicData>
            </a:graphic>
          </p:graphicFrame>
        </mc:Fallback>
      </mc:AlternateContent>
      <p:sp>
        <p:nvSpPr>
          <p:cNvPr id="15" name="TextBox 14">
            <a:extLst>
              <a:ext uri="{FF2B5EF4-FFF2-40B4-BE49-F238E27FC236}">
                <a16:creationId xmlns:a16="http://schemas.microsoft.com/office/drawing/2014/main" id="{50F53E6A-1FD3-0A8C-BADC-8C136EB459AA}"/>
              </a:ext>
            </a:extLst>
          </p:cNvPr>
          <p:cNvSpPr txBox="1"/>
          <p:nvPr/>
        </p:nvSpPr>
        <p:spPr>
          <a:xfrm>
            <a:off x="157352" y="3060640"/>
            <a:ext cx="4210050" cy="400110"/>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Intuition: the slope is equal to the (correlation between X and Y) × (spread of Y / spread of 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2444"/>
            <a:ext cx="3976211" cy="263534"/>
          </a:xfrm>
          <a:prstGeom prst="rect">
            <a:avLst/>
          </a:prstGeom>
        </p:spPr>
        <p:txBody>
          <a:bodyPr vert="horz" wrap="square" lIns="0" tIns="17145" rIns="0" bIns="0" rtlCol="0">
            <a:spAutoFit/>
          </a:bodyPr>
          <a:lstStyle/>
          <a:p>
            <a:pPr marL="12700">
              <a:lnSpc>
                <a:spcPct val="100000"/>
              </a:lnSpc>
              <a:spcBef>
                <a:spcPts val="135"/>
              </a:spcBef>
            </a:pPr>
            <a:r>
              <a:rPr sz="1600" spc="-10" dirty="0"/>
              <a:t>Given...</a:t>
            </a:r>
          </a:p>
        </p:txBody>
      </p:sp>
      <p:pic>
        <p:nvPicPr>
          <p:cNvPr id="3" name="object 3"/>
          <p:cNvPicPr/>
          <p:nvPr/>
        </p:nvPicPr>
        <p:blipFill>
          <a:blip r:embed="rId2" cstate="print"/>
          <a:stretch>
            <a:fillRect/>
          </a:stretch>
        </p:blipFill>
        <p:spPr>
          <a:xfrm>
            <a:off x="487427" y="616146"/>
            <a:ext cx="1627763" cy="1203609"/>
          </a:xfrm>
          <a:prstGeom prst="rect">
            <a:avLst/>
          </a:prstGeom>
        </p:spPr>
      </p:pic>
      <p:sp>
        <p:nvSpPr>
          <p:cNvPr id="4" name="object 4"/>
          <p:cNvSpPr txBox="1"/>
          <p:nvPr/>
        </p:nvSpPr>
        <p:spPr>
          <a:xfrm>
            <a:off x="796622"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80</a:t>
            </a:r>
            <a:endParaRPr sz="700">
              <a:latin typeface="Arial"/>
              <a:cs typeface="Arial"/>
            </a:endParaRPr>
          </a:p>
        </p:txBody>
      </p:sp>
      <p:sp>
        <p:nvSpPr>
          <p:cNvPr id="5" name="object 5"/>
          <p:cNvSpPr txBox="1"/>
          <p:nvPr/>
        </p:nvSpPr>
        <p:spPr>
          <a:xfrm>
            <a:off x="1785038"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90</a:t>
            </a:r>
            <a:endParaRPr sz="700">
              <a:latin typeface="Arial"/>
              <a:cs typeface="Arial"/>
            </a:endParaRPr>
          </a:p>
        </p:txBody>
      </p:sp>
      <p:sp>
        <p:nvSpPr>
          <p:cNvPr id="6" name="object 6"/>
          <p:cNvSpPr txBox="1"/>
          <p:nvPr/>
        </p:nvSpPr>
        <p:spPr>
          <a:xfrm>
            <a:off x="362307" y="1114419"/>
            <a:ext cx="123825" cy="65468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12</a:t>
            </a:r>
            <a:endParaRPr sz="700">
              <a:latin typeface="Arial"/>
              <a:cs typeface="Arial"/>
            </a:endParaRPr>
          </a:p>
          <a:p>
            <a:pPr marL="12700">
              <a:lnSpc>
                <a:spcPct val="100000"/>
              </a:lnSpc>
              <a:spcBef>
                <a:spcPts val="530"/>
              </a:spcBef>
            </a:pPr>
            <a:r>
              <a:rPr sz="700" spc="-25" dirty="0">
                <a:latin typeface="Arial"/>
                <a:cs typeface="Arial"/>
              </a:rPr>
              <a:t>10</a:t>
            </a:r>
            <a:endParaRPr sz="700">
              <a:latin typeface="Arial"/>
              <a:cs typeface="Arial"/>
            </a:endParaRPr>
          </a:p>
          <a:p>
            <a:pPr marL="61594">
              <a:lnSpc>
                <a:spcPct val="100000"/>
              </a:lnSpc>
              <a:spcBef>
                <a:spcPts val="535"/>
              </a:spcBef>
            </a:pPr>
            <a:r>
              <a:rPr sz="700" spc="-50" dirty="0">
                <a:latin typeface="Arial"/>
                <a:cs typeface="Arial"/>
              </a:rPr>
              <a:t>8</a:t>
            </a:r>
            <a:endParaRPr sz="700">
              <a:latin typeface="Arial"/>
              <a:cs typeface="Arial"/>
            </a:endParaRPr>
          </a:p>
          <a:p>
            <a:pPr marL="61594">
              <a:lnSpc>
                <a:spcPct val="100000"/>
              </a:lnSpc>
              <a:spcBef>
                <a:spcPts val="530"/>
              </a:spcBef>
            </a:pPr>
            <a:r>
              <a:rPr sz="700" spc="-50" dirty="0">
                <a:latin typeface="Arial"/>
                <a:cs typeface="Arial"/>
              </a:rPr>
              <a:t>6</a:t>
            </a:r>
            <a:endParaRPr sz="700">
              <a:latin typeface="Arial"/>
              <a:cs typeface="Arial"/>
            </a:endParaRPr>
          </a:p>
        </p:txBody>
      </p:sp>
      <p:sp>
        <p:nvSpPr>
          <p:cNvPr id="7" name="object 7"/>
          <p:cNvSpPr txBox="1"/>
          <p:nvPr/>
        </p:nvSpPr>
        <p:spPr>
          <a:xfrm>
            <a:off x="362307" y="591836"/>
            <a:ext cx="123825" cy="480059"/>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18</a:t>
            </a:r>
            <a:endParaRPr sz="700">
              <a:latin typeface="Arial"/>
              <a:cs typeface="Arial"/>
            </a:endParaRPr>
          </a:p>
          <a:p>
            <a:pPr marL="12700">
              <a:lnSpc>
                <a:spcPct val="100000"/>
              </a:lnSpc>
              <a:spcBef>
                <a:spcPts val="530"/>
              </a:spcBef>
            </a:pPr>
            <a:r>
              <a:rPr sz="700" spc="-25" dirty="0">
                <a:latin typeface="Arial"/>
                <a:cs typeface="Arial"/>
              </a:rPr>
              <a:t>16</a:t>
            </a:r>
            <a:endParaRPr sz="700">
              <a:latin typeface="Arial"/>
              <a:cs typeface="Arial"/>
            </a:endParaRPr>
          </a:p>
          <a:p>
            <a:pPr marL="12700">
              <a:lnSpc>
                <a:spcPct val="100000"/>
              </a:lnSpc>
              <a:spcBef>
                <a:spcPts val="535"/>
              </a:spcBef>
            </a:pPr>
            <a:r>
              <a:rPr sz="700" spc="-25" dirty="0">
                <a:latin typeface="Arial"/>
                <a:cs typeface="Arial"/>
              </a:rPr>
              <a:t>14</a:t>
            </a:r>
            <a:endParaRPr sz="700">
              <a:latin typeface="Arial"/>
              <a:cs typeface="Arial"/>
            </a:endParaRPr>
          </a:p>
        </p:txBody>
      </p:sp>
      <p:sp>
        <p:nvSpPr>
          <p:cNvPr id="8" name="object 8"/>
          <p:cNvSpPr txBox="1"/>
          <p:nvPr/>
        </p:nvSpPr>
        <p:spPr>
          <a:xfrm>
            <a:off x="1092155" y="1768175"/>
            <a:ext cx="452120" cy="280035"/>
          </a:xfrm>
          <a:prstGeom prst="rect">
            <a:avLst/>
          </a:prstGeom>
        </p:spPr>
        <p:txBody>
          <a:bodyPr vert="horz" wrap="square" lIns="0" tIns="33020" rIns="0" bIns="0" rtlCol="0">
            <a:spAutoFit/>
          </a:bodyPr>
          <a:lstStyle/>
          <a:p>
            <a:pPr marL="210820">
              <a:lnSpc>
                <a:spcPct val="100000"/>
              </a:lnSpc>
              <a:spcBef>
                <a:spcPts val="260"/>
              </a:spcBef>
            </a:pPr>
            <a:r>
              <a:rPr sz="700" spc="-25" dirty="0">
                <a:latin typeface="Arial"/>
                <a:cs typeface="Arial"/>
              </a:rPr>
              <a:t>85</a:t>
            </a:r>
            <a:endParaRPr sz="700">
              <a:latin typeface="Arial"/>
              <a:cs typeface="Arial"/>
            </a:endParaRPr>
          </a:p>
          <a:p>
            <a:pPr marL="12700">
              <a:lnSpc>
                <a:spcPct val="100000"/>
              </a:lnSpc>
              <a:spcBef>
                <a:spcPts val="165"/>
              </a:spcBef>
            </a:pPr>
            <a:r>
              <a:rPr sz="700" dirty="0">
                <a:latin typeface="Arial"/>
                <a:cs typeface="Arial"/>
              </a:rPr>
              <a:t>%</a:t>
            </a:r>
            <a:r>
              <a:rPr sz="700" spc="-15" dirty="0">
                <a:latin typeface="Arial"/>
                <a:cs typeface="Arial"/>
              </a:rPr>
              <a:t> </a:t>
            </a:r>
            <a:r>
              <a:rPr sz="700" dirty="0">
                <a:latin typeface="Arial"/>
                <a:cs typeface="Arial"/>
              </a:rPr>
              <a:t>HS</a:t>
            </a:r>
            <a:r>
              <a:rPr sz="700" spc="-10" dirty="0">
                <a:latin typeface="Arial"/>
                <a:cs typeface="Arial"/>
              </a:rPr>
              <a:t> </a:t>
            </a:r>
            <a:r>
              <a:rPr sz="700" spc="-20" dirty="0">
                <a:latin typeface="Arial"/>
                <a:cs typeface="Arial"/>
              </a:rPr>
              <a:t>grad</a:t>
            </a:r>
            <a:endParaRPr sz="700">
              <a:latin typeface="Arial"/>
              <a:cs typeface="Arial"/>
            </a:endParaRPr>
          </a:p>
        </p:txBody>
      </p:sp>
      <p:sp>
        <p:nvSpPr>
          <p:cNvPr id="9" name="object 9"/>
          <p:cNvSpPr txBox="1"/>
          <p:nvPr/>
        </p:nvSpPr>
        <p:spPr>
          <a:xfrm>
            <a:off x="239209" y="945376"/>
            <a:ext cx="124460" cy="511809"/>
          </a:xfrm>
          <a:prstGeom prst="rect">
            <a:avLst/>
          </a:prstGeom>
        </p:spPr>
        <p:txBody>
          <a:bodyPr vert="vert270" wrap="square" lIns="0" tIns="3810" rIns="0" bIns="0" rtlCol="0">
            <a:spAutoFit/>
          </a:bodyPr>
          <a:lstStyle/>
          <a:p>
            <a:pPr marL="12700">
              <a:lnSpc>
                <a:spcPct val="100000"/>
              </a:lnSpc>
              <a:spcBef>
                <a:spcPts val="30"/>
              </a:spcBef>
            </a:pPr>
            <a:r>
              <a:rPr sz="700" dirty="0">
                <a:latin typeface="Arial"/>
                <a:cs typeface="Arial"/>
              </a:rPr>
              <a:t>%</a:t>
            </a:r>
            <a:r>
              <a:rPr sz="700" spc="-15" dirty="0">
                <a:latin typeface="Arial"/>
                <a:cs typeface="Arial"/>
              </a:rPr>
              <a:t> </a:t>
            </a:r>
            <a:r>
              <a:rPr sz="700" dirty="0">
                <a:latin typeface="Arial"/>
                <a:cs typeface="Arial"/>
              </a:rPr>
              <a:t>in</a:t>
            </a:r>
            <a:r>
              <a:rPr sz="700" spc="-10" dirty="0">
                <a:latin typeface="Arial"/>
                <a:cs typeface="Arial"/>
              </a:rPr>
              <a:t> poverty</a:t>
            </a:r>
            <a:endParaRPr sz="700">
              <a:latin typeface="Arial"/>
              <a:cs typeface="Arial"/>
            </a:endParaRPr>
          </a:p>
        </p:txBody>
      </p:sp>
      <p:sp>
        <p:nvSpPr>
          <p:cNvPr id="10" name="object 10"/>
          <p:cNvSpPr/>
          <p:nvPr/>
        </p:nvSpPr>
        <p:spPr>
          <a:xfrm>
            <a:off x="2282463" y="739775"/>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1" name="object 11"/>
          <p:cNvSpPr txBox="1"/>
          <p:nvPr/>
        </p:nvSpPr>
        <p:spPr>
          <a:xfrm>
            <a:off x="2826683" y="705133"/>
            <a:ext cx="65976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40" dirty="0">
                <a:solidFill>
                  <a:srgbClr val="22373A"/>
                </a:solidFill>
                <a:latin typeface="Arial"/>
                <a:cs typeface="Arial"/>
              </a:rPr>
              <a:t> </a:t>
            </a:r>
            <a:r>
              <a:rPr sz="1000" dirty="0">
                <a:solidFill>
                  <a:srgbClr val="22373A"/>
                </a:solidFill>
                <a:latin typeface="Arial"/>
                <a:cs typeface="Arial"/>
              </a:rPr>
              <a:t>HS</a:t>
            </a:r>
            <a:r>
              <a:rPr sz="1000" spc="45" dirty="0">
                <a:solidFill>
                  <a:srgbClr val="22373A"/>
                </a:solidFill>
                <a:latin typeface="Arial"/>
                <a:cs typeface="Arial"/>
              </a:rPr>
              <a:t> </a:t>
            </a:r>
            <a:r>
              <a:rPr sz="1000" spc="-20" dirty="0">
                <a:solidFill>
                  <a:srgbClr val="22373A"/>
                </a:solidFill>
                <a:latin typeface="Arial"/>
                <a:cs typeface="Arial"/>
              </a:rPr>
              <a:t>grad</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x</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2" name="object 12"/>
          <p:cNvSpPr txBox="1"/>
          <p:nvPr/>
        </p:nvSpPr>
        <p:spPr>
          <a:xfrm>
            <a:off x="3612309" y="705133"/>
            <a:ext cx="74993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35" dirty="0">
                <a:solidFill>
                  <a:srgbClr val="22373A"/>
                </a:solidFill>
                <a:latin typeface="Arial"/>
                <a:cs typeface="Arial"/>
              </a:rPr>
              <a:t> </a:t>
            </a:r>
            <a:r>
              <a:rPr sz="1000" dirty="0">
                <a:solidFill>
                  <a:srgbClr val="22373A"/>
                </a:solidFill>
                <a:latin typeface="Arial"/>
                <a:cs typeface="Arial"/>
              </a:rPr>
              <a:t>in</a:t>
            </a:r>
            <a:r>
              <a:rPr sz="1000" spc="40" dirty="0">
                <a:solidFill>
                  <a:srgbClr val="22373A"/>
                </a:solidFill>
                <a:latin typeface="Arial"/>
                <a:cs typeface="Arial"/>
              </a:rPr>
              <a:t> </a:t>
            </a:r>
            <a:r>
              <a:rPr sz="1000" spc="-10" dirty="0">
                <a:solidFill>
                  <a:srgbClr val="22373A"/>
                </a:solidFill>
                <a:latin typeface="Arial"/>
                <a:cs typeface="Arial"/>
              </a:rPr>
              <a:t>poverty</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3" name="object 13"/>
          <p:cNvSpPr/>
          <p:nvPr/>
        </p:nvSpPr>
        <p:spPr>
          <a:xfrm>
            <a:off x="2282463" y="1140600"/>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4" name="object 14"/>
          <p:cNvSpPr txBox="1"/>
          <p:nvPr/>
        </p:nvSpPr>
        <p:spPr>
          <a:xfrm>
            <a:off x="2320283" y="1098790"/>
            <a:ext cx="1203960" cy="421640"/>
          </a:xfrm>
          <a:prstGeom prst="rect">
            <a:avLst/>
          </a:prstGeom>
        </p:spPr>
        <p:txBody>
          <a:bodyPr vert="horz" wrap="square" lIns="0" tIns="43180" rIns="0" bIns="0" rtlCol="0">
            <a:spAutoFit/>
          </a:bodyPr>
          <a:lstStyle/>
          <a:p>
            <a:pPr marL="38100">
              <a:lnSpc>
                <a:spcPct val="100000"/>
              </a:lnSpc>
              <a:spcBef>
                <a:spcPts val="340"/>
              </a:spcBef>
              <a:tabLst>
                <a:tab pos="613410" algn="l"/>
              </a:tabLst>
            </a:pPr>
            <a:r>
              <a:rPr sz="1000" spc="-20" dirty="0">
                <a:solidFill>
                  <a:srgbClr val="22373A"/>
                </a:solidFill>
                <a:latin typeface="Arial"/>
                <a:cs typeface="Arial"/>
              </a:rPr>
              <a:t>mean</a:t>
            </a:r>
            <a:r>
              <a:rPr sz="1000" dirty="0">
                <a:solidFill>
                  <a:srgbClr val="22373A"/>
                </a:solidFill>
                <a:latin typeface="Arial"/>
                <a:cs typeface="Arial"/>
              </a:rPr>
              <a:t>	</a:t>
            </a:r>
            <a:r>
              <a:rPr sz="1100" i="1" spc="-220" dirty="0">
                <a:solidFill>
                  <a:srgbClr val="22373A"/>
                </a:solidFill>
                <a:latin typeface="Times New Roman"/>
                <a:cs typeface="Times New Roman"/>
              </a:rPr>
              <a:t>x</a:t>
            </a:r>
            <a:r>
              <a:rPr sz="1100" spc="-220" dirty="0">
                <a:solidFill>
                  <a:srgbClr val="22373A"/>
                </a:solidFill>
                <a:latin typeface="Palatino Linotype"/>
                <a:cs typeface="Palatino Linotype"/>
              </a:rPr>
              <a:t>¯</a:t>
            </a:r>
            <a:r>
              <a:rPr sz="1100" spc="90"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20" dirty="0">
                <a:solidFill>
                  <a:srgbClr val="22373A"/>
                </a:solidFill>
                <a:latin typeface="Palatino Linotype"/>
                <a:cs typeface="Palatino Linotype"/>
              </a:rPr>
              <a:t>86</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01</a:t>
            </a:r>
            <a:endParaRPr sz="1100" dirty="0">
              <a:latin typeface="Palatino Linotype"/>
              <a:cs typeface="Palatino Linotype"/>
            </a:endParaRPr>
          </a:p>
          <a:p>
            <a:pPr marL="38100">
              <a:lnSpc>
                <a:spcPct val="100000"/>
              </a:lnSpc>
              <a:spcBef>
                <a:spcPts val="235"/>
              </a:spcBef>
              <a:tabLst>
                <a:tab pos="639445" algn="l"/>
              </a:tabLst>
            </a:pPr>
            <a:r>
              <a:rPr sz="1000" spc="-25" dirty="0">
                <a:solidFill>
                  <a:srgbClr val="22373A"/>
                </a:solidFill>
                <a:latin typeface="Arial"/>
                <a:cs typeface="Arial"/>
              </a:rPr>
              <a:t>sd</a:t>
            </a:r>
            <a:r>
              <a:rPr sz="1000" dirty="0">
                <a:solidFill>
                  <a:srgbClr val="22373A"/>
                </a:solidFill>
                <a:latin typeface="Arial"/>
                <a:cs typeface="Arial"/>
              </a:rPr>
              <a:t>	</a:t>
            </a: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x</a:t>
            </a:r>
            <a:r>
              <a:rPr sz="1200" i="1" spc="225"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0" dirty="0">
                <a:solidFill>
                  <a:srgbClr val="22373A"/>
                </a:solidFill>
                <a:latin typeface="Palatino Linotype"/>
                <a:cs typeface="Palatino Linotype"/>
              </a:rPr>
              <a:t>3</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73</a:t>
            </a:r>
            <a:endParaRPr sz="1100" dirty="0">
              <a:latin typeface="Palatino Linotype"/>
              <a:cs typeface="Palatino Linotype"/>
            </a:endParaRPr>
          </a:p>
        </p:txBody>
      </p:sp>
      <p:sp>
        <p:nvSpPr>
          <p:cNvPr id="15" name="object 15"/>
          <p:cNvSpPr txBox="1"/>
          <p:nvPr/>
        </p:nvSpPr>
        <p:spPr>
          <a:xfrm>
            <a:off x="3772693" y="1098790"/>
            <a:ext cx="614680" cy="421640"/>
          </a:xfrm>
          <a:prstGeom prst="rect">
            <a:avLst/>
          </a:prstGeom>
        </p:spPr>
        <p:txBody>
          <a:bodyPr vert="horz" wrap="square" lIns="0" tIns="43180" rIns="0" bIns="0" rtlCol="0">
            <a:spAutoFit/>
          </a:bodyPr>
          <a:lstStyle/>
          <a:p>
            <a:pPr marR="30480" algn="r">
              <a:lnSpc>
                <a:spcPct val="100000"/>
              </a:lnSpc>
              <a:spcBef>
                <a:spcPts val="340"/>
              </a:spcBef>
            </a:pPr>
            <a:r>
              <a:rPr sz="1100" i="1" spc="-220" dirty="0">
                <a:solidFill>
                  <a:srgbClr val="22373A"/>
                </a:solidFill>
                <a:latin typeface="Times New Roman"/>
                <a:cs typeface="Times New Roman"/>
              </a:rPr>
              <a:t>y</a:t>
            </a:r>
            <a:r>
              <a:rPr sz="1100" spc="-220" dirty="0">
                <a:solidFill>
                  <a:srgbClr val="22373A"/>
                </a:solidFill>
                <a:latin typeface="Palatino Linotype"/>
                <a:cs typeface="Palatino Linotype"/>
              </a:rPr>
              <a:t>¯</a:t>
            </a:r>
            <a:r>
              <a:rPr sz="1100" spc="85"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10" dirty="0">
                <a:solidFill>
                  <a:srgbClr val="22373A"/>
                </a:solidFill>
                <a:latin typeface="Palatino Linotype"/>
                <a:cs typeface="Palatino Linotype"/>
              </a:rPr>
              <a:t>11</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35</a:t>
            </a:r>
            <a:endParaRPr sz="1100">
              <a:latin typeface="Palatino Linotype"/>
              <a:cs typeface="Palatino Linotype"/>
            </a:endParaRPr>
          </a:p>
          <a:p>
            <a:pPr marR="30480" algn="r">
              <a:lnSpc>
                <a:spcPct val="100000"/>
              </a:lnSpc>
              <a:spcBef>
                <a:spcPts val="235"/>
              </a:spcBef>
            </a:pP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y</a:t>
            </a:r>
            <a:r>
              <a:rPr sz="1200" i="1" spc="217"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5" dirty="0">
                <a:solidFill>
                  <a:srgbClr val="22373A"/>
                </a:solidFill>
                <a:latin typeface="Palatino Linotype"/>
                <a:cs typeface="Palatino Linotype"/>
              </a:rPr>
              <a:t>3</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1</a:t>
            </a:r>
            <a:endParaRPr sz="1100">
              <a:latin typeface="Palatino Linotype"/>
              <a:cs typeface="Palatino Linotype"/>
            </a:endParaRPr>
          </a:p>
        </p:txBody>
      </p:sp>
      <p:sp>
        <p:nvSpPr>
          <p:cNvPr id="16" name="object 16"/>
          <p:cNvSpPr/>
          <p:nvPr/>
        </p:nvSpPr>
        <p:spPr>
          <a:xfrm>
            <a:off x="2282463" y="1541438"/>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7" name="object 17"/>
          <p:cNvSpPr txBox="1"/>
          <p:nvPr/>
        </p:nvSpPr>
        <p:spPr>
          <a:xfrm>
            <a:off x="2846038" y="1538166"/>
            <a:ext cx="640080" cy="18351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2373A"/>
                </a:solidFill>
                <a:latin typeface="Arial"/>
                <a:cs typeface="Arial"/>
              </a:rPr>
              <a:t>correlation</a:t>
            </a:r>
            <a:endParaRPr sz="1000" dirty="0">
              <a:latin typeface="Arial"/>
              <a:cs typeface="Arial"/>
            </a:endParaRPr>
          </a:p>
        </p:txBody>
      </p:sp>
      <p:sp>
        <p:nvSpPr>
          <p:cNvPr id="18" name="object 18"/>
          <p:cNvSpPr txBox="1"/>
          <p:nvPr/>
        </p:nvSpPr>
        <p:spPr>
          <a:xfrm>
            <a:off x="3756107" y="1531238"/>
            <a:ext cx="605790" cy="191770"/>
          </a:xfrm>
          <a:prstGeom prst="rect">
            <a:avLst/>
          </a:prstGeom>
        </p:spPr>
        <p:txBody>
          <a:bodyPr vert="horz" wrap="square" lIns="0" tIns="11430" rIns="0" bIns="0" rtlCol="0">
            <a:spAutoFit/>
          </a:bodyPr>
          <a:lstStyle/>
          <a:p>
            <a:pPr marL="12700">
              <a:lnSpc>
                <a:spcPct val="100000"/>
              </a:lnSpc>
              <a:spcBef>
                <a:spcPts val="90"/>
              </a:spcBef>
            </a:pPr>
            <a:r>
              <a:rPr sz="1100" i="1" dirty="0">
                <a:solidFill>
                  <a:srgbClr val="22373A"/>
                </a:solidFill>
                <a:latin typeface="Times New Roman"/>
                <a:cs typeface="Times New Roman"/>
              </a:rPr>
              <a:t>R</a:t>
            </a:r>
            <a:r>
              <a:rPr sz="1100" i="1" spc="10" dirty="0">
                <a:solidFill>
                  <a:srgbClr val="22373A"/>
                </a:solidFill>
                <a:latin typeface="Times New Roman"/>
                <a:cs typeface="Times New Roman"/>
              </a:rPr>
              <a:t> </a:t>
            </a:r>
            <a:r>
              <a:rPr sz="1100" dirty="0">
                <a:solidFill>
                  <a:srgbClr val="22373A"/>
                </a:solidFill>
                <a:latin typeface="Lucida Sans"/>
                <a:cs typeface="Lucida Sans"/>
              </a:rPr>
              <a:t>=</a:t>
            </a:r>
            <a:r>
              <a:rPr sz="1100" spc="-60" dirty="0">
                <a:solidFill>
                  <a:srgbClr val="22373A"/>
                </a:solidFill>
                <a:latin typeface="Lucida Sans"/>
                <a:cs typeface="Lucida Sans"/>
              </a:rPr>
              <a:t> </a:t>
            </a:r>
            <a:r>
              <a:rPr sz="1100" spc="-50" dirty="0">
                <a:solidFill>
                  <a:srgbClr val="22373A"/>
                </a:solidFill>
                <a:latin typeface="Lucida Sans Unicode"/>
                <a:cs typeface="Lucida Sans Unicode"/>
              </a:rPr>
              <a:t>−</a:t>
            </a:r>
            <a:r>
              <a:rPr sz="1100" spc="-50" dirty="0">
                <a:solidFill>
                  <a:srgbClr val="22373A"/>
                </a:solidFill>
                <a:latin typeface="Palatino Linotype"/>
                <a:cs typeface="Palatino Linotype"/>
              </a:rPr>
              <a:t>0</a:t>
            </a:r>
            <a:r>
              <a:rPr sz="1100" b="0" spc="-50" dirty="0">
                <a:solidFill>
                  <a:srgbClr val="22373A"/>
                </a:solidFill>
                <a:latin typeface="Bookman Old Style"/>
                <a:cs typeface="Bookman Old Style"/>
              </a:rPr>
              <a:t>.</a:t>
            </a:r>
            <a:r>
              <a:rPr sz="1100" spc="-50" dirty="0">
                <a:solidFill>
                  <a:srgbClr val="22373A"/>
                </a:solidFill>
                <a:latin typeface="Palatino Linotype"/>
                <a:cs typeface="Palatino Linotype"/>
              </a:rPr>
              <a:t>75</a:t>
            </a:r>
            <a:endParaRPr sz="1100">
              <a:latin typeface="Palatino Linotype"/>
              <a:cs typeface="Palatino Linotype"/>
            </a:endParaRPr>
          </a:p>
        </p:txBody>
      </p:sp>
      <p:sp>
        <p:nvSpPr>
          <p:cNvPr id="19" name="object 19"/>
          <p:cNvSpPr/>
          <p:nvPr/>
        </p:nvSpPr>
        <p:spPr>
          <a:xfrm>
            <a:off x="2282463" y="1744384"/>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20" name="object 20"/>
          <p:cNvSpPr txBox="1">
            <a:spLocks noGrp="1"/>
          </p:cNvSpPr>
          <p:nvPr>
            <p:ph type="sldNum" sz="quarter" idx="7"/>
          </p:nvPr>
        </p:nvSpPr>
        <p:spPr>
          <a:xfrm>
            <a:off x="4208278" y="3201775"/>
            <a:ext cx="196341" cy="146748"/>
          </a:xfrm>
          <a:prstGeom prst="rect">
            <a:avLst/>
          </a:prstGeom>
        </p:spPr>
        <p:txBody>
          <a:bodyPr vert="horz" wrap="square" lIns="0" tIns="0" rIns="0" bIns="0" rtlCol="0">
            <a:spAutoFit/>
          </a:bodyPr>
          <a:lstStyle>
            <a:defPPr>
              <a:defRPr kern="0"/>
            </a:defPPr>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lang="en-US" spc="-50" smtClean="0"/>
              <a:pPr marL="91440">
                <a:lnSpc>
                  <a:spcPct val="100000"/>
                </a:lnSpc>
                <a:spcBef>
                  <a:spcPts val="70"/>
                </a:spcBef>
              </a:pPr>
              <a:t>51</a:t>
            </a:fld>
            <a:endParaRPr spc="-25" dirty="0"/>
          </a:p>
        </p:txBody>
      </p:sp>
    </p:spTree>
    <p:extLst>
      <p:ext uri="{BB962C8B-B14F-4D97-AF65-F5344CB8AC3E}">
        <p14:creationId xmlns:p14="http://schemas.microsoft.com/office/powerpoint/2010/main" val="2910704517"/>
      </p:ext>
    </p:extLst>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3" name="object 3"/>
          <p:cNvSpPr txBox="1"/>
          <p:nvPr/>
        </p:nvSpPr>
        <p:spPr>
          <a:xfrm>
            <a:off x="122770" y="83027"/>
            <a:ext cx="3080385" cy="882650"/>
          </a:xfrm>
          <a:prstGeom prst="rect">
            <a:avLst/>
          </a:prstGeom>
        </p:spPr>
        <p:txBody>
          <a:bodyPr vert="horz" wrap="square" lIns="0" tIns="17145" rIns="0" bIns="0" rtlCol="0">
            <a:spAutoFit/>
          </a:bodyPr>
          <a:lstStyle/>
          <a:p>
            <a:pPr marL="12700">
              <a:lnSpc>
                <a:spcPct val="100000"/>
              </a:lnSpc>
              <a:spcBef>
                <a:spcPts val="135"/>
              </a:spcBef>
            </a:pPr>
            <a:r>
              <a:rPr sz="1100" b="1" spc="-10" dirty="0">
                <a:solidFill>
                  <a:srgbClr val="F9F9F9"/>
                </a:solidFill>
                <a:latin typeface="Arial"/>
                <a:cs typeface="Arial"/>
              </a:rPr>
              <a:t>Slope</a:t>
            </a:r>
            <a:endParaRPr sz="1100">
              <a:latin typeface="Arial"/>
              <a:cs typeface="Arial"/>
            </a:endParaRPr>
          </a:p>
          <a:p>
            <a:pPr>
              <a:lnSpc>
                <a:spcPct val="100000"/>
              </a:lnSpc>
              <a:spcBef>
                <a:spcPts val="350"/>
              </a:spcBef>
            </a:pPr>
            <a:endParaRPr sz="1100">
              <a:latin typeface="Arial"/>
              <a:cs typeface="Arial"/>
            </a:endParaRPr>
          </a:p>
          <a:p>
            <a:pPr marL="236854">
              <a:lnSpc>
                <a:spcPct val="100000"/>
              </a:lnSpc>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236854">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6" name="object 6"/>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4" name="object 4"/>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5" name="object 5"/>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dirty="0">
              <a:latin typeface="Times New Roman"/>
              <a:cs typeface="Times New Roman"/>
            </a:endParaRPr>
          </a:p>
        </p:txBody>
      </p: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0" name="object 10"/>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1" name="object 11"/>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
        <p:nvSpPr>
          <p:cNvPr id="10" name="object 10"/>
          <p:cNvSpPr txBox="1"/>
          <p:nvPr/>
        </p:nvSpPr>
        <p:spPr>
          <a:xfrm>
            <a:off x="347294" y="2428515"/>
            <a:ext cx="3827779" cy="619125"/>
          </a:xfrm>
          <a:prstGeom prst="rect">
            <a:avLst/>
          </a:prstGeom>
        </p:spPr>
        <p:txBody>
          <a:bodyPr vert="horz" wrap="square" lIns="0" tIns="57150" rIns="0" bIns="0" rtlCol="0">
            <a:spAutoFit/>
          </a:bodyPr>
          <a:lstStyle/>
          <a:p>
            <a:pPr marL="12700">
              <a:lnSpc>
                <a:spcPct val="100000"/>
              </a:lnSpc>
              <a:spcBef>
                <a:spcPts val="450"/>
              </a:spcBef>
            </a:pPr>
            <a:r>
              <a:rPr sz="1000" i="1" spc="-10" dirty="0">
                <a:solidFill>
                  <a:srgbClr val="0DA5FF"/>
                </a:solidFill>
                <a:latin typeface="Arial"/>
                <a:cs typeface="Arial"/>
              </a:rPr>
              <a:t>Interpretation</a:t>
            </a:r>
            <a:endParaRPr sz="1000">
              <a:latin typeface="Arial"/>
              <a:cs typeface="Arial"/>
            </a:endParaRPr>
          </a:p>
          <a:p>
            <a:pPr marL="12700" marR="5080">
              <a:lnSpc>
                <a:spcPct val="129800"/>
              </a:lnSpc>
            </a:pPr>
            <a:r>
              <a:rPr sz="1000" dirty="0">
                <a:solidFill>
                  <a:srgbClr val="22373A"/>
                </a:solidFill>
                <a:latin typeface="Arial"/>
                <a:cs typeface="Arial"/>
              </a:rPr>
              <a:t>For</a:t>
            </a:r>
            <a:r>
              <a:rPr sz="1000" spc="75"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additional</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we</a:t>
            </a:r>
            <a:r>
              <a:rPr sz="1000" spc="75" dirty="0">
                <a:solidFill>
                  <a:srgbClr val="22373A"/>
                </a:solidFill>
                <a:latin typeface="Arial"/>
                <a:cs typeface="Arial"/>
              </a:rPr>
              <a:t> </a:t>
            </a:r>
            <a:r>
              <a:rPr sz="1000" dirty="0">
                <a:solidFill>
                  <a:srgbClr val="22373A"/>
                </a:solidFill>
                <a:latin typeface="Arial"/>
                <a:cs typeface="Arial"/>
              </a:rPr>
              <a:t>would</a:t>
            </a:r>
            <a:r>
              <a:rPr sz="1000" spc="75" dirty="0">
                <a:solidFill>
                  <a:srgbClr val="22373A"/>
                </a:solidFill>
                <a:latin typeface="Arial"/>
                <a:cs typeface="Arial"/>
              </a:rPr>
              <a:t> </a:t>
            </a:r>
            <a:r>
              <a:rPr sz="1000" spc="-10" dirty="0">
                <a:solidFill>
                  <a:srgbClr val="22373A"/>
                </a:solidFill>
                <a:latin typeface="Arial"/>
                <a:cs typeface="Arial"/>
              </a:rPr>
              <a:t>expect </a:t>
            </a:r>
            <a:r>
              <a:rPr sz="1000" dirty="0">
                <a:solidFill>
                  <a:srgbClr val="22373A"/>
                </a:solidFill>
                <a:latin typeface="Arial"/>
                <a:cs typeface="Arial"/>
              </a:rPr>
              <a:t>the</a:t>
            </a:r>
            <a:r>
              <a:rPr sz="1000" spc="60" dirty="0">
                <a:solidFill>
                  <a:srgbClr val="22373A"/>
                </a:solidFill>
                <a:latin typeface="Arial"/>
                <a:cs typeface="Arial"/>
              </a:rPr>
              <a:t> </a:t>
            </a: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6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65" dirty="0">
                <a:solidFill>
                  <a:srgbClr val="22373A"/>
                </a:solidFill>
                <a:latin typeface="Arial"/>
                <a:cs typeface="Arial"/>
              </a:rPr>
              <a:t> </a:t>
            </a:r>
            <a:r>
              <a:rPr sz="1000" dirty="0">
                <a:solidFill>
                  <a:srgbClr val="22373A"/>
                </a:solidFill>
                <a:latin typeface="Arial"/>
                <a:cs typeface="Arial"/>
              </a:rPr>
              <a:t>to</a:t>
            </a:r>
            <a:r>
              <a:rPr sz="1000" spc="60" dirty="0">
                <a:solidFill>
                  <a:srgbClr val="22373A"/>
                </a:solidFill>
                <a:latin typeface="Arial"/>
                <a:cs typeface="Arial"/>
              </a:rPr>
              <a:t> </a:t>
            </a:r>
            <a:r>
              <a:rPr sz="1000" dirty="0">
                <a:solidFill>
                  <a:srgbClr val="22373A"/>
                </a:solidFill>
                <a:latin typeface="Arial"/>
                <a:cs typeface="Arial"/>
              </a:rPr>
              <a:t>be</a:t>
            </a:r>
            <a:r>
              <a:rPr sz="1000" spc="65" dirty="0">
                <a:solidFill>
                  <a:srgbClr val="22373A"/>
                </a:solidFill>
                <a:latin typeface="Arial"/>
                <a:cs typeface="Arial"/>
              </a:rPr>
              <a:t> </a:t>
            </a:r>
            <a:r>
              <a:rPr sz="1000" dirty="0">
                <a:solidFill>
                  <a:srgbClr val="22373A"/>
                </a:solidFill>
                <a:latin typeface="Arial"/>
                <a:cs typeface="Arial"/>
              </a:rPr>
              <a:t>lower</a:t>
            </a:r>
            <a:r>
              <a:rPr sz="1000" spc="60" dirty="0">
                <a:solidFill>
                  <a:srgbClr val="22373A"/>
                </a:solidFill>
                <a:latin typeface="Arial"/>
                <a:cs typeface="Arial"/>
              </a:rPr>
              <a:t> </a:t>
            </a:r>
            <a:r>
              <a:rPr sz="1000" dirty="0">
                <a:solidFill>
                  <a:srgbClr val="22373A"/>
                </a:solidFill>
                <a:latin typeface="Arial"/>
                <a:cs typeface="Arial"/>
              </a:rPr>
              <a:t>on</a:t>
            </a:r>
            <a:r>
              <a:rPr sz="1000" spc="65" dirty="0">
                <a:solidFill>
                  <a:srgbClr val="22373A"/>
                </a:solidFill>
                <a:latin typeface="Arial"/>
                <a:cs typeface="Arial"/>
              </a:rPr>
              <a:t> </a:t>
            </a:r>
            <a:r>
              <a:rPr sz="1000" dirty="0">
                <a:solidFill>
                  <a:srgbClr val="22373A"/>
                </a:solidFill>
                <a:latin typeface="Arial"/>
                <a:cs typeface="Arial"/>
              </a:rPr>
              <a:t>average</a:t>
            </a:r>
            <a:r>
              <a:rPr sz="1000" spc="65" dirty="0">
                <a:solidFill>
                  <a:srgbClr val="22373A"/>
                </a:solidFill>
                <a:latin typeface="Arial"/>
                <a:cs typeface="Arial"/>
              </a:rPr>
              <a:t> </a:t>
            </a:r>
            <a:r>
              <a:rPr sz="1000" dirty="0">
                <a:solidFill>
                  <a:srgbClr val="22373A"/>
                </a:solidFill>
                <a:latin typeface="Arial"/>
                <a:cs typeface="Arial"/>
              </a:rPr>
              <a:t>by</a:t>
            </a:r>
            <a:r>
              <a:rPr sz="1000" spc="60" dirty="0">
                <a:solidFill>
                  <a:srgbClr val="22373A"/>
                </a:solidFill>
                <a:latin typeface="Arial"/>
                <a:cs typeface="Arial"/>
              </a:rPr>
              <a:t> </a:t>
            </a:r>
            <a:r>
              <a:rPr sz="1000" dirty="0">
                <a:solidFill>
                  <a:srgbClr val="22373A"/>
                </a:solidFill>
                <a:latin typeface="Arial"/>
                <a:cs typeface="Arial"/>
              </a:rPr>
              <a:t>0.62%</a:t>
            </a:r>
            <a:r>
              <a:rPr sz="1000" spc="65" dirty="0">
                <a:solidFill>
                  <a:srgbClr val="22373A"/>
                </a:solidFill>
                <a:latin typeface="Arial"/>
                <a:cs typeface="Arial"/>
              </a:rPr>
              <a:t> </a:t>
            </a:r>
            <a:r>
              <a:rPr sz="1000" spc="-10" dirty="0">
                <a:solidFill>
                  <a:srgbClr val="22373A"/>
                </a:solidFill>
                <a:latin typeface="Arial"/>
                <a:cs typeface="Arial"/>
              </a:rPr>
              <a:t>points.</a:t>
            </a:r>
            <a:endParaRPr sz="1000">
              <a:latin typeface="Arial"/>
              <a:cs typeface="Arial"/>
            </a:endParaRPr>
          </a:p>
        </p:txBody>
      </p: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09194" y="455668"/>
                <a:ext cx="3893820" cy="1187761"/>
              </a:xfrm>
              <a:prstGeom prst="rect">
                <a:avLst/>
              </a:prstGeom>
            </p:spPr>
            <p:txBody>
              <a:bodyPr vert="horz" wrap="square" lIns="0" tIns="17145" rIns="0" bIns="0" rtlCol="0">
                <a:spAutoFit/>
              </a:bodyPr>
              <a:lstStyle/>
              <a:p>
                <a:pPr marL="50800">
                  <a:lnSpc>
                    <a:spcPct val="100000"/>
                  </a:lnSpc>
                  <a:spcBef>
                    <a:spcPts val="135"/>
                  </a:spcBef>
                </a:pPr>
                <a:r>
                  <a:rPr lang="en-US" sz="1000" spc="-10" dirty="0">
                    <a:solidFill>
                      <a:srgbClr val="2A526C"/>
                    </a:solidFill>
                    <a:latin typeface="Arial"/>
                    <a:cs typeface="Arial"/>
                  </a:rPr>
                  <a:t>Intercept</a:t>
                </a:r>
                <a:endParaRPr lang="en-US" sz="1000" dirty="0">
                  <a:latin typeface="Arial"/>
                  <a:cs typeface="Arial"/>
                </a:endParaRPr>
              </a:p>
              <a:p>
                <a:pPr marL="50800" marR="43180">
                  <a:lnSpc>
                    <a:spcPct val="123600"/>
                  </a:lnSpc>
                  <a:spcBef>
                    <a:spcPts val="960"/>
                  </a:spcBef>
                </a:pP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intercept</a:t>
                </a:r>
                <a:r>
                  <a:rPr lang="en-US" sz="1000" spc="105"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where</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regression</a:t>
                </a:r>
                <a:r>
                  <a:rPr lang="en-US" sz="1000" spc="100" dirty="0">
                    <a:solidFill>
                      <a:srgbClr val="22373A"/>
                    </a:solidFill>
                    <a:latin typeface="Arial"/>
                    <a:cs typeface="Arial"/>
                  </a:rPr>
                  <a:t> </a:t>
                </a:r>
                <a:r>
                  <a:rPr lang="en-US" sz="1000" dirty="0">
                    <a:solidFill>
                      <a:srgbClr val="22373A"/>
                    </a:solidFill>
                    <a:latin typeface="Arial"/>
                    <a:cs typeface="Arial"/>
                  </a:rPr>
                  <a:t>line</a:t>
                </a:r>
                <a:r>
                  <a:rPr lang="en-US" sz="1000" spc="105" dirty="0">
                    <a:solidFill>
                      <a:srgbClr val="22373A"/>
                    </a:solidFill>
                    <a:latin typeface="Arial"/>
                    <a:cs typeface="Arial"/>
                  </a:rPr>
                  <a:t> </a:t>
                </a:r>
                <a:r>
                  <a:rPr lang="en-US" sz="1000" dirty="0">
                    <a:solidFill>
                      <a:srgbClr val="22373A"/>
                    </a:solidFill>
                    <a:latin typeface="Arial"/>
                    <a:cs typeface="Arial"/>
                  </a:rPr>
                  <a:t>intersects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100" i="1" dirty="0">
                    <a:solidFill>
                      <a:srgbClr val="22373A"/>
                    </a:solidFill>
                    <a:latin typeface="Times New Roman"/>
                    <a:cs typeface="Times New Roman"/>
                  </a:rPr>
                  <a:t>y</a:t>
                </a:r>
                <a:r>
                  <a:rPr lang="en-US" sz="1000" dirty="0">
                    <a:solidFill>
                      <a:srgbClr val="22373A"/>
                    </a:solidFill>
                    <a:latin typeface="Arial"/>
                    <a:cs typeface="Arial"/>
                  </a:rPr>
                  <a:t>-</a:t>
                </a:r>
                <a:r>
                  <a:rPr lang="en-US" sz="1000" spc="-10" dirty="0">
                    <a:solidFill>
                      <a:srgbClr val="22373A"/>
                    </a:solidFill>
                    <a:latin typeface="Arial"/>
                    <a:cs typeface="Arial"/>
                  </a:rPr>
                  <a:t>axis.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calculation</a:t>
                </a:r>
                <a:r>
                  <a:rPr lang="en-US" sz="1000" spc="90" dirty="0">
                    <a:solidFill>
                      <a:srgbClr val="22373A"/>
                    </a:solidFill>
                    <a:latin typeface="Arial"/>
                    <a:cs typeface="Arial"/>
                  </a:rPr>
                  <a:t> </a:t>
                </a:r>
                <a:r>
                  <a:rPr lang="en-US" sz="1000" dirty="0">
                    <a:solidFill>
                      <a:srgbClr val="22373A"/>
                    </a:solidFill>
                    <a:latin typeface="Arial"/>
                    <a:cs typeface="Arial"/>
                  </a:rPr>
                  <a:t>of</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intercept</a:t>
                </a:r>
                <a:r>
                  <a:rPr lang="en-US" sz="1000" spc="90" dirty="0">
                    <a:solidFill>
                      <a:srgbClr val="22373A"/>
                    </a:solidFill>
                    <a:latin typeface="Arial"/>
                    <a:cs typeface="Arial"/>
                  </a:rPr>
                  <a:t> </a:t>
                </a:r>
                <a:r>
                  <a:rPr lang="en-US" sz="1000" dirty="0">
                    <a:solidFill>
                      <a:srgbClr val="22373A"/>
                    </a:solidFill>
                    <a:latin typeface="Arial"/>
                    <a:cs typeface="Arial"/>
                  </a:rPr>
                  <a:t>uses</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fact</a:t>
                </a:r>
                <a:r>
                  <a:rPr lang="en-US" sz="1000" spc="90" dirty="0">
                    <a:solidFill>
                      <a:srgbClr val="22373A"/>
                    </a:solidFill>
                    <a:latin typeface="Arial"/>
                    <a:cs typeface="Arial"/>
                  </a:rPr>
                  <a:t> </a:t>
                </a:r>
                <a:r>
                  <a:rPr lang="en-US" sz="1000" dirty="0">
                    <a:solidFill>
                      <a:srgbClr val="22373A"/>
                    </a:solidFill>
                    <a:latin typeface="Arial"/>
                    <a:cs typeface="Arial"/>
                  </a:rPr>
                  <a:t>that</a:t>
                </a:r>
                <a:r>
                  <a:rPr lang="en-US" sz="1000" spc="90" dirty="0">
                    <a:solidFill>
                      <a:srgbClr val="22373A"/>
                    </a:solidFill>
                    <a:latin typeface="Arial"/>
                    <a:cs typeface="Arial"/>
                  </a:rPr>
                  <a:t> </a:t>
                </a:r>
                <a:r>
                  <a:rPr lang="en-US" sz="1000" dirty="0">
                    <a:solidFill>
                      <a:srgbClr val="22373A"/>
                    </a:solidFill>
                    <a:latin typeface="Arial"/>
                    <a:cs typeface="Arial"/>
                  </a:rPr>
                  <a:t>a</a:t>
                </a:r>
                <a:r>
                  <a:rPr lang="en-US" sz="1000" spc="90" dirty="0">
                    <a:solidFill>
                      <a:srgbClr val="22373A"/>
                    </a:solidFill>
                    <a:latin typeface="Arial"/>
                    <a:cs typeface="Arial"/>
                  </a:rPr>
                  <a:t> </a:t>
                </a:r>
                <a:r>
                  <a:rPr lang="en-US" sz="1000" dirty="0">
                    <a:solidFill>
                      <a:srgbClr val="22373A"/>
                    </a:solidFill>
                    <a:latin typeface="Arial"/>
                    <a:cs typeface="Arial"/>
                  </a:rPr>
                  <a:t>regression</a:t>
                </a:r>
                <a:r>
                  <a:rPr lang="en-US" sz="1000" spc="90" dirty="0">
                    <a:solidFill>
                      <a:srgbClr val="22373A"/>
                    </a:solidFill>
                    <a:latin typeface="Arial"/>
                    <a:cs typeface="Arial"/>
                  </a:rPr>
                  <a:t> </a:t>
                </a:r>
                <a:r>
                  <a:rPr lang="en-US" sz="1000" spc="-20" dirty="0">
                    <a:solidFill>
                      <a:srgbClr val="22373A"/>
                    </a:solidFill>
                    <a:latin typeface="Arial"/>
                    <a:cs typeface="Arial"/>
                  </a:rPr>
                  <a:t>line </a:t>
                </a:r>
                <a:r>
                  <a:rPr lang="en-US" sz="1000" dirty="0">
                    <a:solidFill>
                      <a:srgbClr val="22373A"/>
                    </a:solidFill>
                    <a:latin typeface="Arial"/>
                    <a:cs typeface="Arial"/>
                  </a:rPr>
                  <a:t>always</a:t>
                </a:r>
                <a:r>
                  <a:rPr lang="en-US" sz="1000" spc="100" dirty="0">
                    <a:solidFill>
                      <a:srgbClr val="22373A"/>
                    </a:solidFill>
                    <a:latin typeface="Arial"/>
                    <a:cs typeface="Arial"/>
                  </a:rPr>
                  <a:t> </a:t>
                </a:r>
                <a:r>
                  <a:rPr lang="en-US" sz="1000" dirty="0">
                    <a:solidFill>
                      <a:srgbClr val="22373A"/>
                    </a:solidFill>
                    <a:latin typeface="Arial"/>
                    <a:cs typeface="Arial"/>
                  </a:rPr>
                  <a:t>passes</a:t>
                </a:r>
                <a:r>
                  <a:rPr lang="en-US" sz="1000" spc="100" dirty="0">
                    <a:solidFill>
                      <a:srgbClr val="22373A"/>
                    </a:solidFill>
                    <a:latin typeface="Arial"/>
                    <a:cs typeface="Arial"/>
                  </a:rPr>
                  <a:t> </a:t>
                </a:r>
                <a:r>
                  <a:rPr lang="en-US" sz="1000" dirty="0">
                    <a:solidFill>
                      <a:srgbClr val="22373A"/>
                    </a:solidFill>
                    <a:latin typeface="Arial"/>
                    <a:cs typeface="Arial"/>
                  </a:rPr>
                  <a:t>through</a:t>
                </a:r>
                <a:r>
                  <a:rPr lang="en-US" sz="1000" spc="100" dirty="0">
                    <a:solidFill>
                      <a:srgbClr val="22373A"/>
                    </a:solidFill>
                    <a:latin typeface="Arial"/>
                    <a:cs typeface="Arial"/>
                  </a:rPr>
                  <a:t> </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endParaRPr lang="ar-AE"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endParaRPr sz="1100" dirty="0">
                  <a:latin typeface="Palatino Linotype"/>
                  <a:cs typeface="Palatino Linotype"/>
                </a:endParaRPr>
              </a:p>
            </p:txBody>
          </p:sp>
        </mc:Choice>
        <mc:Fallback>
          <p:sp>
            <p:nvSpPr>
              <p:cNvPr id="4" name="object 4"/>
              <p:cNvSpPr txBox="1">
                <a:spLocks noRot="1" noChangeAspect="1" noMove="1" noResize="1" noEditPoints="1" noAdjustHandles="1" noChangeArrowheads="1" noChangeShapeType="1" noTextEdit="1"/>
              </p:cNvSpPr>
              <p:nvPr/>
            </p:nvSpPr>
            <p:spPr>
              <a:xfrm>
                <a:off x="309194" y="455668"/>
                <a:ext cx="3893820" cy="1187761"/>
              </a:xfrm>
              <a:prstGeom prst="rect">
                <a:avLst/>
              </a:prstGeom>
              <a:blipFill>
                <a:blip r:embed="rId2"/>
                <a:stretch>
                  <a:fillRect l="-784" t="-2564" r="-1567" b="-5128"/>
                </a:stretch>
              </a:blipFill>
            </p:spPr>
            <p:txBody>
              <a:bodyPr/>
              <a:lstStyle/>
              <a:p>
                <a:r>
                  <a:rPr lang="en-US">
                    <a:noFill/>
                  </a:rPr>
                  <a:t> </a:t>
                </a:r>
              </a:p>
            </p:txBody>
          </p:sp>
        </mc:Fallback>
      </mc:AlternateContent>
      <p:sp>
        <p:nvSpPr>
          <p:cNvPr id="5" name="object 5"/>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a:latin typeface="Arial"/>
              <a:cs typeface="Arial"/>
            </a:endParaRP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lang="en-US" sz="1000" spc="90" dirty="0">
                    <a:solidFill>
                      <a:srgbClr val="22373A"/>
                    </a:solidFill>
                    <a:latin typeface="Arial"/>
                    <a:cs typeface="Arial"/>
                  </a:rPr>
                  <a:t>that </a:t>
                </a:r>
                <a:r>
                  <a:rPr lang="en-US"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ar-AE" sz="1100" b="0" i="0" spc="-120" smtClean="0">
                        <a:solidFill>
                          <a:srgbClr val="22373A"/>
                        </a:solidFill>
                        <a:latin typeface="Cambria Math" panose="02040503050406030204" pitchFamily="18" charset="0"/>
                      </a:rPr>
                      <m:t>,</m:t>
                    </m:r>
                  </m:oMath>
                </a14:m>
                <a:endParaRPr lang="ar-AE" sz="1100" dirty="0">
                  <a:latin typeface="Palatino Linotype"/>
                  <a:cs typeface="Palatino Linotype"/>
                </a:endParaRPr>
              </a:p>
            </p:txBody>
          </p:sp>
        </mc:Choice>
        <mc:Fallback>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b="-7330"/>
                </a:stretch>
              </a:blipFill>
            </p:spPr>
            <p:txBody>
              <a:bodyPr/>
              <a:lstStyle/>
              <a:p>
                <a:r>
                  <a:rPr lang="en-US">
                    <a:noFill/>
                  </a:rPr>
                  <a:t> </a:t>
                </a:r>
              </a:p>
            </p:txBody>
          </p:sp>
        </mc:Fallback>
      </mc:AlternateContent>
      <p:grpSp>
        <p:nvGrpSpPr>
          <p:cNvPr id="5" name="object 5"/>
          <p:cNvGrpSpPr/>
          <p:nvPr/>
        </p:nvGrpSpPr>
        <p:grpSpPr>
          <a:xfrm>
            <a:off x="1328917" y="2352859"/>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99446" y="2604696"/>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721669"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162287"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602906"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3043525"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465785" y="2604696"/>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215944" y="1764064"/>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119159" y="1672897"/>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238250" y="1730375"/>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259885" y="2699869"/>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3" name="object 23"/>
          <p:cNvSpPr txBox="1"/>
          <p:nvPr/>
        </p:nvSpPr>
        <p:spPr>
          <a:xfrm>
            <a:off x="4362450" y="317817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dirty="0">
              <a:latin typeface="Arial"/>
              <a:cs typeface="Arial"/>
            </a:endParaRPr>
          </a:p>
        </p:txBody>
      </p:sp>
      <p:sp>
        <p:nvSpPr>
          <p:cNvPr id="21" name="object 21"/>
          <p:cNvSpPr txBox="1"/>
          <p:nvPr/>
        </p:nvSpPr>
        <p:spPr>
          <a:xfrm>
            <a:off x="1027088" y="1973421"/>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345270" y="1727754"/>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sz="1000" dirty="0">
                    <a:solidFill>
                      <a:srgbClr val="22373A"/>
                    </a:solidFill>
                    <a:latin typeface="Arial"/>
                    <a:cs typeface="Arial"/>
                  </a:rPr>
                  <a:t>th</a:t>
                </a:r>
                <a:r>
                  <a:rPr lang="en-US" sz="1000" dirty="0">
                    <a:solidFill>
                      <a:srgbClr val="22373A"/>
                    </a:solidFill>
                    <a:latin typeface="Arial"/>
                    <a:cs typeface="Arial"/>
                  </a:rPr>
                  <a:t>at</a:t>
                </a:r>
                <a:r>
                  <a:rPr sz="1000" spc="90" dirty="0">
                    <a:solidFill>
                      <a:srgbClr val="22373A"/>
                    </a:solidFill>
                    <a:latin typeface="Arial"/>
                    <a:cs typeface="Arial"/>
                  </a:rPr>
                  <a:t> </a:t>
                </a:r>
                <a:r>
                  <a:rPr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ar-AE" sz="1100" b="0" i="0" spc="-120" smtClean="0">
                        <a:solidFill>
                          <a:srgbClr val="22373A"/>
                        </a:solidFill>
                        <a:latin typeface="Cambria Math" panose="02040503050406030204" pitchFamily="18" charset="0"/>
                      </a:rPr>
                      <m:t>,</m:t>
                    </m:r>
                  </m:oMath>
                </a14:m>
                <a:endParaRPr lang="ar-AE" sz="1100" dirty="0">
                  <a:latin typeface="Palatino Linotype"/>
                  <a:cs typeface="Palatino Linotype"/>
                </a:endParaRPr>
              </a:p>
            </p:txBody>
          </p:sp>
        </mc:Choice>
        <mc:Fallback>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r="-1567" b="-7330"/>
                </a:stretch>
              </a:blipFill>
            </p:spPr>
            <p:txBody>
              <a:bodyPr/>
              <a:lstStyle/>
              <a:p>
                <a:r>
                  <a:rPr lang="en-US">
                    <a:noFill/>
                  </a:rPr>
                  <a:t> </a:t>
                </a:r>
              </a:p>
            </p:txBody>
          </p:sp>
        </mc:Fallback>
      </mc:AlternateContent>
      <p:grpSp>
        <p:nvGrpSpPr>
          <p:cNvPr id="5" name="object 5"/>
          <p:cNvGrpSpPr/>
          <p:nvPr/>
        </p:nvGrpSpPr>
        <p:grpSpPr>
          <a:xfrm>
            <a:off x="1252717" y="2658253"/>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23246" y="2910090"/>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645469"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086087"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526706"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2967325"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389585" y="2910090"/>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139744" y="2069458"/>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042959" y="1978291"/>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162050" y="2035769"/>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183685" y="3005263"/>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4" name="object 24"/>
          <p:cNvSpPr txBox="1">
            <a:spLocks noGrp="1"/>
          </p:cNvSpPr>
          <p:nvPr>
            <p:ph type="sldNum" sz="quarter" idx="7"/>
          </p:nvPr>
        </p:nvSpPr>
        <p:spPr>
          <a:xfrm>
            <a:off x="4298885" y="3178175"/>
            <a:ext cx="196341" cy="146748"/>
          </a:xfrm>
          <a:prstGeom prst="rect">
            <a:avLst/>
          </a:prstGeom>
        </p:spPr>
        <p:txBody>
          <a:bodyPr vert="horz" wrap="square" lIns="0" tIns="8890" rIns="0" bIns="0" rtlCol="0">
            <a:spAutoFit/>
          </a:bodyPr>
          <a:lstStyle/>
          <a:p>
            <a:pPr marL="38100">
              <a:lnSpc>
                <a:spcPct val="100000"/>
              </a:lnSpc>
              <a:spcBef>
                <a:spcPts val="70"/>
              </a:spcBef>
            </a:pPr>
            <a:r>
              <a:rPr spc="-25" dirty="0"/>
              <a:t>23</a:t>
            </a:r>
          </a:p>
        </p:txBody>
      </p:sp>
      <p:sp>
        <p:nvSpPr>
          <p:cNvPr id="21" name="object 21"/>
          <p:cNvSpPr txBox="1"/>
          <p:nvPr/>
        </p:nvSpPr>
        <p:spPr>
          <a:xfrm>
            <a:off x="950888" y="2278815"/>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269070" y="2033148"/>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
        <p:nvSpPr>
          <p:cNvPr id="23" name="object 23"/>
          <p:cNvSpPr txBox="1"/>
          <p:nvPr/>
        </p:nvSpPr>
        <p:spPr>
          <a:xfrm>
            <a:off x="1240483" y="1641244"/>
            <a:ext cx="3989704" cy="250710"/>
          </a:xfrm>
          <a:prstGeom prst="rect">
            <a:avLst/>
          </a:prstGeom>
        </p:spPr>
        <p:txBody>
          <a:bodyPr vert="horz" wrap="square" lIns="0" tIns="80645" rIns="0" bIns="0" rtlCol="0">
            <a:spAutoFit/>
          </a:bodyPr>
          <a:lstStyle/>
          <a:p>
            <a:pPr marL="38100">
              <a:lnSpc>
                <a:spcPct val="100000"/>
              </a:lnSpc>
              <a:spcBef>
                <a:spcPts val="635"/>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0</a:t>
            </a:r>
            <a:r>
              <a:rPr sz="1200" spc="22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100" spc="-20" dirty="0">
                <a:solidFill>
                  <a:srgbClr val="22373A"/>
                </a:solidFill>
                <a:latin typeface="Palatino Linotype"/>
                <a:cs typeface="Palatino Linotype"/>
              </a:rPr>
              <a:t>11</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35</a:t>
            </a:r>
            <a:r>
              <a:rPr sz="1100" spc="-35"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45" dirty="0">
                <a:solidFill>
                  <a:srgbClr val="22373A"/>
                </a:solidFill>
                <a:latin typeface="Palatino Linotype"/>
                <a:cs typeface="Palatino Linotype"/>
              </a:rPr>
              <a:t>(</a:t>
            </a:r>
            <a:r>
              <a:rPr sz="1100" spc="-45" dirty="0">
                <a:solidFill>
                  <a:srgbClr val="22373A"/>
                </a:solidFill>
                <a:latin typeface="Lucida Sans Unicode"/>
                <a:cs typeface="Lucida Sans Unicode"/>
              </a:rPr>
              <a:t>−</a:t>
            </a:r>
            <a:r>
              <a:rPr sz="1100" spc="-45" dirty="0">
                <a:solidFill>
                  <a:srgbClr val="22373A"/>
                </a:solidFill>
                <a:latin typeface="Palatino Linotype"/>
                <a:cs typeface="Palatino Linotype"/>
              </a:rPr>
              <a:t>0</a:t>
            </a:r>
            <a:r>
              <a:rPr sz="1100" b="0" spc="-45" dirty="0">
                <a:solidFill>
                  <a:srgbClr val="22373A"/>
                </a:solidFill>
                <a:latin typeface="Bookman Old Style"/>
                <a:cs typeface="Bookman Old Style"/>
              </a:rPr>
              <a:t>.</a:t>
            </a:r>
            <a:r>
              <a:rPr sz="1100" spc="-45" dirty="0">
                <a:solidFill>
                  <a:srgbClr val="22373A"/>
                </a:solidFill>
                <a:latin typeface="Palatino Linotype"/>
                <a:cs typeface="Palatino Linotype"/>
              </a:rPr>
              <a:t>62)</a:t>
            </a:r>
            <a:r>
              <a:rPr sz="1100" spc="-3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86</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a:t>
            </a:r>
            <a:r>
              <a:rPr lang="en-US" sz="1100" spc="-1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64</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68</a:t>
            </a:r>
            <a:endParaRPr sz="1100" dirty="0">
              <a:latin typeface="Palatino Linotype"/>
              <a:cs typeface="Palatino Linotype"/>
            </a:endParaRP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p:nvPr/>
        </p:nvSpPr>
        <p:spPr>
          <a:xfrm>
            <a:off x="309181" y="28079"/>
            <a:ext cx="3989704" cy="239395"/>
          </a:xfrm>
          <a:custGeom>
            <a:avLst/>
            <a:gdLst/>
            <a:ahLst/>
            <a:cxnLst/>
            <a:rect l="l" t="t" r="r" b="b"/>
            <a:pathLst>
              <a:path w="3989704" h="23939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88328"/>
                </a:lnTo>
                <a:lnTo>
                  <a:pt x="4013" y="208064"/>
                </a:lnTo>
                <a:lnTo>
                  <a:pt x="14922" y="224218"/>
                </a:lnTo>
                <a:lnTo>
                  <a:pt x="31076" y="235127"/>
                </a:lnTo>
                <a:lnTo>
                  <a:pt x="50812" y="239141"/>
                </a:lnTo>
                <a:lnTo>
                  <a:pt x="3938854" y="239141"/>
                </a:lnTo>
                <a:lnTo>
                  <a:pt x="3958577" y="235127"/>
                </a:lnTo>
                <a:lnTo>
                  <a:pt x="3974731" y="224218"/>
                </a:lnTo>
                <a:lnTo>
                  <a:pt x="3985653" y="208064"/>
                </a:lnTo>
                <a:lnTo>
                  <a:pt x="3989654" y="18832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9509"/>
            <a:ext cx="3911600" cy="250571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Which</a:t>
            </a:r>
            <a:r>
              <a:rPr sz="1000" spc="85"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following</a:t>
            </a:r>
            <a:r>
              <a:rPr sz="1000" spc="85" dirty="0">
                <a:solidFill>
                  <a:srgbClr val="3884B7"/>
                </a:solidFill>
                <a:latin typeface="Arial"/>
                <a:cs typeface="Arial"/>
              </a:rPr>
              <a:t> </a:t>
            </a:r>
            <a:r>
              <a:rPr sz="1000" dirty="0">
                <a:solidFill>
                  <a:srgbClr val="3884B7"/>
                </a:solidFill>
                <a:latin typeface="Arial"/>
                <a:cs typeface="Arial"/>
              </a:rPr>
              <a:t>is</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correct</a:t>
            </a:r>
            <a:r>
              <a:rPr sz="1000" spc="85" dirty="0">
                <a:solidFill>
                  <a:srgbClr val="3884B7"/>
                </a:solidFill>
                <a:latin typeface="Arial"/>
                <a:cs typeface="Arial"/>
              </a:rPr>
              <a:t> </a:t>
            </a:r>
            <a:r>
              <a:rPr sz="1000" dirty="0">
                <a:solidFill>
                  <a:srgbClr val="3884B7"/>
                </a:solidFill>
                <a:latin typeface="Arial"/>
                <a:cs typeface="Arial"/>
              </a:rPr>
              <a:t>interpretation</a:t>
            </a:r>
            <a:r>
              <a:rPr sz="1000" spc="90"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85" dirty="0">
                <a:solidFill>
                  <a:srgbClr val="3884B7"/>
                </a:solidFill>
                <a:latin typeface="Arial"/>
                <a:cs typeface="Arial"/>
              </a:rPr>
              <a:t> </a:t>
            </a:r>
            <a:r>
              <a:rPr sz="1000" spc="-10" dirty="0">
                <a:solidFill>
                  <a:srgbClr val="3884B7"/>
                </a:solidFill>
                <a:latin typeface="Arial"/>
                <a:cs typeface="Arial"/>
              </a:rPr>
              <a:t>intercept?</a:t>
            </a:r>
            <a:endParaRPr sz="1000">
              <a:latin typeface="Arial"/>
              <a:cs typeface="Arial"/>
            </a:endParaRPr>
          </a:p>
          <a:p>
            <a:pPr>
              <a:lnSpc>
                <a:spcPct val="100000"/>
              </a:lnSpc>
              <a:spcBef>
                <a:spcPts val="170"/>
              </a:spcBef>
            </a:pPr>
            <a:endParaRPr sz="1000">
              <a:latin typeface="Arial"/>
              <a:cs typeface="Arial"/>
            </a:endParaRPr>
          </a:p>
          <a:p>
            <a:pPr marL="287655" marR="251460" indent="-228600">
              <a:lnSpc>
                <a:spcPct val="129800"/>
              </a:lnSpc>
              <a:spcBef>
                <a:spcPts val="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increase</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0" dirty="0">
                <a:solidFill>
                  <a:srgbClr val="22373A"/>
                </a:solidFill>
                <a:latin typeface="Arial"/>
                <a:cs typeface="Arial"/>
              </a:rPr>
              <a:t> </a:t>
            </a:r>
            <a:r>
              <a:rPr sz="1000" dirty="0">
                <a:solidFill>
                  <a:srgbClr val="22373A"/>
                </a:solidFill>
                <a:latin typeface="Arial"/>
                <a:cs typeface="Arial"/>
              </a:rPr>
              <a:t>rate,</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207645" indent="-228600">
              <a:lnSpc>
                <a:spcPct val="129900"/>
              </a:lnSpc>
              <a:spcBef>
                <a:spcPts val="29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decrease</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0"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5"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151765" indent="-220979">
              <a:lnSpc>
                <a:spcPct val="129900"/>
              </a:lnSpc>
              <a:spcBef>
                <a:spcPts val="300"/>
              </a:spcBef>
              <a:buAutoNum type="alphaLcParenBoth"/>
              <a:tabLst>
                <a:tab pos="289560" algn="l"/>
              </a:tabLst>
            </a:pPr>
            <a:r>
              <a:rPr sz="1000" dirty="0">
                <a:solidFill>
                  <a:srgbClr val="22373A"/>
                </a:solidFill>
                <a:latin typeface="Arial"/>
                <a:cs typeface="Arial"/>
              </a:rPr>
              <a:t>Having</a:t>
            </a:r>
            <a:r>
              <a:rPr sz="1000" spc="95" dirty="0">
                <a:solidFill>
                  <a:srgbClr val="22373A"/>
                </a:solidFill>
                <a:latin typeface="Arial"/>
                <a:cs typeface="Arial"/>
              </a:rPr>
              <a:t> </a:t>
            </a:r>
            <a:r>
              <a:rPr sz="1000" dirty="0">
                <a:solidFill>
                  <a:srgbClr val="22373A"/>
                </a:solidFill>
                <a:latin typeface="Arial"/>
                <a:cs typeface="Arial"/>
              </a:rPr>
              <a:t>no</a:t>
            </a:r>
            <a:r>
              <a:rPr sz="1000" spc="95" dirty="0">
                <a:solidFill>
                  <a:srgbClr val="22373A"/>
                </a:solidFill>
                <a:latin typeface="Arial"/>
                <a:cs typeface="Arial"/>
              </a:rPr>
              <a:t> </a:t>
            </a:r>
            <a:r>
              <a:rPr sz="1000" dirty="0">
                <a:solidFill>
                  <a:srgbClr val="22373A"/>
                </a:solidFill>
                <a:latin typeface="Arial"/>
                <a:cs typeface="Arial"/>
              </a:rPr>
              <a:t>HS</a:t>
            </a:r>
            <a:r>
              <a:rPr sz="1000" spc="95" dirty="0">
                <a:solidFill>
                  <a:srgbClr val="22373A"/>
                </a:solidFill>
                <a:latin typeface="Arial"/>
                <a:cs typeface="Arial"/>
              </a:rPr>
              <a:t> </a:t>
            </a:r>
            <a:r>
              <a:rPr sz="1000" dirty="0">
                <a:solidFill>
                  <a:srgbClr val="22373A"/>
                </a:solidFill>
                <a:latin typeface="Arial"/>
                <a:cs typeface="Arial"/>
              </a:rPr>
              <a:t>graduates</a:t>
            </a:r>
            <a:r>
              <a:rPr sz="1000" spc="95" dirty="0">
                <a:solidFill>
                  <a:srgbClr val="22373A"/>
                </a:solidFill>
                <a:latin typeface="Arial"/>
                <a:cs typeface="Arial"/>
              </a:rPr>
              <a:t> </a:t>
            </a:r>
            <a:r>
              <a:rPr sz="1000" dirty="0">
                <a:solidFill>
                  <a:srgbClr val="22373A"/>
                </a:solidFill>
                <a:latin typeface="Arial"/>
                <a:cs typeface="Arial"/>
              </a:rPr>
              <a:t>leads</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64.68%</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residents</a:t>
            </a:r>
            <a:r>
              <a:rPr sz="1000" spc="95" dirty="0">
                <a:solidFill>
                  <a:srgbClr val="22373A"/>
                </a:solidFill>
                <a:latin typeface="Arial"/>
                <a:cs typeface="Arial"/>
              </a:rPr>
              <a:t> </a:t>
            </a:r>
            <a:r>
              <a:rPr sz="1000" spc="-10" dirty="0">
                <a:solidFill>
                  <a:srgbClr val="22373A"/>
                </a:solidFill>
                <a:latin typeface="Arial"/>
                <a:cs typeface="Arial"/>
              </a:rPr>
              <a:t>living 	</a:t>
            </a:r>
            <a:r>
              <a:rPr sz="1000" dirty="0">
                <a:solidFill>
                  <a:srgbClr val="22373A"/>
                </a:solidFill>
                <a:latin typeface="Arial"/>
                <a:cs typeface="Arial"/>
              </a:rPr>
              <a:t>below</a:t>
            </a:r>
            <a:r>
              <a:rPr sz="1000" spc="8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poverty</a:t>
            </a:r>
            <a:r>
              <a:rPr sz="1000" spc="90" dirty="0">
                <a:solidFill>
                  <a:srgbClr val="22373A"/>
                </a:solidFill>
                <a:latin typeface="Arial"/>
                <a:cs typeface="Arial"/>
              </a:rPr>
              <a:t> </a:t>
            </a:r>
            <a:r>
              <a:rPr sz="1000" spc="-20" dirty="0">
                <a:solidFill>
                  <a:srgbClr val="22373A"/>
                </a:solidFill>
                <a:latin typeface="Arial"/>
                <a:cs typeface="Arial"/>
              </a:rPr>
              <a:t>line.</a:t>
            </a:r>
            <a:endParaRPr sz="1000">
              <a:latin typeface="Arial"/>
              <a:cs typeface="Arial"/>
            </a:endParaRPr>
          </a:p>
          <a:p>
            <a:pPr marL="287655" marR="5080" indent="-228600">
              <a:lnSpc>
                <a:spcPct val="129800"/>
              </a:lnSpc>
              <a:spcBef>
                <a:spcPts val="484"/>
              </a:spcBef>
              <a:buAutoNum type="alphaLcParenBoth"/>
              <a:tabLst>
                <a:tab pos="289560" algn="l"/>
              </a:tabLst>
            </a:pPr>
            <a:r>
              <a:rPr sz="1000" dirty="0">
                <a:solidFill>
                  <a:srgbClr val="22373A"/>
                </a:solidFill>
                <a:latin typeface="Arial"/>
                <a:cs typeface="Arial"/>
              </a:rPr>
              <a:t>States</a:t>
            </a:r>
            <a:r>
              <a:rPr sz="1000" spc="80" dirty="0">
                <a:solidFill>
                  <a:srgbClr val="22373A"/>
                </a:solidFill>
                <a:latin typeface="Arial"/>
                <a:cs typeface="Arial"/>
              </a:rPr>
              <a:t> </a:t>
            </a:r>
            <a:r>
              <a:rPr sz="1000" dirty="0">
                <a:solidFill>
                  <a:srgbClr val="22373A"/>
                </a:solidFill>
                <a:latin typeface="Arial"/>
                <a:cs typeface="Arial"/>
              </a:rPr>
              <a:t>with</a:t>
            </a:r>
            <a:r>
              <a:rPr sz="1000" spc="80"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dirty="0">
                <a:solidFill>
                  <a:srgbClr val="22373A"/>
                </a:solidFill>
                <a:latin typeface="Arial"/>
                <a:cs typeface="Arial"/>
              </a:rPr>
              <a:t>are</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5"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spc="-20" dirty="0">
                <a:solidFill>
                  <a:srgbClr val="22373A"/>
                </a:solidFill>
                <a:latin typeface="Arial"/>
                <a:cs typeface="Arial"/>
              </a:rPr>
              <a:t>have 	</a:t>
            </a:r>
            <a:r>
              <a:rPr sz="1000" dirty="0">
                <a:solidFill>
                  <a:srgbClr val="22373A"/>
                </a:solidFill>
                <a:latin typeface="Arial"/>
                <a:cs typeface="Arial"/>
              </a:rPr>
              <a:t>64.68%</a:t>
            </a:r>
            <a:r>
              <a:rPr sz="1000" spc="100" dirty="0">
                <a:solidFill>
                  <a:srgbClr val="22373A"/>
                </a:solidFill>
                <a:latin typeface="Arial"/>
                <a:cs typeface="Arial"/>
              </a:rPr>
              <a:t> </a:t>
            </a:r>
            <a:r>
              <a:rPr sz="1000" dirty="0">
                <a:solidFill>
                  <a:srgbClr val="22373A"/>
                </a:solidFill>
                <a:latin typeface="Arial"/>
                <a:cs typeface="Arial"/>
              </a:rPr>
              <a:t>of</a:t>
            </a:r>
            <a:r>
              <a:rPr sz="1000" spc="100" dirty="0">
                <a:solidFill>
                  <a:srgbClr val="22373A"/>
                </a:solidFill>
                <a:latin typeface="Arial"/>
                <a:cs typeface="Arial"/>
              </a:rPr>
              <a:t> </a:t>
            </a:r>
            <a:r>
              <a:rPr sz="1000" dirty="0">
                <a:solidFill>
                  <a:srgbClr val="22373A"/>
                </a:solidFill>
                <a:latin typeface="Arial"/>
                <a:cs typeface="Arial"/>
              </a:rPr>
              <a:t>residents</a:t>
            </a:r>
            <a:r>
              <a:rPr sz="1000" spc="100" dirty="0">
                <a:solidFill>
                  <a:srgbClr val="22373A"/>
                </a:solidFill>
                <a:latin typeface="Arial"/>
                <a:cs typeface="Arial"/>
              </a:rPr>
              <a:t> </a:t>
            </a:r>
            <a:r>
              <a:rPr sz="1000" dirty="0">
                <a:solidFill>
                  <a:srgbClr val="22373A"/>
                </a:solidFill>
                <a:latin typeface="Arial"/>
                <a:cs typeface="Arial"/>
              </a:rPr>
              <a:t>living</a:t>
            </a:r>
            <a:r>
              <a:rPr sz="1000" spc="100" dirty="0">
                <a:solidFill>
                  <a:srgbClr val="22373A"/>
                </a:solidFill>
                <a:latin typeface="Arial"/>
                <a:cs typeface="Arial"/>
              </a:rPr>
              <a:t> </a:t>
            </a:r>
            <a:r>
              <a:rPr sz="1000" dirty="0">
                <a:solidFill>
                  <a:srgbClr val="22373A"/>
                </a:solidFill>
                <a:latin typeface="Arial"/>
                <a:cs typeface="Arial"/>
              </a:rPr>
              <a:t>below</a:t>
            </a:r>
            <a:r>
              <a:rPr sz="1000" spc="100"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poverty</a:t>
            </a:r>
            <a:r>
              <a:rPr sz="1000" spc="105" dirty="0">
                <a:solidFill>
                  <a:srgbClr val="22373A"/>
                </a:solidFill>
                <a:latin typeface="Arial"/>
                <a:cs typeface="Arial"/>
              </a:rPr>
              <a:t> </a:t>
            </a:r>
            <a:r>
              <a:rPr sz="1000" spc="-10" dirty="0">
                <a:solidFill>
                  <a:srgbClr val="22373A"/>
                </a:solidFill>
                <a:latin typeface="Arial"/>
                <a:cs typeface="Arial"/>
              </a:rPr>
              <a:t>line.</a:t>
            </a:r>
            <a:endParaRPr sz="1000">
              <a:latin typeface="Arial"/>
              <a:cs typeface="Arial"/>
            </a:endParaRPr>
          </a:p>
          <a:p>
            <a:pPr marL="287655" marR="28575" indent="-228600">
              <a:lnSpc>
                <a:spcPct val="129800"/>
              </a:lnSpc>
              <a:spcBef>
                <a:spcPts val="300"/>
              </a:spcBef>
              <a:buAutoNum type="alphaLcParenBoth"/>
              <a:tabLst>
                <a:tab pos="289560" algn="l"/>
              </a:tabLst>
            </a:pP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with</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graduates</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expected 	</a:t>
            </a:r>
            <a:r>
              <a:rPr sz="1000" dirty="0">
                <a:solidFill>
                  <a:srgbClr val="22373A"/>
                </a:solidFill>
                <a:latin typeface="Arial"/>
                <a:cs typeface="Arial"/>
              </a:rPr>
              <a:t>to</a:t>
            </a:r>
            <a:r>
              <a:rPr sz="1000" spc="65" dirty="0">
                <a:solidFill>
                  <a:srgbClr val="22373A"/>
                </a:solidFill>
                <a:latin typeface="Arial"/>
                <a:cs typeface="Arial"/>
              </a:rPr>
              <a:t> </a:t>
            </a:r>
            <a:r>
              <a:rPr sz="1000" dirty="0">
                <a:solidFill>
                  <a:srgbClr val="22373A"/>
                </a:solidFill>
                <a:latin typeface="Arial"/>
                <a:cs typeface="Arial"/>
              </a:rPr>
              <a:t>increase</a:t>
            </a:r>
            <a:r>
              <a:rPr sz="1000" spc="70" dirty="0">
                <a:solidFill>
                  <a:srgbClr val="22373A"/>
                </a:solidFill>
                <a:latin typeface="Arial"/>
                <a:cs typeface="Arial"/>
              </a:rPr>
              <a:t> </a:t>
            </a:r>
            <a:r>
              <a:rPr sz="1000" dirty="0">
                <a:solidFill>
                  <a:srgbClr val="22373A"/>
                </a:solidFill>
                <a:latin typeface="Arial"/>
                <a:cs typeface="Arial"/>
              </a:rPr>
              <a:t>on</a:t>
            </a:r>
            <a:r>
              <a:rPr sz="1000" spc="70" dirty="0">
                <a:solidFill>
                  <a:srgbClr val="22373A"/>
                </a:solidFill>
                <a:latin typeface="Arial"/>
                <a:cs typeface="Arial"/>
              </a:rPr>
              <a:t> </a:t>
            </a:r>
            <a:r>
              <a:rPr sz="1000" dirty="0">
                <a:solidFill>
                  <a:srgbClr val="22373A"/>
                </a:solidFill>
                <a:latin typeface="Arial"/>
                <a:cs typeface="Arial"/>
              </a:rPr>
              <a:t>average</a:t>
            </a:r>
            <a:r>
              <a:rPr sz="1000" spc="70"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p:txBody>
      </p:sp>
      <p:sp>
        <p:nvSpPr>
          <p:cNvPr id="5" name="object 5"/>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24</a:t>
            </a:r>
            <a:endParaRPr sz="750">
              <a:latin typeface="Arial"/>
              <a:cs typeface="Arial"/>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More</a:t>
            </a:r>
            <a:r>
              <a:rPr spc="60" dirty="0"/>
              <a:t> </a:t>
            </a:r>
            <a:r>
              <a:rPr dirty="0"/>
              <a:t>on</a:t>
            </a:r>
            <a:r>
              <a:rPr spc="60" dirty="0"/>
              <a:t> </a:t>
            </a:r>
            <a:r>
              <a:rPr dirty="0"/>
              <a:t>the</a:t>
            </a:r>
            <a:r>
              <a:rPr spc="65" dirty="0"/>
              <a:t> </a:t>
            </a:r>
            <a:r>
              <a:rPr spc="-10" dirty="0"/>
              <a:t>intercept</a:t>
            </a:r>
          </a:p>
        </p:txBody>
      </p:sp>
      <p:sp>
        <p:nvSpPr>
          <p:cNvPr id="3" name="object 3"/>
          <p:cNvSpPr txBox="1"/>
          <p:nvPr/>
        </p:nvSpPr>
        <p:spPr>
          <a:xfrm>
            <a:off x="347294" y="493950"/>
            <a:ext cx="3862070" cy="817244"/>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Since</a:t>
            </a:r>
            <a:r>
              <a:rPr sz="1000" spc="80" dirty="0">
                <a:solidFill>
                  <a:srgbClr val="22373A"/>
                </a:solidFill>
                <a:latin typeface="Arial"/>
                <a:cs typeface="Arial"/>
              </a:rPr>
              <a:t> </a:t>
            </a:r>
            <a:r>
              <a:rPr sz="1000" dirty="0">
                <a:solidFill>
                  <a:srgbClr val="22373A"/>
                </a:solidFill>
                <a:latin typeface="Arial"/>
                <a:cs typeface="Arial"/>
              </a:rPr>
              <a:t>there</a:t>
            </a:r>
            <a:r>
              <a:rPr sz="1000" spc="85" dirty="0">
                <a:solidFill>
                  <a:srgbClr val="22373A"/>
                </a:solidFill>
                <a:latin typeface="Arial"/>
                <a:cs typeface="Arial"/>
              </a:rPr>
              <a:t> </a:t>
            </a:r>
            <a:r>
              <a:rPr sz="1000" dirty="0">
                <a:solidFill>
                  <a:srgbClr val="22373A"/>
                </a:solidFill>
                <a:latin typeface="Arial"/>
                <a:cs typeface="Arial"/>
              </a:rPr>
              <a:t>are</a:t>
            </a:r>
            <a:r>
              <a:rPr sz="1000" spc="85"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states</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dataset</a:t>
            </a:r>
            <a:r>
              <a:rPr sz="1000" spc="80" dirty="0">
                <a:solidFill>
                  <a:srgbClr val="22373A"/>
                </a:solidFill>
                <a:latin typeface="Arial"/>
                <a:cs typeface="Arial"/>
              </a:rPr>
              <a:t> </a:t>
            </a:r>
            <a:r>
              <a:rPr sz="1000" dirty="0">
                <a:solidFill>
                  <a:srgbClr val="22373A"/>
                </a:solidFill>
                <a:latin typeface="Arial"/>
                <a:cs typeface="Arial"/>
              </a:rPr>
              <a:t>with</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spc="-25" dirty="0">
                <a:solidFill>
                  <a:srgbClr val="22373A"/>
                </a:solidFill>
                <a:latin typeface="Arial"/>
                <a:cs typeface="Arial"/>
              </a:rPr>
              <a:t>the </a:t>
            </a:r>
            <a:r>
              <a:rPr sz="1000" dirty="0">
                <a:solidFill>
                  <a:srgbClr val="22373A"/>
                </a:solidFill>
                <a:latin typeface="Arial"/>
                <a:cs typeface="Arial"/>
              </a:rPr>
              <a:t>intercept</a:t>
            </a:r>
            <a:r>
              <a:rPr sz="1000" spc="8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interest,</a:t>
            </a:r>
            <a:r>
              <a:rPr sz="1000" spc="85" dirty="0">
                <a:solidFill>
                  <a:srgbClr val="22373A"/>
                </a:solidFill>
                <a:latin typeface="Arial"/>
                <a:cs typeface="Arial"/>
              </a:rPr>
              <a:t> </a:t>
            </a:r>
            <a:r>
              <a:rPr sz="1000" dirty="0">
                <a:solidFill>
                  <a:srgbClr val="22373A"/>
                </a:solidFill>
                <a:latin typeface="Arial"/>
                <a:cs typeface="Arial"/>
              </a:rPr>
              <a:t>not</a:t>
            </a:r>
            <a:r>
              <a:rPr sz="1000" spc="80" dirty="0">
                <a:solidFill>
                  <a:srgbClr val="22373A"/>
                </a:solidFill>
                <a:latin typeface="Arial"/>
                <a:cs typeface="Arial"/>
              </a:rPr>
              <a:t> </a:t>
            </a:r>
            <a:r>
              <a:rPr sz="1000" dirty="0">
                <a:solidFill>
                  <a:srgbClr val="22373A"/>
                </a:solidFill>
                <a:latin typeface="Arial"/>
                <a:cs typeface="Arial"/>
              </a:rPr>
              <a:t>very</a:t>
            </a:r>
            <a:r>
              <a:rPr sz="1000" spc="85" dirty="0">
                <a:solidFill>
                  <a:srgbClr val="22373A"/>
                </a:solidFill>
                <a:latin typeface="Arial"/>
                <a:cs typeface="Arial"/>
              </a:rPr>
              <a:t> </a:t>
            </a:r>
            <a:r>
              <a:rPr sz="1000" dirty="0">
                <a:solidFill>
                  <a:srgbClr val="22373A"/>
                </a:solidFill>
                <a:latin typeface="Arial"/>
                <a:cs typeface="Arial"/>
              </a:rPr>
              <a:t>useful,</a:t>
            </a:r>
            <a:r>
              <a:rPr sz="1000" spc="85" dirty="0">
                <a:solidFill>
                  <a:srgbClr val="22373A"/>
                </a:solidFill>
                <a:latin typeface="Arial"/>
                <a:cs typeface="Arial"/>
              </a:rPr>
              <a:t> </a:t>
            </a:r>
            <a:r>
              <a:rPr sz="1000" dirty="0">
                <a:solidFill>
                  <a:srgbClr val="22373A"/>
                </a:solidFill>
                <a:latin typeface="Arial"/>
                <a:cs typeface="Arial"/>
              </a:rPr>
              <a:t>and</a:t>
            </a:r>
            <a:r>
              <a:rPr sz="1000" spc="85" dirty="0">
                <a:solidFill>
                  <a:srgbClr val="22373A"/>
                </a:solidFill>
                <a:latin typeface="Arial"/>
                <a:cs typeface="Arial"/>
              </a:rPr>
              <a:t> </a:t>
            </a:r>
            <a:r>
              <a:rPr sz="1000" dirty="0">
                <a:solidFill>
                  <a:srgbClr val="22373A"/>
                </a:solidFill>
                <a:latin typeface="Arial"/>
                <a:cs typeface="Arial"/>
              </a:rPr>
              <a:t>also</a:t>
            </a:r>
            <a:r>
              <a:rPr sz="1000" spc="85" dirty="0">
                <a:solidFill>
                  <a:srgbClr val="22373A"/>
                </a:solidFill>
                <a:latin typeface="Arial"/>
                <a:cs typeface="Arial"/>
              </a:rPr>
              <a:t> </a:t>
            </a:r>
            <a:r>
              <a:rPr sz="1000" dirty="0">
                <a:solidFill>
                  <a:srgbClr val="22373A"/>
                </a:solidFill>
                <a:latin typeface="Arial"/>
                <a:cs typeface="Arial"/>
              </a:rPr>
              <a:t>not</a:t>
            </a:r>
            <a:r>
              <a:rPr sz="1000" spc="85" dirty="0">
                <a:solidFill>
                  <a:srgbClr val="22373A"/>
                </a:solidFill>
                <a:latin typeface="Arial"/>
                <a:cs typeface="Arial"/>
              </a:rPr>
              <a:t> </a:t>
            </a:r>
            <a:r>
              <a:rPr sz="1000" spc="-10" dirty="0">
                <a:solidFill>
                  <a:srgbClr val="22373A"/>
                </a:solidFill>
                <a:latin typeface="Arial"/>
                <a:cs typeface="Arial"/>
              </a:rPr>
              <a:t>reliable </a:t>
            </a:r>
            <a:r>
              <a:rPr sz="1000" dirty="0">
                <a:solidFill>
                  <a:srgbClr val="22373A"/>
                </a:solidFill>
                <a:latin typeface="Arial"/>
                <a:cs typeface="Arial"/>
              </a:rPr>
              <a:t>since</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predicted</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intercept</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so</a:t>
            </a:r>
            <a:r>
              <a:rPr sz="1000" spc="75" dirty="0">
                <a:solidFill>
                  <a:srgbClr val="22373A"/>
                </a:solidFill>
                <a:latin typeface="Arial"/>
                <a:cs typeface="Arial"/>
              </a:rPr>
              <a:t> </a:t>
            </a:r>
            <a:r>
              <a:rPr sz="1000" dirty="0">
                <a:solidFill>
                  <a:srgbClr val="22373A"/>
                </a:solidFill>
                <a:latin typeface="Arial"/>
                <a:cs typeface="Arial"/>
              </a:rPr>
              <a:t>far</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bulk</a:t>
            </a:r>
            <a:r>
              <a:rPr sz="1000" spc="7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65"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p:txBody>
      </p:sp>
      <p:grpSp>
        <p:nvGrpSpPr>
          <p:cNvPr id="4" name="object 4"/>
          <p:cNvGrpSpPr/>
          <p:nvPr/>
        </p:nvGrpSpPr>
        <p:grpSpPr>
          <a:xfrm>
            <a:off x="798414" y="2394415"/>
            <a:ext cx="3244850" cy="410845"/>
            <a:chOff x="798414" y="2394415"/>
            <a:chExt cx="3244850" cy="410845"/>
          </a:xfrm>
        </p:grpSpPr>
        <p:pic>
          <p:nvPicPr>
            <p:cNvPr id="5" name="object 5"/>
            <p:cNvPicPr/>
            <p:nvPr/>
          </p:nvPicPr>
          <p:blipFill>
            <a:blip r:embed="rId2" cstate="print"/>
            <a:stretch>
              <a:fillRect/>
            </a:stretch>
          </p:blipFill>
          <p:spPr>
            <a:xfrm>
              <a:off x="3285330" y="2394415"/>
              <a:ext cx="515973" cy="243649"/>
            </a:xfrm>
            <a:prstGeom prst="rect">
              <a:avLst/>
            </a:prstGeom>
          </p:spPr>
        </p:pic>
        <p:sp>
          <p:nvSpPr>
            <p:cNvPr id="6" name="object 6"/>
            <p:cNvSpPr/>
            <p:nvPr/>
          </p:nvSpPr>
          <p:spPr>
            <a:xfrm>
              <a:off x="800637" y="2764021"/>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770761"/>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770761"/>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528492"/>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400393"/>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478947"/>
            <a:ext cx="3511550" cy="1287145"/>
            <a:chOff x="664961" y="1478947"/>
            <a:chExt cx="3511550" cy="1287145"/>
          </a:xfrm>
        </p:grpSpPr>
        <p:sp>
          <p:nvSpPr>
            <p:cNvPr id="16" name="object 16"/>
            <p:cNvSpPr/>
            <p:nvPr/>
          </p:nvSpPr>
          <p:spPr>
            <a:xfrm>
              <a:off x="671036" y="1480972"/>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574878"/>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480972"/>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910730"/>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25</a:t>
            </a:r>
            <a:endParaRPr sz="750">
              <a:latin typeface="Arial"/>
              <a:cs typeface="Arial"/>
            </a:endParaRPr>
          </a:p>
        </p:txBody>
      </p:sp>
      <p:sp>
        <p:nvSpPr>
          <p:cNvPr id="20" name="object 20"/>
          <p:cNvSpPr txBox="1"/>
          <p:nvPr/>
        </p:nvSpPr>
        <p:spPr>
          <a:xfrm>
            <a:off x="360389" y="1842365"/>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481069"/>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099820"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Regression</a:t>
            </a:r>
            <a:r>
              <a:rPr sz="1100" b="1" spc="1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grpSp>
        <p:nvGrpSpPr>
          <p:cNvPr id="3" name="object 3"/>
          <p:cNvGrpSpPr/>
          <p:nvPr/>
        </p:nvGrpSpPr>
        <p:grpSpPr>
          <a:xfrm>
            <a:off x="1400140" y="1171013"/>
            <a:ext cx="2105025" cy="1646555"/>
            <a:chOff x="1400140" y="1171013"/>
            <a:chExt cx="2105025" cy="1646555"/>
          </a:xfrm>
        </p:grpSpPr>
        <p:sp>
          <p:nvSpPr>
            <p:cNvPr id="4" name="object 4"/>
            <p:cNvSpPr/>
            <p:nvPr/>
          </p:nvSpPr>
          <p:spPr>
            <a:xfrm>
              <a:off x="1776606" y="158844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76606" y="158844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6" name="object 6"/>
            <p:cNvSpPr/>
            <p:nvPr/>
          </p:nvSpPr>
          <p:spPr>
            <a:xfrm>
              <a:off x="3257295"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257295"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2316332" y="1746998"/>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6332" y="1746998"/>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1915025" y="117387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915025" y="117387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1942654" y="180796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942654" y="180796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994339"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994339"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2828291" y="241765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828291" y="241765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2994339" y="238108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2994339" y="238108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2620731" y="13201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20731" y="13201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2440868" y="189332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40868" y="189332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2496194" y="189332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496194" y="189332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2966710" y="2076208"/>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2966710" y="2076208"/>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2925198" y="1929885"/>
              <a:ext cx="37465" cy="37465"/>
            </a:xfrm>
            <a:custGeom>
              <a:avLst/>
              <a:gdLst/>
              <a:ahLst/>
              <a:cxnLst/>
              <a:rect l="l" t="t" r="r" b="b"/>
              <a:pathLst>
                <a:path w="37464" h="37464">
                  <a:moveTo>
                    <a:pt x="18556" y="0"/>
                  </a:moveTo>
                  <a:lnTo>
                    <a:pt x="11336" y="1459"/>
                  </a:lnTo>
                  <a:lnTo>
                    <a:pt x="5438" y="5438"/>
                  </a:lnTo>
                  <a:lnTo>
                    <a:pt x="1459" y="11336"/>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2925198" y="1929885"/>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2606916" y="200308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06916" y="200308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2676057"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676057"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132759"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132759"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2980525"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980525"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2177912"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77912"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1762792" y="1295795"/>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762792" y="1295795"/>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703755" y="199084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03755" y="199084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2842174" y="247861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842174" y="247861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2772964"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772964"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2842174" y="2112771"/>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842174" y="2112771"/>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395645" y="257614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395645" y="257614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1956537" y="122266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56537" y="122266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939013"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39013"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188085" y="169820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188085" y="169820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284992"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284992"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2565404"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565404"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464855" y="268589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64855" y="268589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2648428" y="241765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48428" y="241765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2025678" y="119826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2025678" y="119826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371658" y="166163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71658" y="166163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1984166"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84166"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3132759" y="1917720"/>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32759" y="1917720"/>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2786779" y="213717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786779" y="213717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2579219" y="1576276"/>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579219" y="1576276"/>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2745267" y="200308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745267" y="200308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2620731" y="224693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20731" y="224693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1928840" y="211277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928840" y="211277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1901142" y="172259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901142" y="172259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994339" y="2125005"/>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994339" y="2125005"/>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1928840" y="163723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28840" y="163723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1402997" y="1503080"/>
              <a:ext cx="37465" cy="37465"/>
            </a:xfrm>
            <a:custGeom>
              <a:avLst/>
              <a:gdLst/>
              <a:ahLst/>
              <a:cxnLst/>
              <a:rect l="l" t="t" r="r" b="b"/>
              <a:pathLst>
                <a:path w="37465"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402997" y="1503080"/>
              <a:ext cx="37465" cy="37465"/>
            </a:xfrm>
            <a:custGeom>
              <a:avLst/>
              <a:gdLst/>
              <a:ahLst/>
              <a:cxnLst/>
              <a:rect l="l" t="t" r="r" b="b"/>
              <a:pathLst>
                <a:path w="37465"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3091247" y="2234696"/>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091247" y="2234696"/>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022037" y="216156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022037" y="216156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2869803"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869803"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049734" y="205180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49734" y="205180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1610558" y="141771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610558" y="141771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980525" y="232005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980525" y="232005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298807"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298807"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1809046" y="276493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7" name="object 107"/>
          <p:cNvSpPr txBox="1"/>
          <p:nvPr/>
        </p:nvSpPr>
        <p:spPr>
          <a:xfrm>
            <a:off x="1727549"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08" name="object 108"/>
          <p:cNvSpPr txBox="1"/>
          <p:nvPr/>
        </p:nvSpPr>
        <p:spPr>
          <a:xfrm>
            <a:off x="3111330"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09" name="object 109"/>
          <p:cNvSpPr/>
          <p:nvPr/>
        </p:nvSpPr>
        <p:spPr>
          <a:xfrm>
            <a:off x="1289595" y="1192427"/>
            <a:ext cx="49530" cy="1463675"/>
          </a:xfrm>
          <a:custGeom>
            <a:avLst/>
            <a:gdLst/>
            <a:ahLst/>
            <a:cxnLst/>
            <a:rect l="l" t="t" r="r" b="b"/>
            <a:pathLst>
              <a:path w="49530" h="1463675">
                <a:moveTo>
                  <a:pt x="49484" y="1463231"/>
                </a:moveTo>
                <a:lnTo>
                  <a:pt x="49484" y="0"/>
                </a:lnTo>
              </a:path>
              <a:path w="49530" h="1463675">
                <a:moveTo>
                  <a:pt x="49484" y="1463231"/>
                </a:moveTo>
                <a:lnTo>
                  <a:pt x="0" y="1463231"/>
                </a:lnTo>
              </a:path>
              <a:path w="49530" h="1463675">
                <a:moveTo>
                  <a:pt x="49484" y="1219382"/>
                </a:moveTo>
                <a:lnTo>
                  <a:pt x="0" y="1219382"/>
                </a:lnTo>
              </a:path>
              <a:path w="49530" h="1463675">
                <a:moveTo>
                  <a:pt x="49484" y="975533"/>
                </a:moveTo>
                <a:lnTo>
                  <a:pt x="0" y="975533"/>
                </a:lnTo>
              </a:path>
              <a:path w="49530" h="1463675">
                <a:moveTo>
                  <a:pt x="49484" y="731615"/>
                </a:moveTo>
                <a:lnTo>
                  <a:pt x="0" y="731615"/>
                </a:lnTo>
              </a:path>
              <a:path w="49530" h="1463675">
                <a:moveTo>
                  <a:pt x="49484" y="487766"/>
                </a:moveTo>
                <a:lnTo>
                  <a:pt x="0" y="487766"/>
                </a:lnTo>
              </a:path>
              <a:path w="49530" h="1463675">
                <a:moveTo>
                  <a:pt x="49484" y="243849"/>
                </a:moveTo>
                <a:lnTo>
                  <a:pt x="0" y="243849"/>
                </a:lnTo>
              </a:path>
              <a:path w="49530" h="1463675">
                <a:moveTo>
                  <a:pt x="49484" y="0"/>
                </a:moveTo>
                <a:lnTo>
                  <a:pt x="0" y="0"/>
                </a:lnTo>
              </a:path>
            </a:pathLst>
          </a:custGeom>
          <a:ln w="5154">
            <a:solidFill>
              <a:srgbClr val="000000"/>
            </a:solidFill>
          </a:ln>
        </p:spPr>
        <p:txBody>
          <a:bodyPr wrap="square" lIns="0" tIns="0" rIns="0" bIns="0" rtlCol="0"/>
          <a:lstStyle/>
          <a:p>
            <a:endParaRPr/>
          </a:p>
        </p:txBody>
      </p:sp>
      <p:sp>
        <p:nvSpPr>
          <p:cNvPr id="110" name="object 110"/>
          <p:cNvSpPr txBox="1"/>
          <p:nvPr/>
        </p:nvSpPr>
        <p:spPr>
          <a:xfrm>
            <a:off x="1106807" y="724863"/>
            <a:ext cx="2363470" cy="2040302"/>
          </a:xfrm>
          <a:prstGeom prst="rect">
            <a:avLst/>
          </a:prstGeom>
        </p:spPr>
        <p:txBody>
          <a:bodyPr vert="horz" wrap="square" lIns="0" tIns="11430" rIns="0" bIns="0" rtlCol="0">
            <a:spAutoFit/>
          </a:bodyPr>
          <a:lstStyle/>
          <a:p>
            <a:pPr marL="77470">
              <a:lnSpc>
                <a:spcPct val="100000"/>
              </a:lnSpc>
              <a:spcBef>
                <a:spcPts val="90"/>
              </a:spcBef>
            </a:pPr>
            <a:r>
              <a:rPr sz="1100" dirty="0">
                <a:solidFill>
                  <a:srgbClr val="22373A"/>
                </a:solidFill>
                <a:latin typeface="Palatino Linotype"/>
                <a:cs typeface="Palatino Linotype"/>
              </a:rPr>
              <a:t>%</a:t>
            </a:r>
            <a:r>
              <a:rPr sz="1100" spc="-35" dirty="0">
                <a:solidFill>
                  <a:srgbClr val="22373A"/>
                </a:solidFill>
                <a:latin typeface="Palatino Linotype"/>
                <a:cs typeface="Palatino Linotype"/>
              </a:rPr>
              <a:t> </a:t>
            </a:r>
            <a:r>
              <a:rPr sz="1100" i="1" spc="-35" dirty="0">
                <a:solidFill>
                  <a:srgbClr val="22373A"/>
                </a:solidFill>
                <a:latin typeface="Times New Roman"/>
                <a:cs typeface="Times New Roman"/>
              </a:rPr>
              <a:t>in</a:t>
            </a:r>
            <a:r>
              <a:rPr lang="en-US" sz="1100" i="1" spc="-35" dirty="0">
                <a:solidFill>
                  <a:srgbClr val="22373A"/>
                </a:solidFill>
                <a:latin typeface="Times New Roman"/>
                <a:cs typeface="Times New Roman"/>
              </a:rPr>
              <a:t> </a:t>
            </a:r>
            <a:r>
              <a:rPr sz="1100" i="1" dirty="0">
                <a:solidFill>
                  <a:srgbClr val="22373A"/>
                </a:solidFill>
                <a:latin typeface="Times New Roman"/>
                <a:cs typeface="Times New Roman"/>
              </a:rPr>
              <a:t>poverty</a:t>
            </a:r>
            <a:r>
              <a:rPr sz="1100" i="1" spc="5" dirty="0">
                <a:solidFill>
                  <a:srgbClr val="22373A"/>
                </a:solidFill>
                <a:latin typeface="Times New Roman"/>
                <a:cs typeface="Times New Roman"/>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62 </a:t>
            </a:r>
            <a:r>
              <a:rPr sz="1100" dirty="0">
                <a:solidFill>
                  <a:srgbClr val="22373A"/>
                </a:solidFill>
                <a:latin typeface="Palatino Linotype"/>
                <a:cs typeface="Palatino Linotype"/>
              </a:rPr>
              <a:t>%</a:t>
            </a:r>
            <a:r>
              <a:rPr sz="1100" spc="-10" dirty="0">
                <a:solidFill>
                  <a:srgbClr val="22373A"/>
                </a:solidFill>
                <a:latin typeface="Palatino Linotype"/>
                <a:cs typeface="Palatino Linotype"/>
              </a:rPr>
              <a:t> </a:t>
            </a:r>
            <a:r>
              <a:rPr sz="1100" i="1" dirty="0">
                <a:solidFill>
                  <a:srgbClr val="22373A"/>
                </a:solidFill>
                <a:latin typeface="Times New Roman"/>
                <a:cs typeface="Times New Roman"/>
              </a:rPr>
              <a:t>HS </a:t>
            </a:r>
            <a:r>
              <a:rPr sz="1100" i="1" spc="-20" dirty="0">
                <a:solidFill>
                  <a:srgbClr val="22373A"/>
                </a:solidFill>
                <a:latin typeface="Times New Roman"/>
                <a:cs typeface="Times New Roman"/>
              </a:rPr>
              <a:t>grad</a:t>
            </a:r>
            <a:endParaRPr sz="1100" dirty="0">
              <a:latin typeface="Times New Roman"/>
              <a:cs typeface="Times New Roman"/>
            </a:endParaRPr>
          </a:p>
          <a:p>
            <a:pPr>
              <a:lnSpc>
                <a:spcPct val="100000"/>
              </a:lnSpc>
              <a:spcBef>
                <a:spcPts val="405"/>
              </a:spcBef>
            </a:pPr>
            <a:endParaRPr sz="1100" dirty="0">
              <a:latin typeface="Times New Roman"/>
              <a:cs typeface="Times New Roman"/>
            </a:endParaRPr>
          </a:p>
          <a:p>
            <a:pPr marL="25400">
              <a:lnSpc>
                <a:spcPct val="100000"/>
              </a:lnSpc>
            </a:pPr>
            <a:r>
              <a:rPr sz="950" spc="-25" dirty="0">
                <a:latin typeface="Arial"/>
                <a:cs typeface="Arial"/>
              </a:rPr>
              <a:t>18</a:t>
            </a:r>
            <a:endParaRPr sz="950" dirty="0">
              <a:latin typeface="Arial"/>
              <a:cs typeface="Arial"/>
            </a:endParaRPr>
          </a:p>
          <a:p>
            <a:pPr marL="25400">
              <a:lnSpc>
                <a:spcPct val="100000"/>
              </a:lnSpc>
              <a:spcBef>
                <a:spcPts val="780"/>
              </a:spcBef>
            </a:pPr>
            <a:r>
              <a:rPr sz="950" spc="-25" dirty="0">
                <a:latin typeface="Arial"/>
                <a:cs typeface="Arial"/>
              </a:rPr>
              <a:t>16</a:t>
            </a:r>
            <a:endParaRPr sz="950" dirty="0">
              <a:latin typeface="Arial"/>
              <a:cs typeface="Arial"/>
            </a:endParaRPr>
          </a:p>
          <a:p>
            <a:pPr marL="25400">
              <a:lnSpc>
                <a:spcPct val="100000"/>
              </a:lnSpc>
              <a:spcBef>
                <a:spcPts val="780"/>
              </a:spcBef>
            </a:pPr>
            <a:r>
              <a:rPr sz="950" spc="-25" dirty="0">
                <a:latin typeface="Arial"/>
                <a:cs typeface="Arial"/>
              </a:rPr>
              <a:t>14</a:t>
            </a:r>
            <a:endParaRPr sz="950" dirty="0">
              <a:latin typeface="Arial"/>
              <a:cs typeface="Arial"/>
            </a:endParaRPr>
          </a:p>
          <a:p>
            <a:pPr marL="25400">
              <a:lnSpc>
                <a:spcPct val="100000"/>
              </a:lnSpc>
              <a:spcBef>
                <a:spcPts val="780"/>
              </a:spcBef>
            </a:pPr>
            <a:r>
              <a:rPr sz="950" spc="-25" dirty="0">
                <a:latin typeface="Arial"/>
                <a:cs typeface="Arial"/>
              </a:rPr>
              <a:t>12</a:t>
            </a:r>
            <a:endParaRPr sz="950" dirty="0">
              <a:latin typeface="Arial"/>
              <a:cs typeface="Arial"/>
            </a:endParaRPr>
          </a:p>
          <a:p>
            <a:pPr marL="25400">
              <a:lnSpc>
                <a:spcPct val="100000"/>
              </a:lnSpc>
              <a:spcBef>
                <a:spcPts val="780"/>
              </a:spcBef>
            </a:pPr>
            <a:r>
              <a:rPr sz="950" spc="-25" dirty="0">
                <a:latin typeface="Arial"/>
                <a:cs typeface="Arial"/>
              </a:rPr>
              <a:t>10</a:t>
            </a:r>
            <a:endParaRPr sz="950" dirty="0">
              <a:latin typeface="Arial"/>
              <a:cs typeface="Arial"/>
            </a:endParaRPr>
          </a:p>
          <a:p>
            <a:pPr marL="93980">
              <a:lnSpc>
                <a:spcPct val="100000"/>
              </a:lnSpc>
              <a:spcBef>
                <a:spcPts val="780"/>
              </a:spcBef>
            </a:pPr>
            <a:r>
              <a:rPr sz="950" spc="-50" dirty="0">
                <a:latin typeface="Arial"/>
                <a:cs typeface="Arial"/>
              </a:rPr>
              <a:t>8</a:t>
            </a:r>
            <a:endParaRPr sz="950" dirty="0">
              <a:latin typeface="Arial"/>
              <a:cs typeface="Arial"/>
            </a:endParaRPr>
          </a:p>
          <a:p>
            <a:pPr marL="93980">
              <a:lnSpc>
                <a:spcPct val="100000"/>
              </a:lnSpc>
              <a:spcBef>
                <a:spcPts val="780"/>
              </a:spcBef>
            </a:pPr>
            <a:r>
              <a:rPr sz="950" spc="-50" dirty="0">
                <a:latin typeface="Arial"/>
                <a:cs typeface="Arial"/>
              </a:rPr>
              <a:t>6</a:t>
            </a:r>
            <a:endParaRPr sz="950" dirty="0">
              <a:latin typeface="Arial"/>
              <a:cs typeface="Arial"/>
            </a:endParaRPr>
          </a:p>
        </p:txBody>
      </p:sp>
      <p:sp>
        <p:nvSpPr>
          <p:cNvPr id="111" name="object 111"/>
          <p:cNvSpPr/>
          <p:nvPr/>
        </p:nvSpPr>
        <p:spPr>
          <a:xfrm>
            <a:off x="1339080" y="1131946"/>
            <a:ext cx="2226945" cy="1633220"/>
          </a:xfrm>
          <a:custGeom>
            <a:avLst/>
            <a:gdLst/>
            <a:ahLst/>
            <a:cxnLst/>
            <a:rect l="l" t="t" r="r" b="b"/>
            <a:pathLst>
              <a:path w="2226945" h="1633220">
                <a:moveTo>
                  <a:pt x="0" y="1632991"/>
                </a:moveTo>
                <a:lnTo>
                  <a:pt x="2226806" y="1632991"/>
                </a:lnTo>
                <a:lnTo>
                  <a:pt x="2226806" y="0"/>
                </a:lnTo>
                <a:lnTo>
                  <a:pt x="0" y="0"/>
                </a:lnTo>
                <a:lnTo>
                  <a:pt x="0" y="1632991"/>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2141295" y="274728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13" name="object 113"/>
          <p:cNvSpPr txBox="1"/>
          <p:nvPr/>
        </p:nvSpPr>
        <p:spPr>
          <a:xfrm>
            <a:off x="947170" y="1595370"/>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sp>
        <p:nvSpPr>
          <p:cNvPr id="114" name="object 114"/>
          <p:cNvSpPr/>
          <p:nvPr/>
        </p:nvSpPr>
        <p:spPr>
          <a:xfrm>
            <a:off x="1339080" y="1290777"/>
            <a:ext cx="2226945" cy="1219200"/>
          </a:xfrm>
          <a:custGeom>
            <a:avLst/>
            <a:gdLst/>
            <a:ahLst/>
            <a:cxnLst/>
            <a:rect l="l" t="t" r="r" b="b"/>
            <a:pathLst>
              <a:path w="2226945" h="1219200">
                <a:moveTo>
                  <a:pt x="0" y="0"/>
                </a:moveTo>
                <a:lnTo>
                  <a:pt x="2226806" y="1218970"/>
                </a:lnTo>
              </a:path>
            </a:pathLst>
          </a:custGeom>
          <a:ln w="15463">
            <a:solidFill>
              <a:srgbClr val="F05133"/>
            </a:solidFill>
          </a:ln>
        </p:spPr>
        <p:txBody>
          <a:bodyPr wrap="square" lIns="0" tIns="0" rIns="0" bIns="0" rtlCol="0"/>
          <a:lstStyle/>
          <a:p>
            <a:endParaRPr/>
          </a:p>
        </p:txBody>
      </p:sp>
      <p:sp>
        <p:nvSpPr>
          <p:cNvPr id="115" name="object 115"/>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26</a:t>
            </a: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Prediction</a:t>
            </a:r>
          </a:p>
        </p:txBody>
      </p:sp>
      <p:sp>
        <p:nvSpPr>
          <p:cNvPr id="3" name="object 3"/>
          <p:cNvSpPr txBox="1"/>
          <p:nvPr/>
        </p:nvSpPr>
        <p:spPr>
          <a:xfrm>
            <a:off x="487070" y="500274"/>
            <a:ext cx="3700145" cy="1212850"/>
          </a:xfrm>
          <a:prstGeom prst="rect">
            <a:avLst/>
          </a:prstGeom>
        </p:spPr>
        <p:txBody>
          <a:bodyPr vert="horz" wrap="square" lIns="0" tIns="17780" rIns="0" bIns="0" rtlCol="0">
            <a:spAutoFit/>
          </a:bodyPr>
          <a:lstStyle/>
          <a:p>
            <a:pPr marL="147955" marR="5080" indent="-135890">
              <a:lnSpc>
                <a:spcPct val="125699"/>
              </a:lnSpc>
              <a:spcBef>
                <a:spcPts val="140"/>
              </a:spcBef>
              <a:buFont typeface="Lucida Sans"/>
              <a:buChar char="•"/>
              <a:tabLst>
                <a:tab pos="149860" algn="l"/>
              </a:tabLst>
            </a:pPr>
            <a:r>
              <a:rPr sz="1000" dirty="0">
                <a:solidFill>
                  <a:srgbClr val="22373A"/>
                </a:solidFill>
                <a:latin typeface="Arial"/>
                <a:cs typeface="Arial"/>
              </a:rPr>
              <a:t>Using</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linear</a:t>
            </a:r>
            <a:r>
              <a:rPr sz="1000" spc="80"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to</a:t>
            </a:r>
            <a:r>
              <a:rPr sz="1000" spc="75" dirty="0">
                <a:solidFill>
                  <a:srgbClr val="22373A"/>
                </a:solidFill>
                <a:latin typeface="Arial"/>
                <a:cs typeface="Arial"/>
              </a:rPr>
              <a:t> </a:t>
            </a:r>
            <a:r>
              <a:rPr sz="1000" dirty="0">
                <a:solidFill>
                  <a:srgbClr val="22373A"/>
                </a:solidFill>
                <a:latin typeface="Arial"/>
                <a:cs typeface="Arial"/>
              </a:rPr>
              <a:t>predict</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given</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explanatory</a:t>
            </a:r>
            <a:r>
              <a:rPr sz="1000" spc="75" dirty="0">
                <a:solidFill>
                  <a:srgbClr val="22373A"/>
                </a:solidFill>
                <a:latin typeface="Arial"/>
                <a:cs typeface="Arial"/>
              </a:rPr>
              <a:t>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called 	</a:t>
            </a:r>
            <a:r>
              <a:rPr sz="1000" i="1" dirty="0">
                <a:solidFill>
                  <a:srgbClr val="0DA5FF"/>
                </a:solidFill>
                <a:latin typeface="Arial"/>
                <a:cs typeface="Arial"/>
              </a:rPr>
              <a:t>prediction</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simply</a:t>
            </a:r>
            <a:r>
              <a:rPr sz="1000" spc="75"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dirty="0">
                <a:solidFill>
                  <a:srgbClr val="22373A"/>
                </a:solidFill>
                <a:latin typeface="Arial"/>
                <a:cs typeface="Arial"/>
              </a:rPr>
              <a:t>plugging</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5" dirty="0">
                <a:solidFill>
                  <a:srgbClr val="22373A"/>
                </a:solidFill>
                <a:latin typeface="Arial"/>
                <a:cs typeface="Arial"/>
              </a:rPr>
              <a:t> </a:t>
            </a:r>
            <a:r>
              <a:rPr sz="1100" i="1" dirty="0">
                <a:solidFill>
                  <a:srgbClr val="22373A"/>
                </a:solidFill>
                <a:latin typeface="Times New Roman"/>
                <a:cs typeface="Times New Roman"/>
              </a:rPr>
              <a:t>x</a:t>
            </a:r>
            <a:r>
              <a:rPr sz="1100" i="1" spc="80" dirty="0">
                <a:solidFill>
                  <a:srgbClr val="22373A"/>
                </a:solidFill>
                <a:latin typeface="Times New Roman"/>
                <a:cs typeface="Times New Roman"/>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linear 	</a:t>
            </a:r>
            <a:r>
              <a:rPr sz="1000" dirty="0">
                <a:solidFill>
                  <a:srgbClr val="22373A"/>
                </a:solidFill>
                <a:latin typeface="Arial"/>
                <a:cs typeface="Arial"/>
              </a:rPr>
              <a:t>model</a:t>
            </a:r>
            <a:r>
              <a:rPr sz="1000" spc="114" dirty="0">
                <a:solidFill>
                  <a:srgbClr val="22373A"/>
                </a:solidFill>
                <a:latin typeface="Arial"/>
                <a:cs typeface="Arial"/>
              </a:rPr>
              <a:t> </a:t>
            </a:r>
            <a:r>
              <a:rPr sz="1000" spc="-10" dirty="0">
                <a:solidFill>
                  <a:srgbClr val="22373A"/>
                </a:solidFill>
                <a:latin typeface="Arial"/>
                <a:cs typeface="Arial"/>
              </a:rPr>
              <a:t>equation.</a:t>
            </a:r>
            <a:endParaRPr sz="1000">
              <a:latin typeface="Arial"/>
              <a:cs typeface="Arial"/>
            </a:endParaRPr>
          </a:p>
          <a:p>
            <a:pPr marL="147955" marR="17780" indent="-135890">
              <a:lnSpc>
                <a:spcPct val="129900"/>
              </a:lnSpc>
              <a:buFont typeface="Lucida Sans"/>
              <a:buChar char="•"/>
              <a:tabLst>
                <a:tab pos="149860" algn="l"/>
              </a:tabLst>
            </a:pPr>
            <a:r>
              <a:rPr sz="1000" dirty="0">
                <a:solidFill>
                  <a:srgbClr val="22373A"/>
                </a:solidFill>
                <a:latin typeface="Arial"/>
                <a:cs typeface="Arial"/>
              </a:rPr>
              <a:t>There</a:t>
            </a:r>
            <a:r>
              <a:rPr sz="1000" spc="105" dirty="0">
                <a:solidFill>
                  <a:srgbClr val="22373A"/>
                </a:solidFill>
                <a:latin typeface="Arial"/>
                <a:cs typeface="Arial"/>
              </a:rPr>
              <a:t> </a:t>
            </a:r>
            <a:r>
              <a:rPr sz="1000" dirty="0">
                <a:solidFill>
                  <a:srgbClr val="22373A"/>
                </a:solidFill>
                <a:latin typeface="Arial"/>
                <a:cs typeface="Arial"/>
              </a:rPr>
              <a:t>will</a:t>
            </a:r>
            <a:r>
              <a:rPr sz="1000" spc="110" dirty="0">
                <a:solidFill>
                  <a:srgbClr val="22373A"/>
                </a:solidFill>
                <a:latin typeface="Arial"/>
                <a:cs typeface="Arial"/>
              </a:rPr>
              <a:t> </a:t>
            </a:r>
            <a:r>
              <a:rPr sz="1000" dirty="0">
                <a:solidFill>
                  <a:srgbClr val="22373A"/>
                </a:solidFill>
                <a:latin typeface="Arial"/>
                <a:cs typeface="Arial"/>
              </a:rPr>
              <a:t>be</a:t>
            </a:r>
            <a:r>
              <a:rPr sz="1000" spc="105" dirty="0">
                <a:solidFill>
                  <a:srgbClr val="22373A"/>
                </a:solidFill>
                <a:latin typeface="Arial"/>
                <a:cs typeface="Arial"/>
              </a:rPr>
              <a:t> </a:t>
            </a:r>
            <a:r>
              <a:rPr sz="1000" dirty="0">
                <a:solidFill>
                  <a:srgbClr val="22373A"/>
                </a:solidFill>
                <a:latin typeface="Arial"/>
                <a:cs typeface="Arial"/>
              </a:rPr>
              <a:t>some</a:t>
            </a:r>
            <a:r>
              <a:rPr sz="1000" spc="110" dirty="0">
                <a:solidFill>
                  <a:srgbClr val="22373A"/>
                </a:solidFill>
                <a:latin typeface="Arial"/>
                <a:cs typeface="Arial"/>
              </a:rPr>
              <a:t> </a:t>
            </a:r>
            <a:r>
              <a:rPr sz="1000" dirty="0">
                <a:solidFill>
                  <a:srgbClr val="22373A"/>
                </a:solidFill>
                <a:latin typeface="Arial"/>
                <a:cs typeface="Arial"/>
              </a:rPr>
              <a:t>uncertainty</a:t>
            </a:r>
            <a:r>
              <a:rPr sz="1000" spc="105" dirty="0">
                <a:solidFill>
                  <a:srgbClr val="22373A"/>
                </a:solidFill>
                <a:latin typeface="Arial"/>
                <a:cs typeface="Arial"/>
              </a:rPr>
              <a:t> </a:t>
            </a:r>
            <a:r>
              <a:rPr sz="1000" dirty="0">
                <a:solidFill>
                  <a:srgbClr val="22373A"/>
                </a:solidFill>
                <a:latin typeface="Arial"/>
                <a:cs typeface="Arial"/>
              </a:rPr>
              <a:t>associated</a:t>
            </a:r>
            <a:r>
              <a:rPr sz="1000" spc="110" dirty="0">
                <a:solidFill>
                  <a:srgbClr val="22373A"/>
                </a:solidFill>
                <a:latin typeface="Arial"/>
                <a:cs typeface="Arial"/>
              </a:rPr>
              <a:t> </a:t>
            </a:r>
            <a:r>
              <a:rPr sz="1000" dirty="0">
                <a:solidFill>
                  <a:srgbClr val="22373A"/>
                </a:solidFill>
                <a:latin typeface="Arial"/>
                <a:cs typeface="Arial"/>
              </a:rPr>
              <a:t>with</a:t>
            </a:r>
            <a:r>
              <a:rPr sz="1000" spc="105"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spc="-10" dirty="0">
                <a:solidFill>
                  <a:srgbClr val="22373A"/>
                </a:solidFill>
                <a:latin typeface="Arial"/>
                <a:cs typeface="Arial"/>
              </a:rPr>
              <a:t>predicted 	value.</a:t>
            </a:r>
            <a:endParaRPr sz="1000">
              <a:latin typeface="Arial"/>
              <a:cs typeface="Arial"/>
            </a:endParaRPr>
          </a:p>
        </p:txBody>
      </p:sp>
      <p:grpSp>
        <p:nvGrpSpPr>
          <p:cNvPr id="4" name="object 4"/>
          <p:cNvGrpSpPr/>
          <p:nvPr/>
        </p:nvGrpSpPr>
        <p:grpSpPr>
          <a:xfrm>
            <a:off x="935957" y="1903326"/>
            <a:ext cx="2946400" cy="1163955"/>
            <a:chOff x="935957" y="1903326"/>
            <a:chExt cx="2946400" cy="1163955"/>
          </a:xfrm>
        </p:grpSpPr>
        <p:sp>
          <p:nvSpPr>
            <p:cNvPr id="5" name="object 5"/>
            <p:cNvSpPr/>
            <p:nvPr/>
          </p:nvSpPr>
          <p:spPr>
            <a:xfrm>
              <a:off x="1466245" y="2198388"/>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6" name="object 6"/>
            <p:cNvSpPr/>
            <p:nvPr/>
          </p:nvSpPr>
          <p:spPr>
            <a:xfrm>
              <a:off x="1466245" y="2198388"/>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 name="object 7"/>
            <p:cNvSpPr/>
            <p:nvPr/>
          </p:nvSpPr>
          <p:spPr>
            <a:xfrm>
              <a:off x="3560338"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 name="object 8"/>
            <p:cNvSpPr/>
            <p:nvPr/>
          </p:nvSpPr>
          <p:spPr>
            <a:xfrm>
              <a:off x="3560338"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9" name="object 9"/>
            <p:cNvSpPr/>
            <p:nvPr/>
          </p:nvSpPr>
          <p:spPr>
            <a:xfrm>
              <a:off x="2229514" y="2310509"/>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10" name="object 10"/>
            <p:cNvSpPr/>
            <p:nvPr/>
          </p:nvSpPr>
          <p:spPr>
            <a:xfrm>
              <a:off x="2229514" y="2310509"/>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11" name="object 11"/>
            <p:cNvSpPr/>
            <p:nvPr/>
          </p:nvSpPr>
          <p:spPr>
            <a:xfrm>
              <a:off x="1661959" y="190523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2" name="object 12"/>
            <p:cNvSpPr/>
            <p:nvPr/>
          </p:nvSpPr>
          <p:spPr>
            <a:xfrm>
              <a:off x="1661959" y="190523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3" name="object 13"/>
            <p:cNvSpPr/>
            <p:nvPr/>
          </p:nvSpPr>
          <p:spPr>
            <a:xfrm>
              <a:off x="1701131" y="235361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4" name="object 14"/>
            <p:cNvSpPr/>
            <p:nvPr/>
          </p:nvSpPr>
          <p:spPr>
            <a:xfrm>
              <a:off x="1701131" y="235361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5" name="object 15"/>
            <p:cNvSpPr/>
            <p:nvPr/>
          </p:nvSpPr>
          <p:spPr>
            <a:xfrm>
              <a:off x="3188496" y="2646775"/>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16" name="object 16"/>
            <p:cNvSpPr/>
            <p:nvPr/>
          </p:nvSpPr>
          <p:spPr>
            <a:xfrm>
              <a:off x="3188496" y="2646775"/>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17" name="object 17"/>
            <p:cNvSpPr/>
            <p:nvPr/>
          </p:nvSpPr>
          <p:spPr>
            <a:xfrm>
              <a:off x="2953659"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8" name="object 18"/>
            <p:cNvSpPr/>
            <p:nvPr/>
          </p:nvSpPr>
          <p:spPr>
            <a:xfrm>
              <a:off x="2953659"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9" name="object 19"/>
            <p:cNvSpPr/>
            <p:nvPr/>
          </p:nvSpPr>
          <p:spPr>
            <a:xfrm>
              <a:off x="3188496" y="275889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20" name="object 20"/>
            <p:cNvSpPr/>
            <p:nvPr/>
          </p:nvSpPr>
          <p:spPr>
            <a:xfrm>
              <a:off x="3188496" y="275889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21" name="object 21"/>
            <p:cNvSpPr/>
            <p:nvPr/>
          </p:nvSpPr>
          <p:spPr>
            <a:xfrm>
              <a:off x="2660064" y="200870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2" name="object 22"/>
            <p:cNvSpPr/>
            <p:nvPr/>
          </p:nvSpPr>
          <p:spPr>
            <a:xfrm>
              <a:off x="2660064" y="200870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3" name="object 23"/>
            <p:cNvSpPr/>
            <p:nvPr/>
          </p:nvSpPr>
          <p:spPr>
            <a:xfrm>
              <a:off x="2405642"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4" name="object 24"/>
            <p:cNvSpPr/>
            <p:nvPr/>
          </p:nvSpPr>
          <p:spPr>
            <a:xfrm>
              <a:off x="2405642"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5" name="object 25"/>
            <p:cNvSpPr/>
            <p:nvPr/>
          </p:nvSpPr>
          <p:spPr>
            <a:xfrm>
              <a:off x="2483937"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6" name="object 26"/>
            <p:cNvSpPr/>
            <p:nvPr/>
          </p:nvSpPr>
          <p:spPr>
            <a:xfrm>
              <a:off x="2483937"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7" name="object 27"/>
            <p:cNvSpPr/>
            <p:nvPr/>
          </p:nvSpPr>
          <p:spPr>
            <a:xfrm>
              <a:off x="3149324" y="254330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8" name="object 28"/>
            <p:cNvSpPr/>
            <p:nvPr/>
          </p:nvSpPr>
          <p:spPr>
            <a:xfrm>
              <a:off x="3149324" y="254330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9" name="object 29"/>
            <p:cNvSpPr/>
            <p:nvPr/>
          </p:nvSpPr>
          <p:spPr>
            <a:xfrm>
              <a:off x="3090615" y="2439835"/>
              <a:ext cx="26670" cy="26670"/>
            </a:xfrm>
            <a:custGeom>
              <a:avLst/>
              <a:gdLst/>
              <a:ahLst/>
              <a:cxnLst/>
              <a:rect l="l" t="t" r="r" b="b"/>
              <a:pathLst>
                <a:path w="26669" h="26669">
                  <a:moveTo>
                    <a:pt x="20363" y="0"/>
                  </a:moveTo>
                  <a:lnTo>
                    <a:pt x="5929" y="0"/>
                  </a:lnTo>
                  <a:lnTo>
                    <a:pt x="0" y="5880"/>
                  </a:lnTo>
                  <a:lnTo>
                    <a:pt x="0" y="13122"/>
                  </a:lnTo>
                  <a:lnTo>
                    <a:pt x="0" y="20363"/>
                  </a:lnTo>
                  <a:lnTo>
                    <a:pt x="5929" y="26244"/>
                  </a:lnTo>
                  <a:lnTo>
                    <a:pt x="20363" y="26244"/>
                  </a:lnTo>
                  <a:lnTo>
                    <a:pt x="26244" y="20363"/>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30" name="object 30"/>
            <p:cNvSpPr/>
            <p:nvPr/>
          </p:nvSpPr>
          <p:spPr>
            <a:xfrm>
              <a:off x="3090615" y="243983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1" name="object 31"/>
            <p:cNvSpPr/>
            <p:nvPr/>
          </p:nvSpPr>
          <p:spPr>
            <a:xfrm>
              <a:off x="2640527" y="249159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2" name="object 32"/>
            <p:cNvSpPr/>
            <p:nvPr/>
          </p:nvSpPr>
          <p:spPr>
            <a:xfrm>
              <a:off x="2640527" y="249159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3" name="object 33"/>
            <p:cNvSpPr/>
            <p:nvPr/>
          </p:nvSpPr>
          <p:spPr>
            <a:xfrm>
              <a:off x="2738360"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34" name="object 34"/>
            <p:cNvSpPr/>
            <p:nvPr/>
          </p:nvSpPr>
          <p:spPr>
            <a:xfrm>
              <a:off x="2738360"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35" name="object 35"/>
            <p:cNvSpPr/>
            <p:nvPr/>
          </p:nvSpPr>
          <p:spPr>
            <a:xfrm>
              <a:off x="3384210"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6" name="object 36"/>
            <p:cNvSpPr/>
            <p:nvPr/>
          </p:nvSpPr>
          <p:spPr>
            <a:xfrm>
              <a:off x="3384210"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7" name="object 37"/>
            <p:cNvSpPr/>
            <p:nvPr/>
          </p:nvSpPr>
          <p:spPr>
            <a:xfrm>
              <a:off x="3168910" y="264677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38" name="object 38"/>
            <p:cNvSpPr/>
            <p:nvPr/>
          </p:nvSpPr>
          <p:spPr>
            <a:xfrm>
              <a:off x="3168910" y="264677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9" name="object 39"/>
            <p:cNvSpPr/>
            <p:nvPr/>
          </p:nvSpPr>
          <p:spPr>
            <a:xfrm>
              <a:off x="2033800" y="2327763"/>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0" name="object 40"/>
            <p:cNvSpPr/>
            <p:nvPr/>
          </p:nvSpPr>
          <p:spPr>
            <a:xfrm>
              <a:off x="2033800" y="2327763"/>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1" name="object 41"/>
            <p:cNvSpPr/>
            <p:nvPr/>
          </p:nvSpPr>
          <p:spPr>
            <a:xfrm>
              <a:off x="1446708" y="1991448"/>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2" name="object 42"/>
            <p:cNvSpPr/>
            <p:nvPr/>
          </p:nvSpPr>
          <p:spPr>
            <a:xfrm>
              <a:off x="1446708" y="1991448"/>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3" name="object 43"/>
            <p:cNvSpPr/>
            <p:nvPr/>
          </p:nvSpPr>
          <p:spPr>
            <a:xfrm>
              <a:off x="2777483" y="2482943"/>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44" name="object 44"/>
            <p:cNvSpPr/>
            <p:nvPr/>
          </p:nvSpPr>
          <p:spPr>
            <a:xfrm>
              <a:off x="2777483" y="2482943"/>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45" name="object 45"/>
            <p:cNvSpPr/>
            <p:nvPr/>
          </p:nvSpPr>
          <p:spPr>
            <a:xfrm>
              <a:off x="2973197" y="282786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6" name="object 46"/>
            <p:cNvSpPr/>
            <p:nvPr/>
          </p:nvSpPr>
          <p:spPr>
            <a:xfrm>
              <a:off x="2973197" y="282786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7" name="object 47"/>
            <p:cNvSpPr/>
            <p:nvPr/>
          </p:nvSpPr>
          <p:spPr>
            <a:xfrm>
              <a:off x="2875364"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8" name="object 48"/>
            <p:cNvSpPr/>
            <p:nvPr/>
          </p:nvSpPr>
          <p:spPr>
            <a:xfrm>
              <a:off x="2875364"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9" name="object 49"/>
            <p:cNvSpPr/>
            <p:nvPr/>
          </p:nvSpPr>
          <p:spPr>
            <a:xfrm>
              <a:off x="2973197"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0" name="object 50"/>
            <p:cNvSpPr/>
            <p:nvPr/>
          </p:nvSpPr>
          <p:spPr>
            <a:xfrm>
              <a:off x="2973197"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1" name="object 51"/>
            <p:cNvSpPr/>
            <p:nvPr/>
          </p:nvSpPr>
          <p:spPr>
            <a:xfrm>
              <a:off x="3756051" y="2896824"/>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2" name="object 52"/>
            <p:cNvSpPr/>
            <p:nvPr/>
          </p:nvSpPr>
          <p:spPr>
            <a:xfrm>
              <a:off x="3756051" y="2896824"/>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3" name="object 53"/>
            <p:cNvSpPr/>
            <p:nvPr/>
          </p:nvSpPr>
          <p:spPr>
            <a:xfrm>
              <a:off x="1720668" y="1939737"/>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54" name="object 54"/>
            <p:cNvSpPr/>
            <p:nvPr/>
          </p:nvSpPr>
          <p:spPr>
            <a:xfrm>
              <a:off x="1720668" y="1939737"/>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55" name="object 55"/>
            <p:cNvSpPr/>
            <p:nvPr/>
          </p:nvSpPr>
          <p:spPr>
            <a:xfrm>
              <a:off x="3110201"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6" name="object 56"/>
            <p:cNvSpPr/>
            <p:nvPr/>
          </p:nvSpPr>
          <p:spPr>
            <a:xfrm>
              <a:off x="3110201"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7" name="object 57"/>
            <p:cNvSpPr/>
            <p:nvPr/>
          </p:nvSpPr>
          <p:spPr>
            <a:xfrm>
              <a:off x="3462456" y="2276003"/>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8" name="object 58"/>
            <p:cNvSpPr/>
            <p:nvPr/>
          </p:nvSpPr>
          <p:spPr>
            <a:xfrm>
              <a:off x="3462456" y="2276003"/>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9" name="object 59"/>
            <p:cNvSpPr/>
            <p:nvPr/>
          </p:nvSpPr>
          <p:spPr>
            <a:xfrm>
              <a:off x="3599461" y="2638173"/>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60" name="object 60"/>
            <p:cNvSpPr/>
            <p:nvPr/>
          </p:nvSpPr>
          <p:spPr>
            <a:xfrm>
              <a:off x="3599461" y="2638173"/>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61" name="object 61"/>
            <p:cNvSpPr/>
            <p:nvPr/>
          </p:nvSpPr>
          <p:spPr>
            <a:xfrm>
              <a:off x="2581818" y="274164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2" name="object 62"/>
            <p:cNvSpPr/>
            <p:nvPr/>
          </p:nvSpPr>
          <p:spPr>
            <a:xfrm>
              <a:off x="2581818" y="274164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3" name="object 63"/>
            <p:cNvSpPr/>
            <p:nvPr/>
          </p:nvSpPr>
          <p:spPr>
            <a:xfrm>
              <a:off x="3853884" y="2974439"/>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4" name="object 64"/>
            <p:cNvSpPr/>
            <p:nvPr/>
          </p:nvSpPr>
          <p:spPr>
            <a:xfrm>
              <a:off x="3853884" y="2974439"/>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5" name="object 65"/>
            <p:cNvSpPr/>
            <p:nvPr/>
          </p:nvSpPr>
          <p:spPr>
            <a:xfrm>
              <a:off x="2699236"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6" name="object 66"/>
            <p:cNvSpPr/>
            <p:nvPr/>
          </p:nvSpPr>
          <p:spPr>
            <a:xfrm>
              <a:off x="2699236"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7" name="object 67"/>
            <p:cNvSpPr/>
            <p:nvPr/>
          </p:nvSpPr>
          <p:spPr>
            <a:xfrm>
              <a:off x="1818549" y="192248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8" name="object 68"/>
            <p:cNvSpPr/>
            <p:nvPr/>
          </p:nvSpPr>
          <p:spPr>
            <a:xfrm>
              <a:off x="1818549" y="192248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9" name="object 69"/>
            <p:cNvSpPr/>
            <p:nvPr/>
          </p:nvSpPr>
          <p:spPr>
            <a:xfrm>
              <a:off x="2307809" y="225014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0" name="object 70"/>
            <p:cNvSpPr/>
            <p:nvPr/>
          </p:nvSpPr>
          <p:spPr>
            <a:xfrm>
              <a:off x="2307809" y="225014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1" name="object 71"/>
            <p:cNvSpPr/>
            <p:nvPr/>
          </p:nvSpPr>
          <p:spPr>
            <a:xfrm>
              <a:off x="1759840" y="232776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2" name="object 72"/>
            <p:cNvSpPr/>
            <p:nvPr/>
          </p:nvSpPr>
          <p:spPr>
            <a:xfrm>
              <a:off x="1759840" y="232776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3" name="object 73"/>
            <p:cNvSpPr/>
            <p:nvPr/>
          </p:nvSpPr>
          <p:spPr>
            <a:xfrm>
              <a:off x="3384210" y="243123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4" name="object 74"/>
            <p:cNvSpPr/>
            <p:nvPr/>
          </p:nvSpPr>
          <p:spPr>
            <a:xfrm>
              <a:off x="3384210" y="243123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5" name="object 75"/>
            <p:cNvSpPr/>
            <p:nvPr/>
          </p:nvSpPr>
          <p:spPr>
            <a:xfrm>
              <a:off x="2894901" y="2586414"/>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76" name="object 76"/>
            <p:cNvSpPr/>
            <p:nvPr/>
          </p:nvSpPr>
          <p:spPr>
            <a:xfrm>
              <a:off x="2894901" y="2586414"/>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7" name="object 77"/>
            <p:cNvSpPr/>
            <p:nvPr/>
          </p:nvSpPr>
          <p:spPr>
            <a:xfrm>
              <a:off x="2601355" y="2189786"/>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78" name="object 78"/>
            <p:cNvSpPr/>
            <p:nvPr/>
          </p:nvSpPr>
          <p:spPr>
            <a:xfrm>
              <a:off x="2601355" y="2189786"/>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79" name="object 79"/>
            <p:cNvSpPr/>
            <p:nvPr/>
          </p:nvSpPr>
          <p:spPr>
            <a:xfrm>
              <a:off x="2836192" y="2491594"/>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0" name="object 80"/>
            <p:cNvSpPr/>
            <p:nvPr/>
          </p:nvSpPr>
          <p:spPr>
            <a:xfrm>
              <a:off x="2836192" y="2491594"/>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1" name="object 81"/>
            <p:cNvSpPr/>
            <p:nvPr/>
          </p:nvSpPr>
          <p:spPr>
            <a:xfrm>
              <a:off x="2660064" y="2664028"/>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2" name="object 82"/>
            <p:cNvSpPr/>
            <p:nvPr/>
          </p:nvSpPr>
          <p:spPr>
            <a:xfrm>
              <a:off x="2660064" y="2664028"/>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3" name="object 83"/>
            <p:cNvSpPr/>
            <p:nvPr/>
          </p:nvSpPr>
          <p:spPr>
            <a:xfrm>
              <a:off x="1681545"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84" name="object 84"/>
            <p:cNvSpPr/>
            <p:nvPr/>
          </p:nvSpPr>
          <p:spPr>
            <a:xfrm>
              <a:off x="1681545"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85" name="object 85"/>
            <p:cNvSpPr/>
            <p:nvPr/>
          </p:nvSpPr>
          <p:spPr>
            <a:xfrm>
              <a:off x="1642422" y="229325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6" name="object 86"/>
            <p:cNvSpPr/>
            <p:nvPr/>
          </p:nvSpPr>
          <p:spPr>
            <a:xfrm>
              <a:off x="1642422" y="229325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7" name="object 87"/>
            <p:cNvSpPr/>
            <p:nvPr/>
          </p:nvSpPr>
          <p:spPr>
            <a:xfrm>
              <a:off x="3188496" y="2577811"/>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8" name="object 88"/>
            <p:cNvSpPr/>
            <p:nvPr/>
          </p:nvSpPr>
          <p:spPr>
            <a:xfrm>
              <a:off x="3188496" y="2577811"/>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9" name="object 89"/>
            <p:cNvSpPr/>
            <p:nvPr/>
          </p:nvSpPr>
          <p:spPr>
            <a:xfrm>
              <a:off x="1681545" y="2232895"/>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0" name="object 90"/>
            <p:cNvSpPr/>
            <p:nvPr/>
          </p:nvSpPr>
          <p:spPr>
            <a:xfrm>
              <a:off x="1681545" y="223289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1" name="object 91"/>
            <p:cNvSpPr/>
            <p:nvPr/>
          </p:nvSpPr>
          <p:spPr>
            <a:xfrm>
              <a:off x="937862" y="213802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2" name="object 92"/>
            <p:cNvSpPr/>
            <p:nvPr/>
          </p:nvSpPr>
          <p:spPr>
            <a:xfrm>
              <a:off x="937862" y="213802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3" name="object 93"/>
            <p:cNvSpPr/>
            <p:nvPr/>
          </p:nvSpPr>
          <p:spPr>
            <a:xfrm>
              <a:off x="3325501" y="2655378"/>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4" name="object 94"/>
            <p:cNvSpPr/>
            <p:nvPr/>
          </p:nvSpPr>
          <p:spPr>
            <a:xfrm>
              <a:off x="3325501" y="2655378"/>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5" name="object 95"/>
            <p:cNvSpPr/>
            <p:nvPr/>
          </p:nvSpPr>
          <p:spPr>
            <a:xfrm>
              <a:off x="3227620" y="2603667"/>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6" name="object 96"/>
            <p:cNvSpPr/>
            <p:nvPr/>
          </p:nvSpPr>
          <p:spPr>
            <a:xfrm>
              <a:off x="3227620" y="2603667"/>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7" name="object 97"/>
            <p:cNvSpPr/>
            <p:nvPr/>
          </p:nvSpPr>
          <p:spPr>
            <a:xfrm>
              <a:off x="3012369"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8" name="object 98"/>
            <p:cNvSpPr/>
            <p:nvPr/>
          </p:nvSpPr>
          <p:spPr>
            <a:xfrm>
              <a:off x="3012369"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9" name="object 99"/>
            <p:cNvSpPr/>
            <p:nvPr/>
          </p:nvSpPr>
          <p:spPr>
            <a:xfrm>
              <a:off x="3266743" y="2526052"/>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0" name="object 100"/>
            <p:cNvSpPr/>
            <p:nvPr/>
          </p:nvSpPr>
          <p:spPr>
            <a:xfrm>
              <a:off x="3266743" y="2526052"/>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1" name="object 101"/>
            <p:cNvSpPr/>
            <p:nvPr/>
          </p:nvSpPr>
          <p:spPr>
            <a:xfrm>
              <a:off x="1231408" y="207766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2" name="object 102"/>
            <p:cNvSpPr/>
            <p:nvPr/>
          </p:nvSpPr>
          <p:spPr>
            <a:xfrm>
              <a:off x="1231408" y="207766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3" name="object 103"/>
            <p:cNvSpPr/>
            <p:nvPr/>
          </p:nvSpPr>
          <p:spPr>
            <a:xfrm>
              <a:off x="3168910" y="2715739"/>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4" name="object 104"/>
            <p:cNvSpPr/>
            <p:nvPr/>
          </p:nvSpPr>
          <p:spPr>
            <a:xfrm>
              <a:off x="3168910" y="2715739"/>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5" name="object 105"/>
            <p:cNvSpPr/>
            <p:nvPr/>
          </p:nvSpPr>
          <p:spPr>
            <a:xfrm>
              <a:off x="3619047" y="263817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06" name="object 106"/>
            <p:cNvSpPr/>
            <p:nvPr/>
          </p:nvSpPr>
          <p:spPr>
            <a:xfrm>
              <a:off x="3619047" y="263817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07" name="object 107"/>
            <p:cNvSpPr/>
            <p:nvPr/>
          </p:nvSpPr>
          <p:spPr>
            <a:xfrm>
              <a:off x="1498953" y="3030329"/>
              <a:ext cx="1957705" cy="35560"/>
            </a:xfrm>
            <a:custGeom>
              <a:avLst/>
              <a:gdLst/>
              <a:ahLst/>
              <a:cxnLst/>
              <a:rect l="l" t="t" r="r" b="b"/>
              <a:pathLst>
                <a:path w="1957704" h="35560">
                  <a:moveTo>
                    <a:pt x="0" y="0"/>
                  </a:moveTo>
                  <a:lnTo>
                    <a:pt x="1957087" y="0"/>
                  </a:lnTo>
                </a:path>
                <a:path w="1957704" h="35560">
                  <a:moveTo>
                    <a:pt x="0" y="0"/>
                  </a:moveTo>
                  <a:lnTo>
                    <a:pt x="0" y="34992"/>
                  </a:lnTo>
                </a:path>
                <a:path w="1957704" h="35560">
                  <a:moveTo>
                    <a:pt x="978519" y="0"/>
                  </a:moveTo>
                  <a:lnTo>
                    <a:pt x="978519" y="34992"/>
                  </a:lnTo>
                </a:path>
                <a:path w="1957704" h="35560">
                  <a:moveTo>
                    <a:pt x="1957087" y="0"/>
                  </a:moveTo>
                  <a:lnTo>
                    <a:pt x="1957087" y="34992"/>
                  </a:lnTo>
                </a:path>
              </a:pathLst>
            </a:custGeom>
            <a:ln w="3645">
              <a:solidFill>
                <a:srgbClr val="000000"/>
              </a:solidFill>
            </a:ln>
          </p:spPr>
          <p:txBody>
            <a:bodyPr wrap="square" lIns="0" tIns="0" rIns="0" bIns="0" rtlCol="0"/>
            <a:lstStyle/>
            <a:p>
              <a:endParaRPr/>
            </a:p>
          </p:txBody>
        </p:sp>
      </p:grpSp>
      <p:sp>
        <p:nvSpPr>
          <p:cNvPr id="108" name="object 108"/>
          <p:cNvSpPr txBox="1"/>
          <p:nvPr/>
        </p:nvSpPr>
        <p:spPr>
          <a:xfrm>
            <a:off x="1437604"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80</a:t>
            </a:r>
            <a:endParaRPr sz="650">
              <a:latin typeface="Arial"/>
              <a:cs typeface="Arial"/>
            </a:endParaRPr>
          </a:p>
        </p:txBody>
      </p:sp>
      <p:sp>
        <p:nvSpPr>
          <p:cNvPr id="109" name="object 109"/>
          <p:cNvSpPr txBox="1"/>
          <p:nvPr/>
        </p:nvSpPr>
        <p:spPr>
          <a:xfrm>
            <a:off x="3394692"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90</a:t>
            </a:r>
            <a:endParaRPr sz="650">
              <a:latin typeface="Arial"/>
              <a:cs typeface="Arial"/>
            </a:endParaRPr>
          </a:p>
        </p:txBody>
      </p:sp>
      <p:sp>
        <p:nvSpPr>
          <p:cNvPr id="110" name="object 110"/>
          <p:cNvSpPr/>
          <p:nvPr/>
        </p:nvSpPr>
        <p:spPr>
          <a:xfrm>
            <a:off x="799351" y="1918353"/>
            <a:ext cx="35560" cy="1035050"/>
          </a:xfrm>
          <a:custGeom>
            <a:avLst/>
            <a:gdLst/>
            <a:ahLst/>
            <a:cxnLst/>
            <a:rect l="l" t="t" r="r" b="b"/>
            <a:pathLst>
              <a:path w="35559" h="1035050">
                <a:moveTo>
                  <a:pt x="34992" y="1034701"/>
                </a:moveTo>
                <a:lnTo>
                  <a:pt x="34992" y="0"/>
                </a:lnTo>
              </a:path>
              <a:path w="35559" h="1035050">
                <a:moveTo>
                  <a:pt x="34992" y="1034701"/>
                </a:moveTo>
                <a:lnTo>
                  <a:pt x="0" y="1034701"/>
                </a:lnTo>
              </a:path>
              <a:path w="35559" h="1035050">
                <a:moveTo>
                  <a:pt x="34992" y="862267"/>
                </a:moveTo>
                <a:lnTo>
                  <a:pt x="0" y="862267"/>
                </a:lnTo>
              </a:path>
              <a:path w="35559" h="1035050">
                <a:moveTo>
                  <a:pt x="34992" y="689833"/>
                </a:moveTo>
                <a:lnTo>
                  <a:pt x="0" y="689833"/>
                </a:lnTo>
              </a:path>
              <a:path w="35559" h="1035050">
                <a:moveTo>
                  <a:pt x="34992" y="517350"/>
                </a:moveTo>
                <a:lnTo>
                  <a:pt x="0" y="517350"/>
                </a:lnTo>
              </a:path>
              <a:path w="35559" h="1035050">
                <a:moveTo>
                  <a:pt x="34992" y="344916"/>
                </a:moveTo>
                <a:lnTo>
                  <a:pt x="0" y="344916"/>
                </a:lnTo>
              </a:path>
              <a:path w="35559" h="1035050">
                <a:moveTo>
                  <a:pt x="34992" y="172434"/>
                </a:moveTo>
                <a:lnTo>
                  <a:pt x="0" y="172434"/>
                </a:lnTo>
              </a:path>
              <a:path w="35559" h="1035050">
                <a:moveTo>
                  <a:pt x="34992" y="0"/>
                </a:moveTo>
                <a:lnTo>
                  <a:pt x="0" y="0"/>
                </a:lnTo>
              </a:path>
            </a:pathLst>
          </a:custGeom>
          <a:ln w="3645">
            <a:solidFill>
              <a:srgbClr val="000000"/>
            </a:solidFill>
          </a:ln>
        </p:spPr>
        <p:txBody>
          <a:bodyPr wrap="square" lIns="0" tIns="0" rIns="0" bIns="0" rtlCol="0"/>
          <a:lstStyle/>
          <a:p>
            <a:endParaRPr/>
          </a:p>
        </p:txBody>
      </p:sp>
      <p:sp>
        <p:nvSpPr>
          <p:cNvPr id="111" name="object 111"/>
          <p:cNvSpPr txBox="1"/>
          <p:nvPr/>
        </p:nvSpPr>
        <p:spPr>
          <a:xfrm>
            <a:off x="675356" y="1849568"/>
            <a:ext cx="123189" cy="1165225"/>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18</a:t>
            </a:r>
            <a:endParaRPr sz="650">
              <a:latin typeface="Arial"/>
              <a:cs typeface="Arial"/>
            </a:endParaRPr>
          </a:p>
          <a:p>
            <a:pPr marL="12700">
              <a:lnSpc>
                <a:spcPct val="100000"/>
              </a:lnSpc>
              <a:spcBef>
                <a:spcPts val="580"/>
              </a:spcBef>
            </a:pPr>
            <a:r>
              <a:rPr sz="650" spc="-25" dirty="0">
                <a:latin typeface="Arial"/>
                <a:cs typeface="Arial"/>
              </a:rPr>
              <a:t>16</a:t>
            </a:r>
            <a:endParaRPr sz="650">
              <a:latin typeface="Arial"/>
              <a:cs typeface="Arial"/>
            </a:endParaRPr>
          </a:p>
          <a:p>
            <a:pPr marL="12700">
              <a:lnSpc>
                <a:spcPct val="100000"/>
              </a:lnSpc>
              <a:spcBef>
                <a:spcPts val="580"/>
              </a:spcBef>
            </a:pPr>
            <a:r>
              <a:rPr sz="650" spc="-25" dirty="0">
                <a:latin typeface="Arial"/>
                <a:cs typeface="Arial"/>
              </a:rPr>
              <a:t>14</a:t>
            </a:r>
            <a:endParaRPr sz="650">
              <a:latin typeface="Arial"/>
              <a:cs typeface="Arial"/>
            </a:endParaRPr>
          </a:p>
          <a:p>
            <a:pPr marL="12700">
              <a:lnSpc>
                <a:spcPct val="100000"/>
              </a:lnSpc>
              <a:spcBef>
                <a:spcPts val="575"/>
              </a:spcBef>
            </a:pPr>
            <a:r>
              <a:rPr sz="650" spc="-25" dirty="0">
                <a:latin typeface="Arial"/>
                <a:cs typeface="Arial"/>
              </a:rPr>
              <a:t>12</a:t>
            </a:r>
            <a:endParaRPr sz="650">
              <a:latin typeface="Arial"/>
              <a:cs typeface="Arial"/>
            </a:endParaRPr>
          </a:p>
          <a:p>
            <a:pPr marL="12700">
              <a:lnSpc>
                <a:spcPct val="100000"/>
              </a:lnSpc>
              <a:spcBef>
                <a:spcPts val="580"/>
              </a:spcBef>
            </a:pPr>
            <a:r>
              <a:rPr sz="650" spc="-25" dirty="0">
                <a:latin typeface="Arial"/>
                <a:cs typeface="Arial"/>
              </a:rPr>
              <a:t>10</a:t>
            </a:r>
            <a:endParaRPr sz="650">
              <a:latin typeface="Arial"/>
              <a:cs typeface="Arial"/>
            </a:endParaRPr>
          </a:p>
          <a:p>
            <a:pPr marL="60960">
              <a:lnSpc>
                <a:spcPct val="100000"/>
              </a:lnSpc>
              <a:spcBef>
                <a:spcPts val="575"/>
              </a:spcBef>
            </a:pPr>
            <a:r>
              <a:rPr sz="650" spc="-50" dirty="0">
                <a:latin typeface="Arial"/>
                <a:cs typeface="Arial"/>
              </a:rPr>
              <a:t>8</a:t>
            </a:r>
            <a:endParaRPr sz="650">
              <a:latin typeface="Arial"/>
              <a:cs typeface="Arial"/>
            </a:endParaRPr>
          </a:p>
          <a:p>
            <a:pPr marL="60960">
              <a:lnSpc>
                <a:spcPct val="100000"/>
              </a:lnSpc>
              <a:spcBef>
                <a:spcPts val="580"/>
              </a:spcBef>
            </a:pPr>
            <a:r>
              <a:rPr sz="650" spc="-50" dirty="0">
                <a:latin typeface="Arial"/>
                <a:cs typeface="Arial"/>
              </a:rPr>
              <a:t>6</a:t>
            </a:r>
            <a:endParaRPr sz="650">
              <a:latin typeface="Arial"/>
              <a:cs typeface="Arial"/>
            </a:endParaRPr>
          </a:p>
        </p:txBody>
      </p:sp>
      <p:sp>
        <p:nvSpPr>
          <p:cNvPr id="112" name="object 112"/>
          <p:cNvSpPr/>
          <p:nvPr/>
        </p:nvSpPr>
        <p:spPr>
          <a:xfrm>
            <a:off x="834343" y="1875585"/>
            <a:ext cx="3149600" cy="1155065"/>
          </a:xfrm>
          <a:custGeom>
            <a:avLst/>
            <a:gdLst/>
            <a:ahLst/>
            <a:cxnLst/>
            <a:rect l="l" t="t" r="r" b="b"/>
            <a:pathLst>
              <a:path w="3149600" h="1155064">
                <a:moveTo>
                  <a:pt x="0" y="1154744"/>
                </a:moveTo>
                <a:lnTo>
                  <a:pt x="3149303" y="1154744"/>
                </a:lnTo>
                <a:lnTo>
                  <a:pt x="3149303" y="0"/>
                </a:lnTo>
                <a:lnTo>
                  <a:pt x="0" y="0"/>
                </a:lnTo>
                <a:lnTo>
                  <a:pt x="0" y="1154744"/>
                </a:lnTo>
              </a:path>
            </a:pathLst>
          </a:custGeom>
          <a:ln w="3645">
            <a:solidFill>
              <a:srgbClr val="000000"/>
            </a:solidFill>
          </a:ln>
        </p:spPr>
        <p:txBody>
          <a:bodyPr wrap="square" lIns="0" tIns="0" rIns="0" bIns="0" rtlCol="0"/>
          <a:lstStyle/>
          <a:p>
            <a:endParaRPr/>
          </a:p>
        </p:txBody>
      </p:sp>
      <p:sp>
        <p:nvSpPr>
          <p:cNvPr id="113" name="object 113"/>
          <p:cNvSpPr txBox="1"/>
          <p:nvPr/>
        </p:nvSpPr>
        <p:spPr>
          <a:xfrm>
            <a:off x="2185272" y="3014130"/>
            <a:ext cx="447675" cy="277495"/>
          </a:xfrm>
          <a:prstGeom prst="rect">
            <a:avLst/>
          </a:prstGeom>
        </p:spPr>
        <p:txBody>
          <a:bodyPr vert="horz" wrap="square" lIns="0" tIns="38735" rIns="0" bIns="0" rtlCol="0">
            <a:spAutoFit/>
          </a:bodyPr>
          <a:lstStyle/>
          <a:p>
            <a:pPr marL="243204">
              <a:lnSpc>
                <a:spcPct val="100000"/>
              </a:lnSpc>
              <a:spcBef>
                <a:spcPts val="305"/>
              </a:spcBef>
            </a:pPr>
            <a:r>
              <a:rPr sz="650" spc="-25" dirty="0">
                <a:latin typeface="Arial"/>
                <a:cs typeface="Arial"/>
              </a:rPr>
              <a:t>85</a:t>
            </a:r>
            <a:endParaRPr sz="650">
              <a:latin typeface="Arial"/>
              <a:cs typeface="Arial"/>
            </a:endParaRPr>
          </a:p>
          <a:p>
            <a:pPr marL="12700">
              <a:lnSpc>
                <a:spcPct val="100000"/>
              </a:lnSpc>
              <a:spcBef>
                <a:spcPts val="210"/>
              </a:spcBef>
            </a:pPr>
            <a:r>
              <a:rPr sz="650" dirty="0">
                <a:latin typeface="Arial"/>
                <a:cs typeface="Arial"/>
              </a:rPr>
              <a:t>%</a:t>
            </a:r>
            <a:r>
              <a:rPr sz="650" spc="45" dirty="0">
                <a:latin typeface="Arial"/>
                <a:cs typeface="Arial"/>
              </a:rPr>
              <a:t> </a:t>
            </a:r>
            <a:r>
              <a:rPr sz="650" dirty="0">
                <a:latin typeface="Arial"/>
                <a:cs typeface="Arial"/>
              </a:rPr>
              <a:t>HS</a:t>
            </a:r>
            <a:r>
              <a:rPr sz="650" spc="45" dirty="0">
                <a:latin typeface="Arial"/>
                <a:cs typeface="Arial"/>
              </a:rPr>
              <a:t> </a:t>
            </a:r>
            <a:r>
              <a:rPr sz="650" spc="-20" dirty="0">
                <a:latin typeface="Arial"/>
                <a:cs typeface="Arial"/>
              </a:rPr>
              <a:t>grad</a:t>
            </a:r>
            <a:endParaRPr sz="650">
              <a:latin typeface="Arial"/>
              <a:cs typeface="Arial"/>
            </a:endParaRPr>
          </a:p>
        </p:txBody>
      </p:sp>
      <p:sp>
        <p:nvSpPr>
          <p:cNvPr id="114" name="object 114"/>
          <p:cNvSpPr txBox="1"/>
          <p:nvPr/>
        </p:nvSpPr>
        <p:spPr>
          <a:xfrm>
            <a:off x="553491" y="2199569"/>
            <a:ext cx="123189" cy="507365"/>
          </a:xfrm>
          <a:prstGeom prst="rect">
            <a:avLst/>
          </a:prstGeom>
        </p:spPr>
        <p:txBody>
          <a:bodyPr vert="vert270" wrap="square" lIns="0" tIns="8890" rIns="0" bIns="0" rtlCol="0">
            <a:spAutoFit/>
          </a:bodyPr>
          <a:lstStyle/>
          <a:p>
            <a:pPr marL="12700">
              <a:lnSpc>
                <a:spcPct val="100000"/>
              </a:lnSpc>
              <a:spcBef>
                <a:spcPts val="70"/>
              </a:spcBef>
            </a:pPr>
            <a:r>
              <a:rPr sz="650" dirty="0">
                <a:latin typeface="Arial"/>
                <a:cs typeface="Arial"/>
              </a:rPr>
              <a:t>%</a:t>
            </a:r>
            <a:r>
              <a:rPr sz="650" spc="25" dirty="0">
                <a:latin typeface="Arial"/>
                <a:cs typeface="Arial"/>
              </a:rPr>
              <a:t> </a:t>
            </a:r>
            <a:r>
              <a:rPr sz="650" dirty="0">
                <a:latin typeface="Arial"/>
                <a:cs typeface="Arial"/>
              </a:rPr>
              <a:t>in</a:t>
            </a:r>
            <a:r>
              <a:rPr sz="650" spc="40" dirty="0">
                <a:latin typeface="Arial"/>
                <a:cs typeface="Arial"/>
              </a:rPr>
              <a:t> </a:t>
            </a:r>
            <a:r>
              <a:rPr sz="650" spc="-10" dirty="0">
                <a:latin typeface="Arial"/>
                <a:cs typeface="Arial"/>
              </a:rPr>
              <a:t>poverty</a:t>
            </a:r>
            <a:endParaRPr sz="650">
              <a:latin typeface="Arial"/>
              <a:cs typeface="Arial"/>
            </a:endParaRPr>
          </a:p>
        </p:txBody>
      </p:sp>
      <p:grpSp>
        <p:nvGrpSpPr>
          <p:cNvPr id="115" name="object 115"/>
          <p:cNvGrpSpPr/>
          <p:nvPr/>
        </p:nvGrpSpPr>
        <p:grpSpPr>
          <a:xfrm>
            <a:off x="828876" y="1982433"/>
            <a:ext cx="3160395" cy="1048385"/>
            <a:chOff x="828876" y="1982433"/>
            <a:chExt cx="3160395" cy="1048385"/>
          </a:xfrm>
        </p:grpSpPr>
        <p:sp>
          <p:nvSpPr>
            <p:cNvPr id="116" name="object 116"/>
            <p:cNvSpPr/>
            <p:nvPr/>
          </p:nvSpPr>
          <p:spPr>
            <a:xfrm>
              <a:off x="834343" y="1987900"/>
              <a:ext cx="3149600" cy="862330"/>
            </a:xfrm>
            <a:custGeom>
              <a:avLst/>
              <a:gdLst/>
              <a:ahLst/>
              <a:cxnLst/>
              <a:rect l="l" t="t" r="r" b="b"/>
              <a:pathLst>
                <a:path w="3149600" h="862330">
                  <a:moveTo>
                    <a:pt x="0" y="0"/>
                  </a:moveTo>
                  <a:lnTo>
                    <a:pt x="3149303" y="861975"/>
                  </a:lnTo>
                </a:path>
              </a:pathLst>
            </a:custGeom>
            <a:ln w="10935">
              <a:solidFill>
                <a:srgbClr val="F05133"/>
              </a:solidFill>
            </a:ln>
          </p:spPr>
          <p:txBody>
            <a:bodyPr wrap="square" lIns="0" tIns="0" rIns="0" bIns="0" rtlCol="0"/>
            <a:lstStyle/>
            <a:p>
              <a:endParaRPr/>
            </a:p>
          </p:txBody>
        </p:sp>
        <p:sp>
          <p:nvSpPr>
            <p:cNvPr id="117" name="object 117"/>
            <p:cNvSpPr/>
            <p:nvPr/>
          </p:nvSpPr>
          <p:spPr>
            <a:xfrm>
              <a:off x="834343" y="2276829"/>
              <a:ext cx="1056640" cy="753745"/>
            </a:xfrm>
            <a:custGeom>
              <a:avLst/>
              <a:gdLst/>
              <a:ahLst/>
              <a:cxnLst/>
              <a:rect l="l" t="t" r="r" b="b"/>
              <a:pathLst>
                <a:path w="1056639" h="753744">
                  <a:moveTo>
                    <a:pt x="1056037" y="753499"/>
                  </a:moveTo>
                  <a:lnTo>
                    <a:pt x="1056037" y="0"/>
                  </a:lnTo>
                </a:path>
                <a:path w="1056639" h="753744">
                  <a:moveTo>
                    <a:pt x="0" y="0"/>
                  </a:moveTo>
                  <a:lnTo>
                    <a:pt x="1056037" y="0"/>
                  </a:lnTo>
                </a:path>
              </a:pathLst>
            </a:custGeom>
            <a:ln w="3645">
              <a:solidFill>
                <a:srgbClr val="000000"/>
              </a:solidFill>
              <a:prstDash val="dot"/>
            </a:ln>
          </p:spPr>
          <p:txBody>
            <a:bodyPr wrap="square" lIns="0" tIns="0" rIns="0" bIns="0" rtlCol="0"/>
            <a:lstStyle/>
            <a:p>
              <a:endParaRPr/>
            </a:p>
          </p:txBody>
        </p:sp>
      </p:grpSp>
      <p:sp>
        <p:nvSpPr>
          <p:cNvPr id="118" name="object 118"/>
          <p:cNvSpPr txBox="1"/>
          <p:nvPr/>
        </p:nvSpPr>
        <p:spPr>
          <a:xfrm>
            <a:off x="4375213" y="3194296"/>
            <a:ext cx="132715" cy="140970"/>
          </a:xfrm>
          <a:prstGeom prst="rect">
            <a:avLst/>
          </a:prstGeom>
        </p:spPr>
        <p:txBody>
          <a:bodyPr vert="horz" wrap="square" lIns="0" tIns="13335" rIns="0" bIns="0" rtlCol="0">
            <a:spAutoFit/>
          </a:bodyPr>
          <a:lstStyle/>
          <a:p>
            <a:pPr marL="12700">
              <a:lnSpc>
                <a:spcPct val="100000"/>
              </a:lnSpc>
              <a:spcBef>
                <a:spcPts val="105"/>
              </a:spcBef>
            </a:pPr>
            <a:r>
              <a:rPr sz="750" spc="-25" dirty="0">
                <a:solidFill>
                  <a:srgbClr val="22373A"/>
                </a:solidFill>
                <a:latin typeface="Arial"/>
                <a:cs typeface="Arial"/>
              </a:rPr>
              <a:t>28</a:t>
            </a:r>
            <a:endParaRPr sz="750">
              <a:latin typeface="Arial"/>
              <a:cs typeface="Arial"/>
            </a:endParaRP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Extrapolation</a:t>
            </a:r>
          </a:p>
        </p:txBody>
      </p:sp>
      <p:sp>
        <p:nvSpPr>
          <p:cNvPr id="3" name="object 3"/>
          <p:cNvSpPr txBox="1"/>
          <p:nvPr/>
        </p:nvSpPr>
        <p:spPr>
          <a:xfrm>
            <a:off x="487070" y="518258"/>
            <a:ext cx="3605529" cy="640715"/>
          </a:xfrm>
          <a:prstGeom prst="rect">
            <a:avLst/>
          </a:prstGeom>
        </p:spPr>
        <p:txBody>
          <a:bodyPr vert="horz" wrap="square" lIns="0" tIns="11430" rIns="0" bIns="0" rtlCol="0">
            <a:spAutoFit/>
          </a:bodyPr>
          <a:lstStyle/>
          <a:p>
            <a:pPr marL="147955" marR="5080" indent="-135890">
              <a:lnSpc>
                <a:spcPct val="129900"/>
              </a:lnSpc>
              <a:spcBef>
                <a:spcPts val="90"/>
              </a:spcBef>
              <a:buFont typeface="Lucida Sans"/>
              <a:buChar char="•"/>
              <a:tabLst>
                <a:tab pos="149860" algn="l"/>
              </a:tabLst>
            </a:pPr>
            <a:r>
              <a:rPr sz="1000" dirty="0">
                <a:solidFill>
                  <a:srgbClr val="22373A"/>
                </a:solidFill>
                <a:latin typeface="Arial"/>
                <a:cs typeface="Arial"/>
              </a:rPr>
              <a:t>Applying</a:t>
            </a:r>
            <a:r>
              <a:rPr sz="1000" spc="90" dirty="0">
                <a:solidFill>
                  <a:srgbClr val="22373A"/>
                </a:solidFill>
                <a:latin typeface="Arial"/>
                <a:cs typeface="Arial"/>
              </a:rPr>
              <a:t> </a:t>
            </a:r>
            <a:r>
              <a:rPr sz="1000" dirty="0">
                <a:solidFill>
                  <a:srgbClr val="22373A"/>
                </a:solidFill>
                <a:latin typeface="Arial"/>
                <a:cs typeface="Arial"/>
              </a:rPr>
              <a:t>a</a:t>
            </a:r>
            <a:r>
              <a:rPr sz="1000" spc="95" dirty="0">
                <a:solidFill>
                  <a:srgbClr val="22373A"/>
                </a:solidFill>
                <a:latin typeface="Arial"/>
                <a:cs typeface="Arial"/>
              </a:rPr>
              <a:t> </a:t>
            </a:r>
            <a:r>
              <a:rPr sz="1000" dirty="0">
                <a:solidFill>
                  <a:srgbClr val="22373A"/>
                </a:solidFill>
                <a:latin typeface="Arial"/>
                <a:cs typeface="Arial"/>
              </a:rPr>
              <a:t>model</a:t>
            </a:r>
            <a:r>
              <a:rPr sz="1000" spc="95" dirty="0">
                <a:solidFill>
                  <a:srgbClr val="22373A"/>
                </a:solidFill>
                <a:latin typeface="Arial"/>
                <a:cs typeface="Arial"/>
              </a:rPr>
              <a:t> </a:t>
            </a:r>
            <a:r>
              <a:rPr sz="1000" dirty="0">
                <a:solidFill>
                  <a:srgbClr val="22373A"/>
                </a:solidFill>
                <a:latin typeface="Arial"/>
                <a:cs typeface="Arial"/>
              </a:rPr>
              <a:t>estimate</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values</a:t>
            </a:r>
            <a:r>
              <a:rPr sz="1000" spc="95" dirty="0">
                <a:solidFill>
                  <a:srgbClr val="22373A"/>
                </a:solidFill>
                <a:latin typeface="Arial"/>
                <a:cs typeface="Arial"/>
              </a:rPr>
              <a:t> </a:t>
            </a:r>
            <a:r>
              <a:rPr sz="1000" dirty="0">
                <a:solidFill>
                  <a:srgbClr val="22373A"/>
                </a:solidFill>
                <a:latin typeface="Arial"/>
                <a:cs typeface="Arial"/>
              </a:rPr>
              <a:t>outside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realm</a:t>
            </a:r>
            <a:r>
              <a:rPr sz="1000" spc="9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original</a:t>
            </a:r>
            <a:r>
              <a:rPr sz="1000" spc="90" dirty="0">
                <a:solidFill>
                  <a:srgbClr val="22373A"/>
                </a:solidFill>
                <a:latin typeface="Arial"/>
                <a:cs typeface="Arial"/>
              </a:rPr>
              <a:t> </a:t>
            </a:r>
            <a:r>
              <a:rPr sz="1000" dirty="0">
                <a:solidFill>
                  <a:srgbClr val="22373A"/>
                </a:solidFill>
                <a:latin typeface="Arial"/>
                <a:cs typeface="Arial"/>
              </a:rPr>
              <a:t>data</a:t>
            </a:r>
            <a:r>
              <a:rPr sz="1000" spc="9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called</a:t>
            </a:r>
            <a:r>
              <a:rPr sz="1000" spc="90" dirty="0">
                <a:solidFill>
                  <a:srgbClr val="22373A"/>
                </a:solidFill>
                <a:latin typeface="Arial"/>
                <a:cs typeface="Arial"/>
              </a:rPr>
              <a:t> </a:t>
            </a:r>
            <a:r>
              <a:rPr sz="1000" i="1" spc="-10" dirty="0">
                <a:solidFill>
                  <a:srgbClr val="0DA5FF"/>
                </a:solidFill>
                <a:latin typeface="Arial"/>
                <a:cs typeface="Arial"/>
              </a:rPr>
              <a:t>extrapolation</a:t>
            </a:r>
            <a:r>
              <a:rPr sz="1000" spc="-10" dirty="0">
                <a:solidFill>
                  <a:srgbClr val="22373A"/>
                </a:solidFill>
                <a:latin typeface="Arial"/>
                <a:cs typeface="Arial"/>
              </a:rPr>
              <a:t>.</a:t>
            </a:r>
            <a:endParaRPr sz="1000">
              <a:latin typeface="Arial"/>
              <a:cs typeface="Arial"/>
            </a:endParaRPr>
          </a:p>
          <a:p>
            <a:pPr marL="148590" indent="-135890">
              <a:lnSpc>
                <a:spcPct val="100000"/>
              </a:lnSpc>
              <a:spcBef>
                <a:spcPts val="530"/>
              </a:spcBef>
              <a:buFont typeface="Lucida Sans"/>
              <a:buChar char="•"/>
              <a:tabLst>
                <a:tab pos="148590" algn="l"/>
              </a:tabLst>
            </a:pPr>
            <a:r>
              <a:rPr sz="1000" dirty="0">
                <a:solidFill>
                  <a:srgbClr val="22373A"/>
                </a:solidFill>
                <a:latin typeface="Arial"/>
                <a:cs typeface="Arial"/>
              </a:rPr>
              <a:t>Sometimes</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intercept</a:t>
            </a:r>
            <a:r>
              <a:rPr sz="1000" spc="95" dirty="0">
                <a:solidFill>
                  <a:srgbClr val="22373A"/>
                </a:solidFill>
                <a:latin typeface="Arial"/>
                <a:cs typeface="Arial"/>
              </a:rPr>
              <a:t> </a:t>
            </a:r>
            <a:r>
              <a:rPr sz="1000" dirty="0">
                <a:solidFill>
                  <a:srgbClr val="22373A"/>
                </a:solidFill>
                <a:latin typeface="Arial"/>
                <a:cs typeface="Arial"/>
              </a:rPr>
              <a:t>might</a:t>
            </a:r>
            <a:r>
              <a:rPr sz="1000" spc="100"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an</a:t>
            </a:r>
            <a:r>
              <a:rPr sz="1000" spc="95" dirty="0">
                <a:solidFill>
                  <a:srgbClr val="22373A"/>
                </a:solidFill>
                <a:latin typeface="Arial"/>
                <a:cs typeface="Arial"/>
              </a:rPr>
              <a:t> </a:t>
            </a:r>
            <a:r>
              <a:rPr sz="1000" spc="-10" dirty="0">
                <a:solidFill>
                  <a:srgbClr val="22373A"/>
                </a:solidFill>
                <a:latin typeface="Arial"/>
                <a:cs typeface="Arial"/>
              </a:rPr>
              <a:t>extrapolation.</a:t>
            </a:r>
            <a:endParaRPr sz="1000">
              <a:latin typeface="Arial"/>
              <a:cs typeface="Arial"/>
            </a:endParaRPr>
          </a:p>
        </p:txBody>
      </p:sp>
      <p:grpSp>
        <p:nvGrpSpPr>
          <p:cNvPr id="4" name="object 4"/>
          <p:cNvGrpSpPr/>
          <p:nvPr/>
        </p:nvGrpSpPr>
        <p:grpSpPr>
          <a:xfrm>
            <a:off x="798414" y="2305287"/>
            <a:ext cx="3244850" cy="410845"/>
            <a:chOff x="798414" y="2305287"/>
            <a:chExt cx="3244850" cy="410845"/>
          </a:xfrm>
        </p:grpSpPr>
        <p:pic>
          <p:nvPicPr>
            <p:cNvPr id="5" name="object 5"/>
            <p:cNvPicPr/>
            <p:nvPr/>
          </p:nvPicPr>
          <p:blipFill>
            <a:blip r:embed="rId2" cstate="print"/>
            <a:stretch>
              <a:fillRect/>
            </a:stretch>
          </p:blipFill>
          <p:spPr>
            <a:xfrm>
              <a:off x="3285330" y="2305287"/>
              <a:ext cx="515973" cy="243649"/>
            </a:xfrm>
            <a:prstGeom prst="rect">
              <a:avLst/>
            </a:prstGeom>
          </p:spPr>
        </p:pic>
        <p:sp>
          <p:nvSpPr>
            <p:cNvPr id="6" name="object 6"/>
            <p:cNvSpPr/>
            <p:nvPr/>
          </p:nvSpPr>
          <p:spPr>
            <a:xfrm>
              <a:off x="800637" y="2674892"/>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681633"/>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681633"/>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439363"/>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311265"/>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389818"/>
            <a:ext cx="3511550" cy="1287145"/>
            <a:chOff x="664961" y="1389818"/>
            <a:chExt cx="3511550" cy="1287145"/>
          </a:xfrm>
        </p:grpSpPr>
        <p:sp>
          <p:nvSpPr>
            <p:cNvPr id="16" name="object 16"/>
            <p:cNvSpPr/>
            <p:nvPr/>
          </p:nvSpPr>
          <p:spPr>
            <a:xfrm>
              <a:off x="671036" y="1391843"/>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485750"/>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391843"/>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821601"/>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29</a:t>
            </a:r>
          </a:p>
        </p:txBody>
      </p:sp>
      <p:sp>
        <p:nvSpPr>
          <p:cNvPr id="20" name="object 20"/>
          <p:cNvSpPr txBox="1"/>
          <p:nvPr/>
        </p:nvSpPr>
        <p:spPr>
          <a:xfrm>
            <a:off x="360389" y="175323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391941"/>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606870"/>
            <a:ext cx="3888049" cy="205684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30</a:t>
            </a: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943203" y="556586"/>
            <a:ext cx="2721615" cy="245231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31</a:t>
            </a: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543603"/>
            <a:ext cx="3887962" cy="2581917"/>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32</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556635" cy="414020"/>
          </a:xfrm>
          <a:prstGeom prst="rect">
            <a:avLst/>
          </a:prstGeom>
        </p:spPr>
        <p:txBody>
          <a:bodyPr vert="horz" wrap="square" lIns="0" tIns="15875" rIns="0" bIns="0" rtlCol="0">
            <a:spAutoFit/>
          </a:bodyPr>
          <a:lstStyle/>
          <a:p>
            <a:pPr marL="173355" marR="30480" indent="-135890">
              <a:lnSpc>
                <a:spcPct val="121500"/>
              </a:lnSpc>
              <a:spcBef>
                <a:spcPts val="125"/>
              </a:spcBef>
              <a:buClr>
                <a:srgbClr val="22373A"/>
              </a:buClr>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632835" cy="650240"/>
          </a:xfrm>
          <a:prstGeom prst="rect">
            <a:avLst/>
          </a:prstGeom>
        </p:spPr>
        <p:txBody>
          <a:bodyPr vert="horz" wrap="square" lIns="0" tIns="15875" rIns="0" bIns="0" rtlCol="0">
            <a:spAutoFit/>
          </a:bodyPr>
          <a:lstStyle/>
          <a:p>
            <a:pPr marL="173355" marR="106045"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08267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700081"/>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dirty="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dirty="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a:t>
            </a:r>
            <a:r>
              <a:rPr lang="en-US" sz="1000" spc="-25" dirty="0">
                <a:solidFill>
                  <a:srgbClr val="22373A"/>
                </a:solidFill>
                <a:latin typeface="Arial"/>
                <a:cs typeface="Arial"/>
              </a:rPr>
              <a:t>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dirty="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b="1" spc="-25" dirty="0">
                <a:solidFill>
                  <a:srgbClr val="22373A"/>
                </a:solidFill>
                <a:latin typeface="Arial"/>
                <a:cs typeface="Arial"/>
              </a:rPr>
              <a:t>not</a:t>
            </a:r>
            <a:r>
              <a:rPr lang="en-US" sz="1000" b="1" spc="-25" dirty="0">
                <a:solidFill>
                  <a:srgbClr val="22373A"/>
                </a:solidFill>
                <a:latin typeface="Arial"/>
                <a:cs typeface="Arial"/>
              </a:rPr>
              <a:t> </a:t>
            </a:r>
            <a:r>
              <a:rPr sz="1000" b="1" dirty="0">
                <a:solidFill>
                  <a:srgbClr val="22373A"/>
                </a:solidFill>
                <a:latin typeface="Arial"/>
                <a:cs typeface="Arial"/>
              </a:rPr>
              <a:t>included</a:t>
            </a:r>
            <a:r>
              <a:rPr sz="1000" b="1" spc="90" dirty="0">
                <a:solidFill>
                  <a:srgbClr val="22373A"/>
                </a:solidFill>
                <a:latin typeface="Arial"/>
                <a:cs typeface="Arial"/>
              </a:rPr>
              <a:t> </a:t>
            </a:r>
            <a:r>
              <a:rPr sz="1000" b="1" dirty="0">
                <a:solidFill>
                  <a:srgbClr val="22373A"/>
                </a:solidFill>
                <a:latin typeface="Arial"/>
                <a:cs typeface="Arial"/>
              </a:rPr>
              <a:t>in</a:t>
            </a:r>
            <a:r>
              <a:rPr sz="1000" b="1" spc="90" dirty="0">
                <a:solidFill>
                  <a:srgbClr val="22373A"/>
                </a:solidFill>
                <a:latin typeface="Arial"/>
                <a:cs typeface="Arial"/>
              </a:rPr>
              <a:t> </a:t>
            </a:r>
            <a:r>
              <a:rPr sz="1000" b="1" dirty="0">
                <a:solidFill>
                  <a:srgbClr val="22373A"/>
                </a:solidFill>
                <a:latin typeface="Arial"/>
                <a:cs typeface="Arial"/>
              </a:rPr>
              <a:t>the</a:t>
            </a:r>
            <a:r>
              <a:rPr sz="1000" b="1" spc="90" dirty="0">
                <a:solidFill>
                  <a:srgbClr val="22373A"/>
                </a:solidFill>
                <a:latin typeface="Arial"/>
                <a:cs typeface="Arial"/>
              </a:rPr>
              <a:t> </a:t>
            </a:r>
            <a:r>
              <a:rPr sz="1000" b="1"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dirty="0">
              <a:latin typeface="Arial"/>
              <a:cs typeface="Arial"/>
            </a:endParaRPr>
          </a:p>
        </p:txBody>
      </p:sp>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75323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spc="-25" dirty="0">
                <a:solidFill>
                  <a:srgbClr val="22373A"/>
                </a:solidFill>
                <a:latin typeface="Arial"/>
                <a:cs typeface="Arial"/>
              </a:rPr>
              <a:t>not 	</a:t>
            </a:r>
            <a:r>
              <a:rPr sz="1000" dirty="0">
                <a:solidFill>
                  <a:srgbClr val="22373A"/>
                </a:solidFill>
                <a:latin typeface="Arial"/>
                <a:cs typeface="Arial"/>
              </a:rPr>
              <a:t>included</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a:p>
            <a:pPr marL="173990" indent="-135890">
              <a:lnSpc>
                <a:spcPct val="100000"/>
              </a:lnSpc>
              <a:spcBef>
                <a:spcPts val="555"/>
              </a:spcBef>
              <a:buFont typeface="Lucida Sans"/>
              <a:buChar char="•"/>
              <a:tabLst>
                <a:tab pos="173990" algn="l"/>
              </a:tabLst>
            </a:pPr>
            <a:r>
              <a:rPr sz="1000" dirty="0">
                <a:solidFill>
                  <a:srgbClr val="22373A"/>
                </a:solidFill>
                <a:latin typeface="Arial"/>
                <a:cs typeface="Arial"/>
              </a:rPr>
              <a:t>For</a:t>
            </a:r>
            <a:r>
              <a:rPr sz="1000" spc="40" dirty="0">
                <a:solidFill>
                  <a:srgbClr val="22373A"/>
                </a:solidFill>
                <a:latin typeface="Arial"/>
                <a:cs typeface="Arial"/>
              </a:rPr>
              <a:t> </a:t>
            </a:r>
            <a:r>
              <a:rPr sz="1000" dirty="0">
                <a:solidFill>
                  <a:srgbClr val="22373A"/>
                </a:solidFill>
                <a:latin typeface="Arial"/>
                <a:cs typeface="Arial"/>
              </a:rPr>
              <a:t>the</a:t>
            </a:r>
            <a:r>
              <a:rPr sz="1000" spc="45" dirty="0">
                <a:solidFill>
                  <a:srgbClr val="22373A"/>
                </a:solidFill>
                <a:latin typeface="Arial"/>
                <a:cs typeface="Arial"/>
              </a:rPr>
              <a:t> </a:t>
            </a:r>
            <a:r>
              <a:rPr sz="1000" dirty="0">
                <a:solidFill>
                  <a:srgbClr val="22373A"/>
                </a:solidFill>
                <a:latin typeface="Arial"/>
                <a:cs typeface="Arial"/>
              </a:rPr>
              <a:t>model</a:t>
            </a:r>
            <a:r>
              <a:rPr sz="1000" spc="45" dirty="0">
                <a:solidFill>
                  <a:srgbClr val="22373A"/>
                </a:solidFill>
                <a:latin typeface="Arial"/>
                <a:cs typeface="Arial"/>
              </a:rPr>
              <a:t> </a:t>
            </a:r>
            <a:r>
              <a:rPr sz="1000" dirty="0">
                <a:solidFill>
                  <a:srgbClr val="22373A"/>
                </a:solidFill>
                <a:latin typeface="Arial"/>
                <a:cs typeface="Arial"/>
              </a:rPr>
              <a:t>we’ve</a:t>
            </a:r>
            <a:r>
              <a:rPr sz="1000" spc="45" dirty="0">
                <a:solidFill>
                  <a:srgbClr val="22373A"/>
                </a:solidFill>
                <a:latin typeface="Arial"/>
                <a:cs typeface="Arial"/>
              </a:rPr>
              <a:t> </a:t>
            </a:r>
            <a:r>
              <a:rPr sz="1000" dirty="0">
                <a:solidFill>
                  <a:srgbClr val="22373A"/>
                </a:solidFill>
                <a:latin typeface="Arial"/>
                <a:cs typeface="Arial"/>
              </a:rPr>
              <a:t>been</a:t>
            </a:r>
            <a:r>
              <a:rPr sz="1000" spc="45" dirty="0">
                <a:solidFill>
                  <a:srgbClr val="22373A"/>
                </a:solidFill>
                <a:latin typeface="Arial"/>
                <a:cs typeface="Arial"/>
              </a:rPr>
              <a:t> </a:t>
            </a:r>
            <a:r>
              <a:rPr sz="1000" dirty="0">
                <a:solidFill>
                  <a:srgbClr val="22373A"/>
                </a:solidFill>
                <a:latin typeface="Arial"/>
                <a:cs typeface="Arial"/>
              </a:rPr>
              <a:t>working</a:t>
            </a:r>
            <a:r>
              <a:rPr sz="1000" spc="45" dirty="0">
                <a:solidFill>
                  <a:srgbClr val="22373A"/>
                </a:solidFill>
                <a:latin typeface="Arial"/>
                <a:cs typeface="Arial"/>
              </a:rPr>
              <a:t> </a:t>
            </a:r>
            <a:r>
              <a:rPr sz="1000" dirty="0">
                <a:solidFill>
                  <a:srgbClr val="22373A"/>
                </a:solidFill>
                <a:latin typeface="Arial"/>
                <a:cs typeface="Arial"/>
              </a:rPr>
              <a:t>with,</a:t>
            </a:r>
            <a:r>
              <a:rPr sz="1000" spc="45" dirty="0">
                <a:solidFill>
                  <a:srgbClr val="22373A"/>
                </a:solidFill>
                <a:latin typeface="Arial"/>
                <a:cs typeface="Arial"/>
              </a:rPr>
              <a:t> </a:t>
            </a: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292"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15" dirty="0">
                <a:solidFill>
                  <a:srgbClr val="22373A"/>
                </a:solidFill>
                <a:latin typeface="Lucida Sans"/>
                <a:cs typeface="Lucida Sans"/>
              </a:rPr>
              <a:t> </a:t>
            </a:r>
            <a:r>
              <a:rPr sz="1100" spc="-30" dirty="0">
                <a:solidFill>
                  <a:srgbClr val="22373A"/>
                </a:solidFill>
                <a:latin typeface="Palatino Linotype"/>
                <a:cs typeface="Palatino Linotype"/>
              </a:rPr>
              <a:t>(</a:t>
            </a:r>
            <a:r>
              <a:rPr sz="1100" spc="-30" dirty="0">
                <a:solidFill>
                  <a:srgbClr val="22373A"/>
                </a:solidFill>
                <a:latin typeface="Lucida Sans Unicode"/>
                <a:cs typeface="Lucida Sans Unicode"/>
              </a:rPr>
              <a:t>−</a:t>
            </a:r>
            <a:r>
              <a:rPr sz="1100" spc="-30" dirty="0">
                <a:solidFill>
                  <a:srgbClr val="22373A"/>
                </a:solidFill>
                <a:latin typeface="Palatino Linotype"/>
                <a:cs typeface="Palatino Linotype"/>
              </a:rPr>
              <a:t>0</a:t>
            </a:r>
            <a:r>
              <a:rPr sz="1100" b="0" spc="-30" dirty="0">
                <a:solidFill>
                  <a:srgbClr val="22373A"/>
                </a:solidFill>
                <a:latin typeface="Bookman Old Style"/>
                <a:cs typeface="Bookman Old Style"/>
              </a:rPr>
              <a:t>.</a:t>
            </a:r>
            <a:r>
              <a:rPr sz="1100" spc="-30" dirty="0">
                <a:solidFill>
                  <a:srgbClr val="22373A"/>
                </a:solidFill>
                <a:latin typeface="Palatino Linotype"/>
                <a:cs typeface="Palatino Linotype"/>
              </a:rPr>
              <a:t>75)</a:t>
            </a:r>
            <a:r>
              <a:rPr sz="1200" spc="-44" baseline="27777" dirty="0">
                <a:solidFill>
                  <a:srgbClr val="22373A"/>
                </a:solidFill>
                <a:latin typeface="Palatino Linotype"/>
                <a:cs typeface="Palatino Linotype"/>
              </a:rPr>
              <a:t>2</a:t>
            </a:r>
            <a:r>
              <a:rPr sz="1200" spc="284"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56</a:t>
            </a:r>
            <a:r>
              <a:rPr sz="1000" spc="-10"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Interpretation</a:t>
            </a:r>
            <a:r>
              <a:rPr spc="130" dirty="0"/>
              <a:t> </a:t>
            </a:r>
            <a:r>
              <a:rPr dirty="0"/>
              <a:t>of</a:t>
            </a:r>
            <a:r>
              <a:rPr spc="130" dirty="0"/>
              <a:t> </a:t>
            </a:r>
            <a:r>
              <a:rPr sz="1200" b="0" i="1" spc="-25" dirty="0">
                <a:latin typeface="Times New Roman"/>
                <a:cs typeface="Times New Roman"/>
              </a:rPr>
              <a:t>R</a:t>
            </a:r>
            <a:r>
              <a:rPr sz="1200" b="0" spc="-37" baseline="31250" dirty="0">
                <a:latin typeface="Palatino Linotype"/>
                <a:cs typeface="Palatino Linotype"/>
              </a:rPr>
              <a:t>2</a:t>
            </a:r>
            <a:endParaRPr sz="1200" baseline="31250">
              <a:latin typeface="Palatino Linotype"/>
              <a:cs typeface="Palatino Linotype"/>
            </a:endParaRPr>
          </a:p>
        </p:txBody>
      </p:sp>
      <p:sp>
        <p:nvSpPr>
          <p:cNvPr id="3" name="object 3"/>
          <p:cNvSpPr/>
          <p:nvPr/>
        </p:nvSpPr>
        <p:spPr>
          <a:xfrm>
            <a:off x="309181" y="436410"/>
            <a:ext cx="3989704" cy="244475"/>
          </a:xfrm>
          <a:custGeom>
            <a:avLst/>
            <a:gdLst/>
            <a:ahLst/>
            <a:cxnLst/>
            <a:rect l="l" t="t" r="r" b="b"/>
            <a:pathLst>
              <a:path w="3989704" h="24447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93598"/>
                </a:lnTo>
                <a:lnTo>
                  <a:pt x="4013" y="213334"/>
                </a:lnTo>
                <a:lnTo>
                  <a:pt x="14922" y="229489"/>
                </a:lnTo>
                <a:lnTo>
                  <a:pt x="31076" y="240398"/>
                </a:lnTo>
                <a:lnTo>
                  <a:pt x="50812" y="244411"/>
                </a:lnTo>
                <a:lnTo>
                  <a:pt x="3938854" y="244411"/>
                </a:lnTo>
                <a:lnTo>
                  <a:pt x="3958577" y="240398"/>
                </a:lnTo>
                <a:lnTo>
                  <a:pt x="3974731" y="229489"/>
                </a:lnTo>
                <a:lnTo>
                  <a:pt x="3985653" y="213334"/>
                </a:lnTo>
                <a:lnTo>
                  <a:pt x="3989654" y="193598"/>
                </a:lnTo>
                <a:lnTo>
                  <a:pt x="3989654" y="82384"/>
                </a:lnTo>
                <a:lnTo>
                  <a:pt x="3989654" y="50800"/>
                </a:lnTo>
                <a:lnTo>
                  <a:pt x="3989654" y="44424"/>
                </a:lnTo>
                <a:close/>
              </a:path>
            </a:pathLst>
          </a:custGeom>
          <a:solidFill>
            <a:srgbClr val="F9F9F9"/>
          </a:solidFill>
        </p:spPr>
        <p:txBody>
          <a:bodyPr wrap="square" lIns="0" tIns="0" rIns="0" bIns="0" rtlCol="0"/>
          <a:lstStyle/>
          <a:p>
            <a:endParaRPr dirty="0"/>
          </a:p>
        </p:txBody>
      </p:sp>
      <p:sp>
        <p:nvSpPr>
          <p:cNvPr id="4" name="object 4"/>
          <p:cNvSpPr txBox="1"/>
          <p:nvPr/>
        </p:nvSpPr>
        <p:spPr>
          <a:xfrm>
            <a:off x="321894" y="472102"/>
            <a:ext cx="3881120" cy="177800"/>
          </a:xfrm>
          <a:prstGeom prst="rect">
            <a:avLst/>
          </a:prstGeom>
        </p:spPr>
        <p:txBody>
          <a:bodyPr vert="horz" wrap="square" lIns="0" tIns="12065" rIns="0" bIns="0" rtlCol="0">
            <a:spAutoFit/>
          </a:bodyPr>
          <a:lstStyle/>
          <a:p>
            <a:pPr marL="38100">
              <a:lnSpc>
                <a:spcPct val="100000"/>
              </a:lnSpc>
              <a:spcBef>
                <a:spcPts val="95"/>
              </a:spcBef>
            </a:pPr>
            <a:r>
              <a:rPr sz="950" dirty="0">
                <a:solidFill>
                  <a:srgbClr val="3884B7"/>
                </a:solidFill>
                <a:latin typeface="Arial"/>
                <a:cs typeface="Arial"/>
              </a:rPr>
              <a:t>Which</a:t>
            </a:r>
            <a:r>
              <a:rPr sz="950" spc="-10" dirty="0">
                <a:solidFill>
                  <a:srgbClr val="3884B7"/>
                </a:solidFill>
                <a:latin typeface="Arial"/>
                <a:cs typeface="Arial"/>
              </a:rPr>
              <a:t> </a:t>
            </a:r>
            <a:r>
              <a:rPr sz="950" dirty="0">
                <a:solidFill>
                  <a:srgbClr val="3884B7"/>
                </a:solidFill>
                <a:latin typeface="Arial"/>
                <a:cs typeface="Arial"/>
              </a:rPr>
              <a:t>of</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below</a:t>
            </a:r>
            <a:r>
              <a:rPr sz="950" spc="-5" dirty="0">
                <a:solidFill>
                  <a:srgbClr val="3884B7"/>
                </a:solidFill>
                <a:latin typeface="Arial"/>
                <a:cs typeface="Arial"/>
              </a:rPr>
              <a:t> </a:t>
            </a:r>
            <a:r>
              <a:rPr sz="950" dirty="0">
                <a:solidFill>
                  <a:srgbClr val="3884B7"/>
                </a:solidFill>
                <a:latin typeface="Arial"/>
                <a:cs typeface="Arial"/>
              </a:rPr>
              <a:t>is</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correct</a:t>
            </a:r>
            <a:r>
              <a:rPr sz="950" spc="-5" dirty="0">
                <a:solidFill>
                  <a:srgbClr val="3884B7"/>
                </a:solidFill>
                <a:latin typeface="Arial"/>
                <a:cs typeface="Arial"/>
              </a:rPr>
              <a:t> </a:t>
            </a:r>
            <a:r>
              <a:rPr sz="950" dirty="0">
                <a:solidFill>
                  <a:srgbClr val="3884B7"/>
                </a:solidFill>
                <a:latin typeface="Arial"/>
                <a:cs typeface="Arial"/>
              </a:rPr>
              <a:t>interpretation</a:t>
            </a:r>
            <a:r>
              <a:rPr sz="950" spc="-5" dirty="0">
                <a:solidFill>
                  <a:srgbClr val="3884B7"/>
                </a:solidFill>
                <a:latin typeface="Arial"/>
                <a:cs typeface="Arial"/>
              </a:rPr>
              <a:t> </a:t>
            </a:r>
            <a:r>
              <a:rPr sz="950" dirty="0">
                <a:solidFill>
                  <a:srgbClr val="3884B7"/>
                </a:solidFill>
                <a:latin typeface="Arial"/>
                <a:cs typeface="Arial"/>
              </a:rPr>
              <a:t>of</a:t>
            </a:r>
            <a:r>
              <a:rPr sz="950" spc="-10" dirty="0">
                <a:solidFill>
                  <a:srgbClr val="3884B7"/>
                </a:solidFill>
                <a:latin typeface="Arial"/>
                <a:cs typeface="Arial"/>
              </a:rPr>
              <a:t> </a:t>
            </a:r>
            <a:r>
              <a:rPr sz="1000" i="1" dirty="0">
                <a:solidFill>
                  <a:srgbClr val="3884B7"/>
                </a:solidFill>
                <a:latin typeface="Times New Roman"/>
                <a:cs typeface="Times New Roman"/>
              </a:rPr>
              <a:t>R</a:t>
            </a:r>
            <a:r>
              <a:rPr sz="1000" i="1" spc="25" dirty="0">
                <a:solidFill>
                  <a:srgbClr val="3884B7"/>
                </a:solidFill>
                <a:latin typeface="Times New Roman"/>
                <a:cs typeface="Times New Roman"/>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50" dirty="0">
                <a:solidFill>
                  <a:srgbClr val="3884B7"/>
                </a:solidFill>
                <a:latin typeface="Lucida Sans Unicode"/>
                <a:cs typeface="Lucida Sans Unicode"/>
              </a:rPr>
              <a:t>−</a:t>
            </a:r>
            <a:r>
              <a:rPr sz="1000" spc="-50" dirty="0">
                <a:solidFill>
                  <a:srgbClr val="3884B7"/>
                </a:solidFill>
                <a:latin typeface="Palatino Linotype"/>
                <a:cs typeface="Palatino Linotype"/>
              </a:rPr>
              <a:t>0</a:t>
            </a:r>
            <a:r>
              <a:rPr sz="1000" b="0" spc="-50" dirty="0">
                <a:solidFill>
                  <a:srgbClr val="3884B7"/>
                </a:solidFill>
                <a:latin typeface="Bookman Old Style"/>
                <a:cs typeface="Bookman Old Style"/>
              </a:rPr>
              <a:t>.</a:t>
            </a:r>
            <a:r>
              <a:rPr sz="1000" spc="-50" dirty="0">
                <a:solidFill>
                  <a:srgbClr val="3884B7"/>
                </a:solidFill>
                <a:latin typeface="Palatino Linotype"/>
                <a:cs typeface="Palatino Linotype"/>
              </a:rPr>
              <a:t>75</a:t>
            </a:r>
            <a:r>
              <a:rPr sz="950" spc="-50" dirty="0">
                <a:solidFill>
                  <a:srgbClr val="3884B7"/>
                </a:solidFill>
                <a:latin typeface="Arial"/>
                <a:cs typeface="Arial"/>
              </a:rPr>
              <a:t>,</a:t>
            </a:r>
            <a:r>
              <a:rPr sz="950" spc="-10" dirty="0">
                <a:solidFill>
                  <a:srgbClr val="3884B7"/>
                </a:solidFill>
                <a:latin typeface="Arial"/>
                <a:cs typeface="Arial"/>
              </a:rPr>
              <a:t> </a:t>
            </a:r>
            <a:r>
              <a:rPr sz="1000" i="1" dirty="0">
                <a:solidFill>
                  <a:srgbClr val="3884B7"/>
                </a:solidFill>
                <a:latin typeface="Times New Roman"/>
                <a:cs typeface="Times New Roman"/>
              </a:rPr>
              <a:t>R</a:t>
            </a:r>
            <a:r>
              <a:rPr sz="1050" baseline="27777" dirty="0">
                <a:solidFill>
                  <a:srgbClr val="3884B7"/>
                </a:solidFill>
                <a:latin typeface="Palatino Linotype"/>
                <a:cs typeface="Palatino Linotype"/>
              </a:rPr>
              <a:t>2</a:t>
            </a:r>
            <a:r>
              <a:rPr sz="1050" spc="225" baseline="27777" dirty="0">
                <a:solidFill>
                  <a:srgbClr val="3884B7"/>
                </a:solidFill>
                <a:latin typeface="Palatino Linotype"/>
                <a:cs typeface="Palatino Linotype"/>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10" dirty="0">
                <a:solidFill>
                  <a:srgbClr val="3884B7"/>
                </a:solidFill>
                <a:latin typeface="Palatino Linotype"/>
                <a:cs typeface="Palatino Linotype"/>
              </a:rPr>
              <a:t>0</a:t>
            </a:r>
            <a:r>
              <a:rPr sz="1000" b="0" spc="-10" dirty="0">
                <a:solidFill>
                  <a:srgbClr val="3884B7"/>
                </a:solidFill>
                <a:latin typeface="Bookman Old Style"/>
                <a:cs typeface="Bookman Old Style"/>
              </a:rPr>
              <a:t>.</a:t>
            </a:r>
            <a:r>
              <a:rPr sz="1000" spc="-10" dirty="0">
                <a:solidFill>
                  <a:srgbClr val="3884B7"/>
                </a:solidFill>
                <a:latin typeface="Palatino Linotype"/>
                <a:cs typeface="Palatino Linotype"/>
              </a:rPr>
              <a:t>56</a:t>
            </a:r>
            <a:r>
              <a:rPr sz="950" spc="-10" dirty="0">
                <a:solidFill>
                  <a:srgbClr val="3884B7"/>
                </a:solidFill>
                <a:latin typeface="Arial"/>
                <a:cs typeface="Arial"/>
              </a:rPr>
              <a:t>?</a:t>
            </a:r>
            <a:endParaRPr sz="950" dirty="0">
              <a:latin typeface="Arial"/>
              <a:cs typeface="Arial"/>
            </a:endParaRPr>
          </a:p>
        </p:txBody>
      </p:sp>
      <p:sp>
        <p:nvSpPr>
          <p:cNvPr id="5" name="object 5"/>
          <p:cNvSpPr txBox="1">
            <a:spLocks noGrp="1"/>
          </p:cNvSpPr>
          <p:nvPr>
            <p:ph type="body" idx="1"/>
          </p:nvPr>
        </p:nvSpPr>
        <p:spPr>
          <a:prstGeom prst="rect">
            <a:avLst/>
          </a:prstGeom>
        </p:spPr>
        <p:txBody>
          <a:bodyPr vert="horz" wrap="square" lIns="0" tIns="11430" rIns="0" bIns="0" rtlCol="0">
            <a:spAutoFit/>
          </a:bodyPr>
          <a:lstStyle/>
          <a:p>
            <a:pPr marL="240665" marR="35560" indent="-228600">
              <a:lnSpc>
                <a:spcPct val="129800"/>
              </a:lnSpc>
              <a:spcBef>
                <a:spcPts val="90"/>
              </a:spcBef>
              <a:buAutoNum type="alphaLcParenBoth"/>
              <a:tabLst>
                <a:tab pos="242570" algn="l"/>
              </a:tabLst>
            </a:pPr>
            <a:r>
              <a:rPr dirty="0"/>
              <a:t>56%</a:t>
            </a:r>
            <a:r>
              <a:rPr spc="60" dirty="0"/>
              <a:t> </a:t>
            </a:r>
            <a:r>
              <a:rPr dirty="0"/>
              <a:t>of</a:t>
            </a:r>
            <a:r>
              <a:rPr spc="65" dirty="0"/>
              <a:t> </a:t>
            </a:r>
            <a:r>
              <a:rPr dirty="0"/>
              <a:t>the</a:t>
            </a:r>
            <a:r>
              <a:rPr spc="60" dirty="0"/>
              <a:t> </a:t>
            </a:r>
            <a:r>
              <a:rPr dirty="0"/>
              <a:t>variability</a:t>
            </a:r>
            <a:r>
              <a:rPr spc="65" dirty="0"/>
              <a:t> </a:t>
            </a:r>
            <a:r>
              <a:rPr dirty="0"/>
              <a:t>in</a:t>
            </a:r>
            <a:r>
              <a:rPr spc="60" dirty="0"/>
              <a:t> </a:t>
            </a:r>
            <a:r>
              <a:rPr dirty="0"/>
              <a:t>the</a:t>
            </a:r>
            <a:r>
              <a:rPr spc="65" dirty="0"/>
              <a:t> </a:t>
            </a:r>
            <a:r>
              <a:rPr dirty="0"/>
              <a:t>%</a:t>
            </a:r>
            <a:r>
              <a:rPr spc="65" dirty="0"/>
              <a:t> </a:t>
            </a:r>
            <a:r>
              <a:rPr dirty="0"/>
              <a:t>of</a:t>
            </a:r>
            <a:r>
              <a:rPr spc="60" dirty="0"/>
              <a:t> </a:t>
            </a:r>
            <a:r>
              <a:rPr spc="-25" dirty="0"/>
              <a:t>HG 	</a:t>
            </a:r>
            <a:r>
              <a:rPr dirty="0"/>
              <a:t>graduates</a:t>
            </a:r>
            <a:r>
              <a:rPr spc="100" dirty="0"/>
              <a:t> </a:t>
            </a:r>
            <a:r>
              <a:rPr dirty="0"/>
              <a:t>among</a:t>
            </a:r>
            <a:r>
              <a:rPr spc="105" dirty="0"/>
              <a:t> </a:t>
            </a:r>
            <a:r>
              <a:rPr dirty="0"/>
              <a:t>the</a:t>
            </a:r>
            <a:r>
              <a:rPr spc="100" dirty="0"/>
              <a:t> </a:t>
            </a:r>
            <a:r>
              <a:rPr dirty="0"/>
              <a:t>51</a:t>
            </a:r>
            <a:r>
              <a:rPr spc="105" dirty="0"/>
              <a:t> </a:t>
            </a:r>
            <a:r>
              <a:rPr dirty="0"/>
              <a:t>states</a:t>
            </a:r>
            <a:r>
              <a:rPr spc="105" dirty="0"/>
              <a:t> </a:t>
            </a:r>
            <a:r>
              <a:rPr spc="-25" dirty="0"/>
              <a:t>is 	</a:t>
            </a:r>
            <a:r>
              <a:rPr dirty="0"/>
              <a:t>explained</a:t>
            </a:r>
            <a:r>
              <a:rPr spc="75" dirty="0"/>
              <a:t> </a:t>
            </a:r>
            <a:r>
              <a:rPr dirty="0"/>
              <a:t>by</a:t>
            </a:r>
            <a:r>
              <a:rPr spc="75" dirty="0"/>
              <a:t> </a:t>
            </a:r>
            <a:r>
              <a:rPr dirty="0"/>
              <a:t>the</a:t>
            </a:r>
            <a:r>
              <a:rPr spc="80" dirty="0"/>
              <a:t> </a:t>
            </a:r>
            <a:r>
              <a:rPr spc="-10" dirty="0"/>
              <a:t>model.</a:t>
            </a:r>
          </a:p>
          <a:p>
            <a:pPr marL="240665" marR="5080" indent="-228600">
              <a:lnSpc>
                <a:spcPct val="129800"/>
              </a:lnSpc>
              <a:spcBef>
                <a:spcPts val="484"/>
              </a:spcBef>
              <a:buAutoNum type="alphaLcParenBoth"/>
              <a:tabLst>
                <a:tab pos="242570" algn="l"/>
              </a:tabLst>
            </a:pPr>
            <a:r>
              <a:rPr dirty="0"/>
              <a:t>56%</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a:p>
            <a:pPr marL="240665" marR="91440" indent="-220979">
              <a:lnSpc>
                <a:spcPct val="129900"/>
              </a:lnSpc>
              <a:spcBef>
                <a:spcPts val="300"/>
              </a:spcBef>
              <a:buAutoNum type="alphaLcParenBoth"/>
              <a:tabLst>
                <a:tab pos="242570" algn="l"/>
              </a:tabLst>
            </a:pPr>
            <a:r>
              <a:rPr dirty="0"/>
              <a:t>56%</a:t>
            </a:r>
            <a:r>
              <a:rPr spc="55" dirty="0"/>
              <a:t> </a:t>
            </a:r>
            <a:r>
              <a:rPr dirty="0"/>
              <a:t>of</a:t>
            </a:r>
            <a:r>
              <a:rPr spc="60" dirty="0"/>
              <a:t> </a:t>
            </a:r>
            <a:r>
              <a:rPr dirty="0"/>
              <a:t>the</a:t>
            </a:r>
            <a:r>
              <a:rPr spc="60" dirty="0"/>
              <a:t> </a:t>
            </a:r>
            <a:r>
              <a:rPr dirty="0"/>
              <a:t>time</a:t>
            </a:r>
            <a:r>
              <a:rPr spc="55" dirty="0"/>
              <a:t> </a:t>
            </a:r>
            <a:r>
              <a:rPr dirty="0"/>
              <a:t>%</a:t>
            </a:r>
            <a:r>
              <a:rPr spc="60" dirty="0"/>
              <a:t> </a:t>
            </a:r>
            <a:r>
              <a:rPr dirty="0"/>
              <a:t>HS</a:t>
            </a:r>
            <a:r>
              <a:rPr spc="60" dirty="0"/>
              <a:t> </a:t>
            </a:r>
            <a:r>
              <a:rPr spc="-10" dirty="0"/>
              <a:t>graduates 	</a:t>
            </a:r>
            <a:r>
              <a:rPr dirty="0"/>
              <a:t>predict</a:t>
            </a:r>
            <a:r>
              <a:rPr spc="80" dirty="0"/>
              <a:t> </a:t>
            </a:r>
            <a:r>
              <a:rPr dirty="0"/>
              <a:t>%</a:t>
            </a:r>
            <a:r>
              <a:rPr spc="80" dirty="0"/>
              <a:t> </a:t>
            </a:r>
            <a:r>
              <a:rPr dirty="0"/>
              <a:t>living</a:t>
            </a:r>
            <a:r>
              <a:rPr spc="80" dirty="0"/>
              <a:t> </a:t>
            </a:r>
            <a:r>
              <a:rPr dirty="0"/>
              <a:t>in</a:t>
            </a:r>
            <a:r>
              <a:rPr spc="80" dirty="0"/>
              <a:t> </a:t>
            </a:r>
            <a:r>
              <a:rPr dirty="0"/>
              <a:t>poverty</a:t>
            </a:r>
            <a:r>
              <a:rPr spc="80" dirty="0"/>
              <a:t> </a:t>
            </a:r>
            <a:r>
              <a:rPr spc="-10" dirty="0"/>
              <a:t>correctly.</a:t>
            </a:r>
          </a:p>
          <a:p>
            <a:pPr marL="240665" marR="5080" indent="-228600">
              <a:lnSpc>
                <a:spcPct val="129800"/>
              </a:lnSpc>
              <a:spcBef>
                <a:spcPts val="300"/>
              </a:spcBef>
              <a:buAutoNum type="alphaLcParenBoth"/>
              <a:tabLst>
                <a:tab pos="242570" algn="l"/>
              </a:tabLst>
            </a:pPr>
            <a:r>
              <a:rPr dirty="0"/>
              <a:t>75%</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p:txBody>
      </p:sp>
      <p:pic>
        <p:nvPicPr>
          <p:cNvPr id="6" name="object 6"/>
          <p:cNvPicPr/>
          <p:nvPr/>
        </p:nvPicPr>
        <p:blipFill>
          <a:blip r:embed="rId2" cstate="print"/>
          <a:stretch>
            <a:fillRect/>
          </a:stretch>
        </p:blipFill>
        <p:spPr>
          <a:xfrm>
            <a:off x="3180375" y="1449340"/>
            <a:ext cx="1139413" cy="842511"/>
          </a:xfrm>
          <a:prstGeom prst="rect">
            <a:avLst/>
          </a:prstGeom>
        </p:spPr>
      </p:pic>
      <p:sp>
        <p:nvSpPr>
          <p:cNvPr id="7" name="object 7"/>
          <p:cNvSpPr txBox="1"/>
          <p:nvPr/>
        </p:nvSpPr>
        <p:spPr>
          <a:xfrm>
            <a:off x="4084875" y="2266780"/>
            <a:ext cx="94615" cy="99695"/>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90</a:t>
            </a:r>
            <a:endParaRPr sz="450">
              <a:latin typeface="Arial"/>
              <a:cs typeface="Arial"/>
            </a:endParaRPr>
          </a:p>
        </p:txBody>
      </p:sp>
      <p:sp>
        <p:nvSpPr>
          <p:cNvPr id="11" name="object 11"/>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34</a:t>
            </a:r>
            <a:endParaRPr sz="750">
              <a:latin typeface="Arial"/>
              <a:cs typeface="Arial"/>
            </a:endParaRPr>
          </a:p>
        </p:txBody>
      </p:sp>
      <p:sp>
        <p:nvSpPr>
          <p:cNvPr id="8" name="object 8"/>
          <p:cNvSpPr txBox="1"/>
          <p:nvPr/>
        </p:nvSpPr>
        <p:spPr>
          <a:xfrm>
            <a:off x="3088982" y="1428513"/>
            <a:ext cx="94615" cy="831850"/>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18</a:t>
            </a:r>
            <a:endParaRPr sz="450">
              <a:latin typeface="Arial"/>
              <a:cs typeface="Arial"/>
            </a:endParaRPr>
          </a:p>
          <a:p>
            <a:pPr marL="12700">
              <a:lnSpc>
                <a:spcPct val="100000"/>
              </a:lnSpc>
              <a:spcBef>
                <a:spcPts val="420"/>
              </a:spcBef>
            </a:pPr>
            <a:r>
              <a:rPr sz="450" spc="-25" dirty="0">
                <a:latin typeface="Arial"/>
                <a:cs typeface="Arial"/>
              </a:rPr>
              <a:t>16</a:t>
            </a:r>
            <a:endParaRPr sz="450">
              <a:latin typeface="Arial"/>
              <a:cs typeface="Arial"/>
            </a:endParaRPr>
          </a:p>
          <a:p>
            <a:pPr marL="12700">
              <a:lnSpc>
                <a:spcPct val="100000"/>
              </a:lnSpc>
              <a:spcBef>
                <a:spcPts val="420"/>
              </a:spcBef>
            </a:pPr>
            <a:r>
              <a:rPr sz="450" spc="-25" dirty="0">
                <a:latin typeface="Arial"/>
                <a:cs typeface="Arial"/>
              </a:rPr>
              <a:t>14</a:t>
            </a:r>
            <a:endParaRPr sz="450">
              <a:latin typeface="Arial"/>
              <a:cs typeface="Arial"/>
            </a:endParaRPr>
          </a:p>
          <a:p>
            <a:pPr marL="12700">
              <a:lnSpc>
                <a:spcPct val="100000"/>
              </a:lnSpc>
              <a:spcBef>
                <a:spcPts val="420"/>
              </a:spcBef>
            </a:pPr>
            <a:r>
              <a:rPr sz="450" spc="-25" dirty="0">
                <a:latin typeface="Arial"/>
                <a:cs typeface="Arial"/>
              </a:rPr>
              <a:t>12</a:t>
            </a:r>
            <a:endParaRPr sz="450">
              <a:latin typeface="Arial"/>
              <a:cs typeface="Arial"/>
            </a:endParaRPr>
          </a:p>
          <a:p>
            <a:pPr marL="12700">
              <a:lnSpc>
                <a:spcPct val="100000"/>
              </a:lnSpc>
              <a:spcBef>
                <a:spcPts val="420"/>
              </a:spcBef>
            </a:pPr>
            <a:r>
              <a:rPr sz="450" spc="-25" dirty="0">
                <a:latin typeface="Arial"/>
                <a:cs typeface="Arial"/>
              </a:rPr>
              <a:t>10</a:t>
            </a:r>
            <a:endParaRPr sz="450">
              <a:latin typeface="Arial"/>
              <a:cs typeface="Arial"/>
            </a:endParaRPr>
          </a:p>
          <a:p>
            <a:pPr marL="46990">
              <a:lnSpc>
                <a:spcPct val="100000"/>
              </a:lnSpc>
              <a:spcBef>
                <a:spcPts val="420"/>
              </a:spcBef>
            </a:pPr>
            <a:r>
              <a:rPr sz="450" spc="-50" dirty="0">
                <a:latin typeface="Arial"/>
                <a:cs typeface="Arial"/>
              </a:rPr>
              <a:t>8</a:t>
            </a:r>
            <a:endParaRPr sz="450">
              <a:latin typeface="Arial"/>
              <a:cs typeface="Arial"/>
            </a:endParaRPr>
          </a:p>
          <a:p>
            <a:pPr marL="46990">
              <a:lnSpc>
                <a:spcPct val="100000"/>
              </a:lnSpc>
              <a:spcBef>
                <a:spcPts val="420"/>
              </a:spcBef>
            </a:pPr>
            <a:r>
              <a:rPr sz="450" spc="-50" dirty="0">
                <a:latin typeface="Arial"/>
                <a:cs typeface="Arial"/>
              </a:rPr>
              <a:t>6</a:t>
            </a:r>
            <a:endParaRPr sz="450">
              <a:latin typeface="Arial"/>
              <a:cs typeface="Arial"/>
            </a:endParaRPr>
          </a:p>
        </p:txBody>
      </p:sp>
      <p:sp>
        <p:nvSpPr>
          <p:cNvPr id="9" name="object 9"/>
          <p:cNvSpPr txBox="1"/>
          <p:nvPr/>
        </p:nvSpPr>
        <p:spPr>
          <a:xfrm>
            <a:off x="3392997" y="2251935"/>
            <a:ext cx="530860" cy="203835"/>
          </a:xfrm>
          <a:prstGeom prst="rect">
            <a:avLst/>
          </a:prstGeom>
        </p:spPr>
        <p:txBody>
          <a:bodyPr vert="horz" wrap="square" lIns="0" tIns="31750" rIns="0" bIns="0" rtlCol="0">
            <a:spAutoFit/>
          </a:bodyPr>
          <a:lstStyle/>
          <a:p>
            <a:pPr marL="12700">
              <a:lnSpc>
                <a:spcPct val="100000"/>
              </a:lnSpc>
              <a:spcBef>
                <a:spcPts val="250"/>
              </a:spcBef>
              <a:tabLst>
                <a:tab pos="358140" algn="l"/>
              </a:tabLst>
            </a:pPr>
            <a:r>
              <a:rPr sz="450" spc="-25" dirty="0">
                <a:latin typeface="Arial"/>
                <a:cs typeface="Arial"/>
              </a:rPr>
              <a:t>80</a:t>
            </a:r>
            <a:r>
              <a:rPr sz="450" dirty="0">
                <a:latin typeface="Arial"/>
                <a:cs typeface="Arial"/>
              </a:rPr>
              <a:t>	</a:t>
            </a:r>
            <a:r>
              <a:rPr sz="450" spc="-25" dirty="0">
                <a:latin typeface="Arial"/>
                <a:cs typeface="Arial"/>
              </a:rPr>
              <a:t>85</a:t>
            </a:r>
            <a:endParaRPr sz="450">
              <a:latin typeface="Arial"/>
              <a:cs typeface="Arial"/>
            </a:endParaRPr>
          </a:p>
          <a:p>
            <a:pPr marL="219075">
              <a:lnSpc>
                <a:spcPct val="100000"/>
              </a:lnSpc>
              <a:spcBef>
                <a:spcPts val="165"/>
              </a:spcBef>
            </a:pPr>
            <a:r>
              <a:rPr sz="450" dirty="0">
                <a:latin typeface="Arial"/>
                <a:cs typeface="Arial"/>
              </a:rPr>
              <a:t>%</a:t>
            </a:r>
            <a:r>
              <a:rPr sz="450" spc="50" dirty="0">
                <a:latin typeface="Arial"/>
                <a:cs typeface="Arial"/>
              </a:rPr>
              <a:t> </a:t>
            </a:r>
            <a:r>
              <a:rPr sz="450" dirty="0">
                <a:latin typeface="Arial"/>
                <a:cs typeface="Arial"/>
              </a:rPr>
              <a:t>HS</a:t>
            </a:r>
            <a:r>
              <a:rPr sz="450" spc="50" dirty="0">
                <a:latin typeface="Arial"/>
                <a:cs typeface="Arial"/>
              </a:rPr>
              <a:t> </a:t>
            </a:r>
            <a:r>
              <a:rPr sz="450" spc="-20" dirty="0">
                <a:latin typeface="Arial"/>
                <a:cs typeface="Arial"/>
              </a:rPr>
              <a:t>grad</a:t>
            </a:r>
            <a:endParaRPr sz="450">
              <a:latin typeface="Arial"/>
              <a:cs typeface="Arial"/>
            </a:endParaRPr>
          </a:p>
        </p:txBody>
      </p:sp>
      <p:sp>
        <p:nvSpPr>
          <p:cNvPr id="10" name="object 10"/>
          <p:cNvSpPr txBox="1"/>
          <p:nvPr/>
        </p:nvSpPr>
        <p:spPr>
          <a:xfrm>
            <a:off x="3002815" y="1675987"/>
            <a:ext cx="94615" cy="365760"/>
          </a:xfrm>
          <a:prstGeom prst="rect">
            <a:avLst/>
          </a:prstGeom>
        </p:spPr>
        <p:txBody>
          <a:bodyPr vert="vert270" wrap="square" lIns="0" tIns="11430" rIns="0" bIns="0" rtlCol="0">
            <a:spAutoFit/>
          </a:bodyPr>
          <a:lstStyle/>
          <a:p>
            <a:pPr marL="12700">
              <a:lnSpc>
                <a:spcPct val="100000"/>
              </a:lnSpc>
              <a:spcBef>
                <a:spcPts val="90"/>
              </a:spcBef>
            </a:pPr>
            <a:r>
              <a:rPr sz="450" dirty="0">
                <a:latin typeface="Arial"/>
                <a:cs typeface="Arial"/>
              </a:rPr>
              <a:t>%</a:t>
            </a:r>
            <a:r>
              <a:rPr sz="450" spc="30" dirty="0">
                <a:latin typeface="Arial"/>
                <a:cs typeface="Arial"/>
              </a:rPr>
              <a:t> </a:t>
            </a:r>
            <a:r>
              <a:rPr sz="450" dirty="0">
                <a:latin typeface="Arial"/>
                <a:cs typeface="Arial"/>
              </a:rPr>
              <a:t>in</a:t>
            </a:r>
            <a:r>
              <a:rPr sz="450" spc="40" dirty="0">
                <a:latin typeface="Arial"/>
                <a:cs typeface="Arial"/>
              </a:rPr>
              <a:t> </a:t>
            </a:r>
            <a:r>
              <a:rPr sz="450" spc="-10" dirty="0">
                <a:latin typeface="Arial"/>
                <a:cs typeface="Arial"/>
              </a:rPr>
              <a:t>poverty</a:t>
            </a:r>
            <a:endParaRPr sz="450">
              <a:latin typeface="Arial"/>
              <a:cs typeface="Arial"/>
            </a:endParaRP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0DB212-7DEF-0C8A-17C8-FCE67D150F0D}"/>
              </a:ext>
            </a:extLst>
          </p:cNvPr>
          <p:cNvSpPr>
            <a:spLocks noGrp="1"/>
          </p:cNvSpPr>
          <p:nvPr>
            <p:ph type="title"/>
          </p:nvPr>
        </p:nvSpPr>
        <p:spPr>
          <a:xfrm>
            <a:off x="95250" y="24030"/>
            <a:ext cx="3828415" cy="338554"/>
          </a:xfrm>
        </p:spPr>
        <p:txBody>
          <a:bodyPr/>
          <a:lstStyle/>
          <a:p>
            <a:r>
              <a:rPr lang="en-US" dirty="0"/>
              <a:t>Exploring the relationships between self-care and well-being outcomes among child welfare professionals</a:t>
            </a:r>
          </a:p>
        </p:txBody>
      </p:sp>
      <p:graphicFrame>
        <p:nvGraphicFramePr>
          <p:cNvPr id="4" name="Table 3">
            <a:extLst>
              <a:ext uri="{FF2B5EF4-FFF2-40B4-BE49-F238E27FC236}">
                <a16:creationId xmlns:a16="http://schemas.microsoft.com/office/drawing/2014/main" id="{F4E04DC7-4754-568E-C7BA-ABB298E1378D}"/>
              </a:ext>
            </a:extLst>
          </p:cNvPr>
          <p:cNvGraphicFramePr>
            <a:graphicFrameLocks noGrp="1"/>
          </p:cNvGraphicFramePr>
          <p:nvPr>
            <p:extLst>
              <p:ext uri="{D42A27DB-BD31-4B8C-83A1-F6EECF244321}">
                <p14:modId xmlns:p14="http://schemas.microsoft.com/office/powerpoint/2010/main" val="3650169300"/>
              </p:ext>
            </p:extLst>
          </p:nvPr>
        </p:nvGraphicFramePr>
        <p:xfrm>
          <a:off x="239077" y="511175"/>
          <a:ext cx="4131945" cy="2806052"/>
        </p:xfrm>
        <a:graphic>
          <a:graphicData uri="http://schemas.openxmlformats.org/drawingml/2006/table">
            <a:tbl>
              <a:tblPr>
                <a:solidFill>
                  <a:schemeClr val="bg1"/>
                </a:solidFill>
              </a:tblPr>
              <a:tblGrid>
                <a:gridCol w="1474161">
                  <a:extLst>
                    <a:ext uri="{9D8B030D-6E8A-4147-A177-3AD203B41FA5}">
                      <a16:colId xmlns:a16="http://schemas.microsoft.com/office/drawing/2014/main" val="3769118143"/>
                    </a:ext>
                  </a:extLst>
                </a:gridCol>
                <a:gridCol w="1188720">
                  <a:extLst>
                    <a:ext uri="{9D8B030D-6E8A-4147-A177-3AD203B41FA5}">
                      <a16:colId xmlns:a16="http://schemas.microsoft.com/office/drawing/2014/main" val="2402775812"/>
                    </a:ext>
                  </a:extLst>
                </a:gridCol>
                <a:gridCol w="1469064">
                  <a:extLst>
                    <a:ext uri="{9D8B030D-6E8A-4147-A177-3AD203B41FA5}">
                      <a16:colId xmlns:a16="http://schemas.microsoft.com/office/drawing/2014/main" val="1418303580"/>
                    </a:ext>
                  </a:extLst>
                </a:gridCol>
              </a:tblGrid>
              <a:tr h="251741">
                <a:tc>
                  <a:txBody>
                    <a:bodyPr/>
                    <a:lstStyle/>
                    <a:p>
                      <a:pPr>
                        <a:buNone/>
                      </a:pPr>
                      <a:r>
                        <a:rPr lang="en-US" sz="1000" b="1" cap="none" spc="0" dirty="0">
                          <a:solidFill>
                            <a:schemeClr val="tx1"/>
                          </a:solidFill>
                        </a:rPr>
                        <a:t>Assumption</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000" b="1" cap="none" spc="0" dirty="0">
                          <a:solidFill>
                            <a:schemeClr val="tx1"/>
                          </a:solidFill>
                        </a:rPr>
                        <a:t>Formally Tested?</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1000" b="1" cap="none" spc="0" dirty="0">
                          <a:solidFill>
                            <a:schemeClr val="tx1"/>
                          </a:solidFill>
                        </a:rPr>
                        <a:t>Evidence in Paper</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15059516"/>
                  </a:ext>
                </a:extLst>
              </a:tr>
              <a:tr h="251741">
                <a:tc>
                  <a:txBody>
                    <a:bodyPr/>
                    <a:lstStyle/>
                    <a:p>
                      <a:pPr>
                        <a:buNone/>
                      </a:pPr>
                      <a:r>
                        <a:rPr lang="en-US" sz="1000" cap="none" spc="0">
                          <a:solidFill>
                            <a:schemeClr val="tx1"/>
                          </a:solidFill>
                        </a:rPr>
                        <a:t>Normality of outcomes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Partially</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a:solidFill>
                            <a:schemeClr val="tx1"/>
                          </a:solidFill>
                        </a:rPr>
                        <a:t>Skewness/kurtosis of variables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35761750"/>
                  </a:ext>
                </a:extLst>
              </a:tr>
              <a:tr h="251741">
                <a:tc>
                  <a:txBody>
                    <a:bodyPr/>
                    <a:lstStyle/>
                    <a:p>
                      <a:pPr>
                        <a:buNone/>
                      </a:pPr>
                      <a:r>
                        <a:rPr lang="en-US" sz="1000" cap="none" spc="0">
                          <a:solidFill>
                            <a:schemeClr val="tx1"/>
                          </a:solidFill>
                        </a:rPr>
                        <a:t>Normality of residuals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17454695"/>
                  </a:ext>
                </a:extLst>
              </a:tr>
              <a:tr h="168619">
                <a:tc>
                  <a:txBody>
                    <a:bodyPr/>
                    <a:lstStyle/>
                    <a:p>
                      <a:pPr>
                        <a:buNone/>
                      </a:pPr>
                      <a:r>
                        <a:rPr lang="en-US" sz="1000" cap="none" spc="0">
                          <a:solidFill>
                            <a:schemeClr val="tx1"/>
                          </a:solidFill>
                        </a:rPr>
                        <a:t>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37801465"/>
                  </a:ext>
                </a:extLst>
              </a:tr>
              <a:tr h="168619">
                <a:tc>
                  <a:txBody>
                    <a:bodyPr/>
                    <a:lstStyle/>
                    <a:p>
                      <a:pPr>
                        <a:buNone/>
                      </a:pPr>
                      <a:r>
                        <a:rPr lang="en-US" sz="1000" cap="none" spc="0">
                          <a:solidFill>
                            <a:schemeClr val="tx1"/>
                          </a:solidFill>
                        </a:rPr>
                        <a:t>Homoscedasticity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74908660"/>
                  </a:ext>
                </a:extLst>
              </a:tr>
              <a:tr h="251741">
                <a:tc>
                  <a:txBody>
                    <a:bodyPr/>
                    <a:lstStyle/>
                    <a:p>
                      <a:pPr>
                        <a:buNone/>
                      </a:pPr>
                      <a:r>
                        <a:rPr lang="en-US" sz="1000" cap="none" spc="0">
                          <a:solidFill>
                            <a:schemeClr val="tx1"/>
                          </a:solidFill>
                        </a:rPr>
                        <a:t>Independence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 clustering or multilevel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49639746"/>
                  </a:ext>
                </a:extLst>
              </a:tr>
              <a:tr h="251741">
                <a:tc>
                  <a:txBody>
                    <a:bodyPr/>
                    <a:lstStyle/>
                    <a:p>
                      <a:pPr>
                        <a:buNone/>
                      </a:pPr>
                      <a:r>
                        <a:rPr lang="en-US" sz="1000" cap="none" spc="0">
                          <a:solidFill>
                            <a:schemeClr val="tx1"/>
                          </a:solidFill>
                        </a:rPr>
                        <a:t>Multicollinearity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 VIFs or diagnostics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472519123"/>
                  </a:ext>
                </a:extLst>
              </a:tr>
              <a:tr h="251741">
                <a:tc>
                  <a:txBody>
                    <a:bodyPr/>
                    <a:lstStyle/>
                    <a:p>
                      <a:pPr>
                        <a:buNone/>
                      </a:pPr>
                      <a:r>
                        <a:rPr lang="en-US" sz="1000" cap="none" spc="0">
                          <a:solidFill>
                            <a:schemeClr val="tx1"/>
                          </a:solidFill>
                        </a:rPr>
                        <a:t>Functional form</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Ordinal treated as continuous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0321839"/>
                  </a:ext>
                </a:extLst>
              </a:tr>
              <a:tr h="168619">
                <a:tc>
                  <a:txBody>
                    <a:bodyPr/>
                    <a:lstStyle/>
                    <a:p>
                      <a:pPr>
                        <a:buNone/>
                      </a:pPr>
                      <a:r>
                        <a:rPr lang="en-US" sz="1000" cap="none" spc="0">
                          <a:solidFill>
                            <a:schemeClr val="tx1"/>
                          </a:solidFill>
                        </a:rPr>
                        <a:t>Missing data (MCAR)</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Yes</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1000" cap="none" spc="0" dirty="0">
                          <a:solidFill>
                            <a:schemeClr val="tx1"/>
                          </a:solidFill>
                        </a:rPr>
                        <a:t>Little’s test + FIML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54191627"/>
                  </a:ext>
                </a:extLst>
              </a:tr>
              <a:tr h="251741">
                <a:tc>
                  <a:txBody>
                    <a:bodyPr/>
                    <a:lstStyle/>
                    <a:p>
                      <a:pPr>
                        <a:buNone/>
                      </a:pPr>
                      <a:r>
                        <a:rPr lang="en-US" sz="1000" cap="none" spc="0">
                          <a:solidFill>
                            <a:schemeClr val="tx1"/>
                          </a:solidFill>
                        </a:rPr>
                        <a:t>Outliers/influence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000" cap="none" spc="0" dirty="0">
                          <a:solidFill>
                            <a:schemeClr val="tx1"/>
                          </a:solidFill>
                        </a:rPr>
                        <a:t>Vague</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1000" cap="none" spc="0" dirty="0">
                          <a:solidFill>
                            <a:schemeClr val="tx1"/>
                          </a:solidFill>
                        </a:rPr>
                        <a:t>Mentioned, not documented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66393848"/>
                  </a:ext>
                </a:extLst>
              </a:tr>
            </a:tbl>
          </a:graphicData>
        </a:graphic>
      </p:graphicFrame>
    </p:spTree>
    <p:extLst>
      <p:ext uri="{BB962C8B-B14F-4D97-AF65-F5344CB8AC3E}">
        <p14:creationId xmlns:p14="http://schemas.microsoft.com/office/powerpoint/2010/main" val="118908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1796</TotalTime>
  <Words>5004</Words>
  <Application>Microsoft Office PowerPoint</Application>
  <PresentationFormat>Custom</PresentationFormat>
  <Paragraphs>924</Paragraphs>
  <Slides>72</Slides>
  <Notes>5</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72</vt:i4>
      </vt:variant>
    </vt:vector>
  </HeadingPairs>
  <TitlesOfParts>
    <vt:vector size="88" baseType="lpstr">
      <vt:lpstr>ＭＳ Ｐゴシック</vt:lpstr>
      <vt:lpstr>Aptos</vt:lpstr>
      <vt:lpstr>Aptos Display</vt:lpstr>
      <vt:lpstr>Arial</vt:lpstr>
      <vt:lpstr>Bookman Old Style</vt:lpstr>
      <vt:lpstr>Cambria Math</vt:lpstr>
      <vt:lpstr>Lucida Grande</vt:lpstr>
      <vt:lpstr>Lucida Sans</vt:lpstr>
      <vt:lpstr>Lucida Sans Unicode</vt:lpstr>
      <vt:lpstr>Palatino Linotype</vt:lpstr>
      <vt:lpstr>Symbol</vt:lpstr>
      <vt:lpstr>Tahoma</vt:lpstr>
      <vt:lpstr>Times New Roman</vt:lpstr>
      <vt:lpstr>Wingdings</vt:lpstr>
      <vt:lpstr>Office Theme</vt:lpstr>
      <vt:lpstr>1_Office Theme</vt:lpstr>
      <vt:lpstr>Introduction to Linear Regression</vt:lpstr>
      <vt:lpstr>Overview</vt:lpstr>
      <vt:lpstr>Modeling numerical variables</vt:lpstr>
      <vt:lpstr>Model selection for continuous dependent variables</vt:lpstr>
      <vt:lpstr>Covariance and Correlation</vt:lpstr>
      <vt:lpstr>Quantifying the relationship</vt:lpstr>
      <vt:lpstr>Quantifying the relationship</vt:lpstr>
      <vt:lpstr>Quantifying the relationship</vt:lpstr>
      <vt:lpstr>Guessing the correlation</vt:lpstr>
      <vt:lpstr>Guessing the correlation</vt:lpstr>
      <vt:lpstr>Assessing the correlation</vt:lpstr>
      <vt:lpstr>Example: Poverty vs. HS graduate rate</vt:lpstr>
      <vt:lpstr>Example: Poverty vs. HS graduate rate</vt:lpstr>
      <vt:lpstr>Example: Poverty vs. HS graduate rate</vt:lpstr>
      <vt:lpstr>Example: Poverty vs. HS graduate rate</vt:lpstr>
      <vt:lpstr>Poverty vs. HS graduate rate</vt:lpstr>
      <vt:lpstr>Poverty vs. HS graduate rate</vt:lpstr>
      <vt:lpstr>PowerPoint Presentation</vt:lpstr>
      <vt:lpstr>Uses of Linear Regression Analysis</vt:lpstr>
      <vt:lpstr>What is Simple Linear Regression (SLR)?</vt:lpstr>
      <vt:lpstr>Linear regression –Terminology</vt:lpstr>
      <vt:lpstr>What is SLR Useful For?</vt:lpstr>
      <vt:lpstr>Introduction: Linear Regression</vt:lpstr>
      <vt:lpstr>Functional Form (the equation we learned)</vt:lpstr>
      <vt:lpstr>The Model</vt:lpstr>
      <vt:lpstr>PowerPoint Presentation</vt:lpstr>
      <vt:lpstr>PowerPoint Presentation</vt:lpstr>
      <vt:lpstr>A more realistic example</vt:lpstr>
      <vt:lpstr>Introduction: Linear Regression</vt:lpstr>
      <vt:lpstr>Eyeballing the line</vt:lpstr>
      <vt:lpstr>Residuals</vt:lpstr>
      <vt:lpstr>Residuals (cont.)</vt:lpstr>
      <vt:lpstr>Residuals (cont.)</vt:lpstr>
      <vt:lpstr>Residuals (cont.)</vt:lpstr>
      <vt:lpstr>Fitting a line by least squares regression</vt:lpstr>
      <vt:lpstr>Formal statement of the model</vt:lpstr>
      <vt:lpstr>PowerPoint Presentation</vt:lpstr>
      <vt:lpstr>PowerPoint Presentation</vt:lpstr>
      <vt:lpstr>PowerPoint Presentation</vt:lpstr>
      <vt:lpstr>Estimating the model parameters?</vt:lpstr>
      <vt:lpstr>The Least Squares (Regression) Line</vt:lpstr>
      <vt:lpstr>PowerPoint Presentation</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Interpretation of slope and intercept</vt:lpstr>
      <vt:lpstr>The Estimated Coefficients (Intuition)</vt:lpstr>
      <vt:lpstr>Given...</vt:lpstr>
      <vt:lpstr>PowerPoint Presentation</vt:lpstr>
      <vt:lpstr>Slope</vt:lpstr>
      <vt:lpstr>Slope</vt:lpstr>
      <vt:lpstr>Intercept</vt:lpstr>
      <vt:lpstr>Intercept</vt:lpstr>
      <vt:lpstr>Intercept</vt:lpstr>
      <vt:lpstr>PowerPoint Presentation</vt:lpstr>
      <vt:lpstr>More on the intercept</vt:lpstr>
      <vt:lpstr>PowerPoint Presentation</vt:lpstr>
      <vt:lpstr>Prediction</vt:lpstr>
      <vt:lpstr>Extrapolation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Interpretation of R2</vt:lpstr>
      <vt:lpstr>Exploring the relationships between self-care and well-being outcomes among child welfare professionals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Introduction to linear regression</dc:title>
  <dc:creator>OpenIntro Statistics, 4th Edition</dc:creator>
  <cp:lastModifiedBy>Barboza-Salerno, Gia</cp:lastModifiedBy>
  <cp:revision>58</cp:revision>
  <dcterms:created xsi:type="dcterms:W3CDTF">2025-01-26T20:08:14Z</dcterms:created>
  <dcterms:modified xsi:type="dcterms:W3CDTF">2026-01-26T23:12:15Z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2021-08-18T00:00:00Z</vt:filetime>
  </property>
  <property fmtid="{D5CDD505-2E9C-101B-9397-08002B2CF9AE}" pid="3" name="Creator">
    <vt:lpwstr>LaTeX with Beamer class</vt:lpwstr>
  </property>
  <property fmtid="{D5CDD505-2E9C-101B-9397-08002B2CF9AE}" pid="4" name="LastSaved">
    <vt:filetime>2025-01-26T00:00:00Z</vt:filetime>
  </property>
  <property fmtid="{D5CDD505-2E9C-101B-9397-08002B2CF9AE}" pid="5" name="PTEX.Fullbanner">
    <vt:lpwstr>This is pdfTeX, Version 3.14159265-2.6-1.40.20 (TeX Live 2019/Debian) kpathsea version 6.3.1</vt:lpwstr>
  </property>
  <property fmtid="{D5CDD505-2E9C-101B-9397-08002B2CF9AE}" pid="6" name="Producer">
    <vt:lpwstr>pdfTeX-1.40.20</vt:lpwstr>
  </property>
</Properties>
</file>