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7" r:id="rId3"/>
    <p:sldId id="346" r:id="rId4"/>
    <p:sldId id="269" r:id="rId5"/>
    <p:sldId id="258" r:id="rId6"/>
    <p:sldId id="259" r:id="rId7"/>
    <p:sldId id="331" r:id="rId8"/>
    <p:sldId id="260" r:id="rId9"/>
    <p:sldId id="265" r:id="rId10"/>
    <p:sldId id="266" r:id="rId11"/>
    <p:sldId id="261" r:id="rId12"/>
    <p:sldId id="262" r:id="rId13"/>
    <p:sldId id="263" r:id="rId14"/>
    <p:sldId id="309" r:id="rId15"/>
    <p:sldId id="289" r:id="rId16"/>
    <p:sldId id="290" r:id="rId17"/>
    <p:sldId id="314" r:id="rId18"/>
    <p:sldId id="344" r:id="rId19"/>
    <p:sldId id="345" r:id="rId20"/>
    <p:sldId id="347" r:id="rId21"/>
    <p:sldId id="264" r:id="rId22"/>
    <p:sldId id="348" r:id="rId23"/>
    <p:sldId id="301" r:id="rId24"/>
    <p:sldId id="349" r:id="rId25"/>
    <p:sldId id="303" r:id="rId26"/>
    <p:sldId id="364" r:id="rId27"/>
    <p:sldId id="292" r:id="rId28"/>
    <p:sldId id="350" r:id="rId29"/>
    <p:sldId id="332" r:id="rId30"/>
    <p:sldId id="273" r:id="rId31"/>
    <p:sldId id="306" r:id="rId32"/>
    <p:sldId id="267" r:id="rId33"/>
    <p:sldId id="293" r:id="rId34"/>
    <p:sldId id="294" r:id="rId35"/>
    <p:sldId id="307" r:id="rId36"/>
    <p:sldId id="295" r:id="rId37"/>
    <p:sldId id="330" r:id="rId38"/>
    <p:sldId id="329" r:id="rId39"/>
    <p:sldId id="335" r:id="rId40"/>
    <p:sldId id="336" r:id="rId41"/>
    <p:sldId id="276" r:id="rId42"/>
    <p:sldId id="354" r:id="rId43"/>
    <p:sldId id="296" r:id="rId44"/>
    <p:sldId id="352" r:id="rId45"/>
    <p:sldId id="278" r:id="rId46"/>
    <p:sldId id="353" r:id="rId47"/>
    <p:sldId id="279" r:id="rId48"/>
    <p:sldId id="299" r:id="rId49"/>
    <p:sldId id="355" r:id="rId50"/>
    <p:sldId id="287" r:id="rId51"/>
    <p:sldId id="280" r:id="rId52"/>
    <p:sldId id="298" r:id="rId53"/>
    <p:sldId id="334" r:id="rId54"/>
    <p:sldId id="339" r:id="rId55"/>
    <p:sldId id="312" r:id="rId56"/>
    <p:sldId id="313" r:id="rId57"/>
    <p:sldId id="315" r:id="rId58"/>
    <p:sldId id="300" r:id="rId59"/>
    <p:sldId id="281" r:id="rId60"/>
    <p:sldId id="285" r:id="rId61"/>
    <p:sldId id="357" r:id="rId62"/>
    <p:sldId id="305" r:id="rId63"/>
    <p:sldId id="304" r:id="rId64"/>
    <p:sldId id="358" r:id="rId65"/>
    <p:sldId id="359" r:id="rId66"/>
    <p:sldId id="360" r:id="rId67"/>
    <p:sldId id="361" r:id="rId68"/>
    <p:sldId id="291" r:id="rId69"/>
    <p:sldId id="362" r:id="rId70"/>
    <p:sldId id="363" r:id="rId71"/>
    <p:sldId id="282" r:id="rId72"/>
    <p:sldId id="286" r:id="rId73"/>
    <p:sldId id="33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5328" autoAdjust="0"/>
  </p:normalViewPr>
  <p:slideViewPr>
    <p:cSldViewPr snapToGrid="0">
      <p:cViewPr varScale="1">
        <p:scale>
          <a:sx n="50" d="100"/>
          <a:sy n="50" d="100"/>
        </p:scale>
        <p:origin x="1834" y="4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234E2D-E6E5-4D3D-8239-F4FA528A0DE3}"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0D8CB-5069-48A5-A31E-868D687857E9}" type="slidenum">
              <a:rPr lang="en-US" smtClean="0"/>
              <a:t>‹#›</a:t>
            </a:fld>
            <a:endParaRPr lang="en-US"/>
          </a:p>
        </p:txBody>
      </p:sp>
    </p:spTree>
    <p:extLst>
      <p:ext uri="{BB962C8B-B14F-4D97-AF65-F5344CB8AC3E}">
        <p14:creationId xmlns:p14="http://schemas.microsoft.com/office/powerpoint/2010/main" val="4006025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1</a:t>
            </a:fld>
            <a:endParaRPr lang="en-US"/>
          </a:p>
        </p:txBody>
      </p:sp>
    </p:spTree>
    <p:extLst>
      <p:ext uri="{BB962C8B-B14F-4D97-AF65-F5344CB8AC3E}">
        <p14:creationId xmlns:p14="http://schemas.microsoft.com/office/powerpoint/2010/main" val="3605035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The </a:t>
                </a:r>
                <a:r>
                  <a:rPr lang="en-US" b="1" dirty="0"/>
                  <a:t>Factor</a:t>
                </a:r>
                <a:r>
                  <a:rPr lang="en-US" dirty="0"/>
                  <a:t> is unobserved (latent) </a:t>
                </a:r>
              </a:p>
              <a:p>
                <a:r>
                  <a:rPr lang="en-US" dirty="0"/>
                  <a:t>The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𝑌</m:t>
                        </m:r>
                      </m:e>
                      <m:sub>
                        <m:r>
                          <a:rPr lang="ar-AE" sz="1200" i="0" kern="1200">
                            <a:solidFill>
                              <a:schemeClr val="tx1"/>
                            </a:solidFill>
                            <a:latin typeface="+mn-lt"/>
                            <a:ea typeface="+mn-ea"/>
                            <a:cs typeface="+mn-cs"/>
                          </a:rPr>
                          <m:t>1</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𝑌</m:t>
                        </m:r>
                      </m:e>
                      <m:sub>
                        <m:r>
                          <a:rPr lang="ar-AE" sz="1200" i="0" kern="1200">
                            <a:solidFill>
                              <a:schemeClr val="tx1"/>
                            </a:solidFill>
                            <a:latin typeface="+mn-lt"/>
                            <a:ea typeface="+mn-ea"/>
                            <a:cs typeface="+mn-cs"/>
                          </a:rPr>
                          <m:t>2</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𝑌</m:t>
                        </m:r>
                      </m:e>
                      <m:sub>
                        <m:r>
                          <a:rPr lang="ar-AE" sz="1200" i="0" kern="1200">
                            <a:solidFill>
                              <a:schemeClr val="tx1"/>
                            </a:solidFill>
                            <a:latin typeface="+mn-lt"/>
                            <a:ea typeface="+mn-ea"/>
                            <a:cs typeface="+mn-cs"/>
                          </a:rPr>
                          <m:t>3</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𝑌</m:t>
                        </m:r>
                      </m:e>
                      <m:sub>
                        <m:r>
                          <a:rPr lang="ar-AE" sz="1200" i="0" kern="1200">
                            <a:solidFill>
                              <a:schemeClr val="tx1"/>
                            </a:solidFill>
                            <a:latin typeface="+mn-lt"/>
                            <a:ea typeface="+mn-ea"/>
                            <a:cs typeface="+mn-cs"/>
                          </a:rPr>
                          <m:t>4</m:t>
                        </m:r>
                      </m:sub>
                    </m:sSub>
                  </m:oMath>
                </a14:m>
                <a:r>
                  <a:rPr lang="en-US" dirty="0"/>
                  <a:t>are observed indicators </a:t>
                </a:r>
              </a:p>
              <a:p>
                <a:r>
                  <a:rPr lang="en-US" dirty="0"/>
                  <a:t>Each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𝑒</m:t>
                        </m:r>
                      </m:e>
                      <m:sub>
                        <m:r>
                          <a:rPr lang="ar-AE" sz="1200" i="0" kern="1200">
                            <a:solidFill>
                              <a:schemeClr val="tx1"/>
                            </a:solidFill>
                            <a:latin typeface="+mn-lt"/>
                            <a:ea typeface="+mn-ea"/>
                            <a:cs typeface="+mn-cs"/>
                          </a:rPr>
                          <m:t>1</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𝑒</m:t>
                        </m:r>
                      </m:e>
                      <m:sub>
                        <m:r>
                          <a:rPr lang="ar-AE" sz="1200" i="0" kern="1200">
                            <a:solidFill>
                              <a:schemeClr val="tx1"/>
                            </a:solidFill>
                            <a:latin typeface="+mn-lt"/>
                            <a:ea typeface="+mn-ea"/>
                            <a:cs typeface="+mn-cs"/>
                          </a:rPr>
                          <m:t>2</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𝑒</m:t>
                        </m:r>
                      </m:e>
                      <m:sub>
                        <m:r>
                          <a:rPr lang="ar-AE" sz="1200" i="0" kern="1200">
                            <a:solidFill>
                              <a:schemeClr val="tx1"/>
                            </a:solidFill>
                            <a:latin typeface="+mn-lt"/>
                            <a:ea typeface="+mn-ea"/>
                            <a:cs typeface="+mn-cs"/>
                          </a:rPr>
                          <m:t>3</m:t>
                        </m:r>
                      </m:sub>
                    </m:sSub>
                    <m:r>
                      <a:rPr lang="ar-AE" sz="1200" i="0" kern="1200">
                        <a:solidFill>
                          <a:schemeClr val="tx1"/>
                        </a:solidFill>
                        <a:latin typeface="+mn-lt"/>
                        <a:ea typeface="+mn-ea"/>
                        <a:cs typeface="+mn-cs"/>
                      </a:rPr>
                      <m:t>,</m:t>
                    </m:r>
                    <m:sSub>
                      <m:sSubPr>
                        <m:ctrlPr>
                          <a:rPr lang="ar-AE" sz="1200" i="1" kern="1200">
                            <a:solidFill>
                              <a:schemeClr val="tx1"/>
                            </a:solidFill>
                            <a:latin typeface="+mn-lt"/>
                            <a:ea typeface="+mn-ea"/>
                            <a:cs typeface="+mn-cs"/>
                          </a:rPr>
                        </m:ctrlPr>
                      </m:sSubPr>
                      <m:e>
                        <m:r>
                          <a:rPr lang="ar-AE" sz="1200" i="1" kern="1200">
                            <a:solidFill>
                              <a:schemeClr val="tx1"/>
                            </a:solidFill>
                            <a:latin typeface="+mn-lt"/>
                            <a:ea typeface="+mn-ea"/>
                            <a:cs typeface="+mn-cs"/>
                          </a:rPr>
                          <m:t>𝑒</m:t>
                        </m:r>
                      </m:e>
                      <m:sub>
                        <m:r>
                          <a:rPr lang="ar-AE" sz="1200" i="0" kern="1200">
                            <a:solidFill>
                              <a:schemeClr val="tx1"/>
                            </a:solidFill>
                            <a:latin typeface="+mn-lt"/>
                            <a:ea typeface="+mn-ea"/>
                            <a:cs typeface="+mn-cs"/>
                          </a:rPr>
                          <m:t>4</m:t>
                        </m:r>
                      </m:sub>
                    </m:sSub>
                  </m:oMath>
                </a14:m>
                <a:r>
                  <a:rPr lang="en-US" dirty="0"/>
                  <a:t>is </a:t>
                </a:r>
                <a:r>
                  <a:rPr lang="en-US" b="1" dirty="0"/>
                  <a:t>measurement error / uniqueness</a:t>
                </a:r>
                <a:endParaRPr lang="en-US" dirty="0"/>
              </a:p>
              <a:p>
                <a:endParaRPr lang="en-US" dirty="0"/>
              </a:p>
              <a:p>
                <a:r>
                  <a:rPr lang="en-US" dirty="0"/>
                  <a:t>The </a:t>
                </a:r>
                <a:r>
                  <a:rPr lang="en-US" b="1" dirty="0"/>
                  <a:t>Component</a:t>
                </a:r>
                <a:r>
                  <a:rPr lang="en-US" dirty="0"/>
                  <a:t> is just a weighted combination of </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𝑌</m:t>
                        </m:r>
                      </m:e>
                      <m:sub>
                        <m:r>
                          <a:rPr lang="ar-AE" sz="1200" i="0" kern="1200">
                            <a:solidFill>
                              <a:schemeClr val="tx1"/>
                            </a:solidFill>
                            <a:latin typeface="+mn-lt"/>
                            <a:ea typeface="+mn-ea"/>
                            <a:cs typeface="+mn-cs"/>
                          </a:rPr>
                          <m:t>1</m:t>
                        </m:r>
                      </m:sub>
                    </m:sSub>
                  </m:oMath>
                </a14:m>
                <a:r>
                  <a:rPr lang="ar-AE" dirty="0"/>
                  <a:t>–</a:t>
                </a:r>
                <a14:m>
                  <m:oMath xmlns:m="http://schemas.openxmlformats.org/officeDocument/2006/math">
                    <m:sSub>
                      <m:sSubPr>
                        <m:ctrlPr>
                          <a:rPr lang="ar-AE" sz="1200" kern="1200">
                            <a:solidFill>
                              <a:schemeClr val="tx1"/>
                            </a:solidFill>
                            <a:latin typeface="+mn-lt"/>
                            <a:ea typeface="+mn-ea"/>
                            <a:cs typeface="+mn-cs"/>
                          </a:rPr>
                        </m:ctrlPr>
                      </m:sSubPr>
                      <m:e>
                        <m:r>
                          <a:rPr lang="ar-AE" sz="1200" i="1" kern="1200">
                            <a:solidFill>
                              <a:schemeClr val="tx1"/>
                            </a:solidFill>
                            <a:latin typeface="+mn-lt"/>
                            <a:ea typeface="+mn-ea"/>
                            <a:cs typeface="+mn-cs"/>
                          </a:rPr>
                          <m:t>𝑌</m:t>
                        </m:r>
                      </m:e>
                      <m:sub>
                        <m:r>
                          <a:rPr lang="ar-AE" sz="1200" i="0" kern="1200">
                            <a:solidFill>
                              <a:schemeClr val="tx1"/>
                            </a:solidFill>
                            <a:latin typeface="+mn-lt"/>
                            <a:ea typeface="+mn-ea"/>
                            <a:cs typeface="+mn-cs"/>
                          </a:rPr>
                          <m:t>4</m:t>
                        </m:r>
                      </m:sub>
                    </m:sSub>
                  </m:oMath>
                </a14:m>
                <a:r>
                  <a:rPr lang="ar-AE" dirty="0"/>
                  <a:t> </a:t>
                </a:r>
                <a:r>
                  <a:rPr lang="en-US" dirty="0"/>
                  <a:t>There is </a:t>
                </a:r>
                <a:r>
                  <a:rPr lang="en-US" b="1" dirty="0"/>
                  <a:t>no error term modeled separately</a:t>
                </a:r>
                <a:r>
                  <a:rPr lang="en-US" dirty="0"/>
                  <a:t> There is </a:t>
                </a:r>
                <a:r>
                  <a:rPr lang="en-US" b="1" dirty="0"/>
                  <a:t>no latent construct being tested</a:t>
                </a:r>
                <a:endParaRPr lang="en-US" dirty="0"/>
              </a:p>
            </p:txBody>
          </p:sp>
        </mc:Choice>
        <mc:Fallback>
          <p:sp>
            <p:nvSpPr>
              <p:cNvPr id="3" name="Notes Placeholder 2"/>
              <p:cNvSpPr>
                <a:spLocks noGrp="1"/>
              </p:cNvSpPr>
              <p:nvPr>
                <p:ph type="body" idx="1"/>
              </p:nvPr>
            </p:nvSpPr>
            <p:spPr/>
            <p:txBody>
              <a:bodyPr/>
              <a:lstStyle/>
              <a:p>
                <a:r>
                  <a:rPr lang="en-US" dirty="0"/>
                  <a:t>The </a:t>
                </a:r>
                <a:r>
                  <a:rPr lang="en-US" b="1" dirty="0"/>
                  <a:t>Factor</a:t>
                </a:r>
                <a:r>
                  <a:rPr lang="en-US" dirty="0"/>
                  <a:t> is unobserved (latent) </a:t>
                </a:r>
              </a:p>
              <a:p>
                <a:r>
                  <a:rPr lang="en-US" dirty="0"/>
                  <a:t>The </a:t>
                </a:r>
                <a:r>
                  <a:rPr lang="ar-AE" sz="1200" i="0" kern="1200">
                    <a:solidFill>
                      <a:schemeClr val="tx1"/>
                    </a:solidFill>
                    <a:latin typeface="+mn-lt"/>
                    <a:ea typeface="+mn-ea"/>
                    <a:cs typeface="+mn-cs"/>
                  </a:rPr>
                  <a:t>𝑌_1,𝑌_2,𝑌_3,𝑌_4</a:t>
                </a:r>
                <a:r>
                  <a:rPr lang="en-US" dirty="0"/>
                  <a:t>are observed indicators </a:t>
                </a:r>
              </a:p>
              <a:p>
                <a:r>
                  <a:rPr lang="en-US" dirty="0"/>
                  <a:t>Each </a:t>
                </a:r>
                <a:r>
                  <a:rPr lang="ar-AE" sz="1200" i="0" kern="1200">
                    <a:solidFill>
                      <a:schemeClr val="tx1"/>
                    </a:solidFill>
                    <a:latin typeface="+mn-lt"/>
                    <a:ea typeface="+mn-ea"/>
                    <a:cs typeface="+mn-cs"/>
                  </a:rPr>
                  <a:t>𝑒_1,𝑒_2,𝑒_3,𝑒_4</a:t>
                </a:r>
                <a:r>
                  <a:rPr lang="en-US" dirty="0"/>
                  <a:t>is </a:t>
                </a:r>
                <a:r>
                  <a:rPr lang="en-US" b="1" dirty="0"/>
                  <a:t>measurement error / uniqueness</a:t>
                </a:r>
                <a:endParaRPr lang="en-US" dirty="0"/>
              </a:p>
              <a:p>
                <a:endParaRPr lang="en-US" dirty="0"/>
              </a:p>
              <a:p>
                <a:r>
                  <a:rPr lang="en-US" dirty="0"/>
                  <a:t>The </a:t>
                </a:r>
                <a:r>
                  <a:rPr lang="en-US" b="1" dirty="0"/>
                  <a:t>Component</a:t>
                </a:r>
                <a:r>
                  <a:rPr lang="en-US" dirty="0"/>
                  <a:t> is just a weighted combination of </a:t>
                </a:r>
                <a:r>
                  <a:rPr lang="ar-AE" sz="1200" i="0" kern="1200">
                    <a:solidFill>
                      <a:schemeClr val="tx1"/>
                    </a:solidFill>
                    <a:latin typeface="+mn-lt"/>
                    <a:ea typeface="+mn-ea"/>
                    <a:cs typeface="+mn-cs"/>
                  </a:rPr>
                  <a:t>𝑌_1</a:t>
                </a:r>
                <a:r>
                  <a:rPr lang="ar-AE" dirty="0"/>
                  <a:t>–</a:t>
                </a:r>
                <a:r>
                  <a:rPr lang="ar-AE" sz="1200" i="0" kern="1200">
                    <a:solidFill>
                      <a:schemeClr val="tx1"/>
                    </a:solidFill>
                    <a:latin typeface="+mn-lt"/>
                    <a:ea typeface="+mn-ea"/>
                    <a:cs typeface="+mn-cs"/>
                  </a:rPr>
                  <a:t>𝑌_4</a:t>
                </a:r>
                <a:r>
                  <a:rPr lang="ar-AE" dirty="0"/>
                  <a:t> </a:t>
                </a:r>
                <a:r>
                  <a:rPr lang="en-US" dirty="0"/>
                  <a:t>There is </a:t>
                </a:r>
                <a:r>
                  <a:rPr lang="en-US" b="1" dirty="0"/>
                  <a:t>no error term modeled separately</a:t>
                </a:r>
                <a:r>
                  <a:rPr lang="en-US" dirty="0"/>
                  <a:t> There is </a:t>
                </a:r>
                <a:r>
                  <a:rPr lang="en-US" b="1" dirty="0"/>
                  <a:t>no latent construct being tested</a:t>
                </a:r>
                <a:endParaRPr lang="en-US" dirty="0"/>
              </a:p>
            </p:txBody>
          </p:sp>
        </mc:Fallback>
      </mc:AlternateContent>
      <p:sp>
        <p:nvSpPr>
          <p:cNvPr id="4" name="Slide Number Placeholder 3"/>
          <p:cNvSpPr>
            <a:spLocks noGrp="1"/>
          </p:cNvSpPr>
          <p:nvPr>
            <p:ph type="sldNum" sz="quarter" idx="5"/>
          </p:nvPr>
        </p:nvSpPr>
        <p:spPr/>
        <p:txBody>
          <a:bodyPr/>
          <a:lstStyle/>
          <a:p>
            <a:fld id="{AB40D8CB-5069-48A5-A31E-868D687857E9}" type="slidenum">
              <a:rPr lang="en-US" smtClean="0"/>
              <a:t>8</a:t>
            </a:fld>
            <a:endParaRPr lang="en-US"/>
          </a:p>
        </p:txBody>
      </p:sp>
    </p:spTree>
    <p:extLst>
      <p:ext uri="{BB962C8B-B14F-4D97-AF65-F5344CB8AC3E}">
        <p14:creationId xmlns:p14="http://schemas.microsoft.com/office/powerpoint/2010/main" val="3928887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multi-factor measurement model where three latent constructs, growing investment, disinvestment and Sustained investment, are used to explain patterns of correlation across observed neighborhood-level indicators (e.g., redlining score, social vulnerability, lending practices). These are </a:t>
            </a:r>
            <a:r>
              <a:rPr lang="en-US" i="1" dirty="0"/>
              <a:t>manifest variables</a:t>
            </a:r>
            <a:r>
              <a:rPr lang="en-US" dirty="0"/>
              <a:t> that reflect the underlying latent constructs</a:t>
            </a:r>
          </a:p>
        </p:txBody>
      </p:sp>
      <p:sp>
        <p:nvSpPr>
          <p:cNvPr id="4" name="Slide Number Placeholder 3"/>
          <p:cNvSpPr>
            <a:spLocks noGrp="1"/>
          </p:cNvSpPr>
          <p:nvPr>
            <p:ph type="sldNum" sz="quarter" idx="5"/>
          </p:nvPr>
        </p:nvSpPr>
        <p:spPr/>
        <p:txBody>
          <a:bodyPr/>
          <a:lstStyle/>
          <a:p>
            <a:fld id="{AB40D8CB-5069-48A5-A31E-868D687857E9}" type="slidenum">
              <a:rPr lang="en-US" smtClean="0"/>
              <a:t>10</a:t>
            </a:fld>
            <a:endParaRPr lang="en-US"/>
          </a:p>
        </p:txBody>
      </p:sp>
    </p:spTree>
    <p:extLst>
      <p:ext uri="{BB962C8B-B14F-4D97-AF65-F5344CB8AC3E}">
        <p14:creationId xmlns:p14="http://schemas.microsoft.com/office/powerpoint/2010/main" val="69054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multi-factor measurement model where three latent constructs—GI, DI, and SI—are used to explain patterns of correlation across observed neighborhood-level indicators.”</a:t>
            </a:r>
          </a:p>
        </p:txBody>
      </p:sp>
      <p:sp>
        <p:nvSpPr>
          <p:cNvPr id="4" name="Slide Number Placeholder 3"/>
          <p:cNvSpPr>
            <a:spLocks noGrp="1"/>
          </p:cNvSpPr>
          <p:nvPr>
            <p:ph type="sldNum" sz="quarter" idx="5"/>
          </p:nvPr>
        </p:nvSpPr>
        <p:spPr/>
        <p:txBody>
          <a:bodyPr/>
          <a:lstStyle/>
          <a:p>
            <a:fld id="{AB40D8CB-5069-48A5-A31E-868D687857E9}" type="slidenum">
              <a:rPr lang="en-US" smtClean="0"/>
              <a:t>11</a:t>
            </a:fld>
            <a:endParaRPr lang="en-US"/>
          </a:p>
        </p:txBody>
      </p:sp>
    </p:spTree>
    <p:extLst>
      <p:ext uri="{BB962C8B-B14F-4D97-AF65-F5344CB8AC3E}">
        <p14:creationId xmlns:p14="http://schemas.microsoft.com/office/powerpoint/2010/main" val="1254687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Example: If you have 20 variables → you need more than 20 people </a:t>
            </a:r>
            <a:r>
              <a:rPr lang="en-US" dirty="0"/>
              <a:t>otherwise, the correlation matrix can’t even be properly estimated. But this alone is NOT enough.</a:t>
            </a:r>
            <a:endParaRPr lang="en-US" b="0" dirty="0"/>
          </a:p>
        </p:txBody>
      </p:sp>
      <p:sp>
        <p:nvSpPr>
          <p:cNvPr id="4" name="Slide Number Placeholder 3"/>
          <p:cNvSpPr>
            <a:spLocks noGrp="1"/>
          </p:cNvSpPr>
          <p:nvPr>
            <p:ph type="sldNum" sz="quarter" idx="5"/>
          </p:nvPr>
        </p:nvSpPr>
        <p:spPr/>
        <p:txBody>
          <a:bodyPr/>
          <a:lstStyle/>
          <a:p>
            <a:fld id="{AB40D8CB-5069-48A5-A31E-868D687857E9}" type="slidenum">
              <a:rPr lang="en-US" smtClean="0"/>
              <a:t>24</a:t>
            </a:fld>
            <a:endParaRPr lang="en-US"/>
          </a:p>
        </p:txBody>
      </p:sp>
    </p:spTree>
    <p:extLst>
      <p:ext uri="{BB962C8B-B14F-4D97-AF65-F5344CB8AC3E}">
        <p14:creationId xmlns:p14="http://schemas.microsoft.com/office/powerpoint/2010/main" val="682555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Before we dive into factor analysis, we need to make sure our data </a:t>
            </a:r>
            <a:r>
              <a:rPr lang="en-US" b="0" i="1" dirty="0"/>
              <a:t>deserves</a:t>
            </a:r>
            <a:r>
              <a:rPr lang="en-US" b="0" dirty="0"/>
              <a:t> it.</a:t>
            </a:r>
          </a:p>
          <a:p>
            <a:pPr>
              <a:buFont typeface="Arial" panose="020B0604020202020204" pitchFamily="34" charset="0"/>
              <a:buChar char="•"/>
            </a:pPr>
            <a:r>
              <a:rPr lang="en-US" b="0" dirty="0"/>
              <a:t>Check the correlations: Factor analysis assumes that variables share enough variance to justify summarizing them. If most correlations are below .30, it’s a sign that the variables aren’t linked strongly enough—no shared structure means no meaningful factors.</a:t>
            </a:r>
          </a:p>
          <a:p>
            <a:pPr>
              <a:buFont typeface="Arial" panose="020B0604020202020204" pitchFamily="34" charset="0"/>
              <a:buChar char="•"/>
            </a:pPr>
            <a:r>
              <a:rPr lang="en-US" b="0" dirty="0"/>
              <a:t>Partial correlations matter: High partial correlations (&gt;.70) suggest that variables remain strongly correlated even after accounting for others. That implies a lack of common factors—essentially, the variables aren't playing as a team.</a:t>
            </a:r>
          </a:p>
          <a:p>
            <a:pPr>
              <a:buFont typeface="Arial" panose="020B0604020202020204" pitchFamily="34" charset="0"/>
              <a:buChar char="•"/>
            </a:pPr>
            <a:r>
              <a:rPr lang="en-US" b="0" dirty="0"/>
              <a:t>Bartlett’s test of sphericity: This test tells us whether our correlation matrix is significantly different from an identity matrix. A significant result means the data has enough structure to proceed. A non-significant test suggests random noise—nothing to extract.</a:t>
            </a:r>
          </a:p>
          <a:p>
            <a:pPr>
              <a:buFont typeface="Arial" panose="020B0604020202020204" pitchFamily="34" charset="0"/>
              <a:buChar char="•"/>
            </a:pPr>
            <a:r>
              <a:rPr lang="en-US" b="0" dirty="0"/>
              <a:t>Kaiser-Meyer-Olkin (KMO) Measure of Sampling Adequacy: This index tells us how well-suited the data is for factor analysis. Values closer to 1.0 are ideal. A rule of thumb: .80 and above = great, .60s = mediocre, below .50 = don't do it.</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2285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talk about </a:t>
            </a:r>
            <a:r>
              <a:rPr lang="en-US" b="0" i="1" dirty="0"/>
              <a:t>this</a:t>
            </a:r>
            <a:r>
              <a:rPr lang="en-US" b="0" dirty="0"/>
              <a:t> matrix.</a:t>
            </a:r>
          </a:p>
          <a:p>
            <a:r>
              <a:rPr lang="en-US" b="0" dirty="0"/>
              <a:t>What you’re looking at is an identity matrix: all the diagonal elements are 1 (perfect correlation with themselves), and all the off-diagonal elements are 0 (no correlation with anyone else).</a:t>
            </a:r>
          </a:p>
          <a:p>
            <a:r>
              <a:rPr lang="en-US" b="0" dirty="0"/>
              <a:t>Translation:</a:t>
            </a:r>
            <a:br>
              <a:rPr lang="en-US" b="0" dirty="0"/>
            </a:br>
            <a:r>
              <a:rPr lang="en-US" b="0" dirty="0"/>
              <a:t>These variables are operating in silos. They don’t share variance, they’re not communicating, and there’s no underlying factor tying them together.</a:t>
            </a:r>
          </a:p>
          <a:p>
            <a:r>
              <a:rPr lang="en-US" b="0" dirty="0"/>
              <a:t>Big red flag:</a:t>
            </a:r>
            <a:br>
              <a:rPr lang="en-US" b="0" dirty="0"/>
            </a:br>
            <a:r>
              <a:rPr lang="en-US" b="0" dirty="0"/>
              <a:t>If your correlation matrix looks like this, don’t run factor analysis. There are no latent constructs to uncover—this is statistical isolation, not structure.</a:t>
            </a:r>
          </a:p>
          <a:p>
            <a:r>
              <a:rPr lang="en-US" b="0" dirty="0"/>
              <a:t>Bartlett’s test would likely be non-significant here, confirming the lack of relationship. KMO would be low, too. So the message is simple: if your data looks like this, stop here.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29</a:t>
            </a:fld>
            <a:endParaRPr lang="en-US"/>
          </a:p>
        </p:txBody>
      </p:sp>
    </p:spTree>
    <p:extLst>
      <p:ext uri="{BB962C8B-B14F-4D97-AF65-F5344CB8AC3E}">
        <p14:creationId xmlns:p14="http://schemas.microsoft.com/office/powerpoint/2010/main" val="2356559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To justify running factor analysis, your data needs to show enough shared variance—and we’ve got a few tools to check that.</a:t>
            </a:r>
          </a:p>
          <a:p>
            <a:pPr>
              <a:buFont typeface="Arial" panose="020B0604020202020204" pitchFamily="34" charset="0"/>
              <a:buChar char="•"/>
            </a:pPr>
            <a:r>
              <a:rPr lang="en-US" b="0" dirty="0"/>
              <a:t>Correlation coefficients (&gt; .30): Think of this as the minimum level of connection we’re looking for. If variables don’t correlate at least moderately, they likely don’t share enough variance to be grouped under a latent factor.</a:t>
            </a:r>
          </a:p>
          <a:p>
            <a:pPr>
              <a:buFont typeface="Arial" panose="020B0604020202020204" pitchFamily="34" charset="0"/>
              <a:buChar char="•"/>
            </a:pPr>
            <a:r>
              <a:rPr lang="en-US" b="0" dirty="0"/>
              <a:t>Bartlett’s Test of Sphericity:</a:t>
            </a:r>
            <a:br>
              <a:rPr lang="en-US" b="0" dirty="0"/>
            </a:br>
            <a:r>
              <a:rPr lang="en-US" b="0" dirty="0"/>
              <a:t>The null hypothesis says the correlation matrix is an identity matrix—meaning variables are uncorrelated.</a:t>
            </a:r>
            <a:br>
              <a:rPr lang="en-US" b="0" dirty="0"/>
            </a:br>
            <a:r>
              <a:rPr lang="en-US" b="0" dirty="0"/>
              <a:t>But for factor analysis, we want overlap. So a significant result (p &lt; .05) means we can reject the null and conclude that our variables are correlated enough to proceed. The next slide has an example of what the identity matrix looks like so you have some intuition about it.</a:t>
            </a:r>
          </a:p>
          <a:p>
            <a:pPr>
              <a:buFont typeface="Arial" panose="020B0604020202020204" pitchFamily="34" charset="0"/>
              <a:buChar char="•"/>
            </a:pPr>
            <a:r>
              <a:rPr lang="en-US" b="0" dirty="0"/>
              <a:t>Anti-Image Correlation Matrix:</a:t>
            </a:r>
            <a:br>
              <a:rPr lang="en-US" b="0" dirty="0"/>
            </a:br>
            <a:r>
              <a:rPr lang="en-US" b="0" dirty="0"/>
              <a:t>This matrix shows partial correlations, helping us identify variables that may not fit well with the rest. Large off-diagonal values here signal trouble—variables that don’t contribute to shared structure.</a:t>
            </a:r>
          </a:p>
          <a:p>
            <a:pPr>
              <a:buFont typeface="Arial" panose="020B0604020202020204" pitchFamily="34" charset="0"/>
              <a:buChar char="•"/>
            </a:pPr>
            <a:r>
              <a:rPr lang="en-US" b="0" dirty="0"/>
              <a:t>Kaiser-Meyer-Olkin (KMO) Measure of Sampling Adequacy:</a:t>
            </a:r>
            <a:br>
              <a:rPr lang="en-US" b="0" dirty="0"/>
            </a:br>
            <a:r>
              <a:rPr lang="en-US" b="0" dirty="0"/>
              <a:t>This gives us a single number summarizing how well our variables lend themselves to factor analysis.</a:t>
            </a:r>
            <a:br>
              <a:rPr lang="en-US" b="0" dirty="0"/>
            </a:br>
            <a:r>
              <a:rPr lang="en-US" b="0" dirty="0"/>
              <a:t>It compares the size of the observed correlations to the size of the partial correlations.</a:t>
            </a:r>
            <a:br>
              <a:rPr lang="en-US" b="0" dirty="0"/>
            </a:br>
            <a:r>
              <a:rPr lang="en-US" b="0" dirty="0"/>
              <a:t>Ranges from 0 to 1—higher is better. A value above .80 is considered excellent. Below .50? Not worth proceeding.</a:t>
            </a:r>
          </a:p>
          <a:p>
            <a:endParaRPr lang="en-US" b="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6992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rewind for a second:</a:t>
            </a:r>
            <a:br>
              <a:rPr lang="en-US" b="0" dirty="0"/>
            </a:br>
            <a:r>
              <a:rPr lang="en-US" b="0" dirty="0"/>
              <a:t>Variance tells us how much a variable’s values spread out around the mean. But what happens when variables are correlated? They move together—and that means they’re sharing some of their variance.</a:t>
            </a:r>
          </a:p>
          <a:p>
            <a:pPr>
              <a:buFont typeface="Arial" panose="020B0604020202020204" pitchFamily="34" charset="0"/>
              <a:buChar char="•"/>
            </a:pPr>
            <a:r>
              <a:rPr lang="en-US" b="0" dirty="0"/>
              <a:t>When two variables correlate at .50, they share 25% of their variance—because we square the correlation to find shared variance.</a:t>
            </a:r>
          </a:p>
          <a:p>
            <a:pPr>
              <a:buFont typeface="Arial" panose="020B0604020202020204" pitchFamily="34" charset="0"/>
              <a:buChar char="•"/>
            </a:pPr>
            <a:r>
              <a:rPr lang="en-US" b="0" dirty="0"/>
              <a:t>In factor analysis, this shared variance is the gold we’re mining. Highly correlated variables are grouped together into factors because they fluctuate in sync—something’s linking them.</a:t>
            </a:r>
          </a:p>
          <a:p>
            <a:pPr>
              <a:buFont typeface="Arial" panose="020B0604020202020204" pitchFamily="34" charset="0"/>
              <a:buChar char="•"/>
            </a:pPr>
            <a:r>
              <a:rPr lang="en-US" b="0" dirty="0"/>
              <a:t>But we don’t just care about what’s shared. We also need to know what’s unique to each variable—and how much is just random noise.</a:t>
            </a:r>
          </a:p>
          <a:p>
            <a:r>
              <a:rPr lang="en-US" b="0" dirty="0"/>
              <a:t>So every variable’s total variance can be broken down into three pieces:</a:t>
            </a:r>
          </a:p>
          <a:p>
            <a:r>
              <a:rPr lang="en-US" b="0" dirty="0"/>
              <a:t>Total variance = Shared (common) variance + Unique variance + Error</a:t>
            </a:r>
          </a:p>
          <a:p>
            <a:r>
              <a:rPr lang="en-US" b="0" dirty="0"/>
              <a:t>Factor analysis aims to uncover the common variance—the part that tells us something meaningful is happening across multiple variables.</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33</a:t>
            </a:fld>
            <a:endParaRPr lang="en-US"/>
          </a:p>
        </p:txBody>
      </p:sp>
    </p:spTree>
    <p:extLst>
      <p:ext uri="{BB962C8B-B14F-4D97-AF65-F5344CB8AC3E}">
        <p14:creationId xmlns:p14="http://schemas.microsoft.com/office/powerpoint/2010/main" val="3695056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When we run factor analysis, we’re asking: </a:t>
            </a:r>
            <a:r>
              <a:rPr lang="en-US" b="0" i="1" dirty="0"/>
              <a:t>What part of each variable is part of something bigger?</a:t>
            </a:r>
            <a:r>
              <a:rPr lang="en-US" b="0" dirty="0"/>
              <a:t> Let’s unpack what that means.</a:t>
            </a:r>
          </a:p>
          <a:p>
            <a:pPr>
              <a:buFont typeface="Arial" panose="020B0604020202020204" pitchFamily="34" charset="0"/>
              <a:buChar char="•"/>
            </a:pPr>
            <a:r>
              <a:rPr lang="en-US" b="0" dirty="0"/>
              <a:t>Common Variance (Shared)</a:t>
            </a:r>
            <a:br>
              <a:rPr lang="en-US" b="0" dirty="0"/>
            </a:br>
            <a:r>
              <a:rPr lang="en-US" b="0" dirty="0"/>
              <a:t>This is the overlap—the part of the variable that aligns with others. It’s explained by a latent factor, like </a:t>
            </a:r>
            <a:r>
              <a:rPr lang="en-US" b="0" i="1" dirty="0"/>
              <a:t>depression</a:t>
            </a:r>
            <a:r>
              <a:rPr lang="en-US" b="0" dirty="0"/>
              <a:t> or </a:t>
            </a:r>
            <a:r>
              <a:rPr lang="en-US" b="0" i="1" dirty="0"/>
              <a:t>neighborhood disinvestment</a:t>
            </a:r>
            <a:r>
              <a:rPr lang="en-US" b="0" dirty="0"/>
              <a:t>.</a:t>
            </a:r>
            <a:br>
              <a:rPr lang="en-US" b="0" dirty="0"/>
            </a:br>
            <a:r>
              <a:rPr lang="en-US" b="0" dirty="0"/>
              <a:t>Example: If questions about sadness, fatigue, and sleep all move together, they likely reflect the same underlying construct—say, Depression.</a:t>
            </a:r>
          </a:p>
          <a:p>
            <a:pPr>
              <a:buFont typeface="Arial" panose="020B0604020202020204" pitchFamily="34" charset="0"/>
              <a:buChar char="•"/>
            </a:pPr>
            <a:r>
              <a:rPr lang="en-US" b="0" dirty="0"/>
              <a:t>Unique Variance</a:t>
            </a:r>
            <a:br>
              <a:rPr lang="en-US" b="0" dirty="0"/>
            </a:br>
            <a:r>
              <a:rPr lang="en-US" b="0" dirty="0"/>
              <a:t>This is what makes a variable special—it’s the part not shared with others and not explained by a factor.</a:t>
            </a:r>
            <a:br>
              <a:rPr lang="en-US" b="0" dirty="0"/>
            </a:br>
            <a:r>
              <a:rPr lang="en-US" b="0" dirty="0"/>
              <a:t>It still matters. For instance, a sleep question may reflect depression </a:t>
            </a:r>
            <a:r>
              <a:rPr lang="en-US" b="0" i="1" dirty="0"/>
              <a:t>and</a:t>
            </a:r>
            <a:r>
              <a:rPr lang="en-US" b="0" dirty="0"/>
              <a:t> a uniquely personal experience with insomnia or with lack of motivation having nothing to do with depression per se.</a:t>
            </a:r>
          </a:p>
          <a:p>
            <a:pPr>
              <a:buFont typeface="Arial" panose="020B0604020202020204" pitchFamily="34" charset="0"/>
              <a:buChar char="•"/>
            </a:pPr>
            <a:r>
              <a:rPr lang="en-US" b="0" dirty="0"/>
              <a:t>Error Variance</a:t>
            </a:r>
            <a:br>
              <a:rPr lang="en-US" b="0" dirty="0"/>
            </a:br>
            <a:r>
              <a:rPr lang="en-US" b="0" dirty="0"/>
              <a:t>This </a:t>
            </a:r>
            <a:r>
              <a:rPr lang="en-US" b="0" dirty="0" err="1"/>
              <a:t>israndomness</a:t>
            </a:r>
            <a:r>
              <a:rPr lang="en-US" b="0" dirty="0"/>
              <a:t>, imprecision, or noise in the data.</a:t>
            </a:r>
            <a:br>
              <a:rPr lang="en-US" b="0" dirty="0"/>
            </a:br>
            <a:r>
              <a:rPr lang="en-US" b="0" dirty="0"/>
              <a:t>It’s not meaningful, it’s not shared, and it’s not useful for explaining anything real. There will always be some error or noise in the data, the nice thing about statistics is that we can quantify it.</a:t>
            </a:r>
          </a:p>
          <a:p>
            <a:r>
              <a:rPr lang="en-US" b="0" dirty="0"/>
              <a:t>Bottom line:</a:t>
            </a:r>
            <a:br>
              <a:rPr lang="en-US" b="0" dirty="0"/>
            </a:br>
            <a:r>
              <a:rPr lang="en-US" b="0" dirty="0"/>
              <a:t>Factor analysis is only interested in common variance—that’s where the patterns live. Everything else? It’s either unique to that variable or just statistical noise.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34</a:t>
            </a:fld>
            <a:endParaRPr lang="en-US"/>
          </a:p>
        </p:txBody>
      </p:sp>
    </p:spTree>
    <p:extLst>
      <p:ext uri="{BB962C8B-B14F-4D97-AF65-F5344CB8AC3E}">
        <p14:creationId xmlns:p14="http://schemas.microsoft.com/office/powerpoint/2010/main" val="4205454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PCA, the diagonal is fixed at 1, meaning all variance is analyzed, whereas in factor analysis, the diagonal is replaced with communalities so that only shared variance is used to estimate latent factors.</a:t>
            </a:r>
          </a:p>
        </p:txBody>
      </p:sp>
      <p:sp>
        <p:nvSpPr>
          <p:cNvPr id="4" name="Slide Number Placeholder 3"/>
          <p:cNvSpPr>
            <a:spLocks noGrp="1"/>
          </p:cNvSpPr>
          <p:nvPr>
            <p:ph type="sldNum" sz="quarter" idx="5"/>
          </p:nvPr>
        </p:nvSpPr>
        <p:spPr/>
        <p:txBody>
          <a:bodyPr/>
          <a:lstStyle/>
          <a:p>
            <a:fld id="{AB40D8CB-5069-48A5-A31E-868D687857E9}" type="slidenum">
              <a:rPr lang="en-US" smtClean="0"/>
              <a:t>36</a:t>
            </a:fld>
            <a:endParaRPr lang="en-US"/>
          </a:p>
        </p:txBody>
      </p:sp>
    </p:spTree>
    <p:extLst>
      <p:ext uri="{BB962C8B-B14F-4D97-AF65-F5344CB8AC3E}">
        <p14:creationId xmlns:p14="http://schemas.microsoft.com/office/powerpoint/2010/main" val="1254946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0" dirty="0"/>
              <a:t>The entire bar represents the total variance of a variable, which is always standardized to 1 in factor analysis.</a:t>
            </a:r>
          </a:p>
          <a:p>
            <a:pPr>
              <a:buFont typeface="Arial" panose="020B0604020202020204" pitchFamily="34" charset="0"/>
              <a:buChar char="•"/>
            </a:pPr>
            <a:r>
              <a:rPr lang="en-US" b="0" dirty="0"/>
              <a:t>That total variance has two parts:</a:t>
            </a:r>
            <a:br>
              <a:rPr lang="en-US" b="0" dirty="0"/>
            </a:br>
            <a:r>
              <a:rPr lang="en-US" b="0" dirty="0"/>
              <a:t>✔️ Common variance (green) → variance explained by the factor(s)</a:t>
            </a:r>
            <a:br>
              <a:rPr lang="en-US" b="0" dirty="0"/>
            </a:br>
            <a:r>
              <a:rPr lang="en-US" b="0" dirty="0"/>
              <a:t>❌ Unique variance (red) → variance that’s not explained by the factor model</a:t>
            </a:r>
          </a:p>
          <a:p>
            <a:pPr>
              <a:buFont typeface="Arial" panose="020B0604020202020204" pitchFamily="34" charset="0"/>
              <a:buChar char="•"/>
            </a:pPr>
            <a:r>
              <a:rPr lang="en-US" b="0" dirty="0"/>
              <a:t>Unique variance has two sub-parts:</a:t>
            </a:r>
            <a:br>
              <a:rPr lang="en-US" b="0" dirty="0"/>
            </a:br>
            <a:r>
              <a:rPr lang="en-US" b="0" dirty="0"/>
              <a:t>🔹 Specific variance: variance unique to that variable—not shared, but still meaningful</a:t>
            </a:r>
            <a:br>
              <a:rPr lang="en-US" b="0" dirty="0"/>
            </a:br>
            <a:r>
              <a:rPr lang="en-US" b="0" dirty="0"/>
              <a:t>🔹 Error variance: measurement error or randomness—basically noise</a:t>
            </a:r>
          </a:p>
          <a:p>
            <a:r>
              <a:rPr lang="en-US" b="0" dirty="0"/>
              <a:t>The communality is represented by h^2, which is the proportion of total variance that’s common, or:</a:t>
            </a:r>
          </a:p>
          <a:p>
            <a:endParaRPr lang="en-US" b="0" dirty="0"/>
          </a:p>
          <a:p>
            <a:r>
              <a:rPr lang="en-US" b="0" dirty="0"/>
              <a:t>So if a variable has a communality of 0.70, it means that 70% of its variance is explained by the factors, and the remaining 30% is unique or error.</a:t>
            </a:r>
          </a:p>
          <a:p>
            <a:r>
              <a:rPr lang="en-US" b="0" dirty="0"/>
              <a:t>Goal of FA:</a:t>
            </a:r>
            <a:br>
              <a:rPr lang="en-US" b="0" dirty="0"/>
            </a:br>
            <a:r>
              <a:rPr lang="en-US" b="0" dirty="0"/>
              <a:t>You want communalities to be high—that means your factors are doing a good job.</a:t>
            </a:r>
            <a:br>
              <a:rPr lang="en-US" b="0" dirty="0"/>
            </a:br>
            <a:r>
              <a:rPr lang="en-US" b="0" dirty="0"/>
              <a:t>If communalities are low, your model isn’t explaining much, and factor analysis might not be appropriate.</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37</a:t>
            </a:fld>
            <a:endParaRPr lang="en-US"/>
          </a:p>
        </p:txBody>
      </p:sp>
    </p:spTree>
    <p:extLst>
      <p:ext uri="{BB962C8B-B14F-4D97-AF65-F5344CB8AC3E}">
        <p14:creationId xmlns:p14="http://schemas.microsoft.com/office/powerpoint/2010/main" val="22063457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Let’s break down the key terms that tell us how well factor analysis is actually working.</a:t>
            </a:r>
          </a:p>
          <a:p>
            <a:pPr>
              <a:buFont typeface="Arial" panose="020B0604020202020204" pitchFamily="34" charset="0"/>
              <a:buChar char="•"/>
            </a:pPr>
            <a:r>
              <a:rPr lang="en-US" b="0" dirty="0"/>
              <a:t>Factor Loadings</a:t>
            </a:r>
            <a:br>
              <a:rPr lang="en-US" b="0" dirty="0"/>
            </a:br>
            <a:r>
              <a:rPr lang="en-US" b="0" dirty="0"/>
              <a:t>Think of these as correlations between a variable and a factor.</a:t>
            </a:r>
            <a:br>
              <a:rPr lang="en-US" b="0" dirty="0"/>
            </a:br>
            <a:r>
              <a:rPr lang="en-US" b="0" dirty="0"/>
              <a:t>They tell us how strongly a variable is associated with a latent factor.</a:t>
            </a:r>
            <a:br>
              <a:rPr lang="en-US" b="0" dirty="0"/>
            </a:br>
            <a:r>
              <a:rPr lang="en-US" b="0" dirty="0"/>
              <a:t>High loading? That variable belongs in the factor.</a:t>
            </a:r>
            <a:br>
              <a:rPr lang="en-US" b="0" dirty="0"/>
            </a:br>
            <a:r>
              <a:rPr lang="en-US" b="0" dirty="0"/>
              <a:t>It’s like asking: </a:t>
            </a:r>
            <a:r>
              <a:rPr lang="en-US" b="0" i="1" dirty="0"/>
              <a:t>Does this item “belong” with the others in this group?</a:t>
            </a:r>
            <a:endParaRPr lang="en-US" b="0" dirty="0"/>
          </a:p>
          <a:p>
            <a:pPr>
              <a:buFont typeface="Arial" panose="020B0604020202020204" pitchFamily="34" charset="0"/>
              <a:buChar char="•"/>
            </a:pPr>
            <a:r>
              <a:rPr lang="en-US" b="0" dirty="0"/>
              <a:t>Eigenvalues</a:t>
            </a:r>
            <a:br>
              <a:rPr lang="en-US" b="0" dirty="0"/>
            </a:br>
            <a:r>
              <a:rPr lang="en-US" b="0" dirty="0"/>
              <a:t>This is the total variance explained by each factor.</a:t>
            </a:r>
          </a:p>
          <a:p>
            <a:pPr>
              <a:buFont typeface="Arial" panose="020B0604020202020204" pitchFamily="34" charset="0"/>
              <a:buChar char="•"/>
            </a:pPr>
            <a:endParaRPr lang="en-US" b="0" dirty="0"/>
          </a:p>
          <a:p>
            <a:r>
              <a:rPr lang="en-US" b="1" dirty="0"/>
              <a:t>When we say “total variance explained by each factor,” we’re talking about the total variance across all variables in the dataset.</a:t>
            </a:r>
          </a:p>
          <a:p>
            <a:r>
              <a:rPr lang="en-US" b="0" dirty="0"/>
              <a:t>So:</a:t>
            </a:r>
          </a:p>
          <a:p>
            <a:r>
              <a:rPr lang="en-US" b="0" dirty="0"/>
              <a:t>Eigenvalues represent how much of the total variance in all the variables is explained </a:t>
            </a:r>
            <a:r>
              <a:rPr lang="en-US" b="0" i="1" dirty="0"/>
              <a:t>by a given factor</a:t>
            </a:r>
            <a:r>
              <a:rPr lang="en-US" b="0" dirty="0"/>
              <a:t>.</a:t>
            </a:r>
          </a:p>
          <a:p>
            <a:r>
              <a:rPr lang="en-US" b="0" dirty="0"/>
              <a:t>For example, if Factor 1 has an eigenvalue of 3 in a dataset with 6 variables (each standardized, so each contributes 1 unit of variance), that means:</a:t>
            </a:r>
          </a:p>
          <a:p>
            <a:r>
              <a:rPr lang="en-US" b="0" dirty="0"/>
              <a:t>Factor 1 explains 3 out of 6 total units of variance—or 50% of the total variance in the dataset.</a:t>
            </a:r>
          </a:p>
          <a:p>
            <a:r>
              <a:rPr lang="en-US" b="0" dirty="0"/>
              <a:t>That’s why we often use eigenvalues &gt; 1 as a cutoff: a factor should explain more variance than a single variable to be worth keeping.</a:t>
            </a:r>
          </a:p>
          <a:p>
            <a:pPr>
              <a:buFont typeface="Arial" panose="020B0604020202020204" pitchFamily="34" charset="0"/>
              <a:buNone/>
            </a:pPr>
            <a:br>
              <a:rPr lang="en-US" b="0" dirty="0"/>
            </a:br>
            <a:r>
              <a:rPr lang="en-US" b="0" dirty="0"/>
              <a:t>Bottom line: Eigenvalues answer </a:t>
            </a:r>
            <a:r>
              <a:rPr lang="en-US" b="0" dirty="0">
                <a:sym typeface="Wingdings" panose="05000000000000000000" pitchFamily="2" charset="2"/>
              </a:rPr>
              <a:t> </a:t>
            </a:r>
            <a:r>
              <a:rPr lang="en-US" b="0" i="1" dirty="0"/>
              <a:t>How much of the story is this factor telling?</a:t>
            </a:r>
            <a:br>
              <a:rPr lang="en-US" b="0" dirty="0"/>
            </a:br>
            <a:r>
              <a:rPr lang="en-US" b="0" dirty="0"/>
              <a:t>Technically, it’s the sum of squared loadings for each factor.</a:t>
            </a:r>
            <a:br>
              <a:rPr lang="en-US" b="0" dirty="0"/>
            </a:br>
            <a:r>
              <a:rPr lang="en-US" b="0" dirty="0"/>
              <a:t>Rule of thumb: Eigenvalues &gt; 1 are typically considered meaningful.</a:t>
            </a:r>
          </a:p>
          <a:p>
            <a:pPr>
              <a:buFont typeface="Arial" panose="020B0604020202020204" pitchFamily="34" charset="0"/>
              <a:buNone/>
            </a:pPr>
            <a:endParaRPr lang="en-US" b="0" dirty="0"/>
          </a:p>
          <a:p>
            <a:pPr>
              <a:buFont typeface="Arial" panose="020B0604020202020204" pitchFamily="34" charset="0"/>
              <a:buChar char="•"/>
            </a:pPr>
            <a:r>
              <a:rPr lang="en-US" b="0" dirty="0"/>
              <a:t>Communalities</a:t>
            </a:r>
            <a:br>
              <a:rPr lang="en-US" b="0" dirty="0"/>
            </a:br>
            <a:r>
              <a:rPr lang="en-US" b="0" dirty="0"/>
              <a:t>These tell us how much of a variable’s variance is explained by all the factors combined.</a:t>
            </a:r>
            <a:br>
              <a:rPr lang="en-US" b="0" dirty="0"/>
            </a:br>
            <a:r>
              <a:rPr lang="en-US" b="0" dirty="0"/>
              <a:t>It’s the sum of squared loadings for each variable across all factors.</a:t>
            </a:r>
            <a:br>
              <a:rPr lang="en-US" b="0" dirty="0"/>
            </a:br>
            <a:r>
              <a:rPr lang="en-US" b="0" dirty="0"/>
              <a:t>In other words: </a:t>
            </a:r>
            <a:r>
              <a:rPr lang="en-US" b="0" i="1" dirty="0"/>
              <a:t>How much of this variable are we actually capturing through the factor model?</a:t>
            </a:r>
            <a:endParaRPr lang="en-US" b="0" dirty="0"/>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38</a:t>
            </a:fld>
            <a:endParaRPr lang="en-US"/>
          </a:p>
        </p:txBody>
      </p:sp>
    </p:spTree>
    <p:extLst>
      <p:ext uri="{BB962C8B-B14F-4D97-AF65-F5344CB8AC3E}">
        <p14:creationId xmlns:p14="http://schemas.microsoft.com/office/powerpoint/2010/main" val="641877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too few factors are retained, then important information is lost and important factors may be neglected</a:t>
            </a:r>
          </a:p>
          <a:p>
            <a:r>
              <a:rPr lang="en-US" dirty="0"/>
              <a:t>Remember the goal is parsimony</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0348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isn’t just a numbers game—some of these decisions are statistical, but others require judgment and context.</a:t>
            </a:r>
          </a:p>
          <a:p>
            <a:pPr>
              <a:buFont typeface="Arial" panose="020B0604020202020204" pitchFamily="34" charset="0"/>
              <a:buChar char="•"/>
            </a:pPr>
            <a:r>
              <a:rPr lang="en-US" b="0" dirty="0"/>
              <a:t>A priori criterion</a:t>
            </a:r>
            <a:br>
              <a:rPr lang="en-US" b="0" dirty="0"/>
            </a:br>
            <a:r>
              <a:rPr lang="en-US" b="0" dirty="0"/>
              <a:t>Sometimes, </a:t>
            </a:r>
            <a:r>
              <a:rPr lang="en-US" b="1" dirty="0"/>
              <a:t>theory</a:t>
            </a:r>
            <a:r>
              <a:rPr lang="en-US" b="0" dirty="0"/>
              <a:t> tells you how many factors to expect. If you're testing a validated construct (e.g., Big Five personality), you might already know what you're looking for.</a:t>
            </a:r>
          </a:p>
          <a:p>
            <a:pPr>
              <a:buFont typeface="Arial" panose="020B0604020202020204" pitchFamily="34" charset="0"/>
              <a:buChar char="•"/>
            </a:pPr>
            <a:r>
              <a:rPr lang="en-US" b="0" dirty="0"/>
              <a:t>Scree plot</a:t>
            </a:r>
            <a:br>
              <a:rPr lang="en-US" b="0" dirty="0"/>
            </a:br>
            <a:r>
              <a:rPr lang="en-US" b="0" dirty="0"/>
              <a:t>This visual shows the “elbow” where eigenvalues drop off sharply. You look for the point where the curve flattens—everything before that might be meaningful. After? Probably noise.</a:t>
            </a:r>
          </a:p>
          <a:p>
            <a:pPr>
              <a:buFont typeface="Arial" panose="020B0604020202020204" pitchFamily="34" charset="0"/>
              <a:buChar char="•"/>
            </a:pPr>
            <a:r>
              <a:rPr lang="en-US" b="0" dirty="0"/>
              <a:t>Kaiser’s rule</a:t>
            </a:r>
            <a:br>
              <a:rPr lang="en-US" b="0" dirty="0"/>
            </a:br>
            <a:r>
              <a:rPr lang="en-US" b="0" dirty="0"/>
              <a:t>Keep factors with eigenvalues &gt; 1. Why? Because each variable contributes 1 unit of variance—so a factor should explain </a:t>
            </a:r>
            <a:r>
              <a:rPr lang="en-US" b="0" i="1" dirty="0"/>
              <a:t>at least</a:t>
            </a:r>
            <a:r>
              <a:rPr lang="en-US" b="0" dirty="0"/>
              <a:t> as much as a single variable to be worth keeping.</a:t>
            </a:r>
          </a:p>
          <a:p>
            <a:pPr>
              <a:buFont typeface="Arial" panose="020B0604020202020204" pitchFamily="34" charset="0"/>
              <a:buChar char="•"/>
            </a:pPr>
            <a:r>
              <a:rPr lang="en-US" b="0" dirty="0"/>
              <a:t>Parallel analysis</a:t>
            </a:r>
            <a:br>
              <a:rPr lang="en-US" b="0" dirty="0"/>
            </a:br>
            <a:r>
              <a:rPr lang="en-US" b="0" dirty="0"/>
              <a:t>A more robust method: it compares your real data to random data. If your factor explains more variance than what you'd see by chance, it's worth keeping. Gold standard in modern FA.</a:t>
            </a:r>
          </a:p>
          <a:p>
            <a:pPr>
              <a:buFont typeface="Arial" panose="020B0604020202020204" pitchFamily="34" charset="0"/>
              <a:buChar char="•"/>
            </a:pPr>
            <a:r>
              <a:rPr lang="en-US" b="0" dirty="0"/>
              <a:t>Number of variables per factor</a:t>
            </a:r>
            <a:br>
              <a:rPr lang="en-US" b="0" dirty="0"/>
            </a:br>
            <a:r>
              <a:rPr lang="en-US" b="0" dirty="0"/>
              <a:t>A factor defined by one or two variables isn’t stable. You typically want at least 3–4 strong loadings to consider a factor reliable.</a:t>
            </a:r>
          </a:p>
          <a:p>
            <a:pPr>
              <a:buFont typeface="Arial" panose="020B0604020202020204" pitchFamily="34" charset="0"/>
              <a:buChar char="•"/>
            </a:pPr>
            <a:r>
              <a:rPr lang="en-US" b="0" dirty="0"/>
              <a:t>Heterogeneity of respondents</a:t>
            </a:r>
            <a:br>
              <a:rPr lang="en-US" b="0" dirty="0"/>
            </a:br>
            <a:r>
              <a:rPr lang="en-US" b="0" dirty="0"/>
              <a:t>If your sample is diverse in key ways (age, education, context), you might find more factors. If it’s homogeneous, you may see fewer meaningful dimensions.</a:t>
            </a:r>
          </a:p>
          <a:p>
            <a:r>
              <a:rPr lang="en-US" b="0" dirty="0"/>
              <a:t>Bottom line: There’s no one-size-fits-all answer. Use the tools—but trust your theory and your data.</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43</a:t>
            </a:fld>
            <a:endParaRPr lang="en-US"/>
          </a:p>
        </p:txBody>
      </p:sp>
    </p:spTree>
    <p:extLst>
      <p:ext uri="{BB962C8B-B14F-4D97-AF65-F5344CB8AC3E}">
        <p14:creationId xmlns:p14="http://schemas.microsoft.com/office/powerpoint/2010/main" val="1520510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have 10 variables:</a:t>
            </a:r>
          </a:p>
          <a:p>
            <a:r>
              <a:rPr lang="en-US" dirty="0"/>
              <a:t>Total variance in the dataset = </a:t>
            </a:r>
            <a:r>
              <a:rPr lang="en-US" b="1" dirty="0"/>
              <a:t>10 units</a:t>
            </a:r>
            <a:r>
              <a:rPr lang="en-US" dirty="0"/>
              <a:t> (because each variable = 1) </a:t>
            </a:r>
          </a:p>
          <a:p>
            <a:r>
              <a:rPr lang="en-US" dirty="0"/>
              <a:t>Now suppose:</a:t>
            </a:r>
          </a:p>
          <a:p>
            <a:r>
              <a:rPr lang="en-US" dirty="0"/>
              <a:t>Factor 1 eigenvalue = 4</a:t>
            </a:r>
            <a:br>
              <a:rPr lang="en-US" dirty="0"/>
            </a:br>
            <a:r>
              <a:rPr lang="en-US" dirty="0"/>
              <a:t>→ explains </a:t>
            </a:r>
            <a:r>
              <a:rPr lang="en-US" b="1" dirty="0"/>
              <a:t>4/10 = 40% of total variance</a:t>
            </a:r>
            <a:r>
              <a:rPr lang="en-US" dirty="0"/>
              <a:t> </a:t>
            </a:r>
          </a:p>
          <a:p>
            <a:br>
              <a:rPr lang="en-US" dirty="0"/>
            </a:br>
            <a:r>
              <a:rPr lang="en-US" b="1" dirty="0"/>
              <a:t>Why we compare to “1”</a:t>
            </a:r>
          </a:p>
          <a:p>
            <a:r>
              <a:rPr lang="en-US" dirty="0"/>
              <a:t>Because:</a:t>
            </a:r>
          </a:p>
          <a:p>
            <a:r>
              <a:rPr lang="en-US" dirty="0"/>
              <a:t>1 = variance of </a:t>
            </a:r>
            <a:r>
              <a:rPr lang="en-US" b="1" dirty="0"/>
              <a:t>one variable</a:t>
            </a:r>
            <a:r>
              <a:rPr lang="en-US" dirty="0"/>
              <a:t> </a:t>
            </a:r>
          </a:p>
          <a:p>
            <a:r>
              <a:rPr lang="en-US" dirty="0"/>
              <a:t>So:</a:t>
            </a:r>
          </a:p>
          <a:p>
            <a:r>
              <a:rPr lang="en-US" dirty="0"/>
              <a:t>Eigenvalue &gt; 1 → factor is worth keeping ✅ </a:t>
            </a:r>
          </a:p>
          <a:p>
            <a:r>
              <a:rPr lang="en-US" dirty="0"/>
              <a:t>Eigenvalue &lt; 1 → weaker than a single variable ❌</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44</a:t>
            </a:fld>
            <a:endParaRPr lang="en-US"/>
          </a:p>
        </p:txBody>
      </p:sp>
    </p:spTree>
    <p:extLst>
      <p:ext uri="{BB962C8B-B14F-4D97-AF65-F5344CB8AC3E}">
        <p14:creationId xmlns:p14="http://schemas.microsoft.com/office/powerpoint/2010/main" val="2575151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How it works:</a:t>
            </a:r>
            <a:br>
              <a:rPr lang="en-US" b="0" dirty="0"/>
            </a:br>
            <a:r>
              <a:rPr lang="en-US" b="0" dirty="0"/>
              <a:t>Parallel analysis compares your data’s eigenvalues to those generated from random data of the same sample size and number of variables.</a:t>
            </a:r>
            <a:br>
              <a:rPr lang="en-US" b="0" dirty="0"/>
            </a:br>
            <a:r>
              <a:rPr lang="en-US" b="0" dirty="0"/>
              <a:t>This random dataset is created using Monte Carlo simulation—basically, simulating what eigenvalues would look like if the data had </a:t>
            </a:r>
            <a:r>
              <a:rPr lang="en-US" b="0" i="1" dirty="0"/>
              <a:t>no real structure</a:t>
            </a:r>
            <a:r>
              <a:rPr lang="en-US" b="0" dirty="0"/>
              <a:t>.</a:t>
            </a:r>
          </a:p>
          <a:p>
            <a:r>
              <a:rPr lang="en-US" b="0" dirty="0"/>
              <a:t>The key idea:</a:t>
            </a:r>
          </a:p>
          <a:p>
            <a:r>
              <a:rPr lang="en-US" b="0" dirty="0"/>
              <a:t>A factor is retained only if the </a:t>
            </a:r>
            <a:r>
              <a:rPr lang="en-US" b="0" dirty="0" err="1"/>
              <a:t>ith</a:t>
            </a:r>
            <a:r>
              <a:rPr lang="en-US" b="0" dirty="0"/>
              <a:t> eigenvalue from your actual data is greater than the </a:t>
            </a:r>
            <a:r>
              <a:rPr lang="en-US" b="0" dirty="0" err="1"/>
              <a:t>ith</a:t>
            </a:r>
            <a:r>
              <a:rPr lang="en-US" b="0" dirty="0"/>
              <a:t> eigenvalue from the random (simulated) data.</a:t>
            </a:r>
          </a:p>
          <a:p>
            <a:r>
              <a:rPr lang="en-US" b="0" dirty="0"/>
              <a:t>Why it’s better:</a:t>
            </a:r>
            <a:br>
              <a:rPr lang="en-US" b="0" dirty="0"/>
            </a:br>
            <a:r>
              <a:rPr lang="en-US" b="0" dirty="0"/>
              <a:t>Unlike the scree plot (which is subjective) or Kaiser’s rule (which can overestimate), parallel analysis protects against chance—it helps ensure you don’t keep factors that are just statistical noise.</a:t>
            </a:r>
          </a:p>
          <a:p>
            <a:r>
              <a:rPr lang="en-US" b="0" dirty="0"/>
              <a:t>Software note:</a:t>
            </a:r>
            <a:br>
              <a:rPr lang="en-US" b="0" dirty="0"/>
            </a:br>
            <a:r>
              <a:rPr lang="en-US" b="0" dirty="0"/>
              <a:t>SPSS doesn’t include this method out of the box.</a:t>
            </a:r>
            <a:br>
              <a:rPr lang="en-US" b="0" dirty="0"/>
            </a:br>
            <a:r>
              <a:rPr lang="en-US" b="0" dirty="0"/>
              <a:t>But JASP, R (e.g., psych::</a:t>
            </a:r>
            <a:r>
              <a:rPr lang="en-US" b="0" dirty="0" err="1"/>
              <a:t>fa.parallel</a:t>
            </a:r>
            <a:r>
              <a:rPr lang="en-US" b="0" dirty="0"/>
              <a:t>), or </a:t>
            </a:r>
            <a:r>
              <a:rPr lang="en-US" b="0" dirty="0" err="1"/>
              <a:t>Jamovi</a:t>
            </a:r>
            <a:r>
              <a:rPr lang="en-US" b="0" dirty="0"/>
              <a:t> can run parallel analysis easily.</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47</a:t>
            </a:fld>
            <a:endParaRPr lang="en-US"/>
          </a:p>
        </p:txBody>
      </p:sp>
    </p:spTree>
    <p:extLst>
      <p:ext uri="{BB962C8B-B14F-4D97-AF65-F5344CB8AC3E}">
        <p14:creationId xmlns:p14="http://schemas.microsoft.com/office/powerpoint/2010/main" val="14959945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7435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Factor analysis is an iterative process—we don’t stop at the first solution the software gives us.</a:t>
            </a:r>
          </a:p>
          <a:p>
            <a:pPr>
              <a:buFont typeface="Arial" panose="020B0604020202020204" pitchFamily="34" charset="0"/>
              <a:buChar char="•"/>
            </a:pPr>
            <a:r>
              <a:rPr lang="en-US" b="0" dirty="0"/>
              <a:t>Step 1: Initial unrotated solution</a:t>
            </a:r>
            <a:br>
              <a:rPr lang="en-US" b="0" dirty="0"/>
            </a:br>
            <a:r>
              <a:rPr lang="en-US" b="0" dirty="0"/>
              <a:t>The software starts by estimating the unrotated factor matrix—this is the raw set of loadings that explains the most variance possible.</a:t>
            </a:r>
            <a:br>
              <a:rPr lang="en-US" b="0" dirty="0"/>
            </a:br>
            <a:r>
              <a:rPr lang="en-US" b="0" dirty="0"/>
              <a:t>It’s mathematically optimal, but often messy: variables may load on multiple factors, and the structure is hard to interpret.</a:t>
            </a:r>
          </a:p>
          <a:p>
            <a:pPr>
              <a:buFont typeface="Arial" panose="020B0604020202020204" pitchFamily="34" charset="0"/>
              <a:buChar char="•"/>
            </a:pPr>
            <a:r>
              <a:rPr lang="en-US" b="0" dirty="0"/>
              <a:t>It’s like taking a photo that's technically “complete,” but blurry—you can’t quite make out what’s in it.</a:t>
            </a:r>
          </a:p>
          <a:p>
            <a:pPr>
              <a:buFont typeface="Arial" panose="020B0604020202020204" pitchFamily="34" charset="0"/>
              <a:buChar char="•"/>
            </a:pPr>
            <a:r>
              <a:rPr lang="en-US" b="0" dirty="0"/>
              <a:t>Step 2: Rotation (puts the analysis into focus)</a:t>
            </a:r>
            <a:br>
              <a:rPr lang="en-US" b="0" dirty="0"/>
            </a:br>
            <a:r>
              <a:rPr lang="en-US" b="0" dirty="0"/>
              <a:t>Rotation is a mathematical adjustment that helps clarify the factor structure.</a:t>
            </a:r>
            <a:br>
              <a:rPr lang="en-US" b="0" dirty="0"/>
            </a:br>
            <a:r>
              <a:rPr lang="en-US" b="0" dirty="0"/>
              <a:t>It doesn’t change the number of factors or the total variance explained—but it redistributes the variance across factors to make the picture clearer.</a:t>
            </a:r>
          </a:p>
          <a:p>
            <a:pPr>
              <a:buFont typeface="Arial" panose="020B0604020202020204" pitchFamily="34" charset="0"/>
              <a:buChar char="•"/>
            </a:pPr>
            <a:r>
              <a:rPr lang="en-US" b="0" dirty="0"/>
              <a:t>What rotation does:</a:t>
            </a:r>
            <a:br>
              <a:rPr lang="en-US" b="0" dirty="0"/>
            </a:br>
            <a:r>
              <a:rPr lang="en-US" b="0" dirty="0"/>
              <a:t>After rotation:</a:t>
            </a:r>
          </a:p>
          <a:p>
            <a:pPr marL="742950" lvl="1" indent="-285750">
              <a:buFont typeface="Arial" panose="020B0604020202020204" pitchFamily="34" charset="0"/>
              <a:buChar char="•"/>
            </a:pPr>
            <a:r>
              <a:rPr lang="en-US" b="0" dirty="0"/>
              <a:t>Each variable typically loads strongly on one factor and weakly on others</a:t>
            </a:r>
          </a:p>
          <a:p>
            <a:pPr marL="742950" lvl="1" indent="-285750">
              <a:buFont typeface="Arial" panose="020B0604020202020204" pitchFamily="34" charset="0"/>
              <a:buChar char="•"/>
            </a:pPr>
            <a:r>
              <a:rPr lang="en-US" b="0" dirty="0"/>
              <a:t>Factors become easier to label and interpret—because now the items grouped together actually make conceptual sense</a:t>
            </a:r>
          </a:p>
          <a:p>
            <a:pPr>
              <a:buFont typeface="Arial" panose="020B0604020202020204" pitchFamily="34" charset="0"/>
              <a:buChar char="•"/>
            </a:pPr>
            <a:r>
              <a:rPr lang="en-US" b="0" dirty="0"/>
              <a:t>Bottom line:</a:t>
            </a:r>
          </a:p>
          <a:p>
            <a:pPr>
              <a:buFont typeface="Arial" panose="020B0604020202020204" pitchFamily="34" charset="0"/>
              <a:buChar char="•"/>
            </a:pPr>
            <a:r>
              <a:rPr lang="en-US" b="0" dirty="0"/>
              <a:t>Always </a:t>
            </a:r>
            <a:r>
              <a:rPr lang="en-US" b="1" dirty="0"/>
              <a:t>interpret the rotated solution</a:t>
            </a:r>
            <a:r>
              <a:rPr lang="en-US" b="0" dirty="0"/>
              <a:t>. That’s the one that tells the clearest story.</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53</a:t>
            </a:fld>
            <a:endParaRPr lang="en-US"/>
          </a:p>
        </p:txBody>
      </p:sp>
    </p:spTree>
    <p:extLst>
      <p:ext uri="{BB962C8B-B14F-4D97-AF65-F5344CB8AC3E}">
        <p14:creationId xmlns:p14="http://schemas.microsoft.com/office/powerpoint/2010/main" val="188064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Factor analysis doesn’t stop at finding structure—it needs to make that structure interpretable. That’s where rotation comes in.</a:t>
            </a:r>
          </a:p>
          <a:p>
            <a:r>
              <a:rPr lang="en-US" b="0" dirty="0"/>
              <a:t>Top panel:</a:t>
            </a:r>
            <a:br>
              <a:rPr lang="en-US" b="0" dirty="0"/>
            </a:br>
            <a:r>
              <a:rPr lang="en-US" b="0" dirty="0"/>
              <a:t>This is the initial, unrotated factor solution.</a:t>
            </a:r>
            <a:br>
              <a:rPr lang="en-US" b="0" dirty="0"/>
            </a:br>
            <a:r>
              <a:rPr lang="en-US" b="0" dirty="0"/>
              <a:t>The axes (factors) are aligned to explain the maximum amount of variance, but interpretation is difficult.</a:t>
            </a:r>
            <a:br>
              <a:rPr lang="en-US" b="0" dirty="0"/>
            </a:br>
            <a:r>
              <a:rPr lang="en-US" b="0" dirty="0"/>
              <a:t>Many points (representing variables) are scattered across multiple quadrants—loading on more than one factor. It’s messy, and hard to tell what belongs where.</a:t>
            </a:r>
          </a:p>
          <a:p>
            <a:r>
              <a:rPr lang="en-US" b="0" dirty="0"/>
              <a:t>Bottom panel:</a:t>
            </a:r>
            <a:br>
              <a:rPr lang="en-US" b="0" dirty="0"/>
            </a:br>
            <a:r>
              <a:rPr lang="en-US" b="0" dirty="0"/>
              <a:t>After rotation, the axes have been reoriented and appear in red.</a:t>
            </a:r>
            <a:br>
              <a:rPr lang="en-US" b="0" dirty="0"/>
            </a:br>
            <a:r>
              <a:rPr lang="en-US" b="0" dirty="0"/>
              <a:t>Now, each variable lies closer to just one factor axis, rather than being split between both.</a:t>
            </a:r>
          </a:p>
          <a:p>
            <a:r>
              <a:rPr lang="en-US" b="0" dirty="0"/>
              <a:t>This creates a cleaner, more interpretable factor structure—where variables group more clearly and meaningfully, making it easier to label the factors.</a:t>
            </a:r>
          </a:p>
          <a:p>
            <a:r>
              <a:rPr lang="en-US" b="0" dirty="0"/>
              <a:t>The goal of rotation is simple:</a:t>
            </a:r>
            <a:br>
              <a:rPr lang="en-US" b="0" dirty="0"/>
            </a:br>
            <a:r>
              <a:rPr lang="en-US" b="0" dirty="0"/>
              <a:t>Help us say with confidence:</a:t>
            </a:r>
            <a:br>
              <a:rPr lang="en-US" b="0" dirty="0"/>
            </a:br>
            <a:r>
              <a:rPr lang="en-US" b="0" i="1" dirty="0"/>
              <a:t>“These items belong to Factor 1. Those belong to Factor 2.”</a:t>
            </a:r>
            <a:endParaRPr lang="en-US" b="0" dirty="0"/>
          </a:p>
          <a:p>
            <a:r>
              <a:rPr lang="en-US" b="0" dirty="0"/>
              <a:t>We haven’t changed the data—just the perspective.</a:t>
            </a:r>
            <a:br>
              <a:rPr lang="en-US" b="0" dirty="0"/>
            </a:br>
            <a:r>
              <a:rPr lang="en-US" b="0" dirty="0"/>
              <a:t>👉 Rotation reorients the axes to make the latent structure clearer and easier to interpret.</a:t>
            </a:r>
          </a:p>
          <a:p>
            <a:endParaRPr lang="en-US" dirty="0"/>
          </a:p>
        </p:txBody>
      </p:sp>
      <p:sp>
        <p:nvSpPr>
          <p:cNvPr id="4" name="Slide Number Placeholder 3"/>
          <p:cNvSpPr>
            <a:spLocks noGrp="1"/>
          </p:cNvSpPr>
          <p:nvPr>
            <p:ph type="sldNum" sz="quarter" idx="5"/>
          </p:nvPr>
        </p:nvSpPr>
        <p:spPr/>
        <p:txBody>
          <a:bodyPr/>
          <a:lstStyle/>
          <a:p>
            <a:fld id="{AB40D8CB-5069-48A5-A31E-868D687857E9}" type="slidenum">
              <a:rPr lang="en-US" smtClean="0"/>
              <a:t>55</a:t>
            </a:fld>
            <a:endParaRPr lang="en-US"/>
          </a:p>
        </p:txBody>
      </p:sp>
    </p:spTree>
    <p:extLst>
      <p:ext uri="{BB962C8B-B14F-4D97-AF65-F5344CB8AC3E}">
        <p14:creationId xmlns:p14="http://schemas.microsoft.com/office/powerpoint/2010/main" val="23247886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Ideally, each variable appears in only one column</a:t>
            </a:r>
          </a:p>
          <a:p>
            <a:r>
              <a:rPr lang="en-US" b="0" i="0" dirty="0">
                <a:solidFill>
                  <a:srgbClr val="3B444F"/>
                </a:solidFill>
                <a:effectLst/>
                <a:latin typeface="open-sans"/>
              </a:rPr>
              <a:t>Rotation involves defining new coordinate systems so that when we rotate everything, the points fall close to the vertices (end points) of the new axes.</a:t>
            </a:r>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56</a:t>
            </a:fld>
            <a:endParaRPr lang="en-US"/>
          </a:p>
        </p:txBody>
      </p:sp>
    </p:spTree>
    <p:extLst>
      <p:ext uri="{BB962C8B-B14F-4D97-AF65-F5344CB8AC3E}">
        <p14:creationId xmlns:p14="http://schemas.microsoft.com/office/powerpoint/2010/main" val="977210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rPr>
              <a:t>Ideally, each variable appears in only one column</a:t>
            </a:r>
          </a:p>
          <a:p>
            <a:r>
              <a:rPr lang="en-US" b="0" i="0" dirty="0">
                <a:solidFill>
                  <a:srgbClr val="3B444F"/>
                </a:solidFill>
                <a:effectLst/>
                <a:latin typeface="open-sans"/>
              </a:rPr>
              <a:t>Rotation involves defining new coordinate systems so that when we rotate everything, the points fall close to the vertices (end points) of the new axes.</a:t>
            </a:r>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57</a:t>
            </a:fld>
            <a:endParaRPr lang="en-US"/>
          </a:p>
        </p:txBody>
      </p:sp>
    </p:spTree>
    <p:extLst>
      <p:ext uri="{BB962C8B-B14F-4D97-AF65-F5344CB8AC3E}">
        <p14:creationId xmlns:p14="http://schemas.microsoft.com/office/powerpoint/2010/main" val="16332827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 Left: Visual Comparison</a:t>
            </a:r>
          </a:p>
          <a:p>
            <a:pPr>
              <a:buFont typeface="Arial" panose="020B0604020202020204" pitchFamily="34" charset="0"/>
              <a:buChar char="•"/>
            </a:pPr>
            <a:r>
              <a:rPr lang="en-US" b="0" dirty="0"/>
              <a:t>Top diagram: Orthogonal Rotation</a:t>
            </a:r>
          </a:p>
          <a:p>
            <a:pPr marL="742950" lvl="1" indent="-285750">
              <a:buFont typeface="Arial" panose="020B0604020202020204" pitchFamily="34" charset="0"/>
              <a:buChar char="•"/>
            </a:pPr>
            <a:r>
              <a:rPr lang="en-US" b="0" dirty="0"/>
              <a:t>The factor axes stay at 90° angles (uncorrelated).</a:t>
            </a:r>
          </a:p>
          <a:p>
            <a:pPr marL="742950" lvl="1" indent="-285750">
              <a:buFont typeface="Arial" panose="020B0604020202020204" pitchFamily="34" charset="0"/>
              <a:buChar char="•"/>
            </a:pPr>
            <a:r>
              <a:rPr lang="en-US" b="0" dirty="0"/>
              <a:t>Variables (V1–V5) are repositioned to align better with one factor, without letting the factors correlate.</a:t>
            </a:r>
          </a:p>
          <a:p>
            <a:pPr marL="742950" lvl="1" indent="-285750">
              <a:buFont typeface="Arial" panose="020B0604020202020204" pitchFamily="34" charset="0"/>
              <a:buChar char="•"/>
            </a:pPr>
            <a:r>
              <a:rPr lang="en-US" b="0" dirty="0"/>
              <a:t>This rotation is rigid—it assumes the underlying constructs are independent.</a:t>
            </a:r>
          </a:p>
          <a:p>
            <a:pPr>
              <a:buFont typeface="Arial" panose="020B0604020202020204" pitchFamily="34" charset="0"/>
              <a:buChar char="•"/>
            </a:pPr>
            <a:r>
              <a:rPr lang="en-US" b="0" dirty="0"/>
              <a:t>Bottom diagram: Oblique Rotation</a:t>
            </a:r>
          </a:p>
          <a:p>
            <a:pPr marL="742950" lvl="1" indent="-285750">
              <a:buFont typeface="Arial" panose="020B0604020202020204" pitchFamily="34" charset="0"/>
              <a:buChar char="•"/>
            </a:pPr>
            <a:r>
              <a:rPr lang="en-US" b="0" dirty="0"/>
              <a:t>The axes are allowed to tilt toward each other (not necessarily 90°).</a:t>
            </a:r>
          </a:p>
          <a:p>
            <a:pPr marL="742950" lvl="1" indent="-285750">
              <a:buFont typeface="Arial" panose="020B0604020202020204" pitchFamily="34" charset="0"/>
              <a:buChar char="•"/>
            </a:pPr>
            <a:r>
              <a:rPr lang="en-US" b="0" dirty="0"/>
              <a:t>This allows the factors to correlate, which is often more realistic in social science data (e.g., depression and anxiety).</a:t>
            </a:r>
          </a:p>
          <a:p>
            <a:r>
              <a:rPr lang="en-US" b="0" dirty="0"/>
              <a:t>Oblique rotation gives you a more flexible, and often more accurate, picture of how variables relate to correlated constructs.</a:t>
            </a:r>
          </a:p>
          <a:p>
            <a:r>
              <a:rPr lang="en-US" b="0" dirty="0"/>
              <a:t>🔹 Right: Table of Loadings Before and After Rotation</a:t>
            </a:r>
          </a:p>
          <a:p>
            <a:pPr>
              <a:buFont typeface="Arial" panose="020B0604020202020204" pitchFamily="34" charset="0"/>
              <a:buChar char="•"/>
            </a:pPr>
            <a:r>
              <a:rPr lang="en-US" b="0" dirty="0"/>
              <a:t>Unrotated factor loadings are messy—each variable loads on both factors to some degree.</a:t>
            </a:r>
          </a:p>
          <a:p>
            <a:pPr>
              <a:buFont typeface="Arial" panose="020B0604020202020204" pitchFamily="34" charset="0"/>
              <a:buChar char="•"/>
            </a:pPr>
            <a:r>
              <a:rPr lang="en-US" b="0" dirty="0"/>
              <a:t>Rotated loadings (highlighted) show the improvement:</a:t>
            </a:r>
            <a:br>
              <a:rPr lang="en-US" b="0" dirty="0"/>
            </a:br>
            <a:r>
              <a:rPr lang="en-US" b="0" dirty="0"/>
              <a:t>Now, each variable loads strongly on one factor and weakly on the other, making interpretation straightforward.</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2128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 loadings are the </a:t>
            </a:r>
            <a:r>
              <a:rPr lang="en-US" b="1" dirty="0"/>
              <a:t>core output</a:t>
            </a:r>
            <a:r>
              <a:rPr lang="en-US" dirty="0"/>
              <a:t> of factor analysis. They tell us </a:t>
            </a:r>
            <a:r>
              <a:rPr lang="en-US" b="1" dirty="0"/>
              <a:t>how strongly each variable is associated with each factor</a:t>
            </a:r>
            <a:r>
              <a:rPr lang="en-US" dirty="0"/>
              <a:t>—like a correlation between the item and the underlying dimension.</a:t>
            </a:r>
          </a:p>
          <a:p>
            <a:pPr>
              <a:buFont typeface="Arial" panose="020B0604020202020204" pitchFamily="34" charset="0"/>
              <a:buChar char="•"/>
            </a:pPr>
            <a:r>
              <a:rPr lang="en-US" b="1" dirty="0"/>
              <a:t>Magnitude matters</a:t>
            </a:r>
            <a:r>
              <a:rPr lang="en-US" dirty="0"/>
              <a:t>:</a:t>
            </a:r>
            <a:br>
              <a:rPr lang="en-US" dirty="0"/>
            </a:br>
            <a:r>
              <a:rPr lang="en-US" dirty="0"/>
              <a:t>Loadings </a:t>
            </a:r>
            <a:r>
              <a:rPr lang="en-US" b="1" dirty="0"/>
              <a:t>≥ .30</a:t>
            </a:r>
            <a:r>
              <a:rPr lang="en-US" dirty="0"/>
              <a:t> are usually considered meaningful.</a:t>
            </a:r>
            <a:br>
              <a:rPr lang="en-US" dirty="0"/>
            </a:br>
            <a:r>
              <a:rPr lang="en-US" b="1" dirty="0"/>
              <a:t>≥ .40</a:t>
            </a:r>
            <a:r>
              <a:rPr lang="en-US" dirty="0"/>
              <a:t> is better, and </a:t>
            </a:r>
            <a:r>
              <a:rPr lang="en-US" b="1" dirty="0"/>
              <a:t>closer to 1.0</a:t>
            </a:r>
            <a:r>
              <a:rPr lang="en-US" dirty="0"/>
              <a:t> means a stronger contribution to that factor.</a:t>
            </a:r>
          </a:p>
          <a:p>
            <a:pPr>
              <a:buFont typeface="Arial" panose="020B0604020202020204" pitchFamily="34" charset="0"/>
              <a:buChar char="•"/>
            </a:pPr>
            <a:r>
              <a:rPr lang="en-US" b="1" dirty="0"/>
              <a:t>What does a loading mean?</a:t>
            </a:r>
            <a:br>
              <a:rPr lang="en-US" dirty="0"/>
            </a:br>
            <a:r>
              <a:rPr lang="en-US" dirty="0"/>
              <a:t>If a variable loads </a:t>
            </a:r>
            <a:r>
              <a:rPr lang="en-US" b="1" dirty="0"/>
              <a:t>.60</a:t>
            </a:r>
            <a:r>
              <a:rPr lang="en-US" dirty="0"/>
              <a:t> on a factor, then:</a:t>
            </a:r>
          </a:p>
          <a:p>
            <a:pPr>
              <a:buFont typeface="Arial" panose="020B0604020202020204" pitchFamily="34" charset="0"/>
              <a:buChar char="•"/>
            </a:pPr>
            <a:r>
              <a:rPr lang="en-US" dirty="0"/>
              <a:t>.602=.36.60^2 = .36.602=.36 → </a:t>
            </a:r>
            <a:r>
              <a:rPr lang="en-US" b="1" dirty="0"/>
              <a:t>36% of that variable’s variance is explained by the factor</a:t>
            </a:r>
            <a:br>
              <a:rPr lang="en-US" dirty="0"/>
            </a:br>
            <a:r>
              <a:rPr lang="en-US" dirty="0"/>
              <a:t>This is called the </a:t>
            </a:r>
            <a:r>
              <a:rPr lang="en-US" b="1" dirty="0"/>
              <a:t>communality</a:t>
            </a:r>
            <a:r>
              <a:rPr lang="en-US" dirty="0"/>
              <a:t> contribution from that variable to that factor.</a:t>
            </a:r>
          </a:p>
          <a:p>
            <a:pPr>
              <a:buFont typeface="Arial" panose="020B0604020202020204" pitchFamily="34" charset="0"/>
              <a:buChar char="•"/>
            </a:pPr>
            <a:r>
              <a:rPr lang="en-US" b="1" dirty="0"/>
              <a:t>Ideal case (that never quite happens):</a:t>
            </a:r>
            <a:br>
              <a:rPr lang="en-US" dirty="0"/>
            </a:br>
            <a:r>
              <a:rPr lang="en-US" dirty="0"/>
              <a:t>You want each variable to have </a:t>
            </a:r>
            <a:r>
              <a:rPr lang="en-US" b="1" dirty="0"/>
              <a:t>one strong loading on a single factor</a:t>
            </a:r>
            <a:r>
              <a:rPr lang="en-US" dirty="0"/>
              <a:t> and near-zero on all others.</a:t>
            </a:r>
            <a:br>
              <a:rPr lang="en-US" dirty="0"/>
            </a:br>
            <a:r>
              <a:rPr lang="en-US" dirty="0"/>
              <a:t>But in the real world? Cross-loadings happen—and that’s why rotation helps.</a:t>
            </a:r>
          </a:p>
          <a:p>
            <a:pPr>
              <a:buFont typeface="Arial" panose="020B0604020202020204" pitchFamily="34" charset="0"/>
              <a:buChar char="•"/>
            </a:pPr>
            <a:r>
              <a:rPr lang="en-US" b="1" dirty="0"/>
              <a:t>Negative loadings are okay</a:t>
            </a:r>
            <a:r>
              <a:rPr lang="en-US" dirty="0"/>
              <a:t>:</a:t>
            </a:r>
            <a:br>
              <a:rPr lang="en-US" dirty="0"/>
            </a:br>
            <a:r>
              <a:rPr lang="en-US" dirty="0"/>
              <a:t>They just mean the variable moves </a:t>
            </a:r>
            <a:r>
              <a:rPr lang="en-US" b="1" dirty="0"/>
              <a:t>inversely</a:t>
            </a:r>
            <a:r>
              <a:rPr lang="en-US" dirty="0"/>
              <a:t> with the factor. You can </a:t>
            </a:r>
            <a:r>
              <a:rPr lang="en-US" b="1" dirty="0"/>
              <a:t>recode the item</a:t>
            </a:r>
            <a:r>
              <a:rPr lang="en-US" dirty="0"/>
              <a:t> for easier interpretation, but it’s not wrong.</a:t>
            </a:r>
          </a:p>
          <a:p>
            <a:pPr>
              <a:buFont typeface="Arial" panose="020B0604020202020204" pitchFamily="34" charset="0"/>
              <a:buChar char="•"/>
            </a:pPr>
            <a:r>
              <a:rPr lang="en-US" b="1" dirty="0"/>
              <a:t>Bipolar factors</a:t>
            </a:r>
            <a:r>
              <a:rPr lang="en-US" dirty="0"/>
              <a:t>:</a:t>
            </a:r>
            <a:br>
              <a:rPr lang="en-US" dirty="0"/>
            </a:br>
            <a:r>
              <a:rPr lang="en-US" dirty="0"/>
              <a:t>Sometimes a factor is defined by </a:t>
            </a:r>
            <a:r>
              <a:rPr lang="en-US" b="1" dirty="0"/>
              <a:t>positive loadings on one set of variables</a:t>
            </a:r>
            <a:r>
              <a:rPr lang="en-US" dirty="0"/>
              <a:t> and </a:t>
            </a:r>
            <a:r>
              <a:rPr lang="en-US" b="1" dirty="0"/>
              <a:t>negative loadings on another</a:t>
            </a:r>
            <a:r>
              <a:rPr lang="en-US" dirty="0"/>
              <a:t>.</a:t>
            </a:r>
            <a:br>
              <a:rPr lang="en-US" dirty="0"/>
            </a:br>
            <a:r>
              <a:rPr lang="en-US" dirty="0"/>
              <a:t>This means the factor represents a </a:t>
            </a:r>
            <a:r>
              <a:rPr lang="en-US" b="1" dirty="0"/>
              <a:t>spectrum or contrast</a:t>
            </a:r>
            <a:r>
              <a:rPr lang="en-US" dirty="0"/>
              <a:t>—like “introversion vs. extraversion.”</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143CBBE-8647-4FF0-BB78-44590B58933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5816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 analysis isn’t overly fragile, but it does rest on a few key assumptions. When these are violated, your solution can become unstable or misleading.</a:t>
            </a:r>
          </a:p>
          <a:p>
            <a:r>
              <a:rPr lang="en-US" dirty="0"/>
              <a:t>Let’s walk through the list:</a:t>
            </a:r>
          </a:p>
          <a:p>
            <a:pPr>
              <a:buFont typeface="Arial" panose="020B0604020202020204" pitchFamily="34" charset="0"/>
              <a:buChar char="•"/>
            </a:pPr>
            <a:r>
              <a:rPr lang="en-US" b="1" dirty="0"/>
              <a:t>Independence</a:t>
            </a:r>
            <a:r>
              <a:rPr lang="en-US" dirty="0"/>
              <a:t>:</a:t>
            </a:r>
            <a:br>
              <a:rPr lang="en-US" dirty="0"/>
            </a:br>
            <a:r>
              <a:rPr lang="en-US" dirty="0"/>
              <a:t>We assume observations (cases) are not dependent on one another.</a:t>
            </a:r>
          </a:p>
          <a:p>
            <a:pPr>
              <a:buFont typeface="Arial" panose="020B0604020202020204" pitchFamily="34" charset="0"/>
              <a:buChar char="•"/>
            </a:pPr>
            <a:r>
              <a:rPr lang="en-US" dirty="0"/>
              <a:t>Violations affect </a:t>
            </a:r>
            <a:r>
              <a:rPr lang="en-US" b="1" dirty="0"/>
              <a:t>standard errors and hypothesis tests</a:t>
            </a:r>
            <a:r>
              <a:rPr lang="en-US" dirty="0"/>
              <a:t>, making them less trustworthy.</a:t>
            </a:r>
          </a:p>
          <a:p>
            <a:pPr>
              <a:buFont typeface="Arial" panose="020B0604020202020204" pitchFamily="34" charset="0"/>
              <a:buChar char="•"/>
            </a:pPr>
            <a:r>
              <a:rPr lang="en-US" b="1" dirty="0"/>
              <a:t>Linearity</a:t>
            </a:r>
            <a:r>
              <a:rPr lang="en-US" dirty="0"/>
              <a:t>:</a:t>
            </a:r>
            <a:br>
              <a:rPr lang="en-US" dirty="0"/>
            </a:br>
            <a:r>
              <a:rPr lang="en-US" dirty="0"/>
              <a:t>FA models </a:t>
            </a:r>
            <a:r>
              <a:rPr lang="en-US" b="1" dirty="0"/>
              <a:t>shared variance</a:t>
            </a:r>
            <a:r>
              <a:rPr lang="en-US" dirty="0"/>
              <a:t>, so we need </a:t>
            </a:r>
            <a:r>
              <a:rPr lang="en-US" b="1" dirty="0"/>
              <a:t>linear relationships</a:t>
            </a:r>
            <a:r>
              <a:rPr lang="en-US" dirty="0"/>
              <a:t> among variables.</a:t>
            </a:r>
          </a:p>
          <a:p>
            <a:pPr>
              <a:buFont typeface="Arial" panose="020B0604020202020204" pitchFamily="34" charset="0"/>
              <a:buChar char="•"/>
            </a:pPr>
            <a:r>
              <a:rPr lang="en-US" dirty="0"/>
              <a:t>If non-linear patterns are present, </a:t>
            </a:r>
            <a:r>
              <a:rPr lang="en-US" b="1" dirty="0"/>
              <a:t>interpretability suffers</a:t>
            </a:r>
            <a:r>
              <a:rPr lang="en-US" dirty="0"/>
              <a:t>—you might miss the true structure.</a:t>
            </a:r>
          </a:p>
          <a:p>
            <a:pPr>
              <a:buFont typeface="Arial" panose="020B0604020202020204" pitchFamily="34" charset="0"/>
              <a:buChar char="•"/>
            </a:pPr>
            <a:r>
              <a:rPr lang="en-US" b="1" dirty="0"/>
              <a:t>No extreme outliers</a:t>
            </a:r>
            <a:r>
              <a:rPr lang="en-US" dirty="0"/>
              <a:t>:</a:t>
            </a:r>
            <a:br>
              <a:rPr lang="en-US" dirty="0"/>
            </a:br>
            <a:r>
              <a:rPr lang="en-US" dirty="0"/>
              <a:t>Outliers can </a:t>
            </a:r>
            <a:r>
              <a:rPr lang="en-US" b="1" dirty="0"/>
              <a:t>dominate the solution</a:t>
            </a:r>
            <a:r>
              <a:rPr lang="en-US" dirty="0"/>
              <a:t>, pulling factors in odd directions.</a:t>
            </a:r>
          </a:p>
          <a:p>
            <a:pPr>
              <a:buFont typeface="Arial" panose="020B0604020202020204" pitchFamily="34" charset="0"/>
              <a:buChar char="•"/>
            </a:pPr>
            <a:r>
              <a:rPr lang="en-US" dirty="0"/>
              <a:t>Always check distributions.</a:t>
            </a:r>
          </a:p>
          <a:p>
            <a:pPr>
              <a:buFont typeface="Arial" panose="020B0604020202020204" pitchFamily="34" charset="0"/>
              <a:buChar char="•"/>
            </a:pPr>
            <a:r>
              <a:rPr lang="en-US" b="1" dirty="0"/>
              <a:t>No extreme multicollinearity</a:t>
            </a:r>
            <a:r>
              <a:rPr lang="en-US" dirty="0"/>
              <a:t>:</a:t>
            </a:r>
            <a:br>
              <a:rPr lang="en-US" dirty="0"/>
            </a:br>
            <a:r>
              <a:rPr lang="en-US" dirty="0"/>
              <a:t>Some correlation is good (that’s the point of FA), but </a:t>
            </a:r>
            <a:r>
              <a:rPr lang="en-US" b="1" dirty="0"/>
              <a:t>extreme</a:t>
            </a:r>
            <a:r>
              <a:rPr lang="en-US" dirty="0"/>
              <a:t> multicollinearity makes it hard to tell variables apart.</a:t>
            </a:r>
          </a:p>
          <a:p>
            <a:pPr>
              <a:buFont typeface="Arial" panose="020B0604020202020204" pitchFamily="34" charset="0"/>
              <a:buChar char="•"/>
            </a:pPr>
            <a:r>
              <a:rPr lang="en-US" b="1" dirty="0"/>
              <a:t>Multivariate normality</a:t>
            </a:r>
            <a:r>
              <a:rPr lang="en-US" dirty="0"/>
              <a:t> (bolded for a reason):</a:t>
            </a:r>
            <a:br>
              <a:rPr lang="en-US" dirty="0"/>
            </a:br>
            <a:r>
              <a:rPr lang="en-US" dirty="0"/>
              <a:t>This is </a:t>
            </a:r>
            <a:r>
              <a:rPr lang="en-US" b="1" dirty="0"/>
              <a:t>not essential</a:t>
            </a:r>
            <a:r>
              <a:rPr lang="en-US" dirty="0"/>
              <a:t> unless you're using </a:t>
            </a:r>
            <a:r>
              <a:rPr lang="en-US" b="1" dirty="0"/>
              <a:t>Maximum Likelihood Estimation (MLE)</a:t>
            </a:r>
            <a:r>
              <a:rPr lang="en-US" dirty="0"/>
              <a:t> or have </a:t>
            </a:r>
            <a:r>
              <a:rPr lang="en-US" b="1" dirty="0"/>
              <a:t>small sample sizes</a:t>
            </a:r>
            <a:r>
              <a:rPr lang="en-US" dirty="0"/>
              <a:t>.</a:t>
            </a:r>
          </a:p>
          <a:p>
            <a:pPr>
              <a:buFont typeface="Arial" panose="020B0604020202020204" pitchFamily="34" charset="0"/>
              <a:buChar char="•"/>
            </a:pPr>
            <a:r>
              <a:rPr lang="en-US" dirty="0"/>
              <a:t>With large samples and PCA, you can relax this assumption.</a:t>
            </a:r>
          </a:p>
          <a:p>
            <a:pPr>
              <a:buFont typeface="Arial" panose="020B0604020202020204" pitchFamily="34" charset="0"/>
              <a:buChar char="•"/>
            </a:pPr>
            <a:r>
              <a:rPr lang="en-US" b="1" dirty="0"/>
              <a:t>Sample size</a:t>
            </a:r>
            <a:r>
              <a:rPr lang="en-US" dirty="0"/>
              <a:t>:</a:t>
            </a:r>
            <a:br>
              <a:rPr lang="en-US" dirty="0"/>
            </a:br>
            <a:r>
              <a:rPr lang="en-US" dirty="0"/>
              <a:t>Rule of thumb: at least </a:t>
            </a:r>
            <a:r>
              <a:rPr lang="en-US" b="1" dirty="0"/>
              <a:t>10 observations per variable</a:t>
            </a:r>
            <a:r>
              <a:rPr lang="en-US" dirty="0"/>
              <a:t>, with </a:t>
            </a:r>
            <a:r>
              <a:rPr lang="en-US" b="1" dirty="0"/>
              <a:t>n ≥ 200</a:t>
            </a:r>
            <a:r>
              <a:rPr lang="en-US" dirty="0"/>
              <a:t> for stability.</a:t>
            </a:r>
          </a:p>
          <a:p>
            <a:pPr>
              <a:buFont typeface="Arial" panose="020B0604020202020204" pitchFamily="34" charset="0"/>
              <a:buChar char="•"/>
            </a:pPr>
            <a:r>
              <a:rPr lang="en-US" dirty="0"/>
              <a:t>More cases = more reliable factors.</a:t>
            </a:r>
          </a:p>
          <a:p>
            <a:pPr>
              <a:buFont typeface="Arial" panose="020B0604020202020204" pitchFamily="34" charset="0"/>
              <a:buChar char="•"/>
            </a:pPr>
            <a:r>
              <a:rPr lang="en-US" b="1" dirty="0"/>
              <a:t>Homogeneity of the sample</a:t>
            </a:r>
            <a:r>
              <a:rPr lang="en-US" dirty="0"/>
              <a:t>:</a:t>
            </a:r>
            <a:br>
              <a:rPr lang="en-US" dirty="0"/>
            </a:br>
            <a:r>
              <a:rPr lang="en-US" dirty="0"/>
              <a:t>If you’re pooling across </a:t>
            </a:r>
            <a:r>
              <a:rPr lang="en-US" b="1" dirty="0"/>
              <a:t>very different subgroups</a:t>
            </a:r>
            <a:r>
              <a:rPr lang="en-US" dirty="0"/>
              <a:t>, your factor structure may get muddled.</a:t>
            </a:r>
          </a:p>
          <a:p>
            <a:pPr>
              <a:buFont typeface="Arial" panose="020B0604020202020204" pitchFamily="34" charset="0"/>
              <a:buChar char="•"/>
            </a:pPr>
            <a:r>
              <a:rPr lang="en-US" dirty="0"/>
              <a:t>Consider whether stratification or group-specific analyses are warranted.</a:t>
            </a:r>
          </a:p>
          <a:p>
            <a:endParaRPr lang="en-US" dirty="0"/>
          </a:p>
        </p:txBody>
      </p:sp>
      <p:sp>
        <p:nvSpPr>
          <p:cNvPr id="4" name="Slide Number Placeholder 3"/>
          <p:cNvSpPr>
            <a:spLocks noGrp="1"/>
          </p:cNvSpPr>
          <p:nvPr>
            <p:ph type="sldNum" sz="quarter" idx="5"/>
          </p:nvPr>
        </p:nvSpPr>
        <p:spPr/>
        <p:txBody>
          <a:bodyPr/>
          <a:lstStyle/>
          <a:p>
            <a:fld id="{796D0D24-7CDE-4B3B-83FD-38D4FBFEDC07}" type="slidenum">
              <a:rPr lang="en-US" smtClean="0"/>
              <a:t>72</a:t>
            </a:fld>
            <a:endParaRPr lang="en-US"/>
          </a:p>
        </p:txBody>
      </p:sp>
    </p:spTree>
    <p:extLst>
      <p:ext uri="{BB962C8B-B14F-4D97-AF65-F5344CB8AC3E}">
        <p14:creationId xmlns:p14="http://schemas.microsoft.com/office/powerpoint/2010/main" val="707241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A78AF-4418-5CEF-4D30-0268876F4A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062F03-D6C5-2A8C-F0B0-52BE4AC18D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F3D2B-D912-8510-C081-4D4503BB3958}"/>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5" name="Footer Placeholder 4">
            <a:extLst>
              <a:ext uri="{FF2B5EF4-FFF2-40B4-BE49-F238E27FC236}">
                <a16:creationId xmlns:a16="http://schemas.microsoft.com/office/drawing/2014/main" id="{4B64F8B1-36B4-F679-3431-A38FA2AFD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EAA192-EB91-7D4D-9B6C-9A0861236146}"/>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02539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A31D8-C680-E95A-9D8E-FDA75AFEF2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18C516-D956-B47F-5720-2872858E27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6CBA35-C018-5539-D50A-48B21BF5A023}"/>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5" name="Footer Placeholder 4">
            <a:extLst>
              <a:ext uri="{FF2B5EF4-FFF2-40B4-BE49-F238E27FC236}">
                <a16:creationId xmlns:a16="http://schemas.microsoft.com/office/drawing/2014/main" id="{247B05D5-7F9E-AD86-C3CE-391C299112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AB9DA7-9C5D-041F-A18A-5BF2338E54C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843638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6D2D-E259-1E82-FC36-18D7B9542B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49949C-4C2F-B04A-678B-7F0EF65189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C21D74-2633-CCC6-63D3-713DF095EC2F}"/>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5" name="Footer Placeholder 4">
            <a:extLst>
              <a:ext uri="{FF2B5EF4-FFF2-40B4-BE49-F238E27FC236}">
                <a16:creationId xmlns:a16="http://schemas.microsoft.com/office/drawing/2014/main" id="{F7721CB6-EACB-C2DF-09A4-F4D3377D0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A7A63-2005-ACA2-F19E-72AE68D1B132}"/>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51708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F90C-EDAC-BC53-F9FC-BF7F94E57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FA999F-8D87-3C98-85F3-52805FB6BB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293A0D3-319E-ABAE-C3BB-309E69D28A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9BE77D-190E-E1F1-3902-3EE4F562EFFF}"/>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6" name="Footer Placeholder 5">
            <a:extLst>
              <a:ext uri="{FF2B5EF4-FFF2-40B4-BE49-F238E27FC236}">
                <a16:creationId xmlns:a16="http://schemas.microsoft.com/office/drawing/2014/main" id="{630AC9D0-C9E5-F9C3-DD51-74B2E40EE3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2AD4EB-BC80-BDE8-0201-05655405ED5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238973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1264E-45C7-B268-4470-186705F860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BF1B76-DF88-5BF3-081A-63CD84E6E0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B9E4C1-C4C4-2764-058F-428A8B4E4A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512344-B30F-9A8D-95C4-460E230F1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F7F2D-7FA7-5B9A-092D-1FFAF13F2A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33647F-5241-C4A3-5C3D-6200A089293C}"/>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8" name="Footer Placeholder 7">
            <a:extLst>
              <a:ext uri="{FF2B5EF4-FFF2-40B4-BE49-F238E27FC236}">
                <a16:creationId xmlns:a16="http://schemas.microsoft.com/office/drawing/2014/main" id="{B8281930-6CE8-BB9B-E2C6-E2352D93E1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F02AD4-7CC7-E4D7-D213-1734F7F62E1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973098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F040B-96C7-94BD-A30C-72DE00FBAB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8C51BC-CC1E-3DD9-9205-E3AD6B288915}"/>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4" name="Footer Placeholder 3">
            <a:extLst>
              <a:ext uri="{FF2B5EF4-FFF2-40B4-BE49-F238E27FC236}">
                <a16:creationId xmlns:a16="http://schemas.microsoft.com/office/drawing/2014/main" id="{6B4A3918-D63C-2EA0-DBF5-837F47ADBB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06C7F0-6EC1-5789-81F8-4767EF1D4DA3}"/>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4064990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F7E13A-075E-5083-BDA1-EFE2A847FDCD}"/>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3" name="Footer Placeholder 2">
            <a:extLst>
              <a:ext uri="{FF2B5EF4-FFF2-40B4-BE49-F238E27FC236}">
                <a16:creationId xmlns:a16="http://schemas.microsoft.com/office/drawing/2014/main" id="{9FC48778-F613-BB0B-C8BE-79395DB457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6D8B24D-51B1-767A-75F5-5239D0DA39FF}"/>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460416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0C3D-58F8-4038-3BF0-3FEAF7754D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9ACAFFF-5486-4B5A-6C2C-272D974D5E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614CE1-F460-11A0-CF91-2EF2FFF0E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814999-5AB8-BE8C-6DBE-254ADCC0AC66}"/>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6" name="Footer Placeholder 5">
            <a:extLst>
              <a:ext uri="{FF2B5EF4-FFF2-40B4-BE49-F238E27FC236}">
                <a16:creationId xmlns:a16="http://schemas.microsoft.com/office/drawing/2014/main" id="{F85AC227-3C05-D965-B303-35C487D4A0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8743F0-3A93-4ABB-60D0-514E48351E78}"/>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4036728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71D2-2EB4-8B4B-2654-D3DF7209C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4888D7-91D3-2600-0F79-A112CE3F2D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BA3FD9-4BE3-FD4F-6024-4FB6F321CE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1F6A4D-F8A2-639B-601E-D9665CEE952D}"/>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6" name="Footer Placeholder 5">
            <a:extLst>
              <a:ext uri="{FF2B5EF4-FFF2-40B4-BE49-F238E27FC236}">
                <a16:creationId xmlns:a16="http://schemas.microsoft.com/office/drawing/2014/main" id="{CDFBA3A3-F032-9BBD-DA12-3B23352E01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4A788A-AE44-B294-C2AE-7C1569477987}"/>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3146440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A89A-333A-8ABB-1A43-BDD5B46DB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BE5283-AE7B-067D-6C59-4049BF2D81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900459-DB42-926F-176F-5B00E001559D}"/>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5" name="Footer Placeholder 4">
            <a:extLst>
              <a:ext uri="{FF2B5EF4-FFF2-40B4-BE49-F238E27FC236}">
                <a16:creationId xmlns:a16="http://schemas.microsoft.com/office/drawing/2014/main" id="{B4E0BCA0-6FEA-6674-CF50-DB9F3D4888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6554F-A8D2-40D2-61C1-746907AA3FCA}"/>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178128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183D36-9D0A-C97D-31E1-C2C1FE40CA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4F42FC-0A6A-AAA2-B3E2-653EA5DB1C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C8DAC-602F-6E80-9CDD-706F3909FD5B}"/>
              </a:ext>
            </a:extLst>
          </p:cNvPr>
          <p:cNvSpPr>
            <a:spLocks noGrp="1"/>
          </p:cNvSpPr>
          <p:nvPr>
            <p:ph type="dt" sz="half" idx="10"/>
          </p:nvPr>
        </p:nvSpPr>
        <p:spPr/>
        <p:txBody>
          <a:bodyPr/>
          <a:lstStyle/>
          <a:p>
            <a:fld id="{5BD81F86-8B07-43C5-98D2-06BCA4229DF1}" type="datetimeFigureOut">
              <a:rPr lang="en-US" smtClean="0"/>
              <a:t>4/13/2026</a:t>
            </a:fld>
            <a:endParaRPr lang="en-US"/>
          </a:p>
        </p:txBody>
      </p:sp>
      <p:sp>
        <p:nvSpPr>
          <p:cNvPr id="5" name="Footer Placeholder 4">
            <a:extLst>
              <a:ext uri="{FF2B5EF4-FFF2-40B4-BE49-F238E27FC236}">
                <a16:creationId xmlns:a16="http://schemas.microsoft.com/office/drawing/2014/main" id="{55AB8680-0649-5F60-B4BB-F0F29AEAF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678C45-0B9E-0089-20D0-7A7A605AB0AB}"/>
              </a:ext>
            </a:extLst>
          </p:cNvPr>
          <p:cNvSpPr>
            <a:spLocks noGrp="1"/>
          </p:cNvSpPr>
          <p:nvPr>
            <p:ph type="sldNum" sz="quarter" idx="12"/>
          </p:nvPr>
        </p:nvSpPr>
        <p:spPr/>
        <p:txBody>
          <a:bodyPr/>
          <a:lstStyle/>
          <a:p>
            <a:fld id="{F06547B8-D342-421E-B510-8A922C33B39C}" type="slidenum">
              <a:rPr lang="en-US" smtClean="0"/>
              <a:t>‹#›</a:t>
            </a:fld>
            <a:endParaRPr lang="en-US"/>
          </a:p>
        </p:txBody>
      </p:sp>
    </p:spTree>
    <p:extLst>
      <p:ext uri="{BB962C8B-B14F-4D97-AF65-F5344CB8AC3E}">
        <p14:creationId xmlns:p14="http://schemas.microsoft.com/office/powerpoint/2010/main" val="171931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84619-0CF4-4805-9CAC-D2C319EE5A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E07AC2-A947-DCC6-8662-D3BBDF2B0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7367D1-2203-792A-FB52-4EA09F3813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D81F86-8B07-43C5-98D2-06BCA4229DF1}" type="datetimeFigureOut">
              <a:rPr lang="en-US" smtClean="0"/>
              <a:t>4/13/2026</a:t>
            </a:fld>
            <a:endParaRPr lang="en-US"/>
          </a:p>
        </p:txBody>
      </p:sp>
      <p:sp>
        <p:nvSpPr>
          <p:cNvPr id="5" name="Footer Placeholder 4">
            <a:extLst>
              <a:ext uri="{FF2B5EF4-FFF2-40B4-BE49-F238E27FC236}">
                <a16:creationId xmlns:a16="http://schemas.microsoft.com/office/drawing/2014/main" id="{2E7CACC7-60F6-63A8-ADE3-813605BBFD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B964AF-0D8D-F853-A107-43BB5B98C6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6547B8-D342-421E-B510-8A922C33B39C}" type="slidenum">
              <a:rPr lang="en-US" smtClean="0"/>
              <a:t>‹#›</a:t>
            </a:fld>
            <a:endParaRPr lang="en-US"/>
          </a:p>
        </p:txBody>
      </p:sp>
    </p:spTree>
    <p:extLst>
      <p:ext uri="{BB962C8B-B14F-4D97-AF65-F5344CB8AC3E}">
        <p14:creationId xmlns:p14="http://schemas.microsoft.com/office/powerpoint/2010/main" val="4157540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54468-02FA-D663-DA3C-D2CE939F61DC}"/>
              </a:ext>
            </a:extLst>
          </p:cNvPr>
          <p:cNvSpPr>
            <a:spLocks noGrp="1"/>
          </p:cNvSpPr>
          <p:nvPr>
            <p:ph type="ctrTitle"/>
          </p:nvPr>
        </p:nvSpPr>
        <p:spPr/>
        <p:txBody>
          <a:bodyPr/>
          <a:lstStyle/>
          <a:p>
            <a:r>
              <a:rPr lang="en-US" dirty="0"/>
              <a:t>Factor Analysis</a:t>
            </a:r>
          </a:p>
        </p:txBody>
      </p:sp>
      <p:sp>
        <p:nvSpPr>
          <p:cNvPr id="3" name="Subtitle 2">
            <a:extLst>
              <a:ext uri="{FF2B5EF4-FFF2-40B4-BE49-F238E27FC236}">
                <a16:creationId xmlns:a16="http://schemas.microsoft.com/office/drawing/2014/main" id="{40A9B2AB-B541-93FD-488E-CB05D575ACFD}"/>
              </a:ext>
            </a:extLst>
          </p:cNvPr>
          <p:cNvSpPr>
            <a:spLocks noGrp="1"/>
          </p:cNvSpPr>
          <p:nvPr>
            <p:ph type="subTitle" idx="1"/>
          </p:nvPr>
        </p:nvSpPr>
        <p:spPr/>
        <p:txBody>
          <a:bodyPr/>
          <a:lstStyle/>
          <a:p>
            <a:r>
              <a:rPr lang="en-US" dirty="0"/>
              <a:t>Week 13</a:t>
            </a:r>
          </a:p>
          <a:p>
            <a:r>
              <a:rPr lang="en-US" dirty="0"/>
              <a:t>April 14, 2026</a:t>
            </a:r>
          </a:p>
        </p:txBody>
      </p:sp>
    </p:spTree>
    <p:extLst>
      <p:ext uri="{BB962C8B-B14F-4D97-AF65-F5344CB8AC3E}">
        <p14:creationId xmlns:p14="http://schemas.microsoft.com/office/powerpoint/2010/main" val="3783517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020677-F6C2-6DE5-4B9F-D49F2F531BDD}"/>
              </a:ext>
            </a:extLst>
          </p:cNvPr>
          <p:cNvSpPr>
            <a:spLocks noGrp="1"/>
          </p:cNvSpPr>
          <p:nvPr>
            <p:ph type="title"/>
          </p:nvPr>
        </p:nvSpPr>
        <p:spPr>
          <a:xfrm>
            <a:off x="130534" y="150441"/>
            <a:ext cx="10515600" cy="628788"/>
          </a:xfrm>
        </p:spPr>
        <p:txBody>
          <a:bodyPr>
            <a:normAutofit fontScale="90000"/>
          </a:bodyPr>
          <a:lstStyle/>
          <a:p>
            <a:r>
              <a:rPr lang="en-US" dirty="0"/>
              <a:t>What is Factor analysis (FA)?</a:t>
            </a:r>
          </a:p>
        </p:txBody>
      </p:sp>
      <p:sp>
        <p:nvSpPr>
          <p:cNvPr id="5" name="Content Placeholder 4">
            <a:extLst>
              <a:ext uri="{FF2B5EF4-FFF2-40B4-BE49-F238E27FC236}">
                <a16:creationId xmlns:a16="http://schemas.microsoft.com/office/drawing/2014/main" id="{C929B6C7-CB9F-90D2-8E1D-74E0F345CA46}"/>
              </a:ext>
            </a:extLst>
          </p:cNvPr>
          <p:cNvSpPr>
            <a:spLocks noGrp="1"/>
          </p:cNvSpPr>
          <p:nvPr>
            <p:ph idx="1"/>
          </p:nvPr>
        </p:nvSpPr>
        <p:spPr>
          <a:xfrm>
            <a:off x="233901" y="779229"/>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FA is a tool for analyzing the </a:t>
            </a:r>
            <a:r>
              <a:rPr lang="en-US" sz="2000" b="1" i="1" dirty="0">
                <a:latin typeface="Calibri" panose="020F0502020204030204" pitchFamily="34" charset="0"/>
                <a:ea typeface="Calibri" panose="020F0502020204030204" pitchFamily="34" charset="0"/>
                <a:cs typeface="Calibri" panose="020F0502020204030204" pitchFamily="34" charset="0"/>
              </a:rPr>
              <a:t>structure of the interrelationships among a large number of variables </a:t>
            </a:r>
            <a:r>
              <a:rPr lang="en-US" sz="2000" dirty="0">
                <a:latin typeface="Calibri" panose="020F0502020204030204" pitchFamily="34" charset="0"/>
                <a:ea typeface="Calibri" panose="020F0502020204030204" pitchFamily="34" charset="0"/>
                <a:cs typeface="Calibri" panose="020F0502020204030204" pitchFamily="34" charset="0"/>
              </a:rPr>
              <a:t>by defining sets of variables that are highly interrelated</a:t>
            </a:r>
          </a:p>
          <a:p>
            <a:r>
              <a:rPr lang="en-US" sz="2000" dirty="0">
                <a:latin typeface="Calibri" panose="020F0502020204030204" pitchFamily="34" charset="0"/>
                <a:ea typeface="Calibri" panose="020F0502020204030204" pitchFamily="34" charset="0"/>
                <a:cs typeface="Calibri" panose="020F0502020204030204" pitchFamily="34" charset="0"/>
              </a:rPr>
              <a:t>Researchers and clinicians use different measures to capture different underlying constructs (?)</a:t>
            </a:r>
          </a:p>
          <a:p>
            <a:pPr lvl="1"/>
            <a:r>
              <a:rPr lang="en-US" sz="1800" dirty="0">
                <a:latin typeface="Calibri" panose="020F0502020204030204" pitchFamily="34" charset="0"/>
                <a:ea typeface="Calibri" panose="020F0502020204030204" pitchFamily="34" charset="0"/>
                <a:cs typeface="Calibri" panose="020F0502020204030204" pitchFamily="34" charset="0"/>
              </a:rPr>
              <a:t>To be representative of the underlying construct, the variables should ‘cluster’ together around that construct</a:t>
            </a:r>
          </a:p>
          <a:p>
            <a:pPr lvl="1"/>
            <a:r>
              <a:rPr lang="en-US" sz="1800" dirty="0">
                <a:latin typeface="Calibri" panose="020F0502020204030204" pitchFamily="34" charset="0"/>
                <a:ea typeface="Calibri" panose="020F0502020204030204" pitchFamily="34" charset="0"/>
                <a:cs typeface="Calibri" panose="020F0502020204030204" pitchFamily="34" charset="0"/>
              </a:rPr>
              <a:t>The construct is called a latent variable and is represented by a ‘factor’</a:t>
            </a:r>
          </a:p>
          <a:p>
            <a:pPr lvl="1"/>
            <a:r>
              <a:rPr lang="en-US" sz="1800" b="1" dirty="0">
                <a:latin typeface="Calibri" panose="020F0502020204030204" pitchFamily="34" charset="0"/>
                <a:ea typeface="Calibri" panose="020F0502020204030204" pitchFamily="34" charset="0"/>
                <a:cs typeface="Calibri" panose="020F0502020204030204" pitchFamily="34" charset="0"/>
              </a:rPr>
              <a:t>Note</a:t>
            </a:r>
            <a:r>
              <a:rPr lang="en-US" sz="1800" dirty="0">
                <a:latin typeface="Calibri" panose="020F0502020204030204" pitchFamily="34" charset="0"/>
                <a:ea typeface="Calibri" panose="020F0502020204030204" pitchFamily="34" charset="0"/>
                <a:cs typeface="Calibri" panose="020F0502020204030204" pitchFamily="34" charset="0"/>
              </a:rPr>
              <a:t>: in Latent Class Analysis (next) the latent variable is referred to as a ‘class,’ profile or typology</a:t>
            </a:r>
          </a:p>
          <a:p>
            <a:r>
              <a:rPr lang="en-US" sz="2000" dirty="0">
                <a:latin typeface="Calibri" panose="020F0502020204030204" pitchFamily="34" charset="0"/>
                <a:ea typeface="Calibri" panose="020F0502020204030204" pitchFamily="34" charset="0"/>
                <a:cs typeface="Calibri" panose="020F0502020204030204" pitchFamily="34" charset="0"/>
              </a:rPr>
              <a:t>The factors</a:t>
            </a:r>
            <a:r>
              <a:rPr lang="en-US" sz="2000" b="1"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are assumed to represent dimensions within the data structure</a:t>
            </a:r>
          </a:p>
          <a:p>
            <a:pPr lvl="1"/>
            <a:r>
              <a:rPr lang="en-US" sz="1800" dirty="0">
                <a:latin typeface="Calibri" panose="020F0502020204030204" pitchFamily="34" charset="0"/>
                <a:ea typeface="Calibri" panose="020F0502020204030204" pitchFamily="34" charset="0"/>
                <a:cs typeface="Calibri" panose="020F0502020204030204" pitchFamily="34" charset="0"/>
              </a:rPr>
              <a:t>The dimensions can guide the creation of new composite measures called latent variables</a:t>
            </a:r>
          </a:p>
          <a:p>
            <a:endParaRPr lang="en-US" dirty="0"/>
          </a:p>
        </p:txBody>
      </p:sp>
    </p:spTree>
    <p:extLst>
      <p:ext uri="{BB962C8B-B14F-4D97-AF65-F5344CB8AC3E}">
        <p14:creationId xmlns:p14="http://schemas.microsoft.com/office/powerpoint/2010/main" val="223740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65428"/>
            <a:ext cx="10515600" cy="685909"/>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Types of FA</a:t>
            </a:r>
          </a:p>
        </p:txBody>
      </p:sp>
      <p:sp>
        <p:nvSpPr>
          <p:cNvPr id="3" name="Content Placeholder 2"/>
          <p:cNvSpPr>
            <a:spLocks noGrp="1"/>
          </p:cNvSpPr>
          <p:nvPr>
            <p:ph idx="1"/>
          </p:nvPr>
        </p:nvSpPr>
        <p:spPr>
          <a:xfrm>
            <a:off x="375745" y="851337"/>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Exploratory Factor Analysis (EFA)</a:t>
            </a:r>
          </a:p>
          <a:p>
            <a:pPr lvl="1"/>
            <a:r>
              <a:rPr lang="en-US" sz="2000" dirty="0">
                <a:latin typeface="Calibri" panose="020F0502020204030204" pitchFamily="34" charset="0"/>
                <a:ea typeface="Calibri" panose="020F0502020204030204" pitchFamily="34" charset="0"/>
                <a:cs typeface="Calibri" panose="020F0502020204030204" pitchFamily="34" charset="0"/>
              </a:rPr>
              <a:t>To discover the factor structure of a construct and examine its reliability. It is </a:t>
            </a:r>
            <a:r>
              <a:rPr lang="en-US" sz="2000" u="sng" dirty="0">
                <a:latin typeface="Calibri" panose="020F0502020204030204" pitchFamily="34" charset="0"/>
                <a:ea typeface="Calibri" panose="020F0502020204030204" pitchFamily="34" charset="0"/>
                <a:cs typeface="Calibri" panose="020F0502020204030204" pitchFamily="34" charset="0"/>
              </a:rPr>
              <a:t>data-driven</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Confirmatory Factor Analysis (CFA)</a:t>
            </a:r>
          </a:p>
          <a:p>
            <a:pPr lvl="1"/>
            <a:r>
              <a:rPr lang="en-US" sz="2000" dirty="0">
                <a:latin typeface="Calibri" panose="020F0502020204030204" pitchFamily="34" charset="0"/>
                <a:ea typeface="Calibri" panose="020F0502020204030204" pitchFamily="34" charset="0"/>
                <a:cs typeface="Calibri" panose="020F0502020204030204" pitchFamily="34" charset="0"/>
              </a:rPr>
              <a:t>To confirm the fit of the hypothesized factor structure to the observed (sample) data. It is </a:t>
            </a:r>
            <a:r>
              <a:rPr lang="en-US" sz="2000" u="sng" dirty="0">
                <a:latin typeface="Calibri" panose="020F0502020204030204" pitchFamily="34" charset="0"/>
                <a:ea typeface="Calibri" panose="020F0502020204030204" pitchFamily="34" charset="0"/>
                <a:cs typeface="Calibri" panose="020F0502020204030204" pitchFamily="34" charset="0"/>
              </a:rPr>
              <a:t>theory-driven</a:t>
            </a:r>
            <a:r>
              <a:rPr lang="en-US" sz="2000" dirty="0">
                <a:latin typeface="Calibri" panose="020F0502020204030204" pitchFamily="34" charset="0"/>
                <a:ea typeface="Calibri" panose="020F0502020204030204" pitchFamily="34" charset="0"/>
                <a:cs typeface="Calibri" panose="020F0502020204030204" pitchFamily="34" charset="0"/>
              </a:rPr>
              <a:t>.</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3</a:t>
            </a:fld>
            <a:endParaRPr lang="en-US" dirty="0"/>
          </a:p>
        </p:txBody>
      </p:sp>
      <p:sp>
        <p:nvSpPr>
          <p:cNvPr id="6" name="Footer Placeholder 3">
            <a:extLst>
              <a:ext uri="{FF2B5EF4-FFF2-40B4-BE49-F238E27FC236}">
                <a16:creationId xmlns:a16="http://schemas.microsoft.com/office/drawing/2014/main" id="{B993F4FD-B4DA-473D-99A6-32DDAB3FEA13}"/>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691704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538" y="133899"/>
            <a:ext cx="10515600" cy="706930"/>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What is EFA?</a:t>
            </a:r>
          </a:p>
        </p:txBody>
      </p:sp>
      <p:sp>
        <p:nvSpPr>
          <p:cNvPr id="3" name="Content Placeholder 2"/>
          <p:cNvSpPr>
            <a:spLocks noGrp="1"/>
          </p:cNvSpPr>
          <p:nvPr>
            <p:ph idx="1"/>
          </p:nvPr>
        </p:nvSpPr>
        <p:spPr>
          <a:xfrm>
            <a:off x="260131" y="840829"/>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Exploratory Factor Analysis (EFA)</a:t>
            </a:r>
          </a:p>
          <a:p>
            <a:pPr lvl="1"/>
            <a:r>
              <a:rPr lang="en-US" sz="2000" dirty="0">
                <a:latin typeface="Calibri" panose="020F0502020204030204" pitchFamily="34" charset="0"/>
                <a:ea typeface="Calibri" panose="020F0502020204030204" pitchFamily="34" charset="0"/>
                <a:cs typeface="Calibri" panose="020F0502020204030204" pitchFamily="34" charset="0"/>
              </a:rPr>
              <a:t>Examines the </a:t>
            </a:r>
            <a:r>
              <a:rPr lang="en-US" sz="2000" u="sng" dirty="0">
                <a:latin typeface="Calibri" panose="020F0502020204030204" pitchFamily="34" charset="0"/>
                <a:ea typeface="Calibri" panose="020F0502020204030204" pitchFamily="34" charset="0"/>
                <a:cs typeface="Calibri" panose="020F0502020204030204" pitchFamily="34" charset="0"/>
              </a:rPr>
              <a:t>interrelationships among a large number of variables</a:t>
            </a:r>
            <a:r>
              <a:rPr lang="en-US" sz="2000" dirty="0">
                <a:latin typeface="Calibri" panose="020F0502020204030204" pitchFamily="34" charset="0"/>
                <a:ea typeface="Calibri" panose="020F0502020204030204" pitchFamily="34" charset="0"/>
                <a:cs typeface="Calibri" panose="020F0502020204030204" pitchFamily="34" charset="0"/>
              </a:rPr>
              <a:t> and then attempts to explain them in terms of their common underlying dimensions.</a:t>
            </a:r>
          </a:p>
          <a:p>
            <a:pPr lvl="1"/>
            <a:r>
              <a:rPr lang="en-US" sz="2000" dirty="0">
                <a:latin typeface="Calibri" panose="020F0502020204030204" pitchFamily="34" charset="0"/>
                <a:ea typeface="Calibri" panose="020F0502020204030204" pitchFamily="34" charset="0"/>
                <a:cs typeface="Calibri" panose="020F0502020204030204" pitchFamily="34" charset="0"/>
              </a:rPr>
              <a:t>These common underlying dimensions are referred to as </a:t>
            </a:r>
            <a:r>
              <a:rPr lang="en-US" sz="2000" u="sng" dirty="0">
                <a:latin typeface="Calibri" panose="020F0502020204030204" pitchFamily="34" charset="0"/>
                <a:ea typeface="Calibri" panose="020F0502020204030204" pitchFamily="34" charset="0"/>
                <a:cs typeface="Calibri" panose="020F0502020204030204" pitchFamily="34" charset="0"/>
              </a:rPr>
              <a:t>factors</a:t>
            </a:r>
            <a:r>
              <a:rPr lang="en-US" sz="2000" dirty="0">
                <a:latin typeface="Calibri" panose="020F0502020204030204" pitchFamily="34" charset="0"/>
                <a:ea typeface="Calibri" panose="020F0502020204030204" pitchFamily="34" charset="0"/>
                <a:cs typeface="Calibri" panose="020F0502020204030204" pitchFamily="34" charset="0"/>
              </a:rPr>
              <a:t> or </a:t>
            </a:r>
            <a:r>
              <a:rPr lang="en-US" sz="2000" u="sng" dirty="0">
                <a:latin typeface="Calibri" panose="020F0502020204030204" pitchFamily="34" charset="0"/>
                <a:ea typeface="Calibri" panose="020F0502020204030204" pitchFamily="34" charset="0"/>
                <a:cs typeface="Calibri" panose="020F0502020204030204" pitchFamily="34" charset="0"/>
              </a:rPr>
              <a:t>components</a:t>
            </a:r>
            <a:r>
              <a:rPr lang="en-US" sz="2000" dirty="0">
                <a:latin typeface="Calibri" panose="020F0502020204030204" pitchFamily="34" charset="0"/>
                <a:ea typeface="Calibri" panose="020F0502020204030204" pitchFamily="34" charset="0"/>
                <a:cs typeface="Calibri" panose="020F0502020204030204" pitchFamily="34" charset="0"/>
              </a:rPr>
              <a:t>.</a:t>
            </a:r>
          </a:p>
          <a:p>
            <a:pPr lvl="1"/>
            <a:r>
              <a:rPr lang="en-US" sz="2000" dirty="0">
                <a:latin typeface="Calibri" panose="020F0502020204030204" pitchFamily="34" charset="0"/>
                <a:ea typeface="Calibri" panose="020F0502020204030204" pitchFamily="34" charset="0"/>
                <a:cs typeface="Calibri" panose="020F0502020204030204" pitchFamily="34" charset="0"/>
              </a:rPr>
              <a:t>EFA is </a:t>
            </a:r>
          </a:p>
          <a:p>
            <a:pPr lvl="2"/>
            <a:r>
              <a:rPr lang="en-US" sz="1600" dirty="0">
                <a:latin typeface="Calibri" panose="020F0502020204030204" pitchFamily="34" charset="0"/>
                <a:ea typeface="Calibri" panose="020F0502020204030204" pitchFamily="34" charset="0"/>
                <a:cs typeface="Calibri" panose="020F0502020204030204" pitchFamily="34" charset="0"/>
              </a:rPr>
              <a:t>A </a:t>
            </a:r>
            <a:r>
              <a:rPr lang="en-US" sz="1600" i="1" dirty="0">
                <a:latin typeface="Calibri" panose="020F0502020204030204" pitchFamily="34" charset="0"/>
                <a:ea typeface="Calibri" panose="020F0502020204030204" pitchFamily="34" charset="0"/>
                <a:cs typeface="Calibri" panose="020F0502020204030204" pitchFamily="34" charset="0"/>
              </a:rPr>
              <a:t>summarization</a:t>
            </a:r>
            <a:r>
              <a:rPr lang="en-US" sz="1600" dirty="0">
                <a:latin typeface="Calibri" panose="020F0502020204030204" pitchFamily="34" charset="0"/>
                <a:ea typeface="Calibri" panose="020F0502020204030204" pitchFamily="34" charset="0"/>
                <a:cs typeface="Calibri" panose="020F0502020204030204" pitchFamily="34" charset="0"/>
              </a:rPr>
              <a:t> and </a:t>
            </a:r>
            <a:r>
              <a:rPr lang="en-US" sz="1600" i="1" dirty="0">
                <a:latin typeface="Calibri" panose="020F0502020204030204" pitchFamily="34" charset="0"/>
                <a:ea typeface="Calibri" panose="020F0502020204030204" pitchFamily="34" charset="0"/>
                <a:cs typeface="Calibri" panose="020F0502020204030204" pitchFamily="34" charset="0"/>
              </a:rPr>
              <a:t>data reduction </a:t>
            </a:r>
            <a:r>
              <a:rPr lang="en-US" sz="1600" dirty="0">
                <a:latin typeface="Calibri" panose="020F0502020204030204" pitchFamily="34" charset="0"/>
                <a:ea typeface="Calibri" panose="020F0502020204030204" pitchFamily="34" charset="0"/>
                <a:cs typeface="Calibri" panose="020F0502020204030204" pitchFamily="34" charset="0"/>
              </a:rPr>
              <a:t>technique;</a:t>
            </a:r>
          </a:p>
          <a:p>
            <a:pPr lvl="2"/>
            <a:r>
              <a:rPr lang="en-US" sz="1600" dirty="0">
                <a:latin typeface="Calibri" panose="020F0502020204030204" pitchFamily="34" charset="0"/>
                <a:ea typeface="Calibri" panose="020F0502020204030204" pitchFamily="34" charset="0"/>
                <a:cs typeface="Calibri" panose="020F0502020204030204" pitchFamily="34" charset="0"/>
              </a:rPr>
              <a:t>No independent and dependent variables; </a:t>
            </a:r>
          </a:p>
          <a:p>
            <a:pPr lvl="2"/>
            <a:r>
              <a:rPr lang="en-US" sz="1600" dirty="0">
                <a:latin typeface="Calibri" panose="020F0502020204030204" pitchFamily="34" charset="0"/>
                <a:ea typeface="Calibri" panose="020F0502020204030204" pitchFamily="34" charset="0"/>
                <a:cs typeface="Calibri" panose="020F0502020204030204" pitchFamily="34" charset="0"/>
              </a:rPr>
              <a:t>Models </a:t>
            </a:r>
            <a:r>
              <a:rPr lang="en-US" sz="1600" u="sng" dirty="0">
                <a:latin typeface="Calibri" panose="020F0502020204030204" pitchFamily="34" charset="0"/>
                <a:ea typeface="Calibri" panose="020F0502020204030204" pitchFamily="34" charset="0"/>
                <a:cs typeface="Calibri" panose="020F0502020204030204" pitchFamily="34" charset="0"/>
              </a:rPr>
              <a:t>interdependence</a:t>
            </a:r>
            <a:r>
              <a:rPr lang="en-US" sz="1600" dirty="0">
                <a:latin typeface="Calibri" panose="020F0502020204030204" pitchFamily="34" charset="0"/>
                <a:ea typeface="Calibri" panose="020F0502020204030204" pitchFamily="34" charset="0"/>
                <a:cs typeface="Calibri" panose="020F0502020204030204" pitchFamily="34" charset="0"/>
              </a:rPr>
              <a:t> in which all variables are considered simultaneously.</a:t>
            </a:r>
          </a:p>
          <a:p>
            <a:pPr lvl="1"/>
            <a:r>
              <a:rPr lang="en-US" sz="2000" dirty="0">
                <a:latin typeface="Calibri" panose="020F0502020204030204" pitchFamily="34" charset="0"/>
                <a:ea typeface="Calibri" panose="020F0502020204030204" pitchFamily="34" charset="0"/>
                <a:cs typeface="Calibri" panose="020F0502020204030204" pitchFamily="34" charset="0"/>
              </a:rPr>
              <a:t>It is the first </a:t>
            </a:r>
            <a:r>
              <a:rPr lang="en-US" sz="2000" b="1" i="1" dirty="0">
                <a:latin typeface="Calibri" panose="020F0502020204030204" pitchFamily="34" charset="0"/>
                <a:ea typeface="Calibri" panose="020F0502020204030204" pitchFamily="34" charset="0"/>
                <a:cs typeface="Calibri" panose="020F0502020204030204" pitchFamily="34" charset="0"/>
              </a:rPr>
              <a:t>multivariate method </a:t>
            </a:r>
            <a:r>
              <a:rPr lang="en-US" sz="2000" dirty="0">
                <a:latin typeface="Calibri" panose="020F0502020204030204" pitchFamily="34" charset="0"/>
                <a:ea typeface="Calibri" panose="020F0502020204030204" pitchFamily="34" charset="0"/>
                <a:cs typeface="Calibri" panose="020F0502020204030204" pitchFamily="34" charset="0"/>
              </a:rPr>
              <a:t>we have looked at this semester!</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4</a:t>
            </a:fld>
            <a:endParaRPr lang="en-US" dirty="0"/>
          </a:p>
        </p:txBody>
      </p:sp>
      <p:sp>
        <p:nvSpPr>
          <p:cNvPr id="6" name="Footer Placeholder 3">
            <a:extLst>
              <a:ext uri="{FF2B5EF4-FFF2-40B4-BE49-F238E27FC236}">
                <a16:creationId xmlns:a16="http://schemas.microsoft.com/office/drawing/2014/main" id="{20E01469-7E71-477E-833B-97F7F6186B86}"/>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141208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0245-374E-06C7-2C61-ADC316FBD2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C6F5AC-4625-0B02-3EBE-48BC34A61D5C}"/>
              </a:ext>
            </a:extLst>
          </p:cNvPr>
          <p:cNvSpPr>
            <a:spLocks noGrp="1"/>
          </p:cNvSpPr>
          <p:nvPr>
            <p:ph type="title"/>
          </p:nvPr>
        </p:nvSpPr>
        <p:spPr>
          <a:xfrm>
            <a:off x="130534" y="150441"/>
            <a:ext cx="10515600" cy="628788"/>
          </a:xfrm>
        </p:spPr>
        <p:txBody>
          <a:bodyPr>
            <a:normAutofit fontScale="90000"/>
          </a:bodyPr>
          <a:lstStyle/>
          <a:p>
            <a:r>
              <a:rPr lang="en-US" dirty="0"/>
              <a:t>What is a ‘latent variable’</a:t>
            </a:r>
          </a:p>
        </p:txBody>
      </p:sp>
      <p:sp>
        <p:nvSpPr>
          <p:cNvPr id="5" name="Content Placeholder 4">
            <a:extLst>
              <a:ext uri="{FF2B5EF4-FFF2-40B4-BE49-F238E27FC236}">
                <a16:creationId xmlns:a16="http://schemas.microsoft.com/office/drawing/2014/main" id="{2A81DD19-BEE1-CADA-B553-B4375154EFD2}"/>
              </a:ext>
            </a:extLst>
          </p:cNvPr>
          <p:cNvSpPr>
            <a:spLocks noGrp="1"/>
          </p:cNvSpPr>
          <p:nvPr>
            <p:ph idx="1"/>
          </p:nvPr>
        </p:nvSpPr>
        <p:spPr>
          <a:xfrm>
            <a:off x="233901" y="779228"/>
            <a:ext cx="10515600" cy="4772485"/>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Latent variables are unobserved (hidden) variables that are inferred from patterns in observed data. </a:t>
            </a:r>
            <a:r>
              <a:rPr lang="en-US" sz="2000" i="1" dirty="0">
                <a:latin typeface="Calibri" panose="020F0502020204030204" pitchFamily="34" charset="0"/>
                <a:ea typeface="Calibri" panose="020F0502020204030204" pitchFamily="34" charset="0"/>
                <a:cs typeface="Calibri" panose="020F0502020204030204" pitchFamily="34" charset="0"/>
              </a:rPr>
              <a:t>How can a variable be unobserved?</a:t>
            </a:r>
            <a:endParaRPr lang="en-US" sz="2000" dirty="0">
              <a:latin typeface="Calibri" panose="020F0502020204030204" pitchFamily="34" charset="0"/>
              <a:ea typeface="Calibri" panose="020F0502020204030204" pitchFamily="34" charset="0"/>
              <a:cs typeface="Calibri" panose="020F0502020204030204" pitchFamily="34" charset="0"/>
            </a:endParaRPr>
          </a:p>
          <a:p>
            <a:pPr lvl="1"/>
            <a:r>
              <a:rPr lang="en-US" sz="1800" b="1" u="sng"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You might measure things like "feeling sad," "trouble sleeping," and "loss of interest.“</a:t>
            </a:r>
          </a:p>
          <a:p>
            <a:pPr lvl="1"/>
            <a:r>
              <a:rPr lang="en-US" sz="1800" dirty="0">
                <a:latin typeface="Calibri" panose="020F0502020204030204" pitchFamily="34" charset="0"/>
                <a:ea typeface="Calibri" panose="020F0502020204030204" pitchFamily="34" charset="0"/>
                <a:cs typeface="Calibri" panose="020F0502020204030204" pitchFamily="34" charset="0"/>
              </a:rPr>
              <a:t>These observed variables are indicators of a latent variable like "Depression."</a:t>
            </a:r>
          </a:p>
          <a:p>
            <a:r>
              <a:rPr lang="en-US" sz="2000" dirty="0">
                <a:latin typeface="Calibri" panose="020F0502020204030204" pitchFamily="34" charset="0"/>
                <a:ea typeface="Calibri" panose="020F0502020204030204" pitchFamily="34" charset="0"/>
                <a:cs typeface="Calibri" panose="020F0502020204030204" pitchFamily="34" charset="0"/>
              </a:rPr>
              <a:t>Latent variables are </a:t>
            </a:r>
            <a:r>
              <a:rPr lang="en-US" sz="2000" b="1" dirty="0">
                <a:latin typeface="Calibri" panose="020F0502020204030204" pitchFamily="34" charset="0"/>
                <a:ea typeface="Calibri" panose="020F0502020204030204" pitchFamily="34" charset="0"/>
                <a:cs typeface="Calibri" panose="020F0502020204030204" pitchFamily="34" charset="0"/>
              </a:rPr>
              <a:t>not measured directly</a:t>
            </a:r>
            <a:r>
              <a:rPr lang="en-US" sz="2000" dirty="0">
                <a:latin typeface="Calibri" panose="020F0502020204030204" pitchFamily="34" charset="0"/>
                <a:ea typeface="Calibri" panose="020F0502020204030204" pitchFamily="34" charset="0"/>
                <a:cs typeface="Calibri" panose="020F0502020204030204" pitchFamily="34" charset="0"/>
              </a:rPr>
              <a:t>—they are statistical constructs that help us make sense of correlated behaviors or responses</a:t>
            </a:r>
          </a:p>
          <a:p>
            <a:r>
              <a:rPr lang="en-US" sz="2000" dirty="0">
                <a:latin typeface="Calibri" panose="020F0502020204030204" pitchFamily="34" charset="0"/>
                <a:ea typeface="Calibri" panose="020F0502020204030204" pitchFamily="34" charset="0"/>
                <a:cs typeface="Calibri" panose="020F0502020204030204" pitchFamily="34" charset="0"/>
              </a:rPr>
              <a:t>In factor analysis, latent variables (also called factors) help explain the underlying structure among a set of measured variables (like survey items or test scores)</a:t>
            </a:r>
          </a:p>
          <a:p>
            <a:r>
              <a:rPr lang="en-US" sz="2000" dirty="0">
                <a:latin typeface="Calibri" panose="020F0502020204030204" pitchFamily="34" charset="0"/>
                <a:ea typeface="Calibri" panose="020F0502020204030204" pitchFamily="34" charset="0"/>
                <a:cs typeface="Calibri" panose="020F0502020204030204" pitchFamily="34" charset="0"/>
              </a:rPr>
              <a:t>In structural equation modeling (SEM), the model is typically divided into two parts:</a:t>
            </a:r>
          </a:p>
          <a:p>
            <a:pPr lvl="1"/>
            <a:r>
              <a:rPr lang="en-US" sz="2000" b="1" dirty="0">
                <a:latin typeface="Calibri" panose="020F0502020204030204" pitchFamily="34" charset="0"/>
                <a:ea typeface="Calibri" panose="020F0502020204030204" pitchFamily="34" charset="0"/>
                <a:cs typeface="Calibri" panose="020F0502020204030204" pitchFamily="34" charset="0"/>
              </a:rPr>
              <a:t>The Measurement Model: </a:t>
            </a:r>
            <a:r>
              <a:rPr lang="en-US" sz="2000" dirty="0">
                <a:latin typeface="Calibri" panose="020F0502020204030204" pitchFamily="34" charset="0"/>
                <a:ea typeface="Calibri" panose="020F0502020204030204" pitchFamily="34" charset="0"/>
                <a:cs typeface="Calibri" panose="020F0502020204030204" pitchFamily="34" charset="0"/>
              </a:rPr>
              <a:t>specifies how </a:t>
            </a:r>
            <a:r>
              <a:rPr lang="en-US" sz="2000" b="1" i="1" dirty="0">
                <a:latin typeface="Calibri" panose="020F0502020204030204" pitchFamily="34" charset="0"/>
                <a:ea typeface="Calibri" panose="020F0502020204030204" pitchFamily="34" charset="0"/>
                <a:cs typeface="Calibri" panose="020F0502020204030204" pitchFamily="34" charset="0"/>
              </a:rPr>
              <a:t>observed variables </a:t>
            </a:r>
            <a:r>
              <a:rPr lang="en-US" sz="2000" dirty="0">
                <a:latin typeface="Calibri" panose="020F0502020204030204" pitchFamily="34" charset="0"/>
                <a:ea typeface="Calibri" panose="020F0502020204030204" pitchFamily="34" charset="0"/>
                <a:cs typeface="Calibri" panose="020F0502020204030204" pitchFamily="34" charset="0"/>
              </a:rPr>
              <a:t>(survey items, indicators) are correlated with or "load onto" latent variables (unmeasured constructs like depression, disinvestment, or social vulnerability)</a:t>
            </a:r>
          </a:p>
          <a:p>
            <a:pPr lvl="1"/>
            <a:r>
              <a:rPr lang="en-US" sz="2000" b="1" dirty="0">
                <a:latin typeface="Calibri" panose="020F0502020204030204" pitchFamily="34" charset="0"/>
                <a:ea typeface="Calibri" panose="020F0502020204030204" pitchFamily="34" charset="0"/>
                <a:cs typeface="Calibri" panose="020F0502020204030204" pitchFamily="34" charset="0"/>
              </a:rPr>
              <a:t>The Structural Model: </a:t>
            </a:r>
            <a:r>
              <a:rPr lang="en-US" sz="2000" dirty="0">
                <a:latin typeface="Calibri" panose="020F0502020204030204" pitchFamily="34" charset="0"/>
                <a:ea typeface="Calibri" panose="020F0502020204030204" pitchFamily="34" charset="0"/>
                <a:cs typeface="Calibri" panose="020F0502020204030204" pitchFamily="34" charset="0"/>
              </a:rPr>
              <a:t>This shows how </a:t>
            </a:r>
            <a:r>
              <a:rPr lang="en-US" sz="2000" b="1" i="1" dirty="0">
                <a:latin typeface="Calibri" panose="020F0502020204030204" pitchFamily="34" charset="0"/>
                <a:ea typeface="Calibri" panose="020F0502020204030204" pitchFamily="34" charset="0"/>
                <a:cs typeface="Calibri" panose="020F0502020204030204" pitchFamily="34" charset="0"/>
              </a:rPr>
              <a:t>latent variables are related to one another</a:t>
            </a:r>
            <a:r>
              <a:rPr lang="en-US" sz="2000" dirty="0">
                <a:latin typeface="Calibri" panose="020F0502020204030204" pitchFamily="34" charset="0"/>
                <a:ea typeface="Calibri" panose="020F0502020204030204" pitchFamily="34" charset="0"/>
                <a:cs typeface="Calibri" panose="020F0502020204030204" pitchFamily="34" charset="0"/>
              </a:rPr>
              <a:t>—representing the causal or correlational paths between unmeasured constructs</a:t>
            </a:r>
          </a:p>
        </p:txBody>
      </p:sp>
    </p:spTree>
    <p:extLst>
      <p:ext uri="{BB962C8B-B14F-4D97-AF65-F5344CB8AC3E}">
        <p14:creationId xmlns:p14="http://schemas.microsoft.com/office/powerpoint/2010/main" val="24160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anim calcmode="lin" valueType="num">
                                      <p:cBhvr additive="base">
                                        <p:cTn id="3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 calcmode="lin" valueType="num">
                                      <p:cBhvr additive="base">
                                        <p:cTn id="4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00754-6693-1C44-02EE-F78F9986463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162207-F787-28AC-E0B2-4CB688256403}"/>
              </a:ext>
            </a:extLst>
          </p:cNvPr>
          <p:cNvSpPr>
            <a:spLocks noGrp="1"/>
          </p:cNvSpPr>
          <p:nvPr>
            <p:ph type="title"/>
          </p:nvPr>
        </p:nvSpPr>
        <p:spPr>
          <a:xfrm>
            <a:off x="90777" y="245856"/>
            <a:ext cx="10515600" cy="628788"/>
          </a:xfrm>
        </p:spPr>
        <p:txBody>
          <a:bodyPr>
            <a:normAutofit fontScale="90000"/>
          </a:bodyPr>
          <a:lstStyle/>
          <a:p>
            <a:r>
              <a:rPr lang="en-US" dirty="0"/>
              <a:t>EFA versus Principal Components Analysis (PCA)</a:t>
            </a:r>
          </a:p>
        </p:txBody>
      </p:sp>
      <p:sp>
        <p:nvSpPr>
          <p:cNvPr id="5" name="Content Placeholder 4">
            <a:extLst>
              <a:ext uri="{FF2B5EF4-FFF2-40B4-BE49-F238E27FC236}">
                <a16:creationId xmlns:a16="http://schemas.microsoft.com/office/drawing/2014/main" id="{393A9BCD-4138-0CF6-EA57-B5914DEB98E5}"/>
              </a:ext>
            </a:extLst>
          </p:cNvPr>
          <p:cNvSpPr>
            <a:spLocks noGrp="1"/>
          </p:cNvSpPr>
          <p:nvPr>
            <p:ph idx="1"/>
          </p:nvPr>
        </p:nvSpPr>
        <p:spPr>
          <a:xfrm>
            <a:off x="211636" y="874644"/>
            <a:ext cx="11631176" cy="5327373"/>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Principal Component Analysis (PCA)</a:t>
            </a:r>
            <a:r>
              <a:rPr lang="en-US" sz="2000" dirty="0">
                <a:latin typeface="Calibri" panose="020F0502020204030204" pitchFamily="34" charset="0"/>
                <a:ea typeface="Calibri" panose="020F0502020204030204" pitchFamily="34" charset="0"/>
                <a:cs typeface="Calibri" panose="020F0502020204030204" pitchFamily="34" charset="0"/>
              </a:rPr>
              <a:t> is a </a:t>
            </a:r>
            <a:r>
              <a:rPr lang="en-US" sz="2000" i="1" dirty="0">
                <a:latin typeface="Calibri" panose="020F0502020204030204" pitchFamily="34" charset="0"/>
                <a:ea typeface="Calibri" panose="020F0502020204030204" pitchFamily="34" charset="0"/>
                <a:cs typeface="Calibri" panose="020F0502020204030204" pitchFamily="34" charset="0"/>
              </a:rPr>
              <a:t>data reduction tool</a:t>
            </a:r>
            <a:r>
              <a:rPr lang="en-US" sz="2000" dirty="0">
                <a:latin typeface="Calibri" panose="020F0502020204030204" pitchFamily="34" charset="0"/>
                <a:ea typeface="Calibri" panose="020F0502020204030204" pitchFamily="34" charset="0"/>
                <a:cs typeface="Calibri" panose="020F0502020204030204" pitchFamily="34" charset="0"/>
              </a:rPr>
              <a:t>. </a:t>
            </a:r>
          </a:p>
          <a:p>
            <a:pPr lvl="1"/>
            <a:r>
              <a:rPr lang="en-US" sz="1600" dirty="0">
                <a:latin typeface="Calibri" panose="020F0502020204030204" pitchFamily="34" charset="0"/>
                <a:ea typeface="Calibri" panose="020F0502020204030204" pitchFamily="34" charset="0"/>
                <a:cs typeface="Calibri" panose="020F0502020204030204" pitchFamily="34" charset="0"/>
              </a:rPr>
              <a:t>It transforms your observed variables into a smaller set of components that capture as much variance as possible. It does </a:t>
            </a:r>
            <a:r>
              <a:rPr lang="en-US" sz="1600" b="1" dirty="0">
                <a:latin typeface="Calibri" panose="020F0502020204030204" pitchFamily="34" charset="0"/>
                <a:ea typeface="Calibri" panose="020F0502020204030204" pitchFamily="34" charset="0"/>
                <a:cs typeface="Calibri" panose="020F0502020204030204" pitchFamily="34" charset="0"/>
              </a:rPr>
              <a:t>not assume any underlying structure</a:t>
            </a:r>
            <a:r>
              <a:rPr lang="en-US" sz="1600" dirty="0">
                <a:latin typeface="Calibri" panose="020F0502020204030204" pitchFamily="34" charset="0"/>
                <a:ea typeface="Calibri" panose="020F0502020204030204" pitchFamily="34" charset="0"/>
                <a:cs typeface="Calibri" panose="020F0502020204030204" pitchFamily="34" charset="0"/>
              </a:rPr>
              <a:t> and does </a:t>
            </a:r>
            <a:r>
              <a:rPr lang="en-US" sz="1600" b="1" dirty="0">
                <a:latin typeface="Calibri" panose="020F0502020204030204" pitchFamily="34" charset="0"/>
                <a:ea typeface="Calibri" panose="020F0502020204030204" pitchFamily="34" charset="0"/>
                <a:cs typeface="Calibri" panose="020F0502020204030204" pitchFamily="34" charset="0"/>
              </a:rPr>
              <a:t>not model latent constructs</a:t>
            </a:r>
            <a:r>
              <a:rPr lang="en-US" sz="1600" dirty="0">
                <a:latin typeface="Calibri" panose="020F0502020204030204" pitchFamily="34" charset="0"/>
                <a:ea typeface="Calibri" panose="020F0502020204030204" pitchFamily="34" charset="0"/>
                <a:cs typeface="Calibri" panose="020F0502020204030204" pitchFamily="34" charset="0"/>
              </a:rPr>
              <a:t>. Because of this, PCA is </a:t>
            </a:r>
            <a:r>
              <a:rPr lang="en-US" sz="1600" b="1" dirty="0">
                <a:latin typeface="Calibri" panose="020F0502020204030204" pitchFamily="34" charset="0"/>
                <a:ea typeface="Calibri" panose="020F0502020204030204" pitchFamily="34" charset="0"/>
                <a:cs typeface="Calibri" panose="020F0502020204030204" pitchFamily="34" charset="0"/>
              </a:rPr>
              <a:t>not testable in a theoretical sense. </a:t>
            </a:r>
            <a:r>
              <a:rPr lang="en-US" sz="1600" dirty="0">
                <a:latin typeface="Calibri" panose="020F0502020204030204" pitchFamily="34" charset="0"/>
                <a:ea typeface="Calibri" panose="020F0502020204030204" pitchFamily="34" charset="0"/>
                <a:cs typeface="Calibri" panose="020F0502020204030204" pitchFamily="34" charset="0"/>
              </a:rPr>
              <a:t>i.e., you are not evaluating whether variables reflect a meaningful underlying concept, only summarizing them mathematically.</a:t>
            </a:r>
          </a:p>
          <a:p>
            <a:r>
              <a:rPr lang="en-US" sz="2000" b="1" dirty="0">
                <a:latin typeface="Calibri" panose="020F0502020204030204" pitchFamily="34" charset="0"/>
                <a:ea typeface="Calibri" panose="020F0502020204030204" pitchFamily="34" charset="0"/>
                <a:cs typeface="Calibri" panose="020F0502020204030204" pitchFamily="34" charset="0"/>
              </a:rPr>
              <a:t>Factor Analysis (FA)</a:t>
            </a:r>
            <a:r>
              <a:rPr lang="en-US" sz="2000" dirty="0">
                <a:latin typeface="Calibri" panose="020F0502020204030204" pitchFamily="34" charset="0"/>
                <a:ea typeface="Calibri" panose="020F0502020204030204" pitchFamily="34" charset="0"/>
                <a:cs typeface="Calibri" panose="020F0502020204030204" pitchFamily="34" charset="0"/>
              </a:rPr>
              <a:t> is a </a:t>
            </a:r>
            <a:r>
              <a:rPr lang="en-US" sz="2000" i="1" dirty="0">
                <a:latin typeface="Calibri" panose="020F0502020204030204" pitchFamily="34" charset="0"/>
                <a:ea typeface="Calibri" panose="020F0502020204030204" pitchFamily="34" charset="0"/>
                <a:cs typeface="Calibri" panose="020F0502020204030204" pitchFamily="34" charset="0"/>
              </a:rPr>
              <a:t>theory-driven measurement model</a:t>
            </a:r>
            <a:r>
              <a:rPr lang="en-US" sz="2000" dirty="0">
                <a:latin typeface="Calibri" panose="020F0502020204030204" pitchFamily="34" charset="0"/>
                <a:ea typeface="Calibri" panose="020F0502020204030204" pitchFamily="34" charset="0"/>
                <a:cs typeface="Calibri" panose="020F0502020204030204" pitchFamily="34" charset="0"/>
              </a:rPr>
              <a:t>. </a:t>
            </a:r>
          </a:p>
          <a:p>
            <a:pPr lvl="1"/>
            <a:r>
              <a:rPr lang="en-US" sz="1600" dirty="0">
                <a:latin typeface="Calibri" panose="020F0502020204030204" pitchFamily="34" charset="0"/>
                <a:ea typeface="Calibri" panose="020F0502020204030204" pitchFamily="34" charset="0"/>
                <a:cs typeface="Calibri" panose="020F0502020204030204" pitchFamily="34" charset="0"/>
              </a:rPr>
              <a:t>It assumes that </a:t>
            </a:r>
            <a:r>
              <a:rPr lang="en-US" sz="1600" b="1" dirty="0">
                <a:latin typeface="Calibri" panose="020F0502020204030204" pitchFamily="34" charset="0"/>
                <a:ea typeface="Calibri" panose="020F0502020204030204" pitchFamily="34" charset="0"/>
                <a:cs typeface="Calibri" panose="020F0502020204030204" pitchFamily="34" charset="0"/>
              </a:rPr>
              <a:t>latent variables (factors)</a:t>
            </a:r>
            <a:r>
              <a:rPr lang="en-US" sz="1600" dirty="0">
                <a:latin typeface="Calibri" panose="020F0502020204030204" pitchFamily="34" charset="0"/>
                <a:ea typeface="Calibri" panose="020F0502020204030204" pitchFamily="34" charset="0"/>
                <a:cs typeface="Calibri" panose="020F0502020204030204" pitchFamily="34" charset="0"/>
              </a:rPr>
              <a:t> exist and that these unobserved constructs </a:t>
            </a:r>
            <a:r>
              <a:rPr lang="en-US" sz="1600" b="1" dirty="0">
                <a:latin typeface="Calibri" panose="020F0502020204030204" pitchFamily="34" charset="0"/>
                <a:ea typeface="Calibri" panose="020F0502020204030204" pitchFamily="34" charset="0"/>
                <a:cs typeface="Calibri" panose="020F0502020204030204" pitchFamily="34" charset="0"/>
              </a:rPr>
              <a:t>cause the correlations among observed variables</a:t>
            </a:r>
            <a:r>
              <a:rPr lang="en-US" sz="1600" dirty="0">
                <a:latin typeface="Calibri" panose="020F0502020204030204" pitchFamily="34" charset="0"/>
                <a:ea typeface="Calibri" panose="020F0502020204030204" pitchFamily="34" charset="0"/>
                <a:cs typeface="Calibri" panose="020F0502020204030204" pitchFamily="34" charset="0"/>
              </a:rPr>
              <a:t>. FA allows you to </a:t>
            </a:r>
            <a:r>
              <a:rPr lang="en-US" sz="1600" b="1" dirty="0">
                <a:latin typeface="Calibri" panose="020F0502020204030204" pitchFamily="34" charset="0"/>
                <a:ea typeface="Calibri" panose="020F0502020204030204" pitchFamily="34" charset="0"/>
                <a:cs typeface="Calibri" panose="020F0502020204030204" pitchFamily="34" charset="0"/>
              </a:rPr>
              <a:t>test whether your variables reflect an underlying structure</a:t>
            </a:r>
            <a:r>
              <a:rPr lang="en-US" sz="1600" dirty="0">
                <a:latin typeface="Calibri" panose="020F0502020204030204" pitchFamily="34" charset="0"/>
                <a:ea typeface="Calibri" panose="020F0502020204030204" pitchFamily="34" charset="0"/>
                <a:cs typeface="Calibri" panose="020F0502020204030204" pitchFamily="34" charset="0"/>
              </a:rPr>
              <a:t>, making it appropriate when you want to interpret factors as meaningful constructs (e.g., depression, stress, social cohesion).</a:t>
            </a:r>
          </a:p>
        </p:txBody>
      </p:sp>
    </p:spTree>
    <p:extLst>
      <p:ext uri="{BB962C8B-B14F-4D97-AF65-F5344CB8AC3E}">
        <p14:creationId xmlns:p14="http://schemas.microsoft.com/office/powerpoint/2010/main" val="716669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386D0-F64B-F465-B5A0-3C3C5CFFE7A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06FB8D6-A3E1-B5CE-F8F2-88589BA770D7}"/>
              </a:ext>
            </a:extLst>
          </p:cNvPr>
          <p:cNvSpPr>
            <a:spLocks noGrp="1"/>
          </p:cNvSpPr>
          <p:nvPr>
            <p:ph type="title"/>
          </p:nvPr>
        </p:nvSpPr>
        <p:spPr>
          <a:xfrm>
            <a:off x="90777" y="245856"/>
            <a:ext cx="10515600" cy="628788"/>
          </a:xfrm>
        </p:spPr>
        <p:txBody>
          <a:bodyPr>
            <a:normAutofit fontScale="90000"/>
          </a:bodyPr>
          <a:lstStyle/>
          <a:p>
            <a:r>
              <a:rPr lang="en-US" dirty="0"/>
              <a:t>Example </a:t>
            </a:r>
          </a:p>
        </p:txBody>
      </p:sp>
      <p:sp>
        <p:nvSpPr>
          <p:cNvPr id="3" name="Content Placeholder 2">
            <a:extLst>
              <a:ext uri="{FF2B5EF4-FFF2-40B4-BE49-F238E27FC236}">
                <a16:creationId xmlns:a16="http://schemas.microsoft.com/office/drawing/2014/main" id="{8B3352DD-887B-8752-A9AB-827FEDE4E0ED}"/>
              </a:ext>
            </a:extLst>
          </p:cNvPr>
          <p:cNvSpPr>
            <a:spLocks noGrp="1" noChangeArrowheads="1"/>
          </p:cNvSpPr>
          <p:nvPr>
            <p:ph idx="1"/>
          </p:nvPr>
        </p:nvSpPr>
        <p:spPr bwMode="auto">
          <a:xfrm>
            <a:off x="228244" y="874644"/>
            <a:ext cx="11552422" cy="53188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2000" dirty="0">
                <a:latin typeface="Arial" panose="020B0604020202020204" pitchFamily="34" charset="0"/>
                <a:cs typeface="Arial" panose="020B0604020202020204" pitchFamily="34" charset="0"/>
              </a:rPr>
              <a:t>PCA summarizes variance; FA explains covariance through latent constructs.</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Goal</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PCA → Reduce variables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FA → Identify underlying constructs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Assumption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PCA → No model of underlying cause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FA → Latent factors generate observed relationships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Interpretation</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PCA → Components are mathematical combinations (no inherent meaning)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FA → Factors are interpretable constructs (theoretically meaningful) </a:t>
            </a:r>
          </a:p>
          <a:p>
            <a:pPr lvl="1"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Testability</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PCA → Not testable (no hypothesis about structure) </a:t>
            </a:r>
          </a:p>
          <a:p>
            <a:pPr lvl="2"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FA → Testable (fit, loadings, structure can be evaluated)</a:t>
            </a:r>
          </a:p>
          <a:p>
            <a:r>
              <a:rPr lang="en-US" sz="2000" dirty="0">
                <a:latin typeface="Arial" panose="020B0604020202020204" pitchFamily="34" charset="0"/>
                <a:cs typeface="Arial" panose="020B0604020202020204" pitchFamily="34" charset="0"/>
              </a:rPr>
              <a:t>If you observe: Feeling sad, Trouble sleeping, Loss of interest </a:t>
            </a:r>
          </a:p>
          <a:p>
            <a:pPr lvl="1"/>
            <a:r>
              <a:rPr lang="en-US" sz="1800" b="1" dirty="0">
                <a:latin typeface="Arial" panose="020B0604020202020204" pitchFamily="34" charset="0"/>
                <a:cs typeface="Arial" panose="020B0604020202020204" pitchFamily="34" charset="0"/>
              </a:rPr>
              <a:t>PCA</a:t>
            </a:r>
            <a:r>
              <a:rPr lang="en-US" sz="1800" dirty="0">
                <a:latin typeface="Arial" panose="020B0604020202020204" pitchFamily="34" charset="0"/>
                <a:cs typeface="Arial" panose="020B0604020202020204" pitchFamily="34" charset="0"/>
              </a:rPr>
              <a:t>: Combines them into a component that explains shared variance</a:t>
            </a:r>
          </a:p>
          <a:p>
            <a:pPr lvl="2"/>
            <a:r>
              <a:rPr lang="en-US" sz="1400" i="1" dirty="0">
                <a:latin typeface="Arial" panose="020B0604020202020204" pitchFamily="34" charset="0"/>
                <a:cs typeface="Arial" panose="020B0604020202020204" pitchFamily="34" charset="0"/>
              </a:rPr>
              <a:t>“These variables move together”</a:t>
            </a:r>
            <a:endParaRPr lang="en-US" sz="1400" dirty="0">
              <a:latin typeface="Arial" panose="020B0604020202020204" pitchFamily="34" charset="0"/>
              <a:cs typeface="Arial" panose="020B0604020202020204" pitchFamily="34" charset="0"/>
            </a:endParaRPr>
          </a:p>
          <a:p>
            <a:pPr lvl="1"/>
            <a:r>
              <a:rPr lang="en-US" sz="1800" b="1" dirty="0">
                <a:latin typeface="Arial" panose="020B0604020202020204" pitchFamily="34" charset="0"/>
                <a:cs typeface="Arial" panose="020B0604020202020204" pitchFamily="34" charset="0"/>
              </a:rPr>
              <a:t>FA</a:t>
            </a:r>
            <a:r>
              <a:rPr lang="en-US" sz="1800" dirty="0">
                <a:latin typeface="Arial" panose="020B0604020202020204" pitchFamily="34" charset="0"/>
                <a:cs typeface="Arial" panose="020B0604020202020204" pitchFamily="34" charset="0"/>
              </a:rPr>
              <a:t>: Models a latent factor (e.g., </a:t>
            </a:r>
            <a:r>
              <a:rPr lang="en-US" sz="1800" i="1" dirty="0">
                <a:latin typeface="Arial" panose="020B0604020202020204" pitchFamily="34" charset="0"/>
                <a:cs typeface="Arial" panose="020B0604020202020204" pitchFamily="34" charset="0"/>
              </a:rPr>
              <a:t>Depression</a:t>
            </a:r>
            <a:r>
              <a:rPr lang="en-US" sz="1800" dirty="0">
                <a:latin typeface="Arial" panose="020B0604020202020204" pitchFamily="34" charset="0"/>
                <a:cs typeface="Arial" panose="020B0604020202020204" pitchFamily="34" charset="0"/>
              </a:rPr>
              <a:t>) causing them</a:t>
            </a:r>
          </a:p>
          <a:p>
            <a:pPr lvl="2"/>
            <a:r>
              <a:rPr lang="en-US" sz="1400" i="1" dirty="0">
                <a:latin typeface="Arial" panose="020B0604020202020204" pitchFamily="34" charset="0"/>
                <a:cs typeface="Arial" panose="020B0604020202020204" pitchFamily="34" charset="0"/>
              </a:rPr>
              <a:t>“These variables reflect an underlying construct”</a:t>
            </a:r>
            <a:endParaRPr kumimoji="0" lang="en-US"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6940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13B1-6DDB-515A-FEBC-507525E20A0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B8857F-CCA4-5544-81EF-1BFB15BCB22C}"/>
              </a:ext>
            </a:extLst>
          </p:cNvPr>
          <p:cNvSpPr>
            <a:spLocks noGrp="1"/>
          </p:cNvSpPr>
          <p:nvPr>
            <p:ph type="title"/>
          </p:nvPr>
        </p:nvSpPr>
        <p:spPr>
          <a:xfrm>
            <a:off x="90777" y="245856"/>
            <a:ext cx="11923644" cy="628788"/>
          </a:xfrm>
        </p:spPr>
        <p:txBody>
          <a:bodyPr>
            <a:normAutofit fontScale="90000"/>
          </a:bodyPr>
          <a:lstStyle/>
          <a:p>
            <a:r>
              <a:rPr lang="en-US" dirty="0"/>
              <a:t>EFA versus Principal Components Analysis (PCA)</a:t>
            </a:r>
          </a:p>
        </p:txBody>
      </p:sp>
      <p:pic>
        <p:nvPicPr>
          <p:cNvPr id="2" name="Picture 1">
            <a:extLst>
              <a:ext uri="{FF2B5EF4-FFF2-40B4-BE49-F238E27FC236}">
                <a16:creationId xmlns:a16="http://schemas.microsoft.com/office/drawing/2014/main" id="{41BE2D46-FA33-7C02-B5DF-FC0E23862141}"/>
              </a:ext>
            </a:extLst>
          </p:cNvPr>
          <p:cNvPicPr>
            <a:picLocks noChangeAspect="1"/>
          </p:cNvPicPr>
          <p:nvPr/>
        </p:nvPicPr>
        <p:blipFill>
          <a:blip r:embed="rId3"/>
          <a:srcRect l="7955" t="18948" r="58035" b="43723"/>
          <a:stretch>
            <a:fillRect/>
          </a:stretch>
        </p:blipFill>
        <p:spPr>
          <a:xfrm>
            <a:off x="2592277" y="1030595"/>
            <a:ext cx="3391271" cy="2693841"/>
          </a:xfrm>
          <a:prstGeom prst="rect">
            <a:avLst/>
          </a:prstGeom>
        </p:spPr>
      </p:pic>
      <p:pic>
        <p:nvPicPr>
          <p:cNvPr id="6" name="Picture 5">
            <a:extLst>
              <a:ext uri="{FF2B5EF4-FFF2-40B4-BE49-F238E27FC236}">
                <a16:creationId xmlns:a16="http://schemas.microsoft.com/office/drawing/2014/main" id="{B15F30C7-1EB9-2D0C-F9F5-67AC5763AE10}"/>
              </a:ext>
            </a:extLst>
          </p:cNvPr>
          <p:cNvPicPr>
            <a:picLocks noChangeAspect="1"/>
          </p:cNvPicPr>
          <p:nvPr/>
        </p:nvPicPr>
        <p:blipFill>
          <a:blip r:embed="rId4"/>
          <a:srcRect l="14732" b="41749"/>
          <a:stretch>
            <a:fillRect/>
          </a:stretch>
        </p:blipFill>
        <p:spPr>
          <a:xfrm>
            <a:off x="6291201" y="1030596"/>
            <a:ext cx="3151573" cy="2693842"/>
          </a:xfrm>
          <a:prstGeom prst="rect">
            <a:avLst/>
          </a:prstGeom>
        </p:spPr>
      </p:pic>
      <p:sp>
        <p:nvSpPr>
          <p:cNvPr id="5" name="TextBox 4">
            <a:extLst>
              <a:ext uri="{FF2B5EF4-FFF2-40B4-BE49-F238E27FC236}">
                <a16:creationId xmlns:a16="http://schemas.microsoft.com/office/drawing/2014/main" id="{CE706B8D-BF88-F5E3-814E-CE8C72BFD0D7}"/>
              </a:ext>
            </a:extLst>
          </p:cNvPr>
          <p:cNvSpPr txBox="1"/>
          <p:nvPr/>
        </p:nvSpPr>
        <p:spPr>
          <a:xfrm>
            <a:off x="9599722" y="1030596"/>
            <a:ext cx="2269721" cy="4031873"/>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In factor analysis, the arrows go from the latent factor to the observed variables. This means the factor is assumed to </a:t>
            </a:r>
            <a:r>
              <a:rPr lang="en-US" sz="1600" i="1" dirty="0">
                <a:latin typeface="Calibri" panose="020F0502020204030204" pitchFamily="34" charset="0"/>
                <a:ea typeface="Calibri" panose="020F0502020204030204" pitchFamily="34" charset="0"/>
                <a:cs typeface="Calibri" panose="020F0502020204030204" pitchFamily="34" charset="0"/>
              </a:rPr>
              <a:t>cause</a:t>
            </a:r>
            <a:r>
              <a:rPr lang="en-US" sz="1600" dirty="0">
                <a:latin typeface="Calibri" panose="020F0502020204030204" pitchFamily="34" charset="0"/>
                <a:ea typeface="Calibri" panose="020F0502020204030204" pitchFamily="34" charset="0"/>
                <a:cs typeface="Calibri" panose="020F0502020204030204" pitchFamily="34" charset="0"/>
              </a:rPr>
              <a:t> the responses we observe. The shared variation among the Y’s is explained by a common underlying construct. “People score high on all these items </a:t>
            </a:r>
            <a:r>
              <a:rPr lang="en-US" sz="1600" i="1" dirty="0">
                <a:latin typeface="Calibri" panose="020F0502020204030204" pitchFamily="34" charset="0"/>
                <a:ea typeface="Calibri" panose="020F0502020204030204" pitchFamily="34" charset="0"/>
                <a:cs typeface="Calibri" panose="020F0502020204030204" pitchFamily="34" charset="0"/>
              </a:rPr>
              <a:t>because</a:t>
            </a:r>
            <a:r>
              <a:rPr lang="en-US" sz="1600" dirty="0">
                <a:latin typeface="Calibri" panose="020F0502020204030204" pitchFamily="34" charset="0"/>
                <a:ea typeface="Calibri" panose="020F0502020204030204" pitchFamily="34" charset="0"/>
                <a:cs typeface="Calibri" panose="020F0502020204030204" pitchFamily="34" charset="0"/>
              </a:rPr>
              <a:t> they have high levels of the latent trait (e.g., depression).”</a:t>
            </a:r>
          </a:p>
        </p:txBody>
      </p:sp>
      <p:sp>
        <p:nvSpPr>
          <p:cNvPr id="10" name="TextBox 9">
            <a:extLst>
              <a:ext uri="{FF2B5EF4-FFF2-40B4-BE49-F238E27FC236}">
                <a16:creationId xmlns:a16="http://schemas.microsoft.com/office/drawing/2014/main" id="{0C16B9E4-94A1-907B-0327-C2B79FDD8D77}"/>
              </a:ext>
            </a:extLst>
          </p:cNvPr>
          <p:cNvSpPr txBox="1"/>
          <p:nvPr/>
        </p:nvSpPr>
        <p:spPr>
          <a:xfrm>
            <a:off x="6379977" y="3880390"/>
            <a:ext cx="2922342" cy="830997"/>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This is a testable model. It can be evaluated for factor loadings, model fit, interpretability</a:t>
            </a:r>
          </a:p>
        </p:txBody>
      </p:sp>
      <p:sp>
        <p:nvSpPr>
          <p:cNvPr id="11" name="TextBox 10">
            <a:extLst>
              <a:ext uri="{FF2B5EF4-FFF2-40B4-BE49-F238E27FC236}">
                <a16:creationId xmlns:a16="http://schemas.microsoft.com/office/drawing/2014/main" id="{B7F78BD8-BA8D-E7B5-1DBD-6A8E0A8F2D29}"/>
              </a:ext>
            </a:extLst>
          </p:cNvPr>
          <p:cNvSpPr txBox="1"/>
          <p:nvPr/>
        </p:nvSpPr>
        <p:spPr>
          <a:xfrm>
            <a:off x="306279" y="1298406"/>
            <a:ext cx="2135080" cy="4278094"/>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In PCA, the arrows go the opposite direction—from the observed variables to the component. That means the component is </a:t>
            </a:r>
            <a:r>
              <a:rPr lang="en-US" sz="1600" i="1" dirty="0">
                <a:latin typeface="Calibri" panose="020F0502020204030204" pitchFamily="34" charset="0"/>
                <a:ea typeface="Calibri" panose="020F0502020204030204" pitchFamily="34" charset="0"/>
                <a:cs typeface="Calibri" panose="020F0502020204030204" pitchFamily="34" charset="0"/>
              </a:rPr>
              <a:t>constructed from</a:t>
            </a:r>
            <a:r>
              <a:rPr lang="en-US" sz="1600" dirty="0">
                <a:latin typeface="Calibri" panose="020F0502020204030204" pitchFamily="34" charset="0"/>
                <a:ea typeface="Calibri" panose="020F0502020204030204" pitchFamily="34" charset="0"/>
                <a:cs typeface="Calibri" panose="020F0502020204030204" pitchFamily="34" charset="0"/>
              </a:rPr>
              <a:t> the variables, not causing them. The component is just a summary of the variables—it doesn’t explain why they are related. These variables move together, so we combine them into a single score</a:t>
            </a:r>
          </a:p>
        </p:txBody>
      </p:sp>
      <p:sp>
        <p:nvSpPr>
          <p:cNvPr id="12" name="TextBox 11">
            <a:extLst>
              <a:ext uri="{FF2B5EF4-FFF2-40B4-BE49-F238E27FC236}">
                <a16:creationId xmlns:a16="http://schemas.microsoft.com/office/drawing/2014/main" id="{74B4C5E4-0E68-1366-B4BF-C9A353A2C3CE}"/>
              </a:ext>
            </a:extLst>
          </p:cNvPr>
          <p:cNvSpPr txBox="1"/>
          <p:nvPr/>
        </p:nvSpPr>
        <p:spPr>
          <a:xfrm>
            <a:off x="2826741" y="3757279"/>
            <a:ext cx="2922342" cy="1077218"/>
          </a:xfrm>
          <a:prstGeom prst="rect">
            <a:avLst/>
          </a:prstGeom>
          <a:noFill/>
        </p:spPr>
        <p:txBody>
          <a:bodyPr wrap="square">
            <a:spAutoFit/>
          </a:bodyPr>
          <a:lstStyle/>
          <a:p>
            <a:r>
              <a:rPr lang="en-US" sz="1600" dirty="0">
                <a:latin typeface="Calibri" panose="020F0502020204030204" pitchFamily="34" charset="0"/>
                <a:ea typeface="Calibri" panose="020F0502020204030204" pitchFamily="34" charset="0"/>
                <a:cs typeface="Calibri" panose="020F0502020204030204" pitchFamily="34" charset="0"/>
              </a:rPr>
              <a:t>This is a NOT a testable model. It is not a measurement model, and there is no hypothesis about the underlying structure.</a:t>
            </a:r>
          </a:p>
        </p:txBody>
      </p:sp>
    </p:spTree>
    <p:extLst>
      <p:ext uri="{BB962C8B-B14F-4D97-AF65-F5344CB8AC3E}">
        <p14:creationId xmlns:p14="http://schemas.microsoft.com/office/powerpoint/2010/main" val="59944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B8E2A-0F51-290D-FE36-86B0D0714A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7EB37D-7817-EA82-69BE-84CC166B0A96}"/>
              </a:ext>
            </a:extLst>
          </p:cNvPr>
          <p:cNvSpPr>
            <a:spLocks noGrp="1"/>
          </p:cNvSpPr>
          <p:nvPr>
            <p:ph type="title"/>
          </p:nvPr>
        </p:nvSpPr>
        <p:spPr>
          <a:xfrm>
            <a:off x="90777" y="245856"/>
            <a:ext cx="11923644" cy="628788"/>
          </a:xfrm>
        </p:spPr>
        <p:txBody>
          <a:bodyPr>
            <a:normAutofit fontScale="90000"/>
          </a:bodyPr>
          <a:lstStyle/>
          <a:p>
            <a:r>
              <a:rPr lang="en-US" dirty="0"/>
              <a:t>EFA: A Measurement Model</a:t>
            </a:r>
          </a:p>
        </p:txBody>
      </p:sp>
      <p:sp>
        <p:nvSpPr>
          <p:cNvPr id="5" name="Content Placeholder 4">
            <a:extLst>
              <a:ext uri="{FF2B5EF4-FFF2-40B4-BE49-F238E27FC236}">
                <a16:creationId xmlns:a16="http://schemas.microsoft.com/office/drawing/2014/main" id="{9A8DF22B-2E38-9D80-D132-E50D1F14E8D7}"/>
              </a:ext>
            </a:extLst>
          </p:cNvPr>
          <p:cNvSpPr>
            <a:spLocks noGrp="1"/>
          </p:cNvSpPr>
          <p:nvPr>
            <p:ph idx="1"/>
          </p:nvPr>
        </p:nvSpPr>
        <p:spPr>
          <a:xfrm>
            <a:off x="90777" y="874644"/>
            <a:ext cx="4160381"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EFA does not presuppose a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theoretical</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structure</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Useful as a starting point for understanding empirical structures or identifying problems with existing scales</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Correlations</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between items are used to infer the presence of an underlying variable (latent)</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Cross loadings</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One important consideration is that all items are allowed to load on any factor (compare CFA)</a:t>
            </a:r>
          </a:p>
        </p:txBody>
      </p:sp>
      <p:pic>
        <p:nvPicPr>
          <p:cNvPr id="2" name="Picture 2">
            <a:extLst>
              <a:ext uri="{FF2B5EF4-FFF2-40B4-BE49-F238E27FC236}">
                <a16:creationId xmlns:a16="http://schemas.microsoft.com/office/drawing/2014/main" id="{4F5622D4-9143-63B0-EAAF-CFD6F56F898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42342" y="794718"/>
            <a:ext cx="6909577" cy="5268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894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F3D1-EC8F-F4E8-B755-BB2B18FC7EA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2CB9988-352C-CDB7-2CFE-2AC1505429AE}"/>
              </a:ext>
            </a:extLst>
          </p:cNvPr>
          <p:cNvSpPr>
            <a:spLocks noGrp="1"/>
          </p:cNvSpPr>
          <p:nvPr>
            <p:ph type="title"/>
          </p:nvPr>
        </p:nvSpPr>
        <p:spPr>
          <a:xfrm>
            <a:off x="0" y="14681"/>
            <a:ext cx="11923644" cy="628788"/>
          </a:xfrm>
        </p:spPr>
        <p:txBody>
          <a:bodyPr>
            <a:normAutofit fontScale="90000"/>
          </a:bodyPr>
          <a:lstStyle/>
          <a:p>
            <a:r>
              <a:rPr lang="en-US" dirty="0"/>
              <a:t>Example</a:t>
            </a:r>
          </a:p>
        </p:txBody>
      </p:sp>
      <p:sp>
        <p:nvSpPr>
          <p:cNvPr id="5" name="Content Placeholder 4">
            <a:extLst>
              <a:ext uri="{FF2B5EF4-FFF2-40B4-BE49-F238E27FC236}">
                <a16:creationId xmlns:a16="http://schemas.microsoft.com/office/drawing/2014/main" id="{95B45197-011D-FE6E-0CDA-D38D0421B8F4}"/>
              </a:ext>
            </a:extLst>
          </p:cNvPr>
          <p:cNvSpPr>
            <a:spLocks noGrp="1"/>
          </p:cNvSpPr>
          <p:nvPr>
            <p:ph idx="1"/>
          </p:nvPr>
        </p:nvSpPr>
        <p:spPr>
          <a:xfrm>
            <a:off x="137472" y="643469"/>
            <a:ext cx="6737685" cy="5498961"/>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Circles represent latent variables—unobserved constructs identified through factor analysis.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GI = Growing Investment</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DI = Disinvestment</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SI = Sustained Investment</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We assigned these labels based on patterns in the measured data</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Boxes represent observed/measured items—real-world variables used to estimate the latent factors (e.g., "Income Inequality," "Home Loans")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Green lines show positive factor loadings: </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Thicker green lines indicate stronger relationships, meaning that the item is a good indicator of the latent variable</a:t>
            </a:r>
          </a:p>
          <a:p>
            <a:r>
              <a:rPr lang="en-US" sz="2000" dirty="0">
                <a:solidFill>
                  <a:prstClr val="black"/>
                </a:solidFill>
                <a:latin typeface="Calibri" panose="020F0502020204030204" pitchFamily="34" charset="0"/>
                <a:ea typeface="Calibri" panose="020F0502020204030204" pitchFamily="34" charset="0"/>
                <a:cs typeface="Calibri" panose="020F0502020204030204" pitchFamily="34" charset="0"/>
              </a:rPr>
              <a:t>R</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ed lines show negative relationships or inverse loadings: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These items are negatively associated with the latent variable, meaning they represent an opposite trend or reduce the strength of that factor</a:t>
            </a:r>
          </a:p>
        </p:txBody>
      </p:sp>
      <p:pic>
        <p:nvPicPr>
          <p:cNvPr id="3" name="Picture 2">
            <a:extLst>
              <a:ext uri="{FF2B5EF4-FFF2-40B4-BE49-F238E27FC236}">
                <a16:creationId xmlns:a16="http://schemas.microsoft.com/office/drawing/2014/main" id="{E176DBB7-D0F8-E33D-F2FD-85A5B6996A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78842" y="0"/>
            <a:ext cx="4572000" cy="6528925"/>
          </a:xfrm>
          <a:prstGeom prst="rect">
            <a:avLst/>
          </a:prstGeom>
          <a:noFill/>
          <a:ln>
            <a:noFill/>
          </a:ln>
        </p:spPr>
      </p:pic>
    </p:spTree>
    <p:extLst>
      <p:ext uri="{BB962C8B-B14F-4D97-AF65-F5344CB8AC3E}">
        <p14:creationId xmlns:p14="http://schemas.microsoft.com/office/powerpoint/2010/main" val="1224073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57F4C-E9ED-79B8-A6A0-BD50F46B8D3F}"/>
              </a:ext>
            </a:extLst>
          </p:cNvPr>
          <p:cNvSpPr>
            <a:spLocks noGrp="1"/>
          </p:cNvSpPr>
          <p:nvPr>
            <p:ph type="title"/>
          </p:nvPr>
        </p:nvSpPr>
        <p:spPr>
          <a:xfrm>
            <a:off x="0" y="-97585"/>
            <a:ext cx="11815637" cy="1325563"/>
          </a:xfrm>
        </p:spPr>
        <p:txBody>
          <a:bodyPr>
            <a:normAutofit/>
          </a:bodyPr>
          <a:lstStyle/>
          <a:p>
            <a:r>
              <a:rPr lang="en-US" dirty="0"/>
              <a:t>Example: </a:t>
            </a:r>
            <a:br>
              <a:rPr lang="en-US" dirty="0"/>
            </a:br>
            <a:r>
              <a:rPr lang="en-US" sz="3100" dirty="0"/>
              <a:t>Five indicators of an underlying latent construct we call depression</a:t>
            </a:r>
            <a:endParaRPr lang="en-US" dirty="0"/>
          </a:p>
        </p:txBody>
      </p:sp>
      <p:sp>
        <p:nvSpPr>
          <p:cNvPr id="3" name="Content Placeholder 2">
            <a:extLst>
              <a:ext uri="{FF2B5EF4-FFF2-40B4-BE49-F238E27FC236}">
                <a16:creationId xmlns:a16="http://schemas.microsoft.com/office/drawing/2014/main" id="{1F968E7D-27CC-11E6-5A7A-6AD33F4CFC58}"/>
              </a:ext>
            </a:extLst>
          </p:cNvPr>
          <p:cNvSpPr>
            <a:spLocks noGrp="1"/>
          </p:cNvSpPr>
          <p:nvPr>
            <p:ph idx="1"/>
          </p:nvPr>
        </p:nvSpPr>
        <p:spPr>
          <a:xfrm>
            <a:off x="131092" y="1167610"/>
            <a:ext cx="4091609"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Let’s say you have 5 questions like:</a:t>
            </a:r>
          </a:p>
          <a:p>
            <a:pPr lvl="1"/>
            <a:r>
              <a:rPr lang="en-US" sz="1800" dirty="0">
                <a:latin typeface="Calibri" panose="020F0502020204030204" pitchFamily="34" charset="0"/>
                <a:ea typeface="Calibri" panose="020F0502020204030204" pitchFamily="34" charset="0"/>
                <a:cs typeface="Calibri" panose="020F0502020204030204" pitchFamily="34" charset="0"/>
              </a:rPr>
              <a:t>"I felt sad“</a:t>
            </a:r>
          </a:p>
          <a:p>
            <a:pPr lvl="1"/>
            <a:r>
              <a:rPr lang="en-US" sz="1800" dirty="0">
                <a:latin typeface="Calibri" panose="020F0502020204030204" pitchFamily="34" charset="0"/>
                <a:ea typeface="Calibri" panose="020F0502020204030204" pitchFamily="34" charset="0"/>
                <a:cs typeface="Calibri" panose="020F0502020204030204" pitchFamily="34" charset="0"/>
              </a:rPr>
              <a:t>"I couldn’t sleep“</a:t>
            </a:r>
          </a:p>
          <a:p>
            <a:pPr lvl="1"/>
            <a:r>
              <a:rPr lang="en-US" sz="1800" dirty="0">
                <a:latin typeface="Calibri" panose="020F0502020204030204" pitchFamily="34" charset="0"/>
                <a:ea typeface="Calibri" panose="020F0502020204030204" pitchFamily="34" charset="0"/>
                <a:cs typeface="Calibri" panose="020F0502020204030204" pitchFamily="34" charset="0"/>
              </a:rPr>
              <a:t>"I felt tired“</a:t>
            </a:r>
          </a:p>
          <a:p>
            <a:pPr lvl="1"/>
            <a:r>
              <a:rPr lang="en-US" sz="1800" dirty="0">
                <a:latin typeface="Calibri" panose="020F0502020204030204" pitchFamily="34" charset="0"/>
                <a:ea typeface="Calibri" panose="020F0502020204030204" pitchFamily="34" charset="0"/>
                <a:cs typeface="Calibri" panose="020F0502020204030204" pitchFamily="34" charset="0"/>
              </a:rPr>
              <a:t>"I cried often“</a:t>
            </a:r>
          </a:p>
          <a:p>
            <a:pPr lvl="1"/>
            <a:r>
              <a:rPr lang="en-US" sz="1800" dirty="0">
                <a:latin typeface="Calibri" panose="020F0502020204030204" pitchFamily="34" charset="0"/>
                <a:ea typeface="Calibri" panose="020F0502020204030204" pitchFamily="34" charset="0"/>
                <a:cs typeface="Calibri" panose="020F0502020204030204" pitchFamily="34" charset="0"/>
              </a:rPr>
              <a:t>"I had trouble concentrating"</a:t>
            </a:r>
          </a:p>
        </p:txBody>
      </p:sp>
      <p:sp>
        <p:nvSpPr>
          <p:cNvPr id="4" name="Rectangle 1">
            <a:extLst>
              <a:ext uri="{FF2B5EF4-FFF2-40B4-BE49-F238E27FC236}">
                <a16:creationId xmlns:a16="http://schemas.microsoft.com/office/drawing/2014/main" id="{28C6D020-A1AC-8AEB-B8CC-8AD260D8C8D5}"/>
              </a:ext>
            </a:extLst>
          </p:cNvPr>
          <p:cNvSpPr>
            <a:spLocks noChangeArrowheads="1"/>
          </p:cNvSpPr>
          <p:nvPr/>
        </p:nvSpPr>
        <p:spPr bwMode="auto">
          <a:xfrm>
            <a:off x="4418274" y="1227978"/>
            <a:ext cx="764263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If you conducted a FA: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You’re assuming these 5 items are caused by an underlying factor, like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You believe that this factor explains the shared variance (covariance) between these items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Then you test whether this model fits your data (e.g., using model fit statistics). If the model fits well, you have evidence that ? is a valid latent construct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If you conducted a PCA: </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PCA examines the total variance of the 5 items and finds components that best summarize the data</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You simply want to mathematically combine the items into a weighted average (component) that explains as much variance as possible</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There’s no underlying assumption that a real, hidden thing like “depression” exists or is driving the items. It’s just a data summary, not a testable theory</a:t>
            </a:r>
          </a:p>
        </p:txBody>
      </p:sp>
    </p:spTree>
    <p:extLst>
      <p:ext uri="{BB962C8B-B14F-4D97-AF65-F5344CB8AC3E}">
        <p14:creationId xmlns:p14="http://schemas.microsoft.com/office/powerpoint/2010/main" val="2941674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anim calcmode="lin" valueType="num">
                                      <p:cBhvr additive="base">
                                        <p:cTn id="1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 calcmode="lin" valueType="num">
                                      <p:cBhvr additive="base">
                                        <p:cTn id="21"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 calcmode="lin" valueType="num">
                                      <p:cBhvr additive="base">
                                        <p:cTn id="25"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7" end="7"/>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anim calcmode="lin" valueType="num">
                                      <p:cBhvr additive="base">
                                        <p:cTn id="29"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FC570-EC3B-6A78-AAA6-A8F9B1F68B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F6658-6776-8203-EE1F-85F83FBE76EC}"/>
              </a:ext>
            </a:extLst>
          </p:cNvPr>
          <p:cNvSpPr>
            <a:spLocks noGrp="1"/>
          </p:cNvSpPr>
          <p:nvPr>
            <p:ph type="title"/>
          </p:nvPr>
        </p:nvSpPr>
        <p:spPr>
          <a:xfrm>
            <a:off x="0" y="0"/>
            <a:ext cx="11815637" cy="787396"/>
          </a:xfrm>
        </p:spPr>
        <p:txBody>
          <a:bodyPr>
            <a:normAutofit/>
          </a:bodyPr>
          <a:lstStyle/>
          <a:p>
            <a:r>
              <a:rPr lang="en-US" dirty="0"/>
              <a:t>Intuition</a:t>
            </a:r>
          </a:p>
        </p:txBody>
      </p:sp>
      <p:sp>
        <p:nvSpPr>
          <p:cNvPr id="3" name="Content Placeholder 2">
            <a:extLst>
              <a:ext uri="{FF2B5EF4-FFF2-40B4-BE49-F238E27FC236}">
                <a16:creationId xmlns:a16="http://schemas.microsoft.com/office/drawing/2014/main" id="{40242193-3102-F145-CC27-70D3236C567E}"/>
              </a:ext>
            </a:extLst>
          </p:cNvPr>
          <p:cNvSpPr>
            <a:spLocks noGrp="1"/>
          </p:cNvSpPr>
          <p:nvPr>
            <p:ph idx="1"/>
          </p:nvPr>
        </p:nvSpPr>
        <p:spPr>
          <a:xfrm>
            <a:off x="85911" y="638219"/>
            <a:ext cx="11643813" cy="5810707"/>
          </a:xfrm>
        </p:spPr>
        <p:txBody>
          <a:bodyPr>
            <a:normAutofit lnSpcReduction="10000"/>
          </a:bodyPr>
          <a:lstStyle/>
          <a:p>
            <a:pPr>
              <a:lnSpc>
                <a:spcPct val="120000"/>
              </a:lnSpc>
              <a:spcBef>
                <a:spcPts val="0"/>
              </a:spcBef>
            </a:pPr>
            <a:r>
              <a:rPr lang="en-US" sz="2000" b="1" dirty="0">
                <a:latin typeface="Calibri" panose="020F0502020204030204" pitchFamily="34" charset="0"/>
                <a:ea typeface="Calibri" panose="020F0502020204030204" pitchFamily="34" charset="0"/>
                <a:cs typeface="Calibri" panose="020F0502020204030204" pitchFamily="34" charset="0"/>
              </a:rPr>
              <a:t>PCA</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It takes all the variance from all five variables — both shared and unique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Then it creates components (linear combinations of the variables) that explain </a:t>
            </a:r>
            <a:r>
              <a:rPr lang="en-US" sz="1800" u="sng" dirty="0">
                <a:latin typeface="Calibri" panose="020F0502020204030204" pitchFamily="34" charset="0"/>
                <a:ea typeface="Calibri" panose="020F0502020204030204" pitchFamily="34" charset="0"/>
                <a:cs typeface="Calibri" panose="020F0502020204030204" pitchFamily="34" charset="0"/>
              </a:rPr>
              <a:t>as much total variance as possible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So even if one variable doesn’t share variance with others (i.e., it doesn’t correlate well), </a:t>
            </a:r>
            <a:r>
              <a:rPr lang="en-US" sz="1800" b="1" dirty="0">
                <a:latin typeface="Calibri" panose="020F0502020204030204" pitchFamily="34" charset="0"/>
                <a:ea typeface="Calibri" panose="020F0502020204030204" pitchFamily="34" charset="0"/>
                <a:cs typeface="Calibri" panose="020F0502020204030204" pitchFamily="34" charset="0"/>
              </a:rPr>
              <a:t>PCA still includes it</a:t>
            </a:r>
            <a:r>
              <a:rPr lang="en-US" sz="1800" dirty="0">
                <a:latin typeface="Calibri" panose="020F0502020204030204" pitchFamily="34" charset="0"/>
                <a:ea typeface="Calibri" panose="020F0502020204030204" pitchFamily="34" charset="0"/>
                <a:cs typeface="Calibri" panose="020F0502020204030204" pitchFamily="34" charset="0"/>
              </a:rPr>
              <a:t> — it just might load weakly on the first few components</a:t>
            </a:r>
          </a:p>
          <a:p>
            <a:pPr>
              <a:lnSpc>
                <a:spcPct val="120000"/>
              </a:lnSpc>
              <a:spcBef>
                <a:spcPts val="0"/>
              </a:spcBef>
            </a:pPr>
            <a:r>
              <a:rPr lang="en-US" sz="2000" b="1" dirty="0">
                <a:latin typeface="Calibri" panose="020F0502020204030204" pitchFamily="34" charset="0"/>
                <a:ea typeface="Calibri" panose="020F0502020204030204" pitchFamily="34" charset="0"/>
                <a:cs typeface="Calibri" panose="020F0502020204030204" pitchFamily="34" charset="0"/>
              </a:rPr>
              <a:t>FA</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focuses only on the </a:t>
            </a:r>
            <a:r>
              <a:rPr lang="en-US" sz="1800" b="1" dirty="0">
                <a:latin typeface="Calibri" panose="020F0502020204030204" pitchFamily="34" charset="0"/>
                <a:ea typeface="Calibri" panose="020F0502020204030204" pitchFamily="34" charset="0"/>
                <a:cs typeface="Calibri" panose="020F0502020204030204" pitchFamily="34" charset="0"/>
              </a:rPr>
              <a:t>shared variance </a:t>
            </a:r>
            <a:r>
              <a:rPr lang="en-US" sz="1800" dirty="0">
                <a:latin typeface="Calibri" panose="020F0502020204030204" pitchFamily="34" charset="0"/>
                <a:ea typeface="Calibri" panose="020F0502020204030204" pitchFamily="34" charset="0"/>
                <a:cs typeface="Calibri" panose="020F0502020204030204" pitchFamily="34" charset="0"/>
              </a:rPr>
              <a:t>(called common variance) between variables</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It assumes there’s some underlying latent factor (like depression) that’s causing the correlation</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removes unique variance and error variance from the factor model</a:t>
            </a:r>
          </a:p>
          <a:p>
            <a:pPr>
              <a:lnSpc>
                <a:spcPct val="120000"/>
              </a:lnSpc>
              <a:spcBef>
                <a:spcPts val="0"/>
              </a:spcBef>
            </a:pPr>
            <a:r>
              <a:rPr lang="en-US" sz="2000" b="1" u="sng" dirty="0">
                <a:latin typeface="Calibri" panose="020F0502020204030204" pitchFamily="34" charset="0"/>
                <a:ea typeface="Calibri" panose="020F0502020204030204" pitchFamily="34" charset="0"/>
                <a:cs typeface="Calibri" panose="020F0502020204030204" pitchFamily="34" charset="0"/>
              </a:rPr>
              <a:t>Example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Let’s say one item (“I felt tired”) is not very correlated with the other 4</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PCA still uses it in calculating components</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might give it a </a:t>
            </a:r>
            <a:r>
              <a:rPr lang="en-US" sz="1800" b="1" dirty="0">
                <a:latin typeface="Calibri" panose="020F0502020204030204" pitchFamily="34" charset="0"/>
                <a:ea typeface="Calibri" panose="020F0502020204030204" pitchFamily="34" charset="0"/>
                <a:cs typeface="Calibri" panose="020F0502020204030204" pitchFamily="34" charset="0"/>
              </a:rPr>
              <a:t>low loading </a:t>
            </a:r>
            <a:r>
              <a:rPr lang="en-US" sz="1800" dirty="0">
                <a:latin typeface="Calibri" panose="020F0502020204030204" pitchFamily="34" charset="0"/>
                <a:ea typeface="Calibri" panose="020F0502020204030204" pitchFamily="34" charset="0"/>
                <a:cs typeface="Calibri" panose="020F0502020204030204" pitchFamily="34" charset="0"/>
              </a:rPr>
              <a:t>or treat its variance as mostly unique/error rather than useful in explaining the latent construct</a:t>
            </a:r>
          </a:p>
          <a:p>
            <a:pPr>
              <a:lnSpc>
                <a:spcPct val="120000"/>
              </a:lnSpc>
              <a:spcBef>
                <a:spcPts val="0"/>
              </a:spcBef>
            </a:pPr>
            <a:r>
              <a:rPr lang="en-US" sz="2000" b="1" dirty="0">
                <a:latin typeface="Calibri" panose="020F0502020204030204" pitchFamily="34" charset="0"/>
                <a:ea typeface="Calibri" panose="020F0502020204030204" pitchFamily="34" charset="0"/>
                <a:cs typeface="Calibri" panose="020F0502020204030204" pitchFamily="34" charset="0"/>
              </a:rPr>
              <a:t>Bottom line:</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PCA uses all variables and all their variance, shared or not</a:t>
            </a:r>
          </a:p>
          <a:p>
            <a:pPr lvl="1">
              <a:lnSpc>
                <a:spcPct val="120000"/>
              </a:lnSpc>
              <a:spcBef>
                <a:spcPts val="0"/>
              </a:spcBef>
            </a:pPr>
            <a:r>
              <a:rPr lang="en-US" sz="1800" dirty="0">
                <a:latin typeface="Calibri" panose="020F0502020204030204" pitchFamily="34" charset="0"/>
                <a:ea typeface="Calibri" panose="020F0502020204030204" pitchFamily="34" charset="0"/>
                <a:cs typeface="Calibri" panose="020F0502020204030204" pitchFamily="34" charset="0"/>
              </a:rPr>
              <a:t>FA uses only the shared variance to model an underlying latent structure</a:t>
            </a:r>
          </a:p>
        </p:txBody>
      </p:sp>
    </p:spTree>
    <p:extLst>
      <p:ext uri="{BB962C8B-B14F-4D97-AF65-F5344CB8AC3E}">
        <p14:creationId xmlns:p14="http://schemas.microsoft.com/office/powerpoint/2010/main" val="392836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 calcmode="lin" valueType="num">
                                      <p:cBhvr additive="base">
                                        <p:cTn id="2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 calcmode="lin" valueType="num">
                                      <p:cBhvr additive="base">
                                        <p:cTn id="3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 calcmode="lin" valueType="num">
                                      <p:cBhvr additive="base">
                                        <p:cTn id="3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 calcmode="lin" valueType="num">
                                      <p:cBhvr additive="base">
                                        <p:cTn id="43"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anim calcmode="lin" valueType="num">
                                      <p:cBhvr additive="base">
                                        <p:cTn id="4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anim calcmode="lin" valueType="num">
                                      <p:cBhvr additive="base">
                                        <p:cTn id="5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319EF-AC30-7A64-BE54-A6626233E9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D050902-20F1-9DE8-3BC9-BC99CAC95014}"/>
              </a:ext>
            </a:extLst>
          </p:cNvPr>
          <p:cNvSpPr>
            <a:spLocks noGrp="1"/>
          </p:cNvSpPr>
          <p:nvPr>
            <p:ph type="title"/>
          </p:nvPr>
        </p:nvSpPr>
        <p:spPr>
          <a:xfrm>
            <a:off x="90777" y="61371"/>
            <a:ext cx="11923644" cy="628788"/>
          </a:xfrm>
        </p:spPr>
        <p:txBody>
          <a:bodyPr>
            <a:normAutofit fontScale="90000"/>
          </a:bodyPr>
          <a:lstStyle/>
          <a:p>
            <a:r>
              <a:rPr lang="en-US" dirty="0"/>
              <a:t>EFA</a:t>
            </a:r>
          </a:p>
        </p:txBody>
      </p:sp>
      <p:sp>
        <p:nvSpPr>
          <p:cNvPr id="5" name="Content Placeholder 4">
            <a:extLst>
              <a:ext uri="{FF2B5EF4-FFF2-40B4-BE49-F238E27FC236}">
                <a16:creationId xmlns:a16="http://schemas.microsoft.com/office/drawing/2014/main" id="{23E2D690-DAAE-2FCB-A7FE-FA254DAD9569}"/>
              </a:ext>
            </a:extLst>
          </p:cNvPr>
          <p:cNvSpPr>
            <a:spLocks noGrp="1"/>
          </p:cNvSpPr>
          <p:nvPr>
            <p:ph idx="1"/>
          </p:nvPr>
        </p:nvSpPr>
        <p:spPr>
          <a:xfrm>
            <a:off x="166315" y="608798"/>
            <a:ext cx="11772568"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The main applications of factor analytic techniques are: </a:t>
            </a:r>
          </a:p>
          <a:p>
            <a:pPr lvl="1"/>
            <a:r>
              <a:rPr lang="en-US" sz="1800" b="1" i="1" dirty="0">
                <a:solidFill>
                  <a:prstClr val="black"/>
                </a:solidFill>
                <a:latin typeface="Calibri" panose="020F0502020204030204" pitchFamily="34" charset="0"/>
                <a:ea typeface="Calibri" panose="020F0502020204030204" pitchFamily="34" charset="0"/>
                <a:cs typeface="Calibri" panose="020F0502020204030204" pitchFamily="34" charset="0"/>
              </a:rPr>
              <a:t>Data reduction.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reduce the number of variables into factors based on shared variance; and</a:t>
            </a:r>
          </a:p>
          <a:p>
            <a:pPr lvl="1"/>
            <a:r>
              <a:rPr kumimoji="0" lang="en-US" sz="1800" b="1"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Data classification.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To detect structure (or underlying processes) in the relationships between variables, that is, to classify variables</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Assumption</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Variables that correlate with each other do so because they are measuring the same thing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 common domain</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is important because sometimes composite variables are used from assessments, psychological or otherwise, without concern for the process underlying that construction</a:t>
            </a:r>
          </a:p>
          <a:p>
            <a:r>
              <a:rPr kumimoji="0" lang="en-US" sz="20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RQ</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What is the underlying factor structure (i.e., a latent variable) for a set of measures?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EFA is a statistical procedure that allows us to cluster variables together into constructs or ‘latent variables’</a:t>
            </a:r>
          </a:p>
          <a:p>
            <a:pPr lvl="1"/>
            <a:r>
              <a:rPr kumimoji="0" lang="en-US" sz="1800" b="1" i="0" u="sng"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Example</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Is intelligence a unitary or multidimensional construct (as in multiple forms of intelligence)?</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1781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0F7C9-2D03-174C-9392-E3E2DC9BC8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4E12E83-368C-D98B-1B98-9C160BC98C32}"/>
              </a:ext>
            </a:extLst>
          </p:cNvPr>
          <p:cNvSpPr>
            <a:spLocks noGrp="1"/>
          </p:cNvSpPr>
          <p:nvPr>
            <p:ph type="title"/>
          </p:nvPr>
        </p:nvSpPr>
        <p:spPr>
          <a:xfrm>
            <a:off x="90777" y="67440"/>
            <a:ext cx="11923644" cy="628788"/>
          </a:xfrm>
        </p:spPr>
        <p:txBody>
          <a:bodyPr>
            <a:normAutofit fontScale="90000"/>
          </a:bodyPr>
          <a:lstStyle/>
          <a:p>
            <a:r>
              <a:rPr lang="en-US" dirty="0"/>
              <a:t>Illustration</a:t>
            </a:r>
          </a:p>
        </p:txBody>
      </p:sp>
      <p:sp>
        <p:nvSpPr>
          <p:cNvPr id="5" name="Content Placeholder 4">
            <a:extLst>
              <a:ext uri="{FF2B5EF4-FFF2-40B4-BE49-F238E27FC236}">
                <a16:creationId xmlns:a16="http://schemas.microsoft.com/office/drawing/2014/main" id="{0ED016C7-CF5F-9A08-52D4-2E1ADA442347}"/>
              </a:ext>
            </a:extLst>
          </p:cNvPr>
          <p:cNvSpPr>
            <a:spLocks noGrp="1"/>
          </p:cNvSpPr>
          <p:nvPr>
            <p:ph idx="1"/>
          </p:nvPr>
        </p:nvSpPr>
        <p:spPr>
          <a:xfrm>
            <a:off x="177579" y="696228"/>
            <a:ext cx="11740276" cy="5303519"/>
          </a:xfrm>
        </p:spPr>
        <p:txBody>
          <a:bodyPr>
            <a:normAutofit/>
          </a:bodyPr>
          <a:lstStyle/>
          <a:p>
            <a:r>
              <a:rPr lang="en-US" sz="2000" b="1" dirty="0">
                <a:solidFill>
                  <a:srgbClr val="000000"/>
                </a:solidFill>
                <a:latin typeface="Calibri" panose="020F0502020204030204" pitchFamily="34" charset="0"/>
                <a:cs typeface="Calibri" panose="020F0502020204030204" pitchFamily="34" charset="0"/>
              </a:rPr>
              <a:t>Situation</a:t>
            </a:r>
            <a:r>
              <a:rPr lang="en-US" sz="2000" dirty="0">
                <a:solidFill>
                  <a:srgbClr val="000000"/>
                </a:solidFill>
                <a:latin typeface="Calibri" panose="020F0502020204030204" pitchFamily="34" charset="0"/>
                <a:cs typeface="Calibri" panose="020F0502020204030204" pitchFamily="34" charset="0"/>
              </a:rPr>
              <a:t>: </a:t>
            </a:r>
            <a:r>
              <a:rPr lang="en-US" sz="2000" dirty="0">
                <a:solidFill>
                  <a:prstClr val="black"/>
                </a:solidFill>
                <a:latin typeface="Calibri" panose="020F0502020204030204" pitchFamily="34" charset="0"/>
                <a:ea typeface="Calibri" panose="020F0502020204030204" pitchFamily="34" charset="0"/>
                <a:cs typeface="Calibri" panose="020F0502020204030204" pitchFamily="34" charset="0"/>
              </a:rPr>
              <a:t>Pretend we have gathered information on 9 factors that affected individual choices about whether to patronize certain stores. We collect information on </a:t>
            </a:r>
            <a:r>
              <a:rPr lang="en-US" sz="2000" dirty="0">
                <a:solidFill>
                  <a:srgbClr val="000000"/>
                </a:solidFill>
                <a:latin typeface="Calibri" panose="020F0502020204030204" pitchFamily="34" charset="0"/>
                <a:cs typeface="Calibri" panose="020F0502020204030204" pitchFamily="34" charset="0"/>
              </a:rPr>
              <a:t>nine store image elements, including measures of the product offering, store personnel, price levels, and in-store service and experiences.</a:t>
            </a:r>
          </a:p>
          <a:p>
            <a:r>
              <a:rPr lang="en-US" sz="2000" b="1" dirty="0">
                <a:solidFill>
                  <a:srgbClr val="000000"/>
                </a:solidFill>
                <a:latin typeface="Calibri" panose="020F0502020204030204" pitchFamily="34" charset="0"/>
                <a:cs typeface="Calibri" panose="020F0502020204030204" pitchFamily="34" charset="0"/>
              </a:rPr>
              <a:t>Why factor analysis? </a:t>
            </a:r>
            <a:r>
              <a:rPr lang="en-US" sz="2000" dirty="0">
                <a:solidFill>
                  <a:srgbClr val="000000"/>
                </a:solidFill>
                <a:latin typeface="Calibri" panose="020F0502020204030204" pitchFamily="34" charset="0"/>
                <a:cs typeface="Calibri" panose="020F0502020204030204" pitchFamily="34" charset="0"/>
              </a:rPr>
              <a:t>A retailer would like to know whether consumers think in more general evaluative dimensions rather than in just the specific items</a:t>
            </a:r>
          </a:p>
          <a:p>
            <a:r>
              <a:rPr lang="en-US" sz="2000" b="1" dirty="0">
                <a:solidFill>
                  <a:srgbClr val="000000"/>
                </a:solidFill>
                <a:latin typeface="Calibri" panose="020F0502020204030204" pitchFamily="34" charset="0"/>
                <a:cs typeface="Calibri" panose="020F0502020204030204" pitchFamily="34" charset="0"/>
              </a:rPr>
              <a:t>Research Plan</a:t>
            </a:r>
            <a:r>
              <a:rPr lang="en-US" sz="2000" dirty="0">
                <a:solidFill>
                  <a:srgbClr val="000000"/>
                </a:solidFill>
                <a:latin typeface="Calibri" panose="020F0502020204030204" pitchFamily="34" charset="0"/>
                <a:cs typeface="Calibri" panose="020F0502020204030204" pitchFamily="34" charset="0"/>
              </a:rPr>
              <a:t>: </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One question of interest is whether the items can be grouped into some more general areas of focus, i.e., how do the 9 variables group together?</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Visual inspection is not helpful in revealing patterns, but factor analysis is… as shown in the next two slides</a:t>
            </a:r>
          </a:p>
        </p:txBody>
      </p:sp>
    </p:spTree>
    <p:extLst>
      <p:ext uri="{BB962C8B-B14F-4D97-AF65-F5344CB8AC3E}">
        <p14:creationId xmlns:p14="http://schemas.microsoft.com/office/powerpoint/2010/main" val="533804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8E702-0E1A-41D8-A736-8E7FDF75B302}"/>
              </a:ext>
            </a:extLst>
          </p:cNvPr>
          <p:cNvSpPr>
            <a:spLocks noGrp="1"/>
          </p:cNvSpPr>
          <p:nvPr>
            <p:ph type="title"/>
          </p:nvPr>
        </p:nvSpPr>
        <p:spPr>
          <a:xfrm>
            <a:off x="342339" y="49372"/>
            <a:ext cx="11384440" cy="693478"/>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Correlations (what factor(s) might cause the relationships?)</a:t>
            </a:r>
          </a:p>
        </p:txBody>
      </p:sp>
      <p:graphicFrame>
        <p:nvGraphicFramePr>
          <p:cNvPr id="5" name="Table 5">
            <a:extLst>
              <a:ext uri="{FF2B5EF4-FFF2-40B4-BE49-F238E27FC236}">
                <a16:creationId xmlns:a16="http://schemas.microsoft.com/office/drawing/2014/main" id="{83170D6D-5F4E-430B-8F3D-1E9AB622336D}"/>
              </a:ext>
            </a:extLst>
          </p:cNvPr>
          <p:cNvGraphicFramePr>
            <a:graphicFrameLocks noGrp="1"/>
          </p:cNvGraphicFramePr>
          <p:nvPr>
            <p:ph idx="1"/>
          </p:nvPr>
        </p:nvGraphicFramePr>
        <p:xfrm>
          <a:off x="342339" y="753980"/>
          <a:ext cx="10830988" cy="4491784"/>
        </p:xfrm>
        <a:graphic>
          <a:graphicData uri="http://schemas.openxmlformats.org/drawingml/2006/table">
            <a:tbl>
              <a:tblPr firstRow="1" bandRow="1">
                <a:tableStyleId>{5C22544A-7EE6-4342-B048-85BDC9FD1C3A}</a:tableStyleId>
              </a:tblPr>
              <a:tblGrid>
                <a:gridCol w="2820232">
                  <a:extLst>
                    <a:ext uri="{9D8B030D-6E8A-4147-A177-3AD203B41FA5}">
                      <a16:colId xmlns:a16="http://schemas.microsoft.com/office/drawing/2014/main" val="2105173215"/>
                    </a:ext>
                  </a:extLst>
                </a:gridCol>
                <a:gridCol w="864949">
                  <a:extLst>
                    <a:ext uri="{9D8B030D-6E8A-4147-A177-3AD203B41FA5}">
                      <a16:colId xmlns:a16="http://schemas.microsoft.com/office/drawing/2014/main" val="4137150587"/>
                    </a:ext>
                  </a:extLst>
                </a:gridCol>
                <a:gridCol w="944789">
                  <a:extLst>
                    <a:ext uri="{9D8B030D-6E8A-4147-A177-3AD203B41FA5}">
                      <a16:colId xmlns:a16="http://schemas.microsoft.com/office/drawing/2014/main" val="2617327945"/>
                    </a:ext>
                  </a:extLst>
                </a:gridCol>
                <a:gridCol w="864949">
                  <a:extLst>
                    <a:ext uri="{9D8B030D-6E8A-4147-A177-3AD203B41FA5}">
                      <a16:colId xmlns:a16="http://schemas.microsoft.com/office/drawing/2014/main" val="393941215"/>
                    </a:ext>
                  </a:extLst>
                </a:gridCol>
                <a:gridCol w="904869">
                  <a:extLst>
                    <a:ext uri="{9D8B030D-6E8A-4147-A177-3AD203B41FA5}">
                      <a16:colId xmlns:a16="http://schemas.microsoft.com/office/drawing/2014/main" val="652348981"/>
                    </a:ext>
                  </a:extLst>
                </a:gridCol>
                <a:gridCol w="984711">
                  <a:extLst>
                    <a:ext uri="{9D8B030D-6E8A-4147-A177-3AD203B41FA5}">
                      <a16:colId xmlns:a16="http://schemas.microsoft.com/office/drawing/2014/main" val="1293617217"/>
                    </a:ext>
                  </a:extLst>
                </a:gridCol>
                <a:gridCol w="838335">
                  <a:extLst>
                    <a:ext uri="{9D8B030D-6E8A-4147-A177-3AD203B41FA5}">
                      <a16:colId xmlns:a16="http://schemas.microsoft.com/office/drawing/2014/main" val="1073021097"/>
                    </a:ext>
                  </a:extLst>
                </a:gridCol>
                <a:gridCol w="811722">
                  <a:extLst>
                    <a:ext uri="{9D8B030D-6E8A-4147-A177-3AD203B41FA5}">
                      <a16:colId xmlns:a16="http://schemas.microsoft.com/office/drawing/2014/main" val="3905609835"/>
                    </a:ext>
                  </a:extLst>
                </a:gridCol>
                <a:gridCol w="931484">
                  <a:extLst>
                    <a:ext uri="{9D8B030D-6E8A-4147-A177-3AD203B41FA5}">
                      <a16:colId xmlns:a16="http://schemas.microsoft.com/office/drawing/2014/main" val="966529472"/>
                    </a:ext>
                  </a:extLst>
                </a:gridCol>
                <a:gridCol w="864948">
                  <a:extLst>
                    <a:ext uri="{9D8B030D-6E8A-4147-A177-3AD203B41FA5}">
                      <a16:colId xmlns:a16="http://schemas.microsoft.com/office/drawing/2014/main" val="3782169921"/>
                    </a:ext>
                  </a:extLst>
                </a:gridCol>
              </a:tblGrid>
              <a:tr h="408344">
                <a:tc gridSpan="10">
                  <a:txBody>
                    <a:bodyPr/>
                    <a:lstStyle/>
                    <a:p>
                      <a:r>
                        <a:rPr lang="en-US" dirty="0"/>
                        <a:t>Part I Original Correlation Matrix</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70817471"/>
                  </a:ext>
                </a:extLst>
              </a:tr>
              <a:tr h="408344">
                <a:tc>
                  <a:txBody>
                    <a:bodyPr/>
                    <a:lstStyle/>
                    <a:p>
                      <a:endParaRPr lang="en-US"/>
                    </a:p>
                  </a:txBody>
                  <a:tcPr/>
                </a:tc>
                <a:tc>
                  <a:txBody>
                    <a:bodyPr/>
                    <a:lstStyle/>
                    <a:p>
                      <a:r>
                        <a:rPr lang="en-US" dirty="0"/>
                        <a:t>V1</a:t>
                      </a:r>
                    </a:p>
                  </a:txBody>
                  <a:tcPr/>
                </a:tc>
                <a:tc>
                  <a:txBody>
                    <a:bodyPr/>
                    <a:lstStyle/>
                    <a:p>
                      <a:r>
                        <a:rPr lang="en-US" dirty="0"/>
                        <a:t>V2</a:t>
                      </a:r>
                    </a:p>
                  </a:txBody>
                  <a:tcPr/>
                </a:tc>
                <a:tc>
                  <a:txBody>
                    <a:bodyPr/>
                    <a:lstStyle/>
                    <a:p>
                      <a:r>
                        <a:rPr lang="en-US" dirty="0"/>
                        <a:t>V3</a:t>
                      </a:r>
                    </a:p>
                  </a:txBody>
                  <a:tcPr/>
                </a:tc>
                <a:tc>
                  <a:txBody>
                    <a:bodyPr/>
                    <a:lstStyle/>
                    <a:p>
                      <a:r>
                        <a:rPr lang="en-US" dirty="0"/>
                        <a:t>V4</a:t>
                      </a:r>
                    </a:p>
                  </a:txBody>
                  <a:tcPr/>
                </a:tc>
                <a:tc>
                  <a:txBody>
                    <a:bodyPr/>
                    <a:lstStyle/>
                    <a:p>
                      <a:r>
                        <a:rPr lang="en-US" dirty="0"/>
                        <a:t>V5</a:t>
                      </a:r>
                    </a:p>
                  </a:txBody>
                  <a:tcPr/>
                </a:tc>
                <a:tc>
                  <a:txBody>
                    <a:bodyPr/>
                    <a:lstStyle/>
                    <a:p>
                      <a:r>
                        <a:rPr lang="en-US" dirty="0"/>
                        <a:t>V6</a:t>
                      </a:r>
                    </a:p>
                  </a:txBody>
                  <a:tcPr/>
                </a:tc>
                <a:tc>
                  <a:txBody>
                    <a:bodyPr/>
                    <a:lstStyle/>
                    <a:p>
                      <a:r>
                        <a:rPr lang="en-US" dirty="0"/>
                        <a:t>V7</a:t>
                      </a:r>
                    </a:p>
                  </a:txBody>
                  <a:tcPr/>
                </a:tc>
                <a:tc>
                  <a:txBody>
                    <a:bodyPr/>
                    <a:lstStyle/>
                    <a:p>
                      <a:r>
                        <a:rPr lang="en-US" dirty="0"/>
                        <a:t>V8</a:t>
                      </a:r>
                    </a:p>
                  </a:txBody>
                  <a:tcPr/>
                </a:tc>
                <a:tc>
                  <a:txBody>
                    <a:bodyPr/>
                    <a:lstStyle/>
                    <a:p>
                      <a:r>
                        <a:rPr lang="en-US" dirty="0"/>
                        <a:t>V9</a:t>
                      </a:r>
                    </a:p>
                  </a:txBody>
                  <a:tcPr/>
                </a:tc>
                <a:extLst>
                  <a:ext uri="{0D108BD9-81ED-4DB2-BD59-A6C34878D82A}">
                    <a16:rowId xmlns:a16="http://schemas.microsoft.com/office/drawing/2014/main" val="1203756481"/>
                  </a:ext>
                </a:extLst>
              </a:tr>
              <a:tr h="408344">
                <a:tc>
                  <a:txBody>
                    <a:bodyPr/>
                    <a:lstStyle/>
                    <a:p>
                      <a:r>
                        <a:rPr lang="en-US" dirty="0"/>
                        <a:t>V1 Price Level</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965157"/>
                  </a:ext>
                </a:extLst>
              </a:tr>
              <a:tr h="408344">
                <a:tc>
                  <a:txBody>
                    <a:bodyPr/>
                    <a:lstStyle/>
                    <a:p>
                      <a:r>
                        <a:rPr lang="en-US" dirty="0"/>
                        <a:t>V2 Store Personnel</a:t>
                      </a:r>
                    </a:p>
                  </a:txBody>
                  <a:tcPr/>
                </a:tc>
                <a:tc>
                  <a:txBody>
                    <a:bodyPr/>
                    <a:lstStyle/>
                    <a:p>
                      <a:r>
                        <a:rPr lang="en-US" dirty="0"/>
                        <a:t>.427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52011410"/>
                  </a:ext>
                </a:extLst>
              </a:tr>
              <a:tr h="408344">
                <a:tc>
                  <a:txBody>
                    <a:bodyPr/>
                    <a:lstStyle/>
                    <a:p>
                      <a:r>
                        <a:rPr lang="en-US" dirty="0"/>
                        <a:t>V3 Return Policy</a:t>
                      </a:r>
                    </a:p>
                  </a:txBody>
                  <a:tcPr/>
                </a:tc>
                <a:tc>
                  <a:txBody>
                    <a:bodyPr/>
                    <a:lstStyle/>
                    <a:p>
                      <a:r>
                        <a:rPr lang="en-US" dirty="0"/>
                        <a:t>.302</a:t>
                      </a:r>
                    </a:p>
                  </a:txBody>
                  <a:tcPr/>
                </a:tc>
                <a:tc>
                  <a:txBody>
                    <a:bodyPr/>
                    <a:lstStyle/>
                    <a:p>
                      <a:r>
                        <a:rPr lang="en-US" b="1" dirty="0"/>
                        <a:t>.771</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269692567"/>
                  </a:ext>
                </a:extLst>
              </a:tr>
              <a:tr h="408344">
                <a:tc>
                  <a:txBody>
                    <a:bodyPr/>
                    <a:lstStyle/>
                    <a:p>
                      <a:r>
                        <a:rPr lang="en-US" dirty="0"/>
                        <a:t>V4 Product Availability</a:t>
                      </a:r>
                    </a:p>
                  </a:txBody>
                  <a:tcPr/>
                </a:tc>
                <a:tc>
                  <a:txBody>
                    <a:bodyPr/>
                    <a:lstStyle/>
                    <a:p>
                      <a:r>
                        <a:rPr lang="en-US" dirty="0"/>
                        <a:t>.470</a:t>
                      </a:r>
                    </a:p>
                  </a:txBody>
                  <a:tcPr/>
                </a:tc>
                <a:tc>
                  <a:txBody>
                    <a:bodyPr/>
                    <a:lstStyle/>
                    <a:p>
                      <a:r>
                        <a:rPr lang="en-US" dirty="0"/>
                        <a:t>.497</a:t>
                      </a:r>
                    </a:p>
                  </a:txBody>
                  <a:tcPr/>
                </a:tc>
                <a:tc>
                  <a:txBody>
                    <a:bodyPr/>
                    <a:lstStyle/>
                    <a:p>
                      <a:r>
                        <a:rPr lang="en-US" dirty="0"/>
                        <a:t>.427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9527598"/>
                  </a:ext>
                </a:extLst>
              </a:tr>
              <a:tr h="408344">
                <a:tc>
                  <a:txBody>
                    <a:bodyPr/>
                    <a:lstStyle/>
                    <a:p>
                      <a:r>
                        <a:rPr lang="en-US" dirty="0"/>
                        <a:t>V5 Product Quality</a:t>
                      </a:r>
                    </a:p>
                  </a:txBody>
                  <a:tcPr/>
                </a:tc>
                <a:tc>
                  <a:txBody>
                    <a:bodyPr/>
                    <a:lstStyle/>
                    <a:p>
                      <a:r>
                        <a:rPr lang="en-US" dirty="0"/>
                        <a:t>.765</a:t>
                      </a:r>
                    </a:p>
                  </a:txBody>
                  <a:tcPr/>
                </a:tc>
                <a:tc>
                  <a:txBody>
                    <a:bodyPr/>
                    <a:lstStyle/>
                    <a:p>
                      <a:r>
                        <a:rPr lang="en-US" dirty="0"/>
                        <a:t>.406</a:t>
                      </a:r>
                    </a:p>
                  </a:txBody>
                  <a:tcPr/>
                </a:tc>
                <a:tc>
                  <a:txBody>
                    <a:bodyPr/>
                    <a:lstStyle/>
                    <a:p>
                      <a:r>
                        <a:rPr lang="en-US" dirty="0"/>
                        <a:t>.307</a:t>
                      </a:r>
                    </a:p>
                  </a:txBody>
                  <a:tcPr/>
                </a:tc>
                <a:tc>
                  <a:txBody>
                    <a:bodyPr/>
                    <a:lstStyle/>
                    <a:p>
                      <a:r>
                        <a:rPr lang="en-US" dirty="0"/>
                        <a:t>.427</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513814253"/>
                  </a:ext>
                </a:extLst>
              </a:tr>
              <a:tr h="408344">
                <a:tc>
                  <a:txBody>
                    <a:bodyPr/>
                    <a:lstStyle/>
                    <a:p>
                      <a:r>
                        <a:rPr lang="en-US" dirty="0"/>
                        <a:t>V6 Assortment Depth</a:t>
                      </a:r>
                    </a:p>
                  </a:txBody>
                  <a:tcPr/>
                </a:tc>
                <a:tc>
                  <a:txBody>
                    <a:bodyPr/>
                    <a:lstStyle/>
                    <a:p>
                      <a:r>
                        <a:rPr lang="en-US" dirty="0"/>
                        <a:t>.281</a:t>
                      </a:r>
                    </a:p>
                  </a:txBody>
                  <a:tcPr/>
                </a:tc>
                <a:tc>
                  <a:txBody>
                    <a:bodyPr/>
                    <a:lstStyle/>
                    <a:p>
                      <a:r>
                        <a:rPr lang="en-US" dirty="0"/>
                        <a:t>.445</a:t>
                      </a:r>
                    </a:p>
                  </a:txBody>
                  <a:tcPr/>
                </a:tc>
                <a:tc>
                  <a:txBody>
                    <a:bodyPr/>
                    <a:lstStyle/>
                    <a:p>
                      <a:r>
                        <a:rPr lang="en-US" dirty="0"/>
                        <a:t>.423</a:t>
                      </a:r>
                    </a:p>
                  </a:txBody>
                  <a:tcPr/>
                </a:tc>
                <a:tc>
                  <a:txBody>
                    <a:bodyPr/>
                    <a:lstStyle/>
                    <a:p>
                      <a:r>
                        <a:rPr lang="en-US" dirty="0"/>
                        <a:t>.713</a:t>
                      </a:r>
                    </a:p>
                  </a:txBody>
                  <a:tcPr/>
                </a:tc>
                <a:tc>
                  <a:txBody>
                    <a:bodyPr/>
                    <a:lstStyle/>
                    <a:p>
                      <a:r>
                        <a:rPr lang="en-US" dirty="0"/>
                        <a:t>.325</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2859847"/>
                  </a:ext>
                </a:extLst>
              </a:tr>
              <a:tr h="408344">
                <a:tc>
                  <a:txBody>
                    <a:bodyPr/>
                    <a:lstStyle/>
                    <a:p>
                      <a:r>
                        <a:rPr lang="en-US" dirty="0"/>
                        <a:t>V7 Assortment Width</a:t>
                      </a:r>
                    </a:p>
                  </a:txBody>
                  <a:tcPr/>
                </a:tc>
                <a:tc>
                  <a:txBody>
                    <a:bodyPr/>
                    <a:lstStyle/>
                    <a:p>
                      <a:r>
                        <a:rPr lang="en-US" dirty="0"/>
                        <a:t>.345</a:t>
                      </a:r>
                    </a:p>
                  </a:txBody>
                  <a:tcPr/>
                </a:tc>
                <a:tc>
                  <a:txBody>
                    <a:bodyPr/>
                    <a:lstStyle/>
                    <a:p>
                      <a:r>
                        <a:rPr lang="en-US" dirty="0"/>
                        <a:t>.490</a:t>
                      </a:r>
                    </a:p>
                  </a:txBody>
                  <a:tcPr/>
                </a:tc>
                <a:tc>
                  <a:txBody>
                    <a:bodyPr/>
                    <a:lstStyle/>
                    <a:p>
                      <a:r>
                        <a:rPr lang="en-US" dirty="0"/>
                        <a:t>.471</a:t>
                      </a:r>
                    </a:p>
                  </a:txBody>
                  <a:tcPr/>
                </a:tc>
                <a:tc>
                  <a:txBody>
                    <a:bodyPr/>
                    <a:lstStyle/>
                    <a:p>
                      <a:r>
                        <a:rPr lang="en-US" dirty="0"/>
                        <a:t>.719</a:t>
                      </a:r>
                    </a:p>
                  </a:txBody>
                  <a:tcPr/>
                </a:tc>
                <a:tc>
                  <a:txBody>
                    <a:bodyPr/>
                    <a:lstStyle/>
                    <a:p>
                      <a:r>
                        <a:rPr lang="en-US" dirty="0"/>
                        <a:t>.378</a:t>
                      </a:r>
                    </a:p>
                  </a:txBody>
                  <a:tcPr/>
                </a:tc>
                <a:tc>
                  <a:txBody>
                    <a:bodyPr/>
                    <a:lstStyle/>
                    <a:p>
                      <a:r>
                        <a:rPr lang="en-US" dirty="0"/>
                        <a:t>.724</a:t>
                      </a:r>
                    </a:p>
                  </a:txBody>
                  <a:tcPr/>
                </a:tc>
                <a:tc>
                  <a:txBody>
                    <a:bodyPr/>
                    <a:lstStyle/>
                    <a:p>
                      <a:r>
                        <a:rPr lang="en-US" dirty="0"/>
                        <a:t>1.00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22145436"/>
                  </a:ext>
                </a:extLst>
              </a:tr>
              <a:tr h="408344">
                <a:tc>
                  <a:txBody>
                    <a:bodyPr/>
                    <a:lstStyle/>
                    <a:p>
                      <a:r>
                        <a:rPr lang="en-US" dirty="0"/>
                        <a:t>V8 In-store Service</a:t>
                      </a:r>
                    </a:p>
                  </a:txBody>
                  <a:tcPr/>
                </a:tc>
                <a:tc>
                  <a:txBody>
                    <a:bodyPr/>
                    <a:lstStyle/>
                    <a:p>
                      <a:r>
                        <a:rPr lang="en-US" dirty="0"/>
                        <a:t>.242</a:t>
                      </a:r>
                    </a:p>
                  </a:txBody>
                  <a:tcPr/>
                </a:tc>
                <a:tc>
                  <a:txBody>
                    <a:bodyPr/>
                    <a:lstStyle/>
                    <a:p>
                      <a:r>
                        <a:rPr lang="en-US" dirty="0"/>
                        <a:t>.719</a:t>
                      </a:r>
                    </a:p>
                  </a:txBody>
                  <a:tcPr/>
                </a:tc>
                <a:tc>
                  <a:txBody>
                    <a:bodyPr/>
                    <a:lstStyle/>
                    <a:p>
                      <a:r>
                        <a:rPr lang="en-US" b="1" dirty="0"/>
                        <a:t>.733</a:t>
                      </a:r>
                    </a:p>
                  </a:txBody>
                  <a:tcPr/>
                </a:tc>
                <a:tc>
                  <a:txBody>
                    <a:bodyPr/>
                    <a:lstStyle/>
                    <a:p>
                      <a:r>
                        <a:rPr lang="en-US" dirty="0"/>
                        <a:t>.428</a:t>
                      </a:r>
                    </a:p>
                  </a:txBody>
                  <a:tcPr/>
                </a:tc>
                <a:tc>
                  <a:txBody>
                    <a:bodyPr/>
                    <a:lstStyle/>
                    <a:p>
                      <a:r>
                        <a:rPr lang="en-US" dirty="0"/>
                        <a:t>.240</a:t>
                      </a:r>
                    </a:p>
                  </a:txBody>
                  <a:tcPr/>
                </a:tc>
                <a:tc>
                  <a:txBody>
                    <a:bodyPr/>
                    <a:lstStyle/>
                    <a:p>
                      <a:r>
                        <a:rPr lang="en-US" dirty="0"/>
                        <a:t>.311</a:t>
                      </a:r>
                    </a:p>
                  </a:txBody>
                  <a:tcPr/>
                </a:tc>
                <a:tc>
                  <a:txBody>
                    <a:bodyPr/>
                    <a:lstStyle/>
                    <a:p>
                      <a:r>
                        <a:rPr lang="en-US" dirty="0"/>
                        <a:t>.435</a:t>
                      </a:r>
                    </a:p>
                  </a:txBody>
                  <a:tcPr/>
                </a:tc>
                <a:tc>
                  <a:txBody>
                    <a:bodyPr/>
                    <a:lstStyle/>
                    <a:p>
                      <a:r>
                        <a:rPr lang="en-US" dirty="0"/>
                        <a:t>1.00</a:t>
                      </a:r>
                    </a:p>
                  </a:txBody>
                  <a:tcPr/>
                </a:tc>
                <a:tc>
                  <a:txBody>
                    <a:bodyPr/>
                    <a:lstStyle/>
                    <a:p>
                      <a:endParaRPr lang="en-US"/>
                    </a:p>
                  </a:txBody>
                  <a:tcPr/>
                </a:tc>
                <a:extLst>
                  <a:ext uri="{0D108BD9-81ED-4DB2-BD59-A6C34878D82A}">
                    <a16:rowId xmlns:a16="http://schemas.microsoft.com/office/drawing/2014/main" val="1820162229"/>
                  </a:ext>
                </a:extLst>
              </a:tr>
              <a:tr h="408344">
                <a:tc>
                  <a:txBody>
                    <a:bodyPr/>
                    <a:lstStyle/>
                    <a:p>
                      <a:r>
                        <a:rPr lang="en-US" dirty="0"/>
                        <a:t>V9 Store Atmosphere</a:t>
                      </a:r>
                    </a:p>
                  </a:txBody>
                  <a:tcPr/>
                </a:tc>
                <a:tc>
                  <a:txBody>
                    <a:bodyPr/>
                    <a:lstStyle/>
                    <a:p>
                      <a:r>
                        <a:rPr lang="en-US" dirty="0"/>
                        <a:t>.372</a:t>
                      </a:r>
                    </a:p>
                  </a:txBody>
                  <a:tcPr/>
                </a:tc>
                <a:tc>
                  <a:txBody>
                    <a:bodyPr/>
                    <a:lstStyle/>
                    <a:p>
                      <a:r>
                        <a:rPr lang="en-US" dirty="0"/>
                        <a:t>.737</a:t>
                      </a:r>
                    </a:p>
                  </a:txBody>
                  <a:tcPr/>
                </a:tc>
                <a:tc>
                  <a:txBody>
                    <a:bodyPr/>
                    <a:lstStyle/>
                    <a:p>
                      <a:r>
                        <a:rPr lang="en-US" b="1" dirty="0"/>
                        <a:t>.774</a:t>
                      </a:r>
                    </a:p>
                  </a:txBody>
                  <a:tcPr/>
                </a:tc>
                <a:tc>
                  <a:txBody>
                    <a:bodyPr/>
                    <a:lstStyle/>
                    <a:p>
                      <a:r>
                        <a:rPr lang="en-US" dirty="0"/>
                        <a:t>.479</a:t>
                      </a:r>
                    </a:p>
                  </a:txBody>
                  <a:tcPr/>
                </a:tc>
                <a:tc>
                  <a:txBody>
                    <a:bodyPr/>
                    <a:lstStyle/>
                    <a:p>
                      <a:r>
                        <a:rPr lang="en-US" dirty="0"/>
                        <a:t>.326</a:t>
                      </a:r>
                    </a:p>
                  </a:txBody>
                  <a:tcPr/>
                </a:tc>
                <a:tc>
                  <a:txBody>
                    <a:bodyPr/>
                    <a:lstStyle/>
                    <a:p>
                      <a:r>
                        <a:rPr lang="en-US" dirty="0"/>
                        <a:t>.429</a:t>
                      </a:r>
                    </a:p>
                  </a:txBody>
                  <a:tcPr/>
                </a:tc>
                <a:tc>
                  <a:txBody>
                    <a:bodyPr/>
                    <a:lstStyle/>
                    <a:p>
                      <a:r>
                        <a:rPr lang="en-US" dirty="0"/>
                        <a:t>.466</a:t>
                      </a:r>
                    </a:p>
                  </a:txBody>
                  <a:tcPr/>
                </a:tc>
                <a:tc>
                  <a:txBody>
                    <a:bodyPr/>
                    <a:lstStyle/>
                    <a:p>
                      <a:r>
                        <a:rPr lang="en-US" dirty="0"/>
                        <a:t>.710</a:t>
                      </a:r>
                    </a:p>
                  </a:txBody>
                  <a:tcPr/>
                </a:tc>
                <a:tc>
                  <a:txBody>
                    <a:bodyPr/>
                    <a:lstStyle/>
                    <a:p>
                      <a:r>
                        <a:rPr lang="en-US" dirty="0"/>
                        <a:t>1.00</a:t>
                      </a:r>
                    </a:p>
                  </a:txBody>
                  <a:tcPr/>
                </a:tc>
                <a:extLst>
                  <a:ext uri="{0D108BD9-81ED-4DB2-BD59-A6C34878D82A}">
                    <a16:rowId xmlns:a16="http://schemas.microsoft.com/office/drawing/2014/main" val="1805214020"/>
                  </a:ext>
                </a:extLst>
              </a:tr>
            </a:tbl>
          </a:graphicData>
        </a:graphic>
      </p:graphicFrame>
    </p:spTree>
    <p:extLst>
      <p:ext uri="{BB962C8B-B14F-4D97-AF65-F5344CB8AC3E}">
        <p14:creationId xmlns:p14="http://schemas.microsoft.com/office/powerpoint/2010/main" val="1630678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2FA88-57DF-4202-9C31-4908228C177A}"/>
              </a:ext>
            </a:extLst>
          </p:cNvPr>
          <p:cNvSpPr>
            <a:spLocks noGrp="1"/>
          </p:cNvSpPr>
          <p:nvPr>
            <p:ph type="title"/>
          </p:nvPr>
        </p:nvSpPr>
        <p:spPr>
          <a:xfrm>
            <a:off x="303908" y="108451"/>
            <a:ext cx="10515600" cy="658202"/>
          </a:xfrm>
        </p:spPr>
        <p:txBody>
          <a:bodyPr>
            <a:normAutofit fontScale="90000"/>
          </a:bodyPr>
          <a:lstStyle/>
          <a:p>
            <a:r>
              <a:rPr lang="en-US" dirty="0"/>
              <a:t>Factor Structure</a:t>
            </a:r>
          </a:p>
        </p:txBody>
      </p:sp>
      <p:graphicFrame>
        <p:nvGraphicFramePr>
          <p:cNvPr id="5" name="Table 5">
            <a:extLst>
              <a:ext uri="{FF2B5EF4-FFF2-40B4-BE49-F238E27FC236}">
                <a16:creationId xmlns:a16="http://schemas.microsoft.com/office/drawing/2014/main" id="{CD68622B-166C-4C1B-8F34-A82F51B5183A}"/>
              </a:ext>
            </a:extLst>
          </p:cNvPr>
          <p:cNvGraphicFramePr>
            <a:graphicFrameLocks noGrp="1"/>
          </p:cNvGraphicFramePr>
          <p:nvPr>
            <p:ph idx="1"/>
          </p:nvPr>
        </p:nvGraphicFramePr>
        <p:xfrm>
          <a:off x="303909" y="766653"/>
          <a:ext cx="11029837" cy="4358794"/>
        </p:xfrm>
        <a:graphic>
          <a:graphicData uri="http://schemas.openxmlformats.org/drawingml/2006/table">
            <a:tbl>
              <a:tblPr firstRow="1" bandRow="1">
                <a:tableStyleId>{5C22544A-7EE6-4342-B048-85BDC9FD1C3A}</a:tableStyleId>
              </a:tblPr>
              <a:tblGrid>
                <a:gridCol w="2948071">
                  <a:extLst>
                    <a:ext uri="{9D8B030D-6E8A-4147-A177-3AD203B41FA5}">
                      <a16:colId xmlns:a16="http://schemas.microsoft.com/office/drawing/2014/main" val="2105173215"/>
                    </a:ext>
                  </a:extLst>
                </a:gridCol>
                <a:gridCol w="904157">
                  <a:extLst>
                    <a:ext uri="{9D8B030D-6E8A-4147-A177-3AD203B41FA5}">
                      <a16:colId xmlns:a16="http://schemas.microsoft.com/office/drawing/2014/main" val="4137150587"/>
                    </a:ext>
                  </a:extLst>
                </a:gridCol>
                <a:gridCol w="987616">
                  <a:extLst>
                    <a:ext uri="{9D8B030D-6E8A-4147-A177-3AD203B41FA5}">
                      <a16:colId xmlns:a16="http://schemas.microsoft.com/office/drawing/2014/main" val="2617327945"/>
                    </a:ext>
                  </a:extLst>
                </a:gridCol>
                <a:gridCol w="904157">
                  <a:extLst>
                    <a:ext uri="{9D8B030D-6E8A-4147-A177-3AD203B41FA5}">
                      <a16:colId xmlns:a16="http://schemas.microsoft.com/office/drawing/2014/main" val="393941215"/>
                    </a:ext>
                  </a:extLst>
                </a:gridCol>
                <a:gridCol w="945886">
                  <a:extLst>
                    <a:ext uri="{9D8B030D-6E8A-4147-A177-3AD203B41FA5}">
                      <a16:colId xmlns:a16="http://schemas.microsoft.com/office/drawing/2014/main" val="652348981"/>
                    </a:ext>
                  </a:extLst>
                </a:gridCol>
                <a:gridCol w="806785">
                  <a:extLst>
                    <a:ext uri="{9D8B030D-6E8A-4147-A177-3AD203B41FA5}">
                      <a16:colId xmlns:a16="http://schemas.microsoft.com/office/drawing/2014/main" val="1293617217"/>
                    </a:ext>
                  </a:extLst>
                </a:gridCol>
                <a:gridCol w="876336">
                  <a:extLst>
                    <a:ext uri="{9D8B030D-6E8A-4147-A177-3AD203B41FA5}">
                      <a16:colId xmlns:a16="http://schemas.microsoft.com/office/drawing/2014/main" val="1073021097"/>
                    </a:ext>
                  </a:extLst>
                </a:gridCol>
                <a:gridCol w="904157">
                  <a:extLst>
                    <a:ext uri="{9D8B030D-6E8A-4147-A177-3AD203B41FA5}">
                      <a16:colId xmlns:a16="http://schemas.microsoft.com/office/drawing/2014/main" val="3905609835"/>
                    </a:ext>
                  </a:extLst>
                </a:gridCol>
                <a:gridCol w="890245">
                  <a:extLst>
                    <a:ext uri="{9D8B030D-6E8A-4147-A177-3AD203B41FA5}">
                      <a16:colId xmlns:a16="http://schemas.microsoft.com/office/drawing/2014/main" val="966529472"/>
                    </a:ext>
                  </a:extLst>
                </a:gridCol>
                <a:gridCol w="862427">
                  <a:extLst>
                    <a:ext uri="{9D8B030D-6E8A-4147-A177-3AD203B41FA5}">
                      <a16:colId xmlns:a16="http://schemas.microsoft.com/office/drawing/2014/main" val="3782169921"/>
                    </a:ext>
                  </a:extLst>
                </a:gridCol>
              </a:tblGrid>
              <a:tr h="396254">
                <a:tc gridSpan="10">
                  <a:txBody>
                    <a:bodyPr/>
                    <a:lstStyle/>
                    <a:p>
                      <a:r>
                        <a:rPr lang="en-US" dirty="0"/>
                        <a:t>Part II Correlation Matrix After Grouping According to Factor Analysis</a:t>
                      </a:r>
                    </a:p>
                  </a:txBody>
                  <a:tcPr/>
                </a:tc>
                <a:tc hMerge="1">
                  <a:txBody>
                    <a:bodyPr/>
                    <a:lstStyle/>
                    <a:p>
                      <a:endParaRPr lang="en-US"/>
                    </a:p>
                  </a:txBody>
                  <a:tcPr/>
                </a:tc>
                <a:tc hMerge="1">
                  <a:txBody>
                    <a:bodyPr/>
                    <a:lstStyle/>
                    <a:p>
                      <a:endParaRPr lang="en-US" dirty="0"/>
                    </a:p>
                  </a:txBody>
                  <a:tcPr/>
                </a:tc>
                <a:tc hMerge="1">
                  <a:txBody>
                    <a:bodyPr/>
                    <a:lstStyle/>
                    <a:p>
                      <a:endParaRPr lang="en-US"/>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770817471"/>
                  </a:ext>
                </a:extLst>
              </a:tr>
              <a:tr h="396254">
                <a:tc>
                  <a:txBody>
                    <a:bodyPr/>
                    <a:lstStyle/>
                    <a:p>
                      <a:endParaRPr lang="en-US"/>
                    </a:p>
                  </a:txBody>
                  <a:tcPr/>
                </a:tc>
                <a:tc>
                  <a:txBody>
                    <a:bodyPr/>
                    <a:lstStyle/>
                    <a:p>
                      <a:r>
                        <a:rPr lang="en-US" dirty="0"/>
                        <a:t>V3</a:t>
                      </a:r>
                    </a:p>
                  </a:txBody>
                  <a:tcPr/>
                </a:tc>
                <a:tc>
                  <a:txBody>
                    <a:bodyPr/>
                    <a:lstStyle/>
                    <a:p>
                      <a:r>
                        <a:rPr lang="en-US" dirty="0"/>
                        <a:t>V8</a:t>
                      </a:r>
                    </a:p>
                  </a:txBody>
                  <a:tcPr/>
                </a:tc>
                <a:tc>
                  <a:txBody>
                    <a:bodyPr/>
                    <a:lstStyle/>
                    <a:p>
                      <a:r>
                        <a:rPr lang="en-US" dirty="0"/>
                        <a:t>V9</a:t>
                      </a:r>
                    </a:p>
                  </a:txBody>
                  <a:tcPr/>
                </a:tc>
                <a:tc>
                  <a:txBody>
                    <a:bodyPr/>
                    <a:lstStyle/>
                    <a:p>
                      <a:r>
                        <a:rPr lang="en-US" dirty="0"/>
                        <a:t>V2</a:t>
                      </a:r>
                    </a:p>
                  </a:txBody>
                  <a:tcPr/>
                </a:tc>
                <a:tc>
                  <a:txBody>
                    <a:bodyPr/>
                    <a:lstStyle/>
                    <a:p>
                      <a:r>
                        <a:rPr lang="en-US" dirty="0"/>
                        <a:t>V6</a:t>
                      </a:r>
                    </a:p>
                  </a:txBody>
                  <a:tcPr/>
                </a:tc>
                <a:tc>
                  <a:txBody>
                    <a:bodyPr/>
                    <a:lstStyle/>
                    <a:p>
                      <a:r>
                        <a:rPr lang="en-US" dirty="0"/>
                        <a:t>V7</a:t>
                      </a:r>
                    </a:p>
                  </a:txBody>
                  <a:tcPr/>
                </a:tc>
                <a:tc>
                  <a:txBody>
                    <a:bodyPr/>
                    <a:lstStyle/>
                    <a:p>
                      <a:r>
                        <a:rPr lang="en-US" dirty="0"/>
                        <a:t>V4</a:t>
                      </a:r>
                    </a:p>
                  </a:txBody>
                  <a:tcPr/>
                </a:tc>
                <a:tc>
                  <a:txBody>
                    <a:bodyPr/>
                    <a:lstStyle/>
                    <a:p>
                      <a:r>
                        <a:rPr lang="en-US" dirty="0"/>
                        <a:t>V1</a:t>
                      </a:r>
                    </a:p>
                  </a:txBody>
                  <a:tcPr/>
                </a:tc>
                <a:tc>
                  <a:txBody>
                    <a:bodyPr/>
                    <a:lstStyle/>
                    <a:p>
                      <a:r>
                        <a:rPr lang="en-US" dirty="0"/>
                        <a:t>V5</a:t>
                      </a:r>
                    </a:p>
                  </a:txBody>
                  <a:tcPr/>
                </a:tc>
                <a:extLst>
                  <a:ext uri="{0D108BD9-81ED-4DB2-BD59-A6C34878D82A}">
                    <a16:rowId xmlns:a16="http://schemas.microsoft.com/office/drawing/2014/main" val="1203756481"/>
                  </a:ext>
                </a:extLst>
              </a:tr>
              <a:tr h="396254">
                <a:tc>
                  <a:txBody>
                    <a:bodyPr/>
                    <a:lstStyle/>
                    <a:p>
                      <a:r>
                        <a:rPr lang="en-US" dirty="0"/>
                        <a:t>V3 Return Policy</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6965157"/>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V8 In-store Service</a:t>
                      </a:r>
                    </a:p>
                  </a:txBody>
                  <a:tcPr/>
                </a:tc>
                <a:tc>
                  <a:txBody>
                    <a:bodyPr/>
                    <a:lstStyle/>
                    <a:p>
                      <a:r>
                        <a:rPr lang="en-US" dirty="0"/>
                        <a:t>.773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652011410"/>
                  </a:ext>
                </a:extLst>
              </a:tr>
              <a:tr h="396254">
                <a:tc>
                  <a:txBody>
                    <a:bodyPr/>
                    <a:lstStyle/>
                    <a:p>
                      <a:r>
                        <a:rPr lang="en-US" dirty="0"/>
                        <a:t>V9 Store Atmosphere</a:t>
                      </a:r>
                    </a:p>
                  </a:txBody>
                  <a:tcPr/>
                </a:tc>
                <a:tc>
                  <a:txBody>
                    <a:bodyPr/>
                    <a:lstStyle/>
                    <a:p>
                      <a:r>
                        <a:rPr lang="en-US" dirty="0"/>
                        <a:t>.774</a:t>
                      </a:r>
                    </a:p>
                  </a:txBody>
                  <a:tcPr/>
                </a:tc>
                <a:tc>
                  <a:txBody>
                    <a:bodyPr/>
                    <a:lstStyle/>
                    <a:p>
                      <a:r>
                        <a:rPr lang="en-US" dirty="0"/>
                        <a:t>.710</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4269692567"/>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V2 Store Personnel</a:t>
                      </a:r>
                    </a:p>
                  </a:txBody>
                  <a:tcPr/>
                </a:tc>
                <a:tc>
                  <a:txBody>
                    <a:bodyPr/>
                    <a:lstStyle/>
                    <a:p>
                      <a:r>
                        <a:rPr lang="en-US" dirty="0"/>
                        <a:t>.771</a:t>
                      </a:r>
                    </a:p>
                  </a:txBody>
                  <a:tcPr/>
                </a:tc>
                <a:tc>
                  <a:txBody>
                    <a:bodyPr/>
                    <a:lstStyle/>
                    <a:p>
                      <a:r>
                        <a:rPr lang="en-US" dirty="0"/>
                        <a:t>.719</a:t>
                      </a:r>
                    </a:p>
                  </a:txBody>
                  <a:tcPr/>
                </a:tc>
                <a:tc>
                  <a:txBody>
                    <a:bodyPr/>
                    <a:lstStyle/>
                    <a:p>
                      <a:r>
                        <a:rPr lang="en-US" dirty="0"/>
                        <a:t>.737</a:t>
                      </a:r>
                    </a:p>
                  </a:txBody>
                  <a:tcPr/>
                </a:tc>
                <a:tc>
                  <a:txBody>
                    <a:bodyPr/>
                    <a:lstStyle/>
                    <a:p>
                      <a:r>
                        <a:rPr lang="en-US" dirty="0"/>
                        <a:t>1.00</a:t>
                      </a:r>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9527598"/>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V6 Assortment Depth</a:t>
                      </a:r>
                    </a:p>
                  </a:txBody>
                  <a:tcPr/>
                </a:tc>
                <a:tc>
                  <a:txBody>
                    <a:bodyPr/>
                    <a:lstStyle/>
                    <a:p>
                      <a:r>
                        <a:rPr lang="en-US" dirty="0"/>
                        <a:t>.423</a:t>
                      </a:r>
                    </a:p>
                  </a:txBody>
                  <a:tcPr/>
                </a:tc>
                <a:tc>
                  <a:txBody>
                    <a:bodyPr/>
                    <a:lstStyle/>
                    <a:p>
                      <a:r>
                        <a:rPr lang="en-US" dirty="0"/>
                        <a:t>.311</a:t>
                      </a:r>
                    </a:p>
                  </a:txBody>
                  <a:tcPr/>
                </a:tc>
                <a:tc>
                  <a:txBody>
                    <a:bodyPr/>
                    <a:lstStyle/>
                    <a:p>
                      <a:r>
                        <a:rPr lang="en-US" dirty="0"/>
                        <a:t>.429</a:t>
                      </a:r>
                    </a:p>
                  </a:txBody>
                  <a:tcPr/>
                </a:tc>
                <a:tc>
                  <a:txBody>
                    <a:bodyPr/>
                    <a:lstStyle/>
                    <a:p>
                      <a:r>
                        <a:rPr lang="en-US" dirty="0"/>
                        <a:t>.445</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extLst>
                  <a:ext uri="{0D108BD9-81ED-4DB2-BD59-A6C34878D82A}">
                    <a16:rowId xmlns:a16="http://schemas.microsoft.com/office/drawing/2014/main" val="513814253"/>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V7 Assortment Width</a:t>
                      </a:r>
                    </a:p>
                  </a:txBody>
                  <a:tcPr/>
                </a:tc>
                <a:tc>
                  <a:txBody>
                    <a:bodyPr/>
                    <a:lstStyle/>
                    <a:p>
                      <a:r>
                        <a:rPr lang="en-US" dirty="0"/>
                        <a:t>.471</a:t>
                      </a:r>
                    </a:p>
                  </a:txBody>
                  <a:tcPr/>
                </a:tc>
                <a:tc>
                  <a:txBody>
                    <a:bodyPr/>
                    <a:lstStyle/>
                    <a:p>
                      <a:r>
                        <a:rPr lang="en-US" dirty="0"/>
                        <a:t>.435</a:t>
                      </a:r>
                    </a:p>
                  </a:txBody>
                  <a:tcPr/>
                </a:tc>
                <a:tc>
                  <a:txBody>
                    <a:bodyPr/>
                    <a:lstStyle/>
                    <a:p>
                      <a:r>
                        <a:rPr lang="en-US" dirty="0"/>
                        <a:t>.466</a:t>
                      </a:r>
                    </a:p>
                  </a:txBody>
                  <a:tcPr/>
                </a:tc>
                <a:tc>
                  <a:txBody>
                    <a:bodyPr/>
                    <a:lstStyle/>
                    <a:p>
                      <a:r>
                        <a:rPr lang="en-US" dirty="0"/>
                        <a:t>.490</a:t>
                      </a:r>
                    </a:p>
                  </a:txBody>
                  <a:tcPr/>
                </a:tc>
                <a:tc>
                  <a:txBody>
                    <a:bodyPr/>
                    <a:lstStyle/>
                    <a:p>
                      <a:r>
                        <a:rPr lang="en-US" dirty="0"/>
                        <a:t>.724</a:t>
                      </a:r>
                    </a:p>
                  </a:txBody>
                  <a:tcPr/>
                </a:tc>
                <a:tc>
                  <a:txBody>
                    <a:bodyPr/>
                    <a:lstStyle/>
                    <a:p>
                      <a:r>
                        <a:rPr lang="en-US" dirty="0"/>
                        <a:t>1.00</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02859847"/>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V4 Product Availability</a:t>
                      </a:r>
                    </a:p>
                  </a:txBody>
                  <a:tcPr/>
                </a:tc>
                <a:tc>
                  <a:txBody>
                    <a:bodyPr/>
                    <a:lstStyle/>
                    <a:p>
                      <a:r>
                        <a:rPr lang="en-US" dirty="0"/>
                        <a:t>.427</a:t>
                      </a:r>
                    </a:p>
                  </a:txBody>
                  <a:tcPr/>
                </a:tc>
                <a:tc>
                  <a:txBody>
                    <a:bodyPr/>
                    <a:lstStyle/>
                    <a:p>
                      <a:r>
                        <a:rPr lang="en-US" dirty="0"/>
                        <a:t>.428</a:t>
                      </a:r>
                    </a:p>
                  </a:txBody>
                  <a:tcPr/>
                </a:tc>
                <a:tc>
                  <a:txBody>
                    <a:bodyPr/>
                    <a:lstStyle/>
                    <a:p>
                      <a:r>
                        <a:rPr lang="en-US" dirty="0"/>
                        <a:t>.479</a:t>
                      </a:r>
                    </a:p>
                  </a:txBody>
                  <a:tcPr/>
                </a:tc>
                <a:tc>
                  <a:txBody>
                    <a:bodyPr/>
                    <a:lstStyle/>
                    <a:p>
                      <a:r>
                        <a:rPr lang="en-US" dirty="0"/>
                        <a:t>.497</a:t>
                      </a:r>
                    </a:p>
                  </a:txBody>
                  <a:tcPr/>
                </a:tc>
                <a:tc>
                  <a:txBody>
                    <a:bodyPr/>
                    <a:lstStyle/>
                    <a:p>
                      <a:r>
                        <a:rPr lang="en-US" dirty="0"/>
                        <a:t>.713</a:t>
                      </a:r>
                    </a:p>
                  </a:txBody>
                  <a:tcPr/>
                </a:tc>
                <a:tc>
                  <a:txBody>
                    <a:bodyPr/>
                    <a:lstStyle/>
                    <a:p>
                      <a:r>
                        <a:rPr lang="en-US" dirty="0"/>
                        <a:t>.719</a:t>
                      </a:r>
                    </a:p>
                  </a:txBody>
                  <a:tcPr/>
                </a:tc>
                <a:tc>
                  <a:txBody>
                    <a:bodyPr/>
                    <a:lstStyle/>
                    <a:p>
                      <a:r>
                        <a:rPr lang="en-US" dirty="0"/>
                        <a:t>1.00</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22145436"/>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V1 Price Level</a:t>
                      </a:r>
                    </a:p>
                  </a:txBody>
                  <a:tcPr/>
                </a:tc>
                <a:tc>
                  <a:txBody>
                    <a:bodyPr/>
                    <a:lstStyle/>
                    <a:p>
                      <a:r>
                        <a:rPr lang="en-US" dirty="0"/>
                        <a:t>.302</a:t>
                      </a:r>
                    </a:p>
                  </a:txBody>
                  <a:tcPr/>
                </a:tc>
                <a:tc>
                  <a:txBody>
                    <a:bodyPr/>
                    <a:lstStyle/>
                    <a:p>
                      <a:r>
                        <a:rPr lang="en-US" dirty="0"/>
                        <a:t>.242</a:t>
                      </a:r>
                    </a:p>
                  </a:txBody>
                  <a:tcPr/>
                </a:tc>
                <a:tc>
                  <a:txBody>
                    <a:bodyPr/>
                    <a:lstStyle/>
                    <a:p>
                      <a:r>
                        <a:rPr lang="en-US" dirty="0"/>
                        <a:t>.372</a:t>
                      </a:r>
                    </a:p>
                  </a:txBody>
                  <a:tcPr/>
                </a:tc>
                <a:tc>
                  <a:txBody>
                    <a:bodyPr/>
                    <a:lstStyle/>
                    <a:p>
                      <a:r>
                        <a:rPr lang="en-US" dirty="0"/>
                        <a:t>.427</a:t>
                      </a:r>
                    </a:p>
                  </a:txBody>
                  <a:tcPr/>
                </a:tc>
                <a:tc>
                  <a:txBody>
                    <a:bodyPr/>
                    <a:lstStyle/>
                    <a:p>
                      <a:r>
                        <a:rPr lang="en-US" dirty="0"/>
                        <a:t>.281</a:t>
                      </a:r>
                    </a:p>
                  </a:txBody>
                  <a:tcPr/>
                </a:tc>
                <a:tc>
                  <a:txBody>
                    <a:bodyPr/>
                    <a:lstStyle/>
                    <a:p>
                      <a:r>
                        <a:rPr lang="en-US" dirty="0"/>
                        <a:t>.354</a:t>
                      </a:r>
                    </a:p>
                  </a:txBody>
                  <a:tcPr/>
                </a:tc>
                <a:tc>
                  <a:txBody>
                    <a:bodyPr/>
                    <a:lstStyle/>
                    <a:p>
                      <a:r>
                        <a:rPr lang="en-US" dirty="0"/>
                        <a:t>.470</a:t>
                      </a:r>
                    </a:p>
                  </a:txBody>
                  <a:tcPr/>
                </a:tc>
                <a:tc>
                  <a:txBody>
                    <a:bodyPr/>
                    <a:lstStyle/>
                    <a:p>
                      <a:r>
                        <a:rPr lang="en-US" dirty="0"/>
                        <a:t>1.00</a:t>
                      </a:r>
                    </a:p>
                  </a:txBody>
                  <a:tcPr/>
                </a:tc>
                <a:tc>
                  <a:txBody>
                    <a:bodyPr/>
                    <a:lstStyle/>
                    <a:p>
                      <a:endParaRPr lang="en-US" dirty="0"/>
                    </a:p>
                  </a:txBody>
                  <a:tcPr/>
                </a:tc>
                <a:extLst>
                  <a:ext uri="{0D108BD9-81ED-4DB2-BD59-A6C34878D82A}">
                    <a16:rowId xmlns:a16="http://schemas.microsoft.com/office/drawing/2014/main" val="1820162229"/>
                  </a:ext>
                </a:extLst>
              </a:tr>
              <a:tr h="396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V5 Product Quality</a:t>
                      </a:r>
                    </a:p>
                  </a:txBody>
                  <a:tcPr/>
                </a:tc>
                <a:tc>
                  <a:txBody>
                    <a:bodyPr/>
                    <a:lstStyle/>
                    <a:p>
                      <a:r>
                        <a:rPr lang="en-US" dirty="0"/>
                        <a:t>.307</a:t>
                      </a:r>
                    </a:p>
                  </a:txBody>
                  <a:tcPr/>
                </a:tc>
                <a:tc>
                  <a:txBody>
                    <a:bodyPr/>
                    <a:lstStyle/>
                    <a:p>
                      <a:r>
                        <a:rPr lang="en-US" dirty="0"/>
                        <a:t>.240</a:t>
                      </a:r>
                    </a:p>
                  </a:txBody>
                  <a:tcPr/>
                </a:tc>
                <a:tc>
                  <a:txBody>
                    <a:bodyPr/>
                    <a:lstStyle/>
                    <a:p>
                      <a:r>
                        <a:rPr lang="en-US" dirty="0"/>
                        <a:t>.326</a:t>
                      </a:r>
                    </a:p>
                  </a:txBody>
                  <a:tcPr/>
                </a:tc>
                <a:tc>
                  <a:txBody>
                    <a:bodyPr/>
                    <a:lstStyle/>
                    <a:p>
                      <a:r>
                        <a:rPr lang="en-US" dirty="0"/>
                        <a:t>.406</a:t>
                      </a:r>
                    </a:p>
                  </a:txBody>
                  <a:tcPr/>
                </a:tc>
                <a:tc>
                  <a:txBody>
                    <a:bodyPr/>
                    <a:lstStyle/>
                    <a:p>
                      <a:r>
                        <a:rPr lang="en-US" dirty="0"/>
                        <a:t>.325</a:t>
                      </a:r>
                    </a:p>
                  </a:txBody>
                  <a:tcPr/>
                </a:tc>
                <a:tc>
                  <a:txBody>
                    <a:bodyPr/>
                    <a:lstStyle/>
                    <a:p>
                      <a:r>
                        <a:rPr lang="en-US" dirty="0"/>
                        <a:t>.378</a:t>
                      </a:r>
                    </a:p>
                  </a:txBody>
                  <a:tcPr/>
                </a:tc>
                <a:tc>
                  <a:txBody>
                    <a:bodyPr/>
                    <a:lstStyle/>
                    <a:p>
                      <a:r>
                        <a:rPr lang="en-US" dirty="0"/>
                        <a:t>.427</a:t>
                      </a:r>
                    </a:p>
                  </a:txBody>
                  <a:tcPr/>
                </a:tc>
                <a:tc>
                  <a:txBody>
                    <a:bodyPr/>
                    <a:lstStyle/>
                    <a:p>
                      <a:r>
                        <a:rPr lang="en-US" dirty="0"/>
                        <a:t>.765</a:t>
                      </a:r>
                    </a:p>
                  </a:txBody>
                  <a:tcPr/>
                </a:tc>
                <a:tc>
                  <a:txBody>
                    <a:bodyPr/>
                    <a:lstStyle/>
                    <a:p>
                      <a:r>
                        <a:rPr lang="en-US" dirty="0"/>
                        <a:t>1.00</a:t>
                      </a:r>
                    </a:p>
                  </a:txBody>
                  <a:tcPr/>
                </a:tc>
                <a:extLst>
                  <a:ext uri="{0D108BD9-81ED-4DB2-BD59-A6C34878D82A}">
                    <a16:rowId xmlns:a16="http://schemas.microsoft.com/office/drawing/2014/main" val="1805214020"/>
                  </a:ext>
                </a:extLst>
              </a:tr>
            </a:tbl>
          </a:graphicData>
        </a:graphic>
      </p:graphicFrame>
      <p:sp>
        <p:nvSpPr>
          <p:cNvPr id="6" name="Rectangle 5">
            <a:extLst>
              <a:ext uri="{FF2B5EF4-FFF2-40B4-BE49-F238E27FC236}">
                <a16:creationId xmlns:a16="http://schemas.microsoft.com/office/drawing/2014/main" id="{F38BF660-2769-4CBD-80F5-C4B02E71F265}"/>
              </a:ext>
            </a:extLst>
          </p:cNvPr>
          <p:cNvSpPr/>
          <p:nvPr/>
        </p:nvSpPr>
        <p:spPr>
          <a:xfrm>
            <a:off x="3244420" y="1617301"/>
            <a:ext cx="933049" cy="15270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7" name="Rectangle 6">
            <a:extLst>
              <a:ext uri="{FF2B5EF4-FFF2-40B4-BE49-F238E27FC236}">
                <a16:creationId xmlns:a16="http://schemas.microsoft.com/office/drawing/2014/main" id="{42B5EDA5-03A0-4EA3-A628-F5141DC48A57}"/>
              </a:ext>
            </a:extLst>
          </p:cNvPr>
          <p:cNvSpPr/>
          <p:nvPr/>
        </p:nvSpPr>
        <p:spPr>
          <a:xfrm>
            <a:off x="6983028" y="3144381"/>
            <a:ext cx="839974" cy="114442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8" name="Rectangle 7">
            <a:extLst>
              <a:ext uri="{FF2B5EF4-FFF2-40B4-BE49-F238E27FC236}">
                <a16:creationId xmlns:a16="http://schemas.microsoft.com/office/drawing/2014/main" id="{A5FDDF6A-ABB0-4B25-9222-A5613E4CA66C}"/>
              </a:ext>
            </a:extLst>
          </p:cNvPr>
          <p:cNvSpPr/>
          <p:nvPr/>
        </p:nvSpPr>
        <p:spPr>
          <a:xfrm>
            <a:off x="9604881" y="4385704"/>
            <a:ext cx="839974" cy="7397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panose="020B0602020104020603"/>
              <a:ea typeface="+mn-ea"/>
              <a:cs typeface="+mn-cs"/>
            </a:endParaRPr>
          </a:p>
        </p:txBody>
      </p:sp>
      <p:sp>
        <p:nvSpPr>
          <p:cNvPr id="4" name="TextBox 3">
            <a:extLst>
              <a:ext uri="{FF2B5EF4-FFF2-40B4-BE49-F238E27FC236}">
                <a16:creationId xmlns:a16="http://schemas.microsoft.com/office/drawing/2014/main" id="{86DAAC0C-0C92-C444-C417-CE60725C9609}"/>
              </a:ext>
            </a:extLst>
          </p:cNvPr>
          <p:cNvSpPr txBox="1"/>
          <p:nvPr/>
        </p:nvSpPr>
        <p:spPr>
          <a:xfrm>
            <a:off x="303908" y="5792814"/>
            <a:ext cx="11352063" cy="369332"/>
          </a:xfrm>
          <a:prstGeom prst="rect">
            <a:avLst/>
          </a:prstGeom>
          <a:noFill/>
        </p:spPr>
        <p:txBody>
          <a:bodyPr wrap="square">
            <a:spAutoFit/>
          </a:bodyPr>
          <a:lstStyle/>
          <a:p>
            <a:pPr algn="ctr" eaLnBrk="0" hangingPunct="0">
              <a:spcBef>
                <a:spcPct val="50000"/>
              </a:spcBef>
            </a:pPr>
            <a:r>
              <a:rPr lang="en-US" altLang="en-US" sz="1800" b="1" dirty="0">
                <a:solidFill>
                  <a:srgbClr val="000000"/>
                </a:solidFill>
                <a:latin typeface="Calibri" panose="020F0502020204030204" pitchFamily="34" charset="0"/>
                <a:cs typeface="Calibri" panose="020F0502020204030204" pitchFamily="34" charset="0"/>
              </a:rPr>
              <a:t>Results:  Shaded areas represent variables likely to be grouped together by exploratory factor analysis.</a:t>
            </a:r>
          </a:p>
        </p:txBody>
      </p:sp>
    </p:spTree>
    <p:extLst>
      <p:ext uri="{BB962C8B-B14F-4D97-AF65-F5344CB8AC3E}">
        <p14:creationId xmlns:p14="http://schemas.microsoft.com/office/powerpoint/2010/main" val="314638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48" y="152603"/>
            <a:ext cx="10515600" cy="603536"/>
          </a:xfrm>
        </p:spPr>
        <p:txBody>
          <a:bodyPr>
            <a:normAutofit fontScale="90000"/>
          </a:bodyPr>
          <a:lstStyle/>
          <a:p>
            <a:r>
              <a:rPr lang="en-US" dirty="0"/>
              <a:t>Interpreting the Factor Analysis Results</a:t>
            </a:r>
          </a:p>
        </p:txBody>
      </p:sp>
      <p:sp>
        <p:nvSpPr>
          <p:cNvPr id="3" name="Content Placeholder 2"/>
          <p:cNvSpPr>
            <a:spLocks noGrp="1"/>
          </p:cNvSpPr>
          <p:nvPr>
            <p:ph idx="1"/>
          </p:nvPr>
        </p:nvSpPr>
        <p:spPr>
          <a:xfrm>
            <a:off x="193348" y="904180"/>
            <a:ext cx="11368616" cy="537871"/>
          </a:xfrm>
        </p:spPr>
        <p:txBody>
          <a:bodyPr/>
          <a:lstStyle/>
          <a:p>
            <a:pPr marL="0" indent="0">
              <a:buNone/>
            </a:pPr>
            <a:r>
              <a:rPr lang="en-US" dirty="0"/>
              <a:t>                              </a:t>
            </a:r>
            <a:r>
              <a:rPr lang="en-US" b="1" u="sng" dirty="0"/>
              <a:t>Variables  </a:t>
            </a:r>
            <a:r>
              <a:rPr lang="en-US" dirty="0"/>
              <a:t>                                                   </a:t>
            </a:r>
            <a:r>
              <a:rPr lang="en-US" b="1" u="sng" dirty="0"/>
              <a:t>Factors</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17</a:t>
            </a:fld>
            <a:endParaRPr lang="en-US" dirty="0"/>
          </a:p>
        </p:txBody>
      </p:sp>
      <p:sp>
        <p:nvSpPr>
          <p:cNvPr id="6" name="Rounded Rectangle 5"/>
          <p:cNvSpPr/>
          <p:nvPr/>
        </p:nvSpPr>
        <p:spPr>
          <a:xfrm>
            <a:off x="2118049" y="1427584"/>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3</a:t>
            </a:r>
            <a:r>
              <a:rPr lang="en-US" dirty="0">
                <a:solidFill>
                  <a:srgbClr val="000000"/>
                </a:solidFill>
                <a:latin typeface="Calibri" panose="020F0502020204030204" pitchFamily="34" charset="0"/>
                <a:cs typeface="Calibri" panose="020F0502020204030204" pitchFamily="34" charset="0"/>
              </a:rPr>
              <a:t> Return Policy</a:t>
            </a:r>
          </a:p>
        </p:txBody>
      </p:sp>
      <p:sp>
        <p:nvSpPr>
          <p:cNvPr id="7" name="Rounded Rectangle 6"/>
          <p:cNvSpPr/>
          <p:nvPr/>
        </p:nvSpPr>
        <p:spPr>
          <a:xfrm>
            <a:off x="2118049" y="1978090"/>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8</a:t>
            </a:r>
            <a:r>
              <a:rPr lang="en-US" dirty="0">
                <a:solidFill>
                  <a:srgbClr val="000000"/>
                </a:solidFill>
                <a:latin typeface="Calibri" panose="020F0502020204030204" pitchFamily="34" charset="0"/>
                <a:cs typeface="Calibri" panose="020F0502020204030204" pitchFamily="34" charset="0"/>
              </a:rPr>
              <a:t> In-store Service</a:t>
            </a:r>
          </a:p>
        </p:txBody>
      </p:sp>
      <p:sp>
        <p:nvSpPr>
          <p:cNvPr id="8" name="Rounded Rectangle 7"/>
          <p:cNvSpPr/>
          <p:nvPr/>
        </p:nvSpPr>
        <p:spPr>
          <a:xfrm>
            <a:off x="2118049" y="2537927"/>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9</a:t>
            </a:r>
            <a:r>
              <a:rPr lang="en-US" dirty="0">
                <a:solidFill>
                  <a:srgbClr val="000000"/>
                </a:solidFill>
                <a:latin typeface="Calibri" panose="020F0502020204030204" pitchFamily="34" charset="0"/>
                <a:cs typeface="Calibri" panose="020F0502020204030204" pitchFamily="34" charset="0"/>
              </a:rPr>
              <a:t> Store Atmosphere</a:t>
            </a:r>
          </a:p>
        </p:txBody>
      </p:sp>
      <p:sp>
        <p:nvSpPr>
          <p:cNvPr id="9" name="Rounded Rectangle 8"/>
          <p:cNvSpPr/>
          <p:nvPr/>
        </p:nvSpPr>
        <p:spPr>
          <a:xfrm>
            <a:off x="2108718" y="3111192"/>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2</a:t>
            </a:r>
            <a:r>
              <a:rPr lang="en-US" dirty="0">
                <a:solidFill>
                  <a:srgbClr val="000000"/>
                </a:solidFill>
                <a:latin typeface="Calibri" panose="020F0502020204030204" pitchFamily="34" charset="0"/>
                <a:cs typeface="Calibri" panose="020F0502020204030204" pitchFamily="34" charset="0"/>
              </a:rPr>
              <a:t> Store Personnel</a:t>
            </a:r>
          </a:p>
        </p:txBody>
      </p:sp>
      <p:sp>
        <p:nvSpPr>
          <p:cNvPr id="10" name="Rounded Rectangle 9"/>
          <p:cNvSpPr/>
          <p:nvPr/>
        </p:nvSpPr>
        <p:spPr>
          <a:xfrm>
            <a:off x="2139825" y="3826992"/>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6 </a:t>
            </a:r>
            <a:r>
              <a:rPr lang="en-US" dirty="0">
                <a:solidFill>
                  <a:srgbClr val="000000"/>
                </a:solidFill>
                <a:latin typeface="Calibri" panose="020F0502020204030204" pitchFamily="34" charset="0"/>
                <a:cs typeface="Calibri" panose="020F0502020204030204" pitchFamily="34" charset="0"/>
              </a:rPr>
              <a:t>Assortment Depth</a:t>
            </a:r>
          </a:p>
        </p:txBody>
      </p:sp>
      <p:sp>
        <p:nvSpPr>
          <p:cNvPr id="11" name="Rounded Rectangle 10"/>
          <p:cNvSpPr/>
          <p:nvPr/>
        </p:nvSpPr>
        <p:spPr>
          <a:xfrm>
            <a:off x="2139825" y="4377498"/>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7</a:t>
            </a:r>
            <a:r>
              <a:rPr lang="en-US" dirty="0">
                <a:solidFill>
                  <a:srgbClr val="000000"/>
                </a:solidFill>
                <a:latin typeface="Calibri" panose="020F0502020204030204" pitchFamily="34" charset="0"/>
                <a:cs typeface="Calibri" panose="020F0502020204030204" pitchFamily="34" charset="0"/>
              </a:rPr>
              <a:t> Assortment Width</a:t>
            </a:r>
          </a:p>
        </p:txBody>
      </p:sp>
      <p:sp>
        <p:nvSpPr>
          <p:cNvPr id="12" name="Rounded Rectangle 11"/>
          <p:cNvSpPr/>
          <p:nvPr/>
        </p:nvSpPr>
        <p:spPr>
          <a:xfrm>
            <a:off x="2139825" y="4937335"/>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4 </a:t>
            </a:r>
            <a:r>
              <a:rPr lang="en-US" dirty="0">
                <a:solidFill>
                  <a:srgbClr val="000000"/>
                </a:solidFill>
                <a:latin typeface="Calibri" panose="020F0502020204030204" pitchFamily="34" charset="0"/>
                <a:cs typeface="Calibri" panose="020F0502020204030204" pitchFamily="34" charset="0"/>
              </a:rPr>
              <a:t>Product Availability</a:t>
            </a:r>
          </a:p>
        </p:txBody>
      </p:sp>
      <p:sp>
        <p:nvSpPr>
          <p:cNvPr id="14" name="Rounded Rectangle 13"/>
          <p:cNvSpPr/>
          <p:nvPr/>
        </p:nvSpPr>
        <p:spPr>
          <a:xfrm>
            <a:off x="2108718" y="5594672"/>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1</a:t>
            </a:r>
            <a:r>
              <a:rPr lang="en-US" dirty="0">
                <a:solidFill>
                  <a:srgbClr val="000000"/>
                </a:solidFill>
                <a:latin typeface="Calibri" panose="020F0502020204030204" pitchFamily="34" charset="0"/>
                <a:cs typeface="Calibri" panose="020F0502020204030204" pitchFamily="34" charset="0"/>
              </a:rPr>
              <a:t> Price Level</a:t>
            </a:r>
          </a:p>
        </p:txBody>
      </p:sp>
      <p:sp>
        <p:nvSpPr>
          <p:cNvPr id="15" name="Rounded Rectangle 14"/>
          <p:cNvSpPr/>
          <p:nvPr/>
        </p:nvSpPr>
        <p:spPr>
          <a:xfrm>
            <a:off x="2108718" y="6154509"/>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t>
            </a:r>
            <a:r>
              <a:rPr lang="en-US" baseline="-25000" dirty="0">
                <a:solidFill>
                  <a:srgbClr val="000000"/>
                </a:solidFill>
                <a:latin typeface="Calibri" panose="020F0502020204030204" pitchFamily="34" charset="0"/>
                <a:cs typeface="Calibri" panose="020F0502020204030204" pitchFamily="34" charset="0"/>
              </a:rPr>
              <a:t>5</a:t>
            </a:r>
            <a:r>
              <a:rPr lang="en-US" dirty="0">
                <a:solidFill>
                  <a:srgbClr val="000000"/>
                </a:solidFill>
                <a:latin typeface="Calibri" panose="020F0502020204030204" pitchFamily="34" charset="0"/>
                <a:cs typeface="Calibri" panose="020F0502020204030204" pitchFamily="34" charset="0"/>
              </a:rPr>
              <a:t> Product Quality</a:t>
            </a:r>
          </a:p>
        </p:txBody>
      </p:sp>
      <p:sp>
        <p:nvSpPr>
          <p:cNvPr id="17" name="Rounded Rectangle 16"/>
          <p:cNvSpPr/>
          <p:nvPr/>
        </p:nvSpPr>
        <p:spPr>
          <a:xfrm>
            <a:off x="7954347" y="2308666"/>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In-store Experience</a:t>
            </a:r>
          </a:p>
        </p:txBody>
      </p:sp>
      <p:sp>
        <p:nvSpPr>
          <p:cNvPr id="18" name="Rounded Rectangle 17"/>
          <p:cNvSpPr/>
          <p:nvPr/>
        </p:nvSpPr>
        <p:spPr>
          <a:xfrm>
            <a:off x="7954347" y="5834795"/>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Value</a:t>
            </a:r>
          </a:p>
        </p:txBody>
      </p:sp>
      <p:sp>
        <p:nvSpPr>
          <p:cNvPr id="19" name="Rounded Rectangle 18"/>
          <p:cNvSpPr/>
          <p:nvPr/>
        </p:nvSpPr>
        <p:spPr>
          <a:xfrm>
            <a:off x="7954347" y="4377497"/>
            <a:ext cx="2621902" cy="447869"/>
          </a:xfrm>
          <a:prstGeom prst="roundRect">
            <a:avLst/>
          </a:prstGeom>
          <a:noFill/>
          <a:ln w="2540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Calibri" panose="020F0502020204030204" pitchFamily="34" charset="0"/>
                <a:cs typeface="Calibri" panose="020F0502020204030204" pitchFamily="34" charset="0"/>
              </a:rPr>
              <a:t>Product Offerings</a:t>
            </a:r>
          </a:p>
        </p:txBody>
      </p:sp>
      <p:cxnSp>
        <p:nvCxnSpPr>
          <p:cNvPr id="21" name="Straight Arrow Connector 20"/>
          <p:cNvCxnSpPr>
            <a:stCxn id="6" idx="3"/>
            <a:endCxn id="17" idx="1"/>
          </p:cNvCxnSpPr>
          <p:nvPr/>
        </p:nvCxnSpPr>
        <p:spPr>
          <a:xfrm>
            <a:off x="4739951" y="1651519"/>
            <a:ext cx="3214396" cy="881082"/>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7" idx="3"/>
            <a:endCxn id="17" idx="1"/>
          </p:cNvCxnSpPr>
          <p:nvPr/>
        </p:nvCxnSpPr>
        <p:spPr>
          <a:xfrm>
            <a:off x="4739951" y="2202025"/>
            <a:ext cx="3214396" cy="330576"/>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8" idx="3"/>
            <a:endCxn id="17" idx="1"/>
          </p:cNvCxnSpPr>
          <p:nvPr/>
        </p:nvCxnSpPr>
        <p:spPr>
          <a:xfrm flipV="1">
            <a:off x="4739951" y="2532601"/>
            <a:ext cx="3214396" cy="229261"/>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a:stCxn id="9" idx="3"/>
            <a:endCxn id="17" idx="1"/>
          </p:cNvCxnSpPr>
          <p:nvPr/>
        </p:nvCxnSpPr>
        <p:spPr>
          <a:xfrm flipV="1">
            <a:off x="4730620" y="2532601"/>
            <a:ext cx="3223727" cy="802526"/>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a:stCxn id="10" idx="3"/>
            <a:endCxn id="19" idx="1"/>
          </p:cNvCxnSpPr>
          <p:nvPr/>
        </p:nvCxnSpPr>
        <p:spPr>
          <a:xfrm>
            <a:off x="4761727" y="4050927"/>
            <a:ext cx="3192620" cy="550505"/>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a:stCxn id="11" idx="3"/>
            <a:endCxn id="19" idx="1"/>
          </p:cNvCxnSpPr>
          <p:nvPr/>
        </p:nvCxnSpPr>
        <p:spPr>
          <a:xfrm flipV="1">
            <a:off x="4761727" y="4601432"/>
            <a:ext cx="3192620" cy="1"/>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p:cNvCxnSpPr>
            <a:stCxn id="12" idx="3"/>
            <a:endCxn id="19" idx="1"/>
          </p:cNvCxnSpPr>
          <p:nvPr/>
        </p:nvCxnSpPr>
        <p:spPr>
          <a:xfrm flipV="1">
            <a:off x="4761727" y="4601432"/>
            <a:ext cx="3192620" cy="559838"/>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stCxn id="14" idx="3"/>
            <a:endCxn id="18" idx="1"/>
          </p:cNvCxnSpPr>
          <p:nvPr/>
        </p:nvCxnSpPr>
        <p:spPr>
          <a:xfrm>
            <a:off x="4730620" y="5818607"/>
            <a:ext cx="3223727" cy="240123"/>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a:stCxn id="15" idx="3"/>
            <a:endCxn id="18" idx="1"/>
          </p:cNvCxnSpPr>
          <p:nvPr/>
        </p:nvCxnSpPr>
        <p:spPr>
          <a:xfrm flipV="1">
            <a:off x="4730620" y="6058730"/>
            <a:ext cx="3223727" cy="319714"/>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8" name="Footer Placeholder 3">
            <a:extLst>
              <a:ext uri="{FF2B5EF4-FFF2-40B4-BE49-F238E27FC236}">
                <a16:creationId xmlns:a16="http://schemas.microsoft.com/office/drawing/2014/main" id="{7AE2F916-1DED-4958-BDB7-46F42345C80D}"/>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919423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32761" y="151033"/>
            <a:ext cx="10515600" cy="617317"/>
          </a:xfrm>
          <a:solidFill>
            <a:schemeClr val="bg2">
              <a:lumMod val="40000"/>
              <a:lumOff val="60000"/>
            </a:schemeClr>
          </a:solidFill>
        </p:spPr>
        <p:txBody>
          <a:bodyPr>
            <a:normAutofit fontScale="90000"/>
          </a:bodyPr>
          <a:lstStyle/>
          <a:p>
            <a:r>
              <a:rPr lang="en-US" sz="4000" dirty="0"/>
              <a:t>Exploratory Factor Analysis Decision </a:t>
            </a:r>
            <a:r>
              <a:rPr lang="en-US" sz="4000" dirty="0">
                <a:latin typeface="Calibri" panose="020F0502020204030204" pitchFamily="34" charset="0"/>
                <a:ea typeface="Calibri" panose="020F0502020204030204" pitchFamily="34" charset="0"/>
                <a:cs typeface="Calibri" panose="020F0502020204030204" pitchFamily="34" charset="0"/>
              </a:rPr>
              <a:t>Process</a:t>
            </a:r>
          </a:p>
        </p:txBody>
      </p:sp>
      <p:sp>
        <p:nvSpPr>
          <p:cNvPr id="8" name="Text Placeholder 7"/>
          <p:cNvSpPr>
            <a:spLocks noGrp="1"/>
          </p:cNvSpPr>
          <p:nvPr>
            <p:ph type="body" idx="1"/>
          </p:nvPr>
        </p:nvSpPr>
        <p:spPr>
          <a:xfrm>
            <a:off x="232761" y="768350"/>
            <a:ext cx="10515600" cy="4260849"/>
          </a:xfrm>
        </p:spPr>
        <p:txBody>
          <a:bodyPr>
            <a:normAutofit/>
          </a:bodyPr>
          <a:lstStyle/>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1: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Objectives of Exploratory Factor Analysis (EFA)</a:t>
            </a:r>
          </a:p>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2: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Designing an Exploratory Factor Analysis</a:t>
            </a:r>
          </a:p>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3: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Assumptions in Exploratory Factor Analysis</a:t>
            </a:r>
          </a:p>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4: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Deriving Factors and Assessing Overall Fit</a:t>
            </a:r>
          </a:p>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5:</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Interpreting the Factors</a:t>
            </a:r>
          </a:p>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6:  </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Validation of Exploratory Factor Analysis</a:t>
            </a:r>
          </a:p>
          <a:p>
            <a:pPr marL="0" indent="0">
              <a:buNone/>
            </a:pP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Stage 7:</a:t>
            </a:r>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  Additional uses of Exploratory Factor Analysis Results</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18</a:t>
            </a:fld>
            <a:endParaRPr lang="en-US" dirty="0"/>
          </a:p>
        </p:txBody>
      </p:sp>
      <p:sp>
        <p:nvSpPr>
          <p:cNvPr id="6" name="Footer Placeholder 3">
            <a:extLst>
              <a:ext uri="{FF2B5EF4-FFF2-40B4-BE49-F238E27FC236}">
                <a16:creationId xmlns:a16="http://schemas.microsoft.com/office/drawing/2014/main" id="{7D60B7E7-E2B5-43B0-8904-CE067E34720F}"/>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793992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32761" y="217870"/>
            <a:ext cx="10515600" cy="687199"/>
          </a:xfrm>
        </p:spPr>
        <p:txBody>
          <a:bodyPr>
            <a:no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Stage 1:  Objectives of Exploratory Factor Analysis</a:t>
            </a:r>
          </a:p>
        </p:txBody>
      </p:sp>
      <p:sp>
        <p:nvSpPr>
          <p:cNvPr id="7" name="Text Placeholder 6"/>
          <p:cNvSpPr>
            <a:spLocks noGrp="1"/>
          </p:cNvSpPr>
          <p:nvPr>
            <p:ph type="body" idx="1"/>
          </p:nvPr>
        </p:nvSpPr>
        <p:spPr>
          <a:xfrm>
            <a:off x="308961" y="905069"/>
            <a:ext cx="10363200" cy="2459036"/>
          </a:xfrm>
        </p:spPr>
        <p:txBody>
          <a:bodyPr>
            <a:norm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Specifying the Unit of Analysis</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Achieving Data Summarization Versus Data Reduction</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Variable Selection</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Using Factor Analysis with Other Multivariate Techniques</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19</a:t>
            </a:fld>
            <a:endParaRPr lang="en-US" dirty="0"/>
          </a:p>
        </p:txBody>
      </p:sp>
      <p:sp>
        <p:nvSpPr>
          <p:cNvPr id="8" name="Footer Placeholder 3">
            <a:extLst>
              <a:ext uri="{FF2B5EF4-FFF2-40B4-BE49-F238E27FC236}">
                <a16:creationId xmlns:a16="http://schemas.microsoft.com/office/drawing/2014/main" id="{5C377659-89C2-4A84-98B1-065367774BF6}"/>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125185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07" y="144409"/>
            <a:ext cx="10515600" cy="643868"/>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EFA Unit of Analysis and Objectives</a:t>
            </a:r>
          </a:p>
        </p:txBody>
      </p:sp>
      <p:sp>
        <p:nvSpPr>
          <p:cNvPr id="3" name="Content Placeholder 2"/>
          <p:cNvSpPr>
            <a:spLocks noGrp="1"/>
          </p:cNvSpPr>
          <p:nvPr>
            <p:ph idx="1"/>
          </p:nvPr>
        </p:nvSpPr>
        <p:spPr>
          <a:xfrm>
            <a:off x="228600" y="788277"/>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Unit of Analysis</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Variables,</a:t>
            </a:r>
            <a:r>
              <a:rPr lang="en-US" sz="2000" dirty="0">
                <a:latin typeface="Calibri" panose="020F0502020204030204" pitchFamily="34" charset="0"/>
                <a:ea typeface="Calibri" panose="020F0502020204030204" pitchFamily="34" charset="0"/>
                <a:cs typeface="Calibri" panose="020F0502020204030204" pitchFamily="34" charset="0"/>
              </a:rPr>
              <a:t> not rows or cases (same as we’ve done)</a:t>
            </a:r>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Data Summarization versus Data Reduction</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Data summarization</a:t>
            </a:r>
            <a:r>
              <a:rPr lang="en-US" sz="2000" dirty="0">
                <a:latin typeface="Calibri" panose="020F0502020204030204" pitchFamily="34" charset="0"/>
                <a:ea typeface="Calibri" panose="020F0502020204030204" pitchFamily="34" charset="0"/>
                <a:cs typeface="Calibri" panose="020F0502020204030204" pitchFamily="34" charset="0"/>
              </a:rPr>
              <a:t> – defining structure through underlying dimensions that, when interpreted and understood, describe the data in a much </a:t>
            </a:r>
            <a:r>
              <a:rPr lang="en-US" sz="2000" b="1" i="1" dirty="0">
                <a:latin typeface="Calibri" panose="020F0502020204030204" pitchFamily="34" charset="0"/>
                <a:ea typeface="Calibri" panose="020F0502020204030204" pitchFamily="34" charset="0"/>
                <a:cs typeface="Calibri" panose="020F0502020204030204" pitchFamily="34" charset="0"/>
              </a:rPr>
              <a:t>smaller number of concepts </a:t>
            </a:r>
            <a:r>
              <a:rPr lang="en-US" sz="2000" dirty="0">
                <a:latin typeface="Calibri" panose="020F0502020204030204" pitchFamily="34" charset="0"/>
                <a:ea typeface="Calibri" panose="020F0502020204030204" pitchFamily="34" charset="0"/>
                <a:cs typeface="Calibri" panose="020F0502020204030204" pitchFamily="34" charset="0"/>
              </a:rPr>
              <a:t>than the original individual variables. The basis for scale development.</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Data reduction</a:t>
            </a:r>
            <a:r>
              <a:rPr lang="en-US" sz="2000" dirty="0">
                <a:latin typeface="Calibri" panose="020F0502020204030204" pitchFamily="34" charset="0"/>
                <a:ea typeface="Calibri" panose="020F0502020204030204" pitchFamily="34" charset="0"/>
                <a:cs typeface="Calibri" panose="020F0502020204030204" pitchFamily="34" charset="0"/>
              </a:rPr>
              <a:t> – extends the process of data summarization by deriving an empirical value (factor score or summated scale) for each dimension (factor) and then </a:t>
            </a:r>
            <a:r>
              <a:rPr lang="en-US" sz="2000" b="1" i="1" dirty="0">
                <a:latin typeface="Calibri" panose="020F0502020204030204" pitchFamily="34" charset="0"/>
                <a:ea typeface="Calibri" panose="020F0502020204030204" pitchFamily="34" charset="0"/>
                <a:cs typeface="Calibri" panose="020F0502020204030204" pitchFamily="34" charset="0"/>
              </a:rPr>
              <a:t>substituting this value for the original variable values in subsequent analysis</a:t>
            </a:r>
            <a:r>
              <a:rPr lang="en-US" sz="2000" dirty="0">
                <a:latin typeface="Calibri" panose="020F0502020204030204" pitchFamily="34" charset="0"/>
                <a:ea typeface="Calibri" panose="020F0502020204030204" pitchFamily="34" charset="0"/>
                <a:cs typeface="Calibri" panose="020F0502020204030204" pitchFamily="34" charset="0"/>
              </a:rPr>
              <a:t>.</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20</a:t>
            </a:fld>
            <a:endParaRPr lang="en-US" dirty="0"/>
          </a:p>
        </p:txBody>
      </p:sp>
      <p:sp>
        <p:nvSpPr>
          <p:cNvPr id="6" name="Footer Placeholder 3">
            <a:extLst>
              <a:ext uri="{FF2B5EF4-FFF2-40B4-BE49-F238E27FC236}">
                <a16:creationId xmlns:a16="http://schemas.microsoft.com/office/drawing/2014/main" id="{FFF862AD-D0C5-44CD-A3FF-352157A36742}"/>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6337603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A78D-9889-C04C-56D8-14BFF63A87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ABFB61F-ECAD-D747-888C-AB8F9CE0E6B2}"/>
              </a:ext>
            </a:extLst>
          </p:cNvPr>
          <p:cNvSpPr>
            <a:spLocks noGrp="1"/>
          </p:cNvSpPr>
          <p:nvPr>
            <p:ph type="title"/>
          </p:nvPr>
        </p:nvSpPr>
        <p:spPr>
          <a:xfrm>
            <a:off x="15239" y="77413"/>
            <a:ext cx="11923644" cy="628788"/>
          </a:xfrm>
        </p:spPr>
        <p:txBody>
          <a:bodyPr>
            <a:normAutofit fontScale="90000"/>
          </a:bodyPr>
          <a:lstStyle/>
          <a:p>
            <a:r>
              <a:rPr lang="en-US" dirty="0"/>
              <a:t>Data Reduction</a:t>
            </a:r>
          </a:p>
        </p:txBody>
      </p:sp>
      <p:sp>
        <p:nvSpPr>
          <p:cNvPr id="5" name="Content Placeholder 4">
            <a:extLst>
              <a:ext uri="{FF2B5EF4-FFF2-40B4-BE49-F238E27FC236}">
                <a16:creationId xmlns:a16="http://schemas.microsoft.com/office/drawing/2014/main" id="{491E868B-C830-7CF0-14A2-AB2A5E80B7A5}"/>
              </a:ext>
            </a:extLst>
          </p:cNvPr>
          <p:cNvSpPr>
            <a:spLocks noGrp="1"/>
          </p:cNvSpPr>
          <p:nvPr>
            <p:ph idx="1"/>
          </p:nvPr>
        </p:nvSpPr>
        <p:spPr>
          <a:xfrm>
            <a:off x="90777" y="650402"/>
            <a:ext cx="11772568" cy="5303519"/>
          </a:xfrm>
        </p:spPr>
        <p:txBody>
          <a:bodyPr>
            <a:normAutofit/>
          </a:bodyPr>
          <a:lstStyle/>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Reducing</a:t>
            </a:r>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the number of variables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The underlying task is to find common variance and eliminate unique variance that is not of interest</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It is like a reverse form of ‘partialling out’</a:t>
            </a:r>
          </a:p>
          <a:p>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Examples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A survey may have 100 items, but the survey was designed to measure 12 components or factors</a:t>
            </a:r>
          </a:p>
          <a:p>
            <a:pPr lvl="1"/>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You have 50 different variables about an individual, but some of those variables are overlapping… are they essentially measuring the same underlying (unobservable, latent) construct?</a:t>
            </a:r>
          </a:p>
          <a:p>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8887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66" y="186450"/>
            <a:ext cx="10515600" cy="822543"/>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Variable Selection and Use with Other Techniques</a:t>
            </a:r>
          </a:p>
        </p:txBody>
      </p:sp>
      <p:sp>
        <p:nvSpPr>
          <p:cNvPr id="3" name="Content Placeholder 2"/>
          <p:cNvSpPr>
            <a:spLocks noGrp="1"/>
          </p:cNvSpPr>
          <p:nvPr>
            <p:ph idx="1"/>
          </p:nvPr>
        </p:nvSpPr>
        <p:spPr>
          <a:xfrm>
            <a:off x="291662" y="921735"/>
            <a:ext cx="11489006"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Three Elements in </a:t>
            </a:r>
            <a:r>
              <a:rPr lang="en-US" sz="2000" b="1" dirty="0">
                <a:latin typeface="Calibri" panose="020F0502020204030204" pitchFamily="34" charset="0"/>
                <a:ea typeface="Calibri" panose="020F0502020204030204" pitchFamily="34" charset="0"/>
                <a:cs typeface="Calibri" panose="020F0502020204030204" pitchFamily="34" charset="0"/>
              </a:rPr>
              <a:t>variable selection</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Variable specification</a:t>
            </a:r>
            <a:r>
              <a:rPr lang="en-US" sz="2000" dirty="0">
                <a:latin typeface="Calibri" panose="020F0502020204030204" pitchFamily="34" charset="0"/>
                <a:ea typeface="Calibri" panose="020F0502020204030204" pitchFamily="34" charset="0"/>
                <a:cs typeface="Calibri" panose="020F0502020204030204" pitchFamily="34" charset="0"/>
              </a:rPr>
              <a:t> – researcher must specifically designate variables to be analyzed.</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Factors </a:t>
            </a:r>
            <a:r>
              <a:rPr lang="en-US" sz="2000" dirty="0">
                <a:latin typeface="Calibri" panose="020F0502020204030204" pitchFamily="34" charset="0"/>
                <a:ea typeface="Calibri" panose="020F0502020204030204" pitchFamily="34" charset="0"/>
                <a:cs typeface="Calibri" panose="020F0502020204030204" pitchFamily="34" charset="0"/>
              </a:rPr>
              <a:t>– EFA always generates factors, researcher has the responsibility to evaluate the usefulness and validity of the factors.</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Factors require multiple variables</a:t>
            </a:r>
            <a:r>
              <a:rPr lang="en-US" sz="2000" dirty="0">
                <a:latin typeface="Calibri" panose="020F0502020204030204" pitchFamily="34" charset="0"/>
                <a:ea typeface="Calibri" panose="020F0502020204030204" pitchFamily="34" charset="0"/>
                <a:cs typeface="Calibri" panose="020F0502020204030204" pitchFamily="34" charset="0"/>
              </a:rPr>
              <a:t> – EFA must have at least two correlated variables to form a factor.  Thus, it is OK for variables to </a:t>
            </a:r>
            <a:r>
              <a:rPr lang="en-US" sz="2000" b="1" dirty="0">
                <a:latin typeface="Calibri" panose="020F0502020204030204" pitchFamily="34" charset="0"/>
                <a:ea typeface="Calibri" panose="020F0502020204030204" pitchFamily="34" charset="0"/>
                <a:cs typeface="Calibri" panose="020F0502020204030204" pitchFamily="34" charset="0"/>
              </a:rPr>
              <a:t>NOT BE</a:t>
            </a:r>
            <a:r>
              <a:rPr lang="en-US" sz="2000" dirty="0">
                <a:latin typeface="Calibri" panose="020F0502020204030204" pitchFamily="34" charset="0"/>
                <a:ea typeface="Calibri" panose="020F0502020204030204" pitchFamily="34" charset="0"/>
                <a:cs typeface="Calibri" panose="020F0502020204030204" pitchFamily="34" charset="0"/>
              </a:rPr>
              <a:t> included in a specified factor. They are omitted because no other correlated variables were included in the analysis.</a:t>
            </a:r>
          </a:p>
          <a:p>
            <a:r>
              <a:rPr lang="en-US" sz="2000" dirty="0">
                <a:latin typeface="Calibri" panose="020F0502020204030204" pitchFamily="34" charset="0"/>
                <a:ea typeface="Calibri" panose="020F0502020204030204" pitchFamily="34" charset="0"/>
                <a:cs typeface="Calibri" panose="020F0502020204030204" pitchFamily="34" charset="0"/>
              </a:rPr>
              <a:t>Using Factor Analysis with </a:t>
            </a:r>
            <a:r>
              <a:rPr lang="en-US" sz="2000" b="1" dirty="0">
                <a:latin typeface="Calibri" panose="020F0502020204030204" pitchFamily="34" charset="0"/>
                <a:ea typeface="Calibri" panose="020F0502020204030204" pitchFamily="34" charset="0"/>
                <a:cs typeface="Calibri" panose="020F0502020204030204" pitchFamily="34" charset="0"/>
              </a:rPr>
              <a:t>Other Multivariate Techniques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Factors may identify concepts more useful than individual variables.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Factors help </a:t>
            </a:r>
            <a:r>
              <a:rPr lang="en-US" sz="2000" b="1" dirty="0">
                <a:latin typeface="Calibri" panose="020F0502020204030204" pitchFamily="34" charset="0"/>
                <a:ea typeface="Calibri" panose="020F0502020204030204" pitchFamily="34" charset="0"/>
                <a:cs typeface="Calibri" panose="020F0502020204030204" pitchFamily="34" charset="0"/>
              </a:rPr>
              <a:t>mitigate</a:t>
            </a:r>
            <a:r>
              <a:rPr lang="en-US" sz="2000" dirty="0">
                <a:latin typeface="Calibri" panose="020F0502020204030204" pitchFamily="34" charset="0"/>
                <a:ea typeface="Calibri" panose="020F0502020204030204" pitchFamily="34" charset="0"/>
                <a:cs typeface="Calibri" panose="020F0502020204030204" pitchFamily="34" charset="0"/>
              </a:rPr>
              <a:t> the impact of </a:t>
            </a:r>
            <a:r>
              <a:rPr lang="en-US" sz="2000" b="1" dirty="0">
                <a:latin typeface="Calibri" panose="020F0502020204030204" pitchFamily="34" charset="0"/>
                <a:ea typeface="Calibri" panose="020F0502020204030204" pitchFamily="34" charset="0"/>
                <a:cs typeface="Calibri" panose="020F0502020204030204" pitchFamily="34" charset="0"/>
              </a:rPr>
              <a:t>multicollinearity</a:t>
            </a:r>
            <a:r>
              <a:rPr lang="en-US" sz="2000" dirty="0">
                <a:latin typeface="Calibri" panose="020F0502020204030204" pitchFamily="34" charset="0"/>
                <a:ea typeface="Calibri" panose="020F0502020204030204" pitchFamily="34" charset="0"/>
                <a:cs typeface="Calibri" panose="020F0502020204030204" pitchFamily="34" charset="0"/>
              </a:rPr>
              <a:t> on the interpretation of correlated variables.</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22</a:t>
            </a:fld>
            <a:endParaRPr lang="en-US" dirty="0"/>
          </a:p>
        </p:txBody>
      </p:sp>
      <p:sp>
        <p:nvSpPr>
          <p:cNvPr id="6" name="Footer Placeholder 3">
            <a:extLst>
              <a:ext uri="{FF2B5EF4-FFF2-40B4-BE49-F238E27FC236}">
                <a16:creationId xmlns:a16="http://schemas.microsoft.com/office/drawing/2014/main" id="{47890CFA-031C-4F9E-912D-281241CB3450}"/>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281683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80057" y="114407"/>
            <a:ext cx="10515600" cy="818654"/>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Stage 2: Designing an Exploratory Factor Analysis</a:t>
            </a:r>
          </a:p>
        </p:txBody>
      </p:sp>
      <p:sp>
        <p:nvSpPr>
          <p:cNvPr id="7" name="Text Placeholder 6"/>
          <p:cNvSpPr>
            <a:spLocks noGrp="1"/>
          </p:cNvSpPr>
          <p:nvPr>
            <p:ph type="body" idx="1"/>
          </p:nvPr>
        </p:nvSpPr>
        <p:spPr>
          <a:xfrm>
            <a:off x="280057" y="933061"/>
            <a:ext cx="10363200" cy="2133596"/>
          </a:xfrm>
        </p:spPr>
        <p:txBody>
          <a:bodyPr>
            <a:normAutofit/>
          </a:bodyPr>
          <a:lstStyle/>
          <a:p>
            <a:r>
              <a:rPr lang="en-US" sz="2000" dirty="0">
                <a:solidFill>
                  <a:schemeClr val="tx1"/>
                </a:solidFill>
              </a:rPr>
              <a:t>Variable Selection and Measurement Issues</a:t>
            </a:r>
          </a:p>
          <a:p>
            <a:r>
              <a:rPr lang="en-US" sz="2000" dirty="0">
                <a:solidFill>
                  <a:schemeClr val="tx1"/>
                </a:solidFill>
              </a:rPr>
              <a:t>Sample Size</a:t>
            </a:r>
          </a:p>
          <a:p>
            <a:r>
              <a:rPr lang="en-US" sz="2000" dirty="0">
                <a:solidFill>
                  <a:schemeClr val="tx1"/>
                </a:solidFill>
              </a:rPr>
              <a:t>Correlations among Variables or Respondents</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23</a:t>
            </a:fld>
            <a:endParaRPr lang="en-US" dirty="0"/>
          </a:p>
        </p:txBody>
      </p:sp>
      <p:sp>
        <p:nvSpPr>
          <p:cNvPr id="8" name="Footer Placeholder 3">
            <a:extLst>
              <a:ext uri="{FF2B5EF4-FFF2-40B4-BE49-F238E27FC236}">
                <a16:creationId xmlns:a16="http://schemas.microsoft.com/office/drawing/2014/main" id="{60415D94-FCC4-4541-A857-44DC52B498DC}"/>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519798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16" y="83246"/>
            <a:ext cx="10515600" cy="682926"/>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EFA Research Design</a:t>
            </a:r>
          </a:p>
        </p:txBody>
      </p:sp>
      <p:sp>
        <p:nvSpPr>
          <p:cNvPr id="3" name="Content Placeholder 2"/>
          <p:cNvSpPr>
            <a:spLocks noGrp="1"/>
          </p:cNvSpPr>
          <p:nvPr>
            <p:ph idx="1"/>
          </p:nvPr>
        </p:nvSpPr>
        <p:spPr>
          <a:xfrm>
            <a:off x="291663" y="766172"/>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Factor analysis is performed most often only on </a:t>
            </a:r>
            <a:r>
              <a:rPr lang="en-US" sz="2000" b="1" dirty="0">
                <a:latin typeface="Calibri" panose="020F0502020204030204" pitchFamily="34" charset="0"/>
                <a:ea typeface="Calibri" panose="020F0502020204030204" pitchFamily="34" charset="0"/>
                <a:cs typeface="Calibri" panose="020F0502020204030204" pitchFamily="34" charset="0"/>
              </a:rPr>
              <a:t>continuous variables</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If your data are categorical, Latent Class Analysis </a:t>
            </a:r>
            <a:r>
              <a:rPr lang="en-US" sz="2000" dirty="0">
                <a:latin typeface="Calibri" panose="020F0502020204030204" pitchFamily="34" charset="0"/>
                <a:ea typeface="Calibri" panose="020F0502020204030204" pitchFamily="34" charset="0"/>
                <a:cs typeface="Calibri" panose="020F0502020204030204" pitchFamily="34" charset="0"/>
              </a:rPr>
              <a:t>can provide insight into underlying latent variables.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If a study is being designed to reveal factor structure, strive to have at least </a:t>
            </a:r>
            <a:r>
              <a:rPr lang="en-US" sz="2000" u="sng" dirty="0">
                <a:latin typeface="Calibri" panose="020F0502020204030204" pitchFamily="34" charset="0"/>
                <a:ea typeface="Calibri" panose="020F0502020204030204" pitchFamily="34" charset="0"/>
                <a:cs typeface="Calibri" panose="020F0502020204030204" pitchFamily="34" charset="0"/>
              </a:rPr>
              <a:t>five variables for each proposed factor</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dirty="0">
                <a:latin typeface="Calibri" panose="020F0502020204030204" pitchFamily="34" charset="0"/>
                <a:ea typeface="Calibri" panose="020F0502020204030204" pitchFamily="34" charset="0"/>
                <a:cs typeface="Calibri" panose="020F0502020204030204" pitchFamily="34" charset="0"/>
              </a:rPr>
              <a:t>For </a:t>
            </a:r>
            <a:r>
              <a:rPr lang="en-US" sz="2000" b="1" dirty="0">
                <a:latin typeface="Calibri" panose="020F0502020204030204" pitchFamily="34" charset="0"/>
                <a:ea typeface="Calibri" panose="020F0502020204030204" pitchFamily="34" charset="0"/>
                <a:cs typeface="Calibri" panose="020F0502020204030204" pitchFamily="34" charset="0"/>
              </a:rPr>
              <a:t>sample size</a:t>
            </a:r>
            <a:r>
              <a:rPr lang="en-US" sz="2000" dirty="0">
                <a:latin typeface="Calibri" panose="020F0502020204030204" pitchFamily="34" charset="0"/>
                <a:ea typeface="Calibri" panose="020F0502020204030204" pitchFamily="34" charset="0"/>
                <a:cs typeface="Calibri" panose="020F0502020204030204" pitchFamily="34" charset="0"/>
              </a:rPr>
              <a:t>:        </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The sample must have </a:t>
            </a:r>
            <a:r>
              <a:rPr lang="en-US" sz="2000" u="sng" dirty="0">
                <a:latin typeface="Calibri" panose="020F0502020204030204" pitchFamily="34" charset="0"/>
                <a:ea typeface="Calibri" panose="020F0502020204030204" pitchFamily="34" charset="0"/>
                <a:cs typeface="Calibri" panose="020F0502020204030204" pitchFamily="34" charset="0"/>
              </a:rPr>
              <a:t>more observations than variables</a:t>
            </a:r>
            <a:r>
              <a:rPr lang="en-US" sz="2000" dirty="0">
                <a:latin typeface="Calibri" panose="020F0502020204030204" pitchFamily="34" charset="0"/>
                <a:ea typeface="Calibri" panose="020F0502020204030204" pitchFamily="34" charset="0"/>
                <a:cs typeface="Calibri" panose="020F0502020204030204" pitchFamily="34" charset="0"/>
              </a:rPr>
              <a:t>.</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Larger samples are strongly recommended (at least 100 observations).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Maximize the number of observations per variable, with a </a:t>
            </a:r>
            <a:r>
              <a:rPr lang="en-US" sz="2000" u="sng" dirty="0">
                <a:latin typeface="Calibri" panose="020F0502020204030204" pitchFamily="34" charset="0"/>
                <a:ea typeface="Calibri" panose="020F0502020204030204" pitchFamily="34" charset="0"/>
                <a:cs typeface="Calibri" panose="020F0502020204030204" pitchFamily="34" charset="0"/>
              </a:rPr>
              <a:t>minimum of five and hopefully at least ten observations per variable</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Correlation matrix is most often performed, although a similarity/distance matrix is </a:t>
            </a:r>
            <a:r>
              <a:rPr lang="en-US" sz="2000" dirty="0">
                <a:latin typeface="Calibri" panose="020F0502020204030204" pitchFamily="34" charset="0"/>
                <a:ea typeface="Calibri" panose="020F0502020204030204" pitchFamily="34" charset="0"/>
                <a:cs typeface="Calibri" panose="020F0502020204030204" pitchFamily="34" charset="0"/>
              </a:rPr>
              <a:t>also an option.</a:t>
            </a:r>
          </a:p>
          <a:p>
            <a:pPr marL="457200" indent="-457200"/>
            <a:endParaRPr lang="en-US" dirty="0"/>
          </a:p>
          <a:p>
            <a:endParaRPr lang="en-US" dirty="0"/>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24</a:t>
            </a:fld>
            <a:endParaRPr lang="en-US" dirty="0"/>
          </a:p>
        </p:txBody>
      </p:sp>
      <p:sp>
        <p:nvSpPr>
          <p:cNvPr id="6" name="Footer Placeholder 3">
            <a:extLst>
              <a:ext uri="{FF2B5EF4-FFF2-40B4-BE49-F238E27FC236}">
                <a16:creationId xmlns:a16="http://schemas.microsoft.com/office/drawing/2014/main" id="{261BA732-FB29-4662-9C6A-788FB8AABCCB}"/>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89735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17145" y="223838"/>
            <a:ext cx="11749033" cy="799992"/>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Stage 3:  Assumptions in Factor Analysis</a:t>
            </a:r>
          </a:p>
        </p:txBody>
      </p:sp>
      <p:sp>
        <p:nvSpPr>
          <p:cNvPr id="7" name="Text Placeholder 6"/>
          <p:cNvSpPr>
            <a:spLocks noGrp="1"/>
          </p:cNvSpPr>
          <p:nvPr>
            <p:ph type="body" idx="1"/>
          </p:nvPr>
        </p:nvSpPr>
        <p:spPr>
          <a:xfrm>
            <a:off x="283779" y="1137745"/>
            <a:ext cx="10363200" cy="1500187"/>
          </a:xfrm>
        </p:spPr>
        <p:txBody>
          <a:bodyPr>
            <a:norm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Conceptual Issues</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Statistical Issues</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25</a:t>
            </a:fld>
            <a:endParaRPr lang="en-US" dirty="0"/>
          </a:p>
        </p:txBody>
      </p:sp>
      <p:sp>
        <p:nvSpPr>
          <p:cNvPr id="8" name="Footer Placeholder 3">
            <a:extLst>
              <a:ext uri="{FF2B5EF4-FFF2-40B4-BE49-F238E27FC236}">
                <a16:creationId xmlns:a16="http://schemas.microsoft.com/office/drawing/2014/main" id="{202214CC-F7C3-443B-9E11-591CBD9882EF}"/>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4072820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D9FC7-8BB9-04A8-A1CE-665B39A6A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919BE1-0DFD-4CE1-BC5D-D9E62E329B80}"/>
              </a:ext>
            </a:extLst>
          </p:cNvPr>
          <p:cNvSpPr>
            <a:spLocks noGrp="1"/>
          </p:cNvSpPr>
          <p:nvPr>
            <p:ph type="title"/>
          </p:nvPr>
        </p:nvSpPr>
        <p:spPr>
          <a:xfrm>
            <a:off x="144517" y="144408"/>
            <a:ext cx="10515600" cy="927647"/>
          </a:xfrm>
        </p:spPr>
        <p:txBody>
          <a:bodyPr/>
          <a:lstStyle/>
          <a:p>
            <a:r>
              <a:rPr lang="en-US" dirty="0"/>
              <a:t>Assumptions of EFA</a:t>
            </a:r>
          </a:p>
        </p:txBody>
      </p:sp>
      <p:sp>
        <p:nvSpPr>
          <p:cNvPr id="3" name="Content Placeholder 2">
            <a:extLst>
              <a:ext uri="{FF2B5EF4-FFF2-40B4-BE49-F238E27FC236}">
                <a16:creationId xmlns:a16="http://schemas.microsoft.com/office/drawing/2014/main" id="{4CD2663C-C800-C258-71AC-C13D3E87DD41}"/>
              </a:ext>
            </a:extLst>
          </p:cNvPr>
          <p:cNvSpPr>
            <a:spLocks noGrp="1"/>
          </p:cNvSpPr>
          <p:nvPr>
            <p:ph idx="1"/>
          </p:nvPr>
        </p:nvSpPr>
        <p:spPr>
          <a:xfrm>
            <a:off x="296482" y="1002156"/>
            <a:ext cx="11751001" cy="5589037"/>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Conceptual</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Before the factor analysis is performed, there must be a </a:t>
            </a:r>
            <a:r>
              <a:rPr lang="en-US" sz="2000" u="sng" dirty="0">
                <a:latin typeface="Calibri" panose="020F0502020204030204" pitchFamily="34" charset="0"/>
                <a:ea typeface="Calibri" panose="020F0502020204030204" pitchFamily="34" charset="0"/>
                <a:cs typeface="Calibri" panose="020F0502020204030204" pitchFamily="34" charset="0"/>
              </a:rPr>
              <a:t>strong conceptual foundation</a:t>
            </a:r>
            <a:r>
              <a:rPr lang="en-US" sz="2000" dirty="0">
                <a:latin typeface="Calibri" panose="020F0502020204030204" pitchFamily="34" charset="0"/>
                <a:ea typeface="Calibri" panose="020F0502020204030204" pitchFamily="34" charset="0"/>
                <a:cs typeface="Calibri" panose="020F0502020204030204" pitchFamily="34" charset="0"/>
              </a:rPr>
              <a:t> to support the assumption that a structure does exist.</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Assume a </a:t>
            </a:r>
            <a:r>
              <a:rPr lang="en-US" sz="2000" u="sng" dirty="0">
                <a:latin typeface="Calibri" panose="020F0502020204030204" pitchFamily="34" charset="0"/>
                <a:ea typeface="Calibri" panose="020F0502020204030204" pitchFamily="34" charset="0"/>
                <a:cs typeface="Calibri" panose="020F0502020204030204" pitchFamily="34" charset="0"/>
              </a:rPr>
              <a:t>homogeneity of sub-sample factor solutions (or do multigroup </a:t>
            </a:r>
            <a:r>
              <a:rPr lang="en-US" sz="2000" u="sng" dirty="0" err="1">
                <a:latin typeface="Calibri" panose="020F0502020204030204" pitchFamily="34" charset="0"/>
                <a:ea typeface="Calibri" panose="020F0502020204030204" pitchFamily="34" charset="0"/>
                <a:cs typeface="Calibri" panose="020F0502020204030204" pitchFamily="34" charset="0"/>
              </a:rPr>
              <a:t>analysi</a:t>
            </a:r>
            <a:r>
              <a:rPr lang="en-US" sz="2000" u="sng" dirty="0">
                <a:latin typeface="Calibri" panose="020F0502020204030204" pitchFamily="34" charset="0"/>
                <a:ea typeface="Calibri" panose="020F0502020204030204" pitchFamily="34" charset="0"/>
                <a:cs typeface="Calibri" panose="020F0502020204030204" pitchFamily="34" charset="0"/>
              </a:rPr>
              <a:t>)</a:t>
            </a:r>
          </a:p>
        </p:txBody>
      </p:sp>
      <p:sp>
        <p:nvSpPr>
          <p:cNvPr id="5" name="Slide Number Placeholder 4">
            <a:extLst>
              <a:ext uri="{FF2B5EF4-FFF2-40B4-BE49-F238E27FC236}">
                <a16:creationId xmlns:a16="http://schemas.microsoft.com/office/drawing/2014/main" id="{99220E2B-A0ED-2D72-CF41-CEC53D070C63}"/>
              </a:ext>
            </a:extLst>
          </p:cNvPr>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26</a:t>
            </a:fld>
            <a:endParaRPr lang="en-US" dirty="0"/>
          </a:p>
        </p:txBody>
      </p:sp>
      <p:sp>
        <p:nvSpPr>
          <p:cNvPr id="6" name="Footer Placeholder 3">
            <a:extLst>
              <a:ext uri="{FF2B5EF4-FFF2-40B4-BE49-F238E27FC236}">
                <a16:creationId xmlns:a16="http://schemas.microsoft.com/office/drawing/2014/main" id="{1BA94257-64E0-59E4-4AD8-8EA07F75CBC7}"/>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143256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A5A3F-2C30-486D-A368-EA9097D68A01}"/>
              </a:ext>
            </a:extLst>
          </p:cNvPr>
          <p:cNvSpPr>
            <a:spLocks noGrp="1"/>
          </p:cNvSpPr>
          <p:nvPr>
            <p:ph type="title"/>
          </p:nvPr>
        </p:nvSpPr>
        <p:spPr>
          <a:xfrm>
            <a:off x="180474" y="108451"/>
            <a:ext cx="10515600" cy="805949"/>
          </a:xfrm>
        </p:spPr>
        <p:txBody>
          <a:bodyPr/>
          <a:lstStyle/>
          <a:p>
            <a:r>
              <a:rPr lang="en-US" dirty="0"/>
              <a:t>Assumptions of EFA</a:t>
            </a:r>
          </a:p>
        </p:txBody>
      </p:sp>
      <p:sp>
        <p:nvSpPr>
          <p:cNvPr id="3" name="Content Placeholder 2">
            <a:extLst>
              <a:ext uri="{FF2B5EF4-FFF2-40B4-BE49-F238E27FC236}">
                <a16:creationId xmlns:a16="http://schemas.microsoft.com/office/drawing/2014/main" id="{30474869-F3B5-49CB-AEC4-DE15B2FFBFD2}"/>
              </a:ext>
            </a:extLst>
          </p:cNvPr>
          <p:cNvSpPr>
            <a:spLocks noGrp="1"/>
          </p:cNvSpPr>
          <p:nvPr>
            <p:ph idx="1"/>
          </p:nvPr>
        </p:nvSpPr>
        <p:spPr>
          <a:xfrm>
            <a:off x="292768" y="806951"/>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Statistical issues </a:t>
            </a:r>
            <a:r>
              <a:rPr lang="en-US" sz="2000" dirty="0">
                <a:latin typeface="Calibri" panose="020F0502020204030204" pitchFamily="34" charset="0"/>
                <a:ea typeface="Calibri" panose="020F0502020204030204" pitchFamily="34" charset="0"/>
                <a:cs typeface="Calibri" panose="020F0502020204030204" pitchFamily="34" charset="0"/>
              </a:rPr>
              <a:t>(look at correlations between variables)</a:t>
            </a:r>
          </a:p>
          <a:p>
            <a:pPr lvl="1"/>
            <a:r>
              <a:rPr lang="en-US" sz="1800" dirty="0">
                <a:latin typeface="Calibri" panose="020F0502020204030204" pitchFamily="34" charset="0"/>
                <a:ea typeface="Calibri" panose="020F0502020204030204" pitchFamily="34" charset="0"/>
                <a:cs typeface="Calibri" panose="020F0502020204030204" pitchFamily="34" charset="0"/>
              </a:rPr>
              <a:t>Ensure that the data matrix has sufficient correlations to justify the application of FA</a:t>
            </a:r>
          </a:p>
          <a:p>
            <a:pPr lvl="2"/>
            <a:r>
              <a:rPr lang="en-US" sz="1800" dirty="0">
                <a:latin typeface="Calibri" panose="020F0502020204030204" pitchFamily="34" charset="0"/>
                <a:ea typeface="Calibri" panose="020F0502020204030204" pitchFamily="34" charset="0"/>
                <a:cs typeface="Calibri" panose="020F0502020204030204" pitchFamily="34" charset="0"/>
              </a:rPr>
              <a:t>If all correlations are low don’t use (&lt;.30)</a:t>
            </a:r>
          </a:p>
          <a:p>
            <a:pPr lvl="1"/>
            <a:r>
              <a:rPr lang="en-US" sz="1800" dirty="0">
                <a:latin typeface="Calibri" panose="020F0502020204030204" pitchFamily="34" charset="0"/>
                <a:ea typeface="Calibri" panose="020F0502020204030204" pitchFamily="34" charset="0"/>
                <a:cs typeface="Calibri" panose="020F0502020204030204" pitchFamily="34" charset="0"/>
              </a:rPr>
              <a:t>Look for </a:t>
            </a:r>
            <a:r>
              <a:rPr lang="en-US" sz="1800" b="1" u="sng" dirty="0">
                <a:latin typeface="Calibri" panose="020F0502020204030204" pitchFamily="34" charset="0"/>
                <a:ea typeface="Calibri" panose="020F0502020204030204" pitchFamily="34" charset="0"/>
                <a:cs typeface="Calibri" panose="020F0502020204030204" pitchFamily="34" charset="0"/>
              </a:rPr>
              <a:t>low</a:t>
            </a:r>
            <a:r>
              <a:rPr lang="en-US" sz="1800" dirty="0">
                <a:latin typeface="Calibri" panose="020F0502020204030204" pitchFamily="34" charset="0"/>
                <a:ea typeface="Calibri" panose="020F0502020204030204" pitchFamily="34" charset="0"/>
                <a:cs typeface="Calibri" panose="020F0502020204030204" pitchFamily="34" charset="0"/>
              </a:rPr>
              <a:t> partial correlations </a:t>
            </a:r>
            <a:r>
              <a:rPr lang="en-US" sz="18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a:t>
            </a:r>
            <a:r>
              <a:rPr lang="en-US" sz="1800" dirty="0">
                <a:latin typeface="Calibri" panose="020F0502020204030204" pitchFamily="34" charset="0"/>
                <a:ea typeface="Calibri" panose="020F0502020204030204" pitchFamily="34" charset="0"/>
                <a:cs typeface="Calibri" panose="020F0502020204030204" pitchFamily="34" charset="0"/>
              </a:rPr>
              <a:t> pattern of high partial correlations means that a variable is </a:t>
            </a:r>
            <a:r>
              <a:rPr lang="en-US" sz="1800" b="1" dirty="0">
                <a:latin typeface="Calibri" panose="020F0502020204030204" pitchFamily="34" charset="0"/>
                <a:ea typeface="Calibri" panose="020F0502020204030204" pitchFamily="34" charset="0"/>
                <a:cs typeface="Calibri" panose="020F0502020204030204" pitchFamily="34" charset="0"/>
              </a:rPr>
              <a:t>not </a:t>
            </a:r>
            <a:r>
              <a:rPr lang="en-US" sz="1800" dirty="0">
                <a:latin typeface="Calibri" panose="020F0502020204030204" pitchFamily="34" charset="0"/>
                <a:ea typeface="Calibri" panose="020F0502020204030204" pitchFamily="34" charset="0"/>
                <a:cs typeface="Calibri" panose="020F0502020204030204" pitchFamily="34" charset="0"/>
              </a:rPr>
              <a:t>correlated with a large number of other variables </a:t>
            </a:r>
            <a:r>
              <a:rPr lang="en-US" sz="18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no factors exist in the data</a:t>
            </a:r>
          </a:p>
          <a:p>
            <a:pPr lvl="2"/>
            <a:r>
              <a:rPr lang="en-US" sz="16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Partial correlations &gt; .7 are high</a:t>
            </a:r>
          </a:p>
          <a:p>
            <a:pPr lvl="1"/>
            <a:r>
              <a:rPr lang="en-US" sz="1800" dirty="0">
                <a:latin typeface="Calibri" panose="020F0502020204030204" pitchFamily="34" charset="0"/>
                <a:ea typeface="Calibri" panose="020F0502020204030204" pitchFamily="34" charset="0"/>
                <a:cs typeface="Calibri" panose="020F0502020204030204" pitchFamily="34" charset="0"/>
              </a:rPr>
              <a:t>Bartlett’s test of sphericity should be </a:t>
            </a:r>
            <a:r>
              <a:rPr lang="en-US" sz="1800" b="1" dirty="0">
                <a:latin typeface="Calibri" panose="020F0502020204030204" pitchFamily="34" charset="0"/>
                <a:ea typeface="Calibri" panose="020F0502020204030204" pitchFamily="34" charset="0"/>
                <a:cs typeface="Calibri" panose="020F0502020204030204" pitchFamily="34" charset="0"/>
              </a:rPr>
              <a:t>significant</a:t>
            </a:r>
          </a:p>
          <a:p>
            <a:pPr lvl="1"/>
            <a:r>
              <a:rPr lang="en-US" sz="1800" dirty="0">
                <a:latin typeface="Calibri" panose="020F0502020204030204" pitchFamily="34" charset="0"/>
                <a:ea typeface="Calibri" panose="020F0502020204030204" pitchFamily="34" charset="0"/>
                <a:cs typeface="Calibri" panose="020F0502020204030204" pitchFamily="34" charset="0"/>
              </a:rPr>
              <a:t>Kaiser-Meyer-Olkin Measure of sampling adequacy (MSA) should be high</a:t>
            </a:r>
          </a:p>
        </p:txBody>
      </p:sp>
    </p:spTree>
    <p:extLst>
      <p:ext uri="{BB962C8B-B14F-4D97-AF65-F5344CB8AC3E}">
        <p14:creationId xmlns:p14="http://schemas.microsoft.com/office/powerpoint/2010/main" val="42785308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517" y="144408"/>
            <a:ext cx="10515600" cy="927647"/>
          </a:xfrm>
        </p:spPr>
        <p:txBody>
          <a:bodyPr/>
          <a:lstStyle/>
          <a:p>
            <a:r>
              <a:rPr lang="en-US" dirty="0"/>
              <a:t>Assumptions of EFA</a:t>
            </a:r>
          </a:p>
        </p:txBody>
      </p:sp>
      <p:sp>
        <p:nvSpPr>
          <p:cNvPr id="3" name="Content Placeholder 2"/>
          <p:cNvSpPr>
            <a:spLocks noGrp="1"/>
          </p:cNvSpPr>
          <p:nvPr>
            <p:ph idx="1"/>
          </p:nvPr>
        </p:nvSpPr>
        <p:spPr>
          <a:xfrm>
            <a:off x="296482" y="1002156"/>
            <a:ext cx="11751001" cy="5589037"/>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Statistical Issues addressing Multicollinearity</a:t>
            </a:r>
          </a:p>
          <a:p>
            <a:pPr marL="878522" lvl="1" indent="-365760">
              <a:spcBef>
                <a:spcPts val="400"/>
              </a:spcBef>
            </a:pPr>
            <a:r>
              <a:rPr lang="en-US" sz="2000" dirty="0">
                <a:latin typeface="Calibri" panose="020F0502020204030204" pitchFamily="34" charset="0"/>
                <a:ea typeface="Calibri" panose="020F0502020204030204" pitchFamily="34" charset="0"/>
                <a:cs typeface="Calibri" panose="020F0502020204030204" pitchFamily="34" charset="0"/>
              </a:rPr>
              <a:t>A </a:t>
            </a:r>
            <a:r>
              <a:rPr lang="en-US" sz="2000" u="sng" dirty="0">
                <a:latin typeface="Calibri" panose="020F0502020204030204" pitchFamily="34" charset="0"/>
                <a:ea typeface="Calibri" panose="020F0502020204030204" pitchFamily="34" charset="0"/>
                <a:cs typeface="Calibri" panose="020F0502020204030204" pitchFamily="34" charset="0"/>
              </a:rPr>
              <a:t>statistically significant Bartlett’s test of </a:t>
            </a:r>
            <a:r>
              <a:rPr lang="en-US" sz="2000" u="sng" dirty="0" err="1">
                <a:latin typeface="Calibri" panose="020F0502020204030204" pitchFamily="34" charset="0"/>
                <a:ea typeface="Calibri" panose="020F0502020204030204" pitchFamily="34" charset="0"/>
                <a:cs typeface="Calibri" panose="020F0502020204030204" pitchFamily="34" charset="0"/>
              </a:rPr>
              <a:t>sphericity</a:t>
            </a:r>
            <a:r>
              <a:rPr lang="en-US" sz="2000" u="sng" dirty="0">
                <a:latin typeface="Calibri" panose="020F0502020204030204" pitchFamily="34" charset="0"/>
                <a:ea typeface="Calibri" panose="020F0502020204030204" pitchFamily="34" charset="0"/>
                <a:cs typeface="Calibri" panose="020F0502020204030204" pitchFamily="34" charset="0"/>
              </a:rPr>
              <a:t> </a:t>
            </a:r>
            <a:r>
              <a:rPr lang="en-US" sz="2000" dirty="0">
                <a:latin typeface="Calibri" panose="020F0502020204030204" pitchFamily="34" charset="0"/>
                <a:ea typeface="Calibri" panose="020F0502020204030204" pitchFamily="34" charset="0"/>
                <a:cs typeface="Calibri" panose="020F0502020204030204" pitchFamily="34" charset="0"/>
              </a:rPr>
              <a:t>(sig. &lt; .05) indicates that sufficient correlations exist among the variables to proceed with an exploratory factor analysis.</a:t>
            </a:r>
          </a:p>
          <a:p>
            <a:pPr marL="878522" lvl="1" indent="-365760">
              <a:spcBef>
                <a:spcPts val="400"/>
              </a:spcBef>
            </a:pPr>
            <a:r>
              <a:rPr lang="en-US" sz="2000" dirty="0">
                <a:latin typeface="Calibri" panose="020F0502020204030204" pitchFamily="34" charset="0"/>
                <a:ea typeface="Calibri" panose="020F0502020204030204" pitchFamily="34" charset="0"/>
                <a:cs typeface="Calibri" panose="020F0502020204030204" pitchFamily="34" charset="0"/>
              </a:rPr>
              <a:t>Another good diagnostic test is the </a:t>
            </a:r>
            <a:r>
              <a:rPr lang="en-US" sz="2000" u="sng" dirty="0">
                <a:latin typeface="Calibri" panose="020F0502020204030204" pitchFamily="34" charset="0"/>
                <a:ea typeface="Calibri" panose="020F0502020204030204" pitchFamily="34" charset="0"/>
                <a:cs typeface="Calibri" panose="020F0502020204030204" pitchFamily="34" charset="0"/>
              </a:rPr>
              <a:t>MSA  (measure of sampling adequacy).</a:t>
            </a:r>
          </a:p>
          <a:p>
            <a:pPr marL="1278572" lvl="2" indent="-365760">
              <a:spcBef>
                <a:spcPts val="400"/>
              </a:spcBef>
            </a:pPr>
            <a:r>
              <a:rPr lang="en-US" dirty="0">
                <a:latin typeface="Calibri" panose="020F0502020204030204" pitchFamily="34" charset="0"/>
                <a:ea typeface="Calibri" panose="020F0502020204030204" pitchFamily="34" charset="0"/>
                <a:cs typeface="Calibri" panose="020F0502020204030204" pitchFamily="34" charset="0"/>
              </a:rPr>
              <a:t>Measured by the </a:t>
            </a:r>
            <a:r>
              <a:rPr lang="en-US" b="1" dirty="0">
                <a:latin typeface="Calibri" panose="020F0502020204030204" pitchFamily="34" charset="0"/>
                <a:ea typeface="Calibri" panose="020F0502020204030204" pitchFamily="34" charset="0"/>
                <a:cs typeface="Calibri" panose="020F0502020204030204" pitchFamily="34" charset="0"/>
              </a:rPr>
              <a:t>Kaiser-Meyer-Olkin (KMO) statistic, which</a:t>
            </a:r>
            <a:r>
              <a:rPr lang="en-US" dirty="0">
                <a:latin typeface="Calibri" panose="020F0502020204030204" pitchFamily="34" charset="0"/>
                <a:ea typeface="Calibri" panose="020F0502020204030204" pitchFamily="34" charset="0"/>
                <a:cs typeface="Calibri" panose="020F0502020204030204" pitchFamily="34" charset="0"/>
              </a:rPr>
              <a:t> indicates if a set of variables is likely to identify a good factor solution based on correlations/partial correlations.  </a:t>
            </a:r>
          </a:p>
          <a:p>
            <a:pPr marL="1314450" lvl="2" indent="-457200">
              <a:spcBef>
                <a:spcPts val="400"/>
              </a:spcBef>
            </a:pPr>
            <a:r>
              <a:rPr lang="en-US" dirty="0">
                <a:latin typeface="Calibri" panose="020F0502020204030204" pitchFamily="34" charset="0"/>
                <a:ea typeface="Calibri" panose="020F0502020204030204" pitchFamily="34" charset="0"/>
                <a:cs typeface="Calibri" panose="020F0502020204030204" pitchFamily="34" charset="0"/>
              </a:rPr>
              <a:t>KMO statistic exists for </a:t>
            </a:r>
            <a:r>
              <a:rPr lang="en-US" b="1" dirty="0">
                <a:latin typeface="Calibri" panose="020F0502020204030204" pitchFamily="34" charset="0"/>
                <a:ea typeface="Calibri" panose="020F0502020204030204" pitchFamily="34" charset="0"/>
                <a:cs typeface="Calibri" panose="020F0502020204030204" pitchFamily="34" charset="0"/>
              </a:rPr>
              <a:t>each individual variable </a:t>
            </a:r>
            <a:r>
              <a:rPr lang="en-US" dirty="0">
                <a:latin typeface="Calibri" panose="020F0502020204030204" pitchFamily="34" charset="0"/>
                <a:ea typeface="Calibri" panose="020F0502020204030204" pitchFamily="34" charset="0"/>
                <a:cs typeface="Calibri" panose="020F0502020204030204" pitchFamily="34" charset="0"/>
              </a:rPr>
              <a:t>and an </a:t>
            </a:r>
            <a:r>
              <a:rPr lang="en-US" b="1" dirty="0">
                <a:latin typeface="Calibri" panose="020F0502020204030204" pitchFamily="34" charset="0"/>
                <a:ea typeface="Calibri" panose="020F0502020204030204" pitchFamily="34" charset="0"/>
                <a:cs typeface="Calibri" panose="020F0502020204030204" pitchFamily="34" charset="0"/>
              </a:rPr>
              <a:t>overall value </a:t>
            </a:r>
            <a:r>
              <a:rPr lang="en-US" dirty="0">
                <a:latin typeface="Calibri" panose="020F0502020204030204" pitchFamily="34" charset="0"/>
                <a:ea typeface="Calibri" panose="020F0502020204030204" pitchFamily="34" charset="0"/>
                <a:cs typeface="Calibri" panose="020F0502020204030204" pitchFamily="34" charset="0"/>
              </a:rPr>
              <a:t>that can vary from 0 to 1.0.  </a:t>
            </a:r>
          </a:p>
          <a:p>
            <a:pPr marL="1314450" lvl="2" indent="-457200">
              <a:spcBef>
                <a:spcPts val="400"/>
              </a:spcBef>
            </a:pPr>
            <a:r>
              <a:rPr lang="en-US" dirty="0">
                <a:latin typeface="Calibri" panose="020F0502020204030204" pitchFamily="34" charset="0"/>
                <a:ea typeface="Calibri" panose="020F0502020204030204" pitchFamily="34" charset="0"/>
                <a:cs typeface="Calibri" panose="020F0502020204030204" pitchFamily="34" charset="0"/>
              </a:rPr>
              <a:t>KMO value </a:t>
            </a:r>
            <a:r>
              <a:rPr lang="en-US" b="1" dirty="0">
                <a:latin typeface="Calibri" panose="020F0502020204030204" pitchFamily="34" charset="0"/>
                <a:ea typeface="Calibri" panose="020F0502020204030204" pitchFamily="34" charset="0"/>
                <a:cs typeface="Calibri" panose="020F0502020204030204" pitchFamily="34" charset="0"/>
              </a:rPr>
              <a:t>must exceed .50 for both the overall test and each individual variable</a:t>
            </a:r>
            <a:r>
              <a:rPr lang="en-US" dirty="0">
                <a:latin typeface="Calibri" panose="020F0502020204030204" pitchFamily="34" charset="0"/>
                <a:ea typeface="Calibri" panose="020F0502020204030204" pitchFamily="34" charset="0"/>
                <a:cs typeface="Calibri" panose="020F0502020204030204" pitchFamily="34" charset="0"/>
              </a:rPr>
              <a:t>.  Variables with values </a:t>
            </a: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less than .50 should be omitted </a:t>
            </a:r>
            <a:r>
              <a:rPr lang="en-US" dirty="0">
                <a:latin typeface="Calibri" panose="020F0502020204030204" pitchFamily="34" charset="0"/>
                <a:ea typeface="Calibri" panose="020F0502020204030204" pitchFamily="34" charset="0"/>
                <a:cs typeface="Calibri" panose="020F0502020204030204" pitchFamily="34" charset="0"/>
              </a:rPr>
              <a:t>from the factor analysis one at a time, with the smallest one being omitted each time, until both overall and all individual values are above .50</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28</a:t>
            </a:fld>
            <a:endParaRPr lang="en-US" dirty="0"/>
          </a:p>
        </p:txBody>
      </p:sp>
      <p:sp>
        <p:nvSpPr>
          <p:cNvPr id="6" name="Footer Placeholder 3">
            <a:extLst>
              <a:ext uri="{FF2B5EF4-FFF2-40B4-BE49-F238E27FC236}">
                <a16:creationId xmlns:a16="http://schemas.microsoft.com/office/drawing/2014/main" id="{CA1B9F72-8A0B-4F26-B5AE-FA3881370765}"/>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4594231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59E7-46DE-6C1C-A42B-E4AF8376E28B}"/>
              </a:ext>
            </a:extLst>
          </p:cNvPr>
          <p:cNvSpPr>
            <a:spLocks noGrp="1"/>
          </p:cNvSpPr>
          <p:nvPr>
            <p:ph type="title"/>
          </p:nvPr>
        </p:nvSpPr>
        <p:spPr/>
        <p:txBody>
          <a:bodyPr/>
          <a:lstStyle/>
          <a:p>
            <a:r>
              <a:rPr lang="en-US" dirty="0"/>
              <a:t>Identity matrix v. Covariance matrix</a:t>
            </a:r>
          </a:p>
        </p:txBody>
      </p:sp>
      <p:graphicFrame>
        <p:nvGraphicFramePr>
          <p:cNvPr id="6" name="Content Placeholder 5">
            <a:extLst>
              <a:ext uri="{FF2B5EF4-FFF2-40B4-BE49-F238E27FC236}">
                <a16:creationId xmlns:a16="http://schemas.microsoft.com/office/drawing/2014/main" id="{ADC334D9-9BF3-0D06-61A8-1B42C63251CD}"/>
              </a:ext>
            </a:extLst>
          </p:cNvPr>
          <p:cNvGraphicFramePr>
            <a:graphicFrameLocks noGrp="1"/>
          </p:cNvGraphicFramePr>
          <p:nvPr>
            <p:ph idx="1"/>
          </p:nvPr>
        </p:nvGraphicFramePr>
        <p:xfrm>
          <a:off x="1556084" y="2208587"/>
          <a:ext cx="3585408" cy="3072540"/>
        </p:xfrm>
        <a:graphic>
          <a:graphicData uri="http://schemas.openxmlformats.org/drawingml/2006/table">
            <a:tbl>
              <a:tblPr>
                <a:tableStyleId>{D7AC3CCA-C797-4891-BE02-D94E43425B78}</a:tableStyleId>
              </a:tblPr>
              <a:tblGrid>
                <a:gridCol w="896352">
                  <a:extLst>
                    <a:ext uri="{9D8B030D-6E8A-4147-A177-3AD203B41FA5}">
                      <a16:colId xmlns:a16="http://schemas.microsoft.com/office/drawing/2014/main" val="838341258"/>
                    </a:ext>
                  </a:extLst>
                </a:gridCol>
                <a:gridCol w="896352">
                  <a:extLst>
                    <a:ext uri="{9D8B030D-6E8A-4147-A177-3AD203B41FA5}">
                      <a16:colId xmlns:a16="http://schemas.microsoft.com/office/drawing/2014/main" val="3388643731"/>
                    </a:ext>
                  </a:extLst>
                </a:gridCol>
                <a:gridCol w="896352">
                  <a:extLst>
                    <a:ext uri="{9D8B030D-6E8A-4147-A177-3AD203B41FA5}">
                      <a16:colId xmlns:a16="http://schemas.microsoft.com/office/drawing/2014/main" val="515149471"/>
                    </a:ext>
                  </a:extLst>
                </a:gridCol>
                <a:gridCol w="896352">
                  <a:extLst>
                    <a:ext uri="{9D8B030D-6E8A-4147-A177-3AD203B41FA5}">
                      <a16:colId xmlns:a16="http://schemas.microsoft.com/office/drawing/2014/main" val="1883304888"/>
                    </a:ext>
                  </a:extLst>
                </a:gridCol>
              </a:tblGrid>
              <a:tr h="768135">
                <a:tc>
                  <a:txBody>
                    <a:bodyPr/>
                    <a:lstStyle/>
                    <a:p>
                      <a:pPr algn="ctr" fontAlgn="t"/>
                      <a:endParaRPr lang="en-US" sz="1800" b="1" i="0" u="none" strike="noStrike" dirty="0">
                        <a:solidFill>
                          <a:srgbClr val="000000"/>
                        </a:solidFill>
                        <a:effectLst/>
                        <a:latin typeface="Calibri" panose="020F0502020204030204" pitchFamily="34" charset="0"/>
                      </a:endParaRPr>
                    </a:p>
                  </a:txBody>
                  <a:tcPr marL="9525" marR="9525" marT="9525" marB="0"/>
                </a:tc>
                <a:tc>
                  <a:txBody>
                    <a:bodyPr/>
                    <a:lstStyle/>
                    <a:p>
                      <a:pPr algn="ctr" fontAlgn="t"/>
                      <a:r>
                        <a:rPr lang="en-US" sz="1800" b="1" u="none" strike="noStrike" dirty="0">
                          <a:solidFill>
                            <a:srgbClr val="000000"/>
                          </a:solidFill>
                          <a:effectLst/>
                        </a:rPr>
                        <a:t>Var1</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Var2</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Var3</a:t>
                      </a:r>
                      <a:endParaRPr lang="en-US" sz="18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70840502"/>
                  </a:ext>
                </a:extLst>
              </a:tr>
              <a:tr h="768135">
                <a:tc>
                  <a:txBody>
                    <a:bodyPr/>
                    <a:lstStyle/>
                    <a:p>
                      <a:pPr algn="ctr" fontAlgn="b"/>
                      <a:r>
                        <a:rPr lang="en-US" sz="1800" b="1" i="0" u="none" strike="noStrike" dirty="0">
                          <a:solidFill>
                            <a:srgbClr val="000000"/>
                          </a:solidFill>
                          <a:effectLst/>
                          <a:latin typeface="Calibri" panose="020F0502020204030204" pitchFamily="34" charset="0"/>
                        </a:rPr>
                        <a:t>Var1</a:t>
                      </a: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29703550"/>
                  </a:ext>
                </a:extLst>
              </a:tr>
              <a:tr h="768135">
                <a:tc>
                  <a:txBody>
                    <a:bodyPr/>
                    <a:lstStyle/>
                    <a:p>
                      <a:pPr algn="ctr" fontAlgn="b"/>
                      <a:r>
                        <a:rPr lang="en-US" sz="1800" b="1" i="0" u="none" strike="noStrike" dirty="0">
                          <a:solidFill>
                            <a:srgbClr val="000000"/>
                          </a:solidFill>
                          <a:effectLst/>
                          <a:latin typeface="Calibri" panose="020F0502020204030204" pitchFamily="34" charset="0"/>
                        </a:rPr>
                        <a:t>Var2</a:t>
                      </a:r>
                    </a:p>
                  </a:txBody>
                  <a:tcPr marL="9525" marR="9525" marT="9525" marB="0" anchor="ctr"/>
                </a:tc>
                <a:tc>
                  <a:txBody>
                    <a:bodyPr/>
                    <a:lstStyle/>
                    <a:p>
                      <a:pPr algn="ctr" fontAlgn="b"/>
                      <a:r>
                        <a:rPr lang="en-US" sz="1800" b="0" u="none" strike="noStrike">
                          <a:solidFill>
                            <a:srgbClr val="000000"/>
                          </a:solidFill>
                          <a:effectLst/>
                        </a:rPr>
                        <a:t>0</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10375736"/>
                  </a:ext>
                </a:extLst>
              </a:tr>
              <a:tr h="768135">
                <a:tc>
                  <a:txBody>
                    <a:bodyPr/>
                    <a:lstStyle/>
                    <a:p>
                      <a:pPr algn="ctr" fontAlgn="b"/>
                      <a:r>
                        <a:rPr lang="en-US" sz="1800" b="1" i="0" u="none" strike="noStrike" dirty="0">
                          <a:solidFill>
                            <a:srgbClr val="000000"/>
                          </a:solidFill>
                          <a:effectLst/>
                          <a:latin typeface="Calibri" panose="020F0502020204030204" pitchFamily="34" charset="0"/>
                        </a:rPr>
                        <a:t>Var3</a:t>
                      </a:r>
                    </a:p>
                  </a:txBody>
                  <a:tcPr marL="9525" marR="9525" marT="9525" marB="0" anchor="ctr"/>
                </a:tc>
                <a:tc>
                  <a:txBody>
                    <a:bodyPr/>
                    <a:lstStyle/>
                    <a:p>
                      <a:pPr algn="ctr" fontAlgn="b"/>
                      <a:r>
                        <a:rPr lang="en-US" sz="1800" b="0" u="none" strike="noStrike">
                          <a:solidFill>
                            <a:srgbClr val="000000"/>
                          </a:solidFill>
                          <a:effectLst/>
                        </a:rPr>
                        <a:t>0</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62702718"/>
                  </a:ext>
                </a:extLst>
              </a:tr>
            </a:tbl>
          </a:graphicData>
        </a:graphic>
      </p:graphicFrame>
      <p:graphicFrame>
        <p:nvGraphicFramePr>
          <p:cNvPr id="7" name="Table 6">
            <a:extLst>
              <a:ext uri="{FF2B5EF4-FFF2-40B4-BE49-F238E27FC236}">
                <a16:creationId xmlns:a16="http://schemas.microsoft.com/office/drawing/2014/main" id="{DB43F42E-E4C3-CACD-CF76-F5C2FC04F96B}"/>
              </a:ext>
            </a:extLst>
          </p:cNvPr>
          <p:cNvGraphicFramePr>
            <a:graphicFrameLocks noGrp="1"/>
          </p:cNvGraphicFramePr>
          <p:nvPr>
            <p:extLst>
              <p:ext uri="{D42A27DB-BD31-4B8C-83A1-F6EECF244321}">
                <p14:modId xmlns:p14="http://schemas.microsoft.com/office/powerpoint/2010/main" val="1963883591"/>
              </p:ext>
            </p:extLst>
          </p:nvPr>
        </p:nvGraphicFramePr>
        <p:xfrm>
          <a:off x="5761608" y="2208587"/>
          <a:ext cx="3657600" cy="3072540"/>
        </p:xfrm>
        <a:graphic>
          <a:graphicData uri="http://schemas.openxmlformats.org/drawingml/2006/table">
            <a:tbl>
              <a:tblPr>
                <a:tableStyleId>{5940675A-B579-460E-94D1-54222C63F5DA}</a:tableStyleId>
              </a:tblPr>
              <a:tblGrid>
                <a:gridCol w="864479">
                  <a:extLst>
                    <a:ext uri="{9D8B030D-6E8A-4147-A177-3AD203B41FA5}">
                      <a16:colId xmlns:a16="http://schemas.microsoft.com/office/drawing/2014/main" val="3611524226"/>
                    </a:ext>
                  </a:extLst>
                </a:gridCol>
                <a:gridCol w="831156">
                  <a:extLst>
                    <a:ext uri="{9D8B030D-6E8A-4147-A177-3AD203B41FA5}">
                      <a16:colId xmlns:a16="http://schemas.microsoft.com/office/drawing/2014/main" val="3728576456"/>
                    </a:ext>
                  </a:extLst>
                </a:gridCol>
                <a:gridCol w="985421">
                  <a:extLst>
                    <a:ext uri="{9D8B030D-6E8A-4147-A177-3AD203B41FA5}">
                      <a16:colId xmlns:a16="http://schemas.microsoft.com/office/drawing/2014/main" val="2845637240"/>
                    </a:ext>
                  </a:extLst>
                </a:gridCol>
                <a:gridCol w="976544">
                  <a:extLst>
                    <a:ext uri="{9D8B030D-6E8A-4147-A177-3AD203B41FA5}">
                      <a16:colId xmlns:a16="http://schemas.microsoft.com/office/drawing/2014/main" val="310056156"/>
                    </a:ext>
                  </a:extLst>
                </a:gridCol>
              </a:tblGrid>
              <a:tr h="768135">
                <a:tc>
                  <a:txBody>
                    <a:bodyPr/>
                    <a:lstStyle/>
                    <a:p>
                      <a:pPr algn="ctr" fontAlgn="t"/>
                      <a:endParaRPr lang="en-US" sz="1800" b="1" i="0" u="none" strike="noStrike" dirty="0">
                        <a:solidFill>
                          <a:srgbClr val="000000"/>
                        </a:solidFill>
                        <a:effectLst/>
                        <a:latin typeface="Calibri" panose="020F0502020204030204" pitchFamily="34" charset="0"/>
                      </a:endParaRPr>
                    </a:p>
                  </a:txBody>
                  <a:tcPr marL="9525" marR="9525" marT="9525" marB="0"/>
                </a:tc>
                <a:tc>
                  <a:txBody>
                    <a:bodyPr/>
                    <a:lstStyle/>
                    <a:p>
                      <a:pPr algn="ctr" fontAlgn="t"/>
                      <a:r>
                        <a:rPr lang="en-US" sz="1800" b="1" u="none" strike="noStrike" dirty="0">
                          <a:solidFill>
                            <a:srgbClr val="000000"/>
                          </a:solidFill>
                          <a:effectLst/>
                        </a:rPr>
                        <a:t>Var1</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Var2</a:t>
                      </a:r>
                      <a:endParaRPr lang="en-US" sz="18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t"/>
                      <a:r>
                        <a:rPr lang="en-US" sz="1800" b="1" u="none" strike="noStrike" dirty="0">
                          <a:solidFill>
                            <a:srgbClr val="000000"/>
                          </a:solidFill>
                          <a:effectLst/>
                        </a:rPr>
                        <a:t>Var3</a:t>
                      </a:r>
                      <a:endParaRPr lang="en-US" sz="18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9528407"/>
                  </a:ext>
                </a:extLst>
              </a:tr>
              <a:tr h="768135">
                <a:tc>
                  <a:txBody>
                    <a:bodyPr/>
                    <a:lstStyle/>
                    <a:p>
                      <a:pPr algn="ctr" fontAlgn="b"/>
                      <a:r>
                        <a:rPr lang="en-US" sz="1800" b="1" i="0" u="none" strike="noStrike" dirty="0">
                          <a:solidFill>
                            <a:srgbClr val="000000"/>
                          </a:solidFill>
                          <a:effectLst/>
                          <a:latin typeface="Calibri" panose="020F0502020204030204" pitchFamily="34" charset="0"/>
                        </a:rPr>
                        <a:t>Var1</a:t>
                      </a: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0.6</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a:solidFill>
                            <a:srgbClr val="000000"/>
                          </a:solidFill>
                          <a:effectLst/>
                        </a:rPr>
                        <a:t>0.4</a:t>
                      </a:r>
                      <a:endParaRPr lang="en-U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53237120"/>
                  </a:ext>
                </a:extLst>
              </a:tr>
              <a:tr h="768135">
                <a:tc>
                  <a:txBody>
                    <a:bodyPr/>
                    <a:lstStyle/>
                    <a:p>
                      <a:pPr algn="ctr" fontAlgn="b"/>
                      <a:r>
                        <a:rPr lang="en-US" sz="1800" b="1" i="0" u="none" strike="noStrike" dirty="0">
                          <a:solidFill>
                            <a:srgbClr val="000000"/>
                          </a:solidFill>
                          <a:effectLst/>
                          <a:latin typeface="Calibri" panose="020F0502020204030204" pitchFamily="34" charset="0"/>
                        </a:rPr>
                        <a:t>Var2</a:t>
                      </a:r>
                    </a:p>
                  </a:txBody>
                  <a:tcPr marL="9525" marR="9525" marT="9525" marB="0" anchor="ctr"/>
                </a:tc>
                <a:tc>
                  <a:txBody>
                    <a:bodyPr/>
                    <a:lstStyle/>
                    <a:p>
                      <a:pPr algn="ctr" fontAlgn="b"/>
                      <a:r>
                        <a:rPr lang="en-US" sz="1800" b="0" u="none" strike="noStrike">
                          <a:solidFill>
                            <a:srgbClr val="000000"/>
                          </a:solidFill>
                          <a:effectLst/>
                        </a:rPr>
                        <a:t>0.6</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0.5</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28391877"/>
                  </a:ext>
                </a:extLst>
              </a:tr>
              <a:tr h="768135">
                <a:tc>
                  <a:txBody>
                    <a:bodyPr/>
                    <a:lstStyle/>
                    <a:p>
                      <a:pPr algn="ctr" fontAlgn="b"/>
                      <a:r>
                        <a:rPr lang="en-US" sz="1800" b="1" i="0" u="none" strike="noStrike" dirty="0">
                          <a:solidFill>
                            <a:srgbClr val="000000"/>
                          </a:solidFill>
                          <a:effectLst/>
                          <a:latin typeface="Calibri" panose="020F0502020204030204" pitchFamily="34" charset="0"/>
                        </a:rPr>
                        <a:t>Var3</a:t>
                      </a:r>
                    </a:p>
                  </a:txBody>
                  <a:tcPr marL="9525" marR="9525" marT="9525" marB="0" anchor="ctr"/>
                </a:tc>
                <a:tc>
                  <a:txBody>
                    <a:bodyPr/>
                    <a:lstStyle/>
                    <a:p>
                      <a:pPr algn="ctr" fontAlgn="b"/>
                      <a:r>
                        <a:rPr lang="en-US" sz="1800" b="0" u="none" strike="noStrike">
                          <a:solidFill>
                            <a:srgbClr val="000000"/>
                          </a:solidFill>
                          <a:effectLst/>
                        </a:rPr>
                        <a:t>0.4</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a:solidFill>
                            <a:srgbClr val="000000"/>
                          </a:solidFill>
                          <a:effectLst/>
                        </a:rPr>
                        <a:t>0.5</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1800" b="0" u="none" strike="noStrike" dirty="0">
                          <a:solidFill>
                            <a:srgbClr val="000000"/>
                          </a:solidFill>
                          <a:effectLst/>
                        </a:rPr>
                        <a:t>1</a:t>
                      </a:r>
                      <a:endParaRPr lang="en-US"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69639495"/>
                  </a:ext>
                </a:extLst>
              </a:tr>
            </a:tbl>
          </a:graphicData>
        </a:graphic>
      </p:graphicFrame>
    </p:spTree>
    <p:extLst>
      <p:ext uri="{BB962C8B-B14F-4D97-AF65-F5344CB8AC3E}">
        <p14:creationId xmlns:p14="http://schemas.microsoft.com/office/powerpoint/2010/main" val="2069139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480D5-799E-466C-B0AE-1A58D007A5EA}"/>
              </a:ext>
            </a:extLst>
          </p:cNvPr>
          <p:cNvSpPr>
            <a:spLocks noGrp="1"/>
          </p:cNvSpPr>
          <p:nvPr>
            <p:ph type="title"/>
          </p:nvPr>
        </p:nvSpPr>
        <p:spPr>
          <a:xfrm>
            <a:off x="92242" y="116472"/>
            <a:ext cx="10515600" cy="789907"/>
          </a:xfrm>
        </p:spPr>
        <p:txBody>
          <a:bodyPr/>
          <a:lstStyle/>
          <a:p>
            <a:r>
              <a:rPr lang="en-US" dirty="0"/>
              <a:t>Initial factorability assessment (summary)</a:t>
            </a:r>
          </a:p>
        </p:txBody>
      </p:sp>
      <p:sp>
        <p:nvSpPr>
          <p:cNvPr id="3" name="Content Placeholder 2">
            <a:extLst>
              <a:ext uri="{FF2B5EF4-FFF2-40B4-BE49-F238E27FC236}">
                <a16:creationId xmlns:a16="http://schemas.microsoft.com/office/drawing/2014/main" id="{10CAD5B6-DDD1-4929-BCD3-070926C9A068}"/>
              </a:ext>
            </a:extLst>
          </p:cNvPr>
          <p:cNvSpPr>
            <a:spLocks noGrp="1"/>
          </p:cNvSpPr>
          <p:nvPr>
            <p:ph idx="1"/>
          </p:nvPr>
        </p:nvSpPr>
        <p:spPr>
          <a:xfrm>
            <a:off x="260685" y="798930"/>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Correlation coefficient values</a:t>
            </a:r>
          </a:p>
          <a:p>
            <a:pPr lvl="1"/>
            <a:r>
              <a:rPr lang="en-US" sz="1800" dirty="0">
                <a:latin typeface="Calibri" panose="020F0502020204030204" pitchFamily="34" charset="0"/>
                <a:ea typeface="Calibri" panose="020F0502020204030204" pitchFamily="34" charset="0"/>
                <a:cs typeface="Calibri" panose="020F0502020204030204" pitchFamily="34" charset="0"/>
              </a:rPr>
              <a:t>Should be &gt;= .30</a:t>
            </a:r>
          </a:p>
          <a:p>
            <a:r>
              <a:rPr lang="en-US" sz="2000" dirty="0">
                <a:latin typeface="Calibri" panose="020F0502020204030204" pitchFamily="34" charset="0"/>
                <a:ea typeface="Calibri" panose="020F0502020204030204" pitchFamily="34" charset="0"/>
                <a:cs typeface="Calibri" panose="020F0502020204030204" pitchFamily="34" charset="0"/>
              </a:rPr>
              <a:t>Bartlett’s test of sphericity</a:t>
            </a:r>
          </a:p>
          <a:p>
            <a:pPr lvl="1"/>
            <a:r>
              <a:rPr lang="en-US" sz="1800" dirty="0">
                <a:latin typeface="Calibri" panose="020F0502020204030204" pitchFamily="34" charset="0"/>
                <a:ea typeface="Calibri" panose="020F0502020204030204" pitchFamily="34" charset="0"/>
                <a:cs typeface="Calibri" panose="020F0502020204030204" pitchFamily="34" charset="0"/>
              </a:rPr>
              <a:t>The null hypothesis is the variance-covariance matrix equals the identity matrix</a:t>
            </a:r>
          </a:p>
          <a:p>
            <a:pPr lvl="1"/>
            <a:r>
              <a:rPr lang="en-US" sz="1800" dirty="0">
                <a:latin typeface="Calibri" panose="020F0502020204030204" pitchFamily="34" charset="0"/>
                <a:ea typeface="Calibri" panose="020F0502020204030204" pitchFamily="34" charset="0"/>
                <a:cs typeface="Calibri" panose="020F0502020204030204" pitchFamily="34" charset="0"/>
              </a:rPr>
              <a:t>Here we want to reject the null hypothesis because we want overlapping variance between variables to reduce them into latent factors</a:t>
            </a:r>
          </a:p>
          <a:p>
            <a:r>
              <a:rPr lang="en-US" sz="2000" dirty="0">
                <a:latin typeface="Calibri" panose="020F0502020204030204" pitchFamily="34" charset="0"/>
                <a:ea typeface="Calibri" panose="020F0502020204030204" pitchFamily="34" charset="0"/>
                <a:cs typeface="Calibri" panose="020F0502020204030204" pitchFamily="34" charset="0"/>
              </a:rPr>
              <a:t>Anti-image correlation matrix</a:t>
            </a:r>
          </a:p>
          <a:p>
            <a:r>
              <a:rPr lang="en-US" sz="2000" dirty="0">
                <a:latin typeface="Calibri" panose="020F0502020204030204" pitchFamily="34" charset="0"/>
                <a:ea typeface="Calibri" panose="020F0502020204030204" pitchFamily="34" charset="0"/>
                <a:cs typeface="Calibri" panose="020F0502020204030204" pitchFamily="34" charset="0"/>
              </a:rPr>
              <a:t>Kaiser-Meyer-Olkin measure of sampling adequacy (MSA)</a:t>
            </a:r>
          </a:p>
          <a:p>
            <a:pPr lvl="1"/>
            <a:r>
              <a:rPr lang="en-US" sz="1800" dirty="0">
                <a:latin typeface="Calibri" panose="020F0502020204030204" pitchFamily="34" charset="0"/>
                <a:ea typeface="Calibri" panose="020F0502020204030204" pitchFamily="34" charset="0"/>
                <a:cs typeface="Calibri" panose="020F0502020204030204" pitchFamily="34" charset="0"/>
              </a:rPr>
              <a:t>An index of shared variance in the variables: </a:t>
            </a:r>
            <a:r>
              <a:rPr lang="en-US" sz="1800" b="0" i="0" dirty="0">
                <a:solidFill>
                  <a:srgbClr val="202124"/>
                </a:solidFill>
                <a:effectLst/>
                <a:latin typeface="Calibri" panose="020F0502020204030204" pitchFamily="34" charset="0"/>
                <a:ea typeface="Calibri" panose="020F0502020204030204" pitchFamily="34" charset="0"/>
                <a:cs typeface="Calibri" panose="020F0502020204030204" pitchFamily="34" charset="0"/>
              </a:rPr>
              <a:t>the proportion of variance in your variables that might be “caused” by underlying factors</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Compares the magnitude of the observed to partial correlation coefficients</a:t>
            </a:r>
          </a:p>
          <a:p>
            <a:pPr lvl="1"/>
            <a:r>
              <a:rPr lang="en-US" sz="1800" dirty="0">
                <a:latin typeface="Calibri" panose="020F0502020204030204" pitchFamily="34" charset="0"/>
                <a:ea typeface="Calibri" panose="020F0502020204030204" pitchFamily="34" charset="0"/>
                <a:cs typeface="Calibri" panose="020F0502020204030204" pitchFamily="34" charset="0"/>
              </a:rPr>
              <a:t>Ranges from 0 to 1 and larger values mean more factorability (look for significance)</a:t>
            </a: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4435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232760" y="175227"/>
            <a:ext cx="10515600" cy="1275201"/>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Stage 4:  Deriving Factors and Assessing Overall Fit</a:t>
            </a:r>
          </a:p>
        </p:txBody>
      </p:sp>
      <p:sp>
        <p:nvSpPr>
          <p:cNvPr id="7" name="Text Placeholder 6"/>
          <p:cNvSpPr>
            <a:spLocks noGrp="1"/>
          </p:cNvSpPr>
          <p:nvPr>
            <p:ph type="body" idx="1"/>
          </p:nvPr>
        </p:nvSpPr>
        <p:spPr>
          <a:xfrm>
            <a:off x="385160" y="1556953"/>
            <a:ext cx="10363200" cy="1500187"/>
          </a:xfrm>
        </p:spPr>
        <p:txBody>
          <a:bodyPr>
            <a:norm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Selecting the factor extraction method – common vs. component analysis.</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Stopping Rules: Criteria for the Number of Factors to Extract.</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Alternatives to Principal Components and Common Factor Analysis.</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31</a:t>
            </a:fld>
            <a:endParaRPr lang="en-US" dirty="0"/>
          </a:p>
        </p:txBody>
      </p:sp>
      <p:sp>
        <p:nvSpPr>
          <p:cNvPr id="8" name="Footer Placeholder 3">
            <a:extLst>
              <a:ext uri="{FF2B5EF4-FFF2-40B4-BE49-F238E27FC236}">
                <a16:creationId xmlns:a16="http://schemas.microsoft.com/office/drawing/2014/main" id="{AB764215-1C02-44BE-A1CF-ACCECBE6C49C}"/>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749624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2F2D-3CA9-A1BA-3E15-45B20C7045B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4B59BC-F27A-D88B-573E-CD6CED223BF2}"/>
              </a:ext>
            </a:extLst>
          </p:cNvPr>
          <p:cNvSpPr>
            <a:spLocks noGrp="1"/>
          </p:cNvSpPr>
          <p:nvPr>
            <p:ph type="title"/>
          </p:nvPr>
        </p:nvSpPr>
        <p:spPr>
          <a:xfrm>
            <a:off x="90777" y="245856"/>
            <a:ext cx="11923644" cy="628788"/>
          </a:xfrm>
        </p:spPr>
        <p:txBody>
          <a:bodyPr>
            <a:normAutofit fontScale="90000"/>
          </a:bodyPr>
          <a:lstStyle/>
          <a:p>
            <a:r>
              <a:rPr lang="en-US" dirty="0"/>
              <a:t>Key Questions</a:t>
            </a:r>
          </a:p>
        </p:txBody>
      </p:sp>
      <p:sp>
        <p:nvSpPr>
          <p:cNvPr id="5" name="Content Placeholder 4">
            <a:extLst>
              <a:ext uri="{FF2B5EF4-FFF2-40B4-BE49-F238E27FC236}">
                <a16:creationId xmlns:a16="http://schemas.microsoft.com/office/drawing/2014/main" id="{903651D9-E313-53D3-97C1-004970C183EF}"/>
              </a:ext>
            </a:extLst>
          </p:cNvPr>
          <p:cNvSpPr>
            <a:spLocks noGrp="1"/>
          </p:cNvSpPr>
          <p:nvPr>
            <p:ph idx="1"/>
          </p:nvPr>
        </p:nvSpPr>
        <p:spPr>
          <a:xfrm>
            <a:off x="182461" y="874644"/>
            <a:ext cx="11740276" cy="5303519"/>
          </a:xfrm>
        </p:spPr>
        <p:txBody>
          <a:bodyPr>
            <a:normAutofit/>
          </a:bodyPr>
          <a:lstStyle/>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many reliable and interpretable factors/components are there in a set of variables?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many factors/components should be extracted?</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much variance in a set of variables is accounted for by the retained factors/components?</a:t>
            </a:r>
          </a:p>
          <a:p>
            <a:r>
              <a:rPr kumimoji="0" lang="en-US" sz="20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How are the factors/components interpreted? (Note: this is subjective)</a:t>
            </a:r>
          </a:p>
        </p:txBody>
      </p:sp>
    </p:spTree>
    <p:extLst>
      <p:ext uri="{BB962C8B-B14F-4D97-AF65-F5344CB8AC3E}">
        <p14:creationId xmlns:p14="http://schemas.microsoft.com/office/powerpoint/2010/main" val="2741877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02AE-59EB-496E-9655-1BC7DCFA9C1B}"/>
              </a:ext>
            </a:extLst>
          </p:cNvPr>
          <p:cNvSpPr>
            <a:spLocks noGrp="1"/>
          </p:cNvSpPr>
          <p:nvPr>
            <p:ph type="title"/>
          </p:nvPr>
        </p:nvSpPr>
        <p:spPr>
          <a:xfrm>
            <a:off x="352927" y="76369"/>
            <a:ext cx="11738811" cy="725738"/>
          </a:xfrm>
        </p:spPr>
        <p:txBody>
          <a:bodyPr>
            <a:normAutofit fontScale="90000"/>
          </a:bodyPr>
          <a:lstStyle/>
          <a:p>
            <a:r>
              <a:rPr lang="en-US" b="0" i="0" dirty="0">
                <a:solidFill>
                  <a:srgbClr val="000000"/>
                </a:solidFill>
                <a:effectLst/>
                <a:latin typeface="Calibri" panose="020F0502020204030204" pitchFamily="34" charset="0"/>
              </a:rPr>
              <a:t>Extracting a set of factors from the correlation matrix</a:t>
            </a:r>
            <a:endParaRPr lang="en-US" dirty="0"/>
          </a:p>
        </p:txBody>
      </p:sp>
      <p:sp>
        <p:nvSpPr>
          <p:cNvPr id="3" name="Content Placeholder 2">
            <a:extLst>
              <a:ext uri="{FF2B5EF4-FFF2-40B4-BE49-F238E27FC236}">
                <a16:creationId xmlns:a16="http://schemas.microsoft.com/office/drawing/2014/main" id="{3CB323ED-FFF6-4007-AF5F-2E951B291301}"/>
              </a:ext>
            </a:extLst>
          </p:cNvPr>
          <p:cNvSpPr>
            <a:spLocks noGrp="1"/>
          </p:cNvSpPr>
          <p:nvPr>
            <p:ph idx="1"/>
          </p:nvPr>
        </p:nvSpPr>
        <p:spPr>
          <a:xfrm>
            <a:off x="352927" y="802107"/>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Recall</a:t>
            </a:r>
            <a:r>
              <a:rPr lang="en-US" sz="2000" dirty="0">
                <a:latin typeface="Calibri" panose="020F0502020204030204" pitchFamily="34" charset="0"/>
                <a:ea typeface="Calibri" panose="020F0502020204030204" pitchFamily="34" charset="0"/>
                <a:cs typeface="Calibri" panose="020F0502020204030204" pitchFamily="34" charset="0"/>
              </a:rPr>
              <a:t>: Variance tells us how spread out a variable’s values are around its average</a:t>
            </a:r>
          </a:p>
          <a:p>
            <a:r>
              <a:rPr lang="en-US" sz="2000" dirty="0">
                <a:latin typeface="Calibri" panose="020F0502020204030204" pitchFamily="34" charset="0"/>
                <a:ea typeface="Calibri" panose="020F0502020204030204" pitchFamily="34" charset="0"/>
                <a:cs typeface="Calibri" panose="020F0502020204030204" pitchFamily="34" charset="0"/>
              </a:rPr>
              <a:t>When two variables are correlated, they share some of that variance. The amount they share is the squared correlation</a:t>
            </a:r>
          </a:p>
          <a:p>
            <a:pPr lvl="1"/>
            <a:r>
              <a:rPr lang="en-US" sz="1800" b="1" dirty="0">
                <a:latin typeface="Calibri" panose="020F0502020204030204" pitchFamily="34" charset="0"/>
                <a:ea typeface="Calibri" panose="020F0502020204030204" pitchFamily="34" charset="0"/>
                <a:cs typeface="Calibri" panose="020F0502020204030204" pitchFamily="34" charset="0"/>
              </a:rPr>
              <a:t>Example</a:t>
            </a:r>
            <a:r>
              <a:rPr lang="en-US" sz="1800" dirty="0">
                <a:latin typeface="Calibri" panose="020F0502020204030204" pitchFamily="34" charset="0"/>
                <a:ea typeface="Calibri" panose="020F0502020204030204" pitchFamily="34" charset="0"/>
                <a:cs typeface="Calibri" panose="020F0502020204030204" pitchFamily="34" charset="0"/>
              </a:rPr>
              <a:t>: A correlation of 0.5 means 25% of the variance is shared</a:t>
            </a:r>
          </a:p>
          <a:p>
            <a:r>
              <a:rPr lang="en-US" sz="2000" dirty="0">
                <a:latin typeface="Calibri" panose="020F0502020204030204" pitchFamily="34" charset="0"/>
                <a:ea typeface="Calibri" panose="020F0502020204030204" pitchFamily="34" charset="0"/>
                <a:cs typeface="Calibri" panose="020F0502020204030204" pitchFamily="34" charset="0"/>
              </a:rPr>
              <a:t>In FA, variables that are highly correlated are grouped together —meaning they move together and share a lot of variance</a:t>
            </a:r>
          </a:p>
          <a:p>
            <a:r>
              <a:rPr lang="en-US" sz="2000" dirty="0">
                <a:latin typeface="Calibri" panose="020F0502020204030204" pitchFamily="34" charset="0"/>
                <a:ea typeface="Calibri" panose="020F0502020204030204" pitchFamily="34" charset="0"/>
                <a:cs typeface="Calibri" panose="020F0502020204030204" pitchFamily="34" charset="0"/>
              </a:rPr>
              <a:t>It's important to know how much of a variable’s variance is shared with others in its group (factor), and how much is unique or due to error</a:t>
            </a:r>
          </a:p>
          <a:p>
            <a:pPr lvl="1"/>
            <a:r>
              <a:rPr lang="en-US" sz="1800" dirty="0">
                <a:latin typeface="Calibri" panose="020F0502020204030204" pitchFamily="34" charset="0"/>
                <a:ea typeface="Calibri" panose="020F0502020204030204" pitchFamily="34" charset="0"/>
                <a:cs typeface="Calibri" panose="020F0502020204030204" pitchFamily="34" charset="0"/>
              </a:rPr>
              <a:t>Total variance = Shared (common) variance + Unique variance + Error</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965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32849-4E6C-4E37-A5D3-7F031EAFC6D7}"/>
              </a:ext>
            </a:extLst>
          </p:cNvPr>
          <p:cNvSpPr>
            <a:spLocks noGrp="1"/>
          </p:cNvSpPr>
          <p:nvPr>
            <p:ph type="title"/>
          </p:nvPr>
        </p:nvSpPr>
        <p:spPr>
          <a:xfrm>
            <a:off x="127162" y="171490"/>
            <a:ext cx="9788251" cy="754300"/>
          </a:xfrm>
        </p:spPr>
        <p:txBody>
          <a:bodyPr>
            <a:normAutofit/>
          </a:bodyPr>
          <a:lstStyle/>
          <a:p>
            <a:r>
              <a:rPr lang="en-US" sz="3100" b="0" i="0" dirty="0">
                <a:effectLst/>
                <a:latin typeface="Calibri" panose="020F0502020204030204" pitchFamily="34" charset="0"/>
              </a:rPr>
              <a:t>Extracting a set of factors from the correlation matrix</a:t>
            </a:r>
            <a:endParaRPr lang="en-US" sz="31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9FDB3F-7536-4673-B5A3-9C9569335795}"/>
                  </a:ext>
                </a:extLst>
              </p:cNvPr>
              <p:cNvSpPr>
                <a:spLocks noGrp="1"/>
              </p:cNvSpPr>
              <p:nvPr>
                <p:ph idx="1"/>
              </p:nvPr>
            </p:nvSpPr>
            <p:spPr>
              <a:xfrm>
                <a:off x="212451" y="805473"/>
                <a:ext cx="11767098" cy="4656863"/>
              </a:xfrm>
            </p:spPr>
            <p:txBody>
              <a:bodyPr>
                <a:normAutofit fontScale="92500" lnSpcReduction="20000"/>
              </a:bodyPr>
              <a:lstStyle/>
              <a:p>
                <a:r>
                  <a:rPr lang="en-US" sz="2200" b="1" dirty="0">
                    <a:latin typeface="Calibri" panose="020F0502020204030204" pitchFamily="34" charset="0"/>
                    <a:ea typeface="Calibri" panose="020F0502020204030204" pitchFamily="34" charset="0"/>
                    <a:cs typeface="Calibri" panose="020F0502020204030204" pitchFamily="34" charset="0"/>
                  </a:rPr>
                  <a:t>Common variance (</a:t>
                </a:r>
                <a14:m>
                  <m:oMath xmlns:m="http://schemas.openxmlformats.org/officeDocument/2006/math">
                    <m:sSup>
                      <m:sSupPr>
                        <m:ctrlPr>
                          <a:rPr lang="en-US" sz="2200" i="1" smtClean="0">
                            <a:latin typeface="Cambria Math" panose="02040503050406030204" pitchFamily="18" charset="0"/>
                          </a:rPr>
                        </m:ctrlPr>
                      </m:sSupPr>
                      <m:e>
                        <m:r>
                          <a:rPr lang="en-US" sz="2200" b="0" i="1" smtClean="0">
                            <a:latin typeface="Cambria Math" panose="02040503050406030204" pitchFamily="18" charset="0"/>
                          </a:rPr>
                          <m:t>h</m:t>
                        </m:r>
                      </m:e>
                      <m:sup>
                        <m:r>
                          <a:rPr lang="en-US" sz="2200" b="0" i="1" smtClean="0">
                            <a:latin typeface="Cambria Math" panose="02040503050406030204" pitchFamily="18" charset="0"/>
                          </a:rPr>
                          <m:t>2</m:t>
                        </m:r>
                      </m:sup>
                    </m:sSup>
                  </m:oMath>
                </a14:m>
                <a:r>
                  <a:rPr lang="en-US" sz="2200" b="1" dirty="0">
                    <a:latin typeface="Calibri" panose="020F0502020204030204" pitchFamily="34" charset="0"/>
                    <a:ea typeface="Calibri" panose="020F0502020204030204" pitchFamily="34" charset="0"/>
                    <a:cs typeface="Calibri" panose="020F0502020204030204" pitchFamily="34" charset="0"/>
                  </a:rPr>
                  <a:t>)</a:t>
                </a:r>
              </a:p>
              <a:p>
                <a:pPr lvl="1"/>
                <a:r>
                  <a:rPr lang="en-US" sz="1900" b="1" dirty="0">
                    <a:latin typeface="Calibri" panose="020F0502020204030204" pitchFamily="34" charset="0"/>
                    <a:ea typeface="Calibri" panose="020F0502020204030204" pitchFamily="34" charset="0"/>
                    <a:cs typeface="Calibri" panose="020F0502020204030204" pitchFamily="34" charset="0"/>
                  </a:rPr>
                  <a:t>Definition</a:t>
                </a:r>
                <a:r>
                  <a:rPr lang="en-US" sz="1900" dirty="0">
                    <a:latin typeface="Calibri" panose="020F0502020204030204" pitchFamily="34" charset="0"/>
                    <a:ea typeface="Calibri" panose="020F0502020204030204" pitchFamily="34" charset="0"/>
                    <a:cs typeface="Calibri" panose="020F0502020204030204" pitchFamily="34" charset="0"/>
                  </a:rPr>
                  <a:t>: The proportion of a variable’s variance that is shared with other variables in the factor</a:t>
                </a:r>
              </a:p>
              <a:p>
                <a:pPr lvl="1"/>
                <a:r>
                  <a:rPr lang="en-US" sz="1900" b="1" dirty="0">
                    <a:latin typeface="Calibri" panose="020F0502020204030204" pitchFamily="34" charset="0"/>
                    <a:ea typeface="Calibri" panose="020F0502020204030204" pitchFamily="34" charset="0"/>
                    <a:cs typeface="Calibri" panose="020F0502020204030204" pitchFamily="34" charset="0"/>
                  </a:rPr>
                  <a:t>Statistical role</a:t>
                </a:r>
                <a:r>
                  <a:rPr lang="en-US" sz="1900" dirty="0">
                    <a:latin typeface="Calibri" panose="020F0502020204030204" pitchFamily="34" charset="0"/>
                    <a:ea typeface="Calibri" panose="020F0502020204030204" pitchFamily="34" charset="0"/>
                    <a:cs typeface="Calibri" panose="020F0502020204030204" pitchFamily="34" charset="0"/>
                  </a:rPr>
                  <a:t>: Drives factor formation – items with high shared variance load strongly onto the same factor</a:t>
                </a:r>
              </a:p>
              <a:p>
                <a:pPr lvl="1"/>
                <a:r>
                  <a:rPr lang="en-US" sz="1900" b="1" dirty="0">
                    <a:latin typeface="Calibri" panose="020F0502020204030204" pitchFamily="34" charset="0"/>
                    <a:ea typeface="Calibri" panose="020F0502020204030204" pitchFamily="34" charset="0"/>
                    <a:cs typeface="Calibri" panose="020F0502020204030204" pitchFamily="34" charset="0"/>
                  </a:rPr>
                  <a:t>Intuition</a:t>
                </a:r>
                <a:r>
                  <a:rPr lang="en-US" sz="1900" dirty="0">
                    <a:latin typeface="Calibri" panose="020F0502020204030204" pitchFamily="34" charset="0"/>
                    <a:ea typeface="Calibri" panose="020F0502020204030204" pitchFamily="34" charset="0"/>
                    <a:cs typeface="Calibri" panose="020F0502020204030204" pitchFamily="34" charset="0"/>
                  </a:rPr>
                  <a:t>: “How much of this variable is explained by the factor?”</a:t>
                </a:r>
              </a:p>
              <a:p>
                <a:pPr lvl="1"/>
                <a:r>
                  <a:rPr lang="en-US" sz="1900" b="1" dirty="0">
                    <a:latin typeface="Calibri" panose="020F0502020204030204" pitchFamily="34" charset="0"/>
                    <a:ea typeface="Calibri" panose="020F0502020204030204" pitchFamily="34" charset="0"/>
                    <a:cs typeface="Calibri" panose="020F0502020204030204" pitchFamily="34" charset="0"/>
                  </a:rPr>
                  <a:t>Example</a:t>
                </a:r>
                <a:r>
                  <a:rPr lang="en-US" sz="1900" dirty="0">
                    <a:latin typeface="Calibri" panose="020F0502020204030204" pitchFamily="34" charset="0"/>
                    <a:ea typeface="Calibri" panose="020F0502020204030204" pitchFamily="34" charset="0"/>
                    <a:cs typeface="Calibri" panose="020F0502020204030204" pitchFamily="34" charset="0"/>
                  </a:rPr>
                  <a:t>: If sadness and tiredness are both related to depression, the overlap in responses reflects common variance</a:t>
                </a:r>
              </a:p>
              <a:p>
                <a:pPr lvl="1"/>
                <a:r>
                  <a:rPr lang="en-US" sz="1900" dirty="0">
                    <a:latin typeface="Calibri" panose="020F0502020204030204" pitchFamily="34" charset="0"/>
                    <a:ea typeface="Calibri" panose="020F0502020204030204" pitchFamily="34" charset="0"/>
                    <a:cs typeface="Calibri" panose="020F0502020204030204" pitchFamily="34" charset="0"/>
                  </a:rPr>
                  <a:t>Unique variance is either specific or error</a:t>
                </a:r>
              </a:p>
              <a:p>
                <a:r>
                  <a:rPr lang="en-US" sz="2200" b="1" dirty="0">
                    <a:latin typeface="Calibri" panose="020F0502020204030204" pitchFamily="34" charset="0"/>
                    <a:ea typeface="Calibri" panose="020F0502020204030204" pitchFamily="34" charset="0"/>
                    <a:cs typeface="Calibri" panose="020F0502020204030204" pitchFamily="34" charset="0"/>
                  </a:rPr>
                  <a:t>Specific variance </a:t>
                </a:r>
                <a:r>
                  <a:rPr lang="en-US" sz="2200" dirty="0">
                    <a:latin typeface="Calibri" panose="020F0502020204030204" pitchFamily="34" charset="0"/>
                    <a:ea typeface="Calibri" panose="020F0502020204030204" pitchFamily="34" charset="0"/>
                    <a:cs typeface="Calibri" panose="020F0502020204030204" pitchFamily="34" charset="0"/>
                  </a:rPr>
                  <a:t>is variance specific to an item or variable</a:t>
                </a:r>
              </a:p>
              <a:p>
                <a:pPr lvl="1"/>
                <a:r>
                  <a:rPr lang="en-US" sz="1900" b="1" dirty="0">
                    <a:latin typeface="Calibri" panose="020F0502020204030204" pitchFamily="34" charset="0"/>
                    <a:ea typeface="Calibri" panose="020F0502020204030204" pitchFamily="34" charset="0"/>
                    <a:cs typeface="Calibri" panose="020F0502020204030204" pitchFamily="34" charset="0"/>
                  </a:rPr>
                  <a:t>Definition</a:t>
                </a:r>
                <a:r>
                  <a:rPr lang="en-US" sz="1900" dirty="0">
                    <a:latin typeface="Calibri" panose="020F0502020204030204" pitchFamily="34" charset="0"/>
                    <a:ea typeface="Calibri" panose="020F0502020204030204" pitchFamily="34" charset="0"/>
                    <a:cs typeface="Calibri" panose="020F0502020204030204" pitchFamily="34" charset="0"/>
                  </a:rPr>
                  <a:t>: Variance that is specific to one variable and not shared with others</a:t>
                </a:r>
              </a:p>
              <a:p>
                <a:pPr lvl="1"/>
                <a:r>
                  <a:rPr lang="en-US" sz="1900" b="1" dirty="0">
                    <a:latin typeface="Calibri" panose="020F0502020204030204" pitchFamily="34" charset="0"/>
                    <a:ea typeface="Calibri" panose="020F0502020204030204" pitchFamily="34" charset="0"/>
                    <a:cs typeface="Calibri" panose="020F0502020204030204" pitchFamily="34" charset="0"/>
                  </a:rPr>
                  <a:t>Statistical</a:t>
                </a:r>
                <a:r>
                  <a:rPr lang="en-US" sz="1900" dirty="0">
                    <a:latin typeface="Calibri" panose="020F0502020204030204" pitchFamily="34" charset="0"/>
                    <a:ea typeface="Calibri" panose="020F0502020204030204" pitchFamily="34" charset="0"/>
                    <a:cs typeface="Calibri" panose="020F0502020204030204" pitchFamily="34" charset="0"/>
                  </a:rPr>
                  <a:t> </a:t>
                </a:r>
                <a:r>
                  <a:rPr lang="en-US" sz="1900" b="1" dirty="0">
                    <a:latin typeface="Calibri" panose="020F0502020204030204" pitchFamily="34" charset="0"/>
                    <a:ea typeface="Calibri" panose="020F0502020204030204" pitchFamily="34" charset="0"/>
                    <a:cs typeface="Calibri" panose="020F0502020204030204" pitchFamily="34" charset="0"/>
                  </a:rPr>
                  <a:t>role</a:t>
                </a:r>
                <a:r>
                  <a:rPr lang="en-US" sz="1900" dirty="0">
                    <a:latin typeface="Calibri" panose="020F0502020204030204" pitchFamily="34" charset="0"/>
                    <a:ea typeface="Calibri" panose="020F0502020204030204" pitchFamily="34" charset="0"/>
                    <a:cs typeface="Calibri" panose="020F0502020204030204" pitchFamily="34" charset="0"/>
                  </a:rPr>
                  <a:t>: Not useful for grouping, but still part of the total variance</a:t>
                </a:r>
              </a:p>
              <a:p>
                <a:pPr lvl="1"/>
                <a:r>
                  <a:rPr lang="en-US" sz="1900" b="1" dirty="0">
                    <a:latin typeface="Calibri" panose="020F0502020204030204" pitchFamily="34" charset="0"/>
                    <a:ea typeface="Calibri" panose="020F0502020204030204" pitchFamily="34" charset="0"/>
                    <a:cs typeface="Calibri" panose="020F0502020204030204" pitchFamily="34" charset="0"/>
                  </a:rPr>
                  <a:t>Intuition</a:t>
                </a:r>
                <a:r>
                  <a:rPr lang="en-US" sz="1900" dirty="0">
                    <a:latin typeface="Calibri" panose="020F0502020204030204" pitchFamily="34" charset="0"/>
                    <a:ea typeface="Calibri" panose="020F0502020204030204" pitchFamily="34" charset="0"/>
                    <a:cs typeface="Calibri" panose="020F0502020204030204" pitchFamily="34" charset="0"/>
                  </a:rPr>
                  <a:t>: This part of the variable stands alone, is not part of the underlying construct</a:t>
                </a:r>
              </a:p>
              <a:p>
                <a:pPr lvl="1"/>
                <a:r>
                  <a:rPr lang="en-US" sz="1900" b="1" dirty="0">
                    <a:latin typeface="Calibri" panose="020F0502020204030204" pitchFamily="34" charset="0"/>
                    <a:ea typeface="Calibri" panose="020F0502020204030204" pitchFamily="34" charset="0"/>
                    <a:cs typeface="Calibri" panose="020F0502020204030204" pitchFamily="34" charset="0"/>
                  </a:rPr>
                  <a:t>Example</a:t>
                </a:r>
                <a:r>
                  <a:rPr lang="en-US" sz="1900" dirty="0">
                    <a:latin typeface="Calibri" panose="020F0502020204030204" pitchFamily="34" charset="0"/>
                    <a:ea typeface="Calibri" panose="020F0502020204030204" pitchFamily="34" charset="0"/>
                    <a:cs typeface="Calibri" panose="020F0502020204030204" pitchFamily="34" charset="0"/>
                  </a:rPr>
                  <a:t>: A sleep item might reflect insomnia unrelated to the latent factor (e.g., depression)</a:t>
                </a:r>
              </a:p>
              <a:p>
                <a:r>
                  <a:rPr lang="en-US" sz="2200" b="1" dirty="0">
                    <a:latin typeface="Calibri" panose="020F0502020204030204" pitchFamily="34" charset="0"/>
                    <a:ea typeface="Calibri" panose="020F0502020204030204" pitchFamily="34" charset="0"/>
                    <a:cs typeface="Calibri" panose="020F0502020204030204" pitchFamily="34" charset="0"/>
                  </a:rPr>
                  <a:t>Error variance</a:t>
                </a:r>
              </a:p>
              <a:p>
                <a:pPr lvl="1"/>
                <a:r>
                  <a:rPr lang="en-US" sz="1900" b="1" dirty="0">
                    <a:latin typeface="Calibri" panose="020F0502020204030204" pitchFamily="34" charset="0"/>
                    <a:ea typeface="Calibri" panose="020F0502020204030204" pitchFamily="34" charset="0"/>
                    <a:cs typeface="Calibri" panose="020F0502020204030204" pitchFamily="34" charset="0"/>
                  </a:rPr>
                  <a:t>Definition</a:t>
                </a:r>
                <a:r>
                  <a:rPr lang="en-US" sz="1900" dirty="0">
                    <a:latin typeface="Calibri" panose="020F0502020204030204" pitchFamily="34" charset="0"/>
                    <a:ea typeface="Calibri" panose="020F0502020204030204" pitchFamily="34" charset="0"/>
                    <a:cs typeface="Calibri" panose="020F0502020204030204" pitchFamily="34" charset="0"/>
                  </a:rPr>
                  <a:t>: Random variance due to measurement error or unreliability</a:t>
                </a:r>
              </a:p>
              <a:p>
                <a:pPr lvl="1"/>
                <a:r>
                  <a:rPr lang="en-US" sz="1900" b="1" dirty="0">
                    <a:latin typeface="Calibri" panose="020F0502020204030204" pitchFamily="34" charset="0"/>
                    <a:ea typeface="Calibri" panose="020F0502020204030204" pitchFamily="34" charset="0"/>
                    <a:cs typeface="Calibri" panose="020F0502020204030204" pitchFamily="34" charset="0"/>
                  </a:rPr>
                  <a:t>Statistical role</a:t>
                </a:r>
                <a:r>
                  <a:rPr lang="en-US" sz="1900" dirty="0">
                    <a:latin typeface="Calibri" panose="020F0502020204030204" pitchFamily="34" charset="0"/>
                    <a:ea typeface="Calibri" panose="020F0502020204030204" pitchFamily="34" charset="0"/>
                    <a:cs typeface="Calibri" panose="020F0502020204030204" pitchFamily="34" charset="0"/>
                  </a:rPr>
                  <a:t>: Unexplained and unpredictable – lowers the reliability of items</a:t>
                </a:r>
              </a:p>
              <a:p>
                <a:pPr lvl="1"/>
                <a:r>
                  <a:rPr lang="en-US" sz="1900" b="1" dirty="0">
                    <a:latin typeface="Calibri" panose="020F0502020204030204" pitchFamily="34" charset="0"/>
                    <a:ea typeface="Calibri" panose="020F0502020204030204" pitchFamily="34" charset="0"/>
                    <a:cs typeface="Calibri" panose="020F0502020204030204" pitchFamily="34" charset="0"/>
                  </a:rPr>
                  <a:t>Intuition</a:t>
                </a:r>
                <a:r>
                  <a:rPr lang="en-US" sz="1900" dirty="0">
                    <a:latin typeface="Calibri" panose="020F0502020204030204" pitchFamily="34" charset="0"/>
                    <a:ea typeface="Calibri" panose="020F0502020204030204" pitchFamily="34" charset="0"/>
                    <a:cs typeface="Calibri" panose="020F0502020204030204" pitchFamily="34" charset="0"/>
                  </a:rPr>
                  <a:t>: “Noise in the data”</a:t>
                </a:r>
              </a:p>
              <a:p>
                <a:pPr lvl="1"/>
                <a:r>
                  <a:rPr lang="en-US" sz="1900" b="1" dirty="0">
                    <a:latin typeface="Calibri" panose="020F0502020204030204" pitchFamily="34" charset="0"/>
                    <a:ea typeface="Calibri" panose="020F0502020204030204" pitchFamily="34" charset="0"/>
                    <a:cs typeface="Calibri" panose="020F0502020204030204" pitchFamily="34" charset="0"/>
                  </a:rPr>
                  <a:t>Example</a:t>
                </a:r>
                <a:r>
                  <a:rPr lang="en-US" sz="1900" dirty="0">
                    <a:latin typeface="Calibri" panose="020F0502020204030204" pitchFamily="34" charset="0"/>
                    <a:ea typeface="Calibri" panose="020F0502020204030204" pitchFamily="34" charset="0"/>
                    <a:cs typeface="Calibri" panose="020F0502020204030204" pitchFamily="34" charset="0"/>
                  </a:rPr>
                  <a:t>: A participant misreads the question or answers randomly</a:t>
                </a:r>
                <a:endParaRPr lang="en-US" sz="1500" b="1" u="sng"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CC9FDB3F-7536-4673-B5A3-9C9569335795}"/>
                  </a:ext>
                </a:extLst>
              </p:cNvPr>
              <p:cNvSpPr>
                <a:spLocks noGrp="1" noRot="1" noChangeAspect="1" noMove="1" noResize="1" noEditPoints="1" noAdjustHandles="1" noChangeArrowheads="1" noChangeShapeType="1" noTextEdit="1"/>
              </p:cNvSpPr>
              <p:nvPr>
                <p:ph idx="1"/>
              </p:nvPr>
            </p:nvSpPr>
            <p:spPr>
              <a:xfrm>
                <a:off x="212451" y="805473"/>
                <a:ext cx="11767098" cy="4656863"/>
              </a:xfrm>
              <a:blipFill>
                <a:blip r:embed="rId3"/>
                <a:stretch>
                  <a:fillRect l="-466" t="-2356"/>
                </a:stretch>
              </a:blipFill>
            </p:spPr>
            <p:txBody>
              <a:bodyPr/>
              <a:lstStyle/>
              <a:p>
                <a:r>
                  <a:rPr lang="en-US">
                    <a:noFill/>
                  </a:rPr>
                  <a:t> </a:t>
                </a:r>
              </a:p>
            </p:txBody>
          </p:sp>
        </mc:Fallback>
      </mc:AlternateContent>
    </p:spTree>
    <p:extLst>
      <p:ext uri="{BB962C8B-B14F-4D97-AF65-F5344CB8AC3E}">
        <p14:creationId xmlns:p14="http://schemas.microsoft.com/office/powerpoint/2010/main" val="2265154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anim calcmode="lin" valueType="num">
                                      <p:cBhvr additive="base">
                                        <p:cTn id="2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 calcmode="lin" valueType="num">
                                      <p:cBhvr additive="base">
                                        <p:cTn id="3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 calcmode="lin" valueType="num">
                                      <p:cBhvr additive="base">
                                        <p:cTn id="4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 calcmode="lin" valueType="num">
                                      <p:cBhvr additive="base">
                                        <p:cTn id="5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 calcmode="lin" valueType="num">
                                      <p:cBhvr additive="base">
                                        <p:cTn id="55"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
                                            <p:txEl>
                                              <p:pRg st="15" end="15"/>
                                            </p:txEl>
                                          </p:spTgt>
                                        </p:tgtEl>
                                        <p:attrNameLst>
                                          <p:attrName>style.visibility</p:attrName>
                                        </p:attrNameLst>
                                      </p:cBhvr>
                                      <p:to>
                                        <p:strVal val="visible"/>
                                      </p:to>
                                    </p:set>
                                    <p:anim calcmode="lin" valueType="num">
                                      <p:cBhvr additive="base">
                                        <p:cTn id="59"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503" y="207470"/>
            <a:ext cx="10515600" cy="727951"/>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Selecting the factor extraction method</a:t>
            </a:r>
          </a:p>
        </p:txBody>
      </p:sp>
      <p:sp>
        <p:nvSpPr>
          <p:cNvPr id="3" name="Content Placeholder 2"/>
          <p:cNvSpPr>
            <a:spLocks noGrp="1"/>
          </p:cNvSpPr>
          <p:nvPr>
            <p:ph idx="1"/>
          </p:nvPr>
        </p:nvSpPr>
        <p:spPr>
          <a:xfrm>
            <a:off x="371478" y="861256"/>
            <a:ext cx="11616993" cy="4616450"/>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Partitioning the Variance</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Common variance</a:t>
            </a:r>
          </a:p>
          <a:p>
            <a:pPr marL="1255712" lvl="2" indent="-342900"/>
            <a:r>
              <a:rPr lang="en-US" dirty="0">
                <a:latin typeface="Calibri" panose="020F0502020204030204" pitchFamily="34" charset="0"/>
                <a:ea typeface="Calibri" panose="020F0502020204030204" pitchFamily="34" charset="0"/>
                <a:cs typeface="Calibri" panose="020F0502020204030204" pitchFamily="34" charset="0"/>
              </a:rPr>
              <a:t>Variable </a:t>
            </a:r>
            <a:r>
              <a:rPr lang="en-US" b="1" i="1" dirty="0">
                <a:latin typeface="Calibri" panose="020F0502020204030204" pitchFamily="34" charset="0"/>
                <a:ea typeface="Calibri" panose="020F0502020204030204" pitchFamily="34" charset="0"/>
                <a:cs typeface="Calibri" panose="020F0502020204030204" pitchFamily="34" charset="0"/>
              </a:rPr>
              <a:t>communality</a:t>
            </a:r>
            <a:r>
              <a:rPr lang="en-US" dirty="0">
                <a:latin typeface="Calibri" panose="020F0502020204030204" pitchFamily="34" charset="0"/>
                <a:ea typeface="Calibri" panose="020F0502020204030204" pitchFamily="34" charset="0"/>
                <a:cs typeface="Calibri" panose="020F0502020204030204" pitchFamily="34" charset="0"/>
              </a:rPr>
              <a:t> is the estimate of its shared, or common, variance among the variables as represented by the derived factors.</a:t>
            </a:r>
          </a:p>
          <a:p>
            <a:pPr marL="1255712" lvl="2" indent="-342900"/>
            <a:r>
              <a:rPr lang="en-US" dirty="0">
                <a:latin typeface="Calibri" panose="020F0502020204030204" pitchFamily="34" charset="0"/>
                <a:ea typeface="Calibri" panose="020F0502020204030204" pitchFamily="34" charset="0"/>
                <a:cs typeface="Calibri" panose="020F0502020204030204" pitchFamily="34" charset="0"/>
              </a:rPr>
              <a:t>Variance of a variable that is shared with all other variables in the analysis. </a:t>
            </a:r>
          </a:p>
          <a:p>
            <a:pPr marL="1255712" lvl="2" indent="-342900"/>
            <a:r>
              <a:rPr lang="en-US" dirty="0">
                <a:latin typeface="Calibri" panose="020F0502020204030204" pitchFamily="34" charset="0"/>
                <a:ea typeface="Calibri" panose="020F0502020204030204" pitchFamily="34" charset="0"/>
                <a:cs typeface="Calibri" panose="020F0502020204030204" pitchFamily="34" charset="0"/>
              </a:rPr>
              <a:t>Results from the variable’s correlations with all other variables in the analysis.</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Unique variance </a:t>
            </a:r>
            <a:r>
              <a:rPr lang="en-US" sz="2000" dirty="0">
                <a:latin typeface="Calibri" panose="020F0502020204030204" pitchFamily="34" charset="0"/>
                <a:ea typeface="Calibri" panose="020F0502020204030204" pitchFamily="34" charset="0"/>
                <a:cs typeface="Calibri" panose="020F0502020204030204" pitchFamily="34" charset="0"/>
              </a:rPr>
              <a:t>– composed of </a:t>
            </a:r>
            <a:r>
              <a:rPr lang="en-US" sz="2000" u="sng" dirty="0">
                <a:latin typeface="Calibri" panose="020F0502020204030204" pitchFamily="34" charset="0"/>
                <a:ea typeface="Calibri" panose="020F0502020204030204" pitchFamily="34" charset="0"/>
                <a:cs typeface="Calibri" panose="020F0502020204030204" pitchFamily="34" charset="0"/>
              </a:rPr>
              <a:t>Specific</a:t>
            </a:r>
            <a:r>
              <a:rPr lang="en-US" sz="2000" dirty="0">
                <a:latin typeface="Calibri" panose="020F0502020204030204" pitchFamily="34" charset="0"/>
                <a:ea typeface="Calibri" panose="020F0502020204030204" pitchFamily="34" charset="0"/>
                <a:cs typeface="Calibri" panose="020F0502020204030204" pitchFamily="34" charset="0"/>
              </a:rPr>
              <a:t> and </a:t>
            </a:r>
            <a:r>
              <a:rPr lang="en-US" sz="2000" u="sng" dirty="0">
                <a:latin typeface="Calibri" panose="020F0502020204030204" pitchFamily="34" charset="0"/>
                <a:ea typeface="Calibri" panose="020F0502020204030204" pitchFamily="34" charset="0"/>
                <a:cs typeface="Calibri" panose="020F0502020204030204" pitchFamily="34" charset="0"/>
              </a:rPr>
              <a:t>Error variance</a:t>
            </a:r>
          </a:p>
          <a:p>
            <a:pPr marL="1255712" lvl="2" indent="-342900"/>
            <a:r>
              <a:rPr lang="en-US" i="1" dirty="0">
                <a:latin typeface="Calibri" panose="020F0502020204030204" pitchFamily="34" charset="0"/>
                <a:ea typeface="Calibri" panose="020F0502020204030204" pitchFamily="34" charset="0"/>
                <a:cs typeface="Calibri" panose="020F0502020204030204" pitchFamily="34" charset="0"/>
              </a:rPr>
              <a:t>Specific variance </a:t>
            </a:r>
            <a:r>
              <a:rPr lang="en-US" dirty="0">
                <a:latin typeface="Calibri" panose="020F0502020204030204" pitchFamily="34" charset="0"/>
                <a:ea typeface="Calibri" panose="020F0502020204030204" pitchFamily="34" charset="0"/>
                <a:cs typeface="Calibri" panose="020F0502020204030204" pitchFamily="34" charset="0"/>
              </a:rPr>
              <a:t>– cannot be explained by the correlations to the other variables but reflects the unique characteristics of that variable apart from the </a:t>
            </a:r>
            <a:r>
              <a:rPr lang="en-US" b="1" u="sng" dirty="0">
                <a:latin typeface="Calibri" panose="020F0502020204030204" pitchFamily="34" charset="0"/>
                <a:ea typeface="Calibri" panose="020F0502020204030204" pitchFamily="34" charset="0"/>
                <a:cs typeface="Calibri" panose="020F0502020204030204" pitchFamily="34" charset="0"/>
              </a:rPr>
              <a:t>other variables in the analysis</a:t>
            </a:r>
            <a:r>
              <a:rPr lang="en-US" dirty="0">
                <a:latin typeface="Calibri" panose="020F0502020204030204" pitchFamily="34" charset="0"/>
                <a:ea typeface="Calibri" panose="020F0502020204030204" pitchFamily="34" charset="0"/>
                <a:cs typeface="Calibri" panose="020F0502020204030204" pitchFamily="34" charset="0"/>
              </a:rPr>
              <a:t>.</a:t>
            </a:r>
          </a:p>
          <a:p>
            <a:pPr marL="1255712" lvl="2" indent="-342900"/>
            <a:r>
              <a:rPr lang="en-US" i="1" dirty="0">
                <a:latin typeface="Calibri" panose="020F0502020204030204" pitchFamily="34" charset="0"/>
                <a:ea typeface="Calibri" panose="020F0502020204030204" pitchFamily="34" charset="0"/>
                <a:cs typeface="Calibri" panose="020F0502020204030204" pitchFamily="34" charset="0"/>
              </a:rPr>
              <a:t>Error variance </a:t>
            </a:r>
            <a:r>
              <a:rPr lang="en-US" dirty="0">
                <a:latin typeface="Calibri" panose="020F0502020204030204" pitchFamily="34" charset="0"/>
                <a:ea typeface="Calibri" panose="020F0502020204030204" pitchFamily="34" charset="0"/>
                <a:cs typeface="Calibri" panose="020F0502020204030204" pitchFamily="34" charset="0"/>
              </a:rPr>
              <a:t>– due to unreliability in the data-gathering process, measurement error, or a random component in the measured phenomenon.</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35</a:t>
            </a:fld>
            <a:endParaRPr lang="en-US" dirty="0"/>
          </a:p>
        </p:txBody>
      </p:sp>
      <p:sp>
        <p:nvSpPr>
          <p:cNvPr id="6" name="Footer Placeholder 3">
            <a:extLst>
              <a:ext uri="{FF2B5EF4-FFF2-40B4-BE49-F238E27FC236}">
                <a16:creationId xmlns:a16="http://schemas.microsoft.com/office/drawing/2014/main" id="{575BA17F-D066-4ACC-B018-0E94C3F1F3A3}"/>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856455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073" y="303763"/>
            <a:ext cx="10515600" cy="754548"/>
          </a:xfrm>
        </p:spPr>
        <p:txBody>
          <a:bodyPr/>
          <a:lstStyle/>
          <a:p>
            <a:r>
              <a:rPr lang="en-US" dirty="0"/>
              <a:t>How do they differ?</a:t>
            </a:r>
          </a:p>
        </p:txBody>
      </p:sp>
      <p:sp>
        <p:nvSpPr>
          <p:cNvPr id="3" name="Content Placeholder 2"/>
          <p:cNvSpPr>
            <a:spLocks noGrp="1"/>
          </p:cNvSpPr>
          <p:nvPr>
            <p:ph idx="1"/>
          </p:nvPr>
        </p:nvSpPr>
        <p:spPr>
          <a:xfrm>
            <a:off x="343678" y="976540"/>
            <a:ext cx="10515600" cy="4351338"/>
          </a:xfrm>
        </p:spPr>
        <p:txBody>
          <a:bodyPr/>
          <a:lstStyle/>
          <a:p>
            <a:pPr marL="0" indent="0" algn="ctr">
              <a:buNone/>
            </a:pPr>
            <a:r>
              <a:rPr lang="en-US" b="1" dirty="0"/>
              <a:t>Extraction Method Determines the Types of Variance </a:t>
            </a:r>
          </a:p>
          <a:p>
            <a:pPr marL="0" indent="0" algn="ctr">
              <a:buNone/>
            </a:pPr>
            <a:r>
              <a:rPr lang="en-US" b="1" dirty="0"/>
              <a:t>Carried into the Factor Matrix</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36</a:t>
            </a:fld>
            <a:endParaRPr lang="en-US" dirty="0"/>
          </a:p>
        </p:txBody>
      </p:sp>
      <p:pic>
        <p:nvPicPr>
          <p:cNvPr id="6" name="Picture 5"/>
          <p:cNvPicPr>
            <a:picLocks noChangeAspect="1"/>
          </p:cNvPicPr>
          <p:nvPr/>
        </p:nvPicPr>
        <p:blipFill>
          <a:blip r:embed="rId3"/>
          <a:stretch>
            <a:fillRect/>
          </a:stretch>
        </p:blipFill>
        <p:spPr>
          <a:xfrm>
            <a:off x="1433432" y="2074311"/>
            <a:ext cx="8336092" cy="3685430"/>
          </a:xfrm>
          <a:prstGeom prst="rect">
            <a:avLst/>
          </a:prstGeom>
          <a:ln w="25400">
            <a:solidFill>
              <a:srgbClr val="00279F"/>
            </a:solidFill>
          </a:ln>
        </p:spPr>
      </p:pic>
      <p:sp>
        <p:nvSpPr>
          <p:cNvPr id="7" name="Footer Placeholder 3">
            <a:extLst>
              <a:ext uri="{FF2B5EF4-FFF2-40B4-BE49-F238E27FC236}">
                <a16:creationId xmlns:a16="http://schemas.microsoft.com/office/drawing/2014/main" id="{3BEF93BF-82EB-4CF8-B85D-27051E71E41B}"/>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950324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36AC-0E38-8A5C-B074-FCD19E5A84CF}"/>
              </a:ext>
            </a:extLst>
          </p:cNvPr>
          <p:cNvSpPr>
            <a:spLocks noGrp="1"/>
          </p:cNvSpPr>
          <p:nvPr>
            <p:ph type="title"/>
          </p:nvPr>
        </p:nvSpPr>
        <p:spPr>
          <a:xfrm>
            <a:off x="101707" y="92593"/>
            <a:ext cx="7712099" cy="706173"/>
          </a:xfrm>
        </p:spPr>
        <p:txBody>
          <a:bodyPr>
            <a:normAutofit/>
          </a:bodyPr>
          <a:lstStyle/>
          <a:p>
            <a:r>
              <a:rPr lang="en-US" sz="3500" dirty="0"/>
              <a:t>Partitioning the variance in factor analysis</a:t>
            </a:r>
          </a:p>
        </p:txBody>
      </p:sp>
      <p:sp>
        <p:nvSpPr>
          <p:cNvPr id="3" name="Content Placeholder 2">
            <a:extLst>
              <a:ext uri="{FF2B5EF4-FFF2-40B4-BE49-F238E27FC236}">
                <a16:creationId xmlns:a16="http://schemas.microsoft.com/office/drawing/2014/main" id="{FADEA9B7-3CBC-6B49-DB64-B1094615DD70}"/>
              </a:ext>
            </a:extLst>
          </p:cNvPr>
          <p:cNvSpPr>
            <a:spLocks noGrp="1"/>
          </p:cNvSpPr>
          <p:nvPr>
            <p:ph idx="1"/>
          </p:nvPr>
        </p:nvSpPr>
        <p:spPr>
          <a:xfrm>
            <a:off x="302234" y="704196"/>
            <a:ext cx="4429615" cy="3931920"/>
          </a:xfrm>
        </p:spPr>
        <p:txBody>
          <a:bodyPr>
            <a:normAutofit/>
          </a:bodyPr>
          <a:lstStyle/>
          <a:p>
            <a:r>
              <a:rPr lang="en-US" sz="2000" i="0" dirty="0">
                <a:effectLst/>
                <a:latin typeface="Calibri" panose="020F0502020204030204" pitchFamily="34" charset="0"/>
                <a:ea typeface="Calibri" panose="020F0502020204030204" pitchFamily="34" charset="0"/>
                <a:cs typeface="Calibri" panose="020F0502020204030204" pitchFamily="34" charset="0"/>
              </a:rPr>
              <a:t>Common variance is the amount of variance that is shared among </a:t>
            </a:r>
            <a:r>
              <a:rPr lang="en-US" sz="2000" dirty="0">
                <a:latin typeface="Calibri" panose="020F0502020204030204" pitchFamily="34" charset="0"/>
                <a:ea typeface="Calibri" panose="020F0502020204030204" pitchFamily="34" charset="0"/>
                <a:cs typeface="Calibri" panose="020F0502020204030204" pitchFamily="34" charset="0"/>
              </a:rPr>
              <a:t>the variables</a:t>
            </a:r>
            <a:endParaRPr lang="en-US" sz="2000" i="0" dirty="0">
              <a:effectLst/>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Unique variance is the portion of variance that is not common</a:t>
            </a:r>
          </a:p>
          <a:p>
            <a:pPr lvl="1"/>
            <a:r>
              <a:rPr lang="en-US" sz="1800" dirty="0">
                <a:latin typeface="Calibri" panose="020F0502020204030204" pitchFamily="34" charset="0"/>
                <a:ea typeface="Calibri" panose="020F0502020204030204" pitchFamily="34" charset="0"/>
                <a:cs typeface="Calibri" panose="020F0502020204030204" pitchFamily="34" charset="0"/>
              </a:rPr>
              <a:t>Specific</a:t>
            </a:r>
          </a:p>
          <a:p>
            <a:pPr lvl="1"/>
            <a:r>
              <a:rPr lang="en-US" sz="1800" dirty="0">
                <a:latin typeface="Calibri" panose="020F0502020204030204" pitchFamily="34" charset="0"/>
                <a:ea typeface="Calibri" panose="020F0502020204030204" pitchFamily="34" charset="0"/>
                <a:cs typeface="Calibri" panose="020F0502020204030204" pitchFamily="34" charset="0"/>
              </a:rPr>
              <a:t>Error</a:t>
            </a:r>
          </a:p>
          <a:p>
            <a:r>
              <a:rPr lang="en-US" sz="2000" dirty="0">
                <a:latin typeface="Calibri" panose="020F0502020204030204" pitchFamily="34" charset="0"/>
                <a:ea typeface="Calibri" panose="020F0502020204030204" pitchFamily="34" charset="0"/>
                <a:cs typeface="Calibri" panose="020F0502020204030204" pitchFamily="34" charset="0"/>
              </a:rPr>
              <a:t>Total variance = common + unique</a:t>
            </a:r>
          </a:p>
          <a:p>
            <a:r>
              <a:rPr lang="en-US" sz="2000" dirty="0">
                <a:latin typeface="Calibri" panose="020F0502020204030204" pitchFamily="34" charset="0"/>
                <a:ea typeface="Calibri" panose="020F0502020204030204" pitchFamily="34" charset="0"/>
                <a:cs typeface="Calibri" panose="020F0502020204030204" pitchFamily="34" charset="0"/>
              </a:rPr>
              <a:t>You want </a:t>
            </a:r>
            <a:r>
              <a:rPr lang="en-US" sz="2000" b="1" u="sng" dirty="0">
                <a:latin typeface="Calibri" panose="020F0502020204030204" pitchFamily="34" charset="0"/>
                <a:ea typeface="Calibri" panose="020F0502020204030204" pitchFamily="34" charset="0"/>
                <a:cs typeface="Calibri" panose="020F0502020204030204" pitchFamily="34" charset="0"/>
              </a:rPr>
              <a:t>communality to be high and uniqueness to be low</a:t>
            </a:r>
          </a:p>
        </p:txBody>
      </p:sp>
      <p:pic>
        <p:nvPicPr>
          <p:cNvPr id="5" name="Picture 2">
            <a:extLst>
              <a:ext uri="{FF2B5EF4-FFF2-40B4-BE49-F238E27FC236}">
                <a16:creationId xmlns:a16="http://schemas.microsoft.com/office/drawing/2014/main" id="{DA6B96F8-663F-97BA-22B4-68645BBB8F8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233"/>
          <a:stretch/>
        </p:blipFill>
        <p:spPr bwMode="auto">
          <a:xfrm>
            <a:off x="5756440" y="704196"/>
            <a:ext cx="5006741" cy="26188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8A5AD7A-AA74-D9E3-A33F-A7ADE8B9817D}"/>
              </a:ext>
            </a:extLst>
          </p:cNvPr>
          <p:cNvSpPr txBox="1"/>
          <p:nvPr/>
        </p:nvSpPr>
        <p:spPr>
          <a:xfrm>
            <a:off x="5756440" y="3043862"/>
            <a:ext cx="4843136" cy="1200329"/>
          </a:xfrm>
          <a:prstGeom prst="rect">
            <a:avLst/>
          </a:prstGeom>
          <a:noFill/>
        </p:spPr>
        <p:txBody>
          <a:bodyPr wrap="square" rtlCol="0">
            <a:spAutoFit/>
          </a:bodyPr>
          <a:lstStyle/>
          <a:p>
            <a:r>
              <a:rPr lang="en-US" dirty="0"/>
              <a:t>Ranges from 0 to 1</a:t>
            </a:r>
          </a:p>
          <a:p>
            <a:r>
              <a:rPr lang="en-US" dirty="0"/>
              <a:t>Higher values = the common factor</a:t>
            </a:r>
          </a:p>
          <a:p>
            <a:r>
              <a:rPr lang="en-US" dirty="0">
                <a:latin typeface="Calibri" panose="020F0502020204030204" pitchFamily="34" charset="0"/>
                <a:ea typeface="Calibri" panose="020F0502020204030204" pitchFamily="34" charset="0"/>
                <a:cs typeface="Calibri" panose="020F0502020204030204" pitchFamily="34" charset="0"/>
              </a:rPr>
              <a:t>explain more of the variance of an individual</a:t>
            </a:r>
          </a:p>
          <a:p>
            <a:r>
              <a:rPr lang="en-US" dirty="0"/>
              <a:t>item</a:t>
            </a:r>
          </a:p>
        </p:txBody>
      </p:sp>
    </p:spTree>
    <p:extLst>
      <p:ext uri="{BB962C8B-B14F-4D97-AF65-F5344CB8AC3E}">
        <p14:creationId xmlns:p14="http://schemas.microsoft.com/office/powerpoint/2010/main" val="938166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FE-96CC-5C0A-B235-88B5824F807D}"/>
              </a:ext>
            </a:extLst>
          </p:cNvPr>
          <p:cNvSpPr>
            <a:spLocks noGrp="1"/>
          </p:cNvSpPr>
          <p:nvPr>
            <p:ph type="title"/>
          </p:nvPr>
        </p:nvSpPr>
        <p:spPr>
          <a:xfrm>
            <a:off x="108285" y="84389"/>
            <a:ext cx="10515600" cy="693654"/>
          </a:xfrm>
        </p:spPr>
        <p:txBody>
          <a:bodyPr>
            <a:normAutofit fontScale="90000"/>
          </a:bodyPr>
          <a:lstStyle/>
          <a:p>
            <a:r>
              <a:rPr lang="en-US" dirty="0"/>
              <a:t>Important concepts</a:t>
            </a:r>
          </a:p>
        </p:txBody>
      </p:sp>
      <p:sp>
        <p:nvSpPr>
          <p:cNvPr id="3" name="Content Placeholder 2">
            <a:extLst>
              <a:ext uri="{FF2B5EF4-FFF2-40B4-BE49-F238E27FC236}">
                <a16:creationId xmlns:a16="http://schemas.microsoft.com/office/drawing/2014/main" id="{35A4D951-EBE4-5877-A68C-657AFA1A4371}"/>
              </a:ext>
            </a:extLst>
          </p:cNvPr>
          <p:cNvSpPr>
            <a:spLocks noGrp="1"/>
          </p:cNvSpPr>
          <p:nvPr>
            <p:ph idx="1"/>
          </p:nvPr>
        </p:nvSpPr>
        <p:spPr>
          <a:xfrm>
            <a:off x="236620" y="702677"/>
            <a:ext cx="11540851"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Factor loadings</a:t>
            </a:r>
          </a:p>
          <a:p>
            <a:pPr lvl="1"/>
            <a:r>
              <a:rPr lang="en-US" sz="1800" dirty="0">
                <a:latin typeface="Calibri" panose="020F0502020204030204" pitchFamily="34" charset="0"/>
                <a:ea typeface="Calibri" panose="020F0502020204030204" pitchFamily="34" charset="0"/>
                <a:cs typeface="Calibri" panose="020F0502020204030204" pitchFamily="34" charset="0"/>
              </a:rPr>
              <a:t>Correlation between a variable and a factor (How high is the correlation between two variables?)</a:t>
            </a:r>
          </a:p>
          <a:p>
            <a:pPr lvl="1"/>
            <a:r>
              <a:rPr lang="en-US" sz="1800" dirty="0">
                <a:latin typeface="Calibri" panose="020F0502020204030204" pitchFamily="34" charset="0"/>
                <a:ea typeface="Calibri" panose="020F0502020204030204" pitchFamily="34" charset="0"/>
                <a:cs typeface="Calibri" panose="020F0502020204030204" pitchFamily="34" charset="0"/>
              </a:rPr>
              <a:t>Loading a variable to a factor</a:t>
            </a:r>
          </a:p>
          <a:p>
            <a:r>
              <a:rPr lang="en-US" sz="2000" b="1" dirty="0">
                <a:latin typeface="Calibri" panose="020F0502020204030204" pitchFamily="34" charset="0"/>
                <a:ea typeface="Calibri" panose="020F0502020204030204" pitchFamily="34" charset="0"/>
                <a:cs typeface="Calibri" panose="020F0502020204030204" pitchFamily="34" charset="0"/>
              </a:rPr>
              <a:t>Eigenvalue</a:t>
            </a:r>
          </a:p>
          <a:p>
            <a:pPr lvl="1"/>
            <a:r>
              <a:rPr lang="en-US" sz="1800" dirty="0">
                <a:latin typeface="Calibri" panose="020F0502020204030204" pitchFamily="34" charset="0"/>
                <a:ea typeface="Calibri" panose="020F0502020204030204" pitchFamily="34" charset="0"/>
                <a:cs typeface="Calibri" panose="020F0502020204030204" pitchFamily="34" charset="0"/>
              </a:rPr>
              <a:t>The variance explained by a factor (How much variance can be explained by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Sum of the squared factor charges</a:t>
            </a:r>
          </a:p>
          <a:p>
            <a:r>
              <a:rPr lang="en-US" sz="2000" b="1" dirty="0">
                <a:latin typeface="Calibri" panose="020F0502020204030204" pitchFamily="34" charset="0"/>
                <a:ea typeface="Calibri" panose="020F0502020204030204" pitchFamily="34" charset="0"/>
                <a:cs typeface="Calibri" panose="020F0502020204030204" pitchFamily="34" charset="0"/>
              </a:rPr>
              <a:t>Communalities</a:t>
            </a:r>
          </a:p>
          <a:p>
            <a:pPr lvl="1"/>
            <a:r>
              <a:rPr lang="en-US" sz="1800" dirty="0">
                <a:latin typeface="Calibri" panose="020F0502020204030204" pitchFamily="34" charset="0"/>
                <a:ea typeface="Calibri" panose="020F0502020204030204" pitchFamily="34" charset="0"/>
                <a:cs typeface="Calibri" panose="020F0502020204030204" pitchFamily="34" charset="0"/>
              </a:rPr>
              <a:t>Variance of the variables, which is explained by all factors (How much of the variance of all variables is explained by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Sum of the squared factor charges of a variable</a:t>
            </a:r>
          </a:p>
          <a:p>
            <a:endParaRPr lang="en-US" dirty="0"/>
          </a:p>
        </p:txBody>
      </p:sp>
    </p:spTree>
    <p:extLst>
      <p:ext uri="{BB962C8B-B14F-4D97-AF65-F5344CB8AC3E}">
        <p14:creationId xmlns:p14="http://schemas.microsoft.com/office/powerpoint/2010/main" val="1791717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19D-5D72-6E92-5B4B-A57A05BFB9E7}"/>
              </a:ext>
            </a:extLst>
          </p:cNvPr>
          <p:cNvSpPr>
            <a:spLocks noGrp="1"/>
          </p:cNvSpPr>
          <p:nvPr>
            <p:ph type="title"/>
          </p:nvPr>
        </p:nvSpPr>
        <p:spPr>
          <a:xfrm>
            <a:off x="182418" y="198871"/>
            <a:ext cx="10515600" cy="613930"/>
          </a:xfrm>
        </p:spPr>
        <p:txBody>
          <a:bodyPr>
            <a:normAutofit fontScale="90000"/>
          </a:bodyPr>
          <a:lstStyle/>
          <a:p>
            <a:r>
              <a:rPr lang="en-US" sz="4000" dirty="0">
                <a:latin typeface="Calibri" panose="020F0502020204030204" pitchFamily="34" charset="0"/>
                <a:ea typeface="Calibri" panose="020F0502020204030204" pitchFamily="34" charset="0"/>
                <a:cs typeface="Calibri" panose="020F0502020204030204" pitchFamily="34" charset="0"/>
              </a:rPr>
              <a:t>Communalities</a:t>
            </a:r>
          </a:p>
        </p:txBody>
      </p:sp>
      <p:sp>
        <p:nvSpPr>
          <p:cNvPr id="3" name="Content Placeholder 2">
            <a:extLst>
              <a:ext uri="{FF2B5EF4-FFF2-40B4-BE49-F238E27FC236}">
                <a16:creationId xmlns:a16="http://schemas.microsoft.com/office/drawing/2014/main" id="{8EA4F39E-FE25-7940-FAE3-118900D14462}"/>
              </a:ext>
            </a:extLst>
          </p:cNvPr>
          <p:cNvSpPr>
            <a:spLocks noGrp="1"/>
          </p:cNvSpPr>
          <p:nvPr>
            <p:ph idx="1"/>
          </p:nvPr>
        </p:nvSpPr>
        <p:spPr>
          <a:xfrm>
            <a:off x="274782" y="812801"/>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These tell us how much of a variable’s variance is explained by all the factors combined</a:t>
            </a:r>
          </a:p>
          <a:p>
            <a:r>
              <a:rPr lang="en-US" sz="2000" dirty="0">
                <a:latin typeface="Calibri" panose="020F0502020204030204" pitchFamily="34" charset="0"/>
                <a:ea typeface="Calibri" panose="020F0502020204030204" pitchFamily="34" charset="0"/>
                <a:cs typeface="Calibri" panose="020F0502020204030204" pitchFamily="34" charset="0"/>
              </a:rPr>
              <a:t>It is calculated as the sum of squared loadings for that variable across all extracted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Intuition: </a:t>
            </a:r>
            <a:r>
              <a:rPr lang="en-US" sz="1800" i="1" dirty="0">
                <a:latin typeface="Calibri" panose="020F0502020204030204" pitchFamily="34" charset="0"/>
                <a:ea typeface="Calibri" panose="020F0502020204030204" pitchFamily="34" charset="0"/>
                <a:cs typeface="Calibri" panose="020F0502020204030204" pitchFamily="34" charset="0"/>
              </a:rPr>
              <a:t>How much of this variable are we actually capturing through our factor model?</a:t>
            </a:r>
          </a:p>
          <a:p>
            <a:r>
              <a:rPr lang="en-US" sz="2000" b="1" dirty="0">
                <a:latin typeface="Calibri" panose="020F0502020204030204" pitchFamily="34" charset="0"/>
                <a:ea typeface="Calibri" panose="020F0502020204030204" pitchFamily="34" charset="0"/>
                <a:cs typeface="Calibri" panose="020F0502020204030204" pitchFamily="34" charset="0"/>
              </a:rPr>
              <a:t>Example</a:t>
            </a:r>
            <a:r>
              <a:rPr lang="en-US" sz="2000" dirty="0">
                <a:latin typeface="Calibri" panose="020F0502020204030204" pitchFamily="34" charset="0"/>
                <a:ea typeface="Calibri" panose="020F0502020204030204" pitchFamily="34" charset="0"/>
                <a:cs typeface="Calibri" panose="020F0502020204030204" pitchFamily="34" charset="0"/>
              </a:rPr>
              <a:t>: Let’s say you have a variable that measures “trouble sleeping”—and it loads .60 on Factor 1 (e.g., Depression) and .30 on Factor 2 (e.g., Anxiety)</a:t>
            </a:r>
          </a:p>
          <a:p>
            <a:pPr lvl="1"/>
            <a:r>
              <a:rPr lang="en-US" sz="1800" dirty="0">
                <a:latin typeface="Calibri" panose="020F0502020204030204" pitchFamily="34" charset="0"/>
                <a:ea typeface="Calibri" panose="020F0502020204030204" pitchFamily="34" charset="0"/>
                <a:cs typeface="Calibri" panose="020F0502020204030204" pitchFamily="34" charset="0"/>
              </a:rPr>
              <a:t>To calculate the communality for that variable: </a:t>
            </a:r>
          </a:p>
          <a:p>
            <a:pPr marL="457200" lvl="1" indent="0">
              <a:buNone/>
            </a:pPr>
            <a:r>
              <a:rPr lang="en-US" sz="1800" dirty="0">
                <a:latin typeface="Calibri" panose="020F0502020204030204" pitchFamily="34" charset="0"/>
                <a:ea typeface="Calibri" panose="020F0502020204030204" pitchFamily="34" charset="0"/>
                <a:cs typeface="Calibri" panose="020F0502020204030204" pitchFamily="34" charset="0"/>
              </a:rPr>
              <a:t>     (.60)</a:t>
            </a:r>
            <a:r>
              <a:rPr lang="en-US" sz="1800" baseline="30000" dirty="0">
                <a:latin typeface="Calibri" panose="020F0502020204030204" pitchFamily="34" charset="0"/>
                <a:ea typeface="Calibri" panose="020F0502020204030204" pitchFamily="34" charset="0"/>
                <a:cs typeface="Calibri" panose="020F0502020204030204" pitchFamily="34" charset="0"/>
              </a:rPr>
              <a:t>2 </a:t>
            </a:r>
            <a:r>
              <a:rPr lang="en-US" sz="1800" dirty="0">
                <a:latin typeface="Calibri" panose="020F0502020204030204" pitchFamily="34" charset="0"/>
                <a:ea typeface="Calibri" panose="020F0502020204030204" pitchFamily="34" charset="0"/>
                <a:cs typeface="Calibri" panose="020F0502020204030204" pitchFamily="34" charset="0"/>
              </a:rPr>
              <a:t>+ (.30)</a:t>
            </a:r>
            <a:r>
              <a:rPr lang="en-US" sz="1800" baseline="30000" dirty="0">
                <a:latin typeface="Calibri" panose="020F0502020204030204" pitchFamily="34" charset="0"/>
                <a:ea typeface="Calibri" panose="020F0502020204030204" pitchFamily="34" charset="0"/>
                <a:cs typeface="Calibri" panose="020F0502020204030204" pitchFamily="34" charset="0"/>
              </a:rPr>
              <a:t>2</a:t>
            </a:r>
            <a:r>
              <a:rPr lang="en-US" sz="1800" dirty="0">
                <a:latin typeface="Calibri" panose="020F0502020204030204" pitchFamily="34" charset="0"/>
                <a:ea typeface="Calibri" panose="020F0502020204030204" pitchFamily="34" charset="0"/>
                <a:cs typeface="Calibri" panose="020F0502020204030204" pitchFamily="34" charset="0"/>
              </a:rPr>
              <a:t> = 0.36 + 0.09 = 0.45</a:t>
            </a:r>
          </a:p>
          <a:p>
            <a:pPr lvl="1"/>
            <a:r>
              <a:rPr lang="en-US" sz="1800" dirty="0">
                <a:latin typeface="Calibri" panose="020F0502020204030204" pitchFamily="34" charset="0"/>
                <a:ea typeface="Calibri" panose="020F0502020204030204" pitchFamily="34" charset="0"/>
                <a:cs typeface="Calibri" panose="020F0502020204030204" pitchFamily="34" charset="0"/>
              </a:rPr>
              <a:t>That means 45% of the variance in the trouble sleeping variable is explained by the two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The remaining 55% is either unique to that item or just noise</a:t>
            </a:r>
          </a:p>
        </p:txBody>
      </p:sp>
    </p:spTree>
    <p:extLst>
      <p:ext uri="{BB962C8B-B14F-4D97-AF65-F5344CB8AC3E}">
        <p14:creationId xmlns:p14="http://schemas.microsoft.com/office/powerpoint/2010/main" val="4156496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41063-8589-FEAD-A000-7EC944205E3E}"/>
              </a:ext>
            </a:extLst>
          </p:cNvPr>
          <p:cNvSpPr>
            <a:spLocks noGrp="1"/>
          </p:cNvSpPr>
          <p:nvPr>
            <p:ph type="title"/>
          </p:nvPr>
        </p:nvSpPr>
        <p:spPr>
          <a:xfrm>
            <a:off x="163945" y="152690"/>
            <a:ext cx="10515600" cy="669348"/>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Example of Communalities</a:t>
            </a:r>
          </a:p>
        </p:txBody>
      </p:sp>
      <p:graphicFrame>
        <p:nvGraphicFramePr>
          <p:cNvPr id="4" name="Content Placeholder 3">
            <a:extLst>
              <a:ext uri="{FF2B5EF4-FFF2-40B4-BE49-F238E27FC236}">
                <a16:creationId xmlns:a16="http://schemas.microsoft.com/office/drawing/2014/main" id="{7346A260-9264-F2FF-5766-AECC727AAB4F}"/>
              </a:ext>
            </a:extLst>
          </p:cNvPr>
          <p:cNvGraphicFramePr>
            <a:graphicFrameLocks noGrp="1"/>
          </p:cNvGraphicFramePr>
          <p:nvPr>
            <p:ph idx="1"/>
            <p:extLst>
              <p:ext uri="{D42A27DB-BD31-4B8C-83A1-F6EECF244321}">
                <p14:modId xmlns:p14="http://schemas.microsoft.com/office/powerpoint/2010/main" val="1524159063"/>
              </p:ext>
            </p:extLst>
          </p:nvPr>
        </p:nvGraphicFramePr>
        <p:xfrm>
          <a:off x="163945" y="1389774"/>
          <a:ext cx="11824855" cy="2499360"/>
        </p:xfrm>
        <a:graphic>
          <a:graphicData uri="http://schemas.openxmlformats.org/drawingml/2006/table">
            <a:tbl>
              <a:tblPr/>
              <a:tblGrid>
                <a:gridCol w="2152817">
                  <a:extLst>
                    <a:ext uri="{9D8B030D-6E8A-4147-A177-3AD203B41FA5}">
                      <a16:colId xmlns:a16="http://schemas.microsoft.com/office/drawing/2014/main" val="1887464974"/>
                    </a:ext>
                  </a:extLst>
                </a:gridCol>
                <a:gridCol w="2152817">
                  <a:extLst>
                    <a:ext uri="{9D8B030D-6E8A-4147-A177-3AD203B41FA5}">
                      <a16:colId xmlns:a16="http://schemas.microsoft.com/office/drawing/2014/main" val="2320822806"/>
                    </a:ext>
                  </a:extLst>
                </a:gridCol>
                <a:gridCol w="2152817">
                  <a:extLst>
                    <a:ext uri="{9D8B030D-6E8A-4147-A177-3AD203B41FA5}">
                      <a16:colId xmlns:a16="http://schemas.microsoft.com/office/drawing/2014/main" val="2937025556"/>
                    </a:ext>
                  </a:extLst>
                </a:gridCol>
                <a:gridCol w="2152817">
                  <a:extLst>
                    <a:ext uri="{9D8B030D-6E8A-4147-A177-3AD203B41FA5}">
                      <a16:colId xmlns:a16="http://schemas.microsoft.com/office/drawing/2014/main" val="3129400687"/>
                    </a:ext>
                  </a:extLst>
                </a:gridCol>
                <a:gridCol w="3213587">
                  <a:extLst>
                    <a:ext uri="{9D8B030D-6E8A-4147-A177-3AD203B41FA5}">
                      <a16:colId xmlns:a16="http://schemas.microsoft.com/office/drawing/2014/main" val="203325004"/>
                    </a:ext>
                  </a:extLst>
                </a:gridCol>
              </a:tblGrid>
              <a:tr h="0">
                <a:tc>
                  <a:txBody>
                    <a:bodyPr/>
                    <a:lstStyle/>
                    <a:p>
                      <a:r>
                        <a:rPr lang="en-US" sz="2000" b="1" dirty="0">
                          <a:latin typeface="Calibri" panose="020F0502020204030204" pitchFamily="34" charset="0"/>
                          <a:ea typeface="Calibri" panose="020F0502020204030204" pitchFamily="34" charset="0"/>
                          <a:cs typeface="Calibri" panose="020F0502020204030204" pitchFamily="34" charset="0"/>
                        </a:rPr>
                        <a:t>Variable</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Depression (F1)</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Anxiety</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 (F2)</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Communality</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tc>
                  <a:txBody>
                    <a:bodyPr/>
                    <a:lstStyle/>
                    <a:p>
                      <a:r>
                        <a:rPr lang="en-US" sz="2000" b="1">
                          <a:latin typeface="Calibri" panose="020F0502020204030204" pitchFamily="34" charset="0"/>
                          <a:ea typeface="Calibri" panose="020F0502020204030204" pitchFamily="34" charset="0"/>
                          <a:cs typeface="Calibri" panose="020F0502020204030204" pitchFamily="34" charset="0"/>
                        </a:rPr>
                        <a:t>Interpretation</a:t>
                      </a:r>
                      <a:endParaRPr lang="en-US" sz="2000">
                        <a:latin typeface="Calibri" panose="020F0502020204030204" pitchFamily="34" charset="0"/>
                        <a:ea typeface="Calibri" panose="020F0502020204030204" pitchFamily="34" charset="0"/>
                        <a:cs typeface="Calibri" panose="020F0502020204030204" pitchFamily="34" charset="0"/>
                      </a:endParaRPr>
                    </a:p>
                  </a:txBody>
                  <a:tcPr anchor="ctr">
                    <a:lnL>
                      <a:noFill/>
                    </a:lnL>
                    <a:lnR>
                      <a:noFill/>
                    </a:lnR>
                    <a:lnT>
                      <a:noFill/>
                    </a:lnT>
                    <a:lnB>
                      <a:noFill/>
                    </a:lnB>
                    <a:noFill/>
                  </a:tcPr>
                </a:tc>
                <a:extLst>
                  <a:ext uri="{0D108BD9-81ED-4DB2-BD59-A6C34878D82A}">
                    <a16:rowId xmlns:a16="http://schemas.microsoft.com/office/drawing/2014/main" val="583442658"/>
                  </a:ext>
                </a:extLst>
              </a:tr>
              <a:tr h="0">
                <a:tc>
                  <a:txBody>
                    <a:bodyPr/>
                    <a:lstStyle/>
                    <a:p>
                      <a:r>
                        <a:rPr lang="en-US" sz="2000">
                          <a:latin typeface="Calibri" panose="020F0502020204030204" pitchFamily="34" charset="0"/>
                          <a:ea typeface="Calibri" panose="020F0502020204030204" pitchFamily="34" charset="0"/>
                          <a:cs typeface="Calibri" panose="020F0502020204030204" pitchFamily="34" charset="0"/>
                        </a:rPr>
                        <a:t>Trouble sleeping</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0.60</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0.30</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0.45</a:t>
                      </a:r>
                    </a:p>
                  </a:txBody>
                  <a:tcPr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36% of variance explained by Factor 1; 9% by Factor 2</a:t>
                      </a:r>
                    </a:p>
                  </a:txBody>
                  <a:tcPr anchor="ctr">
                    <a:lnL>
                      <a:noFill/>
                    </a:lnL>
                    <a:lnR>
                      <a:noFill/>
                    </a:lnR>
                    <a:lnT>
                      <a:noFill/>
                    </a:lnT>
                    <a:lnB>
                      <a:noFill/>
                    </a:lnB>
                    <a:noFill/>
                  </a:tcPr>
                </a:tc>
                <a:extLst>
                  <a:ext uri="{0D108BD9-81ED-4DB2-BD59-A6C34878D82A}">
                    <a16:rowId xmlns:a16="http://schemas.microsoft.com/office/drawing/2014/main" val="514831340"/>
                  </a:ext>
                </a:extLst>
              </a:tr>
              <a:tr h="0">
                <a:tc>
                  <a:txBody>
                    <a:bodyPr/>
                    <a:lstStyle/>
                    <a:p>
                      <a:r>
                        <a:rPr lang="en-US" sz="2000">
                          <a:latin typeface="Calibri" panose="020F0502020204030204" pitchFamily="34" charset="0"/>
                          <a:ea typeface="Calibri" panose="020F0502020204030204" pitchFamily="34" charset="0"/>
                          <a:cs typeface="Calibri" panose="020F0502020204030204" pitchFamily="34" charset="0"/>
                        </a:rPr>
                        <a:t>Feeling worthless</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0.70</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0.10</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0.50</a:t>
                      </a:r>
                    </a:p>
                  </a:txBody>
                  <a:tcPr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49% of variance explained by Factor 1; only 1% by Factor 2</a:t>
                      </a:r>
                    </a:p>
                  </a:txBody>
                  <a:tcPr anchor="ctr">
                    <a:lnL>
                      <a:noFill/>
                    </a:lnL>
                    <a:lnR>
                      <a:noFill/>
                    </a:lnR>
                    <a:lnT>
                      <a:noFill/>
                    </a:lnT>
                    <a:lnB>
                      <a:noFill/>
                    </a:lnB>
                    <a:noFill/>
                  </a:tcPr>
                </a:tc>
                <a:extLst>
                  <a:ext uri="{0D108BD9-81ED-4DB2-BD59-A6C34878D82A}">
                    <a16:rowId xmlns:a16="http://schemas.microsoft.com/office/drawing/2014/main" val="3977651510"/>
                  </a:ext>
                </a:extLst>
              </a:tr>
              <a:tr h="0">
                <a:tc>
                  <a:txBody>
                    <a:bodyPr/>
                    <a:lstStyle/>
                    <a:p>
                      <a:r>
                        <a:rPr lang="en-US" sz="2000">
                          <a:latin typeface="Calibri" panose="020F0502020204030204" pitchFamily="34" charset="0"/>
                          <a:ea typeface="Calibri" panose="020F0502020204030204" pitchFamily="34" charset="0"/>
                          <a:cs typeface="Calibri" panose="020F0502020204030204" pitchFamily="34" charset="0"/>
                        </a:rPr>
                        <a:t>Racing thoughts</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0.20</a:t>
                      </a:r>
                    </a:p>
                  </a:txBody>
                  <a:tcPr anchor="ctr">
                    <a:lnL>
                      <a:noFill/>
                    </a:lnL>
                    <a:lnR>
                      <a:noFill/>
                    </a:lnR>
                    <a:lnT>
                      <a:noFill/>
                    </a:lnT>
                    <a:lnB>
                      <a:noFill/>
                    </a:lnB>
                    <a:noFill/>
                  </a:tcPr>
                </a:tc>
                <a:tc>
                  <a:txBody>
                    <a:bodyPr/>
                    <a:lstStyle/>
                    <a:p>
                      <a:pPr algn="ctr"/>
                      <a:r>
                        <a:rPr lang="en-US" sz="2000">
                          <a:latin typeface="Calibri" panose="020F0502020204030204" pitchFamily="34" charset="0"/>
                          <a:ea typeface="Calibri" panose="020F0502020204030204" pitchFamily="34" charset="0"/>
                          <a:cs typeface="Calibri" panose="020F0502020204030204" pitchFamily="34" charset="0"/>
                        </a:rPr>
                        <a:t>0.65</a:t>
                      </a:r>
                    </a:p>
                  </a:txBody>
                  <a:tcPr anchor="ctr">
                    <a:lnL>
                      <a:noFill/>
                    </a:lnL>
                    <a:lnR>
                      <a:noFill/>
                    </a:lnR>
                    <a:lnT>
                      <a:noFill/>
                    </a:lnT>
                    <a:lnB>
                      <a:noFill/>
                    </a:lnB>
                    <a:noFill/>
                  </a:tcPr>
                </a:tc>
                <a:tc>
                  <a:txBody>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0.45</a:t>
                      </a:r>
                    </a:p>
                  </a:txBody>
                  <a:tcPr anchor="ctr">
                    <a:lnL>
                      <a:noFill/>
                    </a:lnL>
                    <a:lnR>
                      <a:noFill/>
                    </a:lnR>
                    <a:lnT>
                      <a:noFill/>
                    </a:lnT>
                    <a:lnB>
                      <a:noFill/>
                    </a:lnB>
                    <a:noFill/>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4% of variance explained by Factor 1; 42% by Factor 2</a:t>
                      </a:r>
                    </a:p>
                  </a:txBody>
                  <a:tcPr anchor="ctr">
                    <a:lnL>
                      <a:noFill/>
                    </a:lnL>
                    <a:lnR>
                      <a:noFill/>
                    </a:lnR>
                    <a:lnT>
                      <a:noFill/>
                    </a:lnT>
                    <a:lnB>
                      <a:noFill/>
                    </a:lnB>
                    <a:noFill/>
                  </a:tcPr>
                </a:tc>
                <a:extLst>
                  <a:ext uri="{0D108BD9-81ED-4DB2-BD59-A6C34878D82A}">
                    <a16:rowId xmlns:a16="http://schemas.microsoft.com/office/drawing/2014/main" val="4088527111"/>
                  </a:ext>
                </a:extLst>
              </a:tr>
            </a:tbl>
          </a:graphicData>
        </a:graphic>
      </p:graphicFrame>
      <p:sp>
        <p:nvSpPr>
          <p:cNvPr id="6" name="TextBox 5">
            <a:extLst>
              <a:ext uri="{FF2B5EF4-FFF2-40B4-BE49-F238E27FC236}">
                <a16:creationId xmlns:a16="http://schemas.microsoft.com/office/drawing/2014/main" id="{E5F5962E-F215-886A-664A-8ACE12854607}"/>
              </a:ext>
            </a:extLst>
          </p:cNvPr>
          <p:cNvSpPr txBox="1"/>
          <p:nvPr/>
        </p:nvSpPr>
        <p:spPr>
          <a:xfrm>
            <a:off x="311727" y="720426"/>
            <a:ext cx="6096000" cy="400110"/>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Communality = (Loading on F1)² + (Loading on F2)²</a:t>
            </a:r>
          </a:p>
        </p:txBody>
      </p:sp>
    </p:spTree>
    <p:extLst>
      <p:ext uri="{BB962C8B-B14F-4D97-AF65-F5344CB8AC3E}">
        <p14:creationId xmlns:p14="http://schemas.microsoft.com/office/powerpoint/2010/main" val="2377371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16B67-4C2A-48CC-99B9-5097D4BF611F}"/>
              </a:ext>
            </a:extLst>
          </p:cNvPr>
          <p:cNvSpPr>
            <a:spLocks noGrp="1"/>
          </p:cNvSpPr>
          <p:nvPr>
            <p:ph type="title"/>
          </p:nvPr>
        </p:nvSpPr>
        <p:spPr>
          <a:xfrm>
            <a:off x="116305" y="389190"/>
            <a:ext cx="10515600" cy="453022"/>
          </a:xfrm>
        </p:spPr>
        <p:txBody>
          <a:bodyPr>
            <a:no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Exploratory Factor Analysis Specification Conditions &amp; Decisions</a:t>
            </a:r>
          </a:p>
        </p:txBody>
      </p:sp>
      <p:sp>
        <p:nvSpPr>
          <p:cNvPr id="3" name="Content Placeholder 2">
            <a:extLst>
              <a:ext uri="{FF2B5EF4-FFF2-40B4-BE49-F238E27FC236}">
                <a16:creationId xmlns:a16="http://schemas.microsoft.com/office/drawing/2014/main" id="{6B264752-4918-4156-B9C9-708231C71B12}"/>
              </a:ext>
            </a:extLst>
          </p:cNvPr>
          <p:cNvSpPr>
            <a:spLocks noGrp="1"/>
          </p:cNvSpPr>
          <p:nvPr>
            <p:ph idx="1"/>
          </p:nvPr>
        </p:nvSpPr>
        <p:spPr>
          <a:xfrm>
            <a:off x="236621" y="1079667"/>
            <a:ext cx="10515600" cy="4351338"/>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Factor retention: once the variables are factored, we need to determine how many factors to retain</a:t>
            </a:r>
          </a:p>
          <a:p>
            <a:pPr lvl="1"/>
            <a:r>
              <a:rPr lang="en-US" sz="1800" dirty="0">
                <a:latin typeface="Calibri" panose="020F0502020204030204" pitchFamily="34" charset="0"/>
                <a:ea typeface="Calibri" panose="020F0502020204030204" pitchFamily="34" charset="0"/>
                <a:cs typeface="Calibri" panose="020F0502020204030204" pitchFamily="34" charset="0"/>
              </a:rPr>
              <a:t>This is a “crucial decision”</a:t>
            </a:r>
          </a:p>
          <a:p>
            <a:endParaRPr lang="en-US" dirty="0"/>
          </a:p>
        </p:txBody>
      </p:sp>
    </p:spTree>
    <p:extLst>
      <p:ext uri="{BB962C8B-B14F-4D97-AF65-F5344CB8AC3E}">
        <p14:creationId xmlns:p14="http://schemas.microsoft.com/office/powerpoint/2010/main" val="31855550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818" y="125412"/>
            <a:ext cx="11776324" cy="1236857"/>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Rules of Thumb – Choosing Factor Models and Number of Factors</a:t>
            </a:r>
          </a:p>
        </p:txBody>
      </p:sp>
      <p:sp>
        <p:nvSpPr>
          <p:cNvPr id="3" name="Content Placeholder 2"/>
          <p:cNvSpPr>
            <a:spLocks noGrp="1"/>
          </p:cNvSpPr>
          <p:nvPr>
            <p:ph idx="1"/>
          </p:nvPr>
        </p:nvSpPr>
        <p:spPr>
          <a:xfrm>
            <a:off x="268819" y="1362269"/>
            <a:ext cx="11654364" cy="4374956"/>
          </a:xfrm>
        </p:spPr>
        <p:txBody>
          <a:bodyPr>
            <a:normAutofit/>
          </a:bodyPr>
          <a:lstStyle/>
          <a:p>
            <a:pPr marL="457200" indent="-457200">
              <a:buFont typeface="Arial" panose="020B0604020202020204" pitchFamily="34" charset="0"/>
              <a:buChar char="•"/>
            </a:pPr>
            <a:r>
              <a:rPr lang="en-US" sz="2200" dirty="0">
                <a:latin typeface="Calibri" panose="020F0502020204030204" pitchFamily="34" charset="0"/>
                <a:ea typeface="Calibri" panose="020F0502020204030204" pitchFamily="34" charset="0"/>
                <a:cs typeface="Calibri" panose="020F0502020204030204" pitchFamily="34" charset="0"/>
              </a:rPr>
              <a:t>A decision on the number of retained factors should be based on several considerations: </a:t>
            </a:r>
          </a:p>
          <a:p>
            <a:pPr marL="969962" lvl="1" indent="-457200">
              <a:buFont typeface="Wingdings" panose="05000000000000000000" pitchFamily="2" charset="2"/>
              <a:buChar char="ü"/>
            </a:pPr>
            <a:r>
              <a:rPr lang="en-US" sz="2200" dirty="0">
                <a:latin typeface="Calibri" panose="020F0502020204030204" pitchFamily="34" charset="0"/>
                <a:ea typeface="Calibri" panose="020F0502020204030204" pitchFamily="34" charset="0"/>
                <a:cs typeface="Calibri" panose="020F0502020204030204" pitchFamily="34" charset="0"/>
              </a:rPr>
              <a:t>Use several stopping criteria to determine the initial number of factors to retain.  </a:t>
            </a:r>
          </a:p>
          <a:p>
            <a:pPr marL="1370012" lvl="2" indent="-4572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Factors With Eigenvalues greater than 1.0. </a:t>
            </a:r>
          </a:p>
          <a:p>
            <a:pPr marL="1370012" lvl="2" indent="-4572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A pre-determined number based on research objectives and/or prior research.     </a:t>
            </a:r>
          </a:p>
          <a:p>
            <a:pPr marL="1370012" lvl="2" indent="-4572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Enough factors for a specified percentage of variance explained (e.g., usually 60%).                   </a:t>
            </a:r>
          </a:p>
          <a:p>
            <a:pPr marL="1370012" lvl="2" indent="-4572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Factors shown by the scree test to have substantial amounts of common variance (</a:t>
            </a:r>
            <a:r>
              <a:rPr lang="en-US" sz="2200" dirty="0" err="1">
                <a:latin typeface="Calibri" panose="020F0502020204030204" pitchFamily="34" charset="0"/>
                <a:ea typeface="Calibri" panose="020F0502020204030204" pitchFamily="34" charset="0"/>
                <a:cs typeface="Calibri" panose="020F0502020204030204" pitchFamily="34" charset="0"/>
              </a:rPr>
              <a:t>i.e</a:t>
            </a:r>
            <a:r>
              <a:rPr lang="en-US" sz="2200" dirty="0">
                <a:latin typeface="Calibri" panose="020F0502020204030204" pitchFamily="34" charset="0"/>
                <a:ea typeface="Calibri" panose="020F0502020204030204" pitchFamily="34" charset="0"/>
                <a:cs typeface="Calibri" panose="020F0502020204030204" pitchFamily="34" charset="0"/>
              </a:rPr>
              <a:t>, before inflection point). </a:t>
            </a:r>
          </a:p>
          <a:p>
            <a:pPr marL="1370012" lvl="2" indent="-4572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Factors which have eigenvalues greater than factors from randomly-generated data.   </a:t>
            </a:r>
          </a:p>
          <a:p>
            <a:pPr marL="1370012" lvl="2" indent="-457200">
              <a:buFont typeface="Wingdings" panose="05000000000000000000" pitchFamily="2" charset="2"/>
              <a:buChar char="§"/>
            </a:pPr>
            <a:r>
              <a:rPr lang="en-US" sz="2200" dirty="0">
                <a:latin typeface="Calibri" panose="020F0502020204030204" pitchFamily="34" charset="0"/>
                <a:ea typeface="Calibri" panose="020F0502020204030204" pitchFamily="34" charset="0"/>
                <a:cs typeface="Calibri" panose="020F0502020204030204" pitchFamily="34" charset="0"/>
              </a:rPr>
              <a:t>Factors above the threshold established by parallel analysis.            </a:t>
            </a:r>
          </a:p>
          <a:p>
            <a:pPr marL="969962" lvl="1" indent="-457200">
              <a:buFont typeface="Wingdings" panose="05000000000000000000" pitchFamily="2" charset="2"/>
              <a:buChar char="ü"/>
            </a:pPr>
            <a:r>
              <a:rPr lang="en-US" sz="2200" dirty="0">
                <a:latin typeface="Calibri" panose="020F0502020204030204" pitchFamily="34" charset="0"/>
                <a:ea typeface="Calibri" panose="020F0502020204030204" pitchFamily="34" charset="0"/>
                <a:cs typeface="Calibri" panose="020F0502020204030204" pitchFamily="34" charset="0"/>
              </a:rPr>
              <a:t>More factors when there is heterogeneity among sample subgroups.</a:t>
            </a:r>
          </a:p>
          <a:p>
            <a:pPr marL="457200" indent="-457200">
              <a:buFont typeface="Arial" panose="020B0604020202020204" pitchFamily="34" charset="0"/>
              <a:buChar char="•"/>
            </a:pPr>
            <a:r>
              <a:rPr lang="en-US" sz="2200" dirty="0">
                <a:latin typeface="Calibri" panose="020F0502020204030204" pitchFamily="34" charset="0"/>
                <a:ea typeface="Calibri" panose="020F0502020204030204" pitchFamily="34" charset="0"/>
                <a:cs typeface="Calibri" panose="020F0502020204030204" pitchFamily="34" charset="0"/>
              </a:rPr>
              <a:t>Consideration of several alternative solutions (one more and one less factor than the initial solution) to ensure the best structure is identified.</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42</a:t>
            </a:fld>
            <a:endParaRPr lang="en-US" dirty="0"/>
          </a:p>
        </p:txBody>
      </p:sp>
      <p:sp>
        <p:nvSpPr>
          <p:cNvPr id="6" name="Footer Placeholder 3">
            <a:extLst>
              <a:ext uri="{FF2B5EF4-FFF2-40B4-BE49-F238E27FC236}">
                <a16:creationId xmlns:a16="http://schemas.microsoft.com/office/drawing/2014/main" id="{E7ADF66F-30A9-4D91-BF0A-BDF5D4D15318}"/>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66949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8C67F-BC2F-48A6-B924-656E0EF45B60}"/>
              </a:ext>
            </a:extLst>
          </p:cNvPr>
          <p:cNvSpPr>
            <a:spLocks noGrp="1"/>
          </p:cNvSpPr>
          <p:nvPr>
            <p:ph type="title"/>
          </p:nvPr>
        </p:nvSpPr>
        <p:spPr>
          <a:xfrm>
            <a:off x="92241" y="100430"/>
            <a:ext cx="11763427" cy="637507"/>
          </a:xfrm>
        </p:spPr>
        <p:txBody>
          <a:bodyPr>
            <a:normAutofit fontScale="90000"/>
          </a:bodyPr>
          <a:lstStyle/>
          <a:p>
            <a:r>
              <a:rPr lang="en-US" dirty="0"/>
              <a:t>Full Set of Criteria for determining the number of factors</a:t>
            </a:r>
          </a:p>
        </p:txBody>
      </p:sp>
      <p:sp>
        <p:nvSpPr>
          <p:cNvPr id="3" name="Content Placeholder 2">
            <a:extLst>
              <a:ext uri="{FF2B5EF4-FFF2-40B4-BE49-F238E27FC236}">
                <a16:creationId xmlns:a16="http://schemas.microsoft.com/office/drawing/2014/main" id="{E06432FB-A528-4ED2-8EDF-7AF6551CF31D}"/>
              </a:ext>
            </a:extLst>
          </p:cNvPr>
          <p:cNvSpPr>
            <a:spLocks noGrp="1"/>
          </p:cNvSpPr>
          <p:nvPr>
            <p:ph idx="1"/>
          </p:nvPr>
        </p:nvSpPr>
        <p:spPr>
          <a:xfrm>
            <a:off x="252663" y="670593"/>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Note</a:t>
            </a:r>
            <a:r>
              <a:rPr lang="en-US" sz="2000" dirty="0">
                <a:latin typeface="Calibri" panose="020F0502020204030204" pitchFamily="34" charset="0"/>
                <a:ea typeface="Calibri" panose="020F0502020204030204" pitchFamily="34" charset="0"/>
                <a:cs typeface="Calibri" panose="020F0502020204030204" pitchFamily="34" charset="0"/>
              </a:rPr>
              <a:t>: some of these are statistical, some require common sense judgment</a:t>
            </a:r>
          </a:p>
          <a:p>
            <a:r>
              <a:rPr lang="en-US" sz="2000" dirty="0">
                <a:latin typeface="Calibri" panose="020F0502020204030204" pitchFamily="34" charset="0"/>
                <a:ea typeface="Calibri" panose="020F0502020204030204" pitchFamily="34" charset="0"/>
                <a:cs typeface="Calibri" panose="020F0502020204030204" pitchFamily="34" charset="0"/>
              </a:rPr>
              <a:t>Selecting the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A priori criterion (</a:t>
            </a:r>
            <a:r>
              <a:rPr lang="en-US" sz="1800" b="1" u="sng" dirty="0">
                <a:latin typeface="Calibri" panose="020F0502020204030204" pitchFamily="34" charset="0"/>
                <a:ea typeface="Calibri" panose="020F0502020204030204" pitchFamily="34" charset="0"/>
                <a:cs typeface="Calibri" panose="020F0502020204030204" pitchFamily="34" charset="0"/>
              </a:rPr>
              <a:t>theory)</a:t>
            </a:r>
            <a:endParaRPr lang="en-US" sz="1800" dirty="0">
              <a:latin typeface="Calibri" panose="020F0502020204030204" pitchFamily="34" charset="0"/>
              <a:ea typeface="Calibri" panose="020F0502020204030204" pitchFamily="34" charset="0"/>
              <a:cs typeface="Calibri" panose="020F0502020204030204" pitchFamily="34" charset="0"/>
            </a:endParaRPr>
          </a:p>
          <a:p>
            <a:pPr lvl="1"/>
            <a:r>
              <a:rPr lang="en-US" sz="1800" dirty="0">
                <a:latin typeface="Calibri" panose="020F0502020204030204" pitchFamily="34" charset="0"/>
                <a:ea typeface="Calibri" panose="020F0502020204030204" pitchFamily="34" charset="0"/>
                <a:cs typeface="Calibri" panose="020F0502020204030204" pitchFamily="34" charset="0"/>
              </a:rPr>
              <a:t>Scree plots</a:t>
            </a:r>
          </a:p>
          <a:p>
            <a:pPr lvl="1"/>
            <a:r>
              <a:rPr lang="en-US" sz="1800" dirty="0">
                <a:latin typeface="Calibri" panose="020F0502020204030204" pitchFamily="34" charset="0"/>
                <a:ea typeface="Calibri" panose="020F0502020204030204" pitchFamily="34" charset="0"/>
                <a:cs typeface="Calibri" panose="020F0502020204030204" pitchFamily="34" charset="0"/>
              </a:rPr>
              <a:t>Kaiser’s rule (eigenvalues greater than one)</a:t>
            </a:r>
          </a:p>
          <a:p>
            <a:pPr lvl="1"/>
            <a:r>
              <a:rPr lang="en-US" sz="1800" dirty="0">
                <a:latin typeface="Calibri" panose="020F0502020204030204" pitchFamily="34" charset="0"/>
                <a:ea typeface="Calibri" panose="020F0502020204030204" pitchFamily="34" charset="0"/>
                <a:cs typeface="Calibri" panose="020F0502020204030204" pitchFamily="34" charset="0"/>
              </a:rPr>
              <a:t>Parallel analysis</a:t>
            </a:r>
          </a:p>
          <a:p>
            <a:pPr lvl="1"/>
            <a:r>
              <a:rPr lang="en-US" sz="1800" dirty="0">
                <a:latin typeface="Calibri" panose="020F0502020204030204" pitchFamily="34" charset="0"/>
                <a:ea typeface="Calibri" panose="020F0502020204030204" pitchFamily="34" charset="0"/>
                <a:cs typeface="Calibri" panose="020F0502020204030204" pitchFamily="34" charset="0"/>
              </a:rPr>
              <a:t>Number of variables per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Heterogeneity of the respondents</a:t>
            </a:r>
          </a:p>
        </p:txBody>
      </p:sp>
    </p:spTree>
    <p:extLst>
      <p:ext uri="{BB962C8B-B14F-4D97-AF65-F5344CB8AC3E}">
        <p14:creationId xmlns:p14="http://schemas.microsoft.com/office/powerpoint/2010/main" val="303006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97" y="-160338"/>
            <a:ext cx="10515600" cy="1325563"/>
          </a:xfrm>
        </p:spPr>
        <p:txBody>
          <a:bodyPr/>
          <a:lstStyle/>
          <a:p>
            <a:r>
              <a:rPr lang="en-US" sz="2800" dirty="0"/>
              <a:t>Stopping Rules: Criteria for the Number of Factors to Extract</a:t>
            </a:r>
          </a:p>
        </p:txBody>
      </p:sp>
      <p:sp>
        <p:nvSpPr>
          <p:cNvPr id="3" name="Content Placeholder 2"/>
          <p:cNvSpPr>
            <a:spLocks noGrp="1"/>
          </p:cNvSpPr>
          <p:nvPr>
            <p:ph idx="1"/>
          </p:nvPr>
        </p:nvSpPr>
        <p:spPr>
          <a:xfrm>
            <a:off x="209927" y="936365"/>
            <a:ext cx="4604670" cy="4616450"/>
          </a:xfrm>
        </p:spPr>
        <p:txBody>
          <a:bodyPr>
            <a:normAutofit fontScale="85000" lnSpcReduction="10000"/>
          </a:bodyPr>
          <a:lstStyle/>
          <a:p>
            <a:r>
              <a:rPr lang="en-US" b="1" dirty="0">
                <a:latin typeface="Calibri" panose="020F0502020204030204" pitchFamily="34" charset="0"/>
                <a:ea typeface="Calibri" panose="020F0502020204030204" pitchFamily="34" charset="0"/>
                <a:cs typeface="Calibri" panose="020F0502020204030204" pitchFamily="34" charset="0"/>
              </a:rPr>
              <a:t>Scree Test Criterion</a:t>
            </a:r>
          </a:p>
          <a:p>
            <a:pPr marL="969962" lvl="1" indent="-457200"/>
            <a:r>
              <a:rPr lang="en-US" dirty="0">
                <a:latin typeface="Calibri" panose="020F0502020204030204" pitchFamily="34" charset="0"/>
                <a:ea typeface="Calibri" panose="020F0502020204030204" pitchFamily="34" charset="0"/>
                <a:cs typeface="Calibri" panose="020F0502020204030204" pitchFamily="34" charset="0"/>
              </a:rPr>
              <a:t>Identify the optimum number of factors that can be extracted </a:t>
            </a:r>
            <a:r>
              <a:rPr lang="en-US" b="1" i="1" dirty="0">
                <a:latin typeface="Calibri" panose="020F0502020204030204" pitchFamily="34" charset="0"/>
                <a:ea typeface="Calibri" panose="020F0502020204030204" pitchFamily="34" charset="0"/>
                <a:cs typeface="Calibri" panose="020F0502020204030204" pitchFamily="34" charset="0"/>
              </a:rPr>
              <a:t>before the amount of unique variance begins to dominate the common variance structure</a:t>
            </a:r>
            <a:r>
              <a:rPr lang="en-US" dirty="0">
                <a:latin typeface="Calibri" panose="020F0502020204030204" pitchFamily="34" charset="0"/>
                <a:ea typeface="Calibri" panose="020F0502020204030204" pitchFamily="34" charset="0"/>
                <a:cs typeface="Calibri" panose="020F0502020204030204" pitchFamily="34" charset="0"/>
              </a:rPr>
              <a:t>.</a:t>
            </a:r>
          </a:p>
          <a:p>
            <a:pPr marL="969962" lvl="1" indent="-457200"/>
            <a:r>
              <a:rPr lang="en-US" dirty="0">
                <a:latin typeface="Calibri" panose="020F0502020204030204" pitchFamily="34" charset="0"/>
                <a:ea typeface="Calibri" panose="020F0502020204030204" pitchFamily="34" charset="0"/>
                <a:cs typeface="Calibri" panose="020F0502020204030204" pitchFamily="34" charset="0"/>
              </a:rPr>
              <a:t>Plot of latent root (eigenvalues) defines </a:t>
            </a:r>
            <a:r>
              <a:rPr lang="en-US" u="sng" dirty="0">
                <a:latin typeface="Calibri" panose="020F0502020204030204" pitchFamily="34" charset="0"/>
                <a:ea typeface="Calibri" panose="020F0502020204030204" pitchFamily="34" charset="0"/>
                <a:cs typeface="Calibri" panose="020F0502020204030204" pitchFamily="34" charset="0"/>
              </a:rPr>
              <a:t>“elbow,” </a:t>
            </a:r>
            <a:r>
              <a:rPr lang="en-US" dirty="0">
                <a:latin typeface="Calibri" panose="020F0502020204030204" pitchFamily="34" charset="0"/>
                <a:ea typeface="Calibri" panose="020F0502020204030204" pitchFamily="34" charset="0"/>
                <a:cs typeface="Calibri" panose="020F0502020204030204" pitchFamily="34" charset="0"/>
              </a:rPr>
              <a:t>the point at which the curve first begins to straighten out.</a:t>
            </a:r>
          </a:p>
          <a:p>
            <a:pPr marL="969962" lvl="1" indent="-457200"/>
            <a:r>
              <a:rPr lang="en-US" dirty="0">
                <a:latin typeface="Calibri" panose="020F0502020204030204" pitchFamily="34" charset="0"/>
                <a:ea typeface="Calibri" panose="020F0502020204030204" pitchFamily="34" charset="0"/>
                <a:cs typeface="Calibri" panose="020F0502020204030204" pitchFamily="34" charset="0"/>
              </a:rPr>
              <a:t>Considered to represent those factors containing more unique rather than common variance.</a:t>
            </a:r>
          </a:p>
          <a:p>
            <a:pPr marL="969962" lvl="1" indent="-457200"/>
            <a:r>
              <a:rPr lang="en-US" dirty="0">
                <a:latin typeface="Calibri" panose="020F0502020204030204" pitchFamily="34" charset="0"/>
                <a:ea typeface="Calibri" panose="020F0502020204030204" pitchFamily="34" charset="0"/>
                <a:cs typeface="Calibri" panose="020F0502020204030204" pitchFamily="34" charset="0"/>
              </a:rPr>
              <a:t>Most researchers do not include the elbow, but rather retain all of the preceding factors.</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44</a:t>
            </a:fld>
            <a:endParaRPr lang="en-US" dirty="0"/>
          </a:p>
        </p:txBody>
      </p:sp>
      <p:pic>
        <p:nvPicPr>
          <p:cNvPr id="6" name="Picture 5"/>
          <p:cNvPicPr>
            <a:picLocks noChangeAspect="1"/>
          </p:cNvPicPr>
          <p:nvPr/>
        </p:nvPicPr>
        <p:blipFill>
          <a:blip r:embed="rId3"/>
          <a:stretch>
            <a:fillRect/>
          </a:stretch>
        </p:blipFill>
        <p:spPr>
          <a:xfrm>
            <a:off x="5150222" y="1165225"/>
            <a:ext cx="6516845" cy="4115902"/>
          </a:xfrm>
          <a:prstGeom prst="rect">
            <a:avLst/>
          </a:prstGeom>
          <a:ln w="25400">
            <a:solidFill>
              <a:srgbClr val="00279F"/>
            </a:solidFill>
          </a:ln>
        </p:spPr>
      </p:pic>
      <p:sp>
        <p:nvSpPr>
          <p:cNvPr id="7" name="Footer Placeholder 3">
            <a:extLst>
              <a:ext uri="{FF2B5EF4-FFF2-40B4-BE49-F238E27FC236}">
                <a16:creationId xmlns:a16="http://schemas.microsoft.com/office/drawing/2014/main" id="{5D24ABDB-2EAE-4346-ADD1-FAB3C72E9035}"/>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
        <p:nvSpPr>
          <p:cNvPr id="8" name="TextBox 7">
            <a:extLst>
              <a:ext uri="{FF2B5EF4-FFF2-40B4-BE49-F238E27FC236}">
                <a16:creationId xmlns:a16="http://schemas.microsoft.com/office/drawing/2014/main" id="{29525313-1366-E57D-D8C4-823AA0A355CD}"/>
              </a:ext>
            </a:extLst>
          </p:cNvPr>
          <p:cNvSpPr txBox="1"/>
          <p:nvPr/>
        </p:nvSpPr>
        <p:spPr>
          <a:xfrm>
            <a:off x="8596937" y="2505670"/>
            <a:ext cx="2863543" cy="923330"/>
          </a:xfrm>
          <a:prstGeom prst="rect">
            <a:avLst/>
          </a:prstGeom>
          <a:noFill/>
        </p:spPr>
        <p:txBody>
          <a:bodyPr wrap="square">
            <a:spAutoFit/>
          </a:bodyPr>
          <a:lstStyle/>
          <a:p>
            <a:r>
              <a:rPr lang="en-US" dirty="0"/>
              <a:t>The factor explains as much variance as </a:t>
            </a:r>
            <a:r>
              <a:rPr lang="en-US" b="1" dirty="0"/>
              <a:t>one original variable</a:t>
            </a:r>
            <a:endParaRPr lang="en-US" dirty="0"/>
          </a:p>
        </p:txBody>
      </p:sp>
      <p:cxnSp>
        <p:nvCxnSpPr>
          <p:cNvPr id="10" name="Straight Arrow Connector 9">
            <a:extLst>
              <a:ext uri="{FF2B5EF4-FFF2-40B4-BE49-F238E27FC236}">
                <a16:creationId xmlns:a16="http://schemas.microsoft.com/office/drawing/2014/main" id="{AE6A4968-43C0-491A-AC48-F6F50893EC23}"/>
              </a:ext>
            </a:extLst>
          </p:cNvPr>
          <p:cNvCxnSpPr>
            <a:stCxn id="8" idx="2"/>
          </p:cNvCxnSpPr>
          <p:nvPr/>
        </p:nvCxnSpPr>
        <p:spPr>
          <a:xfrm flipH="1">
            <a:off x="8607552" y="3429000"/>
            <a:ext cx="1421157" cy="7040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2490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09A2E-418A-4518-AB1A-42DC0B483312}"/>
              </a:ext>
            </a:extLst>
          </p:cNvPr>
          <p:cNvSpPr>
            <a:spLocks noGrp="1"/>
          </p:cNvSpPr>
          <p:nvPr>
            <p:ph type="title"/>
          </p:nvPr>
        </p:nvSpPr>
        <p:spPr>
          <a:xfrm>
            <a:off x="132348" y="148558"/>
            <a:ext cx="10515600" cy="605422"/>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Kaiser’s rule (eigenvalues greater than one)</a:t>
            </a:r>
          </a:p>
        </p:txBody>
      </p:sp>
      <p:sp>
        <p:nvSpPr>
          <p:cNvPr id="3" name="Content Placeholder 2">
            <a:extLst>
              <a:ext uri="{FF2B5EF4-FFF2-40B4-BE49-F238E27FC236}">
                <a16:creationId xmlns:a16="http://schemas.microsoft.com/office/drawing/2014/main" id="{5A5D8422-678C-4FCE-945E-8916E3C6E3A3}"/>
              </a:ext>
            </a:extLst>
          </p:cNvPr>
          <p:cNvSpPr>
            <a:spLocks noGrp="1"/>
          </p:cNvSpPr>
          <p:nvPr>
            <p:ph idx="1"/>
          </p:nvPr>
        </p:nvSpPr>
        <p:spPr>
          <a:xfrm>
            <a:off x="268705" y="678614"/>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Eigenvalues measure the amount of variance in the total sample that is accounted for by each factor</a:t>
            </a:r>
          </a:p>
          <a:p>
            <a:r>
              <a:rPr lang="en-US" sz="2000" dirty="0">
                <a:latin typeface="Calibri" panose="020F0502020204030204" pitchFamily="34" charset="0"/>
                <a:ea typeface="Calibri" panose="020F0502020204030204" pitchFamily="34" charset="0"/>
                <a:cs typeface="Calibri" panose="020F0502020204030204" pitchFamily="34" charset="0"/>
              </a:rPr>
              <a:t>Retain only those eigenvalues that are greater than 1 and drop the rest</a:t>
            </a:r>
          </a:p>
          <a:p>
            <a:r>
              <a:rPr lang="en-US" sz="2000" dirty="0">
                <a:latin typeface="Calibri" panose="020F0502020204030204" pitchFamily="34" charset="0"/>
                <a:ea typeface="Calibri" panose="020F0502020204030204" pitchFamily="34" charset="0"/>
                <a:cs typeface="Calibri" panose="020F0502020204030204" pitchFamily="34" charset="0"/>
              </a:rPr>
              <a:t>Why? Any value </a:t>
            </a:r>
            <a:r>
              <a:rPr lang="en-US" sz="2000" b="1" i="1" dirty="0">
                <a:latin typeface="Calibri" panose="020F0502020204030204" pitchFamily="34" charset="0"/>
                <a:ea typeface="Calibri" panose="020F0502020204030204" pitchFamily="34" charset="0"/>
                <a:cs typeface="Calibri" panose="020F0502020204030204" pitchFamily="34" charset="0"/>
              </a:rPr>
              <a:t>greater than one </a:t>
            </a:r>
            <a:r>
              <a:rPr lang="en-US" sz="2000" dirty="0">
                <a:latin typeface="Calibri" panose="020F0502020204030204" pitchFamily="34" charset="0"/>
                <a:ea typeface="Calibri" panose="020F0502020204030204" pitchFamily="34" charset="0"/>
                <a:cs typeface="Calibri" panose="020F0502020204030204" pitchFamily="34" charset="0"/>
              </a:rPr>
              <a:t>represents a factor that explains a higher-than-average amount of variance</a:t>
            </a:r>
            <a:endParaRPr lang="en-US" sz="20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81515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169" y="184997"/>
            <a:ext cx="10515600" cy="1325563"/>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Stopping Rules: Criteria for the Number of Factors to Extract</a:t>
            </a:r>
          </a:p>
        </p:txBody>
      </p:sp>
      <p:sp>
        <p:nvSpPr>
          <p:cNvPr id="3" name="Content Placeholder 2"/>
          <p:cNvSpPr>
            <a:spLocks noGrp="1"/>
          </p:cNvSpPr>
          <p:nvPr>
            <p:ph idx="1"/>
          </p:nvPr>
        </p:nvSpPr>
        <p:spPr>
          <a:xfrm>
            <a:off x="375170" y="1510560"/>
            <a:ext cx="11166798" cy="4302411"/>
          </a:xfrm>
        </p:spPr>
        <p:txBody>
          <a:bodyPr>
            <a:no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Parallel Analysis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Empirical measure based on the specific characteristics (i.e., number of variables and sample size) of the dataset being analyzed.</a:t>
            </a:r>
          </a:p>
          <a:p>
            <a:r>
              <a:rPr lang="en-US" sz="2000" b="1" dirty="0">
                <a:latin typeface="Calibri" panose="020F0502020204030204" pitchFamily="34" charset="0"/>
                <a:ea typeface="Calibri" panose="020F0502020204030204" pitchFamily="34" charset="0"/>
                <a:cs typeface="Calibri" panose="020F0502020204030204" pitchFamily="34" charset="0"/>
              </a:rPr>
              <a:t>Procedure</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Generate a large number (e.g., 500 or 1000) simulated datasets with random values for the same number of variables and sample size.</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Apply factor analysis to each dataset.</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Calculate average eigenvalue across datasets for each factor(i.e., first, second, . . . )</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Compare the eigenvalues for the original data and retain all factors that are greater than the average eigenvalues from random datasets</a:t>
            </a:r>
          </a:p>
          <a:p>
            <a:pPr marL="1255712" lvl="2" indent="-342900"/>
            <a:r>
              <a:rPr lang="en-US" dirty="0">
                <a:latin typeface="Calibri" panose="020F0502020204030204" pitchFamily="34" charset="0"/>
                <a:ea typeface="Calibri" panose="020F0502020204030204" pitchFamily="34" charset="0"/>
                <a:cs typeface="Calibri" panose="020F0502020204030204" pitchFamily="34" charset="0"/>
              </a:rPr>
              <a:t>Variants of this rule suggest taking the upper bound (95th percentile) of the simulated eigenvalues.</a:t>
            </a: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Applicable equally well to principal components or common factor methods</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46</a:t>
            </a:fld>
            <a:endParaRPr lang="en-US" dirty="0"/>
          </a:p>
        </p:txBody>
      </p:sp>
      <p:sp>
        <p:nvSpPr>
          <p:cNvPr id="6" name="Footer Placeholder 3">
            <a:extLst>
              <a:ext uri="{FF2B5EF4-FFF2-40B4-BE49-F238E27FC236}">
                <a16:creationId xmlns:a16="http://schemas.microsoft.com/office/drawing/2014/main" id="{B4D21BD0-2DE8-4519-A153-1C02F9F71D1C}"/>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4029538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84ED9-8421-41E3-90E6-D4DE75A9B384}"/>
              </a:ext>
            </a:extLst>
          </p:cNvPr>
          <p:cNvSpPr>
            <a:spLocks noGrp="1"/>
          </p:cNvSpPr>
          <p:nvPr>
            <p:ph type="title"/>
          </p:nvPr>
        </p:nvSpPr>
        <p:spPr>
          <a:xfrm>
            <a:off x="68179" y="17045"/>
            <a:ext cx="10515600" cy="725738"/>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Parallel Analysis** (Gold Standard)</a:t>
            </a:r>
          </a:p>
        </p:txBody>
      </p:sp>
      <p:sp>
        <p:nvSpPr>
          <p:cNvPr id="3" name="Content Placeholder 2">
            <a:extLst>
              <a:ext uri="{FF2B5EF4-FFF2-40B4-BE49-F238E27FC236}">
                <a16:creationId xmlns:a16="http://schemas.microsoft.com/office/drawing/2014/main" id="{938598B4-9DF3-4E91-8AE5-FF660925E3A3}"/>
              </a:ext>
            </a:extLst>
          </p:cNvPr>
          <p:cNvSpPr>
            <a:spLocks noGrp="1"/>
          </p:cNvSpPr>
          <p:nvPr>
            <p:ph idx="1"/>
          </p:nvPr>
        </p:nvSpPr>
        <p:spPr>
          <a:xfrm>
            <a:off x="228600" y="742783"/>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Compare the eigenvalues from the original data to the eigenvalues generated from a Monte Carlo simulated matrix created from randomly generated data of the same sample size</a:t>
            </a:r>
          </a:p>
          <a:p>
            <a:r>
              <a:rPr lang="en-US" sz="2000" dirty="0">
                <a:latin typeface="Calibri" panose="020F0502020204030204" pitchFamily="34" charset="0"/>
                <a:ea typeface="Calibri" panose="020F0502020204030204" pitchFamily="34" charset="0"/>
                <a:cs typeface="Calibri" panose="020F0502020204030204" pitchFamily="34" charset="0"/>
              </a:rPr>
              <a:t>Factors are retained when the </a:t>
            </a:r>
            <a:r>
              <a:rPr lang="en-US" sz="2000" i="1" dirty="0" err="1">
                <a:latin typeface="Calibri" panose="020F0502020204030204" pitchFamily="34" charset="0"/>
                <a:ea typeface="Calibri" panose="020F0502020204030204" pitchFamily="34" charset="0"/>
                <a:cs typeface="Calibri" panose="020F0502020204030204" pitchFamily="34" charset="0"/>
              </a:rPr>
              <a:t>i</a:t>
            </a:r>
            <a:r>
              <a:rPr lang="en-US" sz="2000" i="1" baseline="30000" dirty="0" err="1">
                <a:latin typeface="Calibri" panose="020F0502020204030204" pitchFamily="34" charset="0"/>
                <a:ea typeface="Calibri" panose="020F0502020204030204" pitchFamily="34" charset="0"/>
                <a:cs typeface="Calibri" panose="020F0502020204030204" pitchFamily="34" charset="0"/>
              </a:rPr>
              <a:t>th</a:t>
            </a:r>
            <a:r>
              <a:rPr lang="en-US" sz="2000" dirty="0">
                <a:latin typeface="Calibri" panose="020F0502020204030204" pitchFamily="34" charset="0"/>
                <a:ea typeface="Calibri" panose="020F0502020204030204" pitchFamily="34" charset="0"/>
                <a:cs typeface="Calibri" panose="020F0502020204030204" pitchFamily="34" charset="0"/>
              </a:rPr>
              <a:t> eigenvalue from the observed data is greater than the </a:t>
            </a:r>
            <a:r>
              <a:rPr lang="en-US" sz="2000" i="1" dirty="0" err="1">
                <a:latin typeface="Calibri" panose="020F0502020204030204" pitchFamily="34" charset="0"/>
                <a:ea typeface="Calibri" panose="020F0502020204030204" pitchFamily="34" charset="0"/>
                <a:cs typeface="Calibri" panose="020F0502020204030204" pitchFamily="34" charset="0"/>
              </a:rPr>
              <a:t>i</a:t>
            </a:r>
            <a:r>
              <a:rPr lang="en-US" sz="2000" i="1" baseline="30000" dirty="0" err="1">
                <a:latin typeface="Calibri" panose="020F0502020204030204" pitchFamily="34" charset="0"/>
                <a:ea typeface="Calibri" panose="020F0502020204030204" pitchFamily="34" charset="0"/>
                <a:cs typeface="Calibri" panose="020F0502020204030204" pitchFamily="34" charset="0"/>
              </a:rPr>
              <a:t>th</a:t>
            </a:r>
            <a:r>
              <a:rPr lang="en-US" sz="2000" dirty="0">
                <a:latin typeface="Calibri" panose="020F0502020204030204" pitchFamily="34" charset="0"/>
                <a:ea typeface="Calibri" panose="020F0502020204030204" pitchFamily="34" charset="0"/>
                <a:cs typeface="Calibri" panose="020F0502020204030204" pitchFamily="34" charset="0"/>
              </a:rPr>
              <a:t> eigenvalue from the random data</a:t>
            </a:r>
          </a:p>
          <a:p>
            <a:r>
              <a:rPr lang="en-US" sz="2000" dirty="0">
                <a:latin typeface="Calibri" panose="020F0502020204030204" pitchFamily="34" charset="0"/>
                <a:ea typeface="Calibri" panose="020F0502020204030204" pitchFamily="34" charset="0"/>
                <a:cs typeface="Calibri" panose="020F0502020204030204" pitchFamily="34" charset="0"/>
              </a:rPr>
              <a:t>Superior to both previous methods</a:t>
            </a:r>
          </a:p>
          <a:p>
            <a:r>
              <a:rPr lang="en-US" sz="2000" b="1" dirty="0">
                <a:latin typeface="Calibri" panose="020F0502020204030204" pitchFamily="34" charset="0"/>
                <a:ea typeface="Calibri" panose="020F0502020204030204" pitchFamily="34" charset="0"/>
                <a:cs typeface="Calibri" panose="020F0502020204030204" pitchFamily="34" charset="0"/>
              </a:rPr>
              <a:t>Software note: </a:t>
            </a:r>
            <a:r>
              <a:rPr lang="en-US" sz="2000" dirty="0">
                <a:latin typeface="Calibri" panose="020F0502020204030204" pitchFamily="34" charset="0"/>
                <a:ea typeface="Calibri" panose="020F0502020204030204" pitchFamily="34" charset="0"/>
                <a:cs typeface="Calibri" panose="020F0502020204030204" pitchFamily="34" charset="0"/>
              </a:rPr>
              <a:t>SPSS doesn’t provide this – do it in JASP, R (e.g., psych::</a:t>
            </a:r>
            <a:r>
              <a:rPr lang="en-US" sz="2000" dirty="0" err="1">
                <a:latin typeface="Calibri" panose="020F0502020204030204" pitchFamily="34" charset="0"/>
                <a:ea typeface="Calibri" panose="020F0502020204030204" pitchFamily="34" charset="0"/>
                <a:cs typeface="Calibri" panose="020F0502020204030204" pitchFamily="34" charset="0"/>
              </a:rPr>
              <a:t>fa.parallel</a:t>
            </a:r>
            <a:r>
              <a:rPr lang="en-US" sz="2000" dirty="0">
                <a:latin typeface="Calibri" panose="020F0502020204030204" pitchFamily="34" charset="0"/>
                <a:ea typeface="Calibri" panose="020F0502020204030204" pitchFamily="34" charset="0"/>
                <a:cs typeface="Calibri" panose="020F0502020204030204" pitchFamily="34" charset="0"/>
              </a:rPr>
              <a:t>), or </a:t>
            </a:r>
            <a:r>
              <a:rPr lang="en-US" sz="2000" dirty="0" err="1">
                <a:latin typeface="Calibri" panose="020F0502020204030204" pitchFamily="34" charset="0"/>
                <a:ea typeface="Calibri" panose="020F0502020204030204" pitchFamily="34" charset="0"/>
                <a:cs typeface="Calibri" panose="020F0502020204030204" pitchFamily="34" charset="0"/>
              </a:rPr>
              <a:t>Jamovi</a:t>
            </a:r>
            <a:r>
              <a:rPr lang="en-US" sz="2000" dirty="0">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521760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49900" y="111280"/>
            <a:ext cx="10363200" cy="824740"/>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Step 5: Interpreting the Factors</a:t>
            </a:r>
          </a:p>
        </p:txBody>
      </p:sp>
      <p:sp>
        <p:nvSpPr>
          <p:cNvPr id="7" name="Text Placeholder 6"/>
          <p:cNvSpPr>
            <a:spLocks noGrp="1"/>
          </p:cNvSpPr>
          <p:nvPr>
            <p:ph type="body" idx="1"/>
          </p:nvPr>
        </p:nvSpPr>
        <p:spPr>
          <a:xfrm>
            <a:off x="449900" y="1001334"/>
            <a:ext cx="10363200" cy="2931781"/>
          </a:xfrm>
        </p:spPr>
        <p:txBody>
          <a:bodyPr>
            <a:normAutofit/>
          </a:bodyPr>
          <a:lstStyle/>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The Three Processes of Factor Interpretation</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Factor Extraction</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Rotation of Factors</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Judging the Significance of Factor Loadings</a:t>
            </a:r>
          </a:p>
          <a:p>
            <a:r>
              <a:rPr lang="en-US" sz="2000" dirty="0">
                <a:solidFill>
                  <a:schemeClr val="tx1"/>
                </a:solidFill>
                <a:latin typeface="Calibri" panose="020F0502020204030204" pitchFamily="34" charset="0"/>
                <a:ea typeface="Calibri" panose="020F0502020204030204" pitchFamily="34" charset="0"/>
                <a:cs typeface="Calibri" panose="020F0502020204030204" pitchFamily="34" charset="0"/>
              </a:rPr>
              <a:t>Interpreting a Factor Matrix</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48</a:t>
            </a:fld>
            <a:endParaRPr lang="en-US" dirty="0"/>
          </a:p>
        </p:txBody>
      </p:sp>
      <p:sp>
        <p:nvSpPr>
          <p:cNvPr id="8" name="Footer Placeholder 3">
            <a:extLst>
              <a:ext uri="{FF2B5EF4-FFF2-40B4-BE49-F238E27FC236}">
                <a16:creationId xmlns:a16="http://schemas.microsoft.com/office/drawing/2014/main" id="{7E63104A-3E69-4A1D-910F-E3039522F521}"/>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6738795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0885" y="190583"/>
            <a:ext cx="10515600" cy="864585"/>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The Three Processes of Factor Interpretation</a:t>
            </a:r>
          </a:p>
        </p:txBody>
      </p:sp>
      <p:sp>
        <p:nvSpPr>
          <p:cNvPr id="7" name="Content Placeholder 6"/>
          <p:cNvSpPr>
            <a:spLocks noGrp="1"/>
          </p:cNvSpPr>
          <p:nvPr>
            <p:ph idx="1"/>
          </p:nvPr>
        </p:nvSpPr>
        <p:spPr>
          <a:xfrm>
            <a:off x="377742" y="921585"/>
            <a:ext cx="11606679" cy="4616450"/>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Estimate the Factor matrix</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Compute </a:t>
            </a:r>
            <a:r>
              <a:rPr lang="en-US" sz="2000" u="sng" dirty="0">
                <a:latin typeface="Calibri" panose="020F0502020204030204" pitchFamily="34" charset="0"/>
                <a:ea typeface="Calibri" panose="020F0502020204030204" pitchFamily="34" charset="0"/>
                <a:cs typeface="Calibri" panose="020F0502020204030204" pitchFamily="34" charset="0"/>
              </a:rPr>
              <a:t>unrotated factor loadings</a:t>
            </a:r>
            <a:r>
              <a:rPr lang="en-US" sz="2000" dirty="0">
                <a:latin typeface="Calibri" panose="020F0502020204030204" pitchFamily="34" charset="0"/>
                <a:ea typeface="Calibri" panose="020F0502020204030204" pitchFamily="34" charset="0"/>
                <a:cs typeface="Calibri" panose="020F0502020204030204" pitchFamily="34" charset="0"/>
              </a:rPr>
              <a:t> – correlation of variable and factor.</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If used strictly for </a:t>
            </a:r>
            <a:r>
              <a:rPr lang="en-US" sz="2000" u="sng" dirty="0">
                <a:latin typeface="Calibri" panose="020F0502020204030204" pitchFamily="34" charset="0"/>
                <a:ea typeface="Calibri" panose="020F0502020204030204" pitchFamily="34" charset="0"/>
                <a:cs typeface="Calibri" panose="020F0502020204030204" pitchFamily="34" charset="0"/>
              </a:rPr>
              <a:t>data reduction, the process can stop here</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Factor Rotation</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Employ a rotational method to achieve simpler and theoretically more meaningful factor solutions. </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In most cases, rotation of the factors improves the interpretation by reducing some of the ambiguities that often accompany initial unrotated factor solutions.</a:t>
            </a:r>
          </a:p>
          <a:p>
            <a:r>
              <a:rPr lang="en-US" sz="2000" b="1" dirty="0">
                <a:latin typeface="Calibri" panose="020F0502020204030204" pitchFamily="34" charset="0"/>
                <a:ea typeface="Calibri" panose="020F0502020204030204" pitchFamily="34" charset="0"/>
                <a:cs typeface="Calibri" panose="020F0502020204030204" pitchFamily="34" charset="0"/>
              </a:rPr>
              <a:t>Factor Interpretation and Re-specification</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Evaluate the (rotated) factor loadings for each variable in order to determine that variable’s role and contribution in determining the factor structure.</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Re-specification involves eliminating variables or extract different number of factors.</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49</a:t>
            </a:fld>
            <a:endParaRPr lang="en-US" dirty="0"/>
          </a:p>
        </p:txBody>
      </p:sp>
      <p:sp>
        <p:nvSpPr>
          <p:cNvPr id="8" name="Footer Placeholder 3">
            <a:extLst>
              <a:ext uri="{FF2B5EF4-FFF2-40B4-BE49-F238E27FC236}">
                <a16:creationId xmlns:a16="http://schemas.microsoft.com/office/drawing/2014/main" id="{9B343922-C736-4D87-A346-0572E7CDC181}"/>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1110318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683" y="207469"/>
            <a:ext cx="10515600" cy="780503"/>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Rotation of Factors</a:t>
            </a:r>
          </a:p>
        </p:txBody>
      </p:sp>
      <p:sp>
        <p:nvSpPr>
          <p:cNvPr id="3" name="Content Placeholder 2"/>
          <p:cNvSpPr>
            <a:spLocks noGrp="1"/>
          </p:cNvSpPr>
          <p:nvPr>
            <p:ph idx="1"/>
          </p:nvPr>
        </p:nvSpPr>
        <p:spPr>
          <a:xfrm>
            <a:off x="417786" y="987972"/>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Procedure</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The reference axes of the factors are turned about the origin until some other position has been reached. Loadings of each variable remain </a:t>
            </a:r>
            <a:r>
              <a:rPr lang="en-US" sz="2000" u="sng" dirty="0">
                <a:latin typeface="Calibri" panose="020F0502020204030204" pitchFamily="34" charset="0"/>
                <a:ea typeface="Calibri" panose="020F0502020204030204" pitchFamily="34" charset="0"/>
                <a:cs typeface="Calibri" panose="020F0502020204030204" pitchFamily="34" charset="0"/>
              </a:rPr>
              <a:t>fixed relative to other loadings</a:t>
            </a:r>
            <a:r>
              <a:rPr lang="en-US" sz="2000" dirty="0">
                <a:latin typeface="Calibri" panose="020F0502020204030204" pitchFamily="34" charset="0"/>
                <a:ea typeface="Calibri" panose="020F0502020204030204" pitchFamily="34" charset="0"/>
                <a:cs typeface="Calibri" panose="020F0502020204030204" pitchFamily="34" charset="0"/>
              </a:rPr>
              <a:t>.</a:t>
            </a:r>
            <a:r>
              <a:rPr lang="en-US" sz="2000" u="sng" dirty="0">
                <a:latin typeface="Calibri" panose="020F0502020204030204" pitchFamily="34" charset="0"/>
                <a:ea typeface="Calibri" panose="020F0502020204030204" pitchFamily="34" charset="0"/>
                <a:cs typeface="Calibri" panose="020F0502020204030204" pitchFamily="34" charset="0"/>
              </a:rPr>
              <a:t>  </a:t>
            </a:r>
          </a:p>
          <a:p>
            <a:r>
              <a:rPr lang="en-US" sz="2000" b="1" dirty="0">
                <a:latin typeface="Calibri" panose="020F0502020204030204" pitchFamily="34" charset="0"/>
                <a:ea typeface="Calibri" panose="020F0502020204030204" pitchFamily="34" charset="0"/>
                <a:cs typeface="Calibri" panose="020F0502020204030204" pitchFamily="34" charset="0"/>
              </a:rPr>
              <a:t>Impact</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The ultimate effect of rotating the factor matrix is to </a:t>
            </a:r>
            <a:r>
              <a:rPr lang="en-US" sz="2000" u="sng" dirty="0">
                <a:latin typeface="Calibri" panose="020F0502020204030204" pitchFamily="34" charset="0"/>
                <a:ea typeface="Calibri" panose="020F0502020204030204" pitchFamily="34" charset="0"/>
                <a:cs typeface="Calibri" panose="020F0502020204030204" pitchFamily="34" charset="0"/>
              </a:rPr>
              <a:t>redistribute the variance</a:t>
            </a:r>
            <a:r>
              <a:rPr lang="en-US" sz="2000" dirty="0">
                <a:latin typeface="Calibri" panose="020F0502020204030204" pitchFamily="34" charset="0"/>
                <a:ea typeface="Calibri" panose="020F0502020204030204" pitchFamily="34" charset="0"/>
                <a:cs typeface="Calibri" panose="020F0502020204030204" pitchFamily="34" charset="0"/>
              </a:rPr>
              <a:t> from earlier factors to later ones to </a:t>
            </a:r>
            <a:r>
              <a:rPr lang="en-US" sz="2000" u="sng" dirty="0">
                <a:latin typeface="Calibri" panose="020F0502020204030204" pitchFamily="34" charset="0"/>
                <a:ea typeface="Calibri" panose="020F0502020204030204" pitchFamily="34" charset="0"/>
                <a:cs typeface="Calibri" panose="020F0502020204030204" pitchFamily="34" charset="0"/>
              </a:rPr>
              <a:t>achieve a simpler, theoretically more meaningful factor pattern</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Alternative Methods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Orthogonal rotation – simplest approach which maintains orthogonality of factors.</a:t>
            </a:r>
          </a:p>
          <a:p>
            <a:pPr marL="1255712" lvl="2" indent="-342900"/>
            <a:r>
              <a:rPr lang="en-US" dirty="0">
                <a:latin typeface="Calibri" panose="020F0502020204030204" pitchFamily="34" charset="0"/>
                <a:ea typeface="Calibri" panose="020F0502020204030204" pitchFamily="34" charset="0"/>
                <a:cs typeface="Calibri" panose="020F0502020204030204" pitchFamily="34" charset="0"/>
              </a:rPr>
              <a:t>Most common method – VARIMAX.</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Oblique rotation – allows for correlation among rotated factors.</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50</a:t>
            </a:fld>
            <a:endParaRPr lang="en-US" dirty="0"/>
          </a:p>
        </p:txBody>
      </p:sp>
      <p:sp>
        <p:nvSpPr>
          <p:cNvPr id="6" name="Footer Placeholder 3">
            <a:extLst>
              <a:ext uri="{FF2B5EF4-FFF2-40B4-BE49-F238E27FC236}">
                <a16:creationId xmlns:a16="http://schemas.microsoft.com/office/drawing/2014/main" id="{A0FC8C1D-6435-4547-8334-4E7DB2930AB6}"/>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2279013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13FE3-C34F-46C3-877F-CAA975E582F8}"/>
              </a:ext>
            </a:extLst>
          </p:cNvPr>
          <p:cNvSpPr>
            <a:spLocks noGrp="1"/>
          </p:cNvSpPr>
          <p:nvPr>
            <p:ph type="title"/>
          </p:nvPr>
        </p:nvSpPr>
        <p:spPr>
          <a:xfrm>
            <a:off x="116305" y="59573"/>
            <a:ext cx="10515600" cy="621464"/>
          </a:xfrm>
        </p:spPr>
        <p:txBody>
          <a:bodyPr>
            <a:normAutofit fontScale="90000"/>
          </a:bodyPr>
          <a:lstStyle/>
          <a:p>
            <a:r>
              <a:rPr lang="en-US" dirty="0"/>
              <a:t>Factor Rotation (sharpening the results)</a:t>
            </a:r>
          </a:p>
        </p:txBody>
      </p:sp>
      <p:sp>
        <p:nvSpPr>
          <p:cNvPr id="3" name="Content Placeholder 2">
            <a:extLst>
              <a:ext uri="{FF2B5EF4-FFF2-40B4-BE49-F238E27FC236}">
                <a16:creationId xmlns:a16="http://schemas.microsoft.com/office/drawing/2014/main" id="{6ADC08E3-3A8A-41C5-A719-18CC7F5472A3}"/>
              </a:ext>
            </a:extLst>
          </p:cNvPr>
          <p:cNvSpPr>
            <a:spLocks noGrp="1"/>
          </p:cNvSpPr>
          <p:nvPr>
            <p:ph idx="1"/>
          </p:nvPr>
        </p:nvSpPr>
        <p:spPr>
          <a:xfrm>
            <a:off x="236300" y="704508"/>
            <a:ext cx="10515600" cy="5448983"/>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Rotation </a:t>
            </a:r>
            <a:r>
              <a:rPr lang="en-US" sz="2000" b="1" dirty="0">
                <a:latin typeface="Calibri" panose="020F0502020204030204" pitchFamily="34" charset="0"/>
                <a:ea typeface="Calibri" panose="020F0502020204030204" pitchFamily="34" charset="0"/>
                <a:cs typeface="Calibri" panose="020F0502020204030204" pitchFamily="34" charset="0"/>
              </a:rPr>
              <a:t>simply means turning the axes (factors)</a:t>
            </a:r>
            <a:r>
              <a:rPr lang="en-US" sz="2000" dirty="0">
                <a:latin typeface="Calibri" panose="020F0502020204030204" pitchFamily="34" charset="0"/>
                <a:ea typeface="Calibri" panose="020F0502020204030204" pitchFamily="34" charset="0"/>
                <a:cs typeface="Calibri" panose="020F0502020204030204" pitchFamily="34" charset="0"/>
              </a:rPr>
              <a:t> to a new angle to make the factor structure easier to interpret</a:t>
            </a:r>
          </a:p>
          <a:p>
            <a:r>
              <a:rPr lang="en-US" sz="2000" dirty="0">
                <a:latin typeface="Calibri" panose="020F0502020204030204" pitchFamily="34" charset="0"/>
                <a:ea typeface="Calibri" panose="020F0502020204030204" pitchFamily="34" charset="0"/>
                <a:cs typeface="Calibri" panose="020F0502020204030204" pitchFamily="34" charset="0"/>
              </a:rPr>
              <a:t>It doesn’t change the underlying math, but helps us see which variables load clearly onto which factors</a:t>
            </a:r>
          </a:p>
          <a:p>
            <a:r>
              <a:rPr lang="en-US" sz="2000" dirty="0">
                <a:latin typeface="Calibri" panose="020F0502020204030204" pitchFamily="34" charset="0"/>
                <a:ea typeface="Calibri" panose="020F0502020204030204" pitchFamily="34" charset="0"/>
                <a:cs typeface="Calibri" panose="020F0502020204030204" pitchFamily="34" charset="0"/>
              </a:rPr>
              <a:t>Why Rotate?</a:t>
            </a:r>
          </a:p>
          <a:p>
            <a:pPr lvl="1"/>
            <a:r>
              <a:rPr lang="en-US" sz="1800" dirty="0">
                <a:latin typeface="Calibri" panose="020F0502020204030204" pitchFamily="34" charset="0"/>
                <a:ea typeface="Calibri" panose="020F0502020204030204" pitchFamily="34" charset="0"/>
                <a:cs typeface="Calibri" panose="020F0502020204030204" pitchFamily="34" charset="0"/>
              </a:rPr>
              <a:t>Rotation helps clarify the factor loadings, making it easier to assign meaning to each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It spreads the loadings out more cleanly, so that each variable “belongs” more strongly to one factor instead of multiple</a:t>
            </a:r>
          </a:p>
        </p:txBody>
      </p:sp>
    </p:spTree>
    <p:extLst>
      <p:ext uri="{BB962C8B-B14F-4D97-AF65-F5344CB8AC3E}">
        <p14:creationId xmlns:p14="http://schemas.microsoft.com/office/powerpoint/2010/main" val="3838622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0D208-F4F9-47F7-AF34-2B6E93EB63F8}"/>
              </a:ext>
            </a:extLst>
          </p:cNvPr>
          <p:cNvSpPr>
            <a:spLocks noGrp="1"/>
          </p:cNvSpPr>
          <p:nvPr>
            <p:ph type="title"/>
          </p:nvPr>
        </p:nvSpPr>
        <p:spPr>
          <a:xfrm>
            <a:off x="108284" y="76367"/>
            <a:ext cx="10515600" cy="749801"/>
          </a:xfrm>
        </p:spPr>
        <p:txBody>
          <a:bodyPr/>
          <a:lstStyle/>
          <a:p>
            <a:r>
              <a:rPr lang="en-US" dirty="0"/>
              <a:t>Interpreting the factors</a:t>
            </a:r>
          </a:p>
        </p:txBody>
      </p:sp>
      <p:sp>
        <p:nvSpPr>
          <p:cNvPr id="3" name="Content Placeholder 2">
            <a:extLst>
              <a:ext uri="{FF2B5EF4-FFF2-40B4-BE49-F238E27FC236}">
                <a16:creationId xmlns:a16="http://schemas.microsoft.com/office/drawing/2014/main" id="{B995F661-5119-435E-93DB-DB2DECB5794B}"/>
              </a:ext>
            </a:extLst>
          </p:cNvPr>
          <p:cNvSpPr>
            <a:spLocks noGrp="1"/>
          </p:cNvSpPr>
          <p:nvPr>
            <p:ph idx="1"/>
          </p:nvPr>
        </p:nvSpPr>
        <p:spPr>
          <a:xfrm>
            <a:off x="228600" y="670594"/>
            <a:ext cx="11695176"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An iterative process</a:t>
            </a:r>
          </a:p>
          <a:p>
            <a:r>
              <a:rPr lang="en-US" sz="2000" dirty="0">
                <a:latin typeface="Calibri" panose="020F0502020204030204" pitchFamily="34" charset="0"/>
                <a:ea typeface="Calibri" panose="020F0502020204030204" pitchFamily="34" charset="0"/>
                <a:cs typeface="Calibri" panose="020F0502020204030204" pitchFamily="34" charset="0"/>
              </a:rPr>
              <a:t>Begins with estimating the factor matrix</a:t>
            </a:r>
          </a:p>
          <a:p>
            <a:pPr lvl="1"/>
            <a:r>
              <a:rPr lang="en-US" sz="2000" dirty="0">
                <a:latin typeface="Calibri" panose="020F0502020204030204" pitchFamily="34" charset="0"/>
                <a:ea typeface="Calibri" panose="020F0502020204030204" pitchFamily="34" charset="0"/>
                <a:cs typeface="Calibri" panose="020F0502020204030204" pitchFamily="34" charset="0"/>
              </a:rPr>
              <a:t>First, the initial </a:t>
            </a:r>
            <a:r>
              <a:rPr lang="en-US" sz="2000" b="1" dirty="0">
                <a:latin typeface="Calibri" panose="020F0502020204030204" pitchFamily="34" charset="0"/>
                <a:ea typeface="Calibri" panose="020F0502020204030204" pitchFamily="34" charset="0"/>
                <a:cs typeface="Calibri" panose="020F0502020204030204" pitchFamily="34" charset="0"/>
              </a:rPr>
              <a:t>unrotated</a:t>
            </a:r>
            <a:r>
              <a:rPr lang="en-US" sz="2000" dirty="0">
                <a:latin typeface="Calibri" panose="020F0502020204030204" pitchFamily="34" charset="0"/>
                <a:ea typeface="Calibri" panose="020F0502020204030204" pitchFamily="34" charset="0"/>
                <a:cs typeface="Calibri" panose="020F0502020204030204" pitchFamily="34" charset="0"/>
              </a:rPr>
              <a:t> factor matrix is computed, containing the factor loadings</a:t>
            </a:r>
          </a:p>
          <a:p>
            <a:pPr lvl="2"/>
            <a:r>
              <a:rPr lang="en-US" sz="1800" dirty="0">
                <a:latin typeface="Calibri" panose="020F0502020204030204" pitchFamily="34" charset="0"/>
                <a:ea typeface="Calibri" panose="020F0502020204030204" pitchFamily="34" charset="0"/>
                <a:cs typeface="Calibri" panose="020F0502020204030204" pitchFamily="34" charset="0"/>
              </a:rPr>
              <a:t>This is the first solution the software calculates</a:t>
            </a:r>
          </a:p>
          <a:p>
            <a:pPr lvl="2"/>
            <a:r>
              <a:rPr lang="en-US" sz="1800" dirty="0">
                <a:latin typeface="Calibri" panose="020F0502020204030204" pitchFamily="34" charset="0"/>
                <a:ea typeface="Calibri" panose="020F0502020204030204" pitchFamily="34" charset="0"/>
                <a:cs typeface="Calibri" panose="020F0502020204030204" pitchFamily="34" charset="0"/>
              </a:rPr>
              <a:t>It finds factors that explain the maximum variance in the data</a:t>
            </a:r>
          </a:p>
          <a:p>
            <a:pPr lvl="2"/>
            <a:r>
              <a:rPr lang="en-US" sz="1800" dirty="0">
                <a:latin typeface="Calibri" panose="020F0502020204030204" pitchFamily="34" charset="0"/>
                <a:ea typeface="Calibri" panose="020F0502020204030204" pitchFamily="34" charset="0"/>
                <a:cs typeface="Calibri" panose="020F0502020204030204" pitchFamily="34" charset="0"/>
              </a:rPr>
              <a:t>But: this solution is </a:t>
            </a:r>
            <a:r>
              <a:rPr lang="en-US" sz="1800" b="1" dirty="0">
                <a:latin typeface="Calibri" panose="020F0502020204030204" pitchFamily="34" charset="0"/>
                <a:ea typeface="Calibri" panose="020F0502020204030204" pitchFamily="34" charset="0"/>
                <a:cs typeface="Calibri" panose="020F0502020204030204" pitchFamily="34" charset="0"/>
              </a:rPr>
              <a:t>often hard to interpret</a:t>
            </a:r>
            <a:r>
              <a:rPr lang="en-US" sz="1800" dirty="0">
                <a:latin typeface="Calibri" panose="020F0502020204030204" pitchFamily="34" charset="0"/>
                <a:ea typeface="Calibri" panose="020F0502020204030204" pitchFamily="34" charset="0"/>
                <a:cs typeface="Calibri" panose="020F0502020204030204" pitchFamily="34" charset="0"/>
              </a:rPr>
              <a:t>, because each variable may load on multiple factors</a:t>
            </a:r>
          </a:p>
          <a:p>
            <a:pPr lvl="2"/>
            <a:r>
              <a:rPr lang="en-US" sz="1800" dirty="0">
                <a:latin typeface="Calibri" panose="020F0502020204030204" pitchFamily="34" charset="0"/>
                <a:ea typeface="Calibri" panose="020F0502020204030204" pitchFamily="34" charset="0"/>
                <a:cs typeface="Calibri" panose="020F0502020204030204" pitchFamily="34" charset="0"/>
              </a:rPr>
              <a:t>It gives you the structure, but it's like looking at a blurry picture</a:t>
            </a:r>
          </a:p>
          <a:p>
            <a:pPr lvl="1"/>
            <a:r>
              <a:rPr lang="en-US" sz="2000" b="1" dirty="0">
                <a:latin typeface="Calibri" panose="020F0502020204030204" pitchFamily="34" charset="0"/>
                <a:ea typeface="Calibri" panose="020F0502020204030204" pitchFamily="34" charset="0"/>
                <a:cs typeface="Calibri" panose="020F0502020204030204" pitchFamily="34" charset="0"/>
              </a:rPr>
              <a:t>Rotated</a:t>
            </a:r>
            <a:r>
              <a:rPr lang="en-US" sz="2000" dirty="0">
                <a:latin typeface="Calibri" panose="020F0502020204030204" pitchFamily="34" charset="0"/>
                <a:ea typeface="Calibri" panose="020F0502020204030204" pitchFamily="34" charset="0"/>
                <a:cs typeface="Calibri" panose="020F0502020204030204" pitchFamily="34" charset="0"/>
              </a:rPr>
              <a:t> factor loadings are the correlation of each variable and the factor</a:t>
            </a:r>
          </a:p>
          <a:p>
            <a:pPr lvl="2"/>
            <a:r>
              <a:rPr lang="en-US" sz="1800" dirty="0">
                <a:latin typeface="Calibri" panose="020F0502020204030204" pitchFamily="34" charset="0"/>
                <a:ea typeface="Calibri" panose="020F0502020204030204" pitchFamily="34" charset="0"/>
                <a:cs typeface="Calibri" panose="020F0502020204030204" pitchFamily="34" charset="0"/>
              </a:rPr>
              <a:t>Rotation is a mathematical adjustment to make the factor structure more interpretable</a:t>
            </a:r>
          </a:p>
          <a:p>
            <a:pPr lvl="2"/>
            <a:r>
              <a:rPr lang="en-US" sz="1800" dirty="0">
                <a:latin typeface="Calibri" panose="020F0502020204030204" pitchFamily="34" charset="0"/>
                <a:ea typeface="Calibri" panose="020F0502020204030204" pitchFamily="34" charset="0"/>
                <a:cs typeface="Calibri" panose="020F0502020204030204" pitchFamily="34" charset="0"/>
              </a:rPr>
              <a:t>After rotation, variables usually load more strongly on one factor, and weakly on others</a:t>
            </a:r>
          </a:p>
          <a:p>
            <a:pPr lvl="2"/>
            <a:r>
              <a:rPr lang="en-US" sz="1800" dirty="0">
                <a:latin typeface="Calibri" panose="020F0502020204030204" pitchFamily="34" charset="0"/>
                <a:ea typeface="Calibri" panose="020F0502020204030204" pitchFamily="34" charset="0"/>
                <a:cs typeface="Calibri" panose="020F0502020204030204" pitchFamily="34" charset="0"/>
              </a:rPr>
              <a:t>This makes it easier to name the factors based on the items that group together</a:t>
            </a:r>
          </a:p>
          <a:p>
            <a:pPr lvl="2"/>
            <a:r>
              <a:rPr lang="en-US" sz="1800" dirty="0">
                <a:latin typeface="Calibri" panose="020F0502020204030204" pitchFamily="34" charset="0"/>
                <a:ea typeface="Calibri" panose="020F0502020204030204" pitchFamily="34" charset="0"/>
                <a:cs typeface="Calibri" panose="020F0502020204030204" pitchFamily="34" charset="0"/>
              </a:rPr>
              <a:t>You typically use rotated loadings to interpret the factors</a:t>
            </a:r>
          </a:p>
        </p:txBody>
      </p:sp>
    </p:spTree>
    <p:extLst>
      <p:ext uri="{BB962C8B-B14F-4D97-AF65-F5344CB8AC3E}">
        <p14:creationId xmlns:p14="http://schemas.microsoft.com/office/powerpoint/2010/main" val="1920395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BB64A-5C5E-57BB-56FE-DC83E21EF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BA793-69D6-D129-49B0-3BBAE9A3EF5C}"/>
              </a:ext>
            </a:extLst>
          </p:cNvPr>
          <p:cNvSpPr>
            <a:spLocks noGrp="1"/>
          </p:cNvSpPr>
          <p:nvPr>
            <p:ph type="title"/>
          </p:nvPr>
        </p:nvSpPr>
        <p:spPr>
          <a:xfrm>
            <a:off x="0" y="0"/>
            <a:ext cx="10515600" cy="528386"/>
          </a:xfrm>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12A13B97-8108-0AA7-F2EA-B3C21E02E3CF}"/>
              </a:ext>
            </a:extLst>
          </p:cNvPr>
          <p:cNvSpPr>
            <a:spLocks noGrp="1"/>
          </p:cNvSpPr>
          <p:nvPr>
            <p:ph idx="1"/>
          </p:nvPr>
        </p:nvSpPr>
        <p:spPr>
          <a:xfrm>
            <a:off x="132347" y="528386"/>
            <a:ext cx="10515600"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Imagine you're doing factor analysis on 10 survey items</a:t>
            </a:r>
          </a:p>
          <a:p>
            <a:r>
              <a:rPr lang="en-US" sz="2000" dirty="0">
                <a:latin typeface="Calibri" panose="020F0502020204030204" pitchFamily="34" charset="0"/>
                <a:ea typeface="Calibri" panose="020F0502020204030204" pitchFamily="34" charset="0"/>
                <a:cs typeface="Calibri" panose="020F0502020204030204" pitchFamily="34" charset="0"/>
              </a:rPr>
              <a:t>Unrotated loadings might show every item loading a little on all factors (messy!)</a:t>
            </a:r>
          </a:p>
          <a:p>
            <a:r>
              <a:rPr lang="en-US" sz="2000" dirty="0">
                <a:latin typeface="Calibri" panose="020F0502020204030204" pitchFamily="34" charset="0"/>
                <a:ea typeface="Calibri" panose="020F0502020204030204" pitchFamily="34" charset="0"/>
                <a:cs typeface="Calibri" panose="020F0502020204030204" pitchFamily="34" charset="0"/>
              </a:rPr>
              <a:t>Rotated loadings will try to "clean this up" so:</a:t>
            </a:r>
          </a:p>
          <a:p>
            <a:pPr lvl="1"/>
            <a:r>
              <a:rPr lang="en-US" sz="1600" dirty="0">
                <a:latin typeface="Calibri" panose="020F0502020204030204" pitchFamily="34" charset="0"/>
                <a:ea typeface="Calibri" panose="020F0502020204030204" pitchFamily="34" charset="0"/>
                <a:cs typeface="Calibri" panose="020F0502020204030204" pitchFamily="34" charset="0"/>
              </a:rPr>
              <a:t>Items 1–5 load strongly on Factor 1 → You might label this "Anxiety“</a:t>
            </a:r>
          </a:p>
          <a:p>
            <a:pPr lvl="1"/>
            <a:r>
              <a:rPr lang="en-US" sz="1600" dirty="0">
                <a:latin typeface="Calibri" panose="020F0502020204030204" pitchFamily="34" charset="0"/>
                <a:ea typeface="Calibri" panose="020F0502020204030204" pitchFamily="34" charset="0"/>
                <a:cs typeface="Calibri" panose="020F0502020204030204" pitchFamily="34" charset="0"/>
              </a:rPr>
              <a:t>Items 6–10 load strongly on Factor 2 → You might label this "Depression“</a:t>
            </a:r>
          </a:p>
          <a:p>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focus on the rotated loadings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182291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FFE9F-62F3-CEC5-AB69-DF67D1E6C8B6}"/>
              </a:ext>
            </a:extLst>
          </p:cNvPr>
          <p:cNvSpPr>
            <a:spLocks noGrp="1"/>
          </p:cNvSpPr>
          <p:nvPr>
            <p:ph type="title"/>
          </p:nvPr>
        </p:nvSpPr>
        <p:spPr>
          <a:xfrm>
            <a:off x="90054" y="87745"/>
            <a:ext cx="10515600" cy="687820"/>
          </a:xfrm>
        </p:spPr>
        <p:txBody>
          <a:bodyPr>
            <a:norm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Must rotate factors, different rotation types</a:t>
            </a:r>
          </a:p>
        </p:txBody>
      </p:sp>
      <p:sp>
        <p:nvSpPr>
          <p:cNvPr id="3" name="Content Placeholder 2">
            <a:extLst>
              <a:ext uri="{FF2B5EF4-FFF2-40B4-BE49-F238E27FC236}">
                <a16:creationId xmlns:a16="http://schemas.microsoft.com/office/drawing/2014/main" id="{98EC8254-DF3B-64F8-2633-784222B01666}"/>
              </a:ext>
            </a:extLst>
          </p:cNvPr>
          <p:cNvSpPr>
            <a:spLocks noGrp="1"/>
          </p:cNvSpPr>
          <p:nvPr>
            <p:ph idx="1"/>
          </p:nvPr>
        </p:nvSpPr>
        <p:spPr>
          <a:xfrm>
            <a:off x="228599" y="661843"/>
            <a:ext cx="11538527" cy="4351338"/>
          </a:xfrm>
        </p:spPr>
        <p:txBody>
          <a:bodyPr/>
          <a:lstStyle/>
          <a:p>
            <a:r>
              <a:rPr lang="en-US" sz="2000" dirty="0">
                <a:latin typeface="Calibri" panose="020F0502020204030204" pitchFamily="34" charset="0"/>
                <a:ea typeface="Calibri" panose="020F0502020204030204" pitchFamily="34" charset="0"/>
                <a:cs typeface="Calibri" panose="020F0502020204030204" pitchFamily="34" charset="0"/>
              </a:rPr>
              <a:t>When choosing a rotation method, ask yourself: Do I expect my factors to be correlated? </a:t>
            </a:r>
            <a:r>
              <a:rPr lang="en-US" sz="2000" b="1" dirty="0">
                <a:latin typeface="Calibri" panose="020F0502020204030204" pitchFamily="34" charset="0"/>
                <a:ea typeface="Calibri" panose="020F0502020204030204" pitchFamily="34" charset="0"/>
                <a:cs typeface="Calibri" panose="020F0502020204030204" pitchFamily="34" charset="0"/>
              </a:rPr>
              <a:t>YES</a:t>
            </a: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Constructs like depression and anxiety, or trauma and risk-taking, are rarely independent. Psychological, behavioral, and social variables tend to overlap</a:t>
            </a:r>
          </a:p>
          <a:p>
            <a:pPr lvl="1"/>
            <a:r>
              <a:rPr lang="en-US" sz="1800" dirty="0">
                <a:latin typeface="Calibri" panose="020F0502020204030204" pitchFamily="34" charset="0"/>
                <a:ea typeface="Calibri" panose="020F0502020204030204" pitchFamily="34" charset="0"/>
                <a:cs typeface="Calibri" panose="020F0502020204030204" pitchFamily="34" charset="0"/>
              </a:rPr>
              <a:t>Oblique rotation (e.g., Promax, </a:t>
            </a:r>
            <a:r>
              <a:rPr lang="en-US" sz="1800" dirty="0" err="1">
                <a:latin typeface="Calibri" panose="020F0502020204030204" pitchFamily="34" charset="0"/>
                <a:ea typeface="Calibri" panose="020F0502020204030204" pitchFamily="34" charset="0"/>
                <a:cs typeface="Calibri" panose="020F0502020204030204" pitchFamily="34" charset="0"/>
              </a:rPr>
              <a:t>Oblimin</a:t>
            </a:r>
            <a:r>
              <a:rPr lang="en-US" sz="1800" dirty="0">
                <a:latin typeface="Calibri" panose="020F0502020204030204" pitchFamily="34" charset="0"/>
                <a:ea typeface="Calibri" panose="020F0502020204030204" pitchFamily="34" charset="0"/>
                <a:cs typeface="Calibri" panose="020F0502020204030204" pitchFamily="34" charset="0"/>
              </a:rPr>
              <a:t>) allows factors to correlate</a:t>
            </a:r>
          </a:p>
          <a:p>
            <a:pPr lvl="1"/>
            <a:r>
              <a:rPr lang="en-US" sz="1800" dirty="0">
                <a:latin typeface="Calibri" panose="020F0502020204030204" pitchFamily="34" charset="0"/>
                <a:ea typeface="Calibri" panose="020F0502020204030204" pitchFamily="34" charset="0"/>
                <a:cs typeface="Calibri" panose="020F0502020204030204" pitchFamily="34" charset="0"/>
              </a:rPr>
              <a:t>Orthogonal rotation (like Varimax) forces factors to be uncorrelated</a:t>
            </a:r>
          </a:p>
          <a:p>
            <a:r>
              <a:rPr lang="en-US" sz="2000" dirty="0">
                <a:latin typeface="Calibri" panose="020F0502020204030204" pitchFamily="34" charset="0"/>
                <a:ea typeface="Calibri" panose="020F0502020204030204" pitchFamily="34" charset="0"/>
                <a:cs typeface="Calibri" panose="020F0502020204030204" pitchFamily="34" charset="0"/>
              </a:rPr>
              <a:t>Using varimax rotation distorts underlying relationships</a:t>
            </a:r>
          </a:p>
          <a:p>
            <a:r>
              <a:rPr lang="en-US" sz="2000" dirty="0">
                <a:latin typeface="Calibri" panose="020F0502020204030204" pitchFamily="34" charset="0"/>
                <a:ea typeface="Calibri" panose="020F0502020204030204" pitchFamily="34" charset="0"/>
                <a:cs typeface="Calibri" panose="020F0502020204030204" pitchFamily="34" charset="0"/>
              </a:rPr>
              <a:t>In most social science applications, </a:t>
            </a:r>
            <a:r>
              <a:rPr lang="en-US" sz="2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use oblique rotation</a:t>
            </a:r>
            <a:r>
              <a:rPr lang="en-US" sz="2000" dirty="0">
                <a:latin typeface="Calibri" panose="020F0502020204030204" pitchFamily="34" charset="0"/>
                <a:ea typeface="Calibri" panose="020F0502020204030204" pitchFamily="34" charset="0"/>
                <a:cs typeface="Calibri" panose="020F0502020204030204" pitchFamily="34" charset="0"/>
              </a:rPr>
              <a:t>—because constructs are not independent (disinvestment example, redux).</a:t>
            </a:r>
            <a:endParaRPr lang="en-US" dirty="0"/>
          </a:p>
        </p:txBody>
      </p:sp>
      <p:graphicFrame>
        <p:nvGraphicFramePr>
          <p:cNvPr id="9" name="Table 8">
            <a:extLst>
              <a:ext uri="{FF2B5EF4-FFF2-40B4-BE49-F238E27FC236}">
                <a16:creationId xmlns:a16="http://schemas.microsoft.com/office/drawing/2014/main" id="{B55BC7FB-B272-7EB2-558C-5454D9F5951D}"/>
              </a:ext>
            </a:extLst>
          </p:cNvPr>
          <p:cNvGraphicFramePr>
            <a:graphicFrameLocks noGrp="1"/>
          </p:cNvGraphicFramePr>
          <p:nvPr>
            <p:extLst>
              <p:ext uri="{D42A27DB-BD31-4B8C-83A1-F6EECF244321}">
                <p14:modId xmlns:p14="http://schemas.microsoft.com/office/powerpoint/2010/main" val="2090257238"/>
              </p:ext>
            </p:extLst>
          </p:nvPr>
        </p:nvGraphicFramePr>
        <p:xfrm>
          <a:off x="228599" y="3429000"/>
          <a:ext cx="11538528" cy="1920240"/>
        </p:xfrm>
        <a:graphic>
          <a:graphicData uri="http://schemas.openxmlformats.org/drawingml/2006/table">
            <a:tbl>
              <a:tblPr>
                <a:tableStyleId>{F5AB1C69-6EDB-4FF4-983F-18BD219EF322}</a:tableStyleId>
              </a:tblPr>
              <a:tblGrid>
                <a:gridCol w="3846176">
                  <a:extLst>
                    <a:ext uri="{9D8B030D-6E8A-4147-A177-3AD203B41FA5}">
                      <a16:colId xmlns:a16="http://schemas.microsoft.com/office/drawing/2014/main" val="3648417140"/>
                    </a:ext>
                  </a:extLst>
                </a:gridCol>
                <a:gridCol w="3846176">
                  <a:extLst>
                    <a:ext uri="{9D8B030D-6E8A-4147-A177-3AD203B41FA5}">
                      <a16:colId xmlns:a16="http://schemas.microsoft.com/office/drawing/2014/main" val="1733512643"/>
                    </a:ext>
                  </a:extLst>
                </a:gridCol>
                <a:gridCol w="3846176">
                  <a:extLst>
                    <a:ext uri="{9D8B030D-6E8A-4147-A177-3AD203B41FA5}">
                      <a16:colId xmlns:a16="http://schemas.microsoft.com/office/drawing/2014/main" val="3191050712"/>
                    </a:ext>
                  </a:extLst>
                </a:gridCol>
              </a:tblGrid>
              <a:tr h="0">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Type</a:t>
                      </a:r>
                    </a:p>
                  </a:txBody>
                  <a:tcPr anchor="ctr"/>
                </a:tc>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Factors Are...</a:t>
                      </a:r>
                    </a:p>
                  </a:txBody>
                  <a:tcPr anchor="ctr"/>
                </a:tc>
                <a:tc>
                  <a:txBody>
                    <a:bodyPr/>
                    <a:lstStyle/>
                    <a:p>
                      <a:r>
                        <a:rPr lang="en-US" b="1" dirty="0">
                          <a:latin typeface="Calibri" panose="020F0502020204030204" pitchFamily="34" charset="0"/>
                          <a:ea typeface="Calibri" panose="020F0502020204030204" pitchFamily="34" charset="0"/>
                          <a:cs typeface="Calibri" panose="020F0502020204030204" pitchFamily="34" charset="0"/>
                        </a:rPr>
                        <a:t>Use When...</a:t>
                      </a:r>
                    </a:p>
                  </a:txBody>
                  <a:tcPr anchor="ctr"/>
                </a:tc>
                <a:extLst>
                  <a:ext uri="{0D108BD9-81ED-4DB2-BD59-A6C34878D82A}">
                    <a16:rowId xmlns:a16="http://schemas.microsoft.com/office/drawing/2014/main" val="723449549"/>
                  </a:ext>
                </a:extLst>
              </a:tr>
              <a:tr h="0">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Orthogonal</a:t>
                      </a:r>
                    </a:p>
                  </a:txBody>
                  <a:tcPr anchor="ctr"/>
                </a:tc>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Uncorrelated</a:t>
                      </a:r>
                    </a:p>
                  </a:txBody>
                  <a:tcPr anchor="ct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You assume the factors are independent (rare).</a:t>
                      </a:r>
                    </a:p>
                  </a:txBody>
                  <a:tcPr anchor="ctr"/>
                </a:tc>
                <a:extLst>
                  <a:ext uri="{0D108BD9-81ED-4DB2-BD59-A6C34878D82A}">
                    <a16:rowId xmlns:a16="http://schemas.microsoft.com/office/drawing/2014/main" val="4013337153"/>
                  </a:ext>
                </a:extLst>
              </a:tr>
              <a:tr h="0">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Oblique</a:t>
                      </a:r>
                    </a:p>
                  </a:txBody>
                  <a:tcPr anchor="ctr"/>
                </a:tc>
                <a:tc>
                  <a:txBody>
                    <a:bodyPr/>
                    <a:lstStyle/>
                    <a:p>
                      <a:r>
                        <a:rPr lang="en-US" b="0" dirty="0">
                          <a:latin typeface="Calibri" panose="020F0502020204030204" pitchFamily="34" charset="0"/>
                          <a:ea typeface="Calibri" panose="020F0502020204030204" pitchFamily="34" charset="0"/>
                          <a:cs typeface="Calibri" panose="020F0502020204030204" pitchFamily="34" charset="0"/>
                        </a:rPr>
                        <a:t>Correlated</a:t>
                      </a:r>
                    </a:p>
                  </a:txBody>
                  <a:tcPr anchor="ctr"/>
                </a:tc>
                <a:tc>
                  <a:txBody>
                    <a:bodyPr/>
                    <a:lstStyle/>
                    <a:p>
                      <a:r>
                        <a:rPr lang="en-US" dirty="0">
                          <a:latin typeface="Calibri" panose="020F0502020204030204" pitchFamily="34" charset="0"/>
                          <a:ea typeface="Calibri" panose="020F0502020204030204" pitchFamily="34" charset="0"/>
                          <a:cs typeface="Calibri" panose="020F0502020204030204" pitchFamily="34" charset="0"/>
                        </a:rPr>
                        <a:t>More realistic for psychology/social sciences constructs that are highly interdependent</a:t>
                      </a:r>
                    </a:p>
                  </a:txBody>
                  <a:tcPr anchor="ctr"/>
                </a:tc>
                <a:extLst>
                  <a:ext uri="{0D108BD9-81ED-4DB2-BD59-A6C34878D82A}">
                    <a16:rowId xmlns:a16="http://schemas.microsoft.com/office/drawing/2014/main" val="1181635222"/>
                  </a:ext>
                </a:extLst>
              </a:tr>
            </a:tbl>
          </a:graphicData>
        </a:graphic>
      </p:graphicFrame>
    </p:spTree>
    <p:extLst>
      <p:ext uri="{BB962C8B-B14F-4D97-AF65-F5344CB8AC3E}">
        <p14:creationId xmlns:p14="http://schemas.microsoft.com/office/powerpoint/2010/main" val="23845192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742A6-D35E-4DA3-7B2A-8A197AB2A0FF}"/>
              </a:ext>
            </a:extLst>
          </p:cNvPr>
          <p:cNvSpPr>
            <a:spLocks noGrp="1"/>
          </p:cNvSpPr>
          <p:nvPr>
            <p:ph type="title"/>
          </p:nvPr>
        </p:nvSpPr>
        <p:spPr>
          <a:xfrm>
            <a:off x="61603" y="141840"/>
            <a:ext cx="4431792" cy="505648"/>
          </a:xfrm>
        </p:spPr>
        <p:txBody>
          <a:bodyPr>
            <a:normAutofit fontScale="90000"/>
          </a:bodyPr>
          <a:lstStyle/>
          <a:p>
            <a:r>
              <a:rPr lang="en-US" sz="4000" dirty="0">
                <a:latin typeface="Calibri" panose="020F0502020204030204" pitchFamily="34" charset="0"/>
                <a:ea typeface="Calibri" panose="020F0502020204030204" pitchFamily="34" charset="0"/>
                <a:cs typeface="Calibri" panose="020F0502020204030204" pitchFamily="34" charset="0"/>
              </a:rPr>
              <a:t>Rotation (</a:t>
            </a:r>
            <a:r>
              <a:rPr lang="en-US" sz="4000" dirty="0" err="1">
                <a:latin typeface="Calibri" panose="020F0502020204030204" pitchFamily="34" charset="0"/>
                <a:ea typeface="Calibri" panose="020F0502020204030204" pitchFamily="34" charset="0"/>
                <a:cs typeface="Calibri" panose="020F0502020204030204" pitchFamily="34" charset="0"/>
              </a:rPr>
              <a:t>Cont’D</a:t>
            </a:r>
            <a:r>
              <a:rPr lang="en-US" sz="4000" dirty="0">
                <a:latin typeface="Calibri" panose="020F0502020204030204" pitchFamily="34" charset="0"/>
                <a:ea typeface="Calibri" panose="020F0502020204030204" pitchFamily="34" charset="0"/>
                <a:cs typeface="Calibri" panose="020F0502020204030204" pitchFamily="34" charset="0"/>
              </a:rPr>
              <a:t>)</a:t>
            </a:r>
          </a:p>
        </p:txBody>
      </p:sp>
      <p:sp>
        <p:nvSpPr>
          <p:cNvPr id="3" name="Content Placeholder 2">
            <a:extLst>
              <a:ext uri="{FF2B5EF4-FFF2-40B4-BE49-F238E27FC236}">
                <a16:creationId xmlns:a16="http://schemas.microsoft.com/office/drawing/2014/main" id="{9544979D-1753-A417-B791-30D9B58E01A6}"/>
              </a:ext>
            </a:extLst>
          </p:cNvPr>
          <p:cNvSpPr>
            <a:spLocks noGrp="1"/>
          </p:cNvSpPr>
          <p:nvPr>
            <p:ph idx="1"/>
          </p:nvPr>
        </p:nvSpPr>
        <p:spPr>
          <a:xfrm>
            <a:off x="181918" y="647488"/>
            <a:ext cx="5914082" cy="3931920"/>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When more than one variable loads highly on a factor, the interpretation becomes difficult (as we will see)</a:t>
            </a:r>
          </a:p>
          <a:p>
            <a:r>
              <a:rPr lang="en-US" sz="2000" dirty="0">
                <a:latin typeface="Calibri" panose="020F0502020204030204" pitchFamily="34" charset="0"/>
                <a:ea typeface="Calibri" panose="020F0502020204030204" pitchFamily="34" charset="0"/>
                <a:cs typeface="Calibri" panose="020F0502020204030204" pitchFamily="34" charset="0"/>
              </a:rPr>
              <a:t>It is a good idea to find an appropriate rotation that makes the factors more interpretable</a:t>
            </a:r>
          </a:p>
          <a:p>
            <a:r>
              <a:rPr lang="en-US" sz="2000" dirty="0">
                <a:latin typeface="Calibri" panose="020F0502020204030204" pitchFamily="34" charset="0"/>
                <a:ea typeface="Calibri" panose="020F0502020204030204" pitchFamily="34" charset="0"/>
                <a:cs typeface="Calibri" panose="020F0502020204030204" pitchFamily="34" charset="0"/>
              </a:rPr>
              <a:t>The best way to understand this is by a scatterplot matrix of the factor loadings – the goal is to find a rotation such that each of the variables has a high loading on only one factor</a:t>
            </a:r>
          </a:p>
        </p:txBody>
      </p:sp>
      <p:pic>
        <p:nvPicPr>
          <p:cNvPr id="5" name="Picture 4" descr="A diagram of a factor&#10;&#10;AI-generated content may be incorrect.">
            <a:extLst>
              <a:ext uri="{FF2B5EF4-FFF2-40B4-BE49-F238E27FC236}">
                <a16:creationId xmlns:a16="http://schemas.microsoft.com/office/drawing/2014/main" id="{42CB3F74-7263-F144-93FF-A9C18640B25B}"/>
              </a:ext>
            </a:extLst>
          </p:cNvPr>
          <p:cNvPicPr>
            <a:picLocks noChangeAspect="1"/>
          </p:cNvPicPr>
          <p:nvPr/>
        </p:nvPicPr>
        <p:blipFill>
          <a:blip r:embed="rId3"/>
          <a:stretch>
            <a:fillRect/>
          </a:stretch>
        </p:blipFill>
        <p:spPr>
          <a:xfrm>
            <a:off x="6807843" y="141840"/>
            <a:ext cx="4558496" cy="6837745"/>
          </a:xfrm>
          <a:prstGeom prst="rect">
            <a:avLst/>
          </a:prstGeom>
        </p:spPr>
      </p:pic>
    </p:spTree>
    <p:extLst>
      <p:ext uri="{BB962C8B-B14F-4D97-AF65-F5344CB8AC3E}">
        <p14:creationId xmlns:p14="http://schemas.microsoft.com/office/powerpoint/2010/main" val="38460768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1AFD-6336-6BA4-791D-DA1A39CF50C9}"/>
              </a:ext>
            </a:extLst>
          </p:cNvPr>
          <p:cNvSpPr>
            <a:spLocks noGrp="1"/>
          </p:cNvSpPr>
          <p:nvPr>
            <p:ph type="title"/>
          </p:nvPr>
        </p:nvSpPr>
        <p:spPr>
          <a:xfrm>
            <a:off x="201592" y="122343"/>
            <a:ext cx="10515600" cy="595574"/>
          </a:xfrm>
        </p:spPr>
        <p:txBody>
          <a:bodyPr vert="horz" lIns="91440" tIns="45720" rIns="91440" bIns="45720" rtlCol="0" anchor="ctr">
            <a:normAutofit fontScale="90000"/>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Example: Visualizing Rotation</a:t>
            </a:r>
            <a:endParaRPr lang="en-US" dirty="0">
              <a:solidFill>
                <a:schemeClr val="tx1"/>
              </a:solidFill>
            </a:endParaRPr>
          </a:p>
        </p:txBody>
      </p:sp>
      <p:graphicFrame>
        <p:nvGraphicFramePr>
          <p:cNvPr id="5" name="Content Placeholder 4">
            <a:extLst>
              <a:ext uri="{FF2B5EF4-FFF2-40B4-BE49-F238E27FC236}">
                <a16:creationId xmlns:a16="http://schemas.microsoft.com/office/drawing/2014/main" id="{A7155530-911C-F3F2-DBD9-8EF8A0DA4F9C}"/>
              </a:ext>
            </a:extLst>
          </p:cNvPr>
          <p:cNvGraphicFramePr>
            <a:graphicFrameLocks noGrp="1"/>
          </p:cNvGraphicFramePr>
          <p:nvPr>
            <p:ph sz="half" idx="1"/>
            <p:extLst>
              <p:ext uri="{D42A27DB-BD31-4B8C-83A1-F6EECF244321}">
                <p14:modId xmlns:p14="http://schemas.microsoft.com/office/powerpoint/2010/main" val="2361560143"/>
              </p:ext>
            </p:extLst>
          </p:nvPr>
        </p:nvGraphicFramePr>
        <p:xfrm>
          <a:off x="628712" y="2130799"/>
          <a:ext cx="4931828" cy="4205255"/>
        </p:xfrm>
        <a:graphic>
          <a:graphicData uri="http://schemas.openxmlformats.org/drawingml/2006/table">
            <a:tbl>
              <a:tblPr firstRow="1" bandRow="1">
                <a:tableStyleId>{5C22544A-7EE6-4342-B048-85BDC9FD1C3A}</a:tableStyleId>
              </a:tblPr>
              <a:tblGrid>
                <a:gridCol w="1771967">
                  <a:extLst>
                    <a:ext uri="{9D8B030D-6E8A-4147-A177-3AD203B41FA5}">
                      <a16:colId xmlns:a16="http://schemas.microsoft.com/office/drawing/2014/main" val="3594886218"/>
                    </a:ext>
                  </a:extLst>
                </a:gridCol>
                <a:gridCol w="1083926">
                  <a:extLst>
                    <a:ext uri="{9D8B030D-6E8A-4147-A177-3AD203B41FA5}">
                      <a16:colId xmlns:a16="http://schemas.microsoft.com/office/drawing/2014/main" val="2639477066"/>
                    </a:ext>
                  </a:extLst>
                </a:gridCol>
                <a:gridCol w="1062681">
                  <a:extLst>
                    <a:ext uri="{9D8B030D-6E8A-4147-A177-3AD203B41FA5}">
                      <a16:colId xmlns:a16="http://schemas.microsoft.com/office/drawing/2014/main" val="3591472324"/>
                    </a:ext>
                  </a:extLst>
                </a:gridCol>
                <a:gridCol w="1013254">
                  <a:extLst>
                    <a:ext uri="{9D8B030D-6E8A-4147-A177-3AD203B41FA5}">
                      <a16:colId xmlns:a16="http://schemas.microsoft.com/office/drawing/2014/main" val="634873669"/>
                    </a:ext>
                  </a:extLst>
                </a:gridCol>
              </a:tblGrid>
              <a:tr h="325915">
                <a:tc gridSpan="4">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Factor</a:t>
                      </a:r>
                    </a:p>
                  </a:txBody>
                  <a:tcPr marL="20488" marR="20488" marT="20488" marB="0"/>
                </a:tc>
                <a:tc hMerge="1">
                  <a:txBody>
                    <a:bodyPr/>
                    <a:lstStyle/>
                    <a:p>
                      <a:endParaRPr lang="en-US"/>
                    </a:p>
                  </a:txBody>
                  <a:tcPr/>
                </a:tc>
                <a:tc hMerge="1">
                  <a:txBody>
                    <a:bodyPr/>
                    <a:lstStyle/>
                    <a:p>
                      <a:endParaRPr lang="en-US"/>
                    </a:p>
                  </a:txBody>
                  <a:tcPr/>
                </a:tc>
                <a:tc hMerge="1">
                  <a:txBody>
                    <a:bodyPr/>
                    <a:lstStyle/>
                    <a:p>
                      <a:pPr algn="l" fontAlgn="b"/>
                      <a:r>
                        <a:rPr lang="en-US" sz="2400" u="none" strike="noStrike" dirty="0">
                          <a:effectLst/>
                        </a:rPr>
                        <a:t> </a:t>
                      </a:r>
                      <a:endParaRPr lang="en-US" sz="2400" b="0" i="0" u="none" strike="noStrike" dirty="0">
                        <a:solidFill>
                          <a:srgbClr val="000000"/>
                        </a:solidFill>
                        <a:effectLst/>
                        <a:latin typeface="Calibri" panose="020F0502020204030204" pitchFamily="34" charset="0"/>
                      </a:endParaRPr>
                    </a:p>
                  </a:txBody>
                  <a:tcPr marL="20488" marR="20488" marT="20488" marB="0" anchor="b"/>
                </a:tc>
                <a:extLst>
                  <a:ext uri="{0D108BD9-81ED-4DB2-BD59-A6C34878D82A}">
                    <a16:rowId xmlns:a16="http://schemas.microsoft.com/office/drawing/2014/main" val="2371700437"/>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Variable</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1</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2</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3</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3417152127"/>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Climate</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0.286</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0.076</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0.841</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657762659"/>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Housing</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0.698</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0.153</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0.084</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619108501"/>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Health</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0.744</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-0.41</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-0.02</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3036940624"/>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Crime</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0.471</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0.522</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0.135</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513561368"/>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Transportation</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0.681</a:t>
                      </a:r>
                      <a:endParaRPr lang="en-US" sz="1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-0.156</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-0.148</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219385146"/>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Education</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0.498</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-0.498</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-0.253</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extLst>
                  <a:ext uri="{0D108BD9-81ED-4DB2-BD59-A6C34878D82A}">
                    <a16:rowId xmlns:a16="http://schemas.microsoft.com/office/drawing/2014/main" val="2375117449"/>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Arts</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0.861</a:t>
                      </a:r>
                      <a:endParaRPr lang="en-US" sz="1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-0.115</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0.011</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1297731234"/>
                  </a:ext>
                </a:extLst>
              </a:tr>
              <a:tr h="387934">
                <a:tc>
                  <a:txBody>
                    <a:bodyPr/>
                    <a:lstStyle/>
                    <a:p>
                      <a:pPr algn="l"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Recreation</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0.642</a:t>
                      </a:r>
                      <a:endParaRPr lang="en-US" sz="180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a:effectLst/>
                          <a:latin typeface="Calibri" panose="020F0502020204030204" pitchFamily="34" charset="0"/>
                          <a:ea typeface="Calibri" panose="020F0502020204030204" pitchFamily="34" charset="0"/>
                          <a:cs typeface="Calibri" panose="020F0502020204030204" pitchFamily="34" charset="0"/>
                        </a:rPr>
                        <a:t>0.322</a:t>
                      </a:r>
                      <a:endParaRPr lang="en-US" sz="18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0.044</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2655455474"/>
                  </a:ext>
                </a:extLst>
              </a:tr>
              <a:tr h="387934">
                <a:tc>
                  <a:txBody>
                    <a:bodyPr/>
                    <a:lstStyle/>
                    <a:p>
                      <a:pPr algn="l"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Economics</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0.298</a:t>
                      </a:r>
                      <a:endParaRPr lang="en-US" sz="18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0.595</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tc>
                  <a:txBody>
                    <a:bodyPr/>
                    <a:lstStyle/>
                    <a:p>
                      <a:pPr algn="ctr" fontAlgn="t"/>
                      <a:r>
                        <a:rPr lang="en-US" sz="1800" u="none" strike="noStrike" dirty="0">
                          <a:effectLst/>
                          <a:latin typeface="Calibri" panose="020F0502020204030204" pitchFamily="34" charset="0"/>
                          <a:ea typeface="Calibri" panose="020F0502020204030204" pitchFamily="34" charset="0"/>
                          <a:cs typeface="Calibri" panose="020F0502020204030204" pitchFamily="34" charset="0"/>
                        </a:rPr>
                        <a:t>-0.533</a:t>
                      </a:r>
                      <a:endParaRPr lang="en-US" sz="18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solidFill>
                      <a:srgbClr val="FFFF00"/>
                    </a:solidFill>
                  </a:tcPr>
                </a:tc>
                <a:extLst>
                  <a:ext uri="{0D108BD9-81ED-4DB2-BD59-A6C34878D82A}">
                    <a16:rowId xmlns:a16="http://schemas.microsoft.com/office/drawing/2014/main" val="1729466633"/>
                  </a:ext>
                </a:extLst>
              </a:tr>
            </a:tbl>
          </a:graphicData>
        </a:graphic>
      </p:graphicFrame>
      <p:pic>
        <p:nvPicPr>
          <p:cNvPr id="10" name="Picture 9">
            <a:extLst>
              <a:ext uri="{FF2B5EF4-FFF2-40B4-BE49-F238E27FC236}">
                <a16:creationId xmlns:a16="http://schemas.microsoft.com/office/drawing/2014/main" id="{68B3652D-5D60-601D-1615-4BEB41C3A58E}"/>
              </a:ext>
            </a:extLst>
          </p:cNvPr>
          <p:cNvPicPr>
            <a:picLocks noChangeAspect="1"/>
          </p:cNvPicPr>
          <p:nvPr/>
        </p:nvPicPr>
        <p:blipFill>
          <a:blip r:embed="rId3"/>
          <a:stretch>
            <a:fillRect/>
          </a:stretch>
        </p:blipFill>
        <p:spPr>
          <a:xfrm>
            <a:off x="6096000" y="2267974"/>
            <a:ext cx="4931828" cy="3930904"/>
          </a:xfrm>
          <a:prstGeom prst="rect">
            <a:avLst/>
          </a:prstGeom>
        </p:spPr>
      </p:pic>
      <p:sp>
        <p:nvSpPr>
          <p:cNvPr id="12" name="Oval 11">
            <a:extLst>
              <a:ext uri="{FF2B5EF4-FFF2-40B4-BE49-F238E27FC236}">
                <a16:creationId xmlns:a16="http://schemas.microsoft.com/office/drawing/2014/main" id="{1E2CF198-DC30-7AF4-5251-694BCAEDBC5E}"/>
              </a:ext>
            </a:extLst>
          </p:cNvPr>
          <p:cNvSpPr/>
          <p:nvPr/>
        </p:nvSpPr>
        <p:spPr>
          <a:xfrm>
            <a:off x="2397211" y="2706130"/>
            <a:ext cx="1828800" cy="55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3E11ECA-CE9E-2E1F-4F69-29E2BA3DBFCF}"/>
              </a:ext>
            </a:extLst>
          </p:cNvPr>
          <p:cNvCxnSpPr/>
          <p:nvPr/>
        </p:nvCxnSpPr>
        <p:spPr>
          <a:xfrm>
            <a:off x="4226011" y="2977978"/>
            <a:ext cx="4992130" cy="25702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 name="Rectangle 1">
            <a:extLst>
              <a:ext uri="{FF2B5EF4-FFF2-40B4-BE49-F238E27FC236}">
                <a16:creationId xmlns:a16="http://schemas.microsoft.com/office/drawing/2014/main" id="{D60B6D09-9909-00FF-F562-5DE3EBE0F1C4}"/>
              </a:ext>
            </a:extLst>
          </p:cNvPr>
          <p:cNvSpPr>
            <a:spLocks noChangeArrowheads="1"/>
          </p:cNvSpPr>
          <p:nvPr/>
        </p:nvSpPr>
        <p:spPr bwMode="auto">
          <a:xfrm>
            <a:off x="383618" y="697296"/>
            <a:ext cx="88820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Before rotation:</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Look at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Climate</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has moderate loadings on two of three factors: 0.286, and 0.841</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And “</a:t>
            </a: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Education</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is split equally between two factors: 0.498 and –0.498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messy. Variables are loading on multiple factors, which makes interpretation difficult</a:t>
            </a:r>
          </a:p>
        </p:txBody>
      </p:sp>
    </p:spTree>
    <p:extLst>
      <p:ext uri="{BB962C8B-B14F-4D97-AF65-F5344CB8AC3E}">
        <p14:creationId xmlns:p14="http://schemas.microsoft.com/office/powerpoint/2010/main" val="21215097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51AFD-6336-6BA4-791D-DA1A39CF50C9}"/>
              </a:ext>
            </a:extLst>
          </p:cNvPr>
          <p:cNvSpPr>
            <a:spLocks noGrp="1"/>
          </p:cNvSpPr>
          <p:nvPr>
            <p:ph type="title"/>
          </p:nvPr>
        </p:nvSpPr>
        <p:spPr>
          <a:xfrm>
            <a:off x="117545" y="103783"/>
            <a:ext cx="10515600" cy="515284"/>
          </a:xfrm>
        </p:spPr>
        <p:txBody>
          <a:bodyPr vert="horz" lIns="91440" tIns="45720" rIns="91440" bIns="45720" rtlCol="0" anchor="ctr">
            <a:normAutofit fontScale="90000"/>
          </a:bodyPr>
          <a:lstStyle/>
          <a:p>
            <a:r>
              <a:rPr lang="en-US" dirty="0">
                <a:solidFill>
                  <a:schemeClr val="tx1"/>
                </a:solidFill>
                <a:latin typeface="Calibri" panose="020F0502020204030204" pitchFamily="34" charset="0"/>
                <a:ea typeface="Calibri" panose="020F0502020204030204" pitchFamily="34" charset="0"/>
                <a:cs typeface="Calibri" panose="020F0502020204030204" pitchFamily="34" charset="0"/>
              </a:rPr>
              <a:t>Example: Visualizing Rotation</a:t>
            </a:r>
          </a:p>
        </p:txBody>
      </p:sp>
      <p:graphicFrame>
        <p:nvGraphicFramePr>
          <p:cNvPr id="5" name="Content Placeholder 4">
            <a:extLst>
              <a:ext uri="{FF2B5EF4-FFF2-40B4-BE49-F238E27FC236}">
                <a16:creationId xmlns:a16="http://schemas.microsoft.com/office/drawing/2014/main" id="{A7155530-911C-F3F2-DBD9-8EF8A0DA4F9C}"/>
              </a:ext>
            </a:extLst>
          </p:cNvPr>
          <p:cNvGraphicFramePr>
            <a:graphicFrameLocks noGrp="1"/>
          </p:cNvGraphicFramePr>
          <p:nvPr>
            <p:ph sz="half" idx="1"/>
            <p:extLst>
              <p:ext uri="{D42A27DB-BD31-4B8C-83A1-F6EECF244321}">
                <p14:modId xmlns:p14="http://schemas.microsoft.com/office/powerpoint/2010/main" val="201909421"/>
              </p:ext>
            </p:extLst>
          </p:nvPr>
        </p:nvGraphicFramePr>
        <p:xfrm>
          <a:off x="628712" y="2130799"/>
          <a:ext cx="4931828" cy="4205255"/>
        </p:xfrm>
        <a:graphic>
          <a:graphicData uri="http://schemas.openxmlformats.org/drawingml/2006/table">
            <a:tbl>
              <a:tblPr firstRow="1" bandRow="1">
                <a:tableStyleId>{5C22544A-7EE6-4342-B048-85BDC9FD1C3A}</a:tableStyleId>
              </a:tblPr>
              <a:tblGrid>
                <a:gridCol w="1771967">
                  <a:extLst>
                    <a:ext uri="{9D8B030D-6E8A-4147-A177-3AD203B41FA5}">
                      <a16:colId xmlns:a16="http://schemas.microsoft.com/office/drawing/2014/main" val="3594886218"/>
                    </a:ext>
                  </a:extLst>
                </a:gridCol>
                <a:gridCol w="1083926">
                  <a:extLst>
                    <a:ext uri="{9D8B030D-6E8A-4147-A177-3AD203B41FA5}">
                      <a16:colId xmlns:a16="http://schemas.microsoft.com/office/drawing/2014/main" val="2639477066"/>
                    </a:ext>
                  </a:extLst>
                </a:gridCol>
                <a:gridCol w="1062681">
                  <a:extLst>
                    <a:ext uri="{9D8B030D-6E8A-4147-A177-3AD203B41FA5}">
                      <a16:colId xmlns:a16="http://schemas.microsoft.com/office/drawing/2014/main" val="3591472324"/>
                    </a:ext>
                  </a:extLst>
                </a:gridCol>
                <a:gridCol w="1013254">
                  <a:extLst>
                    <a:ext uri="{9D8B030D-6E8A-4147-A177-3AD203B41FA5}">
                      <a16:colId xmlns:a16="http://schemas.microsoft.com/office/drawing/2014/main" val="634873669"/>
                    </a:ext>
                  </a:extLst>
                </a:gridCol>
              </a:tblGrid>
              <a:tr h="325915">
                <a:tc gridSpan="4">
                  <a:txBody>
                    <a:bodyPr/>
                    <a:lstStyle/>
                    <a:p>
                      <a:pPr algn="l"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Factor</a:t>
                      </a:r>
                    </a:p>
                  </a:txBody>
                  <a:tcPr marL="20488" marR="20488" marT="20488" marB="0"/>
                </a:tc>
                <a:tc hMerge="1">
                  <a:txBody>
                    <a:bodyPr/>
                    <a:lstStyle/>
                    <a:p>
                      <a:endParaRPr lang="en-US"/>
                    </a:p>
                  </a:txBody>
                  <a:tcPr/>
                </a:tc>
                <a:tc hMerge="1">
                  <a:txBody>
                    <a:bodyPr/>
                    <a:lstStyle/>
                    <a:p>
                      <a:endParaRPr lang="en-US"/>
                    </a:p>
                  </a:txBody>
                  <a:tcPr/>
                </a:tc>
                <a:tc hMerge="1">
                  <a:txBody>
                    <a:bodyPr/>
                    <a:lstStyle/>
                    <a:p>
                      <a:pPr algn="l" fontAlgn="b"/>
                      <a:r>
                        <a:rPr lang="en-US" sz="2400" u="none" strike="noStrike" dirty="0">
                          <a:effectLst/>
                        </a:rPr>
                        <a:t> </a:t>
                      </a:r>
                      <a:endParaRPr lang="en-US" sz="2400" b="0" i="0" u="none" strike="noStrike" dirty="0">
                        <a:solidFill>
                          <a:srgbClr val="000000"/>
                        </a:solidFill>
                        <a:effectLst/>
                        <a:latin typeface="Calibri" panose="020F0502020204030204" pitchFamily="34" charset="0"/>
                      </a:endParaRPr>
                    </a:p>
                  </a:txBody>
                  <a:tcPr marL="20488" marR="20488" marT="20488" marB="0" anchor="b"/>
                </a:tc>
                <a:extLst>
                  <a:ext uri="{0D108BD9-81ED-4DB2-BD59-A6C34878D82A}">
                    <a16:rowId xmlns:a16="http://schemas.microsoft.com/office/drawing/2014/main" val="2371700437"/>
                  </a:ext>
                </a:extLst>
              </a:tr>
              <a:tr h="387934">
                <a:tc>
                  <a:txBody>
                    <a:bodyPr/>
                    <a:lstStyle/>
                    <a:p>
                      <a:pPr algn="l"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Variable</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1</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2</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tc>
                  <a:txBody>
                    <a:bodyPr/>
                    <a:lstStyle/>
                    <a:p>
                      <a:pPr algn="ctr" fontAlgn="t"/>
                      <a:r>
                        <a:rPr lang="en-US" sz="2000" u="none" strike="noStrike" dirty="0">
                          <a:effectLst/>
                          <a:latin typeface="Calibri" panose="020F0502020204030204" pitchFamily="34" charset="0"/>
                          <a:ea typeface="Calibri" panose="020F0502020204030204" pitchFamily="34" charset="0"/>
                          <a:cs typeface="Calibri" panose="020F0502020204030204" pitchFamily="34" charset="0"/>
                        </a:rPr>
                        <a:t>3</a:t>
                      </a:r>
                      <a:endParaRPr lang="en-US" sz="20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20488" marR="20488" marT="20488" marB="0"/>
                </a:tc>
                <a:extLst>
                  <a:ext uri="{0D108BD9-81ED-4DB2-BD59-A6C34878D82A}">
                    <a16:rowId xmlns:a16="http://schemas.microsoft.com/office/drawing/2014/main" val="3417152127"/>
                  </a:ext>
                </a:extLst>
              </a:tr>
              <a:tr h="387934">
                <a:tc>
                  <a:txBody>
                    <a:bodyPr/>
                    <a:lstStyle/>
                    <a:p>
                      <a:pPr algn="l"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Climate</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0.021</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0.239</a:t>
                      </a:r>
                    </a:p>
                  </a:txBody>
                  <a:tcPr marL="9525" marR="9525" marT="9525" marB="0"/>
                </a:tc>
                <a:tc>
                  <a:txBody>
                    <a:bodyPr/>
                    <a:lstStyle/>
                    <a:p>
                      <a:pPr algn="ctr" fontAlgn="t"/>
                      <a:r>
                        <a:rPr lang="en-US" sz="1800" b="1"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0.859</a:t>
                      </a:r>
                    </a:p>
                  </a:txBody>
                  <a:tcPr marL="9525" marR="9525" marT="9525" marB="0"/>
                </a:tc>
                <a:extLst>
                  <a:ext uri="{0D108BD9-81ED-4DB2-BD59-A6C34878D82A}">
                    <a16:rowId xmlns:a16="http://schemas.microsoft.com/office/drawing/2014/main" val="657762659"/>
                  </a:ext>
                </a:extLst>
              </a:tr>
              <a:tr h="387934">
                <a:tc>
                  <a:txBody>
                    <a:bodyPr/>
                    <a:lstStyle/>
                    <a:p>
                      <a:pPr algn="l"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Housing</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0.438</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0.547</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0.166</a:t>
                      </a:r>
                    </a:p>
                  </a:txBody>
                  <a:tcPr marL="9525" marR="9525" marT="9525" marB="0"/>
                </a:tc>
                <a:extLst>
                  <a:ext uri="{0D108BD9-81ED-4DB2-BD59-A6C34878D82A}">
                    <a16:rowId xmlns:a16="http://schemas.microsoft.com/office/drawing/2014/main" val="619108501"/>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Health</a:t>
                      </a:r>
                    </a:p>
                  </a:txBody>
                  <a:tcPr marL="9525" marR="9525" marT="9525" marB="0"/>
                </a:tc>
                <a:tc>
                  <a:txBody>
                    <a:bodyPr/>
                    <a:lstStyle/>
                    <a:p>
                      <a:pPr algn="ctr" fontAlgn="t"/>
                      <a:r>
                        <a:rPr lang="en-US" sz="1800" b="1"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0.829</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0.127</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0.137</a:t>
                      </a:r>
                    </a:p>
                  </a:txBody>
                  <a:tcPr marL="9525" marR="9525" marT="9525" marB="0"/>
                </a:tc>
                <a:extLst>
                  <a:ext uri="{0D108BD9-81ED-4DB2-BD59-A6C34878D82A}">
                    <a16:rowId xmlns:a16="http://schemas.microsoft.com/office/drawing/2014/main" val="3036940624"/>
                  </a:ext>
                </a:extLst>
              </a:tr>
              <a:tr h="387934">
                <a:tc>
                  <a:txBody>
                    <a:bodyPr/>
                    <a:lstStyle/>
                    <a:p>
                      <a:pPr algn="l"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Crime</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0.031</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0.702</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0.139</a:t>
                      </a:r>
                    </a:p>
                  </a:txBody>
                  <a:tcPr marL="9525" marR="9525" marT="9525" marB="0"/>
                </a:tc>
                <a:extLst>
                  <a:ext uri="{0D108BD9-81ED-4DB2-BD59-A6C34878D82A}">
                    <a16:rowId xmlns:a16="http://schemas.microsoft.com/office/drawing/2014/main" val="513561368"/>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Transportation</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0.652</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0.289</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-0.028</a:t>
                      </a:r>
                    </a:p>
                  </a:txBody>
                  <a:tcPr marL="9525" marR="9525" marT="9525" marB="0"/>
                </a:tc>
                <a:extLst>
                  <a:ext uri="{0D108BD9-81ED-4DB2-BD59-A6C34878D82A}">
                    <a16:rowId xmlns:a16="http://schemas.microsoft.com/office/drawing/2014/main" val="219385146"/>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Education</a:t>
                      </a:r>
                    </a:p>
                  </a:txBody>
                  <a:tcPr marL="9525" marR="9525" marT="9525" marB="0">
                    <a:solidFill>
                      <a:srgbClr val="FFFF00"/>
                    </a:solidFill>
                  </a:tcPr>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0.734</a:t>
                      </a:r>
                    </a:p>
                  </a:txBody>
                  <a:tcPr marL="9525" marR="9525" marT="9525" marB="0">
                    <a:solidFill>
                      <a:srgbClr val="FFFF00"/>
                    </a:solidFill>
                  </a:tcPr>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-0.094</a:t>
                      </a:r>
                    </a:p>
                  </a:txBody>
                  <a:tcPr marL="9525" marR="9525" marT="9525" marB="0">
                    <a:solidFill>
                      <a:srgbClr val="FFFF00"/>
                    </a:solidFill>
                  </a:tcPr>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-0.117</a:t>
                      </a:r>
                    </a:p>
                  </a:txBody>
                  <a:tcPr marL="9525" marR="9525" marT="9525" marB="0">
                    <a:solidFill>
                      <a:srgbClr val="FFFF00"/>
                    </a:solidFill>
                  </a:tcPr>
                </a:tc>
                <a:extLst>
                  <a:ext uri="{0D108BD9-81ED-4DB2-BD59-A6C34878D82A}">
                    <a16:rowId xmlns:a16="http://schemas.microsoft.com/office/drawing/2014/main" val="2375117449"/>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Arts</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0.738</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0.432</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0.15</a:t>
                      </a:r>
                    </a:p>
                  </a:txBody>
                  <a:tcPr marL="9525" marR="9525" marT="9525" marB="0"/>
                </a:tc>
                <a:extLst>
                  <a:ext uri="{0D108BD9-81ED-4DB2-BD59-A6C34878D82A}">
                    <a16:rowId xmlns:a16="http://schemas.microsoft.com/office/drawing/2014/main" val="1297731234"/>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Recreation</a:t>
                      </a:r>
                    </a:p>
                  </a:txBody>
                  <a:tcPr marL="9525" marR="9525" marT="9525" marB="0"/>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0.301</a:t>
                      </a:r>
                    </a:p>
                  </a:txBody>
                  <a:tcPr marL="9525" marR="9525" marT="9525" marB="0"/>
                </a:tc>
                <a:tc>
                  <a:txBody>
                    <a:bodyPr/>
                    <a:lstStyle/>
                    <a:p>
                      <a:pPr algn="ctr" fontAlgn="t"/>
                      <a:r>
                        <a:rPr lang="en-US" sz="1800" b="1"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0.656</a:t>
                      </a:r>
                    </a:p>
                  </a:txBody>
                  <a:tcPr marL="9525" marR="9525" marT="9525" marB="0"/>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0.099</a:t>
                      </a:r>
                    </a:p>
                  </a:txBody>
                  <a:tcPr marL="9525" marR="9525" marT="9525" marB="0"/>
                </a:tc>
                <a:extLst>
                  <a:ext uri="{0D108BD9-81ED-4DB2-BD59-A6C34878D82A}">
                    <a16:rowId xmlns:a16="http://schemas.microsoft.com/office/drawing/2014/main" val="2655455474"/>
                  </a:ext>
                </a:extLst>
              </a:tr>
              <a:tr h="387934">
                <a:tc>
                  <a:txBody>
                    <a:bodyPr/>
                    <a:lstStyle/>
                    <a:p>
                      <a:pPr algn="l"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Economics</a:t>
                      </a:r>
                    </a:p>
                  </a:txBody>
                  <a:tcPr marL="9525" marR="9525" marT="9525" marB="0">
                    <a:solidFill>
                      <a:srgbClr val="FFFF00"/>
                    </a:solidFill>
                  </a:tcPr>
                </a:tc>
                <a:tc>
                  <a:txBody>
                    <a:bodyPr/>
                    <a:lstStyle/>
                    <a:p>
                      <a:pPr algn="ctr" fontAlgn="t"/>
                      <a:r>
                        <a:rPr lang="en-US" sz="1800" b="0"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-0.022</a:t>
                      </a:r>
                    </a:p>
                  </a:txBody>
                  <a:tcPr marL="9525" marR="9525" marT="9525" marB="0">
                    <a:solidFill>
                      <a:srgbClr val="FFFF00"/>
                    </a:solidFill>
                  </a:tcPr>
                </a:tc>
                <a:tc>
                  <a:txBody>
                    <a:bodyPr/>
                    <a:lstStyle/>
                    <a:p>
                      <a:pPr algn="ctr" fontAlgn="t"/>
                      <a:r>
                        <a:rPr lang="en-US" sz="1800" b="1" i="0" u="none" strike="noStrike">
                          <a:solidFill>
                            <a:srgbClr val="3B444F"/>
                          </a:solidFill>
                          <a:effectLst/>
                          <a:latin typeface="Calibri" panose="020F0502020204030204" pitchFamily="34" charset="0"/>
                          <a:ea typeface="Calibri" panose="020F0502020204030204" pitchFamily="34" charset="0"/>
                          <a:cs typeface="Calibri" panose="020F0502020204030204" pitchFamily="34" charset="0"/>
                        </a:rPr>
                        <a:t>0.651</a:t>
                      </a:r>
                    </a:p>
                  </a:txBody>
                  <a:tcPr marL="9525" marR="9525" marT="9525" marB="0">
                    <a:solidFill>
                      <a:srgbClr val="FFFF00"/>
                    </a:solidFill>
                  </a:tcPr>
                </a:tc>
                <a:tc>
                  <a:txBody>
                    <a:bodyPr/>
                    <a:lstStyle/>
                    <a:p>
                      <a:pPr algn="ctr" fontAlgn="t"/>
                      <a:r>
                        <a:rPr lang="en-US" sz="1800" b="0" i="0" u="none" strike="noStrike" dirty="0">
                          <a:solidFill>
                            <a:srgbClr val="3B444F"/>
                          </a:solidFill>
                          <a:effectLst/>
                          <a:latin typeface="Calibri" panose="020F0502020204030204" pitchFamily="34" charset="0"/>
                          <a:ea typeface="Calibri" panose="020F0502020204030204" pitchFamily="34" charset="0"/>
                          <a:cs typeface="Calibri" panose="020F0502020204030204" pitchFamily="34" charset="0"/>
                        </a:rPr>
                        <a:t>-0.551</a:t>
                      </a:r>
                    </a:p>
                  </a:txBody>
                  <a:tcPr marL="9525" marR="9525" marT="9525" marB="0">
                    <a:solidFill>
                      <a:srgbClr val="FFFF00"/>
                    </a:solidFill>
                  </a:tcPr>
                </a:tc>
                <a:extLst>
                  <a:ext uri="{0D108BD9-81ED-4DB2-BD59-A6C34878D82A}">
                    <a16:rowId xmlns:a16="http://schemas.microsoft.com/office/drawing/2014/main" val="1729466633"/>
                  </a:ext>
                </a:extLst>
              </a:tr>
            </a:tbl>
          </a:graphicData>
        </a:graphic>
      </p:graphicFrame>
      <p:sp>
        <p:nvSpPr>
          <p:cNvPr id="12" name="Oval 11">
            <a:extLst>
              <a:ext uri="{FF2B5EF4-FFF2-40B4-BE49-F238E27FC236}">
                <a16:creationId xmlns:a16="http://schemas.microsoft.com/office/drawing/2014/main" id="{1E2CF198-DC30-7AF4-5251-694BCAEDBC5E}"/>
              </a:ext>
            </a:extLst>
          </p:cNvPr>
          <p:cNvSpPr/>
          <p:nvPr/>
        </p:nvSpPr>
        <p:spPr>
          <a:xfrm>
            <a:off x="2397210" y="2706130"/>
            <a:ext cx="2070617" cy="55605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3E11ECA-CE9E-2E1F-4F69-29E2BA3DBFCF}"/>
              </a:ext>
            </a:extLst>
          </p:cNvPr>
          <p:cNvCxnSpPr>
            <a:cxnSpLocks/>
          </p:cNvCxnSpPr>
          <p:nvPr/>
        </p:nvCxnSpPr>
        <p:spPr>
          <a:xfrm>
            <a:off x="4226011" y="2977978"/>
            <a:ext cx="4507215" cy="16928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Content Placeholder 7">
            <a:extLst>
              <a:ext uri="{FF2B5EF4-FFF2-40B4-BE49-F238E27FC236}">
                <a16:creationId xmlns:a16="http://schemas.microsoft.com/office/drawing/2014/main" id="{ED9C95C2-4C4E-2BA4-9195-86651AC73F7B}"/>
              </a:ext>
            </a:extLst>
          </p:cNvPr>
          <p:cNvPicPr>
            <a:picLocks noGrp="1" noChangeAspect="1"/>
          </p:cNvPicPr>
          <p:nvPr>
            <p:ph sz="half" idx="2"/>
          </p:nvPr>
        </p:nvPicPr>
        <p:blipFill>
          <a:blip r:embed="rId3"/>
          <a:stretch>
            <a:fillRect/>
          </a:stretch>
        </p:blipFill>
        <p:spPr>
          <a:xfrm>
            <a:off x="5994510" y="2130799"/>
            <a:ext cx="5477432" cy="4365776"/>
          </a:xfrm>
          <a:prstGeom prst="rect">
            <a:avLst/>
          </a:prstGeom>
        </p:spPr>
      </p:pic>
      <p:sp>
        <p:nvSpPr>
          <p:cNvPr id="3" name="Rectangle 1">
            <a:extLst>
              <a:ext uri="{FF2B5EF4-FFF2-40B4-BE49-F238E27FC236}">
                <a16:creationId xmlns:a16="http://schemas.microsoft.com/office/drawing/2014/main" id="{702FFFF5-E77B-CF22-35F2-2B463AB6B06C}"/>
              </a:ext>
            </a:extLst>
          </p:cNvPr>
          <p:cNvSpPr>
            <a:spLocks noChangeArrowheads="1"/>
          </p:cNvSpPr>
          <p:nvPr/>
        </p:nvSpPr>
        <p:spPr bwMode="auto">
          <a:xfrm>
            <a:off x="383618" y="835796"/>
            <a:ext cx="926151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After rotation:</a:t>
            </a:r>
            <a:b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Now we see a clearer pattern. “Climate” loads strongly on Factor 3 (0.859) and weakly elsewhere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“Education” now loads strongly on Factor 1 (0.734), with minimal cross-loadings</a:t>
            </a:r>
          </a:p>
        </p:txBody>
      </p:sp>
    </p:spTree>
    <p:extLst>
      <p:ext uri="{BB962C8B-B14F-4D97-AF65-F5344CB8AC3E}">
        <p14:creationId xmlns:p14="http://schemas.microsoft.com/office/powerpoint/2010/main" val="3095899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428292-65AA-43FB-ACF0-B192CC4F4BE2}"/>
              </a:ext>
            </a:extLst>
          </p:cNvPr>
          <p:cNvPicPr>
            <a:picLocks noChangeAspect="1"/>
          </p:cNvPicPr>
          <p:nvPr/>
        </p:nvPicPr>
        <p:blipFill>
          <a:blip r:embed="rId3"/>
          <a:stretch>
            <a:fillRect/>
          </a:stretch>
        </p:blipFill>
        <p:spPr>
          <a:xfrm>
            <a:off x="147932" y="57367"/>
            <a:ext cx="4238625" cy="3248025"/>
          </a:xfrm>
          <a:prstGeom prst="rect">
            <a:avLst/>
          </a:prstGeom>
        </p:spPr>
      </p:pic>
      <p:pic>
        <p:nvPicPr>
          <p:cNvPr id="8" name="Picture 7">
            <a:extLst>
              <a:ext uri="{FF2B5EF4-FFF2-40B4-BE49-F238E27FC236}">
                <a16:creationId xmlns:a16="http://schemas.microsoft.com/office/drawing/2014/main" id="{43D50BBD-C409-4682-A736-38A3E88CC065}"/>
              </a:ext>
            </a:extLst>
          </p:cNvPr>
          <p:cNvPicPr>
            <a:picLocks noChangeAspect="1"/>
          </p:cNvPicPr>
          <p:nvPr/>
        </p:nvPicPr>
        <p:blipFill>
          <a:blip r:embed="rId4"/>
          <a:stretch>
            <a:fillRect/>
          </a:stretch>
        </p:blipFill>
        <p:spPr>
          <a:xfrm>
            <a:off x="362696" y="3524033"/>
            <a:ext cx="4238625" cy="3276600"/>
          </a:xfrm>
          <a:prstGeom prst="rect">
            <a:avLst/>
          </a:prstGeom>
        </p:spPr>
      </p:pic>
      <p:graphicFrame>
        <p:nvGraphicFramePr>
          <p:cNvPr id="9" name="Table 9">
            <a:extLst>
              <a:ext uri="{FF2B5EF4-FFF2-40B4-BE49-F238E27FC236}">
                <a16:creationId xmlns:a16="http://schemas.microsoft.com/office/drawing/2014/main" id="{B729DED5-0307-43CE-AAC3-8256F01CAA52}"/>
              </a:ext>
            </a:extLst>
          </p:cNvPr>
          <p:cNvGraphicFramePr>
            <a:graphicFrameLocks noGrp="1"/>
          </p:cNvGraphicFramePr>
          <p:nvPr>
            <p:extLst>
              <p:ext uri="{D42A27DB-BD31-4B8C-83A1-F6EECF244321}">
                <p14:modId xmlns:p14="http://schemas.microsoft.com/office/powerpoint/2010/main" val="3498629799"/>
              </p:ext>
            </p:extLst>
          </p:nvPr>
        </p:nvGraphicFramePr>
        <p:xfrm>
          <a:off x="5829195" y="2144309"/>
          <a:ext cx="6214873" cy="3230880"/>
        </p:xfrm>
        <a:graphic>
          <a:graphicData uri="http://schemas.openxmlformats.org/drawingml/2006/table">
            <a:tbl>
              <a:tblPr firstRow="1" bandRow="1">
                <a:tableStyleId>{5C22544A-7EE6-4342-B048-85BDC9FD1C3A}</a:tableStyleId>
              </a:tblPr>
              <a:tblGrid>
                <a:gridCol w="1634781">
                  <a:extLst>
                    <a:ext uri="{9D8B030D-6E8A-4147-A177-3AD203B41FA5}">
                      <a16:colId xmlns:a16="http://schemas.microsoft.com/office/drawing/2014/main" val="1296021084"/>
                    </a:ext>
                  </a:extLst>
                </a:gridCol>
                <a:gridCol w="1242976">
                  <a:extLst>
                    <a:ext uri="{9D8B030D-6E8A-4147-A177-3AD203B41FA5}">
                      <a16:colId xmlns:a16="http://schemas.microsoft.com/office/drawing/2014/main" val="47785296"/>
                    </a:ext>
                  </a:extLst>
                </a:gridCol>
                <a:gridCol w="1080847">
                  <a:extLst>
                    <a:ext uri="{9D8B030D-6E8A-4147-A177-3AD203B41FA5}">
                      <a16:colId xmlns:a16="http://schemas.microsoft.com/office/drawing/2014/main" val="2536237497"/>
                    </a:ext>
                  </a:extLst>
                </a:gridCol>
                <a:gridCol w="1026805">
                  <a:extLst>
                    <a:ext uri="{9D8B030D-6E8A-4147-A177-3AD203B41FA5}">
                      <a16:colId xmlns:a16="http://schemas.microsoft.com/office/drawing/2014/main" val="1294261176"/>
                    </a:ext>
                  </a:extLst>
                </a:gridCol>
                <a:gridCol w="1229464">
                  <a:extLst>
                    <a:ext uri="{9D8B030D-6E8A-4147-A177-3AD203B41FA5}">
                      <a16:colId xmlns:a16="http://schemas.microsoft.com/office/drawing/2014/main" val="3892161151"/>
                    </a:ext>
                  </a:extLst>
                </a:gridCol>
              </a:tblGrid>
              <a:tr h="0">
                <a:tc gridSpan="5">
                  <a:txBody>
                    <a:bodyPr/>
                    <a:lstStyle/>
                    <a:p>
                      <a:r>
                        <a:rPr lang="en-US" dirty="0">
                          <a:latin typeface="Calibri" panose="020F0502020204030204" pitchFamily="34" charset="0"/>
                          <a:ea typeface="Calibri" panose="020F0502020204030204" pitchFamily="34" charset="0"/>
                          <a:cs typeface="Calibri" panose="020F0502020204030204" pitchFamily="34" charset="0"/>
                        </a:rPr>
                        <a:t>Comparison Between Rotated and Unrotated Factor Loadings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427641774"/>
                  </a:ext>
                </a:extLst>
              </a:tr>
              <a:tr h="370840">
                <a:tc>
                  <a:txBody>
                    <a:bodyPr/>
                    <a:lstStyle/>
                    <a:p>
                      <a:endParaRPr lang="en-US" dirty="0">
                        <a:latin typeface="Calibri" panose="020F0502020204030204" pitchFamily="34" charset="0"/>
                        <a:ea typeface="Calibri" panose="020F0502020204030204" pitchFamily="34" charset="0"/>
                        <a:cs typeface="Calibri" panose="020F0502020204030204" pitchFamily="34" charset="0"/>
                      </a:endParaRPr>
                    </a:p>
                  </a:txBody>
                  <a:tcPr/>
                </a:tc>
                <a:tc gridSpan="2">
                  <a:txBody>
                    <a:bodyPr/>
                    <a:lstStyle/>
                    <a:p>
                      <a:r>
                        <a:rPr lang="en-US" dirty="0">
                          <a:latin typeface="Calibri" panose="020F0502020204030204" pitchFamily="34" charset="0"/>
                          <a:ea typeface="Calibri" panose="020F0502020204030204" pitchFamily="34" charset="0"/>
                          <a:cs typeface="Calibri" panose="020F0502020204030204" pitchFamily="34" charset="0"/>
                        </a:rPr>
                        <a:t>Unrotated Factor Loadings</a:t>
                      </a:r>
                    </a:p>
                  </a:txBody>
                  <a:tcPr/>
                </a:tc>
                <a:tc hMerge="1">
                  <a:txBody>
                    <a:bodyPr/>
                    <a:lstStyle/>
                    <a:p>
                      <a:endParaRPr lang="en-US" dirty="0"/>
                    </a:p>
                  </a:txBody>
                  <a:tcPr/>
                </a:tc>
                <a:tc gridSpan="2">
                  <a:txBody>
                    <a:bodyPr/>
                    <a:lstStyle/>
                    <a:p>
                      <a:r>
                        <a:rPr lang="en-US" dirty="0">
                          <a:latin typeface="Calibri" panose="020F0502020204030204" pitchFamily="34" charset="0"/>
                          <a:ea typeface="Calibri" panose="020F0502020204030204" pitchFamily="34" charset="0"/>
                          <a:cs typeface="Calibri" panose="020F0502020204030204" pitchFamily="34" charset="0"/>
                        </a:rPr>
                        <a:t>Rotated Factor Loadings</a:t>
                      </a:r>
                    </a:p>
                  </a:txBody>
                  <a:tcPr/>
                </a:tc>
                <a:tc hMerge="1">
                  <a:txBody>
                    <a:bodyPr/>
                    <a:lstStyle/>
                    <a:p>
                      <a:endParaRPr lang="en-US" dirty="0"/>
                    </a:p>
                  </a:txBody>
                  <a:tcPr/>
                </a:tc>
                <a:extLst>
                  <a:ext uri="{0D108BD9-81ED-4DB2-BD59-A6C34878D82A}">
                    <a16:rowId xmlns:a16="http://schemas.microsoft.com/office/drawing/2014/main" val="1016111383"/>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Variables</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II</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II</a:t>
                      </a:r>
                    </a:p>
                  </a:txBody>
                  <a:tcPr/>
                </a:tc>
                <a:extLst>
                  <a:ext uri="{0D108BD9-81ED-4DB2-BD59-A6C34878D82A}">
                    <a16:rowId xmlns:a16="http://schemas.microsoft.com/office/drawing/2014/main" val="703332982"/>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V1</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.50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.80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.03</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.94</a:t>
                      </a:r>
                    </a:p>
                  </a:txBody>
                  <a:tcPr>
                    <a:solidFill>
                      <a:srgbClr val="FFFF00"/>
                    </a:solidFill>
                  </a:tcPr>
                </a:tc>
                <a:extLst>
                  <a:ext uri="{0D108BD9-81ED-4DB2-BD59-A6C34878D82A}">
                    <a16:rowId xmlns:a16="http://schemas.microsoft.com/office/drawing/2014/main" val="1483800537"/>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V2</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.60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.70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.16</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.90</a:t>
                      </a:r>
                    </a:p>
                  </a:txBody>
                  <a:tcPr>
                    <a:solidFill>
                      <a:srgbClr val="FFFF00"/>
                    </a:solidFill>
                  </a:tcPr>
                </a:tc>
                <a:extLst>
                  <a:ext uri="{0D108BD9-81ED-4DB2-BD59-A6C34878D82A}">
                    <a16:rowId xmlns:a16="http://schemas.microsoft.com/office/drawing/2014/main" val="4045657116"/>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V3</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-.25</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.95</a:t>
                      </a:r>
                    </a:p>
                  </a:txBody>
                  <a:tcPr>
                    <a:solidFill>
                      <a:srgbClr val="FFFF00"/>
                    </a:solidFill>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.24</a:t>
                      </a:r>
                    </a:p>
                  </a:txBody>
                  <a:tcPr/>
                </a:tc>
                <a:extLst>
                  <a:ext uri="{0D108BD9-81ED-4DB2-BD59-A6C34878D82A}">
                    <a16:rowId xmlns:a16="http://schemas.microsoft.com/office/drawing/2014/main" val="869157129"/>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V4</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.80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-.30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.84</a:t>
                      </a:r>
                    </a:p>
                  </a:txBody>
                  <a:tcPr>
                    <a:solidFill>
                      <a:srgbClr val="FFFF00"/>
                    </a:solidFill>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.15</a:t>
                      </a:r>
                    </a:p>
                  </a:txBody>
                  <a:tcPr/>
                </a:tc>
                <a:extLst>
                  <a:ext uri="{0D108BD9-81ED-4DB2-BD59-A6C34878D82A}">
                    <a16:rowId xmlns:a16="http://schemas.microsoft.com/office/drawing/2014/main" val="1209589772"/>
                  </a:ext>
                </a:extLst>
              </a:tr>
              <a:tr h="370840">
                <a:tc>
                  <a:txBody>
                    <a:bodyPr/>
                    <a:lstStyle/>
                    <a:p>
                      <a:r>
                        <a:rPr lang="en-US" dirty="0">
                          <a:latin typeface="Calibri" panose="020F0502020204030204" pitchFamily="34" charset="0"/>
                          <a:ea typeface="Calibri" panose="020F0502020204030204" pitchFamily="34" charset="0"/>
                          <a:cs typeface="Calibri" panose="020F0502020204030204" pitchFamily="34" charset="0"/>
                        </a:rPr>
                        <a:t>V5</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.60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-.50</a:t>
                      </a:r>
                    </a:p>
                  </a:txBody>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.76</a:t>
                      </a:r>
                    </a:p>
                  </a:txBody>
                  <a:tcPr>
                    <a:solidFill>
                      <a:srgbClr val="FFFF00"/>
                    </a:solidFill>
                  </a:tcPr>
                </a:tc>
                <a:tc>
                  <a:txBody>
                    <a:bodyPr/>
                    <a:lstStyle/>
                    <a:p>
                      <a:pPr algn="ctr"/>
                      <a:r>
                        <a:rPr lang="en-US" dirty="0">
                          <a:latin typeface="Calibri" panose="020F0502020204030204" pitchFamily="34" charset="0"/>
                          <a:ea typeface="Calibri" panose="020F0502020204030204" pitchFamily="34" charset="0"/>
                          <a:cs typeface="Calibri" panose="020F0502020204030204" pitchFamily="34" charset="0"/>
                        </a:rPr>
                        <a:t>-.13</a:t>
                      </a:r>
                    </a:p>
                  </a:txBody>
                  <a:tcPr/>
                </a:tc>
                <a:extLst>
                  <a:ext uri="{0D108BD9-81ED-4DB2-BD59-A6C34878D82A}">
                    <a16:rowId xmlns:a16="http://schemas.microsoft.com/office/drawing/2014/main" val="3645937221"/>
                  </a:ext>
                </a:extLst>
              </a:tr>
            </a:tbl>
          </a:graphicData>
        </a:graphic>
      </p:graphicFrame>
      <p:sp>
        <p:nvSpPr>
          <p:cNvPr id="4" name="TextBox 3">
            <a:extLst>
              <a:ext uri="{FF2B5EF4-FFF2-40B4-BE49-F238E27FC236}">
                <a16:creationId xmlns:a16="http://schemas.microsoft.com/office/drawing/2014/main" id="{D38674A8-B426-4509-844B-D8CCB91F5D61}"/>
              </a:ext>
            </a:extLst>
          </p:cNvPr>
          <p:cNvSpPr txBox="1"/>
          <p:nvPr/>
        </p:nvSpPr>
        <p:spPr>
          <a:xfrm>
            <a:off x="3298309" y="1123268"/>
            <a:ext cx="24561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Orthogonal rotates 90</a:t>
            </a:r>
            <a:r>
              <a:rPr kumimoji="0" lang="en-US" sz="1800" b="1" i="0" u="none" strike="noStrike" kern="1200" cap="none" spc="0" normalizeH="0" baseline="30000" noProof="0" dirty="0">
                <a:ln>
                  <a:noFill/>
                </a:ln>
                <a:solidFill>
                  <a:prstClr val="black"/>
                </a:solidFill>
                <a:effectLst/>
                <a:uLnTx/>
                <a:uFillTx/>
                <a:latin typeface="Tw Cen MT" panose="020B0602020104020603"/>
                <a:ea typeface="+mn-ea"/>
                <a:cs typeface="+mn-cs"/>
              </a:rPr>
              <a:t>o</a:t>
            </a:r>
          </a:p>
        </p:txBody>
      </p:sp>
      <p:sp>
        <p:nvSpPr>
          <p:cNvPr id="10" name="TextBox 9">
            <a:extLst>
              <a:ext uri="{FF2B5EF4-FFF2-40B4-BE49-F238E27FC236}">
                <a16:creationId xmlns:a16="http://schemas.microsoft.com/office/drawing/2014/main" id="{73294A9A-D733-42FA-937B-6330FB31B69A}"/>
              </a:ext>
            </a:extLst>
          </p:cNvPr>
          <p:cNvSpPr txBox="1"/>
          <p:nvPr/>
        </p:nvSpPr>
        <p:spPr>
          <a:xfrm>
            <a:off x="3298310" y="4560072"/>
            <a:ext cx="245612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w Cen MT" panose="020B0602020104020603"/>
                <a:ea typeface="+mn-ea"/>
                <a:cs typeface="+mn-cs"/>
              </a:rPr>
              <a:t>Oblique</a:t>
            </a:r>
            <a:endParaRPr kumimoji="0" lang="en-US" sz="1800" b="1" i="0" u="none" strike="noStrike" kern="1200" cap="none" spc="0" normalizeH="0" baseline="30000" noProof="0" dirty="0">
              <a:ln>
                <a:noFill/>
              </a:ln>
              <a:solidFill>
                <a:prstClr val="black"/>
              </a:solidFill>
              <a:effectLst/>
              <a:uLnTx/>
              <a:uFillTx/>
              <a:latin typeface="Tw Cen MT" panose="020B0602020104020603"/>
              <a:ea typeface="+mn-ea"/>
              <a:cs typeface="+mn-cs"/>
            </a:endParaRPr>
          </a:p>
        </p:txBody>
      </p:sp>
      <p:sp>
        <p:nvSpPr>
          <p:cNvPr id="5" name="TextBox 4">
            <a:extLst>
              <a:ext uri="{FF2B5EF4-FFF2-40B4-BE49-F238E27FC236}">
                <a16:creationId xmlns:a16="http://schemas.microsoft.com/office/drawing/2014/main" id="{5D267514-2F07-C536-8D19-7B250C83A895}"/>
              </a:ext>
            </a:extLst>
          </p:cNvPr>
          <p:cNvSpPr txBox="1"/>
          <p:nvPr/>
        </p:nvSpPr>
        <p:spPr>
          <a:xfrm>
            <a:off x="9790725" y="892436"/>
            <a:ext cx="215412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This has the effect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making the factor loading pattern much clearer</a:t>
            </a:r>
          </a:p>
        </p:txBody>
      </p:sp>
      <p:sp>
        <p:nvSpPr>
          <p:cNvPr id="3" name="Rectangle 2">
            <a:extLst>
              <a:ext uri="{FF2B5EF4-FFF2-40B4-BE49-F238E27FC236}">
                <a16:creationId xmlns:a16="http://schemas.microsoft.com/office/drawing/2014/main" id="{9FA188B4-5C39-610E-CC9E-296E31BDC8B2}"/>
              </a:ext>
            </a:extLst>
          </p:cNvPr>
          <p:cNvSpPr/>
          <p:nvPr/>
        </p:nvSpPr>
        <p:spPr>
          <a:xfrm>
            <a:off x="9790725" y="892436"/>
            <a:ext cx="2253343" cy="4482754"/>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FBA56FC4-72B4-B346-76AB-A326BD116CE1}"/>
              </a:ext>
            </a:extLst>
          </p:cNvPr>
          <p:cNvCxnSpPr>
            <a:cxnSpLocks/>
          </p:cNvCxnSpPr>
          <p:nvPr/>
        </p:nvCxnSpPr>
        <p:spPr>
          <a:xfrm flipH="1" flipV="1">
            <a:off x="2891481" y="729049"/>
            <a:ext cx="3052119" cy="28914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6890048-C619-BD2B-D9D7-1A82E2E8F580}"/>
              </a:ext>
            </a:extLst>
          </p:cNvPr>
          <p:cNvCxnSpPr>
            <a:cxnSpLocks/>
          </p:cNvCxnSpPr>
          <p:nvPr/>
        </p:nvCxnSpPr>
        <p:spPr>
          <a:xfrm flipH="1">
            <a:off x="2891481" y="3759749"/>
            <a:ext cx="7154562" cy="503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1253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451" y="187537"/>
            <a:ext cx="10515600" cy="627221"/>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Interpreting a Factor Matrix</a:t>
            </a:r>
          </a:p>
        </p:txBody>
      </p:sp>
      <p:sp>
        <p:nvSpPr>
          <p:cNvPr id="3" name="Content Placeholder 2"/>
          <p:cNvSpPr>
            <a:spLocks noGrp="1"/>
          </p:cNvSpPr>
          <p:nvPr>
            <p:ph idx="1"/>
          </p:nvPr>
        </p:nvSpPr>
        <p:spPr>
          <a:xfrm>
            <a:off x="298451" y="992346"/>
            <a:ext cx="11368616" cy="4616450"/>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Interpretation needed when factors used beyond solely data reduction</a:t>
            </a:r>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 The objective is a </a:t>
            </a:r>
            <a:r>
              <a:rPr lang="en-US" sz="2000" b="1" i="1" dirty="0">
                <a:latin typeface="Calibri" panose="020F0502020204030204" pitchFamily="34" charset="0"/>
                <a:ea typeface="Calibri" panose="020F0502020204030204" pitchFamily="34" charset="0"/>
                <a:cs typeface="Calibri" panose="020F0502020204030204" pitchFamily="34" charset="0"/>
              </a:rPr>
              <a:t>simple structure</a:t>
            </a:r>
            <a:r>
              <a:rPr lang="en-US" sz="2000" b="1" dirty="0">
                <a:latin typeface="Calibri" panose="020F0502020204030204" pitchFamily="34" charset="0"/>
                <a:ea typeface="Calibri" panose="020F0502020204030204" pitchFamily="34" charset="0"/>
                <a:cs typeface="Calibri" panose="020F0502020204030204" pitchFamily="34" charset="0"/>
              </a:rPr>
              <a:t>, characterized by two principles: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Each variable has a high/significant loading on one factor only, and</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 Each factor has high/significant loadings for only a subset of items.</a:t>
            </a:r>
          </a:p>
          <a:p>
            <a:r>
              <a:rPr lang="en-US" sz="2000" b="1" dirty="0">
                <a:latin typeface="Calibri" panose="020F0502020204030204" pitchFamily="34" charset="0"/>
                <a:ea typeface="Calibri" panose="020F0502020204030204" pitchFamily="34" charset="0"/>
                <a:cs typeface="Calibri" panose="020F0502020204030204" pitchFamily="34" charset="0"/>
              </a:rPr>
              <a:t> Five-step process</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Examine the factor matrix</a:t>
            </a:r>
            <a:r>
              <a:rPr lang="en-US" sz="2000" dirty="0">
                <a:latin typeface="Calibri" panose="020F0502020204030204" pitchFamily="34" charset="0"/>
                <a:ea typeface="Calibri" panose="020F0502020204030204" pitchFamily="34" charset="0"/>
                <a:cs typeface="Calibri" panose="020F0502020204030204" pitchFamily="34" charset="0"/>
              </a:rPr>
              <a:t> of loadings.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Identify the </a:t>
            </a:r>
            <a:r>
              <a:rPr lang="en-US" sz="2000" u="sng" dirty="0">
                <a:latin typeface="Calibri" panose="020F0502020204030204" pitchFamily="34" charset="0"/>
                <a:ea typeface="Calibri" panose="020F0502020204030204" pitchFamily="34" charset="0"/>
                <a:cs typeface="Calibri" panose="020F0502020204030204" pitchFamily="34" charset="0"/>
              </a:rPr>
              <a:t>significant loading(s) for each variable</a:t>
            </a:r>
            <a:r>
              <a:rPr lang="en-US" sz="2000" dirty="0">
                <a:latin typeface="Calibri" panose="020F0502020204030204" pitchFamily="34" charset="0"/>
                <a:ea typeface="Calibri" panose="020F0502020204030204" pitchFamily="34" charset="0"/>
                <a:cs typeface="Calibri" panose="020F0502020204030204" pitchFamily="34" charset="0"/>
              </a:rPr>
              <a:t>.</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Assess the </a:t>
            </a:r>
            <a:r>
              <a:rPr lang="en-US" sz="2000" u="sng" dirty="0">
                <a:latin typeface="Calibri" panose="020F0502020204030204" pitchFamily="34" charset="0"/>
                <a:ea typeface="Calibri" panose="020F0502020204030204" pitchFamily="34" charset="0"/>
                <a:cs typeface="Calibri" panose="020F0502020204030204" pitchFamily="34" charset="0"/>
              </a:rPr>
              <a:t>communalities</a:t>
            </a:r>
            <a:r>
              <a:rPr lang="en-US" sz="2000" dirty="0">
                <a:latin typeface="Calibri" panose="020F0502020204030204" pitchFamily="34" charset="0"/>
                <a:ea typeface="Calibri" panose="020F0502020204030204" pitchFamily="34" charset="0"/>
                <a:cs typeface="Calibri" panose="020F0502020204030204" pitchFamily="34" charset="0"/>
              </a:rPr>
              <a:t> of the variables.</a:t>
            </a:r>
          </a:p>
          <a:p>
            <a:pPr marL="855662" lvl="1" indent="-342900"/>
            <a:r>
              <a:rPr lang="en-US" sz="2000" u="sng" dirty="0" err="1">
                <a:latin typeface="Calibri" panose="020F0502020204030204" pitchFamily="34" charset="0"/>
                <a:ea typeface="Calibri" panose="020F0502020204030204" pitchFamily="34" charset="0"/>
                <a:cs typeface="Calibri" panose="020F0502020204030204" pitchFamily="34" charset="0"/>
              </a:rPr>
              <a:t>Respecify</a:t>
            </a:r>
            <a:r>
              <a:rPr lang="en-US" sz="2000" dirty="0">
                <a:latin typeface="Calibri" panose="020F0502020204030204" pitchFamily="34" charset="0"/>
                <a:ea typeface="Calibri" panose="020F0502020204030204" pitchFamily="34" charset="0"/>
                <a:cs typeface="Calibri" panose="020F0502020204030204" pitchFamily="34" charset="0"/>
              </a:rPr>
              <a:t> the factor model if needed.</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Label the factors</a:t>
            </a:r>
            <a:r>
              <a:rPr lang="en-US" sz="2000" dirty="0">
                <a:latin typeface="Calibri" panose="020F0502020204030204" pitchFamily="34" charset="0"/>
                <a:ea typeface="Calibri" panose="020F0502020204030204" pitchFamily="34" charset="0"/>
                <a:cs typeface="Calibri" panose="020F0502020204030204" pitchFamily="34" charset="0"/>
              </a:rPr>
              <a:t>.</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59</a:t>
            </a:fld>
            <a:endParaRPr lang="en-US" dirty="0"/>
          </a:p>
        </p:txBody>
      </p:sp>
      <p:sp>
        <p:nvSpPr>
          <p:cNvPr id="6" name="Footer Placeholder 3">
            <a:extLst>
              <a:ext uri="{FF2B5EF4-FFF2-40B4-BE49-F238E27FC236}">
                <a16:creationId xmlns:a16="http://schemas.microsoft.com/office/drawing/2014/main" id="{15AF4448-13F0-4768-AF51-7C57122DFA2A}"/>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3958997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F9BA5-4E96-402B-B4D0-81D141014440}"/>
              </a:ext>
            </a:extLst>
          </p:cNvPr>
          <p:cNvSpPr>
            <a:spLocks noGrp="1"/>
          </p:cNvSpPr>
          <p:nvPr>
            <p:ph type="title"/>
          </p:nvPr>
        </p:nvSpPr>
        <p:spPr>
          <a:xfrm>
            <a:off x="0" y="132514"/>
            <a:ext cx="10515600" cy="538079"/>
          </a:xfrm>
        </p:spPr>
        <p:txBody>
          <a:bodyPr>
            <a:normAutofit fontScale="90000"/>
          </a:bodyPr>
          <a:lstStyle/>
          <a:p>
            <a:r>
              <a:rPr lang="en-US" dirty="0"/>
              <a:t>Factor loadings</a:t>
            </a:r>
          </a:p>
        </p:txBody>
      </p:sp>
      <p:sp>
        <p:nvSpPr>
          <p:cNvPr id="3" name="Content Placeholder 2">
            <a:extLst>
              <a:ext uri="{FF2B5EF4-FFF2-40B4-BE49-F238E27FC236}">
                <a16:creationId xmlns:a16="http://schemas.microsoft.com/office/drawing/2014/main" id="{A46EAD34-5DE1-41F3-97AC-9446C480CD67}"/>
              </a:ext>
            </a:extLst>
          </p:cNvPr>
          <p:cNvSpPr>
            <a:spLocks noGrp="1"/>
          </p:cNvSpPr>
          <p:nvPr>
            <p:ph idx="1"/>
          </p:nvPr>
        </p:nvSpPr>
        <p:spPr>
          <a:xfrm>
            <a:off x="164431" y="670593"/>
            <a:ext cx="11780641" cy="4657187"/>
          </a:xfrm>
        </p:spPr>
        <p:txBody>
          <a:bodyPr>
            <a:normAutofit lnSpcReduction="10000"/>
          </a:bodyPr>
          <a:lstStyle/>
          <a:p>
            <a:r>
              <a:rPr lang="en-US" sz="2000" dirty="0">
                <a:latin typeface="Calibri" panose="020F0502020204030204" pitchFamily="34" charset="0"/>
                <a:ea typeface="Calibri" panose="020F0502020204030204" pitchFamily="34" charset="0"/>
                <a:cs typeface="Calibri" panose="020F0502020204030204" pitchFamily="34" charset="0"/>
              </a:rPr>
              <a:t>The factor loading provides information on the relative contribution that an individual variable makes to a factor</a:t>
            </a:r>
          </a:p>
          <a:p>
            <a:r>
              <a:rPr lang="en-US" sz="2000" dirty="0">
                <a:latin typeface="Calibri" panose="020F0502020204030204" pitchFamily="34" charset="0"/>
                <a:ea typeface="Calibri" panose="020F0502020204030204" pitchFamily="34" charset="0"/>
                <a:cs typeface="Calibri" panose="020F0502020204030204" pitchFamily="34" charset="0"/>
              </a:rPr>
              <a:t>Should be &gt;=.3 preferably &gt;=.4, closer to 1 is better</a:t>
            </a:r>
          </a:p>
          <a:p>
            <a:r>
              <a:rPr lang="en-US" sz="2000" dirty="0">
                <a:latin typeface="Calibri" panose="020F0502020204030204" pitchFamily="34" charset="0"/>
                <a:ea typeface="Calibri" panose="020F0502020204030204" pitchFamily="34" charset="0"/>
                <a:cs typeface="Calibri" panose="020F0502020204030204" pitchFamily="34" charset="0"/>
              </a:rPr>
              <a:t>The larger the more important, using practical reasoning</a:t>
            </a:r>
          </a:p>
          <a:p>
            <a:pPr lvl="1"/>
            <a:r>
              <a:rPr lang="en-US" sz="2000" dirty="0">
                <a:latin typeface="Calibri" panose="020F0502020204030204" pitchFamily="34" charset="0"/>
                <a:ea typeface="Calibri" panose="020F0502020204030204" pitchFamily="34" charset="0"/>
                <a:cs typeface="Calibri" panose="020F0502020204030204" pitchFamily="34" charset="0"/>
              </a:rPr>
              <a:t>+/- .30 to +/- .40 meet minimum level for interpreting factor structure</a:t>
            </a:r>
          </a:p>
          <a:p>
            <a:pPr lvl="1"/>
            <a:r>
              <a:rPr lang="en-US" sz="2000" dirty="0">
                <a:latin typeface="Calibri" panose="020F0502020204030204" pitchFamily="34" charset="0"/>
                <a:ea typeface="Calibri" panose="020F0502020204030204" pitchFamily="34" charset="0"/>
                <a:cs typeface="Calibri" panose="020F0502020204030204" pitchFamily="34" charset="0"/>
              </a:rPr>
              <a:t>Loadings of .50 or higher are practically significant</a:t>
            </a:r>
          </a:p>
          <a:p>
            <a:pPr lvl="1"/>
            <a:r>
              <a:rPr lang="en-US" sz="2000" dirty="0">
                <a:latin typeface="Calibri" panose="020F0502020204030204" pitchFamily="34" charset="0"/>
                <a:ea typeface="Calibri" panose="020F0502020204030204" pitchFamily="34" charset="0"/>
                <a:cs typeface="Calibri" panose="020F0502020204030204" pitchFamily="34" charset="0"/>
              </a:rPr>
              <a:t>Loadings &gt; .70 are indicative of well-defined structure</a:t>
            </a:r>
          </a:p>
          <a:p>
            <a:r>
              <a:rPr lang="en-US" sz="2000" b="1" dirty="0">
                <a:latin typeface="Calibri" panose="020F0502020204030204" pitchFamily="34" charset="0"/>
                <a:ea typeface="Calibri" panose="020F0502020204030204" pitchFamily="34" charset="0"/>
                <a:cs typeface="Calibri" panose="020F0502020204030204" pitchFamily="34" charset="0"/>
              </a:rPr>
              <a:t>Recall: </a:t>
            </a:r>
            <a:r>
              <a:rPr lang="en-US" sz="2000" dirty="0">
                <a:latin typeface="Calibri" panose="020F0502020204030204" pitchFamily="34" charset="0"/>
                <a:ea typeface="Calibri" panose="020F0502020204030204" pitchFamily="34" charset="0"/>
                <a:cs typeface="Calibri" panose="020F0502020204030204" pitchFamily="34" charset="0"/>
              </a:rPr>
              <a:t>The factor loading squared is the percentage of common variance of the factor that is accounted for by that variable: If a variable loads .60 on a factor, then: 36% of that variable’s variance is explained by the factor</a:t>
            </a:r>
          </a:p>
          <a:p>
            <a:r>
              <a:rPr lang="en-US" sz="2000" dirty="0">
                <a:latin typeface="Calibri" panose="020F0502020204030204" pitchFamily="34" charset="0"/>
                <a:ea typeface="Calibri" panose="020F0502020204030204" pitchFamily="34" charset="0"/>
                <a:cs typeface="Calibri" panose="020F0502020204030204" pitchFamily="34" charset="0"/>
              </a:rPr>
              <a:t>You want each variable to have </a:t>
            </a:r>
            <a:r>
              <a:rPr lang="en-US" sz="2000" b="1" u="sng" dirty="0">
                <a:latin typeface="Calibri" panose="020F0502020204030204" pitchFamily="34" charset="0"/>
                <a:ea typeface="Calibri" panose="020F0502020204030204" pitchFamily="34" charset="0"/>
                <a:cs typeface="Calibri" panose="020F0502020204030204" pitchFamily="34" charset="0"/>
              </a:rPr>
              <a:t>one strong loading on a single factor and near-zero on all others but in reality</a:t>
            </a:r>
            <a:r>
              <a:rPr lang="en-US" sz="2000" dirty="0">
                <a:latin typeface="Calibri" panose="020F0502020204030204" pitchFamily="34" charset="0"/>
                <a:ea typeface="Calibri" panose="020F0502020204030204" pitchFamily="34" charset="0"/>
                <a:cs typeface="Calibri" panose="020F0502020204030204" pitchFamily="34" charset="0"/>
              </a:rPr>
              <a:t>, cross-loadings happen (even after rotation, but it helps).</a:t>
            </a:r>
          </a:p>
          <a:p>
            <a:r>
              <a:rPr lang="en-US" sz="2000" dirty="0">
                <a:latin typeface="Calibri" panose="020F0502020204030204" pitchFamily="34" charset="0"/>
                <a:ea typeface="Calibri" panose="020F0502020204030204" pitchFamily="34" charset="0"/>
                <a:cs typeface="Calibri" panose="020F0502020204030204" pitchFamily="34" charset="0"/>
              </a:rPr>
              <a:t>Loadings can be negative: They just mean the variable moves inversely with the factor (you can recode the item for easier interpretation)</a:t>
            </a:r>
          </a:p>
          <a:p>
            <a:r>
              <a:rPr lang="en-US" sz="2000" dirty="0">
                <a:latin typeface="Calibri" panose="020F0502020204030204" pitchFamily="34" charset="0"/>
                <a:ea typeface="Calibri" panose="020F0502020204030204" pitchFamily="34" charset="0"/>
                <a:cs typeface="Calibri" panose="020F0502020204030204" pitchFamily="34" charset="0"/>
              </a:rPr>
              <a:t>Bipolar factors: a factor defined by positive loadings on one set of variables and negative loadings on another</a:t>
            </a:r>
          </a:p>
        </p:txBody>
      </p:sp>
    </p:spTree>
    <p:extLst>
      <p:ext uri="{BB962C8B-B14F-4D97-AF65-F5344CB8AC3E}">
        <p14:creationId xmlns:p14="http://schemas.microsoft.com/office/powerpoint/2010/main" val="20740874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090" y="224726"/>
            <a:ext cx="10515600" cy="935421"/>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Judging the </a:t>
            </a:r>
            <a:r>
              <a:rPr lang="en-US" sz="4000" dirty="0">
                <a:latin typeface="Calibri" panose="020F0502020204030204" pitchFamily="34" charset="0"/>
                <a:ea typeface="Calibri" panose="020F0502020204030204" pitchFamily="34" charset="0"/>
                <a:cs typeface="Calibri" panose="020F0502020204030204" pitchFamily="34" charset="0"/>
              </a:rPr>
              <a:t>Significance</a:t>
            </a:r>
            <a:r>
              <a:rPr lang="en-US" dirty="0">
                <a:latin typeface="Calibri" panose="020F0502020204030204" pitchFamily="34" charset="0"/>
                <a:ea typeface="Calibri" panose="020F0502020204030204" pitchFamily="34" charset="0"/>
                <a:cs typeface="Calibri" panose="020F0502020204030204" pitchFamily="34" charset="0"/>
              </a:rPr>
              <a:t> of Factor Loadings</a:t>
            </a:r>
          </a:p>
        </p:txBody>
      </p:sp>
      <p:sp>
        <p:nvSpPr>
          <p:cNvPr id="3" name="Content Placeholder 2"/>
          <p:cNvSpPr>
            <a:spLocks noGrp="1"/>
          </p:cNvSpPr>
          <p:nvPr>
            <p:ph idx="1"/>
          </p:nvPr>
        </p:nvSpPr>
        <p:spPr>
          <a:xfrm>
            <a:off x="413527" y="1177697"/>
            <a:ext cx="6207990" cy="5413496"/>
          </a:xfrm>
        </p:spPr>
        <p:txBody>
          <a:bodyPr>
            <a:normAutofit/>
          </a:bodyPr>
          <a:lstStyle/>
          <a:p>
            <a:pPr marL="568325" indent="-568325"/>
            <a:r>
              <a:rPr lang="en-US" sz="2000" b="1" dirty="0">
                <a:latin typeface="Calibri" panose="020F0502020204030204" pitchFamily="34" charset="0"/>
                <a:ea typeface="Calibri" panose="020F0502020204030204" pitchFamily="34" charset="0"/>
                <a:cs typeface="Calibri" panose="020F0502020204030204" pitchFamily="34" charset="0"/>
              </a:rPr>
              <a:t>Practical Significance For Assessing Structure</a:t>
            </a:r>
          </a:p>
          <a:p>
            <a:pPr marL="1081087" lvl="1" indent="-568325"/>
            <a:r>
              <a:rPr lang="en-US" sz="2000" u="sng" dirty="0">
                <a:latin typeface="Calibri" panose="020F0502020204030204" pitchFamily="34" charset="0"/>
                <a:ea typeface="Calibri" panose="020F0502020204030204" pitchFamily="34" charset="0"/>
                <a:cs typeface="Calibri" panose="020F0502020204030204" pitchFamily="34" charset="0"/>
              </a:rPr>
              <a:t>Equivalent to zero</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i="1" dirty="0">
                <a:latin typeface="Calibri" panose="020F0502020204030204" pitchFamily="34" charset="0"/>
                <a:ea typeface="Calibri" panose="020F0502020204030204" pitchFamily="34" charset="0"/>
                <a:cs typeface="Calibri" panose="020F0502020204030204" pitchFamily="34" charset="0"/>
              </a:rPr>
              <a:t>less than +/- .10</a:t>
            </a:r>
          </a:p>
          <a:p>
            <a:pPr marL="1081087" lvl="1" indent="-568325"/>
            <a:r>
              <a:rPr lang="en-US" sz="2000" u="sng" dirty="0">
                <a:latin typeface="Calibri" panose="020F0502020204030204" pitchFamily="34" charset="0"/>
                <a:ea typeface="Calibri" panose="020F0502020204030204" pitchFamily="34" charset="0"/>
                <a:cs typeface="Calibri" panose="020F0502020204030204" pitchFamily="34" charset="0"/>
              </a:rPr>
              <a:t>Minimal Level</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i="1" dirty="0">
                <a:latin typeface="Calibri" panose="020F0502020204030204" pitchFamily="34" charset="0"/>
                <a:ea typeface="Calibri" panose="020F0502020204030204" pitchFamily="34" charset="0"/>
                <a:cs typeface="Calibri" panose="020F0502020204030204" pitchFamily="34" charset="0"/>
              </a:rPr>
              <a:t>in the range of +/- .30 to +/- .40</a:t>
            </a:r>
          </a:p>
          <a:p>
            <a:pPr marL="1081087" lvl="1" indent="-568325"/>
            <a:r>
              <a:rPr lang="en-US" sz="2000" u="sng" dirty="0">
                <a:latin typeface="Calibri" panose="020F0502020204030204" pitchFamily="34" charset="0"/>
                <a:ea typeface="Calibri" panose="020F0502020204030204" pitchFamily="34" charset="0"/>
                <a:cs typeface="Calibri" panose="020F0502020204030204" pitchFamily="34" charset="0"/>
              </a:rPr>
              <a:t>Practically Significant</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i="1" dirty="0">
                <a:latin typeface="Calibri" panose="020F0502020204030204" pitchFamily="34" charset="0"/>
                <a:ea typeface="Calibri" panose="020F0502020204030204" pitchFamily="34" charset="0"/>
                <a:cs typeface="Calibri" panose="020F0502020204030204" pitchFamily="34" charset="0"/>
              </a:rPr>
              <a:t>values of +/- .50 or greater</a:t>
            </a:r>
          </a:p>
          <a:p>
            <a:pPr marL="1081087" lvl="1" indent="-568325"/>
            <a:r>
              <a:rPr lang="en-US" sz="2000" u="sng" dirty="0">
                <a:latin typeface="Calibri" panose="020F0502020204030204" pitchFamily="34" charset="0"/>
                <a:ea typeface="Calibri" panose="020F0502020204030204" pitchFamily="34" charset="0"/>
                <a:cs typeface="Calibri" panose="020F0502020204030204" pitchFamily="34" charset="0"/>
              </a:rPr>
              <a:t>Well-defined structure</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i="1" dirty="0">
                <a:latin typeface="Calibri" panose="020F0502020204030204" pitchFamily="34" charset="0"/>
                <a:ea typeface="Calibri" panose="020F0502020204030204" pitchFamily="34" charset="0"/>
                <a:cs typeface="Calibri" panose="020F0502020204030204" pitchFamily="34" charset="0"/>
              </a:rPr>
              <a:t>exceeding +/- .70 </a:t>
            </a:r>
          </a:p>
          <a:p>
            <a:pPr marL="568325" indent="-568325"/>
            <a:r>
              <a:rPr lang="en-US" sz="2000" b="1" dirty="0">
                <a:latin typeface="Calibri" panose="020F0502020204030204" pitchFamily="34" charset="0"/>
                <a:ea typeface="Calibri" panose="020F0502020204030204" pitchFamily="34" charset="0"/>
                <a:cs typeface="Calibri" panose="020F0502020204030204" pitchFamily="34" charset="0"/>
              </a:rPr>
              <a:t>Factor Structure</a:t>
            </a:r>
          </a:p>
          <a:p>
            <a:pPr marL="1081087" lvl="1" indent="-568325"/>
            <a:r>
              <a:rPr lang="en-US" sz="2000" dirty="0">
                <a:latin typeface="Calibri" panose="020F0502020204030204" pitchFamily="34" charset="0"/>
                <a:ea typeface="Calibri" panose="020F0502020204030204" pitchFamily="34" charset="0"/>
                <a:cs typeface="Calibri" panose="020F0502020204030204" pitchFamily="34" charset="0"/>
              </a:rPr>
              <a:t>With big samples, even small loadings are reliable.</a:t>
            </a:r>
          </a:p>
          <a:p>
            <a:pPr marL="1081087" lvl="1" indent="-568325"/>
            <a:r>
              <a:rPr lang="en-US" sz="2000" dirty="0">
                <a:latin typeface="Calibri" panose="020F0502020204030204" pitchFamily="34" charset="0"/>
                <a:ea typeface="Calibri" panose="020F0502020204030204" pitchFamily="34" charset="0"/>
                <a:cs typeface="Calibri" panose="020F0502020204030204" pitchFamily="34" charset="0"/>
              </a:rPr>
              <a:t>When you extract more factors, you need stronger loadings to clearly assign variables to the correct factor.</a:t>
            </a:r>
          </a:p>
          <a:p>
            <a:pPr marL="623887" indent="-568325"/>
            <a:r>
              <a:rPr lang="en-US" sz="2000" b="1" dirty="0">
                <a:latin typeface="Calibri" panose="020F0502020204030204" pitchFamily="34" charset="0"/>
                <a:ea typeface="Calibri" panose="020F0502020204030204" pitchFamily="34" charset="0"/>
                <a:cs typeface="Calibri" panose="020F0502020204030204" pitchFamily="34" charset="0"/>
              </a:rPr>
              <a:t>Statistical Significance</a:t>
            </a:r>
          </a:p>
          <a:p>
            <a:pPr marL="1081087" lvl="1" indent="-568325"/>
            <a:r>
              <a:rPr lang="en-US" sz="2000" dirty="0">
                <a:latin typeface="Calibri" panose="020F0502020204030204" pitchFamily="34" charset="0"/>
                <a:ea typeface="Calibri" panose="020F0502020204030204" pitchFamily="34" charset="0"/>
                <a:cs typeface="Calibri" panose="020F0502020204030204" pitchFamily="34" charset="0"/>
              </a:rPr>
              <a:t>Ensuring adequate statistical power, significant loadings can be identified by sample size.</a:t>
            </a: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61</a:t>
            </a:fld>
            <a:endParaRPr lang="en-US" dirty="0"/>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015976" y="1294576"/>
            <a:ext cx="4483545" cy="4727851"/>
          </a:xfrm>
          <a:prstGeom prst="rect">
            <a:avLst/>
          </a:prstGeom>
          <a:ln w="25400">
            <a:solidFill>
              <a:srgbClr val="00279F"/>
            </a:solidFill>
          </a:ln>
        </p:spPr>
      </p:pic>
      <p:sp>
        <p:nvSpPr>
          <p:cNvPr id="8" name="Footer Placeholder 3">
            <a:extLst>
              <a:ext uri="{FF2B5EF4-FFF2-40B4-BE49-F238E27FC236}">
                <a16:creationId xmlns:a16="http://schemas.microsoft.com/office/drawing/2014/main" id="{3F04F518-E71E-4F53-986B-73C292CA5427}"/>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5720344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C5F3-057C-4A6B-B9DE-0DD3D59FF0A3}"/>
              </a:ext>
            </a:extLst>
          </p:cNvPr>
          <p:cNvSpPr>
            <a:spLocks noGrp="1"/>
          </p:cNvSpPr>
          <p:nvPr>
            <p:ph type="title"/>
          </p:nvPr>
        </p:nvSpPr>
        <p:spPr>
          <a:xfrm>
            <a:off x="84221" y="365126"/>
            <a:ext cx="10515600" cy="509170"/>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Identify significant loadings and assess communalities</a:t>
            </a:r>
          </a:p>
        </p:txBody>
      </p:sp>
      <p:sp>
        <p:nvSpPr>
          <p:cNvPr id="3" name="Content Placeholder 2">
            <a:extLst>
              <a:ext uri="{FF2B5EF4-FFF2-40B4-BE49-F238E27FC236}">
                <a16:creationId xmlns:a16="http://schemas.microsoft.com/office/drawing/2014/main" id="{86D2729C-7E6E-4929-9CA0-8A529737A7BA}"/>
              </a:ext>
            </a:extLst>
          </p:cNvPr>
          <p:cNvSpPr>
            <a:spLocks noGrp="1"/>
          </p:cNvSpPr>
          <p:nvPr>
            <p:ph idx="1"/>
          </p:nvPr>
        </p:nvSpPr>
        <p:spPr>
          <a:xfrm>
            <a:off x="188495" y="1187951"/>
            <a:ext cx="11658600" cy="2241049"/>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Once the significance of loadings has been identified, look for any variables that are not adequately accounted for by the factor solution</a:t>
            </a:r>
          </a:p>
          <a:p>
            <a:r>
              <a:rPr lang="en-US" sz="2000" dirty="0">
                <a:latin typeface="Calibri" panose="020F0502020204030204" pitchFamily="34" charset="0"/>
                <a:ea typeface="Calibri" panose="020F0502020204030204" pitchFamily="34" charset="0"/>
                <a:cs typeface="Calibri" panose="020F0502020204030204" pitchFamily="34" charset="0"/>
              </a:rPr>
              <a:t>We do this by looking at communalities </a:t>
            </a: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variables with communalities less than .50 do not have sufficient explanation</a:t>
            </a:r>
          </a:p>
          <a:p>
            <a:r>
              <a:rPr lang="en-US" sz="2000" b="1"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If low communalities are identified, remove the variable and repeat the analysis</a:t>
            </a:r>
          </a:p>
          <a:p>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Then label the factors</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60420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D1FC7-6C88-4281-B8DC-7F561B933FE8}"/>
              </a:ext>
            </a:extLst>
          </p:cNvPr>
          <p:cNvSpPr>
            <a:spLocks noGrp="1"/>
          </p:cNvSpPr>
          <p:nvPr>
            <p:ph type="title"/>
          </p:nvPr>
        </p:nvSpPr>
        <p:spPr>
          <a:xfrm>
            <a:off x="100264" y="124494"/>
            <a:ext cx="10515600" cy="613443"/>
          </a:xfrm>
        </p:spPr>
        <p:txBody>
          <a:bodyPr>
            <a:normAutofit fontScale="90000"/>
          </a:bodyPr>
          <a:lstStyle/>
          <a:p>
            <a:r>
              <a:rPr lang="en-US" dirty="0"/>
              <a:t>Interpreting a factor matrix</a:t>
            </a:r>
          </a:p>
        </p:txBody>
      </p:sp>
      <p:sp>
        <p:nvSpPr>
          <p:cNvPr id="3" name="Content Placeholder 2">
            <a:extLst>
              <a:ext uri="{FF2B5EF4-FFF2-40B4-BE49-F238E27FC236}">
                <a16:creationId xmlns:a16="http://schemas.microsoft.com/office/drawing/2014/main" id="{70331417-C088-4C9A-B4A2-799F6147B64E}"/>
              </a:ext>
            </a:extLst>
          </p:cNvPr>
          <p:cNvSpPr>
            <a:spLocks noGrp="1"/>
          </p:cNvSpPr>
          <p:nvPr>
            <p:ph idx="1"/>
          </p:nvPr>
        </p:nvSpPr>
        <p:spPr>
          <a:xfrm>
            <a:off x="284746" y="737937"/>
            <a:ext cx="11428833" cy="4351338"/>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Once you’ve rotated and examined the factor loadings, your goal is to name the factors—but not randomly</a:t>
            </a:r>
          </a:p>
          <a:p>
            <a:r>
              <a:rPr lang="en-US" sz="2000" dirty="0">
                <a:latin typeface="Calibri" panose="020F0502020204030204" pitchFamily="34" charset="0"/>
                <a:ea typeface="Calibri" panose="020F0502020204030204" pitchFamily="34" charset="0"/>
                <a:cs typeface="Calibri" panose="020F0502020204030204" pitchFamily="34" charset="0"/>
              </a:rPr>
              <a:t>You need to</a:t>
            </a:r>
          </a:p>
          <a:p>
            <a:pPr lvl="1"/>
            <a:r>
              <a:rPr lang="en-US" sz="1800" dirty="0">
                <a:latin typeface="Calibri" panose="020F0502020204030204" pitchFamily="34" charset="0"/>
                <a:ea typeface="Calibri" panose="020F0502020204030204" pitchFamily="34" charset="0"/>
                <a:cs typeface="Calibri" panose="020F0502020204030204" pitchFamily="34" charset="0"/>
              </a:rPr>
              <a:t>Find </a:t>
            </a:r>
            <a:r>
              <a:rPr lang="en-US" sz="1800" b="1" dirty="0">
                <a:latin typeface="Calibri" panose="020F0502020204030204" pitchFamily="34" charset="0"/>
                <a:ea typeface="Calibri" panose="020F0502020204030204" pitchFamily="34" charset="0"/>
                <a:cs typeface="Calibri" panose="020F0502020204030204" pitchFamily="34" charset="0"/>
              </a:rPr>
              <a:t>distinctive variables that load strongly </a:t>
            </a:r>
            <a:r>
              <a:rPr lang="en-US" sz="1800" dirty="0">
                <a:latin typeface="Calibri" panose="020F0502020204030204" pitchFamily="34" charset="0"/>
                <a:ea typeface="Calibri" panose="020F0502020204030204" pitchFamily="34" charset="0"/>
                <a:cs typeface="Calibri" panose="020F0502020204030204" pitchFamily="34" charset="0"/>
              </a:rPr>
              <a:t>on each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Match those variables to your </a:t>
            </a:r>
            <a:r>
              <a:rPr lang="en-US" sz="1800" b="1" dirty="0">
                <a:latin typeface="Calibri" panose="020F0502020204030204" pitchFamily="34" charset="0"/>
                <a:ea typeface="Calibri" panose="020F0502020204030204" pitchFamily="34" charset="0"/>
                <a:cs typeface="Calibri" panose="020F0502020204030204" pitchFamily="34" charset="0"/>
              </a:rPr>
              <a:t>theoretical or conceptual foundation</a:t>
            </a:r>
          </a:p>
          <a:p>
            <a:r>
              <a:rPr lang="en-US" sz="2000" dirty="0">
                <a:latin typeface="Calibri" panose="020F0502020204030204" pitchFamily="34" charset="0"/>
                <a:ea typeface="Calibri" panose="020F0502020204030204" pitchFamily="34" charset="0"/>
                <a:cs typeface="Calibri" panose="020F0502020204030204" pitchFamily="34" charset="0"/>
              </a:rPr>
              <a:t>What do these items have in common? What latent idea ties them together?</a:t>
            </a:r>
          </a:p>
          <a:p>
            <a:r>
              <a:rPr lang="en-US" sz="2000" b="1" dirty="0">
                <a:latin typeface="Calibri" panose="020F0502020204030204" pitchFamily="34" charset="0"/>
                <a:ea typeface="Calibri" panose="020F0502020204030204" pitchFamily="34" charset="0"/>
                <a:cs typeface="Calibri" panose="020F0502020204030204" pitchFamily="34" charset="0"/>
              </a:rPr>
              <a:t>Note:</a:t>
            </a:r>
            <a:r>
              <a:rPr lang="en-US" sz="2000" dirty="0">
                <a:latin typeface="Calibri" panose="020F0502020204030204" pitchFamily="34" charset="0"/>
                <a:ea typeface="Calibri" panose="020F0502020204030204" pitchFamily="34" charset="0"/>
                <a:cs typeface="Calibri" panose="020F0502020204030204" pitchFamily="34" charset="0"/>
              </a:rPr>
              <a:t> if you’ve used oblique rotation (which allows factors to correlate), your output includes two matrices—and they serve different purposes:</a:t>
            </a:r>
          </a:p>
          <a:p>
            <a:pPr lvl="1"/>
            <a:r>
              <a:rPr lang="en-US" sz="1800" dirty="0">
                <a:latin typeface="Calibri" panose="020F0502020204030204" pitchFamily="34" charset="0"/>
                <a:ea typeface="Calibri" panose="020F0502020204030204" pitchFamily="34" charset="0"/>
                <a:cs typeface="Calibri" panose="020F0502020204030204" pitchFamily="34" charset="0"/>
              </a:rPr>
              <a:t>Includes both unique contributions and the shared variance due to correlations between factors</a:t>
            </a:r>
          </a:p>
          <a:p>
            <a:pPr lvl="1"/>
            <a:r>
              <a:rPr lang="en-US" sz="1800" dirty="0">
                <a:latin typeface="Calibri" panose="020F0502020204030204" pitchFamily="34" charset="0"/>
                <a:ea typeface="Calibri" panose="020F0502020204030204" pitchFamily="34" charset="0"/>
                <a:cs typeface="Calibri" panose="020F0502020204030204" pitchFamily="34" charset="0"/>
              </a:rPr>
              <a:t>These are correlations between the variable and the factor</a:t>
            </a:r>
          </a:p>
          <a:p>
            <a:pPr lvl="1"/>
            <a:r>
              <a:rPr lang="en-US" sz="1800" dirty="0">
                <a:latin typeface="Calibri" panose="020F0502020204030204" pitchFamily="34" charset="0"/>
                <a:ea typeface="Calibri" panose="020F0502020204030204" pitchFamily="34" charset="0"/>
                <a:cs typeface="Calibri" panose="020F0502020204030204" pitchFamily="34" charset="0"/>
              </a:rPr>
              <a:t>Use this matrix to understand overall relationships, but not to name factors</a:t>
            </a:r>
          </a:p>
          <a:p>
            <a:r>
              <a:rPr lang="en-US" sz="2200" dirty="0">
                <a:latin typeface="Calibri" panose="020F0502020204030204" pitchFamily="34" charset="0"/>
                <a:ea typeface="Calibri" panose="020F0502020204030204" pitchFamily="34" charset="0"/>
                <a:cs typeface="Calibri" panose="020F0502020204030204" pitchFamily="34" charset="0"/>
              </a:rPr>
              <a:t>Base the factor labeling on the rotated pattern matrix</a:t>
            </a:r>
          </a:p>
        </p:txBody>
      </p:sp>
    </p:spTree>
    <p:extLst>
      <p:ext uri="{BB962C8B-B14F-4D97-AF65-F5344CB8AC3E}">
        <p14:creationId xmlns:p14="http://schemas.microsoft.com/office/powerpoint/2010/main" val="41681184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725" y="186450"/>
            <a:ext cx="10515600" cy="822544"/>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Step 1: Examine the factor matrix of loadings</a:t>
            </a:r>
          </a:p>
        </p:txBody>
      </p:sp>
      <p:sp>
        <p:nvSpPr>
          <p:cNvPr id="3" name="Content Placeholder 2"/>
          <p:cNvSpPr>
            <a:spLocks noGrp="1"/>
          </p:cNvSpPr>
          <p:nvPr>
            <p:ph idx="1"/>
          </p:nvPr>
        </p:nvSpPr>
        <p:spPr>
          <a:xfrm>
            <a:off x="480848" y="1008994"/>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Starting Point:</a:t>
            </a:r>
          </a:p>
          <a:p>
            <a:pPr lvl="1"/>
            <a:r>
              <a:rPr lang="en-US" sz="2000" dirty="0">
                <a:latin typeface="Calibri" panose="020F0502020204030204" pitchFamily="34" charset="0"/>
                <a:ea typeface="Calibri" panose="020F0502020204030204" pitchFamily="34" charset="0"/>
                <a:cs typeface="Calibri" panose="020F0502020204030204" pitchFamily="34" charset="0"/>
              </a:rPr>
              <a:t>Factor matrix has </a:t>
            </a:r>
            <a:r>
              <a:rPr lang="en-US" sz="2000" u="sng" dirty="0">
                <a:latin typeface="Calibri" panose="020F0502020204030204" pitchFamily="34" charset="0"/>
                <a:ea typeface="Calibri" panose="020F0502020204030204" pitchFamily="34" charset="0"/>
                <a:cs typeface="Calibri" panose="020F0502020204030204" pitchFamily="34" charset="0"/>
              </a:rPr>
              <a:t>loadings of every variable on every factor</a:t>
            </a:r>
            <a:r>
              <a:rPr lang="en-US" sz="2000" dirty="0">
                <a:latin typeface="Calibri" panose="020F0502020204030204" pitchFamily="34" charset="0"/>
                <a:ea typeface="Calibri" panose="020F0502020204030204" pitchFamily="34" charset="0"/>
                <a:cs typeface="Calibri" panose="020F0502020204030204" pitchFamily="34" charset="0"/>
              </a:rPr>
              <a:t> extracted.</a:t>
            </a:r>
          </a:p>
          <a:p>
            <a:pPr lvl="1"/>
            <a:r>
              <a:rPr lang="en-US" sz="2000" dirty="0">
                <a:latin typeface="Calibri" panose="020F0502020204030204" pitchFamily="34" charset="0"/>
                <a:ea typeface="Calibri" panose="020F0502020204030204" pitchFamily="34" charset="0"/>
                <a:cs typeface="Calibri" panose="020F0502020204030204" pitchFamily="34" charset="0"/>
              </a:rPr>
              <a:t>Examine each variable for the </a:t>
            </a:r>
            <a:r>
              <a:rPr lang="en-US" sz="2000" u="sng" dirty="0">
                <a:latin typeface="Calibri" panose="020F0502020204030204" pitchFamily="34" charset="0"/>
                <a:ea typeface="Calibri" panose="020F0502020204030204" pitchFamily="34" charset="0"/>
                <a:cs typeface="Calibri" panose="020F0502020204030204" pitchFamily="34" charset="0"/>
              </a:rPr>
              <a:t>highest loading/significant loading</a:t>
            </a:r>
            <a:r>
              <a:rPr lang="en-US" sz="2000" dirty="0">
                <a:latin typeface="Calibri" panose="020F0502020204030204" pitchFamily="34" charset="0"/>
                <a:ea typeface="Calibri" panose="020F0502020204030204" pitchFamily="34" charset="0"/>
                <a:cs typeface="Calibri" panose="020F0502020204030204" pitchFamily="34" charset="0"/>
              </a:rPr>
              <a:t> on a factor.</a:t>
            </a:r>
          </a:p>
          <a:p>
            <a:pPr lvl="1"/>
            <a:r>
              <a:rPr lang="en-US" sz="2000" u="sng" dirty="0">
                <a:latin typeface="Calibri" panose="020F0502020204030204" pitchFamily="34" charset="0"/>
                <a:ea typeface="Calibri" panose="020F0502020204030204" pitchFamily="34" charset="0"/>
                <a:cs typeface="Calibri" panose="020F0502020204030204" pitchFamily="34" charset="0"/>
              </a:rPr>
              <a:t>Cross-loading</a:t>
            </a:r>
            <a:r>
              <a:rPr lang="en-US" sz="2000" dirty="0">
                <a:latin typeface="Calibri" panose="020F0502020204030204" pitchFamily="34" charset="0"/>
                <a:ea typeface="Calibri" panose="020F0502020204030204" pitchFamily="34" charset="0"/>
                <a:cs typeface="Calibri" panose="020F0502020204030204" pitchFamily="34" charset="0"/>
              </a:rPr>
              <a:t> – when a variable has a significant loading on more than one factor.</a:t>
            </a:r>
          </a:p>
          <a:p>
            <a:endParaRPr lang="en-US" sz="2000" b="1"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Two Principles to Assist in Identifying Cross-loadings</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Compare variances, Not Loadings</a:t>
            </a:r>
            <a:r>
              <a:rPr lang="en-US" sz="2000" dirty="0">
                <a:latin typeface="Calibri" panose="020F0502020204030204" pitchFamily="34" charset="0"/>
                <a:ea typeface="Calibri" panose="020F0502020204030204" pitchFamily="34" charset="0"/>
                <a:cs typeface="Calibri" panose="020F0502020204030204" pitchFamily="34" charset="0"/>
              </a:rPr>
              <a:t>.</a:t>
            </a:r>
            <a:endParaRPr lang="en-US" sz="2000" u="sng" dirty="0">
              <a:latin typeface="Calibri" panose="020F0502020204030204" pitchFamily="34" charset="0"/>
              <a:ea typeface="Calibri" panose="020F0502020204030204" pitchFamily="34" charset="0"/>
              <a:cs typeface="Calibri" panose="020F0502020204030204" pitchFamily="34" charset="0"/>
            </a:endParaRPr>
          </a:p>
          <a:p>
            <a:pPr marL="1370012" lvl="2" indent="-457200"/>
            <a:r>
              <a:rPr lang="en-US" dirty="0">
                <a:latin typeface="Calibri" panose="020F0502020204030204" pitchFamily="34" charset="0"/>
                <a:ea typeface="Calibri" panose="020F0502020204030204" pitchFamily="34" charset="0"/>
                <a:cs typeface="Calibri" panose="020F0502020204030204" pitchFamily="34" charset="0"/>
              </a:rPr>
              <a:t>Variance (i.e., squared loading) is ultimate objective of factor analysis, so use that measure.</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Compare ratios of variances</a:t>
            </a:r>
            <a:r>
              <a:rPr lang="en-US" sz="2000" dirty="0">
                <a:latin typeface="Calibri" panose="020F0502020204030204" pitchFamily="34" charset="0"/>
                <a:ea typeface="Calibri" panose="020F0502020204030204" pitchFamily="34" charset="0"/>
                <a:cs typeface="Calibri" panose="020F0502020204030204" pitchFamily="34" charset="0"/>
              </a:rPr>
              <a:t>.</a:t>
            </a:r>
            <a:endParaRPr lang="en-US" sz="2000" u="sng" dirty="0">
              <a:latin typeface="Calibri" panose="020F0502020204030204" pitchFamily="34" charset="0"/>
              <a:ea typeface="Calibri" panose="020F0502020204030204" pitchFamily="34" charset="0"/>
              <a:cs typeface="Calibri" panose="020F0502020204030204" pitchFamily="34" charset="0"/>
            </a:endParaRPr>
          </a:p>
          <a:p>
            <a:pPr marL="1370012" lvl="2" indent="-457200"/>
            <a:r>
              <a:rPr lang="en-US" dirty="0">
                <a:latin typeface="Calibri" panose="020F0502020204030204" pitchFamily="34" charset="0"/>
                <a:ea typeface="Calibri" panose="020F0502020204030204" pitchFamily="34" charset="0"/>
                <a:cs typeface="Calibri" panose="020F0502020204030204" pitchFamily="34" charset="0"/>
              </a:rPr>
              <a:t>Relative magnitude expressed as the ratio of two variances (larger variance / smaller variance) which “scales” the variance difference to the size of the two variances.</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64</a:t>
            </a:fld>
            <a:endParaRPr lang="en-US" dirty="0"/>
          </a:p>
        </p:txBody>
      </p:sp>
      <p:sp>
        <p:nvSpPr>
          <p:cNvPr id="6" name="Footer Placeholder 3">
            <a:extLst>
              <a:ext uri="{FF2B5EF4-FFF2-40B4-BE49-F238E27FC236}">
                <a16:creationId xmlns:a16="http://schemas.microsoft.com/office/drawing/2014/main" id="{B6E271EE-1007-4212-8A0E-4F59253C31F2}"/>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11561405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683" y="285530"/>
            <a:ext cx="10515600" cy="791013"/>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Process For Identifying Cross-Loadings</a:t>
            </a:r>
          </a:p>
        </p:txBody>
      </p:sp>
      <p:sp>
        <p:nvSpPr>
          <p:cNvPr id="3" name="Content Placeholder 2"/>
          <p:cNvSpPr>
            <a:spLocks noGrp="1"/>
          </p:cNvSpPr>
          <p:nvPr>
            <p:ph idx="1"/>
          </p:nvPr>
        </p:nvSpPr>
        <p:spPr>
          <a:xfrm>
            <a:off x="512379" y="1076543"/>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Identify potential cross-loadings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Both loadings for a variable must be above the threshold for significance (e.g., .30 or .40).</a:t>
            </a:r>
          </a:p>
          <a:p>
            <a:r>
              <a:rPr lang="en-US" sz="2000" b="1" dirty="0">
                <a:latin typeface="Calibri" panose="020F0502020204030204" pitchFamily="34" charset="0"/>
                <a:ea typeface="Calibri" panose="020F0502020204030204" pitchFamily="34" charset="0"/>
                <a:cs typeface="Calibri" panose="020F0502020204030204" pitchFamily="34" charset="0"/>
              </a:rPr>
              <a:t>Compute the ratio of the squared loadings</a:t>
            </a:r>
          </a:p>
          <a:p>
            <a:pPr marL="855662" lvl="1" indent="-342900"/>
            <a:r>
              <a:rPr lang="en-US" sz="2000" dirty="0">
                <a:latin typeface="Calibri" panose="020F0502020204030204" pitchFamily="34" charset="0"/>
                <a:ea typeface="Calibri" panose="020F0502020204030204" pitchFamily="34" charset="0"/>
                <a:cs typeface="Calibri" panose="020F0502020204030204" pitchFamily="34" charset="0"/>
              </a:rPr>
              <a:t>Square each of the loadings and then compute the ratio of the larger loading to the smaller loading </a:t>
            </a:r>
            <a:r>
              <a:rPr lang="en-US" sz="200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This is what I was telling you Mason, about LCA</a:t>
            </a:r>
            <a:r>
              <a:rPr lang="en-US" sz="2000" dirty="0">
                <a:latin typeface="Calibri" panose="020F0502020204030204" pitchFamily="34" charset="0"/>
                <a:ea typeface="Calibri" panose="020F0502020204030204" pitchFamily="34" charset="0"/>
                <a:cs typeface="Calibri" panose="020F0502020204030204" pitchFamily="34" charset="0"/>
              </a:rPr>
              <a:t>.</a:t>
            </a:r>
          </a:p>
          <a:p>
            <a:r>
              <a:rPr lang="en-US" sz="2000" b="1" dirty="0">
                <a:latin typeface="Calibri" panose="020F0502020204030204" pitchFamily="34" charset="0"/>
                <a:ea typeface="Calibri" panose="020F0502020204030204" pitchFamily="34" charset="0"/>
                <a:cs typeface="Calibri" panose="020F0502020204030204" pitchFamily="34" charset="0"/>
              </a:rPr>
              <a:t>Designate the pair of loadings as follows based on the ratio</a:t>
            </a:r>
            <a:r>
              <a:rPr lang="en-US" sz="2000" dirty="0">
                <a:latin typeface="Calibri" panose="020F0502020204030204" pitchFamily="34" charset="0"/>
                <a:ea typeface="Calibri" panose="020F0502020204030204" pitchFamily="34" charset="0"/>
                <a:cs typeface="Calibri" panose="020F0502020204030204" pitchFamily="34" charset="0"/>
              </a:rPr>
              <a:t>:</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Between 1.0 and 1.5</a:t>
            </a:r>
            <a:r>
              <a:rPr lang="en-US" sz="2000" dirty="0">
                <a:latin typeface="Calibri" panose="020F0502020204030204" pitchFamily="34" charset="0"/>
                <a:ea typeface="Calibri" panose="020F0502020204030204" pitchFamily="34" charset="0"/>
                <a:cs typeface="Calibri" panose="020F0502020204030204" pitchFamily="34" charset="0"/>
              </a:rPr>
              <a:t> — problematic cross-loading and the variable with smaller loading a strong candidate for elimination to achieve simple structure.</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Between 1.5 and 2.0 </a:t>
            </a:r>
            <a:r>
              <a:rPr lang="en-US" sz="2000" dirty="0">
                <a:latin typeface="Calibri" panose="020F0502020204030204" pitchFamily="34" charset="0"/>
                <a:ea typeface="Calibri" panose="020F0502020204030204" pitchFamily="34" charset="0"/>
                <a:cs typeface="Calibri" panose="020F0502020204030204" pitchFamily="34" charset="0"/>
              </a:rPr>
              <a:t>— potential cross-loading, with deletion of a variable based on interpretability of resulting factors.</a:t>
            </a:r>
          </a:p>
          <a:p>
            <a:pPr marL="855662" lvl="1" indent="-342900"/>
            <a:r>
              <a:rPr lang="en-US" sz="2000" u="sng" dirty="0">
                <a:latin typeface="Calibri" panose="020F0502020204030204" pitchFamily="34" charset="0"/>
                <a:ea typeface="Calibri" panose="020F0502020204030204" pitchFamily="34" charset="0"/>
                <a:cs typeface="Calibri" panose="020F0502020204030204" pitchFamily="34" charset="0"/>
              </a:rPr>
              <a:t>Greater than 2.0</a:t>
            </a:r>
            <a:r>
              <a:rPr lang="en-US" sz="2000" dirty="0">
                <a:latin typeface="Calibri" panose="020F0502020204030204" pitchFamily="34" charset="0"/>
                <a:ea typeface="Calibri" panose="020F0502020204030204" pitchFamily="34" charset="0"/>
                <a:cs typeface="Calibri" panose="020F0502020204030204" pitchFamily="34" charset="0"/>
              </a:rPr>
              <a:t> — ignorable cross-loading, where smaller loading, while significant, can be ignored for purposes of interpretation.</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65</a:t>
            </a:fld>
            <a:endParaRPr lang="en-US" dirty="0"/>
          </a:p>
        </p:txBody>
      </p:sp>
    </p:spTree>
    <p:extLst>
      <p:ext uri="{BB962C8B-B14F-4D97-AF65-F5344CB8AC3E}">
        <p14:creationId xmlns:p14="http://schemas.microsoft.com/office/powerpoint/2010/main" val="9621296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193" y="291554"/>
            <a:ext cx="10515600" cy="833054"/>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Example for Identifying Cross-Loadings</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66</a:t>
            </a:fld>
            <a:endParaRPr lang="en-US" dirty="0"/>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12005" y="1230474"/>
            <a:ext cx="11105804" cy="2709949"/>
          </a:xfrm>
          <a:prstGeom prst="rect">
            <a:avLst/>
          </a:prstGeom>
          <a:ln w="25400">
            <a:solidFill>
              <a:srgbClr val="000000"/>
            </a:solidFill>
          </a:ln>
        </p:spPr>
      </p:pic>
      <p:sp>
        <p:nvSpPr>
          <p:cNvPr id="6" name="Footer Placeholder 3">
            <a:extLst>
              <a:ext uri="{FF2B5EF4-FFF2-40B4-BE49-F238E27FC236}">
                <a16:creationId xmlns:a16="http://schemas.microsoft.com/office/drawing/2014/main" id="{26D32145-7B43-427F-978F-9BE8A490A2BA}"/>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7542508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173" y="196960"/>
            <a:ext cx="10515600" cy="780503"/>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Step 3: Assess the Communalities of the Variables</a:t>
            </a:r>
          </a:p>
        </p:txBody>
      </p:sp>
      <p:sp>
        <p:nvSpPr>
          <p:cNvPr id="3" name="Content Placeholder 2"/>
          <p:cNvSpPr>
            <a:spLocks noGrp="1"/>
          </p:cNvSpPr>
          <p:nvPr>
            <p:ph idx="1"/>
          </p:nvPr>
        </p:nvSpPr>
        <p:spPr>
          <a:xfrm>
            <a:off x="407276" y="977463"/>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Communality</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Represents the amount of variance accounted for by the factor solution for each variable.</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Calculated as the sum of the squared loadings across all retained factors.</a:t>
            </a:r>
          </a:p>
          <a:p>
            <a:pPr marL="457200" indent="-457200"/>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indent="-457200"/>
            <a:r>
              <a:rPr lang="en-US" sz="2000" b="1" dirty="0">
                <a:latin typeface="Calibri" panose="020F0502020204030204" pitchFamily="34" charset="0"/>
                <a:ea typeface="Calibri" panose="020F0502020204030204" pitchFamily="34" charset="0"/>
                <a:cs typeface="Calibri" panose="020F0502020204030204" pitchFamily="34" charset="0"/>
              </a:rPr>
              <a:t>Use as an Evaluative Measure</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View the communalities to assess whether the variables meet acceptable levels of explanation. </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For example, a researcher may specify that at least one-half of the variance of each variable must be taken into account. Using this guideline, the researcher would identify all variables with communalities less than .50 as not having sufficient explanation.</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67</a:t>
            </a:fld>
            <a:endParaRPr lang="en-US" dirty="0"/>
          </a:p>
        </p:txBody>
      </p:sp>
      <p:sp>
        <p:nvSpPr>
          <p:cNvPr id="6" name="Footer Placeholder 3">
            <a:extLst>
              <a:ext uri="{FF2B5EF4-FFF2-40B4-BE49-F238E27FC236}">
                <a16:creationId xmlns:a16="http://schemas.microsoft.com/office/drawing/2014/main" id="{E03BB6BE-198F-47E3-A0C7-9D5B76839E99}"/>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3153341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704" y="228490"/>
            <a:ext cx="10515600" cy="727951"/>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Step 4: Re-specify the Factor Model if Needed</a:t>
            </a:r>
          </a:p>
        </p:txBody>
      </p:sp>
      <p:sp>
        <p:nvSpPr>
          <p:cNvPr id="3" name="Content Placeholder 2"/>
          <p:cNvSpPr>
            <a:spLocks noGrp="1"/>
          </p:cNvSpPr>
          <p:nvPr>
            <p:ph idx="1"/>
          </p:nvPr>
        </p:nvSpPr>
        <p:spPr>
          <a:xfrm>
            <a:off x="449318" y="956441"/>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Three conditions indicating possible </a:t>
            </a:r>
            <a:r>
              <a:rPr lang="en-US" sz="2000" b="1" dirty="0" err="1">
                <a:latin typeface="Calibri" panose="020F0502020204030204" pitchFamily="34" charset="0"/>
                <a:ea typeface="Calibri" panose="020F0502020204030204" pitchFamily="34" charset="0"/>
                <a:cs typeface="Calibri" panose="020F0502020204030204" pitchFamily="34" charset="0"/>
              </a:rPr>
              <a:t>respecification</a:t>
            </a: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a variable has no significant loadings.</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even with a significant loading, a variable’s communality is deemed too low.</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a variable has a cross-loading.</a:t>
            </a:r>
          </a:p>
          <a:p>
            <a:pPr marL="969962" lvl="1" indent="-457200"/>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b="1" dirty="0">
                <a:latin typeface="Calibri" panose="020F0502020204030204" pitchFamily="34" charset="0"/>
                <a:ea typeface="Calibri" panose="020F0502020204030204" pitchFamily="34" charset="0"/>
                <a:cs typeface="Calibri" panose="020F0502020204030204" pitchFamily="34" charset="0"/>
              </a:rPr>
              <a:t>If </a:t>
            </a:r>
            <a:r>
              <a:rPr lang="en-US" sz="2000" b="1" dirty="0" err="1">
                <a:latin typeface="Calibri" panose="020F0502020204030204" pitchFamily="34" charset="0"/>
                <a:ea typeface="Calibri" panose="020F0502020204030204" pitchFamily="34" charset="0"/>
                <a:cs typeface="Calibri" panose="020F0502020204030204" pitchFamily="34" charset="0"/>
              </a:rPr>
              <a:t>respecification</a:t>
            </a:r>
            <a:r>
              <a:rPr lang="en-US" sz="2000" b="1" dirty="0">
                <a:latin typeface="Calibri" panose="020F0502020204030204" pitchFamily="34" charset="0"/>
                <a:ea typeface="Calibri" panose="020F0502020204030204" pitchFamily="34" charset="0"/>
                <a:cs typeface="Calibri" panose="020F0502020204030204" pitchFamily="34" charset="0"/>
              </a:rPr>
              <a:t> is needed, several options are available  . . .</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Ignore</a:t>
            </a:r>
            <a:r>
              <a:rPr lang="en-US" sz="2000" dirty="0">
                <a:latin typeface="Calibri" panose="020F0502020204030204" pitchFamily="34" charset="0"/>
                <a:ea typeface="Calibri" panose="020F0502020204030204" pitchFamily="34" charset="0"/>
                <a:cs typeface="Calibri" panose="020F0502020204030204" pitchFamily="34" charset="0"/>
              </a:rPr>
              <a:t> the problematic variable.</a:t>
            </a: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Deletion</a:t>
            </a:r>
            <a:r>
              <a:rPr lang="en-US" sz="2000" dirty="0">
                <a:latin typeface="Calibri" panose="020F0502020204030204" pitchFamily="34" charset="0"/>
                <a:ea typeface="Calibri" panose="020F0502020204030204" pitchFamily="34" charset="0"/>
                <a:cs typeface="Calibri" panose="020F0502020204030204" pitchFamily="34" charset="0"/>
              </a:rPr>
              <a:t> of variables from the analysis.</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Use a </a:t>
            </a:r>
            <a:r>
              <a:rPr lang="en-US" sz="2000" u="sng" dirty="0">
                <a:latin typeface="Calibri" panose="020F0502020204030204" pitchFamily="34" charset="0"/>
                <a:ea typeface="Calibri" panose="020F0502020204030204" pitchFamily="34" charset="0"/>
                <a:cs typeface="Calibri" panose="020F0502020204030204" pitchFamily="34" charset="0"/>
              </a:rPr>
              <a:t>different rotational approach</a:t>
            </a:r>
            <a:r>
              <a:rPr lang="en-US" sz="2000" dirty="0">
                <a:latin typeface="Calibri" panose="020F0502020204030204" pitchFamily="34" charset="0"/>
                <a:ea typeface="Calibri" panose="020F0502020204030204" pitchFamily="34" charset="0"/>
                <a:cs typeface="Calibri" panose="020F0502020204030204" pitchFamily="34" charset="0"/>
              </a:rPr>
              <a:t>.</a:t>
            </a:r>
            <a:endParaRPr lang="en-US" sz="2000" u="sng" dirty="0">
              <a:latin typeface="Calibri" panose="020F0502020204030204" pitchFamily="34" charset="0"/>
              <a:ea typeface="Calibri" panose="020F0502020204030204" pitchFamily="34" charset="0"/>
              <a:cs typeface="Calibri" panose="020F0502020204030204" pitchFamily="34" charset="0"/>
            </a:endParaRP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Extract a </a:t>
            </a:r>
            <a:r>
              <a:rPr lang="en-US" sz="2000" u="sng" dirty="0">
                <a:latin typeface="Calibri" panose="020F0502020204030204" pitchFamily="34" charset="0"/>
                <a:ea typeface="Calibri" panose="020F0502020204030204" pitchFamily="34" charset="0"/>
                <a:cs typeface="Calibri" panose="020F0502020204030204" pitchFamily="34" charset="0"/>
              </a:rPr>
              <a:t>different number of factors</a:t>
            </a:r>
            <a:r>
              <a:rPr lang="en-US" sz="2000" dirty="0">
                <a:latin typeface="Calibri" panose="020F0502020204030204" pitchFamily="34" charset="0"/>
                <a:ea typeface="Calibri" panose="020F0502020204030204" pitchFamily="34" charset="0"/>
                <a:cs typeface="Calibri" panose="020F0502020204030204" pitchFamily="34" charset="0"/>
              </a:rPr>
              <a:t>.</a:t>
            </a:r>
            <a:endParaRPr lang="en-US" sz="2000" u="sng" dirty="0">
              <a:latin typeface="Calibri" panose="020F0502020204030204" pitchFamily="34" charset="0"/>
              <a:ea typeface="Calibri" panose="020F0502020204030204" pitchFamily="34" charset="0"/>
              <a:cs typeface="Calibri" panose="020F0502020204030204" pitchFamily="34" charset="0"/>
            </a:endParaRPr>
          </a:p>
          <a:p>
            <a:pPr marL="969962" lvl="1" indent="-457200"/>
            <a:r>
              <a:rPr lang="en-US" sz="2000" u="sng" dirty="0">
                <a:latin typeface="Calibri" panose="020F0502020204030204" pitchFamily="34" charset="0"/>
                <a:ea typeface="Calibri" panose="020F0502020204030204" pitchFamily="34" charset="0"/>
                <a:cs typeface="Calibri" panose="020F0502020204030204" pitchFamily="34" charset="0"/>
              </a:rPr>
              <a:t>Change</a:t>
            </a:r>
            <a:r>
              <a:rPr lang="en-US" sz="2000" dirty="0">
                <a:latin typeface="Calibri" panose="020F0502020204030204" pitchFamily="34" charset="0"/>
                <a:ea typeface="Calibri" panose="020F0502020204030204" pitchFamily="34" charset="0"/>
                <a:cs typeface="Calibri" panose="020F0502020204030204" pitchFamily="34" charset="0"/>
              </a:rPr>
              <a:t> the method of extraction.</a:t>
            </a:r>
          </a:p>
          <a:p>
            <a:endParaRPr lang="en-US" sz="2400" dirty="0"/>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68</a:t>
            </a:fld>
            <a:endParaRPr lang="en-US" dirty="0"/>
          </a:p>
        </p:txBody>
      </p:sp>
      <p:sp>
        <p:nvSpPr>
          <p:cNvPr id="6" name="Footer Placeholder 3">
            <a:extLst>
              <a:ext uri="{FF2B5EF4-FFF2-40B4-BE49-F238E27FC236}">
                <a16:creationId xmlns:a16="http://schemas.microsoft.com/office/drawing/2014/main" id="{F09D7DDC-3EA0-42F4-BC3C-CAAE2A57405A}"/>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20355410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5744" y="207471"/>
            <a:ext cx="10515600" cy="748972"/>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Step 5: Label the Factors</a:t>
            </a:r>
          </a:p>
        </p:txBody>
      </p:sp>
      <p:sp>
        <p:nvSpPr>
          <p:cNvPr id="3" name="Content Placeholder 2"/>
          <p:cNvSpPr>
            <a:spLocks noGrp="1"/>
          </p:cNvSpPr>
          <p:nvPr>
            <p:ph idx="1"/>
          </p:nvPr>
        </p:nvSpPr>
        <p:spPr>
          <a:xfrm>
            <a:off x="375744" y="956443"/>
            <a:ext cx="10515600" cy="4351338"/>
          </a:xfrm>
        </p:spPr>
        <p:txBody>
          <a:bodyPr>
            <a:norm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Objective:</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Assign some meaning to the pattern of factor loadings.</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Variables with </a:t>
            </a:r>
            <a:r>
              <a:rPr lang="en-US" sz="2000" b="1" u="sng" dirty="0">
                <a:latin typeface="Calibri" panose="020F0502020204030204" pitchFamily="34" charset="0"/>
                <a:ea typeface="Calibri" panose="020F0502020204030204" pitchFamily="34" charset="0"/>
                <a:cs typeface="Calibri" panose="020F0502020204030204" pitchFamily="34" charset="0"/>
              </a:rPr>
              <a:t>higher loadings are considered more important and have greater influence </a:t>
            </a:r>
            <a:r>
              <a:rPr lang="en-US" sz="2000" dirty="0">
                <a:latin typeface="Calibri" panose="020F0502020204030204" pitchFamily="34" charset="0"/>
                <a:ea typeface="Calibri" panose="020F0502020204030204" pitchFamily="34" charset="0"/>
                <a:cs typeface="Calibri" panose="020F0502020204030204" pitchFamily="34" charset="0"/>
              </a:rPr>
              <a:t>on the name or label selected to represent a factor.</a:t>
            </a:r>
          </a:p>
          <a:p>
            <a:pPr marL="457200" indent="-457200"/>
            <a:endParaRPr lang="en-US" sz="2000" dirty="0">
              <a:latin typeface="Calibri" panose="020F0502020204030204" pitchFamily="34" charset="0"/>
              <a:ea typeface="Calibri" panose="020F0502020204030204" pitchFamily="34" charset="0"/>
              <a:cs typeface="Calibri" panose="020F0502020204030204" pitchFamily="34" charset="0"/>
            </a:endParaRPr>
          </a:p>
          <a:p>
            <a:pPr marL="457200" indent="-457200"/>
            <a:r>
              <a:rPr lang="en-US" sz="2000" b="1" dirty="0">
                <a:latin typeface="Calibri" panose="020F0502020204030204" pitchFamily="34" charset="0"/>
                <a:ea typeface="Calibri" panose="020F0502020204030204" pitchFamily="34" charset="0"/>
                <a:cs typeface="Calibri" panose="020F0502020204030204" pitchFamily="34" charset="0"/>
              </a:rPr>
              <a:t>Considerations</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The </a:t>
            </a:r>
            <a:r>
              <a:rPr lang="en-US" sz="2000" b="1" u="sng" dirty="0">
                <a:latin typeface="Calibri" panose="020F0502020204030204" pitchFamily="34" charset="0"/>
                <a:ea typeface="Calibri" panose="020F0502020204030204" pitchFamily="34" charset="0"/>
                <a:cs typeface="Calibri" panose="020F0502020204030204" pitchFamily="34" charset="0"/>
              </a:rPr>
              <a:t>signs</a:t>
            </a:r>
            <a:r>
              <a:rPr lang="en-US" sz="2000" dirty="0">
                <a:latin typeface="Calibri" panose="020F0502020204030204" pitchFamily="34" charset="0"/>
                <a:ea typeface="Calibri" panose="020F0502020204030204" pitchFamily="34" charset="0"/>
                <a:cs typeface="Calibri" panose="020F0502020204030204" pitchFamily="34" charset="0"/>
              </a:rPr>
              <a:t> are interpreted just as with any other </a:t>
            </a:r>
            <a:r>
              <a:rPr lang="en-US" sz="2000" b="1" u="sng" dirty="0">
                <a:latin typeface="Calibri" panose="020F0502020204030204" pitchFamily="34" charset="0"/>
                <a:ea typeface="Calibri" panose="020F0502020204030204" pitchFamily="34" charset="0"/>
                <a:cs typeface="Calibri" panose="020F0502020204030204" pitchFamily="34" charset="0"/>
              </a:rPr>
              <a:t>correlation coefficients</a:t>
            </a:r>
            <a:r>
              <a:rPr lang="en-US" sz="2000" dirty="0">
                <a:latin typeface="Calibri" panose="020F0502020204030204" pitchFamily="34" charset="0"/>
                <a:ea typeface="Calibri" panose="020F0502020204030204" pitchFamily="34" charset="0"/>
                <a:cs typeface="Calibri" panose="020F0502020204030204" pitchFamily="34" charset="0"/>
              </a:rPr>
              <a:t>. For each factor, like signs mean the variables are positively related, and opposite signs mean the variables are negatively related.</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The label is intuitively developed by the researcher based on its appropriateness for representing the underlying dimensions of a particular factor.</a:t>
            </a:r>
          </a:p>
        </p:txBody>
      </p:sp>
      <p:sp>
        <p:nvSpPr>
          <p:cNvPr id="4" name="Slide Number Placeholder 3"/>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69</a:t>
            </a:fld>
            <a:endParaRPr lang="en-US" dirty="0"/>
          </a:p>
        </p:txBody>
      </p:sp>
      <p:sp>
        <p:nvSpPr>
          <p:cNvPr id="6" name="Footer Placeholder 3">
            <a:extLst>
              <a:ext uri="{FF2B5EF4-FFF2-40B4-BE49-F238E27FC236}">
                <a16:creationId xmlns:a16="http://schemas.microsoft.com/office/drawing/2014/main" id="{0AF89E90-5A6C-4F99-97B7-AAE13BEB56A6}"/>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42433142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214" y="207470"/>
            <a:ext cx="10515600" cy="717441"/>
          </a:xfrm>
        </p:spPr>
        <p:txBody>
          <a:bodyPr>
            <a:norm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Rules of Thumb – Interpreting The Factors</a:t>
            </a:r>
          </a:p>
        </p:txBody>
      </p:sp>
      <p:sp>
        <p:nvSpPr>
          <p:cNvPr id="3" name="Content Placeholder 2"/>
          <p:cNvSpPr>
            <a:spLocks noGrp="1"/>
          </p:cNvSpPr>
          <p:nvPr>
            <p:ph idx="1"/>
          </p:nvPr>
        </p:nvSpPr>
        <p:spPr>
          <a:xfrm>
            <a:off x="428297" y="924911"/>
            <a:ext cx="10515600" cy="4351338"/>
          </a:xfrm>
        </p:spPr>
        <p:txBody>
          <a:bodyPr>
            <a:normAutofit/>
          </a:bodyPr>
          <a:lstStyle/>
          <a:p>
            <a:pPr marL="457200" indent="-4572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An optimal structure exists when all variables have high loadings only on a single factor.</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Variables that cross-load (load highly on two or more factors) are usually deleted unless theoretically justified or the objective is strictly data reduction.</a:t>
            </a:r>
          </a:p>
          <a:p>
            <a:pPr marL="457200" indent="-4572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Variables should generally have communalities of greater than .50 to be retained in the analysis.</a:t>
            </a:r>
          </a:p>
          <a:p>
            <a:pPr marL="457200" indent="-457200">
              <a:buFont typeface="Arial" panose="020B0604020202020204" pitchFamily="34" charset="0"/>
              <a:buChar char="•"/>
            </a:pPr>
            <a:r>
              <a:rPr lang="en-US" sz="2000" dirty="0" err="1">
                <a:latin typeface="Calibri" panose="020F0502020204030204" pitchFamily="34" charset="0"/>
                <a:ea typeface="Calibri" panose="020F0502020204030204" pitchFamily="34" charset="0"/>
                <a:cs typeface="Calibri" panose="020F0502020204030204" pitchFamily="34" charset="0"/>
              </a:rPr>
              <a:t>Respecification</a:t>
            </a:r>
            <a:r>
              <a:rPr lang="en-US" sz="2000" dirty="0">
                <a:latin typeface="Calibri" panose="020F0502020204030204" pitchFamily="34" charset="0"/>
                <a:ea typeface="Calibri" panose="020F0502020204030204" pitchFamily="34" charset="0"/>
                <a:cs typeface="Calibri" panose="020F0502020204030204" pitchFamily="34" charset="0"/>
              </a:rPr>
              <a:t> of a factor analysis can include options such as:</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deleting a variable(s), </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changing rotation methods, and/or </a:t>
            </a:r>
          </a:p>
          <a:p>
            <a:pPr marL="969962" lvl="1" indent="-457200"/>
            <a:r>
              <a:rPr lang="en-US" sz="2000" dirty="0">
                <a:latin typeface="Calibri" panose="020F0502020204030204" pitchFamily="34" charset="0"/>
                <a:ea typeface="Calibri" panose="020F0502020204030204" pitchFamily="34" charset="0"/>
                <a:cs typeface="Calibri" panose="020F0502020204030204" pitchFamily="34" charset="0"/>
              </a:rPr>
              <a:t>increasing or decreasing the number of factors.</a:t>
            </a:r>
          </a:p>
          <a:p>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4"/>
          <p:cNvSpPr>
            <a:spLocks noGrp="1"/>
          </p:cNvSpPr>
          <p:nvPr>
            <p:ph type="sldNum" sz="quarter" idx="4"/>
          </p:nvPr>
        </p:nvSpPr>
        <p:spPr>
          <a:xfrm>
            <a:off x="11667067" y="6269037"/>
            <a:ext cx="474133" cy="365125"/>
          </a:xfrm>
          <a:prstGeom prst="rect">
            <a:avLst/>
          </a:prstGeom>
        </p:spPr>
        <p:txBody>
          <a:bodyPr vert="horz" lIns="91440" tIns="45720" rIns="91440" bIns="45720" rtlCol="0" anchor="ctr"/>
          <a:lstStyle>
            <a:defPPr>
              <a:defRPr lang="en-US"/>
            </a:defPPr>
            <a:lvl1pPr marL="0" algn="r" defTabSz="914400" rtl="0" eaLnBrk="1" latinLnBrk="0" hangingPunct="1">
              <a:defRPr sz="1600" b="1" kern="1200">
                <a:solidFill>
                  <a:schemeClr val="accent2">
                    <a:lumMod val="50000"/>
                  </a:schemeClr>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487087-15B1-4B2E-A3F7-27BDCA4E3F06}" type="slidenum">
              <a:rPr lang="en-US" smtClean="0"/>
              <a:pPr/>
              <a:t>70</a:t>
            </a:fld>
            <a:endParaRPr lang="en-US" dirty="0"/>
          </a:p>
        </p:txBody>
      </p:sp>
      <p:sp>
        <p:nvSpPr>
          <p:cNvPr id="6" name="Footer Placeholder 3">
            <a:extLst>
              <a:ext uri="{FF2B5EF4-FFF2-40B4-BE49-F238E27FC236}">
                <a16:creationId xmlns:a16="http://schemas.microsoft.com/office/drawing/2014/main" id="{0AB273A9-92B9-494B-B937-93ABB1504991}"/>
              </a:ext>
            </a:extLst>
          </p:cNvPr>
          <p:cNvSpPr>
            <a:spLocks noGrp="1"/>
          </p:cNvSpPr>
          <p:nvPr/>
        </p:nvSpPr>
        <p:spPr>
          <a:xfrm>
            <a:off x="-360885" y="6591193"/>
            <a:ext cx="9618634" cy="266807"/>
          </a:xfrm>
          <a:prstGeom prst="rect">
            <a:avLst/>
          </a:prstGeom>
        </p:spPr>
        <p:txBody>
          <a:bodyPr vert="horz" lIns="91440" tIns="45720" rIns="91440" bIns="45720" rtlCol="0" anchor="ctr"/>
          <a:lstStyle>
            <a:defPPr>
              <a:defRPr lang="en-US"/>
            </a:defPPr>
            <a:lvl1pPr marL="0" algn="ctr" defTabSz="914400" rtl="0" eaLnBrk="1" latinLnBrk="0" hangingPunct="1">
              <a:defRPr sz="1200" b="1"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For use with Hair, Black, Babin and Anderson, Multivariate Data Analysis 8e © 2018 Cengage Learning EMEA</a:t>
            </a:r>
          </a:p>
        </p:txBody>
      </p:sp>
    </p:spTree>
    <p:extLst>
      <p:ext uri="{BB962C8B-B14F-4D97-AF65-F5344CB8AC3E}">
        <p14:creationId xmlns:p14="http://schemas.microsoft.com/office/powerpoint/2010/main" val="332813367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0263" y="100431"/>
            <a:ext cx="10515600" cy="693654"/>
          </a:xfrm>
        </p:spPr>
        <p:txBody>
          <a:bodyPr>
            <a:normAutofit fontScale="90000"/>
          </a:bodyPr>
          <a:lstStyle/>
          <a:p>
            <a:r>
              <a:rPr lang="en-US" dirty="0"/>
              <a:t>Considerations</a:t>
            </a:r>
          </a:p>
        </p:txBody>
      </p:sp>
      <p:sp>
        <p:nvSpPr>
          <p:cNvPr id="5" name="Content Placeholder 4"/>
          <p:cNvSpPr>
            <a:spLocks noGrp="1"/>
          </p:cNvSpPr>
          <p:nvPr>
            <p:ph idx="1"/>
          </p:nvPr>
        </p:nvSpPr>
        <p:spPr>
          <a:xfrm>
            <a:off x="241915" y="689810"/>
            <a:ext cx="10797476" cy="4120896"/>
          </a:xfrm>
        </p:spPr>
        <p:txBody>
          <a:bodyPr>
            <a:norm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High communalities (approximately .8 to .9)</a:t>
            </a:r>
          </a:p>
          <a:p>
            <a:r>
              <a:rPr lang="en-US" sz="2000" dirty="0">
                <a:latin typeface="Calibri" panose="020F0502020204030204" pitchFamily="34" charset="0"/>
                <a:ea typeface="Calibri" panose="020F0502020204030204" pitchFamily="34" charset="0"/>
                <a:cs typeface="Calibri" panose="020F0502020204030204" pitchFamily="34" charset="0"/>
              </a:rPr>
              <a:t>Low model error (which is likely evidenced in situations where communalities are high; RMSR = .00 to .06) (Preacher &amp; MacCallum, 2002)</a:t>
            </a:r>
          </a:p>
          <a:p>
            <a:r>
              <a:rPr lang="en-US" sz="2000" dirty="0">
                <a:latin typeface="Calibri" panose="020F0502020204030204" pitchFamily="34" charset="0"/>
                <a:ea typeface="Calibri" panose="020F0502020204030204" pitchFamily="34" charset="0"/>
                <a:cs typeface="Calibri" panose="020F0502020204030204" pitchFamily="34" charset="0"/>
              </a:rPr>
              <a:t>Factors with four or more variables with factor loadings of .60 or greater are interpretable regardless of the sample size </a:t>
            </a:r>
          </a:p>
          <a:p>
            <a:r>
              <a:rPr lang="en-US" sz="2000" dirty="0">
                <a:latin typeface="Calibri" panose="020F0502020204030204" pitchFamily="34" charset="0"/>
                <a:ea typeface="Calibri" panose="020F0502020204030204" pitchFamily="34" charset="0"/>
                <a:cs typeface="Calibri" panose="020F0502020204030204" pitchFamily="34" charset="0"/>
              </a:rPr>
              <a:t>Solutions with lower factor loadings (.40) can still be interpreted if the number of cases is at least 200 </a:t>
            </a:r>
            <a:r>
              <a:rPr lang="en-US" sz="2000" u="sng" dirty="0">
                <a:latin typeface="Calibri" panose="020F0502020204030204" pitchFamily="34" charset="0"/>
                <a:ea typeface="Calibri" panose="020F0502020204030204" pitchFamily="34" charset="0"/>
                <a:cs typeface="Calibri" panose="020F0502020204030204" pitchFamily="34" charset="0"/>
              </a:rPr>
              <a:t>and</a:t>
            </a:r>
            <a:r>
              <a:rPr lang="en-US" sz="2000" dirty="0">
                <a:latin typeface="Calibri" panose="020F0502020204030204" pitchFamily="34" charset="0"/>
                <a:ea typeface="Calibri" panose="020F0502020204030204" pitchFamily="34" charset="0"/>
                <a:cs typeface="Calibri" panose="020F0502020204030204" pitchFamily="34" charset="0"/>
              </a:rPr>
              <a:t> the number of variables per factor is larger (=&gt; 10) </a:t>
            </a:r>
          </a:p>
        </p:txBody>
      </p:sp>
    </p:spTree>
    <p:extLst>
      <p:ext uri="{BB962C8B-B14F-4D97-AF65-F5344CB8AC3E}">
        <p14:creationId xmlns:p14="http://schemas.microsoft.com/office/powerpoint/2010/main" val="28902176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A7C32-C639-4C67-AAC8-C400D3F42E88}"/>
              </a:ext>
            </a:extLst>
          </p:cNvPr>
          <p:cNvSpPr>
            <a:spLocks noGrp="1"/>
          </p:cNvSpPr>
          <p:nvPr>
            <p:ph type="title"/>
          </p:nvPr>
        </p:nvSpPr>
        <p:spPr>
          <a:xfrm>
            <a:off x="0" y="87912"/>
            <a:ext cx="9720072" cy="633984"/>
          </a:xfrm>
        </p:spPr>
        <p:txBody>
          <a:bodyPr>
            <a:normAutofit fontScale="90000"/>
          </a:bodyPr>
          <a:lstStyle/>
          <a:p>
            <a:r>
              <a:rPr lang="en-US" dirty="0">
                <a:latin typeface="Calibri" panose="020F0502020204030204" pitchFamily="34" charset="0"/>
                <a:ea typeface="Calibri" panose="020F0502020204030204" pitchFamily="34" charset="0"/>
                <a:cs typeface="Calibri" panose="020F0502020204030204" pitchFamily="34" charset="0"/>
              </a:rPr>
              <a:t>Assumptions</a:t>
            </a:r>
          </a:p>
        </p:txBody>
      </p:sp>
      <p:graphicFrame>
        <p:nvGraphicFramePr>
          <p:cNvPr id="4" name="Table 4">
            <a:extLst>
              <a:ext uri="{FF2B5EF4-FFF2-40B4-BE49-F238E27FC236}">
                <a16:creationId xmlns:a16="http://schemas.microsoft.com/office/drawing/2014/main" id="{CBC66FFF-853A-4694-BF10-40EC28D9C276}"/>
              </a:ext>
            </a:extLst>
          </p:cNvPr>
          <p:cNvGraphicFramePr>
            <a:graphicFrameLocks noGrp="1"/>
          </p:cNvGraphicFramePr>
          <p:nvPr>
            <p:ph idx="1"/>
            <p:extLst>
              <p:ext uri="{D42A27DB-BD31-4B8C-83A1-F6EECF244321}">
                <p14:modId xmlns:p14="http://schemas.microsoft.com/office/powerpoint/2010/main" val="1889689206"/>
              </p:ext>
            </p:extLst>
          </p:nvPr>
        </p:nvGraphicFramePr>
        <p:xfrm>
          <a:off x="157131" y="685800"/>
          <a:ext cx="11176616" cy="3779520"/>
        </p:xfrm>
        <a:graphic>
          <a:graphicData uri="http://schemas.openxmlformats.org/drawingml/2006/table">
            <a:tbl>
              <a:tblPr firstRow="1" bandRow="1">
                <a:tableStyleId>{5C22544A-7EE6-4342-B048-85BDC9FD1C3A}</a:tableStyleId>
              </a:tblPr>
              <a:tblGrid>
                <a:gridCol w="5588308">
                  <a:extLst>
                    <a:ext uri="{9D8B030D-6E8A-4147-A177-3AD203B41FA5}">
                      <a16:colId xmlns:a16="http://schemas.microsoft.com/office/drawing/2014/main" val="293648824"/>
                    </a:ext>
                  </a:extLst>
                </a:gridCol>
                <a:gridCol w="5588308">
                  <a:extLst>
                    <a:ext uri="{9D8B030D-6E8A-4147-A177-3AD203B41FA5}">
                      <a16:colId xmlns:a16="http://schemas.microsoft.com/office/drawing/2014/main" val="3067812226"/>
                    </a:ext>
                  </a:extLst>
                </a:gridCol>
              </a:tblGrid>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Assumption</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Effect when violated</a:t>
                      </a:r>
                    </a:p>
                  </a:txBody>
                  <a:tcPr/>
                </a:tc>
                <a:extLst>
                  <a:ext uri="{0D108BD9-81ED-4DB2-BD59-A6C34878D82A}">
                    <a16:rowId xmlns:a16="http://schemas.microsoft.com/office/drawing/2014/main" val="2108456429"/>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Independence</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Influences standard errors and hypothesis tests</a:t>
                      </a:r>
                    </a:p>
                  </a:txBody>
                  <a:tcPr/>
                </a:tc>
                <a:extLst>
                  <a:ext uri="{0D108BD9-81ED-4DB2-BD59-A6C34878D82A}">
                    <a16:rowId xmlns:a16="http://schemas.microsoft.com/office/drawing/2014/main" val="2095878226"/>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Linearity</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Reduces interpretability of the FA solution</a:t>
                      </a:r>
                    </a:p>
                  </a:txBody>
                  <a:tcPr/>
                </a:tc>
                <a:extLst>
                  <a:ext uri="{0D108BD9-81ED-4DB2-BD59-A6C34878D82A}">
                    <a16:rowId xmlns:a16="http://schemas.microsoft.com/office/drawing/2014/main" val="1878196892"/>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Absence of outlying cases and variables</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Exerts undue influence on and distorts the FA solution</a:t>
                      </a:r>
                    </a:p>
                  </a:txBody>
                  <a:tcPr/>
                </a:tc>
                <a:extLst>
                  <a:ext uri="{0D108BD9-81ED-4DB2-BD59-A6C34878D82A}">
                    <a16:rowId xmlns:a16="http://schemas.microsoft.com/office/drawing/2014/main" val="1062057981"/>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Lack of </a:t>
                      </a:r>
                      <a:r>
                        <a:rPr lang="en-US" sz="2000" i="1" dirty="0">
                          <a:latin typeface="Calibri" panose="020F0502020204030204" pitchFamily="34" charset="0"/>
                          <a:ea typeface="Calibri" panose="020F0502020204030204" pitchFamily="34" charset="0"/>
                          <a:cs typeface="Calibri" panose="020F0502020204030204" pitchFamily="34" charset="0"/>
                        </a:rPr>
                        <a:t>extreme </a:t>
                      </a:r>
                      <a:r>
                        <a:rPr lang="en-US" sz="2000" i="0" dirty="0">
                          <a:latin typeface="Calibri" panose="020F0502020204030204" pitchFamily="34" charset="0"/>
                          <a:ea typeface="Calibri" panose="020F0502020204030204" pitchFamily="34" charset="0"/>
                          <a:cs typeface="Calibri" panose="020F0502020204030204" pitchFamily="34" charset="0"/>
                        </a:rPr>
                        <a:t>multicollinearity</a:t>
                      </a:r>
                      <a:endParaRPr lang="en-US" sz="20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Reduces ability to separate effects of variables</a:t>
                      </a:r>
                    </a:p>
                  </a:txBody>
                  <a:tcPr/>
                </a:tc>
                <a:extLst>
                  <a:ext uri="{0D108BD9-81ED-4DB2-BD59-A6C34878D82A}">
                    <a16:rowId xmlns:a16="http://schemas.microsoft.com/office/drawing/2014/main" val="1527486746"/>
                  </a:ext>
                </a:extLst>
              </a:tr>
              <a:tr h="370840">
                <a:tc>
                  <a:txBody>
                    <a:bodyPr/>
                    <a:lstStyle/>
                    <a:p>
                      <a:r>
                        <a:rPr lang="en-US" sz="2000" b="1" dirty="0">
                          <a:latin typeface="Calibri" panose="020F0502020204030204" pitchFamily="34" charset="0"/>
                          <a:ea typeface="Calibri" panose="020F0502020204030204" pitchFamily="34" charset="0"/>
                          <a:cs typeface="Calibri" panose="020F0502020204030204" pitchFamily="34" charset="0"/>
                        </a:rPr>
                        <a:t>Multivariate</a:t>
                      </a:r>
                      <a:r>
                        <a:rPr lang="en-US" sz="2000" dirty="0">
                          <a:latin typeface="Calibri" panose="020F0502020204030204" pitchFamily="34" charset="0"/>
                          <a:ea typeface="Calibri" panose="020F0502020204030204" pitchFamily="34" charset="0"/>
                          <a:cs typeface="Calibri" panose="020F0502020204030204" pitchFamily="34" charset="0"/>
                        </a:rPr>
                        <a:t> normality</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Minimal effect except when MLE is used and when samples size is small</a:t>
                      </a:r>
                    </a:p>
                  </a:txBody>
                  <a:tcPr/>
                </a:tc>
                <a:extLst>
                  <a:ext uri="{0D108BD9-81ED-4DB2-BD59-A6C34878D82A}">
                    <a16:rowId xmlns:a16="http://schemas.microsoft.com/office/drawing/2014/main" val="1131149958"/>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10 observations per variable/n &gt;= 200</a:t>
                      </a:r>
                    </a:p>
                  </a:txBody>
                  <a:tcPr/>
                </a:tc>
                <a:tc>
                  <a:txBody>
                    <a:bodyPr/>
                    <a:lstStyle/>
                    <a:p>
                      <a:endParaRPr lang="en-US" sz="20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79587542"/>
                  </a:ext>
                </a:extLst>
              </a:tr>
              <a:tr h="370840">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Homogeneity of the sample**</a:t>
                      </a:r>
                    </a:p>
                  </a:txBody>
                  <a:tcPr/>
                </a:tc>
                <a:tc>
                  <a:txBody>
                    <a:bodyPr/>
                    <a:lstStyle/>
                    <a:p>
                      <a:r>
                        <a:rPr lang="en-US" sz="2000" dirty="0">
                          <a:latin typeface="Calibri" panose="020F0502020204030204" pitchFamily="34" charset="0"/>
                          <a:ea typeface="Calibri" panose="020F0502020204030204" pitchFamily="34" charset="0"/>
                          <a:cs typeface="Calibri" panose="020F0502020204030204" pitchFamily="34" charset="0"/>
                        </a:rPr>
                        <a:t>Failure to consider groupings</a:t>
                      </a:r>
                    </a:p>
                  </a:txBody>
                  <a:tcPr/>
                </a:tc>
                <a:extLst>
                  <a:ext uri="{0D108BD9-81ED-4DB2-BD59-A6C34878D82A}">
                    <a16:rowId xmlns:a16="http://schemas.microsoft.com/office/drawing/2014/main" val="2551281344"/>
                  </a:ext>
                </a:extLst>
              </a:tr>
            </a:tbl>
          </a:graphicData>
        </a:graphic>
      </p:graphicFrame>
    </p:spTree>
    <p:extLst>
      <p:ext uri="{BB962C8B-B14F-4D97-AF65-F5344CB8AC3E}">
        <p14:creationId xmlns:p14="http://schemas.microsoft.com/office/powerpoint/2010/main" val="4098046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ECAFC-401E-9783-F509-86159FE84954}"/>
              </a:ext>
            </a:extLst>
          </p:cNvPr>
          <p:cNvSpPr>
            <a:spLocks noGrp="1"/>
          </p:cNvSpPr>
          <p:nvPr>
            <p:ph type="title"/>
          </p:nvPr>
        </p:nvSpPr>
        <p:spPr>
          <a:xfrm>
            <a:off x="145473" y="168706"/>
            <a:ext cx="10515600" cy="512330"/>
          </a:xfrm>
        </p:spPr>
        <p:txBody>
          <a:bodyPr>
            <a:noAutofit/>
          </a:bodyPr>
          <a:lstStyle/>
          <a:p>
            <a:r>
              <a:rPr lang="en-US" sz="3600" dirty="0">
                <a:latin typeface="Calibri" panose="020F0502020204030204" pitchFamily="34" charset="0"/>
                <a:ea typeface="Calibri" panose="020F0502020204030204" pitchFamily="34" charset="0"/>
                <a:cs typeface="Calibri" panose="020F0502020204030204" pitchFamily="34" charset="0"/>
              </a:rPr>
              <a:t>A priori: </a:t>
            </a:r>
            <a:r>
              <a:rPr lang="en-US" sz="3600" i="1" u="sng" dirty="0">
                <a:latin typeface="Calibri" panose="020F0502020204030204" pitchFamily="34" charset="0"/>
                <a:ea typeface="Calibri" panose="020F0502020204030204" pitchFamily="34" charset="0"/>
                <a:cs typeface="Calibri" panose="020F0502020204030204" pitchFamily="34" charset="0"/>
              </a:rPr>
              <a:t>E</a:t>
            </a:r>
            <a:r>
              <a:rPr lang="en-US" sz="3600" dirty="0">
                <a:latin typeface="Calibri" panose="020F0502020204030204" pitchFamily="34" charset="0"/>
                <a:ea typeface="Calibri" panose="020F0502020204030204" pitchFamily="34" charset="0"/>
                <a:cs typeface="Calibri" panose="020F0502020204030204" pitchFamily="34" charset="0"/>
              </a:rPr>
              <a:t>FA v </a:t>
            </a:r>
            <a:r>
              <a:rPr lang="en-US" sz="3600" i="1" u="sng" dirty="0">
                <a:latin typeface="Calibri" panose="020F0502020204030204" pitchFamily="34" charset="0"/>
                <a:ea typeface="Calibri" panose="020F0502020204030204" pitchFamily="34" charset="0"/>
                <a:cs typeface="Calibri" panose="020F0502020204030204" pitchFamily="34" charset="0"/>
              </a:rPr>
              <a:t>C</a:t>
            </a:r>
            <a:r>
              <a:rPr lang="en-US" sz="3600" dirty="0">
                <a:latin typeface="Calibri" panose="020F0502020204030204" pitchFamily="34" charset="0"/>
                <a:ea typeface="Calibri" panose="020F0502020204030204" pitchFamily="34" charset="0"/>
                <a:cs typeface="Calibri" panose="020F0502020204030204" pitchFamily="34" charset="0"/>
              </a:rPr>
              <a:t>FA</a:t>
            </a:r>
          </a:p>
        </p:txBody>
      </p:sp>
      <p:graphicFrame>
        <p:nvGraphicFramePr>
          <p:cNvPr id="4" name="Content Placeholder 3">
            <a:extLst>
              <a:ext uri="{FF2B5EF4-FFF2-40B4-BE49-F238E27FC236}">
                <a16:creationId xmlns:a16="http://schemas.microsoft.com/office/drawing/2014/main" id="{5F573366-5079-BA3D-BA9A-5902A5305E9D}"/>
              </a:ext>
            </a:extLst>
          </p:cNvPr>
          <p:cNvGraphicFramePr>
            <a:graphicFrameLocks noGrp="1"/>
          </p:cNvGraphicFramePr>
          <p:nvPr>
            <p:ph idx="1"/>
          </p:nvPr>
        </p:nvGraphicFramePr>
        <p:xfrm>
          <a:off x="145473" y="781916"/>
          <a:ext cx="11825703" cy="4800932"/>
        </p:xfrm>
        <a:graphic>
          <a:graphicData uri="http://schemas.openxmlformats.org/drawingml/2006/table">
            <a:tbl>
              <a:tblPr/>
              <a:tblGrid>
                <a:gridCol w="2838398">
                  <a:extLst>
                    <a:ext uri="{9D8B030D-6E8A-4147-A177-3AD203B41FA5}">
                      <a16:colId xmlns:a16="http://schemas.microsoft.com/office/drawing/2014/main" val="3537317512"/>
                    </a:ext>
                  </a:extLst>
                </a:gridCol>
                <a:gridCol w="4369095">
                  <a:extLst>
                    <a:ext uri="{9D8B030D-6E8A-4147-A177-3AD203B41FA5}">
                      <a16:colId xmlns:a16="http://schemas.microsoft.com/office/drawing/2014/main" val="336198028"/>
                    </a:ext>
                  </a:extLst>
                </a:gridCol>
                <a:gridCol w="4618210">
                  <a:extLst>
                    <a:ext uri="{9D8B030D-6E8A-4147-A177-3AD203B41FA5}">
                      <a16:colId xmlns:a16="http://schemas.microsoft.com/office/drawing/2014/main" val="2601236934"/>
                    </a:ext>
                  </a:extLst>
                </a:gridCol>
              </a:tblGrid>
              <a:tr h="309766">
                <a:tc>
                  <a:txBody>
                    <a:bodyPr/>
                    <a:lstStyle/>
                    <a:p>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EFA (Exploratory Factor Analysis)</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CFA (Confirmatory Factor Analysis)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extLst>
                  <a:ext uri="{0D108BD9-81ED-4DB2-BD59-A6C34878D82A}">
                    <a16:rowId xmlns:a16="http://schemas.microsoft.com/office/drawing/2014/main" val="2385620201"/>
                  </a:ext>
                </a:extLst>
              </a:tr>
              <a:tr h="534375">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Purpose</a:t>
                      </a:r>
                      <a:endParaRPr lang="en-US" sz="1800" dirty="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Discover</a:t>
                      </a:r>
                      <a:r>
                        <a:rPr lang="en-US" sz="1800" dirty="0">
                          <a:latin typeface="Calibri" panose="020F0502020204030204" pitchFamily="34" charset="0"/>
                          <a:ea typeface="Calibri" panose="020F0502020204030204" pitchFamily="34" charset="0"/>
                          <a:cs typeface="Calibri" panose="020F0502020204030204" pitchFamily="34" charset="0"/>
                        </a:rPr>
                        <a:t> underlying structure</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Test a </a:t>
                      </a:r>
                      <a:r>
                        <a:rPr lang="en-US" sz="1800" b="1" dirty="0">
                          <a:latin typeface="Calibri" panose="020F0502020204030204" pitchFamily="34" charset="0"/>
                          <a:ea typeface="Calibri" panose="020F0502020204030204" pitchFamily="34" charset="0"/>
                          <a:cs typeface="Calibri" panose="020F0502020204030204" pitchFamily="34" charset="0"/>
                        </a:rPr>
                        <a:t>pre-specified</a:t>
                      </a:r>
                      <a:r>
                        <a:rPr lang="en-US" sz="1800" dirty="0">
                          <a:latin typeface="Calibri" panose="020F0502020204030204" pitchFamily="34" charset="0"/>
                          <a:ea typeface="Calibri" panose="020F0502020204030204" pitchFamily="34" charset="0"/>
                          <a:cs typeface="Calibri" panose="020F0502020204030204" pitchFamily="34" charset="0"/>
                        </a:rPr>
                        <a:t> factor structure</a:t>
                      </a:r>
                    </a:p>
                  </a:txBody>
                  <a:tcPr marL="76339" marR="76339" marT="38170" marB="38170" anchor="ctr">
                    <a:lnL>
                      <a:noFill/>
                    </a:lnL>
                    <a:lnR>
                      <a:noFill/>
                    </a:lnR>
                    <a:lnT>
                      <a:noFill/>
                    </a:lnT>
                    <a:lnB>
                      <a:noFill/>
                    </a:lnB>
                    <a:noFill/>
                  </a:tcPr>
                </a:tc>
                <a:extLst>
                  <a:ext uri="{0D108BD9-81ED-4DB2-BD59-A6C34878D82A}">
                    <a16:rowId xmlns:a16="http://schemas.microsoft.com/office/drawing/2014/main" val="1700596998"/>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When to Use</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New</a:t>
                      </a:r>
                      <a:r>
                        <a:rPr lang="en-US" sz="1800" dirty="0">
                          <a:latin typeface="Calibri" panose="020F0502020204030204" pitchFamily="34" charset="0"/>
                          <a:ea typeface="Calibri" panose="020F0502020204030204" pitchFamily="34" charset="0"/>
                          <a:cs typeface="Calibri" panose="020F0502020204030204" pitchFamily="34" charset="0"/>
                        </a:rPr>
                        <a:t> scale development or unclear structure</a:t>
                      </a: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Validated</a:t>
                      </a:r>
                      <a:r>
                        <a:rPr lang="en-US" sz="1800" dirty="0">
                          <a:latin typeface="Calibri" panose="020F0502020204030204" pitchFamily="34" charset="0"/>
                          <a:ea typeface="Calibri" panose="020F0502020204030204" pitchFamily="34" charset="0"/>
                          <a:cs typeface="Calibri" panose="020F0502020204030204" pitchFamily="34" charset="0"/>
                        </a:rPr>
                        <a:t> constructs, theory-driven hypotheses</a:t>
                      </a:r>
                    </a:p>
                  </a:txBody>
                  <a:tcPr marL="76339" marR="76339" marT="38170" marB="38170" anchor="ctr">
                    <a:lnL>
                      <a:noFill/>
                    </a:lnL>
                    <a:lnR>
                      <a:noFill/>
                    </a:lnR>
                    <a:lnT>
                      <a:noFill/>
                    </a:lnT>
                    <a:lnB>
                      <a:noFill/>
                    </a:lnB>
                    <a:noFill/>
                  </a:tcPr>
                </a:tc>
                <a:extLst>
                  <a:ext uri="{0D108BD9-81ED-4DB2-BD59-A6C34878D82A}">
                    <a16:rowId xmlns:a16="http://schemas.microsoft.com/office/drawing/2014/main" val="1003928420"/>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Model Specification</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No assumptions </a:t>
                      </a:r>
                      <a:r>
                        <a:rPr lang="en-US" sz="1800" dirty="0">
                          <a:latin typeface="Calibri" panose="020F0502020204030204" pitchFamily="34" charset="0"/>
                          <a:ea typeface="Calibri" panose="020F0502020204030204" pitchFamily="34" charset="0"/>
                          <a:cs typeface="Calibri" panose="020F0502020204030204" pitchFamily="34" charset="0"/>
                        </a:rPr>
                        <a:t>about number or grouping of factors</a:t>
                      </a: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User defines number </a:t>
                      </a:r>
                      <a:r>
                        <a:rPr lang="en-US" sz="1800" dirty="0">
                          <a:latin typeface="Calibri" panose="020F0502020204030204" pitchFamily="34" charset="0"/>
                          <a:ea typeface="Calibri" panose="020F0502020204030204" pitchFamily="34" charset="0"/>
                          <a:cs typeface="Calibri" panose="020F0502020204030204" pitchFamily="34" charset="0"/>
                        </a:rPr>
                        <a:t>of factors and item-factor relationships</a:t>
                      </a:r>
                    </a:p>
                  </a:txBody>
                  <a:tcPr marL="76339" marR="76339" marT="38170" marB="38170" anchor="ctr">
                    <a:lnL>
                      <a:noFill/>
                    </a:lnL>
                    <a:lnR>
                      <a:noFill/>
                    </a:lnR>
                    <a:lnT>
                      <a:noFill/>
                    </a:lnT>
                    <a:lnB>
                      <a:noFill/>
                    </a:lnB>
                    <a:noFill/>
                  </a:tcPr>
                </a:tc>
                <a:extLst>
                  <a:ext uri="{0D108BD9-81ED-4DB2-BD59-A6C34878D82A}">
                    <a16:rowId xmlns:a16="http://schemas.microsoft.com/office/drawing/2014/main" val="3045458082"/>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Loadings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All variables can load on all factors</a:t>
                      </a:r>
                    </a:p>
                  </a:txBody>
                  <a:tcPr marL="76339" marR="76339" marT="38170" marB="38170" anchor="ctr">
                    <a:lnL>
                      <a:noFill/>
                    </a:lnL>
                    <a:lnR>
                      <a:noFill/>
                    </a:lnR>
                    <a:lnT>
                      <a:noFill/>
                    </a:lnT>
                    <a:lnB>
                      <a:noFill/>
                    </a:lnB>
                    <a:noFill/>
                  </a:tcPr>
                </a:tc>
                <a:tc>
                  <a:txBody>
                    <a:bodyPr/>
                    <a:lstStyle/>
                    <a:p>
                      <a:r>
                        <a:rPr lang="en-US" sz="1800" b="1" dirty="0">
                          <a:latin typeface="Calibri" panose="020F0502020204030204" pitchFamily="34" charset="0"/>
                          <a:ea typeface="Calibri" panose="020F0502020204030204" pitchFamily="34" charset="0"/>
                          <a:cs typeface="Calibri" panose="020F0502020204030204" pitchFamily="34" charset="0"/>
                        </a:rPr>
                        <a:t>Loadings are restricted </a:t>
                      </a:r>
                      <a:r>
                        <a:rPr lang="en-US" sz="1800" dirty="0">
                          <a:latin typeface="Calibri" panose="020F0502020204030204" pitchFamily="34" charset="0"/>
                          <a:ea typeface="Calibri" panose="020F0502020204030204" pitchFamily="34" charset="0"/>
                          <a:cs typeface="Calibri" panose="020F0502020204030204" pitchFamily="34" charset="0"/>
                        </a:rPr>
                        <a:t>based on the hypothesized model</a:t>
                      </a:r>
                    </a:p>
                  </a:txBody>
                  <a:tcPr marL="76339" marR="76339" marT="38170" marB="38170" anchor="ctr">
                    <a:lnL>
                      <a:noFill/>
                    </a:lnL>
                    <a:lnR>
                      <a:noFill/>
                    </a:lnR>
                    <a:lnT>
                      <a:noFill/>
                    </a:lnT>
                    <a:lnB>
                      <a:noFill/>
                    </a:lnB>
                    <a:noFill/>
                  </a:tcPr>
                </a:tc>
                <a:extLst>
                  <a:ext uri="{0D108BD9-81ED-4DB2-BD59-A6C34878D82A}">
                    <a16:rowId xmlns:a16="http://schemas.microsoft.com/office/drawing/2014/main" val="4041222797"/>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Goal</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Identify how many factors and what items belong together</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Assess model fit and confirm the structure</a:t>
                      </a:r>
                    </a:p>
                  </a:txBody>
                  <a:tcPr marL="76339" marR="76339" marT="38170" marB="38170" anchor="ctr">
                    <a:lnL>
                      <a:noFill/>
                    </a:lnL>
                    <a:lnR>
                      <a:noFill/>
                    </a:lnR>
                    <a:lnT>
                      <a:noFill/>
                    </a:lnT>
                    <a:lnB>
                      <a:noFill/>
                    </a:lnB>
                    <a:noFill/>
                  </a:tcPr>
                </a:tc>
                <a:extLst>
                  <a:ext uri="{0D108BD9-81ED-4DB2-BD59-A6C34878D82A}">
                    <a16:rowId xmlns:a16="http://schemas.microsoft.com/office/drawing/2014/main" val="2145700472"/>
                  </a:ext>
                </a:extLst>
              </a:tr>
              <a:tr h="530942">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Statistical Fit Indices</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Not a focus</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Central (e.g., RMSEA, CFI, TLI, </a:t>
                      </a:r>
                      <a:r>
                        <a:rPr lang="el-GR" sz="1800" dirty="0">
                          <a:latin typeface="Calibri" panose="020F0502020204030204" pitchFamily="34" charset="0"/>
                          <a:ea typeface="Calibri" panose="020F0502020204030204" pitchFamily="34" charset="0"/>
                          <a:cs typeface="Calibri" panose="020F0502020204030204" pitchFamily="34" charset="0"/>
                        </a:rPr>
                        <a:t>χ²)</a:t>
                      </a:r>
                    </a:p>
                  </a:txBody>
                  <a:tcPr marL="76339" marR="76339" marT="38170" marB="38170" anchor="ctr">
                    <a:lnL>
                      <a:noFill/>
                    </a:lnL>
                    <a:lnR>
                      <a:noFill/>
                    </a:lnR>
                    <a:lnT>
                      <a:noFill/>
                    </a:lnT>
                    <a:lnB>
                      <a:noFill/>
                    </a:lnB>
                    <a:noFill/>
                  </a:tcPr>
                </a:tc>
                <a:extLst>
                  <a:ext uri="{0D108BD9-81ED-4DB2-BD59-A6C34878D82A}">
                    <a16:rowId xmlns:a16="http://schemas.microsoft.com/office/drawing/2014/main" val="2019196347"/>
                  </a:ext>
                </a:extLst>
              </a:tr>
              <a:tr h="305357">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Flexibility</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High — lets the data “speak”</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Low — strict model testing</a:t>
                      </a:r>
                    </a:p>
                  </a:txBody>
                  <a:tcPr marL="76339" marR="76339" marT="38170" marB="38170" anchor="ctr">
                    <a:lnL>
                      <a:noFill/>
                    </a:lnL>
                    <a:lnR>
                      <a:noFill/>
                    </a:lnR>
                    <a:lnT>
                      <a:noFill/>
                    </a:lnT>
                    <a:lnB>
                      <a:noFill/>
                    </a:lnB>
                    <a:noFill/>
                  </a:tcPr>
                </a:tc>
                <a:extLst>
                  <a:ext uri="{0D108BD9-81ED-4DB2-BD59-A6C34878D82A}">
                    <a16:rowId xmlns:a16="http://schemas.microsoft.com/office/drawing/2014/main" val="384968553"/>
                  </a:ext>
                </a:extLst>
              </a:tr>
              <a:tr h="534375">
                <a:tc>
                  <a:txBody>
                    <a:bodyPr/>
                    <a:lstStyle/>
                    <a:p>
                      <a:r>
                        <a:rPr lang="en-US" sz="1800" b="1">
                          <a:latin typeface="Calibri" panose="020F0502020204030204" pitchFamily="34" charset="0"/>
                          <a:ea typeface="Calibri" panose="020F0502020204030204" pitchFamily="34" charset="0"/>
                          <a:cs typeface="Calibri" panose="020F0502020204030204" pitchFamily="34" charset="0"/>
                        </a:rPr>
                        <a:t>Use Case Example</a:t>
                      </a:r>
                      <a:endParaRPr lang="en-US" sz="1800">
                        <a:latin typeface="Calibri" panose="020F0502020204030204" pitchFamily="34" charset="0"/>
                        <a:ea typeface="Calibri" panose="020F0502020204030204" pitchFamily="34" charset="0"/>
                        <a:cs typeface="Calibri" panose="020F0502020204030204" pitchFamily="34" charset="0"/>
                      </a:endParaRPr>
                    </a:p>
                  </a:txBody>
                  <a:tcPr marL="76339" marR="76339" marT="38170" marB="38170" anchor="ctr">
                    <a:lnL>
                      <a:noFill/>
                    </a:lnL>
                    <a:lnR>
                      <a:noFill/>
                    </a:lnR>
                    <a:lnT>
                      <a:noFill/>
                    </a:lnT>
                    <a:lnB>
                      <a:noFill/>
                    </a:lnB>
                    <a:noFill/>
                  </a:tcPr>
                </a:tc>
                <a:tc>
                  <a:txBody>
                    <a:bodyPr/>
                    <a:lstStyle/>
                    <a:p>
                      <a:r>
                        <a:rPr lang="en-US" sz="1800">
                          <a:latin typeface="Calibri" panose="020F0502020204030204" pitchFamily="34" charset="0"/>
                          <a:ea typeface="Calibri" panose="020F0502020204030204" pitchFamily="34" charset="0"/>
                          <a:cs typeface="Calibri" panose="020F0502020204030204" pitchFamily="34" charset="0"/>
                        </a:rPr>
                        <a:t>Developing a new anxiety scale</a:t>
                      </a:r>
                    </a:p>
                  </a:txBody>
                  <a:tcPr marL="76339" marR="76339" marT="38170" marB="38170" anchor="ctr">
                    <a:lnL>
                      <a:noFill/>
                    </a:lnL>
                    <a:lnR>
                      <a:noFill/>
                    </a:lnR>
                    <a:lnT>
                      <a:noFill/>
                    </a:lnT>
                    <a:lnB>
                      <a:noFill/>
                    </a:lnB>
                    <a:noFill/>
                  </a:tcPr>
                </a:tc>
                <a:tc>
                  <a:txBody>
                    <a:bodyPr/>
                    <a:lstStyle/>
                    <a:p>
                      <a:r>
                        <a:rPr lang="en-US" sz="1800" dirty="0">
                          <a:latin typeface="Calibri" panose="020F0502020204030204" pitchFamily="34" charset="0"/>
                          <a:ea typeface="Calibri" panose="020F0502020204030204" pitchFamily="34" charset="0"/>
                          <a:cs typeface="Calibri" panose="020F0502020204030204" pitchFamily="34" charset="0"/>
                        </a:rPr>
                        <a:t>Testing if the PHQ-9 fits a one-factor model for depression</a:t>
                      </a:r>
                    </a:p>
                  </a:txBody>
                  <a:tcPr marL="76339" marR="76339" marT="38170" marB="38170" anchor="ctr">
                    <a:lnL>
                      <a:noFill/>
                    </a:lnL>
                    <a:lnR>
                      <a:noFill/>
                    </a:lnR>
                    <a:lnT>
                      <a:noFill/>
                    </a:lnT>
                    <a:lnB>
                      <a:noFill/>
                    </a:lnB>
                    <a:noFill/>
                  </a:tcPr>
                </a:tc>
                <a:extLst>
                  <a:ext uri="{0D108BD9-81ED-4DB2-BD59-A6C34878D82A}">
                    <a16:rowId xmlns:a16="http://schemas.microsoft.com/office/drawing/2014/main" val="197591407"/>
                  </a:ext>
                </a:extLst>
              </a:tr>
            </a:tbl>
          </a:graphicData>
        </a:graphic>
      </p:graphicFrame>
    </p:spTree>
    <p:extLst>
      <p:ext uri="{BB962C8B-B14F-4D97-AF65-F5344CB8AC3E}">
        <p14:creationId xmlns:p14="http://schemas.microsoft.com/office/powerpoint/2010/main" val="68207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17300</TotalTime>
  <Words>11286</Words>
  <Application>Microsoft Office PowerPoint</Application>
  <PresentationFormat>Widescreen</PresentationFormat>
  <Paragraphs>1096</Paragraphs>
  <Slides>73</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73</vt:i4>
      </vt:variant>
    </vt:vector>
  </HeadingPairs>
  <TitlesOfParts>
    <vt:vector size="82" baseType="lpstr">
      <vt:lpstr>Aptos</vt:lpstr>
      <vt:lpstr>Aptos Display</vt:lpstr>
      <vt:lpstr>Arial</vt:lpstr>
      <vt:lpstr>Calibri</vt:lpstr>
      <vt:lpstr>Cambria Math</vt:lpstr>
      <vt:lpstr>open-sans</vt:lpstr>
      <vt:lpstr>Tw Cen MT</vt:lpstr>
      <vt:lpstr>Wingdings</vt:lpstr>
      <vt:lpstr>Office Theme</vt:lpstr>
      <vt:lpstr>Factor Analysis</vt:lpstr>
      <vt:lpstr>What is Factor analysis (FA)?</vt:lpstr>
      <vt:lpstr>Types of FA</vt:lpstr>
      <vt:lpstr>What is EFA?</vt:lpstr>
      <vt:lpstr>What is a ‘latent variable’</vt:lpstr>
      <vt:lpstr>EFA versus Principal Components Analysis (PCA)</vt:lpstr>
      <vt:lpstr>Example </vt:lpstr>
      <vt:lpstr>EFA versus Principal Components Analysis (PCA)</vt:lpstr>
      <vt:lpstr>EFA: A Measurement Model</vt:lpstr>
      <vt:lpstr>Example</vt:lpstr>
      <vt:lpstr>Example:  Five indicators of an underlying latent construct we call depression</vt:lpstr>
      <vt:lpstr>Intuition</vt:lpstr>
      <vt:lpstr>EFA</vt:lpstr>
      <vt:lpstr>Illustration</vt:lpstr>
      <vt:lpstr>Correlations (what factor(s) might cause the relationships?)</vt:lpstr>
      <vt:lpstr>Factor Structure</vt:lpstr>
      <vt:lpstr>Interpreting the Factor Analysis Results</vt:lpstr>
      <vt:lpstr>Exploratory Factor Analysis Decision Process</vt:lpstr>
      <vt:lpstr>Stage 1:  Objectives of Exploratory Factor Analysis</vt:lpstr>
      <vt:lpstr>EFA Unit of Analysis and Objectives</vt:lpstr>
      <vt:lpstr>Data Reduction</vt:lpstr>
      <vt:lpstr>Variable Selection and Use with Other Techniques</vt:lpstr>
      <vt:lpstr>Stage 2: Designing an Exploratory Factor Analysis</vt:lpstr>
      <vt:lpstr>EFA Research Design</vt:lpstr>
      <vt:lpstr>Stage 3:  Assumptions in Factor Analysis</vt:lpstr>
      <vt:lpstr>Assumptions of EFA</vt:lpstr>
      <vt:lpstr>Assumptions of EFA</vt:lpstr>
      <vt:lpstr>Assumptions of EFA</vt:lpstr>
      <vt:lpstr>Identity matrix v. Covariance matrix</vt:lpstr>
      <vt:lpstr>Initial factorability assessment (summary)</vt:lpstr>
      <vt:lpstr>Stage 4:  Deriving Factors and Assessing Overall Fit</vt:lpstr>
      <vt:lpstr>Key Questions</vt:lpstr>
      <vt:lpstr>Extracting a set of factors from the correlation matrix</vt:lpstr>
      <vt:lpstr>Extracting a set of factors from the correlation matrix</vt:lpstr>
      <vt:lpstr>Selecting the factor extraction method</vt:lpstr>
      <vt:lpstr>How do they differ?</vt:lpstr>
      <vt:lpstr>Partitioning the variance in factor analysis</vt:lpstr>
      <vt:lpstr>Important concepts</vt:lpstr>
      <vt:lpstr>Communalities</vt:lpstr>
      <vt:lpstr>Example of Communalities</vt:lpstr>
      <vt:lpstr>Exploratory Factor Analysis Specification Conditions &amp; Decisions</vt:lpstr>
      <vt:lpstr>Rules of Thumb – Choosing Factor Models and Number of Factors</vt:lpstr>
      <vt:lpstr>Full Set of Criteria for determining the number of factors</vt:lpstr>
      <vt:lpstr>Stopping Rules: Criteria for the Number of Factors to Extract</vt:lpstr>
      <vt:lpstr>Kaiser’s rule (eigenvalues greater than one)</vt:lpstr>
      <vt:lpstr>Stopping Rules: Criteria for the Number of Factors to Extract</vt:lpstr>
      <vt:lpstr>Parallel Analysis** (Gold Standard)</vt:lpstr>
      <vt:lpstr>Step 5: Interpreting the Factors</vt:lpstr>
      <vt:lpstr>The Three Processes of Factor Interpretation</vt:lpstr>
      <vt:lpstr>Rotation of Factors</vt:lpstr>
      <vt:lpstr>Factor Rotation (sharpening the results)</vt:lpstr>
      <vt:lpstr>Interpreting the factors</vt:lpstr>
      <vt:lpstr>Example:</vt:lpstr>
      <vt:lpstr>Must rotate factors, different rotation types</vt:lpstr>
      <vt:lpstr>Rotation (Cont’D)</vt:lpstr>
      <vt:lpstr>Example: Visualizing Rotation</vt:lpstr>
      <vt:lpstr>Example: Visualizing Rotation</vt:lpstr>
      <vt:lpstr>PowerPoint Presentation</vt:lpstr>
      <vt:lpstr>Interpreting a Factor Matrix</vt:lpstr>
      <vt:lpstr>Factor loadings</vt:lpstr>
      <vt:lpstr>Judging the Significance of Factor Loadings</vt:lpstr>
      <vt:lpstr>Identify significant loadings and assess communalities</vt:lpstr>
      <vt:lpstr>Interpreting a factor matrix</vt:lpstr>
      <vt:lpstr>Step 1: Examine the factor matrix of loadings</vt:lpstr>
      <vt:lpstr>Process For Identifying Cross-Loadings</vt:lpstr>
      <vt:lpstr>Example for Identifying Cross-Loadings</vt:lpstr>
      <vt:lpstr>Step 3: Assess the Communalities of the Variables</vt:lpstr>
      <vt:lpstr>Step 4: Re-specify the Factor Model if Needed</vt:lpstr>
      <vt:lpstr>Step 5: Label the Factors</vt:lpstr>
      <vt:lpstr>Rules of Thumb – Interpreting The Factors</vt:lpstr>
      <vt:lpstr>Considerations</vt:lpstr>
      <vt:lpstr>Assumptions</vt:lpstr>
      <vt:lpstr>A priori: EFA v CFA</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225</cp:revision>
  <dcterms:created xsi:type="dcterms:W3CDTF">2025-03-30T15:35:43Z</dcterms:created>
  <dcterms:modified xsi:type="dcterms:W3CDTF">2026-04-14T19:17:44Z</dcterms:modified>
</cp:coreProperties>
</file>