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sldIdLst>
    <p:sldId id="256" r:id="rId2"/>
    <p:sldId id="257" r:id="rId3"/>
    <p:sldId id="258" r:id="rId4"/>
    <p:sldId id="259" r:id="rId5"/>
    <p:sldId id="331" r:id="rId6"/>
    <p:sldId id="261" r:id="rId7"/>
    <p:sldId id="262" r:id="rId8"/>
    <p:sldId id="260" r:id="rId9"/>
    <p:sldId id="263" r:id="rId10"/>
    <p:sldId id="264" r:id="rId11"/>
    <p:sldId id="265" r:id="rId12"/>
    <p:sldId id="266" r:id="rId13"/>
    <p:sldId id="267" r:id="rId14"/>
    <p:sldId id="309" r:id="rId15"/>
    <p:sldId id="289" r:id="rId16"/>
    <p:sldId id="290" r:id="rId17"/>
    <p:sldId id="292" r:id="rId18"/>
    <p:sldId id="273" r:id="rId19"/>
    <p:sldId id="332" r:id="rId20"/>
    <p:sldId id="293" r:id="rId21"/>
    <p:sldId id="333" r:id="rId22"/>
    <p:sldId id="329" r:id="rId23"/>
    <p:sldId id="335" r:id="rId24"/>
    <p:sldId id="337" r:id="rId25"/>
    <p:sldId id="336" r:id="rId26"/>
    <p:sldId id="330" r:id="rId27"/>
    <p:sldId id="294" r:id="rId28"/>
    <p:sldId id="276" r:id="rId29"/>
    <p:sldId id="296" r:id="rId30"/>
    <p:sldId id="338" r:id="rId31"/>
    <p:sldId id="277" r:id="rId32"/>
    <p:sldId id="278" r:id="rId33"/>
    <p:sldId id="279" r:id="rId34"/>
    <p:sldId id="298" r:id="rId35"/>
    <p:sldId id="334" r:id="rId36"/>
    <p:sldId id="280" r:id="rId37"/>
    <p:sldId id="339" r:id="rId38"/>
    <p:sldId id="340" r:id="rId39"/>
    <p:sldId id="312" r:id="rId40"/>
    <p:sldId id="313" r:id="rId41"/>
    <p:sldId id="315" r:id="rId42"/>
    <p:sldId id="300" r:id="rId43"/>
    <p:sldId id="285" r:id="rId44"/>
    <p:sldId id="302" r:id="rId45"/>
    <p:sldId id="305" r:id="rId46"/>
    <p:sldId id="304" r:id="rId47"/>
    <p:sldId id="321" r:id="rId48"/>
    <p:sldId id="282" r:id="rId49"/>
    <p:sldId id="286" r:id="rId50"/>
    <p:sldId id="308" r:id="rId51"/>
    <p:sldId id="341" r:id="rId52"/>
    <p:sldId id="342" r:id="rId53"/>
    <p:sldId id="343" r:id="rId54"/>
    <p:sldId id="317" r:id="rId55"/>
    <p:sldId id="320" r:id="rId56"/>
    <p:sldId id="318" r:id="rId57"/>
    <p:sldId id="319" r:id="rId58"/>
    <p:sldId id="326" r:id="rId59"/>
    <p:sldId id="325" r:id="rId60"/>
    <p:sldId id="322" r:id="rId61"/>
    <p:sldId id="323" r:id="rId62"/>
    <p:sldId id="324"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843" autoAdjust="0"/>
  </p:normalViewPr>
  <p:slideViewPr>
    <p:cSldViewPr snapToGrid="0">
      <p:cViewPr>
        <p:scale>
          <a:sx n="89" d="100"/>
          <a:sy n="89" d="100"/>
        </p:scale>
        <p:origin x="432" y="-158"/>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3T22:17:14.106"/>
    </inkml:context>
    <inkml:brush xml:id="br0">
      <inkml:brushProperty name="width" value="0.05" units="cm"/>
      <inkml:brushProperty name="height" value="0.05" units="cm"/>
      <inkml:brushProperty name="color" value="#E71224"/>
    </inkml:brush>
  </inkml:definitions>
  <inkml:trace contextRef="#ctx0" brushRef="#br0">960 173 24575,'-12'0'0,"1"-2"0,0 1 0,-16-5 0,-19-3 0,-69 1 0,-159 11 0,255-1 0,1 0 0,-1 2 0,1 0 0,0 1 0,0 1 0,-30 14 0,15-3 0,1 2 0,-43 32 0,61-41 0,0 1 0,1 1 0,1 1 0,0-1 0,1 2 0,0 0 0,1 0 0,0 1 0,2 0 0,-1 1 0,2-1 0,0 2 0,1-1 0,1 1 0,0 0 0,1 0 0,1 0 0,1 0 0,0 1 0,2-1 0,0 1 0,0-1 0,2 1 0,0-1 0,1 1 0,1-1 0,0 0 0,10 22 0,-4-15 0,1-1 0,0 0 0,2-1 0,1 0 0,1-1 0,1-1 0,23 25 0,-12-19 0,1-2 0,1 0 0,0-2 0,51 28 0,-17-18 0,2-2 0,1-4 0,1-2 0,128 28 0,-82-31 0,1-4 0,1-6 0,0-4 0,180-13 0,-278 5 0,362-45 0,-340 38 0,-1-2 0,0-1 0,-1-2 0,-1-1 0,0-2 0,-1-2 0,56-37 0,-84 49 0,0 0 0,0 0 0,-1-1 0,0 0 0,0-1 0,-1 1 0,1-1 0,-2 0 0,1 0 0,-1-1 0,0 1 0,-1-1 0,0 0 0,-1 0 0,2-10 0,2-16 0,-2 0 0,-1-59 0,-3 67 0,0 5 0,-1 1 0,-1-1 0,-1 1 0,0 0 0,-2-1 0,-1 2 0,0-1 0,-2 1 0,0 0 0,-1 0 0,-1 1 0,-1 0 0,0 1 0,-2 0 0,0 1 0,-1 1 0,0 0 0,-31-26 0,10 15 0,-1 1 0,-1 1 0,-81-38 0,-127-39 0,243 101 0,-296-99 0,235 84 0,0 3 0,-120-10 0,40 17 0,0 5 0,-283 37 0,408-33-195,1 0 0,-1 1 0,0 0 0,1 2 0,0 0 0,-19 10 0,23-7-6631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3T22:17:30.681"/>
    </inkml:context>
    <inkml:brush xml:id="br0">
      <inkml:brushProperty name="width" value="0.05" units="cm"/>
      <inkml:brushProperty name="height" value="0.05" units="cm"/>
      <inkml:brushProperty name="color" value="#E71224"/>
    </inkml:brush>
  </inkml:definitions>
  <inkml:trace contextRef="#ctx0" brushRef="#br0">0 1 24575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3T22:17:42.762"/>
    </inkml:context>
    <inkml:brush xml:id="br0">
      <inkml:brushProperty name="width" value="0.05" units="cm"/>
      <inkml:brushProperty name="height" value="0.05" units="cm"/>
      <inkml:brushProperty name="color" value="#E71224"/>
    </inkml:brush>
  </inkml:definitions>
  <inkml:trace contextRef="#ctx0" brushRef="#br0">507 1 24575,'-34'-1'0,"0"3"0,-36 5 0,56-4 0,0 0 0,1 1 0,0 0 0,0 1 0,0 1 0,1 0 0,-23 14 0,-72 58 0,91-65 0,0 2 0,0 0 0,2 0 0,-16 21 0,25-27 0,-1 0 0,1 1 0,1 0 0,0 0 0,0 0 0,1 0 0,0 1 0,1-1 0,-2 18 0,1 10 0,4 52 0,1-39 0,-2-40 0,2 0 0,0 0 0,0 0 0,1-1 0,0 1 0,0-1 0,2 0 0,-1 0 0,1 0 0,1-1 0,-1 1 0,13 14 0,-2-5 0,1 0 0,1-1 0,0-1 0,32 22 0,-18-17 0,0-2 0,2-1 0,0-2 0,1-2 0,0 0 0,49 11 0,-29-13 0,0-2 0,1-3 0,94 2 0,489-17 0,-598 6 0,-1-3 0,0-1 0,-1-2 0,1-2 0,52-19 0,-76 22 0,0-2 0,-1 0 0,1 0 0,-1-1 0,-1-1 0,19-17 0,-24 19 0,-1 0 0,-1 0 0,0-1 0,0 0 0,-1 0 0,0-1 0,0 0 0,-1 0 0,-1 0 0,7-22 0,-7 16 0,-1 0 0,0 0 0,-2 0 0,0 0 0,0 0 0,-2-1 0,0 1 0,-1 0 0,0 0 0,-1 0 0,-1 0 0,-1 0 0,0 1 0,-1-1 0,0 2 0,-13-21 0,-3 0 0,-1 1 0,-2 2 0,-2 0 0,-1 2 0,-41-36 0,53 51 0,0 1 0,-1 1 0,-1 1 0,0 0 0,-1 1 0,0 1 0,-1 1 0,0 0 0,0 2 0,-1 0 0,0 2 0,0 0 0,-24-2 0,-48 1 0,-111 7 0,63 2 0,132-3 0,-427 14 0,194-4-1365,222-10-5461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234E2D-E6E5-4D3D-8239-F4FA528A0DE3}" type="datetimeFigureOut">
              <a:rPr lang="en-US" smtClean="0"/>
              <a:t>4/3/2025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40D8CB-5069-48A5-A31E-868D687857E9}" type="slidenum">
              <a:rPr lang="en-US" smtClean="0"/>
              <a:t>‹#›</a:t>
            </a:fld>
            <a:endParaRPr lang="en-US"/>
          </a:p>
        </p:txBody>
      </p:sp>
    </p:spTree>
    <p:extLst>
      <p:ext uri="{BB962C8B-B14F-4D97-AF65-F5344CB8AC3E}">
        <p14:creationId xmlns:p14="http://schemas.microsoft.com/office/powerpoint/2010/main" val="40060257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Before we dive into factor analysis, we need to make sure our data </a:t>
            </a:r>
            <a:r>
              <a:rPr lang="en-US" b="0" i="1" dirty="0"/>
              <a:t>deserves</a:t>
            </a:r>
            <a:r>
              <a:rPr lang="en-US" b="0" dirty="0"/>
              <a:t> it.</a:t>
            </a:r>
          </a:p>
          <a:p>
            <a:pPr>
              <a:buFont typeface="Arial" panose="020B0604020202020204" pitchFamily="34" charset="0"/>
              <a:buChar char="•"/>
            </a:pPr>
            <a:r>
              <a:rPr lang="en-US" b="0" dirty="0"/>
              <a:t>Check the correlations: Factor analysis assumes that variables share enough variance to justify summarizing them. If most correlations are below .30, it’s a sign that the variables aren’t linked strongly enough—no shared structure means no meaningful factors.</a:t>
            </a:r>
          </a:p>
          <a:p>
            <a:pPr>
              <a:buFont typeface="Arial" panose="020B0604020202020204" pitchFamily="34" charset="0"/>
              <a:buChar char="•"/>
            </a:pPr>
            <a:r>
              <a:rPr lang="en-US" b="0" dirty="0"/>
              <a:t>Partial correlations matter: High partial correlations (&gt;.70) suggest that variables remain strongly correlated even after accounting for others. That implies a lack of common factors—essentially, the variables aren't playing as a team.</a:t>
            </a:r>
          </a:p>
          <a:p>
            <a:pPr>
              <a:buFont typeface="Arial" panose="020B0604020202020204" pitchFamily="34" charset="0"/>
              <a:buChar char="•"/>
            </a:pPr>
            <a:r>
              <a:rPr lang="en-US" b="0" dirty="0"/>
              <a:t>Bartlett’s test of sphericity: This test tells us whether our correlation matrix is significantly different from an identity matrix. A significant result means the data has enough structure to proceed. A non-significant test suggests random noise—nothing to extract.</a:t>
            </a:r>
          </a:p>
          <a:p>
            <a:pPr>
              <a:buFont typeface="Arial" panose="020B0604020202020204" pitchFamily="34" charset="0"/>
              <a:buChar char="•"/>
            </a:pPr>
            <a:r>
              <a:rPr lang="en-US" b="0" dirty="0"/>
              <a:t>Kaiser-Meyer-Olkin (KMO) Measure of Sampling Adequacy: This index tells us how well-suited the data is for factor analysis. Values closer to 1.0 are ideal. A rule of thumb: .80 and above = great, .60s = mediocre, below .50 = don't do it.</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143CBBE-8647-4FF0-BB78-44590B58933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085078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To justify running factor analysis, your data needs to show enough shared variance—and we’ve got a few tools to check that.</a:t>
            </a:r>
          </a:p>
          <a:p>
            <a:pPr>
              <a:buFont typeface="Arial" panose="020B0604020202020204" pitchFamily="34" charset="0"/>
              <a:buChar char="•"/>
            </a:pPr>
            <a:r>
              <a:rPr lang="en-US" b="0" dirty="0"/>
              <a:t>Correlation coefficients (&gt; .30): Think of this as the minimum level of connection we’re looking for. If variables don’t correlate at least moderately, they likely don’t share enough variance to be grouped under a latent factor.</a:t>
            </a:r>
          </a:p>
          <a:p>
            <a:pPr>
              <a:buFont typeface="Arial" panose="020B0604020202020204" pitchFamily="34" charset="0"/>
              <a:buChar char="•"/>
            </a:pPr>
            <a:r>
              <a:rPr lang="en-US" b="0" dirty="0"/>
              <a:t>Bartlett’s Test of Sphericity:</a:t>
            </a:r>
            <a:br>
              <a:rPr lang="en-US" b="0" dirty="0"/>
            </a:br>
            <a:r>
              <a:rPr lang="en-US" b="0" dirty="0"/>
              <a:t>The null hypothesis says the correlation matrix is an identity matrix—meaning variables are uncorrelated.</a:t>
            </a:r>
            <a:br>
              <a:rPr lang="en-US" b="0" dirty="0"/>
            </a:br>
            <a:r>
              <a:rPr lang="en-US" b="0" dirty="0"/>
              <a:t>But for factor analysis, we want overlap. So a significant result (p &lt; .05) means we can reject the null and conclude that our variables are correlated enough to proceed. The next slide has an example of what the identity matrix looks like so you have some intuition about it.</a:t>
            </a:r>
          </a:p>
          <a:p>
            <a:pPr>
              <a:buFont typeface="Arial" panose="020B0604020202020204" pitchFamily="34" charset="0"/>
              <a:buChar char="•"/>
            </a:pPr>
            <a:r>
              <a:rPr lang="en-US" b="0" dirty="0"/>
              <a:t>Anti-Image Correlation Matrix:</a:t>
            </a:r>
            <a:br>
              <a:rPr lang="en-US" b="0" dirty="0"/>
            </a:br>
            <a:r>
              <a:rPr lang="en-US" b="0" dirty="0"/>
              <a:t>This matrix shows partial correlations, helping us identify variables that may not fit well with the rest. Large off-diagonal values here signal trouble—variables that don’t contribute to shared structure.</a:t>
            </a:r>
          </a:p>
          <a:p>
            <a:pPr>
              <a:buFont typeface="Arial" panose="020B0604020202020204" pitchFamily="34" charset="0"/>
              <a:buChar char="•"/>
            </a:pPr>
            <a:r>
              <a:rPr lang="en-US" b="0" dirty="0"/>
              <a:t>Kaiser-Meyer-Olkin (KMO) Measure of Sampling Adequacy:</a:t>
            </a:r>
            <a:br>
              <a:rPr lang="en-US" b="0" dirty="0"/>
            </a:br>
            <a:r>
              <a:rPr lang="en-US" b="0" dirty="0"/>
              <a:t>This gives us a single number summarizing how well our variables lend themselves to factor analysis.</a:t>
            </a:r>
            <a:br>
              <a:rPr lang="en-US" b="0" dirty="0"/>
            </a:br>
            <a:r>
              <a:rPr lang="en-US" b="0" dirty="0"/>
              <a:t>It compares the size of the observed correlations to the size of the partial correlations.</a:t>
            </a:r>
            <a:br>
              <a:rPr lang="en-US" b="0" dirty="0"/>
            </a:br>
            <a:r>
              <a:rPr lang="en-US" b="0" dirty="0"/>
              <a:t>Ranges from 0 to 1—higher is better. A value above .80 is considered excellent. Below .50? Not worth proceeding.</a:t>
            </a:r>
          </a:p>
          <a:p>
            <a:endParaRPr lang="en-US" b="0"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143CBBE-8647-4FF0-BB78-44590B58933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03797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Let’s talk about </a:t>
            </a:r>
            <a:r>
              <a:rPr lang="en-US" b="0" i="1" dirty="0"/>
              <a:t>this</a:t>
            </a:r>
            <a:r>
              <a:rPr lang="en-US" b="0" dirty="0"/>
              <a:t> matrix.</a:t>
            </a:r>
          </a:p>
          <a:p>
            <a:r>
              <a:rPr lang="en-US" b="0" dirty="0"/>
              <a:t>What you’re looking at is an identity matrix: all the diagonal elements are 1 (perfect correlation with themselves), and all the off-diagonal elements are 0 (no correlation with anyone else).</a:t>
            </a:r>
          </a:p>
          <a:p>
            <a:r>
              <a:rPr lang="en-US" b="0" dirty="0"/>
              <a:t>Translation:</a:t>
            </a:r>
            <a:br>
              <a:rPr lang="en-US" b="0" dirty="0"/>
            </a:br>
            <a:r>
              <a:rPr lang="en-US" b="0" dirty="0"/>
              <a:t>These variables are operating in silos. They don’t share variance, they’re not communicating, and there’s no underlying factor tying them together.</a:t>
            </a:r>
          </a:p>
          <a:p>
            <a:r>
              <a:rPr lang="en-US" b="0" dirty="0"/>
              <a:t>Big red flag:</a:t>
            </a:r>
            <a:br>
              <a:rPr lang="en-US" b="0" dirty="0"/>
            </a:br>
            <a:r>
              <a:rPr lang="en-US" b="0" dirty="0"/>
              <a:t>If your correlation matrix looks like this, don’t run factor analysis. There are no latent constructs to uncover—this is statistical isolation, not structure.</a:t>
            </a:r>
          </a:p>
          <a:p>
            <a:r>
              <a:rPr lang="en-US" b="0" dirty="0"/>
              <a:t>Bartlett’s test would likely be non-significant here, confirming the lack of relationship. KMO would be low, too. So the message is simple: if your data looks like this, stop here.</a:t>
            </a:r>
          </a:p>
          <a:p>
            <a:endParaRPr lang="en-US" dirty="0"/>
          </a:p>
        </p:txBody>
      </p:sp>
      <p:sp>
        <p:nvSpPr>
          <p:cNvPr id="4" name="Slide Number Placeholder 3"/>
          <p:cNvSpPr>
            <a:spLocks noGrp="1"/>
          </p:cNvSpPr>
          <p:nvPr>
            <p:ph type="sldNum" sz="quarter" idx="5"/>
          </p:nvPr>
        </p:nvSpPr>
        <p:spPr/>
        <p:txBody>
          <a:bodyPr/>
          <a:lstStyle/>
          <a:p>
            <a:fld id="{AB40D8CB-5069-48A5-A31E-868D687857E9}" type="slidenum">
              <a:rPr lang="en-US" smtClean="0"/>
              <a:t>19</a:t>
            </a:fld>
            <a:endParaRPr lang="en-US"/>
          </a:p>
        </p:txBody>
      </p:sp>
    </p:spTree>
    <p:extLst>
      <p:ext uri="{BB962C8B-B14F-4D97-AF65-F5344CB8AC3E}">
        <p14:creationId xmlns:p14="http://schemas.microsoft.com/office/powerpoint/2010/main" val="40260342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Let’s rewind for a second:</a:t>
            </a:r>
            <a:br>
              <a:rPr lang="en-US" b="0" dirty="0"/>
            </a:br>
            <a:r>
              <a:rPr lang="en-US" b="0" dirty="0"/>
              <a:t>Variance tells us how much a variable’s values spread out around the mean. But what happens when variables are correlated? They move together—and that means they’re sharing some of their variance.</a:t>
            </a:r>
          </a:p>
          <a:p>
            <a:pPr>
              <a:buFont typeface="Arial" panose="020B0604020202020204" pitchFamily="34" charset="0"/>
              <a:buChar char="•"/>
            </a:pPr>
            <a:r>
              <a:rPr lang="en-US" b="0" dirty="0"/>
              <a:t>When two variables correlate at .50, they share 25% of their variance—because we square the correlation to find shared variance.</a:t>
            </a:r>
          </a:p>
          <a:p>
            <a:pPr>
              <a:buFont typeface="Arial" panose="020B0604020202020204" pitchFamily="34" charset="0"/>
              <a:buChar char="•"/>
            </a:pPr>
            <a:r>
              <a:rPr lang="en-US" b="0" dirty="0"/>
              <a:t>In factor analysis, this shared variance is the gold we’re mining. Highly correlated variables are grouped together into factors because they fluctuate in sync—something’s linking them.</a:t>
            </a:r>
          </a:p>
          <a:p>
            <a:pPr>
              <a:buFont typeface="Arial" panose="020B0604020202020204" pitchFamily="34" charset="0"/>
              <a:buChar char="•"/>
            </a:pPr>
            <a:r>
              <a:rPr lang="en-US" b="0" dirty="0"/>
              <a:t>But we don’t just care about what’s shared. We also need to know what’s unique to each variable—and how much is just random noise.</a:t>
            </a:r>
          </a:p>
          <a:p>
            <a:r>
              <a:rPr lang="en-US" b="0" dirty="0"/>
              <a:t>So every variable’s total variance can be broken down into three pieces:</a:t>
            </a:r>
          </a:p>
          <a:p>
            <a:r>
              <a:rPr lang="en-US" b="0" dirty="0"/>
              <a:t>Total variance = Shared (common) variance + Unique variance + Error</a:t>
            </a:r>
          </a:p>
          <a:p>
            <a:r>
              <a:rPr lang="en-US" b="0" dirty="0"/>
              <a:t>Factor analysis aims to uncover the common variance—the part that tells us something meaningful is happening across multiple variables.</a:t>
            </a:r>
          </a:p>
          <a:p>
            <a:endParaRPr lang="en-US" dirty="0"/>
          </a:p>
        </p:txBody>
      </p:sp>
      <p:sp>
        <p:nvSpPr>
          <p:cNvPr id="4" name="Slide Number Placeholder 3"/>
          <p:cNvSpPr>
            <a:spLocks noGrp="1"/>
          </p:cNvSpPr>
          <p:nvPr>
            <p:ph type="sldNum" sz="quarter" idx="5"/>
          </p:nvPr>
        </p:nvSpPr>
        <p:spPr/>
        <p:txBody>
          <a:bodyPr/>
          <a:lstStyle/>
          <a:p>
            <a:fld id="{AB40D8CB-5069-48A5-A31E-868D687857E9}" type="slidenum">
              <a:rPr lang="en-US" smtClean="0"/>
              <a:t>20</a:t>
            </a:fld>
            <a:endParaRPr lang="en-US"/>
          </a:p>
        </p:txBody>
      </p:sp>
    </p:spTree>
    <p:extLst>
      <p:ext uri="{BB962C8B-B14F-4D97-AF65-F5344CB8AC3E}">
        <p14:creationId xmlns:p14="http://schemas.microsoft.com/office/powerpoint/2010/main" val="36950561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When we run factor analysis, we’re asking: </a:t>
            </a:r>
            <a:r>
              <a:rPr lang="en-US" b="0" i="1" dirty="0"/>
              <a:t>What part of each variable is part of something bigger?</a:t>
            </a:r>
            <a:r>
              <a:rPr lang="en-US" b="0" dirty="0"/>
              <a:t> Let’s unpack what that means.</a:t>
            </a:r>
          </a:p>
          <a:p>
            <a:pPr>
              <a:buFont typeface="Arial" panose="020B0604020202020204" pitchFamily="34" charset="0"/>
              <a:buChar char="•"/>
            </a:pPr>
            <a:r>
              <a:rPr lang="en-US" b="0" dirty="0"/>
              <a:t>Common Variance (Shared)</a:t>
            </a:r>
            <a:br>
              <a:rPr lang="en-US" b="0" dirty="0"/>
            </a:br>
            <a:r>
              <a:rPr lang="en-US" b="0" dirty="0"/>
              <a:t>This is the overlap—the part of the variable that aligns with others. It’s explained by a latent factor, like </a:t>
            </a:r>
            <a:r>
              <a:rPr lang="en-US" b="0" i="1" dirty="0"/>
              <a:t>depression</a:t>
            </a:r>
            <a:r>
              <a:rPr lang="en-US" b="0" dirty="0"/>
              <a:t> or </a:t>
            </a:r>
            <a:r>
              <a:rPr lang="en-US" b="0" i="1" dirty="0"/>
              <a:t>neighborhood disinvestment</a:t>
            </a:r>
            <a:r>
              <a:rPr lang="en-US" b="0" dirty="0"/>
              <a:t>.</a:t>
            </a:r>
            <a:br>
              <a:rPr lang="en-US" b="0" dirty="0"/>
            </a:br>
            <a:r>
              <a:rPr lang="en-US" b="0" dirty="0"/>
              <a:t>Example: If questions about sadness, fatigue, and sleep all move together, they likely reflect the same underlying construct—say, Depression.</a:t>
            </a:r>
          </a:p>
          <a:p>
            <a:pPr>
              <a:buFont typeface="Arial" panose="020B0604020202020204" pitchFamily="34" charset="0"/>
              <a:buChar char="•"/>
            </a:pPr>
            <a:r>
              <a:rPr lang="en-US" b="0" dirty="0"/>
              <a:t>Unique Variance</a:t>
            </a:r>
            <a:br>
              <a:rPr lang="en-US" b="0" dirty="0"/>
            </a:br>
            <a:r>
              <a:rPr lang="en-US" b="0" dirty="0"/>
              <a:t>This is what makes a variable special—it’s the part not shared with others and not explained by a factor.</a:t>
            </a:r>
            <a:br>
              <a:rPr lang="en-US" b="0" dirty="0"/>
            </a:br>
            <a:r>
              <a:rPr lang="en-US" b="0" dirty="0"/>
              <a:t>It still matters. For instance, a sleep question may reflect depression </a:t>
            </a:r>
            <a:r>
              <a:rPr lang="en-US" b="0" i="1" dirty="0"/>
              <a:t>and</a:t>
            </a:r>
            <a:r>
              <a:rPr lang="en-US" b="0" dirty="0"/>
              <a:t> a uniquely personal experience with insomnia or with lack of motivation having nothing to do with depression per se.</a:t>
            </a:r>
          </a:p>
          <a:p>
            <a:pPr>
              <a:buFont typeface="Arial" panose="020B0604020202020204" pitchFamily="34" charset="0"/>
              <a:buChar char="•"/>
            </a:pPr>
            <a:r>
              <a:rPr lang="en-US" b="0" dirty="0"/>
              <a:t>Error Variance</a:t>
            </a:r>
            <a:br>
              <a:rPr lang="en-US" b="0" dirty="0"/>
            </a:br>
            <a:r>
              <a:rPr lang="en-US" b="0" dirty="0"/>
              <a:t>This is the wild card—randomness, imprecision, or noise in the data.</a:t>
            </a:r>
            <a:br>
              <a:rPr lang="en-US" b="0" dirty="0"/>
            </a:br>
            <a:r>
              <a:rPr lang="en-US" b="0" dirty="0"/>
              <a:t>It’s not meaningful, it’s not shared, and it’s not useful for explaining anything real. There will always be some error or noise in the data, the nice thing about statistics is that we can quantify it.</a:t>
            </a:r>
          </a:p>
          <a:p>
            <a:r>
              <a:rPr lang="en-US" b="0" dirty="0"/>
              <a:t>Bottom line:</a:t>
            </a:r>
            <a:br>
              <a:rPr lang="en-US" b="0" dirty="0"/>
            </a:br>
            <a:r>
              <a:rPr lang="en-US" b="0" dirty="0"/>
              <a:t>Factor analysis is only interested in common variance—that’s where the patterns live. Everything else? It’s either unique to that variable or just statistical noise.</a:t>
            </a:r>
          </a:p>
          <a:p>
            <a:endParaRPr lang="en-US" dirty="0"/>
          </a:p>
        </p:txBody>
      </p:sp>
      <p:sp>
        <p:nvSpPr>
          <p:cNvPr id="4" name="Slide Number Placeholder 3"/>
          <p:cNvSpPr>
            <a:spLocks noGrp="1"/>
          </p:cNvSpPr>
          <p:nvPr>
            <p:ph type="sldNum" sz="quarter" idx="5"/>
          </p:nvPr>
        </p:nvSpPr>
        <p:spPr/>
        <p:txBody>
          <a:bodyPr/>
          <a:lstStyle/>
          <a:p>
            <a:fld id="{AB40D8CB-5069-48A5-A31E-868D687857E9}" type="slidenum">
              <a:rPr lang="en-US" smtClean="0"/>
              <a:t>21</a:t>
            </a:fld>
            <a:endParaRPr lang="en-US"/>
          </a:p>
        </p:txBody>
      </p:sp>
    </p:spTree>
    <p:extLst>
      <p:ext uri="{BB962C8B-B14F-4D97-AF65-F5344CB8AC3E}">
        <p14:creationId xmlns:p14="http://schemas.microsoft.com/office/powerpoint/2010/main" val="31044145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Let’s break down the key terms that tell us how well factor analysis is actually working.</a:t>
            </a:r>
          </a:p>
          <a:p>
            <a:pPr>
              <a:buFont typeface="Arial" panose="020B0604020202020204" pitchFamily="34" charset="0"/>
              <a:buChar char="•"/>
            </a:pPr>
            <a:r>
              <a:rPr lang="en-US" b="0" dirty="0"/>
              <a:t>Factor Loadings</a:t>
            </a:r>
            <a:br>
              <a:rPr lang="en-US" b="0" dirty="0"/>
            </a:br>
            <a:r>
              <a:rPr lang="en-US" b="0" dirty="0"/>
              <a:t>Think of these as correlations between a variable and a factor.</a:t>
            </a:r>
            <a:br>
              <a:rPr lang="en-US" b="0" dirty="0"/>
            </a:br>
            <a:r>
              <a:rPr lang="en-US" b="0" dirty="0"/>
              <a:t>They tell us how strongly a variable is associated with a latent factor.</a:t>
            </a:r>
            <a:br>
              <a:rPr lang="en-US" b="0" dirty="0"/>
            </a:br>
            <a:r>
              <a:rPr lang="en-US" b="0" dirty="0"/>
              <a:t>High loading? That variable belongs in the factor.</a:t>
            </a:r>
            <a:br>
              <a:rPr lang="en-US" b="0" dirty="0"/>
            </a:br>
            <a:r>
              <a:rPr lang="en-US" b="0" dirty="0"/>
              <a:t>It’s like asking: </a:t>
            </a:r>
            <a:r>
              <a:rPr lang="en-US" b="0" i="1" dirty="0"/>
              <a:t>Does this item “belong” with the others in this group?</a:t>
            </a:r>
            <a:endParaRPr lang="en-US" b="0" dirty="0"/>
          </a:p>
          <a:p>
            <a:pPr>
              <a:buFont typeface="Arial" panose="020B0604020202020204" pitchFamily="34" charset="0"/>
              <a:buChar char="•"/>
            </a:pPr>
            <a:r>
              <a:rPr lang="en-US" b="0" dirty="0"/>
              <a:t>Eigenvalues</a:t>
            </a:r>
            <a:br>
              <a:rPr lang="en-US" b="0" dirty="0"/>
            </a:br>
            <a:r>
              <a:rPr lang="en-US" b="0" dirty="0"/>
              <a:t>This is the total variance explained by each factor.</a:t>
            </a:r>
          </a:p>
          <a:p>
            <a:pPr>
              <a:buFont typeface="Arial" panose="020B0604020202020204" pitchFamily="34" charset="0"/>
              <a:buChar char="•"/>
            </a:pPr>
            <a:endParaRPr lang="en-US" b="0" dirty="0"/>
          </a:p>
          <a:p>
            <a:r>
              <a:rPr lang="en-US" b="1" dirty="0"/>
              <a:t>When we say “total variance explained by each factor,” we’re talking about the total variance across all variables in the dataset.</a:t>
            </a:r>
          </a:p>
          <a:p>
            <a:r>
              <a:rPr lang="en-US" b="0" dirty="0"/>
              <a:t>So:</a:t>
            </a:r>
          </a:p>
          <a:p>
            <a:r>
              <a:rPr lang="en-US" b="0" dirty="0"/>
              <a:t>Eigenvalues represent how much of the total variance in all the variables is explained </a:t>
            </a:r>
            <a:r>
              <a:rPr lang="en-US" b="0" i="1" dirty="0"/>
              <a:t>by a given factor</a:t>
            </a:r>
            <a:r>
              <a:rPr lang="en-US" b="0" dirty="0"/>
              <a:t>.</a:t>
            </a:r>
          </a:p>
          <a:p>
            <a:r>
              <a:rPr lang="en-US" b="0" dirty="0"/>
              <a:t>For example, if Factor 1 has an eigenvalue of 3 in a dataset with 6 variables (each standardized, so each contributes 1 unit of variance), that means:</a:t>
            </a:r>
          </a:p>
          <a:p>
            <a:r>
              <a:rPr lang="en-US" b="0" dirty="0"/>
              <a:t>Factor 1 explains 3 out of 6 total units of variance—or 50% of the total variance in the dataset.</a:t>
            </a:r>
          </a:p>
          <a:p>
            <a:r>
              <a:rPr lang="en-US" b="0" dirty="0"/>
              <a:t>That’s why we often use eigenvalues &gt; 1 as a cutoff: a factor should explain more variance than a single variable to be worth keeping.</a:t>
            </a:r>
          </a:p>
          <a:p>
            <a:pPr>
              <a:buFont typeface="Arial" panose="020B0604020202020204" pitchFamily="34" charset="0"/>
              <a:buNone/>
            </a:pPr>
            <a:br>
              <a:rPr lang="en-US" b="0" dirty="0"/>
            </a:br>
            <a:r>
              <a:rPr lang="en-US" b="0" dirty="0"/>
              <a:t>Bottom line: Eigenvalues answer </a:t>
            </a:r>
            <a:r>
              <a:rPr lang="en-US" b="0" dirty="0">
                <a:sym typeface="Wingdings" panose="05000000000000000000" pitchFamily="2" charset="2"/>
              </a:rPr>
              <a:t> </a:t>
            </a:r>
            <a:r>
              <a:rPr lang="en-US" b="0" i="1" dirty="0"/>
              <a:t>How much of the story is this factor telling?</a:t>
            </a:r>
            <a:br>
              <a:rPr lang="en-US" b="0" dirty="0"/>
            </a:br>
            <a:r>
              <a:rPr lang="en-US" b="0" dirty="0"/>
              <a:t>Technically, it’s the sum of squared loadings for each factor.</a:t>
            </a:r>
            <a:br>
              <a:rPr lang="en-US" b="0" dirty="0"/>
            </a:br>
            <a:r>
              <a:rPr lang="en-US" b="0" dirty="0"/>
              <a:t>Rule of thumb: Eigenvalues &gt; 1 are typically considered meaningful.</a:t>
            </a:r>
          </a:p>
          <a:p>
            <a:pPr>
              <a:buFont typeface="Arial" panose="020B0604020202020204" pitchFamily="34" charset="0"/>
              <a:buNone/>
            </a:pPr>
            <a:endParaRPr lang="en-US" b="0" dirty="0"/>
          </a:p>
          <a:p>
            <a:pPr>
              <a:buFont typeface="Arial" panose="020B0604020202020204" pitchFamily="34" charset="0"/>
              <a:buChar char="•"/>
            </a:pPr>
            <a:r>
              <a:rPr lang="en-US" b="0" dirty="0"/>
              <a:t>Communalities</a:t>
            </a:r>
            <a:br>
              <a:rPr lang="en-US" b="0" dirty="0"/>
            </a:br>
            <a:r>
              <a:rPr lang="en-US" b="0" dirty="0"/>
              <a:t>These tell us how much of a variable’s variance is explained by all the factors combined.</a:t>
            </a:r>
            <a:br>
              <a:rPr lang="en-US" b="0" dirty="0"/>
            </a:br>
            <a:r>
              <a:rPr lang="en-US" b="0" dirty="0"/>
              <a:t>It’s the sum of squared loadings for each variable across all factors.</a:t>
            </a:r>
            <a:br>
              <a:rPr lang="en-US" b="0" dirty="0"/>
            </a:br>
            <a:r>
              <a:rPr lang="en-US" b="0" dirty="0"/>
              <a:t>In other words: </a:t>
            </a:r>
            <a:r>
              <a:rPr lang="en-US" b="0" i="1" dirty="0"/>
              <a:t>How much of this variable are we actually capturing through the factor model?</a:t>
            </a:r>
            <a:endParaRPr lang="en-US" b="0" dirty="0"/>
          </a:p>
          <a:p>
            <a:endParaRPr lang="en-US" dirty="0"/>
          </a:p>
        </p:txBody>
      </p:sp>
      <p:sp>
        <p:nvSpPr>
          <p:cNvPr id="4" name="Slide Number Placeholder 3"/>
          <p:cNvSpPr>
            <a:spLocks noGrp="1"/>
          </p:cNvSpPr>
          <p:nvPr>
            <p:ph type="sldNum" sz="quarter" idx="5"/>
          </p:nvPr>
        </p:nvSpPr>
        <p:spPr/>
        <p:txBody>
          <a:bodyPr/>
          <a:lstStyle/>
          <a:p>
            <a:fld id="{AB40D8CB-5069-48A5-A31E-868D687857E9}" type="slidenum">
              <a:rPr lang="en-US" smtClean="0"/>
              <a:t>22</a:t>
            </a:fld>
            <a:endParaRPr lang="en-US"/>
          </a:p>
        </p:txBody>
      </p:sp>
    </p:spTree>
    <p:extLst>
      <p:ext uri="{BB962C8B-B14F-4D97-AF65-F5344CB8AC3E}">
        <p14:creationId xmlns:p14="http://schemas.microsoft.com/office/powerpoint/2010/main" val="6418771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b="0" dirty="0"/>
              <a:t>The entire bar represents the total variance of a variable, which is always standardized to 1 in factor analysis.</a:t>
            </a:r>
          </a:p>
          <a:p>
            <a:pPr>
              <a:buFont typeface="Arial" panose="020B0604020202020204" pitchFamily="34" charset="0"/>
              <a:buChar char="•"/>
            </a:pPr>
            <a:r>
              <a:rPr lang="en-US" b="0" dirty="0"/>
              <a:t>That total variance has two parts:</a:t>
            </a:r>
            <a:br>
              <a:rPr lang="en-US" b="0" dirty="0"/>
            </a:br>
            <a:r>
              <a:rPr lang="en-US" b="0" dirty="0"/>
              <a:t>✔️ Common variance (green) → variance explained by the factor(s)</a:t>
            </a:r>
            <a:br>
              <a:rPr lang="en-US" b="0" dirty="0"/>
            </a:br>
            <a:r>
              <a:rPr lang="en-US" b="0" dirty="0"/>
              <a:t>❌ Unique variance (red) → variance that’s not explained by the factor model</a:t>
            </a:r>
          </a:p>
          <a:p>
            <a:pPr>
              <a:buFont typeface="Arial" panose="020B0604020202020204" pitchFamily="34" charset="0"/>
              <a:buChar char="•"/>
            </a:pPr>
            <a:r>
              <a:rPr lang="en-US" b="0" dirty="0"/>
              <a:t>Unique variance has two sub-parts:</a:t>
            </a:r>
            <a:br>
              <a:rPr lang="en-US" b="0" dirty="0"/>
            </a:br>
            <a:r>
              <a:rPr lang="en-US" b="0" dirty="0"/>
              <a:t>🔹 Specific variance: variance unique to that variable—not shared, but still meaningful</a:t>
            </a:r>
            <a:br>
              <a:rPr lang="en-US" b="0" dirty="0"/>
            </a:br>
            <a:r>
              <a:rPr lang="en-US" b="0" dirty="0"/>
              <a:t>🔹 Error variance: measurement error or randomness—basically noise</a:t>
            </a:r>
          </a:p>
          <a:p>
            <a:r>
              <a:rPr lang="en-US" b="0" dirty="0"/>
              <a:t>The communality is represented by h^2, which is the proportion of total variance that’s common, or:</a:t>
            </a:r>
          </a:p>
          <a:p>
            <a:endParaRPr lang="en-US" b="0" dirty="0"/>
          </a:p>
          <a:p>
            <a:r>
              <a:rPr lang="en-US" b="0" dirty="0"/>
              <a:t>So if a variable has a communality of 0.70, it means that 70% of its variance is explained by the factors, and the remaining 30% is unique or error.</a:t>
            </a:r>
          </a:p>
          <a:p>
            <a:r>
              <a:rPr lang="en-US" b="0" dirty="0"/>
              <a:t>Goal of FA:</a:t>
            </a:r>
            <a:br>
              <a:rPr lang="en-US" b="0" dirty="0"/>
            </a:br>
            <a:r>
              <a:rPr lang="en-US" b="0" dirty="0"/>
              <a:t>You want communalities to be high—that means your factors are doing a good job.</a:t>
            </a:r>
            <a:br>
              <a:rPr lang="en-US" b="0" dirty="0"/>
            </a:br>
            <a:r>
              <a:rPr lang="en-US" b="0" dirty="0"/>
              <a:t>If communalities are low, your model isn’t explaining much, and factor analysis might not be appropriate.</a:t>
            </a:r>
          </a:p>
          <a:p>
            <a:endParaRPr lang="en-US" dirty="0"/>
          </a:p>
        </p:txBody>
      </p:sp>
      <p:sp>
        <p:nvSpPr>
          <p:cNvPr id="4" name="Slide Number Placeholder 3"/>
          <p:cNvSpPr>
            <a:spLocks noGrp="1"/>
          </p:cNvSpPr>
          <p:nvPr>
            <p:ph type="sldNum" sz="quarter" idx="5"/>
          </p:nvPr>
        </p:nvSpPr>
        <p:spPr/>
        <p:txBody>
          <a:bodyPr/>
          <a:lstStyle/>
          <a:p>
            <a:fld id="{AB40D8CB-5069-48A5-A31E-868D687857E9}" type="slidenum">
              <a:rPr lang="en-US" smtClean="0"/>
              <a:t>26</a:t>
            </a:fld>
            <a:endParaRPr lang="en-US"/>
          </a:p>
        </p:txBody>
      </p:sp>
    </p:spTree>
    <p:extLst>
      <p:ext uri="{BB962C8B-B14F-4D97-AF65-F5344CB8AC3E}">
        <p14:creationId xmlns:p14="http://schemas.microsoft.com/office/powerpoint/2010/main" val="22063457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too few factors are retained, then important information is lost and important factors may be neglected</a:t>
            </a:r>
          </a:p>
          <a:p>
            <a:r>
              <a:rPr lang="en-US" dirty="0"/>
              <a:t>Remember the goal is parsimony</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143CBBE-8647-4FF0-BB78-44590B58933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503485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This isn’t just a numbers game—some of these decisions are statistical, but others require judgment and context.</a:t>
            </a:r>
          </a:p>
          <a:p>
            <a:pPr>
              <a:buFont typeface="Arial" panose="020B0604020202020204" pitchFamily="34" charset="0"/>
              <a:buChar char="•"/>
            </a:pPr>
            <a:r>
              <a:rPr lang="en-US" b="0" dirty="0"/>
              <a:t>A priori criterion</a:t>
            </a:r>
            <a:br>
              <a:rPr lang="en-US" b="0" dirty="0"/>
            </a:br>
            <a:r>
              <a:rPr lang="en-US" b="0" dirty="0"/>
              <a:t>Sometimes, </a:t>
            </a:r>
            <a:r>
              <a:rPr lang="en-US" b="1" dirty="0"/>
              <a:t>theory</a:t>
            </a:r>
            <a:r>
              <a:rPr lang="en-US" b="0" dirty="0"/>
              <a:t> tells you how many factors to expect. If you're testing a validated construct (e.g., Big Five personality), you might already know what you're looking for.</a:t>
            </a:r>
          </a:p>
          <a:p>
            <a:pPr>
              <a:buFont typeface="Arial" panose="020B0604020202020204" pitchFamily="34" charset="0"/>
              <a:buChar char="•"/>
            </a:pPr>
            <a:r>
              <a:rPr lang="en-US" b="0" dirty="0"/>
              <a:t>Scree plot</a:t>
            </a:r>
            <a:br>
              <a:rPr lang="en-US" b="0" dirty="0"/>
            </a:br>
            <a:r>
              <a:rPr lang="en-US" b="0" dirty="0"/>
              <a:t>This visual shows the “elbow” where eigenvalues drop off sharply. You look for the point where the curve flattens—everything before that might be meaningful. After? Probably noise.</a:t>
            </a:r>
          </a:p>
          <a:p>
            <a:pPr>
              <a:buFont typeface="Arial" panose="020B0604020202020204" pitchFamily="34" charset="0"/>
              <a:buChar char="•"/>
            </a:pPr>
            <a:r>
              <a:rPr lang="en-US" b="0" dirty="0"/>
              <a:t>Kaiser’s rule</a:t>
            </a:r>
            <a:br>
              <a:rPr lang="en-US" b="0" dirty="0"/>
            </a:br>
            <a:r>
              <a:rPr lang="en-US" b="0" dirty="0"/>
              <a:t>Keep factors with eigenvalues &gt; 1. Why? Because each variable contributes 1 unit of variance—so a factor should explain </a:t>
            </a:r>
            <a:r>
              <a:rPr lang="en-US" b="0" i="1" dirty="0"/>
              <a:t>at least</a:t>
            </a:r>
            <a:r>
              <a:rPr lang="en-US" b="0" dirty="0"/>
              <a:t> as much as a single variable to be worth keeping.</a:t>
            </a:r>
          </a:p>
          <a:p>
            <a:pPr>
              <a:buFont typeface="Arial" panose="020B0604020202020204" pitchFamily="34" charset="0"/>
              <a:buChar char="•"/>
            </a:pPr>
            <a:r>
              <a:rPr lang="en-US" b="0" dirty="0"/>
              <a:t>Parallel analysis</a:t>
            </a:r>
            <a:br>
              <a:rPr lang="en-US" b="0" dirty="0"/>
            </a:br>
            <a:r>
              <a:rPr lang="en-US" b="0" dirty="0"/>
              <a:t>A more robust method: it compares your real data to random data. If your factor explains more variance than what you'd see by chance, it's worth keeping. Gold standard in modern FA.</a:t>
            </a:r>
          </a:p>
          <a:p>
            <a:pPr>
              <a:buFont typeface="Arial" panose="020B0604020202020204" pitchFamily="34" charset="0"/>
              <a:buChar char="•"/>
            </a:pPr>
            <a:r>
              <a:rPr lang="en-US" b="0" dirty="0"/>
              <a:t>Number of variables per factor</a:t>
            </a:r>
            <a:br>
              <a:rPr lang="en-US" b="0" dirty="0"/>
            </a:br>
            <a:r>
              <a:rPr lang="en-US" b="0" dirty="0"/>
              <a:t>A factor defined by one or two variables isn’t stable. You typically want at least 3–4 strong loadings to consider a factor reliable.</a:t>
            </a:r>
          </a:p>
          <a:p>
            <a:pPr>
              <a:buFont typeface="Arial" panose="020B0604020202020204" pitchFamily="34" charset="0"/>
              <a:buChar char="•"/>
            </a:pPr>
            <a:r>
              <a:rPr lang="en-US" b="0" dirty="0"/>
              <a:t>Heterogeneity of respondents</a:t>
            </a:r>
            <a:br>
              <a:rPr lang="en-US" b="0" dirty="0"/>
            </a:br>
            <a:r>
              <a:rPr lang="en-US" b="0" dirty="0"/>
              <a:t>If your sample is diverse in key ways (age, education, context), you might find more factors. If it’s homogeneous, you may see fewer meaningful dimensions.</a:t>
            </a:r>
          </a:p>
          <a:p>
            <a:r>
              <a:rPr lang="en-US" b="0" dirty="0"/>
              <a:t>Bottom line: There’s no one-size-fits-all answer. Use the tools—but trust your theory and your data.</a:t>
            </a:r>
          </a:p>
          <a:p>
            <a:endParaRPr lang="en-US" dirty="0"/>
          </a:p>
        </p:txBody>
      </p:sp>
      <p:sp>
        <p:nvSpPr>
          <p:cNvPr id="4" name="Slide Number Placeholder 3"/>
          <p:cNvSpPr>
            <a:spLocks noGrp="1"/>
          </p:cNvSpPr>
          <p:nvPr>
            <p:ph type="sldNum" sz="quarter" idx="5"/>
          </p:nvPr>
        </p:nvSpPr>
        <p:spPr/>
        <p:txBody>
          <a:bodyPr/>
          <a:lstStyle/>
          <a:p>
            <a:fld id="{AB40D8CB-5069-48A5-A31E-868D687857E9}" type="slidenum">
              <a:rPr lang="en-US" smtClean="0"/>
              <a:t>29</a:t>
            </a:fld>
            <a:endParaRPr lang="en-US"/>
          </a:p>
        </p:txBody>
      </p:sp>
    </p:spTree>
    <p:extLst>
      <p:ext uri="{BB962C8B-B14F-4D97-AF65-F5344CB8AC3E}">
        <p14:creationId xmlns:p14="http://schemas.microsoft.com/office/powerpoint/2010/main" val="15205106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How it works</a:t>
            </a:r>
            <a:r>
              <a:rPr lang="en-US" dirty="0"/>
              <a:t>:</a:t>
            </a:r>
            <a:br>
              <a:rPr lang="en-US" dirty="0"/>
            </a:br>
            <a:r>
              <a:rPr lang="en-US" dirty="0"/>
              <a:t>Parallel analysis compares your data’s eigenvalues to those generated from </a:t>
            </a:r>
            <a:r>
              <a:rPr lang="en-US" b="1" dirty="0"/>
              <a:t>random data</a:t>
            </a:r>
            <a:r>
              <a:rPr lang="en-US" dirty="0"/>
              <a:t> of the same sample size and number of variables.</a:t>
            </a:r>
            <a:br>
              <a:rPr lang="en-US" dirty="0"/>
            </a:br>
            <a:r>
              <a:rPr lang="en-US" dirty="0"/>
              <a:t>This random dataset is created using </a:t>
            </a:r>
            <a:r>
              <a:rPr lang="en-US" b="1" dirty="0"/>
              <a:t>Monte Carlo simulation</a:t>
            </a:r>
            <a:r>
              <a:rPr lang="en-US" dirty="0"/>
              <a:t>—basically, simulating what eigenvalues would look like if the data had </a:t>
            </a:r>
            <a:r>
              <a:rPr lang="en-US" i="1" dirty="0"/>
              <a:t>no real structure</a:t>
            </a:r>
            <a:r>
              <a:rPr lang="en-US" dirty="0"/>
              <a:t>.</a:t>
            </a:r>
          </a:p>
          <a:p>
            <a:r>
              <a:rPr lang="en-US" b="1" dirty="0"/>
              <a:t>The key idea</a:t>
            </a:r>
            <a:r>
              <a:rPr lang="en-US" dirty="0"/>
              <a:t>:</a:t>
            </a:r>
          </a:p>
          <a:p>
            <a:r>
              <a:rPr lang="en-US" dirty="0"/>
              <a:t>A factor is retained only if the </a:t>
            </a:r>
            <a:r>
              <a:rPr lang="en-US" b="1" dirty="0" err="1"/>
              <a:t>ith</a:t>
            </a:r>
            <a:r>
              <a:rPr lang="en-US" b="1" dirty="0"/>
              <a:t> eigenvalue</a:t>
            </a:r>
            <a:r>
              <a:rPr lang="en-US" dirty="0"/>
              <a:t> from your actual data is </a:t>
            </a:r>
            <a:r>
              <a:rPr lang="en-US" b="1" dirty="0"/>
              <a:t>greater</a:t>
            </a:r>
            <a:r>
              <a:rPr lang="en-US" dirty="0"/>
              <a:t> than the </a:t>
            </a:r>
            <a:r>
              <a:rPr lang="en-US" b="1" dirty="0" err="1"/>
              <a:t>ith</a:t>
            </a:r>
            <a:r>
              <a:rPr lang="en-US" b="1" dirty="0"/>
              <a:t> eigenvalue</a:t>
            </a:r>
            <a:r>
              <a:rPr lang="en-US" dirty="0"/>
              <a:t> from the random (simulated) data.</a:t>
            </a:r>
          </a:p>
          <a:p>
            <a:r>
              <a:rPr lang="en-US" b="1" dirty="0"/>
              <a:t>Why it’s better</a:t>
            </a:r>
            <a:r>
              <a:rPr lang="en-US" dirty="0"/>
              <a:t>:</a:t>
            </a:r>
            <a:br>
              <a:rPr lang="en-US" dirty="0"/>
            </a:br>
            <a:r>
              <a:rPr lang="en-US" dirty="0"/>
              <a:t>Unlike the scree plot (which is subjective) or Kaiser’s rule (which can overestimate), </a:t>
            </a:r>
            <a:r>
              <a:rPr lang="en-US" b="1" dirty="0"/>
              <a:t>parallel analysis protects against chance</a:t>
            </a:r>
            <a:r>
              <a:rPr lang="en-US" dirty="0"/>
              <a:t>—it helps ensure you don’t keep factors that are just statistical noise.</a:t>
            </a:r>
          </a:p>
          <a:p>
            <a:r>
              <a:rPr lang="en-US" b="1" dirty="0"/>
              <a:t>Software note</a:t>
            </a:r>
            <a:r>
              <a:rPr lang="en-US" dirty="0"/>
              <a:t>:</a:t>
            </a:r>
            <a:br>
              <a:rPr lang="en-US" dirty="0"/>
            </a:br>
            <a:r>
              <a:rPr lang="en-US" dirty="0"/>
              <a:t>SPSS doesn’t include this method out of the box.</a:t>
            </a:r>
            <a:br>
              <a:rPr lang="en-US" dirty="0"/>
            </a:br>
            <a:r>
              <a:rPr lang="en-US" dirty="0"/>
              <a:t>But </a:t>
            </a:r>
            <a:r>
              <a:rPr lang="en-US" b="1" dirty="0"/>
              <a:t>JASP</a:t>
            </a:r>
            <a:r>
              <a:rPr lang="en-US" dirty="0"/>
              <a:t>, </a:t>
            </a:r>
            <a:r>
              <a:rPr lang="en-US" b="1" dirty="0"/>
              <a:t>R (e.g., psych::</a:t>
            </a:r>
            <a:r>
              <a:rPr lang="en-US" b="1" dirty="0" err="1"/>
              <a:t>fa.parallel</a:t>
            </a:r>
            <a:r>
              <a:rPr lang="en-US" b="1" dirty="0"/>
              <a:t>)</a:t>
            </a:r>
            <a:r>
              <a:rPr lang="en-US" dirty="0"/>
              <a:t>, or </a:t>
            </a:r>
            <a:r>
              <a:rPr lang="en-US" b="1" dirty="0" err="1"/>
              <a:t>Jamovi</a:t>
            </a:r>
            <a:r>
              <a:rPr lang="en-US" dirty="0"/>
              <a:t> can run parallel analysis easily.</a:t>
            </a:r>
          </a:p>
          <a:p>
            <a:endParaRPr lang="en-US" dirty="0"/>
          </a:p>
        </p:txBody>
      </p:sp>
      <p:sp>
        <p:nvSpPr>
          <p:cNvPr id="4" name="Slide Number Placeholder 3"/>
          <p:cNvSpPr>
            <a:spLocks noGrp="1"/>
          </p:cNvSpPr>
          <p:nvPr>
            <p:ph type="sldNum" sz="quarter" idx="5"/>
          </p:nvPr>
        </p:nvSpPr>
        <p:spPr/>
        <p:txBody>
          <a:bodyPr/>
          <a:lstStyle/>
          <a:p>
            <a:fld id="{AB40D8CB-5069-48A5-A31E-868D687857E9}" type="slidenum">
              <a:rPr lang="en-US" smtClean="0"/>
              <a:t>33</a:t>
            </a:fld>
            <a:endParaRPr lang="en-US"/>
          </a:p>
        </p:txBody>
      </p:sp>
    </p:spTree>
    <p:extLst>
      <p:ext uri="{BB962C8B-B14F-4D97-AF65-F5344CB8AC3E}">
        <p14:creationId xmlns:p14="http://schemas.microsoft.com/office/powerpoint/2010/main" val="14959945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Factor analysis is an iterative process—we don’t stop at the first solution the software gives us.</a:t>
            </a:r>
          </a:p>
          <a:p>
            <a:pPr>
              <a:buFont typeface="Arial" panose="020B0604020202020204" pitchFamily="34" charset="0"/>
              <a:buChar char="•"/>
            </a:pPr>
            <a:r>
              <a:rPr lang="en-US" b="0" dirty="0"/>
              <a:t>Step 1: Initial unrotated solution</a:t>
            </a:r>
            <a:br>
              <a:rPr lang="en-US" b="0" dirty="0"/>
            </a:br>
            <a:r>
              <a:rPr lang="en-US" b="0" dirty="0"/>
              <a:t>The software starts by estimating the unrotated factor matrix—this is the raw set of loadings that explains the most variance possible.</a:t>
            </a:r>
            <a:br>
              <a:rPr lang="en-US" b="0" dirty="0"/>
            </a:br>
            <a:r>
              <a:rPr lang="en-US" b="0" dirty="0"/>
              <a:t>It’s mathematically optimal, but often messy: variables may load on multiple factors, and the structure is hard to interpret.</a:t>
            </a:r>
          </a:p>
          <a:p>
            <a:pPr>
              <a:buFont typeface="Arial" panose="020B0604020202020204" pitchFamily="34" charset="0"/>
              <a:buChar char="•"/>
            </a:pPr>
            <a:r>
              <a:rPr lang="en-US" b="0" dirty="0"/>
              <a:t>It’s like taking a photo that's technically “complete,” but blurry—you can’t quite make out what’s in it.</a:t>
            </a:r>
          </a:p>
          <a:p>
            <a:pPr>
              <a:buFont typeface="Arial" panose="020B0604020202020204" pitchFamily="34" charset="0"/>
              <a:buChar char="•"/>
            </a:pPr>
            <a:r>
              <a:rPr lang="en-US" b="0" dirty="0"/>
              <a:t>Step 2: Rotation (puts the analysis into focus)</a:t>
            </a:r>
            <a:br>
              <a:rPr lang="en-US" b="0" dirty="0"/>
            </a:br>
            <a:r>
              <a:rPr lang="en-US" b="0" dirty="0"/>
              <a:t>Rotation is a mathematical adjustment that helps clarify the factor structure.</a:t>
            </a:r>
            <a:br>
              <a:rPr lang="en-US" b="0" dirty="0"/>
            </a:br>
            <a:r>
              <a:rPr lang="en-US" b="0" dirty="0"/>
              <a:t>It doesn’t change the number of factors or the total variance explained—but it redistributes the variance across factors to make the picture clearer.</a:t>
            </a:r>
          </a:p>
          <a:p>
            <a:pPr>
              <a:buFont typeface="Arial" panose="020B0604020202020204" pitchFamily="34" charset="0"/>
              <a:buChar char="•"/>
            </a:pPr>
            <a:r>
              <a:rPr lang="en-US" b="0" dirty="0"/>
              <a:t>What rotation does:</a:t>
            </a:r>
            <a:br>
              <a:rPr lang="en-US" b="0" dirty="0"/>
            </a:br>
            <a:r>
              <a:rPr lang="en-US" b="0" dirty="0"/>
              <a:t>After rotation:</a:t>
            </a:r>
          </a:p>
          <a:p>
            <a:pPr marL="742950" lvl="1" indent="-285750">
              <a:buFont typeface="Arial" panose="020B0604020202020204" pitchFamily="34" charset="0"/>
              <a:buChar char="•"/>
            </a:pPr>
            <a:r>
              <a:rPr lang="en-US" b="0" dirty="0"/>
              <a:t>Each variable typically loads strongly on one factor and weakly on others</a:t>
            </a:r>
          </a:p>
          <a:p>
            <a:pPr marL="742950" lvl="1" indent="-285750">
              <a:buFont typeface="Arial" panose="020B0604020202020204" pitchFamily="34" charset="0"/>
              <a:buChar char="•"/>
            </a:pPr>
            <a:r>
              <a:rPr lang="en-US" b="0" dirty="0"/>
              <a:t>Factors become easier to label and interpret—because now the items grouped together actually make conceptual sense</a:t>
            </a:r>
          </a:p>
          <a:p>
            <a:pPr>
              <a:buFont typeface="Arial" panose="020B0604020202020204" pitchFamily="34" charset="0"/>
              <a:buChar char="•"/>
            </a:pPr>
            <a:r>
              <a:rPr lang="en-US" b="0" dirty="0"/>
              <a:t>Bottom line:</a:t>
            </a:r>
          </a:p>
          <a:p>
            <a:pPr>
              <a:buFont typeface="Arial" panose="020B0604020202020204" pitchFamily="34" charset="0"/>
              <a:buChar char="•"/>
            </a:pPr>
            <a:r>
              <a:rPr lang="en-US" b="0" dirty="0"/>
              <a:t>Always </a:t>
            </a:r>
            <a:r>
              <a:rPr lang="en-US" b="1" dirty="0"/>
              <a:t>interpret the rotated solution</a:t>
            </a:r>
            <a:r>
              <a:rPr lang="en-US" b="0" dirty="0"/>
              <a:t>. That’s the one that tells the clearest story.</a:t>
            </a:r>
          </a:p>
          <a:p>
            <a:endParaRPr lang="en-US" dirty="0"/>
          </a:p>
        </p:txBody>
      </p:sp>
      <p:sp>
        <p:nvSpPr>
          <p:cNvPr id="4" name="Slide Number Placeholder 3"/>
          <p:cNvSpPr>
            <a:spLocks noGrp="1"/>
          </p:cNvSpPr>
          <p:nvPr>
            <p:ph type="sldNum" sz="quarter" idx="5"/>
          </p:nvPr>
        </p:nvSpPr>
        <p:spPr/>
        <p:txBody>
          <a:bodyPr/>
          <a:lstStyle/>
          <a:p>
            <a:fld id="{AB40D8CB-5069-48A5-A31E-868D687857E9}" type="slidenum">
              <a:rPr lang="en-US" smtClean="0"/>
              <a:t>35</a:t>
            </a:fld>
            <a:endParaRPr lang="en-US"/>
          </a:p>
        </p:txBody>
      </p:sp>
    </p:spTree>
    <p:extLst>
      <p:ext uri="{BB962C8B-B14F-4D97-AF65-F5344CB8AC3E}">
        <p14:creationId xmlns:p14="http://schemas.microsoft.com/office/powerpoint/2010/main" val="1880648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143CBBE-8647-4FF0-BB78-44590B58933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474350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Factor analysis doesn’t stop at finding structure—it needs to make that structure interpretable. That’s where rotation comes in.</a:t>
            </a:r>
          </a:p>
          <a:p>
            <a:r>
              <a:rPr lang="en-US" b="0" dirty="0"/>
              <a:t>Top panel:</a:t>
            </a:r>
            <a:br>
              <a:rPr lang="en-US" b="0" dirty="0"/>
            </a:br>
            <a:r>
              <a:rPr lang="en-US" b="0" dirty="0"/>
              <a:t>This is the initial, unrotated factor solution.</a:t>
            </a:r>
            <a:br>
              <a:rPr lang="en-US" b="0" dirty="0"/>
            </a:br>
            <a:r>
              <a:rPr lang="en-US" b="0" dirty="0"/>
              <a:t>The axes (factors) are aligned to explain the maximum amount of variance, but interpretation is difficult.</a:t>
            </a:r>
            <a:br>
              <a:rPr lang="en-US" b="0" dirty="0"/>
            </a:br>
            <a:r>
              <a:rPr lang="en-US" b="0" dirty="0"/>
              <a:t>Many points (representing variables) are scattered across multiple quadrants—loading on more than one factor. It’s messy, and hard to tell what belongs where.</a:t>
            </a:r>
          </a:p>
          <a:p>
            <a:r>
              <a:rPr lang="en-US" b="0" dirty="0"/>
              <a:t>Bottom panel:</a:t>
            </a:r>
            <a:br>
              <a:rPr lang="en-US" b="0" dirty="0"/>
            </a:br>
            <a:r>
              <a:rPr lang="en-US" b="0" dirty="0"/>
              <a:t>After rotation, the axes have been reoriented and appear in red.</a:t>
            </a:r>
            <a:br>
              <a:rPr lang="en-US" b="0" dirty="0"/>
            </a:br>
            <a:r>
              <a:rPr lang="en-US" b="0" dirty="0"/>
              <a:t>Now, each variable lies closer to just one factor axis, rather than being split between both.</a:t>
            </a:r>
          </a:p>
          <a:p>
            <a:r>
              <a:rPr lang="en-US" b="0" dirty="0"/>
              <a:t>This creates a cleaner, more interpretable factor structure—where variables group more clearly and meaningfully, making it easier to label the factors.</a:t>
            </a:r>
          </a:p>
          <a:p>
            <a:r>
              <a:rPr lang="en-US" b="0" dirty="0"/>
              <a:t>The goal of rotation is simple:</a:t>
            </a:r>
            <a:br>
              <a:rPr lang="en-US" b="0" dirty="0"/>
            </a:br>
            <a:r>
              <a:rPr lang="en-US" b="0" dirty="0"/>
              <a:t>Help us say with confidence:</a:t>
            </a:r>
            <a:br>
              <a:rPr lang="en-US" b="0" dirty="0"/>
            </a:br>
            <a:r>
              <a:rPr lang="en-US" b="0" i="1" dirty="0"/>
              <a:t>“These items belong to Factor 1. Those belong to Factor 2.”</a:t>
            </a:r>
            <a:endParaRPr lang="en-US" b="0" dirty="0"/>
          </a:p>
          <a:p>
            <a:r>
              <a:rPr lang="en-US" b="0" dirty="0"/>
              <a:t>We haven’t changed the data—just the perspective.</a:t>
            </a:r>
            <a:br>
              <a:rPr lang="en-US" b="0" dirty="0"/>
            </a:br>
            <a:r>
              <a:rPr lang="en-US" b="0" dirty="0"/>
              <a:t>👉 Rotation reorients the axes to make the latent structure clearer and easier to interpret.</a:t>
            </a:r>
          </a:p>
          <a:p>
            <a:endParaRPr lang="en-US" dirty="0"/>
          </a:p>
        </p:txBody>
      </p:sp>
      <p:sp>
        <p:nvSpPr>
          <p:cNvPr id="4" name="Slide Number Placeholder 3"/>
          <p:cNvSpPr>
            <a:spLocks noGrp="1"/>
          </p:cNvSpPr>
          <p:nvPr>
            <p:ph type="sldNum" sz="quarter" idx="5"/>
          </p:nvPr>
        </p:nvSpPr>
        <p:spPr/>
        <p:txBody>
          <a:bodyPr/>
          <a:lstStyle/>
          <a:p>
            <a:fld id="{AB40D8CB-5069-48A5-A31E-868D687857E9}" type="slidenum">
              <a:rPr lang="en-US" smtClean="0"/>
              <a:t>39</a:t>
            </a:fld>
            <a:endParaRPr lang="en-US"/>
          </a:p>
        </p:txBody>
      </p:sp>
    </p:spTree>
    <p:extLst>
      <p:ext uri="{BB962C8B-B14F-4D97-AF65-F5344CB8AC3E}">
        <p14:creationId xmlns:p14="http://schemas.microsoft.com/office/powerpoint/2010/main" val="23247886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FFFFFF"/>
                </a:solidFill>
              </a:rPr>
              <a:t>Ideally, each variable appears in only one column</a:t>
            </a:r>
          </a:p>
          <a:p>
            <a:r>
              <a:rPr lang="en-US" b="0" i="0" dirty="0">
                <a:solidFill>
                  <a:srgbClr val="3B444F"/>
                </a:solidFill>
                <a:effectLst/>
                <a:latin typeface="open-sans"/>
              </a:rPr>
              <a:t>Rotation involves defining new coordinate systems so that when we rotate everything, the points fall close to the vertices (end points) of the new axes.</a:t>
            </a:r>
            <a:endParaRPr lang="en-US" dirty="0"/>
          </a:p>
        </p:txBody>
      </p:sp>
      <p:sp>
        <p:nvSpPr>
          <p:cNvPr id="4" name="Slide Number Placeholder 3"/>
          <p:cNvSpPr>
            <a:spLocks noGrp="1"/>
          </p:cNvSpPr>
          <p:nvPr>
            <p:ph type="sldNum" sz="quarter" idx="5"/>
          </p:nvPr>
        </p:nvSpPr>
        <p:spPr/>
        <p:txBody>
          <a:bodyPr/>
          <a:lstStyle/>
          <a:p>
            <a:fld id="{796D0D24-7CDE-4B3B-83FD-38D4FBFEDC07}" type="slidenum">
              <a:rPr lang="en-US" smtClean="0"/>
              <a:t>40</a:t>
            </a:fld>
            <a:endParaRPr lang="en-US"/>
          </a:p>
        </p:txBody>
      </p:sp>
    </p:spTree>
    <p:extLst>
      <p:ext uri="{BB962C8B-B14F-4D97-AF65-F5344CB8AC3E}">
        <p14:creationId xmlns:p14="http://schemas.microsoft.com/office/powerpoint/2010/main" val="9772107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FFFFFF"/>
                </a:solidFill>
              </a:rPr>
              <a:t>Ideally, each variable appears in only one column</a:t>
            </a:r>
          </a:p>
          <a:p>
            <a:r>
              <a:rPr lang="en-US" b="0" i="0" dirty="0">
                <a:solidFill>
                  <a:srgbClr val="3B444F"/>
                </a:solidFill>
                <a:effectLst/>
                <a:latin typeface="open-sans"/>
              </a:rPr>
              <a:t>Rotation involves defining new coordinate systems so that when we rotate everything, the points fall close to the vertices (end points) of the new axes.</a:t>
            </a:r>
            <a:endParaRPr lang="en-US" dirty="0"/>
          </a:p>
        </p:txBody>
      </p:sp>
      <p:sp>
        <p:nvSpPr>
          <p:cNvPr id="4" name="Slide Number Placeholder 3"/>
          <p:cNvSpPr>
            <a:spLocks noGrp="1"/>
          </p:cNvSpPr>
          <p:nvPr>
            <p:ph type="sldNum" sz="quarter" idx="5"/>
          </p:nvPr>
        </p:nvSpPr>
        <p:spPr/>
        <p:txBody>
          <a:bodyPr/>
          <a:lstStyle/>
          <a:p>
            <a:fld id="{796D0D24-7CDE-4B3B-83FD-38D4FBFEDC07}" type="slidenum">
              <a:rPr lang="en-US" smtClean="0"/>
              <a:t>41</a:t>
            </a:fld>
            <a:endParaRPr lang="en-US"/>
          </a:p>
        </p:txBody>
      </p:sp>
    </p:spTree>
    <p:extLst>
      <p:ext uri="{BB962C8B-B14F-4D97-AF65-F5344CB8AC3E}">
        <p14:creationId xmlns:p14="http://schemas.microsoft.com/office/powerpoint/2010/main" val="16332827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 Left: Visual Comparison</a:t>
            </a:r>
          </a:p>
          <a:p>
            <a:pPr>
              <a:buFont typeface="Arial" panose="020B0604020202020204" pitchFamily="34" charset="0"/>
              <a:buChar char="•"/>
            </a:pPr>
            <a:r>
              <a:rPr lang="en-US" b="0" dirty="0"/>
              <a:t>Top diagram: Orthogonal Rotation</a:t>
            </a:r>
          </a:p>
          <a:p>
            <a:pPr marL="742950" lvl="1" indent="-285750">
              <a:buFont typeface="Arial" panose="020B0604020202020204" pitchFamily="34" charset="0"/>
              <a:buChar char="•"/>
            </a:pPr>
            <a:r>
              <a:rPr lang="en-US" b="0" dirty="0"/>
              <a:t>The factor axes stay at 90° angles (uncorrelated).</a:t>
            </a:r>
          </a:p>
          <a:p>
            <a:pPr marL="742950" lvl="1" indent="-285750">
              <a:buFont typeface="Arial" panose="020B0604020202020204" pitchFamily="34" charset="0"/>
              <a:buChar char="•"/>
            </a:pPr>
            <a:r>
              <a:rPr lang="en-US" b="0" dirty="0"/>
              <a:t>Variables (V1–V5) are repositioned to align better with one factor, without letting the factors correlate.</a:t>
            </a:r>
          </a:p>
          <a:p>
            <a:pPr marL="742950" lvl="1" indent="-285750">
              <a:buFont typeface="Arial" panose="020B0604020202020204" pitchFamily="34" charset="0"/>
              <a:buChar char="•"/>
            </a:pPr>
            <a:r>
              <a:rPr lang="en-US" b="0" dirty="0"/>
              <a:t>This rotation is rigid—it assumes the underlying constructs are independent.</a:t>
            </a:r>
          </a:p>
          <a:p>
            <a:pPr>
              <a:buFont typeface="Arial" panose="020B0604020202020204" pitchFamily="34" charset="0"/>
              <a:buChar char="•"/>
            </a:pPr>
            <a:r>
              <a:rPr lang="en-US" b="0" dirty="0"/>
              <a:t>Bottom diagram: Oblique Rotation</a:t>
            </a:r>
          </a:p>
          <a:p>
            <a:pPr marL="742950" lvl="1" indent="-285750">
              <a:buFont typeface="Arial" panose="020B0604020202020204" pitchFamily="34" charset="0"/>
              <a:buChar char="•"/>
            </a:pPr>
            <a:r>
              <a:rPr lang="en-US" b="0" dirty="0"/>
              <a:t>The axes are allowed to tilt toward each other (not necessarily 90°).</a:t>
            </a:r>
          </a:p>
          <a:p>
            <a:pPr marL="742950" lvl="1" indent="-285750">
              <a:buFont typeface="Arial" panose="020B0604020202020204" pitchFamily="34" charset="0"/>
              <a:buChar char="•"/>
            </a:pPr>
            <a:r>
              <a:rPr lang="en-US" b="0" dirty="0"/>
              <a:t>This allows the factors to correlate, which is often more realistic in social science data (e.g., depression and anxiety).</a:t>
            </a:r>
          </a:p>
          <a:p>
            <a:r>
              <a:rPr lang="en-US" b="0" dirty="0"/>
              <a:t>Oblique rotation gives you a more flexible, and often more accurate, picture of how variables relate to correlated constructs.</a:t>
            </a:r>
          </a:p>
          <a:p>
            <a:r>
              <a:rPr lang="en-US" b="0" dirty="0"/>
              <a:t>🔹 Right: Table of Loadings Before and After Rotation</a:t>
            </a:r>
          </a:p>
          <a:p>
            <a:pPr>
              <a:buFont typeface="Arial" panose="020B0604020202020204" pitchFamily="34" charset="0"/>
              <a:buChar char="•"/>
            </a:pPr>
            <a:r>
              <a:rPr lang="en-US" b="0" dirty="0"/>
              <a:t>Unrotated factor loadings are messy—each variable loads on both factors to some degree.</a:t>
            </a:r>
          </a:p>
          <a:p>
            <a:pPr>
              <a:buFont typeface="Arial" panose="020B0604020202020204" pitchFamily="34" charset="0"/>
              <a:buChar char="•"/>
            </a:pPr>
            <a:r>
              <a:rPr lang="en-US" b="0" dirty="0"/>
              <a:t>Rotated loadings (highlighted) show the improvement:</a:t>
            </a:r>
            <a:br>
              <a:rPr lang="en-US" b="0" dirty="0"/>
            </a:br>
            <a:r>
              <a:rPr lang="en-US" b="0" dirty="0"/>
              <a:t>Now, each variable loads strongly on one factor and weakly on the other, making interpretation straightforward.</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143CBBE-8647-4FF0-BB78-44590B58933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62128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Factor loadings are the </a:t>
            </a:r>
            <a:r>
              <a:rPr lang="en-US" b="1" dirty="0"/>
              <a:t>core output</a:t>
            </a:r>
            <a:r>
              <a:rPr lang="en-US" dirty="0"/>
              <a:t> of factor analysis. They tell us </a:t>
            </a:r>
            <a:r>
              <a:rPr lang="en-US" b="1" dirty="0"/>
              <a:t>how strongly each variable is associated with each factor</a:t>
            </a:r>
            <a:r>
              <a:rPr lang="en-US" dirty="0"/>
              <a:t>—like a correlation between the item and the underlying dimension.</a:t>
            </a:r>
          </a:p>
          <a:p>
            <a:pPr>
              <a:buFont typeface="Arial" panose="020B0604020202020204" pitchFamily="34" charset="0"/>
              <a:buChar char="•"/>
            </a:pPr>
            <a:r>
              <a:rPr lang="en-US" b="1" dirty="0"/>
              <a:t>Magnitude matters</a:t>
            </a:r>
            <a:r>
              <a:rPr lang="en-US" dirty="0"/>
              <a:t>:</a:t>
            </a:r>
            <a:br>
              <a:rPr lang="en-US" dirty="0"/>
            </a:br>
            <a:r>
              <a:rPr lang="en-US" dirty="0"/>
              <a:t>Loadings </a:t>
            </a:r>
            <a:r>
              <a:rPr lang="en-US" b="1" dirty="0"/>
              <a:t>≥ .30</a:t>
            </a:r>
            <a:r>
              <a:rPr lang="en-US" dirty="0"/>
              <a:t> are usually considered meaningful.</a:t>
            </a:r>
            <a:br>
              <a:rPr lang="en-US" dirty="0"/>
            </a:br>
            <a:r>
              <a:rPr lang="en-US" b="1" dirty="0"/>
              <a:t>≥ .40</a:t>
            </a:r>
            <a:r>
              <a:rPr lang="en-US" dirty="0"/>
              <a:t> is better, and </a:t>
            </a:r>
            <a:r>
              <a:rPr lang="en-US" b="1" dirty="0"/>
              <a:t>closer to 1.0</a:t>
            </a:r>
            <a:r>
              <a:rPr lang="en-US" dirty="0"/>
              <a:t> means a stronger contribution to that factor.</a:t>
            </a:r>
          </a:p>
          <a:p>
            <a:pPr>
              <a:buFont typeface="Arial" panose="020B0604020202020204" pitchFamily="34" charset="0"/>
              <a:buChar char="•"/>
            </a:pPr>
            <a:r>
              <a:rPr lang="en-US" b="1" dirty="0"/>
              <a:t>What does a loading mean?</a:t>
            </a:r>
            <a:br>
              <a:rPr lang="en-US" dirty="0"/>
            </a:br>
            <a:r>
              <a:rPr lang="en-US" dirty="0"/>
              <a:t>If a variable loads </a:t>
            </a:r>
            <a:r>
              <a:rPr lang="en-US" b="1" dirty="0"/>
              <a:t>.60</a:t>
            </a:r>
            <a:r>
              <a:rPr lang="en-US" dirty="0"/>
              <a:t> on a factor, then:</a:t>
            </a:r>
          </a:p>
          <a:p>
            <a:pPr>
              <a:buFont typeface="Arial" panose="020B0604020202020204" pitchFamily="34" charset="0"/>
              <a:buChar char="•"/>
            </a:pPr>
            <a:r>
              <a:rPr lang="en-US" dirty="0"/>
              <a:t>.602=.36.60^2 = .36.602=.36 → </a:t>
            </a:r>
            <a:r>
              <a:rPr lang="en-US" b="1" dirty="0"/>
              <a:t>36% of that variable’s variance is explained by the factor</a:t>
            </a:r>
            <a:br>
              <a:rPr lang="en-US" dirty="0"/>
            </a:br>
            <a:r>
              <a:rPr lang="en-US" dirty="0"/>
              <a:t>This is called the </a:t>
            </a:r>
            <a:r>
              <a:rPr lang="en-US" b="1" dirty="0"/>
              <a:t>communality</a:t>
            </a:r>
            <a:r>
              <a:rPr lang="en-US" dirty="0"/>
              <a:t> contribution from that variable to that factor.</a:t>
            </a:r>
          </a:p>
          <a:p>
            <a:pPr>
              <a:buFont typeface="Arial" panose="020B0604020202020204" pitchFamily="34" charset="0"/>
              <a:buChar char="•"/>
            </a:pPr>
            <a:r>
              <a:rPr lang="en-US" b="1" dirty="0"/>
              <a:t>Ideal case (that never quite happens):</a:t>
            </a:r>
            <a:br>
              <a:rPr lang="en-US" dirty="0"/>
            </a:br>
            <a:r>
              <a:rPr lang="en-US" dirty="0"/>
              <a:t>You want each variable to have </a:t>
            </a:r>
            <a:r>
              <a:rPr lang="en-US" b="1" dirty="0"/>
              <a:t>one strong loading on a single factor</a:t>
            </a:r>
            <a:r>
              <a:rPr lang="en-US" dirty="0"/>
              <a:t> and near-zero on all others.</a:t>
            </a:r>
            <a:br>
              <a:rPr lang="en-US" dirty="0"/>
            </a:br>
            <a:r>
              <a:rPr lang="en-US" dirty="0"/>
              <a:t>But in the real world? Cross-loadings happen—and that’s why rotation helps.</a:t>
            </a:r>
          </a:p>
          <a:p>
            <a:pPr>
              <a:buFont typeface="Arial" panose="020B0604020202020204" pitchFamily="34" charset="0"/>
              <a:buChar char="•"/>
            </a:pPr>
            <a:r>
              <a:rPr lang="en-US" b="1" dirty="0"/>
              <a:t>Negative loadings are okay</a:t>
            </a:r>
            <a:r>
              <a:rPr lang="en-US" dirty="0"/>
              <a:t>:</a:t>
            </a:r>
            <a:br>
              <a:rPr lang="en-US" dirty="0"/>
            </a:br>
            <a:r>
              <a:rPr lang="en-US" dirty="0"/>
              <a:t>They just mean the variable moves </a:t>
            </a:r>
            <a:r>
              <a:rPr lang="en-US" b="1" dirty="0"/>
              <a:t>inversely</a:t>
            </a:r>
            <a:r>
              <a:rPr lang="en-US" dirty="0"/>
              <a:t> with the factor. You can </a:t>
            </a:r>
            <a:r>
              <a:rPr lang="en-US" b="1" dirty="0"/>
              <a:t>recode the item</a:t>
            </a:r>
            <a:r>
              <a:rPr lang="en-US" dirty="0"/>
              <a:t> for easier interpretation, but it’s not wrong.</a:t>
            </a:r>
          </a:p>
          <a:p>
            <a:pPr>
              <a:buFont typeface="Arial" panose="020B0604020202020204" pitchFamily="34" charset="0"/>
              <a:buChar char="•"/>
            </a:pPr>
            <a:r>
              <a:rPr lang="en-US" b="1" dirty="0"/>
              <a:t>Bipolar factors</a:t>
            </a:r>
            <a:r>
              <a:rPr lang="en-US" dirty="0"/>
              <a:t>:</a:t>
            </a:r>
            <a:br>
              <a:rPr lang="en-US" dirty="0"/>
            </a:br>
            <a:r>
              <a:rPr lang="en-US" dirty="0"/>
              <a:t>Sometimes a factor is defined by </a:t>
            </a:r>
            <a:r>
              <a:rPr lang="en-US" b="1" dirty="0"/>
              <a:t>positive loadings on one set of variables</a:t>
            </a:r>
            <a:r>
              <a:rPr lang="en-US" dirty="0"/>
              <a:t> and </a:t>
            </a:r>
            <a:r>
              <a:rPr lang="en-US" b="1" dirty="0"/>
              <a:t>negative loadings on another</a:t>
            </a:r>
            <a:r>
              <a:rPr lang="en-US" dirty="0"/>
              <a:t>.</a:t>
            </a:r>
            <a:br>
              <a:rPr lang="en-US" dirty="0"/>
            </a:br>
            <a:r>
              <a:rPr lang="en-US" dirty="0"/>
              <a:t>This means the factor represents a </a:t>
            </a:r>
            <a:r>
              <a:rPr lang="en-US" b="1" dirty="0"/>
              <a:t>spectrum or contrast</a:t>
            </a:r>
            <a:r>
              <a:rPr lang="en-US" dirty="0"/>
              <a:t>—like “introversion vs. extraversion.”</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143CBBE-8647-4FF0-BB78-44590B58933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05816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Sometimes, identifying the factors isn’t the end of the road—you may want to </a:t>
            </a:r>
            <a:r>
              <a:rPr lang="en-US" b="1" dirty="0"/>
              <a:t>use them as variables</a:t>
            </a:r>
            <a:r>
              <a:rPr lang="en-US" dirty="0"/>
              <a:t> in another analysis (like regression, clustering, or SEM).</a:t>
            </a:r>
          </a:p>
          <a:p>
            <a:pPr>
              <a:buFont typeface="Arial" panose="020B0604020202020204" pitchFamily="34" charset="0"/>
              <a:buChar char="•"/>
            </a:pPr>
            <a:r>
              <a:rPr lang="en-US" b="1" dirty="0"/>
              <a:t>Factor scores</a:t>
            </a:r>
            <a:r>
              <a:rPr lang="en-US" dirty="0"/>
              <a:t> are numeric values representing how strongly </a:t>
            </a:r>
            <a:r>
              <a:rPr lang="en-US" b="1" dirty="0"/>
              <a:t>each case (participant)</a:t>
            </a:r>
            <a:r>
              <a:rPr lang="en-US" dirty="0"/>
              <a:t> scores on a given factor.</a:t>
            </a:r>
          </a:p>
          <a:p>
            <a:pPr>
              <a:buFont typeface="Arial" panose="020B0604020202020204" pitchFamily="34" charset="0"/>
              <a:buChar char="•"/>
            </a:pPr>
            <a:r>
              <a:rPr lang="en-US" dirty="0"/>
              <a:t>Think of it as: </a:t>
            </a:r>
            <a:r>
              <a:rPr lang="en-US" i="1" dirty="0"/>
              <a:t>How much of Factor 1 does this person have?</a:t>
            </a:r>
            <a:endParaRPr lang="en-US" dirty="0"/>
          </a:p>
          <a:p>
            <a:pPr>
              <a:buFont typeface="Arial" panose="020B0604020202020204" pitchFamily="34" charset="0"/>
              <a:buChar char="•"/>
            </a:pPr>
            <a:r>
              <a:rPr lang="en-US" b="1" dirty="0"/>
              <a:t>SPSS makes this easy</a:t>
            </a:r>
            <a:r>
              <a:rPr lang="en-US" dirty="0"/>
              <a:t>:</a:t>
            </a:r>
            <a:br>
              <a:rPr lang="en-US" dirty="0"/>
            </a:br>
            <a:r>
              <a:rPr lang="en-US" dirty="0"/>
              <a:t>When you extract factors, SPSS can </a:t>
            </a:r>
            <a:r>
              <a:rPr lang="en-US" b="1" dirty="0"/>
              <a:t>append new variables</a:t>
            </a:r>
            <a:r>
              <a:rPr lang="en-US" dirty="0"/>
              <a:t> to your dataset—one for each factor.</a:t>
            </a:r>
          </a:p>
          <a:p>
            <a:pPr>
              <a:buFont typeface="Arial" panose="020B0604020202020204" pitchFamily="34" charset="0"/>
              <a:buChar char="•"/>
            </a:pPr>
            <a:r>
              <a:rPr lang="en-US" b="1" dirty="0"/>
              <a:t>If using oblique rotation</a:t>
            </a:r>
            <a:r>
              <a:rPr lang="en-US" dirty="0"/>
              <a:t>, select the </a:t>
            </a:r>
            <a:r>
              <a:rPr lang="en-US" b="1" dirty="0"/>
              <a:t>regression method</a:t>
            </a:r>
            <a:r>
              <a:rPr lang="en-US" dirty="0"/>
              <a:t> for calculating scores.</a:t>
            </a:r>
            <a:br>
              <a:rPr lang="en-US" dirty="0"/>
            </a:br>
            <a:r>
              <a:rPr lang="en-US" dirty="0"/>
              <a:t>This ensures the factor score estimates match the rotated structure.</a:t>
            </a:r>
          </a:p>
          <a:p>
            <a:pPr>
              <a:buFont typeface="Arial" panose="020B0604020202020204" pitchFamily="34" charset="0"/>
              <a:buChar char="•"/>
            </a:pPr>
            <a:r>
              <a:rPr lang="en-US" dirty="0"/>
              <a:t>The resulting variables are:</a:t>
            </a:r>
          </a:p>
          <a:p>
            <a:pPr marL="742950" lvl="1" indent="-285750">
              <a:buFont typeface="Arial" panose="020B0604020202020204" pitchFamily="34" charset="0"/>
              <a:buChar char="•"/>
            </a:pPr>
            <a:r>
              <a:rPr lang="en-US" b="1" dirty="0"/>
              <a:t>Standardized</a:t>
            </a:r>
            <a:r>
              <a:rPr lang="en-US" dirty="0"/>
              <a:t> (mean = 0, variance = 1)</a:t>
            </a:r>
          </a:p>
          <a:p>
            <a:pPr marL="742950" lvl="1" indent="-285750">
              <a:buFont typeface="Arial" panose="020B0604020202020204" pitchFamily="34" charset="0"/>
              <a:buChar char="•"/>
            </a:pPr>
            <a:r>
              <a:rPr lang="en-US" dirty="0"/>
              <a:t>Ready to use as </a:t>
            </a:r>
            <a:r>
              <a:rPr lang="en-US" b="1" dirty="0"/>
              <a:t>predictors or outcomes</a:t>
            </a:r>
            <a:r>
              <a:rPr lang="en-US" dirty="0"/>
              <a:t> in other analyses</a:t>
            </a:r>
          </a:p>
          <a:p>
            <a:r>
              <a:rPr lang="en-US" dirty="0"/>
              <a:t>For example, you might create a factor score for </a:t>
            </a:r>
            <a:r>
              <a:rPr lang="en-US" i="1" dirty="0"/>
              <a:t>“Neighborhood Risk”</a:t>
            </a:r>
            <a:r>
              <a:rPr lang="en-US" dirty="0"/>
              <a:t> and then use it to predict rates of violence, dropout, or poor health.</a:t>
            </a:r>
          </a:p>
          <a:p>
            <a:endParaRPr lang="en-US" dirty="0"/>
          </a:p>
        </p:txBody>
      </p:sp>
      <p:sp>
        <p:nvSpPr>
          <p:cNvPr id="4" name="Slide Number Placeholder 3"/>
          <p:cNvSpPr>
            <a:spLocks noGrp="1"/>
          </p:cNvSpPr>
          <p:nvPr>
            <p:ph type="sldNum" sz="quarter" idx="5"/>
          </p:nvPr>
        </p:nvSpPr>
        <p:spPr/>
        <p:txBody>
          <a:bodyPr/>
          <a:lstStyle/>
          <a:p>
            <a:fld id="{AB40D8CB-5069-48A5-A31E-868D687857E9}" type="slidenum">
              <a:rPr lang="en-US" smtClean="0"/>
              <a:t>47</a:t>
            </a:fld>
            <a:endParaRPr lang="en-US"/>
          </a:p>
        </p:txBody>
      </p:sp>
    </p:spTree>
    <p:extLst>
      <p:ext uri="{BB962C8B-B14F-4D97-AF65-F5344CB8AC3E}">
        <p14:creationId xmlns:p14="http://schemas.microsoft.com/office/powerpoint/2010/main" val="17243481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Factor analysis isn’t overly fragile, but it does rest on a few key assumptions. When these are violated, your solution can become unstable or misleading.</a:t>
            </a:r>
          </a:p>
          <a:p>
            <a:r>
              <a:rPr lang="en-US" dirty="0"/>
              <a:t>Let’s walk through the list:</a:t>
            </a:r>
          </a:p>
          <a:p>
            <a:pPr>
              <a:buFont typeface="Arial" panose="020B0604020202020204" pitchFamily="34" charset="0"/>
              <a:buChar char="•"/>
            </a:pPr>
            <a:r>
              <a:rPr lang="en-US" b="1" dirty="0"/>
              <a:t>Independence</a:t>
            </a:r>
            <a:r>
              <a:rPr lang="en-US" dirty="0"/>
              <a:t>:</a:t>
            </a:r>
            <a:br>
              <a:rPr lang="en-US" dirty="0"/>
            </a:br>
            <a:r>
              <a:rPr lang="en-US" dirty="0"/>
              <a:t>We assume observations (cases) are not dependent on one another.</a:t>
            </a:r>
          </a:p>
          <a:p>
            <a:pPr>
              <a:buFont typeface="Arial" panose="020B0604020202020204" pitchFamily="34" charset="0"/>
              <a:buChar char="•"/>
            </a:pPr>
            <a:r>
              <a:rPr lang="en-US" dirty="0"/>
              <a:t>Violations affect </a:t>
            </a:r>
            <a:r>
              <a:rPr lang="en-US" b="1" dirty="0"/>
              <a:t>standard errors and hypothesis tests</a:t>
            </a:r>
            <a:r>
              <a:rPr lang="en-US" dirty="0"/>
              <a:t>, making them less trustworthy.</a:t>
            </a:r>
          </a:p>
          <a:p>
            <a:pPr>
              <a:buFont typeface="Arial" panose="020B0604020202020204" pitchFamily="34" charset="0"/>
              <a:buChar char="•"/>
            </a:pPr>
            <a:r>
              <a:rPr lang="en-US" b="1" dirty="0"/>
              <a:t>Linearity</a:t>
            </a:r>
            <a:r>
              <a:rPr lang="en-US" dirty="0"/>
              <a:t>:</a:t>
            </a:r>
            <a:br>
              <a:rPr lang="en-US" dirty="0"/>
            </a:br>
            <a:r>
              <a:rPr lang="en-US" dirty="0"/>
              <a:t>FA models </a:t>
            </a:r>
            <a:r>
              <a:rPr lang="en-US" b="1" dirty="0"/>
              <a:t>shared variance</a:t>
            </a:r>
            <a:r>
              <a:rPr lang="en-US" dirty="0"/>
              <a:t>, so we need </a:t>
            </a:r>
            <a:r>
              <a:rPr lang="en-US" b="1" dirty="0"/>
              <a:t>linear relationships</a:t>
            </a:r>
            <a:r>
              <a:rPr lang="en-US" dirty="0"/>
              <a:t> among variables.</a:t>
            </a:r>
          </a:p>
          <a:p>
            <a:pPr>
              <a:buFont typeface="Arial" panose="020B0604020202020204" pitchFamily="34" charset="0"/>
              <a:buChar char="•"/>
            </a:pPr>
            <a:r>
              <a:rPr lang="en-US" dirty="0"/>
              <a:t>If non-linear patterns are present, </a:t>
            </a:r>
            <a:r>
              <a:rPr lang="en-US" b="1" dirty="0"/>
              <a:t>interpretability suffers</a:t>
            </a:r>
            <a:r>
              <a:rPr lang="en-US" dirty="0"/>
              <a:t>—you might miss the true structure.</a:t>
            </a:r>
          </a:p>
          <a:p>
            <a:pPr>
              <a:buFont typeface="Arial" panose="020B0604020202020204" pitchFamily="34" charset="0"/>
              <a:buChar char="•"/>
            </a:pPr>
            <a:r>
              <a:rPr lang="en-US" b="1" dirty="0"/>
              <a:t>No extreme outliers</a:t>
            </a:r>
            <a:r>
              <a:rPr lang="en-US" dirty="0"/>
              <a:t>:</a:t>
            </a:r>
            <a:br>
              <a:rPr lang="en-US" dirty="0"/>
            </a:br>
            <a:r>
              <a:rPr lang="en-US" dirty="0"/>
              <a:t>Outliers can </a:t>
            </a:r>
            <a:r>
              <a:rPr lang="en-US" b="1" dirty="0"/>
              <a:t>dominate the solution</a:t>
            </a:r>
            <a:r>
              <a:rPr lang="en-US" dirty="0"/>
              <a:t>, pulling factors in odd directions.</a:t>
            </a:r>
          </a:p>
          <a:p>
            <a:pPr>
              <a:buFont typeface="Arial" panose="020B0604020202020204" pitchFamily="34" charset="0"/>
              <a:buChar char="•"/>
            </a:pPr>
            <a:r>
              <a:rPr lang="en-US" dirty="0"/>
              <a:t>Always check distributions.</a:t>
            </a:r>
          </a:p>
          <a:p>
            <a:pPr>
              <a:buFont typeface="Arial" panose="020B0604020202020204" pitchFamily="34" charset="0"/>
              <a:buChar char="•"/>
            </a:pPr>
            <a:r>
              <a:rPr lang="en-US" b="1" dirty="0"/>
              <a:t>No extreme multicollinearity</a:t>
            </a:r>
            <a:r>
              <a:rPr lang="en-US" dirty="0"/>
              <a:t>:</a:t>
            </a:r>
            <a:br>
              <a:rPr lang="en-US" dirty="0"/>
            </a:br>
            <a:r>
              <a:rPr lang="en-US" dirty="0"/>
              <a:t>Some correlation is good (that’s the point of FA), but </a:t>
            </a:r>
            <a:r>
              <a:rPr lang="en-US" b="1" dirty="0"/>
              <a:t>extreme</a:t>
            </a:r>
            <a:r>
              <a:rPr lang="en-US" dirty="0"/>
              <a:t> multicollinearity makes it hard to tell variables apart.</a:t>
            </a:r>
          </a:p>
          <a:p>
            <a:pPr>
              <a:buFont typeface="Arial" panose="020B0604020202020204" pitchFamily="34" charset="0"/>
              <a:buChar char="•"/>
            </a:pPr>
            <a:r>
              <a:rPr lang="en-US" b="1" dirty="0"/>
              <a:t>Multivariate normality</a:t>
            </a:r>
            <a:r>
              <a:rPr lang="en-US" dirty="0"/>
              <a:t> (bolded for a reason):</a:t>
            </a:r>
            <a:br>
              <a:rPr lang="en-US" dirty="0"/>
            </a:br>
            <a:r>
              <a:rPr lang="en-US" dirty="0"/>
              <a:t>This is </a:t>
            </a:r>
            <a:r>
              <a:rPr lang="en-US" b="1" dirty="0"/>
              <a:t>not essential</a:t>
            </a:r>
            <a:r>
              <a:rPr lang="en-US" dirty="0"/>
              <a:t> unless you're using </a:t>
            </a:r>
            <a:r>
              <a:rPr lang="en-US" b="1" dirty="0"/>
              <a:t>Maximum Likelihood Estimation (MLE)</a:t>
            </a:r>
            <a:r>
              <a:rPr lang="en-US" dirty="0"/>
              <a:t> or have </a:t>
            </a:r>
            <a:r>
              <a:rPr lang="en-US" b="1" dirty="0"/>
              <a:t>small sample sizes</a:t>
            </a:r>
            <a:r>
              <a:rPr lang="en-US" dirty="0"/>
              <a:t>.</a:t>
            </a:r>
          </a:p>
          <a:p>
            <a:pPr>
              <a:buFont typeface="Arial" panose="020B0604020202020204" pitchFamily="34" charset="0"/>
              <a:buChar char="•"/>
            </a:pPr>
            <a:r>
              <a:rPr lang="en-US" dirty="0"/>
              <a:t>With large samples and PCA, you can relax this assumption.</a:t>
            </a:r>
          </a:p>
          <a:p>
            <a:pPr>
              <a:buFont typeface="Arial" panose="020B0604020202020204" pitchFamily="34" charset="0"/>
              <a:buChar char="•"/>
            </a:pPr>
            <a:r>
              <a:rPr lang="en-US" b="1" dirty="0"/>
              <a:t>Sample size</a:t>
            </a:r>
            <a:r>
              <a:rPr lang="en-US" dirty="0"/>
              <a:t>:</a:t>
            </a:r>
            <a:br>
              <a:rPr lang="en-US" dirty="0"/>
            </a:br>
            <a:r>
              <a:rPr lang="en-US" dirty="0"/>
              <a:t>Rule of thumb: at least </a:t>
            </a:r>
            <a:r>
              <a:rPr lang="en-US" b="1" dirty="0"/>
              <a:t>10 observations per variable</a:t>
            </a:r>
            <a:r>
              <a:rPr lang="en-US" dirty="0"/>
              <a:t>, with </a:t>
            </a:r>
            <a:r>
              <a:rPr lang="en-US" b="1" dirty="0"/>
              <a:t>n ≥ 200</a:t>
            </a:r>
            <a:r>
              <a:rPr lang="en-US" dirty="0"/>
              <a:t> for stability.</a:t>
            </a:r>
          </a:p>
          <a:p>
            <a:pPr>
              <a:buFont typeface="Arial" panose="020B0604020202020204" pitchFamily="34" charset="0"/>
              <a:buChar char="•"/>
            </a:pPr>
            <a:r>
              <a:rPr lang="en-US" dirty="0"/>
              <a:t>More cases = more reliable factors.</a:t>
            </a:r>
          </a:p>
          <a:p>
            <a:pPr>
              <a:buFont typeface="Arial" panose="020B0604020202020204" pitchFamily="34" charset="0"/>
              <a:buChar char="•"/>
            </a:pPr>
            <a:r>
              <a:rPr lang="en-US" b="1" dirty="0"/>
              <a:t>Homogeneity of the sample</a:t>
            </a:r>
            <a:r>
              <a:rPr lang="en-US" dirty="0"/>
              <a:t>:</a:t>
            </a:r>
            <a:br>
              <a:rPr lang="en-US" dirty="0"/>
            </a:br>
            <a:r>
              <a:rPr lang="en-US" dirty="0"/>
              <a:t>If you’re pooling across </a:t>
            </a:r>
            <a:r>
              <a:rPr lang="en-US" b="1" dirty="0"/>
              <a:t>very different subgroups</a:t>
            </a:r>
            <a:r>
              <a:rPr lang="en-US" dirty="0"/>
              <a:t>, your factor structure may get muddled.</a:t>
            </a:r>
          </a:p>
          <a:p>
            <a:pPr>
              <a:buFont typeface="Arial" panose="020B0604020202020204" pitchFamily="34" charset="0"/>
              <a:buChar char="•"/>
            </a:pPr>
            <a:r>
              <a:rPr lang="en-US" dirty="0"/>
              <a:t>Consider whether stratification or group-specific analyses are warranted.</a:t>
            </a:r>
          </a:p>
          <a:p>
            <a:endParaRPr lang="en-US" dirty="0"/>
          </a:p>
        </p:txBody>
      </p:sp>
      <p:sp>
        <p:nvSpPr>
          <p:cNvPr id="4" name="Slide Number Placeholder 3"/>
          <p:cNvSpPr>
            <a:spLocks noGrp="1"/>
          </p:cNvSpPr>
          <p:nvPr>
            <p:ph type="sldNum" sz="quarter" idx="5"/>
          </p:nvPr>
        </p:nvSpPr>
        <p:spPr/>
        <p:txBody>
          <a:bodyPr/>
          <a:lstStyle/>
          <a:p>
            <a:fld id="{796D0D24-7CDE-4B3B-83FD-38D4FBFEDC07}" type="slidenum">
              <a:rPr lang="en-US" smtClean="0"/>
              <a:t>49</a:t>
            </a:fld>
            <a:endParaRPr lang="en-US"/>
          </a:p>
        </p:txBody>
      </p:sp>
    </p:spTree>
    <p:extLst>
      <p:ext uri="{BB962C8B-B14F-4D97-AF65-F5344CB8AC3E}">
        <p14:creationId xmlns:p14="http://schemas.microsoft.com/office/powerpoint/2010/main" val="7072412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talk about </a:t>
            </a:r>
            <a:r>
              <a:rPr lang="en-US" b="1" dirty="0"/>
              <a:t>systematic error</a:t>
            </a:r>
            <a:r>
              <a:rPr lang="en-US" dirty="0"/>
              <a:t> in factor analysis, we mean </a:t>
            </a:r>
            <a:r>
              <a:rPr lang="en-US" b="1" dirty="0"/>
              <a:t>consistent variation in an item’s responses that is </a:t>
            </a:r>
            <a:r>
              <a:rPr lang="en-US" b="1" i="1" dirty="0"/>
              <a:t>not related to the construct we’re trying to measure</a:t>
            </a:r>
            <a:r>
              <a:rPr lang="en-US" dirty="0"/>
              <a:t>.</a:t>
            </a:r>
          </a:p>
          <a:p>
            <a:r>
              <a:rPr lang="en-US" dirty="0"/>
              <a:t>Let’s say this item is part of a </a:t>
            </a:r>
            <a:r>
              <a:rPr lang="en-US" b="1" dirty="0"/>
              <a:t>Statistics Anxiety Scale</a:t>
            </a:r>
            <a:r>
              <a:rPr lang="en-US" dirty="0"/>
              <a:t>. The goal is to capture how anxious someone feels about statistics—not their personality, interests, or professional identity.</a:t>
            </a:r>
          </a:p>
          <a:p>
            <a:pPr>
              <a:buFont typeface="Arial" panose="020B0604020202020204" pitchFamily="34" charset="0"/>
              <a:buChar char="•"/>
            </a:pPr>
            <a:r>
              <a:rPr lang="en-US" b="1" dirty="0"/>
              <a:t>Variance related to statistics anxiety</a:t>
            </a:r>
            <a:r>
              <a:rPr lang="en-US" dirty="0"/>
              <a:t> is the </a:t>
            </a:r>
            <a:r>
              <a:rPr lang="en-US" i="1" dirty="0"/>
              <a:t>good</a:t>
            </a:r>
            <a:r>
              <a:rPr lang="en-US" dirty="0"/>
              <a:t> kind of systematic variance—called </a:t>
            </a:r>
            <a:r>
              <a:rPr lang="en-US" b="1" dirty="0"/>
              <a:t>common variance</a:t>
            </a:r>
            <a:r>
              <a:rPr lang="en-US" dirty="0"/>
              <a:t>. That’s what factor analysis is trying to detect and group with other similar items.</a:t>
            </a:r>
          </a:p>
          <a:p>
            <a:r>
              <a:rPr lang="en-US" dirty="0"/>
              <a:t>But </a:t>
            </a:r>
            <a:r>
              <a:rPr lang="en-US" b="1" dirty="0"/>
              <a:t>Item 3</a:t>
            </a:r>
            <a:r>
              <a:rPr lang="en-US" dirty="0"/>
              <a:t> might also pick up other sources of variance that are consistent across respondents—but </a:t>
            </a:r>
            <a:r>
              <a:rPr lang="en-US" b="1" dirty="0"/>
              <a:t>not part of stats anxiety</a:t>
            </a:r>
            <a:r>
              <a:rPr lang="en-US" dirty="0"/>
              <a:t>. These are </a:t>
            </a:r>
            <a:r>
              <a:rPr lang="en-US" b="1" dirty="0"/>
              <a:t>systematic error</a:t>
            </a:r>
            <a:r>
              <a:rPr lang="en-US" dirty="0"/>
              <a:t>.</a:t>
            </a:r>
          </a:p>
          <a:p>
            <a:r>
              <a:rPr lang="en-US" b="1" dirty="0"/>
              <a:t>👇 What might cause systematic error in this item?</a:t>
            </a:r>
          </a:p>
          <a:p>
            <a:r>
              <a:rPr lang="en-US" dirty="0"/>
              <a:t>If someone responds </a:t>
            </a:r>
            <a:r>
              <a:rPr lang="en-US" b="1" dirty="0"/>
              <a:t>strongly agree</a:t>
            </a:r>
            <a:r>
              <a:rPr lang="en-US" dirty="0"/>
              <a:t> to “Standard deviations excite me,” it could reflect:</a:t>
            </a:r>
          </a:p>
          <a:p>
            <a:pPr>
              <a:buFont typeface="Arial" panose="020B0604020202020204" pitchFamily="34" charset="0"/>
              <a:buChar char="•"/>
            </a:pPr>
            <a:r>
              <a:rPr lang="en-US" dirty="0"/>
              <a:t>✅ They’re not anxious about statistics → </a:t>
            </a:r>
            <a:r>
              <a:rPr lang="en-US" i="1" dirty="0"/>
              <a:t>Relevant</a:t>
            </a:r>
            <a:r>
              <a:rPr lang="en-US" dirty="0"/>
              <a:t>, reflects low stats anxiety</a:t>
            </a:r>
          </a:p>
          <a:p>
            <a:pPr>
              <a:buFont typeface="Arial" panose="020B0604020202020204" pitchFamily="34" charset="0"/>
              <a:buChar char="•"/>
            </a:pPr>
            <a:r>
              <a:rPr lang="en-US" dirty="0"/>
              <a:t>❌ They genuinely love statistics → </a:t>
            </a:r>
            <a:r>
              <a:rPr lang="en-US" i="1" dirty="0"/>
              <a:t>Enthusiasm or interest</a:t>
            </a:r>
            <a:r>
              <a:rPr lang="en-US" dirty="0"/>
              <a:t>, not anxiety</a:t>
            </a:r>
          </a:p>
          <a:p>
            <a:pPr>
              <a:buFont typeface="Arial" panose="020B0604020202020204" pitchFamily="34" charset="0"/>
              <a:buChar char="•"/>
            </a:pPr>
            <a:r>
              <a:rPr lang="en-US" dirty="0"/>
              <a:t>❌ They want to sound smart → </a:t>
            </a:r>
            <a:r>
              <a:rPr lang="en-US" i="1" dirty="0"/>
              <a:t>Social desirability</a:t>
            </a:r>
            <a:r>
              <a:rPr lang="en-US" dirty="0"/>
              <a:t>, not true feelings</a:t>
            </a:r>
          </a:p>
          <a:p>
            <a:pPr>
              <a:buFont typeface="Arial" panose="020B0604020202020204" pitchFamily="34" charset="0"/>
              <a:buChar char="•"/>
            </a:pPr>
            <a:r>
              <a:rPr lang="en-US" dirty="0"/>
              <a:t>❌ They come from a math-heavy field → </a:t>
            </a:r>
            <a:r>
              <a:rPr lang="en-US" i="1" dirty="0"/>
              <a:t>Disciplinary bias</a:t>
            </a:r>
            <a:r>
              <a:rPr lang="en-US" dirty="0"/>
              <a:t>, not psychological response</a:t>
            </a:r>
          </a:p>
          <a:p>
            <a:r>
              <a:rPr lang="en-US" dirty="0"/>
              <a:t>Those last three are </a:t>
            </a:r>
            <a:r>
              <a:rPr lang="en-US" b="1" dirty="0"/>
              <a:t>systematic sources of variance that distort the item</a:t>
            </a:r>
            <a:r>
              <a:rPr lang="en-US" dirty="0"/>
              <a:t>, because they reflect traits or motivations </a:t>
            </a:r>
            <a:r>
              <a:rPr lang="en-US" b="1" dirty="0"/>
              <a:t>other than the one you’re trying to measure</a:t>
            </a:r>
            <a:r>
              <a:rPr lang="en-US" dirty="0"/>
              <a:t>.</a:t>
            </a:r>
          </a:p>
          <a:p>
            <a:endParaRPr lang="en-US" dirty="0"/>
          </a:p>
          <a:p>
            <a:endParaRPr lang="en-US" dirty="0"/>
          </a:p>
          <a:p>
            <a:endParaRPr lang="en-US" dirty="0"/>
          </a:p>
          <a:p>
            <a:r>
              <a:rPr lang="en-US" dirty="0"/>
              <a:t>This kind of variance is </a:t>
            </a:r>
            <a:r>
              <a:rPr lang="en-US" b="1" dirty="0"/>
              <a:t>consistent</a:t>
            </a:r>
            <a:r>
              <a:rPr lang="en-US" dirty="0"/>
              <a:t>, but not </a:t>
            </a:r>
            <a:r>
              <a:rPr lang="en-US" b="1" dirty="0"/>
              <a:t>theoretically relevant</a:t>
            </a:r>
            <a:r>
              <a:rPr lang="en-US" dirty="0"/>
              <a:t> to the factor being measured—it adds distortion.</a:t>
            </a:r>
          </a:p>
          <a:p>
            <a:r>
              <a:rPr lang="en-US" b="1" dirty="0"/>
              <a:t>Random Error for Item 3</a:t>
            </a:r>
          </a:p>
          <a:p>
            <a:r>
              <a:rPr lang="en-US" dirty="0"/>
              <a:t>This is the </a:t>
            </a:r>
            <a:r>
              <a:rPr lang="en-US" b="1" dirty="0"/>
              <a:t>pure noise</a:t>
            </a:r>
            <a:r>
              <a:rPr lang="en-US" dirty="0"/>
              <a:t>, the stuff we can’t explain:</a:t>
            </a:r>
          </a:p>
          <a:p>
            <a:pPr>
              <a:buFont typeface="Arial" panose="020B0604020202020204" pitchFamily="34" charset="0"/>
              <a:buChar char="•"/>
            </a:pPr>
            <a:r>
              <a:rPr lang="en-US" dirty="0" err="1"/>
              <a:t>Misclicking</a:t>
            </a:r>
            <a:r>
              <a:rPr lang="en-US" dirty="0"/>
              <a:t> on a Likert scale</a:t>
            </a:r>
          </a:p>
          <a:p>
            <a:pPr>
              <a:buFont typeface="Arial" panose="020B0604020202020204" pitchFamily="34" charset="0"/>
              <a:buChar char="•"/>
            </a:pPr>
            <a:r>
              <a:rPr lang="en-US" dirty="0"/>
              <a:t>Misunderstanding what “standard deviation” means</a:t>
            </a:r>
          </a:p>
          <a:p>
            <a:pPr>
              <a:buFont typeface="Arial" panose="020B0604020202020204" pitchFamily="34" charset="0"/>
              <a:buChar char="•"/>
            </a:pPr>
            <a:r>
              <a:rPr lang="en-US" dirty="0"/>
              <a:t>Sarcastic or joking responses (hello, stats humor)</a:t>
            </a:r>
          </a:p>
          <a:p>
            <a:pPr>
              <a:buFont typeface="Arial" panose="020B0604020202020204" pitchFamily="34" charset="0"/>
              <a:buChar char="•"/>
            </a:pPr>
            <a:r>
              <a:rPr lang="en-US" dirty="0"/>
              <a:t>Day-to-day mood variation</a:t>
            </a:r>
          </a:p>
          <a:p>
            <a:r>
              <a:rPr lang="en-US" dirty="0"/>
              <a:t>This part adds variance </a:t>
            </a:r>
            <a:r>
              <a:rPr lang="en-US" b="1" dirty="0"/>
              <a:t>that doesn’t relate to anything else in the dataset</a:t>
            </a:r>
            <a:r>
              <a:rPr lang="en-US" dirty="0"/>
              <a:t>, and reduces reliability.</a:t>
            </a:r>
          </a:p>
          <a:p>
            <a:r>
              <a:rPr lang="en-US" b="1" dirty="0"/>
              <a:t>Bonus: Why This Item Might Be a Problem</a:t>
            </a:r>
          </a:p>
          <a:p>
            <a:r>
              <a:rPr lang="en-US" dirty="0"/>
              <a:t>Because it’s funny and clever, yes—but also:</a:t>
            </a:r>
          </a:p>
          <a:p>
            <a:pPr>
              <a:buFont typeface="Arial" panose="020B0604020202020204" pitchFamily="34" charset="0"/>
              <a:buChar char="•"/>
            </a:pPr>
            <a:r>
              <a:rPr lang="en-US" dirty="0"/>
              <a:t>It might not behave the same across people depending on their </a:t>
            </a:r>
            <a:r>
              <a:rPr lang="en-US" b="1" dirty="0"/>
              <a:t>background in stats</a:t>
            </a:r>
            <a:r>
              <a:rPr lang="en-US" dirty="0"/>
              <a:t>, </a:t>
            </a:r>
            <a:r>
              <a:rPr lang="en-US" b="1" dirty="0"/>
              <a:t>field of study</a:t>
            </a:r>
            <a:r>
              <a:rPr lang="en-US" dirty="0"/>
              <a:t>, or </a:t>
            </a:r>
            <a:r>
              <a:rPr lang="en-US" b="1" dirty="0"/>
              <a:t>sense of humor</a:t>
            </a:r>
            <a:endParaRPr lang="en-US" dirty="0"/>
          </a:p>
          <a:p>
            <a:pPr>
              <a:buFont typeface="Arial" panose="020B0604020202020204" pitchFamily="34" charset="0"/>
              <a:buChar char="•"/>
            </a:pPr>
            <a:r>
              <a:rPr lang="en-US" dirty="0"/>
              <a:t>It could have </a:t>
            </a:r>
            <a:r>
              <a:rPr lang="en-US" b="1" dirty="0"/>
              <a:t>low communality</a:t>
            </a:r>
            <a:r>
              <a:rPr lang="en-US" dirty="0"/>
              <a:t> (i.e., it doesn't load strongly on any factor)</a:t>
            </a:r>
          </a:p>
          <a:p>
            <a:pPr>
              <a:buFont typeface="Arial" panose="020B0604020202020204" pitchFamily="34" charset="0"/>
              <a:buChar char="•"/>
            </a:pPr>
            <a:r>
              <a:rPr lang="en-US" dirty="0"/>
              <a:t>If you ran a factor analysis, this item might show </a:t>
            </a:r>
            <a:r>
              <a:rPr lang="en-US" b="1" dirty="0"/>
              <a:t>high uniqueness</a:t>
            </a:r>
            <a:r>
              <a:rPr lang="en-US" dirty="0"/>
              <a:t> and </a:t>
            </a:r>
            <a:r>
              <a:rPr lang="en-US" b="1" dirty="0"/>
              <a:t>low loading</a:t>
            </a:r>
            <a:r>
              <a:rPr lang="en-US" dirty="0"/>
              <a:t>—meaning it adds more confusion than clarity</a:t>
            </a:r>
          </a:p>
        </p:txBody>
      </p:sp>
      <p:sp>
        <p:nvSpPr>
          <p:cNvPr id="4" name="Slide Number Placeholder 3"/>
          <p:cNvSpPr>
            <a:spLocks noGrp="1"/>
          </p:cNvSpPr>
          <p:nvPr>
            <p:ph type="sldNum" sz="quarter" idx="5"/>
          </p:nvPr>
        </p:nvSpPr>
        <p:spPr/>
        <p:txBody>
          <a:bodyPr/>
          <a:lstStyle/>
          <a:p>
            <a:fld id="{796D0D24-7CDE-4B3B-83FD-38D4FBFEDC07}" type="slidenum">
              <a:rPr lang="en-US" smtClean="0"/>
              <a:t>50</a:t>
            </a:fld>
            <a:endParaRPr lang="en-US"/>
          </a:p>
        </p:txBody>
      </p:sp>
    </p:spTree>
    <p:extLst>
      <p:ext uri="{BB962C8B-B14F-4D97-AF65-F5344CB8AC3E}">
        <p14:creationId xmlns:p14="http://schemas.microsoft.com/office/powerpoint/2010/main" val="30840493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This shows the unique contribution of each factor to each item, controlling for overlap with the other factor.</a:t>
            </a:r>
          </a:p>
          <a:p>
            <a:r>
              <a:rPr lang="en-US" b="0" dirty="0"/>
              <a:t>| Use this matrix to name and interpret your factors.</a:t>
            </a:r>
          </a:p>
          <a:p>
            <a:r>
              <a:rPr lang="en-US" b="0" dirty="0"/>
              <a:t>Factor 1 (Statistical Fear or Anxiety):</a:t>
            </a:r>
          </a:p>
          <a:p>
            <a:pPr>
              <a:buFont typeface="Arial" panose="020B0604020202020204" pitchFamily="34" charset="0"/>
              <a:buChar char="•"/>
            </a:pPr>
            <a:r>
              <a:rPr lang="en-US" b="0" dirty="0"/>
              <a:t>"Statistics makes me cry" (.740)</a:t>
            </a:r>
          </a:p>
          <a:p>
            <a:pPr>
              <a:buFont typeface="Arial" panose="020B0604020202020204" pitchFamily="34" charset="0"/>
              <a:buChar char="•"/>
            </a:pPr>
            <a:r>
              <a:rPr lang="en-US" b="0" dirty="0"/>
              <a:t>"Pearson is attacking me" (.660)</a:t>
            </a:r>
          </a:p>
          <a:p>
            <a:pPr>
              <a:buFont typeface="Arial" panose="020B0604020202020204" pitchFamily="34" charset="0"/>
              <a:buChar char="•"/>
            </a:pPr>
            <a:r>
              <a:rPr lang="en-US" b="0" dirty="0"/>
              <a:t>"I don't understand statistics" (.580)</a:t>
            </a:r>
          </a:p>
          <a:p>
            <a:pPr>
              <a:buFont typeface="Arial" panose="020B0604020202020204" pitchFamily="34" charset="0"/>
              <a:buChar char="•"/>
            </a:pPr>
            <a:r>
              <a:rPr lang="en-US" b="0" dirty="0"/>
              <a:t>"Never been good at math" (.462)</a:t>
            </a:r>
          </a:p>
          <a:p>
            <a:pPr>
              <a:buFont typeface="Arial" panose="020B0604020202020204" pitchFamily="34" charset="0"/>
              <a:buChar char="•"/>
            </a:pPr>
            <a:r>
              <a:rPr lang="en-US" b="0" dirty="0"/>
              <a:t>"Standard deviations excite me" loads negatively (–.490), which fits with the idea that </a:t>
            </a:r>
            <a:r>
              <a:rPr lang="en-US" b="0" i="1" dirty="0"/>
              <a:t>excitement</a:t>
            </a:r>
            <a:r>
              <a:rPr lang="en-US" b="0" dirty="0"/>
              <a:t> is the opposite of </a:t>
            </a:r>
            <a:r>
              <a:rPr lang="en-US" b="0" i="1" dirty="0"/>
              <a:t>fear</a:t>
            </a:r>
            <a:r>
              <a:rPr lang="en-US" b="0" dirty="0"/>
              <a:t>.</a:t>
            </a:r>
          </a:p>
          <a:p>
            <a:r>
              <a:rPr lang="en-US" b="0" dirty="0"/>
              <a:t>Factor 2 (Computer Helplessness or Tech Aversion):</a:t>
            </a:r>
          </a:p>
          <a:p>
            <a:pPr>
              <a:buFont typeface="Arial" panose="020B0604020202020204" pitchFamily="34" charset="0"/>
              <a:buChar char="•"/>
            </a:pPr>
            <a:r>
              <a:rPr lang="en-US" b="0" dirty="0"/>
              <a:t>"All computers hate me" → .933</a:t>
            </a:r>
          </a:p>
          <a:p>
            <a:pPr>
              <a:buFont typeface="Arial" panose="020B0604020202020204" pitchFamily="34" charset="0"/>
              <a:buChar char="•"/>
            </a:pPr>
            <a:r>
              <a:rPr lang="en-US" b="0" dirty="0"/>
              <a:t>"Little experience of computers" → .504</a:t>
            </a:r>
          </a:p>
          <a:p>
            <a:r>
              <a:rPr lang="en-US" b="0" dirty="0"/>
              <a:t>Some items that didn’t load clearly on either factor (like "My friends will think I’m stupid") are missing here, because their loadings were too low.</a:t>
            </a:r>
          </a:p>
          <a:p>
            <a:r>
              <a:rPr lang="en-US" b="0" dirty="0"/>
              <a:t>Bottom line: This is the clearest structure. It helps us say:</a:t>
            </a:r>
          </a:p>
          <a:p>
            <a:r>
              <a:rPr lang="en-US" b="0" i="1" dirty="0"/>
              <a:t>Factor 1 = Statistical Fear; Factor 2 = Tech Helplessness</a:t>
            </a:r>
            <a:endParaRPr lang="en-US" b="0" dirty="0"/>
          </a:p>
          <a:p>
            <a:endParaRPr lang="en-US" dirty="0"/>
          </a:p>
        </p:txBody>
      </p:sp>
      <p:sp>
        <p:nvSpPr>
          <p:cNvPr id="4" name="Slide Number Placeholder 3"/>
          <p:cNvSpPr>
            <a:spLocks noGrp="1"/>
          </p:cNvSpPr>
          <p:nvPr>
            <p:ph type="sldNum" sz="quarter" idx="5"/>
          </p:nvPr>
        </p:nvSpPr>
        <p:spPr/>
        <p:txBody>
          <a:bodyPr/>
          <a:lstStyle/>
          <a:p>
            <a:fld id="{AB40D8CB-5069-48A5-A31E-868D687857E9}" type="slidenum">
              <a:rPr lang="en-US" smtClean="0"/>
              <a:t>53</a:t>
            </a:fld>
            <a:endParaRPr lang="en-US"/>
          </a:p>
        </p:txBody>
      </p:sp>
    </p:spTree>
    <p:extLst>
      <p:ext uri="{BB962C8B-B14F-4D97-AF65-F5344CB8AC3E}">
        <p14:creationId xmlns:p14="http://schemas.microsoft.com/office/powerpoint/2010/main" val="23442884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3 reports the results of an </a:t>
            </a:r>
            <a:r>
              <a:rPr lang="en-US" b="1" dirty="0"/>
              <a:t>exploratory factor analysis (EFA)</a:t>
            </a:r>
            <a:r>
              <a:rPr lang="en-US" dirty="0"/>
              <a:t> using </a:t>
            </a:r>
            <a:r>
              <a:rPr lang="en-US" b="1" dirty="0"/>
              <a:t>oblique (</a:t>
            </a:r>
            <a:r>
              <a:rPr lang="en-US" b="1" dirty="0" err="1"/>
              <a:t>promax</a:t>
            </a:r>
            <a:r>
              <a:rPr lang="en-US" b="1" dirty="0"/>
              <a:t>) rotation</a:t>
            </a:r>
            <a:r>
              <a:rPr lang="en-US" dirty="0"/>
              <a:t> in SAS: </a:t>
            </a:r>
          </a:p>
          <a:p>
            <a:r>
              <a:rPr lang="en-US" dirty="0"/>
              <a:t>This table displays the results from an </a:t>
            </a:r>
            <a:r>
              <a:rPr lang="en-US" b="1" dirty="0"/>
              <a:t>EFA</a:t>
            </a:r>
            <a:r>
              <a:rPr lang="en-US" dirty="0"/>
              <a:t> conducted on 12 items measuring perceptions of law enforcement mistrust. The analysis revealed </a:t>
            </a:r>
            <a:r>
              <a:rPr lang="en-US" b="1" dirty="0"/>
              <a:t>two factors</a:t>
            </a:r>
            <a:r>
              <a:rPr lang="en-US" dirty="0"/>
              <a:t>, which the authors interpret as:</a:t>
            </a:r>
          </a:p>
          <a:p>
            <a:pPr>
              <a:buFont typeface="Arial" panose="020B0604020202020204" pitchFamily="34" charset="0"/>
              <a:buChar char="•"/>
            </a:pPr>
            <a:r>
              <a:rPr lang="en-US" b="1" dirty="0"/>
              <a:t>Factor 1: Mistrust Subscale</a:t>
            </a:r>
            <a:br>
              <a:rPr lang="en-US" dirty="0"/>
            </a:br>
            <a:r>
              <a:rPr lang="en-US" dirty="0"/>
              <a:t>Reflecting generalized suspicion, distrust, and fear of law enforcement</a:t>
            </a:r>
          </a:p>
          <a:p>
            <a:pPr>
              <a:buFont typeface="Arial" panose="020B0604020202020204" pitchFamily="34" charset="0"/>
              <a:buChar char="•"/>
            </a:pPr>
            <a:r>
              <a:rPr lang="en-US" b="1" dirty="0"/>
              <a:t>Factor 2: Disparities in Treatment Subscale</a:t>
            </a:r>
            <a:br>
              <a:rPr lang="en-US" dirty="0"/>
            </a:br>
            <a:r>
              <a:rPr lang="en-US" dirty="0"/>
              <a:t>Reflecting perceptions of unequal treatment across racial groups in the criminal justice system</a:t>
            </a:r>
          </a:p>
          <a:p>
            <a:endParaRPr lang="en-US" dirty="0"/>
          </a:p>
          <a:p>
            <a:r>
              <a:rPr lang="en-US" dirty="0"/>
              <a:t>Each item’s </a:t>
            </a:r>
            <a:r>
              <a:rPr lang="en-US" b="1" dirty="0"/>
              <a:t>rotated factor loadings</a:t>
            </a:r>
            <a:r>
              <a:rPr lang="en-US" dirty="0"/>
              <a:t> are reported across both factors. Bolded values represent the primary factor on which each item loads.</a:t>
            </a:r>
          </a:p>
          <a:p>
            <a:endParaRPr lang="en-US" dirty="0"/>
          </a:p>
          <a:p>
            <a:r>
              <a:rPr lang="en-US" b="1" dirty="0"/>
              <a:t>Proportion of Variance:</a:t>
            </a:r>
            <a:endParaRPr lang="en-US" dirty="0"/>
          </a:p>
          <a:p>
            <a:pPr>
              <a:buFont typeface="Arial" panose="020B0604020202020204" pitchFamily="34" charset="0"/>
              <a:buChar char="•"/>
            </a:pPr>
            <a:r>
              <a:rPr lang="en-US" b="1" dirty="0"/>
              <a:t>Factor 1 explains 89%</a:t>
            </a:r>
            <a:r>
              <a:rPr lang="en-US" dirty="0"/>
              <a:t> of the shared variance</a:t>
            </a:r>
          </a:p>
          <a:p>
            <a:pPr>
              <a:buFont typeface="Arial" panose="020B0604020202020204" pitchFamily="34" charset="0"/>
              <a:buChar char="•"/>
            </a:pPr>
            <a:r>
              <a:rPr lang="en-US" b="1" dirty="0"/>
              <a:t>Factor 2 explains 11%</a:t>
            </a:r>
            <a:r>
              <a:rPr lang="en-US" dirty="0"/>
              <a:t> This indicates that the </a:t>
            </a:r>
            <a:r>
              <a:rPr lang="en-US" b="1" dirty="0"/>
              <a:t>vast majority of the shared variance</a:t>
            </a:r>
            <a:r>
              <a:rPr lang="en-US" dirty="0"/>
              <a:t> in the items is captured by the Mistrust factor.</a:t>
            </a:r>
          </a:p>
          <a:p>
            <a:endParaRPr lang="en-US" dirty="0"/>
          </a:p>
          <a:p>
            <a:r>
              <a:rPr lang="en-US" dirty="0"/>
              <a:t>Factor loadings can be interpreted like </a:t>
            </a:r>
            <a:r>
              <a:rPr lang="en-US" b="1" dirty="0"/>
              <a:t>standardized regression coefficients</a:t>
            </a:r>
            <a:r>
              <a:rPr lang="en-US" dirty="0"/>
              <a:t>—they show the strength and direction of the association between each item and the underlying factor. Values above </a:t>
            </a:r>
            <a:r>
              <a:rPr lang="en-US" b="1" dirty="0"/>
              <a:t>.40</a:t>
            </a:r>
            <a:r>
              <a:rPr lang="en-US" dirty="0"/>
              <a:t> are typically considered meaningful.</a:t>
            </a:r>
          </a:p>
          <a:p>
            <a:r>
              <a:rPr lang="en-US" b="1" dirty="0"/>
              <a:t>Factor 1: Mistrust Subscale</a:t>
            </a:r>
          </a:p>
          <a:p>
            <a:r>
              <a:rPr lang="en-US" dirty="0"/>
              <a:t>This factor captures </a:t>
            </a:r>
            <a:r>
              <a:rPr lang="en-US" b="1" dirty="0"/>
              <a:t>generalized distrust</a:t>
            </a:r>
            <a:r>
              <a:rPr lang="en-US" dirty="0"/>
              <a:t> and suspicion toward law enforcement. Items that load most strongly include:</a:t>
            </a:r>
          </a:p>
          <a:p>
            <a:pPr>
              <a:buFont typeface="Arial" panose="020B0604020202020204" pitchFamily="34" charset="0"/>
              <a:buChar char="•"/>
            </a:pPr>
            <a:r>
              <a:rPr lang="en-US" i="1" dirty="0"/>
              <a:t>Item 4</a:t>
            </a:r>
            <a:r>
              <a:rPr lang="en-US" dirty="0"/>
              <a:t>: “People of your racial group should be suspicious of information from law enforcement officers” → </a:t>
            </a:r>
            <a:r>
              <a:rPr lang="en-US" b="1" dirty="0"/>
              <a:t>.873 </a:t>
            </a:r>
          </a:p>
          <a:p>
            <a:pPr>
              <a:buFont typeface="Arial" panose="020B0604020202020204" pitchFamily="34" charset="0"/>
              <a:buNone/>
            </a:pPr>
            <a:r>
              <a:rPr lang="en-US" b="1" dirty="0">
                <a:solidFill>
                  <a:srgbClr val="FF0000"/>
                </a:solidFill>
              </a:rPr>
              <a:t>(If you want to have a deeper understanding of the regression coefficient explanation, here it is</a:t>
            </a:r>
          </a:p>
          <a:p>
            <a:pPr>
              <a:buFont typeface="Arial" panose="020B0604020202020204" pitchFamily="34" charset="0"/>
              <a:buChar char="•"/>
            </a:pPr>
            <a:r>
              <a:rPr lang="en-US" dirty="0">
                <a:solidFill>
                  <a:srgbClr val="FF0000"/>
                </a:solidFill>
              </a:rPr>
              <a:t>A </a:t>
            </a:r>
            <a:r>
              <a:rPr lang="en-US" b="1" dirty="0">
                <a:solidFill>
                  <a:srgbClr val="FF0000"/>
                </a:solidFill>
              </a:rPr>
              <a:t>1 standard deviation increase in the latent factor of Mistrust</a:t>
            </a:r>
            <a:r>
              <a:rPr lang="en-US" dirty="0">
                <a:solidFill>
                  <a:srgbClr val="FF0000"/>
                </a:solidFill>
              </a:rPr>
              <a:t> is associated with a </a:t>
            </a:r>
            <a:r>
              <a:rPr lang="en-US" b="1" dirty="0">
                <a:solidFill>
                  <a:srgbClr val="FF0000"/>
                </a:solidFill>
              </a:rPr>
              <a:t>.873 standard deviation increase</a:t>
            </a:r>
            <a:r>
              <a:rPr lang="en-US" dirty="0">
                <a:solidFill>
                  <a:srgbClr val="FF0000"/>
                </a:solidFill>
              </a:rPr>
              <a:t> in endorsement of Item 4, </a:t>
            </a:r>
            <a:r>
              <a:rPr lang="en-US" b="1" dirty="0">
                <a:solidFill>
                  <a:srgbClr val="FF0000"/>
                </a:solidFill>
              </a:rPr>
              <a:t>controlling for the effects of other factors</a:t>
            </a:r>
            <a:r>
              <a:rPr lang="en-US" dirty="0">
                <a:solidFill>
                  <a:srgbClr val="FF0000"/>
                </a:solidFill>
              </a:rPr>
              <a:t>.)</a:t>
            </a:r>
          </a:p>
          <a:p>
            <a:pPr>
              <a:buFont typeface="Arial" panose="020B0604020202020204" pitchFamily="34" charset="0"/>
              <a:buChar char="•"/>
            </a:pPr>
            <a:r>
              <a:rPr lang="en-US" i="1" dirty="0"/>
              <a:t>Item 5</a:t>
            </a:r>
            <a:r>
              <a:rPr lang="en-US" dirty="0"/>
              <a:t>: “People of your racial group cannot trust law enforcement officers” → </a:t>
            </a:r>
            <a:r>
              <a:rPr lang="en-US" b="1" dirty="0"/>
              <a:t>.711</a:t>
            </a:r>
            <a:endParaRPr lang="en-US" dirty="0"/>
          </a:p>
          <a:p>
            <a:pPr>
              <a:buFont typeface="Arial" panose="020B0604020202020204" pitchFamily="34" charset="0"/>
              <a:buChar char="•"/>
            </a:pPr>
            <a:r>
              <a:rPr lang="en-US" i="1" dirty="0"/>
              <a:t>Item 7</a:t>
            </a:r>
            <a:r>
              <a:rPr lang="en-US" dirty="0"/>
              <a:t>: “Law enforcement officers treat people of your racial group like ‘animals’” → </a:t>
            </a:r>
            <a:r>
              <a:rPr lang="en-US" b="1" dirty="0"/>
              <a:t>.610</a:t>
            </a:r>
            <a:endParaRPr lang="en-US" dirty="0"/>
          </a:p>
          <a:p>
            <a:r>
              <a:rPr lang="en-US" dirty="0"/>
              <a:t>These items express broad beliefs about dishonesty, abuse, and hostility from law enforcement toward members of the respondent's racial group.</a:t>
            </a:r>
          </a:p>
          <a:p>
            <a:r>
              <a:rPr lang="en-US" b="1" dirty="0"/>
              <a:t>Factor 2: Disparities in Treatment Subscale</a:t>
            </a:r>
          </a:p>
          <a:p>
            <a:r>
              <a:rPr lang="en-US" dirty="0"/>
              <a:t>This factor captures </a:t>
            </a:r>
            <a:r>
              <a:rPr lang="en-US" b="1" dirty="0"/>
              <a:t>beliefs about unequal treatment</a:t>
            </a:r>
            <a:r>
              <a:rPr lang="en-US" dirty="0"/>
              <a:t> by law enforcement and the justice system. Items that load most strongly include:</a:t>
            </a:r>
          </a:p>
          <a:p>
            <a:pPr>
              <a:buFont typeface="Arial" panose="020B0604020202020204" pitchFamily="34" charset="0"/>
              <a:buChar char="•"/>
            </a:pPr>
            <a:r>
              <a:rPr lang="en-US" i="1" dirty="0"/>
              <a:t>Item 10</a:t>
            </a:r>
            <a:r>
              <a:rPr lang="en-US" dirty="0"/>
              <a:t>: “People of your racial group are treated the same as people of other groups by law enforcement” → </a:t>
            </a:r>
            <a:r>
              <a:rPr lang="en-US" b="1" dirty="0"/>
              <a:t>.934</a:t>
            </a:r>
            <a:r>
              <a:rPr lang="en-US" dirty="0"/>
              <a:t> </a:t>
            </a:r>
            <a:r>
              <a:rPr lang="en-US" i="1" dirty="0"/>
              <a:t>(reverse-coded)</a:t>
            </a:r>
            <a:endParaRPr lang="en-US" dirty="0"/>
          </a:p>
          <a:p>
            <a:pPr>
              <a:buFont typeface="Arial" panose="020B0604020202020204" pitchFamily="34" charset="0"/>
              <a:buChar char="•"/>
            </a:pPr>
            <a:r>
              <a:rPr lang="en-US" i="1" dirty="0"/>
              <a:t>Item 8</a:t>
            </a:r>
            <a:r>
              <a:rPr lang="en-US" dirty="0"/>
              <a:t>: “People of your racial group receive the same protection from law enforcement officers as people from other groups” → </a:t>
            </a:r>
            <a:r>
              <a:rPr lang="en-US" b="1" dirty="0"/>
              <a:t>.654</a:t>
            </a:r>
            <a:r>
              <a:rPr lang="en-US" dirty="0"/>
              <a:t> </a:t>
            </a:r>
            <a:r>
              <a:rPr lang="en-US" i="1" dirty="0"/>
              <a:t>(reverse-coded)</a:t>
            </a:r>
            <a:endParaRPr lang="en-US" dirty="0"/>
          </a:p>
          <a:p>
            <a:pPr>
              <a:buFont typeface="Arial" panose="020B0604020202020204" pitchFamily="34" charset="0"/>
              <a:buChar char="•"/>
            </a:pPr>
            <a:r>
              <a:rPr lang="en-US" i="1" dirty="0"/>
              <a:t>Item 11</a:t>
            </a:r>
            <a:r>
              <a:rPr lang="en-US" dirty="0"/>
              <a:t>: “In most courts, people of different racial groups receive the same kind of treatment from the judge” → </a:t>
            </a:r>
            <a:r>
              <a:rPr lang="en-US" b="1" dirty="0"/>
              <a:t>.605</a:t>
            </a:r>
            <a:r>
              <a:rPr lang="en-US" dirty="0"/>
              <a:t> </a:t>
            </a:r>
            <a:r>
              <a:rPr lang="en-US" i="1" dirty="0"/>
              <a:t>(reverse-coded)</a:t>
            </a:r>
            <a:endParaRPr lang="en-US" dirty="0"/>
          </a:p>
          <a:p>
            <a:r>
              <a:rPr lang="en-US" dirty="0"/>
              <a:t>These items assess </a:t>
            </a:r>
            <a:r>
              <a:rPr lang="en-US" b="1" dirty="0"/>
              <a:t>perceived fairness or equity</a:t>
            </a:r>
            <a:r>
              <a:rPr lang="en-US" dirty="0"/>
              <a:t> in treatment, and because they are </a:t>
            </a:r>
            <a:r>
              <a:rPr lang="en-US" b="1" dirty="0"/>
              <a:t>reverse-coded</a:t>
            </a:r>
            <a:r>
              <a:rPr lang="en-US" dirty="0"/>
              <a:t>, higher agreement actually reflects </a:t>
            </a:r>
            <a:r>
              <a:rPr lang="en-US" b="1" dirty="0"/>
              <a:t>lower perceived fairness</a:t>
            </a:r>
            <a:r>
              <a:rPr lang="en-US" dirty="0"/>
              <a:t>, aligning with greater perceived disparity.</a:t>
            </a:r>
          </a:p>
          <a:p>
            <a:r>
              <a:rPr lang="en-US" b="1" dirty="0"/>
              <a:t>Notes on Specific Items</a:t>
            </a:r>
          </a:p>
          <a:p>
            <a:pPr>
              <a:buFont typeface="Arial" panose="020B0604020202020204" pitchFamily="34" charset="0"/>
              <a:buChar char="•"/>
            </a:pPr>
            <a:r>
              <a:rPr lang="en-US" i="1" dirty="0"/>
              <a:t>Items 1, 2, and 12</a:t>
            </a:r>
            <a:r>
              <a:rPr lang="en-US" dirty="0"/>
              <a:t> load modestly on both factors and may reflect </a:t>
            </a:r>
            <a:r>
              <a:rPr lang="en-US" b="1" dirty="0"/>
              <a:t>conceptual overlap</a:t>
            </a:r>
            <a:r>
              <a:rPr lang="en-US" dirty="0"/>
              <a:t> or </a:t>
            </a:r>
            <a:r>
              <a:rPr lang="en-US" b="1" dirty="0"/>
              <a:t>mixed item content</a:t>
            </a:r>
            <a:r>
              <a:rPr lang="en-US" dirty="0"/>
              <a:t>:</a:t>
            </a:r>
          </a:p>
          <a:p>
            <a:pPr marL="742950" lvl="1" indent="-285750">
              <a:buFont typeface="Arial" panose="020B0604020202020204" pitchFamily="34" charset="0"/>
              <a:buChar char="•"/>
            </a:pPr>
            <a:r>
              <a:rPr lang="en-US" i="1" dirty="0"/>
              <a:t>Item 2</a:t>
            </a:r>
            <a:r>
              <a:rPr lang="en-US" dirty="0"/>
              <a:t>: “Law Enforcement Officers have the best interests of people of your racial group in mind” → .429 on Factor 1, .368 on Factor 2</a:t>
            </a:r>
          </a:p>
          <a:p>
            <a:pPr marL="742950" lvl="1" indent="-285750">
              <a:buFont typeface="Arial" panose="020B0604020202020204" pitchFamily="34" charset="0"/>
              <a:buChar char="•"/>
            </a:pPr>
            <a:r>
              <a:rPr lang="en-US" dirty="0"/>
              <a:t>These items may tap into both generalized mistrust and perceived fairness, which complicates clean interpretation.</a:t>
            </a:r>
          </a:p>
          <a:p>
            <a:pPr>
              <a:buFont typeface="Arial" panose="020B0604020202020204" pitchFamily="34" charset="0"/>
              <a:buChar char="•"/>
            </a:pPr>
            <a:r>
              <a:rPr lang="en-US" i="1" dirty="0"/>
              <a:t>Item 10</a:t>
            </a:r>
            <a:r>
              <a:rPr lang="en-US" dirty="0"/>
              <a:t> has a </a:t>
            </a:r>
            <a:r>
              <a:rPr lang="en-US" b="1" dirty="0"/>
              <a:t>very high loading on Factor 2 (.934)</a:t>
            </a:r>
            <a:r>
              <a:rPr lang="en-US" dirty="0"/>
              <a:t> and </a:t>
            </a:r>
            <a:r>
              <a:rPr lang="en-US" b="1" dirty="0"/>
              <a:t>near-zero on Factor 1</a:t>
            </a:r>
            <a:r>
              <a:rPr lang="en-US" dirty="0"/>
              <a:t> (–.012), suggesting it is a clear anchor for the Disparities subscale.</a:t>
            </a:r>
          </a:p>
          <a:p>
            <a:endParaRPr lang="en-US" dirty="0"/>
          </a:p>
        </p:txBody>
      </p:sp>
      <p:sp>
        <p:nvSpPr>
          <p:cNvPr id="4" name="Slide Number Placeholder 3"/>
          <p:cNvSpPr>
            <a:spLocks noGrp="1"/>
          </p:cNvSpPr>
          <p:nvPr>
            <p:ph type="sldNum" sz="quarter" idx="5"/>
          </p:nvPr>
        </p:nvSpPr>
        <p:spPr/>
        <p:txBody>
          <a:bodyPr/>
          <a:lstStyle/>
          <a:p>
            <a:fld id="{AB40D8CB-5069-48A5-A31E-868D687857E9}" type="slidenum">
              <a:rPr lang="en-US" smtClean="0"/>
              <a:t>57</a:t>
            </a:fld>
            <a:endParaRPr lang="en-US"/>
          </a:p>
        </p:txBody>
      </p:sp>
    </p:spTree>
    <p:extLst>
      <p:ext uri="{BB962C8B-B14F-4D97-AF65-F5344CB8AC3E}">
        <p14:creationId xmlns:p14="http://schemas.microsoft.com/office/powerpoint/2010/main" val="32069183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A78AF-4418-5CEF-4D30-0268876F4A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A062F03-D6C5-2A8C-F0B0-52BE4AC18D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02F3D2B-D912-8510-C081-4D4503BB3958}"/>
              </a:ext>
            </a:extLst>
          </p:cNvPr>
          <p:cNvSpPr>
            <a:spLocks noGrp="1"/>
          </p:cNvSpPr>
          <p:nvPr>
            <p:ph type="dt" sz="half" idx="10"/>
          </p:nvPr>
        </p:nvSpPr>
        <p:spPr/>
        <p:txBody>
          <a:bodyPr/>
          <a:lstStyle/>
          <a:p>
            <a:fld id="{5BD81F86-8B07-43C5-98D2-06BCA4229DF1}" type="datetimeFigureOut">
              <a:rPr lang="en-US" smtClean="0"/>
              <a:t>4/3/2025</a:t>
            </a:fld>
            <a:endParaRPr lang="en-US"/>
          </a:p>
        </p:txBody>
      </p:sp>
      <p:sp>
        <p:nvSpPr>
          <p:cNvPr id="5" name="Footer Placeholder 4">
            <a:extLst>
              <a:ext uri="{FF2B5EF4-FFF2-40B4-BE49-F238E27FC236}">
                <a16:creationId xmlns:a16="http://schemas.microsoft.com/office/drawing/2014/main" id="{4B64F8B1-36B4-F679-3431-A38FA2AFD4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EAA192-EB91-7D4D-9B6C-9A0861236146}"/>
              </a:ext>
            </a:extLst>
          </p:cNvPr>
          <p:cNvSpPr>
            <a:spLocks noGrp="1"/>
          </p:cNvSpPr>
          <p:nvPr>
            <p:ph type="sldNum" sz="quarter" idx="12"/>
          </p:nvPr>
        </p:nvSpPr>
        <p:spPr/>
        <p:txBody>
          <a:bodyPr/>
          <a:lstStyle/>
          <a:p>
            <a:fld id="{F06547B8-D342-421E-B510-8A922C33B39C}" type="slidenum">
              <a:rPr lang="en-US" smtClean="0"/>
              <a:t>‹#›</a:t>
            </a:fld>
            <a:endParaRPr lang="en-US"/>
          </a:p>
        </p:txBody>
      </p:sp>
    </p:spTree>
    <p:extLst>
      <p:ext uri="{BB962C8B-B14F-4D97-AF65-F5344CB8AC3E}">
        <p14:creationId xmlns:p14="http://schemas.microsoft.com/office/powerpoint/2010/main" val="3025393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A31D8-C680-E95A-9D8E-FDA75AFEF2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618C516-D956-B47F-5720-2872858E273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6CBA35-C018-5539-D50A-48B21BF5A023}"/>
              </a:ext>
            </a:extLst>
          </p:cNvPr>
          <p:cNvSpPr>
            <a:spLocks noGrp="1"/>
          </p:cNvSpPr>
          <p:nvPr>
            <p:ph type="dt" sz="half" idx="10"/>
          </p:nvPr>
        </p:nvSpPr>
        <p:spPr/>
        <p:txBody>
          <a:bodyPr/>
          <a:lstStyle/>
          <a:p>
            <a:fld id="{5BD81F86-8B07-43C5-98D2-06BCA4229DF1}" type="datetimeFigureOut">
              <a:rPr lang="en-US" smtClean="0"/>
              <a:t>4/3/2025</a:t>
            </a:fld>
            <a:endParaRPr lang="en-US"/>
          </a:p>
        </p:txBody>
      </p:sp>
      <p:sp>
        <p:nvSpPr>
          <p:cNvPr id="5" name="Footer Placeholder 4">
            <a:extLst>
              <a:ext uri="{FF2B5EF4-FFF2-40B4-BE49-F238E27FC236}">
                <a16:creationId xmlns:a16="http://schemas.microsoft.com/office/drawing/2014/main" id="{247B05D5-7F9E-AD86-C3CE-391C299112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AB9DA7-9C5D-041F-A18A-5BF2338E54CB}"/>
              </a:ext>
            </a:extLst>
          </p:cNvPr>
          <p:cNvSpPr>
            <a:spLocks noGrp="1"/>
          </p:cNvSpPr>
          <p:nvPr>
            <p:ph type="sldNum" sz="quarter" idx="12"/>
          </p:nvPr>
        </p:nvSpPr>
        <p:spPr/>
        <p:txBody>
          <a:bodyPr/>
          <a:lstStyle/>
          <a:p>
            <a:fld id="{F06547B8-D342-421E-B510-8A922C33B39C}" type="slidenum">
              <a:rPr lang="en-US" smtClean="0"/>
              <a:t>‹#›</a:t>
            </a:fld>
            <a:endParaRPr lang="en-US"/>
          </a:p>
        </p:txBody>
      </p:sp>
    </p:spTree>
    <p:extLst>
      <p:ext uri="{BB962C8B-B14F-4D97-AF65-F5344CB8AC3E}">
        <p14:creationId xmlns:p14="http://schemas.microsoft.com/office/powerpoint/2010/main" val="3843638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A6D2D-E259-1E82-FC36-18D7B9542B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949949C-4C2F-B04A-678B-7F0EF65189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C21D74-2633-CCC6-63D3-713DF095EC2F}"/>
              </a:ext>
            </a:extLst>
          </p:cNvPr>
          <p:cNvSpPr>
            <a:spLocks noGrp="1"/>
          </p:cNvSpPr>
          <p:nvPr>
            <p:ph type="dt" sz="half" idx="10"/>
          </p:nvPr>
        </p:nvSpPr>
        <p:spPr/>
        <p:txBody>
          <a:bodyPr/>
          <a:lstStyle/>
          <a:p>
            <a:fld id="{5BD81F86-8B07-43C5-98D2-06BCA4229DF1}" type="datetimeFigureOut">
              <a:rPr lang="en-US" smtClean="0"/>
              <a:t>4/3/2025</a:t>
            </a:fld>
            <a:endParaRPr lang="en-US"/>
          </a:p>
        </p:txBody>
      </p:sp>
      <p:sp>
        <p:nvSpPr>
          <p:cNvPr id="5" name="Footer Placeholder 4">
            <a:extLst>
              <a:ext uri="{FF2B5EF4-FFF2-40B4-BE49-F238E27FC236}">
                <a16:creationId xmlns:a16="http://schemas.microsoft.com/office/drawing/2014/main" id="{F7721CB6-EACB-C2DF-09A4-F4D3377D02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AA7A63-2005-ACA2-F19E-72AE68D1B132}"/>
              </a:ext>
            </a:extLst>
          </p:cNvPr>
          <p:cNvSpPr>
            <a:spLocks noGrp="1"/>
          </p:cNvSpPr>
          <p:nvPr>
            <p:ph type="sldNum" sz="quarter" idx="12"/>
          </p:nvPr>
        </p:nvSpPr>
        <p:spPr/>
        <p:txBody>
          <a:bodyPr/>
          <a:lstStyle/>
          <a:p>
            <a:fld id="{F06547B8-D342-421E-B510-8A922C33B39C}" type="slidenum">
              <a:rPr lang="en-US" smtClean="0"/>
              <a:t>‹#›</a:t>
            </a:fld>
            <a:endParaRPr lang="en-US"/>
          </a:p>
        </p:txBody>
      </p:sp>
    </p:spTree>
    <p:extLst>
      <p:ext uri="{BB962C8B-B14F-4D97-AF65-F5344CB8AC3E}">
        <p14:creationId xmlns:p14="http://schemas.microsoft.com/office/powerpoint/2010/main" val="3517083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EF90C-EDAC-BC53-F9FC-BF7F94E575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FA999F-8D87-3C98-85F3-52805FB6BB9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293A0D3-319E-ABAE-C3BB-309E69D28AD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29BE77D-190E-E1F1-3902-3EE4F562EFFF}"/>
              </a:ext>
            </a:extLst>
          </p:cNvPr>
          <p:cNvSpPr>
            <a:spLocks noGrp="1"/>
          </p:cNvSpPr>
          <p:nvPr>
            <p:ph type="dt" sz="half" idx="10"/>
          </p:nvPr>
        </p:nvSpPr>
        <p:spPr/>
        <p:txBody>
          <a:bodyPr/>
          <a:lstStyle/>
          <a:p>
            <a:fld id="{5BD81F86-8B07-43C5-98D2-06BCA4229DF1}" type="datetimeFigureOut">
              <a:rPr lang="en-US" smtClean="0"/>
              <a:t>4/3/2025</a:t>
            </a:fld>
            <a:endParaRPr lang="en-US"/>
          </a:p>
        </p:txBody>
      </p:sp>
      <p:sp>
        <p:nvSpPr>
          <p:cNvPr id="6" name="Footer Placeholder 5">
            <a:extLst>
              <a:ext uri="{FF2B5EF4-FFF2-40B4-BE49-F238E27FC236}">
                <a16:creationId xmlns:a16="http://schemas.microsoft.com/office/drawing/2014/main" id="{630AC9D0-C9E5-F9C3-DD51-74B2E40EE3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2AD4EB-BC80-BDE8-0201-05655405ED5B}"/>
              </a:ext>
            </a:extLst>
          </p:cNvPr>
          <p:cNvSpPr>
            <a:spLocks noGrp="1"/>
          </p:cNvSpPr>
          <p:nvPr>
            <p:ph type="sldNum" sz="quarter" idx="12"/>
          </p:nvPr>
        </p:nvSpPr>
        <p:spPr/>
        <p:txBody>
          <a:bodyPr/>
          <a:lstStyle/>
          <a:p>
            <a:fld id="{F06547B8-D342-421E-B510-8A922C33B39C}" type="slidenum">
              <a:rPr lang="en-US" smtClean="0"/>
              <a:t>‹#›</a:t>
            </a:fld>
            <a:endParaRPr lang="en-US"/>
          </a:p>
        </p:txBody>
      </p:sp>
    </p:spTree>
    <p:extLst>
      <p:ext uri="{BB962C8B-B14F-4D97-AF65-F5344CB8AC3E}">
        <p14:creationId xmlns:p14="http://schemas.microsoft.com/office/powerpoint/2010/main" val="1238973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1264E-45C7-B268-4470-186705F860E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8BF1B76-DF88-5BF3-081A-63CD84E6E0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B9E4C1-C4C4-2764-058F-428A8B4E4A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D512344-B30F-9A8D-95C4-460E230F16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2F7F2D-7FA7-5B9A-092D-1FFAF13F2A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33647F-5241-C4A3-5C3D-6200A089293C}"/>
              </a:ext>
            </a:extLst>
          </p:cNvPr>
          <p:cNvSpPr>
            <a:spLocks noGrp="1"/>
          </p:cNvSpPr>
          <p:nvPr>
            <p:ph type="dt" sz="half" idx="10"/>
          </p:nvPr>
        </p:nvSpPr>
        <p:spPr/>
        <p:txBody>
          <a:bodyPr/>
          <a:lstStyle/>
          <a:p>
            <a:fld id="{5BD81F86-8B07-43C5-98D2-06BCA4229DF1}" type="datetimeFigureOut">
              <a:rPr lang="en-US" smtClean="0"/>
              <a:t>4/3/2025</a:t>
            </a:fld>
            <a:endParaRPr lang="en-US"/>
          </a:p>
        </p:txBody>
      </p:sp>
      <p:sp>
        <p:nvSpPr>
          <p:cNvPr id="8" name="Footer Placeholder 7">
            <a:extLst>
              <a:ext uri="{FF2B5EF4-FFF2-40B4-BE49-F238E27FC236}">
                <a16:creationId xmlns:a16="http://schemas.microsoft.com/office/drawing/2014/main" id="{B8281930-6CE8-BB9B-E2C6-E2352D93E17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2F02AD4-7CC7-E4D7-D213-1734F7F62E1B}"/>
              </a:ext>
            </a:extLst>
          </p:cNvPr>
          <p:cNvSpPr>
            <a:spLocks noGrp="1"/>
          </p:cNvSpPr>
          <p:nvPr>
            <p:ph type="sldNum" sz="quarter" idx="12"/>
          </p:nvPr>
        </p:nvSpPr>
        <p:spPr/>
        <p:txBody>
          <a:bodyPr/>
          <a:lstStyle/>
          <a:p>
            <a:fld id="{F06547B8-D342-421E-B510-8A922C33B39C}" type="slidenum">
              <a:rPr lang="en-US" smtClean="0"/>
              <a:t>‹#›</a:t>
            </a:fld>
            <a:endParaRPr lang="en-US"/>
          </a:p>
        </p:txBody>
      </p:sp>
    </p:spTree>
    <p:extLst>
      <p:ext uri="{BB962C8B-B14F-4D97-AF65-F5344CB8AC3E}">
        <p14:creationId xmlns:p14="http://schemas.microsoft.com/office/powerpoint/2010/main" val="19730989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F040B-96C7-94BD-A30C-72DE00FBAB4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D8C51BC-CC1E-3DD9-9205-E3AD6B288915}"/>
              </a:ext>
            </a:extLst>
          </p:cNvPr>
          <p:cNvSpPr>
            <a:spLocks noGrp="1"/>
          </p:cNvSpPr>
          <p:nvPr>
            <p:ph type="dt" sz="half" idx="10"/>
          </p:nvPr>
        </p:nvSpPr>
        <p:spPr/>
        <p:txBody>
          <a:bodyPr/>
          <a:lstStyle/>
          <a:p>
            <a:fld id="{5BD81F86-8B07-43C5-98D2-06BCA4229DF1}" type="datetimeFigureOut">
              <a:rPr lang="en-US" smtClean="0"/>
              <a:t>4/3/2025</a:t>
            </a:fld>
            <a:endParaRPr lang="en-US"/>
          </a:p>
        </p:txBody>
      </p:sp>
      <p:sp>
        <p:nvSpPr>
          <p:cNvPr id="4" name="Footer Placeholder 3">
            <a:extLst>
              <a:ext uri="{FF2B5EF4-FFF2-40B4-BE49-F238E27FC236}">
                <a16:creationId xmlns:a16="http://schemas.microsoft.com/office/drawing/2014/main" id="{6B4A3918-D63C-2EA0-DBF5-837F47ADBBD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206C7F0-6EC1-5789-81F8-4767EF1D4DA3}"/>
              </a:ext>
            </a:extLst>
          </p:cNvPr>
          <p:cNvSpPr>
            <a:spLocks noGrp="1"/>
          </p:cNvSpPr>
          <p:nvPr>
            <p:ph type="sldNum" sz="quarter" idx="12"/>
          </p:nvPr>
        </p:nvSpPr>
        <p:spPr/>
        <p:txBody>
          <a:bodyPr/>
          <a:lstStyle/>
          <a:p>
            <a:fld id="{F06547B8-D342-421E-B510-8A922C33B39C}" type="slidenum">
              <a:rPr lang="en-US" smtClean="0"/>
              <a:t>‹#›</a:t>
            </a:fld>
            <a:endParaRPr lang="en-US"/>
          </a:p>
        </p:txBody>
      </p:sp>
    </p:spTree>
    <p:extLst>
      <p:ext uri="{BB962C8B-B14F-4D97-AF65-F5344CB8AC3E}">
        <p14:creationId xmlns:p14="http://schemas.microsoft.com/office/powerpoint/2010/main" val="4064990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F7E13A-075E-5083-BDA1-EFE2A847FDCD}"/>
              </a:ext>
            </a:extLst>
          </p:cNvPr>
          <p:cNvSpPr>
            <a:spLocks noGrp="1"/>
          </p:cNvSpPr>
          <p:nvPr>
            <p:ph type="dt" sz="half" idx="10"/>
          </p:nvPr>
        </p:nvSpPr>
        <p:spPr/>
        <p:txBody>
          <a:bodyPr/>
          <a:lstStyle/>
          <a:p>
            <a:fld id="{5BD81F86-8B07-43C5-98D2-06BCA4229DF1}" type="datetimeFigureOut">
              <a:rPr lang="en-US" smtClean="0"/>
              <a:t>4/3/2025</a:t>
            </a:fld>
            <a:endParaRPr lang="en-US"/>
          </a:p>
        </p:txBody>
      </p:sp>
      <p:sp>
        <p:nvSpPr>
          <p:cNvPr id="3" name="Footer Placeholder 2">
            <a:extLst>
              <a:ext uri="{FF2B5EF4-FFF2-40B4-BE49-F238E27FC236}">
                <a16:creationId xmlns:a16="http://schemas.microsoft.com/office/drawing/2014/main" id="{9FC48778-F613-BB0B-C8BE-79395DB4573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6D8B24D-51B1-767A-75F5-5239D0DA39FF}"/>
              </a:ext>
            </a:extLst>
          </p:cNvPr>
          <p:cNvSpPr>
            <a:spLocks noGrp="1"/>
          </p:cNvSpPr>
          <p:nvPr>
            <p:ph type="sldNum" sz="quarter" idx="12"/>
          </p:nvPr>
        </p:nvSpPr>
        <p:spPr/>
        <p:txBody>
          <a:bodyPr/>
          <a:lstStyle/>
          <a:p>
            <a:fld id="{F06547B8-D342-421E-B510-8A922C33B39C}" type="slidenum">
              <a:rPr lang="en-US" smtClean="0"/>
              <a:t>‹#›</a:t>
            </a:fld>
            <a:endParaRPr lang="en-US"/>
          </a:p>
        </p:txBody>
      </p:sp>
    </p:spTree>
    <p:extLst>
      <p:ext uri="{BB962C8B-B14F-4D97-AF65-F5344CB8AC3E}">
        <p14:creationId xmlns:p14="http://schemas.microsoft.com/office/powerpoint/2010/main" val="460416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90C3D-58F8-4038-3BF0-3FEAF7754D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9ACAFFF-5486-4B5A-6C2C-272D974D5E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B614CE1-F460-11A0-CF91-2EF2FFF0E6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814999-5AB8-BE8C-6DBE-254ADCC0AC66}"/>
              </a:ext>
            </a:extLst>
          </p:cNvPr>
          <p:cNvSpPr>
            <a:spLocks noGrp="1"/>
          </p:cNvSpPr>
          <p:nvPr>
            <p:ph type="dt" sz="half" idx="10"/>
          </p:nvPr>
        </p:nvSpPr>
        <p:spPr/>
        <p:txBody>
          <a:bodyPr/>
          <a:lstStyle/>
          <a:p>
            <a:fld id="{5BD81F86-8B07-43C5-98D2-06BCA4229DF1}" type="datetimeFigureOut">
              <a:rPr lang="en-US" smtClean="0"/>
              <a:t>4/3/2025</a:t>
            </a:fld>
            <a:endParaRPr lang="en-US"/>
          </a:p>
        </p:txBody>
      </p:sp>
      <p:sp>
        <p:nvSpPr>
          <p:cNvPr id="6" name="Footer Placeholder 5">
            <a:extLst>
              <a:ext uri="{FF2B5EF4-FFF2-40B4-BE49-F238E27FC236}">
                <a16:creationId xmlns:a16="http://schemas.microsoft.com/office/drawing/2014/main" id="{F85AC227-3C05-D965-B303-35C487D4A0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8743F0-3A93-4ABB-60D0-514E48351E78}"/>
              </a:ext>
            </a:extLst>
          </p:cNvPr>
          <p:cNvSpPr>
            <a:spLocks noGrp="1"/>
          </p:cNvSpPr>
          <p:nvPr>
            <p:ph type="sldNum" sz="quarter" idx="12"/>
          </p:nvPr>
        </p:nvSpPr>
        <p:spPr/>
        <p:txBody>
          <a:bodyPr/>
          <a:lstStyle/>
          <a:p>
            <a:fld id="{F06547B8-D342-421E-B510-8A922C33B39C}" type="slidenum">
              <a:rPr lang="en-US" smtClean="0"/>
              <a:t>‹#›</a:t>
            </a:fld>
            <a:endParaRPr lang="en-US"/>
          </a:p>
        </p:txBody>
      </p:sp>
    </p:spTree>
    <p:extLst>
      <p:ext uri="{BB962C8B-B14F-4D97-AF65-F5344CB8AC3E}">
        <p14:creationId xmlns:p14="http://schemas.microsoft.com/office/powerpoint/2010/main" val="40367286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571D2-2EB4-8B4B-2654-D3DF7209C7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4888D7-91D3-2600-0F79-A112CE3F2D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4BA3FD9-4BE3-FD4F-6024-4FB6F321CE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1F6A4D-F8A2-639B-601E-D9665CEE952D}"/>
              </a:ext>
            </a:extLst>
          </p:cNvPr>
          <p:cNvSpPr>
            <a:spLocks noGrp="1"/>
          </p:cNvSpPr>
          <p:nvPr>
            <p:ph type="dt" sz="half" idx="10"/>
          </p:nvPr>
        </p:nvSpPr>
        <p:spPr/>
        <p:txBody>
          <a:bodyPr/>
          <a:lstStyle/>
          <a:p>
            <a:fld id="{5BD81F86-8B07-43C5-98D2-06BCA4229DF1}" type="datetimeFigureOut">
              <a:rPr lang="en-US" smtClean="0"/>
              <a:t>4/3/2025</a:t>
            </a:fld>
            <a:endParaRPr lang="en-US"/>
          </a:p>
        </p:txBody>
      </p:sp>
      <p:sp>
        <p:nvSpPr>
          <p:cNvPr id="6" name="Footer Placeholder 5">
            <a:extLst>
              <a:ext uri="{FF2B5EF4-FFF2-40B4-BE49-F238E27FC236}">
                <a16:creationId xmlns:a16="http://schemas.microsoft.com/office/drawing/2014/main" id="{CDFBA3A3-F032-9BBD-DA12-3B23352E01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4A788A-AE44-B294-C2AE-7C1569477987}"/>
              </a:ext>
            </a:extLst>
          </p:cNvPr>
          <p:cNvSpPr>
            <a:spLocks noGrp="1"/>
          </p:cNvSpPr>
          <p:nvPr>
            <p:ph type="sldNum" sz="quarter" idx="12"/>
          </p:nvPr>
        </p:nvSpPr>
        <p:spPr/>
        <p:txBody>
          <a:bodyPr/>
          <a:lstStyle/>
          <a:p>
            <a:fld id="{F06547B8-D342-421E-B510-8A922C33B39C}" type="slidenum">
              <a:rPr lang="en-US" smtClean="0"/>
              <a:t>‹#›</a:t>
            </a:fld>
            <a:endParaRPr lang="en-US"/>
          </a:p>
        </p:txBody>
      </p:sp>
    </p:spTree>
    <p:extLst>
      <p:ext uri="{BB962C8B-B14F-4D97-AF65-F5344CB8AC3E}">
        <p14:creationId xmlns:p14="http://schemas.microsoft.com/office/powerpoint/2010/main" val="31464409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6A89A-333A-8ABB-1A43-BDD5B46DB49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BE5283-AE7B-067D-6C59-4049BF2D81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900459-DB42-926F-176F-5B00E001559D}"/>
              </a:ext>
            </a:extLst>
          </p:cNvPr>
          <p:cNvSpPr>
            <a:spLocks noGrp="1"/>
          </p:cNvSpPr>
          <p:nvPr>
            <p:ph type="dt" sz="half" idx="10"/>
          </p:nvPr>
        </p:nvSpPr>
        <p:spPr/>
        <p:txBody>
          <a:bodyPr/>
          <a:lstStyle/>
          <a:p>
            <a:fld id="{5BD81F86-8B07-43C5-98D2-06BCA4229DF1}" type="datetimeFigureOut">
              <a:rPr lang="en-US" smtClean="0"/>
              <a:t>4/3/2025</a:t>
            </a:fld>
            <a:endParaRPr lang="en-US"/>
          </a:p>
        </p:txBody>
      </p:sp>
      <p:sp>
        <p:nvSpPr>
          <p:cNvPr id="5" name="Footer Placeholder 4">
            <a:extLst>
              <a:ext uri="{FF2B5EF4-FFF2-40B4-BE49-F238E27FC236}">
                <a16:creationId xmlns:a16="http://schemas.microsoft.com/office/drawing/2014/main" id="{B4E0BCA0-6FEA-6674-CF50-DB9F3D4888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06554F-A8D2-40D2-61C1-746907AA3FCA}"/>
              </a:ext>
            </a:extLst>
          </p:cNvPr>
          <p:cNvSpPr>
            <a:spLocks noGrp="1"/>
          </p:cNvSpPr>
          <p:nvPr>
            <p:ph type="sldNum" sz="quarter" idx="12"/>
          </p:nvPr>
        </p:nvSpPr>
        <p:spPr/>
        <p:txBody>
          <a:bodyPr/>
          <a:lstStyle/>
          <a:p>
            <a:fld id="{F06547B8-D342-421E-B510-8A922C33B39C}" type="slidenum">
              <a:rPr lang="en-US" smtClean="0"/>
              <a:t>‹#›</a:t>
            </a:fld>
            <a:endParaRPr lang="en-US"/>
          </a:p>
        </p:txBody>
      </p:sp>
    </p:spTree>
    <p:extLst>
      <p:ext uri="{BB962C8B-B14F-4D97-AF65-F5344CB8AC3E}">
        <p14:creationId xmlns:p14="http://schemas.microsoft.com/office/powerpoint/2010/main" val="1178128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3183D36-9D0A-C97D-31E1-C2C1FE40CA3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04F42FC-0A6A-AAA2-B3E2-653EA5DB1C9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EC8DAC-602F-6E80-9CDD-706F3909FD5B}"/>
              </a:ext>
            </a:extLst>
          </p:cNvPr>
          <p:cNvSpPr>
            <a:spLocks noGrp="1"/>
          </p:cNvSpPr>
          <p:nvPr>
            <p:ph type="dt" sz="half" idx="10"/>
          </p:nvPr>
        </p:nvSpPr>
        <p:spPr/>
        <p:txBody>
          <a:bodyPr/>
          <a:lstStyle/>
          <a:p>
            <a:fld id="{5BD81F86-8B07-43C5-98D2-06BCA4229DF1}" type="datetimeFigureOut">
              <a:rPr lang="en-US" smtClean="0"/>
              <a:t>4/3/2025</a:t>
            </a:fld>
            <a:endParaRPr lang="en-US"/>
          </a:p>
        </p:txBody>
      </p:sp>
      <p:sp>
        <p:nvSpPr>
          <p:cNvPr id="5" name="Footer Placeholder 4">
            <a:extLst>
              <a:ext uri="{FF2B5EF4-FFF2-40B4-BE49-F238E27FC236}">
                <a16:creationId xmlns:a16="http://schemas.microsoft.com/office/drawing/2014/main" id="{55AB8680-0649-5F60-B4BB-F0F29AEAFE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678C45-0B9E-0089-20D0-7A7A605AB0AB}"/>
              </a:ext>
            </a:extLst>
          </p:cNvPr>
          <p:cNvSpPr>
            <a:spLocks noGrp="1"/>
          </p:cNvSpPr>
          <p:nvPr>
            <p:ph type="sldNum" sz="quarter" idx="12"/>
          </p:nvPr>
        </p:nvSpPr>
        <p:spPr/>
        <p:txBody>
          <a:bodyPr/>
          <a:lstStyle/>
          <a:p>
            <a:fld id="{F06547B8-D342-421E-B510-8A922C33B39C}" type="slidenum">
              <a:rPr lang="en-US" smtClean="0"/>
              <a:t>‹#›</a:t>
            </a:fld>
            <a:endParaRPr lang="en-US"/>
          </a:p>
        </p:txBody>
      </p:sp>
    </p:spTree>
    <p:extLst>
      <p:ext uri="{BB962C8B-B14F-4D97-AF65-F5344CB8AC3E}">
        <p14:creationId xmlns:p14="http://schemas.microsoft.com/office/powerpoint/2010/main" val="1719313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184619-0CF4-4805-9CAC-D2C319EE5A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E07AC2-A947-DCC6-8662-D3BBDF2B00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7367D1-2203-792A-FB52-4EA09F3813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BD81F86-8B07-43C5-98D2-06BCA4229DF1}" type="datetimeFigureOut">
              <a:rPr lang="en-US" smtClean="0"/>
              <a:t>4/3/2025</a:t>
            </a:fld>
            <a:endParaRPr lang="en-US"/>
          </a:p>
        </p:txBody>
      </p:sp>
      <p:sp>
        <p:nvSpPr>
          <p:cNvPr id="5" name="Footer Placeholder 4">
            <a:extLst>
              <a:ext uri="{FF2B5EF4-FFF2-40B4-BE49-F238E27FC236}">
                <a16:creationId xmlns:a16="http://schemas.microsoft.com/office/drawing/2014/main" id="{2E7CACC7-60F6-63A8-ADE3-813605BBFD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EB964AF-0D8D-F853-A107-43BB5B98C6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06547B8-D342-421E-B510-8A922C33B39C}" type="slidenum">
              <a:rPr lang="en-US" smtClean="0"/>
              <a:t>‹#›</a:t>
            </a:fld>
            <a:endParaRPr lang="en-US"/>
          </a:p>
        </p:txBody>
      </p:sp>
    </p:spTree>
    <p:extLst>
      <p:ext uri="{BB962C8B-B14F-4D97-AF65-F5344CB8AC3E}">
        <p14:creationId xmlns:p14="http://schemas.microsoft.com/office/powerpoint/2010/main" val="41575404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8.png"/><Relationship Id="rId7" Type="http://schemas.openxmlformats.org/officeDocument/2006/relationships/image" Target="../media/image20.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19.png"/><Relationship Id="rId10" Type="http://schemas.openxmlformats.org/officeDocument/2006/relationships/image" Target="../media/image22.png"/><Relationship Id="rId4" Type="http://schemas.openxmlformats.org/officeDocument/2006/relationships/customXml" Target="../ink/ink1.xml"/><Relationship Id="rId9" Type="http://schemas.openxmlformats.org/officeDocument/2006/relationships/customXml" Target="../ink/ink3.xml"/></Relationships>
</file>

<file path=ppt/slides/_rels/slide5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hyperlink" Target="https://www.oecd.org/skills/piaac/data/" TargetMode="Externa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54468-02FA-D663-DA3C-D2CE939F61DC}"/>
              </a:ext>
            </a:extLst>
          </p:cNvPr>
          <p:cNvSpPr>
            <a:spLocks noGrp="1"/>
          </p:cNvSpPr>
          <p:nvPr>
            <p:ph type="ctrTitle"/>
          </p:nvPr>
        </p:nvSpPr>
        <p:spPr/>
        <p:txBody>
          <a:bodyPr/>
          <a:lstStyle/>
          <a:p>
            <a:r>
              <a:rPr lang="en-US" dirty="0"/>
              <a:t>Factor Analysis</a:t>
            </a:r>
          </a:p>
        </p:txBody>
      </p:sp>
      <p:sp>
        <p:nvSpPr>
          <p:cNvPr id="3" name="Subtitle 2">
            <a:extLst>
              <a:ext uri="{FF2B5EF4-FFF2-40B4-BE49-F238E27FC236}">
                <a16:creationId xmlns:a16="http://schemas.microsoft.com/office/drawing/2014/main" id="{40A9B2AB-B541-93FD-488E-CB05D575ACFD}"/>
              </a:ext>
            </a:extLst>
          </p:cNvPr>
          <p:cNvSpPr>
            <a:spLocks noGrp="1"/>
          </p:cNvSpPr>
          <p:nvPr>
            <p:ph type="subTitle" idx="1"/>
          </p:nvPr>
        </p:nvSpPr>
        <p:spPr/>
        <p:txBody>
          <a:bodyPr/>
          <a:lstStyle/>
          <a:p>
            <a:r>
              <a:rPr lang="en-US" dirty="0"/>
              <a:t>Week 13</a:t>
            </a:r>
          </a:p>
          <a:p>
            <a:r>
              <a:rPr lang="en-US" dirty="0"/>
              <a:t>March 31, 2025</a:t>
            </a:r>
          </a:p>
        </p:txBody>
      </p:sp>
    </p:spTree>
    <p:extLst>
      <p:ext uri="{BB962C8B-B14F-4D97-AF65-F5344CB8AC3E}">
        <p14:creationId xmlns:p14="http://schemas.microsoft.com/office/powerpoint/2010/main" val="37835179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B020677-F6C2-6DE5-4B9F-D49F2F531BDD}"/>
              </a:ext>
            </a:extLst>
          </p:cNvPr>
          <p:cNvSpPr>
            <a:spLocks noGrp="1"/>
          </p:cNvSpPr>
          <p:nvPr>
            <p:ph type="title"/>
          </p:nvPr>
        </p:nvSpPr>
        <p:spPr>
          <a:xfrm>
            <a:off x="130534" y="150441"/>
            <a:ext cx="10515600" cy="628788"/>
          </a:xfrm>
        </p:spPr>
        <p:txBody>
          <a:bodyPr>
            <a:normAutofit fontScale="90000"/>
          </a:bodyPr>
          <a:lstStyle/>
          <a:p>
            <a:r>
              <a:rPr lang="en-US" dirty="0"/>
              <a:t>What is Factor analysis (FA)?</a:t>
            </a:r>
          </a:p>
        </p:txBody>
      </p:sp>
      <p:sp>
        <p:nvSpPr>
          <p:cNvPr id="5" name="Content Placeholder 4">
            <a:extLst>
              <a:ext uri="{FF2B5EF4-FFF2-40B4-BE49-F238E27FC236}">
                <a16:creationId xmlns:a16="http://schemas.microsoft.com/office/drawing/2014/main" id="{C929B6C7-CB9F-90D2-8E1D-74E0F345CA46}"/>
              </a:ext>
            </a:extLst>
          </p:cNvPr>
          <p:cNvSpPr>
            <a:spLocks noGrp="1"/>
          </p:cNvSpPr>
          <p:nvPr>
            <p:ph idx="1"/>
          </p:nvPr>
        </p:nvSpPr>
        <p:spPr>
          <a:xfrm>
            <a:off x="233901" y="779229"/>
            <a:ext cx="10515600" cy="4351338"/>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FA is a tool for analyzing the structure of the interrelationships among a large number of variables by defining sets of variables that are highly interrelated</a:t>
            </a:r>
          </a:p>
          <a:p>
            <a:r>
              <a:rPr lang="en-US" sz="2000" dirty="0">
                <a:latin typeface="Calibri" panose="020F0502020204030204" pitchFamily="34" charset="0"/>
                <a:ea typeface="Calibri" panose="020F0502020204030204" pitchFamily="34" charset="0"/>
                <a:cs typeface="Calibri" panose="020F0502020204030204" pitchFamily="34" charset="0"/>
              </a:rPr>
              <a:t>Social workers use different measures to capture different underlying constructs (?)</a:t>
            </a:r>
          </a:p>
          <a:p>
            <a:pPr lvl="1"/>
            <a:r>
              <a:rPr lang="en-US" sz="1800" dirty="0">
                <a:latin typeface="Calibri" panose="020F0502020204030204" pitchFamily="34" charset="0"/>
                <a:ea typeface="Calibri" panose="020F0502020204030204" pitchFamily="34" charset="0"/>
                <a:cs typeface="Calibri" panose="020F0502020204030204" pitchFamily="34" charset="0"/>
              </a:rPr>
              <a:t>To be representative of the underlying construct, the variables should ‘cluster’ together around that construct</a:t>
            </a:r>
          </a:p>
          <a:p>
            <a:pPr lvl="1"/>
            <a:r>
              <a:rPr lang="en-US" sz="1800" dirty="0">
                <a:latin typeface="Calibri" panose="020F0502020204030204" pitchFamily="34" charset="0"/>
                <a:ea typeface="Calibri" panose="020F0502020204030204" pitchFamily="34" charset="0"/>
                <a:cs typeface="Calibri" panose="020F0502020204030204" pitchFamily="34" charset="0"/>
              </a:rPr>
              <a:t>The construct is called a latent variable and is represented by a ‘factor’</a:t>
            </a:r>
          </a:p>
          <a:p>
            <a:pPr lvl="1"/>
            <a:r>
              <a:rPr lang="en-US" sz="1800" dirty="0">
                <a:latin typeface="Calibri" panose="020F0502020204030204" pitchFamily="34" charset="0"/>
                <a:ea typeface="Calibri" panose="020F0502020204030204" pitchFamily="34" charset="0"/>
                <a:cs typeface="Calibri" panose="020F0502020204030204" pitchFamily="34" charset="0"/>
              </a:rPr>
              <a:t>Note: in Latent Class Analysis (next) the latent variable is referred to as a ‘class’</a:t>
            </a:r>
          </a:p>
          <a:p>
            <a:r>
              <a:rPr lang="en-US" sz="2000" dirty="0">
                <a:latin typeface="Calibri" panose="020F0502020204030204" pitchFamily="34" charset="0"/>
                <a:ea typeface="Calibri" panose="020F0502020204030204" pitchFamily="34" charset="0"/>
                <a:cs typeface="Calibri" panose="020F0502020204030204" pitchFamily="34" charset="0"/>
              </a:rPr>
              <a:t>The factors</a:t>
            </a:r>
            <a:r>
              <a:rPr lang="en-US" sz="2000" b="1" dirty="0">
                <a:latin typeface="Calibri" panose="020F0502020204030204" pitchFamily="34" charset="0"/>
                <a:ea typeface="Calibri" panose="020F0502020204030204" pitchFamily="34" charset="0"/>
                <a:cs typeface="Calibri" panose="020F0502020204030204" pitchFamily="34" charset="0"/>
              </a:rPr>
              <a:t> </a:t>
            </a:r>
            <a:r>
              <a:rPr lang="en-US" sz="2000" dirty="0">
                <a:latin typeface="Calibri" panose="020F0502020204030204" pitchFamily="34" charset="0"/>
                <a:ea typeface="Calibri" panose="020F0502020204030204" pitchFamily="34" charset="0"/>
                <a:cs typeface="Calibri" panose="020F0502020204030204" pitchFamily="34" charset="0"/>
              </a:rPr>
              <a:t>are assumed to represent dimensions within the data structure</a:t>
            </a:r>
          </a:p>
          <a:p>
            <a:pPr lvl="1"/>
            <a:r>
              <a:rPr lang="en-US" sz="1800" dirty="0">
                <a:latin typeface="Calibri" panose="020F0502020204030204" pitchFamily="34" charset="0"/>
                <a:ea typeface="Calibri" panose="020F0502020204030204" pitchFamily="34" charset="0"/>
                <a:cs typeface="Calibri" panose="020F0502020204030204" pitchFamily="34" charset="0"/>
              </a:rPr>
              <a:t>The dimensions can guide the creation of new composite measures</a:t>
            </a:r>
          </a:p>
          <a:p>
            <a:pPr lvl="1"/>
            <a:r>
              <a:rPr lang="en-US" sz="1800" b="1" dirty="0">
                <a:latin typeface="Calibri" panose="020F0502020204030204" pitchFamily="34" charset="0"/>
                <a:ea typeface="Calibri" panose="020F0502020204030204" pitchFamily="34" charset="0"/>
                <a:cs typeface="Calibri" panose="020F0502020204030204" pitchFamily="34" charset="0"/>
              </a:rPr>
              <a:t>Example</a:t>
            </a:r>
            <a:r>
              <a:rPr lang="en-US" sz="1800" dirty="0">
                <a:latin typeface="Calibri" panose="020F0502020204030204" pitchFamily="34" charset="0"/>
                <a:ea typeface="Calibri" panose="020F0502020204030204" pitchFamily="34" charset="0"/>
                <a:cs typeface="Calibri" panose="020F0502020204030204" pitchFamily="34" charset="0"/>
              </a:rPr>
              <a:t>: five items represent 1 latent variable called depression, or several items of neighborhood disinvestment represent ‘sustained disinvestment’ (see below)</a:t>
            </a:r>
          </a:p>
          <a:p>
            <a:pPr lvl="1"/>
            <a:r>
              <a:rPr lang="en-US" sz="1800" dirty="0">
                <a:latin typeface="Calibri" panose="020F0502020204030204" pitchFamily="34" charset="0"/>
                <a:ea typeface="Calibri" panose="020F0502020204030204" pitchFamily="34" charset="0"/>
                <a:cs typeface="Calibri" panose="020F0502020204030204" pitchFamily="34" charset="0"/>
              </a:rPr>
              <a:t>The dimensions have meaning for what they actually represent </a:t>
            </a:r>
            <a:r>
              <a:rPr lang="en-US" sz="1800" u="sng" dirty="0">
                <a:latin typeface="Calibri" panose="020F0502020204030204" pitchFamily="34" charset="0"/>
                <a:ea typeface="Calibri" panose="020F0502020204030204" pitchFamily="34" charset="0"/>
                <a:cs typeface="Calibri" panose="020F0502020204030204" pitchFamily="34" charset="0"/>
              </a:rPr>
              <a:t>if</a:t>
            </a:r>
            <a:r>
              <a:rPr lang="en-US" sz="1800" dirty="0">
                <a:latin typeface="Calibri" panose="020F0502020204030204" pitchFamily="34" charset="0"/>
                <a:ea typeface="Calibri" panose="020F0502020204030204" pitchFamily="34" charset="0"/>
                <a:cs typeface="Calibri" panose="020F0502020204030204" pitchFamily="34" charset="0"/>
              </a:rPr>
              <a:t> there is a conceptual basis for understanding the relations between the variables</a:t>
            </a:r>
          </a:p>
          <a:p>
            <a:endParaRPr lang="en-US" dirty="0"/>
          </a:p>
        </p:txBody>
      </p:sp>
    </p:spTree>
    <p:extLst>
      <p:ext uri="{BB962C8B-B14F-4D97-AF65-F5344CB8AC3E}">
        <p14:creationId xmlns:p14="http://schemas.microsoft.com/office/powerpoint/2010/main" val="2237407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 calcmode="lin" valueType="num">
                                      <p:cBhvr additive="base">
                                        <p:cTn id="19"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 calcmode="lin" valueType="num">
                                      <p:cBhvr additive="base">
                                        <p:cTn id="25"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anim calcmode="lin" valueType="num">
                                      <p:cBhvr additive="base">
                                        <p:cTn id="31"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 calcmode="lin" valueType="num">
                                      <p:cBhvr additive="base">
                                        <p:cTn id="37"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
                                            <p:txEl>
                                              <p:pRg st="7" end="7"/>
                                            </p:txEl>
                                          </p:spTgt>
                                        </p:tgtEl>
                                        <p:attrNameLst>
                                          <p:attrName>style.visibility</p:attrName>
                                        </p:attrNameLst>
                                      </p:cBhvr>
                                      <p:to>
                                        <p:strVal val="visible"/>
                                      </p:to>
                                    </p:set>
                                    <p:anim calcmode="lin" valueType="num">
                                      <p:cBhvr additive="base">
                                        <p:cTn id="43"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
                                            <p:txEl>
                                              <p:pRg st="8" end="8"/>
                                            </p:txEl>
                                          </p:spTgt>
                                        </p:tgtEl>
                                        <p:attrNameLst>
                                          <p:attrName>style.visibility</p:attrName>
                                        </p:attrNameLst>
                                      </p:cBhvr>
                                      <p:to>
                                        <p:strVal val="visible"/>
                                      </p:to>
                                    </p:set>
                                    <p:anim calcmode="lin" valueType="num">
                                      <p:cBhvr additive="base">
                                        <p:cTn id="49"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90245-374E-06C7-2C61-ADC316FBD2E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AC6F5AC-4625-0B02-3EBE-48BC34A61D5C}"/>
              </a:ext>
            </a:extLst>
          </p:cNvPr>
          <p:cNvSpPr>
            <a:spLocks noGrp="1"/>
          </p:cNvSpPr>
          <p:nvPr>
            <p:ph type="title"/>
          </p:nvPr>
        </p:nvSpPr>
        <p:spPr>
          <a:xfrm>
            <a:off x="130534" y="150441"/>
            <a:ext cx="10515600" cy="628788"/>
          </a:xfrm>
        </p:spPr>
        <p:txBody>
          <a:bodyPr>
            <a:normAutofit fontScale="90000"/>
          </a:bodyPr>
          <a:lstStyle/>
          <a:p>
            <a:r>
              <a:rPr lang="en-US" dirty="0"/>
              <a:t>What is a ‘latent variable’</a:t>
            </a:r>
          </a:p>
        </p:txBody>
      </p:sp>
      <p:sp>
        <p:nvSpPr>
          <p:cNvPr id="5" name="Content Placeholder 4">
            <a:extLst>
              <a:ext uri="{FF2B5EF4-FFF2-40B4-BE49-F238E27FC236}">
                <a16:creationId xmlns:a16="http://schemas.microsoft.com/office/drawing/2014/main" id="{2A81DD19-BEE1-CADA-B553-B4375154EFD2}"/>
              </a:ext>
            </a:extLst>
          </p:cNvPr>
          <p:cNvSpPr>
            <a:spLocks noGrp="1"/>
          </p:cNvSpPr>
          <p:nvPr>
            <p:ph idx="1"/>
          </p:nvPr>
        </p:nvSpPr>
        <p:spPr>
          <a:xfrm>
            <a:off x="233901" y="779229"/>
            <a:ext cx="10515600" cy="4351338"/>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Latent variables are unobserved (hidden) variables that are inferred from patterns in observed data</a:t>
            </a:r>
          </a:p>
          <a:p>
            <a:r>
              <a:rPr lang="en-US" sz="2000" dirty="0">
                <a:latin typeface="Calibri" panose="020F0502020204030204" pitchFamily="34" charset="0"/>
                <a:ea typeface="Calibri" panose="020F0502020204030204" pitchFamily="34" charset="0"/>
                <a:cs typeface="Calibri" panose="020F0502020204030204" pitchFamily="34" charset="0"/>
              </a:rPr>
              <a:t>In factor analysis, latent variables (also called factors) help explain the underlying structure among a set of measured variables (like survey items or test scores)</a:t>
            </a:r>
          </a:p>
          <a:p>
            <a:pPr lvl="1"/>
            <a:r>
              <a:rPr lang="en-US" sz="1600" b="1" u="sng" dirty="0">
                <a:latin typeface="Calibri" panose="020F0502020204030204" pitchFamily="34" charset="0"/>
                <a:ea typeface="Calibri" panose="020F0502020204030204" pitchFamily="34" charset="0"/>
                <a:cs typeface="Calibri" panose="020F0502020204030204" pitchFamily="34" charset="0"/>
              </a:rPr>
              <a:t>Example</a:t>
            </a:r>
            <a:r>
              <a:rPr lang="en-US" sz="1600" dirty="0">
                <a:latin typeface="Calibri" panose="020F0502020204030204" pitchFamily="34" charset="0"/>
                <a:ea typeface="Calibri" panose="020F0502020204030204" pitchFamily="34" charset="0"/>
                <a:cs typeface="Calibri" panose="020F0502020204030204" pitchFamily="34" charset="0"/>
              </a:rPr>
              <a:t>: You might measure things like "feeling sad," "trouble sleeping," and "loss of interest.“</a:t>
            </a:r>
          </a:p>
          <a:p>
            <a:pPr lvl="1"/>
            <a:r>
              <a:rPr lang="en-US" sz="1600" dirty="0">
                <a:latin typeface="Calibri" panose="020F0502020204030204" pitchFamily="34" charset="0"/>
                <a:ea typeface="Calibri" panose="020F0502020204030204" pitchFamily="34" charset="0"/>
                <a:cs typeface="Calibri" panose="020F0502020204030204" pitchFamily="34" charset="0"/>
              </a:rPr>
              <a:t>These observed variables are indicators of a latent variable like "Depression."</a:t>
            </a:r>
          </a:p>
          <a:p>
            <a:r>
              <a:rPr lang="en-US" sz="2000" dirty="0">
                <a:latin typeface="Calibri" panose="020F0502020204030204" pitchFamily="34" charset="0"/>
                <a:ea typeface="Calibri" panose="020F0502020204030204" pitchFamily="34" charset="0"/>
                <a:cs typeface="Calibri" panose="020F0502020204030204" pitchFamily="34" charset="0"/>
              </a:rPr>
              <a:t>Latent variables are </a:t>
            </a:r>
            <a:r>
              <a:rPr lang="en-US" sz="2000" b="1" dirty="0">
                <a:latin typeface="Calibri" panose="020F0502020204030204" pitchFamily="34" charset="0"/>
                <a:ea typeface="Calibri" panose="020F0502020204030204" pitchFamily="34" charset="0"/>
                <a:cs typeface="Calibri" panose="020F0502020204030204" pitchFamily="34" charset="0"/>
              </a:rPr>
              <a:t>not measured directly</a:t>
            </a:r>
            <a:r>
              <a:rPr lang="en-US" sz="2000" dirty="0">
                <a:latin typeface="Calibri" panose="020F0502020204030204" pitchFamily="34" charset="0"/>
                <a:ea typeface="Calibri" panose="020F0502020204030204" pitchFamily="34" charset="0"/>
                <a:cs typeface="Calibri" panose="020F0502020204030204" pitchFamily="34" charset="0"/>
              </a:rPr>
              <a:t>—they are statistical constructs that help us make sense of correlated behaviors or responses</a:t>
            </a:r>
          </a:p>
          <a:p>
            <a:pPr lvl="1"/>
            <a:r>
              <a:rPr lang="en-US" sz="1600" dirty="0">
                <a:latin typeface="Calibri" panose="020F0502020204030204" pitchFamily="34" charset="0"/>
                <a:ea typeface="Calibri" panose="020F0502020204030204" pitchFamily="34" charset="0"/>
                <a:cs typeface="Calibri" panose="020F0502020204030204" pitchFamily="34" charset="0"/>
              </a:rPr>
              <a:t>In structural equation modeling (SEM), which builds upon factor analysis, the model is typically divided into two parts:</a:t>
            </a:r>
          </a:p>
          <a:p>
            <a:pPr lvl="2"/>
            <a:r>
              <a:rPr lang="en-US" sz="1600" b="1" dirty="0">
                <a:latin typeface="Calibri" panose="020F0502020204030204" pitchFamily="34" charset="0"/>
                <a:ea typeface="Calibri" panose="020F0502020204030204" pitchFamily="34" charset="0"/>
                <a:cs typeface="Calibri" panose="020F0502020204030204" pitchFamily="34" charset="0"/>
              </a:rPr>
              <a:t>The Measurement Model: </a:t>
            </a:r>
            <a:r>
              <a:rPr lang="en-US" sz="1600" dirty="0">
                <a:latin typeface="Calibri" panose="020F0502020204030204" pitchFamily="34" charset="0"/>
                <a:ea typeface="Calibri" panose="020F0502020204030204" pitchFamily="34" charset="0"/>
                <a:cs typeface="Calibri" panose="020F0502020204030204" pitchFamily="34" charset="0"/>
              </a:rPr>
              <a:t>specifies how observed variables (survey items, indicators) reflect or "load onto" latent variables (unmeasured constructs like depression, disinvestment, or social vulnerability)</a:t>
            </a:r>
          </a:p>
          <a:p>
            <a:pPr lvl="2"/>
            <a:r>
              <a:rPr lang="en-US" sz="1600" b="1" dirty="0">
                <a:latin typeface="Calibri" panose="020F0502020204030204" pitchFamily="34" charset="0"/>
                <a:ea typeface="Calibri" panose="020F0502020204030204" pitchFamily="34" charset="0"/>
                <a:cs typeface="Calibri" panose="020F0502020204030204" pitchFamily="34" charset="0"/>
              </a:rPr>
              <a:t>The Structural Model: </a:t>
            </a:r>
            <a:r>
              <a:rPr lang="en-US" sz="1600" dirty="0">
                <a:latin typeface="Calibri" panose="020F0502020204030204" pitchFamily="34" charset="0"/>
                <a:ea typeface="Calibri" panose="020F0502020204030204" pitchFamily="34" charset="0"/>
                <a:cs typeface="Calibri" panose="020F0502020204030204" pitchFamily="34" charset="0"/>
              </a:rPr>
              <a:t>This shows how latent variables are related to one another—representing the causal or correlational paths between unmeasured constructs</a:t>
            </a:r>
          </a:p>
        </p:txBody>
      </p:sp>
    </p:spTree>
    <p:extLst>
      <p:ext uri="{BB962C8B-B14F-4D97-AF65-F5344CB8AC3E}">
        <p14:creationId xmlns:p14="http://schemas.microsoft.com/office/powerpoint/2010/main" val="3170252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 calcmode="lin" valueType="num">
                                      <p:cBhvr additive="base">
                                        <p:cTn id="19"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 calcmode="lin" valueType="num">
                                      <p:cBhvr additive="base">
                                        <p:cTn id="25"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anim calcmode="lin" valueType="num">
                                      <p:cBhvr additive="base">
                                        <p:cTn id="31"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 calcmode="lin" valueType="num">
                                      <p:cBhvr additive="base">
                                        <p:cTn id="37"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5">
                                            <p:txEl>
                                              <p:pRg st="7" end="7"/>
                                            </p:txEl>
                                          </p:spTgt>
                                        </p:tgtEl>
                                        <p:attrNameLst>
                                          <p:attrName>style.visibility</p:attrName>
                                        </p:attrNameLst>
                                      </p:cBhvr>
                                      <p:to>
                                        <p:strVal val="visible"/>
                                      </p:to>
                                    </p:set>
                                    <p:anim calcmode="lin" valueType="num">
                                      <p:cBhvr additive="base">
                                        <p:cTn id="41"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00754-6693-1C44-02EE-F78F9986463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3162207-F787-28AC-E0B2-4CB688256403}"/>
              </a:ext>
            </a:extLst>
          </p:cNvPr>
          <p:cNvSpPr>
            <a:spLocks noGrp="1"/>
          </p:cNvSpPr>
          <p:nvPr>
            <p:ph type="title"/>
          </p:nvPr>
        </p:nvSpPr>
        <p:spPr>
          <a:xfrm>
            <a:off x="90777" y="245856"/>
            <a:ext cx="10515600" cy="628788"/>
          </a:xfrm>
        </p:spPr>
        <p:txBody>
          <a:bodyPr>
            <a:normAutofit fontScale="90000"/>
          </a:bodyPr>
          <a:lstStyle/>
          <a:p>
            <a:r>
              <a:rPr lang="en-US" dirty="0"/>
              <a:t>Factor analysis versus Principal Components Analysis (PCA)</a:t>
            </a:r>
          </a:p>
        </p:txBody>
      </p:sp>
      <p:sp>
        <p:nvSpPr>
          <p:cNvPr id="5" name="Content Placeholder 4">
            <a:extLst>
              <a:ext uri="{FF2B5EF4-FFF2-40B4-BE49-F238E27FC236}">
                <a16:creationId xmlns:a16="http://schemas.microsoft.com/office/drawing/2014/main" id="{393A9BCD-4138-0CF6-EA57-B5914DEB98E5}"/>
              </a:ext>
            </a:extLst>
          </p:cNvPr>
          <p:cNvSpPr>
            <a:spLocks noGrp="1"/>
          </p:cNvSpPr>
          <p:nvPr>
            <p:ph idx="1"/>
          </p:nvPr>
        </p:nvSpPr>
        <p:spPr>
          <a:xfrm>
            <a:off x="202305" y="1185930"/>
            <a:ext cx="10515600" cy="5327373"/>
          </a:xfrm>
        </p:spPr>
        <p:txBody>
          <a:bodyPr>
            <a:normAutofit/>
          </a:bodyPr>
          <a:lstStyle/>
          <a:p>
            <a:pPr>
              <a:lnSpc>
                <a:spcPct val="100000"/>
              </a:lnSpc>
              <a:spcBef>
                <a:spcPts val="0"/>
              </a:spcBef>
            </a:pPr>
            <a:r>
              <a:rPr lang="en-US" sz="2000" dirty="0">
                <a:latin typeface="Calibri" panose="020F0502020204030204" pitchFamily="34" charset="0"/>
                <a:ea typeface="Calibri" panose="020F0502020204030204" pitchFamily="34" charset="0"/>
                <a:cs typeface="Calibri" panose="020F0502020204030204" pitchFamily="34" charset="0"/>
              </a:rPr>
              <a:t>Underlying Assumptions</a:t>
            </a:r>
          </a:p>
          <a:p>
            <a:pPr lvl="1">
              <a:lnSpc>
                <a:spcPct val="100000"/>
              </a:lnSpc>
              <a:spcBef>
                <a:spcPts val="0"/>
              </a:spcBef>
            </a:pPr>
            <a:r>
              <a:rPr lang="en-US" sz="1800" dirty="0">
                <a:latin typeface="Calibri" panose="020F0502020204030204" pitchFamily="34" charset="0"/>
                <a:ea typeface="Calibri" panose="020F0502020204030204" pitchFamily="34" charset="0"/>
                <a:cs typeface="Calibri" panose="020F0502020204030204" pitchFamily="34" charset="0"/>
              </a:rPr>
              <a:t>PCA - the goal is to reduce the number of observed variables into components that account for maximum variance – i.e., </a:t>
            </a:r>
            <a:r>
              <a:rPr lang="en-US" sz="1800" b="1" dirty="0">
                <a:latin typeface="Calibri" panose="020F0502020204030204" pitchFamily="34" charset="0"/>
                <a:ea typeface="Calibri" panose="020F0502020204030204" pitchFamily="34" charset="0"/>
                <a:cs typeface="Calibri" panose="020F0502020204030204" pitchFamily="34" charset="0"/>
              </a:rPr>
              <a:t>to summarize the data</a:t>
            </a:r>
            <a:endParaRPr lang="en-US" sz="1800" dirty="0">
              <a:latin typeface="Calibri" panose="020F0502020204030204" pitchFamily="34" charset="0"/>
              <a:ea typeface="Calibri" panose="020F0502020204030204" pitchFamily="34" charset="0"/>
              <a:cs typeface="Calibri" panose="020F0502020204030204" pitchFamily="34" charset="0"/>
            </a:endParaRPr>
          </a:p>
          <a:p>
            <a:pPr lvl="1">
              <a:lnSpc>
                <a:spcPct val="100000"/>
              </a:lnSpc>
              <a:spcBef>
                <a:spcPts val="0"/>
              </a:spcBef>
            </a:pPr>
            <a:r>
              <a:rPr lang="en-US" sz="1800" dirty="0">
                <a:latin typeface="Calibri" panose="020F0502020204030204" pitchFamily="34" charset="0"/>
                <a:ea typeface="Calibri" panose="020F0502020204030204" pitchFamily="34" charset="0"/>
                <a:cs typeface="Calibri" panose="020F0502020204030204" pitchFamily="34" charset="0"/>
              </a:rPr>
              <a:t>FA – the goal is to understand the hidden structure in the data</a:t>
            </a:r>
          </a:p>
          <a:p>
            <a:pPr lvl="2">
              <a:lnSpc>
                <a:spcPct val="100000"/>
              </a:lnSpc>
              <a:spcBef>
                <a:spcPts val="0"/>
              </a:spcBef>
            </a:pPr>
            <a:r>
              <a:rPr lang="en-US" sz="1800" dirty="0">
                <a:latin typeface="Calibri" panose="020F0502020204030204" pitchFamily="34" charset="0"/>
                <a:ea typeface="Calibri" panose="020F0502020204030204" pitchFamily="34" charset="0"/>
                <a:cs typeface="Calibri" panose="020F0502020204030204" pitchFamily="34" charset="0"/>
              </a:rPr>
              <a:t>In factor analysis, latent variables (also called factors) help explain the underlying structure among a set of measured variables (like survey items or test scores)</a:t>
            </a:r>
          </a:p>
          <a:p>
            <a:pPr lvl="2">
              <a:lnSpc>
                <a:spcPct val="100000"/>
              </a:lnSpc>
              <a:spcBef>
                <a:spcPts val="0"/>
              </a:spcBef>
            </a:pPr>
            <a:r>
              <a:rPr lang="en-US" sz="1800" b="1" dirty="0">
                <a:latin typeface="Calibri" panose="020F0502020204030204" pitchFamily="34" charset="0"/>
                <a:ea typeface="Calibri" panose="020F0502020204030204" pitchFamily="34" charset="0"/>
                <a:cs typeface="Calibri" panose="020F0502020204030204" pitchFamily="34" charset="0"/>
              </a:rPr>
              <a:t>Assumption</a:t>
            </a:r>
            <a:r>
              <a:rPr lang="en-US" sz="1800" dirty="0">
                <a:latin typeface="Calibri" panose="020F0502020204030204" pitchFamily="34" charset="0"/>
                <a:ea typeface="Calibri" panose="020F0502020204030204" pitchFamily="34" charset="0"/>
                <a:cs typeface="Calibri" panose="020F0502020204030204" pitchFamily="34" charset="0"/>
              </a:rPr>
              <a:t>: the latent constructs (factors) cause the observed correlations between variables</a:t>
            </a:r>
          </a:p>
          <a:p>
            <a:pPr lvl="2">
              <a:lnSpc>
                <a:spcPct val="100000"/>
              </a:lnSpc>
              <a:spcBef>
                <a:spcPts val="0"/>
              </a:spcBef>
            </a:pPr>
            <a:r>
              <a:rPr lang="en-US" sz="1800" b="1" u="sng" dirty="0">
                <a:latin typeface="Calibri" panose="020F0502020204030204" pitchFamily="34" charset="0"/>
                <a:ea typeface="Calibri" panose="020F0502020204030204" pitchFamily="34" charset="0"/>
                <a:cs typeface="Calibri" panose="020F0502020204030204" pitchFamily="34" charset="0"/>
              </a:rPr>
              <a:t>Example</a:t>
            </a:r>
            <a:r>
              <a:rPr lang="en-US" sz="1800" dirty="0">
                <a:latin typeface="Calibri" panose="020F0502020204030204" pitchFamily="34" charset="0"/>
                <a:ea typeface="Calibri" panose="020F0502020204030204" pitchFamily="34" charset="0"/>
                <a:cs typeface="Calibri" panose="020F0502020204030204" pitchFamily="34" charset="0"/>
              </a:rPr>
              <a:t>: You might measure things like "feeling sad," "trouble sleeping," and "loss of interest.“</a:t>
            </a:r>
          </a:p>
          <a:p>
            <a:pPr lvl="2">
              <a:lnSpc>
                <a:spcPct val="100000"/>
              </a:lnSpc>
              <a:spcBef>
                <a:spcPts val="0"/>
              </a:spcBef>
            </a:pPr>
            <a:r>
              <a:rPr lang="en-US" sz="1800" dirty="0">
                <a:latin typeface="Calibri" panose="020F0502020204030204" pitchFamily="34" charset="0"/>
                <a:ea typeface="Calibri" panose="020F0502020204030204" pitchFamily="34" charset="0"/>
                <a:cs typeface="Calibri" panose="020F0502020204030204" pitchFamily="34" charset="0"/>
              </a:rPr>
              <a:t>These observed variables are indicators of a latent variable like "Depression."</a:t>
            </a:r>
          </a:p>
        </p:txBody>
      </p:sp>
    </p:spTree>
    <p:extLst>
      <p:ext uri="{BB962C8B-B14F-4D97-AF65-F5344CB8AC3E}">
        <p14:creationId xmlns:p14="http://schemas.microsoft.com/office/powerpoint/2010/main" val="3923155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386D0-F64B-F465-B5A0-3C3C5CFFE7A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06FB8D6-A3E1-B5CE-F8F2-88589BA770D7}"/>
              </a:ext>
            </a:extLst>
          </p:cNvPr>
          <p:cNvSpPr>
            <a:spLocks noGrp="1"/>
          </p:cNvSpPr>
          <p:nvPr>
            <p:ph type="title"/>
          </p:nvPr>
        </p:nvSpPr>
        <p:spPr>
          <a:xfrm>
            <a:off x="90777" y="245856"/>
            <a:ext cx="10515600" cy="628788"/>
          </a:xfrm>
        </p:spPr>
        <p:txBody>
          <a:bodyPr>
            <a:normAutofit fontScale="90000"/>
          </a:bodyPr>
          <a:lstStyle/>
          <a:p>
            <a:r>
              <a:rPr lang="en-US" dirty="0"/>
              <a:t>Factor analysis versus Principal Components Analysis (PCA)</a:t>
            </a:r>
          </a:p>
        </p:txBody>
      </p:sp>
      <p:sp>
        <p:nvSpPr>
          <p:cNvPr id="5" name="Content Placeholder 4">
            <a:extLst>
              <a:ext uri="{FF2B5EF4-FFF2-40B4-BE49-F238E27FC236}">
                <a16:creationId xmlns:a16="http://schemas.microsoft.com/office/drawing/2014/main" id="{A742D5C9-41E0-2D7A-7FB9-CE5384E7ED78}"/>
              </a:ext>
            </a:extLst>
          </p:cNvPr>
          <p:cNvSpPr>
            <a:spLocks noGrp="1"/>
          </p:cNvSpPr>
          <p:nvPr>
            <p:ph idx="1"/>
          </p:nvPr>
        </p:nvSpPr>
        <p:spPr>
          <a:xfrm>
            <a:off x="202305" y="1185930"/>
            <a:ext cx="10515600" cy="5327373"/>
          </a:xfrm>
        </p:spPr>
        <p:txBody>
          <a:bodyPr>
            <a:normAutofit/>
          </a:bodyPr>
          <a:lstStyle/>
          <a:p>
            <a:pPr>
              <a:lnSpc>
                <a:spcPct val="100000"/>
              </a:lnSpc>
              <a:spcBef>
                <a:spcPts val="0"/>
              </a:spcBef>
            </a:pPr>
            <a:r>
              <a:rPr lang="en-US" sz="2000" dirty="0">
                <a:latin typeface="Calibri" panose="020F0502020204030204" pitchFamily="34" charset="0"/>
                <a:ea typeface="Calibri" panose="020F0502020204030204" pitchFamily="34" charset="0"/>
                <a:cs typeface="Calibri" panose="020F0502020204030204" pitchFamily="34" charset="0"/>
              </a:rPr>
              <a:t>PCA is not testable</a:t>
            </a:r>
          </a:p>
          <a:p>
            <a:pPr lvl="1">
              <a:lnSpc>
                <a:spcPct val="100000"/>
              </a:lnSpc>
              <a:spcBef>
                <a:spcPts val="0"/>
              </a:spcBef>
            </a:pPr>
            <a:r>
              <a:rPr lang="en-US" sz="1800" dirty="0">
                <a:latin typeface="Calibri" panose="020F0502020204030204" pitchFamily="34" charset="0"/>
                <a:ea typeface="Calibri" panose="020F0502020204030204" pitchFamily="34" charset="0"/>
                <a:cs typeface="Calibri" panose="020F0502020204030204" pitchFamily="34" charset="0"/>
              </a:rPr>
              <a:t>Use PCA when you're interested in data reduction (e.g., building indices or simplifying predictors), and FA when you want to model the underlying structure of the data (e.g., psychological traits, constructs)</a:t>
            </a:r>
          </a:p>
          <a:p>
            <a:pPr lvl="1">
              <a:lnSpc>
                <a:spcPct val="100000"/>
              </a:lnSpc>
              <a:spcBef>
                <a:spcPts val="0"/>
              </a:spcBef>
            </a:pPr>
            <a:r>
              <a:rPr lang="en-US" sz="1800" dirty="0">
                <a:latin typeface="Calibri" panose="020F0502020204030204" pitchFamily="34" charset="0"/>
                <a:ea typeface="Calibri" panose="020F0502020204030204" pitchFamily="34" charset="0"/>
                <a:cs typeface="Calibri" panose="020F0502020204030204" pitchFamily="34" charset="0"/>
              </a:rPr>
              <a:t>You can't really test whether you included the “right” variables in PCA—there's no underlying theory being tested.</a:t>
            </a:r>
          </a:p>
          <a:p>
            <a:pPr lvl="1">
              <a:lnSpc>
                <a:spcPct val="100000"/>
              </a:lnSpc>
              <a:spcBef>
                <a:spcPts val="0"/>
              </a:spcBef>
            </a:pPr>
            <a:r>
              <a:rPr lang="en-US" sz="1800" dirty="0">
                <a:latin typeface="Calibri" panose="020F0502020204030204" pitchFamily="34" charset="0"/>
                <a:ea typeface="Calibri" panose="020F0502020204030204" pitchFamily="34" charset="0"/>
                <a:cs typeface="Calibri" panose="020F0502020204030204" pitchFamily="34" charset="0"/>
              </a:rPr>
              <a:t>PCA is just mathematically rotating your variables into components that capture variance—it doesn't care why the variables are related</a:t>
            </a:r>
          </a:p>
          <a:p>
            <a:pPr>
              <a:lnSpc>
                <a:spcPct val="100000"/>
              </a:lnSpc>
              <a:spcBef>
                <a:spcPts val="0"/>
              </a:spcBef>
            </a:pPr>
            <a:r>
              <a:rPr lang="en-US" sz="2000" dirty="0">
                <a:latin typeface="Calibri" panose="020F0502020204030204" pitchFamily="34" charset="0"/>
                <a:ea typeface="Calibri" panose="020F0502020204030204" pitchFamily="34" charset="0"/>
                <a:cs typeface="Calibri" panose="020F0502020204030204" pitchFamily="34" charset="0"/>
              </a:rPr>
              <a:t>If the goal is to estimate underlying factors and attach some meaning, then EFA should be used (Theory)</a:t>
            </a:r>
          </a:p>
          <a:p>
            <a:pPr lvl="1">
              <a:lnSpc>
                <a:spcPct val="100000"/>
              </a:lnSpc>
              <a:spcBef>
                <a:spcPts val="0"/>
              </a:spcBef>
            </a:pPr>
            <a:r>
              <a:rPr lang="en-US" sz="1800" dirty="0">
                <a:latin typeface="Calibri" panose="020F0502020204030204" pitchFamily="34" charset="0"/>
                <a:ea typeface="Calibri" panose="020F0502020204030204" pitchFamily="34" charset="0"/>
                <a:cs typeface="Calibri" panose="020F0502020204030204" pitchFamily="34" charset="0"/>
              </a:rPr>
              <a:t>Do not use PCA</a:t>
            </a:r>
          </a:p>
        </p:txBody>
      </p:sp>
    </p:spTree>
    <p:extLst>
      <p:ext uri="{BB962C8B-B14F-4D97-AF65-F5344CB8AC3E}">
        <p14:creationId xmlns:p14="http://schemas.microsoft.com/office/powerpoint/2010/main" val="5403507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57F4C-E9ED-79B8-A6A0-BD50F46B8D3F}"/>
              </a:ext>
            </a:extLst>
          </p:cNvPr>
          <p:cNvSpPr>
            <a:spLocks noGrp="1"/>
          </p:cNvSpPr>
          <p:nvPr>
            <p:ph type="title"/>
          </p:nvPr>
        </p:nvSpPr>
        <p:spPr>
          <a:xfrm>
            <a:off x="0" y="-97585"/>
            <a:ext cx="11815637" cy="1325563"/>
          </a:xfrm>
        </p:spPr>
        <p:txBody>
          <a:bodyPr>
            <a:normAutofit/>
          </a:bodyPr>
          <a:lstStyle/>
          <a:p>
            <a:r>
              <a:rPr lang="en-US" dirty="0"/>
              <a:t>Example: </a:t>
            </a:r>
            <a:br>
              <a:rPr lang="en-US" dirty="0"/>
            </a:br>
            <a:r>
              <a:rPr lang="en-US" sz="3100" dirty="0"/>
              <a:t>Five indicators of an underlying latent construct we call depression</a:t>
            </a:r>
            <a:endParaRPr lang="en-US" dirty="0"/>
          </a:p>
        </p:txBody>
      </p:sp>
      <p:sp>
        <p:nvSpPr>
          <p:cNvPr id="3" name="Content Placeholder 2">
            <a:extLst>
              <a:ext uri="{FF2B5EF4-FFF2-40B4-BE49-F238E27FC236}">
                <a16:creationId xmlns:a16="http://schemas.microsoft.com/office/drawing/2014/main" id="{1F968E7D-27CC-11E6-5A7A-6AD33F4CFC58}"/>
              </a:ext>
            </a:extLst>
          </p:cNvPr>
          <p:cNvSpPr>
            <a:spLocks noGrp="1"/>
          </p:cNvSpPr>
          <p:nvPr>
            <p:ph idx="1"/>
          </p:nvPr>
        </p:nvSpPr>
        <p:spPr>
          <a:xfrm>
            <a:off x="131092" y="1167610"/>
            <a:ext cx="4091609" cy="4351338"/>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Let’s say you have 5 questions like:</a:t>
            </a:r>
          </a:p>
          <a:p>
            <a:pPr lvl="1"/>
            <a:r>
              <a:rPr lang="en-US" sz="1800" dirty="0">
                <a:latin typeface="Calibri" panose="020F0502020204030204" pitchFamily="34" charset="0"/>
                <a:ea typeface="Calibri" panose="020F0502020204030204" pitchFamily="34" charset="0"/>
                <a:cs typeface="Calibri" panose="020F0502020204030204" pitchFamily="34" charset="0"/>
              </a:rPr>
              <a:t>"I felt sad“</a:t>
            </a:r>
          </a:p>
          <a:p>
            <a:pPr lvl="1"/>
            <a:r>
              <a:rPr lang="en-US" sz="1800" dirty="0">
                <a:latin typeface="Calibri" panose="020F0502020204030204" pitchFamily="34" charset="0"/>
                <a:ea typeface="Calibri" panose="020F0502020204030204" pitchFamily="34" charset="0"/>
                <a:cs typeface="Calibri" panose="020F0502020204030204" pitchFamily="34" charset="0"/>
              </a:rPr>
              <a:t>"I couldn’t sleep“</a:t>
            </a:r>
          </a:p>
          <a:p>
            <a:pPr lvl="1"/>
            <a:r>
              <a:rPr lang="en-US" sz="1800" dirty="0">
                <a:latin typeface="Calibri" panose="020F0502020204030204" pitchFamily="34" charset="0"/>
                <a:ea typeface="Calibri" panose="020F0502020204030204" pitchFamily="34" charset="0"/>
                <a:cs typeface="Calibri" panose="020F0502020204030204" pitchFamily="34" charset="0"/>
              </a:rPr>
              <a:t>"I felt tired“</a:t>
            </a:r>
          </a:p>
          <a:p>
            <a:pPr lvl="1"/>
            <a:r>
              <a:rPr lang="en-US" sz="1800" dirty="0">
                <a:latin typeface="Calibri" panose="020F0502020204030204" pitchFamily="34" charset="0"/>
                <a:ea typeface="Calibri" panose="020F0502020204030204" pitchFamily="34" charset="0"/>
                <a:cs typeface="Calibri" panose="020F0502020204030204" pitchFamily="34" charset="0"/>
              </a:rPr>
              <a:t>"I cried often“</a:t>
            </a:r>
          </a:p>
          <a:p>
            <a:pPr lvl="1"/>
            <a:r>
              <a:rPr lang="en-US" sz="1800" dirty="0">
                <a:latin typeface="Calibri" panose="020F0502020204030204" pitchFamily="34" charset="0"/>
                <a:ea typeface="Calibri" panose="020F0502020204030204" pitchFamily="34" charset="0"/>
                <a:cs typeface="Calibri" panose="020F0502020204030204" pitchFamily="34" charset="0"/>
              </a:rPr>
              <a:t>"I had trouble concentrating"</a:t>
            </a:r>
          </a:p>
        </p:txBody>
      </p:sp>
      <p:sp>
        <p:nvSpPr>
          <p:cNvPr id="4" name="Rectangle 1">
            <a:extLst>
              <a:ext uri="{FF2B5EF4-FFF2-40B4-BE49-F238E27FC236}">
                <a16:creationId xmlns:a16="http://schemas.microsoft.com/office/drawing/2014/main" id="{28C6D020-A1AC-8AEB-B8CC-8AD260D8C8D5}"/>
              </a:ext>
            </a:extLst>
          </p:cNvPr>
          <p:cNvSpPr>
            <a:spLocks noChangeArrowheads="1"/>
          </p:cNvSpPr>
          <p:nvPr/>
        </p:nvSpPr>
        <p:spPr bwMode="auto">
          <a:xfrm>
            <a:off x="4418274" y="1167610"/>
            <a:ext cx="7397363"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If you conducted a FA: </a:t>
            </a:r>
          </a:p>
          <a:p>
            <a:pPr marL="742950" lvl="1" indent="-28575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You’re assuming these 5 items are caused by an underlying factor, like depression</a:t>
            </a:r>
          </a:p>
          <a:p>
            <a:pPr marL="742950" lvl="1" indent="-28575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You believe that depression is a </a:t>
            </a:r>
            <a:r>
              <a:rPr kumimoji="0" lang="en-US" altLang="en-US" i="1"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latent variable</a:t>
            </a:r>
            <a:r>
              <a:rPr kumimoji="0" lang="en-US" altLang="en-US"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that explains the shared variance (covariance) between these items</a:t>
            </a:r>
          </a:p>
          <a:p>
            <a:pPr marL="742950" lvl="1" indent="-28575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Then you test whether this model fits your data (e.g., using model fit statistics). If the model fits well, you have evidence that depression is a valid latent construct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If you conducted a PCA: </a:t>
            </a:r>
          </a:p>
          <a:p>
            <a:pPr marL="742950" lvl="1" indent="-285750" eaLnBrk="0" fontAlgn="base" hangingPunct="0">
              <a:spcBef>
                <a:spcPct val="0"/>
              </a:spcBef>
              <a:spcAft>
                <a:spcPct val="0"/>
              </a:spcAft>
              <a:buFont typeface="Arial" panose="020B0604020202020204" pitchFamily="34" charset="0"/>
              <a:buChar char="•"/>
            </a:pPr>
            <a:r>
              <a:rPr lang="en-US" altLang="en-US" dirty="0">
                <a:latin typeface="Calibri" panose="020F0502020204030204" pitchFamily="34" charset="0"/>
                <a:ea typeface="Calibri" panose="020F0502020204030204" pitchFamily="34" charset="0"/>
                <a:cs typeface="Calibri" panose="020F0502020204030204" pitchFamily="34" charset="0"/>
              </a:rPr>
              <a:t>PCA examines </a:t>
            </a:r>
            <a:r>
              <a:rPr kumimoji="0" lang="en-US" altLang="en-US"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total variance of the 5 items and finds components that best summarize the data</a:t>
            </a:r>
          </a:p>
          <a:p>
            <a:pPr marL="742950" lvl="1" indent="-28575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You simply want to mathematically combine the items into a weighted average (component) that explains as much variance as possible</a:t>
            </a:r>
          </a:p>
          <a:p>
            <a:pPr marL="742950" lvl="1" indent="-28575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There’s no underlying assumption that a real, hidden thing like “depression” exists or is driving the items. It’s just a data summary, not a testable theory</a:t>
            </a:r>
          </a:p>
        </p:txBody>
      </p:sp>
    </p:spTree>
    <p:extLst>
      <p:ext uri="{BB962C8B-B14F-4D97-AF65-F5344CB8AC3E}">
        <p14:creationId xmlns:p14="http://schemas.microsoft.com/office/powerpoint/2010/main" val="3575774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anim calcmode="lin" valueType="num">
                                      <p:cBhvr additive="base">
                                        <p:cTn id="1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 calcmode="lin" valueType="num">
                                      <p:cBhvr additive="base">
                                        <p:cTn id="1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anim calcmode="lin" valueType="num">
                                      <p:cBhvr additive="base">
                                        <p:cTn id="21"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6" end="6"/>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anim calcmode="lin" valueType="num">
                                      <p:cBhvr additive="base">
                                        <p:cTn id="25"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7" end="7"/>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4">
                                            <p:txEl>
                                              <p:pRg st="8" end="8"/>
                                            </p:txEl>
                                          </p:spTgt>
                                        </p:tgtEl>
                                        <p:attrNameLst>
                                          <p:attrName>style.visibility</p:attrName>
                                        </p:attrNameLst>
                                      </p:cBhvr>
                                      <p:to>
                                        <p:strVal val="visible"/>
                                      </p:to>
                                    </p:set>
                                    <p:anim calcmode="lin" valueType="num">
                                      <p:cBhvr additive="base">
                                        <p:cTn id="29"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FC570-EC3B-6A78-AAA6-A8F9B1F68B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6F6658-6776-8203-EE1F-85F83FBE76EC}"/>
              </a:ext>
            </a:extLst>
          </p:cNvPr>
          <p:cNvSpPr>
            <a:spLocks noGrp="1"/>
          </p:cNvSpPr>
          <p:nvPr>
            <p:ph type="title"/>
          </p:nvPr>
        </p:nvSpPr>
        <p:spPr>
          <a:xfrm>
            <a:off x="0" y="0"/>
            <a:ext cx="11815637" cy="787396"/>
          </a:xfrm>
        </p:spPr>
        <p:txBody>
          <a:bodyPr>
            <a:normAutofit/>
          </a:bodyPr>
          <a:lstStyle/>
          <a:p>
            <a:r>
              <a:rPr lang="en-US" dirty="0"/>
              <a:t>Intuition</a:t>
            </a:r>
          </a:p>
        </p:txBody>
      </p:sp>
      <p:sp>
        <p:nvSpPr>
          <p:cNvPr id="3" name="Content Placeholder 2">
            <a:extLst>
              <a:ext uri="{FF2B5EF4-FFF2-40B4-BE49-F238E27FC236}">
                <a16:creationId xmlns:a16="http://schemas.microsoft.com/office/drawing/2014/main" id="{40242193-3102-F145-CC27-70D3236C567E}"/>
              </a:ext>
            </a:extLst>
          </p:cNvPr>
          <p:cNvSpPr>
            <a:spLocks noGrp="1"/>
          </p:cNvSpPr>
          <p:nvPr>
            <p:ph idx="1"/>
          </p:nvPr>
        </p:nvSpPr>
        <p:spPr>
          <a:xfrm>
            <a:off x="85911" y="638219"/>
            <a:ext cx="11643813" cy="5810707"/>
          </a:xfrm>
        </p:spPr>
        <p:txBody>
          <a:bodyPr>
            <a:normAutofit lnSpcReduction="10000"/>
          </a:bodyPr>
          <a:lstStyle/>
          <a:p>
            <a:pPr>
              <a:lnSpc>
                <a:spcPct val="120000"/>
              </a:lnSpc>
              <a:spcBef>
                <a:spcPts val="0"/>
              </a:spcBef>
            </a:pPr>
            <a:r>
              <a:rPr lang="en-US" sz="2000" b="1" dirty="0">
                <a:latin typeface="Calibri" panose="020F0502020204030204" pitchFamily="34" charset="0"/>
                <a:ea typeface="Calibri" panose="020F0502020204030204" pitchFamily="34" charset="0"/>
                <a:cs typeface="Calibri" panose="020F0502020204030204" pitchFamily="34" charset="0"/>
              </a:rPr>
              <a:t>PCA</a:t>
            </a:r>
          </a:p>
          <a:p>
            <a:pPr lvl="1">
              <a:lnSpc>
                <a:spcPct val="120000"/>
              </a:lnSpc>
              <a:spcBef>
                <a:spcPts val="0"/>
              </a:spcBef>
            </a:pPr>
            <a:r>
              <a:rPr lang="en-US" sz="1800" dirty="0">
                <a:latin typeface="Calibri" panose="020F0502020204030204" pitchFamily="34" charset="0"/>
                <a:ea typeface="Calibri" panose="020F0502020204030204" pitchFamily="34" charset="0"/>
                <a:cs typeface="Calibri" panose="020F0502020204030204" pitchFamily="34" charset="0"/>
              </a:rPr>
              <a:t>It takes all the variance from all five variables — both shared and unique</a:t>
            </a:r>
          </a:p>
          <a:p>
            <a:pPr lvl="1">
              <a:lnSpc>
                <a:spcPct val="120000"/>
              </a:lnSpc>
              <a:spcBef>
                <a:spcPts val="0"/>
              </a:spcBef>
            </a:pPr>
            <a:r>
              <a:rPr lang="en-US" sz="1800" dirty="0">
                <a:latin typeface="Calibri" panose="020F0502020204030204" pitchFamily="34" charset="0"/>
                <a:ea typeface="Calibri" panose="020F0502020204030204" pitchFamily="34" charset="0"/>
                <a:cs typeface="Calibri" panose="020F0502020204030204" pitchFamily="34" charset="0"/>
              </a:rPr>
              <a:t>Then it creates components (linear combinations of the variables) that explain as much total variance as possible</a:t>
            </a:r>
          </a:p>
          <a:p>
            <a:pPr lvl="1">
              <a:lnSpc>
                <a:spcPct val="120000"/>
              </a:lnSpc>
              <a:spcBef>
                <a:spcPts val="0"/>
              </a:spcBef>
            </a:pPr>
            <a:r>
              <a:rPr lang="en-US" sz="1800" dirty="0">
                <a:latin typeface="Calibri" panose="020F0502020204030204" pitchFamily="34" charset="0"/>
                <a:ea typeface="Calibri" panose="020F0502020204030204" pitchFamily="34" charset="0"/>
                <a:cs typeface="Calibri" panose="020F0502020204030204" pitchFamily="34" charset="0"/>
              </a:rPr>
              <a:t>So even if one variable doesn’t share variance with others (i.e., it doesn’t correlate well), </a:t>
            </a:r>
            <a:r>
              <a:rPr lang="en-US" sz="1800" b="1" dirty="0">
                <a:latin typeface="Calibri" panose="020F0502020204030204" pitchFamily="34" charset="0"/>
                <a:ea typeface="Calibri" panose="020F0502020204030204" pitchFamily="34" charset="0"/>
                <a:cs typeface="Calibri" panose="020F0502020204030204" pitchFamily="34" charset="0"/>
              </a:rPr>
              <a:t>PCA still includes it</a:t>
            </a:r>
            <a:r>
              <a:rPr lang="en-US" sz="1800" dirty="0">
                <a:latin typeface="Calibri" panose="020F0502020204030204" pitchFamily="34" charset="0"/>
                <a:ea typeface="Calibri" panose="020F0502020204030204" pitchFamily="34" charset="0"/>
                <a:cs typeface="Calibri" panose="020F0502020204030204" pitchFamily="34" charset="0"/>
              </a:rPr>
              <a:t> — it just might load weakly on the first few components</a:t>
            </a:r>
          </a:p>
          <a:p>
            <a:pPr>
              <a:lnSpc>
                <a:spcPct val="120000"/>
              </a:lnSpc>
              <a:spcBef>
                <a:spcPts val="0"/>
              </a:spcBef>
            </a:pPr>
            <a:r>
              <a:rPr lang="en-US" sz="2000" b="1" dirty="0">
                <a:latin typeface="Calibri" panose="020F0502020204030204" pitchFamily="34" charset="0"/>
                <a:ea typeface="Calibri" panose="020F0502020204030204" pitchFamily="34" charset="0"/>
                <a:cs typeface="Calibri" panose="020F0502020204030204" pitchFamily="34" charset="0"/>
              </a:rPr>
              <a:t>FA</a:t>
            </a:r>
          </a:p>
          <a:p>
            <a:pPr lvl="1">
              <a:lnSpc>
                <a:spcPct val="120000"/>
              </a:lnSpc>
              <a:spcBef>
                <a:spcPts val="0"/>
              </a:spcBef>
            </a:pPr>
            <a:r>
              <a:rPr lang="en-US" sz="1800" dirty="0">
                <a:latin typeface="Calibri" panose="020F0502020204030204" pitchFamily="34" charset="0"/>
                <a:ea typeface="Calibri" panose="020F0502020204030204" pitchFamily="34" charset="0"/>
                <a:cs typeface="Calibri" panose="020F0502020204030204" pitchFamily="34" charset="0"/>
              </a:rPr>
              <a:t>FA focuses only on the shared variance (called common variance) between variables</a:t>
            </a:r>
          </a:p>
          <a:p>
            <a:pPr lvl="1">
              <a:lnSpc>
                <a:spcPct val="120000"/>
              </a:lnSpc>
              <a:spcBef>
                <a:spcPts val="0"/>
              </a:spcBef>
            </a:pPr>
            <a:r>
              <a:rPr lang="en-US" sz="1800" dirty="0">
                <a:latin typeface="Calibri" panose="020F0502020204030204" pitchFamily="34" charset="0"/>
                <a:ea typeface="Calibri" panose="020F0502020204030204" pitchFamily="34" charset="0"/>
                <a:cs typeface="Calibri" panose="020F0502020204030204" pitchFamily="34" charset="0"/>
              </a:rPr>
              <a:t>It assumes there’s some underlying latent factor (like depression) that’s causing the correlation</a:t>
            </a:r>
          </a:p>
          <a:p>
            <a:pPr lvl="1">
              <a:lnSpc>
                <a:spcPct val="120000"/>
              </a:lnSpc>
              <a:spcBef>
                <a:spcPts val="0"/>
              </a:spcBef>
            </a:pPr>
            <a:r>
              <a:rPr lang="en-US" sz="1800" dirty="0">
                <a:latin typeface="Calibri" panose="020F0502020204030204" pitchFamily="34" charset="0"/>
                <a:ea typeface="Calibri" panose="020F0502020204030204" pitchFamily="34" charset="0"/>
                <a:cs typeface="Calibri" panose="020F0502020204030204" pitchFamily="34" charset="0"/>
              </a:rPr>
              <a:t>FA removes unique variance and error variance from the factor model</a:t>
            </a:r>
          </a:p>
          <a:p>
            <a:pPr>
              <a:lnSpc>
                <a:spcPct val="120000"/>
              </a:lnSpc>
              <a:spcBef>
                <a:spcPts val="0"/>
              </a:spcBef>
            </a:pPr>
            <a:r>
              <a:rPr lang="en-US" sz="2000" b="1" u="sng" dirty="0">
                <a:latin typeface="Calibri" panose="020F0502020204030204" pitchFamily="34" charset="0"/>
                <a:ea typeface="Calibri" panose="020F0502020204030204" pitchFamily="34" charset="0"/>
                <a:cs typeface="Calibri" panose="020F0502020204030204" pitchFamily="34" charset="0"/>
              </a:rPr>
              <a:t>Example</a:t>
            </a:r>
          </a:p>
          <a:p>
            <a:pPr lvl="1">
              <a:lnSpc>
                <a:spcPct val="120000"/>
              </a:lnSpc>
              <a:spcBef>
                <a:spcPts val="0"/>
              </a:spcBef>
            </a:pPr>
            <a:r>
              <a:rPr lang="en-US" sz="1800" dirty="0">
                <a:latin typeface="Calibri" panose="020F0502020204030204" pitchFamily="34" charset="0"/>
                <a:ea typeface="Calibri" panose="020F0502020204030204" pitchFamily="34" charset="0"/>
                <a:cs typeface="Calibri" panose="020F0502020204030204" pitchFamily="34" charset="0"/>
              </a:rPr>
              <a:t>Let’s say one item (“I felt tired”) is not very correlated with the other 4</a:t>
            </a:r>
          </a:p>
          <a:p>
            <a:pPr lvl="1">
              <a:lnSpc>
                <a:spcPct val="120000"/>
              </a:lnSpc>
              <a:spcBef>
                <a:spcPts val="0"/>
              </a:spcBef>
            </a:pPr>
            <a:r>
              <a:rPr lang="en-US" sz="1800" dirty="0">
                <a:latin typeface="Calibri" panose="020F0502020204030204" pitchFamily="34" charset="0"/>
                <a:ea typeface="Calibri" panose="020F0502020204030204" pitchFamily="34" charset="0"/>
                <a:cs typeface="Calibri" panose="020F0502020204030204" pitchFamily="34" charset="0"/>
              </a:rPr>
              <a:t>PCA still uses it in calculating components</a:t>
            </a:r>
          </a:p>
          <a:p>
            <a:pPr lvl="1">
              <a:lnSpc>
                <a:spcPct val="120000"/>
              </a:lnSpc>
              <a:spcBef>
                <a:spcPts val="0"/>
              </a:spcBef>
            </a:pPr>
            <a:r>
              <a:rPr lang="en-US" sz="1800" dirty="0">
                <a:latin typeface="Calibri" panose="020F0502020204030204" pitchFamily="34" charset="0"/>
                <a:ea typeface="Calibri" panose="020F0502020204030204" pitchFamily="34" charset="0"/>
                <a:cs typeface="Calibri" panose="020F0502020204030204" pitchFamily="34" charset="0"/>
              </a:rPr>
              <a:t>FA might give it a </a:t>
            </a:r>
            <a:r>
              <a:rPr lang="en-US" sz="1800" b="1" dirty="0">
                <a:latin typeface="Calibri" panose="020F0502020204030204" pitchFamily="34" charset="0"/>
                <a:ea typeface="Calibri" panose="020F0502020204030204" pitchFamily="34" charset="0"/>
                <a:cs typeface="Calibri" panose="020F0502020204030204" pitchFamily="34" charset="0"/>
              </a:rPr>
              <a:t>low loading </a:t>
            </a:r>
            <a:r>
              <a:rPr lang="en-US" sz="1800" dirty="0">
                <a:latin typeface="Calibri" panose="020F0502020204030204" pitchFamily="34" charset="0"/>
                <a:ea typeface="Calibri" panose="020F0502020204030204" pitchFamily="34" charset="0"/>
                <a:cs typeface="Calibri" panose="020F0502020204030204" pitchFamily="34" charset="0"/>
              </a:rPr>
              <a:t>or treat its variance as mostly unique/error rather than useful in explaining the latent construct</a:t>
            </a:r>
          </a:p>
          <a:p>
            <a:pPr>
              <a:lnSpc>
                <a:spcPct val="120000"/>
              </a:lnSpc>
              <a:spcBef>
                <a:spcPts val="0"/>
              </a:spcBef>
            </a:pPr>
            <a:r>
              <a:rPr lang="en-US" sz="2000" b="1" dirty="0">
                <a:latin typeface="Calibri" panose="020F0502020204030204" pitchFamily="34" charset="0"/>
                <a:ea typeface="Calibri" panose="020F0502020204030204" pitchFamily="34" charset="0"/>
                <a:cs typeface="Calibri" panose="020F0502020204030204" pitchFamily="34" charset="0"/>
              </a:rPr>
              <a:t>Bottom line:</a:t>
            </a:r>
          </a:p>
          <a:p>
            <a:pPr lvl="1">
              <a:lnSpc>
                <a:spcPct val="120000"/>
              </a:lnSpc>
              <a:spcBef>
                <a:spcPts val="0"/>
              </a:spcBef>
            </a:pPr>
            <a:r>
              <a:rPr lang="en-US" sz="1800" dirty="0">
                <a:latin typeface="Calibri" panose="020F0502020204030204" pitchFamily="34" charset="0"/>
                <a:ea typeface="Calibri" panose="020F0502020204030204" pitchFamily="34" charset="0"/>
                <a:cs typeface="Calibri" panose="020F0502020204030204" pitchFamily="34" charset="0"/>
              </a:rPr>
              <a:t>PCA uses all variables and all their variance, shared or not</a:t>
            </a:r>
          </a:p>
          <a:p>
            <a:pPr lvl="1">
              <a:lnSpc>
                <a:spcPct val="120000"/>
              </a:lnSpc>
              <a:spcBef>
                <a:spcPts val="0"/>
              </a:spcBef>
            </a:pPr>
            <a:r>
              <a:rPr lang="en-US" sz="1800" dirty="0">
                <a:latin typeface="Calibri" panose="020F0502020204030204" pitchFamily="34" charset="0"/>
                <a:ea typeface="Calibri" panose="020F0502020204030204" pitchFamily="34" charset="0"/>
                <a:cs typeface="Calibri" panose="020F0502020204030204" pitchFamily="34" charset="0"/>
              </a:rPr>
              <a:t>FA uses only the shared variance to model an underlying latent structure</a:t>
            </a:r>
          </a:p>
        </p:txBody>
      </p:sp>
    </p:spTree>
    <p:extLst>
      <p:ext uri="{BB962C8B-B14F-4D97-AF65-F5344CB8AC3E}">
        <p14:creationId xmlns:p14="http://schemas.microsoft.com/office/powerpoint/2010/main" val="3418661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anim calcmode="lin" valueType="num">
                                      <p:cBhvr additive="base">
                                        <p:cTn id="2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anim calcmode="lin" valueType="num">
                                      <p:cBhvr additive="base">
                                        <p:cTn id="2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anim calcmode="lin" valueType="num">
                                      <p:cBhvr additive="base">
                                        <p:cTn id="3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anim calcmode="lin" valueType="num">
                                      <p:cBhvr additive="base">
                                        <p:cTn id="3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anim calcmode="lin" valueType="num">
                                      <p:cBhvr additive="base">
                                        <p:cTn id="43"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3" end="13"/>
                                            </p:txEl>
                                          </p:spTgt>
                                        </p:tgtEl>
                                        <p:attrNameLst>
                                          <p:attrName>style.visibility</p:attrName>
                                        </p:attrNameLst>
                                      </p:cBhvr>
                                      <p:to>
                                        <p:strVal val="visible"/>
                                      </p:to>
                                    </p:set>
                                    <p:anim calcmode="lin" valueType="num">
                                      <p:cBhvr additive="base">
                                        <p:cTn id="47"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4" end="14"/>
                                            </p:txEl>
                                          </p:spTgt>
                                        </p:tgtEl>
                                        <p:attrNameLst>
                                          <p:attrName>style.visibility</p:attrName>
                                        </p:attrNameLst>
                                      </p:cBhvr>
                                      <p:to>
                                        <p:strVal val="visible"/>
                                      </p:to>
                                    </p:set>
                                    <p:anim calcmode="lin" valueType="num">
                                      <p:cBhvr additive="base">
                                        <p:cTn id="51"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713B1-6DDB-515A-FEBC-507525E20A0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AB8857F-CCA4-5544-81EF-1BFB15BCB22C}"/>
              </a:ext>
            </a:extLst>
          </p:cNvPr>
          <p:cNvSpPr>
            <a:spLocks noGrp="1"/>
          </p:cNvSpPr>
          <p:nvPr>
            <p:ph type="title"/>
          </p:nvPr>
        </p:nvSpPr>
        <p:spPr>
          <a:xfrm>
            <a:off x="90777" y="245856"/>
            <a:ext cx="11923644" cy="628788"/>
          </a:xfrm>
        </p:spPr>
        <p:txBody>
          <a:bodyPr>
            <a:normAutofit fontScale="90000"/>
          </a:bodyPr>
          <a:lstStyle/>
          <a:p>
            <a:r>
              <a:rPr lang="en-US" dirty="0"/>
              <a:t>Factor analysis versus Principal Components Analysis (PCA)</a:t>
            </a:r>
          </a:p>
        </p:txBody>
      </p:sp>
      <p:sp>
        <p:nvSpPr>
          <p:cNvPr id="5" name="Content Placeholder 4">
            <a:extLst>
              <a:ext uri="{FF2B5EF4-FFF2-40B4-BE49-F238E27FC236}">
                <a16:creationId xmlns:a16="http://schemas.microsoft.com/office/drawing/2014/main" id="{FBB37B11-D4D8-CC7F-7D8A-EE665C3CE0F4}"/>
              </a:ext>
            </a:extLst>
          </p:cNvPr>
          <p:cNvSpPr>
            <a:spLocks noGrp="1"/>
          </p:cNvSpPr>
          <p:nvPr>
            <p:ph idx="1"/>
          </p:nvPr>
        </p:nvSpPr>
        <p:spPr>
          <a:xfrm>
            <a:off x="90777" y="1113183"/>
            <a:ext cx="11772568" cy="5303519"/>
          </a:xfrm>
        </p:spPr>
        <p:txBody>
          <a:bodyPr>
            <a:normAutofit/>
          </a:bodyPr>
          <a:lstStyle/>
          <a:p>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In PCA, the indicators drive the component and the Ys covary in some way</a:t>
            </a:r>
          </a:p>
          <a:p>
            <a:r>
              <a:rPr lang="en-US" sz="1800" dirty="0">
                <a:latin typeface="Calibri" panose="020F0502020204030204" pitchFamily="34" charset="0"/>
                <a:ea typeface="Calibri" panose="020F0502020204030204" pitchFamily="34" charset="0"/>
                <a:cs typeface="Calibri" panose="020F0502020204030204" pitchFamily="34" charset="0"/>
              </a:rPr>
              <a:t>Exploratory factor analysis examines all the pairwise relationships between individual variables (e.g., items on a scale) and seeks to extract latent factors from the measured variables. </a:t>
            </a:r>
          </a:p>
          <a:p>
            <a:r>
              <a:rPr lang="en-US" sz="1800" dirty="0">
                <a:latin typeface="Calibri" panose="020F0502020204030204" pitchFamily="34" charset="0"/>
                <a:ea typeface="Calibri" panose="020F0502020204030204" pitchFamily="34" charset="0"/>
                <a:cs typeface="Calibri" panose="020F0502020204030204" pitchFamily="34" charset="0"/>
              </a:rPr>
              <a:t>In FA some underlying factors are driving the variables (plus error)</a:t>
            </a:r>
          </a:p>
          <a:p>
            <a:endParaRPr lang="en-US" sz="1800" dirty="0">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41BE2D46-FA33-7C02-B5DF-FC0E23862141}"/>
              </a:ext>
            </a:extLst>
          </p:cNvPr>
          <p:cNvPicPr>
            <a:picLocks noChangeAspect="1"/>
          </p:cNvPicPr>
          <p:nvPr/>
        </p:nvPicPr>
        <p:blipFill>
          <a:blip r:embed="rId2"/>
          <a:srcRect t="18948" r="58035"/>
          <a:stretch/>
        </p:blipFill>
        <p:spPr>
          <a:xfrm>
            <a:off x="90777" y="2647783"/>
            <a:ext cx="3081793" cy="4091699"/>
          </a:xfrm>
          <a:prstGeom prst="rect">
            <a:avLst/>
          </a:prstGeom>
        </p:spPr>
      </p:pic>
      <p:pic>
        <p:nvPicPr>
          <p:cNvPr id="6" name="Picture 5">
            <a:extLst>
              <a:ext uri="{FF2B5EF4-FFF2-40B4-BE49-F238E27FC236}">
                <a16:creationId xmlns:a16="http://schemas.microsoft.com/office/drawing/2014/main" id="{B15F30C7-1EB9-2D0C-F9F5-67AC5763AE10}"/>
              </a:ext>
            </a:extLst>
          </p:cNvPr>
          <p:cNvPicPr>
            <a:picLocks noChangeAspect="1"/>
          </p:cNvPicPr>
          <p:nvPr/>
        </p:nvPicPr>
        <p:blipFill>
          <a:blip r:embed="rId3"/>
          <a:srcRect b="41749"/>
          <a:stretch/>
        </p:blipFill>
        <p:spPr>
          <a:xfrm>
            <a:off x="3147743" y="2647783"/>
            <a:ext cx="2948257" cy="2148806"/>
          </a:xfrm>
          <a:prstGeom prst="rect">
            <a:avLst/>
          </a:prstGeom>
        </p:spPr>
      </p:pic>
      <p:pic>
        <p:nvPicPr>
          <p:cNvPr id="8" name="Picture 7">
            <a:extLst>
              <a:ext uri="{FF2B5EF4-FFF2-40B4-BE49-F238E27FC236}">
                <a16:creationId xmlns:a16="http://schemas.microsoft.com/office/drawing/2014/main" id="{59EB32D4-EF7B-9607-96DA-DE3DDDF8E0DC}"/>
              </a:ext>
            </a:extLst>
          </p:cNvPr>
          <p:cNvPicPr>
            <a:picLocks noChangeAspect="1"/>
          </p:cNvPicPr>
          <p:nvPr/>
        </p:nvPicPr>
        <p:blipFill>
          <a:blip r:embed="rId4"/>
          <a:stretch>
            <a:fillRect/>
          </a:stretch>
        </p:blipFill>
        <p:spPr>
          <a:xfrm>
            <a:off x="3654356" y="4796589"/>
            <a:ext cx="2722382" cy="1361191"/>
          </a:xfrm>
          <a:prstGeom prst="rect">
            <a:avLst/>
          </a:prstGeom>
        </p:spPr>
      </p:pic>
    </p:spTree>
    <p:extLst>
      <p:ext uri="{BB962C8B-B14F-4D97-AF65-F5344CB8AC3E}">
        <p14:creationId xmlns:p14="http://schemas.microsoft.com/office/powerpoint/2010/main" val="2169417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319EF-AC30-7A64-BE54-A6626233E92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D050902-20F1-9DE8-3BC9-BC99CAC95014}"/>
              </a:ext>
            </a:extLst>
          </p:cNvPr>
          <p:cNvSpPr>
            <a:spLocks noGrp="1"/>
          </p:cNvSpPr>
          <p:nvPr>
            <p:ph type="title"/>
          </p:nvPr>
        </p:nvSpPr>
        <p:spPr>
          <a:xfrm>
            <a:off x="90777" y="61371"/>
            <a:ext cx="11923644" cy="628788"/>
          </a:xfrm>
        </p:spPr>
        <p:txBody>
          <a:bodyPr>
            <a:normAutofit fontScale="90000"/>
          </a:bodyPr>
          <a:lstStyle/>
          <a:p>
            <a:r>
              <a:rPr lang="en-US" dirty="0"/>
              <a:t>EFA</a:t>
            </a:r>
          </a:p>
        </p:txBody>
      </p:sp>
      <p:sp>
        <p:nvSpPr>
          <p:cNvPr id="5" name="Content Placeholder 4">
            <a:extLst>
              <a:ext uri="{FF2B5EF4-FFF2-40B4-BE49-F238E27FC236}">
                <a16:creationId xmlns:a16="http://schemas.microsoft.com/office/drawing/2014/main" id="{23E2D690-DAAE-2FCB-A7FE-FA254DAD9569}"/>
              </a:ext>
            </a:extLst>
          </p:cNvPr>
          <p:cNvSpPr>
            <a:spLocks noGrp="1"/>
          </p:cNvSpPr>
          <p:nvPr>
            <p:ph idx="1"/>
          </p:nvPr>
        </p:nvSpPr>
        <p:spPr>
          <a:xfrm>
            <a:off x="166315" y="608798"/>
            <a:ext cx="11772568" cy="5303519"/>
          </a:xfrm>
        </p:spPr>
        <p:txBody>
          <a:bodyPr>
            <a:normAutofit/>
          </a:bodyPr>
          <a:lstStyle/>
          <a:p>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The main applications of factor analytic techniques are: </a:t>
            </a:r>
          </a:p>
          <a:p>
            <a:pPr lvl="1"/>
            <a:r>
              <a:rPr lang="en-US" sz="1800" b="1" i="1" dirty="0">
                <a:solidFill>
                  <a:prstClr val="black"/>
                </a:solidFill>
                <a:latin typeface="Calibri" panose="020F0502020204030204" pitchFamily="34" charset="0"/>
                <a:ea typeface="Calibri" panose="020F0502020204030204" pitchFamily="34" charset="0"/>
                <a:cs typeface="Calibri" panose="020F0502020204030204" pitchFamily="34" charset="0"/>
              </a:rPr>
              <a:t>Data reduction. </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To reduce the number of variables into factors based on shared variance; and</a:t>
            </a:r>
          </a:p>
          <a:p>
            <a:pPr lvl="1"/>
            <a:r>
              <a:rPr kumimoji="0" lang="en-US" sz="1800" b="1" i="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Data classification. </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To detect structure (or underlying processes) in the relationships between variables, that is, to classify variables</a:t>
            </a:r>
          </a:p>
          <a:p>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Assumption</a:t>
            </a:r>
          </a:p>
          <a:p>
            <a:pPr lvl="1"/>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Variables that correlate with each other do so because they are measuring the same thing—a common domain</a:t>
            </a:r>
          </a:p>
          <a:p>
            <a:pPr lvl="1"/>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This is important because sometimes composite variables are used from assessments, psychological or otherwise, without concern for the process underlying that construction</a:t>
            </a:r>
          </a:p>
          <a:p>
            <a:r>
              <a:rPr kumimoji="0" lang="en-US" sz="2000" b="1" i="0" u="sng"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RQ</a:t>
            </a: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What is the underlying factor structure (i.e., a latent variable) for a set of measures?</a:t>
            </a:r>
          </a:p>
          <a:p>
            <a:pPr lvl="1"/>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EFA is a statistical procedure that allows us to cluster variables together into constructs or ‘latent variables’</a:t>
            </a:r>
          </a:p>
          <a:p>
            <a:pPr lvl="1"/>
            <a:r>
              <a:rPr kumimoji="0" lang="en-US" sz="1800" b="1" i="0" u="sng"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Example</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Is intelligence a unitary or multidimensional construct (as in multiple forms of intelligence)?</a:t>
            </a:r>
          </a:p>
          <a:p>
            <a:endParaRPr lang="en-US"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983231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AA78D-9889-C04C-56D8-14BFF63A870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ABFB61F-ECAD-D747-888C-AB8F9CE0E6B2}"/>
              </a:ext>
            </a:extLst>
          </p:cNvPr>
          <p:cNvSpPr>
            <a:spLocks noGrp="1"/>
          </p:cNvSpPr>
          <p:nvPr>
            <p:ph type="title"/>
          </p:nvPr>
        </p:nvSpPr>
        <p:spPr>
          <a:xfrm>
            <a:off x="15239" y="77413"/>
            <a:ext cx="11923644" cy="628788"/>
          </a:xfrm>
        </p:spPr>
        <p:txBody>
          <a:bodyPr>
            <a:normAutofit fontScale="90000"/>
          </a:bodyPr>
          <a:lstStyle/>
          <a:p>
            <a:r>
              <a:rPr lang="en-US" dirty="0"/>
              <a:t>Data Reduction</a:t>
            </a:r>
          </a:p>
        </p:txBody>
      </p:sp>
      <p:sp>
        <p:nvSpPr>
          <p:cNvPr id="5" name="Content Placeholder 4">
            <a:extLst>
              <a:ext uri="{FF2B5EF4-FFF2-40B4-BE49-F238E27FC236}">
                <a16:creationId xmlns:a16="http://schemas.microsoft.com/office/drawing/2014/main" id="{491E868B-C830-7CF0-14A2-AB2A5E80B7A5}"/>
              </a:ext>
            </a:extLst>
          </p:cNvPr>
          <p:cNvSpPr>
            <a:spLocks noGrp="1"/>
          </p:cNvSpPr>
          <p:nvPr>
            <p:ph idx="1"/>
          </p:nvPr>
        </p:nvSpPr>
        <p:spPr>
          <a:xfrm>
            <a:off x="90777" y="650402"/>
            <a:ext cx="11772568" cy="5303519"/>
          </a:xfrm>
        </p:spPr>
        <p:txBody>
          <a:bodyPr>
            <a:normAutofit/>
          </a:bodyPr>
          <a:lstStyle/>
          <a:p>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Reducing the number of variables</a:t>
            </a:r>
          </a:p>
          <a:p>
            <a:pPr lvl="1"/>
            <a:r>
              <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The underlying task is to find common variance and eliminate unique variance that is not of interest</a:t>
            </a:r>
          </a:p>
          <a:p>
            <a:pPr lvl="1"/>
            <a:r>
              <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It is like a reverse form of ‘partialling out’</a:t>
            </a:r>
          </a:p>
          <a:p>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Examples</a:t>
            </a:r>
          </a:p>
          <a:p>
            <a:pPr lvl="1"/>
            <a:r>
              <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 survey may have 100 items, but the survey was designed to measure 12 components or factors</a:t>
            </a:r>
          </a:p>
          <a:p>
            <a:pPr lvl="1"/>
            <a:r>
              <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You have 50 different variables about an individual, but some of those variables are overlapping… are they essentially measuring the same underlying (unobservable, latent) construct?</a:t>
            </a:r>
          </a:p>
          <a:p>
            <a:endParaRPr lang="en-US"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58887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B8E2A-0F51-290D-FE36-86B0D0714AC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17EB37D-7817-EA82-69BE-84CC166B0A96}"/>
              </a:ext>
            </a:extLst>
          </p:cNvPr>
          <p:cNvSpPr>
            <a:spLocks noGrp="1"/>
          </p:cNvSpPr>
          <p:nvPr>
            <p:ph type="title"/>
          </p:nvPr>
        </p:nvSpPr>
        <p:spPr>
          <a:xfrm>
            <a:off x="90777" y="245856"/>
            <a:ext cx="11923644" cy="628788"/>
          </a:xfrm>
        </p:spPr>
        <p:txBody>
          <a:bodyPr>
            <a:normAutofit fontScale="90000"/>
          </a:bodyPr>
          <a:lstStyle/>
          <a:p>
            <a:r>
              <a:rPr lang="en-US" dirty="0"/>
              <a:t>The Statistical Model</a:t>
            </a:r>
          </a:p>
        </p:txBody>
      </p:sp>
      <p:sp>
        <p:nvSpPr>
          <p:cNvPr id="5" name="Content Placeholder 4">
            <a:extLst>
              <a:ext uri="{FF2B5EF4-FFF2-40B4-BE49-F238E27FC236}">
                <a16:creationId xmlns:a16="http://schemas.microsoft.com/office/drawing/2014/main" id="{9A8DF22B-2E38-9D80-D132-E50D1F14E8D7}"/>
              </a:ext>
            </a:extLst>
          </p:cNvPr>
          <p:cNvSpPr>
            <a:spLocks noGrp="1"/>
          </p:cNvSpPr>
          <p:nvPr>
            <p:ph idx="1"/>
          </p:nvPr>
        </p:nvSpPr>
        <p:spPr>
          <a:xfrm>
            <a:off x="90777" y="1113183"/>
            <a:ext cx="4160381" cy="5303519"/>
          </a:xfrm>
        </p:spPr>
        <p:txBody>
          <a:bodyPr>
            <a:normAutofit/>
          </a:bodyPr>
          <a:lstStyle/>
          <a:p>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EFA does not presuppose a </a:t>
            </a: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theoretical</a:t>
            </a: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a:t>
            </a: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structure</a:t>
            </a:r>
          </a:p>
          <a:p>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Useful as a starting point for understanding empirical structures or identifying problems with existing scales</a:t>
            </a:r>
          </a:p>
          <a:p>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Correlations</a:t>
            </a: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between items are used to infer the presence of an underlying variable (latent)</a:t>
            </a:r>
          </a:p>
          <a:p>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Cross loadings</a:t>
            </a: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One important consideration is that all items are allowed to load on any factor (compare CFA)</a:t>
            </a:r>
          </a:p>
        </p:txBody>
      </p:sp>
      <p:pic>
        <p:nvPicPr>
          <p:cNvPr id="2" name="Picture 2">
            <a:extLst>
              <a:ext uri="{FF2B5EF4-FFF2-40B4-BE49-F238E27FC236}">
                <a16:creationId xmlns:a16="http://schemas.microsoft.com/office/drawing/2014/main" id="{4F5622D4-9143-63B0-EAAF-CFD6F56F898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642342" y="794718"/>
            <a:ext cx="6909577" cy="52685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38943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4F3D1-EC8F-F4E8-B755-BB2B18FC7EA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2CB9988-352C-CDB7-2CFE-2AC1505429AE}"/>
              </a:ext>
            </a:extLst>
          </p:cNvPr>
          <p:cNvSpPr>
            <a:spLocks noGrp="1"/>
          </p:cNvSpPr>
          <p:nvPr>
            <p:ph type="title"/>
          </p:nvPr>
        </p:nvSpPr>
        <p:spPr>
          <a:xfrm>
            <a:off x="0" y="14681"/>
            <a:ext cx="11923644" cy="628788"/>
          </a:xfrm>
        </p:spPr>
        <p:txBody>
          <a:bodyPr>
            <a:normAutofit fontScale="90000"/>
          </a:bodyPr>
          <a:lstStyle/>
          <a:p>
            <a:r>
              <a:rPr lang="en-US" dirty="0"/>
              <a:t>Example</a:t>
            </a:r>
          </a:p>
        </p:txBody>
      </p:sp>
      <p:sp>
        <p:nvSpPr>
          <p:cNvPr id="5" name="Content Placeholder 4">
            <a:extLst>
              <a:ext uri="{FF2B5EF4-FFF2-40B4-BE49-F238E27FC236}">
                <a16:creationId xmlns:a16="http://schemas.microsoft.com/office/drawing/2014/main" id="{95B45197-011D-FE6E-0CDA-D38D0421B8F4}"/>
              </a:ext>
            </a:extLst>
          </p:cNvPr>
          <p:cNvSpPr>
            <a:spLocks noGrp="1"/>
          </p:cNvSpPr>
          <p:nvPr>
            <p:ph idx="1"/>
          </p:nvPr>
        </p:nvSpPr>
        <p:spPr>
          <a:xfrm>
            <a:off x="137472" y="643469"/>
            <a:ext cx="6737685" cy="5498961"/>
          </a:xfrm>
        </p:spPr>
        <p:txBody>
          <a:bodyPr>
            <a:normAutofit/>
          </a:bodyPr>
          <a:lstStyle/>
          <a:p>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Circles represent latent variables—unobserved constructs identified through factor analysis.</a:t>
            </a:r>
          </a:p>
          <a:p>
            <a:pPr lvl="1"/>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GI = Growing Investment</a:t>
            </a:r>
          </a:p>
          <a:p>
            <a:pPr lvl="1"/>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DI = Disinvestment</a:t>
            </a:r>
          </a:p>
          <a:p>
            <a:pPr lvl="1"/>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SI = Sustained Investment</a:t>
            </a:r>
          </a:p>
          <a:p>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Researchers assigned these labels based on patterns in the measured data</a:t>
            </a:r>
          </a:p>
          <a:p>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Boxes represent observed/measured items—real-world variables used to estimate the latent factors (e.g., "Income Inequality," "Home Loans")</a:t>
            </a:r>
          </a:p>
          <a:p>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Green lines show positive factor loadings: </a:t>
            </a:r>
          </a:p>
          <a:p>
            <a:pPr lvl="1"/>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Thicker green lines indicate stronger relationships, meaning that the item is a good indicator of the latent variable</a:t>
            </a:r>
          </a:p>
          <a:p>
            <a:r>
              <a:rPr lang="en-US" sz="2000" dirty="0">
                <a:solidFill>
                  <a:prstClr val="black"/>
                </a:solidFill>
                <a:latin typeface="Calibri" panose="020F0502020204030204" pitchFamily="34" charset="0"/>
                <a:ea typeface="Calibri" panose="020F0502020204030204" pitchFamily="34" charset="0"/>
                <a:cs typeface="Calibri" panose="020F0502020204030204" pitchFamily="34" charset="0"/>
              </a:rPr>
              <a:t>R</a:t>
            </a: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ed lines show negative relationships or inverse loadings:</a:t>
            </a:r>
          </a:p>
          <a:p>
            <a:pPr lvl="1"/>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These items are negatively associated with the latent variable, meaning they represent an opposite trend or reduce the strength of that factor</a:t>
            </a:r>
          </a:p>
        </p:txBody>
      </p:sp>
      <p:pic>
        <p:nvPicPr>
          <p:cNvPr id="3" name="Picture 2">
            <a:extLst>
              <a:ext uri="{FF2B5EF4-FFF2-40B4-BE49-F238E27FC236}">
                <a16:creationId xmlns:a16="http://schemas.microsoft.com/office/drawing/2014/main" id="{E176DBB7-D0F8-E33D-F2FD-85A5B6996A6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178842" y="0"/>
            <a:ext cx="4572000" cy="6528925"/>
          </a:xfrm>
          <a:prstGeom prst="rect">
            <a:avLst/>
          </a:prstGeom>
          <a:noFill/>
          <a:ln>
            <a:noFill/>
          </a:ln>
        </p:spPr>
      </p:pic>
    </p:spTree>
    <p:extLst>
      <p:ext uri="{BB962C8B-B14F-4D97-AF65-F5344CB8AC3E}">
        <p14:creationId xmlns:p14="http://schemas.microsoft.com/office/powerpoint/2010/main" val="19850804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32F2D-3CA9-A1BA-3E15-45B20C7045B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F4B59BC-F27A-D88B-573E-CD6CED223BF2}"/>
              </a:ext>
            </a:extLst>
          </p:cNvPr>
          <p:cNvSpPr>
            <a:spLocks noGrp="1"/>
          </p:cNvSpPr>
          <p:nvPr>
            <p:ph type="title"/>
          </p:nvPr>
        </p:nvSpPr>
        <p:spPr>
          <a:xfrm>
            <a:off x="90777" y="245856"/>
            <a:ext cx="11923644" cy="628788"/>
          </a:xfrm>
        </p:spPr>
        <p:txBody>
          <a:bodyPr>
            <a:normAutofit fontScale="90000"/>
          </a:bodyPr>
          <a:lstStyle/>
          <a:p>
            <a:r>
              <a:rPr lang="en-US" dirty="0"/>
              <a:t>Research Questions</a:t>
            </a:r>
          </a:p>
        </p:txBody>
      </p:sp>
      <p:sp>
        <p:nvSpPr>
          <p:cNvPr id="5" name="Content Placeholder 4">
            <a:extLst>
              <a:ext uri="{FF2B5EF4-FFF2-40B4-BE49-F238E27FC236}">
                <a16:creationId xmlns:a16="http://schemas.microsoft.com/office/drawing/2014/main" id="{903651D9-E313-53D3-97C1-004970C183EF}"/>
              </a:ext>
            </a:extLst>
          </p:cNvPr>
          <p:cNvSpPr>
            <a:spLocks noGrp="1"/>
          </p:cNvSpPr>
          <p:nvPr>
            <p:ph idx="1"/>
          </p:nvPr>
        </p:nvSpPr>
        <p:spPr>
          <a:xfrm>
            <a:off x="182461" y="874644"/>
            <a:ext cx="11740276" cy="5303519"/>
          </a:xfrm>
        </p:spPr>
        <p:txBody>
          <a:bodyPr>
            <a:normAutofit/>
          </a:bodyPr>
          <a:lstStyle/>
          <a:p>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How many reliable and interpretable factors/components are there in a set of variables?</a:t>
            </a:r>
          </a:p>
          <a:p>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How many factors/components should be extracted?</a:t>
            </a:r>
          </a:p>
          <a:p>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How much variance in a set of variables is accounted for by the retained factors/components?</a:t>
            </a:r>
          </a:p>
          <a:p>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How are the factors/components interpreted? (Note: this is subjective)</a:t>
            </a:r>
          </a:p>
        </p:txBody>
      </p:sp>
    </p:spTree>
    <p:extLst>
      <p:ext uri="{BB962C8B-B14F-4D97-AF65-F5344CB8AC3E}">
        <p14:creationId xmlns:p14="http://schemas.microsoft.com/office/powerpoint/2010/main" val="2741877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0F7C9-2D03-174C-9392-E3E2DC9BC8E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4E12E83-368C-D98B-1B98-9C160BC98C32}"/>
              </a:ext>
            </a:extLst>
          </p:cNvPr>
          <p:cNvSpPr>
            <a:spLocks noGrp="1"/>
          </p:cNvSpPr>
          <p:nvPr>
            <p:ph type="title"/>
          </p:nvPr>
        </p:nvSpPr>
        <p:spPr>
          <a:xfrm>
            <a:off x="90777" y="67440"/>
            <a:ext cx="11923644" cy="628788"/>
          </a:xfrm>
        </p:spPr>
        <p:txBody>
          <a:bodyPr>
            <a:normAutofit fontScale="90000"/>
          </a:bodyPr>
          <a:lstStyle/>
          <a:p>
            <a:r>
              <a:rPr lang="en-US" dirty="0"/>
              <a:t>Illustration</a:t>
            </a:r>
          </a:p>
        </p:txBody>
      </p:sp>
      <p:sp>
        <p:nvSpPr>
          <p:cNvPr id="5" name="Content Placeholder 4">
            <a:extLst>
              <a:ext uri="{FF2B5EF4-FFF2-40B4-BE49-F238E27FC236}">
                <a16:creationId xmlns:a16="http://schemas.microsoft.com/office/drawing/2014/main" id="{0ED016C7-CF5F-9A08-52D4-2E1ADA442347}"/>
              </a:ext>
            </a:extLst>
          </p:cNvPr>
          <p:cNvSpPr>
            <a:spLocks noGrp="1"/>
          </p:cNvSpPr>
          <p:nvPr>
            <p:ph idx="1"/>
          </p:nvPr>
        </p:nvSpPr>
        <p:spPr>
          <a:xfrm>
            <a:off x="225862" y="617970"/>
            <a:ext cx="11740276" cy="5303519"/>
          </a:xfrm>
        </p:spPr>
        <p:txBody>
          <a:bodyPr>
            <a:normAutofit/>
          </a:bodyPr>
          <a:lstStyle/>
          <a:p>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Pretend we have gathered information on 9 factors that affected individual choices about whether to patronize certain stores</a:t>
            </a:r>
          </a:p>
          <a:p>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One question of interest is whether the items can be grouped into some more general areas of focus, i.e., how do the 9 variables group together?</a:t>
            </a:r>
          </a:p>
          <a:p>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Visual inspection is not helpful in revealing patterns, but factor analysis is… as shown in the next two slides</a:t>
            </a:r>
          </a:p>
        </p:txBody>
      </p:sp>
    </p:spTree>
    <p:extLst>
      <p:ext uri="{BB962C8B-B14F-4D97-AF65-F5344CB8AC3E}">
        <p14:creationId xmlns:p14="http://schemas.microsoft.com/office/powerpoint/2010/main" val="3777676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8E702-0E1A-41D8-A736-8E7FDF75B302}"/>
              </a:ext>
            </a:extLst>
          </p:cNvPr>
          <p:cNvSpPr>
            <a:spLocks noGrp="1"/>
          </p:cNvSpPr>
          <p:nvPr>
            <p:ph type="title"/>
          </p:nvPr>
        </p:nvSpPr>
        <p:spPr>
          <a:xfrm>
            <a:off x="80211" y="60502"/>
            <a:ext cx="11384440" cy="693478"/>
          </a:xfrm>
        </p:spPr>
        <p:txBody>
          <a:bodyPr>
            <a:normAutofit/>
          </a:bodyPr>
          <a:lstStyle/>
          <a:p>
            <a:r>
              <a:rPr lang="en-US" sz="3600" dirty="0">
                <a:latin typeface="Calibri" panose="020F0502020204030204" pitchFamily="34" charset="0"/>
                <a:ea typeface="Calibri" panose="020F0502020204030204" pitchFamily="34" charset="0"/>
                <a:cs typeface="Calibri" panose="020F0502020204030204" pitchFamily="34" charset="0"/>
              </a:rPr>
              <a:t>Correlations (what factor(s) might Cause the relationships?)</a:t>
            </a:r>
          </a:p>
        </p:txBody>
      </p:sp>
      <p:graphicFrame>
        <p:nvGraphicFramePr>
          <p:cNvPr id="5" name="Table 5">
            <a:extLst>
              <a:ext uri="{FF2B5EF4-FFF2-40B4-BE49-F238E27FC236}">
                <a16:creationId xmlns:a16="http://schemas.microsoft.com/office/drawing/2014/main" id="{83170D6D-5F4E-430B-8F3D-1E9AB622336D}"/>
              </a:ext>
            </a:extLst>
          </p:cNvPr>
          <p:cNvGraphicFramePr>
            <a:graphicFrameLocks noGrp="1"/>
          </p:cNvGraphicFramePr>
          <p:nvPr>
            <p:ph idx="1"/>
            <p:extLst>
              <p:ext uri="{D42A27DB-BD31-4B8C-83A1-F6EECF244321}">
                <p14:modId xmlns:p14="http://schemas.microsoft.com/office/powerpoint/2010/main" val="4290965911"/>
              </p:ext>
            </p:extLst>
          </p:nvPr>
        </p:nvGraphicFramePr>
        <p:xfrm>
          <a:off x="342339" y="753980"/>
          <a:ext cx="10830988" cy="4491784"/>
        </p:xfrm>
        <a:graphic>
          <a:graphicData uri="http://schemas.openxmlformats.org/drawingml/2006/table">
            <a:tbl>
              <a:tblPr firstRow="1" bandRow="1">
                <a:tableStyleId>{5C22544A-7EE6-4342-B048-85BDC9FD1C3A}</a:tableStyleId>
              </a:tblPr>
              <a:tblGrid>
                <a:gridCol w="2820232">
                  <a:extLst>
                    <a:ext uri="{9D8B030D-6E8A-4147-A177-3AD203B41FA5}">
                      <a16:colId xmlns:a16="http://schemas.microsoft.com/office/drawing/2014/main" val="2105173215"/>
                    </a:ext>
                  </a:extLst>
                </a:gridCol>
                <a:gridCol w="864949">
                  <a:extLst>
                    <a:ext uri="{9D8B030D-6E8A-4147-A177-3AD203B41FA5}">
                      <a16:colId xmlns:a16="http://schemas.microsoft.com/office/drawing/2014/main" val="4137150587"/>
                    </a:ext>
                  </a:extLst>
                </a:gridCol>
                <a:gridCol w="944789">
                  <a:extLst>
                    <a:ext uri="{9D8B030D-6E8A-4147-A177-3AD203B41FA5}">
                      <a16:colId xmlns:a16="http://schemas.microsoft.com/office/drawing/2014/main" val="2617327945"/>
                    </a:ext>
                  </a:extLst>
                </a:gridCol>
                <a:gridCol w="864949">
                  <a:extLst>
                    <a:ext uri="{9D8B030D-6E8A-4147-A177-3AD203B41FA5}">
                      <a16:colId xmlns:a16="http://schemas.microsoft.com/office/drawing/2014/main" val="393941215"/>
                    </a:ext>
                  </a:extLst>
                </a:gridCol>
                <a:gridCol w="904869">
                  <a:extLst>
                    <a:ext uri="{9D8B030D-6E8A-4147-A177-3AD203B41FA5}">
                      <a16:colId xmlns:a16="http://schemas.microsoft.com/office/drawing/2014/main" val="652348981"/>
                    </a:ext>
                  </a:extLst>
                </a:gridCol>
                <a:gridCol w="984711">
                  <a:extLst>
                    <a:ext uri="{9D8B030D-6E8A-4147-A177-3AD203B41FA5}">
                      <a16:colId xmlns:a16="http://schemas.microsoft.com/office/drawing/2014/main" val="1293617217"/>
                    </a:ext>
                  </a:extLst>
                </a:gridCol>
                <a:gridCol w="838335">
                  <a:extLst>
                    <a:ext uri="{9D8B030D-6E8A-4147-A177-3AD203B41FA5}">
                      <a16:colId xmlns:a16="http://schemas.microsoft.com/office/drawing/2014/main" val="1073021097"/>
                    </a:ext>
                  </a:extLst>
                </a:gridCol>
                <a:gridCol w="811722">
                  <a:extLst>
                    <a:ext uri="{9D8B030D-6E8A-4147-A177-3AD203B41FA5}">
                      <a16:colId xmlns:a16="http://schemas.microsoft.com/office/drawing/2014/main" val="3905609835"/>
                    </a:ext>
                  </a:extLst>
                </a:gridCol>
                <a:gridCol w="931484">
                  <a:extLst>
                    <a:ext uri="{9D8B030D-6E8A-4147-A177-3AD203B41FA5}">
                      <a16:colId xmlns:a16="http://schemas.microsoft.com/office/drawing/2014/main" val="966529472"/>
                    </a:ext>
                  </a:extLst>
                </a:gridCol>
                <a:gridCol w="864948">
                  <a:extLst>
                    <a:ext uri="{9D8B030D-6E8A-4147-A177-3AD203B41FA5}">
                      <a16:colId xmlns:a16="http://schemas.microsoft.com/office/drawing/2014/main" val="3782169921"/>
                    </a:ext>
                  </a:extLst>
                </a:gridCol>
              </a:tblGrid>
              <a:tr h="408344">
                <a:tc gridSpan="10">
                  <a:txBody>
                    <a:bodyPr/>
                    <a:lstStyle/>
                    <a:p>
                      <a:r>
                        <a:rPr lang="en-US" dirty="0"/>
                        <a:t>Part I Original Correlation Matrix</a:t>
                      </a:r>
                    </a:p>
                  </a:txBody>
                  <a:tcPr/>
                </a:tc>
                <a:tc hMerge="1">
                  <a:txBody>
                    <a:bodyPr/>
                    <a:lstStyle/>
                    <a:p>
                      <a:endParaRPr lang="en-US"/>
                    </a:p>
                  </a:txBody>
                  <a:tcPr/>
                </a:tc>
                <a:tc hMerge="1">
                  <a:txBody>
                    <a:bodyPr/>
                    <a:lstStyle/>
                    <a:p>
                      <a:endParaRPr lang="en-US" dirty="0"/>
                    </a:p>
                  </a:txBody>
                  <a:tcPr/>
                </a:tc>
                <a:tc hMerge="1">
                  <a:txBody>
                    <a:bodyPr/>
                    <a:lstStyle/>
                    <a:p>
                      <a:endParaRPr lang="en-US"/>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770817471"/>
                  </a:ext>
                </a:extLst>
              </a:tr>
              <a:tr h="408344">
                <a:tc>
                  <a:txBody>
                    <a:bodyPr/>
                    <a:lstStyle/>
                    <a:p>
                      <a:endParaRPr lang="en-US"/>
                    </a:p>
                  </a:txBody>
                  <a:tcPr/>
                </a:tc>
                <a:tc>
                  <a:txBody>
                    <a:bodyPr/>
                    <a:lstStyle/>
                    <a:p>
                      <a:r>
                        <a:rPr lang="en-US" dirty="0"/>
                        <a:t>V1</a:t>
                      </a:r>
                    </a:p>
                  </a:txBody>
                  <a:tcPr/>
                </a:tc>
                <a:tc>
                  <a:txBody>
                    <a:bodyPr/>
                    <a:lstStyle/>
                    <a:p>
                      <a:r>
                        <a:rPr lang="en-US" dirty="0"/>
                        <a:t>V2</a:t>
                      </a:r>
                    </a:p>
                  </a:txBody>
                  <a:tcPr/>
                </a:tc>
                <a:tc>
                  <a:txBody>
                    <a:bodyPr/>
                    <a:lstStyle/>
                    <a:p>
                      <a:r>
                        <a:rPr lang="en-US" dirty="0"/>
                        <a:t>V3</a:t>
                      </a:r>
                    </a:p>
                  </a:txBody>
                  <a:tcPr/>
                </a:tc>
                <a:tc>
                  <a:txBody>
                    <a:bodyPr/>
                    <a:lstStyle/>
                    <a:p>
                      <a:r>
                        <a:rPr lang="en-US" dirty="0"/>
                        <a:t>V4</a:t>
                      </a:r>
                    </a:p>
                  </a:txBody>
                  <a:tcPr/>
                </a:tc>
                <a:tc>
                  <a:txBody>
                    <a:bodyPr/>
                    <a:lstStyle/>
                    <a:p>
                      <a:r>
                        <a:rPr lang="en-US" dirty="0"/>
                        <a:t>V5</a:t>
                      </a:r>
                    </a:p>
                  </a:txBody>
                  <a:tcPr/>
                </a:tc>
                <a:tc>
                  <a:txBody>
                    <a:bodyPr/>
                    <a:lstStyle/>
                    <a:p>
                      <a:r>
                        <a:rPr lang="en-US" dirty="0"/>
                        <a:t>V6</a:t>
                      </a:r>
                    </a:p>
                  </a:txBody>
                  <a:tcPr/>
                </a:tc>
                <a:tc>
                  <a:txBody>
                    <a:bodyPr/>
                    <a:lstStyle/>
                    <a:p>
                      <a:r>
                        <a:rPr lang="en-US" dirty="0"/>
                        <a:t>V7</a:t>
                      </a:r>
                    </a:p>
                  </a:txBody>
                  <a:tcPr/>
                </a:tc>
                <a:tc>
                  <a:txBody>
                    <a:bodyPr/>
                    <a:lstStyle/>
                    <a:p>
                      <a:r>
                        <a:rPr lang="en-US" dirty="0"/>
                        <a:t>V8</a:t>
                      </a:r>
                    </a:p>
                  </a:txBody>
                  <a:tcPr/>
                </a:tc>
                <a:tc>
                  <a:txBody>
                    <a:bodyPr/>
                    <a:lstStyle/>
                    <a:p>
                      <a:r>
                        <a:rPr lang="en-US" dirty="0"/>
                        <a:t>V9</a:t>
                      </a:r>
                    </a:p>
                  </a:txBody>
                  <a:tcPr/>
                </a:tc>
                <a:extLst>
                  <a:ext uri="{0D108BD9-81ED-4DB2-BD59-A6C34878D82A}">
                    <a16:rowId xmlns:a16="http://schemas.microsoft.com/office/drawing/2014/main" val="1203756481"/>
                  </a:ext>
                </a:extLst>
              </a:tr>
              <a:tr h="408344">
                <a:tc>
                  <a:txBody>
                    <a:bodyPr/>
                    <a:lstStyle/>
                    <a:p>
                      <a:r>
                        <a:rPr lang="en-US" dirty="0"/>
                        <a:t>V1 Price Level</a:t>
                      </a:r>
                    </a:p>
                  </a:txBody>
                  <a:tcPr/>
                </a:tc>
                <a:tc>
                  <a:txBody>
                    <a:bodyPr/>
                    <a:lstStyle/>
                    <a:p>
                      <a:r>
                        <a:rPr lang="en-US" dirty="0"/>
                        <a:t>1.00</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965157"/>
                  </a:ext>
                </a:extLst>
              </a:tr>
              <a:tr h="408344">
                <a:tc>
                  <a:txBody>
                    <a:bodyPr/>
                    <a:lstStyle/>
                    <a:p>
                      <a:r>
                        <a:rPr lang="en-US" dirty="0"/>
                        <a:t>V2 Store Personnel</a:t>
                      </a:r>
                    </a:p>
                  </a:txBody>
                  <a:tcPr/>
                </a:tc>
                <a:tc>
                  <a:txBody>
                    <a:bodyPr/>
                    <a:lstStyle/>
                    <a:p>
                      <a:r>
                        <a:rPr lang="en-US" dirty="0"/>
                        <a:t>.427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1.00</a:t>
                      </a:r>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52011410"/>
                  </a:ext>
                </a:extLst>
              </a:tr>
              <a:tr h="408344">
                <a:tc>
                  <a:txBody>
                    <a:bodyPr/>
                    <a:lstStyle/>
                    <a:p>
                      <a:r>
                        <a:rPr lang="en-US" dirty="0"/>
                        <a:t>V3 Return Policy</a:t>
                      </a:r>
                    </a:p>
                  </a:txBody>
                  <a:tcPr/>
                </a:tc>
                <a:tc>
                  <a:txBody>
                    <a:bodyPr/>
                    <a:lstStyle/>
                    <a:p>
                      <a:r>
                        <a:rPr lang="en-US" dirty="0"/>
                        <a:t>.302</a:t>
                      </a:r>
                    </a:p>
                  </a:txBody>
                  <a:tcPr/>
                </a:tc>
                <a:tc>
                  <a:txBody>
                    <a:bodyPr/>
                    <a:lstStyle/>
                    <a:p>
                      <a:r>
                        <a:rPr lang="en-US" b="1" dirty="0"/>
                        <a:t>.771</a:t>
                      </a:r>
                    </a:p>
                  </a:txBody>
                  <a:tcPr/>
                </a:tc>
                <a:tc>
                  <a:txBody>
                    <a:bodyPr/>
                    <a:lstStyle/>
                    <a:p>
                      <a:r>
                        <a:rPr lang="en-US" dirty="0"/>
                        <a:t>1.00</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69692567"/>
                  </a:ext>
                </a:extLst>
              </a:tr>
              <a:tr h="408344">
                <a:tc>
                  <a:txBody>
                    <a:bodyPr/>
                    <a:lstStyle/>
                    <a:p>
                      <a:r>
                        <a:rPr lang="en-US" dirty="0"/>
                        <a:t>V4 Product Availability</a:t>
                      </a:r>
                    </a:p>
                  </a:txBody>
                  <a:tcPr/>
                </a:tc>
                <a:tc>
                  <a:txBody>
                    <a:bodyPr/>
                    <a:lstStyle/>
                    <a:p>
                      <a:r>
                        <a:rPr lang="en-US" dirty="0"/>
                        <a:t>.470</a:t>
                      </a:r>
                    </a:p>
                  </a:txBody>
                  <a:tcPr/>
                </a:tc>
                <a:tc>
                  <a:txBody>
                    <a:bodyPr/>
                    <a:lstStyle/>
                    <a:p>
                      <a:r>
                        <a:rPr lang="en-US" dirty="0"/>
                        <a:t>.497</a:t>
                      </a:r>
                    </a:p>
                  </a:txBody>
                  <a:tcPr/>
                </a:tc>
                <a:tc>
                  <a:txBody>
                    <a:bodyPr/>
                    <a:lstStyle/>
                    <a:p>
                      <a:r>
                        <a:rPr lang="en-US" dirty="0"/>
                        <a:t>.427</a:t>
                      </a:r>
                    </a:p>
                  </a:txBody>
                  <a:tcPr/>
                </a:tc>
                <a:tc>
                  <a:txBody>
                    <a:bodyPr/>
                    <a:lstStyle/>
                    <a:p>
                      <a:r>
                        <a:rPr lang="en-US" dirty="0"/>
                        <a:t>1.00</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539527598"/>
                  </a:ext>
                </a:extLst>
              </a:tr>
              <a:tr h="408344">
                <a:tc>
                  <a:txBody>
                    <a:bodyPr/>
                    <a:lstStyle/>
                    <a:p>
                      <a:r>
                        <a:rPr lang="en-US" dirty="0"/>
                        <a:t>V5 Product Quality</a:t>
                      </a:r>
                    </a:p>
                  </a:txBody>
                  <a:tcPr/>
                </a:tc>
                <a:tc>
                  <a:txBody>
                    <a:bodyPr/>
                    <a:lstStyle/>
                    <a:p>
                      <a:r>
                        <a:rPr lang="en-US" dirty="0"/>
                        <a:t>.765</a:t>
                      </a:r>
                    </a:p>
                  </a:txBody>
                  <a:tcPr/>
                </a:tc>
                <a:tc>
                  <a:txBody>
                    <a:bodyPr/>
                    <a:lstStyle/>
                    <a:p>
                      <a:r>
                        <a:rPr lang="en-US" dirty="0"/>
                        <a:t>.406</a:t>
                      </a:r>
                    </a:p>
                  </a:txBody>
                  <a:tcPr/>
                </a:tc>
                <a:tc>
                  <a:txBody>
                    <a:bodyPr/>
                    <a:lstStyle/>
                    <a:p>
                      <a:r>
                        <a:rPr lang="en-US" dirty="0"/>
                        <a:t>.307</a:t>
                      </a:r>
                    </a:p>
                  </a:txBody>
                  <a:tcPr/>
                </a:tc>
                <a:tc>
                  <a:txBody>
                    <a:bodyPr/>
                    <a:lstStyle/>
                    <a:p>
                      <a:r>
                        <a:rPr lang="en-US" dirty="0"/>
                        <a:t>.427</a:t>
                      </a:r>
                    </a:p>
                  </a:txBody>
                  <a:tcPr/>
                </a:tc>
                <a:tc>
                  <a:txBody>
                    <a:bodyPr/>
                    <a:lstStyle/>
                    <a:p>
                      <a:r>
                        <a:rPr lang="en-US" dirty="0"/>
                        <a:t>1.00</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513814253"/>
                  </a:ext>
                </a:extLst>
              </a:tr>
              <a:tr h="408344">
                <a:tc>
                  <a:txBody>
                    <a:bodyPr/>
                    <a:lstStyle/>
                    <a:p>
                      <a:r>
                        <a:rPr lang="en-US" dirty="0"/>
                        <a:t>V6 Assortment Depth</a:t>
                      </a:r>
                    </a:p>
                  </a:txBody>
                  <a:tcPr/>
                </a:tc>
                <a:tc>
                  <a:txBody>
                    <a:bodyPr/>
                    <a:lstStyle/>
                    <a:p>
                      <a:r>
                        <a:rPr lang="en-US" dirty="0"/>
                        <a:t>.281</a:t>
                      </a:r>
                    </a:p>
                  </a:txBody>
                  <a:tcPr/>
                </a:tc>
                <a:tc>
                  <a:txBody>
                    <a:bodyPr/>
                    <a:lstStyle/>
                    <a:p>
                      <a:r>
                        <a:rPr lang="en-US" dirty="0"/>
                        <a:t>.445</a:t>
                      </a:r>
                    </a:p>
                  </a:txBody>
                  <a:tcPr/>
                </a:tc>
                <a:tc>
                  <a:txBody>
                    <a:bodyPr/>
                    <a:lstStyle/>
                    <a:p>
                      <a:r>
                        <a:rPr lang="en-US" dirty="0"/>
                        <a:t>.423</a:t>
                      </a:r>
                    </a:p>
                  </a:txBody>
                  <a:tcPr/>
                </a:tc>
                <a:tc>
                  <a:txBody>
                    <a:bodyPr/>
                    <a:lstStyle/>
                    <a:p>
                      <a:r>
                        <a:rPr lang="en-US" dirty="0"/>
                        <a:t>.713</a:t>
                      </a:r>
                    </a:p>
                  </a:txBody>
                  <a:tcPr/>
                </a:tc>
                <a:tc>
                  <a:txBody>
                    <a:bodyPr/>
                    <a:lstStyle/>
                    <a:p>
                      <a:r>
                        <a:rPr lang="en-US" dirty="0"/>
                        <a:t>.325</a:t>
                      </a:r>
                    </a:p>
                  </a:txBody>
                  <a:tcPr/>
                </a:tc>
                <a:tc>
                  <a:txBody>
                    <a:bodyPr/>
                    <a:lstStyle/>
                    <a:p>
                      <a:r>
                        <a:rPr lang="en-US" dirty="0"/>
                        <a:t>1.00</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2859847"/>
                  </a:ext>
                </a:extLst>
              </a:tr>
              <a:tr h="408344">
                <a:tc>
                  <a:txBody>
                    <a:bodyPr/>
                    <a:lstStyle/>
                    <a:p>
                      <a:r>
                        <a:rPr lang="en-US" dirty="0"/>
                        <a:t>V7 Assortment Width</a:t>
                      </a:r>
                    </a:p>
                  </a:txBody>
                  <a:tcPr/>
                </a:tc>
                <a:tc>
                  <a:txBody>
                    <a:bodyPr/>
                    <a:lstStyle/>
                    <a:p>
                      <a:r>
                        <a:rPr lang="en-US" dirty="0"/>
                        <a:t>.345</a:t>
                      </a:r>
                    </a:p>
                  </a:txBody>
                  <a:tcPr/>
                </a:tc>
                <a:tc>
                  <a:txBody>
                    <a:bodyPr/>
                    <a:lstStyle/>
                    <a:p>
                      <a:r>
                        <a:rPr lang="en-US" dirty="0"/>
                        <a:t>.490</a:t>
                      </a:r>
                    </a:p>
                  </a:txBody>
                  <a:tcPr/>
                </a:tc>
                <a:tc>
                  <a:txBody>
                    <a:bodyPr/>
                    <a:lstStyle/>
                    <a:p>
                      <a:r>
                        <a:rPr lang="en-US" dirty="0"/>
                        <a:t>.471</a:t>
                      </a:r>
                    </a:p>
                  </a:txBody>
                  <a:tcPr/>
                </a:tc>
                <a:tc>
                  <a:txBody>
                    <a:bodyPr/>
                    <a:lstStyle/>
                    <a:p>
                      <a:r>
                        <a:rPr lang="en-US" dirty="0"/>
                        <a:t>.719</a:t>
                      </a:r>
                    </a:p>
                  </a:txBody>
                  <a:tcPr/>
                </a:tc>
                <a:tc>
                  <a:txBody>
                    <a:bodyPr/>
                    <a:lstStyle/>
                    <a:p>
                      <a:r>
                        <a:rPr lang="en-US" dirty="0"/>
                        <a:t>.378</a:t>
                      </a:r>
                    </a:p>
                  </a:txBody>
                  <a:tcPr/>
                </a:tc>
                <a:tc>
                  <a:txBody>
                    <a:bodyPr/>
                    <a:lstStyle/>
                    <a:p>
                      <a:r>
                        <a:rPr lang="en-US" dirty="0"/>
                        <a:t>.724</a:t>
                      </a:r>
                    </a:p>
                  </a:txBody>
                  <a:tcPr/>
                </a:tc>
                <a:tc>
                  <a:txBody>
                    <a:bodyPr/>
                    <a:lstStyle/>
                    <a:p>
                      <a:r>
                        <a:rPr lang="en-US" dirty="0"/>
                        <a:t>1.00</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822145436"/>
                  </a:ext>
                </a:extLst>
              </a:tr>
              <a:tr h="408344">
                <a:tc>
                  <a:txBody>
                    <a:bodyPr/>
                    <a:lstStyle/>
                    <a:p>
                      <a:r>
                        <a:rPr lang="en-US" dirty="0"/>
                        <a:t>V8 In-store Service</a:t>
                      </a:r>
                    </a:p>
                  </a:txBody>
                  <a:tcPr/>
                </a:tc>
                <a:tc>
                  <a:txBody>
                    <a:bodyPr/>
                    <a:lstStyle/>
                    <a:p>
                      <a:r>
                        <a:rPr lang="en-US" dirty="0"/>
                        <a:t>.242</a:t>
                      </a:r>
                    </a:p>
                  </a:txBody>
                  <a:tcPr/>
                </a:tc>
                <a:tc>
                  <a:txBody>
                    <a:bodyPr/>
                    <a:lstStyle/>
                    <a:p>
                      <a:r>
                        <a:rPr lang="en-US" dirty="0"/>
                        <a:t>.719</a:t>
                      </a:r>
                    </a:p>
                  </a:txBody>
                  <a:tcPr/>
                </a:tc>
                <a:tc>
                  <a:txBody>
                    <a:bodyPr/>
                    <a:lstStyle/>
                    <a:p>
                      <a:r>
                        <a:rPr lang="en-US" b="1" dirty="0"/>
                        <a:t>.733</a:t>
                      </a:r>
                    </a:p>
                  </a:txBody>
                  <a:tcPr/>
                </a:tc>
                <a:tc>
                  <a:txBody>
                    <a:bodyPr/>
                    <a:lstStyle/>
                    <a:p>
                      <a:r>
                        <a:rPr lang="en-US" dirty="0"/>
                        <a:t>.428</a:t>
                      </a:r>
                    </a:p>
                  </a:txBody>
                  <a:tcPr/>
                </a:tc>
                <a:tc>
                  <a:txBody>
                    <a:bodyPr/>
                    <a:lstStyle/>
                    <a:p>
                      <a:r>
                        <a:rPr lang="en-US" dirty="0"/>
                        <a:t>.240</a:t>
                      </a:r>
                    </a:p>
                  </a:txBody>
                  <a:tcPr/>
                </a:tc>
                <a:tc>
                  <a:txBody>
                    <a:bodyPr/>
                    <a:lstStyle/>
                    <a:p>
                      <a:r>
                        <a:rPr lang="en-US" dirty="0"/>
                        <a:t>.311</a:t>
                      </a:r>
                    </a:p>
                  </a:txBody>
                  <a:tcPr/>
                </a:tc>
                <a:tc>
                  <a:txBody>
                    <a:bodyPr/>
                    <a:lstStyle/>
                    <a:p>
                      <a:r>
                        <a:rPr lang="en-US" dirty="0"/>
                        <a:t>.435</a:t>
                      </a:r>
                    </a:p>
                  </a:txBody>
                  <a:tcPr/>
                </a:tc>
                <a:tc>
                  <a:txBody>
                    <a:bodyPr/>
                    <a:lstStyle/>
                    <a:p>
                      <a:r>
                        <a:rPr lang="en-US" dirty="0"/>
                        <a:t>1.00</a:t>
                      </a:r>
                    </a:p>
                  </a:txBody>
                  <a:tcPr/>
                </a:tc>
                <a:tc>
                  <a:txBody>
                    <a:bodyPr/>
                    <a:lstStyle/>
                    <a:p>
                      <a:endParaRPr lang="en-US"/>
                    </a:p>
                  </a:txBody>
                  <a:tcPr/>
                </a:tc>
                <a:extLst>
                  <a:ext uri="{0D108BD9-81ED-4DB2-BD59-A6C34878D82A}">
                    <a16:rowId xmlns:a16="http://schemas.microsoft.com/office/drawing/2014/main" val="1820162229"/>
                  </a:ext>
                </a:extLst>
              </a:tr>
              <a:tr h="408344">
                <a:tc>
                  <a:txBody>
                    <a:bodyPr/>
                    <a:lstStyle/>
                    <a:p>
                      <a:r>
                        <a:rPr lang="en-US" dirty="0"/>
                        <a:t>V9 Store Atmosphere</a:t>
                      </a:r>
                    </a:p>
                  </a:txBody>
                  <a:tcPr/>
                </a:tc>
                <a:tc>
                  <a:txBody>
                    <a:bodyPr/>
                    <a:lstStyle/>
                    <a:p>
                      <a:r>
                        <a:rPr lang="en-US" dirty="0"/>
                        <a:t>.372</a:t>
                      </a:r>
                    </a:p>
                  </a:txBody>
                  <a:tcPr/>
                </a:tc>
                <a:tc>
                  <a:txBody>
                    <a:bodyPr/>
                    <a:lstStyle/>
                    <a:p>
                      <a:r>
                        <a:rPr lang="en-US" dirty="0"/>
                        <a:t>.737</a:t>
                      </a:r>
                    </a:p>
                  </a:txBody>
                  <a:tcPr/>
                </a:tc>
                <a:tc>
                  <a:txBody>
                    <a:bodyPr/>
                    <a:lstStyle/>
                    <a:p>
                      <a:r>
                        <a:rPr lang="en-US" b="1" dirty="0"/>
                        <a:t>.774</a:t>
                      </a:r>
                    </a:p>
                  </a:txBody>
                  <a:tcPr/>
                </a:tc>
                <a:tc>
                  <a:txBody>
                    <a:bodyPr/>
                    <a:lstStyle/>
                    <a:p>
                      <a:r>
                        <a:rPr lang="en-US" dirty="0"/>
                        <a:t>.479</a:t>
                      </a:r>
                    </a:p>
                  </a:txBody>
                  <a:tcPr/>
                </a:tc>
                <a:tc>
                  <a:txBody>
                    <a:bodyPr/>
                    <a:lstStyle/>
                    <a:p>
                      <a:r>
                        <a:rPr lang="en-US" dirty="0"/>
                        <a:t>.326</a:t>
                      </a:r>
                    </a:p>
                  </a:txBody>
                  <a:tcPr/>
                </a:tc>
                <a:tc>
                  <a:txBody>
                    <a:bodyPr/>
                    <a:lstStyle/>
                    <a:p>
                      <a:r>
                        <a:rPr lang="en-US" dirty="0"/>
                        <a:t>.429</a:t>
                      </a:r>
                    </a:p>
                  </a:txBody>
                  <a:tcPr/>
                </a:tc>
                <a:tc>
                  <a:txBody>
                    <a:bodyPr/>
                    <a:lstStyle/>
                    <a:p>
                      <a:r>
                        <a:rPr lang="en-US" dirty="0"/>
                        <a:t>.466</a:t>
                      </a:r>
                    </a:p>
                  </a:txBody>
                  <a:tcPr/>
                </a:tc>
                <a:tc>
                  <a:txBody>
                    <a:bodyPr/>
                    <a:lstStyle/>
                    <a:p>
                      <a:r>
                        <a:rPr lang="en-US" dirty="0"/>
                        <a:t>.710</a:t>
                      </a:r>
                    </a:p>
                  </a:txBody>
                  <a:tcPr/>
                </a:tc>
                <a:tc>
                  <a:txBody>
                    <a:bodyPr/>
                    <a:lstStyle/>
                    <a:p>
                      <a:r>
                        <a:rPr lang="en-US" dirty="0"/>
                        <a:t>1.00</a:t>
                      </a:r>
                    </a:p>
                  </a:txBody>
                  <a:tcPr/>
                </a:tc>
                <a:extLst>
                  <a:ext uri="{0D108BD9-81ED-4DB2-BD59-A6C34878D82A}">
                    <a16:rowId xmlns:a16="http://schemas.microsoft.com/office/drawing/2014/main" val="1805214020"/>
                  </a:ext>
                </a:extLst>
              </a:tr>
            </a:tbl>
          </a:graphicData>
        </a:graphic>
      </p:graphicFrame>
    </p:spTree>
    <p:extLst>
      <p:ext uri="{BB962C8B-B14F-4D97-AF65-F5344CB8AC3E}">
        <p14:creationId xmlns:p14="http://schemas.microsoft.com/office/powerpoint/2010/main" val="30865183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2FA88-57DF-4202-9C31-4908228C177A}"/>
              </a:ext>
            </a:extLst>
          </p:cNvPr>
          <p:cNvSpPr>
            <a:spLocks noGrp="1"/>
          </p:cNvSpPr>
          <p:nvPr>
            <p:ph type="title"/>
          </p:nvPr>
        </p:nvSpPr>
        <p:spPr>
          <a:xfrm>
            <a:off x="132348" y="108452"/>
            <a:ext cx="10515600" cy="658202"/>
          </a:xfrm>
        </p:spPr>
        <p:txBody>
          <a:bodyPr>
            <a:normAutofit fontScale="90000"/>
          </a:bodyPr>
          <a:lstStyle/>
          <a:p>
            <a:r>
              <a:rPr lang="en-US" dirty="0"/>
              <a:t>Factor Structure</a:t>
            </a:r>
          </a:p>
        </p:txBody>
      </p:sp>
      <p:graphicFrame>
        <p:nvGraphicFramePr>
          <p:cNvPr id="5" name="Table 5">
            <a:extLst>
              <a:ext uri="{FF2B5EF4-FFF2-40B4-BE49-F238E27FC236}">
                <a16:creationId xmlns:a16="http://schemas.microsoft.com/office/drawing/2014/main" id="{CD68622B-166C-4C1B-8F34-A82F51B5183A}"/>
              </a:ext>
            </a:extLst>
          </p:cNvPr>
          <p:cNvGraphicFramePr>
            <a:graphicFrameLocks noGrp="1"/>
          </p:cNvGraphicFramePr>
          <p:nvPr>
            <p:ph idx="1"/>
            <p:extLst>
              <p:ext uri="{D42A27DB-BD31-4B8C-83A1-F6EECF244321}">
                <p14:modId xmlns:p14="http://schemas.microsoft.com/office/powerpoint/2010/main" val="436956591"/>
              </p:ext>
            </p:extLst>
          </p:nvPr>
        </p:nvGraphicFramePr>
        <p:xfrm>
          <a:off x="303909" y="766653"/>
          <a:ext cx="11029837" cy="4358794"/>
        </p:xfrm>
        <a:graphic>
          <a:graphicData uri="http://schemas.openxmlformats.org/drawingml/2006/table">
            <a:tbl>
              <a:tblPr firstRow="1" bandRow="1">
                <a:tableStyleId>{5C22544A-7EE6-4342-B048-85BDC9FD1C3A}</a:tableStyleId>
              </a:tblPr>
              <a:tblGrid>
                <a:gridCol w="2948071">
                  <a:extLst>
                    <a:ext uri="{9D8B030D-6E8A-4147-A177-3AD203B41FA5}">
                      <a16:colId xmlns:a16="http://schemas.microsoft.com/office/drawing/2014/main" val="2105173215"/>
                    </a:ext>
                  </a:extLst>
                </a:gridCol>
                <a:gridCol w="904157">
                  <a:extLst>
                    <a:ext uri="{9D8B030D-6E8A-4147-A177-3AD203B41FA5}">
                      <a16:colId xmlns:a16="http://schemas.microsoft.com/office/drawing/2014/main" val="4137150587"/>
                    </a:ext>
                  </a:extLst>
                </a:gridCol>
                <a:gridCol w="987616">
                  <a:extLst>
                    <a:ext uri="{9D8B030D-6E8A-4147-A177-3AD203B41FA5}">
                      <a16:colId xmlns:a16="http://schemas.microsoft.com/office/drawing/2014/main" val="2617327945"/>
                    </a:ext>
                  </a:extLst>
                </a:gridCol>
                <a:gridCol w="904157">
                  <a:extLst>
                    <a:ext uri="{9D8B030D-6E8A-4147-A177-3AD203B41FA5}">
                      <a16:colId xmlns:a16="http://schemas.microsoft.com/office/drawing/2014/main" val="393941215"/>
                    </a:ext>
                  </a:extLst>
                </a:gridCol>
                <a:gridCol w="945886">
                  <a:extLst>
                    <a:ext uri="{9D8B030D-6E8A-4147-A177-3AD203B41FA5}">
                      <a16:colId xmlns:a16="http://schemas.microsoft.com/office/drawing/2014/main" val="652348981"/>
                    </a:ext>
                  </a:extLst>
                </a:gridCol>
                <a:gridCol w="806785">
                  <a:extLst>
                    <a:ext uri="{9D8B030D-6E8A-4147-A177-3AD203B41FA5}">
                      <a16:colId xmlns:a16="http://schemas.microsoft.com/office/drawing/2014/main" val="1293617217"/>
                    </a:ext>
                  </a:extLst>
                </a:gridCol>
                <a:gridCol w="876336">
                  <a:extLst>
                    <a:ext uri="{9D8B030D-6E8A-4147-A177-3AD203B41FA5}">
                      <a16:colId xmlns:a16="http://schemas.microsoft.com/office/drawing/2014/main" val="1073021097"/>
                    </a:ext>
                  </a:extLst>
                </a:gridCol>
                <a:gridCol w="904157">
                  <a:extLst>
                    <a:ext uri="{9D8B030D-6E8A-4147-A177-3AD203B41FA5}">
                      <a16:colId xmlns:a16="http://schemas.microsoft.com/office/drawing/2014/main" val="3905609835"/>
                    </a:ext>
                  </a:extLst>
                </a:gridCol>
                <a:gridCol w="890245">
                  <a:extLst>
                    <a:ext uri="{9D8B030D-6E8A-4147-A177-3AD203B41FA5}">
                      <a16:colId xmlns:a16="http://schemas.microsoft.com/office/drawing/2014/main" val="966529472"/>
                    </a:ext>
                  </a:extLst>
                </a:gridCol>
                <a:gridCol w="862427">
                  <a:extLst>
                    <a:ext uri="{9D8B030D-6E8A-4147-A177-3AD203B41FA5}">
                      <a16:colId xmlns:a16="http://schemas.microsoft.com/office/drawing/2014/main" val="3782169921"/>
                    </a:ext>
                  </a:extLst>
                </a:gridCol>
              </a:tblGrid>
              <a:tr h="396254">
                <a:tc gridSpan="10">
                  <a:txBody>
                    <a:bodyPr/>
                    <a:lstStyle/>
                    <a:p>
                      <a:r>
                        <a:rPr lang="en-US" dirty="0"/>
                        <a:t>Part II Correlation Matrix After Grouping According to Factor Analysis</a:t>
                      </a:r>
                    </a:p>
                  </a:txBody>
                  <a:tcPr/>
                </a:tc>
                <a:tc hMerge="1">
                  <a:txBody>
                    <a:bodyPr/>
                    <a:lstStyle/>
                    <a:p>
                      <a:endParaRPr lang="en-US"/>
                    </a:p>
                  </a:txBody>
                  <a:tcPr/>
                </a:tc>
                <a:tc hMerge="1">
                  <a:txBody>
                    <a:bodyPr/>
                    <a:lstStyle/>
                    <a:p>
                      <a:endParaRPr lang="en-US" dirty="0"/>
                    </a:p>
                  </a:txBody>
                  <a:tcPr/>
                </a:tc>
                <a:tc hMerge="1">
                  <a:txBody>
                    <a:bodyPr/>
                    <a:lstStyle/>
                    <a:p>
                      <a:endParaRPr lang="en-US"/>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770817471"/>
                  </a:ext>
                </a:extLst>
              </a:tr>
              <a:tr h="396254">
                <a:tc>
                  <a:txBody>
                    <a:bodyPr/>
                    <a:lstStyle/>
                    <a:p>
                      <a:endParaRPr lang="en-US"/>
                    </a:p>
                  </a:txBody>
                  <a:tcPr/>
                </a:tc>
                <a:tc>
                  <a:txBody>
                    <a:bodyPr/>
                    <a:lstStyle/>
                    <a:p>
                      <a:r>
                        <a:rPr lang="en-US" dirty="0"/>
                        <a:t>V3</a:t>
                      </a:r>
                    </a:p>
                  </a:txBody>
                  <a:tcPr/>
                </a:tc>
                <a:tc>
                  <a:txBody>
                    <a:bodyPr/>
                    <a:lstStyle/>
                    <a:p>
                      <a:r>
                        <a:rPr lang="en-US" dirty="0"/>
                        <a:t>V8</a:t>
                      </a:r>
                    </a:p>
                  </a:txBody>
                  <a:tcPr/>
                </a:tc>
                <a:tc>
                  <a:txBody>
                    <a:bodyPr/>
                    <a:lstStyle/>
                    <a:p>
                      <a:r>
                        <a:rPr lang="en-US" dirty="0"/>
                        <a:t>V9</a:t>
                      </a:r>
                    </a:p>
                  </a:txBody>
                  <a:tcPr/>
                </a:tc>
                <a:tc>
                  <a:txBody>
                    <a:bodyPr/>
                    <a:lstStyle/>
                    <a:p>
                      <a:r>
                        <a:rPr lang="en-US" dirty="0"/>
                        <a:t>V2</a:t>
                      </a:r>
                    </a:p>
                  </a:txBody>
                  <a:tcPr/>
                </a:tc>
                <a:tc>
                  <a:txBody>
                    <a:bodyPr/>
                    <a:lstStyle/>
                    <a:p>
                      <a:r>
                        <a:rPr lang="en-US" dirty="0"/>
                        <a:t>V6</a:t>
                      </a:r>
                    </a:p>
                  </a:txBody>
                  <a:tcPr/>
                </a:tc>
                <a:tc>
                  <a:txBody>
                    <a:bodyPr/>
                    <a:lstStyle/>
                    <a:p>
                      <a:r>
                        <a:rPr lang="en-US" dirty="0"/>
                        <a:t>V7</a:t>
                      </a:r>
                    </a:p>
                  </a:txBody>
                  <a:tcPr/>
                </a:tc>
                <a:tc>
                  <a:txBody>
                    <a:bodyPr/>
                    <a:lstStyle/>
                    <a:p>
                      <a:r>
                        <a:rPr lang="en-US" dirty="0"/>
                        <a:t>V4</a:t>
                      </a:r>
                    </a:p>
                  </a:txBody>
                  <a:tcPr/>
                </a:tc>
                <a:tc>
                  <a:txBody>
                    <a:bodyPr/>
                    <a:lstStyle/>
                    <a:p>
                      <a:r>
                        <a:rPr lang="en-US" dirty="0"/>
                        <a:t>V1</a:t>
                      </a:r>
                    </a:p>
                  </a:txBody>
                  <a:tcPr/>
                </a:tc>
                <a:tc>
                  <a:txBody>
                    <a:bodyPr/>
                    <a:lstStyle/>
                    <a:p>
                      <a:r>
                        <a:rPr lang="en-US" dirty="0"/>
                        <a:t>V5</a:t>
                      </a:r>
                    </a:p>
                  </a:txBody>
                  <a:tcPr/>
                </a:tc>
                <a:extLst>
                  <a:ext uri="{0D108BD9-81ED-4DB2-BD59-A6C34878D82A}">
                    <a16:rowId xmlns:a16="http://schemas.microsoft.com/office/drawing/2014/main" val="1203756481"/>
                  </a:ext>
                </a:extLst>
              </a:tr>
              <a:tr h="396254">
                <a:tc>
                  <a:txBody>
                    <a:bodyPr/>
                    <a:lstStyle/>
                    <a:p>
                      <a:r>
                        <a:rPr lang="en-US" dirty="0"/>
                        <a:t>V3 Return Policy</a:t>
                      </a:r>
                    </a:p>
                  </a:txBody>
                  <a:tcPr/>
                </a:tc>
                <a:tc>
                  <a:txBody>
                    <a:bodyPr/>
                    <a:lstStyle/>
                    <a:p>
                      <a:r>
                        <a:rPr lang="en-US" dirty="0"/>
                        <a:t>1.00</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965157"/>
                  </a:ext>
                </a:extLst>
              </a:tr>
              <a:tr h="3962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V8 In-store Service</a:t>
                      </a:r>
                    </a:p>
                  </a:txBody>
                  <a:tcPr/>
                </a:tc>
                <a:tc>
                  <a:txBody>
                    <a:bodyPr/>
                    <a:lstStyle/>
                    <a:p>
                      <a:r>
                        <a:rPr lang="en-US" dirty="0"/>
                        <a:t>.773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1.00</a:t>
                      </a:r>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52011410"/>
                  </a:ext>
                </a:extLst>
              </a:tr>
              <a:tr h="396254">
                <a:tc>
                  <a:txBody>
                    <a:bodyPr/>
                    <a:lstStyle/>
                    <a:p>
                      <a:r>
                        <a:rPr lang="en-US" dirty="0"/>
                        <a:t>V9 Store Atmosphere</a:t>
                      </a:r>
                    </a:p>
                  </a:txBody>
                  <a:tcPr/>
                </a:tc>
                <a:tc>
                  <a:txBody>
                    <a:bodyPr/>
                    <a:lstStyle/>
                    <a:p>
                      <a:r>
                        <a:rPr lang="en-US" dirty="0"/>
                        <a:t>.774</a:t>
                      </a:r>
                    </a:p>
                  </a:txBody>
                  <a:tcPr/>
                </a:tc>
                <a:tc>
                  <a:txBody>
                    <a:bodyPr/>
                    <a:lstStyle/>
                    <a:p>
                      <a:r>
                        <a:rPr lang="en-US" dirty="0"/>
                        <a:t>.710</a:t>
                      </a:r>
                    </a:p>
                  </a:txBody>
                  <a:tcPr/>
                </a:tc>
                <a:tc>
                  <a:txBody>
                    <a:bodyPr/>
                    <a:lstStyle/>
                    <a:p>
                      <a:r>
                        <a:rPr lang="en-US" dirty="0"/>
                        <a:t>1.00</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4269692567"/>
                  </a:ext>
                </a:extLst>
              </a:tr>
              <a:tr h="3962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V2 Store Personnel</a:t>
                      </a:r>
                    </a:p>
                  </a:txBody>
                  <a:tcPr/>
                </a:tc>
                <a:tc>
                  <a:txBody>
                    <a:bodyPr/>
                    <a:lstStyle/>
                    <a:p>
                      <a:r>
                        <a:rPr lang="en-US" dirty="0"/>
                        <a:t>.771</a:t>
                      </a:r>
                    </a:p>
                  </a:txBody>
                  <a:tcPr/>
                </a:tc>
                <a:tc>
                  <a:txBody>
                    <a:bodyPr/>
                    <a:lstStyle/>
                    <a:p>
                      <a:r>
                        <a:rPr lang="en-US" dirty="0"/>
                        <a:t>.719</a:t>
                      </a:r>
                    </a:p>
                  </a:txBody>
                  <a:tcPr/>
                </a:tc>
                <a:tc>
                  <a:txBody>
                    <a:bodyPr/>
                    <a:lstStyle/>
                    <a:p>
                      <a:r>
                        <a:rPr lang="en-US" dirty="0"/>
                        <a:t>.737</a:t>
                      </a:r>
                    </a:p>
                  </a:txBody>
                  <a:tcPr/>
                </a:tc>
                <a:tc>
                  <a:txBody>
                    <a:bodyPr/>
                    <a:lstStyle/>
                    <a:p>
                      <a:r>
                        <a:rPr lang="en-US" dirty="0"/>
                        <a:t>1.00</a:t>
                      </a:r>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539527598"/>
                  </a:ext>
                </a:extLst>
              </a:tr>
              <a:tr h="3962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V6 Assortment Depth</a:t>
                      </a:r>
                    </a:p>
                  </a:txBody>
                  <a:tcPr/>
                </a:tc>
                <a:tc>
                  <a:txBody>
                    <a:bodyPr/>
                    <a:lstStyle/>
                    <a:p>
                      <a:r>
                        <a:rPr lang="en-US" dirty="0"/>
                        <a:t>.423</a:t>
                      </a:r>
                    </a:p>
                  </a:txBody>
                  <a:tcPr/>
                </a:tc>
                <a:tc>
                  <a:txBody>
                    <a:bodyPr/>
                    <a:lstStyle/>
                    <a:p>
                      <a:r>
                        <a:rPr lang="en-US" dirty="0"/>
                        <a:t>.311</a:t>
                      </a:r>
                    </a:p>
                  </a:txBody>
                  <a:tcPr/>
                </a:tc>
                <a:tc>
                  <a:txBody>
                    <a:bodyPr/>
                    <a:lstStyle/>
                    <a:p>
                      <a:r>
                        <a:rPr lang="en-US" dirty="0"/>
                        <a:t>.429</a:t>
                      </a:r>
                    </a:p>
                  </a:txBody>
                  <a:tcPr/>
                </a:tc>
                <a:tc>
                  <a:txBody>
                    <a:bodyPr/>
                    <a:lstStyle/>
                    <a:p>
                      <a:r>
                        <a:rPr lang="en-US" dirty="0"/>
                        <a:t>.445</a:t>
                      </a:r>
                    </a:p>
                  </a:txBody>
                  <a:tcPr/>
                </a:tc>
                <a:tc>
                  <a:txBody>
                    <a:bodyPr/>
                    <a:lstStyle/>
                    <a:p>
                      <a:r>
                        <a:rPr lang="en-US" dirty="0"/>
                        <a:t>1.00</a:t>
                      </a:r>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extLst>
                  <a:ext uri="{0D108BD9-81ED-4DB2-BD59-A6C34878D82A}">
                    <a16:rowId xmlns:a16="http://schemas.microsoft.com/office/drawing/2014/main" val="513814253"/>
                  </a:ext>
                </a:extLst>
              </a:tr>
              <a:tr h="3962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V7 Assortment Width</a:t>
                      </a:r>
                    </a:p>
                  </a:txBody>
                  <a:tcPr/>
                </a:tc>
                <a:tc>
                  <a:txBody>
                    <a:bodyPr/>
                    <a:lstStyle/>
                    <a:p>
                      <a:r>
                        <a:rPr lang="en-US" dirty="0"/>
                        <a:t>.471</a:t>
                      </a:r>
                    </a:p>
                  </a:txBody>
                  <a:tcPr/>
                </a:tc>
                <a:tc>
                  <a:txBody>
                    <a:bodyPr/>
                    <a:lstStyle/>
                    <a:p>
                      <a:r>
                        <a:rPr lang="en-US" dirty="0"/>
                        <a:t>.435</a:t>
                      </a:r>
                    </a:p>
                  </a:txBody>
                  <a:tcPr/>
                </a:tc>
                <a:tc>
                  <a:txBody>
                    <a:bodyPr/>
                    <a:lstStyle/>
                    <a:p>
                      <a:r>
                        <a:rPr lang="en-US" dirty="0"/>
                        <a:t>.466</a:t>
                      </a:r>
                    </a:p>
                  </a:txBody>
                  <a:tcPr/>
                </a:tc>
                <a:tc>
                  <a:txBody>
                    <a:bodyPr/>
                    <a:lstStyle/>
                    <a:p>
                      <a:r>
                        <a:rPr lang="en-US" dirty="0"/>
                        <a:t>.490</a:t>
                      </a:r>
                    </a:p>
                  </a:txBody>
                  <a:tcPr/>
                </a:tc>
                <a:tc>
                  <a:txBody>
                    <a:bodyPr/>
                    <a:lstStyle/>
                    <a:p>
                      <a:r>
                        <a:rPr lang="en-US" dirty="0"/>
                        <a:t>.724</a:t>
                      </a:r>
                    </a:p>
                  </a:txBody>
                  <a:tcPr/>
                </a:tc>
                <a:tc>
                  <a:txBody>
                    <a:bodyPr/>
                    <a:lstStyle/>
                    <a:p>
                      <a:r>
                        <a:rPr lang="en-US" dirty="0"/>
                        <a:t>1.00</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2859847"/>
                  </a:ext>
                </a:extLst>
              </a:tr>
              <a:tr h="3962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V4 Product Availability</a:t>
                      </a:r>
                    </a:p>
                  </a:txBody>
                  <a:tcPr/>
                </a:tc>
                <a:tc>
                  <a:txBody>
                    <a:bodyPr/>
                    <a:lstStyle/>
                    <a:p>
                      <a:r>
                        <a:rPr lang="en-US" dirty="0"/>
                        <a:t>.427</a:t>
                      </a:r>
                    </a:p>
                  </a:txBody>
                  <a:tcPr/>
                </a:tc>
                <a:tc>
                  <a:txBody>
                    <a:bodyPr/>
                    <a:lstStyle/>
                    <a:p>
                      <a:r>
                        <a:rPr lang="en-US" dirty="0"/>
                        <a:t>.428</a:t>
                      </a:r>
                    </a:p>
                  </a:txBody>
                  <a:tcPr/>
                </a:tc>
                <a:tc>
                  <a:txBody>
                    <a:bodyPr/>
                    <a:lstStyle/>
                    <a:p>
                      <a:r>
                        <a:rPr lang="en-US" dirty="0"/>
                        <a:t>.479</a:t>
                      </a:r>
                    </a:p>
                  </a:txBody>
                  <a:tcPr/>
                </a:tc>
                <a:tc>
                  <a:txBody>
                    <a:bodyPr/>
                    <a:lstStyle/>
                    <a:p>
                      <a:r>
                        <a:rPr lang="en-US" dirty="0"/>
                        <a:t>.497</a:t>
                      </a:r>
                    </a:p>
                  </a:txBody>
                  <a:tcPr/>
                </a:tc>
                <a:tc>
                  <a:txBody>
                    <a:bodyPr/>
                    <a:lstStyle/>
                    <a:p>
                      <a:r>
                        <a:rPr lang="en-US" dirty="0"/>
                        <a:t>.713</a:t>
                      </a:r>
                    </a:p>
                  </a:txBody>
                  <a:tcPr/>
                </a:tc>
                <a:tc>
                  <a:txBody>
                    <a:bodyPr/>
                    <a:lstStyle/>
                    <a:p>
                      <a:r>
                        <a:rPr lang="en-US" dirty="0"/>
                        <a:t>.719</a:t>
                      </a:r>
                    </a:p>
                  </a:txBody>
                  <a:tcPr/>
                </a:tc>
                <a:tc>
                  <a:txBody>
                    <a:bodyPr/>
                    <a:lstStyle/>
                    <a:p>
                      <a:r>
                        <a:rPr lang="en-US" dirty="0"/>
                        <a:t>1.00</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822145436"/>
                  </a:ext>
                </a:extLst>
              </a:tr>
              <a:tr h="3962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V1 Price Level</a:t>
                      </a:r>
                    </a:p>
                  </a:txBody>
                  <a:tcPr/>
                </a:tc>
                <a:tc>
                  <a:txBody>
                    <a:bodyPr/>
                    <a:lstStyle/>
                    <a:p>
                      <a:r>
                        <a:rPr lang="en-US" dirty="0"/>
                        <a:t>.302</a:t>
                      </a:r>
                    </a:p>
                  </a:txBody>
                  <a:tcPr/>
                </a:tc>
                <a:tc>
                  <a:txBody>
                    <a:bodyPr/>
                    <a:lstStyle/>
                    <a:p>
                      <a:r>
                        <a:rPr lang="en-US" dirty="0"/>
                        <a:t>.242</a:t>
                      </a:r>
                    </a:p>
                  </a:txBody>
                  <a:tcPr/>
                </a:tc>
                <a:tc>
                  <a:txBody>
                    <a:bodyPr/>
                    <a:lstStyle/>
                    <a:p>
                      <a:r>
                        <a:rPr lang="en-US" dirty="0"/>
                        <a:t>.372</a:t>
                      </a:r>
                    </a:p>
                  </a:txBody>
                  <a:tcPr/>
                </a:tc>
                <a:tc>
                  <a:txBody>
                    <a:bodyPr/>
                    <a:lstStyle/>
                    <a:p>
                      <a:r>
                        <a:rPr lang="en-US" dirty="0"/>
                        <a:t>.427</a:t>
                      </a:r>
                    </a:p>
                  </a:txBody>
                  <a:tcPr/>
                </a:tc>
                <a:tc>
                  <a:txBody>
                    <a:bodyPr/>
                    <a:lstStyle/>
                    <a:p>
                      <a:r>
                        <a:rPr lang="en-US" dirty="0"/>
                        <a:t>.281</a:t>
                      </a:r>
                    </a:p>
                  </a:txBody>
                  <a:tcPr/>
                </a:tc>
                <a:tc>
                  <a:txBody>
                    <a:bodyPr/>
                    <a:lstStyle/>
                    <a:p>
                      <a:r>
                        <a:rPr lang="en-US" dirty="0"/>
                        <a:t>.354</a:t>
                      </a:r>
                    </a:p>
                  </a:txBody>
                  <a:tcPr/>
                </a:tc>
                <a:tc>
                  <a:txBody>
                    <a:bodyPr/>
                    <a:lstStyle/>
                    <a:p>
                      <a:r>
                        <a:rPr lang="en-US" dirty="0"/>
                        <a:t>.470</a:t>
                      </a:r>
                    </a:p>
                  </a:txBody>
                  <a:tcPr/>
                </a:tc>
                <a:tc>
                  <a:txBody>
                    <a:bodyPr/>
                    <a:lstStyle/>
                    <a:p>
                      <a:r>
                        <a:rPr lang="en-US" dirty="0"/>
                        <a:t>1.00</a:t>
                      </a:r>
                    </a:p>
                  </a:txBody>
                  <a:tcPr/>
                </a:tc>
                <a:tc>
                  <a:txBody>
                    <a:bodyPr/>
                    <a:lstStyle/>
                    <a:p>
                      <a:endParaRPr lang="en-US" dirty="0"/>
                    </a:p>
                  </a:txBody>
                  <a:tcPr/>
                </a:tc>
                <a:extLst>
                  <a:ext uri="{0D108BD9-81ED-4DB2-BD59-A6C34878D82A}">
                    <a16:rowId xmlns:a16="http://schemas.microsoft.com/office/drawing/2014/main" val="1820162229"/>
                  </a:ext>
                </a:extLst>
              </a:tr>
              <a:tr h="3962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V5 Product Quality</a:t>
                      </a:r>
                    </a:p>
                  </a:txBody>
                  <a:tcPr/>
                </a:tc>
                <a:tc>
                  <a:txBody>
                    <a:bodyPr/>
                    <a:lstStyle/>
                    <a:p>
                      <a:r>
                        <a:rPr lang="en-US" dirty="0"/>
                        <a:t>.307</a:t>
                      </a:r>
                    </a:p>
                  </a:txBody>
                  <a:tcPr/>
                </a:tc>
                <a:tc>
                  <a:txBody>
                    <a:bodyPr/>
                    <a:lstStyle/>
                    <a:p>
                      <a:r>
                        <a:rPr lang="en-US" dirty="0"/>
                        <a:t>.240</a:t>
                      </a:r>
                    </a:p>
                  </a:txBody>
                  <a:tcPr/>
                </a:tc>
                <a:tc>
                  <a:txBody>
                    <a:bodyPr/>
                    <a:lstStyle/>
                    <a:p>
                      <a:r>
                        <a:rPr lang="en-US" dirty="0"/>
                        <a:t>.326</a:t>
                      </a:r>
                    </a:p>
                  </a:txBody>
                  <a:tcPr/>
                </a:tc>
                <a:tc>
                  <a:txBody>
                    <a:bodyPr/>
                    <a:lstStyle/>
                    <a:p>
                      <a:r>
                        <a:rPr lang="en-US" dirty="0"/>
                        <a:t>.406</a:t>
                      </a:r>
                    </a:p>
                  </a:txBody>
                  <a:tcPr/>
                </a:tc>
                <a:tc>
                  <a:txBody>
                    <a:bodyPr/>
                    <a:lstStyle/>
                    <a:p>
                      <a:r>
                        <a:rPr lang="en-US" dirty="0"/>
                        <a:t>.325</a:t>
                      </a:r>
                    </a:p>
                  </a:txBody>
                  <a:tcPr/>
                </a:tc>
                <a:tc>
                  <a:txBody>
                    <a:bodyPr/>
                    <a:lstStyle/>
                    <a:p>
                      <a:r>
                        <a:rPr lang="en-US" dirty="0"/>
                        <a:t>.378</a:t>
                      </a:r>
                    </a:p>
                  </a:txBody>
                  <a:tcPr/>
                </a:tc>
                <a:tc>
                  <a:txBody>
                    <a:bodyPr/>
                    <a:lstStyle/>
                    <a:p>
                      <a:r>
                        <a:rPr lang="en-US" dirty="0"/>
                        <a:t>.427</a:t>
                      </a:r>
                    </a:p>
                  </a:txBody>
                  <a:tcPr/>
                </a:tc>
                <a:tc>
                  <a:txBody>
                    <a:bodyPr/>
                    <a:lstStyle/>
                    <a:p>
                      <a:r>
                        <a:rPr lang="en-US" dirty="0"/>
                        <a:t>.765</a:t>
                      </a:r>
                    </a:p>
                  </a:txBody>
                  <a:tcPr/>
                </a:tc>
                <a:tc>
                  <a:txBody>
                    <a:bodyPr/>
                    <a:lstStyle/>
                    <a:p>
                      <a:r>
                        <a:rPr lang="en-US" dirty="0"/>
                        <a:t>1.00</a:t>
                      </a:r>
                    </a:p>
                  </a:txBody>
                  <a:tcPr/>
                </a:tc>
                <a:extLst>
                  <a:ext uri="{0D108BD9-81ED-4DB2-BD59-A6C34878D82A}">
                    <a16:rowId xmlns:a16="http://schemas.microsoft.com/office/drawing/2014/main" val="1805214020"/>
                  </a:ext>
                </a:extLst>
              </a:tr>
            </a:tbl>
          </a:graphicData>
        </a:graphic>
      </p:graphicFrame>
      <p:sp>
        <p:nvSpPr>
          <p:cNvPr id="6" name="Rectangle 5">
            <a:extLst>
              <a:ext uri="{FF2B5EF4-FFF2-40B4-BE49-F238E27FC236}">
                <a16:creationId xmlns:a16="http://schemas.microsoft.com/office/drawing/2014/main" id="{F38BF660-2769-4CBD-80F5-C4B02E71F265}"/>
              </a:ext>
            </a:extLst>
          </p:cNvPr>
          <p:cNvSpPr/>
          <p:nvPr/>
        </p:nvSpPr>
        <p:spPr>
          <a:xfrm>
            <a:off x="3244420" y="1617301"/>
            <a:ext cx="933049" cy="15270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7" name="Rectangle 6">
            <a:extLst>
              <a:ext uri="{FF2B5EF4-FFF2-40B4-BE49-F238E27FC236}">
                <a16:creationId xmlns:a16="http://schemas.microsoft.com/office/drawing/2014/main" id="{42B5EDA5-03A0-4EA3-A628-F5141DC48A57}"/>
              </a:ext>
            </a:extLst>
          </p:cNvPr>
          <p:cNvSpPr/>
          <p:nvPr/>
        </p:nvSpPr>
        <p:spPr>
          <a:xfrm>
            <a:off x="6983028" y="3144381"/>
            <a:ext cx="839974" cy="114442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8" name="Rectangle 7">
            <a:extLst>
              <a:ext uri="{FF2B5EF4-FFF2-40B4-BE49-F238E27FC236}">
                <a16:creationId xmlns:a16="http://schemas.microsoft.com/office/drawing/2014/main" id="{A5FDDF6A-ABB0-4B25-9222-A5613E4CA66C}"/>
              </a:ext>
            </a:extLst>
          </p:cNvPr>
          <p:cNvSpPr/>
          <p:nvPr/>
        </p:nvSpPr>
        <p:spPr>
          <a:xfrm>
            <a:off x="9604881" y="4385704"/>
            <a:ext cx="839974" cy="7397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2292542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A5A3F-2C30-486D-A368-EA9097D68A01}"/>
              </a:ext>
            </a:extLst>
          </p:cNvPr>
          <p:cNvSpPr>
            <a:spLocks noGrp="1"/>
          </p:cNvSpPr>
          <p:nvPr>
            <p:ph type="title"/>
          </p:nvPr>
        </p:nvSpPr>
        <p:spPr>
          <a:xfrm>
            <a:off x="180474" y="108451"/>
            <a:ext cx="10515600" cy="805949"/>
          </a:xfrm>
        </p:spPr>
        <p:txBody>
          <a:bodyPr/>
          <a:lstStyle/>
          <a:p>
            <a:r>
              <a:rPr lang="en-US" dirty="0"/>
              <a:t>Is factor analysis appropriate?</a:t>
            </a:r>
          </a:p>
        </p:txBody>
      </p:sp>
      <p:sp>
        <p:nvSpPr>
          <p:cNvPr id="3" name="Content Placeholder 2">
            <a:extLst>
              <a:ext uri="{FF2B5EF4-FFF2-40B4-BE49-F238E27FC236}">
                <a16:creationId xmlns:a16="http://schemas.microsoft.com/office/drawing/2014/main" id="{30474869-F3B5-49CB-AEC4-DE15B2FFBFD2}"/>
              </a:ext>
            </a:extLst>
          </p:cNvPr>
          <p:cNvSpPr>
            <a:spLocks noGrp="1"/>
          </p:cNvSpPr>
          <p:nvPr>
            <p:ph idx="1"/>
          </p:nvPr>
        </p:nvSpPr>
        <p:spPr>
          <a:xfrm>
            <a:off x="292768" y="806951"/>
            <a:ext cx="10515600" cy="4351338"/>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Conceptual issues (later)</a:t>
            </a:r>
          </a:p>
          <a:p>
            <a:r>
              <a:rPr lang="en-US" sz="2000" dirty="0">
                <a:latin typeface="Calibri" panose="020F0502020204030204" pitchFamily="34" charset="0"/>
                <a:ea typeface="Calibri" panose="020F0502020204030204" pitchFamily="34" charset="0"/>
                <a:cs typeface="Calibri" panose="020F0502020204030204" pitchFamily="34" charset="0"/>
              </a:rPr>
              <a:t>Statistical issues (look at correlations between variables)</a:t>
            </a:r>
          </a:p>
          <a:p>
            <a:pPr lvl="1"/>
            <a:r>
              <a:rPr lang="en-US" sz="1800" dirty="0">
                <a:latin typeface="Calibri" panose="020F0502020204030204" pitchFamily="34" charset="0"/>
                <a:ea typeface="Calibri" panose="020F0502020204030204" pitchFamily="34" charset="0"/>
                <a:cs typeface="Calibri" panose="020F0502020204030204" pitchFamily="34" charset="0"/>
              </a:rPr>
              <a:t>Ensure that the data matrix has sufficient correlations to justify the application of FA</a:t>
            </a:r>
          </a:p>
          <a:p>
            <a:pPr lvl="2"/>
            <a:r>
              <a:rPr lang="en-US" sz="1800" dirty="0">
                <a:latin typeface="Calibri" panose="020F0502020204030204" pitchFamily="34" charset="0"/>
                <a:ea typeface="Calibri" panose="020F0502020204030204" pitchFamily="34" charset="0"/>
                <a:cs typeface="Calibri" panose="020F0502020204030204" pitchFamily="34" charset="0"/>
              </a:rPr>
              <a:t>If all correlations are low don’t use (&lt;.30)</a:t>
            </a:r>
          </a:p>
          <a:p>
            <a:pPr lvl="1"/>
            <a:r>
              <a:rPr lang="en-US" sz="1800" dirty="0">
                <a:latin typeface="Calibri" panose="020F0502020204030204" pitchFamily="34" charset="0"/>
                <a:ea typeface="Calibri" panose="020F0502020204030204" pitchFamily="34" charset="0"/>
                <a:cs typeface="Calibri" panose="020F0502020204030204" pitchFamily="34" charset="0"/>
              </a:rPr>
              <a:t>Look for </a:t>
            </a:r>
            <a:r>
              <a:rPr lang="en-US" sz="1800" b="1" u="sng" dirty="0">
                <a:latin typeface="Calibri" panose="020F0502020204030204" pitchFamily="34" charset="0"/>
                <a:ea typeface="Calibri" panose="020F0502020204030204" pitchFamily="34" charset="0"/>
                <a:cs typeface="Calibri" panose="020F0502020204030204" pitchFamily="34" charset="0"/>
              </a:rPr>
              <a:t>low</a:t>
            </a:r>
            <a:r>
              <a:rPr lang="en-US" sz="1800" dirty="0">
                <a:latin typeface="Calibri" panose="020F0502020204030204" pitchFamily="34" charset="0"/>
                <a:ea typeface="Calibri" panose="020F0502020204030204" pitchFamily="34" charset="0"/>
                <a:cs typeface="Calibri" panose="020F0502020204030204" pitchFamily="34" charset="0"/>
              </a:rPr>
              <a:t> partial correlations </a:t>
            </a:r>
            <a:r>
              <a:rPr lang="en-US" sz="1800"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a</a:t>
            </a:r>
            <a:r>
              <a:rPr lang="en-US" sz="1800" dirty="0">
                <a:latin typeface="Calibri" panose="020F0502020204030204" pitchFamily="34" charset="0"/>
                <a:ea typeface="Calibri" panose="020F0502020204030204" pitchFamily="34" charset="0"/>
                <a:cs typeface="Calibri" panose="020F0502020204030204" pitchFamily="34" charset="0"/>
              </a:rPr>
              <a:t> pattern of high partial correlations means that a variable is </a:t>
            </a:r>
            <a:r>
              <a:rPr lang="en-US" sz="1800" b="1" dirty="0">
                <a:latin typeface="Calibri" panose="020F0502020204030204" pitchFamily="34" charset="0"/>
                <a:ea typeface="Calibri" panose="020F0502020204030204" pitchFamily="34" charset="0"/>
                <a:cs typeface="Calibri" panose="020F0502020204030204" pitchFamily="34" charset="0"/>
              </a:rPr>
              <a:t>not </a:t>
            </a:r>
            <a:r>
              <a:rPr lang="en-US" sz="1800" dirty="0">
                <a:latin typeface="Calibri" panose="020F0502020204030204" pitchFamily="34" charset="0"/>
                <a:ea typeface="Calibri" panose="020F0502020204030204" pitchFamily="34" charset="0"/>
                <a:cs typeface="Calibri" panose="020F0502020204030204" pitchFamily="34" charset="0"/>
              </a:rPr>
              <a:t>correlated with a large number of other variables </a:t>
            </a:r>
            <a:r>
              <a:rPr lang="en-US" sz="1800"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no factors exist in the data</a:t>
            </a:r>
          </a:p>
          <a:p>
            <a:pPr lvl="2"/>
            <a:r>
              <a:rPr lang="en-US" sz="1600"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Partial correlations &gt; .7 are high</a:t>
            </a:r>
          </a:p>
          <a:p>
            <a:pPr lvl="1"/>
            <a:r>
              <a:rPr lang="en-US" sz="1800" dirty="0">
                <a:latin typeface="Calibri" panose="020F0502020204030204" pitchFamily="34" charset="0"/>
                <a:ea typeface="Calibri" panose="020F0502020204030204" pitchFamily="34" charset="0"/>
                <a:cs typeface="Calibri" panose="020F0502020204030204" pitchFamily="34" charset="0"/>
              </a:rPr>
              <a:t>Bartlett’s test of sphericity should be </a:t>
            </a:r>
            <a:r>
              <a:rPr lang="en-US" sz="1800" b="1" dirty="0">
                <a:latin typeface="Calibri" panose="020F0502020204030204" pitchFamily="34" charset="0"/>
                <a:ea typeface="Calibri" panose="020F0502020204030204" pitchFamily="34" charset="0"/>
                <a:cs typeface="Calibri" panose="020F0502020204030204" pitchFamily="34" charset="0"/>
              </a:rPr>
              <a:t>significant</a:t>
            </a:r>
          </a:p>
          <a:p>
            <a:pPr lvl="1"/>
            <a:r>
              <a:rPr lang="en-US" sz="1800" dirty="0">
                <a:latin typeface="Calibri" panose="020F0502020204030204" pitchFamily="34" charset="0"/>
                <a:ea typeface="Calibri" panose="020F0502020204030204" pitchFamily="34" charset="0"/>
                <a:cs typeface="Calibri" panose="020F0502020204030204" pitchFamily="34" charset="0"/>
              </a:rPr>
              <a:t>Kaiser-Meyer-Olkin Measure of sampling adequacy (MSA) should be high</a:t>
            </a:r>
          </a:p>
        </p:txBody>
      </p:sp>
    </p:spTree>
    <p:extLst>
      <p:ext uri="{BB962C8B-B14F-4D97-AF65-F5344CB8AC3E}">
        <p14:creationId xmlns:p14="http://schemas.microsoft.com/office/powerpoint/2010/main" val="16537359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480D5-799E-466C-B0AE-1A58D007A5EA}"/>
              </a:ext>
            </a:extLst>
          </p:cNvPr>
          <p:cNvSpPr>
            <a:spLocks noGrp="1"/>
          </p:cNvSpPr>
          <p:nvPr>
            <p:ph type="title"/>
          </p:nvPr>
        </p:nvSpPr>
        <p:spPr>
          <a:xfrm>
            <a:off x="92242" y="116472"/>
            <a:ext cx="10515600" cy="789907"/>
          </a:xfrm>
        </p:spPr>
        <p:txBody>
          <a:bodyPr/>
          <a:lstStyle/>
          <a:p>
            <a:r>
              <a:rPr lang="en-US" dirty="0"/>
              <a:t>Initial factorability assessment (Summary)</a:t>
            </a:r>
          </a:p>
        </p:txBody>
      </p:sp>
      <p:sp>
        <p:nvSpPr>
          <p:cNvPr id="3" name="Content Placeholder 2">
            <a:extLst>
              <a:ext uri="{FF2B5EF4-FFF2-40B4-BE49-F238E27FC236}">
                <a16:creationId xmlns:a16="http://schemas.microsoft.com/office/drawing/2014/main" id="{10CAD5B6-DDD1-4929-BCD3-070926C9A068}"/>
              </a:ext>
            </a:extLst>
          </p:cNvPr>
          <p:cNvSpPr>
            <a:spLocks noGrp="1"/>
          </p:cNvSpPr>
          <p:nvPr>
            <p:ph idx="1"/>
          </p:nvPr>
        </p:nvSpPr>
        <p:spPr>
          <a:xfrm>
            <a:off x="260685" y="798930"/>
            <a:ext cx="10515600" cy="4351338"/>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Correlation coefficient values</a:t>
            </a:r>
          </a:p>
          <a:p>
            <a:pPr lvl="1"/>
            <a:r>
              <a:rPr lang="en-US" sz="1800" dirty="0">
                <a:latin typeface="Calibri" panose="020F0502020204030204" pitchFamily="34" charset="0"/>
                <a:ea typeface="Calibri" panose="020F0502020204030204" pitchFamily="34" charset="0"/>
                <a:cs typeface="Calibri" panose="020F0502020204030204" pitchFamily="34" charset="0"/>
              </a:rPr>
              <a:t>Should be &gt; .30</a:t>
            </a:r>
          </a:p>
          <a:p>
            <a:r>
              <a:rPr lang="en-US" sz="2000" dirty="0">
                <a:latin typeface="Calibri" panose="020F0502020204030204" pitchFamily="34" charset="0"/>
                <a:ea typeface="Calibri" panose="020F0502020204030204" pitchFamily="34" charset="0"/>
                <a:cs typeface="Calibri" panose="020F0502020204030204" pitchFamily="34" charset="0"/>
              </a:rPr>
              <a:t>Bartlett’s test of sphericity</a:t>
            </a:r>
          </a:p>
          <a:p>
            <a:pPr lvl="1"/>
            <a:r>
              <a:rPr lang="en-US" sz="1800" dirty="0">
                <a:latin typeface="Calibri" panose="020F0502020204030204" pitchFamily="34" charset="0"/>
                <a:ea typeface="Calibri" panose="020F0502020204030204" pitchFamily="34" charset="0"/>
                <a:cs typeface="Calibri" panose="020F0502020204030204" pitchFamily="34" charset="0"/>
              </a:rPr>
              <a:t>The null hypothesis is the variance-covariance matrix equals the identity matrix</a:t>
            </a:r>
          </a:p>
          <a:p>
            <a:pPr lvl="1"/>
            <a:r>
              <a:rPr lang="en-US" sz="1800" dirty="0">
                <a:latin typeface="Calibri" panose="020F0502020204030204" pitchFamily="34" charset="0"/>
                <a:ea typeface="Calibri" panose="020F0502020204030204" pitchFamily="34" charset="0"/>
                <a:cs typeface="Calibri" panose="020F0502020204030204" pitchFamily="34" charset="0"/>
              </a:rPr>
              <a:t>Here we want to reject the null hypothesis because we want overlapping variance between variables to reduce them into latent factors</a:t>
            </a:r>
          </a:p>
          <a:p>
            <a:r>
              <a:rPr lang="en-US" sz="2000" dirty="0">
                <a:latin typeface="Calibri" panose="020F0502020204030204" pitchFamily="34" charset="0"/>
                <a:ea typeface="Calibri" panose="020F0502020204030204" pitchFamily="34" charset="0"/>
                <a:cs typeface="Calibri" panose="020F0502020204030204" pitchFamily="34" charset="0"/>
              </a:rPr>
              <a:t>Anti-image correlation matrix</a:t>
            </a:r>
          </a:p>
          <a:p>
            <a:r>
              <a:rPr lang="en-US" sz="2000" dirty="0">
                <a:latin typeface="Calibri" panose="020F0502020204030204" pitchFamily="34" charset="0"/>
                <a:ea typeface="Calibri" panose="020F0502020204030204" pitchFamily="34" charset="0"/>
                <a:cs typeface="Calibri" panose="020F0502020204030204" pitchFamily="34" charset="0"/>
              </a:rPr>
              <a:t>Kaiser-Meyer-Olkin measure of sampling adequacy (MSA)</a:t>
            </a:r>
          </a:p>
          <a:p>
            <a:pPr lvl="1"/>
            <a:r>
              <a:rPr lang="en-US" sz="1800" dirty="0">
                <a:latin typeface="Calibri" panose="020F0502020204030204" pitchFamily="34" charset="0"/>
                <a:ea typeface="Calibri" panose="020F0502020204030204" pitchFamily="34" charset="0"/>
                <a:cs typeface="Calibri" panose="020F0502020204030204" pitchFamily="34" charset="0"/>
              </a:rPr>
              <a:t>An index of shared variance in the variables: </a:t>
            </a:r>
            <a:r>
              <a:rPr lang="en-US" sz="1800" b="0" i="0" dirty="0">
                <a:solidFill>
                  <a:srgbClr val="202124"/>
                </a:solidFill>
                <a:effectLst/>
                <a:latin typeface="Calibri" panose="020F0502020204030204" pitchFamily="34" charset="0"/>
                <a:ea typeface="Calibri" panose="020F0502020204030204" pitchFamily="34" charset="0"/>
                <a:cs typeface="Calibri" panose="020F0502020204030204" pitchFamily="34" charset="0"/>
              </a:rPr>
              <a:t>the proportion of variance in your variables that might be “caused” by underlying factors</a:t>
            </a:r>
            <a:endParaRPr lang="en-US" sz="1800" dirty="0">
              <a:latin typeface="Calibri" panose="020F0502020204030204" pitchFamily="34" charset="0"/>
              <a:ea typeface="Calibri" panose="020F0502020204030204" pitchFamily="34" charset="0"/>
              <a:cs typeface="Calibri" panose="020F0502020204030204" pitchFamily="34" charset="0"/>
            </a:endParaRPr>
          </a:p>
          <a:p>
            <a:pPr lvl="1"/>
            <a:r>
              <a:rPr lang="en-US" sz="1800" dirty="0">
                <a:latin typeface="Calibri" panose="020F0502020204030204" pitchFamily="34" charset="0"/>
                <a:ea typeface="Calibri" panose="020F0502020204030204" pitchFamily="34" charset="0"/>
                <a:cs typeface="Calibri" panose="020F0502020204030204" pitchFamily="34" charset="0"/>
              </a:rPr>
              <a:t>Compares the magnitude of the observed to partial correlation coefficients</a:t>
            </a:r>
          </a:p>
          <a:p>
            <a:pPr lvl="1"/>
            <a:r>
              <a:rPr lang="en-US" sz="1800" dirty="0">
                <a:latin typeface="Calibri" panose="020F0502020204030204" pitchFamily="34" charset="0"/>
                <a:ea typeface="Calibri" panose="020F0502020204030204" pitchFamily="34" charset="0"/>
                <a:cs typeface="Calibri" panose="020F0502020204030204" pitchFamily="34" charset="0"/>
              </a:rPr>
              <a:t>Ranges from 0 to 1 and larger values mean more factorability (look for significance)</a:t>
            </a:r>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490667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C59E7-46DE-6C1C-A42B-E4AF8376E28B}"/>
              </a:ext>
            </a:extLst>
          </p:cNvPr>
          <p:cNvSpPr>
            <a:spLocks noGrp="1"/>
          </p:cNvSpPr>
          <p:nvPr>
            <p:ph type="title"/>
          </p:nvPr>
        </p:nvSpPr>
        <p:spPr/>
        <p:txBody>
          <a:bodyPr/>
          <a:lstStyle/>
          <a:p>
            <a:r>
              <a:rPr lang="en-US" dirty="0"/>
              <a:t>Identity matrix v. Covariance matrix</a:t>
            </a:r>
          </a:p>
        </p:txBody>
      </p:sp>
      <p:graphicFrame>
        <p:nvGraphicFramePr>
          <p:cNvPr id="6" name="Content Placeholder 5">
            <a:extLst>
              <a:ext uri="{FF2B5EF4-FFF2-40B4-BE49-F238E27FC236}">
                <a16:creationId xmlns:a16="http://schemas.microsoft.com/office/drawing/2014/main" id="{ADC334D9-9BF3-0D06-61A8-1B42C63251CD}"/>
              </a:ext>
            </a:extLst>
          </p:cNvPr>
          <p:cNvGraphicFramePr>
            <a:graphicFrameLocks noGrp="1"/>
          </p:cNvGraphicFramePr>
          <p:nvPr>
            <p:ph idx="1"/>
            <p:extLst>
              <p:ext uri="{D42A27DB-BD31-4B8C-83A1-F6EECF244321}">
                <p14:modId xmlns:p14="http://schemas.microsoft.com/office/powerpoint/2010/main" val="885863176"/>
              </p:ext>
            </p:extLst>
          </p:nvPr>
        </p:nvGraphicFramePr>
        <p:xfrm>
          <a:off x="1556084" y="2208587"/>
          <a:ext cx="2855496" cy="1681624"/>
        </p:xfrm>
        <a:graphic>
          <a:graphicData uri="http://schemas.openxmlformats.org/drawingml/2006/table">
            <a:tbl>
              <a:tblPr>
                <a:tableStyleId>{D7AC3CCA-C797-4891-BE02-D94E43425B78}</a:tableStyleId>
              </a:tblPr>
              <a:tblGrid>
                <a:gridCol w="713874">
                  <a:extLst>
                    <a:ext uri="{9D8B030D-6E8A-4147-A177-3AD203B41FA5}">
                      <a16:colId xmlns:a16="http://schemas.microsoft.com/office/drawing/2014/main" val="838341258"/>
                    </a:ext>
                  </a:extLst>
                </a:gridCol>
                <a:gridCol w="713874">
                  <a:extLst>
                    <a:ext uri="{9D8B030D-6E8A-4147-A177-3AD203B41FA5}">
                      <a16:colId xmlns:a16="http://schemas.microsoft.com/office/drawing/2014/main" val="3388643731"/>
                    </a:ext>
                  </a:extLst>
                </a:gridCol>
                <a:gridCol w="713874">
                  <a:extLst>
                    <a:ext uri="{9D8B030D-6E8A-4147-A177-3AD203B41FA5}">
                      <a16:colId xmlns:a16="http://schemas.microsoft.com/office/drawing/2014/main" val="515149471"/>
                    </a:ext>
                  </a:extLst>
                </a:gridCol>
                <a:gridCol w="713874">
                  <a:extLst>
                    <a:ext uri="{9D8B030D-6E8A-4147-A177-3AD203B41FA5}">
                      <a16:colId xmlns:a16="http://schemas.microsoft.com/office/drawing/2014/main" val="1883304888"/>
                    </a:ext>
                  </a:extLst>
                </a:gridCol>
              </a:tblGrid>
              <a:tr h="420406">
                <a:tc>
                  <a:txBody>
                    <a:bodyPr/>
                    <a:lstStyle/>
                    <a:p>
                      <a:pPr algn="ctr" fontAlgn="t"/>
                      <a:endParaRPr lang="en-US" sz="1800" b="1" i="0" u="none" strike="noStrike" dirty="0">
                        <a:solidFill>
                          <a:srgbClr val="000000"/>
                        </a:solidFill>
                        <a:effectLst/>
                        <a:latin typeface="Calibri" panose="020F0502020204030204" pitchFamily="34" charset="0"/>
                      </a:endParaRPr>
                    </a:p>
                  </a:txBody>
                  <a:tcPr marL="9525" marR="9525" marT="9525" marB="0"/>
                </a:tc>
                <a:tc>
                  <a:txBody>
                    <a:bodyPr/>
                    <a:lstStyle/>
                    <a:p>
                      <a:pPr algn="ctr" fontAlgn="t"/>
                      <a:r>
                        <a:rPr lang="en-US" sz="1800" b="1" u="none" strike="noStrike" dirty="0">
                          <a:solidFill>
                            <a:srgbClr val="000000"/>
                          </a:solidFill>
                          <a:effectLst/>
                        </a:rPr>
                        <a:t>Var1</a:t>
                      </a:r>
                      <a:endParaRPr lang="en-US" sz="18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t"/>
                      <a:r>
                        <a:rPr lang="en-US" sz="1800" b="1" u="none" strike="noStrike" dirty="0">
                          <a:solidFill>
                            <a:srgbClr val="000000"/>
                          </a:solidFill>
                          <a:effectLst/>
                        </a:rPr>
                        <a:t>Var2</a:t>
                      </a:r>
                      <a:endParaRPr lang="en-US" sz="18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t"/>
                      <a:r>
                        <a:rPr lang="en-US" sz="1800" b="1" u="none" strike="noStrike" dirty="0">
                          <a:solidFill>
                            <a:srgbClr val="000000"/>
                          </a:solidFill>
                          <a:effectLst/>
                        </a:rPr>
                        <a:t>Var3</a:t>
                      </a:r>
                      <a:endParaRPr lang="en-US" sz="18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70840502"/>
                  </a:ext>
                </a:extLst>
              </a:tr>
              <a:tr h="420406">
                <a:tc>
                  <a:txBody>
                    <a:bodyPr/>
                    <a:lstStyle/>
                    <a:p>
                      <a:pPr algn="ctr" fontAlgn="b"/>
                      <a:r>
                        <a:rPr lang="en-US" sz="1800" b="1" i="0" u="none" strike="noStrike" dirty="0">
                          <a:solidFill>
                            <a:srgbClr val="000000"/>
                          </a:solidFill>
                          <a:effectLst/>
                          <a:latin typeface="Calibri" panose="020F0502020204030204" pitchFamily="34" charset="0"/>
                        </a:rPr>
                        <a:t>Var1</a:t>
                      </a:r>
                    </a:p>
                  </a:txBody>
                  <a:tcPr marL="9525" marR="9525" marT="9525" marB="0" anchor="ctr"/>
                </a:tc>
                <a:tc>
                  <a:txBody>
                    <a:bodyPr/>
                    <a:lstStyle/>
                    <a:p>
                      <a:pPr algn="ctr" fontAlgn="b"/>
                      <a:r>
                        <a:rPr lang="en-US" sz="1800" b="0" u="none" strike="noStrike" dirty="0">
                          <a:solidFill>
                            <a:srgbClr val="000000"/>
                          </a:solidFill>
                          <a:effectLst/>
                        </a:rPr>
                        <a:t>1</a:t>
                      </a:r>
                      <a:endParaRPr lang="en-US"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0" u="none" strike="noStrike" dirty="0">
                          <a:solidFill>
                            <a:srgbClr val="000000"/>
                          </a:solidFill>
                          <a:effectLst/>
                        </a:rPr>
                        <a:t>0</a:t>
                      </a:r>
                      <a:endParaRPr lang="en-US"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0" u="none" strike="noStrike" dirty="0">
                          <a:solidFill>
                            <a:srgbClr val="000000"/>
                          </a:solidFill>
                          <a:effectLst/>
                        </a:rPr>
                        <a:t>0</a:t>
                      </a:r>
                      <a:endParaRPr lang="en-US" sz="1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829703550"/>
                  </a:ext>
                </a:extLst>
              </a:tr>
              <a:tr h="420406">
                <a:tc>
                  <a:txBody>
                    <a:bodyPr/>
                    <a:lstStyle/>
                    <a:p>
                      <a:pPr algn="ctr" fontAlgn="b"/>
                      <a:r>
                        <a:rPr lang="en-US" sz="1800" b="1" i="0" u="none" strike="noStrike" dirty="0">
                          <a:solidFill>
                            <a:srgbClr val="000000"/>
                          </a:solidFill>
                          <a:effectLst/>
                          <a:latin typeface="Calibri" panose="020F0502020204030204" pitchFamily="34" charset="0"/>
                        </a:rPr>
                        <a:t>Var2</a:t>
                      </a:r>
                    </a:p>
                  </a:txBody>
                  <a:tcPr marL="9525" marR="9525" marT="9525" marB="0" anchor="ctr"/>
                </a:tc>
                <a:tc>
                  <a:txBody>
                    <a:bodyPr/>
                    <a:lstStyle/>
                    <a:p>
                      <a:pPr algn="ctr" fontAlgn="b"/>
                      <a:r>
                        <a:rPr lang="en-US" sz="1800" b="0" u="none" strike="noStrike">
                          <a:solidFill>
                            <a:srgbClr val="000000"/>
                          </a:solidFill>
                          <a:effectLst/>
                        </a:rPr>
                        <a:t>0</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0" u="none" strike="noStrike" dirty="0">
                          <a:solidFill>
                            <a:srgbClr val="000000"/>
                          </a:solidFill>
                          <a:effectLst/>
                        </a:rPr>
                        <a:t>1</a:t>
                      </a:r>
                      <a:endParaRPr lang="en-US"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0" u="none" strike="noStrike" dirty="0">
                          <a:solidFill>
                            <a:srgbClr val="000000"/>
                          </a:solidFill>
                          <a:effectLst/>
                        </a:rPr>
                        <a:t>0</a:t>
                      </a:r>
                      <a:endParaRPr lang="en-US" sz="1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210375736"/>
                  </a:ext>
                </a:extLst>
              </a:tr>
              <a:tr h="420406">
                <a:tc>
                  <a:txBody>
                    <a:bodyPr/>
                    <a:lstStyle/>
                    <a:p>
                      <a:pPr algn="ctr" fontAlgn="b"/>
                      <a:r>
                        <a:rPr lang="en-US" sz="1800" b="1" i="0" u="none" strike="noStrike" dirty="0">
                          <a:solidFill>
                            <a:srgbClr val="000000"/>
                          </a:solidFill>
                          <a:effectLst/>
                          <a:latin typeface="Calibri" panose="020F0502020204030204" pitchFamily="34" charset="0"/>
                        </a:rPr>
                        <a:t>Var3</a:t>
                      </a:r>
                    </a:p>
                  </a:txBody>
                  <a:tcPr marL="9525" marR="9525" marT="9525" marB="0" anchor="ctr"/>
                </a:tc>
                <a:tc>
                  <a:txBody>
                    <a:bodyPr/>
                    <a:lstStyle/>
                    <a:p>
                      <a:pPr algn="ctr" fontAlgn="b"/>
                      <a:r>
                        <a:rPr lang="en-US" sz="1800" b="0" u="none" strike="noStrike">
                          <a:solidFill>
                            <a:srgbClr val="000000"/>
                          </a:solidFill>
                          <a:effectLst/>
                        </a:rPr>
                        <a:t>0</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0" u="none" strike="noStrike" dirty="0">
                          <a:solidFill>
                            <a:srgbClr val="000000"/>
                          </a:solidFill>
                          <a:effectLst/>
                        </a:rPr>
                        <a:t>0</a:t>
                      </a:r>
                      <a:endParaRPr lang="en-US"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0" u="none" strike="noStrike" dirty="0">
                          <a:solidFill>
                            <a:srgbClr val="000000"/>
                          </a:solidFill>
                          <a:effectLst/>
                        </a:rPr>
                        <a:t>1</a:t>
                      </a:r>
                      <a:endParaRPr lang="en-US" sz="1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962702718"/>
                  </a:ext>
                </a:extLst>
              </a:tr>
            </a:tbl>
          </a:graphicData>
        </a:graphic>
      </p:graphicFrame>
      <p:graphicFrame>
        <p:nvGraphicFramePr>
          <p:cNvPr id="7" name="Table 6">
            <a:extLst>
              <a:ext uri="{FF2B5EF4-FFF2-40B4-BE49-F238E27FC236}">
                <a16:creationId xmlns:a16="http://schemas.microsoft.com/office/drawing/2014/main" id="{DB43F42E-E4C3-CACD-CF76-F5C2FC04F96B}"/>
              </a:ext>
            </a:extLst>
          </p:cNvPr>
          <p:cNvGraphicFramePr>
            <a:graphicFrameLocks noGrp="1"/>
          </p:cNvGraphicFramePr>
          <p:nvPr>
            <p:extLst>
              <p:ext uri="{D42A27DB-BD31-4B8C-83A1-F6EECF244321}">
                <p14:modId xmlns:p14="http://schemas.microsoft.com/office/powerpoint/2010/main" val="1734652195"/>
              </p:ext>
            </p:extLst>
          </p:nvPr>
        </p:nvGraphicFramePr>
        <p:xfrm>
          <a:off x="5141492" y="2208586"/>
          <a:ext cx="3056024" cy="1681624"/>
        </p:xfrm>
        <a:graphic>
          <a:graphicData uri="http://schemas.openxmlformats.org/drawingml/2006/table">
            <a:tbl>
              <a:tblPr>
                <a:tableStyleId>{5940675A-B579-460E-94D1-54222C63F5DA}</a:tableStyleId>
              </a:tblPr>
              <a:tblGrid>
                <a:gridCol w="764006">
                  <a:extLst>
                    <a:ext uri="{9D8B030D-6E8A-4147-A177-3AD203B41FA5}">
                      <a16:colId xmlns:a16="http://schemas.microsoft.com/office/drawing/2014/main" val="3611524226"/>
                    </a:ext>
                  </a:extLst>
                </a:gridCol>
                <a:gridCol w="764006">
                  <a:extLst>
                    <a:ext uri="{9D8B030D-6E8A-4147-A177-3AD203B41FA5}">
                      <a16:colId xmlns:a16="http://schemas.microsoft.com/office/drawing/2014/main" val="3728576456"/>
                    </a:ext>
                  </a:extLst>
                </a:gridCol>
                <a:gridCol w="764006">
                  <a:extLst>
                    <a:ext uri="{9D8B030D-6E8A-4147-A177-3AD203B41FA5}">
                      <a16:colId xmlns:a16="http://schemas.microsoft.com/office/drawing/2014/main" val="2845637240"/>
                    </a:ext>
                  </a:extLst>
                </a:gridCol>
                <a:gridCol w="764006">
                  <a:extLst>
                    <a:ext uri="{9D8B030D-6E8A-4147-A177-3AD203B41FA5}">
                      <a16:colId xmlns:a16="http://schemas.microsoft.com/office/drawing/2014/main" val="310056156"/>
                    </a:ext>
                  </a:extLst>
                </a:gridCol>
              </a:tblGrid>
              <a:tr h="420406">
                <a:tc>
                  <a:txBody>
                    <a:bodyPr/>
                    <a:lstStyle/>
                    <a:p>
                      <a:pPr algn="ctr" fontAlgn="t"/>
                      <a:endParaRPr lang="en-US" sz="1800" b="1" i="0" u="none" strike="noStrike" dirty="0">
                        <a:solidFill>
                          <a:srgbClr val="000000"/>
                        </a:solidFill>
                        <a:effectLst/>
                        <a:latin typeface="Calibri" panose="020F0502020204030204" pitchFamily="34" charset="0"/>
                      </a:endParaRPr>
                    </a:p>
                  </a:txBody>
                  <a:tcPr marL="9525" marR="9525" marT="9525" marB="0"/>
                </a:tc>
                <a:tc>
                  <a:txBody>
                    <a:bodyPr/>
                    <a:lstStyle/>
                    <a:p>
                      <a:pPr algn="ctr" fontAlgn="t"/>
                      <a:r>
                        <a:rPr lang="en-US" sz="1800" b="1" u="none" strike="noStrike" dirty="0">
                          <a:solidFill>
                            <a:srgbClr val="000000"/>
                          </a:solidFill>
                          <a:effectLst/>
                        </a:rPr>
                        <a:t>Var1</a:t>
                      </a:r>
                      <a:endParaRPr lang="en-US" sz="18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t"/>
                      <a:r>
                        <a:rPr lang="en-US" sz="1800" b="1" u="none" strike="noStrike" dirty="0">
                          <a:solidFill>
                            <a:srgbClr val="000000"/>
                          </a:solidFill>
                          <a:effectLst/>
                        </a:rPr>
                        <a:t>Var2</a:t>
                      </a:r>
                      <a:endParaRPr lang="en-US" sz="18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t"/>
                      <a:r>
                        <a:rPr lang="en-US" sz="1800" b="1" u="none" strike="noStrike" dirty="0">
                          <a:solidFill>
                            <a:srgbClr val="000000"/>
                          </a:solidFill>
                          <a:effectLst/>
                        </a:rPr>
                        <a:t>Var3</a:t>
                      </a:r>
                      <a:endParaRPr lang="en-US" sz="18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89528407"/>
                  </a:ext>
                </a:extLst>
              </a:tr>
              <a:tr h="420406">
                <a:tc>
                  <a:txBody>
                    <a:bodyPr/>
                    <a:lstStyle/>
                    <a:p>
                      <a:pPr algn="ctr" fontAlgn="b"/>
                      <a:r>
                        <a:rPr lang="en-US" sz="1800" b="1" i="0" u="none" strike="noStrike" dirty="0">
                          <a:solidFill>
                            <a:srgbClr val="000000"/>
                          </a:solidFill>
                          <a:effectLst/>
                          <a:latin typeface="Calibri" panose="020F0502020204030204" pitchFamily="34" charset="0"/>
                        </a:rPr>
                        <a:t>Var1</a:t>
                      </a:r>
                    </a:p>
                  </a:txBody>
                  <a:tcPr marL="9525" marR="9525" marT="9525" marB="0" anchor="ctr"/>
                </a:tc>
                <a:tc>
                  <a:txBody>
                    <a:bodyPr/>
                    <a:lstStyle/>
                    <a:p>
                      <a:pPr algn="ctr" fontAlgn="b"/>
                      <a:r>
                        <a:rPr lang="en-US" sz="1800" b="0" u="none" strike="noStrike" dirty="0">
                          <a:solidFill>
                            <a:srgbClr val="000000"/>
                          </a:solidFill>
                          <a:effectLst/>
                        </a:rPr>
                        <a:t>1</a:t>
                      </a:r>
                      <a:endParaRPr lang="en-US"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0" u="none" strike="noStrike" dirty="0">
                          <a:solidFill>
                            <a:srgbClr val="000000"/>
                          </a:solidFill>
                          <a:effectLst/>
                        </a:rPr>
                        <a:t>0.6</a:t>
                      </a:r>
                      <a:endParaRPr lang="en-US"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0" u="none" strike="noStrike">
                          <a:solidFill>
                            <a:srgbClr val="000000"/>
                          </a:solidFill>
                          <a:effectLst/>
                        </a:rPr>
                        <a:t>0.4</a:t>
                      </a:r>
                      <a:endParaRPr lang="en-US" sz="18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653237120"/>
                  </a:ext>
                </a:extLst>
              </a:tr>
              <a:tr h="420406">
                <a:tc>
                  <a:txBody>
                    <a:bodyPr/>
                    <a:lstStyle/>
                    <a:p>
                      <a:pPr algn="ctr" fontAlgn="b"/>
                      <a:r>
                        <a:rPr lang="en-US" sz="1800" b="1" i="0" u="none" strike="noStrike" dirty="0">
                          <a:solidFill>
                            <a:srgbClr val="000000"/>
                          </a:solidFill>
                          <a:effectLst/>
                          <a:latin typeface="Calibri" panose="020F0502020204030204" pitchFamily="34" charset="0"/>
                        </a:rPr>
                        <a:t>Var2</a:t>
                      </a:r>
                    </a:p>
                  </a:txBody>
                  <a:tcPr marL="9525" marR="9525" marT="9525" marB="0" anchor="ctr"/>
                </a:tc>
                <a:tc>
                  <a:txBody>
                    <a:bodyPr/>
                    <a:lstStyle/>
                    <a:p>
                      <a:pPr algn="ctr" fontAlgn="b"/>
                      <a:r>
                        <a:rPr lang="en-US" sz="1800" b="0" u="none" strike="noStrike">
                          <a:solidFill>
                            <a:srgbClr val="000000"/>
                          </a:solidFill>
                          <a:effectLst/>
                        </a:rPr>
                        <a:t>0.6</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0" u="none" strike="noStrike" dirty="0">
                          <a:solidFill>
                            <a:srgbClr val="000000"/>
                          </a:solidFill>
                          <a:effectLst/>
                        </a:rPr>
                        <a:t>1</a:t>
                      </a:r>
                      <a:endParaRPr lang="en-US"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0" u="none" strike="noStrike" dirty="0">
                          <a:solidFill>
                            <a:srgbClr val="000000"/>
                          </a:solidFill>
                          <a:effectLst/>
                        </a:rPr>
                        <a:t>0.5</a:t>
                      </a:r>
                      <a:endParaRPr lang="en-US" sz="1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428391877"/>
                  </a:ext>
                </a:extLst>
              </a:tr>
              <a:tr h="420406">
                <a:tc>
                  <a:txBody>
                    <a:bodyPr/>
                    <a:lstStyle/>
                    <a:p>
                      <a:pPr algn="ctr" fontAlgn="b"/>
                      <a:r>
                        <a:rPr lang="en-US" sz="1800" b="1" i="0" u="none" strike="noStrike" dirty="0">
                          <a:solidFill>
                            <a:srgbClr val="000000"/>
                          </a:solidFill>
                          <a:effectLst/>
                          <a:latin typeface="Calibri" panose="020F0502020204030204" pitchFamily="34" charset="0"/>
                        </a:rPr>
                        <a:t>Var3</a:t>
                      </a:r>
                    </a:p>
                  </a:txBody>
                  <a:tcPr marL="9525" marR="9525" marT="9525" marB="0" anchor="ctr"/>
                </a:tc>
                <a:tc>
                  <a:txBody>
                    <a:bodyPr/>
                    <a:lstStyle/>
                    <a:p>
                      <a:pPr algn="ctr" fontAlgn="b"/>
                      <a:r>
                        <a:rPr lang="en-US" sz="1800" b="0" u="none" strike="noStrike">
                          <a:solidFill>
                            <a:srgbClr val="000000"/>
                          </a:solidFill>
                          <a:effectLst/>
                        </a:rPr>
                        <a:t>0.4</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0" u="none" strike="noStrike">
                          <a:solidFill>
                            <a:srgbClr val="000000"/>
                          </a:solidFill>
                          <a:effectLst/>
                        </a:rPr>
                        <a:t>0.5</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0" u="none" strike="noStrike" dirty="0">
                          <a:solidFill>
                            <a:srgbClr val="000000"/>
                          </a:solidFill>
                          <a:effectLst/>
                        </a:rPr>
                        <a:t>1</a:t>
                      </a:r>
                      <a:endParaRPr lang="en-US" sz="1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369639495"/>
                  </a:ext>
                </a:extLst>
              </a:tr>
            </a:tbl>
          </a:graphicData>
        </a:graphic>
      </p:graphicFrame>
    </p:spTree>
    <p:extLst>
      <p:ext uri="{BB962C8B-B14F-4D97-AF65-F5344CB8AC3E}">
        <p14:creationId xmlns:p14="http://schemas.microsoft.com/office/powerpoint/2010/main" val="16805612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002AE-59EB-496E-9655-1BC7DCFA9C1B}"/>
              </a:ext>
            </a:extLst>
          </p:cNvPr>
          <p:cNvSpPr>
            <a:spLocks noGrp="1"/>
          </p:cNvSpPr>
          <p:nvPr>
            <p:ph type="title"/>
          </p:nvPr>
        </p:nvSpPr>
        <p:spPr>
          <a:xfrm>
            <a:off x="100262" y="76369"/>
            <a:ext cx="11738811" cy="725738"/>
          </a:xfrm>
        </p:spPr>
        <p:txBody>
          <a:bodyPr>
            <a:normAutofit fontScale="90000"/>
          </a:bodyPr>
          <a:lstStyle/>
          <a:p>
            <a:r>
              <a:rPr lang="en-US" b="0" i="0" dirty="0">
                <a:solidFill>
                  <a:srgbClr val="000000"/>
                </a:solidFill>
                <a:effectLst/>
                <a:latin typeface="Calibri" panose="020F0502020204030204" pitchFamily="34" charset="0"/>
              </a:rPr>
              <a:t>Extracting a set of factors from the correlation matrix</a:t>
            </a:r>
            <a:endParaRPr lang="en-US" dirty="0"/>
          </a:p>
        </p:txBody>
      </p:sp>
      <p:sp>
        <p:nvSpPr>
          <p:cNvPr id="3" name="Content Placeholder 2">
            <a:extLst>
              <a:ext uri="{FF2B5EF4-FFF2-40B4-BE49-F238E27FC236}">
                <a16:creationId xmlns:a16="http://schemas.microsoft.com/office/drawing/2014/main" id="{3CB323ED-FFF6-4007-AF5F-2E951B291301}"/>
              </a:ext>
            </a:extLst>
          </p:cNvPr>
          <p:cNvSpPr>
            <a:spLocks noGrp="1"/>
          </p:cNvSpPr>
          <p:nvPr>
            <p:ph idx="1"/>
          </p:nvPr>
        </p:nvSpPr>
        <p:spPr>
          <a:xfrm>
            <a:off x="252663" y="678615"/>
            <a:ext cx="10515600" cy="4351338"/>
          </a:xfrm>
        </p:spPr>
        <p:txBody>
          <a:bodyPr>
            <a:norm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Recall</a:t>
            </a:r>
            <a:r>
              <a:rPr lang="en-US" sz="2000" dirty="0">
                <a:latin typeface="Calibri" panose="020F0502020204030204" pitchFamily="34" charset="0"/>
                <a:ea typeface="Calibri" panose="020F0502020204030204" pitchFamily="34" charset="0"/>
                <a:cs typeface="Calibri" panose="020F0502020204030204" pitchFamily="34" charset="0"/>
              </a:rPr>
              <a:t>: Variance tells us how spread out a variable’s values are around its average</a:t>
            </a:r>
          </a:p>
          <a:p>
            <a:r>
              <a:rPr lang="en-US" sz="2000" dirty="0">
                <a:latin typeface="Calibri" panose="020F0502020204030204" pitchFamily="34" charset="0"/>
                <a:ea typeface="Calibri" panose="020F0502020204030204" pitchFamily="34" charset="0"/>
                <a:cs typeface="Calibri" panose="020F0502020204030204" pitchFamily="34" charset="0"/>
              </a:rPr>
              <a:t>When two variables are correlated, they share some of that variance. The amount they share is the squared correlation</a:t>
            </a:r>
          </a:p>
          <a:p>
            <a:pPr lvl="1"/>
            <a:r>
              <a:rPr lang="en-US" sz="1800" b="1" dirty="0">
                <a:latin typeface="Calibri" panose="020F0502020204030204" pitchFamily="34" charset="0"/>
                <a:ea typeface="Calibri" panose="020F0502020204030204" pitchFamily="34" charset="0"/>
                <a:cs typeface="Calibri" panose="020F0502020204030204" pitchFamily="34" charset="0"/>
              </a:rPr>
              <a:t>Example</a:t>
            </a:r>
            <a:r>
              <a:rPr lang="en-US" sz="1800" dirty="0">
                <a:latin typeface="Calibri" panose="020F0502020204030204" pitchFamily="34" charset="0"/>
                <a:ea typeface="Calibri" panose="020F0502020204030204" pitchFamily="34" charset="0"/>
                <a:cs typeface="Calibri" panose="020F0502020204030204" pitchFamily="34" charset="0"/>
              </a:rPr>
              <a:t>: A correlation of 0.5 means 25% of the variance is shared</a:t>
            </a:r>
          </a:p>
          <a:p>
            <a:r>
              <a:rPr lang="en-US" sz="2000" dirty="0">
                <a:latin typeface="Calibri" panose="020F0502020204030204" pitchFamily="34" charset="0"/>
                <a:ea typeface="Calibri" panose="020F0502020204030204" pitchFamily="34" charset="0"/>
                <a:cs typeface="Calibri" panose="020F0502020204030204" pitchFamily="34" charset="0"/>
              </a:rPr>
              <a:t>In FA, variables that are highly correlated are grouped together —meaning they move together and share a lot of variance</a:t>
            </a:r>
          </a:p>
          <a:p>
            <a:r>
              <a:rPr lang="en-US" sz="2000" dirty="0">
                <a:latin typeface="Calibri" panose="020F0502020204030204" pitchFamily="34" charset="0"/>
                <a:ea typeface="Calibri" panose="020F0502020204030204" pitchFamily="34" charset="0"/>
                <a:cs typeface="Calibri" panose="020F0502020204030204" pitchFamily="34" charset="0"/>
              </a:rPr>
              <a:t>It's important to know how much of a variable’s variance is shared with others in its group (factor), and how much is unique or due to error</a:t>
            </a:r>
          </a:p>
          <a:p>
            <a:pPr lvl="1"/>
            <a:r>
              <a:rPr lang="en-US" sz="1800" dirty="0">
                <a:latin typeface="Calibri" panose="020F0502020204030204" pitchFamily="34" charset="0"/>
                <a:ea typeface="Calibri" panose="020F0502020204030204" pitchFamily="34" charset="0"/>
                <a:cs typeface="Calibri" panose="020F0502020204030204" pitchFamily="34" charset="0"/>
              </a:rPr>
              <a:t>Total variance = Shared (common) variance + Unique variance + Error</a:t>
            </a:r>
            <a:endParaRPr lang="en-US" sz="2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59653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A610E-78BB-BF49-38C9-8440FA5E05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FCB0B8-671C-154D-9172-A6C020C40695}"/>
              </a:ext>
            </a:extLst>
          </p:cNvPr>
          <p:cNvSpPr>
            <a:spLocks noGrp="1"/>
          </p:cNvSpPr>
          <p:nvPr>
            <p:ph type="title"/>
          </p:nvPr>
        </p:nvSpPr>
        <p:spPr>
          <a:xfrm>
            <a:off x="76199" y="76369"/>
            <a:ext cx="11738811" cy="509168"/>
          </a:xfrm>
        </p:spPr>
        <p:txBody>
          <a:bodyPr>
            <a:normAutofit fontScale="90000"/>
          </a:bodyPr>
          <a:lstStyle/>
          <a:p>
            <a:r>
              <a:rPr lang="en-US" sz="4000" b="0" i="0" dirty="0">
                <a:solidFill>
                  <a:srgbClr val="000000"/>
                </a:solidFill>
                <a:effectLst/>
                <a:latin typeface="Calibri" panose="020F0502020204030204" pitchFamily="34" charset="0"/>
              </a:rPr>
              <a:t>Understanding Variance in Factor Analysis</a:t>
            </a:r>
            <a:endParaRPr lang="en-US" sz="4000" dirty="0"/>
          </a:p>
        </p:txBody>
      </p:sp>
      <p:sp>
        <p:nvSpPr>
          <p:cNvPr id="3" name="Content Placeholder 2">
            <a:extLst>
              <a:ext uri="{FF2B5EF4-FFF2-40B4-BE49-F238E27FC236}">
                <a16:creationId xmlns:a16="http://schemas.microsoft.com/office/drawing/2014/main" id="{A03D6687-FCA0-0D87-55EC-7A94C23823B5}"/>
              </a:ext>
            </a:extLst>
          </p:cNvPr>
          <p:cNvSpPr>
            <a:spLocks noGrp="1"/>
          </p:cNvSpPr>
          <p:nvPr>
            <p:ph idx="1"/>
          </p:nvPr>
        </p:nvSpPr>
        <p:spPr>
          <a:xfrm>
            <a:off x="236621" y="718720"/>
            <a:ext cx="10515600" cy="4351338"/>
          </a:xfrm>
        </p:spPr>
        <p:txBody>
          <a:bodyPr>
            <a:normAutofit lnSpcReduction="10000"/>
          </a:bodyPr>
          <a:lstStyle/>
          <a:p>
            <a:r>
              <a:rPr lang="en-US" sz="2000" b="1" dirty="0">
                <a:latin typeface="Calibri" panose="020F0502020204030204" pitchFamily="34" charset="0"/>
                <a:ea typeface="Calibri" panose="020F0502020204030204" pitchFamily="34" charset="0"/>
                <a:cs typeface="Calibri" panose="020F0502020204030204" pitchFamily="34" charset="0"/>
              </a:rPr>
              <a:t>Common Variance (Shared)</a:t>
            </a:r>
            <a:endParaRPr lang="en-US" sz="2000" dirty="0">
              <a:latin typeface="Calibri" panose="020F0502020204030204" pitchFamily="34" charset="0"/>
              <a:ea typeface="Calibri" panose="020F0502020204030204" pitchFamily="34" charset="0"/>
              <a:cs typeface="Calibri" panose="020F0502020204030204" pitchFamily="34" charset="0"/>
            </a:endParaRPr>
          </a:p>
          <a:p>
            <a:pPr lvl="1"/>
            <a:r>
              <a:rPr lang="en-US" sz="1800" dirty="0">
                <a:latin typeface="Calibri" panose="020F0502020204030204" pitchFamily="34" charset="0"/>
                <a:ea typeface="Calibri" panose="020F0502020204030204" pitchFamily="34" charset="0"/>
                <a:cs typeface="Calibri" panose="020F0502020204030204" pitchFamily="34" charset="0"/>
              </a:rPr>
              <a:t>The variance that is shared across variables</a:t>
            </a:r>
          </a:p>
          <a:p>
            <a:pPr lvl="1"/>
            <a:r>
              <a:rPr lang="en-US" sz="1800" dirty="0">
                <a:latin typeface="Calibri" panose="020F0502020204030204" pitchFamily="34" charset="0"/>
                <a:ea typeface="Calibri" panose="020F0502020204030204" pitchFamily="34" charset="0"/>
                <a:cs typeface="Calibri" panose="020F0502020204030204" pitchFamily="34" charset="0"/>
              </a:rPr>
              <a:t>Explained by the underlying latent factor (e.g., depression, disinvestment)</a:t>
            </a:r>
          </a:p>
          <a:p>
            <a:pPr lvl="1"/>
            <a:r>
              <a:rPr lang="en-US" sz="1800" dirty="0">
                <a:latin typeface="Calibri" panose="020F0502020204030204" pitchFamily="34" charset="0"/>
                <a:ea typeface="Calibri" panose="020F0502020204030204" pitchFamily="34" charset="0"/>
                <a:cs typeface="Calibri" panose="020F0502020204030204" pitchFamily="34" charset="0"/>
              </a:rPr>
              <a:t>This is what we use to group variables into factors</a:t>
            </a:r>
          </a:p>
          <a:p>
            <a:pPr lvl="1"/>
            <a:r>
              <a:rPr lang="en-US" sz="1800" b="1" dirty="0">
                <a:latin typeface="Calibri" panose="020F0502020204030204" pitchFamily="34" charset="0"/>
                <a:ea typeface="Calibri" panose="020F0502020204030204" pitchFamily="34" charset="0"/>
                <a:cs typeface="Calibri" panose="020F0502020204030204" pitchFamily="34" charset="0"/>
              </a:rPr>
              <a:t>Example:</a:t>
            </a:r>
            <a:r>
              <a:rPr lang="en-US" sz="1800" dirty="0">
                <a:latin typeface="Calibri" panose="020F0502020204030204" pitchFamily="34" charset="0"/>
                <a:ea typeface="Calibri" panose="020F0502020204030204" pitchFamily="34" charset="0"/>
                <a:cs typeface="Calibri" panose="020F0502020204030204" pitchFamily="34" charset="0"/>
              </a:rPr>
              <a:t> If multiple questions ask about sadness, sleep, and energy, their shared variance may reflect the latent factor "Depression”</a:t>
            </a:r>
          </a:p>
          <a:p>
            <a:r>
              <a:rPr lang="en-US" sz="2000" b="1" dirty="0">
                <a:latin typeface="Calibri" panose="020F0502020204030204" pitchFamily="34" charset="0"/>
                <a:ea typeface="Calibri" panose="020F0502020204030204" pitchFamily="34" charset="0"/>
                <a:cs typeface="Calibri" panose="020F0502020204030204" pitchFamily="34" charset="0"/>
              </a:rPr>
              <a:t>Unique Variance</a:t>
            </a:r>
            <a:endParaRPr lang="en-US" sz="2000" dirty="0">
              <a:latin typeface="Calibri" panose="020F0502020204030204" pitchFamily="34" charset="0"/>
              <a:ea typeface="Calibri" panose="020F0502020204030204" pitchFamily="34" charset="0"/>
              <a:cs typeface="Calibri" panose="020F0502020204030204" pitchFamily="34" charset="0"/>
            </a:endParaRPr>
          </a:p>
          <a:p>
            <a:pPr lvl="1"/>
            <a:r>
              <a:rPr lang="en-US" sz="1800" dirty="0">
                <a:latin typeface="Calibri" panose="020F0502020204030204" pitchFamily="34" charset="0"/>
                <a:ea typeface="Calibri" panose="020F0502020204030204" pitchFamily="34" charset="0"/>
                <a:cs typeface="Calibri" panose="020F0502020204030204" pitchFamily="34" charset="0"/>
              </a:rPr>
              <a:t>Specific to one variable only</a:t>
            </a:r>
          </a:p>
          <a:p>
            <a:pPr lvl="1"/>
            <a:r>
              <a:rPr lang="en-US" sz="1800" dirty="0">
                <a:latin typeface="Calibri" panose="020F0502020204030204" pitchFamily="34" charset="0"/>
                <a:ea typeface="Calibri" panose="020F0502020204030204" pitchFamily="34" charset="0"/>
                <a:cs typeface="Calibri" panose="020F0502020204030204" pitchFamily="34" charset="0"/>
              </a:rPr>
              <a:t>Not shared or explained by the factor</a:t>
            </a:r>
          </a:p>
          <a:p>
            <a:pPr lvl="1"/>
            <a:r>
              <a:rPr lang="en-US" sz="1800" dirty="0">
                <a:latin typeface="Calibri" panose="020F0502020204030204" pitchFamily="34" charset="0"/>
                <a:ea typeface="Calibri" panose="020F0502020204030204" pitchFamily="34" charset="0"/>
                <a:cs typeface="Calibri" panose="020F0502020204030204" pitchFamily="34" charset="0"/>
              </a:rPr>
              <a:t>Still meaningful, but only pertains to that item</a:t>
            </a:r>
          </a:p>
          <a:p>
            <a:pPr lvl="1"/>
            <a:r>
              <a:rPr lang="en-US" sz="1800" b="1" dirty="0">
                <a:latin typeface="Calibri" panose="020F0502020204030204" pitchFamily="34" charset="0"/>
                <a:ea typeface="Calibri" panose="020F0502020204030204" pitchFamily="34" charset="0"/>
                <a:cs typeface="Calibri" panose="020F0502020204030204" pitchFamily="34" charset="0"/>
              </a:rPr>
              <a:t>Example:</a:t>
            </a:r>
            <a:r>
              <a:rPr lang="en-US" sz="1800" dirty="0">
                <a:latin typeface="Calibri" panose="020F0502020204030204" pitchFamily="34" charset="0"/>
                <a:ea typeface="Calibri" panose="020F0502020204030204" pitchFamily="34" charset="0"/>
                <a:cs typeface="Calibri" panose="020F0502020204030204" pitchFamily="34" charset="0"/>
              </a:rPr>
              <a:t> A question about sleep may reflect not just depression, but unique aspects of sleep itself</a:t>
            </a:r>
          </a:p>
          <a:p>
            <a:r>
              <a:rPr lang="en-US" sz="2000" b="1" dirty="0">
                <a:latin typeface="Calibri" panose="020F0502020204030204" pitchFamily="34" charset="0"/>
                <a:ea typeface="Calibri" panose="020F0502020204030204" pitchFamily="34" charset="0"/>
                <a:cs typeface="Calibri" panose="020F0502020204030204" pitchFamily="34" charset="0"/>
              </a:rPr>
              <a:t>Error Variance</a:t>
            </a:r>
            <a:endParaRPr lang="en-US" sz="2000" dirty="0">
              <a:latin typeface="Calibri" panose="020F0502020204030204" pitchFamily="34" charset="0"/>
              <a:ea typeface="Calibri" panose="020F0502020204030204" pitchFamily="34" charset="0"/>
              <a:cs typeface="Calibri" panose="020F0502020204030204" pitchFamily="34" charset="0"/>
            </a:endParaRPr>
          </a:p>
          <a:p>
            <a:pPr lvl="1"/>
            <a:r>
              <a:rPr lang="en-US" sz="1800" dirty="0">
                <a:latin typeface="Calibri" panose="020F0502020204030204" pitchFamily="34" charset="0"/>
                <a:ea typeface="Calibri" panose="020F0502020204030204" pitchFamily="34" charset="0"/>
                <a:cs typeface="Calibri" panose="020F0502020204030204" pitchFamily="34" charset="0"/>
              </a:rPr>
              <a:t>Random noise or measurement inaccuracy</a:t>
            </a:r>
          </a:p>
          <a:p>
            <a:pPr lvl="1"/>
            <a:r>
              <a:rPr lang="en-US" sz="1800" dirty="0">
                <a:latin typeface="Calibri" panose="020F0502020204030204" pitchFamily="34" charset="0"/>
                <a:ea typeface="Calibri" panose="020F0502020204030204" pitchFamily="34" charset="0"/>
                <a:cs typeface="Calibri" panose="020F0502020204030204" pitchFamily="34" charset="0"/>
              </a:rPr>
              <a:t>Unrelated to any factor or meaningful content</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452672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666FE-96CC-5C0A-B235-88B5824F807D}"/>
              </a:ext>
            </a:extLst>
          </p:cNvPr>
          <p:cNvSpPr>
            <a:spLocks noGrp="1"/>
          </p:cNvSpPr>
          <p:nvPr>
            <p:ph type="title"/>
          </p:nvPr>
        </p:nvSpPr>
        <p:spPr>
          <a:xfrm>
            <a:off x="108285" y="84389"/>
            <a:ext cx="10515600" cy="693654"/>
          </a:xfrm>
        </p:spPr>
        <p:txBody>
          <a:bodyPr>
            <a:normAutofit fontScale="90000"/>
          </a:bodyPr>
          <a:lstStyle/>
          <a:p>
            <a:r>
              <a:rPr lang="en-US" dirty="0"/>
              <a:t>Important concepts</a:t>
            </a:r>
          </a:p>
        </p:txBody>
      </p:sp>
      <p:sp>
        <p:nvSpPr>
          <p:cNvPr id="3" name="Content Placeholder 2">
            <a:extLst>
              <a:ext uri="{FF2B5EF4-FFF2-40B4-BE49-F238E27FC236}">
                <a16:creationId xmlns:a16="http://schemas.microsoft.com/office/drawing/2014/main" id="{35A4D951-EBE4-5877-A68C-657AFA1A4371}"/>
              </a:ext>
            </a:extLst>
          </p:cNvPr>
          <p:cNvSpPr>
            <a:spLocks noGrp="1"/>
          </p:cNvSpPr>
          <p:nvPr>
            <p:ph idx="1"/>
          </p:nvPr>
        </p:nvSpPr>
        <p:spPr>
          <a:xfrm>
            <a:off x="236621" y="702677"/>
            <a:ext cx="10515600" cy="4351338"/>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Factor loadings</a:t>
            </a:r>
          </a:p>
          <a:p>
            <a:pPr lvl="1"/>
            <a:r>
              <a:rPr lang="en-US" sz="1800" dirty="0">
                <a:latin typeface="Calibri" panose="020F0502020204030204" pitchFamily="34" charset="0"/>
                <a:ea typeface="Calibri" panose="020F0502020204030204" pitchFamily="34" charset="0"/>
                <a:cs typeface="Calibri" panose="020F0502020204030204" pitchFamily="34" charset="0"/>
              </a:rPr>
              <a:t>Correlation between a variable and a factor (How high is the correlation between two variables?)</a:t>
            </a:r>
          </a:p>
          <a:p>
            <a:pPr lvl="1"/>
            <a:r>
              <a:rPr lang="en-US" sz="1800" dirty="0">
                <a:latin typeface="Calibri" panose="020F0502020204030204" pitchFamily="34" charset="0"/>
                <a:ea typeface="Calibri" panose="020F0502020204030204" pitchFamily="34" charset="0"/>
                <a:cs typeface="Calibri" panose="020F0502020204030204" pitchFamily="34" charset="0"/>
              </a:rPr>
              <a:t>Loading a variable to a factor</a:t>
            </a:r>
          </a:p>
          <a:p>
            <a:r>
              <a:rPr lang="en-US" sz="2000" dirty="0">
                <a:latin typeface="Calibri" panose="020F0502020204030204" pitchFamily="34" charset="0"/>
                <a:ea typeface="Calibri" panose="020F0502020204030204" pitchFamily="34" charset="0"/>
                <a:cs typeface="Calibri" panose="020F0502020204030204" pitchFamily="34" charset="0"/>
              </a:rPr>
              <a:t>Eigenvalue</a:t>
            </a:r>
          </a:p>
          <a:p>
            <a:pPr lvl="1"/>
            <a:r>
              <a:rPr lang="en-US" sz="1800" dirty="0">
                <a:latin typeface="Calibri" panose="020F0502020204030204" pitchFamily="34" charset="0"/>
                <a:ea typeface="Calibri" panose="020F0502020204030204" pitchFamily="34" charset="0"/>
                <a:cs typeface="Calibri" panose="020F0502020204030204" pitchFamily="34" charset="0"/>
              </a:rPr>
              <a:t>The variance explained by a factor (How much variance can be explained by the factor?)</a:t>
            </a:r>
          </a:p>
          <a:p>
            <a:pPr lvl="1"/>
            <a:r>
              <a:rPr lang="en-US" sz="1800" dirty="0">
                <a:latin typeface="Calibri" panose="020F0502020204030204" pitchFamily="34" charset="0"/>
                <a:ea typeface="Calibri" panose="020F0502020204030204" pitchFamily="34" charset="0"/>
                <a:cs typeface="Calibri" panose="020F0502020204030204" pitchFamily="34" charset="0"/>
              </a:rPr>
              <a:t>Sum of the squared factor charges</a:t>
            </a:r>
          </a:p>
          <a:p>
            <a:r>
              <a:rPr lang="en-US" sz="2000" dirty="0">
                <a:latin typeface="Calibri" panose="020F0502020204030204" pitchFamily="34" charset="0"/>
                <a:ea typeface="Calibri" panose="020F0502020204030204" pitchFamily="34" charset="0"/>
                <a:cs typeface="Calibri" panose="020F0502020204030204" pitchFamily="34" charset="0"/>
              </a:rPr>
              <a:t>Communalities</a:t>
            </a:r>
          </a:p>
          <a:p>
            <a:pPr lvl="1"/>
            <a:r>
              <a:rPr lang="en-US" sz="1800" dirty="0">
                <a:latin typeface="Calibri" panose="020F0502020204030204" pitchFamily="34" charset="0"/>
                <a:ea typeface="Calibri" panose="020F0502020204030204" pitchFamily="34" charset="0"/>
                <a:cs typeface="Calibri" panose="020F0502020204030204" pitchFamily="34" charset="0"/>
              </a:rPr>
              <a:t>Variance of the variables, which is explained by all factors (How much of the variance of all variables is explained by the factor?)</a:t>
            </a:r>
          </a:p>
          <a:p>
            <a:pPr lvl="1"/>
            <a:r>
              <a:rPr lang="en-US" sz="1800" dirty="0">
                <a:latin typeface="Calibri" panose="020F0502020204030204" pitchFamily="34" charset="0"/>
                <a:ea typeface="Calibri" panose="020F0502020204030204" pitchFamily="34" charset="0"/>
                <a:cs typeface="Calibri" panose="020F0502020204030204" pitchFamily="34" charset="0"/>
              </a:rPr>
              <a:t>Sum of the squared factor charges of a variable</a:t>
            </a:r>
          </a:p>
          <a:p>
            <a:endParaRPr lang="en-US" dirty="0"/>
          </a:p>
        </p:txBody>
      </p:sp>
    </p:spTree>
    <p:extLst>
      <p:ext uri="{BB962C8B-B14F-4D97-AF65-F5344CB8AC3E}">
        <p14:creationId xmlns:p14="http://schemas.microsoft.com/office/powerpoint/2010/main" val="17917173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7219D-5D72-6E92-5B4B-A57A05BFB9E7}"/>
              </a:ext>
            </a:extLst>
          </p:cNvPr>
          <p:cNvSpPr>
            <a:spLocks noGrp="1"/>
          </p:cNvSpPr>
          <p:nvPr>
            <p:ph type="title"/>
          </p:nvPr>
        </p:nvSpPr>
        <p:spPr>
          <a:xfrm>
            <a:off x="182418" y="198871"/>
            <a:ext cx="10515600" cy="613930"/>
          </a:xfrm>
        </p:spPr>
        <p:txBody>
          <a:bodyPr>
            <a:normAutofit fontScale="90000"/>
          </a:bodyPr>
          <a:lstStyle/>
          <a:p>
            <a:r>
              <a:rPr lang="en-US" sz="4000" dirty="0">
                <a:latin typeface="Calibri" panose="020F0502020204030204" pitchFamily="34" charset="0"/>
                <a:ea typeface="Calibri" panose="020F0502020204030204" pitchFamily="34" charset="0"/>
                <a:cs typeface="Calibri" panose="020F0502020204030204" pitchFamily="34" charset="0"/>
              </a:rPr>
              <a:t>Communalities</a:t>
            </a:r>
          </a:p>
        </p:txBody>
      </p:sp>
      <p:sp>
        <p:nvSpPr>
          <p:cNvPr id="3" name="Content Placeholder 2">
            <a:extLst>
              <a:ext uri="{FF2B5EF4-FFF2-40B4-BE49-F238E27FC236}">
                <a16:creationId xmlns:a16="http://schemas.microsoft.com/office/drawing/2014/main" id="{8EA4F39E-FE25-7940-FAE3-118900D14462}"/>
              </a:ext>
            </a:extLst>
          </p:cNvPr>
          <p:cNvSpPr>
            <a:spLocks noGrp="1"/>
          </p:cNvSpPr>
          <p:nvPr>
            <p:ph idx="1"/>
          </p:nvPr>
        </p:nvSpPr>
        <p:spPr>
          <a:xfrm>
            <a:off x="274782" y="812801"/>
            <a:ext cx="10515600" cy="4351338"/>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These tell us how much of a variable’s variance is explained by all the factors combined</a:t>
            </a:r>
          </a:p>
          <a:p>
            <a:r>
              <a:rPr lang="en-US" sz="2000" dirty="0">
                <a:latin typeface="Calibri" panose="020F0502020204030204" pitchFamily="34" charset="0"/>
                <a:ea typeface="Calibri" panose="020F0502020204030204" pitchFamily="34" charset="0"/>
                <a:cs typeface="Calibri" panose="020F0502020204030204" pitchFamily="34" charset="0"/>
              </a:rPr>
              <a:t>It is calculated as the sum of squared loadings for that variable across all extracted factors</a:t>
            </a:r>
          </a:p>
          <a:p>
            <a:pPr lvl="1"/>
            <a:r>
              <a:rPr lang="en-US" sz="1800" dirty="0">
                <a:latin typeface="Calibri" panose="020F0502020204030204" pitchFamily="34" charset="0"/>
                <a:ea typeface="Calibri" panose="020F0502020204030204" pitchFamily="34" charset="0"/>
                <a:cs typeface="Calibri" panose="020F0502020204030204" pitchFamily="34" charset="0"/>
              </a:rPr>
              <a:t>Intuition: </a:t>
            </a:r>
            <a:r>
              <a:rPr lang="en-US" sz="1800" i="1" dirty="0">
                <a:latin typeface="Calibri" panose="020F0502020204030204" pitchFamily="34" charset="0"/>
                <a:ea typeface="Calibri" panose="020F0502020204030204" pitchFamily="34" charset="0"/>
                <a:cs typeface="Calibri" panose="020F0502020204030204" pitchFamily="34" charset="0"/>
              </a:rPr>
              <a:t>How much of this variable are we actually capturing through our factor model?</a:t>
            </a:r>
          </a:p>
          <a:p>
            <a:r>
              <a:rPr lang="en-US" sz="2000" b="1" dirty="0">
                <a:latin typeface="Calibri" panose="020F0502020204030204" pitchFamily="34" charset="0"/>
                <a:ea typeface="Calibri" panose="020F0502020204030204" pitchFamily="34" charset="0"/>
                <a:cs typeface="Calibri" panose="020F0502020204030204" pitchFamily="34" charset="0"/>
              </a:rPr>
              <a:t>Example</a:t>
            </a:r>
            <a:r>
              <a:rPr lang="en-US" sz="2000" dirty="0">
                <a:latin typeface="Calibri" panose="020F0502020204030204" pitchFamily="34" charset="0"/>
                <a:ea typeface="Calibri" panose="020F0502020204030204" pitchFamily="34" charset="0"/>
                <a:cs typeface="Calibri" panose="020F0502020204030204" pitchFamily="34" charset="0"/>
              </a:rPr>
              <a:t>: Let’s say you have a variable that measures “trouble sleeping”—and it loads .60 on Factor 1 (e.g., Depression) and .30 on Factor 2 (e.g., Anxiety)</a:t>
            </a:r>
          </a:p>
          <a:p>
            <a:pPr lvl="1"/>
            <a:r>
              <a:rPr lang="en-US" sz="1800" dirty="0">
                <a:latin typeface="Calibri" panose="020F0502020204030204" pitchFamily="34" charset="0"/>
                <a:ea typeface="Calibri" panose="020F0502020204030204" pitchFamily="34" charset="0"/>
                <a:cs typeface="Calibri" panose="020F0502020204030204" pitchFamily="34" charset="0"/>
              </a:rPr>
              <a:t>To calculate the communality for that variable: </a:t>
            </a:r>
          </a:p>
          <a:p>
            <a:pPr marL="457200" lvl="1" indent="0">
              <a:buNone/>
            </a:pPr>
            <a:r>
              <a:rPr lang="en-US" sz="1800" dirty="0">
                <a:latin typeface="Calibri" panose="020F0502020204030204" pitchFamily="34" charset="0"/>
                <a:ea typeface="Calibri" panose="020F0502020204030204" pitchFamily="34" charset="0"/>
                <a:cs typeface="Calibri" panose="020F0502020204030204" pitchFamily="34" charset="0"/>
              </a:rPr>
              <a:t>     (.60)</a:t>
            </a:r>
            <a:r>
              <a:rPr lang="en-US" sz="1800" baseline="30000" dirty="0">
                <a:latin typeface="Calibri" panose="020F0502020204030204" pitchFamily="34" charset="0"/>
                <a:ea typeface="Calibri" panose="020F0502020204030204" pitchFamily="34" charset="0"/>
                <a:cs typeface="Calibri" panose="020F0502020204030204" pitchFamily="34" charset="0"/>
              </a:rPr>
              <a:t>2 </a:t>
            </a:r>
            <a:r>
              <a:rPr lang="en-US" sz="1800" dirty="0">
                <a:latin typeface="Calibri" panose="020F0502020204030204" pitchFamily="34" charset="0"/>
                <a:ea typeface="Calibri" panose="020F0502020204030204" pitchFamily="34" charset="0"/>
                <a:cs typeface="Calibri" panose="020F0502020204030204" pitchFamily="34" charset="0"/>
              </a:rPr>
              <a:t>+ (.30)</a:t>
            </a:r>
            <a:r>
              <a:rPr lang="en-US" sz="1800" baseline="30000" dirty="0">
                <a:latin typeface="Calibri" panose="020F0502020204030204" pitchFamily="34" charset="0"/>
                <a:ea typeface="Calibri" panose="020F0502020204030204" pitchFamily="34" charset="0"/>
                <a:cs typeface="Calibri" panose="020F0502020204030204" pitchFamily="34" charset="0"/>
              </a:rPr>
              <a:t>2</a:t>
            </a:r>
            <a:r>
              <a:rPr lang="en-US" sz="1800" dirty="0">
                <a:latin typeface="Calibri" panose="020F0502020204030204" pitchFamily="34" charset="0"/>
                <a:ea typeface="Calibri" panose="020F0502020204030204" pitchFamily="34" charset="0"/>
                <a:cs typeface="Calibri" panose="020F0502020204030204" pitchFamily="34" charset="0"/>
              </a:rPr>
              <a:t> = 0.36 + 0.09 = 0.45</a:t>
            </a:r>
          </a:p>
          <a:p>
            <a:pPr lvl="1"/>
            <a:r>
              <a:rPr lang="en-US" sz="1800" dirty="0">
                <a:latin typeface="Calibri" panose="020F0502020204030204" pitchFamily="34" charset="0"/>
                <a:ea typeface="Calibri" panose="020F0502020204030204" pitchFamily="34" charset="0"/>
                <a:cs typeface="Calibri" panose="020F0502020204030204" pitchFamily="34" charset="0"/>
              </a:rPr>
              <a:t>That means 45% of the variance in the trouble sleeping variable is explained by the two factors</a:t>
            </a:r>
          </a:p>
          <a:p>
            <a:pPr lvl="1"/>
            <a:r>
              <a:rPr lang="en-US" sz="1800" dirty="0">
                <a:latin typeface="Calibri" panose="020F0502020204030204" pitchFamily="34" charset="0"/>
                <a:ea typeface="Calibri" panose="020F0502020204030204" pitchFamily="34" charset="0"/>
                <a:cs typeface="Calibri" panose="020F0502020204030204" pitchFamily="34" charset="0"/>
              </a:rPr>
              <a:t>The remaining 55% is either unique to that item or just noise</a:t>
            </a:r>
          </a:p>
        </p:txBody>
      </p:sp>
    </p:spTree>
    <p:extLst>
      <p:ext uri="{BB962C8B-B14F-4D97-AF65-F5344CB8AC3E}">
        <p14:creationId xmlns:p14="http://schemas.microsoft.com/office/powerpoint/2010/main" val="41564965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45485-0E4D-5802-BDEB-E1E806A62CBE}"/>
              </a:ext>
            </a:extLst>
          </p:cNvPr>
          <p:cNvSpPr>
            <a:spLocks noGrp="1"/>
          </p:cNvSpPr>
          <p:nvPr>
            <p:ph type="title"/>
          </p:nvPr>
        </p:nvSpPr>
        <p:spPr>
          <a:xfrm>
            <a:off x="127000" y="124980"/>
            <a:ext cx="10515600" cy="863311"/>
          </a:xfrm>
        </p:spPr>
        <p:txBody>
          <a:bodyPr>
            <a:noAutofit/>
          </a:bodyPr>
          <a:lstStyle/>
          <a:p>
            <a:r>
              <a:rPr lang="en-US" sz="3200" dirty="0">
                <a:latin typeface="Calibri" panose="020F0502020204030204" pitchFamily="34" charset="0"/>
                <a:ea typeface="Calibri" panose="020F0502020204030204" pitchFamily="34" charset="0"/>
                <a:cs typeface="Calibri" panose="020F0502020204030204" pitchFamily="34" charset="0"/>
              </a:rPr>
              <a:t>What does it mean that "communalities tell us how much of a variable’s variance is explained by all the factors combined"?</a:t>
            </a:r>
          </a:p>
        </p:txBody>
      </p:sp>
      <p:sp>
        <p:nvSpPr>
          <p:cNvPr id="3" name="Content Placeholder 2">
            <a:extLst>
              <a:ext uri="{FF2B5EF4-FFF2-40B4-BE49-F238E27FC236}">
                <a16:creationId xmlns:a16="http://schemas.microsoft.com/office/drawing/2014/main" id="{23139574-65E0-106E-8FCA-2F67B2BB32E3}"/>
              </a:ext>
            </a:extLst>
          </p:cNvPr>
          <p:cNvSpPr>
            <a:spLocks noGrp="1"/>
          </p:cNvSpPr>
          <p:nvPr>
            <p:ph idx="1"/>
          </p:nvPr>
        </p:nvSpPr>
        <p:spPr>
          <a:xfrm>
            <a:off x="200891" y="1068243"/>
            <a:ext cx="10515600" cy="4351338"/>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Every variable in your dataset has total variance—basically, it varies from person to person, and we want to understand why</a:t>
            </a:r>
          </a:p>
          <a:p>
            <a:pPr lvl="1"/>
            <a:r>
              <a:rPr lang="en-US" sz="1800" dirty="0">
                <a:latin typeface="Calibri" panose="020F0502020204030204" pitchFamily="34" charset="0"/>
                <a:ea typeface="Calibri" panose="020F0502020204030204" pitchFamily="34" charset="0"/>
                <a:cs typeface="Calibri" panose="020F0502020204030204" pitchFamily="34" charset="0"/>
              </a:rPr>
              <a:t>Factor analysis is telling us that the variations are not random, but due to a few underlying patterns—called factors </a:t>
            </a:r>
          </a:p>
          <a:p>
            <a:pPr lvl="1"/>
            <a:r>
              <a:rPr lang="en-US" sz="1800" dirty="0">
                <a:latin typeface="Calibri" panose="020F0502020204030204" pitchFamily="34" charset="0"/>
                <a:ea typeface="Calibri" panose="020F0502020204030204" pitchFamily="34" charset="0"/>
                <a:cs typeface="Calibri" panose="020F0502020204030204" pitchFamily="34" charset="0"/>
              </a:rPr>
              <a:t>If that’s true, each variable’s total variance can be partly explained by those factors</a:t>
            </a:r>
          </a:p>
          <a:p>
            <a:r>
              <a:rPr lang="en-US" sz="2000"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a:t>
            </a:r>
            <a:r>
              <a:rPr lang="en-US" sz="2000" dirty="0">
                <a:latin typeface="Calibri" panose="020F0502020204030204" pitchFamily="34" charset="0"/>
                <a:ea typeface="Calibri" panose="020F0502020204030204" pitchFamily="34" charset="0"/>
                <a:cs typeface="Calibri" panose="020F0502020204030204" pitchFamily="34" charset="0"/>
              </a:rPr>
              <a:t> If a variable loads highly on one or more factors, that means </a:t>
            </a:r>
            <a:r>
              <a:rPr lang="en-US" sz="2000" b="1" dirty="0">
                <a:latin typeface="Calibri" panose="020F0502020204030204" pitchFamily="34" charset="0"/>
                <a:ea typeface="Calibri" panose="020F0502020204030204" pitchFamily="34" charset="0"/>
                <a:cs typeface="Calibri" panose="020F0502020204030204" pitchFamily="34" charset="0"/>
              </a:rPr>
              <a:t>the factor(s) are doing a good job of explaining that variable’s behavior</a:t>
            </a:r>
            <a:r>
              <a:rPr lang="en-US" sz="2000" dirty="0">
                <a:latin typeface="Calibri" panose="020F0502020204030204" pitchFamily="34" charset="0"/>
                <a:ea typeface="Calibri" panose="020F0502020204030204" pitchFamily="34" charset="0"/>
                <a:cs typeface="Calibri" panose="020F0502020204030204" pitchFamily="34" charset="0"/>
              </a:rPr>
              <a:t>—the variables are not varying randomly there is something systematic about how they are related</a:t>
            </a:r>
          </a:p>
          <a:p>
            <a:pPr lvl="1"/>
            <a:r>
              <a:rPr lang="en-US" sz="1800" dirty="0">
                <a:latin typeface="Calibri" panose="020F0502020204030204" pitchFamily="34" charset="0"/>
                <a:ea typeface="Calibri" panose="020F0502020204030204" pitchFamily="34" charset="0"/>
                <a:cs typeface="Calibri" panose="020F0502020204030204" pitchFamily="34" charset="0"/>
              </a:rPr>
              <a:t>The communality is the total amount of that variable’s variance that can be accounted for by all the factors you've extracted—not just one factor, but all of them together</a:t>
            </a:r>
          </a:p>
          <a:p>
            <a:r>
              <a:rPr lang="en-US" sz="2000" dirty="0">
                <a:latin typeface="Calibri" panose="020F0502020204030204" pitchFamily="34" charset="0"/>
                <a:ea typeface="Calibri" panose="020F0502020204030204" pitchFamily="34" charset="0"/>
                <a:cs typeface="Calibri" panose="020F0502020204030204" pitchFamily="34" charset="0"/>
              </a:rPr>
              <a:t>Think of it this way: If a variable has a communality of .70, it means: "70% of this variable’s variance is accounted for by the factors in the model; the remaining 30% is unique to that variable or just error</a:t>
            </a:r>
          </a:p>
          <a:p>
            <a:pPr lvl="1"/>
            <a:r>
              <a:rPr lang="en-US" sz="1800" b="1" dirty="0">
                <a:latin typeface="Calibri" panose="020F0502020204030204" pitchFamily="34" charset="0"/>
                <a:ea typeface="Calibri" panose="020F0502020204030204" pitchFamily="34" charset="0"/>
                <a:cs typeface="Calibri" panose="020F0502020204030204" pitchFamily="34" charset="0"/>
              </a:rPr>
              <a:t>Intuition</a:t>
            </a:r>
            <a:r>
              <a:rPr lang="en-US" sz="1600" dirty="0">
                <a:latin typeface="Calibri" panose="020F0502020204030204" pitchFamily="34" charset="0"/>
                <a:ea typeface="Calibri" panose="020F0502020204030204" pitchFamily="34" charset="0"/>
                <a:cs typeface="Calibri" panose="020F0502020204030204" pitchFamily="34" charset="0"/>
              </a:rPr>
              <a:t>: This variable is 70% explainable by the latent structure we’ve uncovered</a:t>
            </a:r>
          </a:p>
        </p:txBody>
      </p:sp>
    </p:spTree>
    <p:extLst>
      <p:ext uri="{BB962C8B-B14F-4D97-AF65-F5344CB8AC3E}">
        <p14:creationId xmlns:p14="http://schemas.microsoft.com/office/powerpoint/2010/main" val="1280795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41063-8589-FEAD-A000-7EC944205E3E}"/>
              </a:ext>
            </a:extLst>
          </p:cNvPr>
          <p:cNvSpPr>
            <a:spLocks noGrp="1"/>
          </p:cNvSpPr>
          <p:nvPr>
            <p:ph type="title"/>
          </p:nvPr>
        </p:nvSpPr>
        <p:spPr>
          <a:xfrm>
            <a:off x="163945" y="152690"/>
            <a:ext cx="10515600" cy="669348"/>
          </a:xfrm>
        </p:spPr>
        <p:txBody>
          <a:bodyPr>
            <a:normAutofit/>
          </a:bodyPr>
          <a:lstStyle/>
          <a:p>
            <a:r>
              <a:rPr lang="en-US" sz="4000" dirty="0">
                <a:latin typeface="Calibri" panose="020F0502020204030204" pitchFamily="34" charset="0"/>
                <a:ea typeface="Calibri" panose="020F0502020204030204" pitchFamily="34" charset="0"/>
                <a:cs typeface="Calibri" panose="020F0502020204030204" pitchFamily="34" charset="0"/>
              </a:rPr>
              <a:t>Example of Communalities</a:t>
            </a:r>
          </a:p>
        </p:txBody>
      </p:sp>
      <p:graphicFrame>
        <p:nvGraphicFramePr>
          <p:cNvPr id="4" name="Content Placeholder 3">
            <a:extLst>
              <a:ext uri="{FF2B5EF4-FFF2-40B4-BE49-F238E27FC236}">
                <a16:creationId xmlns:a16="http://schemas.microsoft.com/office/drawing/2014/main" id="{7346A260-9264-F2FF-5766-AECC727AAB4F}"/>
              </a:ext>
            </a:extLst>
          </p:cNvPr>
          <p:cNvGraphicFramePr>
            <a:graphicFrameLocks noGrp="1"/>
          </p:cNvGraphicFramePr>
          <p:nvPr>
            <p:ph idx="1"/>
            <p:extLst>
              <p:ext uri="{D42A27DB-BD31-4B8C-83A1-F6EECF244321}">
                <p14:modId xmlns:p14="http://schemas.microsoft.com/office/powerpoint/2010/main" val="1524159063"/>
              </p:ext>
            </p:extLst>
          </p:nvPr>
        </p:nvGraphicFramePr>
        <p:xfrm>
          <a:off x="163945" y="1389774"/>
          <a:ext cx="11824855" cy="2499360"/>
        </p:xfrm>
        <a:graphic>
          <a:graphicData uri="http://schemas.openxmlformats.org/drawingml/2006/table">
            <a:tbl>
              <a:tblPr/>
              <a:tblGrid>
                <a:gridCol w="2152817">
                  <a:extLst>
                    <a:ext uri="{9D8B030D-6E8A-4147-A177-3AD203B41FA5}">
                      <a16:colId xmlns:a16="http://schemas.microsoft.com/office/drawing/2014/main" val="1887464974"/>
                    </a:ext>
                  </a:extLst>
                </a:gridCol>
                <a:gridCol w="2152817">
                  <a:extLst>
                    <a:ext uri="{9D8B030D-6E8A-4147-A177-3AD203B41FA5}">
                      <a16:colId xmlns:a16="http://schemas.microsoft.com/office/drawing/2014/main" val="2320822806"/>
                    </a:ext>
                  </a:extLst>
                </a:gridCol>
                <a:gridCol w="2152817">
                  <a:extLst>
                    <a:ext uri="{9D8B030D-6E8A-4147-A177-3AD203B41FA5}">
                      <a16:colId xmlns:a16="http://schemas.microsoft.com/office/drawing/2014/main" val="2937025556"/>
                    </a:ext>
                  </a:extLst>
                </a:gridCol>
                <a:gridCol w="2152817">
                  <a:extLst>
                    <a:ext uri="{9D8B030D-6E8A-4147-A177-3AD203B41FA5}">
                      <a16:colId xmlns:a16="http://schemas.microsoft.com/office/drawing/2014/main" val="3129400687"/>
                    </a:ext>
                  </a:extLst>
                </a:gridCol>
                <a:gridCol w="3213587">
                  <a:extLst>
                    <a:ext uri="{9D8B030D-6E8A-4147-A177-3AD203B41FA5}">
                      <a16:colId xmlns:a16="http://schemas.microsoft.com/office/drawing/2014/main" val="203325004"/>
                    </a:ext>
                  </a:extLst>
                </a:gridCol>
              </a:tblGrid>
              <a:tr h="0">
                <a:tc>
                  <a:txBody>
                    <a:bodyPr/>
                    <a:lstStyle/>
                    <a:p>
                      <a:r>
                        <a:rPr lang="en-US" sz="2000" b="1" dirty="0">
                          <a:latin typeface="Calibri" panose="020F0502020204030204" pitchFamily="34" charset="0"/>
                          <a:ea typeface="Calibri" panose="020F0502020204030204" pitchFamily="34" charset="0"/>
                          <a:cs typeface="Calibri" panose="020F0502020204030204" pitchFamily="34" charset="0"/>
                        </a:rPr>
                        <a:t>Variable</a:t>
                      </a:r>
                      <a:endParaRPr lang="en-US" sz="2000" dirty="0">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a:noFill/>
                    </a:lnT>
                    <a:lnB>
                      <a:noFill/>
                    </a:lnB>
                    <a:noFill/>
                  </a:tcPr>
                </a:tc>
                <a:tc>
                  <a:txBody>
                    <a:bodyPr/>
                    <a:lstStyle/>
                    <a:p>
                      <a:pPr algn="ctr"/>
                      <a:r>
                        <a:rPr lang="en-US" sz="2000" b="1" dirty="0">
                          <a:latin typeface="Calibri" panose="020F0502020204030204" pitchFamily="34" charset="0"/>
                          <a:ea typeface="Calibri" panose="020F0502020204030204" pitchFamily="34" charset="0"/>
                          <a:cs typeface="Calibri" panose="020F0502020204030204" pitchFamily="34" charset="0"/>
                        </a:rPr>
                        <a:t>Depression (F1)</a:t>
                      </a:r>
                      <a:endParaRPr lang="en-US" sz="2000" dirty="0">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a:noFill/>
                    </a:lnT>
                    <a:lnB>
                      <a:noFill/>
                    </a:lnB>
                    <a:noFill/>
                  </a:tcPr>
                </a:tc>
                <a:tc>
                  <a:txBody>
                    <a:bodyPr/>
                    <a:lstStyle/>
                    <a:p>
                      <a:pPr algn="ctr"/>
                      <a:r>
                        <a:rPr lang="en-US" sz="2000" b="1" dirty="0">
                          <a:latin typeface="Calibri" panose="020F0502020204030204" pitchFamily="34" charset="0"/>
                          <a:ea typeface="Calibri" panose="020F0502020204030204" pitchFamily="34" charset="0"/>
                          <a:cs typeface="Calibri" panose="020F0502020204030204" pitchFamily="34" charset="0"/>
                        </a:rPr>
                        <a:t>Anxiety</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b="1" dirty="0">
                          <a:latin typeface="Calibri" panose="020F0502020204030204" pitchFamily="34" charset="0"/>
                          <a:ea typeface="Calibri" panose="020F0502020204030204" pitchFamily="34" charset="0"/>
                          <a:cs typeface="Calibri" panose="020F0502020204030204" pitchFamily="34" charset="0"/>
                        </a:rPr>
                        <a:t> (F2)</a:t>
                      </a:r>
                      <a:endParaRPr lang="en-US" sz="2000" dirty="0">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a:noFill/>
                    </a:lnT>
                    <a:lnB>
                      <a:noFill/>
                    </a:lnB>
                    <a:noFill/>
                  </a:tcPr>
                </a:tc>
                <a:tc>
                  <a:txBody>
                    <a:bodyPr/>
                    <a:lstStyle/>
                    <a:p>
                      <a:pPr algn="ctr"/>
                      <a:r>
                        <a:rPr lang="en-US" sz="2000" b="1" dirty="0">
                          <a:latin typeface="Calibri" panose="020F0502020204030204" pitchFamily="34" charset="0"/>
                          <a:ea typeface="Calibri" panose="020F0502020204030204" pitchFamily="34" charset="0"/>
                          <a:cs typeface="Calibri" panose="020F0502020204030204" pitchFamily="34" charset="0"/>
                        </a:rPr>
                        <a:t>Communality</a:t>
                      </a:r>
                      <a:endParaRPr lang="en-US" sz="2000" dirty="0">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a:noFill/>
                    </a:lnT>
                    <a:lnB>
                      <a:noFill/>
                    </a:lnB>
                    <a:noFill/>
                  </a:tcPr>
                </a:tc>
                <a:tc>
                  <a:txBody>
                    <a:bodyPr/>
                    <a:lstStyle/>
                    <a:p>
                      <a:r>
                        <a:rPr lang="en-US" sz="2000" b="1">
                          <a:latin typeface="Calibri" panose="020F0502020204030204" pitchFamily="34" charset="0"/>
                          <a:ea typeface="Calibri" panose="020F0502020204030204" pitchFamily="34" charset="0"/>
                          <a:cs typeface="Calibri" panose="020F0502020204030204" pitchFamily="34" charset="0"/>
                        </a:rPr>
                        <a:t>Interpretation</a:t>
                      </a:r>
                      <a:endParaRPr lang="en-US" sz="2000">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a:noFill/>
                    </a:lnT>
                    <a:lnB>
                      <a:noFill/>
                    </a:lnB>
                    <a:noFill/>
                  </a:tcPr>
                </a:tc>
                <a:extLst>
                  <a:ext uri="{0D108BD9-81ED-4DB2-BD59-A6C34878D82A}">
                    <a16:rowId xmlns:a16="http://schemas.microsoft.com/office/drawing/2014/main" val="583442658"/>
                  </a:ext>
                </a:extLst>
              </a:tr>
              <a:tr h="0">
                <a:tc>
                  <a:txBody>
                    <a:bodyPr/>
                    <a:lstStyle/>
                    <a:p>
                      <a:r>
                        <a:rPr lang="en-US" sz="2000">
                          <a:latin typeface="Calibri" panose="020F0502020204030204" pitchFamily="34" charset="0"/>
                          <a:ea typeface="Calibri" panose="020F0502020204030204" pitchFamily="34" charset="0"/>
                          <a:cs typeface="Calibri" panose="020F0502020204030204" pitchFamily="34" charset="0"/>
                        </a:rPr>
                        <a:t>Trouble sleeping</a:t>
                      </a:r>
                    </a:p>
                  </a:txBody>
                  <a:tcPr anchor="ctr">
                    <a:lnL>
                      <a:noFill/>
                    </a:lnL>
                    <a:lnR>
                      <a:noFill/>
                    </a:lnR>
                    <a:lnT>
                      <a:noFill/>
                    </a:lnT>
                    <a:lnB>
                      <a:noFill/>
                    </a:lnB>
                    <a:noFill/>
                  </a:tcPr>
                </a:tc>
                <a:tc>
                  <a:txBody>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0.60</a:t>
                      </a:r>
                    </a:p>
                  </a:txBody>
                  <a:tcPr anchor="ctr">
                    <a:lnL>
                      <a:noFill/>
                    </a:lnL>
                    <a:lnR>
                      <a:noFill/>
                    </a:lnR>
                    <a:lnT>
                      <a:noFill/>
                    </a:lnT>
                    <a:lnB>
                      <a:noFill/>
                    </a:lnB>
                    <a:noFill/>
                  </a:tcPr>
                </a:tc>
                <a:tc>
                  <a:txBody>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0.30</a:t>
                      </a:r>
                    </a:p>
                  </a:txBody>
                  <a:tcPr anchor="ctr">
                    <a:lnL>
                      <a:noFill/>
                    </a:lnL>
                    <a:lnR>
                      <a:noFill/>
                    </a:lnR>
                    <a:lnT>
                      <a:noFill/>
                    </a:lnT>
                    <a:lnB>
                      <a:noFill/>
                    </a:lnB>
                    <a:noFill/>
                  </a:tcPr>
                </a:tc>
                <a:tc>
                  <a:txBody>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0.45</a:t>
                      </a:r>
                    </a:p>
                  </a:txBody>
                  <a:tcPr anchor="ctr">
                    <a:lnL>
                      <a:noFill/>
                    </a:lnL>
                    <a:lnR>
                      <a:noFill/>
                    </a:lnR>
                    <a:lnT>
                      <a:noFill/>
                    </a:lnT>
                    <a:lnB>
                      <a:noFill/>
                    </a:lnB>
                    <a:noFill/>
                  </a:tcPr>
                </a:tc>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36% of variance explained by Factor 1; 9% by Factor 2</a:t>
                      </a:r>
                    </a:p>
                  </a:txBody>
                  <a:tcPr anchor="ctr">
                    <a:lnL>
                      <a:noFill/>
                    </a:lnL>
                    <a:lnR>
                      <a:noFill/>
                    </a:lnR>
                    <a:lnT>
                      <a:noFill/>
                    </a:lnT>
                    <a:lnB>
                      <a:noFill/>
                    </a:lnB>
                    <a:noFill/>
                  </a:tcPr>
                </a:tc>
                <a:extLst>
                  <a:ext uri="{0D108BD9-81ED-4DB2-BD59-A6C34878D82A}">
                    <a16:rowId xmlns:a16="http://schemas.microsoft.com/office/drawing/2014/main" val="514831340"/>
                  </a:ext>
                </a:extLst>
              </a:tr>
              <a:tr h="0">
                <a:tc>
                  <a:txBody>
                    <a:bodyPr/>
                    <a:lstStyle/>
                    <a:p>
                      <a:r>
                        <a:rPr lang="en-US" sz="2000">
                          <a:latin typeface="Calibri" panose="020F0502020204030204" pitchFamily="34" charset="0"/>
                          <a:ea typeface="Calibri" panose="020F0502020204030204" pitchFamily="34" charset="0"/>
                          <a:cs typeface="Calibri" panose="020F0502020204030204" pitchFamily="34" charset="0"/>
                        </a:rPr>
                        <a:t>Feeling worthless</a:t>
                      </a:r>
                    </a:p>
                  </a:txBody>
                  <a:tcPr anchor="ctr">
                    <a:lnL>
                      <a:noFill/>
                    </a:lnL>
                    <a:lnR>
                      <a:noFill/>
                    </a:lnR>
                    <a:lnT>
                      <a:noFill/>
                    </a:lnT>
                    <a:lnB>
                      <a:noFill/>
                    </a:lnB>
                    <a:noFill/>
                  </a:tcPr>
                </a:tc>
                <a:tc>
                  <a:txBody>
                    <a:bodyPr/>
                    <a:lstStyle/>
                    <a:p>
                      <a:pPr algn="ctr"/>
                      <a:r>
                        <a:rPr lang="en-US" sz="2000">
                          <a:latin typeface="Calibri" panose="020F0502020204030204" pitchFamily="34" charset="0"/>
                          <a:ea typeface="Calibri" panose="020F0502020204030204" pitchFamily="34" charset="0"/>
                          <a:cs typeface="Calibri" panose="020F0502020204030204" pitchFamily="34" charset="0"/>
                        </a:rPr>
                        <a:t>0.70</a:t>
                      </a:r>
                    </a:p>
                  </a:txBody>
                  <a:tcPr anchor="ctr">
                    <a:lnL>
                      <a:noFill/>
                    </a:lnL>
                    <a:lnR>
                      <a:noFill/>
                    </a:lnR>
                    <a:lnT>
                      <a:noFill/>
                    </a:lnT>
                    <a:lnB>
                      <a:noFill/>
                    </a:lnB>
                    <a:noFill/>
                  </a:tcPr>
                </a:tc>
                <a:tc>
                  <a:txBody>
                    <a:bodyPr/>
                    <a:lstStyle/>
                    <a:p>
                      <a:pPr algn="ctr"/>
                      <a:r>
                        <a:rPr lang="en-US" sz="2000">
                          <a:latin typeface="Calibri" panose="020F0502020204030204" pitchFamily="34" charset="0"/>
                          <a:ea typeface="Calibri" panose="020F0502020204030204" pitchFamily="34" charset="0"/>
                          <a:cs typeface="Calibri" panose="020F0502020204030204" pitchFamily="34" charset="0"/>
                        </a:rPr>
                        <a:t>0.10</a:t>
                      </a:r>
                    </a:p>
                  </a:txBody>
                  <a:tcPr anchor="ctr">
                    <a:lnL>
                      <a:noFill/>
                    </a:lnL>
                    <a:lnR>
                      <a:noFill/>
                    </a:lnR>
                    <a:lnT>
                      <a:noFill/>
                    </a:lnT>
                    <a:lnB>
                      <a:noFill/>
                    </a:lnB>
                    <a:noFill/>
                  </a:tcPr>
                </a:tc>
                <a:tc>
                  <a:txBody>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0.50</a:t>
                      </a:r>
                    </a:p>
                  </a:txBody>
                  <a:tcPr anchor="ctr">
                    <a:lnL>
                      <a:noFill/>
                    </a:lnL>
                    <a:lnR>
                      <a:noFill/>
                    </a:lnR>
                    <a:lnT>
                      <a:noFill/>
                    </a:lnT>
                    <a:lnB>
                      <a:noFill/>
                    </a:lnB>
                    <a:noFill/>
                  </a:tcPr>
                </a:tc>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49% of variance explained by Factor 1; only 1% by Factor 2</a:t>
                      </a:r>
                    </a:p>
                  </a:txBody>
                  <a:tcPr anchor="ctr">
                    <a:lnL>
                      <a:noFill/>
                    </a:lnL>
                    <a:lnR>
                      <a:noFill/>
                    </a:lnR>
                    <a:lnT>
                      <a:noFill/>
                    </a:lnT>
                    <a:lnB>
                      <a:noFill/>
                    </a:lnB>
                    <a:noFill/>
                  </a:tcPr>
                </a:tc>
                <a:extLst>
                  <a:ext uri="{0D108BD9-81ED-4DB2-BD59-A6C34878D82A}">
                    <a16:rowId xmlns:a16="http://schemas.microsoft.com/office/drawing/2014/main" val="3977651510"/>
                  </a:ext>
                </a:extLst>
              </a:tr>
              <a:tr h="0">
                <a:tc>
                  <a:txBody>
                    <a:bodyPr/>
                    <a:lstStyle/>
                    <a:p>
                      <a:r>
                        <a:rPr lang="en-US" sz="2000">
                          <a:latin typeface="Calibri" panose="020F0502020204030204" pitchFamily="34" charset="0"/>
                          <a:ea typeface="Calibri" panose="020F0502020204030204" pitchFamily="34" charset="0"/>
                          <a:cs typeface="Calibri" panose="020F0502020204030204" pitchFamily="34" charset="0"/>
                        </a:rPr>
                        <a:t>Racing thoughts</a:t>
                      </a:r>
                    </a:p>
                  </a:txBody>
                  <a:tcPr anchor="ctr">
                    <a:lnL>
                      <a:noFill/>
                    </a:lnL>
                    <a:lnR>
                      <a:noFill/>
                    </a:lnR>
                    <a:lnT>
                      <a:noFill/>
                    </a:lnT>
                    <a:lnB>
                      <a:noFill/>
                    </a:lnB>
                    <a:noFill/>
                  </a:tcPr>
                </a:tc>
                <a:tc>
                  <a:txBody>
                    <a:bodyPr/>
                    <a:lstStyle/>
                    <a:p>
                      <a:pPr algn="ctr"/>
                      <a:r>
                        <a:rPr lang="en-US" sz="2000">
                          <a:latin typeface="Calibri" panose="020F0502020204030204" pitchFamily="34" charset="0"/>
                          <a:ea typeface="Calibri" panose="020F0502020204030204" pitchFamily="34" charset="0"/>
                          <a:cs typeface="Calibri" panose="020F0502020204030204" pitchFamily="34" charset="0"/>
                        </a:rPr>
                        <a:t>0.20</a:t>
                      </a:r>
                    </a:p>
                  </a:txBody>
                  <a:tcPr anchor="ctr">
                    <a:lnL>
                      <a:noFill/>
                    </a:lnL>
                    <a:lnR>
                      <a:noFill/>
                    </a:lnR>
                    <a:lnT>
                      <a:noFill/>
                    </a:lnT>
                    <a:lnB>
                      <a:noFill/>
                    </a:lnB>
                    <a:noFill/>
                  </a:tcPr>
                </a:tc>
                <a:tc>
                  <a:txBody>
                    <a:bodyPr/>
                    <a:lstStyle/>
                    <a:p>
                      <a:pPr algn="ctr"/>
                      <a:r>
                        <a:rPr lang="en-US" sz="2000">
                          <a:latin typeface="Calibri" panose="020F0502020204030204" pitchFamily="34" charset="0"/>
                          <a:ea typeface="Calibri" panose="020F0502020204030204" pitchFamily="34" charset="0"/>
                          <a:cs typeface="Calibri" panose="020F0502020204030204" pitchFamily="34" charset="0"/>
                        </a:rPr>
                        <a:t>0.65</a:t>
                      </a:r>
                    </a:p>
                  </a:txBody>
                  <a:tcPr anchor="ctr">
                    <a:lnL>
                      <a:noFill/>
                    </a:lnL>
                    <a:lnR>
                      <a:noFill/>
                    </a:lnR>
                    <a:lnT>
                      <a:noFill/>
                    </a:lnT>
                    <a:lnB>
                      <a:noFill/>
                    </a:lnB>
                    <a:noFill/>
                  </a:tcPr>
                </a:tc>
                <a:tc>
                  <a:txBody>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0.45</a:t>
                      </a:r>
                    </a:p>
                  </a:txBody>
                  <a:tcPr anchor="ctr">
                    <a:lnL>
                      <a:noFill/>
                    </a:lnL>
                    <a:lnR>
                      <a:noFill/>
                    </a:lnR>
                    <a:lnT>
                      <a:noFill/>
                    </a:lnT>
                    <a:lnB>
                      <a:noFill/>
                    </a:lnB>
                    <a:noFill/>
                  </a:tcPr>
                </a:tc>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4% of variance explained by Factor 1; 42% by Factor 2</a:t>
                      </a:r>
                    </a:p>
                  </a:txBody>
                  <a:tcPr anchor="ctr">
                    <a:lnL>
                      <a:noFill/>
                    </a:lnL>
                    <a:lnR>
                      <a:noFill/>
                    </a:lnR>
                    <a:lnT>
                      <a:noFill/>
                    </a:lnT>
                    <a:lnB>
                      <a:noFill/>
                    </a:lnB>
                    <a:noFill/>
                  </a:tcPr>
                </a:tc>
                <a:extLst>
                  <a:ext uri="{0D108BD9-81ED-4DB2-BD59-A6C34878D82A}">
                    <a16:rowId xmlns:a16="http://schemas.microsoft.com/office/drawing/2014/main" val="4088527111"/>
                  </a:ext>
                </a:extLst>
              </a:tr>
            </a:tbl>
          </a:graphicData>
        </a:graphic>
      </p:graphicFrame>
      <p:sp>
        <p:nvSpPr>
          <p:cNvPr id="6" name="TextBox 5">
            <a:extLst>
              <a:ext uri="{FF2B5EF4-FFF2-40B4-BE49-F238E27FC236}">
                <a16:creationId xmlns:a16="http://schemas.microsoft.com/office/drawing/2014/main" id="{E5F5962E-F215-886A-664A-8ACE12854607}"/>
              </a:ext>
            </a:extLst>
          </p:cNvPr>
          <p:cNvSpPr txBox="1"/>
          <p:nvPr/>
        </p:nvSpPr>
        <p:spPr>
          <a:xfrm>
            <a:off x="311727" y="720426"/>
            <a:ext cx="6096000" cy="400110"/>
          </a:xfrm>
          <a:prstGeom prst="rect">
            <a:avLst/>
          </a:prstGeom>
          <a:noFill/>
        </p:spPr>
        <p:txBody>
          <a:bodyPr wrap="square">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Communality = (Loading on F1)² + (Loading on F2)²</a:t>
            </a:r>
          </a:p>
        </p:txBody>
      </p:sp>
    </p:spTree>
    <p:extLst>
      <p:ext uri="{BB962C8B-B14F-4D97-AF65-F5344CB8AC3E}">
        <p14:creationId xmlns:p14="http://schemas.microsoft.com/office/powerpoint/2010/main" val="23773715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A36AC-0E38-8A5C-B074-FCD19E5A84CF}"/>
              </a:ext>
            </a:extLst>
          </p:cNvPr>
          <p:cNvSpPr>
            <a:spLocks noGrp="1"/>
          </p:cNvSpPr>
          <p:nvPr>
            <p:ph type="title"/>
          </p:nvPr>
        </p:nvSpPr>
        <p:spPr>
          <a:xfrm>
            <a:off x="101707" y="92593"/>
            <a:ext cx="7712099" cy="706173"/>
          </a:xfrm>
        </p:spPr>
        <p:txBody>
          <a:bodyPr>
            <a:normAutofit/>
          </a:bodyPr>
          <a:lstStyle/>
          <a:p>
            <a:r>
              <a:rPr lang="en-US" sz="3500" dirty="0"/>
              <a:t>Partitioning the variance in factor analysis</a:t>
            </a:r>
          </a:p>
        </p:txBody>
      </p:sp>
      <p:sp>
        <p:nvSpPr>
          <p:cNvPr id="3" name="Content Placeholder 2">
            <a:extLst>
              <a:ext uri="{FF2B5EF4-FFF2-40B4-BE49-F238E27FC236}">
                <a16:creationId xmlns:a16="http://schemas.microsoft.com/office/drawing/2014/main" id="{FADEA9B7-3CBC-6B49-DB64-B1094615DD70}"/>
              </a:ext>
            </a:extLst>
          </p:cNvPr>
          <p:cNvSpPr>
            <a:spLocks noGrp="1"/>
          </p:cNvSpPr>
          <p:nvPr>
            <p:ph idx="1"/>
          </p:nvPr>
        </p:nvSpPr>
        <p:spPr>
          <a:xfrm>
            <a:off x="302234" y="704196"/>
            <a:ext cx="4429615" cy="3931920"/>
          </a:xfrm>
        </p:spPr>
        <p:txBody>
          <a:bodyPr>
            <a:normAutofit/>
          </a:bodyPr>
          <a:lstStyle/>
          <a:p>
            <a:r>
              <a:rPr lang="en-US" sz="2000" i="0" dirty="0">
                <a:effectLst/>
                <a:latin typeface="Calibri" panose="020F0502020204030204" pitchFamily="34" charset="0"/>
                <a:ea typeface="Calibri" panose="020F0502020204030204" pitchFamily="34" charset="0"/>
                <a:cs typeface="Calibri" panose="020F0502020204030204" pitchFamily="34" charset="0"/>
              </a:rPr>
              <a:t>Common variance is the amount of variance that is shared among </a:t>
            </a:r>
            <a:r>
              <a:rPr lang="en-US" sz="2000" dirty="0">
                <a:latin typeface="Calibri" panose="020F0502020204030204" pitchFamily="34" charset="0"/>
                <a:ea typeface="Calibri" panose="020F0502020204030204" pitchFamily="34" charset="0"/>
                <a:cs typeface="Calibri" panose="020F0502020204030204" pitchFamily="34" charset="0"/>
              </a:rPr>
              <a:t>the variables</a:t>
            </a:r>
            <a:endParaRPr lang="en-US" sz="2000" i="0" dirty="0">
              <a:effectLst/>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Unique variance is the portion of variance that is not common</a:t>
            </a:r>
          </a:p>
          <a:p>
            <a:pPr lvl="1"/>
            <a:r>
              <a:rPr lang="en-US" sz="1800" dirty="0">
                <a:latin typeface="Calibri" panose="020F0502020204030204" pitchFamily="34" charset="0"/>
                <a:ea typeface="Calibri" panose="020F0502020204030204" pitchFamily="34" charset="0"/>
                <a:cs typeface="Calibri" panose="020F0502020204030204" pitchFamily="34" charset="0"/>
              </a:rPr>
              <a:t>Specific</a:t>
            </a:r>
          </a:p>
          <a:p>
            <a:pPr lvl="1"/>
            <a:r>
              <a:rPr lang="en-US" sz="1800" dirty="0">
                <a:latin typeface="Calibri" panose="020F0502020204030204" pitchFamily="34" charset="0"/>
                <a:ea typeface="Calibri" panose="020F0502020204030204" pitchFamily="34" charset="0"/>
                <a:cs typeface="Calibri" panose="020F0502020204030204" pitchFamily="34" charset="0"/>
              </a:rPr>
              <a:t>Error</a:t>
            </a:r>
          </a:p>
          <a:p>
            <a:r>
              <a:rPr lang="en-US" sz="2000" dirty="0">
                <a:latin typeface="Calibri" panose="020F0502020204030204" pitchFamily="34" charset="0"/>
                <a:ea typeface="Calibri" panose="020F0502020204030204" pitchFamily="34" charset="0"/>
                <a:cs typeface="Calibri" panose="020F0502020204030204" pitchFamily="34" charset="0"/>
              </a:rPr>
              <a:t>Total variance = common + unique</a:t>
            </a:r>
          </a:p>
          <a:p>
            <a:r>
              <a:rPr lang="en-US" sz="2000" dirty="0">
                <a:latin typeface="Calibri" panose="020F0502020204030204" pitchFamily="34" charset="0"/>
                <a:ea typeface="Calibri" panose="020F0502020204030204" pitchFamily="34" charset="0"/>
                <a:cs typeface="Calibri" panose="020F0502020204030204" pitchFamily="34" charset="0"/>
              </a:rPr>
              <a:t>You want communality to be high and uniqueness to be low</a:t>
            </a:r>
          </a:p>
        </p:txBody>
      </p:sp>
      <p:pic>
        <p:nvPicPr>
          <p:cNvPr id="5" name="Picture 2">
            <a:extLst>
              <a:ext uri="{FF2B5EF4-FFF2-40B4-BE49-F238E27FC236}">
                <a16:creationId xmlns:a16="http://schemas.microsoft.com/office/drawing/2014/main" id="{DA6B96F8-663F-97BA-22B4-68645BBB8F8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233"/>
          <a:stretch/>
        </p:blipFill>
        <p:spPr bwMode="auto">
          <a:xfrm>
            <a:off x="5582654" y="704196"/>
            <a:ext cx="5006741" cy="261884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8A5AD7A-AA74-D9E3-A33F-A7ADE8B9817D}"/>
              </a:ext>
            </a:extLst>
          </p:cNvPr>
          <p:cNvSpPr txBox="1"/>
          <p:nvPr/>
        </p:nvSpPr>
        <p:spPr>
          <a:xfrm>
            <a:off x="5756440" y="2763944"/>
            <a:ext cx="2121536" cy="2031325"/>
          </a:xfrm>
          <a:prstGeom prst="rect">
            <a:avLst/>
          </a:prstGeom>
          <a:noFill/>
        </p:spPr>
        <p:txBody>
          <a:bodyPr wrap="square" rtlCol="0">
            <a:spAutoFit/>
          </a:bodyPr>
          <a:lstStyle/>
          <a:p>
            <a:r>
              <a:rPr lang="en-US" dirty="0"/>
              <a:t>Ranges from 0 to 1</a:t>
            </a:r>
          </a:p>
          <a:p>
            <a:r>
              <a:rPr lang="en-US" dirty="0"/>
              <a:t>Higher values = the common factor</a:t>
            </a:r>
          </a:p>
          <a:p>
            <a:r>
              <a:rPr lang="en-US" dirty="0">
                <a:latin typeface="Calibri" panose="020F0502020204030204" pitchFamily="34" charset="0"/>
                <a:ea typeface="Calibri" panose="020F0502020204030204" pitchFamily="34" charset="0"/>
                <a:cs typeface="Calibri" panose="020F0502020204030204" pitchFamily="34" charset="0"/>
              </a:rPr>
              <a:t>explain more of the variance of an individual</a:t>
            </a:r>
          </a:p>
          <a:p>
            <a:r>
              <a:rPr lang="en-US" dirty="0"/>
              <a:t>item</a:t>
            </a:r>
          </a:p>
        </p:txBody>
      </p:sp>
    </p:spTree>
    <p:extLst>
      <p:ext uri="{BB962C8B-B14F-4D97-AF65-F5344CB8AC3E}">
        <p14:creationId xmlns:p14="http://schemas.microsoft.com/office/powerpoint/2010/main" val="9381663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32849-4E6C-4E37-A5D3-7F031EAFC6D7}"/>
              </a:ext>
            </a:extLst>
          </p:cNvPr>
          <p:cNvSpPr>
            <a:spLocks noGrp="1"/>
          </p:cNvSpPr>
          <p:nvPr>
            <p:ph type="title"/>
          </p:nvPr>
        </p:nvSpPr>
        <p:spPr>
          <a:xfrm>
            <a:off x="127162" y="171490"/>
            <a:ext cx="9788251" cy="754300"/>
          </a:xfrm>
        </p:spPr>
        <p:txBody>
          <a:bodyPr>
            <a:normAutofit/>
          </a:bodyPr>
          <a:lstStyle/>
          <a:p>
            <a:r>
              <a:rPr lang="en-US" sz="3100" b="0" i="0" dirty="0">
                <a:effectLst/>
                <a:latin typeface="Calibri" panose="020F0502020204030204" pitchFamily="34" charset="0"/>
              </a:rPr>
              <a:t>Extracting a set of factors from the correlation matrix</a:t>
            </a:r>
            <a:endParaRPr lang="en-US" sz="3100"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C9FDB3F-7536-4673-B5A3-9C9569335795}"/>
                  </a:ext>
                </a:extLst>
              </p:cNvPr>
              <p:cNvSpPr>
                <a:spLocks noGrp="1"/>
              </p:cNvSpPr>
              <p:nvPr>
                <p:ph idx="1"/>
              </p:nvPr>
            </p:nvSpPr>
            <p:spPr>
              <a:xfrm>
                <a:off x="212451" y="805473"/>
                <a:ext cx="11767098" cy="4656863"/>
              </a:xfrm>
            </p:spPr>
            <p:txBody>
              <a:bodyPr>
                <a:normAutofit fontScale="92500" lnSpcReduction="20000"/>
              </a:bodyPr>
              <a:lstStyle/>
              <a:p>
                <a:r>
                  <a:rPr lang="en-US" sz="2200" b="1" dirty="0">
                    <a:latin typeface="Calibri" panose="020F0502020204030204" pitchFamily="34" charset="0"/>
                    <a:ea typeface="Calibri" panose="020F0502020204030204" pitchFamily="34" charset="0"/>
                    <a:cs typeface="Calibri" panose="020F0502020204030204" pitchFamily="34" charset="0"/>
                  </a:rPr>
                  <a:t>Common variance (</a:t>
                </a:r>
                <a14:m>
                  <m:oMath xmlns:m="http://schemas.openxmlformats.org/officeDocument/2006/math">
                    <m:sSup>
                      <m:sSupPr>
                        <m:ctrlPr>
                          <a:rPr lang="en-US" sz="2200" i="1" smtClean="0">
                            <a:latin typeface="Cambria Math" panose="02040503050406030204" pitchFamily="18" charset="0"/>
                          </a:rPr>
                        </m:ctrlPr>
                      </m:sSupPr>
                      <m:e>
                        <m:r>
                          <a:rPr lang="en-US" sz="2200" b="0" i="1" smtClean="0">
                            <a:latin typeface="Cambria Math" panose="02040503050406030204" pitchFamily="18" charset="0"/>
                          </a:rPr>
                          <m:t>h</m:t>
                        </m:r>
                      </m:e>
                      <m:sup>
                        <m:r>
                          <a:rPr lang="en-US" sz="2200" b="0" i="1" smtClean="0">
                            <a:latin typeface="Cambria Math" panose="02040503050406030204" pitchFamily="18" charset="0"/>
                          </a:rPr>
                          <m:t>2</m:t>
                        </m:r>
                      </m:sup>
                    </m:sSup>
                  </m:oMath>
                </a14:m>
                <a:r>
                  <a:rPr lang="en-US" sz="2200" b="1" dirty="0">
                    <a:latin typeface="Calibri" panose="020F0502020204030204" pitchFamily="34" charset="0"/>
                    <a:ea typeface="Calibri" panose="020F0502020204030204" pitchFamily="34" charset="0"/>
                    <a:cs typeface="Calibri" panose="020F0502020204030204" pitchFamily="34" charset="0"/>
                  </a:rPr>
                  <a:t>)</a:t>
                </a:r>
              </a:p>
              <a:p>
                <a:pPr lvl="1"/>
                <a:r>
                  <a:rPr lang="en-US" sz="1900" b="1" dirty="0">
                    <a:latin typeface="Calibri" panose="020F0502020204030204" pitchFamily="34" charset="0"/>
                    <a:ea typeface="Calibri" panose="020F0502020204030204" pitchFamily="34" charset="0"/>
                    <a:cs typeface="Calibri" panose="020F0502020204030204" pitchFamily="34" charset="0"/>
                  </a:rPr>
                  <a:t>Definition</a:t>
                </a:r>
                <a:r>
                  <a:rPr lang="en-US" sz="1900" dirty="0">
                    <a:latin typeface="Calibri" panose="020F0502020204030204" pitchFamily="34" charset="0"/>
                    <a:ea typeface="Calibri" panose="020F0502020204030204" pitchFamily="34" charset="0"/>
                    <a:cs typeface="Calibri" panose="020F0502020204030204" pitchFamily="34" charset="0"/>
                  </a:rPr>
                  <a:t>: The proportion of a variable’s variance that is shared with other variables in the factor</a:t>
                </a:r>
              </a:p>
              <a:p>
                <a:pPr lvl="1"/>
                <a:r>
                  <a:rPr lang="en-US" sz="1900" b="1" dirty="0">
                    <a:latin typeface="Calibri" panose="020F0502020204030204" pitchFamily="34" charset="0"/>
                    <a:ea typeface="Calibri" panose="020F0502020204030204" pitchFamily="34" charset="0"/>
                    <a:cs typeface="Calibri" panose="020F0502020204030204" pitchFamily="34" charset="0"/>
                  </a:rPr>
                  <a:t>Statistical role</a:t>
                </a:r>
                <a:r>
                  <a:rPr lang="en-US" sz="1900" dirty="0">
                    <a:latin typeface="Calibri" panose="020F0502020204030204" pitchFamily="34" charset="0"/>
                    <a:ea typeface="Calibri" panose="020F0502020204030204" pitchFamily="34" charset="0"/>
                    <a:cs typeface="Calibri" panose="020F0502020204030204" pitchFamily="34" charset="0"/>
                  </a:rPr>
                  <a:t>: Drives factor formation – items with high shared variance load strongly onto the same factor</a:t>
                </a:r>
              </a:p>
              <a:p>
                <a:pPr lvl="1"/>
                <a:r>
                  <a:rPr lang="en-US" sz="1900" b="1" dirty="0">
                    <a:latin typeface="Calibri" panose="020F0502020204030204" pitchFamily="34" charset="0"/>
                    <a:ea typeface="Calibri" panose="020F0502020204030204" pitchFamily="34" charset="0"/>
                    <a:cs typeface="Calibri" panose="020F0502020204030204" pitchFamily="34" charset="0"/>
                  </a:rPr>
                  <a:t>Intuition</a:t>
                </a:r>
                <a:r>
                  <a:rPr lang="en-US" sz="1900" dirty="0">
                    <a:latin typeface="Calibri" panose="020F0502020204030204" pitchFamily="34" charset="0"/>
                    <a:ea typeface="Calibri" panose="020F0502020204030204" pitchFamily="34" charset="0"/>
                    <a:cs typeface="Calibri" panose="020F0502020204030204" pitchFamily="34" charset="0"/>
                  </a:rPr>
                  <a:t>: “How much of this variable is explained by the factor?”</a:t>
                </a:r>
              </a:p>
              <a:p>
                <a:pPr lvl="1"/>
                <a:r>
                  <a:rPr lang="en-US" sz="1900" b="1" dirty="0">
                    <a:latin typeface="Calibri" panose="020F0502020204030204" pitchFamily="34" charset="0"/>
                    <a:ea typeface="Calibri" panose="020F0502020204030204" pitchFamily="34" charset="0"/>
                    <a:cs typeface="Calibri" panose="020F0502020204030204" pitchFamily="34" charset="0"/>
                  </a:rPr>
                  <a:t>Example</a:t>
                </a:r>
                <a:r>
                  <a:rPr lang="en-US" sz="1900" dirty="0">
                    <a:latin typeface="Calibri" panose="020F0502020204030204" pitchFamily="34" charset="0"/>
                    <a:ea typeface="Calibri" panose="020F0502020204030204" pitchFamily="34" charset="0"/>
                    <a:cs typeface="Calibri" panose="020F0502020204030204" pitchFamily="34" charset="0"/>
                  </a:rPr>
                  <a:t>: If sadness and tiredness are both related to depression, the overlap in responses reflects common variance</a:t>
                </a:r>
              </a:p>
              <a:p>
                <a:pPr lvl="1"/>
                <a:r>
                  <a:rPr lang="en-US" sz="1900" dirty="0">
                    <a:latin typeface="Calibri" panose="020F0502020204030204" pitchFamily="34" charset="0"/>
                    <a:ea typeface="Calibri" panose="020F0502020204030204" pitchFamily="34" charset="0"/>
                    <a:cs typeface="Calibri" panose="020F0502020204030204" pitchFamily="34" charset="0"/>
                  </a:rPr>
                  <a:t>Unique variance is either specific or error</a:t>
                </a:r>
              </a:p>
              <a:p>
                <a:r>
                  <a:rPr lang="en-US" sz="2200" b="1" dirty="0">
                    <a:latin typeface="Calibri" panose="020F0502020204030204" pitchFamily="34" charset="0"/>
                    <a:ea typeface="Calibri" panose="020F0502020204030204" pitchFamily="34" charset="0"/>
                    <a:cs typeface="Calibri" panose="020F0502020204030204" pitchFamily="34" charset="0"/>
                  </a:rPr>
                  <a:t>Specific variance </a:t>
                </a:r>
                <a:r>
                  <a:rPr lang="en-US" sz="2200" dirty="0">
                    <a:latin typeface="Calibri" panose="020F0502020204030204" pitchFamily="34" charset="0"/>
                    <a:ea typeface="Calibri" panose="020F0502020204030204" pitchFamily="34" charset="0"/>
                    <a:cs typeface="Calibri" panose="020F0502020204030204" pitchFamily="34" charset="0"/>
                  </a:rPr>
                  <a:t>is variance specific to an item or variable</a:t>
                </a:r>
              </a:p>
              <a:p>
                <a:pPr lvl="1"/>
                <a:r>
                  <a:rPr lang="en-US" sz="1900" b="1" dirty="0">
                    <a:latin typeface="Calibri" panose="020F0502020204030204" pitchFamily="34" charset="0"/>
                    <a:ea typeface="Calibri" panose="020F0502020204030204" pitchFamily="34" charset="0"/>
                    <a:cs typeface="Calibri" panose="020F0502020204030204" pitchFamily="34" charset="0"/>
                  </a:rPr>
                  <a:t>Definition</a:t>
                </a:r>
                <a:r>
                  <a:rPr lang="en-US" sz="1900" dirty="0">
                    <a:latin typeface="Calibri" panose="020F0502020204030204" pitchFamily="34" charset="0"/>
                    <a:ea typeface="Calibri" panose="020F0502020204030204" pitchFamily="34" charset="0"/>
                    <a:cs typeface="Calibri" panose="020F0502020204030204" pitchFamily="34" charset="0"/>
                  </a:rPr>
                  <a:t>: Variance that is specific to one variable and not shared with others</a:t>
                </a:r>
              </a:p>
              <a:p>
                <a:pPr lvl="1"/>
                <a:r>
                  <a:rPr lang="en-US" sz="1900" b="1" dirty="0">
                    <a:latin typeface="Calibri" panose="020F0502020204030204" pitchFamily="34" charset="0"/>
                    <a:ea typeface="Calibri" panose="020F0502020204030204" pitchFamily="34" charset="0"/>
                    <a:cs typeface="Calibri" panose="020F0502020204030204" pitchFamily="34" charset="0"/>
                  </a:rPr>
                  <a:t>Statistical</a:t>
                </a:r>
                <a:r>
                  <a:rPr lang="en-US" sz="1900" dirty="0">
                    <a:latin typeface="Calibri" panose="020F0502020204030204" pitchFamily="34" charset="0"/>
                    <a:ea typeface="Calibri" panose="020F0502020204030204" pitchFamily="34" charset="0"/>
                    <a:cs typeface="Calibri" panose="020F0502020204030204" pitchFamily="34" charset="0"/>
                  </a:rPr>
                  <a:t> </a:t>
                </a:r>
                <a:r>
                  <a:rPr lang="en-US" sz="1900" b="1" dirty="0">
                    <a:latin typeface="Calibri" panose="020F0502020204030204" pitchFamily="34" charset="0"/>
                    <a:ea typeface="Calibri" panose="020F0502020204030204" pitchFamily="34" charset="0"/>
                    <a:cs typeface="Calibri" panose="020F0502020204030204" pitchFamily="34" charset="0"/>
                  </a:rPr>
                  <a:t>role</a:t>
                </a:r>
                <a:r>
                  <a:rPr lang="en-US" sz="1900" dirty="0">
                    <a:latin typeface="Calibri" panose="020F0502020204030204" pitchFamily="34" charset="0"/>
                    <a:ea typeface="Calibri" panose="020F0502020204030204" pitchFamily="34" charset="0"/>
                    <a:cs typeface="Calibri" panose="020F0502020204030204" pitchFamily="34" charset="0"/>
                  </a:rPr>
                  <a:t>: Not useful for grouping, but still part of the total variance</a:t>
                </a:r>
              </a:p>
              <a:p>
                <a:pPr lvl="1"/>
                <a:r>
                  <a:rPr lang="en-US" sz="1900" b="1" dirty="0">
                    <a:latin typeface="Calibri" panose="020F0502020204030204" pitchFamily="34" charset="0"/>
                    <a:ea typeface="Calibri" panose="020F0502020204030204" pitchFamily="34" charset="0"/>
                    <a:cs typeface="Calibri" panose="020F0502020204030204" pitchFamily="34" charset="0"/>
                  </a:rPr>
                  <a:t>Intuition</a:t>
                </a:r>
                <a:r>
                  <a:rPr lang="en-US" sz="1900" dirty="0">
                    <a:latin typeface="Calibri" panose="020F0502020204030204" pitchFamily="34" charset="0"/>
                    <a:ea typeface="Calibri" panose="020F0502020204030204" pitchFamily="34" charset="0"/>
                    <a:cs typeface="Calibri" panose="020F0502020204030204" pitchFamily="34" charset="0"/>
                  </a:rPr>
                  <a:t>: This part of the variable stands alone, is not part of the underlying construct</a:t>
                </a:r>
              </a:p>
              <a:p>
                <a:pPr lvl="1"/>
                <a:r>
                  <a:rPr lang="en-US" sz="1900" b="1" dirty="0">
                    <a:latin typeface="Calibri" panose="020F0502020204030204" pitchFamily="34" charset="0"/>
                    <a:ea typeface="Calibri" panose="020F0502020204030204" pitchFamily="34" charset="0"/>
                    <a:cs typeface="Calibri" panose="020F0502020204030204" pitchFamily="34" charset="0"/>
                  </a:rPr>
                  <a:t>Example</a:t>
                </a:r>
                <a:r>
                  <a:rPr lang="en-US" sz="1900" dirty="0">
                    <a:latin typeface="Calibri" panose="020F0502020204030204" pitchFamily="34" charset="0"/>
                    <a:ea typeface="Calibri" panose="020F0502020204030204" pitchFamily="34" charset="0"/>
                    <a:cs typeface="Calibri" panose="020F0502020204030204" pitchFamily="34" charset="0"/>
                  </a:rPr>
                  <a:t>: A sleep item might reflect insomnia unrelated to the latent factor (e.g., depression)</a:t>
                </a:r>
              </a:p>
              <a:p>
                <a:r>
                  <a:rPr lang="en-US" sz="2200" b="1" dirty="0">
                    <a:latin typeface="Calibri" panose="020F0502020204030204" pitchFamily="34" charset="0"/>
                    <a:ea typeface="Calibri" panose="020F0502020204030204" pitchFamily="34" charset="0"/>
                    <a:cs typeface="Calibri" panose="020F0502020204030204" pitchFamily="34" charset="0"/>
                  </a:rPr>
                  <a:t>Error variance</a:t>
                </a:r>
              </a:p>
              <a:p>
                <a:pPr lvl="1"/>
                <a:r>
                  <a:rPr lang="en-US" sz="1900" b="1" dirty="0">
                    <a:latin typeface="Calibri" panose="020F0502020204030204" pitchFamily="34" charset="0"/>
                    <a:ea typeface="Calibri" panose="020F0502020204030204" pitchFamily="34" charset="0"/>
                    <a:cs typeface="Calibri" panose="020F0502020204030204" pitchFamily="34" charset="0"/>
                  </a:rPr>
                  <a:t>Definition</a:t>
                </a:r>
                <a:r>
                  <a:rPr lang="en-US" sz="1900" dirty="0">
                    <a:latin typeface="Calibri" panose="020F0502020204030204" pitchFamily="34" charset="0"/>
                    <a:ea typeface="Calibri" panose="020F0502020204030204" pitchFamily="34" charset="0"/>
                    <a:cs typeface="Calibri" panose="020F0502020204030204" pitchFamily="34" charset="0"/>
                  </a:rPr>
                  <a:t>: Random variance due to measurement error or unreliability</a:t>
                </a:r>
              </a:p>
              <a:p>
                <a:pPr lvl="1"/>
                <a:r>
                  <a:rPr lang="en-US" sz="1900" b="1" dirty="0">
                    <a:latin typeface="Calibri" panose="020F0502020204030204" pitchFamily="34" charset="0"/>
                    <a:ea typeface="Calibri" panose="020F0502020204030204" pitchFamily="34" charset="0"/>
                    <a:cs typeface="Calibri" panose="020F0502020204030204" pitchFamily="34" charset="0"/>
                  </a:rPr>
                  <a:t>Statistical role</a:t>
                </a:r>
                <a:r>
                  <a:rPr lang="en-US" sz="1900" dirty="0">
                    <a:latin typeface="Calibri" panose="020F0502020204030204" pitchFamily="34" charset="0"/>
                    <a:ea typeface="Calibri" panose="020F0502020204030204" pitchFamily="34" charset="0"/>
                    <a:cs typeface="Calibri" panose="020F0502020204030204" pitchFamily="34" charset="0"/>
                  </a:rPr>
                  <a:t>: Unexplained and unpredictable – lowers the reliability of items</a:t>
                </a:r>
              </a:p>
              <a:p>
                <a:pPr lvl="1"/>
                <a:r>
                  <a:rPr lang="en-US" sz="1900" b="1" dirty="0">
                    <a:latin typeface="Calibri" panose="020F0502020204030204" pitchFamily="34" charset="0"/>
                    <a:ea typeface="Calibri" panose="020F0502020204030204" pitchFamily="34" charset="0"/>
                    <a:cs typeface="Calibri" panose="020F0502020204030204" pitchFamily="34" charset="0"/>
                  </a:rPr>
                  <a:t>Intuition</a:t>
                </a:r>
                <a:r>
                  <a:rPr lang="en-US" sz="1900" dirty="0">
                    <a:latin typeface="Calibri" panose="020F0502020204030204" pitchFamily="34" charset="0"/>
                    <a:ea typeface="Calibri" panose="020F0502020204030204" pitchFamily="34" charset="0"/>
                    <a:cs typeface="Calibri" panose="020F0502020204030204" pitchFamily="34" charset="0"/>
                  </a:rPr>
                  <a:t>: “Noise in the data”</a:t>
                </a:r>
              </a:p>
              <a:p>
                <a:pPr lvl="1"/>
                <a:r>
                  <a:rPr lang="en-US" sz="1900" b="1" dirty="0">
                    <a:latin typeface="Calibri" panose="020F0502020204030204" pitchFamily="34" charset="0"/>
                    <a:ea typeface="Calibri" panose="020F0502020204030204" pitchFamily="34" charset="0"/>
                    <a:cs typeface="Calibri" panose="020F0502020204030204" pitchFamily="34" charset="0"/>
                  </a:rPr>
                  <a:t>Example</a:t>
                </a:r>
                <a:r>
                  <a:rPr lang="en-US" sz="1900" dirty="0">
                    <a:latin typeface="Calibri" panose="020F0502020204030204" pitchFamily="34" charset="0"/>
                    <a:ea typeface="Calibri" panose="020F0502020204030204" pitchFamily="34" charset="0"/>
                    <a:cs typeface="Calibri" panose="020F0502020204030204" pitchFamily="34" charset="0"/>
                  </a:rPr>
                  <a:t>: A participant misreads the question or answers randomly</a:t>
                </a:r>
                <a:endParaRPr lang="en-US" sz="1500" b="1" u="sng" dirty="0">
                  <a:latin typeface="Calibri" panose="020F0502020204030204" pitchFamily="34" charset="0"/>
                  <a:ea typeface="Calibri" panose="020F0502020204030204" pitchFamily="34" charset="0"/>
                  <a:cs typeface="Calibri" panose="020F0502020204030204" pitchFamily="34" charset="0"/>
                </a:endParaRPr>
              </a:p>
            </p:txBody>
          </p:sp>
        </mc:Choice>
        <mc:Fallback>
          <p:sp>
            <p:nvSpPr>
              <p:cNvPr id="3" name="Content Placeholder 2">
                <a:extLst>
                  <a:ext uri="{FF2B5EF4-FFF2-40B4-BE49-F238E27FC236}">
                    <a16:creationId xmlns:a16="http://schemas.microsoft.com/office/drawing/2014/main" id="{CC9FDB3F-7536-4673-B5A3-9C9569335795}"/>
                  </a:ext>
                </a:extLst>
              </p:cNvPr>
              <p:cNvSpPr>
                <a:spLocks noGrp="1" noRot="1" noChangeAspect="1" noMove="1" noResize="1" noEditPoints="1" noAdjustHandles="1" noChangeArrowheads="1" noChangeShapeType="1" noTextEdit="1"/>
              </p:cNvSpPr>
              <p:nvPr>
                <p:ph idx="1"/>
              </p:nvPr>
            </p:nvSpPr>
            <p:spPr>
              <a:xfrm>
                <a:off x="212451" y="805473"/>
                <a:ext cx="11767098" cy="4656863"/>
              </a:xfrm>
              <a:blipFill>
                <a:blip r:embed="rId2"/>
                <a:stretch>
                  <a:fillRect l="-466" t="-2356"/>
                </a:stretch>
              </a:blipFill>
            </p:spPr>
            <p:txBody>
              <a:bodyPr/>
              <a:lstStyle/>
              <a:p>
                <a:r>
                  <a:rPr lang="en-US">
                    <a:noFill/>
                  </a:rPr>
                  <a:t> </a:t>
                </a:r>
              </a:p>
            </p:txBody>
          </p:sp>
        </mc:Fallback>
      </mc:AlternateContent>
      <p:pic>
        <p:nvPicPr>
          <p:cNvPr id="4" name="Picture 2">
            <a:extLst>
              <a:ext uri="{FF2B5EF4-FFF2-40B4-BE49-F238E27FC236}">
                <a16:creationId xmlns:a16="http://schemas.microsoft.com/office/drawing/2014/main" id="{F96233C8-6875-437D-A10A-BE85AB8D29A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109130" y="4716378"/>
            <a:ext cx="3870419" cy="1857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5154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 calcmode="lin" valueType="num">
                                      <p:cBhvr additive="base">
                                        <p:cTn id="2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 calcmode="lin" valueType="num">
                                      <p:cBhvr additive="base">
                                        <p:cTn id="3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 calcmode="lin" valueType="num">
                                      <p:cBhvr additive="base">
                                        <p:cTn id="3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anim calcmode="lin" valueType="num">
                                      <p:cBhvr additive="base">
                                        <p:cTn id="4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anim calcmode="lin" valueType="num">
                                      <p:cBhvr additive="base">
                                        <p:cTn id="47"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3" end="13"/>
                                            </p:txEl>
                                          </p:spTgt>
                                        </p:tgtEl>
                                        <p:attrNameLst>
                                          <p:attrName>style.visibility</p:attrName>
                                        </p:attrNameLst>
                                      </p:cBhvr>
                                      <p:to>
                                        <p:strVal val="visible"/>
                                      </p:to>
                                    </p:set>
                                    <p:anim calcmode="lin" valueType="num">
                                      <p:cBhvr additive="base">
                                        <p:cTn id="51"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
                                            <p:txEl>
                                              <p:pRg st="14" end="14"/>
                                            </p:txEl>
                                          </p:spTgt>
                                        </p:tgtEl>
                                        <p:attrNameLst>
                                          <p:attrName>style.visibility</p:attrName>
                                        </p:attrNameLst>
                                      </p:cBhvr>
                                      <p:to>
                                        <p:strVal val="visible"/>
                                      </p:to>
                                    </p:set>
                                    <p:anim calcmode="lin" valueType="num">
                                      <p:cBhvr additive="base">
                                        <p:cTn id="55"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3">
                                            <p:txEl>
                                              <p:pRg st="15" end="15"/>
                                            </p:txEl>
                                          </p:spTgt>
                                        </p:tgtEl>
                                        <p:attrNameLst>
                                          <p:attrName>style.visibility</p:attrName>
                                        </p:attrNameLst>
                                      </p:cBhvr>
                                      <p:to>
                                        <p:strVal val="visible"/>
                                      </p:to>
                                    </p:set>
                                    <p:anim calcmode="lin" valueType="num">
                                      <p:cBhvr additive="base">
                                        <p:cTn id="59"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15" end="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16B67-4C2A-48CC-99B9-5097D4BF611F}"/>
              </a:ext>
            </a:extLst>
          </p:cNvPr>
          <p:cNvSpPr>
            <a:spLocks noGrp="1"/>
          </p:cNvSpPr>
          <p:nvPr>
            <p:ph type="title"/>
          </p:nvPr>
        </p:nvSpPr>
        <p:spPr>
          <a:xfrm>
            <a:off x="116305" y="389190"/>
            <a:ext cx="10515600" cy="453022"/>
          </a:xfrm>
        </p:spPr>
        <p:txBody>
          <a:bodyPr>
            <a:noAutofit/>
          </a:bodyPr>
          <a:lstStyle/>
          <a:p>
            <a:r>
              <a:rPr lang="en-US" sz="3600" dirty="0">
                <a:latin typeface="Calibri" panose="020F0502020204030204" pitchFamily="34" charset="0"/>
                <a:ea typeface="Calibri" panose="020F0502020204030204" pitchFamily="34" charset="0"/>
                <a:cs typeface="Calibri" panose="020F0502020204030204" pitchFamily="34" charset="0"/>
              </a:rPr>
              <a:t>Exploratory Factor Analysis Specification Conditions &amp; Decisions</a:t>
            </a:r>
          </a:p>
        </p:txBody>
      </p:sp>
      <p:sp>
        <p:nvSpPr>
          <p:cNvPr id="3" name="Content Placeholder 2">
            <a:extLst>
              <a:ext uri="{FF2B5EF4-FFF2-40B4-BE49-F238E27FC236}">
                <a16:creationId xmlns:a16="http://schemas.microsoft.com/office/drawing/2014/main" id="{6B264752-4918-4156-B9C9-708231C71B12}"/>
              </a:ext>
            </a:extLst>
          </p:cNvPr>
          <p:cNvSpPr>
            <a:spLocks noGrp="1"/>
          </p:cNvSpPr>
          <p:nvPr>
            <p:ph idx="1"/>
          </p:nvPr>
        </p:nvSpPr>
        <p:spPr>
          <a:xfrm>
            <a:off x="236621" y="1079667"/>
            <a:ext cx="10515600" cy="4351338"/>
          </a:xfrm>
        </p:spPr>
        <p:txBody>
          <a:bodyPr/>
          <a:lstStyle/>
          <a:p>
            <a:r>
              <a:rPr lang="en-US" sz="2000" dirty="0">
                <a:latin typeface="Calibri" panose="020F0502020204030204" pitchFamily="34" charset="0"/>
                <a:ea typeface="Calibri" panose="020F0502020204030204" pitchFamily="34" charset="0"/>
                <a:cs typeface="Calibri" panose="020F0502020204030204" pitchFamily="34" charset="0"/>
              </a:rPr>
              <a:t>Factor retention: once the variables are factored, we need to determine how many factors to retain</a:t>
            </a:r>
          </a:p>
          <a:p>
            <a:pPr lvl="1"/>
            <a:r>
              <a:rPr lang="en-US" sz="1800" dirty="0">
                <a:latin typeface="Calibri" panose="020F0502020204030204" pitchFamily="34" charset="0"/>
                <a:ea typeface="Calibri" panose="020F0502020204030204" pitchFamily="34" charset="0"/>
                <a:cs typeface="Calibri" panose="020F0502020204030204" pitchFamily="34" charset="0"/>
              </a:rPr>
              <a:t>This is a “crucial decision”</a:t>
            </a:r>
          </a:p>
          <a:p>
            <a:endParaRPr lang="en-US" dirty="0"/>
          </a:p>
        </p:txBody>
      </p:sp>
    </p:spTree>
    <p:extLst>
      <p:ext uri="{BB962C8B-B14F-4D97-AF65-F5344CB8AC3E}">
        <p14:creationId xmlns:p14="http://schemas.microsoft.com/office/powerpoint/2010/main" val="31855550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8C67F-BC2F-48A6-B924-656E0EF45B60}"/>
              </a:ext>
            </a:extLst>
          </p:cNvPr>
          <p:cNvSpPr>
            <a:spLocks noGrp="1"/>
          </p:cNvSpPr>
          <p:nvPr>
            <p:ph type="title"/>
          </p:nvPr>
        </p:nvSpPr>
        <p:spPr>
          <a:xfrm>
            <a:off x="92242" y="100430"/>
            <a:ext cx="10515600" cy="637507"/>
          </a:xfrm>
        </p:spPr>
        <p:txBody>
          <a:bodyPr>
            <a:normAutofit fontScale="90000"/>
          </a:bodyPr>
          <a:lstStyle/>
          <a:p>
            <a:r>
              <a:rPr lang="en-US" dirty="0"/>
              <a:t>Full Set of Criteria for number of factors</a:t>
            </a:r>
          </a:p>
        </p:txBody>
      </p:sp>
      <p:sp>
        <p:nvSpPr>
          <p:cNvPr id="3" name="Content Placeholder 2">
            <a:extLst>
              <a:ext uri="{FF2B5EF4-FFF2-40B4-BE49-F238E27FC236}">
                <a16:creationId xmlns:a16="http://schemas.microsoft.com/office/drawing/2014/main" id="{E06432FB-A528-4ED2-8EDF-7AF6551CF31D}"/>
              </a:ext>
            </a:extLst>
          </p:cNvPr>
          <p:cNvSpPr>
            <a:spLocks noGrp="1"/>
          </p:cNvSpPr>
          <p:nvPr>
            <p:ph idx="1"/>
          </p:nvPr>
        </p:nvSpPr>
        <p:spPr>
          <a:xfrm>
            <a:off x="252663" y="670593"/>
            <a:ext cx="10515600" cy="4351338"/>
          </a:xfrm>
        </p:spPr>
        <p:txBody>
          <a:bodyPr>
            <a:norm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Note</a:t>
            </a:r>
            <a:r>
              <a:rPr lang="en-US" sz="2000" dirty="0">
                <a:latin typeface="Calibri" panose="020F0502020204030204" pitchFamily="34" charset="0"/>
                <a:ea typeface="Calibri" panose="020F0502020204030204" pitchFamily="34" charset="0"/>
                <a:cs typeface="Calibri" panose="020F0502020204030204" pitchFamily="34" charset="0"/>
              </a:rPr>
              <a:t>: some of these are statistical, some require common sense judgment</a:t>
            </a:r>
          </a:p>
          <a:p>
            <a:r>
              <a:rPr lang="en-US" sz="2000" dirty="0">
                <a:latin typeface="Calibri" panose="020F0502020204030204" pitchFamily="34" charset="0"/>
                <a:ea typeface="Calibri" panose="020F0502020204030204" pitchFamily="34" charset="0"/>
                <a:cs typeface="Calibri" panose="020F0502020204030204" pitchFamily="34" charset="0"/>
              </a:rPr>
              <a:t>Selecting the factor(s)</a:t>
            </a:r>
          </a:p>
          <a:p>
            <a:pPr lvl="1"/>
            <a:r>
              <a:rPr lang="en-US" sz="1800" dirty="0">
                <a:latin typeface="Calibri" panose="020F0502020204030204" pitchFamily="34" charset="0"/>
                <a:ea typeface="Calibri" panose="020F0502020204030204" pitchFamily="34" charset="0"/>
                <a:cs typeface="Calibri" panose="020F0502020204030204" pitchFamily="34" charset="0"/>
              </a:rPr>
              <a:t>A priori criterion (</a:t>
            </a:r>
            <a:r>
              <a:rPr lang="en-US" sz="1800" b="1" u="sng" dirty="0">
                <a:latin typeface="Calibri" panose="020F0502020204030204" pitchFamily="34" charset="0"/>
                <a:ea typeface="Calibri" panose="020F0502020204030204" pitchFamily="34" charset="0"/>
                <a:cs typeface="Calibri" panose="020F0502020204030204" pitchFamily="34" charset="0"/>
              </a:rPr>
              <a:t>theory)</a:t>
            </a:r>
            <a:endParaRPr lang="en-US" sz="1800" dirty="0">
              <a:latin typeface="Calibri" panose="020F0502020204030204" pitchFamily="34" charset="0"/>
              <a:ea typeface="Calibri" panose="020F0502020204030204" pitchFamily="34" charset="0"/>
              <a:cs typeface="Calibri" panose="020F0502020204030204" pitchFamily="34" charset="0"/>
            </a:endParaRPr>
          </a:p>
          <a:p>
            <a:pPr lvl="1"/>
            <a:r>
              <a:rPr lang="en-US" sz="1800" dirty="0">
                <a:latin typeface="Calibri" panose="020F0502020204030204" pitchFamily="34" charset="0"/>
                <a:ea typeface="Calibri" panose="020F0502020204030204" pitchFamily="34" charset="0"/>
                <a:cs typeface="Calibri" panose="020F0502020204030204" pitchFamily="34" charset="0"/>
              </a:rPr>
              <a:t>Scree plots</a:t>
            </a:r>
          </a:p>
          <a:p>
            <a:pPr lvl="1"/>
            <a:r>
              <a:rPr lang="en-US" sz="1800" dirty="0">
                <a:latin typeface="Calibri" panose="020F0502020204030204" pitchFamily="34" charset="0"/>
                <a:ea typeface="Calibri" panose="020F0502020204030204" pitchFamily="34" charset="0"/>
                <a:cs typeface="Calibri" panose="020F0502020204030204" pitchFamily="34" charset="0"/>
              </a:rPr>
              <a:t>Kaiser’s rule (eigenvalues greater than one)</a:t>
            </a:r>
          </a:p>
          <a:p>
            <a:pPr lvl="1"/>
            <a:r>
              <a:rPr lang="en-US" sz="1800" dirty="0">
                <a:latin typeface="Calibri" panose="020F0502020204030204" pitchFamily="34" charset="0"/>
                <a:ea typeface="Calibri" panose="020F0502020204030204" pitchFamily="34" charset="0"/>
                <a:cs typeface="Calibri" panose="020F0502020204030204" pitchFamily="34" charset="0"/>
              </a:rPr>
              <a:t>Parallel analysis</a:t>
            </a:r>
          </a:p>
          <a:p>
            <a:pPr lvl="1"/>
            <a:r>
              <a:rPr lang="en-US" sz="1800" dirty="0">
                <a:latin typeface="Calibri" panose="020F0502020204030204" pitchFamily="34" charset="0"/>
                <a:ea typeface="Calibri" panose="020F0502020204030204" pitchFamily="34" charset="0"/>
                <a:cs typeface="Calibri" panose="020F0502020204030204" pitchFamily="34" charset="0"/>
              </a:rPr>
              <a:t>Number of variables per factor</a:t>
            </a:r>
          </a:p>
          <a:p>
            <a:pPr lvl="1"/>
            <a:r>
              <a:rPr lang="en-US" sz="1800" dirty="0">
                <a:latin typeface="Calibri" panose="020F0502020204030204" pitchFamily="34" charset="0"/>
                <a:ea typeface="Calibri" panose="020F0502020204030204" pitchFamily="34" charset="0"/>
                <a:cs typeface="Calibri" panose="020F0502020204030204" pitchFamily="34" charset="0"/>
              </a:rPr>
              <a:t>Heterogeneity of the respondents</a:t>
            </a:r>
          </a:p>
        </p:txBody>
      </p:sp>
    </p:spTree>
    <p:extLst>
      <p:ext uri="{BB962C8B-B14F-4D97-AF65-F5344CB8AC3E}">
        <p14:creationId xmlns:p14="http://schemas.microsoft.com/office/powerpoint/2010/main" val="3030063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ECAFC-401E-9783-F509-86159FE84954}"/>
              </a:ext>
            </a:extLst>
          </p:cNvPr>
          <p:cNvSpPr>
            <a:spLocks noGrp="1"/>
          </p:cNvSpPr>
          <p:nvPr>
            <p:ph type="title"/>
          </p:nvPr>
        </p:nvSpPr>
        <p:spPr>
          <a:xfrm>
            <a:off x="145473" y="168706"/>
            <a:ext cx="10515600" cy="512330"/>
          </a:xfrm>
        </p:spPr>
        <p:txBody>
          <a:bodyPr>
            <a:noAutofit/>
          </a:bodyPr>
          <a:lstStyle/>
          <a:p>
            <a:r>
              <a:rPr lang="en-US" sz="3600" dirty="0">
                <a:latin typeface="Calibri" panose="020F0502020204030204" pitchFamily="34" charset="0"/>
                <a:ea typeface="Calibri" panose="020F0502020204030204" pitchFamily="34" charset="0"/>
                <a:cs typeface="Calibri" panose="020F0502020204030204" pitchFamily="34" charset="0"/>
              </a:rPr>
              <a:t>A priori: </a:t>
            </a:r>
            <a:r>
              <a:rPr lang="en-US" sz="3600" i="1" u="sng" dirty="0">
                <a:latin typeface="Calibri" panose="020F0502020204030204" pitchFamily="34" charset="0"/>
                <a:ea typeface="Calibri" panose="020F0502020204030204" pitchFamily="34" charset="0"/>
                <a:cs typeface="Calibri" panose="020F0502020204030204" pitchFamily="34" charset="0"/>
              </a:rPr>
              <a:t>E</a:t>
            </a:r>
            <a:r>
              <a:rPr lang="en-US" sz="3600" dirty="0">
                <a:latin typeface="Calibri" panose="020F0502020204030204" pitchFamily="34" charset="0"/>
                <a:ea typeface="Calibri" panose="020F0502020204030204" pitchFamily="34" charset="0"/>
                <a:cs typeface="Calibri" panose="020F0502020204030204" pitchFamily="34" charset="0"/>
              </a:rPr>
              <a:t>FA v </a:t>
            </a:r>
            <a:r>
              <a:rPr lang="en-US" sz="3600" i="1" u="sng" dirty="0">
                <a:latin typeface="Calibri" panose="020F0502020204030204" pitchFamily="34" charset="0"/>
                <a:ea typeface="Calibri" panose="020F0502020204030204" pitchFamily="34" charset="0"/>
                <a:cs typeface="Calibri" panose="020F0502020204030204" pitchFamily="34" charset="0"/>
              </a:rPr>
              <a:t>C</a:t>
            </a:r>
            <a:r>
              <a:rPr lang="en-US" sz="3600" dirty="0">
                <a:latin typeface="Calibri" panose="020F0502020204030204" pitchFamily="34" charset="0"/>
                <a:ea typeface="Calibri" panose="020F0502020204030204" pitchFamily="34" charset="0"/>
                <a:cs typeface="Calibri" panose="020F0502020204030204" pitchFamily="34" charset="0"/>
              </a:rPr>
              <a:t>FA</a:t>
            </a:r>
          </a:p>
        </p:txBody>
      </p:sp>
      <p:graphicFrame>
        <p:nvGraphicFramePr>
          <p:cNvPr id="4" name="Content Placeholder 3">
            <a:extLst>
              <a:ext uri="{FF2B5EF4-FFF2-40B4-BE49-F238E27FC236}">
                <a16:creationId xmlns:a16="http://schemas.microsoft.com/office/drawing/2014/main" id="{5F573366-5079-BA3D-BA9A-5902A5305E9D}"/>
              </a:ext>
            </a:extLst>
          </p:cNvPr>
          <p:cNvGraphicFramePr>
            <a:graphicFrameLocks noGrp="1"/>
          </p:cNvGraphicFramePr>
          <p:nvPr>
            <p:ph idx="1"/>
            <p:extLst>
              <p:ext uri="{D42A27DB-BD31-4B8C-83A1-F6EECF244321}">
                <p14:modId xmlns:p14="http://schemas.microsoft.com/office/powerpoint/2010/main" val="2053648847"/>
              </p:ext>
            </p:extLst>
          </p:nvPr>
        </p:nvGraphicFramePr>
        <p:xfrm>
          <a:off x="404165" y="781916"/>
          <a:ext cx="11399907" cy="5135179"/>
        </p:xfrm>
        <a:graphic>
          <a:graphicData uri="http://schemas.openxmlformats.org/drawingml/2006/table">
            <a:tbl>
              <a:tblPr/>
              <a:tblGrid>
                <a:gridCol w="2736199">
                  <a:extLst>
                    <a:ext uri="{9D8B030D-6E8A-4147-A177-3AD203B41FA5}">
                      <a16:colId xmlns:a16="http://schemas.microsoft.com/office/drawing/2014/main" val="3537317512"/>
                    </a:ext>
                  </a:extLst>
                </a:gridCol>
                <a:gridCol w="4211781">
                  <a:extLst>
                    <a:ext uri="{9D8B030D-6E8A-4147-A177-3AD203B41FA5}">
                      <a16:colId xmlns:a16="http://schemas.microsoft.com/office/drawing/2014/main" val="336198028"/>
                    </a:ext>
                  </a:extLst>
                </a:gridCol>
                <a:gridCol w="4451927">
                  <a:extLst>
                    <a:ext uri="{9D8B030D-6E8A-4147-A177-3AD203B41FA5}">
                      <a16:colId xmlns:a16="http://schemas.microsoft.com/office/drawing/2014/main" val="2601236934"/>
                    </a:ext>
                  </a:extLst>
                </a:gridCol>
              </a:tblGrid>
              <a:tr h="594302">
                <a:tc>
                  <a:txBody>
                    <a:bodyPr/>
                    <a:lstStyle/>
                    <a:p>
                      <a:endParaRPr lang="en-US" sz="1800" dirty="0">
                        <a:latin typeface="Calibri" panose="020F0502020204030204" pitchFamily="34" charset="0"/>
                        <a:ea typeface="Calibri" panose="020F0502020204030204" pitchFamily="34" charset="0"/>
                        <a:cs typeface="Calibri" panose="020F0502020204030204" pitchFamily="34" charset="0"/>
                      </a:endParaRPr>
                    </a:p>
                  </a:txBody>
                  <a:tcPr marL="76339" marR="76339" marT="38170" marB="38170" anchor="ctr">
                    <a:lnL>
                      <a:noFill/>
                    </a:lnL>
                    <a:lnR>
                      <a:noFill/>
                    </a:lnR>
                    <a:lnT>
                      <a:noFill/>
                    </a:lnT>
                    <a:lnB>
                      <a:noFill/>
                    </a:lnB>
                    <a:noFill/>
                  </a:tcPr>
                </a:tc>
                <a:tc>
                  <a:txBody>
                    <a:bodyPr/>
                    <a:lstStyle/>
                    <a:p>
                      <a:r>
                        <a:rPr lang="en-US" sz="1800" b="1" dirty="0">
                          <a:latin typeface="Calibri" panose="020F0502020204030204" pitchFamily="34" charset="0"/>
                          <a:ea typeface="Calibri" panose="020F0502020204030204" pitchFamily="34" charset="0"/>
                          <a:cs typeface="Calibri" panose="020F0502020204030204" pitchFamily="34" charset="0"/>
                        </a:rPr>
                        <a:t>EFA (Exploratory Factor Analysis)</a:t>
                      </a:r>
                      <a:endParaRPr lang="en-US" sz="1800" dirty="0">
                        <a:latin typeface="Calibri" panose="020F0502020204030204" pitchFamily="34" charset="0"/>
                        <a:ea typeface="Calibri" panose="020F0502020204030204" pitchFamily="34" charset="0"/>
                        <a:cs typeface="Calibri" panose="020F0502020204030204" pitchFamily="34" charset="0"/>
                      </a:endParaRPr>
                    </a:p>
                  </a:txBody>
                  <a:tcPr marL="76339" marR="76339" marT="38170" marB="38170" anchor="ctr">
                    <a:lnL>
                      <a:noFill/>
                    </a:lnL>
                    <a:lnR>
                      <a:noFill/>
                    </a:lnR>
                    <a:lnT>
                      <a:noFill/>
                    </a:lnT>
                    <a:lnB>
                      <a:noFill/>
                    </a:lnB>
                    <a:noFill/>
                  </a:tcPr>
                </a:tc>
                <a:tc>
                  <a:txBody>
                    <a:bodyPr/>
                    <a:lstStyle/>
                    <a:p>
                      <a:r>
                        <a:rPr lang="en-US" sz="1800" b="1">
                          <a:latin typeface="Calibri" panose="020F0502020204030204" pitchFamily="34" charset="0"/>
                          <a:ea typeface="Calibri" panose="020F0502020204030204" pitchFamily="34" charset="0"/>
                          <a:cs typeface="Calibri" panose="020F0502020204030204" pitchFamily="34" charset="0"/>
                        </a:rPr>
                        <a:t>CFA (Confirmatory Factor Analysis)</a:t>
                      </a:r>
                      <a:endParaRPr lang="en-US" sz="1800">
                        <a:latin typeface="Calibri" panose="020F0502020204030204" pitchFamily="34" charset="0"/>
                        <a:ea typeface="Calibri" panose="020F0502020204030204" pitchFamily="34" charset="0"/>
                        <a:cs typeface="Calibri" panose="020F0502020204030204" pitchFamily="34" charset="0"/>
                      </a:endParaRPr>
                    </a:p>
                  </a:txBody>
                  <a:tcPr marL="76339" marR="76339" marT="38170" marB="38170" anchor="ctr">
                    <a:lnL>
                      <a:noFill/>
                    </a:lnL>
                    <a:lnR>
                      <a:noFill/>
                    </a:lnR>
                    <a:lnT>
                      <a:noFill/>
                    </a:lnT>
                    <a:lnB>
                      <a:noFill/>
                    </a:lnB>
                    <a:noFill/>
                  </a:tcPr>
                </a:tc>
                <a:extLst>
                  <a:ext uri="{0D108BD9-81ED-4DB2-BD59-A6C34878D82A}">
                    <a16:rowId xmlns:a16="http://schemas.microsoft.com/office/drawing/2014/main" val="2385620201"/>
                  </a:ext>
                </a:extLst>
              </a:tr>
              <a:tr h="534375">
                <a:tc>
                  <a:txBody>
                    <a:bodyPr/>
                    <a:lstStyle/>
                    <a:p>
                      <a:r>
                        <a:rPr lang="en-US" sz="1800" b="1" dirty="0">
                          <a:latin typeface="Calibri" panose="020F0502020204030204" pitchFamily="34" charset="0"/>
                          <a:ea typeface="Calibri" panose="020F0502020204030204" pitchFamily="34" charset="0"/>
                          <a:cs typeface="Calibri" panose="020F0502020204030204" pitchFamily="34" charset="0"/>
                        </a:rPr>
                        <a:t>Purpose</a:t>
                      </a:r>
                      <a:endParaRPr lang="en-US" sz="1800" dirty="0">
                        <a:latin typeface="Calibri" panose="020F0502020204030204" pitchFamily="34" charset="0"/>
                        <a:ea typeface="Calibri" panose="020F0502020204030204" pitchFamily="34" charset="0"/>
                        <a:cs typeface="Calibri" panose="020F0502020204030204" pitchFamily="34" charset="0"/>
                      </a:endParaRPr>
                    </a:p>
                  </a:txBody>
                  <a:tcPr marL="76339" marR="76339" marT="38170" marB="38170" anchor="ctr">
                    <a:lnL>
                      <a:noFill/>
                    </a:lnL>
                    <a:lnR>
                      <a:noFill/>
                    </a:lnR>
                    <a:lnT>
                      <a:noFill/>
                    </a:lnT>
                    <a:lnB>
                      <a:noFill/>
                    </a:lnB>
                    <a:noFill/>
                  </a:tcPr>
                </a:tc>
                <a:tc>
                  <a:txBody>
                    <a:bodyPr/>
                    <a:lstStyle/>
                    <a:p>
                      <a:r>
                        <a:rPr lang="en-US" sz="1800" b="1" dirty="0">
                          <a:latin typeface="Calibri" panose="020F0502020204030204" pitchFamily="34" charset="0"/>
                          <a:ea typeface="Calibri" panose="020F0502020204030204" pitchFamily="34" charset="0"/>
                          <a:cs typeface="Calibri" panose="020F0502020204030204" pitchFamily="34" charset="0"/>
                        </a:rPr>
                        <a:t>Discover</a:t>
                      </a:r>
                      <a:r>
                        <a:rPr lang="en-US" sz="1800" dirty="0">
                          <a:latin typeface="Calibri" panose="020F0502020204030204" pitchFamily="34" charset="0"/>
                          <a:ea typeface="Calibri" panose="020F0502020204030204" pitchFamily="34" charset="0"/>
                          <a:cs typeface="Calibri" panose="020F0502020204030204" pitchFamily="34" charset="0"/>
                        </a:rPr>
                        <a:t> underlying structure</a:t>
                      </a:r>
                    </a:p>
                  </a:txBody>
                  <a:tcPr marL="76339" marR="76339" marT="38170" marB="38170" anchor="ctr">
                    <a:lnL>
                      <a:noFill/>
                    </a:lnL>
                    <a:lnR>
                      <a:noFill/>
                    </a:lnR>
                    <a:lnT>
                      <a:noFill/>
                    </a:lnT>
                    <a:lnB>
                      <a:noFill/>
                    </a:lnB>
                    <a:noFill/>
                  </a:tcPr>
                </a:tc>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Test a </a:t>
                      </a:r>
                      <a:r>
                        <a:rPr lang="en-US" sz="1800" b="1" dirty="0">
                          <a:latin typeface="Calibri" panose="020F0502020204030204" pitchFamily="34" charset="0"/>
                          <a:ea typeface="Calibri" panose="020F0502020204030204" pitchFamily="34" charset="0"/>
                          <a:cs typeface="Calibri" panose="020F0502020204030204" pitchFamily="34" charset="0"/>
                        </a:rPr>
                        <a:t>pre-specified</a:t>
                      </a:r>
                      <a:r>
                        <a:rPr lang="en-US" sz="1800" dirty="0">
                          <a:latin typeface="Calibri" panose="020F0502020204030204" pitchFamily="34" charset="0"/>
                          <a:ea typeface="Calibri" panose="020F0502020204030204" pitchFamily="34" charset="0"/>
                          <a:cs typeface="Calibri" panose="020F0502020204030204" pitchFamily="34" charset="0"/>
                        </a:rPr>
                        <a:t> factor structure</a:t>
                      </a:r>
                    </a:p>
                  </a:txBody>
                  <a:tcPr marL="76339" marR="76339" marT="38170" marB="38170" anchor="ctr">
                    <a:lnL>
                      <a:noFill/>
                    </a:lnL>
                    <a:lnR>
                      <a:noFill/>
                    </a:lnR>
                    <a:lnT>
                      <a:noFill/>
                    </a:lnT>
                    <a:lnB>
                      <a:noFill/>
                    </a:lnB>
                    <a:noFill/>
                  </a:tcPr>
                </a:tc>
                <a:extLst>
                  <a:ext uri="{0D108BD9-81ED-4DB2-BD59-A6C34878D82A}">
                    <a16:rowId xmlns:a16="http://schemas.microsoft.com/office/drawing/2014/main" val="1700596998"/>
                  </a:ext>
                </a:extLst>
              </a:tr>
              <a:tr h="534375">
                <a:tc>
                  <a:txBody>
                    <a:bodyPr/>
                    <a:lstStyle/>
                    <a:p>
                      <a:r>
                        <a:rPr lang="en-US" sz="1800" b="1">
                          <a:latin typeface="Calibri" panose="020F0502020204030204" pitchFamily="34" charset="0"/>
                          <a:ea typeface="Calibri" panose="020F0502020204030204" pitchFamily="34" charset="0"/>
                          <a:cs typeface="Calibri" panose="020F0502020204030204" pitchFamily="34" charset="0"/>
                        </a:rPr>
                        <a:t>When to Use</a:t>
                      </a:r>
                      <a:endParaRPr lang="en-US" sz="1800">
                        <a:latin typeface="Calibri" panose="020F0502020204030204" pitchFamily="34" charset="0"/>
                        <a:ea typeface="Calibri" panose="020F0502020204030204" pitchFamily="34" charset="0"/>
                        <a:cs typeface="Calibri" panose="020F0502020204030204" pitchFamily="34" charset="0"/>
                      </a:endParaRPr>
                    </a:p>
                  </a:txBody>
                  <a:tcPr marL="76339" marR="76339" marT="38170" marB="38170" anchor="ctr">
                    <a:lnL>
                      <a:noFill/>
                    </a:lnL>
                    <a:lnR>
                      <a:noFill/>
                    </a:lnR>
                    <a:lnT>
                      <a:noFill/>
                    </a:lnT>
                    <a:lnB>
                      <a:noFill/>
                    </a:lnB>
                    <a:noFill/>
                  </a:tcPr>
                </a:tc>
                <a:tc>
                  <a:txBody>
                    <a:bodyPr/>
                    <a:lstStyle/>
                    <a:p>
                      <a:r>
                        <a:rPr lang="en-US" sz="1800" b="1" dirty="0">
                          <a:latin typeface="Calibri" panose="020F0502020204030204" pitchFamily="34" charset="0"/>
                          <a:ea typeface="Calibri" panose="020F0502020204030204" pitchFamily="34" charset="0"/>
                          <a:cs typeface="Calibri" panose="020F0502020204030204" pitchFamily="34" charset="0"/>
                        </a:rPr>
                        <a:t>New</a:t>
                      </a:r>
                      <a:r>
                        <a:rPr lang="en-US" sz="1800" dirty="0">
                          <a:latin typeface="Calibri" panose="020F0502020204030204" pitchFamily="34" charset="0"/>
                          <a:ea typeface="Calibri" panose="020F0502020204030204" pitchFamily="34" charset="0"/>
                          <a:cs typeface="Calibri" panose="020F0502020204030204" pitchFamily="34" charset="0"/>
                        </a:rPr>
                        <a:t> scale development or unclear structure</a:t>
                      </a:r>
                    </a:p>
                  </a:txBody>
                  <a:tcPr marL="76339" marR="76339" marT="38170" marB="38170" anchor="ctr">
                    <a:lnL>
                      <a:noFill/>
                    </a:lnL>
                    <a:lnR>
                      <a:noFill/>
                    </a:lnR>
                    <a:lnT>
                      <a:noFill/>
                    </a:lnT>
                    <a:lnB>
                      <a:noFill/>
                    </a:lnB>
                    <a:noFill/>
                  </a:tcPr>
                </a:tc>
                <a:tc>
                  <a:txBody>
                    <a:bodyPr/>
                    <a:lstStyle/>
                    <a:p>
                      <a:r>
                        <a:rPr lang="en-US" sz="1800" b="1" dirty="0">
                          <a:latin typeface="Calibri" panose="020F0502020204030204" pitchFamily="34" charset="0"/>
                          <a:ea typeface="Calibri" panose="020F0502020204030204" pitchFamily="34" charset="0"/>
                          <a:cs typeface="Calibri" panose="020F0502020204030204" pitchFamily="34" charset="0"/>
                        </a:rPr>
                        <a:t>Validated</a:t>
                      </a:r>
                      <a:r>
                        <a:rPr lang="en-US" sz="1800" dirty="0">
                          <a:latin typeface="Calibri" panose="020F0502020204030204" pitchFamily="34" charset="0"/>
                          <a:ea typeface="Calibri" panose="020F0502020204030204" pitchFamily="34" charset="0"/>
                          <a:cs typeface="Calibri" panose="020F0502020204030204" pitchFamily="34" charset="0"/>
                        </a:rPr>
                        <a:t> constructs, theory-driven hypotheses</a:t>
                      </a:r>
                    </a:p>
                  </a:txBody>
                  <a:tcPr marL="76339" marR="76339" marT="38170" marB="38170" anchor="ctr">
                    <a:lnL>
                      <a:noFill/>
                    </a:lnL>
                    <a:lnR>
                      <a:noFill/>
                    </a:lnR>
                    <a:lnT>
                      <a:noFill/>
                    </a:lnT>
                    <a:lnB>
                      <a:noFill/>
                    </a:lnB>
                    <a:noFill/>
                  </a:tcPr>
                </a:tc>
                <a:extLst>
                  <a:ext uri="{0D108BD9-81ED-4DB2-BD59-A6C34878D82A}">
                    <a16:rowId xmlns:a16="http://schemas.microsoft.com/office/drawing/2014/main" val="1003928420"/>
                  </a:ext>
                </a:extLst>
              </a:tr>
              <a:tr h="534375">
                <a:tc>
                  <a:txBody>
                    <a:bodyPr/>
                    <a:lstStyle/>
                    <a:p>
                      <a:r>
                        <a:rPr lang="en-US" sz="1800" b="1">
                          <a:latin typeface="Calibri" panose="020F0502020204030204" pitchFamily="34" charset="0"/>
                          <a:ea typeface="Calibri" panose="020F0502020204030204" pitchFamily="34" charset="0"/>
                          <a:cs typeface="Calibri" panose="020F0502020204030204" pitchFamily="34" charset="0"/>
                        </a:rPr>
                        <a:t>Model Specification</a:t>
                      </a:r>
                      <a:endParaRPr lang="en-US" sz="1800">
                        <a:latin typeface="Calibri" panose="020F0502020204030204" pitchFamily="34" charset="0"/>
                        <a:ea typeface="Calibri" panose="020F0502020204030204" pitchFamily="34" charset="0"/>
                        <a:cs typeface="Calibri" panose="020F0502020204030204" pitchFamily="34" charset="0"/>
                      </a:endParaRPr>
                    </a:p>
                  </a:txBody>
                  <a:tcPr marL="76339" marR="76339" marT="38170" marB="38170" anchor="ctr">
                    <a:lnL>
                      <a:noFill/>
                    </a:lnL>
                    <a:lnR>
                      <a:noFill/>
                    </a:lnR>
                    <a:lnT>
                      <a:noFill/>
                    </a:lnT>
                    <a:lnB>
                      <a:noFill/>
                    </a:lnB>
                    <a:noFill/>
                  </a:tcPr>
                </a:tc>
                <a:tc>
                  <a:txBody>
                    <a:bodyPr/>
                    <a:lstStyle/>
                    <a:p>
                      <a:r>
                        <a:rPr lang="en-US" sz="1800" b="1" dirty="0">
                          <a:latin typeface="Calibri" panose="020F0502020204030204" pitchFamily="34" charset="0"/>
                          <a:ea typeface="Calibri" panose="020F0502020204030204" pitchFamily="34" charset="0"/>
                          <a:cs typeface="Calibri" panose="020F0502020204030204" pitchFamily="34" charset="0"/>
                        </a:rPr>
                        <a:t>No assumptions </a:t>
                      </a:r>
                      <a:r>
                        <a:rPr lang="en-US" sz="1800" dirty="0">
                          <a:latin typeface="Calibri" panose="020F0502020204030204" pitchFamily="34" charset="0"/>
                          <a:ea typeface="Calibri" panose="020F0502020204030204" pitchFamily="34" charset="0"/>
                          <a:cs typeface="Calibri" panose="020F0502020204030204" pitchFamily="34" charset="0"/>
                        </a:rPr>
                        <a:t>about number or grouping of factors</a:t>
                      </a:r>
                    </a:p>
                  </a:txBody>
                  <a:tcPr marL="76339" marR="76339" marT="38170" marB="38170" anchor="ctr">
                    <a:lnL>
                      <a:noFill/>
                    </a:lnL>
                    <a:lnR>
                      <a:noFill/>
                    </a:lnR>
                    <a:lnT>
                      <a:noFill/>
                    </a:lnT>
                    <a:lnB>
                      <a:noFill/>
                    </a:lnB>
                    <a:noFill/>
                  </a:tcPr>
                </a:tc>
                <a:tc>
                  <a:txBody>
                    <a:bodyPr/>
                    <a:lstStyle/>
                    <a:p>
                      <a:r>
                        <a:rPr lang="en-US" sz="1800" b="1" dirty="0">
                          <a:latin typeface="Calibri" panose="020F0502020204030204" pitchFamily="34" charset="0"/>
                          <a:ea typeface="Calibri" panose="020F0502020204030204" pitchFamily="34" charset="0"/>
                          <a:cs typeface="Calibri" panose="020F0502020204030204" pitchFamily="34" charset="0"/>
                        </a:rPr>
                        <a:t>User defines number </a:t>
                      </a:r>
                      <a:r>
                        <a:rPr lang="en-US" sz="1800" dirty="0">
                          <a:latin typeface="Calibri" panose="020F0502020204030204" pitchFamily="34" charset="0"/>
                          <a:ea typeface="Calibri" panose="020F0502020204030204" pitchFamily="34" charset="0"/>
                          <a:cs typeface="Calibri" panose="020F0502020204030204" pitchFamily="34" charset="0"/>
                        </a:rPr>
                        <a:t>of factors and item-factor relationships</a:t>
                      </a:r>
                    </a:p>
                  </a:txBody>
                  <a:tcPr marL="76339" marR="76339" marT="38170" marB="38170" anchor="ctr">
                    <a:lnL>
                      <a:noFill/>
                    </a:lnL>
                    <a:lnR>
                      <a:noFill/>
                    </a:lnR>
                    <a:lnT>
                      <a:noFill/>
                    </a:lnT>
                    <a:lnB>
                      <a:noFill/>
                    </a:lnB>
                    <a:noFill/>
                  </a:tcPr>
                </a:tc>
                <a:extLst>
                  <a:ext uri="{0D108BD9-81ED-4DB2-BD59-A6C34878D82A}">
                    <a16:rowId xmlns:a16="http://schemas.microsoft.com/office/drawing/2014/main" val="3045458082"/>
                  </a:ext>
                </a:extLst>
              </a:tr>
              <a:tr h="534375">
                <a:tc>
                  <a:txBody>
                    <a:bodyPr/>
                    <a:lstStyle/>
                    <a:p>
                      <a:r>
                        <a:rPr lang="en-US" sz="1800" b="1">
                          <a:latin typeface="Calibri" panose="020F0502020204030204" pitchFamily="34" charset="0"/>
                          <a:ea typeface="Calibri" panose="020F0502020204030204" pitchFamily="34" charset="0"/>
                          <a:cs typeface="Calibri" panose="020F0502020204030204" pitchFamily="34" charset="0"/>
                        </a:rPr>
                        <a:t>Loadings</a:t>
                      </a:r>
                      <a:endParaRPr lang="en-US" sz="1800">
                        <a:latin typeface="Calibri" panose="020F0502020204030204" pitchFamily="34" charset="0"/>
                        <a:ea typeface="Calibri" panose="020F0502020204030204" pitchFamily="34" charset="0"/>
                        <a:cs typeface="Calibri" panose="020F0502020204030204" pitchFamily="34" charset="0"/>
                      </a:endParaRPr>
                    </a:p>
                  </a:txBody>
                  <a:tcPr marL="76339" marR="76339" marT="38170" marB="38170" anchor="ctr">
                    <a:lnL>
                      <a:noFill/>
                    </a:lnL>
                    <a:lnR>
                      <a:noFill/>
                    </a:lnR>
                    <a:lnT>
                      <a:noFill/>
                    </a:lnT>
                    <a:lnB>
                      <a:noFill/>
                    </a:lnB>
                    <a:noFill/>
                  </a:tcPr>
                </a:tc>
                <a:tc>
                  <a:txBody>
                    <a:bodyPr/>
                    <a:lstStyle/>
                    <a:p>
                      <a:r>
                        <a:rPr lang="en-US" sz="1800">
                          <a:latin typeface="Calibri" panose="020F0502020204030204" pitchFamily="34" charset="0"/>
                          <a:ea typeface="Calibri" panose="020F0502020204030204" pitchFamily="34" charset="0"/>
                          <a:cs typeface="Calibri" panose="020F0502020204030204" pitchFamily="34" charset="0"/>
                        </a:rPr>
                        <a:t>All variables can load on all factors</a:t>
                      </a:r>
                    </a:p>
                  </a:txBody>
                  <a:tcPr marL="76339" marR="76339" marT="38170" marB="38170" anchor="ctr">
                    <a:lnL>
                      <a:noFill/>
                    </a:lnL>
                    <a:lnR>
                      <a:noFill/>
                    </a:lnR>
                    <a:lnT>
                      <a:noFill/>
                    </a:lnT>
                    <a:lnB>
                      <a:noFill/>
                    </a:lnB>
                    <a:noFill/>
                  </a:tcPr>
                </a:tc>
                <a:tc>
                  <a:txBody>
                    <a:bodyPr/>
                    <a:lstStyle/>
                    <a:p>
                      <a:r>
                        <a:rPr lang="en-US" sz="1800" b="1" dirty="0">
                          <a:latin typeface="Calibri" panose="020F0502020204030204" pitchFamily="34" charset="0"/>
                          <a:ea typeface="Calibri" panose="020F0502020204030204" pitchFamily="34" charset="0"/>
                          <a:cs typeface="Calibri" panose="020F0502020204030204" pitchFamily="34" charset="0"/>
                        </a:rPr>
                        <a:t>Loadings are restricted </a:t>
                      </a:r>
                      <a:r>
                        <a:rPr lang="en-US" sz="1800" dirty="0">
                          <a:latin typeface="Calibri" panose="020F0502020204030204" pitchFamily="34" charset="0"/>
                          <a:ea typeface="Calibri" panose="020F0502020204030204" pitchFamily="34" charset="0"/>
                          <a:cs typeface="Calibri" panose="020F0502020204030204" pitchFamily="34" charset="0"/>
                        </a:rPr>
                        <a:t>based on the hypothesized model</a:t>
                      </a:r>
                    </a:p>
                  </a:txBody>
                  <a:tcPr marL="76339" marR="76339" marT="38170" marB="38170" anchor="ctr">
                    <a:lnL>
                      <a:noFill/>
                    </a:lnL>
                    <a:lnR>
                      <a:noFill/>
                    </a:lnR>
                    <a:lnT>
                      <a:noFill/>
                    </a:lnT>
                    <a:lnB>
                      <a:noFill/>
                    </a:lnB>
                    <a:noFill/>
                  </a:tcPr>
                </a:tc>
                <a:extLst>
                  <a:ext uri="{0D108BD9-81ED-4DB2-BD59-A6C34878D82A}">
                    <a16:rowId xmlns:a16="http://schemas.microsoft.com/office/drawing/2014/main" val="4041222797"/>
                  </a:ext>
                </a:extLst>
              </a:tr>
              <a:tr h="534375">
                <a:tc>
                  <a:txBody>
                    <a:bodyPr/>
                    <a:lstStyle/>
                    <a:p>
                      <a:r>
                        <a:rPr lang="en-US" sz="1800" b="1">
                          <a:latin typeface="Calibri" panose="020F0502020204030204" pitchFamily="34" charset="0"/>
                          <a:ea typeface="Calibri" panose="020F0502020204030204" pitchFamily="34" charset="0"/>
                          <a:cs typeface="Calibri" panose="020F0502020204030204" pitchFamily="34" charset="0"/>
                        </a:rPr>
                        <a:t>Goal</a:t>
                      </a:r>
                      <a:endParaRPr lang="en-US" sz="1800">
                        <a:latin typeface="Calibri" panose="020F0502020204030204" pitchFamily="34" charset="0"/>
                        <a:ea typeface="Calibri" panose="020F0502020204030204" pitchFamily="34" charset="0"/>
                        <a:cs typeface="Calibri" panose="020F0502020204030204" pitchFamily="34" charset="0"/>
                      </a:endParaRPr>
                    </a:p>
                  </a:txBody>
                  <a:tcPr marL="76339" marR="76339" marT="38170" marB="38170" anchor="ctr">
                    <a:lnL>
                      <a:noFill/>
                    </a:lnL>
                    <a:lnR>
                      <a:noFill/>
                    </a:lnR>
                    <a:lnT>
                      <a:noFill/>
                    </a:lnT>
                    <a:lnB>
                      <a:noFill/>
                    </a:lnB>
                    <a:noFill/>
                  </a:tcPr>
                </a:tc>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Identify how many factors and what items belong together</a:t>
                      </a:r>
                    </a:p>
                  </a:txBody>
                  <a:tcPr marL="76339" marR="76339" marT="38170" marB="38170" anchor="ctr">
                    <a:lnL>
                      <a:noFill/>
                    </a:lnL>
                    <a:lnR>
                      <a:noFill/>
                    </a:lnR>
                    <a:lnT>
                      <a:noFill/>
                    </a:lnT>
                    <a:lnB>
                      <a:noFill/>
                    </a:lnB>
                    <a:noFill/>
                  </a:tcPr>
                </a:tc>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Assess model fit and confirm the structure</a:t>
                      </a:r>
                    </a:p>
                  </a:txBody>
                  <a:tcPr marL="76339" marR="76339" marT="38170" marB="38170" anchor="ctr">
                    <a:lnL>
                      <a:noFill/>
                    </a:lnL>
                    <a:lnR>
                      <a:noFill/>
                    </a:lnR>
                    <a:lnT>
                      <a:noFill/>
                    </a:lnT>
                    <a:lnB>
                      <a:noFill/>
                    </a:lnB>
                    <a:noFill/>
                  </a:tcPr>
                </a:tc>
                <a:extLst>
                  <a:ext uri="{0D108BD9-81ED-4DB2-BD59-A6C34878D82A}">
                    <a16:rowId xmlns:a16="http://schemas.microsoft.com/office/drawing/2014/main" val="2145700472"/>
                  </a:ext>
                </a:extLst>
              </a:tr>
              <a:tr h="530942">
                <a:tc>
                  <a:txBody>
                    <a:bodyPr/>
                    <a:lstStyle/>
                    <a:p>
                      <a:r>
                        <a:rPr lang="en-US" sz="1800" b="1">
                          <a:latin typeface="Calibri" panose="020F0502020204030204" pitchFamily="34" charset="0"/>
                          <a:ea typeface="Calibri" panose="020F0502020204030204" pitchFamily="34" charset="0"/>
                          <a:cs typeface="Calibri" panose="020F0502020204030204" pitchFamily="34" charset="0"/>
                        </a:rPr>
                        <a:t>Statistical Fit Indices</a:t>
                      </a:r>
                      <a:endParaRPr lang="en-US" sz="1800">
                        <a:latin typeface="Calibri" panose="020F0502020204030204" pitchFamily="34" charset="0"/>
                        <a:ea typeface="Calibri" panose="020F0502020204030204" pitchFamily="34" charset="0"/>
                        <a:cs typeface="Calibri" panose="020F0502020204030204" pitchFamily="34" charset="0"/>
                      </a:endParaRPr>
                    </a:p>
                  </a:txBody>
                  <a:tcPr marL="76339" marR="76339" marT="38170" marB="38170" anchor="ctr">
                    <a:lnL>
                      <a:noFill/>
                    </a:lnL>
                    <a:lnR>
                      <a:noFill/>
                    </a:lnR>
                    <a:lnT>
                      <a:noFill/>
                    </a:lnT>
                    <a:lnB>
                      <a:noFill/>
                    </a:lnB>
                    <a:noFill/>
                  </a:tcPr>
                </a:tc>
                <a:tc>
                  <a:txBody>
                    <a:bodyPr/>
                    <a:lstStyle/>
                    <a:p>
                      <a:r>
                        <a:rPr lang="en-US" sz="1800">
                          <a:latin typeface="Calibri" panose="020F0502020204030204" pitchFamily="34" charset="0"/>
                          <a:ea typeface="Calibri" panose="020F0502020204030204" pitchFamily="34" charset="0"/>
                          <a:cs typeface="Calibri" panose="020F0502020204030204" pitchFamily="34" charset="0"/>
                        </a:rPr>
                        <a:t>Not a focus</a:t>
                      </a:r>
                    </a:p>
                  </a:txBody>
                  <a:tcPr marL="76339" marR="76339" marT="38170" marB="38170" anchor="ctr">
                    <a:lnL>
                      <a:noFill/>
                    </a:lnL>
                    <a:lnR>
                      <a:noFill/>
                    </a:lnR>
                    <a:lnT>
                      <a:noFill/>
                    </a:lnT>
                    <a:lnB>
                      <a:noFill/>
                    </a:lnB>
                    <a:noFill/>
                  </a:tcPr>
                </a:tc>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Central (e.g., RMSEA, CFI, TLI, </a:t>
                      </a:r>
                      <a:r>
                        <a:rPr lang="el-GR" sz="1800" dirty="0">
                          <a:latin typeface="Calibri" panose="020F0502020204030204" pitchFamily="34" charset="0"/>
                          <a:ea typeface="Calibri" panose="020F0502020204030204" pitchFamily="34" charset="0"/>
                          <a:cs typeface="Calibri" panose="020F0502020204030204" pitchFamily="34" charset="0"/>
                        </a:rPr>
                        <a:t>χ²)</a:t>
                      </a:r>
                    </a:p>
                  </a:txBody>
                  <a:tcPr marL="76339" marR="76339" marT="38170" marB="38170" anchor="ctr">
                    <a:lnL>
                      <a:noFill/>
                    </a:lnL>
                    <a:lnR>
                      <a:noFill/>
                    </a:lnR>
                    <a:lnT>
                      <a:noFill/>
                    </a:lnT>
                    <a:lnB>
                      <a:noFill/>
                    </a:lnB>
                    <a:noFill/>
                  </a:tcPr>
                </a:tc>
                <a:extLst>
                  <a:ext uri="{0D108BD9-81ED-4DB2-BD59-A6C34878D82A}">
                    <a16:rowId xmlns:a16="http://schemas.microsoft.com/office/drawing/2014/main" val="2019196347"/>
                  </a:ext>
                </a:extLst>
              </a:tr>
              <a:tr h="305357">
                <a:tc>
                  <a:txBody>
                    <a:bodyPr/>
                    <a:lstStyle/>
                    <a:p>
                      <a:r>
                        <a:rPr lang="en-US" sz="1800" b="1">
                          <a:latin typeface="Calibri" panose="020F0502020204030204" pitchFamily="34" charset="0"/>
                          <a:ea typeface="Calibri" panose="020F0502020204030204" pitchFamily="34" charset="0"/>
                          <a:cs typeface="Calibri" panose="020F0502020204030204" pitchFamily="34" charset="0"/>
                        </a:rPr>
                        <a:t>Flexibility</a:t>
                      </a:r>
                      <a:endParaRPr lang="en-US" sz="1800">
                        <a:latin typeface="Calibri" panose="020F0502020204030204" pitchFamily="34" charset="0"/>
                        <a:ea typeface="Calibri" panose="020F0502020204030204" pitchFamily="34" charset="0"/>
                        <a:cs typeface="Calibri" panose="020F0502020204030204" pitchFamily="34" charset="0"/>
                      </a:endParaRPr>
                    </a:p>
                  </a:txBody>
                  <a:tcPr marL="76339" marR="76339" marT="38170" marB="38170" anchor="ctr">
                    <a:lnL>
                      <a:noFill/>
                    </a:lnL>
                    <a:lnR>
                      <a:noFill/>
                    </a:lnR>
                    <a:lnT>
                      <a:noFill/>
                    </a:lnT>
                    <a:lnB>
                      <a:noFill/>
                    </a:lnB>
                    <a:noFill/>
                  </a:tcPr>
                </a:tc>
                <a:tc>
                  <a:txBody>
                    <a:bodyPr/>
                    <a:lstStyle/>
                    <a:p>
                      <a:r>
                        <a:rPr lang="en-US" sz="1800">
                          <a:latin typeface="Calibri" panose="020F0502020204030204" pitchFamily="34" charset="0"/>
                          <a:ea typeface="Calibri" panose="020F0502020204030204" pitchFamily="34" charset="0"/>
                          <a:cs typeface="Calibri" panose="020F0502020204030204" pitchFamily="34" charset="0"/>
                        </a:rPr>
                        <a:t>High — lets the data “speak”</a:t>
                      </a:r>
                    </a:p>
                  </a:txBody>
                  <a:tcPr marL="76339" marR="76339" marT="38170" marB="38170" anchor="ctr">
                    <a:lnL>
                      <a:noFill/>
                    </a:lnL>
                    <a:lnR>
                      <a:noFill/>
                    </a:lnR>
                    <a:lnT>
                      <a:noFill/>
                    </a:lnT>
                    <a:lnB>
                      <a:noFill/>
                    </a:lnB>
                    <a:noFill/>
                  </a:tcPr>
                </a:tc>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Low — strict model testing</a:t>
                      </a:r>
                    </a:p>
                  </a:txBody>
                  <a:tcPr marL="76339" marR="76339" marT="38170" marB="38170" anchor="ctr">
                    <a:lnL>
                      <a:noFill/>
                    </a:lnL>
                    <a:lnR>
                      <a:noFill/>
                    </a:lnR>
                    <a:lnT>
                      <a:noFill/>
                    </a:lnT>
                    <a:lnB>
                      <a:noFill/>
                    </a:lnB>
                    <a:noFill/>
                  </a:tcPr>
                </a:tc>
                <a:extLst>
                  <a:ext uri="{0D108BD9-81ED-4DB2-BD59-A6C34878D82A}">
                    <a16:rowId xmlns:a16="http://schemas.microsoft.com/office/drawing/2014/main" val="384968553"/>
                  </a:ext>
                </a:extLst>
              </a:tr>
              <a:tr h="534375">
                <a:tc>
                  <a:txBody>
                    <a:bodyPr/>
                    <a:lstStyle/>
                    <a:p>
                      <a:r>
                        <a:rPr lang="en-US" sz="1800" b="1">
                          <a:latin typeface="Calibri" panose="020F0502020204030204" pitchFamily="34" charset="0"/>
                          <a:ea typeface="Calibri" panose="020F0502020204030204" pitchFamily="34" charset="0"/>
                          <a:cs typeface="Calibri" panose="020F0502020204030204" pitchFamily="34" charset="0"/>
                        </a:rPr>
                        <a:t>Use Case Example</a:t>
                      </a:r>
                      <a:endParaRPr lang="en-US" sz="1800">
                        <a:latin typeface="Calibri" panose="020F0502020204030204" pitchFamily="34" charset="0"/>
                        <a:ea typeface="Calibri" panose="020F0502020204030204" pitchFamily="34" charset="0"/>
                        <a:cs typeface="Calibri" panose="020F0502020204030204" pitchFamily="34" charset="0"/>
                      </a:endParaRPr>
                    </a:p>
                  </a:txBody>
                  <a:tcPr marL="76339" marR="76339" marT="38170" marB="38170" anchor="ctr">
                    <a:lnL>
                      <a:noFill/>
                    </a:lnL>
                    <a:lnR>
                      <a:noFill/>
                    </a:lnR>
                    <a:lnT>
                      <a:noFill/>
                    </a:lnT>
                    <a:lnB>
                      <a:noFill/>
                    </a:lnB>
                    <a:noFill/>
                  </a:tcPr>
                </a:tc>
                <a:tc>
                  <a:txBody>
                    <a:bodyPr/>
                    <a:lstStyle/>
                    <a:p>
                      <a:r>
                        <a:rPr lang="en-US" sz="1800">
                          <a:latin typeface="Calibri" panose="020F0502020204030204" pitchFamily="34" charset="0"/>
                          <a:ea typeface="Calibri" panose="020F0502020204030204" pitchFamily="34" charset="0"/>
                          <a:cs typeface="Calibri" panose="020F0502020204030204" pitchFamily="34" charset="0"/>
                        </a:rPr>
                        <a:t>Developing a new anxiety scale</a:t>
                      </a:r>
                    </a:p>
                  </a:txBody>
                  <a:tcPr marL="76339" marR="76339" marT="38170" marB="38170" anchor="ctr">
                    <a:lnL>
                      <a:noFill/>
                    </a:lnL>
                    <a:lnR>
                      <a:noFill/>
                    </a:lnR>
                    <a:lnT>
                      <a:noFill/>
                    </a:lnT>
                    <a:lnB>
                      <a:noFill/>
                    </a:lnB>
                    <a:noFill/>
                  </a:tcPr>
                </a:tc>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Testing if the PHQ-9 fits a one-factor model for depression</a:t>
                      </a:r>
                    </a:p>
                  </a:txBody>
                  <a:tcPr marL="76339" marR="76339" marT="38170" marB="38170" anchor="ctr">
                    <a:lnL>
                      <a:noFill/>
                    </a:lnL>
                    <a:lnR>
                      <a:noFill/>
                    </a:lnR>
                    <a:lnT>
                      <a:noFill/>
                    </a:lnT>
                    <a:lnB>
                      <a:noFill/>
                    </a:lnB>
                    <a:noFill/>
                  </a:tcPr>
                </a:tc>
                <a:extLst>
                  <a:ext uri="{0D108BD9-81ED-4DB2-BD59-A6C34878D82A}">
                    <a16:rowId xmlns:a16="http://schemas.microsoft.com/office/drawing/2014/main" val="197591407"/>
                  </a:ext>
                </a:extLst>
              </a:tr>
            </a:tbl>
          </a:graphicData>
        </a:graphic>
      </p:graphicFrame>
    </p:spTree>
    <p:extLst>
      <p:ext uri="{BB962C8B-B14F-4D97-AF65-F5344CB8AC3E}">
        <p14:creationId xmlns:p14="http://schemas.microsoft.com/office/powerpoint/2010/main" val="441182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02BA3-F0F1-40A5-A456-16241A5A674D}"/>
              </a:ext>
            </a:extLst>
          </p:cNvPr>
          <p:cNvSpPr>
            <a:spLocks noGrp="1"/>
          </p:cNvSpPr>
          <p:nvPr>
            <p:ph type="title"/>
          </p:nvPr>
        </p:nvSpPr>
        <p:spPr>
          <a:xfrm>
            <a:off x="93687" y="128016"/>
            <a:ext cx="4431792" cy="658047"/>
          </a:xfrm>
        </p:spPr>
        <p:txBody>
          <a:bodyPr>
            <a:normAutofit fontScale="90000"/>
          </a:bodyPr>
          <a:lstStyle/>
          <a:p>
            <a:r>
              <a:rPr lang="en-US" dirty="0"/>
              <a:t>Scree plot</a:t>
            </a:r>
          </a:p>
        </p:txBody>
      </p:sp>
      <p:sp>
        <p:nvSpPr>
          <p:cNvPr id="3" name="Content Placeholder 2">
            <a:extLst>
              <a:ext uri="{FF2B5EF4-FFF2-40B4-BE49-F238E27FC236}">
                <a16:creationId xmlns:a16="http://schemas.microsoft.com/office/drawing/2014/main" id="{6E1B9DE2-9B2F-4B00-8A75-71ABA4262898}"/>
              </a:ext>
            </a:extLst>
          </p:cNvPr>
          <p:cNvSpPr>
            <a:spLocks noGrp="1"/>
          </p:cNvSpPr>
          <p:nvPr>
            <p:ph idx="1"/>
          </p:nvPr>
        </p:nvSpPr>
        <p:spPr>
          <a:xfrm>
            <a:off x="246086" y="786063"/>
            <a:ext cx="5849914" cy="3834063"/>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Look to see where the ‘elbow’ bends in the plot – that is how many factors to retain</a:t>
            </a:r>
          </a:p>
          <a:p>
            <a:pPr lvl="1"/>
            <a:r>
              <a:rPr lang="en-US" sz="1800" dirty="0">
                <a:latin typeface="Calibri" panose="020F0502020204030204" pitchFamily="34" charset="0"/>
                <a:ea typeface="Calibri" panose="020F0502020204030204" pitchFamily="34" charset="0"/>
                <a:cs typeface="Calibri" panose="020F0502020204030204" pitchFamily="34" charset="0"/>
              </a:rPr>
              <a:t>To do this look for the clearest delineation of where the line goes from being diagonal to horizontal</a:t>
            </a:r>
          </a:p>
          <a:p>
            <a:pPr lvl="1"/>
            <a:r>
              <a:rPr lang="en-US" sz="1800" dirty="0">
                <a:latin typeface="Calibri" panose="020F0502020204030204" pitchFamily="34" charset="0"/>
                <a:ea typeface="Calibri" panose="020F0502020204030204" pitchFamily="34" charset="0"/>
                <a:cs typeface="Calibri" panose="020F0502020204030204" pitchFamily="34" charset="0"/>
              </a:rPr>
              <a:t>Then count the number of </a:t>
            </a:r>
            <a:r>
              <a:rPr lang="en-US" sz="1800" i="1" u="sng" dirty="0">
                <a:latin typeface="Calibri" panose="020F0502020204030204" pitchFamily="34" charset="0"/>
                <a:ea typeface="Calibri" panose="020F0502020204030204" pitchFamily="34" charset="0"/>
                <a:cs typeface="Calibri" panose="020F0502020204030204" pitchFamily="34" charset="0"/>
              </a:rPr>
              <a:t>lines</a:t>
            </a:r>
          </a:p>
          <a:p>
            <a:pPr lvl="1"/>
            <a:r>
              <a:rPr lang="en-US" sz="1800" i="1" dirty="0">
                <a:latin typeface="Calibri" panose="020F0502020204030204" pitchFamily="34" charset="0"/>
                <a:ea typeface="Calibri" panose="020F0502020204030204" pitchFamily="34" charset="0"/>
                <a:cs typeface="Calibri" panose="020F0502020204030204" pitchFamily="34" charset="0"/>
              </a:rPr>
              <a:t>This is a matter of judgment I would look at 4, 5 and 6 and the use theory to guide</a:t>
            </a:r>
          </a:p>
          <a:p>
            <a:pPr lvl="1"/>
            <a:r>
              <a:rPr lang="en-US" sz="1800" dirty="0">
                <a:latin typeface="Calibri" panose="020F0502020204030204" pitchFamily="34" charset="0"/>
                <a:ea typeface="Calibri" panose="020F0502020204030204" pitchFamily="34" charset="0"/>
                <a:cs typeface="Calibri" panose="020F0502020204030204" pitchFamily="34" charset="0"/>
              </a:rPr>
              <a:t>Better than Kaiser’s rule (eigenvalues greater than one)</a:t>
            </a:r>
          </a:p>
          <a:p>
            <a:pPr lvl="1"/>
            <a:endParaRPr lang="en-US" dirty="0"/>
          </a:p>
        </p:txBody>
      </p:sp>
      <p:pic>
        <p:nvPicPr>
          <p:cNvPr id="4" name="Content Placeholder 5">
            <a:extLst>
              <a:ext uri="{FF2B5EF4-FFF2-40B4-BE49-F238E27FC236}">
                <a16:creationId xmlns:a16="http://schemas.microsoft.com/office/drawing/2014/main" id="{332A3C81-FD3D-4EA1-A977-29A429A92421}"/>
              </a:ext>
            </a:extLst>
          </p:cNvPr>
          <p:cNvPicPr>
            <a:picLocks noChangeAspect="1"/>
          </p:cNvPicPr>
          <p:nvPr/>
        </p:nvPicPr>
        <p:blipFill>
          <a:blip r:embed="rId2"/>
          <a:srcRect r="11203"/>
          <a:stretch/>
        </p:blipFill>
        <p:spPr>
          <a:xfrm>
            <a:off x="6248399" y="516697"/>
            <a:ext cx="5558588" cy="4131503"/>
          </a:xfrm>
          <a:prstGeom prst="rect">
            <a:avLst/>
          </a:prstGeom>
        </p:spPr>
      </p:pic>
    </p:spTree>
    <p:extLst>
      <p:ext uri="{BB962C8B-B14F-4D97-AF65-F5344CB8AC3E}">
        <p14:creationId xmlns:p14="http://schemas.microsoft.com/office/powerpoint/2010/main" val="19402200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09A2E-418A-4518-AB1A-42DC0B483312}"/>
              </a:ext>
            </a:extLst>
          </p:cNvPr>
          <p:cNvSpPr>
            <a:spLocks noGrp="1"/>
          </p:cNvSpPr>
          <p:nvPr>
            <p:ph type="title"/>
          </p:nvPr>
        </p:nvSpPr>
        <p:spPr>
          <a:xfrm>
            <a:off x="132348" y="148558"/>
            <a:ext cx="10515600" cy="605422"/>
          </a:xfrm>
        </p:spPr>
        <p:txBody>
          <a:bodyPr>
            <a:normAutofit fontScale="90000"/>
          </a:bodyPr>
          <a:lstStyle/>
          <a:p>
            <a:r>
              <a:rPr lang="en-US" dirty="0">
                <a:latin typeface="Calibri" panose="020F0502020204030204" pitchFamily="34" charset="0"/>
                <a:ea typeface="Calibri" panose="020F0502020204030204" pitchFamily="34" charset="0"/>
                <a:cs typeface="Calibri" panose="020F0502020204030204" pitchFamily="34" charset="0"/>
              </a:rPr>
              <a:t>Kaiser’s rule (eigenvalues greater than one)</a:t>
            </a:r>
          </a:p>
        </p:txBody>
      </p:sp>
      <p:sp>
        <p:nvSpPr>
          <p:cNvPr id="3" name="Content Placeholder 2">
            <a:extLst>
              <a:ext uri="{FF2B5EF4-FFF2-40B4-BE49-F238E27FC236}">
                <a16:creationId xmlns:a16="http://schemas.microsoft.com/office/drawing/2014/main" id="{5A5D8422-678C-4FCE-945E-8916E3C6E3A3}"/>
              </a:ext>
            </a:extLst>
          </p:cNvPr>
          <p:cNvSpPr>
            <a:spLocks noGrp="1"/>
          </p:cNvSpPr>
          <p:nvPr>
            <p:ph idx="1"/>
          </p:nvPr>
        </p:nvSpPr>
        <p:spPr>
          <a:xfrm>
            <a:off x="268705" y="678614"/>
            <a:ext cx="10515600" cy="4351338"/>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Eigenvalues measure the amount of variance in the total sample that is accounted for by each factor</a:t>
            </a:r>
          </a:p>
          <a:p>
            <a:r>
              <a:rPr lang="en-US" sz="2000" dirty="0">
                <a:latin typeface="Calibri" panose="020F0502020204030204" pitchFamily="34" charset="0"/>
                <a:ea typeface="Calibri" panose="020F0502020204030204" pitchFamily="34" charset="0"/>
                <a:cs typeface="Calibri" panose="020F0502020204030204" pitchFamily="34" charset="0"/>
              </a:rPr>
              <a:t>Retain only those eigenvalues that are greater than 1 and drop the rest</a:t>
            </a:r>
          </a:p>
          <a:p>
            <a:r>
              <a:rPr lang="en-US" sz="2000" dirty="0">
                <a:latin typeface="Calibri" panose="020F0502020204030204" pitchFamily="34" charset="0"/>
                <a:ea typeface="Calibri" panose="020F0502020204030204" pitchFamily="34" charset="0"/>
                <a:cs typeface="Calibri" panose="020F0502020204030204" pitchFamily="34" charset="0"/>
              </a:rPr>
              <a:t>Why? Any value </a:t>
            </a:r>
            <a:r>
              <a:rPr lang="en-US" sz="2000" b="1" i="1" dirty="0">
                <a:latin typeface="Calibri" panose="020F0502020204030204" pitchFamily="34" charset="0"/>
                <a:ea typeface="Calibri" panose="020F0502020204030204" pitchFamily="34" charset="0"/>
                <a:cs typeface="Calibri" panose="020F0502020204030204" pitchFamily="34" charset="0"/>
              </a:rPr>
              <a:t>greater than one </a:t>
            </a:r>
            <a:r>
              <a:rPr lang="en-US" sz="2000" dirty="0">
                <a:latin typeface="Calibri" panose="020F0502020204030204" pitchFamily="34" charset="0"/>
                <a:ea typeface="Calibri" panose="020F0502020204030204" pitchFamily="34" charset="0"/>
                <a:cs typeface="Calibri" panose="020F0502020204030204" pitchFamily="34" charset="0"/>
              </a:rPr>
              <a:t>represents a factor that explains a higher-than-average amount of variance</a:t>
            </a:r>
            <a:endParaRPr lang="en-US" sz="2000" i="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081515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84ED9-8421-41E3-90E6-D4DE75A9B384}"/>
              </a:ext>
            </a:extLst>
          </p:cNvPr>
          <p:cNvSpPr>
            <a:spLocks noGrp="1"/>
          </p:cNvSpPr>
          <p:nvPr>
            <p:ph type="title"/>
          </p:nvPr>
        </p:nvSpPr>
        <p:spPr>
          <a:xfrm>
            <a:off x="68179" y="17045"/>
            <a:ext cx="10515600" cy="725738"/>
          </a:xfrm>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Parallel Analysis** (Gold Standard)</a:t>
            </a:r>
          </a:p>
        </p:txBody>
      </p:sp>
      <p:sp>
        <p:nvSpPr>
          <p:cNvPr id="3" name="Content Placeholder 2">
            <a:extLst>
              <a:ext uri="{FF2B5EF4-FFF2-40B4-BE49-F238E27FC236}">
                <a16:creationId xmlns:a16="http://schemas.microsoft.com/office/drawing/2014/main" id="{938598B4-9DF3-4E91-8AE5-FF660925E3A3}"/>
              </a:ext>
            </a:extLst>
          </p:cNvPr>
          <p:cNvSpPr>
            <a:spLocks noGrp="1"/>
          </p:cNvSpPr>
          <p:nvPr>
            <p:ph idx="1"/>
          </p:nvPr>
        </p:nvSpPr>
        <p:spPr>
          <a:xfrm>
            <a:off x="228600" y="742783"/>
            <a:ext cx="10515600" cy="4351338"/>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Compare the eigenvalues from the original data to the eigenvalues generated from a Monte Carlo simulated matrix created from randomly generated data of the same sample size</a:t>
            </a:r>
          </a:p>
          <a:p>
            <a:r>
              <a:rPr lang="en-US" sz="2000" dirty="0">
                <a:latin typeface="Calibri" panose="020F0502020204030204" pitchFamily="34" charset="0"/>
                <a:ea typeface="Calibri" panose="020F0502020204030204" pitchFamily="34" charset="0"/>
                <a:cs typeface="Calibri" panose="020F0502020204030204" pitchFamily="34" charset="0"/>
              </a:rPr>
              <a:t>Factors are retained when the </a:t>
            </a:r>
            <a:r>
              <a:rPr lang="en-US" sz="2000" i="1" dirty="0" err="1">
                <a:latin typeface="Calibri" panose="020F0502020204030204" pitchFamily="34" charset="0"/>
                <a:ea typeface="Calibri" panose="020F0502020204030204" pitchFamily="34" charset="0"/>
                <a:cs typeface="Calibri" panose="020F0502020204030204" pitchFamily="34" charset="0"/>
              </a:rPr>
              <a:t>i</a:t>
            </a:r>
            <a:r>
              <a:rPr lang="en-US" sz="2000" i="1" baseline="30000" dirty="0" err="1">
                <a:latin typeface="Calibri" panose="020F0502020204030204" pitchFamily="34" charset="0"/>
                <a:ea typeface="Calibri" panose="020F0502020204030204" pitchFamily="34" charset="0"/>
                <a:cs typeface="Calibri" panose="020F0502020204030204" pitchFamily="34" charset="0"/>
              </a:rPr>
              <a:t>th</a:t>
            </a:r>
            <a:r>
              <a:rPr lang="en-US" sz="2000" dirty="0">
                <a:latin typeface="Calibri" panose="020F0502020204030204" pitchFamily="34" charset="0"/>
                <a:ea typeface="Calibri" panose="020F0502020204030204" pitchFamily="34" charset="0"/>
                <a:cs typeface="Calibri" panose="020F0502020204030204" pitchFamily="34" charset="0"/>
              </a:rPr>
              <a:t> eigenvalue from the observed data is greater than the </a:t>
            </a:r>
            <a:r>
              <a:rPr lang="en-US" sz="2000" i="1" dirty="0" err="1">
                <a:latin typeface="Calibri" panose="020F0502020204030204" pitchFamily="34" charset="0"/>
                <a:ea typeface="Calibri" panose="020F0502020204030204" pitchFamily="34" charset="0"/>
                <a:cs typeface="Calibri" panose="020F0502020204030204" pitchFamily="34" charset="0"/>
              </a:rPr>
              <a:t>i</a:t>
            </a:r>
            <a:r>
              <a:rPr lang="en-US" sz="2000" i="1" baseline="30000" dirty="0" err="1">
                <a:latin typeface="Calibri" panose="020F0502020204030204" pitchFamily="34" charset="0"/>
                <a:ea typeface="Calibri" panose="020F0502020204030204" pitchFamily="34" charset="0"/>
                <a:cs typeface="Calibri" panose="020F0502020204030204" pitchFamily="34" charset="0"/>
              </a:rPr>
              <a:t>th</a:t>
            </a:r>
            <a:r>
              <a:rPr lang="en-US" sz="2000" dirty="0">
                <a:latin typeface="Calibri" panose="020F0502020204030204" pitchFamily="34" charset="0"/>
                <a:ea typeface="Calibri" panose="020F0502020204030204" pitchFamily="34" charset="0"/>
                <a:cs typeface="Calibri" panose="020F0502020204030204" pitchFamily="34" charset="0"/>
              </a:rPr>
              <a:t> eigenvalue from the random data</a:t>
            </a:r>
          </a:p>
          <a:p>
            <a:r>
              <a:rPr lang="en-US" sz="2000" dirty="0">
                <a:latin typeface="Calibri" panose="020F0502020204030204" pitchFamily="34" charset="0"/>
                <a:ea typeface="Calibri" panose="020F0502020204030204" pitchFamily="34" charset="0"/>
                <a:cs typeface="Calibri" panose="020F0502020204030204" pitchFamily="34" charset="0"/>
              </a:rPr>
              <a:t>Superior to both previous methods</a:t>
            </a:r>
          </a:p>
          <a:p>
            <a:r>
              <a:rPr lang="en-US" sz="2000" b="1" dirty="0">
                <a:latin typeface="Calibri" panose="020F0502020204030204" pitchFamily="34" charset="0"/>
                <a:ea typeface="Calibri" panose="020F0502020204030204" pitchFamily="34" charset="0"/>
                <a:cs typeface="Calibri" panose="020F0502020204030204" pitchFamily="34" charset="0"/>
              </a:rPr>
              <a:t>Software note: </a:t>
            </a:r>
            <a:r>
              <a:rPr lang="en-US" sz="2000" dirty="0">
                <a:latin typeface="Calibri" panose="020F0502020204030204" pitchFamily="34" charset="0"/>
                <a:ea typeface="Calibri" panose="020F0502020204030204" pitchFamily="34" charset="0"/>
                <a:cs typeface="Calibri" panose="020F0502020204030204" pitchFamily="34" charset="0"/>
              </a:rPr>
              <a:t>SPSS doesn’t provide this – do it in JASP, R (e.g., psych::</a:t>
            </a:r>
            <a:r>
              <a:rPr lang="en-US" sz="2000" dirty="0" err="1">
                <a:latin typeface="Calibri" panose="020F0502020204030204" pitchFamily="34" charset="0"/>
                <a:ea typeface="Calibri" panose="020F0502020204030204" pitchFamily="34" charset="0"/>
                <a:cs typeface="Calibri" panose="020F0502020204030204" pitchFamily="34" charset="0"/>
              </a:rPr>
              <a:t>fa.parallel</a:t>
            </a:r>
            <a:r>
              <a:rPr lang="en-US" sz="2000" dirty="0">
                <a:latin typeface="Calibri" panose="020F0502020204030204" pitchFamily="34" charset="0"/>
                <a:ea typeface="Calibri" panose="020F0502020204030204" pitchFamily="34" charset="0"/>
                <a:cs typeface="Calibri" panose="020F0502020204030204" pitchFamily="34" charset="0"/>
              </a:rPr>
              <a:t>), or </a:t>
            </a:r>
            <a:r>
              <a:rPr lang="en-US" sz="2000" dirty="0" err="1">
                <a:latin typeface="Calibri" panose="020F0502020204030204" pitchFamily="34" charset="0"/>
                <a:ea typeface="Calibri" panose="020F0502020204030204" pitchFamily="34" charset="0"/>
                <a:cs typeface="Calibri" panose="020F0502020204030204" pitchFamily="34" charset="0"/>
              </a:rPr>
              <a:t>Jamovi</a:t>
            </a:r>
            <a:r>
              <a:rPr lang="en-US" sz="2000" dirty="0">
                <a:latin typeface="Calibri" panose="020F050202020403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3521760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0D208-F4F9-47F7-AF34-2B6E93EB63F8}"/>
              </a:ext>
            </a:extLst>
          </p:cNvPr>
          <p:cNvSpPr>
            <a:spLocks noGrp="1"/>
          </p:cNvSpPr>
          <p:nvPr>
            <p:ph type="title"/>
          </p:nvPr>
        </p:nvSpPr>
        <p:spPr>
          <a:xfrm>
            <a:off x="108284" y="76367"/>
            <a:ext cx="10515600" cy="749801"/>
          </a:xfrm>
        </p:spPr>
        <p:txBody>
          <a:bodyPr/>
          <a:lstStyle/>
          <a:p>
            <a:r>
              <a:rPr lang="en-US" dirty="0"/>
              <a:t>Interpreting the factors</a:t>
            </a:r>
          </a:p>
        </p:txBody>
      </p:sp>
      <p:sp>
        <p:nvSpPr>
          <p:cNvPr id="3" name="Content Placeholder 2">
            <a:extLst>
              <a:ext uri="{FF2B5EF4-FFF2-40B4-BE49-F238E27FC236}">
                <a16:creationId xmlns:a16="http://schemas.microsoft.com/office/drawing/2014/main" id="{B995F661-5119-435E-93DB-DB2DECB5794B}"/>
              </a:ext>
            </a:extLst>
          </p:cNvPr>
          <p:cNvSpPr>
            <a:spLocks noGrp="1"/>
          </p:cNvSpPr>
          <p:nvPr>
            <p:ph idx="1"/>
          </p:nvPr>
        </p:nvSpPr>
        <p:spPr>
          <a:xfrm>
            <a:off x="228600" y="670594"/>
            <a:ext cx="10515600" cy="4351338"/>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An iterative process</a:t>
            </a:r>
          </a:p>
          <a:p>
            <a:r>
              <a:rPr lang="en-US" sz="2000" dirty="0">
                <a:latin typeface="Calibri" panose="020F0502020204030204" pitchFamily="34" charset="0"/>
                <a:ea typeface="Calibri" panose="020F0502020204030204" pitchFamily="34" charset="0"/>
                <a:cs typeface="Calibri" panose="020F0502020204030204" pitchFamily="34" charset="0"/>
              </a:rPr>
              <a:t>Begins with estimating the factor matrix</a:t>
            </a:r>
          </a:p>
          <a:p>
            <a:pPr lvl="1"/>
            <a:r>
              <a:rPr lang="en-US" sz="2000" dirty="0">
                <a:latin typeface="Calibri" panose="020F0502020204030204" pitchFamily="34" charset="0"/>
                <a:ea typeface="Calibri" panose="020F0502020204030204" pitchFamily="34" charset="0"/>
                <a:cs typeface="Calibri" panose="020F0502020204030204" pitchFamily="34" charset="0"/>
              </a:rPr>
              <a:t>First, the initial </a:t>
            </a:r>
            <a:r>
              <a:rPr lang="en-US" sz="2000" b="1" dirty="0">
                <a:latin typeface="Calibri" panose="020F0502020204030204" pitchFamily="34" charset="0"/>
                <a:ea typeface="Calibri" panose="020F0502020204030204" pitchFamily="34" charset="0"/>
                <a:cs typeface="Calibri" panose="020F0502020204030204" pitchFamily="34" charset="0"/>
              </a:rPr>
              <a:t>unrotated</a:t>
            </a:r>
            <a:r>
              <a:rPr lang="en-US" sz="2000" dirty="0">
                <a:latin typeface="Calibri" panose="020F0502020204030204" pitchFamily="34" charset="0"/>
                <a:ea typeface="Calibri" panose="020F0502020204030204" pitchFamily="34" charset="0"/>
                <a:cs typeface="Calibri" panose="020F0502020204030204" pitchFamily="34" charset="0"/>
              </a:rPr>
              <a:t> factor matrix is computed, containing the factor loadings</a:t>
            </a:r>
          </a:p>
          <a:p>
            <a:pPr lvl="2"/>
            <a:r>
              <a:rPr lang="en-US" sz="1800" dirty="0">
                <a:latin typeface="Calibri" panose="020F0502020204030204" pitchFamily="34" charset="0"/>
                <a:ea typeface="Calibri" panose="020F0502020204030204" pitchFamily="34" charset="0"/>
                <a:cs typeface="Calibri" panose="020F0502020204030204" pitchFamily="34" charset="0"/>
              </a:rPr>
              <a:t>This is the first solution the software calculates</a:t>
            </a:r>
          </a:p>
          <a:p>
            <a:pPr lvl="2"/>
            <a:r>
              <a:rPr lang="en-US" sz="1800" dirty="0">
                <a:latin typeface="Calibri" panose="020F0502020204030204" pitchFamily="34" charset="0"/>
                <a:ea typeface="Calibri" panose="020F0502020204030204" pitchFamily="34" charset="0"/>
                <a:cs typeface="Calibri" panose="020F0502020204030204" pitchFamily="34" charset="0"/>
              </a:rPr>
              <a:t>It finds factors that explain the maximum variance in the data</a:t>
            </a:r>
          </a:p>
          <a:p>
            <a:pPr lvl="2"/>
            <a:r>
              <a:rPr lang="en-US" sz="1800" dirty="0">
                <a:latin typeface="Calibri" panose="020F0502020204030204" pitchFamily="34" charset="0"/>
                <a:ea typeface="Calibri" panose="020F0502020204030204" pitchFamily="34" charset="0"/>
                <a:cs typeface="Calibri" panose="020F0502020204030204" pitchFamily="34" charset="0"/>
              </a:rPr>
              <a:t>But: this solution is often hard to interpret, because each variable may load on multiple factors</a:t>
            </a:r>
          </a:p>
          <a:p>
            <a:pPr lvl="2"/>
            <a:r>
              <a:rPr lang="en-US" sz="1800" dirty="0">
                <a:latin typeface="Calibri" panose="020F0502020204030204" pitchFamily="34" charset="0"/>
                <a:ea typeface="Calibri" panose="020F0502020204030204" pitchFamily="34" charset="0"/>
                <a:cs typeface="Calibri" panose="020F0502020204030204" pitchFamily="34" charset="0"/>
              </a:rPr>
              <a:t>It gives you the structure, but it's like looking at a blurry picture</a:t>
            </a:r>
          </a:p>
          <a:p>
            <a:pPr lvl="1"/>
            <a:r>
              <a:rPr lang="en-US" sz="2000" b="1" dirty="0">
                <a:latin typeface="Calibri" panose="020F0502020204030204" pitchFamily="34" charset="0"/>
                <a:ea typeface="Calibri" panose="020F0502020204030204" pitchFamily="34" charset="0"/>
                <a:cs typeface="Calibri" panose="020F0502020204030204" pitchFamily="34" charset="0"/>
              </a:rPr>
              <a:t>Rotated</a:t>
            </a:r>
            <a:r>
              <a:rPr lang="en-US" sz="2000" dirty="0">
                <a:latin typeface="Calibri" panose="020F0502020204030204" pitchFamily="34" charset="0"/>
                <a:ea typeface="Calibri" panose="020F0502020204030204" pitchFamily="34" charset="0"/>
                <a:cs typeface="Calibri" panose="020F0502020204030204" pitchFamily="34" charset="0"/>
              </a:rPr>
              <a:t> factor loadings are the correlation of each variable and the factor</a:t>
            </a:r>
          </a:p>
          <a:p>
            <a:pPr lvl="2"/>
            <a:r>
              <a:rPr lang="en-US" sz="1800" dirty="0">
                <a:latin typeface="Calibri" panose="020F0502020204030204" pitchFamily="34" charset="0"/>
                <a:ea typeface="Calibri" panose="020F0502020204030204" pitchFamily="34" charset="0"/>
                <a:cs typeface="Calibri" panose="020F0502020204030204" pitchFamily="34" charset="0"/>
              </a:rPr>
              <a:t>Rotation is a mathematical adjustment to make the factor structure more interpretable</a:t>
            </a:r>
          </a:p>
          <a:p>
            <a:pPr lvl="2"/>
            <a:r>
              <a:rPr lang="en-US" sz="1800" dirty="0">
                <a:latin typeface="Calibri" panose="020F0502020204030204" pitchFamily="34" charset="0"/>
                <a:ea typeface="Calibri" panose="020F0502020204030204" pitchFamily="34" charset="0"/>
                <a:cs typeface="Calibri" panose="020F0502020204030204" pitchFamily="34" charset="0"/>
              </a:rPr>
              <a:t>After rotation, variables usually load more strongly on one factor, and weakly on others</a:t>
            </a:r>
          </a:p>
          <a:p>
            <a:pPr lvl="2"/>
            <a:r>
              <a:rPr lang="en-US" sz="1800" dirty="0">
                <a:latin typeface="Calibri" panose="020F0502020204030204" pitchFamily="34" charset="0"/>
                <a:ea typeface="Calibri" panose="020F0502020204030204" pitchFamily="34" charset="0"/>
                <a:cs typeface="Calibri" panose="020F0502020204030204" pitchFamily="34" charset="0"/>
              </a:rPr>
              <a:t>This makes it easier to name the factors based on the items that group together</a:t>
            </a:r>
          </a:p>
          <a:p>
            <a:pPr lvl="2"/>
            <a:r>
              <a:rPr lang="en-US" sz="1800" dirty="0">
                <a:latin typeface="Calibri" panose="020F0502020204030204" pitchFamily="34" charset="0"/>
                <a:ea typeface="Calibri" panose="020F0502020204030204" pitchFamily="34" charset="0"/>
                <a:cs typeface="Calibri" panose="020F0502020204030204" pitchFamily="34" charset="0"/>
              </a:rPr>
              <a:t>You typically use rotated loadings to interpret the factors</a:t>
            </a:r>
          </a:p>
        </p:txBody>
      </p:sp>
    </p:spTree>
    <p:extLst>
      <p:ext uri="{BB962C8B-B14F-4D97-AF65-F5344CB8AC3E}">
        <p14:creationId xmlns:p14="http://schemas.microsoft.com/office/powerpoint/2010/main" val="19203957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BB64A-5C5E-57BB-56FE-DC83E21EF2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4BA793-69D6-D129-49B0-3BBAE9A3EF5C}"/>
              </a:ext>
            </a:extLst>
          </p:cNvPr>
          <p:cNvSpPr>
            <a:spLocks noGrp="1"/>
          </p:cNvSpPr>
          <p:nvPr>
            <p:ph type="title"/>
          </p:nvPr>
        </p:nvSpPr>
        <p:spPr>
          <a:xfrm>
            <a:off x="0" y="0"/>
            <a:ext cx="10515600" cy="528386"/>
          </a:xfrm>
        </p:spPr>
        <p:txBody>
          <a:bodyPr>
            <a:normAutofit fontScale="90000"/>
          </a:bodyPr>
          <a:lstStyle/>
          <a:p>
            <a:r>
              <a:rPr lang="en-US" dirty="0"/>
              <a:t>Example:</a:t>
            </a:r>
          </a:p>
        </p:txBody>
      </p:sp>
      <p:sp>
        <p:nvSpPr>
          <p:cNvPr id="3" name="Content Placeholder 2">
            <a:extLst>
              <a:ext uri="{FF2B5EF4-FFF2-40B4-BE49-F238E27FC236}">
                <a16:creationId xmlns:a16="http://schemas.microsoft.com/office/drawing/2014/main" id="{12A13B97-8108-0AA7-F2EA-B3C21E02E3CF}"/>
              </a:ext>
            </a:extLst>
          </p:cNvPr>
          <p:cNvSpPr>
            <a:spLocks noGrp="1"/>
          </p:cNvSpPr>
          <p:nvPr>
            <p:ph idx="1"/>
          </p:nvPr>
        </p:nvSpPr>
        <p:spPr>
          <a:xfrm>
            <a:off x="132347" y="528386"/>
            <a:ext cx="10515600" cy="4351338"/>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Imagine you're doing factor analysis on 10 survey items</a:t>
            </a:r>
          </a:p>
          <a:p>
            <a:r>
              <a:rPr lang="en-US" sz="2000" dirty="0">
                <a:latin typeface="Calibri" panose="020F0502020204030204" pitchFamily="34" charset="0"/>
                <a:ea typeface="Calibri" panose="020F0502020204030204" pitchFamily="34" charset="0"/>
                <a:cs typeface="Calibri" panose="020F0502020204030204" pitchFamily="34" charset="0"/>
              </a:rPr>
              <a:t>Unrotated loadings might show every item loading a little on all factors (messy!)</a:t>
            </a:r>
          </a:p>
          <a:p>
            <a:r>
              <a:rPr lang="en-US" sz="2000" dirty="0">
                <a:latin typeface="Calibri" panose="020F0502020204030204" pitchFamily="34" charset="0"/>
                <a:ea typeface="Calibri" panose="020F0502020204030204" pitchFamily="34" charset="0"/>
                <a:cs typeface="Calibri" panose="020F0502020204030204" pitchFamily="34" charset="0"/>
              </a:rPr>
              <a:t>Rotated loadings will try to "clean this up" so:</a:t>
            </a:r>
          </a:p>
          <a:p>
            <a:pPr lvl="1"/>
            <a:r>
              <a:rPr lang="en-US" sz="1600" dirty="0">
                <a:latin typeface="Calibri" panose="020F0502020204030204" pitchFamily="34" charset="0"/>
                <a:ea typeface="Calibri" panose="020F0502020204030204" pitchFamily="34" charset="0"/>
                <a:cs typeface="Calibri" panose="020F0502020204030204" pitchFamily="34" charset="0"/>
              </a:rPr>
              <a:t>Items 1–5 load strongly on Factor 1 → You might label this "Anxiety“</a:t>
            </a:r>
          </a:p>
          <a:p>
            <a:pPr lvl="1"/>
            <a:r>
              <a:rPr lang="en-US" sz="1600" dirty="0">
                <a:latin typeface="Calibri" panose="020F0502020204030204" pitchFamily="34" charset="0"/>
                <a:ea typeface="Calibri" panose="020F0502020204030204" pitchFamily="34" charset="0"/>
                <a:cs typeface="Calibri" panose="020F0502020204030204" pitchFamily="34" charset="0"/>
              </a:rPr>
              <a:t>Items 6–10 load strongly on Factor 2 → You might label this "Depression“</a:t>
            </a:r>
          </a:p>
          <a:p>
            <a:r>
              <a:rPr lang="en-US" sz="2000"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focus on the rotated loadings</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182291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13FE3-C34F-46C3-877F-CAA975E582F8}"/>
              </a:ext>
            </a:extLst>
          </p:cNvPr>
          <p:cNvSpPr>
            <a:spLocks noGrp="1"/>
          </p:cNvSpPr>
          <p:nvPr>
            <p:ph type="title"/>
          </p:nvPr>
        </p:nvSpPr>
        <p:spPr>
          <a:xfrm>
            <a:off x="116305" y="59573"/>
            <a:ext cx="10515600" cy="621464"/>
          </a:xfrm>
        </p:spPr>
        <p:txBody>
          <a:bodyPr>
            <a:normAutofit fontScale="90000"/>
          </a:bodyPr>
          <a:lstStyle/>
          <a:p>
            <a:r>
              <a:rPr lang="en-US" dirty="0"/>
              <a:t>Factor Rotation (sharpening the focus)</a:t>
            </a:r>
          </a:p>
        </p:txBody>
      </p:sp>
      <p:sp>
        <p:nvSpPr>
          <p:cNvPr id="3" name="Content Placeholder 2">
            <a:extLst>
              <a:ext uri="{FF2B5EF4-FFF2-40B4-BE49-F238E27FC236}">
                <a16:creationId xmlns:a16="http://schemas.microsoft.com/office/drawing/2014/main" id="{6ADC08E3-3A8A-41C5-A719-18CC7F5472A3}"/>
              </a:ext>
            </a:extLst>
          </p:cNvPr>
          <p:cNvSpPr>
            <a:spLocks noGrp="1"/>
          </p:cNvSpPr>
          <p:nvPr>
            <p:ph idx="1"/>
          </p:nvPr>
        </p:nvSpPr>
        <p:spPr>
          <a:xfrm>
            <a:off x="260684" y="582361"/>
            <a:ext cx="10515600" cy="5448983"/>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Rotation </a:t>
            </a:r>
            <a:r>
              <a:rPr lang="en-US" sz="2000" b="1" dirty="0">
                <a:latin typeface="Calibri" panose="020F0502020204030204" pitchFamily="34" charset="0"/>
                <a:ea typeface="Calibri" panose="020F0502020204030204" pitchFamily="34" charset="0"/>
                <a:cs typeface="Calibri" panose="020F0502020204030204" pitchFamily="34" charset="0"/>
              </a:rPr>
              <a:t>simply means turning the axes (factors)</a:t>
            </a:r>
            <a:r>
              <a:rPr lang="en-US" sz="2000" dirty="0">
                <a:latin typeface="Calibri" panose="020F0502020204030204" pitchFamily="34" charset="0"/>
                <a:ea typeface="Calibri" panose="020F0502020204030204" pitchFamily="34" charset="0"/>
                <a:cs typeface="Calibri" panose="020F0502020204030204" pitchFamily="34" charset="0"/>
              </a:rPr>
              <a:t> to a new angle to make the factor structure easier to interpret</a:t>
            </a:r>
          </a:p>
          <a:p>
            <a:r>
              <a:rPr lang="en-US" sz="2000" dirty="0">
                <a:latin typeface="Calibri" panose="020F0502020204030204" pitchFamily="34" charset="0"/>
                <a:ea typeface="Calibri" panose="020F0502020204030204" pitchFamily="34" charset="0"/>
                <a:cs typeface="Calibri" panose="020F0502020204030204" pitchFamily="34" charset="0"/>
              </a:rPr>
              <a:t>It doesn’t change the underlying math, but helps us see which variables load clearly onto which factors</a:t>
            </a:r>
          </a:p>
          <a:p>
            <a:r>
              <a:rPr lang="en-US" sz="2000" dirty="0">
                <a:latin typeface="Calibri" panose="020F0502020204030204" pitchFamily="34" charset="0"/>
                <a:ea typeface="Calibri" panose="020F0502020204030204" pitchFamily="34" charset="0"/>
                <a:cs typeface="Calibri" panose="020F0502020204030204" pitchFamily="34" charset="0"/>
              </a:rPr>
              <a:t>Why Rotate?</a:t>
            </a:r>
          </a:p>
          <a:p>
            <a:pPr lvl="1"/>
            <a:r>
              <a:rPr lang="en-US" sz="1800" dirty="0">
                <a:latin typeface="Calibri" panose="020F0502020204030204" pitchFamily="34" charset="0"/>
                <a:ea typeface="Calibri" panose="020F0502020204030204" pitchFamily="34" charset="0"/>
                <a:cs typeface="Calibri" panose="020F0502020204030204" pitchFamily="34" charset="0"/>
              </a:rPr>
              <a:t>Rotation helps clarify the factor loadings, making it easier to assign meaning to each factor</a:t>
            </a:r>
          </a:p>
          <a:p>
            <a:pPr lvl="1"/>
            <a:r>
              <a:rPr lang="en-US" sz="1800" dirty="0">
                <a:latin typeface="Calibri" panose="020F0502020204030204" pitchFamily="34" charset="0"/>
                <a:ea typeface="Calibri" panose="020F0502020204030204" pitchFamily="34" charset="0"/>
                <a:cs typeface="Calibri" panose="020F0502020204030204" pitchFamily="34" charset="0"/>
              </a:rPr>
              <a:t>It spreads the loadings out more cleanly, so that each variable “belongs” more strongly to one factor instead of multiple</a:t>
            </a:r>
          </a:p>
        </p:txBody>
      </p:sp>
    </p:spTree>
    <p:extLst>
      <p:ext uri="{BB962C8B-B14F-4D97-AF65-F5344CB8AC3E}">
        <p14:creationId xmlns:p14="http://schemas.microsoft.com/office/powerpoint/2010/main" val="38386223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FFE9F-62F3-CEC5-AB69-DF67D1E6C8B6}"/>
              </a:ext>
            </a:extLst>
          </p:cNvPr>
          <p:cNvSpPr>
            <a:spLocks noGrp="1"/>
          </p:cNvSpPr>
          <p:nvPr>
            <p:ph type="title"/>
          </p:nvPr>
        </p:nvSpPr>
        <p:spPr>
          <a:xfrm>
            <a:off x="90054" y="87745"/>
            <a:ext cx="10515600" cy="687820"/>
          </a:xfrm>
        </p:spPr>
        <p:txBody>
          <a:bodyPr>
            <a:normAutofit/>
          </a:bodyPr>
          <a:lstStyle/>
          <a:p>
            <a:r>
              <a:rPr lang="en-US" sz="3600" dirty="0">
                <a:latin typeface="Calibri" panose="020F0502020204030204" pitchFamily="34" charset="0"/>
                <a:ea typeface="Calibri" panose="020F0502020204030204" pitchFamily="34" charset="0"/>
                <a:cs typeface="Calibri" panose="020F0502020204030204" pitchFamily="34" charset="0"/>
              </a:rPr>
              <a:t>Must rotate factors, different rotation types</a:t>
            </a:r>
          </a:p>
        </p:txBody>
      </p:sp>
      <p:sp>
        <p:nvSpPr>
          <p:cNvPr id="3" name="Content Placeholder 2">
            <a:extLst>
              <a:ext uri="{FF2B5EF4-FFF2-40B4-BE49-F238E27FC236}">
                <a16:creationId xmlns:a16="http://schemas.microsoft.com/office/drawing/2014/main" id="{98EC8254-DF3B-64F8-2633-784222B01666}"/>
              </a:ext>
            </a:extLst>
          </p:cNvPr>
          <p:cNvSpPr>
            <a:spLocks noGrp="1"/>
          </p:cNvSpPr>
          <p:nvPr>
            <p:ph idx="1"/>
          </p:nvPr>
        </p:nvSpPr>
        <p:spPr>
          <a:xfrm>
            <a:off x="228599" y="661843"/>
            <a:ext cx="11538527" cy="4351338"/>
          </a:xfrm>
        </p:spPr>
        <p:txBody>
          <a:bodyPr/>
          <a:lstStyle/>
          <a:p>
            <a:r>
              <a:rPr lang="en-US" sz="2000" dirty="0">
                <a:latin typeface="Calibri" panose="020F0502020204030204" pitchFamily="34" charset="0"/>
                <a:ea typeface="Calibri" panose="020F0502020204030204" pitchFamily="34" charset="0"/>
                <a:cs typeface="Calibri" panose="020F0502020204030204" pitchFamily="34" charset="0"/>
              </a:rPr>
              <a:t>When choosing a rotation method, ask yourself: Do I expect my factors to be correlated? </a:t>
            </a:r>
            <a:r>
              <a:rPr lang="en-US" sz="2000" b="1" dirty="0">
                <a:latin typeface="Calibri" panose="020F0502020204030204" pitchFamily="34" charset="0"/>
                <a:ea typeface="Calibri" panose="020F0502020204030204" pitchFamily="34" charset="0"/>
                <a:cs typeface="Calibri" panose="020F0502020204030204" pitchFamily="34" charset="0"/>
              </a:rPr>
              <a:t>YES</a:t>
            </a:r>
            <a:endParaRPr lang="en-US" sz="2000" dirty="0">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Constructs like depression and anxiety, or trauma and risk-taking, are rarely independent. Psychological, behavioral, and social variables tend to overlap</a:t>
            </a:r>
          </a:p>
          <a:p>
            <a:pPr lvl="1"/>
            <a:r>
              <a:rPr lang="en-US" sz="1800" dirty="0">
                <a:latin typeface="Calibri" panose="020F0502020204030204" pitchFamily="34" charset="0"/>
                <a:ea typeface="Calibri" panose="020F0502020204030204" pitchFamily="34" charset="0"/>
                <a:cs typeface="Calibri" panose="020F0502020204030204" pitchFamily="34" charset="0"/>
              </a:rPr>
              <a:t>Oblique rotation (e.g., Promax, </a:t>
            </a:r>
            <a:r>
              <a:rPr lang="en-US" sz="1800" dirty="0" err="1">
                <a:latin typeface="Calibri" panose="020F0502020204030204" pitchFamily="34" charset="0"/>
                <a:ea typeface="Calibri" panose="020F0502020204030204" pitchFamily="34" charset="0"/>
                <a:cs typeface="Calibri" panose="020F0502020204030204" pitchFamily="34" charset="0"/>
              </a:rPr>
              <a:t>Oblimin</a:t>
            </a:r>
            <a:r>
              <a:rPr lang="en-US" sz="1800" dirty="0">
                <a:latin typeface="Calibri" panose="020F0502020204030204" pitchFamily="34" charset="0"/>
                <a:ea typeface="Calibri" panose="020F0502020204030204" pitchFamily="34" charset="0"/>
                <a:cs typeface="Calibri" panose="020F0502020204030204" pitchFamily="34" charset="0"/>
              </a:rPr>
              <a:t>) allows factors to correlate</a:t>
            </a:r>
          </a:p>
          <a:p>
            <a:pPr lvl="1"/>
            <a:r>
              <a:rPr lang="en-US" sz="1800" dirty="0">
                <a:latin typeface="Calibri" panose="020F0502020204030204" pitchFamily="34" charset="0"/>
                <a:ea typeface="Calibri" panose="020F0502020204030204" pitchFamily="34" charset="0"/>
                <a:cs typeface="Calibri" panose="020F0502020204030204" pitchFamily="34" charset="0"/>
              </a:rPr>
              <a:t>Orthogonal rotation (like Varimax) forces factors to be uncorrelated</a:t>
            </a:r>
          </a:p>
          <a:p>
            <a:r>
              <a:rPr lang="en-US" sz="2000" dirty="0">
                <a:latin typeface="Calibri" panose="020F0502020204030204" pitchFamily="34" charset="0"/>
                <a:ea typeface="Calibri" panose="020F0502020204030204" pitchFamily="34" charset="0"/>
                <a:cs typeface="Calibri" panose="020F0502020204030204" pitchFamily="34" charset="0"/>
              </a:rPr>
              <a:t>Using varimax rotation distorts underlying relationships</a:t>
            </a:r>
          </a:p>
          <a:p>
            <a:r>
              <a:rPr lang="en-US" sz="2000" dirty="0">
                <a:latin typeface="Calibri" panose="020F0502020204030204" pitchFamily="34" charset="0"/>
                <a:ea typeface="Calibri" panose="020F0502020204030204" pitchFamily="34" charset="0"/>
                <a:cs typeface="Calibri" panose="020F0502020204030204" pitchFamily="34" charset="0"/>
              </a:rPr>
              <a:t>In most social science applications, </a:t>
            </a:r>
            <a:r>
              <a:rPr lang="en-US" sz="2000" b="1" u="sng" dirty="0">
                <a:solidFill>
                  <a:srgbClr val="FF0000"/>
                </a:solidFill>
                <a:latin typeface="Calibri" panose="020F0502020204030204" pitchFamily="34" charset="0"/>
                <a:ea typeface="Calibri" panose="020F0502020204030204" pitchFamily="34" charset="0"/>
                <a:cs typeface="Calibri" panose="020F0502020204030204" pitchFamily="34" charset="0"/>
              </a:rPr>
              <a:t>use oblique rotation</a:t>
            </a:r>
            <a:r>
              <a:rPr lang="en-US" sz="2000" dirty="0">
                <a:latin typeface="Calibri" panose="020F0502020204030204" pitchFamily="34" charset="0"/>
                <a:ea typeface="Calibri" panose="020F0502020204030204" pitchFamily="34" charset="0"/>
                <a:cs typeface="Calibri" panose="020F0502020204030204" pitchFamily="34" charset="0"/>
              </a:rPr>
              <a:t>—because constructs are not independent (disinvestment example, redux).</a:t>
            </a:r>
            <a:endParaRPr lang="en-US" dirty="0"/>
          </a:p>
        </p:txBody>
      </p:sp>
      <p:graphicFrame>
        <p:nvGraphicFramePr>
          <p:cNvPr id="9" name="Table 8">
            <a:extLst>
              <a:ext uri="{FF2B5EF4-FFF2-40B4-BE49-F238E27FC236}">
                <a16:creationId xmlns:a16="http://schemas.microsoft.com/office/drawing/2014/main" id="{B55BC7FB-B272-7EB2-558C-5454D9F5951D}"/>
              </a:ext>
            </a:extLst>
          </p:cNvPr>
          <p:cNvGraphicFramePr>
            <a:graphicFrameLocks noGrp="1"/>
          </p:cNvGraphicFramePr>
          <p:nvPr>
            <p:extLst>
              <p:ext uri="{D42A27DB-BD31-4B8C-83A1-F6EECF244321}">
                <p14:modId xmlns:p14="http://schemas.microsoft.com/office/powerpoint/2010/main" val="2090257238"/>
              </p:ext>
            </p:extLst>
          </p:nvPr>
        </p:nvGraphicFramePr>
        <p:xfrm>
          <a:off x="228599" y="3429000"/>
          <a:ext cx="11538528" cy="1920240"/>
        </p:xfrm>
        <a:graphic>
          <a:graphicData uri="http://schemas.openxmlformats.org/drawingml/2006/table">
            <a:tbl>
              <a:tblPr>
                <a:tableStyleId>{F5AB1C69-6EDB-4FF4-983F-18BD219EF322}</a:tableStyleId>
              </a:tblPr>
              <a:tblGrid>
                <a:gridCol w="3846176">
                  <a:extLst>
                    <a:ext uri="{9D8B030D-6E8A-4147-A177-3AD203B41FA5}">
                      <a16:colId xmlns:a16="http://schemas.microsoft.com/office/drawing/2014/main" val="3648417140"/>
                    </a:ext>
                  </a:extLst>
                </a:gridCol>
                <a:gridCol w="3846176">
                  <a:extLst>
                    <a:ext uri="{9D8B030D-6E8A-4147-A177-3AD203B41FA5}">
                      <a16:colId xmlns:a16="http://schemas.microsoft.com/office/drawing/2014/main" val="1733512643"/>
                    </a:ext>
                  </a:extLst>
                </a:gridCol>
                <a:gridCol w="3846176">
                  <a:extLst>
                    <a:ext uri="{9D8B030D-6E8A-4147-A177-3AD203B41FA5}">
                      <a16:colId xmlns:a16="http://schemas.microsoft.com/office/drawing/2014/main" val="3191050712"/>
                    </a:ext>
                  </a:extLst>
                </a:gridCol>
              </a:tblGrid>
              <a:tr h="0">
                <a:tc>
                  <a:txBody>
                    <a:bodyPr/>
                    <a:lstStyle/>
                    <a:p>
                      <a:r>
                        <a:rPr lang="en-US" b="1" dirty="0">
                          <a:latin typeface="Calibri" panose="020F0502020204030204" pitchFamily="34" charset="0"/>
                          <a:ea typeface="Calibri" panose="020F0502020204030204" pitchFamily="34" charset="0"/>
                          <a:cs typeface="Calibri" panose="020F0502020204030204" pitchFamily="34" charset="0"/>
                        </a:rPr>
                        <a:t>Type</a:t>
                      </a:r>
                    </a:p>
                  </a:txBody>
                  <a:tcPr anchor="ctr"/>
                </a:tc>
                <a:tc>
                  <a:txBody>
                    <a:bodyPr/>
                    <a:lstStyle/>
                    <a:p>
                      <a:r>
                        <a:rPr lang="en-US" b="1" dirty="0">
                          <a:latin typeface="Calibri" panose="020F0502020204030204" pitchFamily="34" charset="0"/>
                          <a:ea typeface="Calibri" panose="020F0502020204030204" pitchFamily="34" charset="0"/>
                          <a:cs typeface="Calibri" panose="020F0502020204030204" pitchFamily="34" charset="0"/>
                        </a:rPr>
                        <a:t>Factors Are...</a:t>
                      </a:r>
                    </a:p>
                  </a:txBody>
                  <a:tcPr anchor="ctr"/>
                </a:tc>
                <a:tc>
                  <a:txBody>
                    <a:bodyPr/>
                    <a:lstStyle/>
                    <a:p>
                      <a:r>
                        <a:rPr lang="en-US" b="1" dirty="0">
                          <a:latin typeface="Calibri" panose="020F0502020204030204" pitchFamily="34" charset="0"/>
                          <a:ea typeface="Calibri" panose="020F0502020204030204" pitchFamily="34" charset="0"/>
                          <a:cs typeface="Calibri" panose="020F0502020204030204" pitchFamily="34" charset="0"/>
                        </a:rPr>
                        <a:t>Use When...</a:t>
                      </a:r>
                    </a:p>
                  </a:txBody>
                  <a:tcPr anchor="ctr"/>
                </a:tc>
                <a:extLst>
                  <a:ext uri="{0D108BD9-81ED-4DB2-BD59-A6C34878D82A}">
                    <a16:rowId xmlns:a16="http://schemas.microsoft.com/office/drawing/2014/main" val="723449549"/>
                  </a:ext>
                </a:extLst>
              </a:tr>
              <a:tr h="0">
                <a:tc>
                  <a:txBody>
                    <a:bodyPr/>
                    <a:lstStyle/>
                    <a:p>
                      <a:r>
                        <a:rPr lang="en-US" b="0" dirty="0">
                          <a:latin typeface="Calibri" panose="020F0502020204030204" pitchFamily="34" charset="0"/>
                          <a:ea typeface="Calibri" panose="020F0502020204030204" pitchFamily="34" charset="0"/>
                          <a:cs typeface="Calibri" panose="020F0502020204030204" pitchFamily="34" charset="0"/>
                        </a:rPr>
                        <a:t>Orthogonal</a:t>
                      </a:r>
                    </a:p>
                  </a:txBody>
                  <a:tcPr anchor="ctr"/>
                </a:tc>
                <a:tc>
                  <a:txBody>
                    <a:bodyPr/>
                    <a:lstStyle/>
                    <a:p>
                      <a:r>
                        <a:rPr lang="en-US" b="0" dirty="0">
                          <a:latin typeface="Calibri" panose="020F0502020204030204" pitchFamily="34" charset="0"/>
                          <a:ea typeface="Calibri" panose="020F0502020204030204" pitchFamily="34" charset="0"/>
                          <a:cs typeface="Calibri" panose="020F0502020204030204" pitchFamily="34" charset="0"/>
                        </a:rPr>
                        <a:t>Uncorrelated</a:t>
                      </a:r>
                    </a:p>
                  </a:txBody>
                  <a:tcPr anchor="ctr"/>
                </a:tc>
                <a:tc>
                  <a:txBody>
                    <a:bodyPr/>
                    <a:lstStyle/>
                    <a:p>
                      <a:r>
                        <a:rPr lang="en-US" dirty="0">
                          <a:latin typeface="Calibri" panose="020F0502020204030204" pitchFamily="34" charset="0"/>
                          <a:ea typeface="Calibri" panose="020F0502020204030204" pitchFamily="34" charset="0"/>
                          <a:cs typeface="Calibri" panose="020F0502020204030204" pitchFamily="34" charset="0"/>
                        </a:rPr>
                        <a:t>You assume the factors are independent (rare).</a:t>
                      </a:r>
                    </a:p>
                  </a:txBody>
                  <a:tcPr anchor="ctr"/>
                </a:tc>
                <a:extLst>
                  <a:ext uri="{0D108BD9-81ED-4DB2-BD59-A6C34878D82A}">
                    <a16:rowId xmlns:a16="http://schemas.microsoft.com/office/drawing/2014/main" val="4013337153"/>
                  </a:ext>
                </a:extLst>
              </a:tr>
              <a:tr h="0">
                <a:tc>
                  <a:txBody>
                    <a:bodyPr/>
                    <a:lstStyle/>
                    <a:p>
                      <a:r>
                        <a:rPr lang="en-US" b="0" dirty="0">
                          <a:latin typeface="Calibri" panose="020F0502020204030204" pitchFamily="34" charset="0"/>
                          <a:ea typeface="Calibri" panose="020F0502020204030204" pitchFamily="34" charset="0"/>
                          <a:cs typeface="Calibri" panose="020F0502020204030204" pitchFamily="34" charset="0"/>
                        </a:rPr>
                        <a:t>Oblique</a:t>
                      </a:r>
                    </a:p>
                  </a:txBody>
                  <a:tcPr anchor="ctr"/>
                </a:tc>
                <a:tc>
                  <a:txBody>
                    <a:bodyPr/>
                    <a:lstStyle/>
                    <a:p>
                      <a:r>
                        <a:rPr lang="en-US" b="0" dirty="0">
                          <a:latin typeface="Calibri" panose="020F0502020204030204" pitchFamily="34" charset="0"/>
                          <a:ea typeface="Calibri" panose="020F0502020204030204" pitchFamily="34" charset="0"/>
                          <a:cs typeface="Calibri" panose="020F0502020204030204" pitchFamily="34" charset="0"/>
                        </a:rPr>
                        <a:t>Correlated</a:t>
                      </a:r>
                    </a:p>
                  </a:txBody>
                  <a:tcPr anchor="ctr"/>
                </a:tc>
                <a:tc>
                  <a:txBody>
                    <a:bodyPr/>
                    <a:lstStyle/>
                    <a:p>
                      <a:r>
                        <a:rPr lang="en-US" dirty="0">
                          <a:latin typeface="Calibri" panose="020F0502020204030204" pitchFamily="34" charset="0"/>
                          <a:ea typeface="Calibri" panose="020F0502020204030204" pitchFamily="34" charset="0"/>
                          <a:cs typeface="Calibri" panose="020F0502020204030204" pitchFamily="34" charset="0"/>
                        </a:rPr>
                        <a:t>More realistic for psychology/social sciences constructs that are highly interdependent</a:t>
                      </a:r>
                    </a:p>
                  </a:txBody>
                  <a:tcPr anchor="ctr"/>
                </a:tc>
                <a:extLst>
                  <a:ext uri="{0D108BD9-81ED-4DB2-BD59-A6C34878D82A}">
                    <a16:rowId xmlns:a16="http://schemas.microsoft.com/office/drawing/2014/main" val="1181635222"/>
                  </a:ext>
                </a:extLst>
              </a:tr>
            </a:tbl>
          </a:graphicData>
        </a:graphic>
      </p:graphicFrame>
    </p:spTree>
    <p:extLst>
      <p:ext uri="{BB962C8B-B14F-4D97-AF65-F5344CB8AC3E}">
        <p14:creationId xmlns:p14="http://schemas.microsoft.com/office/powerpoint/2010/main" val="23845192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F108C0F-CC88-791C-B7B1-8D5A4C38AEE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3125480" y="-1029418"/>
            <a:ext cx="5368386" cy="7666183"/>
          </a:xfrm>
          <a:prstGeom prst="rect">
            <a:avLst/>
          </a:prstGeom>
          <a:noFill/>
          <a:ln>
            <a:noFill/>
          </a:ln>
        </p:spPr>
      </p:pic>
    </p:spTree>
    <p:extLst>
      <p:ext uri="{BB962C8B-B14F-4D97-AF65-F5344CB8AC3E}">
        <p14:creationId xmlns:p14="http://schemas.microsoft.com/office/powerpoint/2010/main" val="19040842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742A6-D35E-4DA3-7B2A-8A197AB2A0FF}"/>
              </a:ext>
            </a:extLst>
          </p:cNvPr>
          <p:cNvSpPr>
            <a:spLocks noGrp="1"/>
          </p:cNvSpPr>
          <p:nvPr>
            <p:ph type="title"/>
          </p:nvPr>
        </p:nvSpPr>
        <p:spPr>
          <a:xfrm>
            <a:off x="61603" y="141840"/>
            <a:ext cx="4431792" cy="505648"/>
          </a:xfrm>
        </p:spPr>
        <p:txBody>
          <a:bodyPr>
            <a:normAutofit fontScale="90000"/>
          </a:bodyPr>
          <a:lstStyle/>
          <a:p>
            <a:r>
              <a:rPr lang="en-US" sz="4000" dirty="0">
                <a:latin typeface="Calibri" panose="020F0502020204030204" pitchFamily="34" charset="0"/>
                <a:ea typeface="Calibri" panose="020F0502020204030204" pitchFamily="34" charset="0"/>
                <a:cs typeface="Calibri" panose="020F0502020204030204" pitchFamily="34" charset="0"/>
              </a:rPr>
              <a:t>Rotation (</a:t>
            </a:r>
            <a:r>
              <a:rPr lang="en-US" sz="4000" dirty="0" err="1">
                <a:latin typeface="Calibri" panose="020F0502020204030204" pitchFamily="34" charset="0"/>
                <a:ea typeface="Calibri" panose="020F0502020204030204" pitchFamily="34" charset="0"/>
                <a:cs typeface="Calibri" panose="020F0502020204030204" pitchFamily="34" charset="0"/>
              </a:rPr>
              <a:t>Cont’D</a:t>
            </a:r>
            <a:r>
              <a:rPr lang="en-US" sz="4000" dirty="0">
                <a:latin typeface="Calibri" panose="020F0502020204030204" pitchFamily="34" charset="0"/>
                <a:ea typeface="Calibri" panose="020F0502020204030204" pitchFamily="34" charset="0"/>
                <a:cs typeface="Calibri" panose="020F0502020204030204" pitchFamily="34" charset="0"/>
              </a:rPr>
              <a:t>)</a:t>
            </a:r>
          </a:p>
        </p:txBody>
      </p:sp>
      <p:sp>
        <p:nvSpPr>
          <p:cNvPr id="3" name="Content Placeholder 2">
            <a:extLst>
              <a:ext uri="{FF2B5EF4-FFF2-40B4-BE49-F238E27FC236}">
                <a16:creationId xmlns:a16="http://schemas.microsoft.com/office/drawing/2014/main" id="{9544979D-1753-A417-B791-30D9B58E01A6}"/>
              </a:ext>
            </a:extLst>
          </p:cNvPr>
          <p:cNvSpPr>
            <a:spLocks noGrp="1"/>
          </p:cNvSpPr>
          <p:nvPr>
            <p:ph idx="1"/>
          </p:nvPr>
        </p:nvSpPr>
        <p:spPr>
          <a:xfrm>
            <a:off x="181918" y="647488"/>
            <a:ext cx="5914082" cy="3931920"/>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When more than one variable loads highly on a factor, the interpretation becomes difficult (as we will see)</a:t>
            </a:r>
          </a:p>
          <a:p>
            <a:r>
              <a:rPr lang="en-US" sz="2000" dirty="0">
                <a:latin typeface="Calibri" panose="020F0502020204030204" pitchFamily="34" charset="0"/>
                <a:ea typeface="Calibri" panose="020F0502020204030204" pitchFamily="34" charset="0"/>
                <a:cs typeface="Calibri" panose="020F0502020204030204" pitchFamily="34" charset="0"/>
              </a:rPr>
              <a:t>It is a good idea to find an appropriate rotation that makes the factors more interpretable</a:t>
            </a:r>
          </a:p>
          <a:p>
            <a:r>
              <a:rPr lang="en-US" sz="2000" dirty="0">
                <a:latin typeface="Calibri" panose="020F0502020204030204" pitchFamily="34" charset="0"/>
                <a:ea typeface="Calibri" panose="020F0502020204030204" pitchFamily="34" charset="0"/>
                <a:cs typeface="Calibri" panose="020F0502020204030204" pitchFamily="34" charset="0"/>
              </a:rPr>
              <a:t>The best way to understand this is by a scatterplot matrix of the factor loadings – the goal is to find a rotation such that each of the variables has a high loading on only one factor</a:t>
            </a:r>
          </a:p>
        </p:txBody>
      </p:sp>
      <p:pic>
        <p:nvPicPr>
          <p:cNvPr id="5" name="Picture 4" descr="A diagram of a factor&#10;&#10;AI-generated content may be incorrect.">
            <a:extLst>
              <a:ext uri="{FF2B5EF4-FFF2-40B4-BE49-F238E27FC236}">
                <a16:creationId xmlns:a16="http://schemas.microsoft.com/office/drawing/2014/main" id="{42CB3F74-7263-F144-93FF-A9C18640B25B}"/>
              </a:ext>
            </a:extLst>
          </p:cNvPr>
          <p:cNvPicPr>
            <a:picLocks noChangeAspect="1"/>
          </p:cNvPicPr>
          <p:nvPr/>
        </p:nvPicPr>
        <p:blipFill>
          <a:blip r:embed="rId3"/>
          <a:stretch>
            <a:fillRect/>
          </a:stretch>
        </p:blipFill>
        <p:spPr>
          <a:xfrm>
            <a:off x="6807843" y="141840"/>
            <a:ext cx="4558496" cy="6837745"/>
          </a:xfrm>
          <a:prstGeom prst="rect">
            <a:avLst/>
          </a:prstGeom>
        </p:spPr>
      </p:pic>
    </p:spTree>
    <p:extLst>
      <p:ext uri="{BB962C8B-B14F-4D97-AF65-F5344CB8AC3E}">
        <p14:creationId xmlns:p14="http://schemas.microsoft.com/office/powerpoint/2010/main" val="38460768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51AFD-6336-6BA4-791D-DA1A39CF50C9}"/>
              </a:ext>
            </a:extLst>
          </p:cNvPr>
          <p:cNvSpPr>
            <a:spLocks noGrp="1"/>
          </p:cNvSpPr>
          <p:nvPr>
            <p:ph type="title"/>
          </p:nvPr>
        </p:nvSpPr>
        <p:spPr>
          <a:xfrm>
            <a:off x="201592" y="122343"/>
            <a:ext cx="10515600" cy="595574"/>
          </a:xfrm>
        </p:spPr>
        <p:txBody>
          <a:bodyPr vert="horz" lIns="91440" tIns="45720" rIns="91440" bIns="45720" rtlCol="0" anchor="ctr">
            <a:normAutofit fontScale="90000"/>
          </a:bodyPr>
          <a:lstStyle/>
          <a:p>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Example: Visualizing Rotation</a:t>
            </a:r>
            <a:endParaRPr lang="en-US" dirty="0">
              <a:solidFill>
                <a:schemeClr val="tx1"/>
              </a:solidFill>
            </a:endParaRPr>
          </a:p>
        </p:txBody>
      </p:sp>
      <p:graphicFrame>
        <p:nvGraphicFramePr>
          <p:cNvPr id="5" name="Content Placeholder 4">
            <a:extLst>
              <a:ext uri="{FF2B5EF4-FFF2-40B4-BE49-F238E27FC236}">
                <a16:creationId xmlns:a16="http://schemas.microsoft.com/office/drawing/2014/main" id="{A7155530-911C-F3F2-DBD9-8EF8A0DA4F9C}"/>
              </a:ext>
            </a:extLst>
          </p:cNvPr>
          <p:cNvGraphicFramePr>
            <a:graphicFrameLocks noGrp="1"/>
          </p:cNvGraphicFramePr>
          <p:nvPr>
            <p:ph sz="half" idx="1"/>
            <p:extLst>
              <p:ext uri="{D42A27DB-BD31-4B8C-83A1-F6EECF244321}">
                <p14:modId xmlns:p14="http://schemas.microsoft.com/office/powerpoint/2010/main" val="2361560143"/>
              </p:ext>
            </p:extLst>
          </p:nvPr>
        </p:nvGraphicFramePr>
        <p:xfrm>
          <a:off x="628712" y="2130799"/>
          <a:ext cx="4931828" cy="4205255"/>
        </p:xfrm>
        <a:graphic>
          <a:graphicData uri="http://schemas.openxmlformats.org/drawingml/2006/table">
            <a:tbl>
              <a:tblPr firstRow="1" bandRow="1">
                <a:tableStyleId>{5C22544A-7EE6-4342-B048-85BDC9FD1C3A}</a:tableStyleId>
              </a:tblPr>
              <a:tblGrid>
                <a:gridCol w="1771967">
                  <a:extLst>
                    <a:ext uri="{9D8B030D-6E8A-4147-A177-3AD203B41FA5}">
                      <a16:colId xmlns:a16="http://schemas.microsoft.com/office/drawing/2014/main" val="3594886218"/>
                    </a:ext>
                  </a:extLst>
                </a:gridCol>
                <a:gridCol w="1083926">
                  <a:extLst>
                    <a:ext uri="{9D8B030D-6E8A-4147-A177-3AD203B41FA5}">
                      <a16:colId xmlns:a16="http://schemas.microsoft.com/office/drawing/2014/main" val="2639477066"/>
                    </a:ext>
                  </a:extLst>
                </a:gridCol>
                <a:gridCol w="1062681">
                  <a:extLst>
                    <a:ext uri="{9D8B030D-6E8A-4147-A177-3AD203B41FA5}">
                      <a16:colId xmlns:a16="http://schemas.microsoft.com/office/drawing/2014/main" val="3591472324"/>
                    </a:ext>
                  </a:extLst>
                </a:gridCol>
                <a:gridCol w="1013254">
                  <a:extLst>
                    <a:ext uri="{9D8B030D-6E8A-4147-A177-3AD203B41FA5}">
                      <a16:colId xmlns:a16="http://schemas.microsoft.com/office/drawing/2014/main" val="634873669"/>
                    </a:ext>
                  </a:extLst>
                </a:gridCol>
              </a:tblGrid>
              <a:tr h="325915">
                <a:tc gridSpan="4">
                  <a:txBody>
                    <a:bodyPr/>
                    <a:lstStyle/>
                    <a:p>
                      <a:pPr algn="l"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Factor</a:t>
                      </a:r>
                    </a:p>
                  </a:txBody>
                  <a:tcPr marL="20488" marR="20488" marT="20488" marB="0"/>
                </a:tc>
                <a:tc hMerge="1">
                  <a:txBody>
                    <a:bodyPr/>
                    <a:lstStyle/>
                    <a:p>
                      <a:endParaRPr lang="en-US"/>
                    </a:p>
                  </a:txBody>
                  <a:tcPr/>
                </a:tc>
                <a:tc hMerge="1">
                  <a:txBody>
                    <a:bodyPr/>
                    <a:lstStyle/>
                    <a:p>
                      <a:endParaRPr lang="en-US"/>
                    </a:p>
                  </a:txBody>
                  <a:tcPr/>
                </a:tc>
                <a:tc hMerge="1">
                  <a:txBody>
                    <a:bodyPr/>
                    <a:lstStyle/>
                    <a:p>
                      <a:pPr algn="l" fontAlgn="b"/>
                      <a:r>
                        <a:rPr lang="en-US" sz="2400" u="none" strike="noStrike" dirty="0">
                          <a:effectLst/>
                        </a:rPr>
                        <a:t> </a:t>
                      </a:r>
                      <a:endParaRPr lang="en-US" sz="2400" b="0" i="0" u="none" strike="noStrike" dirty="0">
                        <a:solidFill>
                          <a:srgbClr val="000000"/>
                        </a:solidFill>
                        <a:effectLst/>
                        <a:latin typeface="Calibri" panose="020F0502020204030204" pitchFamily="34" charset="0"/>
                      </a:endParaRPr>
                    </a:p>
                  </a:txBody>
                  <a:tcPr marL="20488" marR="20488" marT="20488" marB="0" anchor="b"/>
                </a:tc>
                <a:extLst>
                  <a:ext uri="{0D108BD9-81ED-4DB2-BD59-A6C34878D82A}">
                    <a16:rowId xmlns:a16="http://schemas.microsoft.com/office/drawing/2014/main" val="2371700437"/>
                  </a:ext>
                </a:extLst>
              </a:tr>
              <a:tr h="387934">
                <a:tc>
                  <a:txBody>
                    <a:bodyPr/>
                    <a:lstStyle/>
                    <a:p>
                      <a:pPr algn="l"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Variable</a:t>
                      </a:r>
                      <a:endParaRPr lang="en-US"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1</a:t>
                      </a:r>
                      <a:endParaRPr lang="en-US"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2</a:t>
                      </a:r>
                      <a:endParaRPr lang="en-US"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3</a:t>
                      </a:r>
                      <a:endParaRPr lang="en-US"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extLst>
                  <a:ext uri="{0D108BD9-81ED-4DB2-BD59-A6C34878D82A}">
                    <a16:rowId xmlns:a16="http://schemas.microsoft.com/office/drawing/2014/main" val="3417152127"/>
                  </a:ext>
                </a:extLst>
              </a:tr>
              <a:tr h="387934">
                <a:tc>
                  <a:txBody>
                    <a:bodyPr/>
                    <a:lstStyle/>
                    <a:p>
                      <a:pPr algn="l"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Climate</a:t>
                      </a:r>
                      <a:endParaRPr lang="en-US"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0.286</a:t>
                      </a:r>
                      <a:endParaRPr lang="en-US"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0.076</a:t>
                      </a:r>
                      <a:endParaRPr lang="en-US"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0.841</a:t>
                      </a:r>
                      <a:endParaRPr lang="en-US"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extLst>
                  <a:ext uri="{0D108BD9-81ED-4DB2-BD59-A6C34878D82A}">
                    <a16:rowId xmlns:a16="http://schemas.microsoft.com/office/drawing/2014/main" val="657762659"/>
                  </a:ext>
                </a:extLst>
              </a:tr>
              <a:tr h="387934">
                <a:tc>
                  <a:txBody>
                    <a:bodyPr/>
                    <a:lstStyle/>
                    <a:p>
                      <a:pPr algn="l"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Housing</a:t>
                      </a:r>
                      <a:endParaRPr lang="en-US"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0.698</a:t>
                      </a:r>
                      <a:endParaRPr lang="en-US"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0.153</a:t>
                      </a:r>
                      <a:endParaRPr lang="en-US"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a:effectLst/>
                          <a:latin typeface="Calibri" panose="020F0502020204030204" pitchFamily="34" charset="0"/>
                          <a:ea typeface="Calibri" panose="020F0502020204030204" pitchFamily="34" charset="0"/>
                          <a:cs typeface="Calibri" panose="020F0502020204030204" pitchFamily="34" charset="0"/>
                        </a:rPr>
                        <a:t>0.084</a:t>
                      </a:r>
                      <a:endParaRPr lang="en-US" sz="1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extLst>
                  <a:ext uri="{0D108BD9-81ED-4DB2-BD59-A6C34878D82A}">
                    <a16:rowId xmlns:a16="http://schemas.microsoft.com/office/drawing/2014/main" val="619108501"/>
                  </a:ext>
                </a:extLst>
              </a:tr>
              <a:tr h="387934">
                <a:tc>
                  <a:txBody>
                    <a:bodyPr/>
                    <a:lstStyle/>
                    <a:p>
                      <a:pPr algn="l" fontAlgn="t"/>
                      <a:r>
                        <a:rPr lang="en-US" sz="1800" u="none" strike="noStrike">
                          <a:effectLst/>
                          <a:latin typeface="Calibri" panose="020F0502020204030204" pitchFamily="34" charset="0"/>
                          <a:ea typeface="Calibri" panose="020F0502020204030204" pitchFamily="34" charset="0"/>
                          <a:cs typeface="Calibri" panose="020F0502020204030204" pitchFamily="34" charset="0"/>
                        </a:rPr>
                        <a:t>Health</a:t>
                      </a:r>
                      <a:endParaRPr lang="en-US" sz="1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0.744</a:t>
                      </a:r>
                      <a:endParaRPr lang="en-US"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-0.41</a:t>
                      </a:r>
                      <a:endParaRPr lang="en-US"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-0.02</a:t>
                      </a:r>
                      <a:endParaRPr lang="en-US"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extLst>
                  <a:ext uri="{0D108BD9-81ED-4DB2-BD59-A6C34878D82A}">
                    <a16:rowId xmlns:a16="http://schemas.microsoft.com/office/drawing/2014/main" val="3036940624"/>
                  </a:ext>
                </a:extLst>
              </a:tr>
              <a:tr h="387934">
                <a:tc>
                  <a:txBody>
                    <a:bodyPr/>
                    <a:lstStyle/>
                    <a:p>
                      <a:pPr algn="l" fontAlgn="t"/>
                      <a:r>
                        <a:rPr lang="en-US" sz="1800" u="none" strike="noStrike">
                          <a:effectLst/>
                          <a:latin typeface="Calibri" panose="020F0502020204030204" pitchFamily="34" charset="0"/>
                          <a:ea typeface="Calibri" panose="020F0502020204030204" pitchFamily="34" charset="0"/>
                          <a:cs typeface="Calibri" panose="020F0502020204030204" pitchFamily="34" charset="0"/>
                        </a:rPr>
                        <a:t>Crime</a:t>
                      </a:r>
                      <a:endParaRPr lang="en-US" sz="1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0.471</a:t>
                      </a:r>
                      <a:endParaRPr lang="en-US"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0.522</a:t>
                      </a:r>
                      <a:endParaRPr lang="en-US"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0.135</a:t>
                      </a:r>
                      <a:endParaRPr lang="en-US"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extLst>
                  <a:ext uri="{0D108BD9-81ED-4DB2-BD59-A6C34878D82A}">
                    <a16:rowId xmlns:a16="http://schemas.microsoft.com/office/drawing/2014/main" val="513561368"/>
                  </a:ext>
                </a:extLst>
              </a:tr>
              <a:tr h="387934">
                <a:tc>
                  <a:txBody>
                    <a:bodyPr/>
                    <a:lstStyle/>
                    <a:p>
                      <a:pPr algn="l" fontAlgn="t"/>
                      <a:r>
                        <a:rPr lang="en-US" sz="1800" u="none" strike="noStrike">
                          <a:effectLst/>
                          <a:latin typeface="Calibri" panose="020F0502020204030204" pitchFamily="34" charset="0"/>
                          <a:ea typeface="Calibri" panose="020F0502020204030204" pitchFamily="34" charset="0"/>
                          <a:cs typeface="Calibri" panose="020F0502020204030204" pitchFamily="34" charset="0"/>
                        </a:rPr>
                        <a:t>Transportation</a:t>
                      </a:r>
                      <a:endParaRPr lang="en-US" sz="1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a:effectLst/>
                          <a:latin typeface="Calibri" panose="020F0502020204030204" pitchFamily="34" charset="0"/>
                          <a:ea typeface="Calibri" panose="020F0502020204030204" pitchFamily="34" charset="0"/>
                          <a:cs typeface="Calibri" panose="020F0502020204030204" pitchFamily="34" charset="0"/>
                        </a:rPr>
                        <a:t>0.681</a:t>
                      </a:r>
                      <a:endParaRPr lang="en-US" sz="18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-0.156</a:t>
                      </a:r>
                      <a:endParaRPr lang="en-US"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-0.148</a:t>
                      </a:r>
                      <a:endParaRPr lang="en-US"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extLst>
                  <a:ext uri="{0D108BD9-81ED-4DB2-BD59-A6C34878D82A}">
                    <a16:rowId xmlns:a16="http://schemas.microsoft.com/office/drawing/2014/main" val="219385146"/>
                  </a:ext>
                </a:extLst>
              </a:tr>
              <a:tr h="387934">
                <a:tc>
                  <a:txBody>
                    <a:bodyPr/>
                    <a:lstStyle/>
                    <a:p>
                      <a:pPr algn="l"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Education</a:t>
                      </a:r>
                      <a:endParaRPr lang="en-US"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solidFill>
                      <a:srgbClr val="FFFF00"/>
                    </a:solidFill>
                  </a:tcPr>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0.498</a:t>
                      </a:r>
                      <a:endParaRPr lang="en-US"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solidFill>
                      <a:srgbClr val="FFFF00"/>
                    </a:solidFill>
                  </a:tcPr>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-0.498</a:t>
                      </a:r>
                      <a:endParaRPr lang="en-US"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solidFill>
                      <a:srgbClr val="FFFF00"/>
                    </a:solidFill>
                  </a:tcPr>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-0.253</a:t>
                      </a:r>
                      <a:endParaRPr lang="en-US"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solidFill>
                      <a:srgbClr val="FFFF00"/>
                    </a:solidFill>
                  </a:tcPr>
                </a:tc>
                <a:extLst>
                  <a:ext uri="{0D108BD9-81ED-4DB2-BD59-A6C34878D82A}">
                    <a16:rowId xmlns:a16="http://schemas.microsoft.com/office/drawing/2014/main" val="2375117449"/>
                  </a:ext>
                </a:extLst>
              </a:tr>
              <a:tr h="387934">
                <a:tc>
                  <a:txBody>
                    <a:bodyPr/>
                    <a:lstStyle/>
                    <a:p>
                      <a:pPr algn="l" fontAlgn="t"/>
                      <a:r>
                        <a:rPr lang="en-US" sz="1800" u="none" strike="noStrike">
                          <a:effectLst/>
                          <a:latin typeface="Calibri" panose="020F0502020204030204" pitchFamily="34" charset="0"/>
                          <a:ea typeface="Calibri" panose="020F0502020204030204" pitchFamily="34" charset="0"/>
                          <a:cs typeface="Calibri" panose="020F0502020204030204" pitchFamily="34" charset="0"/>
                        </a:rPr>
                        <a:t>Arts</a:t>
                      </a:r>
                      <a:endParaRPr lang="en-US" sz="1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a:effectLst/>
                          <a:latin typeface="Calibri" panose="020F0502020204030204" pitchFamily="34" charset="0"/>
                          <a:ea typeface="Calibri" panose="020F0502020204030204" pitchFamily="34" charset="0"/>
                          <a:cs typeface="Calibri" panose="020F0502020204030204" pitchFamily="34" charset="0"/>
                        </a:rPr>
                        <a:t>0.861</a:t>
                      </a:r>
                      <a:endParaRPr lang="en-US" sz="18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-0.115</a:t>
                      </a:r>
                      <a:endParaRPr lang="en-US"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0.011</a:t>
                      </a:r>
                      <a:endParaRPr lang="en-US"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extLst>
                  <a:ext uri="{0D108BD9-81ED-4DB2-BD59-A6C34878D82A}">
                    <a16:rowId xmlns:a16="http://schemas.microsoft.com/office/drawing/2014/main" val="1297731234"/>
                  </a:ext>
                </a:extLst>
              </a:tr>
              <a:tr h="387934">
                <a:tc>
                  <a:txBody>
                    <a:bodyPr/>
                    <a:lstStyle/>
                    <a:p>
                      <a:pPr algn="l" fontAlgn="t"/>
                      <a:r>
                        <a:rPr lang="en-US" sz="1800" u="none" strike="noStrike">
                          <a:effectLst/>
                          <a:latin typeface="Calibri" panose="020F0502020204030204" pitchFamily="34" charset="0"/>
                          <a:ea typeface="Calibri" panose="020F0502020204030204" pitchFamily="34" charset="0"/>
                          <a:cs typeface="Calibri" panose="020F0502020204030204" pitchFamily="34" charset="0"/>
                        </a:rPr>
                        <a:t>Recreation</a:t>
                      </a:r>
                      <a:endParaRPr lang="en-US" sz="1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a:effectLst/>
                          <a:latin typeface="Calibri" panose="020F0502020204030204" pitchFamily="34" charset="0"/>
                          <a:ea typeface="Calibri" panose="020F0502020204030204" pitchFamily="34" charset="0"/>
                          <a:cs typeface="Calibri" panose="020F0502020204030204" pitchFamily="34" charset="0"/>
                        </a:rPr>
                        <a:t>0.642</a:t>
                      </a:r>
                      <a:endParaRPr lang="en-US" sz="18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a:effectLst/>
                          <a:latin typeface="Calibri" panose="020F0502020204030204" pitchFamily="34" charset="0"/>
                          <a:ea typeface="Calibri" panose="020F0502020204030204" pitchFamily="34" charset="0"/>
                          <a:cs typeface="Calibri" panose="020F0502020204030204" pitchFamily="34" charset="0"/>
                        </a:rPr>
                        <a:t>0.322</a:t>
                      </a:r>
                      <a:endParaRPr lang="en-US" sz="1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0.044</a:t>
                      </a:r>
                      <a:endParaRPr lang="en-US"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extLst>
                  <a:ext uri="{0D108BD9-81ED-4DB2-BD59-A6C34878D82A}">
                    <a16:rowId xmlns:a16="http://schemas.microsoft.com/office/drawing/2014/main" val="2655455474"/>
                  </a:ext>
                </a:extLst>
              </a:tr>
              <a:tr h="387934">
                <a:tc>
                  <a:txBody>
                    <a:bodyPr/>
                    <a:lstStyle/>
                    <a:p>
                      <a:pPr algn="l"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Economics</a:t>
                      </a:r>
                      <a:endParaRPr lang="en-US"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solidFill>
                      <a:srgbClr val="FFFF00"/>
                    </a:solidFill>
                  </a:tcPr>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0.298</a:t>
                      </a:r>
                      <a:endParaRPr lang="en-US"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solidFill>
                      <a:srgbClr val="FFFF00"/>
                    </a:solidFill>
                  </a:tcPr>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0.595</a:t>
                      </a:r>
                      <a:endParaRPr lang="en-US"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solidFill>
                      <a:srgbClr val="FFFF00"/>
                    </a:solidFill>
                  </a:tcPr>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-0.533</a:t>
                      </a:r>
                      <a:endParaRPr lang="en-US"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solidFill>
                      <a:srgbClr val="FFFF00"/>
                    </a:solidFill>
                  </a:tcPr>
                </a:tc>
                <a:extLst>
                  <a:ext uri="{0D108BD9-81ED-4DB2-BD59-A6C34878D82A}">
                    <a16:rowId xmlns:a16="http://schemas.microsoft.com/office/drawing/2014/main" val="1729466633"/>
                  </a:ext>
                </a:extLst>
              </a:tr>
            </a:tbl>
          </a:graphicData>
        </a:graphic>
      </p:graphicFrame>
      <p:pic>
        <p:nvPicPr>
          <p:cNvPr id="10" name="Picture 9">
            <a:extLst>
              <a:ext uri="{FF2B5EF4-FFF2-40B4-BE49-F238E27FC236}">
                <a16:creationId xmlns:a16="http://schemas.microsoft.com/office/drawing/2014/main" id="{68B3652D-5D60-601D-1615-4BEB41C3A58E}"/>
              </a:ext>
            </a:extLst>
          </p:cNvPr>
          <p:cNvPicPr>
            <a:picLocks noChangeAspect="1"/>
          </p:cNvPicPr>
          <p:nvPr/>
        </p:nvPicPr>
        <p:blipFill>
          <a:blip r:embed="rId3"/>
          <a:stretch>
            <a:fillRect/>
          </a:stretch>
        </p:blipFill>
        <p:spPr>
          <a:xfrm>
            <a:off x="6096000" y="2267974"/>
            <a:ext cx="4931828" cy="3930904"/>
          </a:xfrm>
          <a:prstGeom prst="rect">
            <a:avLst/>
          </a:prstGeom>
        </p:spPr>
      </p:pic>
      <p:sp>
        <p:nvSpPr>
          <p:cNvPr id="12" name="Oval 11">
            <a:extLst>
              <a:ext uri="{FF2B5EF4-FFF2-40B4-BE49-F238E27FC236}">
                <a16:creationId xmlns:a16="http://schemas.microsoft.com/office/drawing/2014/main" id="{1E2CF198-DC30-7AF4-5251-694BCAEDBC5E}"/>
              </a:ext>
            </a:extLst>
          </p:cNvPr>
          <p:cNvSpPr/>
          <p:nvPr/>
        </p:nvSpPr>
        <p:spPr>
          <a:xfrm>
            <a:off x="2397211" y="2706130"/>
            <a:ext cx="1828800" cy="55605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93E11ECA-CE9E-2E1F-4F69-29E2BA3DBFCF}"/>
              </a:ext>
            </a:extLst>
          </p:cNvPr>
          <p:cNvCxnSpPr/>
          <p:nvPr/>
        </p:nvCxnSpPr>
        <p:spPr>
          <a:xfrm>
            <a:off x="4226011" y="2977978"/>
            <a:ext cx="4992130" cy="25702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 name="Rectangle 1">
            <a:extLst>
              <a:ext uri="{FF2B5EF4-FFF2-40B4-BE49-F238E27FC236}">
                <a16:creationId xmlns:a16="http://schemas.microsoft.com/office/drawing/2014/main" id="{D60B6D09-9909-00FF-F562-5DE3EBE0F1C4}"/>
              </a:ext>
            </a:extLst>
          </p:cNvPr>
          <p:cNvSpPr>
            <a:spLocks noChangeArrowheads="1"/>
          </p:cNvSpPr>
          <p:nvPr/>
        </p:nvSpPr>
        <p:spPr bwMode="auto">
          <a:xfrm>
            <a:off x="383618" y="697296"/>
            <a:ext cx="888204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Before rotation:</a:t>
            </a:r>
            <a:b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Look at “</a:t>
            </a: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Climate</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”—it has moderate loadings on two of three factors: 0.286, and 0.841</a:t>
            </a:r>
            <a:b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And “</a:t>
            </a: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Education</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is split equally between two factors: 0.498 and –0.498</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This is messy. Variables are loading on multiple factors, which makes interpretation difficult</a:t>
            </a:r>
          </a:p>
        </p:txBody>
      </p:sp>
    </p:spTree>
    <p:extLst>
      <p:ext uri="{BB962C8B-B14F-4D97-AF65-F5344CB8AC3E}">
        <p14:creationId xmlns:p14="http://schemas.microsoft.com/office/powerpoint/2010/main" val="21215097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51AFD-6336-6BA4-791D-DA1A39CF50C9}"/>
              </a:ext>
            </a:extLst>
          </p:cNvPr>
          <p:cNvSpPr>
            <a:spLocks noGrp="1"/>
          </p:cNvSpPr>
          <p:nvPr>
            <p:ph type="title"/>
          </p:nvPr>
        </p:nvSpPr>
        <p:spPr>
          <a:xfrm>
            <a:off x="117545" y="103783"/>
            <a:ext cx="10515600" cy="515284"/>
          </a:xfrm>
        </p:spPr>
        <p:txBody>
          <a:bodyPr vert="horz" lIns="91440" tIns="45720" rIns="91440" bIns="45720" rtlCol="0" anchor="ctr">
            <a:normAutofit fontScale="90000"/>
          </a:bodyPr>
          <a:lstStyle/>
          <a:p>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Example: Visualizing Rotation</a:t>
            </a:r>
          </a:p>
        </p:txBody>
      </p:sp>
      <p:graphicFrame>
        <p:nvGraphicFramePr>
          <p:cNvPr id="5" name="Content Placeholder 4">
            <a:extLst>
              <a:ext uri="{FF2B5EF4-FFF2-40B4-BE49-F238E27FC236}">
                <a16:creationId xmlns:a16="http://schemas.microsoft.com/office/drawing/2014/main" id="{A7155530-911C-F3F2-DBD9-8EF8A0DA4F9C}"/>
              </a:ext>
            </a:extLst>
          </p:cNvPr>
          <p:cNvGraphicFramePr>
            <a:graphicFrameLocks noGrp="1"/>
          </p:cNvGraphicFramePr>
          <p:nvPr>
            <p:ph sz="half" idx="1"/>
            <p:extLst>
              <p:ext uri="{D42A27DB-BD31-4B8C-83A1-F6EECF244321}">
                <p14:modId xmlns:p14="http://schemas.microsoft.com/office/powerpoint/2010/main" val="201909421"/>
              </p:ext>
            </p:extLst>
          </p:nvPr>
        </p:nvGraphicFramePr>
        <p:xfrm>
          <a:off x="628712" y="2130799"/>
          <a:ext cx="4931828" cy="4205255"/>
        </p:xfrm>
        <a:graphic>
          <a:graphicData uri="http://schemas.openxmlformats.org/drawingml/2006/table">
            <a:tbl>
              <a:tblPr firstRow="1" bandRow="1">
                <a:tableStyleId>{5C22544A-7EE6-4342-B048-85BDC9FD1C3A}</a:tableStyleId>
              </a:tblPr>
              <a:tblGrid>
                <a:gridCol w="1771967">
                  <a:extLst>
                    <a:ext uri="{9D8B030D-6E8A-4147-A177-3AD203B41FA5}">
                      <a16:colId xmlns:a16="http://schemas.microsoft.com/office/drawing/2014/main" val="3594886218"/>
                    </a:ext>
                  </a:extLst>
                </a:gridCol>
                <a:gridCol w="1083926">
                  <a:extLst>
                    <a:ext uri="{9D8B030D-6E8A-4147-A177-3AD203B41FA5}">
                      <a16:colId xmlns:a16="http://schemas.microsoft.com/office/drawing/2014/main" val="2639477066"/>
                    </a:ext>
                  </a:extLst>
                </a:gridCol>
                <a:gridCol w="1062681">
                  <a:extLst>
                    <a:ext uri="{9D8B030D-6E8A-4147-A177-3AD203B41FA5}">
                      <a16:colId xmlns:a16="http://schemas.microsoft.com/office/drawing/2014/main" val="3591472324"/>
                    </a:ext>
                  </a:extLst>
                </a:gridCol>
                <a:gridCol w="1013254">
                  <a:extLst>
                    <a:ext uri="{9D8B030D-6E8A-4147-A177-3AD203B41FA5}">
                      <a16:colId xmlns:a16="http://schemas.microsoft.com/office/drawing/2014/main" val="634873669"/>
                    </a:ext>
                  </a:extLst>
                </a:gridCol>
              </a:tblGrid>
              <a:tr h="325915">
                <a:tc gridSpan="4">
                  <a:txBody>
                    <a:bodyPr/>
                    <a:lstStyle/>
                    <a:p>
                      <a:pPr algn="l" fontAlgn="t"/>
                      <a:r>
                        <a:rPr lang="en-US" sz="2000" u="none" strike="noStrike" dirty="0">
                          <a:effectLst/>
                          <a:latin typeface="Calibri" panose="020F0502020204030204" pitchFamily="34" charset="0"/>
                          <a:ea typeface="Calibri" panose="020F0502020204030204" pitchFamily="34" charset="0"/>
                          <a:cs typeface="Calibri" panose="020F0502020204030204" pitchFamily="34" charset="0"/>
                        </a:rPr>
                        <a:t>Factor</a:t>
                      </a:r>
                    </a:p>
                  </a:txBody>
                  <a:tcPr marL="20488" marR="20488" marT="20488" marB="0"/>
                </a:tc>
                <a:tc hMerge="1">
                  <a:txBody>
                    <a:bodyPr/>
                    <a:lstStyle/>
                    <a:p>
                      <a:endParaRPr lang="en-US"/>
                    </a:p>
                  </a:txBody>
                  <a:tcPr/>
                </a:tc>
                <a:tc hMerge="1">
                  <a:txBody>
                    <a:bodyPr/>
                    <a:lstStyle/>
                    <a:p>
                      <a:endParaRPr lang="en-US"/>
                    </a:p>
                  </a:txBody>
                  <a:tcPr/>
                </a:tc>
                <a:tc hMerge="1">
                  <a:txBody>
                    <a:bodyPr/>
                    <a:lstStyle/>
                    <a:p>
                      <a:pPr algn="l" fontAlgn="b"/>
                      <a:r>
                        <a:rPr lang="en-US" sz="2400" u="none" strike="noStrike" dirty="0">
                          <a:effectLst/>
                        </a:rPr>
                        <a:t> </a:t>
                      </a:r>
                      <a:endParaRPr lang="en-US" sz="2400" b="0" i="0" u="none" strike="noStrike" dirty="0">
                        <a:solidFill>
                          <a:srgbClr val="000000"/>
                        </a:solidFill>
                        <a:effectLst/>
                        <a:latin typeface="Calibri" panose="020F0502020204030204" pitchFamily="34" charset="0"/>
                      </a:endParaRPr>
                    </a:p>
                  </a:txBody>
                  <a:tcPr marL="20488" marR="20488" marT="20488" marB="0" anchor="b"/>
                </a:tc>
                <a:extLst>
                  <a:ext uri="{0D108BD9-81ED-4DB2-BD59-A6C34878D82A}">
                    <a16:rowId xmlns:a16="http://schemas.microsoft.com/office/drawing/2014/main" val="2371700437"/>
                  </a:ext>
                </a:extLst>
              </a:tr>
              <a:tr h="387934">
                <a:tc>
                  <a:txBody>
                    <a:bodyPr/>
                    <a:lstStyle/>
                    <a:p>
                      <a:pPr algn="l" fontAlgn="t"/>
                      <a:r>
                        <a:rPr lang="en-US" sz="2000" u="none" strike="noStrike" dirty="0">
                          <a:effectLst/>
                          <a:latin typeface="Calibri" panose="020F0502020204030204" pitchFamily="34" charset="0"/>
                          <a:ea typeface="Calibri" panose="020F0502020204030204" pitchFamily="34" charset="0"/>
                          <a:cs typeface="Calibri" panose="020F0502020204030204" pitchFamily="34" charset="0"/>
                        </a:rPr>
                        <a:t>Variable</a:t>
                      </a:r>
                      <a:endParaRPr lang="en-US" sz="20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2000" u="none" strike="noStrike" dirty="0">
                          <a:effectLst/>
                          <a:latin typeface="Calibri" panose="020F0502020204030204" pitchFamily="34" charset="0"/>
                          <a:ea typeface="Calibri" panose="020F0502020204030204" pitchFamily="34" charset="0"/>
                          <a:cs typeface="Calibri" panose="020F0502020204030204" pitchFamily="34" charset="0"/>
                        </a:rPr>
                        <a:t>1</a:t>
                      </a:r>
                      <a:endParaRPr lang="en-US" sz="20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2000" u="none" strike="noStrike" dirty="0">
                          <a:effectLst/>
                          <a:latin typeface="Calibri" panose="020F0502020204030204" pitchFamily="34" charset="0"/>
                          <a:ea typeface="Calibri" panose="020F0502020204030204" pitchFamily="34" charset="0"/>
                          <a:cs typeface="Calibri" panose="020F0502020204030204" pitchFamily="34" charset="0"/>
                        </a:rPr>
                        <a:t>2</a:t>
                      </a:r>
                      <a:endParaRPr lang="en-US" sz="20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2000" u="none" strike="noStrike" dirty="0">
                          <a:effectLst/>
                          <a:latin typeface="Calibri" panose="020F0502020204030204" pitchFamily="34" charset="0"/>
                          <a:ea typeface="Calibri" panose="020F0502020204030204" pitchFamily="34" charset="0"/>
                          <a:cs typeface="Calibri" panose="020F0502020204030204" pitchFamily="34" charset="0"/>
                        </a:rPr>
                        <a:t>3</a:t>
                      </a:r>
                      <a:endParaRPr lang="en-US" sz="20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extLst>
                  <a:ext uri="{0D108BD9-81ED-4DB2-BD59-A6C34878D82A}">
                    <a16:rowId xmlns:a16="http://schemas.microsoft.com/office/drawing/2014/main" val="3417152127"/>
                  </a:ext>
                </a:extLst>
              </a:tr>
              <a:tr h="387934">
                <a:tc>
                  <a:txBody>
                    <a:bodyPr/>
                    <a:lstStyle/>
                    <a:p>
                      <a:pPr algn="l" fontAlgn="t"/>
                      <a:r>
                        <a:rPr lang="en-US" sz="1800" b="0" i="0" u="none" strike="noStrike" dirty="0">
                          <a:solidFill>
                            <a:srgbClr val="3B444F"/>
                          </a:solidFill>
                          <a:effectLst/>
                          <a:latin typeface="Calibri" panose="020F0502020204030204" pitchFamily="34" charset="0"/>
                          <a:ea typeface="Calibri" panose="020F0502020204030204" pitchFamily="34" charset="0"/>
                          <a:cs typeface="Calibri" panose="020F0502020204030204" pitchFamily="34" charset="0"/>
                        </a:rPr>
                        <a:t>Climate</a:t>
                      </a:r>
                    </a:p>
                  </a:txBody>
                  <a:tcPr marL="9525" marR="9525" marT="9525" marB="0"/>
                </a:tc>
                <a:tc>
                  <a:txBody>
                    <a:bodyPr/>
                    <a:lstStyle/>
                    <a:p>
                      <a:pPr algn="ctr" fontAlgn="t"/>
                      <a:r>
                        <a:rPr lang="en-US" sz="1800" b="0" i="0" u="none" strike="noStrike" dirty="0">
                          <a:solidFill>
                            <a:srgbClr val="3B444F"/>
                          </a:solidFill>
                          <a:effectLst/>
                          <a:latin typeface="Calibri" panose="020F0502020204030204" pitchFamily="34" charset="0"/>
                          <a:ea typeface="Calibri" panose="020F0502020204030204" pitchFamily="34" charset="0"/>
                          <a:cs typeface="Calibri" panose="020F0502020204030204" pitchFamily="34" charset="0"/>
                        </a:rPr>
                        <a:t>0.021</a:t>
                      </a:r>
                    </a:p>
                  </a:txBody>
                  <a:tcPr marL="9525" marR="9525" marT="9525" marB="0"/>
                </a:tc>
                <a:tc>
                  <a:txBody>
                    <a:bodyPr/>
                    <a:lstStyle/>
                    <a:p>
                      <a:pPr algn="ctr" fontAlgn="t"/>
                      <a:r>
                        <a:rPr lang="en-US" sz="1800" b="0" i="0" u="none" strike="noStrike">
                          <a:solidFill>
                            <a:srgbClr val="3B444F"/>
                          </a:solidFill>
                          <a:effectLst/>
                          <a:latin typeface="Calibri" panose="020F0502020204030204" pitchFamily="34" charset="0"/>
                          <a:ea typeface="Calibri" panose="020F0502020204030204" pitchFamily="34" charset="0"/>
                          <a:cs typeface="Calibri" panose="020F0502020204030204" pitchFamily="34" charset="0"/>
                        </a:rPr>
                        <a:t>0.239</a:t>
                      </a:r>
                    </a:p>
                  </a:txBody>
                  <a:tcPr marL="9525" marR="9525" marT="9525" marB="0"/>
                </a:tc>
                <a:tc>
                  <a:txBody>
                    <a:bodyPr/>
                    <a:lstStyle/>
                    <a:p>
                      <a:pPr algn="ctr" fontAlgn="t"/>
                      <a:r>
                        <a:rPr lang="en-US" sz="1800" b="1" i="0" u="none" strike="noStrike">
                          <a:solidFill>
                            <a:srgbClr val="3B444F"/>
                          </a:solidFill>
                          <a:effectLst/>
                          <a:latin typeface="Calibri" panose="020F0502020204030204" pitchFamily="34" charset="0"/>
                          <a:ea typeface="Calibri" panose="020F0502020204030204" pitchFamily="34" charset="0"/>
                          <a:cs typeface="Calibri" panose="020F0502020204030204" pitchFamily="34" charset="0"/>
                        </a:rPr>
                        <a:t>0.859</a:t>
                      </a:r>
                    </a:p>
                  </a:txBody>
                  <a:tcPr marL="9525" marR="9525" marT="9525" marB="0"/>
                </a:tc>
                <a:extLst>
                  <a:ext uri="{0D108BD9-81ED-4DB2-BD59-A6C34878D82A}">
                    <a16:rowId xmlns:a16="http://schemas.microsoft.com/office/drawing/2014/main" val="657762659"/>
                  </a:ext>
                </a:extLst>
              </a:tr>
              <a:tr h="387934">
                <a:tc>
                  <a:txBody>
                    <a:bodyPr/>
                    <a:lstStyle/>
                    <a:p>
                      <a:pPr algn="l" fontAlgn="t"/>
                      <a:r>
                        <a:rPr lang="en-US" sz="1800" b="0" i="0" u="none" strike="noStrike" dirty="0">
                          <a:solidFill>
                            <a:srgbClr val="3B444F"/>
                          </a:solidFill>
                          <a:effectLst/>
                          <a:latin typeface="Calibri" panose="020F0502020204030204" pitchFamily="34" charset="0"/>
                          <a:ea typeface="Calibri" panose="020F0502020204030204" pitchFamily="34" charset="0"/>
                          <a:cs typeface="Calibri" panose="020F0502020204030204" pitchFamily="34" charset="0"/>
                        </a:rPr>
                        <a:t>Housing</a:t>
                      </a:r>
                    </a:p>
                  </a:txBody>
                  <a:tcPr marL="9525" marR="9525" marT="9525" marB="0"/>
                </a:tc>
                <a:tc>
                  <a:txBody>
                    <a:bodyPr/>
                    <a:lstStyle/>
                    <a:p>
                      <a:pPr algn="ctr" fontAlgn="t"/>
                      <a:r>
                        <a:rPr lang="en-US" sz="1800" b="0" i="0" u="none" strike="noStrike">
                          <a:solidFill>
                            <a:srgbClr val="3B444F"/>
                          </a:solidFill>
                          <a:effectLst/>
                          <a:latin typeface="Calibri" panose="020F0502020204030204" pitchFamily="34" charset="0"/>
                          <a:ea typeface="Calibri" panose="020F0502020204030204" pitchFamily="34" charset="0"/>
                          <a:cs typeface="Calibri" panose="020F0502020204030204" pitchFamily="34" charset="0"/>
                        </a:rPr>
                        <a:t>0.438</a:t>
                      </a:r>
                    </a:p>
                  </a:txBody>
                  <a:tcPr marL="9525" marR="9525" marT="9525" marB="0"/>
                </a:tc>
                <a:tc>
                  <a:txBody>
                    <a:bodyPr/>
                    <a:lstStyle/>
                    <a:p>
                      <a:pPr algn="ctr" fontAlgn="t"/>
                      <a:r>
                        <a:rPr lang="en-US" sz="1800" b="1" i="0" u="none" strike="noStrike" dirty="0">
                          <a:solidFill>
                            <a:srgbClr val="3B444F"/>
                          </a:solidFill>
                          <a:effectLst/>
                          <a:latin typeface="Calibri" panose="020F0502020204030204" pitchFamily="34" charset="0"/>
                          <a:ea typeface="Calibri" panose="020F0502020204030204" pitchFamily="34" charset="0"/>
                          <a:cs typeface="Calibri" panose="020F0502020204030204" pitchFamily="34" charset="0"/>
                        </a:rPr>
                        <a:t>0.547</a:t>
                      </a:r>
                    </a:p>
                  </a:txBody>
                  <a:tcPr marL="9525" marR="9525" marT="9525" marB="0"/>
                </a:tc>
                <a:tc>
                  <a:txBody>
                    <a:bodyPr/>
                    <a:lstStyle/>
                    <a:p>
                      <a:pPr algn="ctr" fontAlgn="t"/>
                      <a:r>
                        <a:rPr lang="en-US" sz="1800" b="0" i="0" u="none" strike="noStrike">
                          <a:solidFill>
                            <a:srgbClr val="3B444F"/>
                          </a:solidFill>
                          <a:effectLst/>
                          <a:latin typeface="Calibri" panose="020F0502020204030204" pitchFamily="34" charset="0"/>
                          <a:ea typeface="Calibri" panose="020F0502020204030204" pitchFamily="34" charset="0"/>
                          <a:cs typeface="Calibri" panose="020F0502020204030204" pitchFamily="34" charset="0"/>
                        </a:rPr>
                        <a:t>0.166</a:t>
                      </a:r>
                    </a:p>
                  </a:txBody>
                  <a:tcPr marL="9525" marR="9525" marT="9525" marB="0"/>
                </a:tc>
                <a:extLst>
                  <a:ext uri="{0D108BD9-81ED-4DB2-BD59-A6C34878D82A}">
                    <a16:rowId xmlns:a16="http://schemas.microsoft.com/office/drawing/2014/main" val="619108501"/>
                  </a:ext>
                </a:extLst>
              </a:tr>
              <a:tr h="387934">
                <a:tc>
                  <a:txBody>
                    <a:bodyPr/>
                    <a:lstStyle/>
                    <a:p>
                      <a:pPr algn="l" fontAlgn="t"/>
                      <a:r>
                        <a:rPr lang="en-US" sz="1800" b="0" i="0" u="none" strike="noStrike">
                          <a:solidFill>
                            <a:srgbClr val="3B444F"/>
                          </a:solidFill>
                          <a:effectLst/>
                          <a:latin typeface="Calibri" panose="020F0502020204030204" pitchFamily="34" charset="0"/>
                          <a:ea typeface="Calibri" panose="020F0502020204030204" pitchFamily="34" charset="0"/>
                          <a:cs typeface="Calibri" panose="020F0502020204030204" pitchFamily="34" charset="0"/>
                        </a:rPr>
                        <a:t>Health</a:t>
                      </a:r>
                    </a:p>
                  </a:txBody>
                  <a:tcPr marL="9525" marR="9525" marT="9525" marB="0"/>
                </a:tc>
                <a:tc>
                  <a:txBody>
                    <a:bodyPr/>
                    <a:lstStyle/>
                    <a:p>
                      <a:pPr algn="ctr" fontAlgn="t"/>
                      <a:r>
                        <a:rPr lang="en-US" sz="1800" b="1" i="0" u="none" strike="noStrike">
                          <a:solidFill>
                            <a:srgbClr val="3B444F"/>
                          </a:solidFill>
                          <a:effectLst/>
                          <a:latin typeface="Calibri" panose="020F0502020204030204" pitchFamily="34" charset="0"/>
                          <a:ea typeface="Calibri" panose="020F0502020204030204" pitchFamily="34" charset="0"/>
                          <a:cs typeface="Calibri" panose="020F0502020204030204" pitchFamily="34" charset="0"/>
                        </a:rPr>
                        <a:t>0.829</a:t>
                      </a:r>
                    </a:p>
                  </a:txBody>
                  <a:tcPr marL="9525" marR="9525" marT="9525" marB="0"/>
                </a:tc>
                <a:tc>
                  <a:txBody>
                    <a:bodyPr/>
                    <a:lstStyle/>
                    <a:p>
                      <a:pPr algn="ctr" fontAlgn="t"/>
                      <a:r>
                        <a:rPr lang="en-US" sz="1800" b="0" i="0" u="none" strike="noStrike" dirty="0">
                          <a:solidFill>
                            <a:srgbClr val="3B444F"/>
                          </a:solidFill>
                          <a:effectLst/>
                          <a:latin typeface="Calibri" panose="020F0502020204030204" pitchFamily="34" charset="0"/>
                          <a:ea typeface="Calibri" panose="020F0502020204030204" pitchFamily="34" charset="0"/>
                          <a:cs typeface="Calibri" panose="020F0502020204030204" pitchFamily="34" charset="0"/>
                        </a:rPr>
                        <a:t>0.127</a:t>
                      </a:r>
                    </a:p>
                  </a:txBody>
                  <a:tcPr marL="9525" marR="9525" marT="9525" marB="0"/>
                </a:tc>
                <a:tc>
                  <a:txBody>
                    <a:bodyPr/>
                    <a:lstStyle/>
                    <a:p>
                      <a:pPr algn="ctr" fontAlgn="t"/>
                      <a:r>
                        <a:rPr lang="en-US" sz="1800" b="0" i="0" u="none" strike="noStrike">
                          <a:solidFill>
                            <a:srgbClr val="3B444F"/>
                          </a:solidFill>
                          <a:effectLst/>
                          <a:latin typeface="Calibri" panose="020F0502020204030204" pitchFamily="34" charset="0"/>
                          <a:ea typeface="Calibri" panose="020F0502020204030204" pitchFamily="34" charset="0"/>
                          <a:cs typeface="Calibri" panose="020F0502020204030204" pitchFamily="34" charset="0"/>
                        </a:rPr>
                        <a:t>0.137</a:t>
                      </a:r>
                    </a:p>
                  </a:txBody>
                  <a:tcPr marL="9525" marR="9525" marT="9525" marB="0"/>
                </a:tc>
                <a:extLst>
                  <a:ext uri="{0D108BD9-81ED-4DB2-BD59-A6C34878D82A}">
                    <a16:rowId xmlns:a16="http://schemas.microsoft.com/office/drawing/2014/main" val="3036940624"/>
                  </a:ext>
                </a:extLst>
              </a:tr>
              <a:tr h="387934">
                <a:tc>
                  <a:txBody>
                    <a:bodyPr/>
                    <a:lstStyle/>
                    <a:p>
                      <a:pPr algn="l" fontAlgn="t"/>
                      <a:r>
                        <a:rPr lang="en-US" sz="1800" b="0" i="0" u="none" strike="noStrike" dirty="0">
                          <a:solidFill>
                            <a:srgbClr val="3B444F"/>
                          </a:solidFill>
                          <a:effectLst/>
                          <a:latin typeface="Calibri" panose="020F0502020204030204" pitchFamily="34" charset="0"/>
                          <a:ea typeface="Calibri" panose="020F0502020204030204" pitchFamily="34" charset="0"/>
                          <a:cs typeface="Calibri" panose="020F0502020204030204" pitchFamily="34" charset="0"/>
                        </a:rPr>
                        <a:t>Crime</a:t>
                      </a:r>
                    </a:p>
                  </a:txBody>
                  <a:tcPr marL="9525" marR="9525" marT="9525" marB="0"/>
                </a:tc>
                <a:tc>
                  <a:txBody>
                    <a:bodyPr/>
                    <a:lstStyle/>
                    <a:p>
                      <a:pPr algn="ctr" fontAlgn="t"/>
                      <a:r>
                        <a:rPr lang="en-US" sz="1800" b="0" i="0" u="none" strike="noStrike" dirty="0">
                          <a:solidFill>
                            <a:srgbClr val="3B444F"/>
                          </a:solidFill>
                          <a:effectLst/>
                          <a:latin typeface="Calibri" panose="020F0502020204030204" pitchFamily="34" charset="0"/>
                          <a:ea typeface="Calibri" panose="020F0502020204030204" pitchFamily="34" charset="0"/>
                          <a:cs typeface="Calibri" panose="020F0502020204030204" pitchFamily="34" charset="0"/>
                        </a:rPr>
                        <a:t>0.031</a:t>
                      </a:r>
                    </a:p>
                  </a:txBody>
                  <a:tcPr marL="9525" marR="9525" marT="9525" marB="0"/>
                </a:tc>
                <a:tc>
                  <a:txBody>
                    <a:bodyPr/>
                    <a:lstStyle/>
                    <a:p>
                      <a:pPr algn="ctr" fontAlgn="t"/>
                      <a:r>
                        <a:rPr lang="en-US" sz="1800" b="1" i="0" u="none" strike="noStrike" dirty="0">
                          <a:solidFill>
                            <a:srgbClr val="3B444F"/>
                          </a:solidFill>
                          <a:effectLst/>
                          <a:latin typeface="Calibri" panose="020F0502020204030204" pitchFamily="34" charset="0"/>
                          <a:ea typeface="Calibri" panose="020F0502020204030204" pitchFamily="34" charset="0"/>
                          <a:cs typeface="Calibri" panose="020F0502020204030204" pitchFamily="34" charset="0"/>
                        </a:rPr>
                        <a:t>0.702</a:t>
                      </a:r>
                    </a:p>
                  </a:txBody>
                  <a:tcPr marL="9525" marR="9525" marT="9525" marB="0"/>
                </a:tc>
                <a:tc>
                  <a:txBody>
                    <a:bodyPr/>
                    <a:lstStyle/>
                    <a:p>
                      <a:pPr algn="ctr" fontAlgn="t"/>
                      <a:r>
                        <a:rPr lang="en-US" sz="1800" b="0" i="0" u="none" strike="noStrike">
                          <a:solidFill>
                            <a:srgbClr val="3B444F"/>
                          </a:solidFill>
                          <a:effectLst/>
                          <a:latin typeface="Calibri" panose="020F0502020204030204" pitchFamily="34" charset="0"/>
                          <a:ea typeface="Calibri" panose="020F0502020204030204" pitchFamily="34" charset="0"/>
                          <a:cs typeface="Calibri" panose="020F0502020204030204" pitchFamily="34" charset="0"/>
                        </a:rPr>
                        <a:t>0.139</a:t>
                      </a:r>
                    </a:p>
                  </a:txBody>
                  <a:tcPr marL="9525" marR="9525" marT="9525" marB="0"/>
                </a:tc>
                <a:extLst>
                  <a:ext uri="{0D108BD9-81ED-4DB2-BD59-A6C34878D82A}">
                    <a16:rowId xmlns:a16="http://schemas.microsoft.com/office/drawing/2014/main" val="513561368"/>
                  </a:ext>
                </a:extLst>
              </a:tr>
              <a:tr h="387934">
                <a:tc>
                  <a:txBody>
                    <a:bodyPr/>
                    <a:lstStyle/>
                    <a:p>
                      <a:pPr algn="l" fontAlgn="t"/>
                      <a:r>
                        <a:rPr lang="en-US" sz="1800" b="0" i="0" u="none" strike="noStrike">
                          <a:solidFill>
                            <a:srgbClr val="3B444F"/>
                          </a:solidFill>
                          <a:effectLst/>
                          <a:latin typeface="Calibri" panose="020F0502020204030204" pitchFamily="34" charset="0"/>
                          <a:ea typeface="Calibri" panose="020F0502020204030204" pitchFamily="34" charset="0"/>
                          <a:cs typeface="Calibri" panose="020F0502020204030204" pitchFamily="34" charset="0"/>
                        </a:rPr>
                        <a:t>Transportation</a:t>
                      </a:r>
                    </a:p>
                  </a:txBody>
                  <a:tcPr marL="9525" marR="9525" marT="9525" marB="0"/>
                </a:tc>
                <a:tc>
                  <a:txBody>
                    <a:bodyPr/>
                    <a:lstStyle/>
                    <a:p>
                      <a:pPr algn="ctr" fontAlgn="t"/>
                      <a:r>
                        <a:rPr lang="en-US" sz="1800" b="1" i="0" u="none" strike="noStrike" dirty="0">
                          <a:solidFill>
                            <a:srgbClr val="3B444F"/>
                          </a:solidFill>
                          <a:effectLst/>
                          <a:latin typeface="Calibri" panose="020F0502020204030204" pitchFamily="34" charset="0"/>
                          <a:ea typeface="Calibri" panose="020F0502020204030204" pitchFamily="34" charset="0"/>
                          <a:cs typeface="Calibri" panose="020F0502020204030204" pitchFamily="34" charset="0"/>
                        </a:rPr>
                        <a:t>0.652</a:t>
                      </a:r>
                    </a:p>
                  </a:txBody>
                  <a:tcPr marL="9525" marR="9525" marT="9525" marB="0"/>
                </a:tc>
                <a:tc>
                  <a:txBody>
                    <a:bodyPr/>
                    <a:lstStyle/>
                    <a:p>
                      <a:pPr algn="ctr" fontAlgn="t"/>
                      <a:r>
                        <a:rPr lang="en-US" sz="1800" b="0" i="0" u="none" strike="noStrike">
                          <a:solidFill>
                            <a:srgbClr val="3B444F"/>
                          </a:solidFill>
                          <a:effectLst/>
                          <a:latin typeface="Calibri" panose="020F0502020204030204" pitchFamily="34" charset="0"/>
                          <a:ea typeface="Calibri" panose="020F0502020204030204" pitchFamily="34" charset="0"/>
                          <a:cs typeface="Calibri" panose="020F0502020204030204" pitchFamily="34" charset="0"/>
                        </a:rPr>
                        <a:t>0.289</a:t>
                      </a:r>
                    </a:p>
                  </a:txBody>
                  <a:tcPr marL="9525" marR="9525" marT="9525" marB="0"/>
                </a:tc>
                <a:tc>
                  <a:txBody>
                    <a:bodyPr/>
                    <a:lstStyle/>
                    <a:p>
                      <a:pPr algn="ctr" fontAlgn="t"/>
                      <a:r>
                        <a:rPr lang="en-US" sz="1800" b="0" i="0" u="none" strike="noStrike" dirty="0">
                          <a:solidFill>
                            <a:srgbClr val="3B444F"/>
                          </a:solidFill>
                          <a:effectLst/>
                          <a:latin typeface="Calibri" panose="020F0502020204030204" pitchFamily="34" charset="0"/>
                          <a:ea typeface="Calibri" panose="020F0502020204030204" pitchFamily="34" charset="0"/>
                          <a:cs typeface="Calibri" panose="020F0502020204030204" pitchFamily="34" charset="0"/>
                        </a:rPr>
                        <a:t>-0.028</a:t>
                      </a:r>
                    </a:p>
                  </a:txBody>
                  <a:tcPr marL="9525" marR="9525" marT="9525" marB="0"/>
                </a:tc>
                <a:extLst>
                  <a:ext uri="{0D108BD9-81ED-4DB2-BD59-A6C34878D82A}">
                    <a16:rowId xmlns:a16="http://schemas.microsoft.com/office/drawing/2014/main" val="219385146"/>
                  </a:ext>
                </a:extLst>
              </a:tr>
              <a:tr h="387934">
                <a:tc>
                  <a:txBody>
                    <a:bodyPr/>
                    <a:lstStyle/>
                    <a:p>
                      <a:pPr algn="l" fontAlgn="t"/>
                      <a:r>
                        <a:rPr lang="en-US" sz="1800" b="0" i="0" u="none" strike="noStrike">
                          <a:solidFill>
                            <a:srgbClr val="3B444F"/>
                          </a:solidFill>
                          <a:effectLst/>
                          <a:latin typeface="Calibri" panose="020F0502020204030204" pitchFamily="34" charset="0"/>
                          <a:ea typeface="Calibri" panose="020F0502020204030204" pitchFamily="34" charset="0"/>
                          <a:cs typeface="Calibri" panose="020F0502020204030204" pitchFamily="34" charset="0"/>
                        </a:rPr>
                        <a:t>Education</a:t>
                      </a:r>
                    </a:p>
                  </a:txBody>
                  <a:tcPr marL="9525" marR="9525" marT="9525" marB="0">
                    <a:solidFill>
                      <a:srgbClr val="FFFF00"/>
                    </a:solidFill>
                  </a:tcPr>
                </a:tc>
                <a:tc>
                  <a:txBody>
                    <a:bodyPr/>
                    <a:lstStyle/>
                    <a:p>
                      <a:pPr algn="ctr" fontAlgn="t"/>
                      <a:r>
                        <a:rPr lang="en-US" sz="1800" b="1" i="0" u="none" strike="noStrike" dirty="0">
                          <a:solidFill>
                            <a:srgbClr val="3B444F"/>
                          </a:solidFill>
                          <a:effectLst/>
                          <a:latin typeface="Calibri" panose="020F0502020204030204" pitchFamily="34" charset="0"/>
                          <a:ea typeface="Calibri" panose="020F0502020204030204" pitchFamily="34" charset="0"/>
                          <a:cs typeface="Calibri" panose="020F0502020204030204" pitchFamily="34" charset="0"/>
                        </a:rPr>
                        <a:t>0.734</a:t>
                      </a:r>
                    </a:p>
                  </a:txBody>
                  <a:tcPr marL="9525" marR="9525" marT="9525" marB="0">
                    <a:solidFill>
                      <a:srgbClr val="FFFF00"/>
                    </a:solidFill>
                  </a:tcPr>
                </a:tc>
                <a:tc>
                  <a:txBody>
                    <a:bodyPr/>
                    <a:lstStyle/>
                    <a:p>
                      <a:pPr algn="ctr" fontAlgn="t"/>
                      <a:r>
                        <a:rPr lang="en-US" sz="1800" b="0" i="0" u="none" strike="noStrike">
                          <a:solidFill>
                            <a:srgbClr val="3B444F"/>
                          </a:solidFill>
                          <a:effectLst/>
                          <a:latin typeface="Calibri" panose="020F0502020204030204" pitchFamily="34" charset="0"/>
                          <a:ea typeface="Calibri" panose="020F0502020204030204" pitchFamily="34" charset="0"/>
                          <a:cs typeface="Calibri" panose="020F0502020204030204" pitchFamily="34" charset="0"/>
                        </a:rPr>
                        <a:t>-0.094</a:t>
                      </a:r>
                    </a:p>
                  </a:txBody>
                  <a:tcPr marL="9525" marR="9525" marT="9525" marB="0">
                    <a:solidFill>
                      <a:srgbClr val="FFFF00"/>
                    </a:solidFill>
                  </a:tcPr>
                </a:tc>
                <a:tc>
                  <a:txBody>
                    <a:bodyPr/>
                    <a:lstStyle/>
                    <a:p>
                      <a:pPr algn="ctr" fontAlgn="t"/>
                      <a:r>
                        <a:rPr lang="en-US" sz="1800" b="0" i="0" u="none" strike="noStrike" dirty="0">
                          <a:solidFill>
                            <a:srgbClr val="3B444F"/>
                          </a:solidFill>
                          <a:effectLst/>
                          <a:latin typeface="Calibri" panose="020F0502020204030204" pitchFamily="34" charset="0"/>
                          <a:ea typeface="Calibri" panose="020F0502020204030204" pitchFamily="34" charset="0"/>
                          <a:cs typeface="Calibri" panose="020F0502020204030204" pitchFamily="34" charset="0"/>
                        </a:rPr>
                        <a:t>-0.117</a:t>
                      </a:r>
                    </a:p>
                  </a:txBody>
                  <a:tcPr marL="9525" marR="9525" marT="9525" marB="0">
                    <a:solidFill>
                      <a:srgbClr val="FFFF00"/>
                    </a:solidFill>
                  </a:tcPr>
                </a:tc>
                <a:extLst>
                  <a:ext uri="{0D108BD9-81ED-4DB2-BD59-A6C34878D82A}">
                    <a16:rowId xmlns:a16="http://schemas.microsoft.com/office/drawing/2014/main" val="2375117449"/>
                  </a:ext>
                </a:extLst>
              </a:tr>
              <a:tr h="387934">
                <a:tc>
                  <a:txBody>
                    <a:bodyPr/>
                    <a:lstStyle/>
                    <a:p>
                      <a:pPr algn="l" fontAlgn="t"/>
                      <a:r>
                        <a:rPr lang="en-US" sz="1800" b="0" i="0" u="none" strike="noStrike">
                          <a:solidFill>
                            <a:srgbClr val="3B444F"/>
                          </a:solidFill>
                          <a:effectLst/>
                          <a:latin typeface="Calibri" panose="020F0502020204030204" pitchFamily="34" charset="0"/>
                          <a:ea typeface="Calibri" panose="020F0502020204030204" pitchFamily="34" charset="0"/>
                          <a:cs typeface="Calibri" panose="020F0502020204030204" pitchFamily="34" charset="0"/>
                        </a:rPr>
                        <a:t>Arts</a:t>
                      </a:r>
                    </a:p>
                  </a:txBody>
                  <a:tcPr marL="9525" marR="9525" marT="9525" marB="0"/>
                </a:tc>
                <a:tc>
                  <a:txBody>
                    <a:bodyPr/>
                    <a:lstStyle/>
                    <a:p>
                      <a:pPr algn="ctr" fontAlgn="t"/>
                      <a:r>
                        <a:rPr lang="en-US" sz="1800" b="1" i="0" u="none" strike="noStrike" dirty="0">
                          <a:solidFill>
                            <a:srgbClr val="3B444F"/>
                          </a:solidFill>
                          <a:effectLst/>
                          <a:latin typeface="Calibri" panose="020F0502020204030204" pitchFamily="34" charset="0"/>
                          <a:ea typeface="Calibri" panose="020F0502020204030204" pitchFamily="34" charset="0"/>
                          <a:cs typeface="Calibri" panose="020F0502020204030204" pitchFamily="34" charset="0"/>
                        </a:rPr>
                        <a:t>0.738</a:t>
                      </a:r>
                    </a:p>
                  </a:txBody>
                  <a:tcPr marL="9525" marR="9525" marT="9525" marB="0"/>
                </a:tc>
                <a:tc>
                  <a:txBody>
                    <a:bodyPr/>
                    <a:lstStyle/>
                    <a:p>
                      <a:pPr algn="ctr" fontAlgn="t"/>
                      <a:r>
                        <a:rPr lang="en-US" sz="1800" b="0" i="0" u="none" strike="noStrike" dirty="0">
                          <a:solidFill>
                            <a:srgbClr val="3B444F"/>
                          </a:solidFill>
                          <a:effectLst/>
                          <a:latin typeface="Calibri" panose="020F0502020204030204" pitchFamily="34" charset="0"/>
                          <a:ea typeface="Calibri" panose="020F0502020204030204" pitchFamily="34" charset="0"/>
                          <a:cs typeface="Calibri" panose="020F0502020204030204" pitchFamily="34" charset="0"/>
                        </a:rPr>
                        <a:t>0.432</a:t>
                      </a:r>
                    </a:p>
                  </a:txBody>
                  <a:tcPr marL="9525" marR="9525" marT="9525" marB="0"/>
                </a:tc>
                <a:tc>
                  <a:txBody>
                    <a:bodyPr/>
                    <a:lstStyle/>
                    <a:p>
                      <a:pPr algn="ctr" fontAlgn="t"/>
                      <a:r>
                        <a:rPr lang="en-US" sz="1800" b="0" i="0" u="none" strike="noStrike" dirty="0">
                          <a:solidFill>
                            <a:srgbClr val="3B444F"/>
                          </a:solidFill>
                          <a:effectLst/>
                          <a:latin typeface="Calibri" panose="020F0502020204030204" pitchFamily="34" charset="0"/>
                          <a:ea typeface="Calibri" panose="020F0502020204030204" pitchFamily="34" charset="0"/>
                          <a:cs typeface="Calibri" panose="020F0502020204030204" pitchFamily="34" charset="0"/>
                        </a:rPr>
                        <a:t>0.15</a:t>
                      </a:r>
                    </a:p>
                  </a:txBody>
                  <a:tcPr marL="9525" marR="9525" marT="9525" marB="0"/>
                </a:tc>
                <a:extLst>
                  <a:ext uri="{0D108BD9-81ED-4DB2-BD59-A6C34878D82A}">
                    <a16:rowId xmlns:a16="http://schemas.microsoft.com/office/drawing/2014/main" val="1297731234"/>
                  </a:ext>
                </a:extLst>
              </a:tr>
              <a:tr h="387934">
                <a:tc>
                  <a:txBody>
                    <a:bodyPr/>
                    <a:lstStyle/>
                    <a:p>
                      <a:pPr algn="l" fontAlgn="t"/>
                      <a:r>
                        <a:rPr lang="en-US" sz="1800" b="0" i="0" u="none" strike="noStrike">
                          <a:solidFill>
                            <a:srgbClr val="3B444F"/>
                          </a:solidFill>
                          <a:effectLst/>
                          <a:latin typeface="Calibri" panose="020F0502020204030204" pitchFamily="34" charset="0"/>
                          <a:ea typeface="Calibri" panose="020F0502020204030204" pitchFamily="34" charset="0"/>
                          <a:cs typeface="Calibri" panose="020F0502020204030204" pitchFamily="34" charset="0"/>
                        </a:rPr>
                        <a:t>Recreation</a:t>
                      </a:r>
                    </a:p>
                  </a:txBody>
                  <a:tcPr marL="9525" marR="9525" marT="9525" marB="0"/>
                </a:tc>
                <a:tc>
                  <a:txBody>
                    <a:bodyPr/>
                    <a:lstStyle/>
                    <a:p>
                      <a:pPr algn="ctr" fontAlgn="t"/>
                      <a:r>
                        <a:rPr lang="en-US" sz="1800" b="0" i="0" u="none" strike="noStrike">
                          <a:solidFill>
                            <a:srgbClr val="3B444F"/>
                          </a:solidFill>
                          <a:effectLst/>
                          <a:latin typeface="Calibri" panose="020F0502020204030204" pitchFamily="34" charset="0"/>
                          <a:ea typeface="Calibri" panose="020F0502020204030204" pitchFamily="34" charset="0"/>
                          <a:cs typeface="Calibri" panose="020F0502020204030204" pitchFamily="34" charset="0"/>
                        </a:rPr>
                        <a:t>0.301</a:t>
                      </a:r>
                    </a:p>
                  </a:txBody>
                  <a:tcPr marL="9525" marR="9525" marT="9525" marB="0"/>
                </a:tc>
                <a:tc>
                  <a:txBody>
                    <a:bodyPr/>
                    <a:lstStyle/>
                    <a:p>
                      <a:pPr algn="ctr" fontAlgn="t"/>
                      <a:r>
                        <a:rPr lang="en-US" sz="1800" b="1" i="0" u="none" strike="noStrike" dirty="0">
                          <a:solidFill>
                            <a:srgbClr val="3B444F"/>
                          </a:solidFill>
                          <a:effectLst/>
                          <a:latin typeface="Calibri" panose="020F0502020204030204" pitchFamily="34" charset="0"/>
                          <a:ea typeface="Calibri" panose="020F0502020204030204" pitchFamily="34" charset="0"/>
                          <a:cs typeface="Calibri" panose="020F0502020204030204" pitchFamily="34" charset="0"/>
                        </a:rPr>
                        <a:t>0.656</a:t>
                      </a:r>
                    </a:p>
                  </a:txBody>
                  <a:tcPr marL="9525" marR="9525" marT="9525" marB="0"/>
                </a:tc>
                <a:tc>
                  <a:txBody>
                    <a:bodyPr/>
                    <a:lstStyle/>
                    <a:p>
                      <a:pPr algn="ctr" fontAlgn="t"/>
                      <a:r>
                        <a:rPr lang="en-US" sz="1800" b="0" i="0" u="none" strike="noStrike" dirty="0">
                          <a:solidFill>
                            <a:srgbClr val="3B444F"/>
                          </a:solidFill>
                          <a:effectLst/>
                          <a:latin typeface="Calibri" panose="020F0502020204030204" pitchFamily="34" charset="0"/>
                          <a:ea typeface="Calibri" panose="020F0502020204030204" pitchFamily="34" charset="0"/>
                          <a:cs typeface="Calibri" panose="020F0502020204030204" pitchFamily="34" charset="0"/>
                        </a:rPr>
                        <a:t>0.099</a:t>
                      </a:r>
                    </a:p>
                  </a:txBody>
                  <a:tcPr marL="9525" marR="9525" marT="9525" marB="0"/>
                </a:tc>
                <a:extLst>
                  <a:ext uri="{0D108BD9-81ED-4DB2-BD59-A6C34878D82A}">
                    <a16:rowId xmlns:a16="http://schemas.microsoft.com/office/drawing/2014/main" val="2655455474"/>
                  </a:ext>
                </a:extLst>
              </a:tr>
              <a:tr h="387934">
                <a:tc>
                  <a:txBody>
                    <a:bodyPr/>
                    <a:lstStyle/>
                    <a:p>
                      <a:pPr algn="l" fontAlgn="t"/>
                      <a:r>
                        <a:rPr lang="en-US" sz="1800" b="0" i="0" u="none" strike="noStrike">
                          <a:solidFill>
                            <a:srgbClr val="3B444F"/>
                          </a:solidFill>
                          <a:effectLst/>
                          <a:latin typeface="Calibri" panose="020F0502020204030204" pitchFamily="34" charset="0"/>
                          <a:ea typeface="Calibri" panose="020F0502020204030204" pitchFamily="34" charset="0"/>
                          <a:cs typeface="Calibri" panose="020F0502020204030204" pitchFamily="34" charset="0"/>
                        </a:rPr>
                        <a:t>Economics</a:t>
                      </a:r>
                    </a:p>
                  </a:txBody>
                  <a:tcPr marL="9525" marR="9525" marT="9525" marB="0">
                    <a:solidFill>
                      <a:srgbClr val="FFFF00"/>
                    </a:solidFill>
                  </a:tcPr>
                </a:tc>
                <a:tc>
                  <a:txBody>
                    <a:bodyPr/>
                    <a:lstStyle/>
                    <a:p>
                      <a:pPr algn="ctr" fontAlgn="t"/>
                      <a:r>
                        <a:rPr lang="en-US" sz="1800" b="0" i="0" u="none" strike="noStrike">
                          <a:solidFill>
                            <a:srgbClr val="3B444F"/>
                          </a:solidFill>
                          <a:effectLst/>
                          <a:latin typeface="Calibri" panose="020F0502020204030204" pitchFamily="34" charset="0"/>
                          <a:ea typeface="Calibri" panose="020F0502020204030204" pitchFamily="34" charset="0"/>
                          <a:cs typeface="Calibri" panose="020F0502020204030204" pitchFamily="34" charset="0"/>
                        </a:rPr>
                        <a:t>-0.022</a:t>
                      </a:r>
                    </a:p>
                  </a:txBody>
                  <a:tcPr marL="9525" marR="9525" marT="9525" marB="0">
                    <a:solidFill>
                      <a:srgbClr val="FFFF00"/>
                    </a:solidFill>
                  </a:tcPr>
                </a:tc>
                <a:tc>
                  <a:txBody>
                    <a:bodyPr/>
                    <a:lstStyle/>
                    <a:p>
                      <a:pPr algn="ctr" fontAlgn="t"/>
                      <a:r>
                        <a:rPr lang="en-US" sz="1800" b="1" i="0" u="none" strike="noStrike">
                          <a:solidFill>
                            <a:srgbClr val="3B444F"/>
                          </a:solidFill>
                          <a:effectLst/>
                          <a:latin typeface="Calibri" panose="020F0502020204030204" pitchFamily="34" charset="0"/>
                          <a:ea typeface="Calibri" panose="020F0502020204030204" pitchFamily="34" charset="0"/>
                          <a:cs typeface="Calibri" panose="020F0502020204030204" pitchFamily="34" charset="0"/>
                        </a:rPr>
                        <a:t>0.651</a:t>
                      </a:r>
                    </a:p>
                  </a:txBody>
                  <a:tcPr marL="9525" marR="9525" marT="9525" marB="0">
                    <a:solidFill>
                      <a:srgbClr val="FFFF00"/>
                    </a:solidFill>
                  </a:tcPr>
                </a:tc>
                <a:tc>
                  <a:txBody>
                    <a:bodyPr/>
                    <a:lstStyle/>
                    <a:p>
                      <a:pPr algn="ctr" fontAlgn="t"/>
                      <a:r>
                        <a:rPr lang="en-US" sz="1800" b="0" i="0" u="none" strike="noStrike" dirty="0">
                          <a:solidFill>
                            <a:srgbClr val="3B444F"/>
                          </a:solidFill>
                          <a:effectLst/>
                          <a:latin typeface="Calibri" panose="020F0502020204030204" pitchFamily="34" charset="0"/>
                          <a:ea typeface="Calibri" panose="020F0502020204030204" pitchFamily="34" charset="0"/>
                          <a:cs typeface="Calibri" panose="020F0502020204030204" pitchFamily="34" charset="0"/>
                        </a:rPr>
                        <a:t>-0.551</a:t>
                      </a:r>
                    </a:p>
                  </a:txBody>
                  <a:tcPr marL="9525" marR="9525" marT="9525" marB="0">
                    <a:solidFill>
                      <a:srgbClr val="FFFF00"/>
                    </a:solidFill>
                  </a:tcPr>
                </a:tc>
                <a:extLst>
                  <a:ext uri="{0D108BD9-81ED-4DB2-BD59-A6C34878D82A}">
                    <a16:rowId xmlns:a16="http://schemas.microsoft.com/office/drawing/2014/main" val="1729466633"/>
                  </a:ext>
                </a:extLst>
              </a:tr>
            </a:tbl>
          </a:graphicData>
        </a:graphic>
      </p:graphicFrame>
      <p:sp>
        <p:nvSpPr>
          <p:cNvPr id="12" name="Oval 11">
            <a:extLst>
              <a:ext uri="{FF2B5EF4-FFF2-40B4-BE49-F238E27FC236}">
                <a16:creationId xmlns:a16="http://schemas.microsoft.com/office/drawing/2014/main" id="{1E2CF198-DC30-7AF4-5251-694BCAEDBC5E}"/>
              </a:ext>
            </a:extLst>
          </p:cNvPr>
          <p:cNvSpPr/>
          <p:nvPr/>
        </p:nvSpPr>
        <p:spPr>
          <a:xfrm>
            <a:off x="2397210" y="2706130"/>
            <a:ext cx="2070617" cy="55605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93E11ECA-CE9E-2E1F-4F69-29E2BA3DBFCF}"/>
              </a:ext>
            </a:extLst>
          </p:cNvPr>
          <p:cNvCxnSpPr>
            <a:cxnSpLocks/>
          </p:cNvCxnSpPr>
          <p:nvPr/>
        </p:nvCxnSpPr>
        <p:spPr>
          <a:xfrm>
            <a:off x="4226011" y="2977978"/>
            <a:ext cx="4507215" cy="16928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8" name="Content Placeholder 7">
            <a:extLst>
              <a:ext uri="{FF2B5EF4-FFF2-40B4-BE49-F238E27FC236}">
                <a16:creationId xmlns:a16="http://schemas.microsoft.com/office/drawing/2014/main" id="{ED9C95C2-4C4E-2BA4-9195-86651AC73F7B}"/>
              </a:ext>
            </a:extLst>
          </p:cNvPr>
          <p:cNvPicPr>
            <a:picLocks noGrp="1" noChangeAspect="1"/>
          </p:cNvPicPr>
          <p:nvPr>
            <p:ph sz="half" idx="2"/>
          </p:nvPr>
        </p:nvPicPr>
        <p:blipFill>
          <a:blip r:embed="rId3"/>
          <a:stretch>
            <a:fillRect/>
          </a:stretch>
        </p:blipFill>
        <p:spPr>
          <a:xfrm>
            <a:off x="5994510" y="2130799"/>
            <a:ext cx="5477432" cy="4365776"/>
          </a:xfrm>
          <a:prstGeom prst="rect">
            <a:avLst/>
          </a:prstGeom>
        </p:spPr>
      </p:pic>
      <p:sp>
        <p:nvSpPr>
          <p:cNvPr id="3" name="Rectangle 1">
            <a:extLst>
              <a:ext uri="{FF2B5EF4-FFF2-40B4-BE49-F238E27FC236}">
                <a16:creationId xmlns:a16="http://schemas.microsoft.com/office/drawing/2014/main" id="{702FFFF5-E77B-CF22-35F2-2B463AB6B06C}"/>
              </a:ext>
            </a:extLst>
          </p:cNvPr>
          <p:cNvSpPr>
            <a:spLocks noChangeArrowheads="1"/>
          </p:cNvSpPr>
          <p:nvPr/>
        </p:nvSpPr>
        <p:spPr bwMode="auto">
          <a:xfrm>
            <a:off x="383618" y="835796"/>
            <a:ext cx="926151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After rotation:</a:t>
            </a:r>
            <a:b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Now we see a clearer pattern. “Climate” loads strongly on Factor 3 (0.859) and weakly elsewhere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“Education” now loads strongly on Factor 1 (0.734), with minimal cross-loadings</a:t>
            </a:r>
          </a:p>
        </p:txBody>
      </p:sp>
    </p:spTree>
    <p:extLst>
      <p:ext uri="{BB962C8B-B14F-4D97-AF65-F5344CB8AC3E}">
        <p14:creationId xmlns:p14="http://schemas.microsoft.com/office/powerpoint/2010/main" val="30958994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2428292-65AA-43FB-ACF0-B192CC4F4BE2}"/>
              </a:ext>
            </a:extLst>
          </p:cNvPr>
          <p:cNvPicPr>
            <a:picLocks noChangeAspect="1"/>
          </p:cNvPicPr>
          <p:nvPr/>
        </p:nvPicPr>
        <p:blipFill>
          <a:blip r:embed="rId3"/>
          <a:stretch>
            <a:fillRect/>
          </a:stretch>
        </p:blipFill>
        <p:spPr>
          <a:xfrm>
            <a:off x="147932" y="57367"/>
            <a:ext cx="4238625" cy="3248025"/>
          </a:xfrm>
          <a:prstGeom prst="rect">
            <a:avLst/>
          </a:prstGeom>
        </p:spPr>
      </p:pic>
      <p:pic>
        <p:nvPicPr>
          <p:cNvPr id="8" name="Picture 7">
            <a:extLst>
              <a:ext uri="{FF2B5EF4-FFF2-40B4-BE49-F238E27FC236}">
                <a16:creationId xmlns:a16="http://schemas.microsoft.com/office/drawing/2014/main" id="{43D50BBD-C409-4682-A736-38A3E88CC065}"/>
              </a:ext>
            </a:extLst>
          </p:cNvPr>
          <p:cNvPicPr>
            <a:picLocks noChangeAspect="1"/>
          </p:cNvPicPr>
          <p:nvPr/>
        </p:nvPicPr>
        <p:blipFill>
          <a:blip r:embed="rId4"/>
          <a:stretch>
            <a:fillRect/>
          </a:stretch>
        </p:blipFill>
        <p:spPr>
          <a:xfrm>
            <a:off x="362696" y="3524033"/>
            <a:ext cx="4238625" cy="3276600"/>
          </a:xfrm>
          <a:prstGeom prst="rect">
            <a:avLst/>
          </a:prstGeom>
        </p:spPr>
      </p:pic>
      <p:graphicFrame>
        <p:nvGraphicFramePr>
          <p:cNvPr id="9" name="Table 9">
            <a:extLst>
              <a:ext uri="{FF2B5EF4-FFF2-40B4-BE49-F238E27FC236}">
                <a16:creationId xmlns:a16="http://schemas.microsoft.com/office/drawing/2014/main" id="{B729DED5-0307-43CE-AAC3-8256F01CAA52}"/>
              </a:ext>
            </a:extLst>
          </p:cNvPr>
          <p:cNvGraphicFramePr>
            <a:graphicFrameLocks noGrp="1"/>
          </p:cNvGraphicFramePr>
          <p:nvPr>
            <p:extLst>
              <p:ext uri="{D42A27DB-BD31-4B8C-83A1-F6EECF244321}">
                <p14:modId xmlns:p14="http://schemas.microsoft.com/office/powerpoint/2010/main" val="3498629799"/>
              </p:ext>
            </p:extLst>
          </p:nvPr>
        </p:nvGraphicFramePr>
        <p:xfrm>
          <a:off x="5829195" y="2144309"/>
          <a:ext cx="6214873" cy="3230880"/>
        </p:xfrm>
        <a:graphic>
          <a:graphicData uri="http://schemas.openxmlformats.org/drawingml/2006/table">
            <a:tbl>
              <a:tblPr firstRow="1" bandRow="1">
                <a:tableStyleId>{5C22544A-7EE6-4342-B048-85BDC9FD1C3A}</a:tableStyleId>
              </a:tblPr>
              <a:tblGrid>
                <a:gridCol w="1634781">
                  <a:extLst>
                    <a:ext uri="{9D8B030D-6E8A-4147-A177-3AD203B41FA5}">
                      <a16:colId xmlns:a16="http://schemas.microsoft.com/office/drawing/2014/main" val="1296021084"/>
                    </a:ext>
                  </a:extLst>
                </a:gridCol>
                <a:gridCol w="1242976">
                  <a:extLst>
                    <a:ext uri="{9D8B030D-6E8A-4147-A177-3AD203B41FA5}">
                      <a16:colId xmlns:a16="http://schemas.microsoft.com/office/drawing/2014/main" val="47785296"/>
                    </a:ext>
                  </a:extLst>
                </a:gridCol>
                <a:gridCol w="1080847">
                  <a:extLst>
                    <a:ext uri="{9D8B030D-6E8A-4147-A177-3AD203B41FA5}">
                      <a16:colId xmlns:a16="http://schemas.microsoft.com/office/drawing/2014/main" val="2536237497"/>
                    </a:ext>
                  </a:extLst>
                </a:gridCol>
                <a:gridCol w="1026805">
                  <a:extLst>
                    <a:ext uri="{9D8B030D-6E8A-4147-A177-3AD203B41FA5}">
                      <a16:colId xmlns:a16="http://schemas.microsoft.com/office/drawing/2014/main" val="1294261176"/>
                    </a:ext>
                  </a:extLst>
                </a:gridCol>
                <a:gridCol w="1229464">
                  <a:extLst>
                    <a:ext uri="{9D8B030D-6E8A-4147-A177-3AD203B41FA5}">
                      <a16:colId xmlns:a16="http://schemas.microsoft.com/office/drawing/2014/main" val="3892161151"/>
                    </a:ext>
                  </a:extLst>
                </a:gridCol>
              </a:tblGrid>
              <a:tr h="0">
                <a:tc gridSpan="5">
                  <a:txBody>
                    <a:bodyPr/>
                    <a:lstStyle/>
                    <a:p>
                      <a:r>
                        <a:rPr lang="en-US" dirty="0">
                          <a:latin typeface="Calibri" panose="020F0502020204030204" pitchFamily="34" charset="0"/>
                          <a:ea typeface="Calibri" panose="020F0502020204030204" pitchFamily="34" charset="0"/>
                          <a:cs typeface="Calibri" panose="020F0502020204030204" pitchFamily="34" charset="0"/>
                        </a:rPr>
                        <a:t>Comparison Between Rotated and Unrotated Factor Loadings</a:t>
                      </a: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3427641774"/>
                  </a:ext>
                </a:extLst>
              </a:tr>
              <a:tr h="370840">
                <a:tc>
                  <a:txBody>
                    <a:bodyPr/>
                    <a:lstStyle/>
                    <a:p>
                      <a:endParaRPr lang="en-US" dirty="0">
                        <a:latin typeface="Calibri" panose="020F0502020204030204" pitchFamily="34" charset="0"/>
                        <a:ea typeface="Calibri" panose="020F0502020204030204" pitchFamily="34" charset="0"/>
                        <a:cs typeface="Calibri" panose="020F0502020204030204" pitchFamily="34" charset="0"/>
                      </a:endParaRPr>
                    </a:p>
                  </a:txBody>
                  <a:tcPr/>
                </a:tc>
                <a:tc gridSpan="2">
                  <a:txBody>
                    <a:bodyPr/>
                    <a:lstStyle/>
                    <a:p>
                      <a:r>
                        <a:rPr lang="en-US" dirty="0">
                          <a:latin typeface="Calibri" panose="020F0502020204030204" pitchFamily="34" charset="0"/>
                          <a:ea typeface="Calibri" panose="020F0502020204030204" pitchFamily="34" charset="0"/>
                          <a:cs typeface="Calibri" panose="020F0502020204030204" pitchFamily="34" charset="0"/>
                        </a:rPr>
                        <a:t>Unrotated Factor Loadings</a:t>
                      </a:r>
                    </a:p>
                  </a:txBody>
                  <a:tcPr/>
                </a:tc>
                <a:tc hMerge="1">
                  <a:txBody>
                    <a:bodyPr/>
                    <a:lstStyle/>
                    <a:p>
                      <a:endParaRPr lang="en-US" dirty="0"/>
                    </a:p>
                  </a:txBody>
                  <a:tcPr/>
                </a:tc>
                <a:tc gridSpan="2">
                  <a:txBody>
                    <a:bodyPr/>
                    <a:lstStyle/>
                    <a:p>
                      <a:r>
                        <a:rPr lang="en-US" dirty="0">
                          <a:latin typeface="Calibri" panose="020F0502020204030204" pitchFamily="34" charset="0"/>
                          <a:ea typeface="Calibri" panose="020F0502020204030204" pitchFamily="34" charset="0"/>
                          <a:cs typeface="Calibri" panose="020F0502020204030204" pitchFamily="34" charset="0"/>
                        </a:rPr>
                        <a:t>Rotated Factor Loadings</a:t>
                      </a:r>
                    </a:p>
                  </a:txBody>
                  <a:tcPr/>
                </a:tc>
                <a:tc hMerge="1">
                  <a:txBody>
                    <a:bodyPr/>
                    <a:lstStyle/>
                    <a:p>
                      <a:endParaRPr lang="en-US" dirty="0"/>
                    </a:p>
                  </a:txBody>
                  <a:tcPr/>
                </a:tc>
                <a:extLst>
                  <a:ext uri="{0D108BD9-81ED-4DB2-BD59-A6C34878D82A}">
                    <a16:rowId xmlns:a16="http://schemas.microsoft.com/office/drawing/2014/main" val="1016111383"/>
                  </a:ext>
                </a:extLst>
              </a:tr>
              <a:tr h="370840">
                <a:tc>
                  <a:txBody>
                    <a:bodyPr/>
                    <a:lstStyle/>
                    <a:p>
                      <a:r>
                        <a:rPr lang="en-US" dirty="0">
                          <a:latin typeface="Calibri" panose="020F0502020204030204" pitchFamily="34" charset="0"/>
                          <a:ea typeface="Calibri" panose="020F0502020204030204" pitchFamily="34" charset="0"/>
                          <a:cs typeface="Calibri" panose="020F0502020204030204" pitchFamily="34" charset="0"/>
                        </a:rPr>
                        <a:t>Variables</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I</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II</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I</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II</a:t>
                      </a:r>
                    </a:p>
                  </a:txBody>
                  <a:tcPr/>
                </a:tc>
                <a:extLst>
                  <a:ext uri="{0D108BD9-81ED-4DB2-BD59-A6C34878D82A}">
                    <a16:rowId xmlns:a16="http://schemas.microsoft.com/office/drawing/2014/main" val="703332982"/>
                  </a:ext>
                </a:extLst>
              </a:tr>
              <a:tr h="370840">
                <a:tc>
                  <a:txBody>
                    <a:bodyPr/>
                    <a:lstStyle/>
                    <a:p>
                      <a:r>
                        <a:rPr lang="en-US" dirty="0">
                          <a:latin typeface="Calibri" panose="020F0502020204030204" pitchFamily="34" charset="0"/>
                          <a:ea typeface="Calibri" panose="020F0502020204030204" pitchFamily="34" charset="0"/>
                          <a:cs typeface="Calibri" panose="020F0502020204030204" pitchFamily="34" charset="0"/>
                        </a:rPr>
                        <a:t>V1</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.50</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.80</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.03</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.94</a:t>
                      </a:r>
                    </a:p>
                  </a:txBody>
                  <a:tcPr>
                    <a:solidFill>
                      <a:srgbClr val="FFFF00"/>
                    </a:solidFill>
                  </a:tcPr>
                </a:tc>
                <a:extLst>
                  <a:ext uri="{0D108BD9-81ED-4DB2-BD59-A6C34878D82A}">
                    <a16:rowId xmlns:a16="http://schemas.microsoft.com/office/drawing/2014/main" val="1483800537"/>
                  </a:ext>
                </a:extLst>
              </a:tr>
              <a:tr h="370840">
                <a:tc>
                  <a:txBody>
                    <a:bodyPr/>
                    <a:lstStyle/>
                    <a:p>
                      <a:r>
                        <a:rPr lang="en-US" dirty="0">
                          <a:latin typeface="Calibri" panose="020F0502020204030204" pitchFamily="34" charset="0"/>
                          <a:ea typeface="Calibri" panose="020F0502020204030204" pitchFamily="34" charset="0"/>
                          <a:cs typeface="Calibri" panose="020F0502020204030204" pitchFamily="34" charset="0"/>
                        </a:rPr>
                        <a:t>V2</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.60</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.70</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.16</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.90</a:t>
                      </a:r>
                    </a:p>
                  </a:txBody>
                  <a:tcPr>
                    <a:solidFill>
                      <a:srgbClr val="FFFF00"/>
                    </a:solidFill>
                  </a:tcPr>
                </a:tc>
                <a:extLst>
                  <a:ext uri="{0D108BD9-81ED-4DB2-BD59-A6C34878D82A}">
                    <a16:rowId xmlns:a16="http://schemas.microsoft.com/office/drawing/2014/main" val="4045657116"/>
                  </a:ext>
                </a:extLst>
              </a:tr>
              <a:tr h="370840">
                <a:tc>
                  <a:txBody>
                    <a:bodyPr/>
                    <a:lstStyle/>
                    <a:p>
                      <a:r>
                        <a:rPr lang="en-US" dirty="0">
                          <a:latin typeface="Calibri" panose="020F0502020204030204" pitchFamily="34" charset="0"/>
                          <a:ea typeface="Calibri" panose="020F0502020204030204" pitchFamily="34" charset="0"/>
                          <a:cs typeface="Calibri" panose="020F0502020204030204" pitchFamily="34" charset="0"/>
                        </a:rPr>
                        <a:t>V3</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.90</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-.25</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.95</a:t>
                      </a:r>
                    </a:p>
                  </a:txBody>
                  <a:tcPr>
                    <a:solidFill>
                      <a:srgbClr val="FFFF00"/>
                    </a:solidFill>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.24</a:t>
                      </a:r>
                    </a:p>
                  </a:txBody>
                  <a:tcPr/>
                </a:tc>
                <a:extLst>
                  <a:ext uri="{0D108BD9-81ED-4DB2-BD59-A6C34878D82A}">
                    <a16:rowId xmlns:a16="http://schemas.microsoft.com/office/drawing/2014/main" val="869157129"/>
                  </a:ext>
                </a:extLst>
              </a:tr>
              <a:tr h="370840">
                <a:tc>
                  <a:txBody>
                    <a:bodyPr/>
                    <a:lstStyle/>
                    <a:p>
                      <a:r>
                        <a:rPr lang="en-US" dirty="0">
                          <a:latin typeface="Calibri" panose="020F0502020204030204" pitchFamily="34" charset="0"/>
                          <a:ea typeface="Calibri" panose="020F0502020204030204" pitchFamily="34" charset="0"/>
                          <a:cs typeface="Calibri" panose="020F0502020204030204" pitchFamily="34" charset="0"/>
                        </a:rPr>
                        <a:t>V4</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.80</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-.30</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.84</a:t>
                      </a:r>
                    </a:p>
                  </a:txBody>
                  <a:tcPr>
                    <a:solidFill>
                      <a:srgbClr val="FFFF00"/>
                    </a:solidFill>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.15</a:t>
                      </a:r>
                    </a:p>
                  </a:txBody>
                  <a:tcPr/>
                </a:tc>
                <a:extLst>
                  <a:ext uri="{0D108BD9-81ED-4DB2-BD59-A6C34878D82A}">
                    <a16:rowId xmlns:a16="http://schemas.microsoft.com/office/drawing/2014/main" val="1209589772"/>
                  </a:ext>
                </a:extLst>
              </a:tr>
              <a:tr h="370840">
                <a:tc>
                  <a:txBody>
                    <a:bodyPr/>
                    <a:lstStyle/>
                    <a:p>
                      <a:r>
                        <a:rPr lang="en-US" dirty="0">
                          <a:latin typeface="Calibri" panose="020F0502020204030204" pitchFamily="34" charset="0"/>
                          <a:ea typeface="Calibri" panose="020F0502020204030204" pitchFamily="34" charset="0"/>
                          <a:cs typeface="Calibri" panose="020F0502020204030204" pitchFamily="34" charset="0"/>
                        </a:rPr>
                        <a:t>V5</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.60</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-.50</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.76</a:t>
                      </a:r>
                    </a:p>
                  </a:txBody>
                  <a:tcPr>
                    <a:solidFill>
                      <a:srgbClr val="FFFF00"/>
                    </a:solidFill>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-.13</a:t>
                      </a:r>
                    </a:p>
                  </a:txBody>
                  <a:tcPr/>
                </a:tc>
                <a:extLst>
                  <a:ext uri="{0D108BD9-81ED-4DB2-BD59-A6C34878D82A}">
                    <a16:rowId xmlns:a16="http://schemas.microsoft.com/office/drawing/2014/main" val="3645937221"/>
                  </a:ext>
                </a:extLst>
              </a:tr>
            </a:tbl>
          </a:graphicData>
        </a:graphic>
      </p:graphicFrame>
      <p:sp>
        <p:nvSpPr>
          <p:cNvPr id="4" name="TextBox 3">
            <a:extLst>
              <a:ext uri="{FF2B5EF4-FFF2-40B4-BE49-F238E27FC236}">
                <a16:creationId xmlns:a16="http://schemas.microsoft.com/office/drawing/2014/main" id="{D38674A8-B426-4509-844B-D8CCB91F5D61}"/>
              </a:ext>
            </a:extLst>
          </p:cNvPr>
          <p:cNvSpPr txBox="1"/>
          <p:nvPr/>
        </p:nvSpPr>
        <p:spPr>
          <a:xfrm>
            <a:off x="3298309" y="1123268"/>
            <a:ext cx="2456121"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w Cen MT" panose="020B0602020104020603"/>
                <a:ea typeface="+mn-ea"/>
                <a:cs typeface="+mn-cs"/>
              </a:rPr>
              <a:t>Orthogonal rotates 90</a:t>
            </a:r>
            <a:r>
              <a:rPr kumimoji="0" lang="en-US" sz="1800" b="1" i="0" u="none" strike="noStrike" kern="1200" cap="none" spc="0" normalizeH="0" baseline="30000" noProof="0" dirty="0">
                <a:ln>
                  <a:noFill/>
                </a:ln>
                <a:solidFill>
                  <a:prstClr val="black"/>
                </a:solidFill>
                <a:effectLst/>
                <a:uLnTx/>
                <a:uFillTx/>
                <a:latin typeface="Tw Cen MT" panose="020B0602020104020603"/>
                <a:ea typeface="+mn-ea"/>
                <a:cs typeface="+mn-cs"/>
              </a:rPr>
              <a:t>o</a:t>
            </a:r>
          </a:p>
        </p:txBody>
      </p:sp>
      <p:sp>
        <p:nvSpPr>
          <p:cNvPr id="10" name="TextBox 9">
            <a:extLst>
              <a:ext uri="{FF2B5EF4-FFF2-40B4-BE49-F238E27FC236}">
                <a16:creationId xmlns:a16="http://schemas.microsoft.com/office/drawing/2014/main" id="{73294A9A-D733-42FA-937B-6330FB31B69A}"/>
              </a:ext>
            </a:extLst>
          </p:cNvPr>
          <p:cNvSpPr txBox="1"/>
          <p:nvPr/>
        </p:nvSpPr>
        <p:spPr>
          <a:xfrm>
            <a:off x="3298310" y="4560072"/>
            <a:ext cx="2456121"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w Cen MT" panose="020B0602020104020603"/>
                <a:ea typeface="+mn-ea"/>
                <a:cs typeface="+mn-cs"/>
              </a:rPr>
              <a:t>Oblique</a:t>
            </a:r>
            <a:endParaRPr kumimoji="0" lang="en-US" sz="1800" b="1" i="0" u="none" strike="noStrike" kern="1200" cap="none" spc="0" normalizeH="0" baseline="30000" noProof="0" dirty="0">
              <a:ln>
                <a:noFill/>
              </a:ln>
              <a:solidFill>
                <a:prstClr val="black"/>
              </a:solidFill>
              <a:effectLst/>
              <a:uLnTx/>
              <a:uFillTx/>
              <a:latin typeface="Tw Cen MT" panose="020B0602020104020603"/>
              <a:ea typeface="+mn-ea"/>
              <a:cs typeface="+mn-cs"/>
            </a:endParaRPr>
          </a:p>
        </p:txBody>
      </p:sp>
      <p:sp>
        <p:nvSpPr>
          <p:cNvPr id="5" name="TextBox 4">
            <a:extLst>
              <a:ext uri="{FF2B5EF4-FFF2-40B4-BE49-F238E27FC236}">
                <a16:creationId xmlns:a16="http://schemas.microsoft.com/office/drawing/2014/main" id="{5D267514-2F07-C536-8D19-7B250C83A895}"/>
              </a:ext>
            </a:extLst>
          </p:cNvPr>
          <p:cNvSpPr txBox="1"/>
          <p:nvPr/>
        </p:nvSpPr>
        <p:spPr>
          <a:xfrm>
            <a:off x="9790725" y="892436"/>
            <a:ext cx="2154122"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This has the effect of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making the factor loading pattern much clearer</a:t>
            </a:r>
          </a:p>
        </p:txBody>
      </p:sp>
      <p:sp>
        <p:nvSpPr>
          <p:cNvPr id="3" name="Rectangle 2">
            <a:extLst>
              <a:ext uri="{FF2B5EF4-FFF2-40B4-BE49-F238E27FC236}">
                <a16:creationId xmlns:a16="http://schemas.microsoft.com/office/drawing/2014/main" id="{9FA188B4-5C39-610E-CC9E-296E31BDC8B2}"/>
              </a:ext>
            </a:extLst>
          </p:cNvPr>
          <p:cNvSpPr/>
          <p:nvPr/>
        </p:nvSpPr>
        <p:spPr>
          <a:xfrm>
            <a:off x="9790725" y="892436"/>
            <a:ext cx="2253343" cy="4482754"/>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FBA56FC4-72B4-B346-76AB-A326BD116CE1}"/>
              </a:ext>
            </a:extLst>
          </p:cNvPr>
          <p:cNvCxnSpPr>
            <a:cxnSpLocks/>
          </p:cNvCxnSpPr>
          <p:nvPr/>
        </p:nvCxnSpPr>
        <p:spPr>
          <a:xfrm flipH="1" flipV="1">
            <a:off x="2891481" y="729049"/>
            <a:ext cx="3052119" cy="2891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6890048-C619-BD2B-D9D7-1A82E2E8F580}"/>
              </a:ext>
            </a:extLst>
          </p:cNvPr>
          <p:cNvCxnSpPr>
            <a:cxnSpLocks/>
          </p:cNvCxnSpPr>
          <p:nvPr/>
        </p:nvCxnSpPr>
        <p:spPr>
          <a:xfrm flipH="1">
            <a:off x="2891481" y="3759749"/>
            <a:ext cx="7154562" cy="5033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61253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F9BA5-4E96-402B-B4D0-81D141014440}"/>
              </a:ext>
            </a:extLst>
          </p:cNvPr>
          <p:cNvSpPr>
            <a:spLocks noGrp="1"/>
          </p:cNvSpPr>
          <p:nvPr>
            <p:ph type="title"/>
          </p:nvPr>
        </p:nvSpPr>
        <p:spPr>
          <a:xfrm>
            <a:off x="0" y="132514"/>
            <a:ext cx="10515600" cy="538079"/>
          </a:xfrm>
        </p:spPr>
        <p:txBody>
          <a:bodyPr>
            <a:normAutofit fontScale="90000"/>
          </a:bodyPr>
          <a:lstStyle/>
          <a:p>
            <a:r>
              <a:rPr lang="en-US" dirty="0"/>
              <a:t>Factor loadings</a:t>
            </a:r>
          </a:p>
        </p:txBody>
      </p:sp>
      <p:sp>
        <p:nvSpPr>
          <p:cNvPr id="3" name="Content Placeholder 2">
            <a:extLst>
              <a:ext uri="{FF2B5EF4-FFF2-40B4-BE49-F238E27FC236}">
                <a16:creationId xmlns:a16="http://schemas.microsoft.com/office/drawing/2014/main" id="{A46EAD34-5DE1-41F3-97AC-9446C480CD67}"/>
              </a:ext>
            </a:extLst>
          </p:cNvPr>
          <p:cNvSpPr>
            <a:spLocks noGrp="1"/>
          </p:cNvSpPr>
          <p:nvPr>
            <p:ph idx="1"/>
          </p:nvPr>
        </p:nvSpPr>
        <p:spPr>
          <a:xfrm>
            <a:off x="164431" y="670593"/>
            <a:ext cx="11780641" cy="3355975"/>
          </a:xfrm>
        </p:spPr>
        <p:txBody>
          <a:bodyPr>
            <a:normAutofit lnSpcReduction="10000"/>
          </a:bodyPr>
          <a:lstStyle/>
          <a:p>
            <a:r>
              <a:rPr lang="en-US" sz="2000" dirty="0">
                <a:latin typeface="Calibri" panose="020F0502020204030204" pitchFamily="34" charset="0"/>
                <a:ea typeface="Calibri" panose="020F0502020204030204" pitchFamily="34" charset="0"/>
                <a:cs typeface="Calibri" panose="020F0502020204030204" pitchFamily="34" charset="0"/>
              </a:rPr>
              <a:t>The factor loading provides information on the relative contribution that an individual variable makes to a factor</a:t>
            </a:r>
          </a:p>
          <a:p>
            <a:r>
              <a:rPr lang="en-US" sz="2000" dirty="0">
                <a:latin typeface="Calibri" panose="020F0502020204030204" pitchFamily="34" charset="0"/>
                <a:ea typeface="Calibri" panose="020F0502020204030204" pitchFamily="34" charset="0"/>
                <a:cs typeface="Calibri" panose="020F0502020204030204" pitchFamily="34" charset="0"/>
              </a:rPr>
              <a:t>Should be &gt;=.3 preferably &gt;=.4, closer to 1 is better</a:t>
            </a:r>
          </a:p>
          <a:p>
            <a:r>
              <a:rPr lang="en-US" sz="2000" dirty="0">
                <a:latin typeface="Calibri" panose="020F0502020204030204" pitchFamily="34" charset="0"/>
                <a:ea typeface="Calibri" panose="020F0502020204030204" pitchFamily="34" charset="0"/>
                <a:cs typeface="Calibri" panose="020F0502020204030204" pitchFamily="34" charset="0"/>
              </a:rPr>
              <a:t>The factor loading squared is the percentage of common variance of the factor that is accounted for by that variable: If a variable loads .60 on a factor, then: 36% of that variable’s variance is explained by the factor</a:t>
            </a:r>
          </a:p>
          <a:p>
            <a:r>
              <a:rPr lang="en-US" sz="2000" dirty="0">
                <a:latin typeface="Calibri" panose="020F0502020204030204" pitchFamily="34" charset="0"/>
                <a:ea typeface="Calibri" panose="020F0502020204030204" pitchFamily="34" charset="0"/>
                <a:cs typeface="Calibri" panose="020F0502020204030204" pitchFamily="34" charset="0"/>
              </a:rPr>
              <a:t>You want each variable to have one strong loading on a single factor and near-zero on all others but in reality, cross-loadings happen—and that’s why rotation helps.</a:t>
            </a:r>
          </a:p>
          <a:p>
            <a:r>
              <a:rPr lang="en-US" sz="2000" dirty="0">
                <a:latin typeface="Calibri" panose="020F0502020204030204" pitchFamily="34" charset="0"/>
                <a:ea typeface="Calibri" panose="020F0502020204030204" pitchFamily="34" charset="0"/>
                <a:cs typeface="Calibri" panose="020F0502020204030204" pitchFamily="34" charset="0"/>
              </a:rPr>
              <a:t>Loadings can be negative: They just mean the variable moves inversely with the factor (you can recode the item for easier interpretation)</a:t>
            </a:r>
          </a:p>
          <a:p>
            <a:r>
              <a:rPr lang="en-US" sz="2000" dirty="0">
                <a:latin typeface="Calibri" panose="020F0502020204030204" pitchFamily="34" charset="0"/>
                <a:ea typeface="Calibri" panose="020F0502020204030204" pitchFamily="34" charset="0"/>
                <a:cs typeface="Calibri" panose="020F0502020204030204" pitchFamily="34" charset="0"/>
              </a:rPr>
              <a:t>Bipolar factors: a factor defined by positive loadings on one set of variables and negative loadings on another</a:t>
            </a:r>
          </a:p>
        </p:txBody>
      </p:sp>
    </p:spTree>
    <p:extLst>
      <p:ext uri="{BB962C8B-B14F-4D97-AF65-F5344CB8AC3E}">
        <p14:creationId xmlns:p14="http://schemas.microsoft.com/office/powerpoint/2010/main" val="20740874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86601-D0F9-4637-AC01-498477807B02}"/>
              </a:ext>
            </a:extLst>
          </p:cNvPr>
          <p:cNvSpPr>
            <a:spLocks noGrp="1"/>
          </p:cNvSpPr>
          <p:nvPr>
            <p:ph type="title"/>
          </p:nvPr>
        </p:nvSpPr>
        <p:spPr>
          <a:xfrm>
            <a:off x="68179" y="124493"/>
            <a:ext cx="10515600" cy="717717"/>
          </a:xfrm>
        </p:spPr>
        <p:txBody>
          <a:bodyPr>
            <a:normAutofit/>
          </a:bodyPr>
          <a:lstStyle/>
          <a:p>
            <a:r>
              <a:rPr lang="en-US" sz="3600" dirty="0">
                <a:latin typeface="Calibri" panose="020F0502020204030204" pitchFamily="34" charset="0"/>
                <a:ea typeface="Calibri" panose="020F0502020204030204" pitchFamily="34" charset="0"/>
                <a:cs typeface="Calibri" panose="020F0502020204030204" pitchFamily="34" charset="0"/>
              </a:rPr>
              <a:t>Judging the significance of the factors</a:t>
            </a:r>
          </a:p>
        </p:txBody>
      </p:sp>
      <p:sp>
        <p:nvSpPr>
          <p:cNvPr id="3" name="Content Placeholder 2">
            <a:extLst>
              <a:ext uri="{FF2B5EF4-FFF2-40B4-BE49-F238E27FC236}">
                <a16:creationId xmlns:a16="http://schemas.microsoft.com/office/drawing/2014/main" id="{B456C1F3-FBB6-4183-B108-97FE492264E4}"/>
              </a:ext>
            </a:extLst>
          </p:cNvPr>
          <p:cNvSpPr>
            <a:spLocks noGrp="1"/>
          </p:cNvSpPr>
          <p:nvPr>
            <p:ph idx="1"/>
          </p:nvPr>
        </p:nvSpPr>
        <p:spPr>
          <a:xfrm>
            <a:off x="220579" y="842210"/>
            <a:ext cx="10515600" cy="4351338"/>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Ensuring the practical significance</a:t>
            </a:r>
          </a:p>
          <a:p>
            <a:r>
              <a:rPr lang="en-US" sz="2000" dirty="0">
                <a:latin typeface="Calibri" panose="020F0502020204030204" pitchFamily="34" charset="0"/>
                <a:ea typeface="Calibri" panose="020F0502020204030204" pitchFamily="34" charset="0"/>
                <a:cs typeface="Calibri" panose="020F0502020204030204" pitchFamily="34" charset="0"/>
              </a:rPr>
              <a:t>The larger the more important, using practical reasoning</a:t>
            </a:r>
          </a:p>
          <a:p>
            <a:pPr lvl="1"/>
            <a:r>
              <a:rPr lang="en-US" sz="2000" dirty="0">
                <a:latin typeface="Calibri" panose="020F0502020204030204" pitchFamily="34" charset="0"/>
                <a:ea typeface="Calibri" panose="020F0502020204030204" pitchFamily="34" charset="0"/>
                <a:cs typeface="Calibri" panose="020F0502020204030204" pitchFamily="34" charset="0"/>
              </a:rPr>
              <a:t>+/- .30 to +/- .40 meet minimum level for interpreting factor structure</a:t>
            </a:r>
          </a:p>
          <a:p>
            <a:pPr lvl="1"/>
            <a:r>
              <a:rPr lang="en-US" sz="2000" dirty="0">
                <a:latin typeface="Calibri" panose="020F0502020204030204" pitchFamily="34" charset="0"/>
                <a:ea typeface="Calibri" panose="020F0502020204030204" pitchFamily="34" charset="0"/>
                <a:cs typeface="Calibri" panose="020F0502020204030204" pitchFamily="34" charset="0"/>
              </a:rPr>
              <a:t>Loadings of .50 or higher are practically significant</a:t>
            </a:r>
          </a:p>
          <a:p>
            <a:pPr lvl="1"/>
            <a:r>
              <a:rPr lang="en-US" sz="2000" dirty="0">
                <a:latin typeface="Calibri" panose="020F0502020204030204" pitchFamily="34" charset="0"/>
                <a:ea typeface="Calibri" panose="020F0502020204030204" pitchFamily="34" charset="0"/>
                <a:cs typeface="Calibri" panose="020F0502020204030204" pitchFamily="34" charset="0"/>
              </a:rPr>
              <a:t>Loadings &gt; .70 are indicative of well-defined structure</a:t>
            </a:r>
          </a:p>
        </p:txBody>
      </p:sp>
    </p:spTree>
    <p:extLst>
      <p:ext uri="{BB962C8B-B14F-4D97-AF65-F5344CB8AC3E}">
        <p14:creationId xmlns:p14="http://schemas.microsoft.com/office/powerpoint/2010/main" val="29751443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EC5F3-057C-4A6B-B9DE-0DD3D59FF0A3}"/>
              </a:ext>
            </a:extLst>
          </p:cNvPr>
          <p:cNvSpPr>
            <a:spLocks noGrp="1"/>
          </p:cNvSpPr>
          <p:nvPr>
            <p:ph type="title"/>
          </p:nvPr>
        </p:nvSpPr>
        <p:spPr>
          <a:xfrm>
            <a:off x="84221" y="365126"/>
            <a:ext cx="10515600" cy="509170"/>
          </a:xfrm>
        </p:spPr>
        <p:txBody>
          <a:bodyPr>
            <a:normAutofit fontScale="90000"/>
          </a:bodyPr>
          <a:lstStyle/>
          <a:p>
            <a:r>
              <a:rPr lang="en-US" dirty="0">
                <a:latin typeface="Calibri" panose="020F0502020204030204" pitchFamily="34" charset="0"/>
                <a:ea typeface="Calibri" panose="020F0502020204030204" pitchFamily="34" charset="0"/>
                <a:cs typeface="Calibri" panose="020F0502020204030204" pitchFamily="34" charset="0"/>
              </a:rPr>
              <a:t>Identify significant loadings and assess communalities</a:t>
            </a:r>
          </a:p>
        </p:txBody>
      </p:sp>
      <p:sp>
        <p:nvSpPr>
          <p:cNvPr id="3" name="Content Placeholder 2">
            <a:extLst>
              <a:ext uri="{FF2B5EF4-FFF2-40B4-BE49-F238E27FC236}">
                <a16:creationId xmlns:a16="http://schemas.microsoft.com/office/drawing/2014/main" id="{86D2729C-7E6E-4929-9CA0-8A529737A7BA}"/>
              </a:ext>
            </a:extLst>
          </p:cNvPr>
          <p:cNvSpPr>
            <a:spLocks noGrp="1"/>
          </p:cNvSpPr>
          <p:nvPr>
            <p:ph idx="1"/>
          </p:nvPr>
        </p:nvSpPr>
        <p:spPr>
          <a:xfrm>
            <a:off x="188495" y="1187951"/>
            <a:ext cx="11658600" cy="2241049"/>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Once the significance of loadings has been identified, look for any variables that are not adequately accounted for by the factor solution</a:t>
            </a:r>
          </a:p>
          <a:p>
            <a:r>
              <a:rPr lang="en-US" sz="2000" dirty="0">
                <a:latin typeface="Calibri" panose="020F0502020204030204" pitchFamily="34" charset="0"/>
                <a:ea typeface="Calibri" panose="020F0502020204030204" pitchFamily="34" charset="0"/>
                <a:cs typeface="Calibri" panose="020F0502020204030204" pitchFamily="34" charset="0"/>
              </a:rPr>
              <a:t>We do this by looking at communalities </a:t>
            </a:r>
            <a:r>
              <a:rPr lang="en-US" sz="2000"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variables with communalities less than .50 do not have sufficient explanation</a:t>
            </a:r>
          </a:p>
          <a:p>
            <a:r>
              <a:rPr lang="en-US" sz="2000" b="1"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If low communalities are identified, remove the variable and repeat the analysis</a:t>
            </a:r>
          </a:p>
          <a:p>
            <a:r>
              <a:rPr lang="en-US" sz="2000"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Then label the factors</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860420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D1FC7-6C88-4281-B8DC-7F561B933FE8}"/>
              </a:ext>
            </a:extLst>
          </p:cNvPr>
          <p:cNvSpPr>
            <a:spLocks noGrp="1"/>
          </p:cNvSpPr>
          <p:nvPr>
            <p:ph type="title"/>
          </p:nvPr>
        </p:nvSpPr>
        <p:spPr>
          <a:xfrm>
            <a:off x="100264" y="124494"/>
            <a:ext cx="10515600" cy="613443"/>
          </a:xfrm>
        </p:spPr>
        <p:txBody>
          <a:bodyPr>
            <a:normAutofit fontScale="90000"/>
          </a:bodyPr>
          <a:lstStyle/>
          <a:p>
            <a:r>
              <a:rPr lang="en-US" dirty="0"/>
              <a:t>Interpreting a factor matrix</a:t>
            </a:r>
          </a:p>
        </p:txBody>
      </p:sp>
      <p:sp>
        <p:nvSpPr>
          <p:cNvPr id="3" name="Content Placeholder 2">
            <a:extLst>
              <a:ext uri="{FF2B5EF4-FFF2-40B4-BE49-F238E27FC236}">
                <a16:creationId xmlns:a16="http://schemas.microsoft.com/office/drawing/2014/main" id="{70331417-C088-4C9A-B4A2-799F6147B64E}"/>
              </a:ext>
            </a:extLst>
          </p:cNvPr>
          <p:cNvSpPr>
            <a:spLocks noGrp="1"/>
          </p:cNvSpPr>
          <p:nvPr>
            <p:ph idx="1"/>
          </p:nvPr>
        </p:nvSpPr>
        <p:spPr>
          <a:xfrm>
            <a:off x="284746" y="737937"/>
            <a:ext cx="11428833" cy="4351338"/>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Once you’ve rotated and examined the factor loadings, your goal is to name the factors—but not randomly</a:t>
            </a:r>
          </a:p>
          <a:p>
            <a:r>
              <a:rPr lang="en-US" sz="2000" dirty="0">
                <a:latin typeface="Calibri" panose="020F0502020204030204" pitchFamily="34" charset="0"/>
                <a:ea typeface="Calibri" panose="020F0502020204030204" pitchFamily="34" charset="0"/>
                <a:cs typeface="Calibri" panose="020F0502020204030204" pitchFamily="34" charset="0"/>
              </a:rPr>
              <a:t>You need to</a:t>
            </a:r>
          </a:p>
          <a:p>
            <a:pPr lvl="1"/>
            <a:r>
              <a:rPr lang="en-US" sz="1800" dirty="0">
                <a:latin typeface="Calibri" panose="020F0502020204030204" pitchFamily="34" charset="0"/>
                <a:ea typeface="Calibri" panose="020F0502020204030204" pitchFamily="34" charset="0"/>
                <a:cs typeface="Calibri" panose="020F0502020204030204" pitchFamily="34" charset="0"/>
              </a:rPr>
              <a:t>Find distinctive variables that load strongly on each factor</a:t>
            </a:r>
          </a:p>
          <a:p>
            <a:pPr lvl="1"/>
            <a:r>
              <a:rPr lang="en-US" sz="1800" dirty="0">
                <a:latin typeface="Calibri" panose="020F0502020204030204" pitchFamily="34" charset="0"/>
                <a:ea typeface="Calibri" panose="020F0502020204030204" pitchFamily="34" charset="0"/>
                <a:cs typeface="Calibri" panose="020F0502020204030204" pitchFamily="34" charset="0"/>
              </a:rPr>
              <a:t>Match those variables to your theoretical or conceptual foundation</a:t>
            </a:r>
          </a:p>
          <a:p>
            <a:r>
              <a:rPr lang="en-US" sz="2000" dirty="0">
                <a:latin typeface="Calibri" panose="020F0502020204030204" pitchFamily="34" charset="0"/>
                <a:ea typeface="Calibri" panose="020F0502020204030204" pitchFamily="34" charset="0"/>
                <a:cs typeface="Calibri" panose="020F0502020204030204" pitchFamily="34" charset="0"/>
              </a:rPr>
              <a:t>What do these items have in common? What latent idea ties them together?</a:t>
            </a:r>
          </a:p>
          <a:p>
            <a:r>
              <a:rPr lang="en-US" sz="2000" b="1" dirty="0">
                <a:latin typeface="Calibri" panose="020F0502020204030204" pitchFamily="34" charset="0"/>
                <a:ea typeface="Calibri" panose="020F0502020204030204" pitchFamily="34" charset="0"/>
                <a:cs typeface="Calibri" panose="020F0502020204030204" pitchFamily="34" charset="0"/>
              </a:rPr>
              <a:t>Note:</a:t>
            </a:r>
            <a:r>
              <a:rPr lang="en-US" sz="2000" dirty="0">
                <a:latin typeface="Calibri" panose="020F0502020204030204" pitchFamily="34" charset="0"/>
                <a:ea typeface="Calibri" panose="020F0502020204030204" pitchFamily="34" charset="0"/>
                <a:cs typeface="Calibri" panose="020F0502020204030204" pitchFamily="34" charset="0"/>
              </a:rPr>
              <a:t> if you’ve used oblique rotation (which allows factors to correlate), your output includes two matrices—and they serve different purposes:</a:t>
            </a:r>
          </a:p>
          <a:p>
            <a:pPr lvl="1"/>
            <a:r>
              <a:rPr lang="en-US" sz="1800" dirty="0">
                <a:latin typeface="Calibri" panose="020F0502020204030204" pitchFamily="34" charset="0"/>
                <a:ea typeface="Calibri" panose="020F0502020204030204" pitchFamily="34" charset="0"/>
                <a:cs typeface="Calibri" panose="020F0502020204030204" pitchFamily="34" charset="0"/>
              </a:rPr>
              <a:t>Includes both unique contributions and the shared variance due to correlations between factors</a:t>
            </a:r>
          </a:p>
          <a:p>
            <a:pPr lvl="1"/>
            <a:r>
              <a:rPr lang="en-US" sz="1800" dirty="0">
                <a:latin typeface="Calibri" panose="020F0502020204030204" pitchFamily="34" charset="0"/>
                <a:ea typeface="Calibri" panose="020F0502020204030204" pitchFamily="34" charset="0"/>
                <a:cs typeface="Calibri" panose="020F0502020204030204" pitchFamily="34" charset="0"/>
              </a:rPr>
              <a:t>These are correlations between the variable and the factor</a:t>
            </a:r>
          </a:p>
          <a:p>
            <a:pPr lvl="1"/>
            <a:r>
              <a:rPr lang="en-US" sz="1800" dirty="0">
                <a:latin typeface="Calibri" panose="020F0502020204030204" pitchFamily="34" charset="0"/>
                <a:ea typeface="Calibri" panose="020F0502020204030204" pitchFamily="34" charset="0"/>
                <a:cs typeface="Calibri" panose="020F0502020204030204" pitchFamily="34" charset="0"/>
              </a:rPr>
              <a:t>Use this matrix to understand overall relationships, but not to name factors</a:t>
            </a:r>
          </a:p>
          <a:p>
            <a:r>
              <a:rPr lang="en-US" sz="2200" dirty="0">
                <a:latin typeface="Calibri" panose="020F0502020204030204" pitchFamily="34" charset="0"/>
                <a:ea typeface="Calibri" panose="020F0502020204030204" pitchFamily="34" charset="0"/>
                <a:cs typeface="Calibri" panose="020F0502020204030204" pitchFamily="34" charset="0"/>
              </a:rPr>
              <a:t>Base the factor labeling on the rotated pattern matrix</a:t>
            </a:r>
          </a:p>
        </p:txBody>
      </p:sp>
    </p:spTree>
    <p:extLst>
      <p:ext uri="{BB962C8B-B14F-4D97-AF65-F5344CB8AC3E}">
        <p14:creationId xmlns:p14="http://schemas.microsoft.com/office/powerpoint/2010/main" val="41681184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423CB-E8AA-CA65-1368-4B0CE4726F3F}"/>
              </a:ext>
            </a:extLst>
          </p:cNvPr>
          <p:cNvSpPr>
            <a:spLocks noGrp="1"/>
          </p:cNvSpPr>
          <p:nvPr>
            <p:ph type="title"/>
          </p:nvPr>
        </p:nvSpPr>
        <p:spPr>
          <a:xfrm>
            <a:off x="76200" y="76367"/>
            <a:ext cx="11522242" cy="789907"/>
          </a:xfrm>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Generating factor scores: A Composite Measure</a:t>
            </a:r>
          </a:p>
        </p:txBody>
      </p:sp>
      <p:sp>
        <p:nvSpPr>
          <p:cNvPr id="3" name="Content Placeholder 2">
            <a:extLst>
              <a:ext uri="{FF2B5EF4-FFF2-40B4-BE49-F238E27FC236}">
                <a16:creationId xmlns:a16="http://schemas.microsoft.com/office/drawing/2014/main" id="{5BD6B347-3046-08CA-05FE-55DC4F4416F4}"/>
              </a:ext>
            </a:extLst>
          </p:cNvPr>
          <p:cNvSpPr>
            <a:spLocks noGrp="1"/>
          </p:cNvSpPr>
          <p:nvPr>
            <p:ph idx="1"/>
          </p:nvPr>
        </p:nvSpPr>
        <p:spPr>
          <a:xfrm>
            <a:off x="306583" y="761999"/>
            <a:ext cx="11452280" cy="4023360"/>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Sometimes you would like to use the factor scores as a predictor in another analysis</a:t>
            </a:r>
          </a:p>
          <a:p>
            <a:r>
              <a:rPr lang="en-US" sz="2000" dirty="0">
                <a:latin typeface="Calibri" panose="020F0502020204030204" pitchFamily="34" charset="0"/>
                <a:ea typeface="Calibri" panose="020F0502020204030204" pitchFamily="34" charset="0"/>
                <a:cs typeface="Calibri" panose="020F0502020204030204" pitchFamily="34" charset="0"/>
              </a:rPr>
              <a:t>This can be done in SPSS</a:t>
            </a:r>
          </a:p>
          <a:p>
            <a:r>
              <a:rPr lang="en-US" sz="2000" dirty="0">
                <a:latin typeface="Calibri" panose="020F0502020204030204" pitchFamily="34" charset="0"/>
                <a:ea typeface="Calibri" panose="020F0502020204030204" pitchFamily="34" charset="0"/>
                <a:cs typeface="Calibri" panose="020F0502020204030204" pitchFamily="34" charset="0"/>
              </a:rPr>
              <a:t>SPSS will append variables to your dataset for each factor</a:t>
            </a:r>
          </a:p>
          <a:p>
            <a:r>
              <a:rPr lang="en-US" sz="2000" dirty="0">
                <a:latin typeface="Calibri" panose="020F0502020204030204" pitchFamily="34" charset="0"/>
                <a:ea typeface="Calibri" panose="020F0502020204030204" pitchFamily="34" charset="0"/>
                <a:cs typeface="Calibri" panose="020F0502020204030204" pitchFamily="34" charset="0"/>
              </a:rPr>
              <a:t>For oblique rotations, use regression method</a:t>
            </a:r>
          </a:p>
          <a:p>
            <a:r>
              <a:rPr lang="en-US" sz="2000" dirty="0">
                <a:latin typeface="Calibri" panose="020F0502020204030204" pitchFamily="34" charset="0"/>
                <a:ea typeface="Calibri" panose="020F0502020204030204" pitchFamily="34" charset="0"/>
                <a:cs typeface="Calibri" panose="020F0502020204030204" pitchFamily="34" charset="0"/>
              </a:rPr>
              <a:t>This variable can be used in a different analysis</a:t>
            </a:r>
          </a:p>
          <a:p>
            <a:r>
              <a:rPr lang="en-US" sz="2000" dirty="0">
                <a:latin typeface="Calibri" panose="020F0502020204030204" pitchFamily="34" charset="0"/>
                <a:ea typeface="Calibri" panose="020F0502020204030204" pitchFamily="34" charset="0"/>
                <a:cs typeface="Calibri" panose="020F0502020204030204" pitchFamily="34" charset="0"/>
              </a:rPr>
              <a:t>The scores are standardized, mean = 0, var = 1</a:t>
            </a:r>
          </a:p>
        </p:txBody>
      </p:sp>
      <p:pic>
        <p:nvPicPr>
          <p:cNvPr id="6" name="Picture 5">
            <a:extLst>
              <a:ext uri="{FF2B5EF4-FFF2-40B4-BE49-F238E27FC236}">
                <a16:creationId xmlns:a16="http://schemas.microsoft.com/office/drawing/2014/main" id="{A8BA0AC9-048A-FABC-AFF5-762D07332B2A}"/>
              </a:ext>
            </a:extLst>
          </p:cNvPr>
          <p:cNvPicPr>
            <a:picLocks noChangeAspect="1"/>
          </p:cNvPicPr>
          <p:nvPr/>
        </p:nvPicPr>
        <p:blipFill>
          <a:blip r:embed="rId3"/>
          <a:stretch>
            <a:fillRect/>
          </a:stretch>
        </p:blipFill>
        <p:spPr>
          <a:xfrm>
            <a:off x="7348175" y="1203580"/>
            <a:ext cx="4250267" cy="3140197"/>
          </a:xfrm>
          <a:prstGeom prst="rect">
            <a:avLst/>
          </a:prstGeom>
        </p:spPr>
      </p:pic>
    </p:spTree>
    <p:extLst>
      <p:ext uri="{BB962C8B-B14F-4D97-AF65-F5344CB8AC3E}">
        <p14:creationId xmlns:p14="http://schemas.microsoft.com/office/powerpoint/2010/main" val="9459313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0263" y="100431"/>
            <a:ext cx="10515600" cy="693654"/>
          </a:xfrm>
        </p:spPr>
        <p:txBody>
          <a:bodyPr>
            <a:normAutofit fontScale="90000"/>
          </a:bodyPr>
          <a:lstStyle/>
          <a:p>
            <a:r>
              <a:rPr lang="en-US" dirty="0"/>
              <a:t>Considerations</a:t>
            </a:r>
          </a:p>
        </p:txBody>
      </p:sp>
      <p:sp>
        <p:nvSpPr>
          <p:cNvPr id="5" name="Content Placeholder 4"/>
          <p:cNvSpPr>
            <a:spLocks noGrp="1"/>
          </p:cNvSpPr>
          <p:nvPr>
            <p:ph idx="1"/>
          </p:nvPr>
        </p:nvSpPr>
        <p:spPr>
          <a:xfrm>
            <a:off x="241915" y="689810"/>
            <a:ext cx="10797476" cy="4120896"/>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High communalities (approximately .8 to .9)</a:t>
            </a:r>
          </a:p>
          <a:p>
            <a:r>
              <a:rPr lang="en-US" sz="2000" dirty="0">
                <a:latin typeface="Calibri" panose="020F0502020204030204" pitchFamily="34" charset="0"/>
                <a:ea typeface="Calibri" panose="020F0502020204030204" pitchFamily="34" charset="0"/>
                <a:cs typeface="Calibri" panose="020F0502020204030204" pitchFamily="34" charset="0"/>
              </a:rPr>
              <a:t>Low model error (which is likely evidenced in situations where communalities are high; RMSR = .00 to .06) (Preacher &amp; MacCallum, 2002)</a:t>
            </a:r>
          </a:p>
          <a:p>
            <a:r>
              <a:rPr lang="en-US" sz="2000" dirty="0">
                <a:latin typeface="Calibri" panose="020F0502020204030204" pitchFamily="34" charset="0"/>
                <a:ea typeface="Calibri" panose="020F0502020204030204" pitchFamily="34" charset="0"/>
                <a:cs typeface="Calibri" panose="020F0502020204030204" pitchFamily="34" charset="0"/>
              </a:rPr>
              <a:t>Factors with four or more variables with factor loadings of .60 or greater are interpretable regardless of the sample size </a:t>
            </a:r>
          </a:p>
          <a:p>
            <a:r>
              <a:rPr lang="en-US" sz="2000" dirty="0">
                <a:latin typeface="Calibri" panose="020F0502020204030204" pitchFamily="34" charset="0"/>
                <a:ea typeface="Calibri" panose="020F0502020204030204" pitchFamily="34" charset="0"/>
                <a:cs typeface="Calibri" panose="020F0502020204030204" pitchFamily="34" charset="0"/>
              </a:rPr>
              <a:t>Solutions with lower factor loadings (.40) can still be interpreted if the number of cases is at least 200 </a:t>
            </a:r>
            <a:r>
              <a:rPr lang="en-US" sz="2000" u="sng" dirty="0">
                <a:latin typeface="Calibri" panose="020F0502020204030204" pitchFamily="34" charset="0"/>
                <a:ea typeface="Calibri" panose="020F0502020204030204" pitchFamily="34" charset="0"/>
                <a:cs typeface="Calibri" panose="020F0502020204030204" pitchFamily="34" charset="0"/>
              </a:rPr>
              <a:t>and</a:t>
            </a:r>
            <a:r>
              <a:rPr lang="en-US" sz="2000" dirty="0">
                <a:latin typeface="Calibri" panose="020F0502020204030204" pitchFamily="34" charset="0"/>
                <a:ea typeface="Calibri" panose="020F0502020204030204" pitchFamily="34" charset="0"/>
                <a:cs typeface="Calibri" panose="020F0502020204030204" pitchFamily="34" charset="0"/>
              </a:rPr>
              <a:t> the number of variables per factor is larger (=&gt; 10) </a:t>
            </a:r>
          </a:p>
        </p:txBody>
      </p:sp>
    </p:spTree>
    <p:extLst>
      <p:ext uri="{BB962C8B-B14F-4D97-AF65-F5344CB8AC3E}">
        <p14:creationId xmlns:p14="http://schemas.microsoft.com/office/powerpoint/2010/main" val="28902176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A7C32-C639-4C67-AAC8-C400D3F42E88}"/>
              </a:ext>
            </a:extLst>
          </p:cNvPr>
          <p:cNvSpPr>
            <a:spLocks noGrp="1"/>
          </p:cNvSpPr>
          <p:nvPr>
            <p:ph type="title"/>
          </p:nvPr>
        </p:nvSpPr>
        <p:spPr>
          <a:xfrm>
            <a:off x="0" y="87912"/>
            <a:ext cx="9720072" cy="633984"/>
          </a:xfrm>
        </p:spPr>
        <p:txBody>
          <a:bodyPr>
            <a:normAutofit fontScale="90000"/>
          </a:bodyPr>
          <a:lstStyle/>
          <a:p>
            <a:r>
              <a:rPr lang="en-US" dirty="0">
                <a:latin typeface="Calibri" panose="020F0502020204030204" pitchFamily="34" charset="0"/>
                <a:ea typeface="Calibri" panose="020F0502020204030204" pitchFamily="34" charset="0"/>
                <a:cs typeface="Calibri" panose="020F0502020204030204" pitchFamily="34" charset="0"/>
              </a:rPr>
              <a:t>Assumptions</a:t>
            </a:r>
          </a:p>
        </p:txBody>
      </p:sp>
      <p:graphicFrame>
        <p:nvGraphicFramePr>
          <p:cNvPr id="4" name="Table 4">
            <a:extLst>
              <a:ext uri="{FF2B5EF4-FFF2-40B4-BE49-F238E27FC236}">
                <a16:creationId xmlns:a16="http://schemas.microsoft.com/office/drawing/2014/main" id="{CBC66FFF-853A-4694-BF10-40EC28D9C276}"/>
              </a:ext>
            </a:extLst>
          </p:cNvPr>
          <p:cNvGraphicFramePr>
            <a:graphicFrameLocks noGrp="1"/>
          </p:cNvGraphicFramePr>
          <p:nvPr>
            <p:ph idx="1"/>
            <p:extLst>
              <p:ext uri="{D42A27DB-BD31-4B8C-83A1-F6EECF244321}">
                <p14:modId xmlns:p14="http://schemas.microsoft.com/office/powerpoint/2010/main" val="1889689206"/>
              </p:ext>
            </p:extLst>
          </p:nvPr>
        </p:nvGraphicFramePr>
        <p:xfrm>
          <a:off x="157131" y="685800"/>
          <a:ext cx="11176616" cy="3779520"/>
        </p:xfrm>
        <a:graphic>
          <a:graphicData uri="http://schemas.openxmlformats.org/drawingml/2006/table">
            <a:tbl>
              <a:tblPr firstRow="1" bandRow="1">
                <a:tableStyleId>{5C22544A-7EE6-4342-B048-85BDC9FD1C3A}</a:tableStyleId>
              </a:tblPr>
              <a:tblGrid>
                <a:gridCol w="5588308">
                  <a:extLst>
                    <a:ext uri="{9D8B030D-6E8A-4147-A177-3AD203B41FA5}">
                      <a16:colId xmlns:a16="http://schemas.microsoft.com/office/drawing/2014/main" val="293648824"/>
                    </a:ext>
                  </a:extLst>
                </a:gridCol>
                <a:gridCol w="5588308">
                  <a:extLst>
                    <a:ext uri="{9D8B030D-6E8A-4147-A177-3AD203B41FA5}">
                      <a16:colId xmlns:a16="http://schemas.microsoft.com/office/drawing/2014/main" val="3067812226"/>
                    </a:ext>
                  </a:extLst>
                </a:gridCol>
              </a:tblGrid>
              <a:tr h="370840">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Assumption</a:t>
                      </a:r>
                    </a:p>
                  </a:txBody>
                  <a:tcPr/>
                </a:tc>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Effect when violated</a:t>
                      </a:r>
                    </a:p>
                  </a:txBody>
                  <a:tcPr/>
                </a:tc>
                <a:extLst>
                  <a:ext uri="{0D108BD9-81ED-4DB2-BD59-A6C34878D82A}">
                    <a16:rowId xmlns:a16="http://schemas.microsoft.com/office/drawing/2014/main" val="2108456429"/>
                  </a:ext>
                </a:extLst>
              </a:tr>
              <a:tr h="370840">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Independence</a:t>
                      </a:r>
                    </a:p>
                  </a:txBody>
                  <a:tcPr/>
                </a:tc>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Influences standard errors and hypothesis tests</a:t>
                      </a:r>
                    </a:p>
                  </a:txBody>
                  <a:tcPr/>
                </a:tc>
                <a:extLst>
                  <a:ext uri="{0D108BD9-81ED-4DB2-BD59-A6C34878D82A}">
                    <a16:rowId xmlns:a16="http://schemas.microsoft.com/office/drawing/2014/main" val="2095878226"/>
                  </a:ext>
                </a:extLst>
              </a:tr>
              <a:tr h="370840">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Linearity</a:t>
                      </a:r>
                    </a:p>
                  </a:txBody>
                  <a:tcPr/>
                </a:tc>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Reduces interpretability of the FA solution</a:t>
                      </a:r>
                    </a:p>
                  </a:txBody>
                  <a:tcPr/>
                </a:tc>
                <a:extLst>
                  <a:ext uri="{0D108BD9-81ED-4DB2-BD59-A6C34878D82A}">
                    <a16:rowId xmlns:a16="http://schemas.microsoft.com/office/drawing/2014/main" val="1878196892"/>
                  </a:ext>
                </a:extLst>
              </a:tr>
              <a:tr h="370840">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Absence of outlying cases and variables</a:t>
                      </a:r>
                    </a:p>
                  </a:txBody>
                  <a:tcPr/>
                </a:tc>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Exerts undue influence on and distorts the FA solution</a:t>
                      </a:r>
                    </a:p>
                  </a:txBody>
                  <a:tcPr/>
                </a:tc>
                <a:extLst>
                  <a:ext uri="{0D108BD9-81ED-4DB2-BD59-A6C34878D82A}">
                    <a16:rowId xmlns:a16="http://schemas.microsoft.com/office/drawing/2014/main" val="1062057981"/>
                  </a:ext>
                </a:extLst>
              </a:tr>
              <a:tr h="370840">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Lack of </a:t>
                      </a:r>
                      <a:r>
                        <a:rPr lang="en-US" sz="2000" i="1" dirty="0">
                          <a:latin typeface="Calibri" panose="020F0502020204030204" pitchFamily="34" charset="0"/>
                          <a:ea typeface="Calibri" panose="020F0502020204030204" pitchFamily="34" charset="0"/>
                          <a:cs typeface="Calibri" panose="020F0502020204030204" pitchFamily="34" charset="0"/>
                        </a:rPr>
                        <a:t>extreme </a:t>
                      </a:r>
                      <a:r>
                        <a:rPr lang="en-US" sz="2000" i="0" dirty="0">
                          <a:latin typeface="Calibri" panose="020F0502020204030204" pitchFamily="34" charset="0"/>
                          <a:ea typeface="Calibri" panose="020F0502020204030204" pitchFamily="34" charset="0"/>
                          <a:cs typeface="Calibri" panose="020F0502020204030204" pitchFamily="34" charset="0"/>
                        </a:rPr>
                        <a:t>multicollinearity</a:t>
                      </a:r>
                      <a:endParaRPr lang="en-US" sz="20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Reduces ability to separate effects of variables</a:t>
                      </a:r>
                    </a:p>
                  </a:txBody>
                  <a:tcPr/>
                </a:tc>
                <a:extLst>
                  <a:ext uri="{0D108BD9-81ED-4DB2-BD59-A6C34878D82A}">
                    <a16:rowId xmlns:a16="http://schemas.microsoft.com/office/drawing/2014/main" val="1527486746"/>
                  </a:ext>
                </a:extLst>
              </a:tr>
              <a:tr h="370840">
                <a:tc>
                  <a:txBody>
                    <a:bodyPr/>
                    <a:lstStyle/>
                    <a:p>
                      <a:r>
                        <a:rPr lang="en-US" sz="2000" b="1" dirty="0">
                          <a:latin typeface="Calibri" panose="020F0502020204030204" pitchFamily="34" charset="0"/>
                          <a:ea typeface="Calibri" panose="020F0502020204030204" pitchFamily="34" charset="0"/>
                          <a:cs typeface="Calibri" panose="020F0502020204030204" pitchFamily="34" charset="0"/>
                        </a:rPr>
                        <a:t>Multivariate</a:t>
                      </a:r>
                      <a:r>
                        <a:rPr lang="en-US" sz="2000" dirty="0">
                          <a:latin typeface="Calibri" panose="020F0502020204030204" pitchFamily="34" charset="0"/>
                          <a:ea typeface="Calibri" panose="020F0502020204030204" pitchFamily="34" charset="0"/>
                          <a:cs typeface="Calibri" panose="020F0502020204030204" pitchFamily="34" charset="0"/>
                        </a:rPr>
                        <a:t> normality</a:t>
                      </a:r>
                    </a:p>
                  </a:txBody>
                  <a:tcPr/>
                </a:tc>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Minimal effect except when MLE is used and when samples size is small</a:t>
                      </a:r>
                    </a:p>
                  </a:txBody>
                  <a:tcPr/>
                </a:tc>
                <a:extLst>
                  <a:ext uri="{0D108BD9-81ED-4DB2-BD59-A6C34878D82A}">
                    <a16:rowId xmlns:a16="http://schemas.microsoft.com/office/drawing/2014/main" val="1131149958"/>
                  </a:ext>
                </a:extLst>
              </a:tr>
              <a:tr h="370840">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10 observations per variable/n &gt;= 200</a:t>
                      </a:r>
                    </a:p>
                  </a:txBody>
                  <a:tcPr/>
                </a:tc>
                <a:tc>
                  <a:txBody>
                    <a:bodyPr/>
                    <a:lstStyle/>
                    <a:p>
                      <a:endParaRPr lang="en-US" sz="20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79587542"/>
                  </a:ext>
                </a:extLst>
              </a:tr>
              <a:tr h="370840">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Homogeneity of the sample**</a:t>
                      </a:r>
                    </a:p>
                  </a:txBody>
                  <a:tcPr/>
                </a:tc>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Failure to consider groupings</a:t>
                      </a:r>
                    </a:p>
                  </a:txBody>
                  <a:tcPr/>
                </a:tc>
                <a:extLst>
                  <a:ext uri="{0D108BD9-81ED-4DB2-BD59-A6C34878D82A}">
                    <a16:rowId xmlns:a16="http://schemas.microsoft.com/office/drawing/2014/main" val="2551281344"/>
                  </a:ext>
                </a:extLst>
              </a:tr>
            </a:tbl>
          </a:graphicData>
        </a:graphic>
      </p:graphicFrame>
    </p:spTree>
    <p:extLst>
      <p:ext uri="{BB962C8B-B14F-4D97-AF65-F5344CB8AC3E}">
        <p14:creationId xmlns:p14="http://schemas.microsoft.com/office/powerpoint/2010/main" val="4098046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FFD4B-4098-02D3-4E2F-F4B08B90C34E}"/>
              </a:ext>
            </a:extLst>
          </p:cNvPr>
          <p:cNvSpPr>
            <a:spLocks noGrp="1"/>
          </p:cNvSpPr>
          <p:nvPr>
            <p:ph type="title"/>
          </p:nvPr>
        </p:nvSpPr>
        <p:spPr>
          <a:xfrm>
            <a:off x="165875" y="125968"/>
            <a:ext cx="7702777" cy="748732"/>
          </a:xfrm>
        </p:spPr>
        <p:txBody>
          <a:bodyPr>
            <a:normAutofit/>
          </a:bodyPr>
          <a:lstStyle/>
          <a:p>
            <a:r>
              <a:rPr lang="en-US" sz="4000" dirty="0">
                <a:latin typeface="Calibri" panose="020F0502020204030204" pitchFamily="34" charset="0"/>
                <a:ea typeface="Calibri" panose="020F0502020204030204" pitchFamily="34" charset="0"/>
                <a:cs typeface="Calibri" panose="020F0502020204030204" pitchFamily="34" charset="0"/>
              </a:rPr>
              <a:t>Example: Statistics anxiety</a:t>
            </a:r>
          </a:p>
        </p:txBody>
      </p:sp>
      <p:sp>
        <p:nvSpPr>
          <p:cNvPr id="10" name="Content Placeholder 9">
            <a:extLst>
              <a:ext uri="{FF2B5EF4-FFF2-40B4-BE49-F238E27FC236}">
                <a16:creationId xmlns:a16="http://schemas.microsoft.com/office/drawing/2014/main" id="{4970C357-8BFF-17E4-218A-85A6BFE6D87F}"/>
              </a:ext>
            </a:extLst>
          </p:cNvPr>
          <p:cNvSpPr>
            <a:spLocks noGrp="1"/>
          </p:cNvSpPr>
          <p:nvPr>
            <p:ph idx="1"/>
          </p:nvPr>
        </p:nvSpPr>
        <p:spPr>
          <a:xfrm>
            <a:off x="318718" y="874700"/>
            <a:ext cx="7974106" cy="4168588"/>
          </a:xfrm>
        </p:spPr>
        <p:txBody>
          <a:bodyPr>
            <a:normAutofit/>
          </a:bodyPr>
          <a:lstStyle/>
          <a:p>
            <a:pPr algn="l">
              <a:buFont typeface="+mj-lt"/>
              <a:buAutoNum type="arabicPeriod"/>
            </a:pPr>
            <a:r>
              <a:rPr lang="en-US" sz="2000" b="0" i="0" dirty="0">
                <a:solidFill>
                  <a:srgbClr val="333333"/>
                </a:solidFill>
                <a:effectLst/>
                <a:latin typeface="ProximaNova"/>
              </a:rPr>
              <a:t> Statistics makes me cry</a:t>
            </a:r>
          </a:p>
          <a:p>
            <a:pPr algn="l">
              <a:buFont typeface="+mj-lt"/>
              <a:buAutoNum type="arabicPeriod"/>
            </a:pPr>
            <a:r>
              <a:rPr lang="en-US" sz="2000" b="0" i="0" dirty="0">
                <a:solidFill>
                  <a:srgbClr val="333333"/>
                </a:solidFill>
                <a:effectLst/>
                <a:latin typeface="ProximaNova"/>
              </a:rPr>
              <a:t> My friends will think I’m stupid for not being able to cope with SPSS</a:t>
            </a:r>
          </a:p>
          <a:p>
            <a:pPr algn="l">
              <a:buFont typeface="+mj-lt"/>
              <a:buAutoNum type="arabicPeriod"/>
            </a:pPr>
            <a:r>
              <a:rPr lang="en-US" sz="2000" b="0" i="0" dirty="0">
                <a:solidFill>
                  <a:srgbClr val="333333"/>
                </a:solidFill>
                <a:effectLst/>
                <a:latin typeface="ProximaNova"/>
              </a:rPr>
              <a:t> Standard deviations excite me</a:t>
            </a:r>
          </a:p>
          <a:p>
            <a:pPr algn="l">
              <a:buFont typeface="+mj-lt"/>
              <a:buAutoNum type="arabicPeriod"/>
            </a:pPr>
            <a:r>
              <a:rPr lang="en-US" sz="2000" b="0" i="0" dirty="0">
                <a:solidFill>
                  <a:srgbClr val="333333"/>
                </a:solidFill>
                <a:effectLst/>
                <a:latin typeface="ProximaNova"/>
              </a:rPr>
              <a:t> I dream that Pearson is attacking me with correlation coefficients</a:t>
            </a:r>
          </a:p>
          <a:p>
            <a:pPr algn="l">
              <a:buFont typeface="+mj-lt"/>
              <a:buAutoNum type="arabicPeriod"/>
            </a:pPr>
            <a:r>
              <a:rPr lang="en-US" sz="2000" b="0" i="0" dirty="0">
                <a:solidFill>
                  <a:srgbClr val="333333"/>
                </a:solidFill>
                <a:effectLst/>
                <a:latin typeface="ProximaNova"/>
              </a:rPr>
              <a:t> I don’t understand statistics</a:t>
            </a:r>
          </a:p>
          <a:p>
            <a:pPr algn="l">
              <a:buFont typeface="+mj-lt"/>
              <a:buAutoNum type="arabicPeriod"/>
            </a:pPr>
            <a:r>
              <a:rPr lang="en-US" sz="2000" b="0" i="0" dirty="0">
                <a:solidFill>
                  <a:srgbClr val="333333"/>
                </a:solidFill>
                <a:effectLst/>
                <a:latin typeface="ProximaNova"/>
              </a:rPr>
              <a:t> I have little experience of computers</a:t>
            </a:r>
          </a:p>
          <a:p>
            <a:pPr algn="l">
              <a:buFont typeface="+mj-lt"/>
              <a:buAutoNum type="arabicPeriod"/>
            </a:pPr>
            <a:r>
              <a:rPr lang="en-US" sz="2000" b="0" i="0" dirty="0">
                <a:solidFill>
                  <a:srgbClr val="333333"/>
                </a:solidFill>
                <a:effectLst/>
                <a:latin typeface="ProximaNova"/>
              </a:rPr>
              <a:t> All computers hate me</a:t>
            </a:r>
          </a:p>
          <a:p>
            <a:pPr algn="l">
              <a:buFont typeface="+mj-lt"/>
              <a:buAutoNum type="arabicPeriod"/>
            </a:pPr>
            <a:r>
              <a:rPr lang="en-US" sz="2000" b="0" i="0" dirty="0">
                <a:solidFill>
                  <a:srgbClr val="333333"/>
                </a:solidFill>
                <a:effectLst/>
                <a:latin typeface="ProximaNova"/>
              </a:rPr>
              <a:t> I have never been good at mathematics</a:t>
            </a:r>
          </a:p>
          <a:p>
            <a:endParaRPr lang="en-US" sz="1600" dirty="0"/>
          </a:p>
        </p:txBody>
      </p:sp>
      <p:pic>
        <p:nvPicPr>
          <p:cNvPr id="6" name="Content Placeholder 5" descr="Chart, diagram&#10;&#10;Description automatically generated">
            <a:extLst>
              <a:ext uri="{FF2B5EF4-FFF2-40B4-BE49-F238E27FC236}">
                <a16:creationId xmlns:a16="http://schemas.microsoft.com/office/drawing/2014/main" id="{4DCC89B9-3502-0040-C9AF-8AD6739B8A29}"/>
              </a:ext>
            </a:extLst>
          </p:cNvPr>
          <p:cNvPicPr>
            <a:picLocks noChangeAspect="1"/>
          </p:cNvPicPr>
          <p:nvPr/>
        </p:nvPicPr>
        <p:blipFill>
          <a:blip r:embed="rId3"/>
          <a:stretch>
            <a:fillRect/>
          </a:stretch>
        </p:blipFill>
        <p:spPr>
          <a:xfrm>
            <a:off x="8021495" y="292227"/>
            <a:ext cx="3591275" cy="5120640"/>
          </a:xfrm>
          <a:prstGeom prst="rect">
            <a:avLst/>
          </a:prstGeom>
        </p:spPr>
      </p:pic>
      <p:sp>
        <p:nvSpPr>
          <p:cNvPr id="3" name="Oval 2">
            <a:extLst>
              <a:ext uri="{FF2B5EF4-FFF2-40B4-BE49-F238E27FC236}">
                <a16:creationId xmlns:a16="http://schemas.microsoft.com/office/drawing/2014/main" id="{11A6E460-A02B-D755-C669-08E11CCD8318}"/>
              </a:ext>
            </a:extLst>
          </p:cNvPr>
          <p:cNvSpPr/>
          <p:nvPr/>
        </p:nvSpPr>
        <p:spPr>
          <a:xfrm>
            <a:off x="10262929" y="2199434"/>
            <a:ext cx="1295330" cy="10626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Stats Anxiety</a:t>
            </a:r>
          </a:p>
        </p:txBody>
      </p:sp>
      <p:sp>
        <p:nvSpPr>
          <p:cNvPr id="4" name="TextBox 3">
            <a:extLst>
              <a:ext uri="{FF2B5EF4-FFF2-40B4-BE49-F238E27FC236}">
                <a16:creationId xmlns:a16="http://schemas.microsoft.com/office/drawing/2014/main" id="{EB5E3495-FA5F-73B9-4717-15F645FA611D}"/>
              </a:ext>
            </a:extLst>
          </p:cNvPr>
          <p:cNvSpPr txBox="1"/>
          <p:nvPr/>
        </p:nvSpPr>
        <p:spPr>
          <a:xfrm>
            <a:off x="0" y="6211669"/>
            <a:ext cx="11748304" cy="646331"/>
          </a:xfrm>
          <a:prstGeom prst="rect">
            <a:avLst/>
          </a:prstGeom>
          <a:noFill/>
        </p:spPr>
        <p:txBody>
          <a:bodyPr wrap="square" rtlCol="0">
            <a:spAutoFit/>
          </a:bodyPr>
          <a:lstStyle/>
          <a:p>
            <a:r>
              <a:rPr lang="en-US" b="1" dirty="0"/>
              <a:t>Question</a:t>
            </a:r>
            <a:r>
              <a:rPr lang="en-US" dirty="0"/>
              <a:t>: What constitutes the systematic error for item 3, i.e., explanations for variation in this item that are not related to stats anxiety?</a:t>
            </a:r>
          </a:p>
        </p:txBody>
      </p:sp>
    </p:spTree>
    <p:extLst>
      <p:ext uri="{BB962C8B-B14F-4D97-AF65-F5344CB8AC3E}">
        <p14:creationId xmlns:p14="http://schemas.microsoft.com/office/powerpoint/2010/main" val="1064663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DE0274-9D51-07AC-5F47-1D9A8FD6789E}"/>
              </a:ext>
            </a:extLst>
          </p:cNvPr>
          <p:cNvPicPr>
            <a:picLocks noChangeAspect="1"/>
          </p:cNvPicPr>
          <p:nvPr/>
        </p:nvPicPr>
        <p:blipFill>
          <a:blip r:embed="rId2"/>
          <a:stretch>
            <a:fillRect/>
          </a:stretch>
        </p:blipFill>
        <p:spPr>
          <a:xfrm>
            <a:off x="2370186" y="186266"/>
            <a:ext cx="5571067" cy="5571067"/>
          </a:xfrm>
          <a:prstGeom prst="rect">
            <a:avLst/>
          </a:prstGeom>
        </p:spPr>
      </p:pic>
    </p:spTree>
    <p:extLst>
      <p:ext uri="{BB962C8B-B14F-4D97-AF65-F5344CB8AC3E}">
        <p14:creationId xmlns:p14="http://schemas.microsoft.com/office/powerpoint/2010/main" val="36657945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EA421A5-2D8B-AD40-24C0-547CFA85901D}"/>
              </a:ext>
            </a:extLst>
          </p:cNvPr>
          <p:cNvPicPr>
            <a:picLocks noChangeAspect="1"/>
          </p:cNvPicPr>
          <p:nvPr/>
        </p:nvPicPr>
        <p:blipFill>
          <a:blip r:embed="rId2"/>
          <a:stretch>
            <a:fillRect/>
          </a:stretch>
        </p:blipFill>
        <p:spPr>
          <a:xfrm>
            <a:off x="297827" y="433096"/>
            <a:ext cx="3314987" cy="3817951"/>
          </a:xfrm>
          <a:prstGeom prst="rect">
            <a:avLst/>
          </a:prstGeom>
        </p:spPr>
      </p:pic>
      <p:pic>
        <p:nvPicPr>
          <p:cNvPr id="7" name="Picture 6">
            <a:extLst>
              <a:ext uri="{FF2B5EF4-FFF2-40B4-BE49-F238E27FC236}">
                <a16:creationId xmlns:a16="http://schemas.microsoft.com/office/drawing/2014/main" id="{EF91793D-0C8F-FCA6-E343-85A0F15D7D29}"/>
              </a:ext>
            </a:extLst>
          </p:cNvPr>
          <p:cNvPicPr>
            <a:picLocks noChangeAspect="1"/>
          </p:cNvPicPr>
          <p:nvPr/>
        </p:nvPicPr>
        <p:blipFill>
          <a:blip r:embed="rId3"/>
          <a:stretch>
            <a:fillRect/>
          </a:stretch>
        </p:blipFill>
        <p:spPr>
          <a:xfrm>
            <a:off x="3487124" y="608371"/>
            <a:ext cx="4061812" cy="3642676"/>
          </a:xfrm>
          <a:prstGeom prst="rect">
            <a:avLst/>
          </a:prstGeom>
        </p:spPr>
      </p:pic>
      <mc:AlternateContent xmlns:mc="http://schemas.openxmlformats.org/markup-compatibility/2006">
        <mc:Choice xmlns:p14="http://schemas.microsoft.com/office/powerpoint/2010/main" Requires="p14">
          <p:contentPart p14:bwMode="auto" r:id="rId4">
            <p14:nvContentPartPr>
              <p14:cNvPr id="8" name="Ink 7">
                <a:extLst>
                  <a:ext uri="{FF2B5EF4-FFF2-40B4-BE49-F238E27FC236}">
                    <a16:creationId xmlns:a16="http://schemas.microsoft.com/office/drawing/2014/main" id="{38243592-FBA2-8A52-4D0B-06E406B3DA1B}"/>
                  </a:ext>
                </a:extLst>
              </p14:cNvPr>
              <p14:cNvContentPartPr/>
              <p14:nvPr/>
            </p14:nvContentPartPr>
            <p14:xfrm>
              <a:off x="5589509" y="3431262"/>
              <a:ext cx="863280" cy="475920"/>
            </p14:xfrm>
          </p:contentPart>
        </mc:Choice>
        <mc:Fallback>
          <p:pic>
            <p:nvPicPr>
              <p:cNvPr id="8" name="Ink 7">
                <a:extLst>
                  <a:ext uri="{FF2B5EF4-FFF2-40B4-BE49-F238E27FC236}">
                    <a16:creationId xmlns:a16="http://schemas.microsoft.com/office/drawing/2014/main" id="{38243592-FBA2-8A52-4D0B-06E406B3DA1B}"/>
                  </a:ext>
                </a:extLst>
              </p:cNvPr>
              <p:cNvPicPr/>
              <p:nvPr/>
            </p:nvPicPr>
            <p:blipFill>
              <a:blip r:embed="rId5"/>
              <a:stretch>
                <a:fillRect/>
              </a:stretch>
            </p:blipFill>
            <p:spPr>
              <a:xfrm>
                <a:off x="5580869" y="3422262"/>
                <a:ext cx="880920" cy="4935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9" name="Ink 8">
                <a:extLst>
                  <a:ext uri="{FF2B5EF4-FFF2-40B4-BE49-F238E27FC236}">
                    <a16:creationId xmlns:a16="http://schemas.microsoft.com/office/drawing/2014/main" id="{BED29E61-61B7-6E73-9094-E937A313CCC0}"/>
                  </a:ext>
                </a:extLst>
              </p14:cNvPr>
              <p14:cNvContentPartPr/>
              <p14:nvPr/>
            </p14:nvContentPartPr>
            <p14:xfrm>
              <a:off x="9282029" y="2337582"/>
              <a:ext cx="360" cy="360"/>
            </p14:xfrm>
          </p:contentPart>
        </mc:Choice>
        <mc:Fallback>
          <p:pic>
            <p:nvPicPr>
              <p:cNvPr id="9" name="Ink 8">
                <a:extLst>
                  <a:ext uri="{FF2B5EF4-FFF2-40B4-BE49-F238E27FC236}">
                    <a16:creationId xmlns:a16="http://schemas.microsoft.com/office/drawing/2014/main" id="{BED29E61-61B7-6E73-9094-E937A313CCC0}"/>
                  </a:ext>
                </a:extLst>
              </p:cNvPr>
              <p:cNvPicPr/>
              <p:nvPr/>
            </p:nvPicPr>
            <p:blipFill>
              <a:blip r:embed="rId7"/>
              <a:stretch>
                <a:fillRect/>
              </a:stretch>
            </p:blipFill>
            <p:spPr>
              <a:xfrm>
                <a:off x="9273029" y="2328942"/>
                <a:ext cx="18000" cy="18000"/>
              </a:xfrm>
              <a:prstGeom prst="rect">
                <a:avLst/>
              </a:prstGeom>
            </p:spPr>
          </p:pic>
        </mc:Fallback>
      </mc:AlternateContent>
      <p:pic>
        <p:nvPicPr>
          <p:cNvPr id="11" name="Picture 10">
            <a:extLst>
              <a:ext uri="{FF2B5EF4-FFF2-40B4-BE49-F238E27FC236}">
                <a16:creationId xmlns:a16="http://schemas.microsoft.com/office/drawing/2014/main" id="{D72081D3-C5EE-C91D-88CD-8EEC35F4707D}"/>
              </a:ext>
            </a:extLst>
          </p:cNvPr>
          <p:cNvPicPr>
            <a:picLocks noChangeAspect="1"/>
          </p:cNvPicPr>
          <p:nvPr/>
        </p:nvPicPr>
        <p:blipFill>
          <a:blip r:embed="rId8"/>
          <a:stretch>
            <a:fillRect/>
          </a:stretch>
        </p:blipFill>
        <p:spPr>
          <a:xfrm>
            <a:off x="7548936" y="608371"/>
            <a:ext cx="2720576" cy="3139712"/>
          </a:xfrm>
          <a:prstGeom prst="rect">
            <a:avLst/>
          </a:prstGeom>
        </p:spPr>
      </p:pic>
      <mc:AlternateContent xmlns:mc="http://schemas.openxmlformats.org/markup-compatibility/2006">
        <mc:Choice xmlns:p14="http://schemas.microsoft.com/office/powerpoint/2010/main" Requires="p14">
          <p:contentPart p14:bwMode="auto" r:id="rId9">
            <p14:nvContentPartPr>
              <p14:cNvPr id="12" name="Ink 11">
                <a:extLst>
                  <a:ext uri="{FF2B5EF4-FFF2-40B4-BE49-F238E27FC236}">
                    <a16:creationId xmlns:a16="http://schemas.microsoft.com/office/drawing/2014/main" id="{69FC2FAF-19FC-CE8D-4917-65C0336FBA76}"/>
                  </a:ext>
                </a:extLst>
              </p14:cNvPr>
              <p14:cNvContentPartPr/>
              <p14:nvPr/>
            </p14:nvContentPartPr>
            <p14:xfrm>
              <a:off x="9746783" y="3105462"/>
              <a:ext cx="693720" cy="347400"/>
            </p14:xfrm>
          </p:contentPart>
        </mc:Choice>
        <mc:Fallback>
          <p:pic>
            <p:nvPicPr>
              <p:cNvPr id="12" name="Ink 11">
                <a:extLst>
                  <a:ext uri="{FF2B5EF4-FFF2-40B4-BE49-F238E27FC236}">
                    <a16:creationId xmlns:a16="http://schemas.microsoft.com/office/drawing/2014/main" id="{69FC2FAF-19FC-CE8D-4917-65C0336FBA76}"/>
                  </a:ext>
                </a:extLst>
              </p:cNvPr>
              <p:cNvPicPr/>
              <p:nvPr/>
            </p:nvPicPr>
            <p:blipFill>
              <a:blip r:embed="rId10"/>
              <a:stretch>
                <a:fillRect/>
              </a:stretch>
            </p:blipFill>
            <p:spPr>
              <a:xfrm>
                <a:off x="9737783" y="3096462"/>
                <a:ext cx="711360" cy="365040"/>
              </a:xfrm>
              <a:prstGeom prst="rect">
                <a:avLst/>
              </a:prstGeom>
            </p:spPr>
          </p:pic>
        </mc:Fallback>
      </mc:AlternateContent>
    </p:spTree>
    <p:extLst>
      <p:ext uri="{BB962C8B-B14F-4D97-AF65-F5344CB8AC3E}">
        <p14:creationId xmlns:p14="http://schemas.microsoft.com/office/powerpoint/2010/main" val="42484661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5C2CC25-3882-5146-CDC6-56A8CD429239}"/>
              </a:ext>
            </a:extLst>
          </p:cNvPr>
          <p:cNvPicPr>
            <a:picLocks noGrp="1" noChangeAspect="1"/>
          </p:cNvPicPr>
          <p:nvPr>
            <p:ph idx="1"/>
          </p:nvPr>
        </p:nvPicPr>
        <p:blipFill>
          <a:blip r:embed="rId3"/>
          <a:stretch>
            <a:fillRect/>
          </a:stretch>
        </p:blipFill>
        <p:spPr>
          <a:xfrm>
            <a:off x="516123" y="466171"/>
            <a:ext cx="3405996" cy="4450647"/>
          </a:xfrm>
        </p:spPr>
      </p:pic>
      <p:pic>
        <p:nvPicPr>
          <p:cNvPr id="7" name="Picture 6">
            <a:extLst>
              <a:ext uri="{FF2B5EF4-FFF2-40B4-BE49-F238E27FC236}">
                <a16:creationId xmlns:a16="http://schemas.microsoft.com/office/drawing/2014/main" id="{BBDB8DA6-EBA8-D1B1-C538-3B2585DA4E0E}"/>
              </a:ext>
            </a:extLst>
          </p:cNvPr>
          <p:cNvPicPr>
            <a:picLocks noChangeAspect="1"/>
          </p:cNvPicPr>
          <p:nvPr/>
        </p:nvPicPr>
        <p:blipFill>
          <a:blip r:embed="rId4"/>
          <a:stretch>
            <a:fillRect/>
          </a:stretch>
        </p:blipFill>
        <p:spPr>
          <a:xfrm>
            <a:off x="4307635" y="966503"/>
            <a:ext cx="2461763" cy="2188234"/>
          </a:xfrm>
          <a:prstGeom prst="rect">
            <a:avLst/>
          </a:prstGeom>
        </p:spPr>
      </p:pic>
      <p:sp>
        <p:nvSpPr>
          <p:cNvPr id="8" name="TextBox 7">
            <a:extLst>
              <a:ext uri="{FF2B5EF4-FFF2-40B4-BE49-F238E27FC236}">
                <a16:creationId xmlns:a16="http://schemas.microsoft.com/office/drawing/2014/main" id="{01644389-ADD7-E9EE-B2DB-D7DD99729807}"/>
              </a:ext>
            </a:extLst>
          </p:cNvPr>
          <p:cNvSpPr txBox="1"/>
          <p:nvPr/>
        </p:nvSpPr>
        <p:spPr>
          <a:xfrm>
            <a:off x="7332452" y="875612"/>
            <a:ext cx="4006994" cy="1815882"/>
          </a:xfrm>
          <a:prstGeom prst="rect">
            <a:avLst/>
          </a:prstGeom>
          <a:noFill/>
        </p:spPr>
        <p:txBody>
          <a:bodyPr wrap="none" rtlCol="0">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Note</a:t>
            </a:r>
            <a:r>
              <a:rPr lang="en-US" sz="1600" dirty="0">
                <a:latin typeface="Calibri" panose="020F0502020204030204" pitchFamily="34" charset="0"/>
                <a:ea typeface="Calibri" panose="020F0502020204030204" pitchFamily="34" charset="0"/>
                <a:cs typeface="Calibri" panose="020F0502020204030204" pitchFamily="34" charset="0"/>
              </a:rPr>
              <a:t>: there is other output including</a:t>
            </a:r>
          </a:p>
          <a:p>
            <a:r>
              <a:rPr lang="en-US" sz="1600" dirty="0">
                <a:latin typeface="Calibri" panose="020F0502020204030204" pitchFamily="34" charset="0"/>
                <a:ea typeface="Calibri" panose="020F0502020204030204" pitchFamily="34" charset="0"/>
                <a:cs typeface="Calibri" panose="020F0502020204030204" pitchFamily="34" charset="0"/>
              </a:rPr>
              <a:t>the structure matrix and factor matrix.</a:t>
            </a:r>
          </a:p>
          <a:p>
            <a:r>
              <a:rPr lang="en-US" sz="1600" dirty="0">
                <a:latin typeface="Calibri" panose="020F0502020204030204" pitchFamily="34" charset="0"/>
                <a:ea typeface="Calibri" panose="020F0502020204030204" pitchFamily="34" charset="0"/>
                <a:cs typeface="Calibri" panose="020F0502020204030204" pitchFamily="34" charset="0"/>
              </a:rPr>
              <a:t>The structure matrix shows the </a:t>
            </a:r>
          </a:p>
          <a:p>
            <a:r>
              <a:rPr lang="en-US" sz="1600" dirty="0">
                <a:latin typeface="Calibri" panose="020F0502020204030204" pitchFamily="34" charset="0"/>
                <a:ea typeface="Calibri" panose="020F0502020204030204" pitchFamily="34" charset="0"/>
                <a:cs typeface="Calibri" panose="020F0502020204030204" pitchFamily="34" charset="0"/>
              </a:rPr>
              <a:t>zero-order correlations between each </a:t>
            </a:r>
          </a:p>
          <a:p>
            <a:r>
              <a:rPr lang="en-US" sz="1600" dirty="0">
                <a:latin typeface="Calibri" panose="020F0502020204030204" pitchFamily="34" charset="0"/>
                <a:ea typeface="Calibri" panose="020F0502020204030204" pitchFamily="34" charset="0"/>
                <a:cs typeface="Calibri" panose="020F0502020204030204" pitchFamily="34" charset="0"/>
              </a:rPr>
              <a:t>item and each factor. It includes both </a:t>
            </a:r>
          </a:p>
          <a:p>
            <a:r>
              <a:rPr lang="en-US" sz="1600" dirty="0">
                <a:latin typeface="Calibri" panose="020F0502020204030204" pitchFamily="34" charset="0"/>
                <a:ea typeface="Calibri" panose="020F0502020204030204" pitchFamily="34" charset="0"/>
                <a:cs typeface="Calibri" panose="020F0502020204030204" pitchFamily="34" charset="0"/>
              </a:rPr>
              <a:t>unique and shared variance. The factor matrix</a:t>
            </a:r>
          </a:p>
          <a:p>
            <a:r>
              <a:rPr lang="en-US" sz="1600" dirty="0">
                <a:latin typeface="Calibri" panose="020F0502020204030204" pitchFamily="34" charset="0"/>
                <a:ea typeface="Calibri" panose="020F0502020204030204" pitchFamily="34" charset="0"/>
                <a:cs typeface="Calibri" panose="020F0502020204030204" pitchFamily="34" charset="0"/>
              </a:rPr>
              <a:t>is the unrotated solution. </a:t>
            </a:r>
            <a:r>
              <a:rPr lang="en-US" sz="1600" b="1" dirty="0">
                <a:latin typeface="Calibri" panose="020F0502020204030204" pitchFamily="34" charset="0"/>
                <a:ea typeface="Calibri" panose="020F0502020204030204" pitchFamily="34" charset="0"/>
                <a:cs typeface="Calibri" panose="020F0502020204030204" pitchFamily="34" charset="0"/>
              </a:rPr>
              <a:t>Ignore both.</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461268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2FA75-11E4-4B9C-9CC7-F3088C19615F}"/>
              </a:ext>
            </a:extLst>
          </p:cNvPr>
          <p:cNvSpPr>
            <a:spLocks noGrp="1"/>
          </p:cNvSpPr>
          <p:nvPr>
            <p:ph type="title"/>
          </p:nvPr>
        </p:nvSpPr>
        <p:spPr>
          <a:xfrm>
            <a:off x="92242" y="108452"/>
            <a:ext cx="10515600" cy="789907"/>
          </a:xfrm>
        </p:spPr>
        <p:txBody>
          <a:bodyPr/>
          <a:lstStyle/>
          <a:p>
            <a:r>
              <a:rPr lang="en-US" dirty="0"/>
              <a:t>Cross Cultural Invariance Testing</a:t>
            </a:r>
          </a:p>
        </p:txBody>
      </p:sp>
      <p:sp>
        <p:nvSpPr>
          <p:cNvPr id="3" name="Content Placeholder 2">
            <a:extLst>
              <a:ext uri="{FF2B5EF4-FFF2-40B4-BE49-F238E27FC236}">
                <a16:creationId xmlns:a16="http://schemas.microsoft.com/office/drawing/2014/main" id="{1792E748-540C-FF67-DDDE-70AAE1D001FD}"/>
              </a:ext>
            </a:extLst>
          </p:cNvPr>
          <p:cNvSpPr>
            <a:spLocks noGrp="1"/>
          </p:cNvSpPr>
          <p:nvPr>
            <p:ph idx="1"/>
          </p:nvPr>
        </p:nvSpPr>
        <p:spPr>
          <a:xfrm>
            <a:off x="212558" y="734762"/>
            <a:ext cx="10515600" cy="4351338"/>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Most questionnaires were developed in a Western context</a:t>
            </a:r>
          </a:p>
          <a:p>
            <a:pPr lvl="1"/>
            <a:r>
              <a:rPr lang="en-US" sz="1800" dirty="0">
                <a:latin typeface="Calibri" panose="020F0502020204030204" pitchFamily="34" charset="0"/>
                <a:ea typeface="Calibri" panose="020F0502020204030204" pitchFamily="34" charset="0"/>
                <a:cs typeface="Calibri" panose="020F0502020204030204" pitchFamily="34" charset="0"/>
              </a:rPr>
              <a:t>But how do we know that the questionnaire measures the same thing across different groups? </a:t>
            </a:r>
          </a:p>
          <a:p>
            <a:pPr lvl="1"/>
            <a:r>
              <a:rPr lang="en-US" sz="1800" b="1" dirty="0">
                <a:latin typeface="Calibri" panose="020F0502020204030204" pitchFamily="34" charset="0"/>
                <a:ea typeface="Calibri" panose="020F0502020204030204" pitchFamily="34" charset="0"/>
                <a:cs typeface="Calibri" panose="020F0502020204030204" pitchFamily="34" charset="0"/>
              </a:rPr>
              <a:t>Invariance across groups: </a:t>
            </a:r>
            <a:r>
              <a:rPr lang="en-US" sz="1800" dirty="0">
                <a:latin typeface="Calibri" panose="020F0502020204030204" pitchFamily="34" charset="0"/>
                <a:ea typeface="Calibri" panose="020F0502020204030204" pitchFamily="34" charset="0"/>
                <a:cs typeface="Calibri" panose="020F0502020204030204" pitchFamily="34" charset="0"/>
              </a:rPr>
              <a:t>does the test measure the latent variable in the same way across groups?</a:t>
            </a:r>
          </a:p>
        </p:txBody>
      </p:sp>
    </p:spTree>
    <p:extLst>
      <p:ext uri="{BB962C8B-B14F-4D97-AF65-F5344CB8AC3E}">
        <p14:creationId xmlns:p14="http://schemas.microsoft.com/office/powerpoint/2010/main" val="30821946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206CFBF-60C8-5A1B-DEB5-A48F45D5C3D6}"/>
              </a:ext>
            </a:extLst>
          </p:cNvPr>
          <p:cNvPicPr>
            <a:picLocks noChangeAspect="1"/>
          </p:cNvPicPr>
          <p:nvPr/>
        </p:nvPicPr>
        <p:blipFill>
          <a:blip r:embed="rId2"/>
          <a:stretch>
            <a:fillRect/>
          </a:stretch>
        </p:blipFill>
        <p:spPr>
          <a:xfrm>
            <a:off x="0" y="462005"/>
            <a:ext cx="8659603" cy="5933990"/>
          </a:xfrm>
          <a:prstGeom prst="rect">
            <a:avLst/>
          </a:prstGeom>
        </p:spPr>
      </p:pic>
      <p:sp>
        <p:nvSpPr>
          <p:cNvPr id="8" name="TextBox 7">
            <a:extLst>
              <a:ext uri="{FF2B5EF4-FFF2-40B4-BE49-F238E27FC236}">
                <a16:creationId xmlns:a16="http://schemas.microsoft.com/office/drawing/2014/main" id="{6C449104-F352-033B-925F-3E6272192291}"/>
              </a:ext>
            </a:extLst>
          </p:cNvPr>
          <p:cNvSpPr txBox="1"/>
          <p:nvPr/>
        </p:nvSpPr>
        <p:spPr>
          <a:xfrm>
            <a:off x="8659603" y="737642"/>
            <a:ext cx="2903621" cy="1815882"/>
          </a:xfrm>
          <a:prstGeom prst="rect">
            <a:avLst/>
          </a:prstGeom>
          <a:noFill/>
        </p:spPr>
        <p:txBody>
          <a:bodyPr wrap="square">
            <a:spAutoFit/>
          </a:bodyPr>
          <a:lstStyle/>
          <a:p>
            <a:r>
              <a:rPr lang="en-US" sz="1400" b="0" i="0" dirty="0">
                <a:solidFill>
                  <a:srgbClr val="222222"/>
                </a:solidFill>
                <a:effectLst/>
                <a:latin typeface="Arial" panose="020B0604020202020204" pitchFamily="34" charset="0"/>
              </a:rPr>
              <a:t>Johnson, L. M., Devereux, P. G., &amp; Wagner, K. D. (2022). The group-based law enforcement mistrust scale: psychometric properties of an adapted scale and implications for public health and harm reduction research. </a:t>
            </a:r>
            <a:r>
              <a:rPr lang="en-US" sz="1400" b="0" i="1" dirty="0">
                <a:solidFill>
                  <a:srgbClr val="222222"/>
                </a:solidFill>
                <a:effectLst/>
                <a:latin typeface="Arial" panose="020B0604020202020204" pitchFamily="34" charset="0"/>
              </a:rPr>
              <a:t>Harm Reduction Journal</a:t>
            </a:r>
            <a:r>
              <a:rPr lang="en-US" sz="1400" b="0" i="0" dirty="0">
                <a:solidFill>
                  <a:srgbClr val="222222"/>
                </a:solidFill>
                <a:effectLst/>
                <a:latin typeface="Arial" panose="020B0604020202020204" pitchFamily="34" charset="0"/>
              </a:rPr>
              <a:t>, </a:t>
            </a:r>
            <a:r>
              <a:rPr lang="en-US" sz="1400" b="0" i="1" dirty="0">
                <a:solidFill>
                  <a:srgbClr val="222222"/>
                </a:solidFill>
                <a:effectLst/>
                <a:latin typeface="Arial" panose="020B0604020202020204" pitchFamily="34" charset="0"/>
              </a:rPr>
              <a:t>19</a:t>
            </a:r>
            <a:r>
              <a:rPr lang="en-US" sz="1400" b="0" i="0" dirty="0">
                <a:solidFill>
                  <a:srgbClr val="222222"/>
                </a:solidFill>
                <a:effectLst/>
                <a:latin typeface="Arial" panose="020B0604020202020204" pitchFamily="34" charset="0"/>
              </a:rPr>
              <a:t>(1), 1-13.</a:t>
            </a:r>
            <a:endParaRPr lang="en-US" sz="1400" dirty="0"/>
          </a:p>
        </p:txBody>
      </p:sp>
    </p:spTree>
    <p:extLst>
      <p:ext uri="{BB962C8B-B14F-4D97-AF65-F5344CB8AC3E}">
        <p14:creationId xmlns:p14="http://schemas.microsoft.com/office/powerpoint/2010/main" val="20121709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F39D86B0-65A5-750D-61A5-E6206DEE4B4A}"/>
              </a:ext>
            </a:extLst>
          </p:cNvPr>
          <p:cNvPicPr>
            <a:picLocks noGrp="1" noChangeAspect="1"/>
          </p:cNvPicPr>
          <p:nvPr>
            <p:ph idx="1"/>
          </p:nvPr>
        </p:nvPicPr>
        <p:blipFill>
          <a:blip r:embed="rId2"/>
          <a:stretch>
            <a:fillRect/>
          </a:stretch>
        </p:blipFill>
        <p:spPr>
          <a:xfrm>
            <a:off x="292535" y="794084"/>
            <a:ext cx="11310613" cy="5542548"/>
          </a:xfrm>
        </p:spPr>
      </p:pic>
      <p:sp>
        <p:nvSpPr>
          <p:cNvPr id="7" name="TextBox 6">
            <a:extLst>
              <a:ext uri="{FF2B5EF4-FFF2-40B4-BE49-F238E27FC236}">
                <a16:creationId xmlns:a16="http://schemas.microsoft.com/office/drawing/2014/main" id="{92D5F085-3DC3-A34F-612C-F7E1C1B52178}"/>
              </a:ext>
            </a:extLst>
          </p:cNvPr>
          <p:cNvSpPr txBox="1"/>
          <p:nvPr/>
        </p:nvSpPr>
        <p:spPr>
          <a:xfrm>
            <a:off x="8538519" y="424752"/>
            <a:ext cx="1033873" cy="369332"/>
          </a:xfrm>
          <a:prstGeom prst="rect">
            <a:avLst/>
          </a:prstGeom>
          <a:noFill/>
        </p:spPr>
        <p:txBody>
          <a:bodyPr wrap="none" rtlCol="0">
            <a:spAutoFit/>
          </a:bodyPr>
          <a:lstStyle/>
          <a:p>
            <a:r>
              <a:rPr lang="en-US" b="1" dirty="0"/>
              <a:t>Disagree</a:t>
            </a:r>
          </a:p>
        </p:txBody>
      </p:sp>
      <p:sp>
        <p:nvSpPr>
          <p:cNvPr id="8" name="TextBox 7">
            <a:extLst>
              <a:ext uri="{FF2B5EF4-FFF2-40B4-BE49-F238E27FC236}">
                <a16:creationId xmlns:a16="http://schemas.microsoft.com/office/drawing/2014/main" id="{C72FD938-D79F-FEA9-5A5D-7A6DDB1C111F}"/>
              </a:ext>
            </a:extLst>
          </p:cNvPr>
          <p:cNvSpPr txBox="1"/>
          <p:nvPr/>
        </p:nvSpPr>
        <p:spPr>
          <a:xfrm>
            <a:off x="9551938" y="424752"/>
            <a:ext cx="890628" cy="369332"/>
          </a:xfrm>
          <a:prstGeom prst="rect">
            <a:avLst/>
          </a:prstGeom>
          <a:noFill/>
        </p:spPr>
        <p:txBody>
          <a:bodyPr wrap="none" rtlCol="0">
            <a:spAutoFit/>
          </a:bodyPr>
          <a:lstStyle/>
          <a:p>
            <a:r>
              <a:rPr lang="en-US" b="1" dirty="0"/>
              <a:t>Neutral</a:t>
            </a:r>
          </a:p>
        </p:txBody>
      </p:sp>
      <p:sp>
        <p:nvSpPr>
          <p:cNvPr id="9" name="TextBox 8">
            <a:extLst>
              <a:ext uri="{FF2B5EF4-FFF2-40B4-BE49-F238E27FC236}">
                <a16:creationId xmlns:a16="http://schemas.microsoft.com/office/drawing/2014/main" id="{7A7D432D-18DF-F1A1-DDDD-161C26E63B9E}"/>
              </a:ext>
            </a:extLst>
          </p:cNvPr>
          <p:cNvSpPr txBox="1"/>
          <p:nvPr/>
        </p:nvSpPr>
        <p:spPr>
          <a:xfrm>
            <a:off x="10422048" y="424752"/>
            <a:ext cx="758541" cy="369332"/>
          </a:xfrm>
          <a:prstGeom prst="rect">
            <a:avLst/>
          </a:prstGeom>
          <a:noFill/>
        </p:spPr>
        <p:txBody>
          <a:bodyPr wrap="none" rtlCol="0">
            <a:spAutoFit/>
          </a:bodyPr>
          <a:lstStyle/>
          <a:p>
            <a:r>
              <a:rPr lang="en-US" b="1" dirty="0"/>
              <a:t>Agree</a:t>
            </a:r>
          </a:p>
        </p:txBody>
      </p:sp>
    </p:spTree>
    <p:extLst>
      <p:ext uri="{BB962C8B-B14F-4D97-AF65-F5344CB8AC3E}">
        <p14:creationId xmlns:p14="http://schemas.microsoft.com/office/powerpoint/2010/main" val="36279517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32CA061-CA05-76C9-04D0-A6C2C8E1A2B4}"/>
              </a:ext>
            </a:extLst>
          </p:cNvPr>
          <p:cNvPicPr>
            <a:picLocks noChangeAspect="1"/>
          </p:cNvPicPr>
          <p:nvPr/>
        </p:nvPicPr>
        <p:blipFill>
          <a:blip r:embed="rId3"/>
          <a:stretch>
            <a:fillRect/>
          </a:stretch>
        </p:blipFill>
        <p:spPr>
          <a:xfrm>
            <a:off x="495300" y="242887"/>
            <a:ext cx="11201400" cy="6372225"/>
          </a:xfrm>
          <a:prstGeom prst="rect">
            <a:avLst/>
          </a:prstGeom>
        </p:spPr>
      </p:pic>
    </p:spTree>
    <p:extLst>
      <p:ext uri="{BB962C8B-B14F-4D97-AF65-F5344CB8AC3E}">
        <p14:creationId xmlns:p14="http://schemas.microsoft.com/office/powerpoint/2010/main" val="4593733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AB2C6-D64B-9CE8-2B30-4D04BEE09054}"/>
              </a:ext>
            </a:extLst>
          </p:cNvPr>
          <p:cNvSpPr>
            <a:spLocks noGrp="1"/>
          </p:cNvSpPr>
          <p:nvPr>
            <p:ph type="title"/>
          </p:nvPr>
        </p:nvSpPr>
        <p:spPr>
          <a:xfrm>
            <a:off x="84221" y="136525"/>
            <a:ext cx="10515600" cy="685633"/>
          </a:xfrm>
        </p:spPr>
        <p:txBody>
          <a:bodyPr>
            <a:normAutofit fontScale="90000"/>
          </a:bodyPr>
          <a:lstStyle/>
          <a:p>
            <a:r>
              <a:rPr lang="en-US" dirty="0"/>
              <a:t>Factor Analysis in SPSS</a:t>
            </a:r>
          </a:p>
        </p:txBody>
      </p:sp>
      <p:sp>
        <p:nvSpPr>
          <p:cNvPr id="3" name="Content Placeholder 2">
            <a:extLst>
              <a:ext uri="{FF2B5EF4-FFF2-40B4-BE49-F238E27FC236}">
                <a16:creationId xmlns:a16="http://schemas.microsoft.com/office/drawing/2014/main" id="{818D6DC0-7598-C6D9-3455-4266F6FE8DF1}"/>
              </a:ext>
            </a:extLst>
          </p:cNvPr>
          <p:cNvSpPr>
            <a:spLocks noGrp="1"/>
          </p:cNvSpPr>
          <p:nvPr>
            <p:ph idx="1"/>
          </p:nvPr>
        </p:nvSpPr>
        <p:spPr>
          <a:xfrm>
            <a:off x="180474" y="822158"/>
            <a:ext cx="10515600" cy="4351338"/>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Factor analysis in spss.doc</a:t>
            </a:r>
          </a:p>
          <a:p>
            <a:r>
              <a:rPr lang="en-US" sz="2000" dirty="0">
                <a:latin typeface="Calibri" panose="020F0502020204030204" pitchFamily="34" charset="0"/>
                <a:ea typeface="Calibri" panose="020F0502020204030204" pitchFamily="34" charset="0"/>
                <a:cs typeface="Calibri" panose="020F0502020204030204" pitchFamily="34" charset="0"/>
              </a:rPr>
              <a:t>We will use data from the </a:t>
            </a:r>
            <a:r>
              <a:rPr lang="en-US" sz="2000" b="1" dirty="0">
                <a:latin typeface="Calibri" panose="020F0502020204030204" pitchFamily="34" charset="0"/>
                <a:ea typeface="Calibri" panose="020F0502020204030204" pitchFamily="34" charset="0"/>
                <a:cs typeface="Calibri" panose="020F0502020204030204" pitchFamily="34" charset="0"/>
              </a:rPr>
              <a:t>Program for the International Assessment of Adult Competencies</a:t>
            </a:r>
            <a:r>
              <a:rPr lang="en-US" sz="2000" dirty="0">
                <a:latin typeface="Calibri" panose="020F0502020204030204" pitchFamily="34" charset="0"/>
                <a:ea typeface="Calibri" panose="020F0502020204030204" pitchFamily="34" charset="0"/>
                <a:cs typeface="Calibri" panose="020F0502020204030204" pitchFamily="34" charset="0"/>
              </a:rPr>
              <a:t> (PIAAC) located here </a:t>
            </a:r>
            <a:r>
              <a:rPr lang="en-US" sz="2000" dirty="0">
                <a:latin typeface="Calibri" panose="020F0502020204030204" pitchFamily="34" charset="0"/>
                <a:ea typeface="Calibri" panose="020F0502020204030204" pitchFamily="34" charset="0"/>
                <a:cs typeface="Calibri" panose="020F0502020204030204" pitchFamily="34" charset="0"/>
                <a:hlinkClick r:id="rId2"/>
              </a:rPr>
              <a:t>Data - PIAAC, the OECD's </a:t>
            </a:r>
            <a:r>
              <a:rPr lang="en-US" sz="2000" dirty="0" err="1">
                <a:latin typeface="Calibri" panose="020F0502020204030204" pitchFamily="34" charset="0"/>
                <a:ea typeface="Calibri" panose="020F0502020204030204" pitchFamily="34" charset="0"/>
                <a:cs typeface="Calibri" panose="020F0502020204030204" pitchFamily="34" charset="0"/>
                <a:hlinkClick r:id="rId2"/>
              </a:rPr>
              <a:t>programme</a:t>
            </a:r>
            <a:r>
              <a:rPr lang="en-US" sz="2000" dirty="0">
                <a:latin typeface="Calibri" panose="020F0502020204030204" pitchFamily="34" charset="0"/>
                <a:ea typeface="Calibri" panose="020F0502020204030204" pitchFamily="34" charset="0"/>
                <a:cs typeface="Calibri" panose="020F0502020204030204" pitchFamily="34" charset="0"/>
                <a:hlinkClick r:id="rId2"/>
              </a:rPr>
              <a:t> of assessment and analysis of adult skills</a:t>
            </a:r>
            <a:endParaRPr lang="en-US" sz="2000" dirty="0">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The </a:t>
            </a:r>
            <a:r>
              <a:rPr lang="en-US" sz="2000" dirty="0" err="1">
                <a:latin typeface="Calibri" panose="020F0502020204030204" pitchFamily="34" charset="0"/>
                <a:ea typeface="Calibri" panose="020F0502020204030204" pitchFamily="34" charset="0"/>
                <a:cs typeface="Calibri" panose="020F0502020204030204" pitchFamily="34" charset="0"/>
              </a:rPr>
              <a:t>subsetted</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spss</a:t>
            </a:r>
            <a:r>
              <a:rPr lang="en-US" sz="2000" dirty="0">
                <a:latin typeface="Calibri" panose="020F0502020204030204" pitchFamily="34" charset="0"/>
                <a:ea typeface="Calibri" panose="020F0502020204030204" pitchFamily="34" charset="0"/>
                <a:cs typeface="Calibri" panose="020F0502020204030204" pitchFamily="34" charset="0"/>
              </a:rPr>
              <a:t> file is called sub_prgusap1_2017.sav </a:t>
            </a:r>
          </a:p>
        </p:txBody>
      </p:sp>
      <p:sp>
        <p:nvSpPr>
          <p:cNvPr id="4" name="Footer Placeholder 3">
            <a:extLst>
              <a:ext uri="{FF2B5EF4-FFF2-40B4-BE49-F238E27FC236}">
                <a16:creationId xmlns:a16="http://schemas.microsoft.com/office/drawing/2014/main" id="{CD4BA929-FA8C-8240-1781-F0EAC262C4EC}"/>
              </a:ext>
            </a:extLst>
          </p:cNvPr>
          <p:cNvSpPr>
            <a:spLocks noGrp="1"/>
          </p:cNvSpPr>
          <p:nvPr>
            <p:ph type="ftr" sz="quarter" idx="11"/>
          </p:nvPr>
        </p:nvSpPr>
        <p:spPr>
          <a:xfrm>
            <a:off x="180474" y="6356350"/>
            <a:ext cx="9998242" cy="365125"/>
          </a:xfrm>
        </p:spPr>
        <p:txBody>
          <a:bodyPr/>
          <a:lstStyle/>
          <a:p>
            <a:pPr algn="l"/>
            <a:r>
              <a:rPr lang="en-US" sz="1400" dirty="0" err="1">
                <a:solidFill>
                  <a:schemeClr val="tx1"/>
                </a:solidFill>
                <a:latin typeface="Calibri" panose="020F0502020204030204" pitchFamily="34" charset="0"/>
                <a:ea typeface="Calibri" panose="020F0502020204030204" pitchFamily="34" charset="0"/>
                <a:cs typeface="Calibri" panose="020F0502020204030204" pitchFamily="34" charset="0"/>
              </a:rPr>
              <a:t>Hahs</a:t>
            </a:r>
            <a:r>
              <a:rPr lang="en-US" sz="1400" dirty="0">
                <a:solidFill>
                  <a:schemeClr val="tx1"/>
                </a:solidFill>
                <a:latin typeface="Calibri" panose="020F0502020204030204" pitchFamily="34" charset="0"/>
                <a:ea typeface="Calibri" panose="020F0502020204030204" pitchFamily="34" charset="0"/>
                <a:cs typeface="Calibri" panose="020F0502020204030204" pitchFamily="34" charset="0"/>
              </a:rPr>
              <a:t>-Vaughn, D. L. (2016).  Applied multivariate statistical concepts.  New York, NY: Routledge, Taylor &amp; Francis.</a:t>
            </a:r>
          </a:p>
        </p:txBody>
      </p:sp>
    </p:spTree>
    <p:extLst>
      <p:ext uri="{BB962C8B-B14F-4D97-AF65-F5344CB8AC3E}">
        <p14:creationId xmlns:p14="http://schemas.microsoft.com/office/powerpoint/2010/main" val="286108111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FB4F1-D70E-90EB-EFF3-DC67A16F45C6}"/>
              </a:ext>
            </a:extLst>
          </p:cNvPr>
          <p:cNvSpPr>
            <a:spLocks noGrp="1"/>
          </p:cNvSpPr>
          <p:nvPr>
            <p:ph type="title"/>
          </p:nvPr>
        </p:nvSpPr>
        <p:spPr>
          <a:xfrm>
            <a:off x="68179" y="91657"/>
            <a:ext cx="10515600" cy="589380"/>
          </a:xfrm>
        </p:spPr>
        <p:txBody>
          <a:bodyPr>
            <a:normAutofit fontScale="90000"/>
          </a:bodyPr>
          <a:lstStyle/>
          <a:p>
            <a:r>
              <a:rPr lang="en-US" dirty="0"/>
              <a:t>In class assignment</a:t>
            </a:r>
          </a:p>
        </p:txBody>
      </p:sp>
      <p:sp>
        <p:nvSpPr>
          <p:cNvPr id="3" name="Content Placeholder 2">
            <a:extLst>
              <a:ext uri="{FF2B5EF4-FFF2-40B4-BE49-F238E27FC236}">
                <a16:creationId xmlns:a16="http://schemas.microsoft.com/office/drawing/2014/main" id="{1B9A7899-1373-5AFD-2FC8-398F5E1CB3B1}"/>
              </a:ext>
            </a:extLst>
          </p:cNvPr>
          <p:cNvSpPr>
            <a:spLocks noGrp="1"/>
          </p:cNvSpPr>
          <p:nvPr>
            <p:ph idx="1"/>
          </p:nvPr>
        </p:nvSpPr>
        <p:spPr>
          <a:xfrm>
            <a:off x="196516" y="681037"/>
            <a:ext cx="10515600" cy="4351338"/>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In class assignment.doc</a:t>
            </a:r>
          </a:p>
          <a:p>
            <a:r>
              <a:rPr lang="en-US" sz="2000" dirty="0">
                <a:latin typeface="Calibri" panose="020F0502020204030204" pitchFamily="34" charset="0"/>
                <a:ea typeface="Calibri" panose="020F0502020204030204" pitchFamily="34" charset="0"/>
                <a:cs typeface="Calibri" panose="020F0502020204030204" pitchFamily="34" charset="0"/>
              </a:rPr>
              <a:t>We are going to explore the racial identity scale using data from </a:t>
            </a:r>
            <a:r>
              <a:rPr lang="en-US" sz="2000" b="1" dirty="0">
                <a:effectLst/>
                <a:latin typeface="Calibri" panose="020F0502020204030204" pitchFamily="34" charset="0"/>
                <a:ea typeface="Calibri" panose="020F0502020204030204" pitchFamily="34" charset="0"/>
                <a:cs typeface="Calibri" panose="020F0502020204030204" pitchFamily="34" charset="0"/>
              </a:rPr>
              <a:t>Generations: A Study of the Life and Health of LGB People in a Changing Society, United States, 2016-2019 (ICPSR 37166) </a:t>
            </a:r>
            <a:endParaRPr lang="en-US" sz="2000" b="1" dirty="0">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The file is ‘life and health of </a:t>
            </a:r>
            <a:r>
              <a:rPr lang="en-US" sz="2000" dirty="0" err="1">
                <a:latin typeface="Calibri" panose="020F0502020204030204" pitchFamily="34" charset="0"/>
                <a:ea typeface="Calibri" panose="020F0502020204030204" pitchFamily="34" charset="0"/>
                <a:cs typeface="Calibri" panose="020F0502020204030204" pitchFamily="34" charset="0"/>
              </a:rPr>
              <a:t>lgbt</a:t>
            </a:r>
            <a:r>
              <a:rPr lang="en-US" sz="2000" dirty="0">
                <a:latin typeface="Calibri" panose="020F0502020204030204" pitchFamily="34" charset="0"/>
                <a:ea typeface="Calibri" panose="020F0502020204030204" pitchFamily="34" charset="0"/>
                <a:cs typeface="Calibri" panose="020F0502020204030204" pitchFamily="34" charset="0"/>
              </a:rPr>
              <a:t> people </a:t>
            </a:r>
            <a:r>
              <a:rPr lang="en-US" sz="2000" dirty="0" err="1">
                <a:latin typeface="Calibri" panose="020F0502020204030204" pitchFamily="34" charset="0"/>
                <a:ea typeface="Calibri" panose="020F0502020204030204" pitchFamily="34" charset="0"/>
                <a:cs typeface="Calibri" panose="020F0502020204030204" pitchFamily="34" charset="0"/>
              </a:rPr>
              <a:t>study.sav</a:t>
            </a:r>
            <a:r>
              <a:rPr lang="en-US" sz="2000" dirty="0">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07697326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5F0B7D76-34ED-53AC-0B49-7B3364333829}"/>
              </a:ext>
            </a:extLst>
          </p:cNvPr>
          <p:cNvSpPr>
            <a:spLocks noGrp="1"/>
          </p:cNvSpPr>
          <p:nvPr>
            <p:ph type="ftr" sz="quarter" idx="11"/>
          </p:nvPr>
        </p:nvSpPr>
        <p:spPr/>
        <p:txBody>
          <a:bodyPr/>
          <a:lstStyle/>
          <a:p>
            <a:r>
              <a:rPr lang="en-US"/>
              <a:t>Hahs-Vaughn, D. L. (2016).  Applied multivariate statistical concepts.  New York, NY: Routledge, Taylor &amp; Francis.</a:t>
            </a:r>
            <a:endParaRPr lang="en-US" dirty="0"/>
          </a:p>
        </p:txBody>
      </p:sp>
      <p:pic>
        <p:nvPicPr>
          <p:cNvPr id="6" name="Picture 5">
            <a:extLst>
              <a:ext uri="{FF2B5EF4-FFF2-40B4-BE49-F238E27FC236}">
                <a16:creationId xmlns:a16="http://schemas.microsoft.com/office/drawing/2014/main" id="{79421555-CE1F-D29F-1B9E-C92E04EFB9F9}"/>
              </a:ext>
            </a:extLst>
          </p:cNvPr>
          <p:cNvPicPr>
            <a:picLocks noChangeAspect="1"/>
          </p:cNvPicPr>
          <p:nvPr/>
        </p:nvPicPr>
        <p:blipFill>
          <a:blip r:embed="rId2"/>
          <a:stretch>
            <a:fillRect/>
          </a:stretch>
        </p:blipFill>
        <p:spPr>
          <a:xfrm>
            <a:off x="495300" y="1634313"/>
            <a:ext cx="5124450" cy="4371975"/>
          </a:xfrm>
          <a:prstGeom prst="rect">
            <a:avLst/>
          </a:prstGeom>
        </p:spPr>
      </p:pic>
      <p:pic>
        <p:nvPicPr>
          <p:cNvPr id="8" name="Picture 7">
            <a:extLst>
              <a:ext uri="{FF2B5EF4-FFF2-40B4-BE49-F238E27FC236}">
                <a16:creationId xmlns:a16="http://schemas.microsoft.com/office/drawing/2014/main" id="{7962F2B6-5AA6-1A82-BA4C-E41529C3EA22}"/>
              </a:ext>
            </a:extLst>
          </p:cNvPr>
          <p:cNvPicPr>
            <a:picLocks noChangeAspect="1"/>
          </p:cNvPicPr>
          <p:nvPr/>
        </p:nvPicPr>
        <p:blipFill>
          <a:blip r:embed="rId3"/>
          <a:stretch>
            <a:fillRect/>
          </a:stretch>
        </p:blipFill>
        <p:spPr>
          <a:xfrm>
            <a:off x="6096000" y="1590197"/>
            <a:ext cx="5124450" cy="4371975"/>
          </a:xfrm>
          <a:prstGeom prst="rect">
            <a:avLst/>
          </a:prstGeom>
        </p:spPr>
      </p:pic>
    </p:spTree>
    <p:extLst>
      <p:ext uri="{BB962C8B-B14F-4D97-AF65-F5344CB8AC3E}">
        <p14:creationId xmlns:p14="http://schemas.microsoft.com/office/powerpoint/2010/main" val="94588638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F0B4FD9A-37E0-A251-E0D7-0E653C3CF633}"/>
              </a:ext>
            </a:extLst>
          </p:cNvPr>
          <p:cNvPicPr>
            <a:picLocks noGrp="1" noChangeAspect="1"/>
          </p:cNvPicPr>
          <p:nvPr>
            <p:ph idx="1"/>
          </p:nvPr>
        </p:nvPicPr>
        <p:blipFill>
          <a:blip r:embed="rId2"/>
          <a:stretch>
            <a:fillRect/>
          </a:stretch>
        </p:blipFill>
        <p:spPr>
          <a:xfrm>
            <a:off x="3898233" y="333794"/>
            <a:ext cx="3208420" cy="6403746"/>
          </a:xfrm>
        </p:spPr>
      </p:pic>
    </p:spTree>
    <p:extLst>
      <p:ext uri="{BB962C8B-B14F-4D97-AF65-F5344CB8AC3E}">
        <p14:creationId xmlns:p14="http://schemas.microsoft.com/office/powerpoint/2010/main" val="20055565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5D126-FACB-01B5-8B39-2BF1992DF522}"/>
              </a:ext>
            </a:extLst>
          </p:cNvPr>
          <p:cNvSpPr>
            <a:spLocks noGrp="1"/>
          </p:cNvSpPr>
          <p:nvPr>
            <p:ph type="title"/>
          </p:nvPr>
        </p:nvSpPr>
        <p:spPr>
          <a:xfrm>
            <a:off x="173966" y="140838"/>
            <a:ext cx="10515600" cy="747683"/>
          </a:xfrm>
        </p:spPr>
        <p:txBody>
          <a:bodyPr>
            <a:normAutofit/>
          </a:bodyPr>
          <a:lstStyle/>
          <a:p>
            <a:r>
              <a:rPr lang="en-US" sz="3600" dirty="0">
                <a:latin typeface="Calibri" panose="020F0502020204030204" pitchFamily="34" charset="0"/>
                <a:ea typeface="Calibri" panose="020F0502020204030204" pitchFamily="34" charset="0"/>
                <a:cs typeface="Calibri" panose="020F0502020204030204" pitchFamily="34" charset="0"/>
              </a:rPr>
              <a:t>Use the saved factor scale in analyses</a:t>
            </a:r>
          </a:p>
        </p:txBody>
      </p:sp>
      <p:sp>
        <p:nvSpPr>
          <p:cNvPr id="3" name="Content Placeholder 2">
            <a:extLst>
              <a:ext uri="{FF2B5EF4-FFF2-40B4-BE49-F238E27FC236}">
                <a16:creationId xmlns:a16="http://schemas.microsoft.com/office/drawing/2014/main" id="{1E98885B-4D87-F0F1-5546-40F3A750C6A6}"/>
              </a:ext>
            </a:extLst>
          </p:cNvPr>
          <p:cNvSpPr>
            <a:spLocks noGrp="1"/>
          </p:cNvSpPr>
          <p:nvPr>
            <p:ph idx="1"/>
          </p:nvPr>
        </p:nvSpPr>
        <p:spPr>
          <a:xfrm>
            <a:off x="311989" y="730070"/>
            <a:ext cx="10515600" cy="4351338"/>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Let’s test differences across race</a:t>
            </a:r>
          </a:p>
          <a:p>
            <a:r>
              <a:rPr lang="en-US" sz="2000" dirty="0">
                <a:latin typeface="Calibri" panose="020F0502020204030204" pitchFamily="34" charset="0"/>
                <a:ea typeface="Calibri" panose="020F0502020204030204" pitchFamily="34" charset="0"/>
                <a:cs typeface="Calibri" panose="020F0502020204030204" pitchFamily="34" charset="0"/>
              </a:rPr>
              <a:t>Let’s examine how the factor predicts depressive symptoms, controlling for family social support</a:t>
            </a:r>
          </a:p>
        </p:txBody>
      </p:sp>
    </p:spTree>
    <p:extLst>
      <p:ext uri="{BB962C8B-B14F-4D97-AF65-F5344CB8AC3E}">
        <p14:creationId xmlns:p14="http://schemas.microsoft.com/office/powerpoint/2010/main" val="5385036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15216</TotalTime>
  <Words>9979</Words>
  <Application>Microsoft Office PowerPoint</Application>
  <PresentationFormat>Widescreen</PresentationFormat>
  <Paragraphs>933</Paragraphs>
  <Slides>62</Slides>
  <Notes>22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62</vt:i4>
      </vt:variant>
    </vt:vector>
  </HeadingPairs>
  <TitlesOfParts>
    <vt:vector size="72" baseType="lpstr">
      <vt:lpstr>Aptos</vt:lpstr>
      <vt:lpstr>Aptos Display</vt:lpstr>
      <vt:lpstr>Arial</vt:lpstr>
      <vt:lpstr>Calibri</vt:lpstr>
      <vt:lpstr>Cambria Math</vt:lpstr>
      <vt:lpstr>open-sans</vt:lpstr>
      <vt:lpstr>ProximaNova</vt:lpstr>
      <vt:lpstr>Tw Cen MT</vt:lpstr>
      <vt:lpstr>Wingdings</vt:lpstr>
      <vt:lpstr>Office Theme</vt:lpstr>
      <vt:lpstr>Factor Analysis</vt:lpstr>
      <vt:lpstr>What is Factor analysis (FA)?</vt:lpstr>
      <vt:lpstr>What is a ‘latent variable’</vt:lpstr>
      <vt:lpstr>Factor analysis versus Principal Components Analysis (PCA)</vt:lpstr>
      <vt:lpstr>Factor analysis versus Principal Components Analysis (PCA)</vt:lpstr>
      <vt:lpstr>Example:  Five indicators of an underlying latent construct we call depression</vt:lpstr>
      <vt:lpstr>Intuition</vt:lpstr>
      <vt:lpstr>Factor analysis versus Principal Components Analysis (PCA)</vt:lpstr>
      <vt:lpstr>EFA</vt:lpstr>
      <vt:lpstr>Data Reduction</vt:lpstr>
      <vt:lpstr>The Statistical Model</vt:lpstr>
      <vt:lpstr>Example</vt:lpstr>
      <vt:lpstr>Research Questions</vt:lpstr>
      <vt:lpstr>Illustration</vt:lpstr>
      <vt:lpstr>Correlations (what factor(s) might Cause the relationships?)</vt:lpstr>
      <vt:lpstr>Factor Structure</vt:lpstr>
      <vt:lpstr>Is factor analysis appropriate?</vt:lpstr>
      <vt:lpstr>Initial factorability assessment (Summary)</vt:lpstr>
      <vt:lpstr>Identity matrix v. Covariance matrix</vt:lpstr>
      <vt:lpstr>Extracting a set of factors from the correlation matrix</vt:lpstr>
      <vt:lpstr>Understanding Variance in Factor Analysis</vt:lpstr>
      <vt:lpstr>Important concepts</vt:lpstr>
      <vt:lpstr>Communalities</vt:lpstr>
      <vt:lpstr>What does it mean that "communalities tell us how much of a variable’s variance is explained by all the factors combined"?</vt:lpstr>
      <vt:lpstr>Example of Communalities</vt:lpstr>
      <vt:lpstr>Partitioning the variance in factor analysis</vt:lpstr>
      <vt:lpstr>Extracting a set of factors from the correlation matrix</vt:lpstr>
      <vt:lpstr>Exploratory Factor Analysis Specification Conditions &amp; Decisions</vt:lpstr>
      <vt:lpstr>Full Set of Criteria for number of factors</vt:lpstr>
      <vt:lpstr>A priori: EFA v CFA</vt:lpstr>
      <vt:lpstr>Scree plot</vt:lpstr>
      <vt:lpstr>Kaiser’s rule (eigenvalues greater than one)</vt:lpstr>
      <vt:lpstr>Parallel Analysis** (Gold Standard)</vt:lpstr>
      <vt:lpstr>Interpreting the factors</vt:lpstr>
      <vt:lpstr>Example:</vt:lpstr>
      <vt:lpstr>Factor Rotation (sharpening the focus)</vt:lpstr>
      <vt:lpstr>Must rotate factors, different rotation types</vt:lpstr>
      <vt:lpstr>PowerPoint Presentation</vt:lpstr>
      <vt:lpstr>Rotation (Cont’D)</vt:lpstr>
      <vt:lpstr>Example: Visualizing Rotation</vt:lpstr>
      <vt:lpstr>Example: Visualizing Rotation</vt:lpstr>
      <vt:lpstr>PowerPoint Presentation</vt:lpstr>
      <vt:lpstr>Factor loadings</vt:lpstr>
      <vt:lpstr>Judging the significance of the factors</vt:lpstr>
      <vt:lpstr>Identify significant loadings and assess communalities</vt:lpstr>
      <vt:lpstr>Interpreting a factor matrix</vt:lpstr>
      <vt:lpstr>Generating factor scores: A Composite Measure</vt:lpstr>
      <vt:lpstr>Considerations</vt:lpstr>
      <vt:lpstr>Assumptions</vt:lpstr>
      <vt:lpstr>Example: Statistics anxiety</vt:lpstr>
      <vt:lpstr>PowerPoint Presentation</vt:lpstr>
      <vt:lpstr>PowerPoint Presentation</vt:lpstr>
      <vt:lpstr>PowerPoint Presentation</vt:lpstr>
      <vt:lpstr>Cross Cultural Invariance Testing</vt:lpstr>
      <vt:lpstr>PowerPoint Presentation</vt:lpstr>
      <vt:lpstr>PowerPoint Presentation</vt:lpstr>
      <vt:lpstr>PowerPoint Presentation</vt:lpstr>
      <vt:lpstr>Factor Analysis in SPSS</vt:lpstr>
      <vt:lpstr>In class assignment</vt:lpstr>
      <vt:lpstr>PowerPoint Presentation</vt:lpstr>
      <vt:lpstr>PowerPoint Presentation</vt:lpstr>
      <vt:lpstr>Use the saved factor scale in analyses</vt:lpstr>
    </vt:vector>
  </TitlesOfParts>
  <Company>The Ohio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Barboza-Salerno, Gia</dc:creator>
  <cp:lastModifiedBy>Barboza-Salerno, Gia</cp:lastModifiedBy>
  <cp:revision>107</cp:revision>
  <dcterms:created xsi:type="dcterms:W3CDTF">2025-03-30T15:35:43Z</dcterms:created>
  <dcterms:modified xsi:type="dcterms:W3CDTF">2025-04-13T22:38:37Z</dcterms:modified>
</cp:coreProperties>
</file>