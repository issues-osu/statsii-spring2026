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2.xml" ContentType="application/vnd.openxmlformats-officedocument.presentationml.notesSlide+xml"/>
  <Override PartName="/ppt/ink/ink3.xml" ContentType="application/inkml+xml"/>
  <Override PartName="/ppt/ink/ink4.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110"/>
  </p:notesMasterIdLst>
  <p:sldIdLst>
    <p:sldId id="1320" r:id="rId4"/>
    <p:sldId id="1321" r:id="rId5"/>
    <p:sldId id="807" r:id="rId6"/>
    <p:sldId id="270" r:id="rId7"/>
    <p:sldId id="822" r:id="rId8"/>
    <p:sldId id="829" r:id="rId9"/>
    <p:sldId id="898" r:id="rId10"/>
    <p:sldId id="1328" r:id="rId11"/>
    <p:sldId id="1360" r:id="rId12"/>
    <p:sldId id="743" r:id="rId13"/>
    <p:sldId id="1329" r:id="rId14"/>
    <p:sldId id="1363" r:id="rId15"/>
    <p:sldId id="1330" r:id="rId16"/>
    <p:sldId id="1364" r:id="rId17"/>
    <p:sldId id="1331" r:id="rId18"/>
    <p:sldId id="1350" r:id="rId19"/>
    <p:sldId id="1343" r:id="rId20"/>
    <p:sldId id="1342" r:id="rId21"/>
    <p:sldId id="1351" r:id="rId22"/>
    <p:sldId id="1352" r:id="rId23"/>
    <p:sldId id="1353" r:id="rId24"/>
    <p:sldId id="1354" r:id="rId25"/>
    <p:sldId id="1356" r:id="rId26"/>
    <p:sldId id="1366" r:id="rId27"/>
    <p:sldId id="1326" r:id="rId28"/>
    <p:sldId id="864" r:id="rId29"/>
    <p:sldId id="1314" r:id="rId30"/>
    <p:sldId id="778" r:id="rId31"/>
    <p:sldId id="775" r:id="rId32"/>
    <p:sldId id="1313" r:id="rId33"/>
    <p:sldId id="776" r:id="rId34"/>
    <p:sldId id="817" r:id="rId35"/>
    <p:sldId id="1332" r:id="rId36"/>
    <p:sldId id="1333" r:id="rId37"/>
    <p:sldId id="1322" r:id="rId38"/>
    <p:sldId id="1323" r:id="rId39"/>
    <p:sldId id="841" r:id="rId40"/>
    <p:sldId id="828" r:id="rId41"/>
    <p:sldId id="777" r:id="rId42"/>
    <p:sldId id="1315" r:id="rId43"/>
    <p:sldId id="1316" r:id="rId44"/>
    <p:sldId id="1317" r:id="rId45"/>
    <p:sldId id="1318" r:id="rId46"/>
    <p:sldId id="1319" r:id="rId47"/>
    <p:sldId id="863" r:id="rId48"/>
    <p:sldId id="870" r:id="rId49"/>
    <p:sldId id="865" r:id="rId50"/>
    <p:sldId id="866" r:id="rId51"/>
    <p:sldId id="844" r:id="rId52"/>
    <p:sldId id="290" r:id="rId53"/>
    <p:sldId id="780" r:id="rId54"/>
    <p:sldId id="325" r:id="rId55"/>
    <p:sldId id="781" r:id="rId56"/>
    <p:sldId id="782" r:id="rId57"/>
    <p:sldId id="1336" r:id="rId58"/>
    <p:sldId id="1337" r:id="rId59"/>
    <p:sldId id="1338" r:id="rId60"/>
    <p:sldId id="1339" r:id="rId61"/>
    <p:sldId id="324" r:id="rId62"/>
    <p:sldId id="786" r:id="rId63"/>
    <p:sldId id="327" r:id="rId64"/>
    <p:sldId id="787" r:id="rId65"/>
    <p:sldId id="788" r:id="rId66"/>
    <p:sldId id="331" r:id="rId67"/>
    <p:sldId id="793" r:id="rId68"/>
    <p:sldId id="821" r:id="rId69"/>
    <p:sldId id="830" r:id="rId70"/>
    <p:sldId id="790" r:id="rId71"/>
    <p:sldId id="791" r:id="rId72"/>
    <p:sldId id="1373" r:id="rId73"/>
    <p:sldId id="789" r:id="rId74"/>
    <p:sldId id="1309" r:id="rId75"/>
    <p:sldId id="1361" r:id="rId76"/>
    <p:sldId id="832" r:id="rId77"/>
    <p:sldId id="1374" r:id="rId78"/>
    <p:sldId id="1355" r:id="rId79"/>
    <p:sldId id="1367" r:id="rId80"/>
    <p:sldId id="1365" r:id="rId81"/>
    <p:sldId id="308" r:id="rId82"/>
    <p:sldId id="1311" r:id="rId83"/>
    <p:sldId id="305" r:id="rId84"/>
    <p:sldId id="1340" r:id="rId85"/>
    <p:sldId id="1310" r:id="rId86"/>
    <p:sldId id="1312" r:id="rId87"/>
    <p:sldId id="850" r:id="rId88"/>
    <p:sldId id="1368" r:id="rId89"/>
    <p:sldId id="1369" r:id="rId90"/>
    <p:sldId id="1341" r:id="rId91"/>
    <p:sldId id="1370" r:id="rId92"/>
    <p:sldId id="851" r:id="rId93"/>
    <p:sldId id="853" r:id="rId94"/>
    <p:sldId id="852" r:id="rId95"/>
    <p:sldId id="856" r:id="rId96"/>
    <p:sldId id="1357" r:id="rId97"/>
    <p:sldId id="854" r:id="rId98"/>
    <p:sldId id="867" r:id="rId99"/>
    <p:sldId id="859" r:id="rId100"/>
    <p:sldId id="860" r:id="rId101"/>
    <p:sldId id="861" r:id="rId102"/>
    <p:sldId id="1358" r:id="rId103"/>
    <p:sldId id="1362" r:id="rId104"/>
    <p:sldId id="1327" r:id="rId105"/>
    <p:sldId id="256" r:id="rId106"/>
    <p:sldId id="1325" r:id="rId107"/>
    <p:sldId id="1371" r:id="rId108"/>
    <p:sldId id="1372" r:id="rId10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1" autoAdjust="0"/>
    <p:restoredTop sz="76691" autoAdjust="0"/>
  </p:normalViewPr>
  <p:slideViewPr>
    <p:cSldViewPr snapToGrid="0">
      <p:cViewPr varScale="1">
        <p:scale>
          <a:sx n="80" d="100"/>
          <a:sy n="80" d="100"/>
        </p:scale>
        <p:origin x="171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viewProps" Target="viewProps.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theme" Target="theme/theme1.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slide" Target="slides/slide103.xml"/><Relationship Id="rId114"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notesMaster" Target="notesMasters/notesMaster1.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NULL"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baseline="0" dirty="0"/>
              <a:t>Scatter Plot of Post-Traumatic Stress  by Alcoholic Beverages Consumed</a:t>
            </a:r>
            <a:endParaRPr lang="en-US" b="1" dirty="0"/>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dPt>
            <c:idx val="1"/>
            <c:marker>
              <c:symbol val="circle"/>
              <c:size val="5"/>
              <c:spPr>
                <a:solidFill>
                  <a:srgbClr val="FF0000"/>
                </a:solidFill>
                <a:ln w="9525">
                  <a:solidFill>
                    <a:schemeClr val="accent1"/>
                  </a:solidFill>
                </a:ln>
                <a:effectLst/>
              </c:spPr>
            </c:marker>
            <c:bubble3D val="0"/>
            <c:extLst>
              <c:ext xmlns:c16="http://schemas.microsoft.com/office/drawing/2014/chart" uri="{C3380CC4-5D6E-409C-BE32-E72D297353CC}">
                <c16:uniqueId val="{00000006-D26F-4A06-9681-C66BEDE74C46}"/>
              </c:ext>
            </c:extLst>
          </c:dPt>
          <c:dPt>
            <c:idx val="2"/>
            <c:marker>
              <c:symbol val="circle"/>
              <c:size val="5"/>
              <c:spPr>
                <a:solidFill>
                  <a:srgbClr val="FF0000"/>
                </a:solidFill>
                <a:ln w="9525">
                  <a:solidFill>
                    <a:schemeClr val="accent1"/>
                  </a:solidFill>
                </a:ln>
                <a:effectLst/>
              </c:spPr>
            </c:marker>
            <c:bubble3D val="0"/>
            <c:extLst>
              <c:ext xmlns:c16="http://schemas.microsoft.com/office/drawing/2014/chart" uri="{C3380CC4-5D6E-409C-BE32-E72D297353CC}">
                <c16:uniqueId val="{00000005-D26F-4A06-9681-C66BEDE74C46}"/>
              </c:ext>
            </c:extLst>
          </c:dPt>
          <c:dPt>
            <c:idx val="11"/>
            <c:marker>
              <c:symbol val="circle"/>
              <c:size val="5"/>
              <c:spPr>
                <a:solidFill>
                  <a:srgbClr val="FF0000"/>
                </a:solidFill>
                <a:ln w="9525">
                  <a:solidFill>
                    <a:schemeClr val="accent1"/>
                  </a:solidFill>
                </a:ln>
                <a:effectLst/>
              </c:spPr>
            </c:marker>
            <c:bubble3D val="0"/>
            <c:extLst>
              <c:ext xmlns:c16="http://schemas.microsoft.com/office/drawing/2014/chart" uri="{C3380CC4-5D6E-409C-BE32-E72D297353CC}">
                <c16:uniqueId val="{00000004-D26F-4A06-9681-C66BEDE74C46}"/>
              </c:ext>
            </c:extLst>
          </c:dPt>
          <c:dPt>
            <c:idx val="14"/>
            <c:marker>
              <c:symbol val="circle"/>
              <c:size val="5"/>
              <c:spPr>
                <a:solidFill>
                  <a:srgbClr val="FF0000"/>
                </a:solidFill>
                <a:ln w="9525">
                  <a:solidFill>
                    <a:schemeClr val="accent1"/>
                  </a:solidFill>
                </a:ln>
                <a:effectLst/>
              </c:spPr>
            </c:marker>
            <c:bubble3D val="0"/>
            <c:extLst>
              <c:ext xmlns:c16="http://schemas.microsoft.com/office/drawing/2014/chart" uri="{C3380CC4-5D6E-409C-BE32-E72D297353CC}">
                <c16:uniqueId val="{00000003-D26F-4A06-9681-C66BEDE74C46}"/>
              </c:ext>
            </c:extLst>
          </c:dPt>
          <c:dPt>
            <c:idx val="17"/>
            <c:marker>
              <c:symbol val="circle"/>
              <c:size val="5"/>
              <c:spPr>
                <a:solidFill>
                  <a:srgbClr val="FF0000"/>
                </a:solidFill>
                <a:ln w="9525">
                  <a:solidFill>
                    <a:schemeClr val="accent1"/>
                  </a:solidFill>
                </a:ln>
                <a:effectLst/>
              </c:spPr>
            </c:marker>
            <c:bubble3D val="0"/>
            <c:extLst>
              <c:ext xmlns:c16="http://schemas.microsoft.com/office/drawing/2014/chart" uri="{C3380CC4-5D6E-409C-BE32-E72D297353CC}">
                <c16:uniqueId val="{00000002-D26F-4A06-9681-C66BEDE74C46}"/>
              </c:ext>
            </c:extLst>
          </c:dPt>
          <c:trendline>
            <c:spPr>
              <a:ln w="19050" cap="rnd">
                <a:solidFill>
                  <a:schemeClr val="accent1"/>
                </a:solidFill>
                <a:prstDash val="sysDot"/>
              </a:ln>
              <a:effectLst/>
            </c:spPr>
            <c:trendlineType val="linear"/>
            <c:dispRSqr val="0"/>
            <c:dispEq val="0"/>
          </c:trendline>
          <c:xVal>
            <c:numLit>
              <c:formatCode>0.00</c:formatCode>
              <c:ptCount val="50"/>
              <c:pt idx="0">
                <c:v>36.200000000000003</c:v>
              </c:pt>
              <c:pt idx="1">
                <c:v>39.700000000000003</c:v>
              </c:pt>
              <c:pt idx="2">
                <c:v>39.5</c:v>
              </c:pt>
              <c:pt idx="3">
                <c:v>18.2</c:v>
              </c:pt>
              <c:pt idx="4">
                <c:v>29.2</c:v>
              </c:pt>
              <c:pt idx="5">
                <c:v>32.5</c:v>
              </c:pt>
              <c:pt idx="6">
                <c:v>13.2</c:v>
              </c:pt>
              <c:pt idx="7">
                <c:v>14.8</c:v>
              </c:pt>
              <c:pt idx="8">
                <c:v>28.6</c:v>
              </c:pt>
              <c:pt idx="9">
                <c:v>30.8</c:v>
              </c:pt>
              <c:pt idx="10">
                <c:v>34.5</c:v>
              </c:pt>
              <c:pt idx="11">
                <c:v>39.700000000000003</c:v>
              </c:pt>
              <c:pt idx="12">
                <c:v>28.3</c:v>
              </c:pt>
              <c:pt idx="13">
                <c:v>34.5</c:v>
              </c:pt>
              <c:pt idx="14">
                <c:v>40.299999999999997</c:v>
              </c:pt>
              <c:pt idx="15">
                <c:v>19.100000000000001</c:v>
              </c:pt>
              <c:pt idx="16">
                <c:v>27.7</c:v>
              </c:pt>
              <c:pt idx="17">
                <c:v>40.799999999999997</c:v>
              </c:pt>
              <c:pt idx="18">
                <c:v>17.7</c:v>
              </c:pt>
              <c:pt idx="19">
                <c:v>22.8</c:v>
              </c:pt>
              <c:pt idx="20">
                <c:v>28.3</c:v>
              </c:pt>
              <c:pt idx="21">
                <c:v>4</c:v>
              </c:pt>
              <c:pt idx="22">
                <c:v>5.2</c:v>
              </c:pt>
              <c:pt idx="23">
                <c:v>11.7</c:v>
              </c:pt>
              <c:pt idx="24">
                <c:v>12.5</c:v>
              </c:pt>
              <c:pt idx="25">
                <c:v>13.7</c:v>
              </c:pt>
              <c:pt idx="26">
                <c:v>15.7</c:v>
              </c:pt>
              <c:pt idx="27">
                <c:v>17.399999999999999</c:v>
              </c:pt>
              <c:pt idx="28">
                <c:v>18.899999999999999</c:v>
              </c:pt>
              <c:pt idx="29">
                <c:v>20</c:v>
              </c:pt>
              <c:pt idx="30">
                <c:v>32.299999999999997</c:v>
              </c:pt>
              <c:pt idx="31">
                <c:v>3.5</c:v>
              </c:pt>
              <c:pt idx="32">
                <c:v>9.8000000000000007</c:v>
              </c:pt>
              <c:pt idx="33">
                <c:v>14</c:v>
              </c:pt>
              <c:pt idx="34">
                <c:v>18.3</c:v>
              </c:pt>
              <c:pt idx="35">
                <c:v>19.7</c:v>
              </c:pt>
              <c:pt idx="36">
                <c:v>29.8</c:v>
              </c:pt>
              <c:pt idx="37">
                <c:v>9.6999999999999993</c:v>
              </c:pt>
              <c:pt idx="38">
                <c:v>11.1</c:v>
              </c:pt>
              <c:pt idx="39">
                <c:v>32.9</c:v>
              </c:pt>
              <c:pt idx="40">
                <c:v>10.8</c:v>
              </c:pt>
              <c:pt idx="41">
                <c:v>14</c:v>
              </c:pt>
              <c:pt idx="42">
                <c:v>17.5</c:v>
              </c:pt>
              <c:pt idx="43">
                <c:v>12.6</c:v>
              </c:pt>
              <c:pt idx="44">
                <c:v>22.6</c:v>
              </c:pt>
              <c:pt idx="45">
                <c:v>5.2</c:v>
              </c:pt>
              <c:pt idx="46">
                <c:v>9.4</c:v>
              </c:pt>
              <c:pt idx="47">
                <c:v>13.5</c:v>
              </c:pt>
              <c:pt idx="48">
                <c:v>19.100000000000001</c:v>
              </c:pt>
              <c:pt idx="49">
                <c:v>7.4</c:v>
              </c:pt>
            </c:numLit>
          </c:xVal>
          <c:yVal>
            <c:numLit>
              <c:formatCode>0.00</c:formatCode>
              <c:ptCount val="50"/>
              <c:pt idx="0">
                <c:v>10</c:v>
              </c:pt>
              <c:pt idx="1">
                <c:v>10</c:v>
              </c:pt>
              <c:pt idx="2">
                <c:v>10.8</c:v>
              </c:pt>
              <c:pt idx="3">
                <c:v>12.2</c:v>
              </c:pt>
              <c:pt idx="4">
                <c:v>13.1</c:v>
              </c:pt>
              <c:pt idx="5">
                <c:v>14</c:v>
              </c:pt>
              <c:pt idx="6">
                <c:v>15.5</c:v>
              </c:pt>
              <c:pt idx="7">
                <c:v>15.5</c:v>
              </c:pt>
              <c:pt idx="8">
                <c:v>15.2</c:v>
              </c:pt>
              <c:pt idx="9">
                <c:v>15.2</c:v>
              </c:pt>
              <c:pt idx="10">
                <c:v>15.2</c:v>
              </c:pt>
              <c:pt idx="11">
                <c:v>15.5</c:v>
              </c:pt>
              <c:pt idx="12">
                <c:v>16.2</c:v>
              </c:pt>
              <c:pt idx="13">
                <c:v>16.2</c:v>
              </c:pt>
              <c:pt idx="14">
                <c:v>16.2</c:v>
              </c:pt>
              <c:pt idx="15">
                <c:v>17.899999999999999</c:v>
              </c:pt>
              <c:pt idx="16">
                <c:v>18.2</c:v>
              </c:pt>
              <c:pt idx="17">
                <c:v>18.2</c:v>
              </c:pt>
              <c:pt idx="18">
                <c:v>19.100000000000001</c:v>
              </c:pt>
              <c:pt idx="19">
                <c:v>18.8</c:v>
              </c:pt>
              <c:pt idx="20">
                <c:v>19.3</c:v>
              </c:pt>
              <c:pt idx="21">
                <c:v>20.9</c:v>
              </c:pt>
              <c:pt idx="22">
                <c:v>20.9</c:v>
              </c:pt>
              <c:pt idx="23">
                <c:v>20.9</c:v>
              </c:pt>
              <c:pt idx="24">
                <c:v>20.9</c:v>
              </c:pt>
              <c:pt idx="25">
                <c:v>20.9</c:v>
              </c:pt>
              <c:pt idx="26">
                <c:v>20.9</c:v>
              </c:pt>
              <c:pt idx="27">
                <c:v>20.9</c:v>
              </c:pt>
              <c:pt idx="28">
                <c:v>21.1</c:v>
              </c:pt>
              <c:pt idx="29">
                <c:v>21.1</c:v>
              </c:pt>
              <c:pt idx="30">
                <c:v>21.2</c:v>
              </c:pt>
              <c:pt idx="31">
                <c:v>22.3</c:v>
              </c:pt>
              <c:pt idx="32">
                <c:v>22.1</c:v>
              </c:pt>
              <c:pt idx="33">
                <c:v>21.8</c:v>
              </c:pt>
              <c:pt idx="34">
                <c:v>22.2</c:v>
              </c:pt>
              <c:pt idx="35">
                <c:v>22.2</c:v>
              </c:pt>
              <c:pt idx="36">
                <c:v>23.3</c:v>
              </c:pt>
              <c:pt idx="37">
                <c:v>23.9</c:v>
              </c:pt>
              <c:pt idx="38">
                <c:v>24</c:v>
              </c:pt>
              <c:pt idx="39">
                <c:v>24.1</c:v>
              </c:pt>
              <c:pt idx="40">
                <c:v>25.1</c:v>
              </c:pt>
              <c:pt idx="41">
                <c:v>25.1</c:v>
              </c:pt>
              <c:pt idx="42">
                <c:v>25.1</c:v>
              </c:pt>
              <c:pt idx="43">
                <c:v>26.2</c:v>
              </c:pt>
              <c:pt idx="44">
                <c:v>26.3</c:v>
              </c:pt>
              <c:pt idx="45">
                <c:v>28.2</c:v>
              </c:pt>
              <c:pt idx="46">
                <c:v>28.2</c:v>
              </c:pt>
              <c:pt idx="47">
                <c:v>28.4</c:v>
              </c:pt>
              <c:pt idx="48">
                <c:v>28.2</c:v>
              </c:pt>
              <c:pt idx="49">
                <c:v>29.5</c:v>
              </c:pt>
            </c:numLit>
          </c:yVal>
          <c:smooth val="0"/>
          <c:extLst>
            <c:ext xmlns:c16="http://schemas.microsoft.com/office/drawing/2014/chart" uri="{C3380CC4-5D6E-409C-BE32-E72D297353CC}">
              <c16:uniqueId val="{00000001-D26F-4A06-9681-C66BEDE74C46}"/>
            </c:ext>
          </c:extLst>
        </c:ser>
        <c:dLbls>
          <c:showLegendKey val="0"/>
          <c:showVal val="0"/>
          <c:showCatName val="0"/>
          <c:showSerName val="0"/>
          <c:showPercent val="0"/>
          <c:showBubbleSize val="0"/>
        </c:dLbls>
        <c:axId val="541954592"/>
        <c:axId val="541954264"/>
      </c:scatterChart>
      <c:valAx>
        <c:axId val="541954592"/>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baseline="0" dirty="0"/>
                  <a:t>Alcohol</a:t>
                </a:r>
                <a:endParaRPr lang="en-US" b="1" dirty="0"/>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1954264"/>
        <c:crosses val="autoZero"/>
        <c:crossBetween val="midCat"/>
      </c:valAx>
      <c:valAx>
        <c:axId val="541954264"/>
        <c:scaling>
          <c:orientation val="minMax"/>
          <c:max val="30"/>
          <c:min val="10"/>
        </c:scaling>
        <c:delete val="0"/>
        <c:axPos val="l"/>
        <c:majorGridlines>
          <c:spPr>
            <a:ln w="9525" cap="flat" cmpd="sng" algn="ctr">
              <a:solidFill>
                <a:schemeClr val="tx1">
                  <a:lumMod val="15000"/>
                  <a:lumOff val="85000"/>
                </a:schemeClr>
              </a:solidFill>
              <a:prstDash val="sysDash"/>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baseline="0" dirty="0"/>
                  <a:t>PTS</a:t>
                </a:r>
                <a:endParaRPr lang="en-US" b="1" dirty="0"/>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195459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1T19:53:49.975"/>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1T19:53:53.466"/>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4:16:55.178"/>
    </inkml:context>
    <inkml:brush xml:id="br0">
      <inkml:brushProperty name="width" value="0.05" units="cm"/>
      <inkml:brushProperty name="height" value="0.05" units="cm"/>
      <inkml:brushProperty name="color" value="#E71224"/>
    </inkml:brush>
  </inkml:definitions>
  <inkml:trace contextRef="#ctx0" brushRef="#br0">433 146 24575,'-1'0'0,"-1"1"0,1 0 0,0 0 0,0 0 0,-1 0 0,1 1 0,0-1 0,0 0 0,0 0 0,1 1 0,-1-1 0,0 0 0,0 1 0,1-1 0,-1 1 0,0 1 0,-2 3 0,-13 29 0,0 1 0,3 0 0,1 1 0,1 0 0,3 1 0,1 0 0,-3 41 0,5 277 0,8-217 0,-3-125 0,-19 754 0,13-690 0,2-20 0,-2 1 0,-18 76 0,-35 55 0,29-99 0,-26 59 0,16-47 0,26-60 0,2 0 0,-6 44 0,17-78 0,-10 46 0,-5 102 0,15-101 0,4 223 0,0-243 0,1 1 0,2-2 0,2 1 0,1-1 0,22 55 0,77 113 0,-83-163 0,1-1 0,2-2 0,39 42 0,-41-55 0,1-2 0,1 0 0,60 34 0,-59-38 0,-14-10 0,0-1 0,0-1 0,1 0 0,21 4 0,-7-1 0,-7-4 0,0 0 0,1-2 0,44 2 0,-40-4 0,1 1 0,29 7 0,-58-9 0,17 4 0,1-1 0,22 2 0,-34-5 0,0 0 0,1 0 0,-1-1 0,0 0 0,1 0 0,-1-1 0,0 1 0,0-1 0,11-6 0,56-32 0,-2-2 0,-1-4 0,97-84 0,-153 117 0,0-1 0,0 0 0,-1-1 0,-1-1 0,11-18 0,-6 8 0,-10 15 0,0 0 0,0 0 0,-1-1 0,7-19 0,-11 25 0,9-26 0,-1-1 0,-1 0 0,-2 0 0,5-59 0,-12 46 0,-1 1 0,-3 0 0,-2-1 0,-1 2 0,-22-68 0,-49-121 0,5 17 0,34 95 0,-28-100 0,58 180 0,1 0 0,2-1 0,0-65 0,19-281 0,-10 178 0,-2 22 0,2 166 0,1 0 0,1 1 0,1 0 0,2 0 0,14-33 0,-11 29 0,28-53 0,3-9 0,-38 76 0,0 0 0,-1 0 0,-1-1 0,0 1 0,0 0 0,0-18 0,-2-6 0,-1 0 0,-2 0 0,-2 0 0,-1 0 0,-14-47 0,9 43 0,-7-42 0,5 19 0,-3-23 0,11 51 0,-2 0 0,-13-40 0,16 61 0,-1 1 0,0-1 0,-1 1 0,0 0 0,-1 0 0,0 0 0,-1 1 0,0 0 0,-1 1 0,0 0 0,-1 0 0,0 1 0,-19-13 0,-12-3 0,-1 2 0,-69-27 0,87 41 0,-1 1 0,0 2 0,0 0 0,-1 2 0,1 1 0,-38 0 0,53 3 0,-1 0 0,1 1 0,0 0 0,0 1 0,-1 0 0,1 1 0,-12 5 0,19-7 0,-1 1 0,1 0 0,-1 0 0,1 0 0,0 0 0,0 1 0,0-1 0,0 1 0,0 0 0,0 0 0,1 0 0,-1 0 0,1 1 0,0-1 0,0 0 0,0 1 0,1 0 0,-1-1 0,1 1 0,0 0 0,0 0 0,-1 5 0,1 3-1365,1-1-5461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4:17:00.082"/>
    </inkml:context>
    <inkml:brush xml:id="br0">
      <inkml:brushProperty name="width" value="0.05" units="cm"/>
      <inkml:brushProperty name="height" value="0.05" units="cm"/>
      <inkml:brushProperty name="color" value="#E71224"/>
    </inkml:brush>
  </inkml:definitions>
  <inkml:trace contextRef="#ctx0" brushRef="#br0">1605 105 24575,'-8'-5'0,"1"0"0,0 0 0,-13-12 0,14 12 0,0-1 0,0 1 0,-1 0 0,-13-7 0,2 4 0,-2 1 0,1 1 0,-1 1 0,0 0 0,0 2 0,-28-2 0,-127 5 0,116 2 0,-54 6 0,-151 31 0,53-6 0,130-25 0,39-5 0,0 3 0,-46 11 0,78-14 0,0 2 0,1-1 0,-1 2 0,1-1 0,0 1 0,-14 11 0,-20 13 0,34-24 0,-1 0 0,2 1 0,-1 0 0,1 0 0,0 1 0,0 0 0,1 0 0,0 1 0,0 0 0,-7 14 0,6-8 0,1 0 0,1 0 0,0 1 0,1 0 0,1 0 0,-3 23 0,-2 35 0,4 0 0,3 0 0,3 0 0,3 0 0,21 110 0,207 831 0,-75-570 0,-71-218 0,93 291 0,-121-348 0,-30-88 0,36 113 0,-51-149 0,-2 1 0,5 59 0,-3 355 0,-14-339 0,0-86 0,-2-1 0,-1 1 0,-15 57 0,-40 100 0,17-66 0,36-96 0,0 0 0,2 0 0,2 0 0,1 0 0,3 44 0,0-7 0,0-40 0,0-1 0,3 0 0,0 0 0,1-1 0,18 45 0,-9-37 0,28 50 0,1-1 0,-7-10 0,10 23 0,-28-57 0,1-2 0,32 44 0,3 7 0,-31-45 0,3-1 0,38 48 0,-56-79 0,1 0 0,1 0 0,-1-1 0,2-1 0,0 0 0,0 0 0,0-1 0,1 0 0,0-2 0,1 1 0,27 8 0,-3-4 0,0-2 0,0-2 0,1-2 0,-1-1 0,1-2 0,0-1 0,42-6 0,-59 1 0,0-1 0,-1-1 0,1-1 0,-1-1 0,0-1 0,-1-1 0,28-18 0,124-98 0,-171 125 0,143-124 0,166-188 0,-233 222 0,-46 54 0,0 0 0,50-42 0,-47 51 0,6-4 0,44-48 0,-73 69 0,-1-2 0,0 1 0,-1-1 0,0 0 0,-1-1 0,-1 0 0,0 0 0,7-23 0,-5 3 0,-2-1 0,-1 0 0,-2 0 0,0-39 0,-4 3 0,-11-75 0,1 77 0,-4 1 0,-2 0 0,-47-123 0,-108-187 0,73 171 0,-180-436 0,112 297 0,-2-5 0,92 183 0,-7-20 0,64 140 0,-23-100 0,31 81 0,4 0 0,2-87 0,4-436 0,2 292 0,0 273 0,2 0 0,8-39 0,-6 38 0,0 0 0,0-31 0,-4 39 0,-2 0 0,0 0 0,-1 0 0,-5-22 0,4 31 0,0 0 0,0-1 0,-1 1 0,0 1 0,-1-1 0,0 1 0,0-1 0,-1 1 0,-9-10 0,-6-7 0,2-2 0,-29-50 0,43 68 0,-28-49-1365,27 48-5461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054B62-2437-4B26-BF66-F915CB2F83F7}" type="datetimeFigureOut">
              <a:rPr lang="en-US" smtClean="0"/>
              <a:t>2/15/2026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8E476C-A8D1-4FBE-B5CE-5D7E7AE0241D}" type="slidenum">
              <a:rPr lang="en-US" smtClean="0"/>
              <a:t>‹#›</a:t>
            </a:fld>
            <a:endParaRPr lang="en-US"/>
          </a:p>
        </p:txBody>
      </p:sp>
    </p:spTree>
    <p:extLst>
      <p:ext uri="{BB962C8B-B14F-4D97-AF65-F5344CB8AC3E}">
        <p14:creationId xmlns:p14="http://schemas.microsoft.com/office/powerpoint/2010/main" val="878218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8E476C-A8D1-4FBE-B5CE-5D7E7AE0241D}" type="slidenum">
              <a:rPr lang="en-US" smtClean="0"/>
              <a:t>2</a:t>
            </a:fld>
            <a:endParaRPr lang="en-US"/>
          </a:p>
        </p:txBody>
      </p:sp>
    </p:spTree>
    <p:extLst>
      <p:ext uri="{BB962C8B-B14F-4D97-AF65-F5344CB8AC3E}">
        <p14:creationId xmlns:p14="http://schemas.microsoft.com/office/powerpoint/2010/main" val="3552249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3EC470-3195-4084-9C7D-116AB2D6F9B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21690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For example, suppose we want to understand how education affects income, but we know that income also differs by gender on average. If we do not control for gender, part of the observed relationship between education and income could actually reflect gender differences rather than the true effect of education.</a:t>
            </a:r>
          </a:p>
          <a:p>
            <a:r>
              <a:rPr lang="en-US" b="0" dirty="0"/>
              <a:t>When we control for gender in a regression model, we are essentially comparing people with similar gender status and asking: </a:t>
            </a:r>
            <a:r>
              <a:rPr lang="en-US" b="0" i="1" dirty="0"/>
              <a:t>among people of the same gender, does more education still predict higher income?</a:t>
            </a:r>
            <a:r>
              <a:rPr lang="en-US" b="0" dirty="0"/>
              <a:t> This allows us to estimate the effect of education on income independent of gender differences.</a:t>
            </a:r>
          </a:p>
          <a:p>
            <a:endParaRPr lang="en-US" dirty="0"/>
          </a:p>
        </p:txBody>
      </p:sp>
      <p:sp>
        <p:nvSpPr>
          <p:cNvPr id="4" name="Slide Number Placeholder 3"/>
          <p:cNvSpPr>
            <a:spLocks noGrp="1"/>
          </p:cNvSpPr>
          <p:nvPr>
            <p:ph type="sldNum" sz="quarter" idx="5"/>
          </p:nvPr>
        </p:nvSpPr>
        <p:spPr/>
        <p:txBody>
          <a:bodyPr/>
          <a:lstStyle/>
          <a:p>
            <a:fld id="{DB8E476C-A8D1-4FBE-B5CE-5D7E7AE0241D}" type="slidenum">
              <a:rPr lang="en-US" smtClean="0"/>
              <a:t>9</a:t>
            </a:fld>
            <a:endParaRPr lang="en-US"/>
          </a:p>
        </p:txBody>
      </p:sp>
    </p:spTree>
    <p:extLst>
      <p:ext uri="{BB962C8B-B14F-4D97-AF65-F5344CB8AC3E}">
        <p14:creationId xmlns:p14="http://schemas.microsoft.com/office/powerpoint/2010/main" val="23002146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92095C-E0B3-4597-BA71-7FEF5DC3BC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2959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 math score for a 410 verbal score and a class size of 35</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92095C-E0B3-4597-BA71-7FEF5DC3BC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0533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8E476C-A8D1-4FBE-B5CE-5D7E7AE0241D}" type="slidenum">
              <a:rPr lang="en-US" smtClean="0"/>
              <a:t>40</a:t>
            </a:fld>
            <a:endParaRPr lang="en-US"/>
          </a:p>
        </p:txBody>
      </p:sp>
    </p:spTree>
    <p:extLst>
      <p:ext uri="{BB962C8B-B14F-4D97-AF65-F5344CB8AC3E}">
        <p14:creationId xmlns:p14="http://schemas.microsoft.com/office/powerpoint/2010/main" val="3306074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8E476C-A8D1-4FBE-B5CE-5D7E7AE0241D}" type="slidenum">
              <a:rPr lang="en-US" smtClean="0"/>
              <a:t>41</a:t>
            </a:fld>
            <a:endParaRPr lang="en-US"/>
          </a:p>
        </p:txBody>
      </p:sp>
    </p:spTree>
    <p:extLst>
      <p:ext uri="{BB962C8B-B14F-4D97-AF65-F5344CB8AC3E}">
        <p14:creationId xmlns:p14="http://schemas.microsoft.com/office/powerpoint/2010/main" val="39535950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buFont typeface="Arial" panose="020B0604020202020204" pitchFamily="34" charset="0"/>
              <a:buNone/>
            </a:pPr>
            <a:r>
              <a:rPr lang="en-US" b="0" dirty="0"/>
              <a:t>The denominator corrects for the shared effort to get the unique contribution – this way, </a:t>
            </a:r>
            <a:r>
              <a:rPr lang="en-US" dirty="0"/>
              <a:t>each predictor only gets credit for </a:t>
            </a:r>
            <a:r>
              <a:rPr lang="en-US" b="0" dirty="0"/>
              <a:t>its unique effect.</a:t>
            </a:r>
          </a:p>
        </p:txBody>
      </p:sp>
      <p:sp>
        <p:nvSpPr>
          <p:cNvPr id="4" name="Slide Number Placeholder 3"/>
          <p:cNvSpPr>
            <a:spLocks noGrp="1"/>
          </p:cNvSpPr>
          <p:nvPr>
            <p:ph type="sldNum" sz="quarter" idx="5"/>
          </p:nvPr>
        </p:nvSpPr>
        <p:spPr/>
        <p:txBody>
          <a:bodyPr/>
          <a:lstStyle/>
          <a:p>
            <a:fld id="{DB8E476C-A8D1-4FBE-B5CE-5D7E7AE0241D}" type="slidenum">
              <a:rPr lang="en-US" smtClean="0"/>
              <a:t>48</a:t>
            </a:fld>
            <a:endParaRPr lang="en-US"/>
          </a:p>
        </p:txBody>
      </p:sp>
    </p:spTree>
    <p:extLst>
      <p:ext uri="{BB962C8B-B14F-4D97-AF65-F5344CB8AC3E}">
        <p14:creationId xmlns:p14="http://schemas.microsoft.com/office/powerpoint/2010/main" val="27679465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8E476C-A8D1-4FBE-B5CE-5D7E7AE0241D}" type="slidenum">
              <a:rPr lang="en-US" smtClean="0"/>
              <a:t>49</a:t>
            </a:fld>
            <a:endParaRPr lang="en-US"/>
          </a:p>
        </p:txBody>
      </p:sp>
    </p:spTree>
    <p:extLst>
      <p:ext uri="{BB962C8B-B14F-4D97-AF65-F5344CB8AC3E}">
        <p14:creationId xmlns:p14="http://schemas.microsoft.com/office/powerpoint/2010/main" val="6299943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response is not a function of linear trend plus error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92095C-E0B3-4597-BA71-7FEF5DC3BC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1469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So lets say that my predicted PTS score is 55 and the model predicts 60</a:t>
            </a:r>
          </a:p>
          <a:p>
            <a:r>
              <a:rPr lang="en-US" dirty="0"/>
              <a:t>55 – 60 - -5</a:t>
            </a:r>
          </a:p>
          <a:p>
            <a:r>
              <a:rPr lang="en-US" dirty="0"/>
              <a:t>The model OVERPREDICTED</a:t>
            </a:r>
          </a:p>
          <a:p>
            <a:endParaRPr lang="en-US" dirty="0"/>
          </a:p>
          <a:p>
            <a:r>
              <a:rPr lang="en-US" dirty="0"/>
              <a:t>If the model predicts 45 then the model underpredicted and the residual will be positive (i.e., 5 </a:t>
            </a:r>
            <a:r>
              <a:rPr lang="en-US" dirty="0">
                <a:sym typeface="Wingdings" panose="05000000000000000000" pitchFamily="2" charset="2"/>
              </a:rPr>
              <a:t> 55-45 = 10 &gt; 0).</a:t>
            </a:r>
          </a:p>
          <a:p>
            <a:endParaRPr lang="en-US" dirty="0">
              <a:sym typeface="Wingdings" panose="05000000000000000000" pitchFamily="2" charset="2"/>
            </a:endParaRPr>
          </a:p>
          <a:p>
            <a:r>
              <a:rPr lang="en-US" dirty="0">
                <a:sym typeface="Wingdings" panose="05000000000000000000" pitchFamily="2" charset="2"/>
              </a:rPr>
              <a:t>More importantly lets think through what the residual means, i.e., </a:t>
            </a:r>
          </a:p>
          <a:p>
            <a:r>
              <a:rPr lang="en-US" dirty="0">
                <a:sym typeface="Wingdings" panose="05000000000000000000" pitchFamily="2" charset="2"/>
              </a:rPr>
              <a:t>1. What does the residual mean here? </a:t>
            </a:r>
          </a:p>
          <a:p>
            <a:r>
              <a:rPr lang="en-US" dirty="0">
                <a:sym typeface="Wingdings" panose="05000000000000000000" pitchFamily="2" charset="2"/>
              </a:rPr>
              <a:t>why would the variance be constant or non-constant? Remember the model variance is the variance of the ERROR term. Let’s do the </a:t>
            </a:r>
            <a:r>
              <a:rPr lang="en-US" dirty="0" err="1">
                <a:sym typeface="Wingdings" panose="05000000000000000000" pitchFamily="2" charset="2"/>
              </a:rPr>
              <a:t>NONconstant</a:t>
            </a:r>
            <a:r>
              <a:rPr lang="en-US" dirty="0">
                <a:sym typeface="Wingdings" panose="05000000000000000000" pitchFamily="2" charset="2"/>
              </a:rPr>
              <a:t> variance first.</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92095C-E0B3-4597-BA71-7FEF5DC3BC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34921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855467" indent="-855467"/>
            <a:r>
              <a:rPr lang="en-US" sz="1400" dirty="0"/>
              <a:t>Three primary types of violations common in our research</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80112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8E476C-A8D1-4FBE-B5CE-5D7E7AE0241D}" type="slidenum">
              <a:rPr lang="en-US" smtClean="0"/>
              <a:t>65</a:t>
            </a:fld>
            <a:endParaRPr lang="en-US"/>
          </a:p>
        </p:txBody>
      </p:sp>
    </p:spTree>
    <p:extLst>
      <p:ext uri="{BB962C8B-B14F-4D97-AF65-F5344CB8AC3E}">
        <p14:creationId xmlns:p14="http://schemas.microsoft.com/office/powerpoint/2010/main" val="3457101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lvl="1"/>
            <a:r>
              <a:rPr lang="en-US" dirty="0"/>
              <a:t>This is VERY common when testing model diagnostics oftentimes you DO NOT want to reject the null</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12741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0" dirty="0"/>
              <a:t>Errors should not be related to any grouping factor</a:t>
            </a:r>
          </a:p>
          <a:p>
            <a:r>
              <a:rPr lang="en-US" b="0" dirty="0"/>
              <a:t>If residuals are independent, they should look random across districts — meaning some districts would have slightly positive residuals, others slightly negative, but there would be no consistent pattern.</a:t>
            </a:r>
          </a:p>
          <a:p>
            <a:r>
              <a:rPr lang="en-US" b="0" dirty="0"/>
              <a:t>In this plot, however, some districts have residuals that are consistently above zero, while others are consistently below zero.</a:t>
            </a:r>
          </a:p>
          <a:p>
            <a:r>
              <a:rPr lang="en-US" b="0" dirty="0"/>
              <a:t>This means the model is systematically overpredicting or underpredicting outcomes in certain districts, rather than errors being random.</a:t>
            </a:r>
          </a:p>
          <a:p>
            <a:r>
              <a:rPr lang="en-US" b="0" dirty="0"/>
              <a:t>So students within the same district are performing more similarly to each other than to students in other districts. That means observations within districts are not independent, and the independence assumption is violated.</a:t>
            </a:r>
          </a:p>
          <a:p>
            <a:endParaRPr lang="en-US" dirty="0"/>
          </a:p>
        </p:txBody>
      </p:sp>
      <p:sp>
        <p:nvSpPr>
          <p:cNvPr id="4" name="Slide Number Placeholder 3"/>
          <p:cNvSpPr>
            <a:spLocks noGrp="1"/>
          </p:cNvSpPr>
          <p:nvPr>
            <p:ph type="sldNum" sz="quarter" idx="5"/>
          </p:nvPr>
        </p:nvSpPr>
        <p:spPr/>
        <p:txBody>
          <a:bodyPr/>
          <a:lstStyle/>
          <a:p>
            <a:fld id="{DB8E476C-A8D1-4FBE-B5CE-5D7E7AE0241D}" type="slidenum">
              <a:rPr lang="en-US" smtClean="0"/>
              <a:t>68</a:t>
            </a:fld>
            <a:endParaRPr lang="en-US"/>
          </a:p>
        </p:txBody>
      </p:sp>
    </p:spTree>
    <p:extLst>
      <p:ext uri="{BB962C8B-B14F-4D97-AF65-F5344CB8AC3E}">
        <p14:creationId xmlns:p14="http://schemas.microsoft.com/office/powerpoint/2010/main" val="37237463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32133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3EC470-3195-4084-9C7D-116AB2D6F9B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1353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69A6F-5FCF-42D5-C27C-BD4D7C7738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1FAA4B-8FD9-6957-91F6-DAFF33F1FC4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A8BBAC4-E2B8-146F-FAEF-F79A21BB29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C2C541-1ED4-ADE4-6016-D717B9029AA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3EC470-3195-4084-9C7D-116AB2D6F9B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45181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 may be "unusual" combinations of predictor values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28640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265A1-0231-5152-AA0D-A7C2EB1A8B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B63898-1D21-E6D8-4ADA-4552920673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1605C4-003D-633A-1373-EF3106A11411}"/>
              </a:ext>
            </a:extLst>
          </p:cNvPr>
          <p:cNvSpPr>
            <a:spLocks noGrp="1"/>
          </p:cNvSpPr>
          <p:nvPr>
            <p:ph type="body" idx="1"/>
          </p:nvPr>
        </p:nvSpPr>
        <p:spPr/>
        <p:txBody>
          <a:bodyPr/>
          <a:lstStyle/>
          <a:p>
            <a:r>
              <a:rPr lang="en-US" dirty="0"/>
              <a:t> or may be "unusual" combinations of predictor values</a:t>
            </a:r>
          </a:p>
        </p:txBody>
      </p:sp>
      <p:sp>
        <p:nvSpPr>
          <p:cNvPr id="4" name="Slide Number Placeholder 3">
            <a:extLst>
              <a:ext uri="{FF2B5EF4-FFF2-40B4-BE49-F238E27FC236}">
                <a16:creationId xmlns:a16="http://schemas.microsoft.com/office/drawing/2014/main" id="{C5472A7A-8DF1-F463-1FEF-37C881D5C99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54359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times new roman" panose="02020603050405020304" pitchFamily="18" charset="0"/>
              </a:rPr>
              <a:t>The red point in B is not an extreme </a:t>
            </a:r>
            <a:r>
              <a:rPr lang="en-US" b="0" i="1" dirty="0">
                <a:solidFill>
                  <a:srgbClr val="000000"/>
                </a:solidFill>
                <a:effectLst/>
                <a:latin typeface="times new roman" panose="02020603050405020304" pitchFamily="18" charset="0"/>
              </a:rPr>
              <a:t>x</a:t>
            </a:r>
            <a:r>
              <a:rPr lang="en-US" b="0" i="0" dirty="0">
                <a:solidFill>
                  <a:srgbClr val="000000"/>
                </a:solidFill>
                <a:effectLst/>
                <a:latin typeface="times new roman" panose="02020603050405020304" pitchFamily="18" charset="0"/>
              </a:rPr>
              <a:t> value, so it does not have high leverage. </a:t>
            </a:r>
          </a:p>
          <a:p>
            <a:r>
              <a:rPr lang="en-US" b="0" i="0" dirty="0">
                <a:solidFill>
                  <a:srgbClr val="000000"/>
                </a:solidFill>
                <a:effectLst/>
                <a:latin typeface="times new roman" panose="02020603050405020304" pitchFamily="18" charset="0"/>
              </a:rPr>
              <a:t>Is the red data point influential? An easy way to determine if the data point is influential is to find the best fitting line twice — once with the red data point included and once with the red data point excluded.  Then note any glaring differences or inconsistencies</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56237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000000"/>
                </a:solidFill>
                <a:effectLst/>
                <a:latin typeface="times new roman" panose="02020603050405020304" pitchFamily="18" charset="0"/>
              </a:rPr>
              <a:t>The </a:t>
            </a:r>
            <a:r>
              <a:rPr lang="en-US" b="0" i="1" dirty="0">
                <a:solidFill>
                  <a:srgbClr val="000000"/>
                </a:solidFill>
                <a:effectLst/>
                <a:latin typeface="times new roman" panose="02020603050405020304" pitchFamily="18" charset="0"/>
              </a:rPr>
              <a:t>R</a:t>
            </a:r>
            <a:r>
              <a:rPr lang="en-US" b="0" i="0" baseline="30000" dirty="0">
                <a:solidFill>
                  <a:srgbClr val="000000"/>
                </a:solidFill>
                <a:effectLst/>
                <a:latin typeface="times new roman" panose="02020603050405020304" pitchFamily="18" charset="0"/>
              </a:rPr>
              <a:t>2</a:t>
            </a:r>
            <a:r>
              <a:rPr lang="en-US" b="0" i="0" dirty="0">
                <a:solidFill>
                  <a:srgbClr val="000000"/>
                </a:solidFill>
                <a:effectLst/>
                <a:latin typeface="times new roman" panose="02020603050405020304" pitchFamily="18" charset="0"/>
              </a:rPr>
              <a:t> value has decreased slightly, but the relationship between </a:t>
            </a:r>
            <a:r>
              <a:rPr lang="en-US" b="0" i="1" dirty="0">
                <a:solidFill>
                  <a:srgbClr val="000000"/>
                </a:solidFill>
                <a:effectLst/>
                <a:latin typeface="times new roman" panose="02020603050405020304" pitchFamily="18" charset="0"/>
              </a:rPr>
              <a:t>y</a:t>
            </a:r>
            <a:r>
              <a:rPr lang="en-US" b="0" i="0" dirty="0">
                <a:solidFill>
                  <a:srgbClr val="000000"/>
                </a:solidFill>
                <a:effectLst/>
                <a:latin typeface="times new roman" panose="02020603050405020304" pitchFamily="18" charset="0"/>
              </a:rPr>
              <a:t> and </a:t>
            </a:r>
            <a:r>
              <a:rPr lang="en-US" b="0" i="1" dirty="0">
                <a:solidFill>
                  <a:srgbClr val="000000"/>
                </a:solidFill>
                <a:effectLst/>
                <a:latin typeface="times new roman" panose="02020603050405020304" pitchFamily="18" charset="0"/>
              </a:rPr>
              <a:t>x</a:t>
            </a:r>
            <a:r>
              <a:rPr lang="en-US" b="0" i="0" dirty="0">
                <a:solidFill>
                  <a:srgbClr val="000000"/>
                </a:solidFill>
                <a:effectLst/>
                <a:latin typeface="times new roman" panose="02020603050405020304" pitchFamily="18" charset="0"/>
              </a:rPr>
              <a:t> would still be deemed strong.</a:t>
            </a:r>
          </a:p>
          <a:p>
            <a:pPr algn="l">
              <a:buFont typeface="Arial" panose="020B0604020202020204" pitchFamily="34" charset="0"/>
              <a:buNone/>
            </a:pPr>
            <a:r>
              <a:rPr lang="en-US" b="0" i="0" dirty="0">
                <a:solidFill>
                  <a:srgbClr val="000000"/>
                </a:solidFill>
                <a:effectLst/>
                <a:latin typeface="times new roman" panose="02020603050405020304" pitchFamily="18" charset="0"/>
              </a:rPr>
              <a:t>The standard error of </a:t>
            </a:r>
            <a:r>
              <a:rPr lang="en-US" b="0" i="1" dirty="0">
                <a:solidFill>
                  <a:srgbClr val="000000"/>
                </a:solidFill>
                <a:effectLst/>
                <a:latin typeface="times new roman" panose="02020603050405020304" pitchFamily="18" charset="0"/>
              </a:rPr>
              <a:t>b</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which is used in calculating our confidence interval for </a:t>
            </a:r>
            <a:r>
              <a:rPr lang="en-US" b="0" i="1" dirty="0">
                <a:solidFill>
                  <a:srgbClr val="000000"/>
                </a:solidFill>
                <a:effectLst/>
                <a:latin typeface="times new roman" panose="02020603050405020304" pitchFamily="18" charset="0"/>
              </a:rPr>
              <a:t>β</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is larger when the red data point is included, thereby increasing the width of our confidence interval. You may recall that the standard error of </a:t>
            </a:r>
            <a:r>
              <a:rPr lang="en-US" b="0" i="1" dirty="0">
                <a:solidFill>
                  <a:srgbClr val="000000"/>
                </a:solidFill>
                <a:effectLst/>
                <a:latin typeface="times new roman" panose="02020603050405020304" pitchFamily="18" charset="0"/>
              </a:rPr>
              <a:t>b</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depends on the mean squared error </a:t>
            </a:r>
            <a:r>
              <a:rPr lang="en-US" b="0" i="1" dirty="0">
                <a:solidFill>
                  <a:srgbClr val="000000"/>
                </a:solidFill>
                <a:effectLst/>
                <a:latin typeface="times new roman" panose="02020603050405020304" pitchFamily="18" charset="0"/>
              </a:rPr>
              <a:t>MSE</a:t>
            </a:r>
            <a:r>
              <a:rPr lang="en-US" b="0" i="0" dirty="0">
                <a:solidFill>
                  <a:srgbClr val="000000"/>
                </a:solidFill>
                <a:effectLst/>
                <a:latin typeface="times new roman" panose="02020603050405020304" pitchFamily="18" charset="0"/>
              </a:rPr>
              <a:t>, which quantifies the difference between the observed and predicted responses. It is because the red data point is an outlier — in the </a:t>
            </a:r>
            <a:r>
              <a:rPr lang="en-US" b="0" i="1" dirty="0">
                <a:solidFill>
                  <a:srgbClr val="000000"/>
                </a:solidFill>
                <a:effectLst/>
                <a:latin typeface="times new roman" panose="02020603050405020304" pitchFamily="18" charset="0"/>
              </a:rPr>
              <a:t>y</a:t>
            </a:r>
            <a:r>
              <a:rPr lang="en-US" b="0" i="0" dirty="0">
                <a:solidFill>
                  <a:srgbClr val="000000"/>
                </a:solidFill>
                <a:effectLst/>
                <a:latin typeface="times new roman" panose="02020603050405020304" pitchFamily="18" charset="0"/>
              </a:rPr>
              <a:t> direction — that the standard error of </a:t>
            </a:r>
            <a:r>
              <a:rPr lang="en-US" b="0" i="1" dirty="0">
                <a:solidFill>
                  <a:srgbClr val="000000"/>
                </a:solidFill>
                <a:effectLst/>
                <a:latin typeface="times new roman" panose="02020603050405020304" pitchFamily="18" charset="0"/>
              </a:rPr>
              <a:t>b</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increases, not because the data point is influential in any way.</a:t>
            </a:r>
          </a:p>
          <a:p>
            <a:pPr algn="l">
              <a:buFont typeface="Arial" panose="020B0604020202020204" pitchFamily="34" charset="0"/>
              <a:buNone/>
            </a:pPr>
            <a:r>
              <a:rPr lang="en-US" b="0" i="0" dirty="0">
                <a:solidFill>
                  <a:srgbClr val="000000"/>
                </a:solidFill>
                <a:effectLst/>
                <a:latin typeface="times new roman" panose="02020603050405020304" pitchFamily="18" charset="0"/>
              </a:rPr>
              <a:t>In each case, the </a:t>
            </a:r>
            <a:r>
              <a:rPr lang="en-US" b="0" i="1" dirty="0">
                <a:solidFill>
                  <a:srgbClr val="000000"/>
                </a:solidFill>
                <a:effectLst/>
                <a:latin typeface="times new roman" panose="02020603050405020304" pitchFamily="18" charset="0"/>
              </a:rPr>
              <a:t>P</a:t>
            </a:r>
            <a:r>
              <a:rPr lang="en-US" b="0" i="0" dirty="0">
                <a:solidFill>
                  <a:srgbClr val="000000"/>
                </a:solidFill>
                <a:effectLst/>
                <a:latin typeface="times new roman" panose="02020603050405020304" pitchFamily="18" charset="0"/>
              </a:rPr>
              <a:t>-value for testing </a:t>
            </a:r>
            <a:r>
              <a:rPr lang="en-US" b="0" i="1" dirty="0">
                <a:solidFill>
                  <a:srgbClr val="000000"/>
                </a:solidFill>
                <a:effectLst/>
                <a:latin typeface="times new roman" panose="02020603050405020304" pitchFamily="18" charset="0"/>
              </a:rPr>
              <a:t>H</a:t>
            </a:r>
            <a:r>
              <a:rPr lang="en-US" b="0" i="0" baseline="-25000" dirty="0">
                <a:solidFill>
                  <a:srgbClr val="000000"/>
                </a:solidFill>
                <a:effectLst/>
                <a:latin typeface="times new roman" panose="02020603050405020304" pitchFamily="18" charset="0"/>
              </a:rPr>
              <a:t>0</a:t>
            </a:r>
            <a:r>
              <a:rPr lang="en-US" b="0" i="0" dirty="0">
                <a:solidFill>
                  <a:srgbClr val="000000"/>
                </a:solidFill>
                <a:effectLst/>
                <a:latin typeface="times new roman" panose="02020603050405020304" pitchFamily="18" charset="0"/>
              </a:rPr>
              <a:t>: </a:t>
            </a:r>
            <a:r>
              <a:rPr lang="en-US" b="0" i="1" dirty="0">
                <a:solidFill>
                  <a:srgbClr val="000000"/>
                </a:solidFill>
                <a:effectLst/>
                <a:latin typeface="times new roman" panose="02020603050405020304" pitchFamily="18" charset="0"/>
              </a:rPr>
              <a:t>β</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 0 is less than 0.001. In either case, we can conclude that there is sufficient evidence at the 0.05 level to conclude that, in the population, </a:t>
            </a:r>
            <a:r>
              <a:rPr lang="en-US" b="0" i="1" dirty="0">
                <a:solidFill>
                  <a:srgbClr val="000000"/>
                </a:solidFill>
                <a:effectLst/>
                <a:latin typeface="times new roman" panose="02020603050405020304" pitchFamily="18" charset="0"/>
              </a:rPr>
              <a:t>x</a:t>
            </a:r>
            <a:r>
              <a:rPr lang="en-US" b="0" i="0" dirty="0">
                <a:solidFill>
                  <a:srgbClr val="000000"/>
                </a:solidFill>
                <a:effectLst/>
                <a:latin typeface="times new roman" panose="02020603050405020304" pitchFamily="18" charset="0"/>
              </a:rPr>
              <a:t> is related to </a:t>
            </a:r>
            <a:r>
              <a:rPr lang="en-US" b="0" i="1" dirty="0">
                <a:solidFill>
                  <a:srgbClr val="000000"/>
                </a:solidFill>
                <a:effectLst/>
                <a:latin typeface="times new roman" panose="02020603050405020304" pitchFamily="18" charset="0"/>
              </a:rPr>
              <a:t>y</a:t>
            </a:r>
            <a:r>
              <a:rPr lang="en-US" b="0" i="0" dirty="0">
                <a:solidFill>
                  <a:srgbClr val="000000"/>
                </a:solidFill>
                <a:effectLst/>
                <a:latin typeface="times new roman" panose="02020603050405020304" pitchFamily="18" charset="0"/>
              </a:rPr>
              <a: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6218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000000"/>
                </a:solidFill>
                <a:effectLst/>
                <a:latin typeface="times new roman" panose="02020603050405020304" pitchFamily="18" charset="0"/>
              </a:rPr>
              <a:t>The </a:t>
            </a:r>
            <a:r>
              <a:rPr lang="en-US" b="0" i="1" dirty="0">
                <a:solidFill>
                  <a:srgbClr val="000000"/>
                </a:solidFill>
                <a:effectLst/>
                <a:latin typeface="times new roman" panose="02020603050405020304" pitchFamily="18" charset="0"/>
              </a:rPr>
              <a:t>R</a:t>
            </a:r>
            <a:r>
              <a:rPr lang="en-US" b="0" i="0" baseline="30000" dirty="0">
                <a:solidFill>
                  <a:srgbClr val="000000"/>
                </a:solidFill>
                <a:effectLst/>
                <a:latin typeface="times new roman" panose="02020603050405020304" pitchFamily="18" charset="0"/>
              </a:rPr>
              <a:t>2</a:t>
            </a:r>
            <a:r>
              <a:rPr lang="en-US" b="0" i="0" dirty="0">
                <a:solidFill>
                  <a:srgbClr val="000000"/>
                </a:solidFill>
                <a:effectLst/>
                <a:latin typeface="times new roman" panose="02020603050405020304" pitchFamily="18" charset="0"/>
              </a:rPr>
              <a:t> value has hardly changed at all, increasing only slightly from 97.3% to 97.7%. In either case, the relationship between </a:t>
            </a:r>
            <a:r>
              <a:rPr lang="en-US" b="0" i="1" dirty="0">
                <a:solidFill>
                  <a:srgbClr val="000000"/>
                </a:solidFill>
                <a:effectLst/>
                <a:latin typeface="times new roman" panose="02020603050405020304" pitchFamily="18" charset="0"/>
              </a:rPr>
              <a:t>y</a:t>
            </a:r>
            <a:r>
              <a:rPr lang="en-US" b="0" i="0" dirty="0">
                <a:solidFill>
                  <a:srgbClr val="000000"/>
                </a:solidFill>
                <a:effectLst/>
                <a:latin typeface="times new roman" panose="02020603050405020304" pitchFamily="18" charset="0"/>
              </a:rPr>
              <a:t> and </a:t>
            </a:r>
            <a:r>
              <a:rPr lang="en-US" b="0" i="1" dirty="0">
                <a:solidFill>
                  <a:srgbClr val="000000"/>
                </a:solidFill>
                <a:effectLst/>
                <a:latin typeface="times new roman" panose="02020603050405020304" pitchFamily="18" charset="0"/>
              </a:rPr>
              <a:t>x</a:t>
            </a:r>
            <a:r>
              <a:rPr lang="en-US" b="0" i="0" dirty="0">
                <a:solidFill>
                  <a:srgbClr val="000000"/>
                </a:solidFill>
                <a:effectLst/>
                <a:latin typeface="times new roman" panose="02020603050405020304" pitchFamily="18" charset="0"/>
              </a:rPr>
              <a:t> is deemed strong.</a:t>
            </a:r>
          </a:p>
          <a:p>
            <a:pPr algn="l">
              <a:buFont typeface="Arial" panose="020B0604020202020204" pitchFamily="34" charset="0"/>
              <a:buNone/>
            </a:pPr>
            <a:r>
              <a:rPr lang="en-US" b="0" i="0" dirty="0">
                <a:solidFill>
                  <a:srgbClr val="000000"/>
                </a:solidFill>
                <a:effectLst/>
                <a:latin typeface="times new roman" panose="02020603050405020304" pitchFamily="18" charset="0"/>
              </a:rPr>
              <a:t>The standard error of </a:t>
            </a:r>
            <a:r>
              <a:rPr lang="en-US" b="0" i="1" dirty="0">
                <a:solidFill>
                  <a:srgbClr val="000000"/>
                </a:solidFill>
                <a:effectLst/>
                <a:latin typeface="times new roman" panose="02020603050405020304" pitchFamily="18" charset="0"/>
              </a:rPr>
              <a:t>b</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is about the same in each case — 0.172 when the red data point is included, and 0.200 when the red data point is excluded. Therefore, the width of the confidence intervals for </a:t>
            </a:r>
            <a:r>
              <a:rPr lang="en-US" b="0" i="1" dirty="0">
                <a:solidFill>
                  <a:srgbClr val="000000"/>
                </a:solidFill>
                <a:effectLst/>
                <a:latin typeface="times new roman" panose="02020603050405020304" pitchFamily="18" charset="0"/>
              </a:rPr>
              <a:t>β</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would largely remain unaffected by the existence of the red data point. You might take note that this is because the data point is </a:t>
            </a:r>
            <a:r>
              <a:rPr lang="en-US" b="0" i="1" dirty="0">
                <a:solidFill>
                  <a:srgbClr val="000000"/>
                </a:solidFill>
                <a:effectLst/>
                <a:latin typeface="times new roman" panose="02020603050405020304" pitchFamily="18" charset="0"/>
              </a:rPr>
              <a:t>not</a:t>
            </a:r>
            <a:r>
              <a:rPr lang="en-US" b="0" i="0" dirty="0">
                <a:solidFill>
                  <a:srgbClr val="000000"/>
                </a:solidFill>
                <a:effectLst/>
                <a:latin typeface="times new roman" panose="02020603050405020304" pitchFamily="18" charset="0"/>
              </a:rPr>
              <a:t> an outlier heavily impacting </a:t>
            </a:r>
            <a:r>
              <a:rPr lang="en-US" b="0" i="1" dirty="0">
                <a:solidFill>
                  <a:srgbClr val="000000"/>
                </a:solidFill>
                <a:effectLst/>
                <a:latin typeface="times new roman" panose="02020603050405020304" pitchFamily="18" charset="0"/>
              </a:rPr>
              <a:t>MSE</a:t>
            </a:r>
            <a:r>
              <a:rPr lang="en-US" b="0" i="0" dirty="0">
                <a:solidFill>
                  <a:srgbClr val="000000"/>
                </a:solidFill>
                <a:effectLst/>
                <a:latin typeface="times new roman" panose="02020603050405020304" pitchFamily="18" charset="0"/>
              </a:rPr>
              <a:t>.</a:t>
            </a:r>
          </a:p>
          <a:p>
            <a:pPr algn="l">
              <a:buFont typeface="Arial" panose="020B0604020202020204" pitchFamily="34" charset="0"/>
              <a:buNone/>
            </a:pPr>
            <a:r>
              <a:rPr lang="en-US" b="0" i="0" dirty="0">
                <a:solidFill>
                  <a:srgbClr val="000000"/>
                </a:solidFill>
                <a:effectLst/>
                <a:latin typeface="times new roman" panose="02020603050405020304" pitchFamily="18" charset="0"/>
              </a:rPr>
              <a:t>In each case, the </a:t>
            </a:r>
            <a:r>
              <a:rPr lang="en-US" b="0" i="1" dirty="0">
                <a:solidFill>
                  <a:srgbClr val="000000"/>
                </a:solidFill>
                <a:effectLst/>
                <a:latin typeface="times new roman" panose="02020603050405020304" pitchFamily="18" charset="0"/>
              </a:rPr>
              <a:t>P</a:t>
            </a:r>
            <a:r>
              <a:rPr lang="en-US" b="0" i="0" dirty="0">
                <a:solidFill>
                  <a:srgbClr val="000000"/>
                </a:solidFill>
                <a:effectLst/>
                <a:latin typeface="times new roman" panose="02020603050405020304" pitchFamily="18" charset="0"/>
              </a:rPr>
              <a:t>-value for testing </a:t>
            </a:r>
            <a:r>
              <a:rPr lang="en-US" b="0" i="1" dirty="0">
                <a:solidFill>
                  <a:srgbClr val="000000"/>
                </a:solidFill>
                <a:effectLst/>
                <a:latin typeface="times new roman" panose="02020603050405020304" pitchFamily="18" charset="0"/>
              </a:rPr>
              <a:t>H</a:t>
            </a:r>
            <a:r>
              <a:rPr lang="en-US" b="0" i="0" baseline="-25000" dirty="0">
                <a:solidFill>
                  <a:srgbClr val="000000"/>
                </a:solidFill>
                <a:effectLst/>
                <a:latin typeface="times new roman" panose="02020603050405020304" pitchFamily="18" charset="0"/>
              </a:rPr>
              <a:t>0</a:t>
            </a:r>
            <a:r>
              <a:rPr lang="en-US" b="0" i="0" dirty="0">
                <a:solidFill>
                  <a:srgbClr val="000000"/>
                </a:solidFill>
                <a:effectLst/>
                <a:latin typeface="times new roman" panose="02020603050405020304" pitchFamily="18" charset="0"/>
              </a:rPr>
              <a:t>: </a:t>
            </a:r>
            <a:r>
              <a:rPr lang="en-US" b="0" i="1" dirty="0">
                <a:solidFill>
                  <a:srgbClr val="000000"/>
                </a:solidFill>
                <a:effectLst/>
                <a:latin typeface="times new roman" panose="02020603050405020304" pitchFamily="18" charset="0"/>
              </a:rPr>
              <a:t>β</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 0 is less than 0.001. In either case, we can conclude that there is sufficient evidence at the 0.05 level to conclude that, in the population, </a:t>
            </a:r>
            <a:r>
              <a:rPr lang="en-US" b="0" i="1" dirty="0">
                <a:solidFill>
                  <a:srgbClr val="000000"/>
                </a:solidFill>
                <a:effectLst/>
                <a:latin typeface="times new roman" panose="02020603050405020304" pitchFamily="18" charset="0"/>
              </a:rPr>
              <a:t>x</a:t>
            </a:r>
            <a:r>
              <a:rPr lang="en-US" b="0" i="0" dirty="0">
                <a:solidFill>
                  <a:srgbClr val="000000"/>
                </a:solidFill>
                <a:effectLst/>
                <a:latin typeface="times new roman" panose="02020603050405020304" pitchFamily="18" charset="0"/>
              </a:rPr>
              <a:t> is related to </a:t>
            </a:r>
            <a:r>
              <a:rPr lang="en-US" b="0" i="1" dirty="0">
                <a:solidFill>
                  <a:srgbClr val="000000"/>
                </a:solidFill>
                <a:effectLst/>
                <a:latin typeface="times new roman" panose="02020603050405020304" pitchFamily="18" charset="0"/>
              </a:rPr>
              <a:t>y</a:t>
            </a:r>
            <a:r>
              <a:rPr lang="en-US" b="0" i="0" dirty="0">
                <a:solidFill>
                  <a:srgbClr val="000000"/>
                </a:solidFill>
                <a:effectLst/>
                <a:latin typeface="times new roman" panose="02020603050405020304" pitchFamily="18" charset="0"/>
              </a:rPr>
              <a: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78348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BCFFC-3B68-4C25-9794-F3AF3EB3899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049670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2BCFFC-3B68-4C25-9794-F3AF3EB3899E}" type="slidenum">
              <a:rPr lang="en-US" smtClean="0"/>
              <a:t>100</a:t>
            </a:fld>
            <a:endParaRPr lang="en-US"/>
          </a:p>
        </p:txBody>
      </p:sp>
    </p:spTree>
    <p:extLst>
      <p:ext uri="{BB962C8B-B14F-4D97-AF65-F5344CB8AC3E}">
        <p14:creationId xmlns:p14="http://schemas.microsoft.com/office/powerpoint/2010/main" val="18743739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AA96C-B8C2-FB0B-82F7-E726DA77A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D6C52D-53EF-F356-E977-D40BD5D7E5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EF8616-925C-E684-DF05-6571540F0D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EF3353-08B0-18F0-D7B9-733C2B375550}"/>
              </a:ext>
            </a:extLst>
          </p:cNvPr>
          <p:cNvSpPr>
            <a:spLocks noGrp="1"/>
          </p:cNvSpPr>
          <p:nvPr>
            <p:ph type="sldNum" sz="quarter" idx="5"/>
          </p:nvPr>
        </p:nvSpPr>
        <p:spPr/>
        <p:txBody>
          <a:bodyPr/>
          <a:lstStyle/>
          <a:p>
            <a:fld id="{C42BCFFC-3B68-4C25-9794-F3AF3EB3899E}" type="slidenum">
              <a:rPr lang="en-US" smtClean="0"/>
              <a:t>101</a:t>
            </a:fld>
            <a:endParaRPr lang="en-US"/>
          </a:p>
        </p:txBody>
      </p:sp>
    </p:spTree>
    <p:extLst>
      <p:ext uri="{BB962C8B-B14F-4D97-AF65-F5344CB8AC3E}">
        <p14:creationId xmlns:p14="http://schemas.microsoft.com/office/powerpoint/2010/main" val="13179878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DA907-B6DE-845B-6F3C-CFCD7DC281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D1DD95-65B4-244E-0B06-B425F2FE08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6AA656-E7E0-E77F-21E5-7BCC020B9C1D}"/>
              </a:ext>
            </a:extLst>
          </p:cNvPr>
          <p:cNvSpPr>
            <a:spLocks noGrp="1"/>
          </p:cNvSpPr>
          <p:nvPr>
            <p:ph type="dt" sz="half" idx="10"/>
          </p:nvPr>
        </p:nvSpPr>
        <p:spPr/>
        <p:txBody>
          <a:bodyPr/>
          <a:lstStyle/>
          <a:p>
            <a:fld id="{4B1D85D8-6E76-47B4-BFA2-EA4ED59CC5FF}" type="datetimeFigureOut">
              <a:rPr lang="en-US" smtClean="0"/>
              <a:t>2/15/2026</a:t>
            </a:fld>
            <a:endParaRPr lang="en-US"/>
          </a:p>
        </p:txBody>
      </p:sp>
      <p:sp>
        <p:nvSpPr>
          <p:cNvPr id="5" name="Footer Placeholder 4">
            <a:extLst>
              <a:ext uri="{FF2B5EF4-FFF2-40B4-BE49-F238E27FC236}">
                <a16:creationId xmlns:a16="http://schemas.microsoft.com/office/drawing/2014/main" id="{84CF7E8B-3425-A9DF-356D-C484407B87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D08CF8-100D-50B9-7370-823179FE5E64}"/>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2943735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A238D-C371-9AFD-B354-6FBEAE8FFE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950DA2-4D64-19F8-DD15-AEF3FDB5AD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B87543-FDCE-5FC4-B3D9-9C5D8930F9FB}"/>
              </a:ext>
            </a:extLst>
          </p:cNvPr>
          <p:cNvSpPr>
            <a:spLocks noGrp="1"/>
          </p:cNvSpPr>
          <p:nvPr>
            <p:ph type="dt" sz="half" idx="10"/>
          </p:nvPr>
        </p:nvSpPr>
        <p:spPr/>
        <p:txBody>
          <a:bodyPr/>
          <a:lstStyle/>
          <a:p>
            <a:fld id="{4B1D85D8-6E76-47B4-BFA2-EA4ED59CC5FF}" type="datetimeFigureOut">
              <a:rPr lang="en-US" smtClean="0"/>
              <a:t>2/15/2026</a:t>
            </a:fld>
            <a:endParaRPr lang="en-US"/>
          </a:p>
        </p:txBody>
      </p:sp>
      <p:sp>
        <p:nvSpPr>
          <p:cNvPr id="5" name="Footer Placeholder 4">
            <a:extLst>
              <a:ext uri="{FF2B5EF4-FFF2-40B4-BE49-F238E27FC236}">
                <a16:creationId xmlns:a16="http://schemas.microsoft.com/office/drawing/2014/main" id="{F8080571-3BBD-83F7-B062-3FD923118B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FAD215-8C62-01C2-C0CF-B16C26C930EF}"/>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2044519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A45E4-2882-8875-EDCF-D77931420C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F9AF72-334C-B577-0BCF-4CC6729349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93AA13-E34C-99A0-ED74-26FBE05D1FAC}"/>
              </a:ext>
            </a:extLst>
          </p:cNvPr>
          <p:cNvSpPr>
            <a:spLocks noGrp="1"/>
          </p:cNvSpPr>
          <p:nvPr>
            <p:ph type="dt" sz="half" idx="10"/>
          </p:nvPr>
        </p:nvSpPr>
        <p:spPr/>
        <p:txBody>
          <a:bodyPr/>
          <a:lstStyle/>
          <a:p>
            <a:fld id="{4B1D85D8-6E76-47B4-BFA2-EA4ED59CC5FF}" type="datetimeFigureOut">
              <a:rPr lang="en-US" smtClean="0"/>
              <a:t>2/15/2026</a:t>
            </a:fld>
            <a:endParaRPr lang="en-US"/>
          </a:p>
        </p:txBody>
      </p:sp>
      <p:sp>
        <p:nvSpPr>
          <p:cNvPr id="5" name="Footer Placeholder 4">
            <a:extLst>
              <a:ext uri="{FF2B5EF4-FFF2-40B4-BE49-F238E27FC236}">
                <a16:creationId xmlns:a16="http://schemas.microsoft.com/office/drawing/2014/main" id="{2CAD3486-1563-0A88-DE4C-43AFCA5F27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27C143-0DD2-CD28-34B1-4D7EDFD61DE3}"/>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792257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98453-6358-CD5E-6F6B-4FEC67D50F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0BDDC2-2531-69B4-F77F-46F0BCDEB2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871110-D719-23DE-8DD5-7E470B38D9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2816ABA-9DEA-5FA4-1400-FD20EBF219D3}"/>
              </a:ext>
            </a:extLst>
          </p:cNvPr>
          <p:cNvSpPr>
            <a:spLocks noGrp="1"/>
          </p:cNvSpPr>
          <p:nvPr>
            <p:ph type="dt" sz="half" idx="10"/>
          </p:nvPr>
        </p:nvSpPr>
        <p:spPr/>
        <p:txBody>
          <a:bodyPr/>
          <a:lstStyle/>
          <a:p>
            <a:fld id="{4B1D85D8-6E76-47B4-BFA2-EA4ED59CC5FF}" type="datetimeFigureOut">
              <a:rPr lang="en-US" smtClean="0"/>
              <a:t>2/15/2026</a:t>
            </a:fld>
            <a:endParaRPr lang="en-US"/>
          </a:p>
        </p:txBody>
      </p:sp>
      <p:sp>
        <p:nvSpPr>
          <p:cNvPr id="6" name="Footer Placeholder 5">
            <a:extLst>
              <a:ext uri="{FF2B5EF4-FFF2-40B4-BE49-F238E27FC236}">
                <a16:creationId xmlns:a16="http://schemas.microsoft.com/office/drawing/2014/main" id="{1C027134-FCE5-5492-F65C-BF509A400B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4E69F3-71E2-A37B-9F81-A8C82678D06B}"/>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1361519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B5432-AC95-26D1-A72E-BBC26A9650C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BCBDAE-530B-59D5-756C-052FADC885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2F2313-0354-5E9D-44B0-C5444484F4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E2D197-7B89-A07B-3F3E-EC9891CA45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12F71B-145E-A7F2-0814-8030B26C24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85D5527-4ABE-853E-818E-86F7EA029196}"/>
              </a:ext>
            </a:extLst>
          </p:cNvPr>
          <p:cNvSpPr>
            <a:spLocks noGrp="1"/>
          </p:cNvSpPr>
          <p:nvPr>
            <p:ph type="dt" sz="half" idx="10"/>
          </p:nvPr>
        </p:nvSpPr>
        <p:spPr/>
        <p:txBody>
          <a:bodyPr/>
          <a:lstStyle/>
          <a:p>
            <a:fld id="{4B1D85D8-6E76-47B4-BFA2-EA4ED59CC5FF}" type="datetimeFigureOut">
              <a:rPr lang="en-US" smtClean="0"/>
              <a:t>2/15/2026</a:t>
            </a:fld>
            <a:endParaRPr lang="en-US"/>
          </a:p>
        </p:txBody>
      </p:sp>
      <p:sp>
        <p:nvSpPr>
          <p:cNvPr id="8" name="Footer Placeholder 7">
            <a:extLst>
              <a:ext uri="{FF2B5EF4-FFF2-40B4-BE49-F238E27FC236}">
                <a16:creationId xmlns:a16="http://schemas.microsoft.com/office/drawing/2014/main" id="{F3F72EB2-3EDC-2003-27B0-8F99A44CFF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8AB017-7175-9D9E-924F-80DC10206BBF}"/>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3235570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BFDA5-1BA8-25D1-992A-83E58E22F7C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1C5CB3C-8269-4638-9C05-436857D4D398}"/>
              </a:ext>
            </a:extLst>
          </p:cNvPr>
          <p:cNvSpPr>
            <a:spLocks noGrp="1"/>
          </p:cNvSpPr>
          <p:nvPr>
            <p:ph type="dt" sz="half" idx="10"/>
          </p:nvPr>
        </p:nvSpPr>
        <p:spPr/>
        <p:txBody>
          <a:bodyPr/>
          <a:lstStyle/>
          <a:p>
            <a:fld id="{4B1D85D8-6E76-47B4-BFA2-EA4ED59CC5FF}" type="datetimeFigureOut">
              <a:rPr lang="en-US" smtClean="0"/>
              <a:t>2/15/2026</a:t>
            </a:fld>
            <a:endParaRPr lang="en-US"/>
          </a:p>
        </p:txBody>
      </p:sp>
      <p:sp>
        <p:nvSpPr>
          <p:cNvPr id="4" name="Footer Placeholder 3">
            <a:extLst>
              <a:ext uri="{FF2B5EF4-FFF2-40B4-BE49-F238E27FC236}">
                <a16:creationId xmlns:a16="http://schemas.microsoft.com/office/drawing/2014/main" id="{AAC2DEF7-8360-90D7-8066-05B6B5040E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B1E72D-2E54-9AD5-F6EC-1B17BE0B139B}"/>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1411368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6EDA0F-8DB0-BB64-7694-ABD4400B4FB6}"/>
              </a:ext>
            </a:extLst>
          </p:cNvPr>
          <p:cNvSpPr>
            <a:spLocks noGrp="1"/>
          </p:cNvSpPr>
          <p:nvPr>
            <p:ph type="dt" sz="half" idx="10"/>
          </p:nvPr>
        </p:nvSpPr>
        <p:spPr/>
        <p:txBody>
          <a:bodyPr/>
          <a:lstStyle/>
          <a:p>
            <a:fld id="{4B1D85D8-6E76-47B4-BFA2-EA4ED59CC5FF}" type="datetimeFigureOut">
              <a:rPr lang="en-US" smtClean="0"/>
              <a:t>2/15/2026</a:t>
            </a:fld>
            <a:endParaRPr lang="en-US"/>
          </a:p>
        </p:txBody>
      </p:sp>
      <p:sp>
        <p:nvSpPr>
          <p:cNvPr id="3" name="Footer Placeholder 2">
            <a:extLst>
              <a:ext uri="{FF2B5EF4-FFF2-40B4-BE49-F238E27FC236}">
                <a16:creationId xmlns:a16="http://schemas.microsoft.com/office/drawing/2014/main" id="{80CCA721-3C57-944D-264D-C37700C205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976069-79BA-114B-18E6-4F1D5AD70D74}"/>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2025458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9D128-0385-E354-90C0-648AE7F80A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121CD0A-BDA5-F9A8-BFAF-34BE61B245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743F56-4D80-0F04-35CF-994DE4D1A4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59B695-BFE1-5164-7224-F00EB8C3C1E1}"/>
              </a:ext>
            </a:extLst>
          </p:cNvPr>
          <p:cNvSpPr>
            <a:spLocks noGrp="1"/>
          </p:cNvSpPr>
          <p:nvPr>
            <p:ph type="dt" sz="half" idx="10"/>
          </p:nvPr>
        </p:nvSpPr>
        <p:spPr/>
        <p:txBody>
          <a:bodyPr/>
          <a:lstStyle/>
          <a:p>
            <a:fld id="{4B1D85D8-6E76-47B4-BFA2-EA4ED59CC5FF}" type="datetimeFigureOut">
              <a:rPr lang="en-US" smtClean="0"/>
              <a:t>2/15/2026</a:t>
            </a:fld>
            <a:endParaRPr lang="en-US"/>
          </a:p>
        </p:txBody>
      </p:sp>
      <p:sp>
        <p:nvSpPr>
          <p:cNvPr id="6" name="Footer Placeholder 5">
            <a:extLst>
              <a:ext uri="{FF2B5EF4-FFF2-40B4-BE49-F238E27FC236}">
                <a16:creationId xmlns:a16="http://schemas.microsoft.com/office/drawing/2014/main" id="{1A6F3534-BF23-29FC-D88B-50CD393DB4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506497-A288-A802-11AE-88F310871B03}"/>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982149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89B9A-F0AC-FA2C-A96B-2B23FB79F9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0DC4A5-CA36-BE02-4B17-F197CD5054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8F3B8A-50EA-D764-835E-5AEB7FB7E0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9A29C2-AB45-DDBC-733A-77D93809A212}"/>
              </a:ext>
            </a:extLst>
          </p:cNvPr>
          <p:cNvSpPr>
            <a:spLocks noGrp="1"/>
          </p:cNvSpPr>
          <p:nvPr>
            <p:ph type="dt" sz="half" idx="10"/>
          </p:nvPr>
        </p:nvSpPr>
        <p:spPr/>
        <p:txBody>
          <a:bodyPr/>
          <a:lstStyle/>
          <a:p>
            <a:fld id="{4B1D85D8-6E76-47B4-BFA2-EA4ED59CC5FF}" type="datetimeFigureOut">
              <a:rPr lang="en-US" smtClean="0"/>
              <a:t>2/15/2026</a:t>
            </a:fld>
            <a:endParaRPr lang="en-US"/>
          </a:p>
        </p:txBody>
      </p:sp>
      <p:sp>
        <p:nvSpPr>
          <p:cNvPr id="6" name="Footer Placeholder 5">
            <a:extLst>
              <a:ext uri="{FF2B5EF4-FFF2-40B4-BE49-F238E27FC236}">
                <a16:creationId xmlns:a16="http://schemas.microsoft.com/office/drawing/2014/main" id="{13213DB3-1EF2-C711-343F-847CE89595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0EAB46-70BF-088A-DC3C-52D8DFA232F6}"/>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3668980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D1E7A-D799-99E6-E0A4-18F792AE9B9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E9DCD9-EB7D-BB01-479C-391BA41EA9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43F55E-4CDD-FC2A-ACBD-95815F274749}"/>
              </a:ext>
            </a:extLst>
          </p:cNvPr>
          <p:cNvSpPr>
            <a:spLocks noGrp="1"/>
          </p:cNvSpPr>
          <p:nvPr>
            <p:ph type="dt" sz="half" idx="10"/>
          </p:nvPr>
        </p:nvSpPr>
        <p:spPr/>
        <p:txBody>
          <a:bodyPr/>
          <a:lstStyle/>
          <a:p>
            <a:fld id="{4B1D85D8-6E76-47B4-BFA2-EA4ED59CC5FF}" type="datetimeFigureOut">
              <a:rPr lang="en-US" smtClean="0"/>
              <a:t>2/15/2026</a:t>
            </a:fld>
            <a:endParaRPr lang="en-US"/>
          </a:p>
        </p:txBody>
      </p:sp>
      <p:sp>
        <p:nvSpPr>
          <p:cNvPr id="5" name="Footer Placeholder 4">
            <a:extLst>
              <a:ext uri="{FF2B5EF4-FFF2-40B4-BE49-F238E27FC236}">
                <a16:creationId xmlns:a16="http://schemas.microsoft.com/office/drawing/2014/main" id="{50CA7368-6B6B-42C6-757C-3D9E924C5A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6ECA3C-139B-C447-855A-882D10E736F7}"/>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3358931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4D9A0C-BE9B-DB44-72D6-2D1E7ECAC74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429F9C-C5CD-6F83-8E0A-9089635CD2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29043-81D5-CA49-AD8E-FDB6BC28DC56}"/>
              </a:ext>
            </a:extLst>
          </p:cNvPr>
          <p:cNvSpPr>
            <a:spLocks noGrp="1"/>
          </p:cNvSpPr>
          <p:nvPr>
            <p:ph type="dt" sz="half" idx="10"/>
          </p:nvPr>
        </p:nvSpPr>
        <p:spPr/>
        <p:txBody>
          <a:bodyPr/>
          <a:lstStyle/>
          <a:p>
            <a:fld id="{4B1D85D8-6E76-47B4-BFA2-EA4ED59CC5FF}" type="datetimeFigureOut">
              <a:rPr lang="en-US" smtClean="0"/>
              <a:t>2/15/2026</a:t>
            </a:fld>
            <a:endParaRPr lang="en-US"/>
          </a:p>
        </p:txBody>
      </p:sp>
      <p:sp>
        <p:nvSpPr>
          <p:cNvPr id="5" name="Footer Placeholder 4">
            <a:extLst>
              <a:ext uri="{FF2B5EF4-FFF2-40B4-BE49-F238E27FC236}">
                <a16:creationId xmlns:a16="http://schemas.microsoft.com/office/drawing/2014/main" id="{CDE68036-D7DB-2588-E735-753A110AF1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B7B0A3-97DD-F1C2-9CD7-08318C496A3B}"/>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36185227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A1367-AC30-8923-643E-4E34909D6B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4CD009-766E-FD05-B372-A8DBED4BC6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C0E63FB-88CE-6DF8-EA5D-9751DDBE2D33}"/>
              </a:ext>
            </a:extLst>
          </p:cNvPr>
          <p:cNvSpPr>
            <a:spLocks noGrp="1"/>
          </p:cNvSpPr>
          <p:nvPr>
            <p:ph type="dt" sz="half" idx="10"/>
          </p:nvPr>
        </p:nvSpPr>
        <p:spPr/>
        <p:txBody>
          <a:bodyPr/>
          <a:lstStyle/>
          <a:p>
            <a:fld id="{7DDE87E3-4C50-4627-A3CB-F1F224F266E6}" type="datetimeFigureOut">
              <a:rPr lang="en-US" smtClean="0"/>
              <a:t>2/15/2026</a:t>
            </a:fld>
            <a:endParaRPr lang="en-US"/>
          </a:p>
        </p:txBody>
      </p:sp>
      <p:sp>
        <p:nvSpPr>
          <p:cNvPr id="5" name="Footer Placeholder 4">
            <a:extLst>
              <a:ext uri="{FF2B5EF4-FFF2-40B4-BE49-F238E27FC236}">
                <a16:creationId xmlns:a16="http://schemas.microsoft.com/office/drawing/2014/main" id="{12C3577E-7013-66D2-70FA-0FD819C03C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207110-2737-3E78-9E9A-9211586904AC}"/>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31653408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1AD3E-402B-9043-47A1-A62B591F8F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F32D2F-734B-F73E-AD1B-DFDF18ECA3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94D9E8-F7E6-0546-DFB6-0116B3D822C2}"/>
              </a:ext>
            </a:extLst>
          </p:cNvPr>
          <p:cNvSpPr>
            <a:spLocks noGrp="1"/>
          </p:cNvSpPr>
          <p:nvPr>
            <p:ph type="dt" sz="half" idx="10"/>
          </p:nvPr>
        </p:nvSpPr>
        <p:spPr/>
        <p:txBody>
          <a:bodyPr/>
          <a:lstStyle/>
          <a:p>
            <a:fld id="{7DDE87E3-4C50-4627-A3CB-F1F224F266E6}" type="datetimeFigureOut">
              <a:rPr lang="en-US" smtClean="0"/>
              <a:t>2/15/2026</a:t>
            </a:fld>
            <a:endParaRPr lang="en-US"/>
          </a:p>
        </p:txBody>
      </p:sp>
      <p:sp>
        <p:nvSpPr>
          <p:cNvPr id="5" name="Footer Placeholder 4">
            <a:extLst>
              <a:ext uri="{FF2B5EF4-FFF2-40B4-BE49-F238E27FC236}">
                <a16:creationId xmlns:a16="http://schemas.microsoft.com/office/drawing/2014/main" id="{0DF7A4CB-87FC-9594-DA39-C6ACB86CE0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0AFDB9-9D2E-CB1B-7F30-5E9B43B042F1}"/>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25305941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604C9-B123-4631-8E98-AAAF1440C7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7C745E-BFB1-4D9E-DADB-92EF4743E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5C6E59-9F5C-053F-2CE7-1A07D072877C}"/>
              </a:ext>
            </a:extLst>
          </p:cNvPr>
          <p:cNvSpPr>
            <a:spLocks noGrp="1"/>
          </p:cNvSpPr>
          <p:nvPr>
            <p:ph type="dt" sz="half" idx="10"/>
          </p:nvPr>
        </p:nvSpPr>
        <p:spPr/>
        <p:txBody>
          <a:bodyPr/>
          <a:lstStyle/>
          <a:p>
            <a:fld id="{7DDE87E3-4C50-4627-A3CB-F1F224F266E6}" type="datetimeFigureOut">
              <a:rPr lang="en-US" smtClean="0"/>
              <a:t>2/15/2026</a:t>
            </a:fld>
            <a:endParaRPr lang="en-US"/>
          </a:p>
        </p:txBody>
      </p:sp>
      <p:sp>
        <p:nvSpPr>
          <p:cNvPr id="5" name="Footer Placeholder 4">
            <a:extLst>
              <a:ext uri="{FF2B5EF4-FFF2-40B4-BE49-F238E27FC236}">
                <a16:creationId xmlns:a16="http://schemas.microsoft.com/office/drawing/2014/main" id="{FB83B669-C958-2A0D-7112-4DB474DA6B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3E386-23C5-11CF-3F85-1D32B2DB3C53}"/>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14012671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9F852-493D-014D-B738-74554A14C7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BCFC13-2131-F56F-DF27-EC4A4B5ADB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0AF006-779A-72B2-E0D2-CFFFEB0ACD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6674FC-57A6-2163-AE59-60A776F852C5}"/>
              </a:ext>
            </a:extLst>
          </p:cNvPr>
          <p:cNvSpPr>
            <a:spLocks noGrp="1"/>
          </p:cNvSpPr>
          <p:nvPr>
            <p:ph type="dt" sz="half" idx="10"/>
          </p:nvPr>
        </p:nvSpPr>
        <p:spPr/>
        <p:txBody>
          <a:bodyPr/>
          <a:lstStyle/>
          <a:p>
            <a:fld id="{7DDE87E3-4C50-4627-A3CB-F1F224F266E6}" type="datetimeFigureOut">
              <a:rPr lang="en-US" smtClean="0"/>
              <a:t>2/15/2026</a:t>
            </a:fld>
            <a:endParaRPr lang="en-US"/>
          </a:p>
        </p:txBody>
      </p:sp>
      <p:sp>
        <p:nvSpPr>
          <p:cNvPr id="6" name="Footer Placeholder 5">
            <a:extLst>
              <a:ext uri="{FF2B5EF4-FFF2-40B4-BE49-F238E27FC236}">
                <a16:creationId xmlns:a16="http://schemas.microsoft.com/office/drawing/2014/main" id="{1CBE850D-617C-5120-2BC1-05BC6E507D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4334B6-5001-678A-A998-D0BC2D3DF923}"/>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552829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C1F91-869A-9DEB-6FD1-AC6767C12A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A5559E-E9A4-B707-39E3-01E2705B76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F18645-8EE4-1345-41A5-8CCE7AF7F0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C6973E-28A8-3E62-FC08-493D2A345E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A088FF-3941-D4A3-E8F9-D559CD9B6D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9B4CF2-38E0-8F9E-AD6F-F2DDA595D3B1}"/>
              </a:ext>
            </a:extLst>
          </p:cNvPr>
          <p:cNvSpPr>
            <a:spLocks noGrp="1"/>
          </p:cNvSpPr>
          <p:nvPr>
            <p:ph type="dt" sz="half" idx="10"/>
          </p:nvPr>
        </p:nvSpPr>
        <p:spPr/>
        <p:txBody>
          <a:bodyPr/>
          <a:lstStyle/>
          <a:p>
            <a:fld id="{7DDE87E3-4C50-4627-A3CB-F1F224F266E6}" type="datetimeFigureOut">
              <a:rPr lang="en-US" smtClean="0"/>
              <a:t>2/15/2026</a:t>
            </a:fld>
            <a:endParaRPr lang="en-US"/>
          </a:p>
        </p:txBody>
      </p:sp>
      <p:sp>
        <p:nvSpPr>
          <p:cNvPr id="8" name="Footer Placeholder 7">
            <a:extLst>
              <a:ext uri="{FF2B5EF4-FFF2-40B4-BE49-F238E27FC236}">
                <a16:creationId xmlns:a16="http://schemas.microsoft.com/office/drawing/2014/main" id="{95A14555-DEDD-09F7-BAFD-660C40EDA4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BC312C-1E49-129C-FE32-4CD99D6F086B}"/>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29032532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79396-51BB-2BBD-2B2F-ED862DF9AAA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E5B2B1D-1B33-5FBA-BF0A-21CC9C29DB9A}"/>
              </a:ext>
            </a:extLst>
          </p:cNvPr>
          <p:cNvSpPr>
            <a:spLocks noGrp="1"/>
          </p:cNvSpPr>
          <p:nvPr>
            <p:ph type="dt" sz="half" idx="10"/>
          </p:nvPr>
        </p:nvSpPr>
        <p:spPr/>
        <p:txBody>
          <a:bodyPr/>
          <a:lstStyle/>
          <a:p>
            <a:fld id="{7DDE87E3-4C50-4627-A3CB-F1F224F266E6}" type="datetimeFigureOut">
              <a:rPr lang="en-US" smtClean="0"/>
              <a:t>2/15/2026</a:t>
            </a:fld>
            <a:endParaRPr lang="en-US"/>
          </a:p>
        </p:txBody>
      </p:sp>
      <p:sp>
        <p:nvSpPr>
          <p:cNvPr id="4" name="Footer Placeholder 3">
            <a:extLst>
              <a:ext uri="{FF2B5EF4-FFF2-40B4-BE49-F238E27FC236}">
                <a16:creationId xmlns:a16="http://schemas.microsoft.com/office/drawing/2014/main" id="{76CD90FC-71D6-E5EB-36AE-82BF606B01F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A1D42B-215D-4418-2886-C1C4396DE3FE}"/>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22840086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77E1C7-46F4-F762-EB48-44EB0BF3959E}"/>
              </a:ext>
            </a:extLst>
          </p:cNvPr>
          <p:cNvSpPr>
            <a:spLocks noGrp="1"/>
          </p:cNvSpPr>
          <p:nvPr>
            <p:ph type="dt" sz="half" idx="10"/>
          </p:nvPr>
        </p:nvSpPr>
        <p:spPr/>
        <p:txBody>
          <a:bodyPr/>
          <a:lstStyle/>
          <a:p>
            <a:fld id="{7DDE87E3-4C50-4627-A3CB-F1F224F266E6}" type="datetimeFigureOut">
              <a:rPr lang="en-US" smtClean="0"/>
              <a:t>2/15/2026</a:t>
            </a:fld>
            <a:endParaRPr lang="en-US"/>
          </a:p>
        </p:txBody>
      </p:sp>
      <p:sp>
        <p:nvSpPr>
          <p:cNvPr id="3" name="Footer Placeholder 2">
            <a:extLst>
              <a:ext uri="{FF2B5EF4-FFF2-40B4-BE49-F238E27FC236}">
                <a16:creationId xmlns:a16="http://schemas.microsoft.com/office/drawing/2014/main" id="{359A2228-04CF-09F5-E92E-120859DAEB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334FF2-17D0-25EC-D7B9-6E65459BE596}"/>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30512184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32B82-714E-2E66-20A7-D34A1F291F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4B85E5-6AD4-6F42-642B-0F41AB34D7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7CEED12-6AEA-3180-2D0D-07FCB9F5C9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64011E-210E-331F-EA13-890E2F72F8D9}"/>
              </a:ext>
            </a:extLst>
          </p:cNvPr>
          <p:cNvSpPr>
            <a:spLocks noGrp="1"/>
          </p:cNvSpPr>
          <p:nvPr>
            <p:ph type="dt" sz="half" idx="10"/>
          </p:nvPr>
        </p:nvSpPr>
        <p:spPr/>
        <p:txBody>
          <a:bodyPr/>
          <a:lstStyle/>
          <a:p>
            <a:fld id="{7DDE87E3-4C50-4627-A3CB-F1F224F266E6}" type="datetimeFigureOut">
              <a:rPr lang="en-US" smtClean="0"/>
              <a:t>2/15/2026</a:t>
            </a:fld>
            <a:endParaRPr lang="en-US"/>
          </a:p>
        </p:txBody>
      </p:sp>
      <p:sp>
        <p:nvSpPr>
          <p:cNvPr id="6" name="Footer Placeholder 5">
            <a:extLst>
              <a:ext uri="{FF2B5EF4-FFF2-40B4-BE49-F238E27FC236}">
                <a16:creationId xmlns:a16="http://schemas.microsoft.com/office/drawing/2014/main" id="{110A5923-ECE8-5108-0C85-9A1C6A7E6C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95014E-6A59-E9AF-FDC8-4251F5D65BB1}"/>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12771410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04526-549C-0712-7B12-9449221769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D0A4B2-8D1B-8A80-D613-5498159F8A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7419D6-BB69-6ACA-2445-FB6651D49C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79A5A3-98B7-609C-1C96-06425F931963}"/>
              </a:ext>
            </a:extLst>
          </p:cNvPr>
          <p:cNvSpPr>
            <a:spLocks noGrp="1"/>
          </p:cNvSpPr>
          <p:nvPr>
            <p:ph type="dt" sz="half" idx="10"/>
          </p:nvPr>
        </p:nvSpPr>
        <p:spPr/>
        <p:txBody>
          <a:bodyPr/>
          <a:lstStyle/>
          <a:p>
            <a:fld id="{7DDE87E3-4C50-4627-A3CB-F1F224F266E6}" type="datetimeFigureOut">
              <a:rPr lang="en-US" smtClean="0"/>
              <a:t>2/15/2026</a:t>
            </a:fld>
            <a:endParaRPr lang="en-US"/>
          </a:p>
        </p:txBody>
      </p:sp>
      <p:sp>
        <p:nvSpPr>
          <p:cNvPr id="6" name="Footer Placeholder 5">
            <a:extLst>
              <a:ext uri="{FF2B5EF4-FFF2-40B4-BE49-F238E27FC236}">
                <a16:creationId xmlns:a16="http://schemas.microsoft.com/office/drawing/2014/main" id="{F3A45D33-F972-B36A-FF47-F2F9EF005D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01D54C-F49A-AA3F-8317-71E405BA0304}"/>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2052634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4B342-A99A-80F7-6C9F-0A41B660E0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D3D2747-8B7D-6EE3-73EF-F777E3FCF8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2A2B7A-912A-BB22-B0B1-DBC325BB760C}"/>
              </a:ext>
            </a:extLst>
          </p:cNvPr>
          <p:cNvSpPr>
            <a:spLocks noGrp="1"/>
          </p:cNvSpPr>
          <p:nvPr>
            <p:ph type="dt" sz="half" idx="10"/>
          </p:nvPr>
        </p:nvSpPr>
        <p:spPr/>
        <p:txBody>
          <a:bodyPr/>
          <a:lstStyle/>
          <a:p>
            <a:fld id="{7DDE87E3-4C50-4627-A3CB-F1F224F266E6}" type="datetimeFigureOut">
              <a:rPr lang="en-US" smtClean="0"/>
              <a:t>2/15/2026</a:t>
            </a:fld>
            <a:endParaRPr lang="en-US"/>
          </a:p>
        </p:txBody>
      </p:sp>
      <p:sp>
        <p:nvSpPr>
          <p:cNvPr id="5" name="Footer Placeholder 4">
            <a:extLst>
              <a:ext uri="{FF2B5EF4-FFF2-40B4-BE49-F238E27FC236}">
                <a16:creationId xmlns:a16="http://schemas.microsoft.com/office/drawing/2014/main" id="{321897C4-4A8D-A870-FC61-A89EA87CB8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09AEEF-5E04-E818-F53D-FE7D67D5F0F3}"/>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16368114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39F7A7-7C14-4909-7B55-F2259714EF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48069A-2E55-1D4F-5D10-F58FE599A6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B692EB-443A-4A88-ACB5-2069E7AFF647}"/>
              </a:ext>
            </a:extLst>
          </p:cNvPr>
          <p:cNvSpPr>
            <a:spLocks noGrp="1"/>
          </p:cNvSpPr>
          <p:nvPr>
            <p:ph type="dt" sz="half" idx="10"/>
          </p:nvPr>
        </p:nvSpPr>
        <p:spPr/>
        <p:txBody>
          <a:bodyPr/>
          <a:lstStyle/>
          <a:p>
            <a:fld id="{7DDE87E3-4C50-4627-A3CB-F1F224F266E6}" type="datetimeFigureOut">
              <a:rPr lang="en-US" smtClean="0"/>
              <a:t>2/15/2026</a:t>
            </a:fld>
            <a:endParaRPr lang="en-US"/>
          </a:p>
        </p:txBody>
      </p:sp>
      <p:sp>
        <p:nvSpPr>
          <p:cNvPr id="5" name="Footer Placeholder 4">
            <a:extLst>
              <a:ext uri="{FF2B5EF4-FFF2-40B4-BE49-F238E27FC236}">
                <a16:creationId xmlns:a16="http://schemas.microsoft.com/office/drawing/2014/main" id="{74626EE5-DC82-69FB-5272-59BB00AAB2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63137D-105C-E9C9-4A00-4AF7DF3C0513}"/>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27944101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63E0B-818E-D205-CB51-4EE8B07F54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42920E-E447-F106-6671-B5BE65D506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CC7D93E-3BC1-D967-5CB1-0507ECA4A7D2}"/>
              </a:ext>
            </a:extLst>
          </p:cNvPr>
          <p:cNvSpPr>
            <a:spLocks noGrp="1"/>
          </p:cNvSpPr>
          <p:nvPr>
            <p:ph type="dt" sz="half" idx="10"/>
          </p:nvPr>
        </p:nvSpPr>
        <p:spPr/>
        <p:txBody>
          <a:bodyPr/>
          <a:lstStyle/>
          <a:p>
            <a:fld id="{04413103-A497-4B78-B408-3347A04A32EC}" type="datetimeFigureOut">
              <a:rPr lang="en-US" smtClean="0"/>
              <a:t>2/15/2026</a:t>
            </a:fld>
            <a:endParaRPr lang="en-US"/>
          </a:p>
        </p:txBody>
      </p:sp>
      <p:sp>
        <p:nvSpPr>
          <p:cNvPr id="5" name="Footer Placeholder 4">
            <a:extLst>
              <a:ext uri="{FF2B5EF4-FFF2-40B4-BE49-F238E27FC236}">
                <a16:creationId xmlns:a16="http://schemas.microsoft.com/office/drawing/2014/main" id="{99544914-1ED0-ABCC-3F37-6C6940DA12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072E34-AB01-0EE8-4624-BC26FBE12E28}"/>
              </a:ext>
            </a:extLst>
          </p:cNvPr>
          <p:cNvSpPr>
            <a:spLocks noGrp="1"/>
          </p:cNvSpPr>
          <p:nvPr>
            <p:ph type="sldNum" sz="quarter" idx="12"/>
          </p:nvPr>
        </p:nvSpPr>
        <p:spPr/>
        <p:txBody>
          <a:bodyPr/>
          <a:lstStyle/>
          <a:p>
            <a:fld id="{C91CC639-2214-43CF-A479-25F9123388A9}" type="slidenum">
              <a:rPr lang="en-US" smtClean="0"/>
              <a:t>‹#›</a:t>
            </a:fld>
            <a:endParaRPr lang="en-US"/>
          </a:p>
        </p:txBody>
      </p:sp>
    </p:spTree>
    <p:extLst>
      <p:ext uri="{BB962C8B-B14F-4D97-AF65-F5344CB8AC3E}">
        <p14:creationId xmlns:p14="http://schemas.microsoft.com/office/powerpoint/2010/main" val="11380821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09A4B-C0EE-44F4-1B89-D83538EF93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FB4E22-F66A-17A2-DB9A-D04446EFB2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2E718E-C98B-BD34-AA33-269B47B9C5E9}"/>
              </a:ext>
            </a:extLst>
          </p:cNvPr>
          <p:cNvSpPr>
            <a:spLocks noGrp="1"/>
          </p:cNvSpPr>
          <p:nvPr>
            <p:ph type="dt" sz="half" idx="10"/>
          </p:nvPr>
        </p:nvSpPr>
        <p:spPr/>
        <p:txBody>
          <a:bodyPr/>
          <a:lstStyle/>
          <a:p>
            <a:fld id="{04413103-A497-4B78-B408-3347A04A32EC}" type="datetimeFigureOut">
              <a:rPr lang="en-US" smtClean="0"/>
              <a:t>2/15/2026</a:t>
            </a:fld>
            <a:endParaRPr lang="en-US"/>
          </a:p>
        </p:txBody>
      </p:sp>
      <p:sp>
        <p:nvSpPr>
          <p:cNvPr id="5" name="Footer Placeholder 4">
            <a:extLst>
              <a:ext uri="{FF2B5EF4-FFF2-40B4-BE49-F238E27FC236}">
                <a16:creationId xmlns:a16="http://schemas.microsoft.com/office/drawing/2014/main" id="{47138E1D-BD73-F390-BB71-3878EEF7BE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C8FDAE-8485-8BC4-30B7-89604CF26150}"/>
              </a:ext>
            </a:extLst>
          </p:cNvPr>
          <p:cNvSpPr>
            <a:spLocks noGrp="1"/>
          </p:cNvSpPr>
          <p:nvPr>
            <p:ph type="sldNum" sz="quarter" idx="12"/>
          </p:nvPr>
        </p:nvSpPr>
        <p:spPr/>
        <p:txBody>
          <a:bodyPr/>
          <a:lstStyle/>
          <a:p>
            <a:fld id="{C91CC639-2214-43CF-A479-25F9123388A9}" type="slidenum">
              <a:rPr lang="en-US" smtClean="0"/>
              <a:t>‹#›</a:t>
            </a:fld>
            <a:endParaRPr lang="en-US"/>
          </a:p>
        </p:txBody>
      </p:sp>
    </p:spTree>
    <p:extLst>
      <p:ext uri="{BB962C8B-B14F-4D97-AF65-F5344CB8AC3E}">
        <p14:creationId xmlns:p14="http://schemas.microsoft.com/office/powerpoint/2010/main" val="40076171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F2018-E5D5-99C2-DA22-E67C62EA92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6FA0838-2693-6C70-1B6C-D51F76AA622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31017F-B0E3-AF50-8A3D-71D240FB8D32}"/>
              </a:ext>
            </a:extLst>
          </p:cNvPr>
          <p:cNvSpPr>
            <a:spLocks noGrp="1"/>
          </p:cNvSpPr>
          <p:nvPr>
            <p:ph type="dt" sz="half" idx="10"/>
          </p:nvPr>
        </p:nvSpPr>
        <p:spPr/>
        <p:txBody>
          <a:bodyPr/>
          <a:lstStyle/>
          <a:p>
            <a:fld id="{04413103-A497-4B78-B408-3347A04A32EC}" type="datetimeFigureOut">
              <a:rPr lang="en-US" smtClean="0"/>
              <a:t>2/15/2026</a:t>
            </a:fld>
            <a:endParaRPr lang="en-US"/>
          </a:p>
        </p:txBody>
      </p:sp>
      <p:sp>
        <p:nvSpPr>
          <p:cNvPr id="5" name="Footer Placeholder 4">
            <a:extLst>
              <a:ext uri="{FF2B5EF4-FFF2-40B4-BE49-F238E27FC236}">
                <a16:creationId xmlns:a16="http://schemas.microsoft.com/office/drawing/2014/main" id="{3933BB7F-2423-99B5-6002-28E97778F8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C456D5-F4D1-9222-BD8D-9537CF6FE24C}"/>
              </a:ext>
            </a:extLst>
          </p:cNvPr>
          <p:cNvSpPr>
            <a:spLocks noGrp="1"/>
          </p:cNvSpPr>
          <p:nvPr>
            <p:ph type="sldNum" sz="quarter" idx="12"/>
          </p:nvPr>
        </p:nvSpPr>
        <p:spPr/>
        <p:txBody>
          <a:bodyPr/>
          <a:lstStyle/>
          <a:p>
            <a:fld id="{C91CC639-2214-43CF-A479-25F9123388A9}" type="slidenum">
              <a:rPr lang="en-US" smtClean="0"/>
              <a:t>‹#›</a:t>
            </a:fld>
            <a:endParaRPr lang="en-US"/>
          </a:p>
        </p:txBody>
      </p:sp>
    </p:spTree>
    <p:extLst>
      <p:ext uri="{BB962C8B-B14F-4D97-AF65-F5344CB8AC3E}">
        <p14:creationId xmlns:p14="http://schemas.microsoft.com/office/powerpoint/2010/main" val="35274024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5A184-BF22-B2B0-48AF-B1F4DE1192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DC7D85-D8D8-21FF-ED43-4B31534BDC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691929-2CDB-7288-F076-623B08E18D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AC76F9-660A-91FE-4ED0-EAAD0CCE3977}"/>
              </a:ext>
            </a:extLst>
          </p:cNvPr>
          <p:cNvSpPr>
            <a:spLocks noGrp="1"/>
          </p:cNvSpPr>
          <p:nvPr>
            <p:ph type="dt" sz="half" idx="10"/>
          </p:nvPr>
        </p:nvSpPr>
        <p:spPr/>
        <p:txBody>
          <a:bodyPr/>
          <a:lstStyle/>
          <a:p>
            <a:fld id="{04413103-A497-4B78-B408-3347A04A32EC}" type="datetimeFigureOut">
              <a:rPr lang="en-US" smtClean="0"/>
              <a:t>2/15/2026</a:t>
            </a:fld>
            <a:endParaRPr lang="en-US"/>
          </a:p>
        </p:txBody>
      </p:sp>
      <p:sp>
        <p:nvSpPr>
          <p:cNvPr id="6" name="Footer Placeholder 5">
            <a:extLst>
              <a:ext uri="{FF2B5EF4-FFF2-40B4-BE49-F238E27FC236}">
                <a16:creationId xmlns:a16="http://schemas.microsoft.com/office/drawing/2014/main" id="{78CFC925-669D-B717-E084-94116D558F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CB720A-CCD0-805A-D0F0-04A5363A2021}"/>
              </a:ext>
            </a:extLst>
          </p:cNvPr>
          <p:cNvSpPr>
            <a:spLocks noGrp="1"/>
          </p:cNvSpPr>
          <p:nvPr>
            <p:ph type="sldNum" sz="quarter" idx="12"/>
          </p:nvPr>
        </p:nvSpPr>
        <p:spPr/>
        <p:txBody>
          <a:bodyPr/>
          <a:lstStyle/>
          <a:p>
            <a:fld id="{C91CC639-2214-43CF-A479-25F9123388A9}" type="slidenum">
              <a:rPr lang="en-US" smtClean="0"/>
              <a:t>‹#›</a:t>
            </a:fld>
            <a:endParaRPr lang="en-US"/>
          </a:p>
        </p:txBody>
      </p:sp>
    </p:spTree>
    <p:extLst>
      <p:ext uri="{BB962C8B-B14F-4D97-AF65-F5344CB8AC3E}">
        <p14:creationId xmlns:p14="http://schemas.microsoft.com/office/powerpoint/2010/main" val="40701444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8D7B0-1410-A57F-BEB8-24EB3C62E91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001DFB-F33A-9FD3-8D7E-D9959799E0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97CAFE-756A-DA1C-5BF8-4C2482DBFD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A850268-19CD-C1BF-8C40-276BD8AC3F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B23D70-3BEA-B30F-1015-5166B7FC92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FA1D8F-775E-EEF6-48AA-D8823753F746}"/>
              </a:ext>
            </a:extLst>
          </p:cNvPr>
          <p:cNvSpPr>
            <a:spLocks noGrp="1"/>
          </p:cNvSpPr>
          <p:nvPr>
            <p:ph type="dt" sz="half" idx="10"/>
          </p:nvPr>
        </p:nvSpPr>
        <p:spPr/>
        <p:txBody>
          <a:bodyPr/>
          <a:lstStyle/>
          <a:p>
            <a:fld id="{04413103-A497-4B78-B408-3347A04A32EC}" type="datetimeFigureOut">
              <a:rPr lang="en-US" smtClean="0"/>
              <a:t>2/15/2026</a:t>
            </a:fld>
            <a:endParaRPr lang="en-US"/>
          </a:p>
        </p:txBody>
      </p:sp>
      <p:sp>
        <p:nvSpPr>
          <p:cNvPr id="8" name="Footer Placeholder 7">
            <a:extLst>
              <a:ext uri="{FF2B5EF4-FFF2-40B4-BE49-F238E27FC236}">
                <a16:creationId xmlns:a16="http://schemas.microsoft.com/office/drawing/2014/main" id="{D70F0BE6-6962-9C58-902E-B8E6E70CA2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C26CAC-122C-D1A5-840A-7F9F23327431}"/>
              </a:ext>
            </a:extLst>
          </p:cNvPr>
          <p:cNvSpPr>
            <a:spLocks noGrp="1"/>
          </p:cNvSpPr>
          <p:nvPr>
            <p:ph type="sldNum" sz="quarter" idx="12"/>
          </p:nvPr>
        </p:nvSpPr>
        <p:spPr/>
        <p:txBody>
          <a:bodyPr/>
          <a:lstStyle/>
          <a:p>
            <a:fld id="{C91CC639-2214-43CF-A479-25F9123388A9}" type="slidenum">
              <a:rPr lang="en-US" smtClean="0"/>
              <a:t>‹#›</a:t>
            </a:fld>
            <a:endParaRPr lang="en-US"/>
          </a:p>
        </p:txBody>
      </p:sp>
    </p:spTree>
    <p:extLst>
      <p:ext uri="{BB962C8B-B14F-4D97-AF65-F5344CB8AC3E}">
        <p14:creationId xmlns:p14="http://schemas.microsoft.com/office/powerpoint/2010/main" val="25616319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7517-9A51-E866-A621-8ADFC86F78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214CC2B-69F2-FC44-CAD6-8D7A00780F87}"/>
              </a:ext>
            </a:extLst>
          </p:cNvPr>
          <p:cNvSpPr>
            <a:spLocks noGrp="1"/>
          </p:cNvSpPr>
          <p:nvPr>
            <p:ph type="dt" sz="half" idx="10"/>
          </p:nvPr>
        </p:nvSpPr>
        <p:spPr/>
        <p:txBody>
          <a:bodyPr/>
          <a:lstStyle/>
          <a:p>
            <a:fld id="{04413103-A497-4B78-B408-3347A04A32EC}" type="datetimeFigureOut">
              <a:rPr lang="en-US" smtClean="0"/>
              <a:t>2/15/2026</a:t>
            </a:fld>
            <a:endParaRPr lang="en-US"/>
          </a:p>
        </p:txBody>
      </p:sp>
      <p:sp>
        <p:nvSpPr>
          <p:cNvPr id="4" name="Footer Placeholder 3">
            <a:extLst>
              <a:ext uri="{FF2B5EF4-FFF2-40B4-BE49-F238E27FC236}">
                <a16:creationId xmlns:a16="http://schemas.microsoft.com/office/drawing/2014/main" id="{29D9066D-4643-83EA-69EC-777BB74918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0B9343F-0A35-8F7D-B1AA-2C076F521F8C}"/>
              </a:ext>
            </a:extLst>
          </p:cNvPr>
          <p:cNvSpPr>
            <a:spLocks noGrp="1"/>
          </p:cNvSpPr>
          <p:nvPr>
            <p:ph type="sldNum" sz="quarter" idx="12"/>
          </p:nvPr>
        </p:nvSpPr>
        <p:spPr/>
        <p:txBody>
          <a:bodyPr/>
          <a:lstStyle/>
          <a:p>
            <a:fld id="{C91CC639-2214-43CF-A479-25F9123388A9}" type="slidenum">
              <a:rPr lang="en-US" smtClean="0"/>
              <a:t>‹#›</a:t>
            </a:fld>
            <a:endParaRPr lang="en-US"/>
          </a:p>
        </p:txBody>
      </p:sp>
    </p:spTree>
    <p:extLst>
      <p:ext uri="{BB962C8B-B14F-4D97-AF65-F5344CB8AC3E}">
        <p14:creationId xmlns:p14="http://schemas.microsoft.com/office/powerpoint/2010/main" val="31051127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B911AF-D78B-64B0-9AD7-A96F0399DDF5}"/>
              </a:ext>
            </a:extLst>
          </p:cNvPr>
          <p:cNvSpPr>
            <a:spLocks noGrp="1"/>
          </p:cNvSpPr>
          <p:nvPr>
            <p:ph type="dt" sz="half" idx="10"/>
          </p:nvPr>
        </p:nvSpPr>
        <p:spPr/>
        <p:txBody>
          <a:bodyPr/>
          <a:lstStyle/>
          <a:p>
            <a:fld id="{04413103-A497-4B78-B408-3347A04A32EC}" type="datetimeFigureOut">
              <a:rPr lang="en-US" smtClean="0"/>
              <a:t>2/15/2026</a:t>
            </a:fld>
            <a:endParaRPr lang="en-US"/>
          </a:p>
        </p:txBody>
      </p:sp>
      <p:sp>
        <p:nvSpPr>
          <p:cNvPr id="3" name="Footer Placeholder 2">
            <a:extLst>
              <a:ext uri="{FF2B5EF4-FFF2-40B4-BE49-F238E27FC236}">
                <a16:creationId xmlns:a16="http://schemas.microsoft.com/office/drawing/2014/main" id="{CB414DDC-D87E-17E0-0D5F-BE860FF9D5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49B3E6A-105C-6955-72A2-2CEA26369FF0}"/>
              </a:ext>
            </a:extLst>
          </p:cNvPr>
          <p:cNvSpPr>
            <a:spLocks noGrp="1"/>
          </p:cNvSpPr>
          <p:nvPr>
            <p:ph type="sldNum" sz="quarter" idx="12"/>
          </p:nvPr>
        </p:nvSpPr>
        <p:spPr/>
        <p:txBody>
          <a:bodyPr/>
          <a:lstStyle/>
          <a:p>
            <a:fld id="{C91CC639-2214-43CF-A479-25F9123388A9}" type="slidenum">
              <a:rPr lang="en-US" smtClean="0"/>
              <a:t>‹#›</a:t>
            </a:fld>
            <a:endParaRPr lang="en-US"/>
          </a:p>
        </p:txBody>
      </p:sp>
    </p:spTree>
    <p:extLst>
      <p:ext uri="{BB962C8B-B14F-4D97-AF65-F5344CB8AC3E}">
        <p14:creationId xmlns:p14="http://schemas.microsoft.com/office/powerpoint/2010/main" val="14100153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4EA98-286B-1830-5D6D-BA65F5B5D1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C74885-1F47-ED83-73BF-AC20F8C272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11F979-6B9A-96F6-93D6-779795B8B7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A9FC5C-63F4-C7DC-E393-1939C80930F0}"/>
              </a:ext>
            </a:extLst>
          </p:cNvPr>
          <p:cNvSpPr>
            <a:spLocks noGrp="1"/>
          </p:cNvSpPr>
          <p:nvPr>
            <p:ph type="dt" sz="half" idx="10"/>
          </p:nvPr>
        </p:nvSpPr>
        <p:spPr/>
        <p:txBody>
          <a:bodyPr/>
          <a:lstStyle/>
          <a:p>
            <a:fld id="{04413103-A497-4B78-B408-3347A04A32EC}" type="datetimeFigureOut">
              <a:rPr lang="en-US" smtClean="0"/>
              <a:t>2/15/2026</a:t>
            </a:fld>
            <a:endParaRPr lang="en-US"/>
          </a:p>
        </p:txBody>
      </p:sp>
      <p:sp>
        <p:nvSpPr>
          <p:cNvPr id="6" name="Footer Placeholder 5">
            <a:extLst>
              <a:ext uri="{FF2B5EF4-FFF2-40B4-BE49-F238E27FC236}">
                <a16:creationId xmlns:a16="http://schemas.microsoft.com/office/drawing/2014/main" id="{8716654F-587C-D888-35BB-01FE788628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390298-2EF2-5564-EEDB-6190E6FB9178}"/>
              </a:ext>
            </a:extLst>
          </p:cNvPr>
          <p:cNvSpPr>
            <a:spLocks noGrp="1"/>
          </p:cNvSpPr>
          <p:nvPr>
            <p:ph type="sldNum" sz="quarter" idx="12"/>
          </p:nvPr>
        </p:nvSpPr>
        <p:spPr/>
        <p:txBody>
          <a:bodyPr/>
          <a:lstStyle/>
          <a:p>
            <a:fld id="{C91CC639-2214-43CF-A479-25F9123388A9}" type="slidenum">
              <a:rPr lang="en-US" smtClean="0"/>
              <a:t>‹#›</a:t>
            </a:fld>
            <a:endParaRPr lang="en-US"/>
          </a:p>
        </p:txBody>
      </p:sp>
    </p:spTree>
    <p:extLst>
      <p:ext uri="{BB962C8B-B14F-4D97-AF65-F5344CB8AC3E}">
        <p14:creationId xmlns:p14="http://schemas.microsoft.com/office/powerpoint/2010/main" val="5477167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17ABF-31E5-464C-C803-3C08FEFC27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93440D-A92D-7576-06E0-3D1BCC60D2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A07FAD-73E1-046E-6147-7E049F03F7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4C63DE-F452-A596-E9FB-A6BDCC709690}"/>
              </a:ext>
            </a:extLst>
          </p:cNvPr>
          <p:cNvSpPr>
            <a:spLocks noGrp="1"/>
          </p:cNvSpPr>
          <p:nvPr>
            <p:ph type="dt" sz="half" idx="10"/>
          </p:nvPr>
        </p:nvSpPr>
        <p:spPr/>
        <p:txBody>
          <a:bodyPr/>
          <a:lstStyle/>
          <a:p>
            <a:fld id="{04413103-A497-4B78-B408-3347A04A32EC}" type="datetimeFigureOut">
              <a:rPr lang="en-US" smtClean="0"/>
              <a:t>2/15/2026</a:t>
            </a:fld>
            <a:endParaRPr lang="en-US"/>
          </a:p>
        </p:txBody>
      </p:sp>
      <p:sp>
        <p:nvSpPr>
          <p:cNvPr id="6" name="Footer Placeholder 5">
            <a:extLst>
              <a:ext uri="{FF2B5EF4-FFF2-40B4-BE49-F238E27FC236}">
                <a16:creationId xmlns:a16="http://schemas.microsoft.com/office/drawing/2014/main" id="{1635D95A-B3C0-5EFE-8969-17FBD9FEA9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5F6E0A-57E5-5275-58FC-C9FD96615AB2}"/>
              </a:ext>
            </a:extLst>
          </p:cNvPr>
          <p:cNvSpPr>
            <a:spLocks noGrp="1"/>
          </p:cNvSpPr>
          <p:nvPr>
            <p:ph type="sldNum" sz="quarter" idx="12"/>
          </p:nvPr>
        </p:nvSpPr>
        <p:spPr/>
        <p:txBody>
          <a:bodyPr/>
          <a:lstStyle/>
          <a:p>
            <a:fld id="{C91CC639-2214-43CF-A479-25F9123388A9}" type="slidenum">
              <a:rPr lang="en-US" smtClean="0"/>
              <a:t>‹#›</a:t>
            </a:fld>
            <a:endParaRPr lang="en-US"/>
          </a:p>
        </p:txBody>
      </p:sp>
    </p:spTree>
    <p:extLst>
      <p:ext uri="{BB962C8B-B14F-4D97-AF65-F5344CB8AC3E}">
        <p14:creationId xmlns:p14="http://schemas.microsoft.com/office/powerpoint/2010/main" val="11748655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A402E-08AB-4BE3-BD0F-30C64C53C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4FC4F9-BED1-4C9D-8974-9B7C5262A9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CB1D7B-0EA7-8E6E-85A7-D0C69197F766}"/>
              </a:ext>
            </a:extLst>
          </p:cNvPr>
          <p:cNvSpPr>
            <a:spLocks noGrp="1"/>
          </p:cNvSpPr>
          <p:nvPr>
            <p:ph type="dt" sz="half" idx="10"/>
          </p:nvPr>
        </p:nvSpPr>
        <p:spPr/>
        <p:txBody>
          <a:bodyPr/>
          <a:lstStyle/>
          <a:p>
            <a:fld id="{04413103-A497-4B78-B408-3347A04A32EC}" type="datetimeFigureOut">
              <a:rPr lang="en-US" smtClean="0"/>
              <a:t>2/15/2026</a:t>
            </a:fld>
            <a:endParaRPr lang="en-US"/>
          </a:p>
        </p:txBody>
      </p:sp>
      <p:sp>
        <p:nvSpPr>
          <p:cNvPr id="5" name="Footer Placeholder 4">
            <a:extLst>
              <a:ext uri="{FF2B5EF4-FFF2-40B4-BE49-F238E27FC236}">
                <a16:creationId xmlns:a16="http://schemas.microsoft.com/office/drawing/2014/main" id="{05C92A87-5450-8EA4-3481-406A8FE89C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C574D6-4E79-08A5-D307-F48A0E811F5D}"/>
              </a:ext>
            </a:extLst>
          </p:cNvPr>
          <p:cNvSpPr>
            <a:spLocks noGrp="1"/>
          </p:cNvSpPr>
          <p:nvPr>
            <p:ph type="sldNum" sz="quarter" idx="12"/>
          </p:nvPr>
        </p:nvSpPr>
        <p:spPr/>
        <p:txBody>
          <a:bodyPr/>
          <a:lstStyle/>
          <a:p>
            <a:fld id="{C91CC639-2214-43CF-A479-25F9123388A9}" type="slidenum">
              <a:rPr lang="en-US" smtClean="0"/>
              <a:t>‹#›</a:t>
            </a:fld>
            <a:endParaRPr lang="en-US"/>
          </a:p>
        </p:txBody>
      </p:sp>
    </p:spTree>
    <p:extLst>
      <p:ext uri="{BB962C8B-B14F-4D97-AF65-F5344CB8AC3E}">
        <p14:creationId xmlns:p14="http://schemas.microsoft.com/office/powerpoint/2010/main" val="5879911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85416F-3977-A778-9386-4EB254C2453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A8AC633-91D8-30F1-93E3-25434E9B17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E419AF-6909-03A5-7118-D78602890548}"/>
              </a:ext>
            </a:extLst>
          </p:cNvPr>
          <p:cNvSpPr>
            <a:spLocks noGrp="1"/>
          </p:cNvSpPr>
          <p:nvPr>
            <p:ph type="dt" sz="half" idx="10"/>
          </p:nvPr>
        </p:nvSpPr>
        <p:spPr/>
        <p:txBody>
          <a:bodyPr/>
          <a:lstStyle/>
          <a:p>
            <a:fld id="{04413103-A497-4B78-B408-3347A04A32EC}" type="datetimeFigureOut">
              <a:rPr lang="en-US" smtClean="0"/>
              <a:t>2/15/2026</a:t>
            </a:fld>
            <a:endParaRPr lang="en-US"/>
          </a:p>
        </p:txBody>
      </p:sp>
      <p:sp>
        <p:nvSpPr>
          <p:cNvPr id="5" name="Footer Placeholder 4">
            <a:extLst>
              <a:ext uri="{FF2B5EF4-FFF2-40B4-BE49-F238E27FC236}">
                <a16:creationId xmlns:a16="http://schemas.microsoft.com/office/drawing/2014/main" id="{CED82464-853D-2912-91C6-61CEC30FC8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73B001-7799-C66E-3696-BF4B53ACC6C8}"/>
              </a:ext>
            </a:extLst>
          </p:cNvPr>
          <p:cNvSpPr>
            <a:spLocks noGrp="1"/>
          </p:cNvSpPr>
          <p:nvPr>
            <p:ph type="sldNum" sz="quarter" idx="12"/>
          </p:nvPr>
        </p:nvSpPr>
        <p:spPr/>
        <p:txBody>
          <a:bodyPr/>
          <a:lstStyle/>
          <a:p>
            <a:fld id="{C91CC639-2214-43CF-A479-25F9123388A9}" type="slidenum">
              <a:rPr lang="en-US" smtClean="0"/>
              <a:t>‹#›</a:t>
            </a:fld>
            <a:endParaRPr lang="en-US"/>
          </a:p>
        </p:txBody>
      </p:sp>
    </p:spTree>
    <p:extLst>
      <p:ext uri="{BB962C8B-B14F-4D97-AF65-F5344CB8AC3E}">
        <p14:creationId xmlns:p14="http://schemas.microsoft.com/office/powerpoint/2010/main" val="34519612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Media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F5D581-F5B0-4701-B187-0D4FAB44900C}"/>
              </a:ext>
            </a:extLst>
          </p:cNvPr>
          <p:cNvSpPr/>
          <p:nvPr userDrawn="1"/>
        </p:nvSpPr>
        <p:spPr>
          <a:xfrm>
            <a:off x="0" y="0"/>
            <a:ext cx="12192000" cy="6858000"/>
          </a:xfrm>
          <a:prstGeom prst="rect">
            <a:avLst/>
          </a:prstGeom>
          <a:solidFill>
            <a:schemeClr val="accent6"/>
          </a:solidFill>
          <a:ln w="12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ru-RU" dirty="0"/>
          </a:p>
        </p:txBody>
      </p:sp>
      <p:sp>
        <p:nvSpPr>
          <p:cNvPr id="11" name="Freeform: Shape 10">
            <a:extLst>
              <a:ext uri="{FF2B5EF4-FFF2-40B4-BE49-F238E27FC236}">
                <a16:creationId xmlns:a16="http://schemas.microsoft.com/office/drawing/2014/main" id="{0E5F41AB-E2B9-45DD-B1C7-9F4DBA4946B9}"/>
              </a:ext>
            </a:extLst>
          </p:cNvPr>
          <p:cNvSpPr/>
          <p:nvPr userDrawn="1"/>
        </p:nvSpPr>
        <p:spPr>
          <a:xfrm>
            <a:off x="2445759"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4" name="Title 1">
            <a:extLst>
              <a:ext uri="{FF2B5EF4-FFF2-40B4-BE49-F238E27FC236}">
                <a16:creationId xmlns:a16="http://schemas.microsoft.com/office/drawing/2014/main" id="{4510C334-F1CE-4CEF-ADC6-D1BADB9947D6}"/>
              </a:ext>
            </a:extLst>
          </p:cNvPr>
          <p:cNvSpPr>
            <a:spLocks noGrp="1"/>
          </p:cNvSpPr>
          <p:nvPr>
            <p:ph type="title" hasCustomPrompt="1"/>
          </p:nvPr>
        </p:nvSpPr>
        <p:spPr>
          <a:xfrm>
            <a:off x="838200" y="156579"/>
            <a:ext cx="10515600" cy="1325563"/>
          </a:xfrm>
        </p:spPr>
        <p:txBody>
          <a:bodyPr lIns="0" rIns="0"/>
          <a:lstStyle>
            <a:lvl1pPr algn="ctr">
              <a:defRPr>
                <a:solidFill>
                  <a:schemeClr val="bg1"/>
                </a:solidFill>
              </a:defRPr>
            </a:lvl1pPr>
          </a:lstStyle>
          <a:p>
            <a:r>
              <a:rPr lang="en-US" dirty="0"/>
              <a:t>VIDEO SLIDE</a:t>
            </a:r>
            <a:endParaRPr lang="ru-RU" dirty="0"/>
          </a:p>
        </p:txBody>
      </p:sp>
      <p:sp>
        <p:nvSpPr>
          <p:cNvPr id="16" name="Media Placeholder 7">
            <a:extLst>
              <a:ext uri="{FF2B5EF4-FFF2-40B4-BE49-F238E27FC236}">
                <a16:creationId xmlns:a16="http://schemas.microsoft.com/office/drawing/2014/main" id="{A11F77F4-4B16-4503-B9B6-AE22C686E3E3}"/>
              </a:ext>
            </a:extLst>
          </p:cNvPr>
          <p:cNvSpPr>
            <a:spLocks noGrp="1"/>
          </p:cNvSpPr>
          <p:nvPr>
            <p:ph type="media" sz="quarter" idx="17"/>
          </p:nvPr>
        </p:nvSpPr>
        <p:spPr>
          <a:xfrm>
            <a:off x="1395984" y="1497770"/>
            <a:ext cx="9400032" cy="4215384"/>
          </a:xfrm>
        </p:spPr>
        <p:txBody>
          <a:bodyPr anchor="ctr" anchorCtr="0">
            <a:normAutofit/>
          </a:bodyPr>
          <a:lstStyle>
            <a:lvl1pPr marL="0" indent="0" algn="ctr">
              <a:buNone/>
              <a:defRPr sz="1400">
                <a:solidFill>
                  <a:schemeClr val="bg1">
                    <a:lumMod val="75000"/>
                  </a:schemeClr>
                </a:solidFill>
              </a:defRPr>
            </a:lvl1pPr>
          </a:lstStyle>
          <a:p>
            <a:r>
              <a:rPr lang="en-US"/>
              <a:t>Click icon to add media</a:t>
            </a:r>
            <a:endParaRPr lang="ru-RU" dirty="0"/>
          </a:p>
        </p:txBody>
      </p:sp>
      <p:sp>
        <p:nvSpPr>
          <p:cNvPr id="12" name="Graphic 4">
            <a:extLst>
              <a:ext uri="{FF2B5EF4-FFF2-40B4-BE49-F238E27FC236}">
                <a16:creationId xmlns:a16="http://schemas.microsoft.com/office/drawing/2014/main" id="{C7654E36-50FF-425E-B595-F3957610B5D8}"/>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3358040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ED8A6D-7B95-A31E-006F-9501D18BEB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146FD9-F30C-4E0F-3F4E-79E3F50190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ED98CB-6EDE-5D92-16A0-E24E86662B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1D85D8-6E76-47B4-BFA2-EA4ED59CC5FF}" type="datetimeFigureOut">
              <a:rPr lang="en-US" smtClean="0"/>
              <a:t>2/15/2026</a:t>
            </a:fld>
            <a:endParaRPr lang="en-US"/>
          </a:p>
        </p:txBody>
      </p:sp>
      <p:sp>
        <p:nvSpPr>
          <p:cNvPr id="5" name="Footer Placeholder 4">
            <a:extLst>
              <a:ext uri="{FF2B5EF4-FFF2-40B4-BE49-F238E27FC236}">
                <a16:creationId xmlns:a16="http://schemas.microsoft.com/office/drawing/2014/main" id="{1AF4CAF3-5CF0-0DB3-66E7-53EFD6BA95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A622478-B0A9-FC78-2060-41F9F2CC10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DF64BB-1F5A-456E-9C60-A968660B3D82}" type="slidenum">
              <a:rPr lang="en-US" smtClean="0"/>
              <a:t>‹#›</a:t>
            </a:fld>
            <a:endParaRPr lang="en-US"/>
          </a:p>
        </p:txBody>
      </p:sp>
    </p:spTree>
    <p:extLst>
      <p:ext uri="{BB962C8B-B14F-4D97-AF65-F5344CB8AC3E}">
        <p14:creationId xmlns:p14="http://schemas.microsoft.com/office/powerpoint/2010/main" val="39870471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69F9CD-71EF-C7CF-9FFD-C67D5F8CC4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7AD5F6-EF19-5690-A2D1-C373833652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9EA7DE-25B4-3040-A3AB-FDD0059825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DE87E3-4C50-4627-A3CB-F1F224F266E6}" type="datetimeFigureOut">
              <a:rPr lang="en-US" smtClean="0"/>
              <a:t>2/15/2026</a:t>
            </a:fld>
            <a:endParaRPr lang="en-US"/>
          </a:p>
        </p:txBody>
      </p:sp>
      <p:sp>
        <p:nvSpPr>
          <p:cNvPr id="5" name="Footer Placeholder 4">
            <a:extLst>
              <a:ext uri="{FF2B5EF4-FFF2-40B4-BE49-F238E27FC236}">
                <a16:creationId xmlns:a16="http://schemas.microsoft.com/office/drawing/2014/main" id="{0A3F48F5-9191-40ED-E6E1-D00B7A41A7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12EE1AF-7D31-8376-B63A-F9696EBF45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AC9452-3E6F-4A4A-B4AE-160A1194828A}" type="slidenum">
              <a:rPr lang="en-US" smtClean="0"/>
              <a:t>‹#›</a:t>
            </a:fld>
            <a:endParaRPr lang="en-US"/>
          </a:p>
        </p:txBody>
      </p:sp>
    </p:spTree>
    <p:extLst>
      <p:ext uri="{BB962C8B-B14F-4D97-AF65-F5344CB8AC3E}">
        <p14:creationId xmlns:p14="http://schemas.microsoft.com/office/powerpoint/2010/main" val="17561710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690708-7E1C-C91C-1E30-B6C2866084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16B1F7-E788-0815-29B4-E85BD4188D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AE6054-C872-1706-20A4-924F5DAC19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413103-A497-4B78-B408-3347A04A32EC}" type="datetimeFigureOut">
              <a:rPr lang="en-US" smtClean="0"/>
              <a:t>2/15/2026</a:t>
            </a:fld>
            <a:endParaRPr lang="en-US"/>
          </a:p>
        </p:txBody>
      </p:sp>
      <p:sp>
        <p:nvSpPr>
          <p:cNvPr id="5" name="Footer Placeholder 4">
            <a:extLst>
              <a:ext uri="{FF2B5EF4-FFF2-40B4-BE49-F238E27FC236}">
                <a16:creationId xmlns:a16="http://schemas.microsoft.com/office/drawing/2014/main" id="{8AC50A7B-3B2F-CFEF-335A-F4E33E7830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6C4F69D-C085-DA0B-4600-580666048D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91CC639-2214-43CF-A479-25F9123388A9}" type="slidenum">
              <a:rPr lang="en-US" smtClean="0"/>
              <a:t>‹#›</a:t>
            </a:fld>
            <a:endParaRPr lang="en-US"/>
          </a:p>
        </p:txBody>
      </p:sp>
    </p:spTree>
    <p:extLst>
      <p:ext uri="{BB962C8B-B14F-4D97-AF65-F5344CB8AC3E}">
        <p14:creationId xmlns:p14="http://schemas.microsoft.com/office/powerpoint/2010/main" val="413367145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2" Type="http://schemas.openxmlformats.org/officeDocument/2006/relationships/hyperlink" Target="https://issues-osu.github.io/statsii-spring2026/PRAMS_Correlation_Analysis.html" TargetMode="Externa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0.png"/><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customXml" Target="../ink/ink1.xml"/><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5.png"/><Relationship Id="rId1" Type="http://schemas.openxmlformats.org/officeDocument/2006/relationships/slideLayout" Target="../slideLayouts/slideLayout24.xml"/><Relationship Id="rId4" Type="http://schemas.openxmlformats.org/officeDocument/2006/relationships/image" Target="../media/image88.png"/></Relationships>
</file>

<file path=ppt/slides/_rels/slide35.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 Id="rId5" Type="http://schemas.openxmlformats.org/officeDocument/2006/relationships/image" Target="../media/image1120.png"/><Relationship Id="rId4" Type="http://schemas.openxmlformats.org/officeDocument/2006/relationships/image" Target="../media/image1110.png"/></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0.png"/><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0.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24.xml"/><Relationship Id="rId5" Type="http://schemas.openxmlformats.org/officeDocument/2006/relationships/image" Target="../media/image190.png"/><Relationship Id="rId4" Type="http://schemas.openxmlformats.org/officeDocument/2006/relationships/image" Target="../media/image180.png"/></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4.xml"/><Relationship Id="rId5" Type="http://schemas.openxmlformats.org/officeDocument/2006/relationships/image" Target="../media/image32.png"/><Relationship Id="rId4" Type="http://schemas.openxmlformats.org/officeDocument/2006/relationships/image" Target="../media/image31.png"/></Relationships>
</file>

<file path=ppt/slides/_rels/slide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24.wmf"/></Relationships>
</file>

<file path=ppt/slides/_rels/slide60.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25.png"/><Relationship Id="rId1" Type="http://schemas.openxmlformats.org/officeDocument/2006/relationships/slideLayout" Target="../slideLayouts/slideLayout6.xml"/><Relationship Id="rId6" Type="http://schemas.openxmlformats.org/officeDocument/2006/relationships/image" Target="../media/image44.png"/><Relationship Id="rId5" Type="http://schemas.openxmlformats.org/officeDocument/2006/relationships/customXml" Target="../ink/ink4.xml"/><Relationship Id="rId4" Type="http://schemas.openxmlformats.org/officeDocument/2006/relationships/image" Target="../media/image43.png"/></Relationships>
</file>

<file path=ppt/slides/_rels/slide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9.png"/><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hyperlink" Target="https://issues-osu.github.io/statsii-spring2026/slides/MLR/KSPRAMS_SUB_COR.jasp" TargetMode="External"/><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42.png"/></Relationships>
</file>

<file path=ppt/slides/_rels/slide8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3.xml"/><Relationship Id="rId5" Type="http://schemas.openxmlformats.org/officeDocument/2006/relationships/image" Target="../media/image49.jpeg"/><Relationship Id="rId4" Type="http://schemas.openxmlformats.org/officeDocument/2006/relationships/image" Target="../media/image48.jpe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51.png"/></Relationships>
</file>

<file path=ppt/slides/_rels/slide9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53.png"/></Relationships>
</file>

<file path=ppt/slides/_rels/slide92.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2.png"/><Relationship Id="rId2" Type="http://schemas.openxmlformats.org/officeDocument/2006/relationships/image" Target="../media/image54.png"/><Relationship Id="rId1" Type="http://schemas.openxmlformats.org/officeDocument/2006/relationships/slideLayout" Target="../slideLayouts/slideLayout13.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3.png"/></Relationships>
</file>

<file path=ppt/slides/_rels/slide9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3.xml"/><Relationship Id="rId1" Type="http://schemas.openxmlformats.org/officeDocument/2006/relationships/slideLayout" Target="../slideLayouts/slideLayout13.xml"/><Relationship Id="rId5" Type="http://schemas.openxmlformats.org/officeDocument/2006/relationships/image" Target="../media/image59.png"/><Relationship Id="rId4" Type="http://schemas.openxmlformats.org/officeDocument/2006/relationships/image" Target="../media/image58.png"/></Relationships>
</file>

<file path=ppt/slides/_rels/slide9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8.xml"/></Relationships>
</file>

<file path=ppt/slides/_rels/slide9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570.png"/><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580.png"/><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3" Type="http://schemas.openxmlformats.org/officeDocument/2006/relationships/hyperlink" Target="https://issues-osu.github.io/statsii-spring2026/cohensd.html" TargetMode="External"/><Relationship Id="rId2" Type="http://schemas.openxmlformats.org/officeDocument/2006/relationships/image" Target="../media/image64.png"/><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72306-95C6-70E7-84ED-0C0377822C1B}"/>
              </a:ext>
            </a:extLst>
          </p:cNvPr>
          <p:cNvSpPr>
            <a:spLocks noGrp="1"/>
          </p:cNvSpPr>
          <p:nvPr>
            <p:ph type="title"/>
          </p:nvPr>
        </p:nvSpPr>
        <p:spPr>
          <a:xfrm>
            <a:off x="179294" y="268941"/>
            <a:ext cx="10515600" cy="831663"/>
          </a:xfrm>
        </p:spPr>
        <p:txBody>
          <a:bodyPr/>
          <a:lstStyle/>
          <a:p>
            <a:r>
              <a:rPr lang="en-US" dirty="0"/>
              <a:t>Agenda</a:t>
            </a:r>
          </a:p>
        </p:txBody>
      </p:sp>
      <p:sp>
        <p:nvSpPr>
          <p:cNvPr id="3" name="Content Placeholder 2">
            <a:extLst>
              <a:ext uri="{FF2B5EF4-FFF2-40B4-BE49-F238E27FC236}">
                <a16:creationId xmlns:a16="http://schemas.microsoft.com/office/drawing/2014/main" id="{F6519FB5-F3EB-E716-4D3D-2D7DD231B361}"/>
              </a:ext>
            </a:extLst>
          </p:cNvPr>
          <p:cNvSpPr>
            <a:spLocks noGrp="1"/>
          </p:cNvSpPr>
          <p:nvPr>
            <p:ph idx="1"/>
          </p:nvPr>
        </p:nvSpPr>
        <p:spPr>
          <a:xfrm>
            <a:off x="403412" y="1100604"/>
            <a:ext cx="10950388" cy="5488455"/>
          </a:xfrm>
        </p:spPr>
        <p:txBody>
          <a:bodyPr>
            <a:noAutofit/>
          </a:bodyPr>
          <a:lstStyle/>
          <a:p>
            <a:pPr marL="0" indent="0">
              <a:lnSpc>
                <a:spcPct val="120000"/>
              </a:lnSpc>
              <a:spcBef>
                <a:spcPts val="0"/>
              </a:spcBef>
              <a:buNone/>
            </a:pPr>
            <a:r>
              <a:rPr lang="en-US" sz="2400" b="1" dirty="0"/>
              <a:t>🏠 Housekeeping</a:t>
            </a:r>
          </a:p>
          <a:p>
            <a:pPr marL="0" indent="0">
              <a:lnSpc>
                <a:spcPct val="120000"/>
              </a:lnSpc>
              <a:spcBef>
                <a:spcPts val="0"/>
              </a:spcBef>
              <a:buNone/>
            </a:pPr>
            <a:r>
              <a:rPr lang="en-US" sz="2000" dirty="0"/>
              <a:t>    📌 Notes about the website</a:t>
            </a:r>
            <a:br>
              <a:rPr lang="en-US" sz="2000" dirty="0"/>
            </a:br>
            <a:r>
              <a:rPr lang="en-US" sz="2000" dirty="0"/>
              <a:t>    📌 Review sessions</a:t>
            </a:r>
            <a:br>
              <a:rPr lang="en-US" sz="2000" dirty="0"/>
            </a:br>
            <a:r>
              <a:rPr lang="en-US" sz="2000" dirty="0"/>
              <a:t>     📌 Final paper ❓ (Clarify expectations)</a:t>
            </a:r>
          </a:p>
          <a:p>
            <a:pPr marL="0" indent="0">
              <a:lnSpc>
                <a:spcPct val="120000"/>
              </a:lnSpc>
              <a:spcBef>
                <a:spcPts val="0"/>
              </a:spcBef>
              <a:buNone/>
            </a:pPr>
            <a:r>
              <a:rPr lang="en-US" sz="2400" b="1" dirty="0"/>
              <a:t>📖 Learn: Partial and Semi-Partial Correlation</a:t>
            </a:r>
          </a:p>
          <a:p>
            <a:pPr marL="0" indent="0">
              <a:lnSpc>
                <a:spcPct val="120000"/>
              </a:lnSpc>
              <a:spcBef>
                <a:spcPts val="0"/>
              </a:spcBef>
              <a:buNone/>
            </a:pPr>
            <a:r>
              <a:rPr lang="en-US" sz="2000" dirty="0"/>
              <a:t>     📊 </a:t>
            </a:r>
            <a:r>
              <a:rPr lang="en-US" sz="2000" b="1" dirty="0"/>
              <a:t>Example</a:t>
            </a:r>
            <a:r>
              <a:rPr lang="en-US" sz="2000" dirty="0"/>
              <a:t>: PRAMS dataset on partial and semi-partial correlation</a:t>
            </a:r>
            <a:br>
              <a:rPr lang="en-US" sz="2000" dirty="0"/>
            </a:br>
            <a:r>
              <a:rPr lang="en-US" sz="2000" dirty="0"/>
              <a:t>     📊 </a:t>
            </a:r>
            <a:r>
              <a:rPr lang="en-US" sz="2000" b="1" dirty="0"/>
              <a:t>Example</a:t>
            </a:r>
            <a:r>
              <a:rPr lang="en-US" sz="2000" dirty="0"/>
              <a:t>: Mechanics of partial and semi-partial correlation (Annotated JASP file) </a:t>
            </a:r>
            <a:br>
              <a:rPr lang="en-US" sz="2000" dirty="0"/>
            </a:br>
            <a:r>
              <a:rPr lang="en-US" sz="2000" dirty="0"/>
              <a:t>     📊 </a:t>
            </a:r>
            <a:r>
              <a:rPr lang="en-US" sz="2000" b="1" dirty="0"/>
              <a:t>Example</a:t>
            </a:r>
            <a:r>
              <a:rPr lang="en-US" sz="2000" dirty="0"/>
              <a:t>: Graduate GPA for Multiple Linear Regression (MLR) mechanics</a:t>
            </a:r>
          </a:p>
          <a:p>
            <a:pPr marL="0" indent="0">
              <a:lnSpc>
                <a:spcPct val="120000"/>
              </a:lnSpc>
              <a:spcBef>
                <a:spcPts val="0"/>
              </a:spcBef>
              <a:buNone/>
            </a:pPr>
            <a:r>
              <a:rPr lang="en-US" sz="2400" b="1" dirty="0"/>
              <a:t>📖 Learn: Simple and Multiple Linear Regression (SLR &amp; MLR) in R</a:t>
            </a:r>
          </a:p>
          <a:p>
            <a:pPr marL="0" indent="0">
              <a:lnSpc>
                <a:spcPct val="120000"/>
              </a:lnSpc>
              <a:spcBef>
                <a:spcPts val="0"/>
              </a:spcBef>
              <a:buNone/>
            </a:pPr>
            <a:r>
              <a:rPr lang="en-US" sz="2000" dirty="0"/>
              <a:t>     📂 </a:t>
            </a:r>
            <a:r>
              <a:rPr lang="en-US" sz="2000" b="1" dirty="0"/>
              <a:t>Data</a:t>
            </a:r>
            <a:r>
              <a:rPr lang="en-US" sz="2000" dirty="0"/>
              <a:t>: Admissions dataset</a:t>
            </a:r>
            <a:br>
              <a:rPr lang="en-US" sz="2000" dirty="0"/>
            </a:br>
            <a:r>
              <a:rPr lang="en-US" sz="2000" dirty="0"/>
              <a:t>     🧠 </a:t>
            </a:r>
            <a:r>
              <a:rPr lang="en-US" sz="2000" b="1" dirty="0"/>
              <a:t>Concept</a:t>
            </a:r>
            <a:r>
              <a:rPr lang="en-US" sz="2000" dirty="0"/>
              <a:t>: Understanding confidence intervals &amp; intuition about CI accuracy</a:t>
            </a:r>
            <a:endParaRPr lang="en-US" sz="2000" b="1" dirty="0"/>
          </a:p>
          <a:p>
            <a:pPr marL="0" indent="0">
              <a:lnSpc>
                <a:spcPct val="120000"/>
              </a:lnSpc>
              <a:spcBef>
                <a:spcPts val="0"/>
              </a:spcBef>
              <a:buNone/>
            </a:pPr>
            <a:r>
              <a:rPr lang="en-US" sz="2400" b="1" dirty="0"/>
              <a:t>    ✏️ Hands-on practice</a:t>
            </a:r>
            <a:r>
              <a:rPr lang="en-US" sz="2400" dirty="0"/>
              <a:t>: Running multiple regression NSCAW I Dataset</a:t>
            </a:r>
            <a:endParaRPr lang="en-US" sz="2000" b="1" dirty="0"/>
          </a:p>
          <a:p>
            <a:pPr marL="0" indent="0">
              <a:lnSpc>
                <a:spcPct val="120000"/>
              </a:lnSpc>
              <a:spcBef>
                <a:spcPts val="0"/>
              </a:spcBef>
              <a:buNone/>
            </a:pPr>
            <a:r>
              <a:rPr lang="en-US" sz="2400" b="1" dirty="0"/>
              <a:t>📖 Learn: Model Assumptions</a:t>
            </a:r>
          </a:p>
          <a:p>
            <a:pPr marL="0" indent="0">
              <a:lnSpc>
                <a:spcPct val="120000"/>
              </a:lnSpc>
              <a:spcBef>
                <a:spcPts val="0"/>
              </a:spcBef>
              <a:buNone/>
            </a:pPr>
            <a:r>
              <a:rPr lang="en-US" sz="2000" dirty="0"/>
              <a:t>   ✅ Checking assumptions for regression models</a:t>
            </a:r>
          </a:p>
        </p:txBody>
      </p:sp>
    </p:spTree>
    <p:extLst>
      <p:ext uri="{BB962C8B-B14F-4D97-AF65-F5344CB8AC3E}">
        <p14:creationId xmlns:p14="http://schemas.microsoft.com/office/powerpoint/2010/main" val="2885991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5246A3E-E5C9-4C44-67BD-19AA49A5703F}"/>
              </a:ext>
            </a:extLst>
          </p:cNvPr>
          <p:cNvSpPr>
            <a:spLocks noGrp="1"/>
          </p:cNvSpPr>
          <p:nvPr>
            <p:ph type="title"/>
          </p:nvPr>
        </p:nvSpPr>
        <p:spPr>
          <a:xfrm>
            <a:off x="114945" y="121170"/>
            <a:ext cx="10515600" cy="573774"/>
          </a:xfrm>
        </p:spPr>
        <p:txBody>
          <a:bodyPr vert="horz" lIns="91440" tIns="45720" rIns="91440" bIns="45720" rtlCol="0" anchor="b">
            <a:normAutofit fontScale="90000"/>
          </a:bodyPr>
          <a:lstStyle/>
          <a:p>
            <a:r>
              <a:rPr lang="en-US" sz="3600" kern="1200" dirty="0">
                <a:solidFill>
                  <a:schemeClr val="tx1"/>
                </a:solidFill>
                <a:latin typeface="Arial" panose="020B0604020202020204" pitchFamily="34" charset="0"/>
                <a:cs typeface="Arial" panose="020B0604020202020204" pitchFamily="34" charset="0"/>
              </a:rPr>
              <a:t>Proximity-Based Social Networks (PBSN)</a:t>
            </a:r>
          </a:p>
        </p:txBody>
      </p:sp>
      <p:sp>
        <p:nvSpPr>
          <p:cNvPr id="10" name="TextBox 9">
            <a:extLst>
              <a:ext uri="{FF2B5EF4-FFF2-40B4-BE49-F238E27FC236}">
                <a16:creationId xmlns:a16="http://schemas.microsoft.com/office/drawing/2014/main" id="{56823FC6-A865-F7DA-F73A-8D6501CB3D78}"/>
              </a:ext>
            </a:extLst>
          </p:cNvPr>
          <p:cNvSpPr txBox="1"/>
          <p:nvPr/>
        </p:nvSpPr>
        <p:spPr>
          <a:xfrm>
            <a:off x="114945" y="706859"/>
            <a:ext cx="6155000" cy="4762752"/>
          </a:xfrm>
          <a:prstGeom prst="rect">
            <a:avLst/>
          </a:prstGeom>
        </p:spPr>
        <p:txBody>
          <a:bodyPr vert="horz" lIns="91440" tIns="45720" rIns="91440" bIns="45720" rtlCol="0" anchor="ctr">
            <a:normAutofit fontScale="92500" lnSpcReduction="20000"/>
          </a:bodyPr>
          <a:lstStyle/>
          <a:p>
            <a:pPr marL="285750" indent="-228600">
              <a:lnSpc>
                <a:spcPct val="120000"/>
              </a:lnSpc>
              <a:spcAft>
                <a:spcPts val="600"/>
              </a:spcAft>
              <a:buFont typeface="Arial" panose="020B0604020202020204" pitchFamily="34" charset="0"/>
              <a:buChar char="•"/>
            </a:pPr>
            <a:r>
              <a:rPr lang="en-US" sz="2000" b="1" dirty="0">
                <a:latin typeface="Arial" panose="020B0604020202020204" pitchFamily="34" charset="0"/>
                <a:cs typeface="Arial" panose="020B0604020202020204" pitchFamily="34" charset="0"/>
              </a:rPr>
              <a:t>Data: </a:t>
            </a:r>
            <a:r>
              <a:rPr lang="en-US" sz="2000" dirty="0">
                <a:latin typeface="Arial" panose="020B0604020202020204" pitchFamily="34" charset="0"/>
                <a:cs typeface="Arial" panose="020B0604020202020204" pitchFamily="34" charset="0"/>
              </a:rPr>
              <a:t>Gun violence/suicide/Chicago city boundary</a:t>
            </a:r>
          </a:p>
          <a:p>
            <a:pPr marL="285750" indent="-228600">
              <a:lnSpc>
                <a:spcPct val="120000"/>
              </a:lnSpc>
              <a:spcAft>
                <a:spcPts val="600"/>
              </a:spcAft>
              <a:buFont typeface="Arial" panose="020B0604020202020204" pitchFamily="34" charset="0"/>
              <a:buChar char="•"/>
            </a:pPr>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PBSN</a:t>
            </a:r>
            <a:r>
              <a:rPr lang="en-US" sz="2000" dirty="0">
                <a:latin typeface="Arial" panose="020B0604020202020204" pitchFamily="34" charset="0"/>
                <a:cs typeface="Arial" panose="020B0604020202020204" pitchFamily="34" charset="0"/>
              </a:rPr>
              <a:t> is built using both spatial and temporal proximity criteria:</a:t>
            </a:r>
          </a:p>
          <a:p>
            <a:pPr marL="285750" indent="-228600">
              <a:lnSpc>
                <a:spcPct val="120000"/>
              </a:lnSpc>
              <a:spcAft>
                <a:spcPts val="600"/>
              </a:spcAft>
              <a:buFont typeface="Arial" panose="020B0604020202020204" pitchFamily="34" charset="0"/>
              <a:buChar char="•"/>
            </a:pPr>
            <a:r>
              <a:rPr lang="en-US" sz="2000" b="1" dirty="0">
                <a:latin typeface="Arial" panose="020B0604020202020204" pitchFamily="34" charset="0"/>
                <a:cs typeface="Arial" panose="020B0604020202020204" pitchFamily="34" charset="0"/>
              </a:rPr>
              <a:t>Sensitivity</a:t>
            </a:r>
            <a:r>
              <a:rPr lang="en-US" sz="2000" dirty="0">
                <a:latin typeface="Arial" panose="020B0604020202020204" pitchFamily="34" charset="0"/>
                <a:cs typeface="Arial" panose="020B0604020202020204" pitchFamily="34" charset="0"/>
              </a:rPr>
              <a:t> – different space-time thresholds used to create the networks</a:t>
            </a:r>
          </a:p>
          <a:p>
            <a:pPr marL="285750" indent="-228600">
              <a:lnSpc>
                <a:spcPct val="120000"/>
              </a:lnSpc>
              <a:spcAft>
                <a:spcPts val="600"/>
              </a:spcAft>
              <a:buFont typeface="Arial" panose="020B0604020202020204" pitchFamily="34" charset="0"/>
              <a:buChar char="•"/>
            </a:pPr>
            <a:r>
              <a:rPr kumimoji="0" lang="en-US" altLang="en-US" sz="2000" b="1" i="0" u="none" strike="noStrike" cap="none" normalizeH="0" baseline="0" dirty="0">
                <a:ln>
                  <a:noFill/>
                </a:ln>
                <a:effectLst/>
                <a:latin typeface="Arial" panose="020B0604020202020204" pitchFamily="34" charset="0"/>
                <a:cs typeface="Arial" panose="020B0604020202020204" pitchFamily="34" charset="0"/>
              </a:rPr>
              <a:t>Why do this?</a:t>
            </a:r>
          </a:p>
          <a:p>
            <a:pPr marL="742950" lvl="1" indent="-228600">
              <a:lnSpc>
                <a:spcPct val="120000"/>
              </a:lnSpc>
              <a:spcAft>
                <a:spcPts val="600"/>
              </a:spcAft>
              <a:buFont typeface="Arial" panose="020B0604020202020204" pitchFamily="34" charset="0"/>
              <a:buChar char="•"/>
            </a:pPr>
            <a:r>
              <a:rPr kumimoji="0" lang="en-US" altLang="en-US" sz="2000" i="0" u="none" strike="noStrike" cap="none" normalizeH="0" baseline="0" dirty="0">
                <a:ln>
                  <a:noFill/>
                </a:ln>
                <a:effectLst/>
                <a:latin typeface="Arial" panose="020B0604020202020204" pitchFamily="34" charset="0"/>
                <a:cs typeface="Arial" panose="020B0604020202020204" pitchFamily="34" charset="0"/>
              </a:rPr>
              <a:t>To identify clusters of incidents that are likely socially or environmentally connected</a:t>
            </a:r>
            <a:endParaRPr lang="en-US" altLang="en-US" sz="2000" dirty="0">
              <a:latin typeface="Arial" panose="020B0604020202020204" pitchFamily="34" charset="0"/>
              <a:cs typeface="Arial" panose="020B0604020202020204" pitchFamily="34" charset="0"/>
            </a:endParaRPr>
          </a:p>
          <a:p>
            <a:pPr marL="742950" lvl="1" indent="-228600">
              <a:lnSpc>
                <a:spcPct val="120000"/>
              </a:lnSpc>
              <a:spcAft>
                <a:spcPts val="600"/>
              </a:spcAft>
              <a:buFont typeface="Arial" panose="020B0604020202020204" pitchFamily="34" charset="0"/>
              <a:buChar char="•"/>
            </a:pPr>
            <a:r>
              <a:rPr kumimoji="0" lang="en-US" altLang="en-US" sz="2000" i="0" u="none" strike="noStrike" cap="none" normalizeH="0" baseline="0" dirty="0">
                <a:ln>
                  <a:noFill/>
                </a:ln>
                <a:effectLst/>
                <a:latin typeface="Arial" panose="020B0604020202020204" pitchFamily="34" charset="0"/>
                <a:cs typeface="Arial" panose="020B0604020202020204" pitchFamily="34" charset="0"/>
              </a:rPr>
              <a:t>To identify social contagion effects in suicides and homicides</a:t>
            </a:r>
          </a:p>
          <a:p>
            <a:pPr marL="285750" indent="-228600">
              <a:lnSpc>
                <a:spcPct val="120000"/>
              </a:lnSpc>
              <a:spcAft>
                <a:spcPts val="600"/>
              </a:spcAft>
              <a:buFont typeface="Arial" panose="020B0604020202020204" pitchFamily="34" charset="0"/>
              <a:buChar char="•"/>
            </a:pPr>
            <a:r>
              <a:rPr kumimoji="0" lang="en-US" altLang="en-US" sz="2000" b="1" i="0" u="none" strike="noStrike" cap="none" normalizeH="0" baseline="0" dirty="0">
                <a:ln>
                  <a:noFill/>
                </a:ln>
                <a:effectLst/>
                <a:latin typeface="Arial" panose="020B0604020202020204" pitchFamily="34" charset="0"/>
                <a:cs typeface="Arial" panose="020B0604020202020204" pitchFamily="34" charset="0"/>
              </a:rPr>
              <a:t>Policy Implications </a:t>
            </a:r>
          </a:p>
          <a:p>
            <a:pPr marL="742950" lvl="1" indent="-228600">
              <a:lnSpc>
                <a:spcPct val="120000"/>
              </a:lnSpc>
              <a:spcAft>
                <a:spcPts val="600"/>
              </a:spcAft>
              <a:buFont typeface="Arial" panose="020B0604020202020204" pitchFamily="34" charset="0"/>
              <a:buChar char="•"/>
            </a:pPr>
            <a:r>
              <a:rPr lang="en-US" altLang="en-US" sz="2000" dirty="0">
                <a:latin typeface="Arial" panose="020B0604020202020204" pitchFamily="34" charset="0"/>
                <a:cs typeface="Arial" panose="020B0604020202020204" pitchFamily="34" charset="0"/>
              </a:rPr>
              <a:t>To </a:t>
            </a:r>
            <a:r>
              <a:rPr kumimoji="0" lang="en-US" altLang="en-US" sz="2000" i="0" u="none" strike="noStrike" cap="none" normalizeH="0" baseline="0" dirty="0">
                <a:ln>
                  <a:noFill/>
                </a:ln>
                <a:effectLst/>
                <a:latin typeface="Arial" panose="020B0604020202020204" pitchFamily="34" charset="0"/>
                <a:cs typeface="Arial" panose="020B0604020202020204" pitchFamily="34" charset="0"/>
              </a:rPr>
              <a:t>inform targeted violence prevention efforts by identifying high-risk social networks. </a:t>
            </a:r>
          </a:p>
          <a:p>
            <a:pPr marL="285750" indent="-228600">
              <a:lnSpc>
                <a:spcPct val="120000"/>
              </a:lnSpc>
              <a:spcAft>
                <a:spcPts val="600"/>
              </a:spcAft>
              <a:buFont typeface="Arial" panose="020B0604020202020204" pitchFamily="34" charset="0"/>
              <a:buChar char="•"/>
            </a:pPr>
            <a:endParaRPr lang="en-US" sz="1000" dirty="0"/>
          </a:p>
          <a:p>
            <a:pPr marL="285750" indent="-228600">
              <a:lnSpc>
                <a:spcPct val="120000"/>
              </a:lnSpc>
              <a:spcAft>
                <a:spcPts val="600"/>
              </a:spcAft>
              <a:buFont typeface="Arial" panose="020B0604020202020204" pitchFamily="34" charset="0"/>
              <a:buChar char="•"/>
            </a:pPr>
            <a:endParaRPr lang="en-US" sz="1000" dirty="0"/>
          </a:p>
        </p:txBody>
      </p:sp>
      <p:pic>
        <p:nvPicPr>
          <p:cNvPr id="26" name="Picture 25">
            <a:extLst>
              <a:ext uri="{FF2B5EF4-FFF2-40B4-BE49-F238E27FC236}">
                <a16:creationId xmlns:a16="http://schemas.microsoft.com/office/drawing/2014/main" id="{5482AFE8-3A9D-4DEC-B9E0-BEC8D951C237}"/>
              </a:ext>
            </a:extLst>
          </p:cNvPr>
          <p:cNvPicPr>
            <a:picLocks noChangeAspect="1"/>
          </p:cNvPicPr>
          <p:nvPr/>
        </p:nvPicPr>
        <p:blipFill>
          <a:blip r:embed="rId3"/>
          <a:stretch>
            <a:fillRect/>
          </a:stretch>
        </p:blipFill>
        <p:spPr>
          <a:xfrm>
            <a:off x="6479170" y="1268245"/>
            <a:ext cx="5712830" cy="3299158"/>
          </a:xfrm>
          <a:prstGeom prst="rect">
            <a:avLst/>
          </a:prstGeom>
        </p:spPr>
      </p:pic>
    </p:spTree>
    <p:extLst>
      <p:ext uri="{BB962C8B-B14F-4D97-AF65-F5344CB8AC3E}">
        <p14:creationId xmlns:p14="http://schemas.microsoft.com/office/powerpoint/2010/main" val="1307496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C6406-C78B-BEB5-6E80-43FB29B9C134}"/>
              </a:ext>
            </a:extLst>
          </p:cNvPr>
          <p:cNvSpPr>
            <a:spLocks noGrp="1"/>
          </p:cNvSpPr>
          <p:nvPr>
            <p:ph type="ctrTitle"/>
          </p:nvPr>
        </p:nvSpPr>
        <p:spPr/>
        <p:txBody>
          <a:bodyPr>
            <a:normAutofit/>
          </a:bodyPr>
          <a:lstStyle/>
          <a:p>
            <a:r>
              <a:rPr lang="en-US" sz="4800" dirty="0">
                <a:latin typeface="Arial" panose="020B0604020202020204" pitchFamily="34" charset="0"/>
                <a:cs typeface="Arial" panose="020B0604020202020204" pitchFamily="34" charset="0"/>
              </a:rPr>
              <a:t>Introduction to Multiple Linear Regression</a:t>
            </a:r>
          </a:p>
        </p:txBody>
      </p:sp>
      <p:sp>
        <p:nvSpPr>
          <p:cNvPr id="3" name="Subtitle 2">
            <a:extLst>
              <a:ext uri="{FF2B5EF4-FFF2-40B4-BE49-F238E27FC236}">
                <a16:creationId xmlns:a16="http://schemas.microsoft.com/office/drawing/2014/main" id="{403A651B-43C8-B26C-FEA8-29F2086B9CA6}"/>
              </a:ext>
            </a:extLst>
          </p:cNvPr>
          <p:cNvSpPr>
            <a:spLocks noGrp="1"/>
          </p:cNvSpPr>
          <p:nvPr>
            <p:ph type="subTitle" idx="1"/>
          </p:nvPr>
        </p:nvSpPr>
        <p:spPr/>
        <p:txBody>
          <a:bodyPr/>
          <a:lstStyle/>
          <a:p>
            <a:r>
              <a:rPr lang="en-US" dirty="0">
                <a:latin typeface="Arial" panose="020B0604020202020204" pitchFamily="34" charset="0"/>
                <a:cs typeface="Arial" panose="020B0604020202020204" pitchFamily="34" charset="0"/>
              </a:rPr>
              <a:t>What is it and how it works</a:t>
            </a:r>
          </a:p>
        </p:txBody>
      </p:sp>
    </p:spTree>
    <p:extLst>
      <p:ext uri="{BB962C8B-B14F-4D97-AF65-F5344CB8AC3E}">
        <p14:creationId xmlns:p14="http://schemas.microsoft.com/office/powerpoint/2010/main" val="1631276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 y="190197"/>
            <a:ext cx="10515600" cy="516940"/>
          </a:xfrm>
        </p:spPr>
        <p:txBody>
          <a:bodyPr>
            <a:noAutofit/>
          </a:bodyPr>
          <a:lstStyle/>
          <a:p>
            <a:r>
              <a:rPr lang="en-US" sz="3600" dirty="0">
                <a:latin typeface="Arial" panose="020B0604020202020204" pitchFamily="34" charset="0"/>
                <a:cs typeface="Arial" panose="020B0604020202020204" pitchFamily="34" charset="0"/>
              </a:rPr>
              <a:t>What is MLR and how does it work?</a:t>
            </a:r>
          </a:p>
        </p:txBody>
      </p:sp>
      <p:sp>
        <p:nvSpPr>
          <p:cNvPr id="3" name="Content Placeholder 2"/>
          <p:cNvSpPr>
            <a:spLocks noGrp="1"/>
          </p:cNvSpPr>
          <p:nvPr>
            <p:ph idx="1"/>
          </p:nvPr>
        </p:nvSpPr>
        <p:spPr>
          <a:xfrm>
            <a:off x="289560" y="707137"/>
            <a:ext cx="10515600" cy="4351338"/>
          </a:xfrm>
        </p:spPr>
        <p:txBody>
          <a:bodyPr>
            <a:normAutofit/>
          </a:bodyPr>
          <a:lstStyle/>
          <a:p>
            <a:r>
              <a:rPr lang="en-US" sz="2000" dirty="0">
                <a:latin typeface="Arial" panose="020B0604020202020204" pitchFamily="34" charset="0"/>
                <a:cs typeface="Arial" panose="020B0604020202020204" pitchFamily="34" charset="0"/>
              </a:rPr>
              <a:t>In MLR, we have two or more predictor (independent, control) variables and one dependent variable</a:t>
            </a:r>
          </a:p>
          <a:p>
            <a:r>
              <a:rPr lang="en-US" sz="2000" dirty="0">
                <a:latin typeface="Arial" panose="020B0604020202020204" pitchFamily="34" charset="0"/>
                <a:cs typeface="Arial" panose="020B0604020202020204" pitchFamily="34" charset="0"/>
              </a:rPr>
              <a:t>Two or more independent or predictor variables are incorporated via partial and </a:t>
            </a:r>
            <a:r>
              <a:rPr lang="en-US" sz="2000" dirty="0" err="1">
                <a:latin typeface="Arial" panose="020B0604020202020204" pitchFamily="34" charset="0"/>
                <a:cs typeface="Arial" panose="020B0604020202020204" pitchFamily="34" charset="0"/>
              </a:rPr>
              <a:t>semipartial</a:t>
            </a:r>
            <a:r>
              <a:rPr lang="en-US" sz="2000" dirty="0">
                <a:latin typeface="Arial" panose="020B0604020202020204" pitchFamily="34" charset="0"/>
                <a:cs typeface="Arial" panose="020B0604020202020204" pitchFamily="34" charset="0"/>
              </a:rPr>
              <a:t> correlations</a:t>
            </a:r>
          </a:p>
        </p:txBody>
      </p:sp>
    </p:spTree>
    <p:extLst>
      <p:ext uri="{BB962C8B-B14F-4D97-AF65-F5344CB8AC3E}">
        <p14:creationId xmlns:p14="http://schemas.microsoft.com/office/powerpoint/2010/main" val="4004692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81" y="136525"/>
            <a:ext cx="10515600" cy="678193"/>
          </a:xfrm>
        </p:spPr>
        <p:txBody>
          <a:bodyPr>
            <a:normAutofit/>
          </a:bodyPr>
          <a:lstStyle/>
          <a:p>
            <a:r>
              <a:rPr lang="en-US" sz="3600" dirty="0">
                <a:latin typeface="Arial" panose="020B0604020202020204" pitchFamily="34" charset="0"/>
                <a:cs typeface="Arial" panose="020B0604020202020204" pitchFamily="34" charset="0"/>
              </a:rPr>
              <a:t>Multiple Linear Regression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45181" y="813923"/>
                <a:ext cx="10515600" cy="5230153"/>
              </a:xfrm>
            </p:spPr>
            <p:txBody>
              <a:bodyPr>
                <a:normAutofit/>
              </a:bodyPr>
              <a:lstStyle/>
              <a:p>
                <a:r>
                  <a:rPr lang="en-US" sz="2000" b="1" dirty="0">
                    <a:latin typeface="Arial" panose="020B0604020202020204" pitchFamily="34" charset="0"/>
                    <a:cs typeface="Arial" panose="020B0604020202020204" pitchFamily="34" charset="0"/>
                  </a:rPr>
                  <a:t>Data</a:t>
                </a:r>
                <a:r>
                  <a:rPr lang="en-US" sz="2000" dirty="0">
                    <a:latin typeface="Arial" panose="020B0604020202020204" pitchFamily="34" charset="0"/>
                    <a:cs typeface="Arial" panose="020B0604020202020204" pitchFamily="34" charset="0"/>
                  </a:rPr>
                  <a:t>: (</a:t>
                </a:r>
                <a:r>
                  <a:rPr lang="en-US" sz="2000" i="1" dirty="0">
                    <a:latin typeface="Arial" panose="020B0604020202020204" pitchFamily="34" charset="0"/>
                    <a:cs typeface="Arial" panose="020B0604020202020204" pitchFamily="34" charset="0"/>
                  </a:rPr>
                  <a:t>Y</a:t>
                </a:r>
                <a:r>
                  <a:rPr lang="en-US" sz="2000" baseline="-25000" dirty="0">
                    <a:latin typeface="Arial" panose="020B0604020202020204" pitchFamily="34" charset="0"/>
                    <a:cs typeface="Arial" panose="020B0604020202020204" pitchFamily="34" charset="0"/>
                  </a:rPr>
                  <a:t>i</a:t>
                </a:r>
                <a:r>
                  <a:rPr lang="en-US" sz="2000" dirty="0">
                    <a:latin typeface="Arial" panose="020B0604020202020204" pitchFamily="34" charset="0"/>
                    <a:cs typeface="Arial" panose="020B0604020202020204" pitchFamily="34" charset="0"/>
                  </a:rPr>
                  <a:t>, </a:t>
                </a:r>
                <a:r>
                  <a:rPr lang="en-US" sz="2000" i="1" dirty="0">
                    <a:latin typeface="Arial" panose="020B0604020202020204" pitchFamily="34" charset="0"/>
                    <a:cs typeface="Arial" panose="020B0604020202020204" pitchFamily="34" charset="0"/>
                  </a:rPr>
                  <a:t>X</a:t>
                </a:r>
                <a:r>
                  <a:rPr lang="en-US" sz="2000" baseline="-25000" dirty="0">
                    <a:latin typeface="Arial" panose="020B0604020202020204" pitchFamily="34" charset="0"/>
                    <a:cs typeface="Arial" panose="020B0604020202020204" pitchFamily="34" charset="0"/>
                  </a:rPr>
                  <a:t>i,1</a:t>
                </a:r>
                <a:r>
                  <a:rPr lang="en-US" sz="2000" dirty="0">
                    <a:latin typeface="Arial" panose="020B0604020202020204" pitchFamily="34" charset="0"/>
                    <a:cs typeface="Arial" panose="020B0604020202020204" pitchFamily="34" charset="0"/>
                  </a:rPr>
                  <a:t>, </a:t>
                </a:r>
                <a:r>
                  <a:rPr lang="en-US" sz="2000" i="1" dirty="0">
                    <a:latin typeface="Arial" panose="020B0604020202020204" pitchFamily="34" charset="0"/>
                    <a:cs typeface="Arial" panose="020B0604020202020204" pitchFamily="34" charset="0"/>
                  </a:rPr>
                  <a:t>X</a:t>
                </a:r>
                <a:r>
                  <a:rPr lang="en-US" sz="2000" baseline="-25000" dirty="0">
                    <a:latin typeface="Arial" panose="020B0604020202020204" pitchFamily="34" charset="0"/>
                    <a:cs typeface="Arial" panose="020B0604020202020204" pitchFamily="34" charset="0"/>
                  </a:rPr>
                  <a:t>i,2</a:t>
                </a:r>
                <a:r>
                  <a:rPr lang="en-US" sz="2000" dirty="0">
                    <a:latin typeface="Arial" panose="020B0604020202020204" pitchFamily="34" charset="0"/>
                    <a:cs typeface="Arial" panose="020B0604020202020204" pitchFamily="34" charset="0"/>
                  </a:rPr>
                  <a:t>,</a:t>
                </a:r>
                <a:r>
                  <a:rPr lang="mr-IN" sz="2000" dirty="0">
                    <a:latin typeface="Arial" panose="020B0604020202020204" pitchFamily="34" charset="0"/>
                  </a:rPr>
                  <a:t>…</a:t>
                </a:r>
                <a:r>
                  <a:rPr lang="en-US" sz="2000"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X</a:t>
                </a:r>
                <a:r>
                  <a:rPr lang="en-US" sz="2000" baseline="-25000" dirty="0" err="1">
                    <a:latin typeface="Arial" panose="020B0604020202020204" pitchFamily="34" charset="0"/>
                    <a:cs typeface="Arial" panose="020B0604020202020204" pitchFamily="34" charset="0"/>
                  </a:rPr>
                  <a:t>i,k</a:t>
                </a:r>
                <a:r>
                  <a:rPr lang="en-US" sz="2000" dirty="0">
                    <a:latin typeface="Arial" panose="020B0604020202020204" pitchFamily="34" charset="0"/>
                    <a:cs typeface="Arial" panose="020B0604020202020204" pitchFamily="34" charset="0"/>
                  </a:rPr>
                  <a:t>) i.e.  there are now </a:t>
                </a:r>
                <a:r>
                  <a:rPr lang="en-US" sz="2000" i="1" dirty="0">
                    <a:latin typeface="Arial" panose="020B0604020202020204" pitchFamily="34" charset="0"/>
                    <a:cs typeface="Arial" panose="020B0604020202020204" pitchFamily="34" charset="0"/>
                  </a:rPr>
                  <a:t>m </a:t>
                </a:r>
                <a:r>
                  <a:rPr lang="en-US" sz="2000" dirty="0">
                    <a:latin typeface="Arial" panose="020B0604020202020204" pitchFamily="34" charset="0"/>
                    <a:cs typeface="Arial" panose="020B0604020202020204" pitchFamily="34" charset="0"/>
                  </a:rPr>
                  <a:t>variables for each observation, </a:t>
                </a:r>
                <a:r>
                  <a:rPr lang="en-US" sz="2000" i="1" dirty="0" err="1">
                    <a:latin typeface="Arial" panose="020B0604020202020204" pitchFamily="34" charset="0"/>
                    <a:cs typeface="Arial" panose="020B0604020202020204" pitchFamily="34" charset="0"/>
                  </a:rPr>
                  <a:t>i</a:t>
                </a:r>
                <a:r>
                  <a:rPr lang="en-US" sz="2000"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remains the number of cases</a:t>
                </a:r>
              </a:p>
              <a:p>
                <a:r>
                  <a:rPr lang="en-US" sz="2000" b="1" dirty="0">
                    <a:latin typeface="Arial" panose="020B0604020202020204" pitchFamily="34" charset="0"/>
                    <a:cs typeface="Arial" panose="020B0604020202020204" pitchFamily="34" charset="0"/>
                  </a:rPr>
                  <a:t>Linear Model </a:t>
                </a:r>
                <a:r>
                  <a:rPr lang="en-US" sz="2000" dirty="0">
                    <a:latin typeface="Arial" panose="020B0604020202020204" pitchFamily="34" charset="0"/>
                    <a:cs typeface="Arial" panose="020B0604020202020204" pitchFamily="34" charset="0"/>
                  </a:rPr>
                  <a:t>is now: </a:t>
                </a:r>
              </a:p>
              <a:p>
                <a:pPr marL="0" indent="0" algn="ctr">
                  <a:buNone/>
                </a:pPr>
                <a14:m>
                  <m:oMath xmlns:m="http://schemas.openxmlformats.org/officeDocument/2006/math">
                    <m:r>
                      <a:rPr lang="en-US" sz="2000" b="0" i="1" smtClean="0">
                        <a:latin typeface="Cambria Math" panose="02040503050406030204" pitchFamily="18" charset="0"/>
                      </a:rPr>
                      <m:t>𝑌</m:t>
                    </m:r>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ea typeface="Cambria Math" panose="02040503050406030204" pitchFamily="18" charset="0"/>
                          </a:rPr>
                          <m:t>1</m:t>
                        </m:r>
                      </m:sub>
                    </m:sSub>
                    <m:sSub>
                      <m:sSubPr>
                        <m:ctrlPr>
                          <a:rPr lang="en-US" sz="2000" i="1">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ea typeface="Cambria Math" panose="02040503050406030204" pitchFamily="18" charset="0"/>
                          </a:rPr>
                          <m:t>𝑘</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𝑘</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𝜀</m:t>
                    </m:r>
                    <m:r>
                      <a:rPr lang="en-US" sz="2000" b="0" i="1" smtClean="0">
                        <a:latin typeface="Cambria Math" panose="02040503050406030204" pitchFamily="18" charset="0"/>
                        <a:ea typeface="Cambria Math" panose="02040503050406030204" pitchFamily="18" charset="0"/>
                      </a:rPr>
                      <m:t>,</m:t>
                    </m:r>
                  </m:oMath>
                </a14:m>
                <a:r>
                  <a:rPr lang="en-US" sz="2000" dirty="0">
                    <a:latin typeface="Arial" panose="020B0604020202020204" pitchFamily="34" charset="0"/>
                    <a:cs typeface="Arial" panose="020B0604020202020204" pitchFamily="34" charset="0"/>
                  </a:rPr>
                  <a:t> where </a:t>
                </a:r>
                <a14:m>
                  <m:oMath xmlns:m="http://schemas.openxmlformats.org/officeDocument/2006/math">
                    <m:r>
                      <a:rPr lang="en-US" sz="2000" i="1">
                        <a:latin typeface="Cambria Math" panose="02040503050406030204" pitchFamily="18" charset="0"/>
                        <a:ea typeface="Cambria Math" panose="02040503050406030204" pitchFamily="18" charset="0"/>
                      </a:rPr>
                      <m:t>𝜀</m:t>
                    </m:r>
                  </m:oMath>
                </a14:m>
                <a:r>
                  <a:rPr lang="en-US" sz="2000" dirty="0">
                    <a:latin typeface="Arial" panose="020B0604020202020204" pitchFamily="34" charset="0"/>
                    <a:cs typeface="Arial" panose="020B0604020202020204" pitchFamily="34" charset="0"/>
                  </a:rPr>
                  <a:t> ~ Norm(0,</a:t>
                </a:r>
                <a14:m>
                  <m:oMath xmlns:m="http://schemas.openxmlformats.org/officeDocument/2006/math">
                    <m:r>
                      <a:rPr lang="en-US" sz="2000" i="1" smtClean="0">
                        <a:latin typeface="Cambria Math" panose="02040503050406030204" pitchFamily="18" charset="0"/>
                        <a:ea typeface="Cambria Math" panose="02040503050406030204" pitchFamily="18" charset="0"/>
                      </a:rPr>
                      <m:t>𝜎</m:t>
                    </m:r>
                    <m:r>
                      <a:rPr lang="en-US" sz="2000" b="0" i="1" baseline="30000" smtClean="0">
                        <a:latin typeface="Cambria Math" panose="02040503050406030204" pitchFamily="18" charset="0"/>
                        <a:ea typeface="Cambria Math" panose="02040503050406030204" pitchFamily="18" charset="0"/>
                      </a:rPr>
                      <m:t>2</m:t>
                    </m:r>
                  </m:oMath>
                </a14:m>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Goal</a:t>
                </a:r>
                <a:r>
                  <a:rPr lang="en-US" sz="2000" dirty="0">
                    <a:latin typeface="Arial" panose="020B0604020202020204" pitchFamily="34" charset="0"/>
                    <a:cs typeface="Arial" panose="020B0604020202020204" pitchFamily="34" charset="0"/>
                  </a:rPr>
                  <a:t>: To fit a Linear Regression Model with coefficients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𝑏</m:t>
                        </m:r>
                      </m:e>
                      <m:sub>
                        <m:r>
                          <a:rPr lang="en-US" sz="2000" i="1">
                            <a:solidFill>
                              <a:srgbClr val="000000"/>
                            </a:solidFill>
                            <a:latin typeface="Cambria Math" panose="02040503050406030204" pitchFamily="18" charset="0"/>
                          </a:rPr>
                          <m:t>0</m:t>
                        </m:r>
                      </m:sub>
                    </m:sSub>
                    <m:r>
                      <a:rPr lang="en-US" sz="2000" b="0" i="1" smtClean="0">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 </m:t>
                    </m:r>
                  </m:oMath>
                </a14:m>
                <a:r>
                  <a:rPr lang="en-US" sz="2000" dirty="0">
                    <a:latin typeface="Arial" panose="020B0604020202020204" pitchFamily="34" charset="0"/>
                    <a:cs typeface="Arial" panose="020B0604020202020204" pitchFamily="34" charset="0"/>
                  </a:rPr>
                  <a:t>…,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𝑏</m:t>
                        </m:r>
                      </m:e>
                      <m:sub>
                        <m:r>
                          <a:rPr lang="en-US" sz="2000" b="0" i="1" smtClean="0">
                            <a:solidFill>
                              <a:srgbClr val="000000"/>
                            </a:solidFill>
                            <a:latin typeface="Cambria Math" panose="02040503050406030204" pitchFamily="18" charset="0"/>
                          </a:rPr>
                          <m:t>𝑘</m:t>
                        </m:r>
                      </m:sub>
                    </m:sSub>
                  </m:oMath>
                </a14:m>
                <a:r>
                  <a:rPr lang="en-US" sz="2000" dirty="0">
                    <a:latin typeface="Arial" panose="020B0604020202020204" pitchFamily="34" charset="0"/>
                    <a:cs typeface="Arial" panose="020B0604020202020204" pitchFamily="34" charset="0"/>
                  </a:rPr>
                  <a:t>:</a:t>
                </a:r>
              </a:p>
              <a:p>
                <a:pPr marL="0" indent="0" algn="ctr">
                  <a:buNone/>
                </a:pPr>
                <a:r>
                  <a:rPr lang="en-US" sz="2000" dirty="0">
                    <a:latin typeface="Arial" panose="020B0604020202020204" pitchFamily="34" charset="0"/>
                    <a:cs typeface="Arial" panose="020B0604020202020204" pitchFamily="34" charset="0"/>
                  </a:rPr>
                  <a:t> </a:t>
                </a:r>
                <a14:m>
                  <m:oMath xmlns:m="http://schemas.openxmlformats.org/officeDocument/2006/math">
                    <m:acc>
                      <m:accPr>
                        <m:chr m:val="̂"/>
                        <m:ctrlPr>
                          <a:rPr lang="en-US" sz="2000" i="1" dirty="0" smtClean="0">
                            <a:latin typeface="Cambria Math" panose="02040503050406030204" pitchFamily="18" charset="0"/>
                          </a:rPr>
                        </m:ctrlPr>
                      </m:accPr>
                      <m:e>
                        <m:r>
                          <a:rPr lang="en-US" sz="2000" b="0" i="1" dirty="0" smtClean="0">
                            <a:latin typeface="Cambria Math" panose="02040503050406030204" pitchFamily="18" charset="0"/>
                          </a:rPr>
                          <m:t>𝑌</m:t>
                        </m:r>
                      </m:e>
                    </m:acc>
                  </m:oMath>
                </a14:m>
                <a:r>
                  <a:rPr lang="en-US" sz="2000" dirty="0">
                    <a:latin typeface="Arial" panose="020B0604020202020204" pitchFamily="34" charset="0"/>
                    <a:cs typeface="Arial" panose="020B0604020202020204" pitchFamily="34" charset="0"/>
                  </a:rPr>
                  <a:t> = </a:t>
                </a:r>
                <a14:m>
                  <m:oMath xmlns:m="http://schemas.openxmlformats.org/officeDocument/2006/math">
                    <m:sSub>
                      <m:sSubPr>
                        <m:ctrlPr>
                          <a:rPr lang="en-US" sz="2000" i="1">
                            <a:solidFill>
                              <a:srgbClr val="000000"/>
                            </a:solidFill>
                            <a:latin typeface="Cambria Math" panose="02040503050406030204" pitchFamily="18" charset="0"/>
                          </a:rPr>
                        </m:ctrlPr>
                      </m:sSubPr>
                      <m:e>
                        <m:acc>
                          <m:accPr>
                            <m:chr m:val="̂"/>
                            <m:ctrlPr>
                              <a:rPr lang="en-US" sz="2000" i="1" smtClean="0">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𝑏</m:t>
                            </m:r>
                          </m:e>
                        </m:acc>
                      </m:e>
                      <m:sub>
                        <m:r>
                          <a:rPr lang="en-US" sz="2000" i="1">
                            <a:solidFill>
                              <a:srgbClr val="000000"/>
                            </a:solidFill>
                            <a:latin typeface="Cambria Math" panose="02040503050406030204" pitchFamily="18" charset="0"/>
                          </a:rPr>
                          <m:t>0</m:t>
                        </m:r>
                      </m:sub>
                    </m:sSub>
                    <m:r>
                      <m:rPr>
                        <m:nor/>
                      </m:rPr>
                      <a:rPr lang="en-US" sz="2000" b="0" i="0" smtClean="0">
                        <a:solidFill>
                          <a:srgbClr val="000000"/>
                        </a:solidFill>
                        <a:latin typeface="Arial" panose="020B0604020202020204" pitchFamily="34" charset="0"/>
                        <a:cs typeface="Arial" panose="020B0604020202020204" pitchFamily="34" charset="0"/>
                      </a:rPr>
                      <m:t> +</m:t>
                    </m:r>
                    <m:r>
                      <m:rPr>
                        <m:nor/>
                      </m:rPr>
                      <a:rPr lang="en-US" altLang="en-US" sz="2000" dirty="0">
                        <a:latin typeface="Arial" panose="020B0604020202020204" pitchFamily="34" charset="0"/>
                        <a:cs typeface="Arial" panose="020B0604020202020204" pitchFamily="34" charset="0"/>
                      </a:rPr>
                      <m:t> </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𝑏</m:t>
                            </m:r>
                          </m:e>
                        </m:acc>
                      </m:e>
                      <m:sub>
                        <m:r>
                          <a:rPr lang="en-US" sz="2000" i="1">
                            <a:solidFill>
                              <a:srgbClr val="000000"/>
                            </a:solidFill>
                            <a:latin typeface="Cambria Math" panose="02040503050406030204" pitchFamily="18" charset="0"/>
                          </a:rPr>
                          <m:t>1</m:t>
                        </m:r>
                      </m:sub>
                    </m:sSub>
                    <m:r>
                      <a:rPr lang="en-US" sz="2000" b="0" i="1" smtClean="0">
                        <a:solidFill>
                          <a:srgbClr val="000000"/>
                        </a:solidFill>
                        <a:latin typeface="Cambria Math" charset="0"/>
                      </a:rPr>
                      <m:t>𝑥</m:t>
                    </m:r>
                    <m:r>
                      <a:rPr lang="en-US" sz="2000" b="0" i="1" baseline="-25000" smtClean="0">
                        <a:solidFill>
                          <a:srgbClr val="000000"/>
                        </a:solidFill>
                        <a:latin typeface="Cambria Math" charset="0"/>
                      </a:rPr>
                      <m:t>1</m:t>
                    </m:r>
                    <m:r>
                      <a:rPr lang="en-US" sz="2000" i="1">
                        <a:solidFill>
                          <a:srgbClr val="000000"/>
                        </a:solidFill>
                        <a:latin typeface="Cambria Math" charset="0"/>
                      </a:rPr>
                      <m:t>, …,</m:t>
                    </m:r>
                    <m:r>
                      <a:rPr lang="en-US" sz="2000" b="0" i="1" smtClean="0">
                        <a:solidFill>
                          <a:srgbClr val="000000"/>
                        </a:solidFill>
                        <a:latin typeface="Cambria Math"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𝑏</m:t>
                            </m:r>
                          </m:e>
                        </m:acc>
                      </m:e>
                      <m:sub>
                        <m:r>
                          <a:rPr lang="en-US" sz="2000" b="0" i="1" smtClean="0">
                            <a:solidFill>
                              <a:srgbClr val="000000"/>
                            </a:solidFill>
                            <a:latin typeface="Cambria Math" panose="02040503050406030204" pitchFamily="18" charset="0"/>
                          </a:rPr>
                          <m:t>𝑘</m:t>
                        </m:r>
                      </m:sub>
                    </m:sSub>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𝑥</m:t>
                        </m:r>
                      </m:e>
                      <m:sub>
                        <m:r>
                          <a:rPr lang="en-US" sz="2000" b="0" i="1" smtClean="0">
                            <a:solidFill>
                              <a:srgbClr val="000000"/>
                            </a:solidFill>
                            <a:latin typeface="Cambria Math" panose="02040503050406030204" pitchFamily="18" charset="0"/>
                          </a:rPr>
                          <m:t>𝑘</m:t>
                        </m:r>
                      </m:sub>
                    </m:sSub>
                  </m:oMath>
                </a14:m>
                <a:endParaRPr lang="en-US" sz="2000" baseline="-25000" dirty="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Example: </a:t>
                </a:r>
                <a:r>
                  <a:rPr lang="en-US" sz="2000" i="1" dirty="0">
                    <a:latin typeface="Arial" panose="020B0604020202020204" pitchFamily="34" charset="0"/>
                    <a:cs typeface="Arial" panose="020B0604020202020204" pitchFamily="34" charset="0"/>
                  </a:rPr>
                  <a:t>k</a:t>
                </a:r>
                <a:r>
                  <a:rPr lang="en-US" sz="2000" dirty="0">
                    <a:latin typeface="Arial" panose="020B0604020202020204" pitchFamily="34" charset="0"/>
                    <a:cs typeface="Arial" panose="020B0604020202020204" pitchFamily="34" charset="0"/>
                  </a:rPr>
                  <a:t> = 3</a:t>
                </a:r>
              </a:p>
              <a:p>
                <a:r>
                  <a:rPr lang="en-US" sz="2000" dirty="0">
                    <a:latin typeface="Arial" panose="020B0604020202020204" pitchFamily="34" charset="0"/>
                    <a:cs typeface="Arial" panose="020B0604020202020204" pitchFamily="34" charset="0"/>
                  </a:rPr>
                  <a:t>Note that the fitting is still done with Ordinary Least Squares (OLS) method just like in simple linear regression. </a:t>
                </a:r>
              </a:p>
              <a:p>
                <a:pPr lvl="1"/>
                <a:endParaRPr lang="en-US" sz="2000" dirty="0">
                  <a:latin typeface="Arial" panose="020B0604020202020204" pitchFamily="34" charset="0"/>
                  <a:cs typeface="Arial" panose="020B0604020202020204" pitchFamily="34" charset="0"/>
                </a:endParaRPr>
              </a:p>
              <a:p>
                <a:pPr lvl="1"/>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45181" y="813923"/>
                <a:ext cx="10515600" cy="5230153"/>
              </a:xfrm>
              <a:blipFill>
                <a:blip r:embed="rId3"/>
                <a:stretch>
                  <a:fillRect l="-522" t="-1167"/>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BA93D746-49E6-44B9-A74E-23E10B03FC2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D677F5-6401-4ECE-9434-31FD34043E7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7" name="Rectangle 6"/>
              <p:cNvSpPr/>
              <p:nvPr/>
            </p:nvSpPr>
            <p:spPr>
              <a:xfrm>
                <a:off x="2776128" y="4160188"/>
                <a:ext cx="8382000" cy="452303"/>
              </a:xfrm>
              <a:prstGeom prst="rect">
                <a:avLst/>
              </a:prstGeom>
            </p:spPr>
            <p:txBody>
              <a:bodyPr wrap="square">
                <a:spAutoFit/>
              </a:bodyPr>
              <a:lstStyle/>
              <a:p>
                <a:pPr lvl="0">
                  <a:buClr>
                    <a:srgbClr val="8E0D30"/>
                  </a:buClr>
                  <a:defRPr/>
                </a:pPr>
                <a14:m>
                  <m:oMath xmlns:m="http://schemas.openxmlformats.org/officeDocument/2006/math">
                    <m:sSub>
                      <m:sSubPr>
                        <m:ctrlPr>
                          <a:rPr kumimoji="0" lang="en-US" alt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alt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𝑄</m:t>
                        </m:r>
                        <m:r>
                          <a:rPr kumimoji="0" lang="en-US" alt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altLang="en-US" sz="2000" b="0" i="1" u="none" strike="noStrike" kern="1200" cap="none" spc="0" normalizeH="0" baseline="0" noProof="0">
                            <a:ln>
                              <a:noFill/>
                            </a:ln>
                            <a:solidFill>
                              <a:prstClr val="black"/>
                            </a:solidFill>
                            <a:effectLst/>
                            <a:uLnTx/>
                            <a:uFillTx/>
                            <a:latin typeface="Cambria Math" charset="0"/>
                            <a:ea typeface="+mn-ea"/>
                            <a:cs typeface="+mn-cs"/>
                          </a:rPr>
                          <m:t>𝑚𝑖𝑛</m:t>
                        </m:r>
                      </m:e>
                      <m:sub>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r>
                          <m:rPr>
                            <m:nor/>
                          </m:rPr>
                          <a:rPr kumimoji="0" lang="en-US" altLang="en-US" sz="2000" b="0" i="0" u="none" strike="noStrike" kern="1200" cap="none" spc="0" normalizeH="0" baseline="0" noProof="0" dirty="0">
                            <a:ln>
                              <a:noFill/>
                            </a:ln>
                            <a:solidFill>
                              <a:prstClr val="black"/>
                            </a:solidFill>
                            <a:effectLst/>
                            <a:uLnTx/>
                            <a:uFillTx/>
                            <a:latin typeface="Calibri" panose="020F0502020204030204"/>
                            <a:ea typeface="+mn-ea"/>
                            <a:cs typeface="+mn-cs"/>
                          </a:rPr>
                          <m:t>, </m:t>
                        </m:r>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Sub>
                        <m:r>
                          <a:rPr kumimoji="0" lang="en-US" sz="2000" b="0" i="1" u="none" strike="noStrike" kern="1200" cap="none" spc="0" normalizeH="0" baseline="0" noProof="0" smtClean="0">
                            <a:ln>
                              <a:noFill/>
                            </a:ln>
                            <a:solidFill>
                              <a:srgbClr val="000000"/>
                            </a:solidFill>
                            <a:effectLst/>
                            <a:uLnTx/>
                            <a:uFillTx/>
                            <a:latin typeface="Cambria Math" charset="0"/>
                            <a:ea typeface="+mn-ea"/>
                            <a:cs typeface="+mn-cs"/>
                          </a:rPr>
                          <m:t>, …,</m:t>
                        </m:r>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2000" b="0" i="1" u="none" strike="noStrike" kern="1200" cap="none" spc="0" normalizeH="0" baseline="0" noProof="0" smtClean="0">
                                <a:ln>
                                  <a:noFill/>
                                </a:ln>
                                <a:solidFill>
                                  <a:srgbClr val="000000"/>
                                </a:solidFill>
                                <a:effectLst/>
                                <a:uLnTx/>
                                <a:uFillTx/>
                                <a:latin typeface="Cambria Math" charset="0"/>
                                <a:ea typeface="+mn-ea"/>
                                <a:cs typeface="+mn-cs"/>
                              </a:rPr>
                              <m:t>𝑘</m:t>
                            </m:r>
                          </m:sub>
                        </m:sSub>
                      </m:sub>
                    </m:sSub>
                    <m:nary>
                      <m:naryPr>
                        <m:chr m:val="∑"/>
                        <m:supHide m:val="on"/>
                        <m:ctrlPr>
                          <a:rPr kumimoji="0" lang="en-US" alt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naryPr>
                      <m:sub>
                        <m:r>
                          <m:rPr>
                            <m:brk m:alnAt="7"/>
                          </m:rPr>
                          <a:rPr kumimoji="0" lang="en-US" altLang="en-US" sz="2000" b="0" i="1" u="none" strike="noStrike" kern="1200" cap="none" spc="0" normalizeH="0" baseline="0" noProof="0">
                            <a:ln>
                              <a:noFill/>
                            </a:ln>
                            <a:solidFill>
                              <a:prstClr val="black"/>
                            </a:solidFill>
                            <a:effectLst/>
                            <a:uLnTx/>
                            <a:uFillTx/>
                            <a:latin typeface="Cambria Math" charset="0"/>
                            <a:ea typeface="+mn-ea"/>
                            <a:cs typeface="+mn-cs"/>
                          </a:rPr>
                          <m:t>𝑖</m:t>
                        </m:r>
                      </m:sub>
                      <m:sup/>
                      <m:e>
                        <m:r>
                          <a:rPr kumimoji="0" lang="en-US" altLang="en-US" sz="2000" b="0" i="1" u="none" strike="noStrike" kern="1200" cap="none" spc="0" normalizeH="0" baseline="0" noProof="0">
                            <a:ln>
                              <a:noFill/>
                            </a:ln>
                            <a:solidFill>
                              <a:prstClr val="black"/>
                            </a:solidFill>
                            <a:effectLst/>
                            <a:uLnTx/>
                            <a:uFillTx/>
                            <a:latin typeface="Cambria Math" charset="0"/>
                            <a:ea typeface="+mn-ea"/>
                            <a:cs typeface="+mn-cs"/>
                          </a:rPr>
                          <m:t>(</m:t>
                        </m:r>
                        <m:sSub>
                          <m:sSubPr>
                            <m:ctrlPr>
                              <a:rPr kumimoji="0" lang="en-US" alt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altLang="en-US" sz="2000" b="0" i="1" u="none" strike="noStrike" kern="1200" cap="none" spc="0" normalizeH="0" baseline="0" noProof="0">
                                <a:ln>
                                  <a:noFill/>
                                </a:ln>
                                <a:solidFill>
                                  <a:prstClr val="black"/>
                                </a:solidFill>
                                <a:effectLst/>
                                <a:uLnTx/>
                                <a:uFillTx/>
                                <a:latin typeface="Cambria Math" charset="0"/>
                                <a:ea typeface="+mn-ea"/>
                                <a:cs typeface="+mn-cs"/>
                              </a:rPr>
                              <m:t>𝑦</m:t>
                            </m:r>
                          </m:e>
                          <m:sub>
                            <m:r>
                              <a:rPr kumimoji="0" lang="en-US" altLang="en-US" sz="2000" b="0" i="1" u="none" strike="noStrike" kern="1200" cap="none" spc="0" normalizeH="0" baseline="0" noProof="0">
                                <a:ln>
                                  <a:noFill/>
                                </a:ln>
                                <a:solidFill>
                                  <a:prstClr val="black"/>
                                </a:solidFill>
                                <a:effectLst/>
                                <a:uLnTx/>
                                <a:uFillTx/>
                                <a:latin typeface="Cambria Math" charset="0"/>
                                <a:ea typeface="+mn-ea"/>
                                <a:cs typeface="+mn-cs"/>
                              </a:rPr>
                              <m:t>𝑖</m:t>
                            </m:r>
                          </m:sub>
                        </m:sSub>
                        <m:r>
                          <a:rPr kumimoji="0" lang="en-US" altLang="en-US" sz="2000" b="0" i="1" u="none" strike="noStrike" kern="1200" cap="none" spc="0" normalizeH="0" baseline="0" noProof="0">
                            <a:ln>
                              <a:noFill/>
                            </a:ln>
                            <a:solidFill>
                              <a:prstClr val="black"/>
                            </a:solidFill>
                            <a:effectLst/>
                            <a:uLnTx/>
                            <a:uFillTx/>
                            <a:latin typeface="Cambria Math" charset="0"/>
                            <a:ea typeface="+mn-ea"/>
                            <a:cs typeface="+mn-cs"/>
                          </a:rPr>
                          <m:t> −</m:t>
                        </m:r>
                        <m:sSub>
                          <m:sSub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𝑏</m:t>
                                </m:r>
                              </m:e>
                            </m:acc>
                          </m:e>
                          <m:sub>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r>
                          <m:rPr>
                            <m:nor/>
                          </m:rPr>
                          <a:rPr kumimoji="0" lang="en-US" sz="2000" b="0" i="0" u="none" strike="noStrike" kern="1200" cap="none" spc="0" normalizeH="0" baseline="0" noProof="0" smtClean="0">
                            <a:ln>
                              <a:noFill/>
                            </a:ln>
                            <a:solidFill>
                              <a:srgbClr val="000000"/>
                            </a:solidFill>
                            <a:effectLst/>
                            <a:uLnTx/>
                            <a:uFillTx/>
                            <a:latin typeface="Cambria Math" charset="0"/>
                            <a:ea typeface="+mn-ea"/>
                            <a:cs typeface="+mn-cs"/>
                          </a:rPr>
                          <m:t> +</m:t>
                        </m:r>
                        <m:r>
                          <m:rPr>
                            <m:nor/>
                          </m:rPr>
                          <a:rPr kumimoji="0" lang="en-US" altLang="en-US" sz="2000" b="0" i="0" u="none" strike="noStrike" kern="1200" cap="none" spc="0" normalizeH="0" baseline="0" noProof="0" dirty="0">
                            <a:ln>
                              <a:noFill/>
                            </a:ln>
                            <a:solidFill>
                              <a:prstClr val="black"/>
                            </a:solidFill>
                            <a:effectLst/>
                            <a:uLnTx/>
                            <a:uFillTx/>
                            <a:latin typeface="Calibri" panose="020F0502020204030204"/>
                            <a:ea typeface="+mn-ea"/>
                            <a:cs typeface="+mn-cs"/>
                          </a:rPr>
                          <m:t> </m:t>
                        </m:r>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𝑏</m:t>
                                </m:r>
                              </m:e>
                            </m:acc>
                          </m:e>
                          <m:sub>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Sub>
                        <m:r>
                          <a:rPr kumimoji="0" lang="en-US" sz="2000" b="0" i="1" u="none" strike="noStrike" kern="1200" cap="none" spc="0" normalizeH="0" baseline="0" noProof="0" smtClean="0">
                            <a:ln>
                              <a:noFill/>
                            </a:ln>
                            <a:solidFill>
                              <a:srgbClr val="000000"/>
                            </a:solidFill>
                            <a:effectLst/>
                            <a:uLnTx/>
                            <a:uFillTx/>
                            <a:latin typeface="Cambria Math" charset="0"/>
                            <a:ea typeface="+mn-ea"/>
                            <a:cs typeface="+mn-cs"/>
                          </a:rPr>
                          <m:t>𝑥</m:t>
                        </m:r>
                        <m:r>
                          <a:rPr kumimoji="0" lang="en-US" sz="2000" b="0" i="1" u="none" strike="noStrike" kern="1200" cap="none" spc="0" normalizeH="0" baseline="-25000" noProof="0" smtClean="0">
                            <a:ln>
                              <a:noFill/>
                            </a:ln>
                            <a:solidFill>
                              <a:srgbClr val="000000"/>
                            </a:solidFill>
                            <a:effectLst/>
                            <a:uLnTx/>
                            <a:uFillTx/>
                            <a:latin typeface="Cambria Math" charset="0"/>
                            <a:ea typeface="+mn-ea"/>
                            <a:cs typeface="+mn-cs"/>
                          </a:rPr>
                          <m:t>1</m:t>
                        </m:r>
                        <m:r>
                          <a:rPr kumimoji="0" lang="en-US" sz="2000" b="0" i="1" u="none" strike="noStrike" kern="1200" cap="none" spc="0" normalizeH="0" baseline="0" noProof="0">
                            <a:ln>
                              <a:noFill/>
                            </a:ln>
                            <a:solidFill>
                              <a:srgbClr val="000000"/>
                            </a:solidFill>
                            <a:effectLst/>
                            <a:uLnTx/>
                            <a:uFillTx/>
                            <a:latin typeface="Cambria Math" charset="0"/>
                            <a:ea typeface="+mn-ea"/>
                            <a:cs typeface="+mn-cs"/>
                          </a:rPr>
                          <m:t>, …,</m:t>
                        </m:r>
                        <m:r>
                          <a:rPr kumimoji="0" lang="en-US" sz="2000" b="0" i="1" u="none" strike="noStrike" kern="1200" cap="none" spc="0" normalizeH="0" baseline="0" noProof="0" smtClean="0">
                            <a:ln>
                              <a:noFill/>
                            </a:ln>
                            <a:solidFill>
                              <a:srgbClr val="000000"/>
                            </a:solidFill>
                            <a:effectLst/>
                            <a:uLnTx/>
                            <a:uFillTx/>
                            <a:latin typeface="Cambria Math" charset="0"/>
                            <a:ea typeface="+mn-ea"/>
                            <a:cs typeface="+mn-cs"/>
                          </a:rPr>
                          <m:t>+</m:t>
                        </m:r>
                        <m:sSub>
                          <m:sSub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𝑏</m:t>
                                </m:r>
                              </m:e>
                            </m:acc>
                          </m:e>
                          <m:sub>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𝑘</m:t>
                            </m:r>
                          </m:sub>
                        </m:sSub>
                        <m:sSub>
                          <m:sSub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𝑥</m:t>
                            </m:r>
                          </m:e>
                          <m:sub>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𝑘</m:t>
                            </m:r>
                          </m:sub>
                        </m:sSub>
                        <m:r>
                          <a:rPr kumimoji="0" lang="en-US" altLang="en-US" sz="2000" b="0" i="1" u="none" strike="noStrike" kern="1200" cap="none" spc="0" normalizeH="0" baseline="0" noProof="0">
                            <a:ln>
                              <a:noFill/>
                            </a:ln>
                            <a:solidFill>
                              <a:prstClr val="black"/>
                            </a:solidFill>
                            <a:effectLst/>
                            <a:uLnTx/>
                            <a:uFillTx/>
                            <a:latin typeface="Cambria Math" charset="0"/>
                            <a:ea typeface="+mn-ea"/>
                            <a:cs typeface="+mn-cs"/>
                          </a:rPr>
                          <m:t>)</m:t>
                        </m:r>
                      </m:e>
                    </m:nary>
                  </m:oMath>
                </a14:m>
                <a:r>
                  <a:rPr kumimoji="0" lang="en-US" altLang="en-US" sz="2000" b="0" i="0" u="none" strike="noStrike" kern="1200" cap="none" spc="0" normalizeH="0" baseline="30000" noProof="0" dirty="0">
                    <a:ln>
                      <a:noFill/>
                    </a:ln>
                    <a:solidFill>
                      <a:prstClr val="black"/>
                    </a:solidFill>
                    <a:effectLst/>
                    <a:uLnTx/>
                    <a:uFillTx/>
                    <a:latin typeface="Calibri" panose="020F0502020204030204"/>
                    <a:ea typeface="+mn-ea"/>
                    <a:cs typeface="+mn-cs"/>
                  </a:rPr>
                  <a:t>2</a:t>
                </a:r>
                <a:endParaRPr kumimoji="0" lang="en-US" alt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7" name="Rectangle 6"/>
              <p:cNvSpPr>
                <a:spLocks noRot="1" noChangeAspect="1" noMove="1" noResize="1" noEditPoints="1" noAdjustHandles="1" noChangeArrowheads="1" noChangeShapeType="1" noTextEdit="1"/>
              </p:cNvSpPr>
              <p:nvPr/>
            </p:nvSpPr>
            <p:spPr>
              <a:xfrm>
                <a:off x="2776128" y="4160188"/>
                <a:ext cx="8382000" cy="452303"/>
              </a:xfrm>
              <a:prstGeom prst="rect">
                <a:avLst/>
              </a:prstGeom>
              <a:blipFill>
                <a:blip r:embed="rId4"/>
                <a:stretch>
                  <a:fillRect l="-218" t="-102667" b="-153333"/>
                </a:stretch>
              </a:blipFill>
            </p:spPr>
            <p:txBody>
              <a:bodyPr/>
              <a:lstStyle/>
              <a:p>
                <a:r>
                  <a:rPr lang="en-US">
                    <a:noFill/>
                  </a:rPr>
                  <a:t> </a:t>
                </a:r>
              </a:p>
            </p:txBody>
          </p:sp>
        </mc:Fallback>
      </mc:AlternateContent>
    </p:spTree>
    <p:extLst>
      <p:ext uri="{BB962C8B-B14F-4D97-AF65-F5344CB8AC3E}">
        <p14:creationId xmlns:p14="http://schemas.microsoft.com/office/powerpoint/2010/main" val="279532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2AFABB6-A875-B099-E912-B1735611D5B0}"/>
                  </a:ext>
                </a:extLst>
              </p:cNvPr>
              <p:cNvSpPr>
                <a:spLocks noGrp="1"/>
              </p:cNvSpPr>
              <p:nvPr>
                <p:ph idx="1"/>
              </p:nvPr>
            </p:nvSpPr>
            <p:spPr>
              <a:xfrm>
                <a:off x="256671" y="875899"/>
                <a:ext cx="10512810" cy="3818021"/>
              </a:xfrm>
            </p:spPr>
            <p:txBody>
              <a:bodyPr anchor="ctr">
                <a:noAutofit/>
              </a:bodyPr>
              <a:lstStyle/>
              <a:p>
                <a:pPr marL="514350" indent="-514350">
                  <a:buFont typeface="+mj-lt"/>
                  <a:buAutoNum type="arabicPeriod"/>
                </a:pPr>
                <a:r>
                  <a:rPr lang="en-US" sz="2000" dirty="0">
                    <a:latin typeface="Arial" panose="020B0604020202020204" pitchFamily="34" charset="0"/>
                    <a:cs typeface="Arial" panose="020B0604020202020204" pitchFamily="34" charset="0"/>
                  </a:rPr>
                  <a:t>How well does a set of independent variables collectively predict or explain variation in a dependent variable?</a:t>
                </a:r>
              </a:p>
              <a:p>
                <a:pPr marL="514350" indent="-514350">
                  <a:buFont typeface="+mj-lt"/>
                  <a:buAutoNum type="arabicPeriod"/>
                </a:pPr>
                <a:r>
                  <a:rPr lang="en-US" sz="2000" dirty="0">
                    <a:latin typeface="Arial" panose="020B0604020202020204" pitchFamily="34" charset="0"/>
                    <a:cs typeface="Arial" panose="020B0604020202020204" pitchFamily="34" charset="0"/>
                  </a:rPr>
                  <a:t>What is the expected change in the outcome associated with a one-unit change in a given predictor while </a:t>
                </a:r>
                <a:r>
                  <a:rPr lang="en-US" sz="2000" b="1" i="1" dirty="0">
                    <a:latin typeface="Arial" panose="020B0604020202020204" pitchFamily="34" charset="0"/>
                    <a:cs typeface="Arial" panose="020B0604020202020204" pitchFamily="34" charset="0"/>
                  </a:rPr>
                  <a:t>holding all other predictors constant</a:t>
                </a:r>
                <a:r>
                  <a:rPr lang="en-US" sz="2000" dirty="0">
                    <a:latin typeface="Arial" panose="020B0604020202020204" pitchFamily="34" charset="0"/>
                    <a:cs typeface="Arial" panose="020B0604020202020204" pitchFamily="34" charset="0"/>
                  </a:rPr>
                  <a:t>?</a:t>
                </a:r>
              </a:p>
              <a:p>
                <a:pPr marL="514350" indent="-514350">
                  <a:buFont typeface="+mj-lt"/>
                  <a:buAutoNum type="arabicPeriod"/>
                </a:pPr>
                <a:r>
                  <a:rPr lang="en-US" sz="2000" dirty="0">
                    <a:latin typeface="Arial" panose="020B0604020202020204" pitchFamily="34" charset="0"/>
                    <a:cs typeface="Arial" panose="020B0604020202020204" pitchFamily="34" charset="0"/>
                  </a:rPr>
                  <a:t>Which predictors make statistically meaningful contributions to explaining the outcome once other variables in the model are controlled for? </a:t>
                </a:r>
              </a:p>
              <a:p>
                <a:pPr marL="514350" indent="-514350">
                  <a:buFont typeface="+mj-lt"/>
                  <a:buAutoNum type="arabicPeriod"/>
                </a:pPr>
                <a:r>
                  <a:rPr lang="en-US" sz="2000" dirty="0">
                    <a:latin typeface="Arial" panose="020B0604020202020204" pitchFamily="34" charset="0"/>
                    <a:cs typeface="Arial" panose="020B0604020202020204" pitchFamily="34" charset="0"/>
                  </a:rPr>
                  <a:t>How much total variation in the outcome is explained by the model compared with unexplained error (often summarized by </a:t>
                </a:r>
                <a14:m>
                  <m:oMath xmlns:m="http://schemas.openxmlformats.org/officeDocument/2006/math">
                    <m:sSup>
                      <m:sSupPr>
                        <m:ctrlPr>
                          <a:rPr lang="ar-AE" sz="2000" i="1">
                            <a:latin typeface="Cambria Math" panose="02040503050406030204" pitchFamily="18" charset="0"/>
                          </a:rPr>
                        </m:ctrlPr>
                      </m:sSupPr>
                      <m:e>
                        <m:r>
                          <a:rPr lang="ar-AE" sz="2000" i="1">
                            <a:latin typeface="Cambria Math" panose="02040503050406030204" pitchFamily="18" charset="0"/>
                          </a:rPr>
                          <m:t>𝑅</m:t>
                        </m:r>
                      </m:e>
                      <m:sup>
                        <m:r>
                          <a:rPr lang="ar-AE" sz="2000">
                            <a:latin typeface="Cambria Math" panose="02040503050406030204" pitchFamily="18" charset="0"/>
                          </a:rPr>
                          <m:t>2</m:t>
                        </m:r>
                      </m:sup>
                    </m:sSup>
                  </m:oMath>
                </a14:m>
                <a:r>
                  <a:rPr lang="en-US" sz="2000" dirty="0">
                    <a:latin typeface="Arial" panose="020B0604020202020204" pitchFamily="34" charset="0"/>
                    <a:cs typeface="Arial" panose="020B0604020202020204" pitchFamily="34" charset="0"/>
                  </a:rPr>
                  <a:t> and related statistics)?</a:t>
                </a:r>
              </a:p>
              <a:p>
                <a:pPr marL="514350" indent="-514350">
                  <a:buFont typeface="+mj-lt"/>
                  <a:buAutoNum type="arabicPeriod"/>
                </a:pPr>
                <a:r>
                  <a:rPr lang="en-US" sz="2000" dirty="0">
                    <a:latin typeface="Arial" panose="020B0604020202020204" pitchFamily="34" charset="0"/>
                    <a:cs typeface="Arial" panose="020B0604020202020204" pitchFamily="34" charset="0"/>
                  </a:rPr>
                  <a:t>How accurately can the model generate predictions for new or observed cases, and are the underlying assumptions (linearity, constant variance, independence, and normality of errors) reasonably satisfied so that those predictions and inferences are trustworthy?</a:t>
                </a:r>
              </a:p>
            </p:txBody>
          </p:sp>
        </mc:Choice>
        <mc:Fallback xmlns="">
          <p:sp>
            <p:nvSpPr>
              <p:cNvPr id="3" name="Content Placeholder 2">
                <a:extLst>
                  <a:ext uri="{FF2B5EF4-FFF2-40B4-BE49-F238E27FC236}">
                    <a16:creationId xmlns:a16="http://schemas.microsoft.com/office/drawing/2014/main" id="{D2AFABB6-A875-B099-E912-B1735611D5B0}"/>
                  </a:ext>
                </a:extLst>
              </p:cNvPr>
              <p:cNvSpPr>
                <a:spLocks noGrp="1" noRot="1" noChangeAspect="1" noMove="1" noResize="1" noEditPoints="1" noAdjustHandles="1" noChangeArrowheads="1" noChangeShapeType="1" noTextEdit="1"/>
              </p:cNvSpPr>
              <p:nvPr>
                <p:ph idx="1"/>
              </p:nvPr>
            </p:nvSpPr>
            <p:spPr>
              <a:xfrm>
                <a:off x="256671" y="875899"/>
                <a:ext cx="10512810" cy="3818021"/>
              </a:xfrm>
              <a:blipFill>
                <a:blip r:embed="rId2"/>
                <a:stretch>
                  <a:fillRect l="-522" r="-1275" b="-479"/>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4EEFAA75-4C55-6156-35FD-898A74B90E10}"/>
              </a:ext>
            </a:extLst>
          </p:cNvPr>
          <p:cNvSpPr>
            <a:spLocks noGrp="1"/>
          </p:cNvSpPr>
          <p:nvPr>
            <p:ph type="title"/>
          </p:nvPr>
        </p:nvSpPr>
        <p:spPr>
          <a:xfrm>
            <a:off x="150793" y="162590"/>
            <a:ext cx="11416415" cy="607432"/>
          </a:xfrm>
        </p:spPr>
        <p:txBody>
          <a:bodyPr anchor="ctr">
            <a:normAutofit/>
          </a:bodyPr>
          <a:lstStyle/>
          <a:p>
            <a:r>
              <a:rPr lang="en-US" sz="3600" dirty="0">
                <a:latin typeface="Arial" panose="020B0604020202020204" pitchFamily="34" charset="0"/>
                <a:cs typeface="Arial" panose="020B0604020202020204" pitchFamily="34" charset="0"/>
              </a:rPr>
              <a:t>Key Questions</a:t>
            </a:r>
          </a:p>
        </p:txBody>
      </p:sp>
    </p:spTree>
    <p:extLst>
      <p:ext uri="{BB962C8B-B14F-4D97-AF65-F5344CB8AC3E}">
        <p14:creationId xmlns:p14="http://schemas.microsoft.com/office/powerpoint/2010/main" val="1093467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515" y="87000"/>
            <a:ext cx="11189979" cy="655994"/>
          </a:xfrm>
        </p:spPr>
        <p:txBody>
          <a:bodyPr>
            <a:normAutofit/>
          </a:bodyPr>
          <a:lstStyle/>
          <a:p>
            <a:r>
              <a:rPr lang="en-US" sz="3600" dirty="0">
                <a:latin typeface="Arial" panose="020B0604020202020204" pitchFamily="34" charset="0"/>
                <a:ea typeface="Calibri Light" panose="020F0302020204030204" pitchFamily="34" charset="0"/>
                <a:cs typeface="Arial" panose="020B0604020202020204" pitchFamily="34" charset="0"/>
              </a:rPr>
              <a:t>Similarities/Differences between MLR and SLR</a:t>
            </a:r>
          </a:p>
        </p:txBody>
      </p:sp>
      <p:sp>
        <p:nvSpPr>
          <p:cNvPr id="13" name="Content Placeholder 12">
            <a:extLst>
              <a:ext uri="{FF2B5EF4-FFF2-40B4-BE49-F238E27FC236}">
                <a16:creationId xmlns:a16="http://schemas.microsoft.com/office/drawing/2014/main" id="{E9CBE65A-E3EC-5633-13AD-1CAFC9E77AA2}"/>
              </a:ext>
            </a:extLst>
          </p:cNvPr>
          <p:cNvSpPr>
            <a:spLocks noGrp="1"/>
          </p:cNvSpPr>
          <p:nvPr>
            <p:ph idx="1"/>
          </p:nvPr>
        </p:nvSpPr>
        <p:spPr>
          <a:xfrm>
            <a:off x="307779" y="742994"/>
            <a:ext cx="10310378" cy="5036234"/>
          </a:xfrm>
        </p:spPr>
        <p:txBody>
          <a:bodyPr>
            <a:normAutofit/>
          </a:bodyPr>
          <a:lstStyle/>
          <a:p>
            <a:r>
              <a:rPr lang="en-US" sz="2000" u="sng" dirty="0">
                <a:latin typeface="Arial" panose="020B0604020202020204" pitchFamily="34" charset="0"/>
                <a:cs typeface="Arial" panose="020B0604020202020204" pitchFamily="34" charset="0"/>
              </a:rPr>
              <a:t>F-test (ANOVA table): </a:t>
            </a:r>
            <a:r>
              <a:rPr lang="en-US" sz="2000" dirty="0">
                <a:latin typeface="Arial" panose="020B0604020202020204" pitchFamily="34" charset="0"/>
                <a:cs typeface="Arial" panose="020B0604020202020204" pitchFamily="34" charset="0"/>
              </a:rPr>
              <a:t>Tells us whether </a:t>
            </a:r>
            <a:r>
              <a:rPr lang="en-US" sz="2000" i="1" dirty="0">
                <a:latin typeface="Arial" panose="020B0604020202020204" pitchFamily="34" charset="0"/>
                <a:cs typeface="Arial" panose="020B0604020202020204" pitchFamily="34" charset="0"/>
              </a:rPr>
              <a:t>any</a:t>
            </a:r>
            <a:r>
              <a:rPr lang="en-US" sz="2000" dirty="0">
                <a:latin typeface="Arial" panose="020B0604020202020204" pitchFamily="34" charset="0"/>
                <a:cs typeface="Arial" panose="020B0604020202020204" pitchFamily="34" charset="0"/>
              </a:rPr>
              <a:t> independent variables are significant</a:t>
            </a:r>
          </a:p>
          <a:p>
            <a:pPr lvl="1"/>
            <a:r>
              <a:rPr lang="en-US" sz="2000" dirty="0">
                <a:latin typeface="Arial" panose="020B0604020202020204" pitchFamily="34" charset="0"/>
                <a:cs typeface="Arial" panose="020B0604020202020204" pitchFamily="34" charset="0"/>
              </a:rPr>
              <a:t>H</a:t>
            </a:r>
            <a:r>
              <a:rPr lang="en-US" sz="2000" baseline="-25000" dirty="0">
                <a:latin typeface="Arial" panose="020B0604020202020204" pitchFamily="34" charset="0"/>
                <a:cs typeface="Arial" panose="020B0604020202020204" pitchFamily="34" charset="0"/>
              </a:rPr>
              <a:t>0</a:t>
            </a:r>
            <a:r>
              <a:rPr lang="en-US" sz="2000" dirty="0">
                <a:latin typeface="Arial" panose="020B0604020202020204" pitchFamily="34" charset="0"/>
                <a:cs typeface="Arial" panose="020B0604020202020204" pitchFamily="34" charset="0"/>
              </a:rPr>
              <a:t>: </a:t>
            </a:r>
            <a:r>
              <a:rPr lang="el-GR" sz="2000" dirty="0">
                <a:latin typeface="Arial" panose="020B0604020202020204" pitchFamily="34" charset="0"/>
                <a:cs typeface="Arial" panose="020B0604020202020204" pitchFamily="34" charset="0"/>
              </a:rPr>
              <a:t>β</a:t>
            </a:r>
            <a:r>
              <a:rPr lang="en-US" sz="2000" i="1" baseline="-25000" dirty="0" err="1">
                <a:latin typeface="Arial" panose="020B0604020202020204" pitchFamily="34" charset="0"/>
                <a:cs typeface="Arial" panose="020B0604020202020204" pitchFamily="34" charset="0"/>
              </a:rPr>
              <a:t>i</a:t>
            </a:r>
            <a:r>
              <a:rPr lang="en-US" sz="2000" baseline="-250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 0 for all </a:t>
            </a:r>
            <a:r>
              <a:rPr lang="en-US" sz="2000" i="1" dirty="0" err="1">
                <a:latin typeface="Arial" panose="020B0604020202020204" pitchFamily="34" charset="0"/>
                <a:cs typeface="Arial" panose="020B0604020202020204" pitchFamily="34" charset="0"/>
              </a:rPr>
              <a:t>i</a:t>
            </a:r>
            <a:r>
              <a:rPr lang="en-US" sz="2000" dirty="0">
                <a:latin typeface="Arial" panose="020B0604020202020204" pitchFamily="34" charset="0"/>
                <a:cs typeface="Arial" panose="020B0604020202020204" pitchFamily="34" charset="0"/>
              </a:rPr>
              <a:t> or H</a:t>
            </a:r>
            <a:r>
              <a:rPr lang="en-US" sz="2000" baseline="-25000" dirty="0">
                <a:latin typeface="Arial" panose="020B0604020202020204" pitchFamily="34" charset="0"/>
                <a:cs typeface="Arial" panose="020B0604020202020204" pitchFamily="34" charset="0"/>
              </a:rPr>
              <a:t>0</a:t>
            </a:r>
            <a:r>
              <a:rPr lang="en-US" sz="2000" dirty="0">
                <a:latin typeface="Arial" panose="020B0604020202020204" pitchFamily="34" charset="0"/>
                <a:cs typeface="Arial" panose="020B0604020202020204" pitchFamily="34" charset="0"/>
              </a:rPr>
              <a:t>: </a:t>
            </a:r>
            <a:r>
              <a:rPr lang="el-GR" sz="2000" dirty="0">
                <a:latin typeface="Arial" panose="020B0604020202020204" pitchFamily="34" charset="0"/>
                <a:cs typeface="Arial" panose="020B0604020202020204" pitchFamily="34" charset="0"/>
              </a:rPr>
              <a:t>β</a:t>
            </a:r>
            <a:r>
              <a:rPr lang="en-US" sz="2000" baseline="-25000" dirty="0">
                <a:latin typeface="Arial" panose="020B0604020202020204" pitchFamily="34" charset="0"/>
                <a:cs typeface="Arial" panose="020B0604020202020204" pitchFamily="34" charset="0"/>
              </a:rPr>
              <a:t>1 </a:t>
            </a:r>
            <a:r>
              <a:rPr lang="en-US" sz="2000" dirty="0">
                <a:latin typeface="Arial" panose="020B0604020202020204" pitchFamily="34" charset="0"/>
                <a:cs typeface="Arial" panose="020B0604020202020204" pitchFamily="34" charset="0"/>
              </a:rPr>
              <a:t>= </a:t>
            </a:r>
            <a:r>
              <a:rPr lang="el-GR" sz="2000" dirty="0">
                <a:latin typeface="Arial" panose="020B0604020202020204" pitchFamily="34" charset="0"/>
                <a:cs typeface="Arial" panose="020B0604020202020204" pitchFamily="34" charset="0"/>
              </a:rPr>
              <a:t>β</a:t>
            </a:r>
            <a:r>
              <a:rPr lang="en-US" sz="2000" baseline="-25000" dirty="0">
                <a:latin typeface="Arial" panose="020B0604020202020204" pitchFamily="34" charset="0"/>
                <a:cs typeface="Arial" panose="020B0604020202020204" pitchFamily="34" charset="0"/>
              </a:rPr>
              <a:t>2 =</a:t>
            </a:r>
            <a:r>
              <a:rPr lang="el-GR" sz="2000" dirty="0">
                <a:latin typeface="Arial" panose="020B0604020202020204" pitchFamily="34" charset="0"/>
                <a:cs typeface="Arial" panose="020B0604020202020204" pitchFamily="34" charset="0"/>
              </a:rPr>
              <a:t> β</a:t>
            </a:r>
            <a:r>
              <a:rPr lang="en-US" sz="2000" baseline="-25000" dirty="0">
                <a:latin typeface="Arial" panose="020B0604020202020204" pitchFamily="34" charset="0"/>
                <a:cs typeface="Arial" panose="020B0604020202020204" pitchFamily="34" charset="0"/>
              </a:rPr>
              <a:t>3 …</a:t>
            </a:r>
            <a:r>
              <a:rPr lang="el-GR" sz="2000" dirty="0">
                <a:latin typeface="Arial" panose="020B0604020202020204" pitchFamily="34" charset="0"/>
                <a:cs typeface="Arial" panose="020B0604020202020204" pitchFamily="34" charset="0"/>
              </a:rPr>
              <a:t> β</a:t>
            </a:r>
            <a:r>
              <a:rPr lang="en-US" sz="2000" i="1" baseline="-25000" dirty="0">
                <a:latin typeface="Arial" panose="020B0604020202020204" pitchFamily="34" charset="0"/>
                <a:cs typeface="Arial" panose="020B0604020202020204" pitchFamily="34" charset="0"/>
              </a:rPr>
              <a:t>k</a:t>
            </a:r>
            <a:r>
              <a:rPr lang="en-US" sz="2000" dirty="0">
                <a:latin typeface="Arial" panose="020B0604020202020204" pitchFamily="34" charset="0"/>
                <a:cs typeface="Arial" panose="020B0604020202020204" pitchFamily="34" charset="0"/>
              </a:rPr>
              <a:t> = 0 (None of the X variables have linear relationships with Y) </a:t>
            </a:r>
          </a:p>
          <a:p>
            <a:pPr lvl="1"/>
            <a:r>
              <a:rPr lang="en-US" sz="2000" dirty="0">
                <a:latin typeface="Arial" panose="020B0604020202020204" pitchFamily="34" charset="0"/>
                <a:cs typeface="Arial" panose="020B0604020202020204" pitchFamily="34" charset="0"/>
              </a:rPr>
              <a:t>H</a:t>
            </a:r>
            <a:r>
              <a:rPr lang="en-US" sz="2000" baseline="-25000" dirty="0">
                <a:latin typeface="Arial" panose="020B0604020202020204" pitchFamily="34" charset="0"/>
                <a:cs typeface="Arial" panose="020B0604020202020204" pitchFamily="34" charset="0"/>
              </a:rPr>
              <a:t>1</a:t>
            </a:r>
            <a:r>
              <a:rPr lang="en-US" sz="2000" dirty="0">
                <a:latin typeface="Arial" panose="020B0604020202020204" pitchFamily="34" charset="0"/>
                <a:cs typeface="Arial" panose="020B0604020202020204" pitchFamily="34" charset="0"/>
              </a:rPr>
              <a:t>: </a:t>
            </a:r>
            <a:r>
              <a:rPr lang="el-GR" sz="2000" dirty="0">
                <a:latin typeface="Arial" panose="020B0604020202020204" pitchFamily="34" charset="0"/>
                <a:cs typeface="Arial" panose="020B0604020202020204" pitchFamily="34" charset="0"/>
              </a:rPr>
              <a:t>β</a:t>
            </a:r>
            <a:r>
              <a:rPr lang="en-US" sz="2000" i="1" baseline="-25000" dirty="0" err="1">
                <a:latin typeface="Arial" panose="020B0604020202020204" pitchFamily="34" charset="0"/>
                <a:cs typeface="Arial" panose="020B0604020202020204" pitchFamily="34" charset="0"/>
              </a:rPr>
              <a:t>i</a:t>
            </a:r>
            <a:r>
              <a:rPr lang="en-US" sz="2000" dirty="0">
                <a:latin typeface="Arial" panose="020B0604020202020204" pitchFamily="34" charset="0"/>
                <a:cs typeface="Arial" panose="020B0604020202020204" pitchFamily="34" charset="0"/>
              </a:rPr>
              <a:t> ≠ 0 for some </a:t>
            </a:r>
            <a:r>
              <a:rPr lang="en-US" sz="2000" i="1" dirty="0" err="1">
                <a:latin typeface="Arial" panose="020B0604020202020204" pitchFamily="34" charset="0"/>
                <a:cs typeface="Arial" panose="020B0604020202020204" pitchFamily="34" charset="0"/>
              </a:rPr>
              <a:t>i</a:t>
            </a:r>
            <a:r>
              <a:rPr lang="en-US" sz="2000" dirty="0">
                <a:latin typeface="Arial" panose="020B0604020202020204" pitchFamily="34" charset="0"/>
                <a:cs typeface="Arial" panose="020B0604020202020204" pitchFamily="34" charset="0"/>
              </a:rPr>
              <a:t> (At least one X variable has a linear relationship with Y) </a:t>
            </a:r>
          </a:p>
          <a:p>
            <a:pPr lvl="1"/>
            <a:r>
              <a:rPr lang="en-US" sz="2000" dirty="0">
                <a:latin typeface="Arial" panose="020B0604020202020204" pitchFamily="34" charset="0"/>
                <a:cs typeface="Arial" panose="020B0604020202020204" pitchFamily="34" charset="0"/>
              </a:rPr>
              <a:t>Note: in SLR, since we have only 1 predictor, the t-test of the slope and the F-test are the same</a:t>
            </a:r>
          </a:p>
          <a:p>
            <a:r>
              <a:rPr lang="en-US" sz="2000" u="sng" dirty="0">
                <a:latin typeface="Arial" panose="020B0604020202020204" pitchFamily="34" charset="0"/>
                <a:cs typeface="Arial" panose="020B0604020202020204" pitchFamily="34" charset="0"/>
              </a:rPr>
              <a:t>Intercept (Y-intercept)</a:t>
            </a:r>
            <a:r>
              <a:rPr lang="en-US" sz="2000" dirty="0">
                <a:latin typeface="Arial" panose="020B0604020202020204" pitchFamily="34" charset="0"/>
                <a:cs typeface="Arial" panose="020B0604020202020204" pitchFamily="34" charset="0"/>
              </a:rPr>
              <a:t>: </a:t>
            </a:r>
            <a:r>
              <a:rPr lang="el-GR" sz="2000" dirty="0">
                <a:latin typeface="Arial" panose="020B0604020202020204" pitchFamily="34" charset="0"/>
                <a:cs typeface="Arial" panose="020B0604020202020204" pitchFamily="34" charset="0"/>
              </a:rPr>
              <a:t>β</a:t>
            </a:r>
            <a:r>
              <a:rPr lang="en-US" sz="2000" baseline="-25000" dirty="0">
                <a:latin typeface="Arial" panose="020B0604020202020204" pitchFamily="34" charset="0"/>
                <a:cs typeface="Arial" panose="020B0604020202020204" pitchFamily="34" charset="0"/>
              </a:rPr>
              <a:t>0 </a:t>
            </a:r>
            <a:r>
              <a:rPr lang="en-US" sz="2000" dirty="0">
                <a:latin typeface="Arial" panose="020B0604020202020204" pitchFamily="34" charset="0"/>
                <a:cs typeface="Arial" panose="020B0604020202020204" pitchFamily="34" charset="0"/>
              </a:rPr>
              <a:t>is the expected value of Y when </a:t>
            </a:r>
            <a:r>
              <a:rPr lang="en-US" sz="2000" i="1" u="sng" dirty="0">
                <a:latin typeface="Arial" panose="020B0604020202020204" pitchFamily="34" charset="0"/>
                <a:cs typeface="Arial" panose="020B0604020202020204" pitchFamily="34" charset="0"/>
              </a:rPr>
              <a:t>all</a:t>
            </a:r>
            <a:r>
              <a:rPr lang="en-US" sz="2000" dirty="0">
                <a:latin typeface="Arial" panose="020B0604020202020204" pitchFamily="34" charset="0"/>
                <a:cs typeface="Arial" panose="020B0604020202020204" pitchFamily="34" charset="0"/>
              </a:rPr>
              <a:t> predictors are zero</a:t>
            </a:r>
          </a:p>
          <a:p>
            <a:r>
              <a:rPr lang="en-US" sz="2000" u="sng" dirty="0">
                <a:latin typeface="Arial" panose="020B0604020202020204" pitchFamily="34" charset="0"/>
                <a:cs typeface="Arial" panose="020B0604020202020204" pitchFamily="34" charset="0"/>
              </a:rPr>
              <a:t>Slope(s)</a:t>
            </a:r>
            <a:r>
              <a:rPr lang="en-US" sz="2000" dirty="0">
                <a:latin typeface="Arial" panose="020B0604020202020204" pitchFamily="34" charset="0"/>
                <a:cs typeface="Arial" panose="020B0604020202020204" pitchFamily="34" charset="0"/>
              </a:rPr>
              <a:t>: </a:t>
            </a:r>
            <a:r>
              <a:rPr lang="el-GR" sz="2000" dirty="0">
                <a:latin typeface="Arial" panose="020B0604020202020204" pitchFamily="34" charset="0"/>
                <a:cs typeface="Arial" panose="020B0604020202020204" pitchFamily="34" charset="0"/>
              </a:rPr>
              <a:t>β</a:t>
            </a:r>
            <a:r>
              <a:rPr lang="en-US" sz="2000" baseline="-25000" dirty="0" err="1">
                <a:latin typeface="Arial" panose="020B0604020202020204" pitchFamily="34" charset="0"/>
                <a:cs typeface="Arial" panose="020B0604020202020204" pitchFamily="34" charset="0"/>
              </a:rPr>
              <a:t>i</a:t>
            </a:r>
            <a:r>
              <a:rPr lang="en-US" sz="2000" baseline="-250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is the expected change in response (Y) for every 1 unit increase in X</a:t>
            </a:r>
            <a:r>
              <a:rPr lang="en-US" sz="2000" baseline="-25000" dirty="0">
                <a:latin typeface="Arial" panose="020B0604020202020204" pitchFamily="34" charset="0"/>
                <a:cs typeface="Arial" panose="020B0604020202020204" pitchFamily="34" charset="0"/>
              </a:rPr>
              <a:t>i</a:t>
            </a:r>
            <a:r>
              <a:rPr lang="en-US" sz="2000" dirty="0">
                <a:latin typeface="Arial" panose="020B0604020202020204" pitchFamily="34" charset="0"/>
                <a:cs typeface="Arial" panose="020B0604020202020204" pitchFamily="34" charset="0"/>
              </a:rPr>
              <a:t>, </a:t>
            </a:r>
            <a:r>
              <a:rPr lang="en-US" sz="2000" i="1" u="sng" dirty="0">
                <a:latin typeface="Arial" panose="020B0604020202020204" pitchFamily="34" charset="0"/>
                <a:cs typeface="Arial" panose="020B0604020202020204" pitchFamily="34" charset="0"/>
              </a:rPr>
              <a:t>while holding all other predictors constant</a:t>
            </a:r>
            <a:r>
              <a:rPr lang="en-US" sz="2000" u="sng" dirty="0">
                <a:latin typeface="Arial" panose="020B0604020202020204" pitchFamily="34" charset="0"/>
                <a:cs typeface="Arial" panose="020B0604020202020204" pitchFamily="34" charset="0"/>
              </a:rPr>
              <a:t>.</a:t>
            </a:r>
          </a:p>
          <a:p>
            <a:pPr lvl="1"/>
            <a:r>
              <a:rPr lang="en-US" sz="2000" dirty="0">
                <a:latin typeface="Arial" panose="020B0604020202020204" pitchFamily="34" charset="0"/>
                <a:cs typeface="Arial" panose="020B0604020202020204" pitchFamily="34" charset="0"/>
              </a:rPr>
              <a:t>Individual t-tests for each coefficient are reported in the summary</a:t>
            </a:r>
          </a:p>
          <a:p>
            <a:r>
              <a:rPr lang="en-US" sz="2000" u="sng" dirty="0">
                <a:latin typeface="Arial" panose="020B0604020202020204" pitchFamily="34" charset="0"/>
                <a:cs typeface="Arial" panose="020B0604020202020204" pitchFamily="34" charset="0"/>
              </a:rPr>
              <a:t>R</a:t>
            </a:r>
            <a:r>
              <a:rPr lang="en-US" sz="2000" u="sng" baseline="300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Proportion of variance in Y that is explained by the independent variables</a:t>
            </a:r>
          </a:p>
          <a:p>
            <a:pPr lvl="1"/>
            <a:r>
              <a:rPr lang="en-US" sz="2000" i="1" dirty="0">
                <a:latin typeface="Arial" panose="020B0604020202020204" pitchFamily="34" charset="0"/>
                <a:cs typeface="Arial" panose="020B0604020202020204" pitchFamily="34" charset="0"/>
              </a:rPr>
              <a:t>Now, it’s the proportion explained by </a:t>
            </a:r>
            <a:r>
              <a:rPr lang="en-US" sz="2000" i="1" u="sng" dirty="0">
                <a:latin typeface="Arial" panose="020B0604020202020204" pitchFamily="34" charset="0"/>
                <a:cs typeface="Arial" panose="020B0604020202020204" pitchFamily="34" charset="0"/>
              </a:rPr>
              <a:t>all</a:t>
            </a:r>
            <a:r>
              <a:rPr lang="en-US" sz="2000" dirty="0">
                <a:latin typeface="Arial" panose="020B0604020202020204" pitchFamily="34" charset="0"/>
                <a:cs typeface="Arial" panose="020B0604020202020204" pitchFamily="34" charset="0"/>
              </a:rPr>
              <a:t> independent variables</a:t>
            </a:r>
          </a:p>
          <a:p>
            <a:pPr lvl="1"/>
            <a:r>
              <a:rPr lang="en-US" sz="2000" dirty="0">
                <a:latin typeface="Arial" panose="020B0604020202020204" pitchFamily="34" charset="0"/>
                <a:cs typeface="Arial" panose="020B0604020202020204" pitchFamily="34" charset="0"/>
              </a:rPr>
              <a:t>Use </a:t>
            </a:r>
            <a:r>
              <a:rPr lang="en-US" sz="2000" b="1" dirty="0">
                <a:latin typeface="Arial" panose="020B0604020202020204" pitchFamily="34" charset="0"/>
                <a:cs typeface="Arial" panose="020B0604020202020204" pitchFamily="34" charset="0"/>
              </a:rPr>
              <a:t>adjusted </a:t>
            </a:r>
            <a:r>
              <a:rPr lang="en-US" sz="2000" dirty="0">
                <a:latin typeface="Arial" panose="020B0604020202020204" pitchFamily="34" charset="0"/>
                <a:cs typeface="Arial" panose="020B0604020202020204" pitchFamily="34" charset="0"/>
              </a:rPr>
              <a:t>R</a:t>
            </a:r>
            <a:r>
              <a:rPr lang="en-US" sz="2000" baseline="30000" dirty="0">
                <a:latin typeface="Arial" panose="020B0604020202020204" pitchFamily="34" charset="0"/>
                <a:cs typeface="Arial" panose="020B0604020202020204" pitchFamily="34" charset="0"/>
              </a:rPr>
              <a:t>2 </a:t>
            </a:r>
            <a:r>
              <a:rPr lang="en-US" sz="2000" dirty="0">
                <a:latin typeface="Arial" panose="020B0604020202020204" pitchFamily="34" charset="0"/>
                <a:cs typeface="Arial" panose="020B0604020202020204" pitchFamily="34" charset="0"/>
              </a:rPr>
              <a:t>because it adjusts for the number of predictors (same interpretation) as opposed to regular R</a:t>
            </a:r>
            <a:r>
              <a:rPr lang="en-US" sz="2000" baseline="30000" dirty="0">
                <a:latin typeface="Arial" panose="020B0604020202020204" pitchFamily="34" charset="0"/>
                <a:cs typeface="Arial" panose="020B0604020202020204" pitchFamily="34" charset="0"/>
              </a:rPr>
              <a:t>2, </a:t>
            </a:r>
            <a:r>
              <a:rPr lang="en-US" sz="2000" dirty="0">
                <a:latin typeface="Arial" panose="020B0604020202020204" pitchFamily="34" charset="0"/>
                <a:cs typeface="Arial" panose="020B0604020202020204" pitchFamily="34" charset="0"/>
              </a:rPr>
              <a:t>which always increases in # predictors</a:t>
            </a:r>
          </a:p>
          <a:p>
            <a:endParaRPr lang="en-US" sz="1400" dirty="0"/>
          </a:p>
        </p:txBody>
      </p:sp>
    </p:spTree>
    <p:extLst>
      <p:ext uri="{BB962C8B-B14F-4D97-AF65-F5344CB8AC3E}">
        <p14:creationId xmlns:p14="http://schemas.microsoft.com/office/powerpoint/2010/main" val="1016807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4" end="4"/>
                                            </p:txEl>
                                          </p:spTgt>
                                        </p:tgtEl>
                                        <p:attrNameLst>
                                          <p:attrName>style.visibility</p:attrName>
                                        </p:attrNameLst>
                                      </p:cBhvr>
                                      <p:to>
                                        <p:strVal val="visible"/>
                                      </p:to>
                                    </p:set>
                                    <p:anim calcmode="lin" valueType="num">
                                      <p:cBhvr additive="base">
                                        <p:cTn id="7"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5" end="5"/>
                                            </p:txEl>
                                          </p:spTgt>
                                        </p:tgtEl>
                                        <p:attrNameLst>
                                          <p:attrName>style.visibility</p:attrName>
                                        </p:attrNameLst>
                                      </p:cBhvr>
                                      <p:to>
                                        <p:strVal val="visible"/>
                                      </p:to>
                                    </p:set>
                                    <p:anim calcmode="lin" valueType="num">
                                      <p:cBhvr additive="base">
                                        <p:cTn id="13" dur="500" fill="hold"/>
                                        <p:tgtEl>
                                          <p:spTgt spid="13">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5" end="5"/>
                                            </p:txEl>
                                          </p:spTgt>
                                        </p:tgtEl>
                                        <p:attrNameLst>
                                          <p:attrName>ppt_y</p:attrName>
                                        </p:attrNameLst>
                                      </p:cBhvr>
                                      <p:tavLst>
                                        <p:tav tm="0">
                                          <p:val>
                                            <p:strVal val="1+#ppt_h/2"/>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3">
                                            <p:txEl>
                                              <p:pRg st="6" end="6"/>
                                            </p:txEl>
                                          </p:spTgt>
                                        </p:tgtEl>
                                        <p:attrNameLst>
                                          <p:attrName>style.visibility</p:attrName>
                                        </p:attrNameLst>
                                      </p:cBhvr>
                                      <p:to>
                                        <p:strVal val="visible"/>
                                      </p:to>
                                    </p:set>
                                    <p:animEffect transition="in" filter="fade">
                                      <p:cBhvr>
                                        <p:cTn id="17" dur="1000"/>
                                        <p:tgtEl>
                                          <p:spTgt spid="13">
                                            <p:txEl>
                                              <p:pRg st="6" end="6"/>
                                            </p:txEl>
                                          </p:spTgt>
                                        </p:tgtEl>
                                      </p:cBhvr>
                                    </p:animEffect>
                                    <p:anim calcmode="lin" valueType="num">
                                      <p:cBhvr>
                                        <p:cTn id="18" dur="1000" fill="hold"/>
                                        <p:tgtEl>
                                          <p:spTgt spid="13">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1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3">
                                            <p:txEl>
                                              <p:pRg st="7" end="7"/>
                                            </p:txEl>
                                          </p:spTgt>
                                        </p:tgtEl>
                                        <p:attrNameLst>
                                          <p:attrName>style.visibility</p:attrName>
                                        </p:attrNameLst>
                                      </p:cBhvr>
                                      <p:to>
                                        <p:strVal val="visible"/>
                                      </p:to>
                                    </p:set>
                                    <p:anim calcmode="lin" valueType="num">
                                      <p:cBhvr additive="base">
                                        <p:cTn id="24" dur="500" fill="hold"/>
                                        <p:tgtEl>
                                          <p:spTgt spid="13">
                                            <p:txEl>
                                              <p:pRg st="7" end="7"/>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3">
                                            <p:txEl>
                                              <p:pRg st="8" end="8"/>
                                            </p:txEl>
                                          </p:spTgt>
                                        </p:tgtEl>
                                        <p:attrNameLst>
                                          <p:attrName>style.visibility</p:attrName>
                                        </p:attrNameLst>
                                      </p:cBhvr>
                                      <p:to>
                                        <p:strVal val="visible"/>
                                      </p:to>
                                    </p:set>
                                    <p:anim calcmode="lin" valueType="num">
                                      <p:cBhvr additive="base">
                                        <p:cTn id="30" dur="500" fill="hold"/>
                                        <p:tgtEl>
                                          <p:spTgt spid="13">
                                            <p:txEl>
                                              <p:pRg st="8" end="8"/>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3">
                                            <p:txEl>
                                              <p:pRg st="8" end="8"/>
                                            </p:txEl>
                                          </p:spTgt>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13">
                                            <p:txEl>
                                              <p:pRg st="9" end="9"/>
                                            </p:txEl>
                                          </p:spTgt>
                                        </p:tgtEl>
                                        <p:attrNameLst>
                                          <p:attrName>style.visibility</p:attrName>
                                        </p:attrNameLst>
                                      </p:cBhvr>
                                      <p:to>
                                        <p:strVal val="visible"/>
                                      </p:to>
                                    </p:set>
                                    <p:anim calcmode="lin" valueType="num">
                                      <p:cBhvr additive="base">
                                        <p:cTn id="34" dur="500" fill="hold"/>
                                        <p:tgtEl>
                                          <p:spTgt spid="13">
                                            <p:txEl>
                                              <p:pRg st="9" end="9"/>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CBFCA-06D6-BE48-92FF-BD1443763B71}"/>
              </a:ext>
            </a:extLst>
          </p:cNvPr>
          <p:cNvSpPr>
            <a:spLocks noGrp="1"/>
          </p:cNvSpPr>
          <p:nvPr>
            <p:ph type="title"/>
          </p:nvPr>
        </p:nvSpPr>
        <p:spPr>
          <a:xfrm>
            <a:off x="145181" y="182245"/>
            <a:ext cx="10515600" cy="607027"/>
          </a:xfrm>
        </p:spPr>
        <p:txBody>
          <a:bodyPr>
            <a:normAutofit/>
          </a:bodyPr>
          <a:lstStyle/>
          <a:p>
            <a:r>
              <a:rPr lang="en-US" sz="3600" dirty="0">
                <a:latin typeface="Arial" panose="020B0604020202020204" pitchFamily="34" charset="0"/>
                <a:cs typeface="Arial" panose="020B0604020202020204" pitchFamily="34" charset="0"/>
              </a:rPr>
              <a:t>Correlation: Interpretation &amp; Connection to MLR</a:t>
            </a:r>
          </a:p>
        </p:txBody>
      </p:sp>
      <p:sp>
        <p:nvSpPr>
          <p:cNvPr id="3" name="Content Placeholder 2">
            <a:extLst>
              <a:ext uri="{FF2B5EF4-FFF2-40B4-BE49-F238E27FC236}">
                <a16:creationId xmlns:a16="http://schemas.microsoft.com/office/drawing/2014/main" id="{6CF0B613-0945-9EEA-E7B4-348C3A83AC75}"/>
              </a:ext>
            </a:extLst>
          </p:cNvPr>
          <p:cNvSpPr>
            <a:spLocks noGrp="1"/>
          </p:cNvSpPr>
          <p:nvPr>
            <p:ph idx="1"/>
          </p:nvPr>
        </p:nvSpPr>
        <p:spPr>
          <a:xfrm>
            <a:off x="241432" y="789272"/>
            <a:ext cx="11616891" cy="4610556"/>
          </a:xfrm>
        </p:spPr>
        <p:txBody>
          <a:bodyPr>
            <a:normAutofit/>
          </a:bodyPr>
          <a:lstStyle/>
          <a:p>
            <a:r>
              <a:rPr lang="en-US" sz="2000" dirty="0">
                <a:latin typeface="Arial" panose="020B0604020202020204" pitchFamily="34" charset="0"/>
                <a:cs typeface="Arial" panose="020B0604020202020204" pitchFamily="34" charset="0"/>
              </a:rPr>
              <a:t>In multiple linear regression, you include multiple predictors to isolate </a:t>
            </a:r>
            <a:r>
              <a:rPr lang="en-US" sz="2000" b="1" dirty="0">
                <a:latin typeface="Arial" panose="020B0604020202020204" pitchFamily="34" charset="0"/>
                <a:cs typeface="Arial" panose="020B0604020202020204" pitchFamily="34" charset="0"/>
              </a:rPr>
              <a:t>the unique contribution of each predictor</a:t>
            </a:r>
            <a:r>
              <a:rPr lang="en-US" sz="2000" dirty="0">
                <a:latin typeface="Arial" panose="020B0604020202020204" pitchFamily="34" charset="0"/>
                <a:cs typeface="Arial" panose="020B0604020202020204" pitchFamily="34" charset="0"/>
              </a:rPr>
              <a:t> to the outcome</a:t>
            </a:r>
          </a:p>
          <a:p>
            <a:r>
              <a:rPr lang="en-US" sz="2000" dirty="0">
                <a:latin typeface="Arial" panose="020B0604020202020204" pitchFamily="34" charset="0"/>
                <a:cs typeface="Arial" panose="020B0604020202020204" pitchFamily="34" charset="0"/>
              </a:rPr>
              <a:t>As a three-variable example:</a:t>
            </a:r>
          </a:p>
          <a:p>
            <a:pPr lvl="1"/>
            <a:r>
              <a:rPr lang="en-US" sz="1800" dirty="0">
                <a:latin typeface="Arial" panose="020B0604020202020204" pitchFamily="34" charset="0"/>
                <a:cs typeface="Arial" panose="020B0604020202020204" pitchFamily="34" charset="0"/>
              </a:rPr>
              <a:t>Partial correlation partial correlation represents the linear relationship between </a:t>
            </a:r>
            <a:r>
              <a:rPr lang="en-US" sz="1800" i="1" dirty="0">
                <a:latin typeface="Arial" panose="020B0604020202020204" pitchFamily="34" charset="0"/>
                <a:cs typeface="Arial" panose="020B0604020202020204" pitchFamily="34" charset="0"/>
              </a:rPr>
              <a:t>X</a:t>
            </a:r>
            <a:r>
              <a:rPr lang="en-US" sz="1800" baseline="-25000" dirty="0">
                <a:latin typeface="Arial" panose="020B0604020202020204" pitchFamily="34" charset="0"/>
                <a:cs typeface="Arial" panose="020B0604020202020204" pitchFamily="34" charset="0"/>
              </a:rPr>
              <a:t>1</a:t>
            </a:r>
            <a:r>
              <a:rPr lang="en-US" sz="1800" dirty="0">
                <a:latin typeface="Arial" panose="020B0604020202020204" pitchFamily="34" charset="0"/>
                <a:cs typeface="Arial" panose="020B0604020202020204" pitchFamily="34" charset="0"/>
              </a:rPr>
              <a:t> and </a:t>
            </a:r>
            <a:r>
              <a:rPr lang="en-US" sz="1800" i="1" dirty="0">
                <a:latin typeface="Arial" panose="020B0604020202020204" pitchFamily="34" charset="0"/>
                <a:cs typeface="Arial" panose="020B0604020202020204" pitchFamily="34" charset="0"/>
              </a:rPr>
              <a:t>Y </a:t>
            </a:r>
            <a:r>
              <a:rPr lang="en-US" sz="1800" dirty="0">
                <a:latin typeface="Arial" panose="020B0604020202020204" pitchFamily="34" charset="0"/>
                <a:cs typeface="Arial" panose="020B0604020202020204" pitchFamily="34" charset="0"/>
              </a:rPr>
              <a:t>independent of the linear influence of </a:t>
            </a:r>
            <a:r>
              <a:rPr lang="en-US" sz="1800" i="1" dirty="0">
                <a:latin typeface="Arial" panose="020B0604020202020204" pitchFamily="34" charset="0"/>
                <a:cs typeface="Arial" panose="020B0604020202020204" pitchFamily="34" charset="0"/>
              </a:rPr>
              <a:t>X</a:t>
            </a:r>
            <a:r>
              <a:rPr lang="en-US" sz="1800" baseline="-25000" dirty="0">
                <a:latin typeface="Arial" panose="020B0604020202020204" pitchFamily="34" charset="0"/>
                <a:cs typeface="Arial" panose="020B0604020202020204" pitchFamily="34" charset="0"/>
              </a:rPr>
              <a:t>2</a:t>
            </a:r>
          </a:p>
          <a:p>
            <a:pPr lvl="1"/>
            <a:r>
              <a:rPr lang="en-US" sz="1800" dirty="0" err="1">
                <a:latin typeface="Arial" panose="020B0604020202020204" pitchFamily="34" charset="0"/>
                <a:cs typeface="Arial" panose="020B0604020202020204" pitchFamily="34" charset="0"/>
              </a:rPr>
              <a:t>Semipartial</a:t>
            </a:r>
            <a:r>
              <a:rPr lang="en-US" sz="1800" dirty="0">
                <a:latin typeface="Arial" panose="020B0604020202020204" pitchFamily="34" charset="0"/>
                <a:cs typeface="Arial" panose="020B0604020202020204" pitchFamily="34" charset="0"/>
              </a:rPr>
              <a:t> (part) correlation represents the linear relationship between </a:t>
            </a:r>
            <a:r>
              <a:rPr lang="en-US" sz="1800" i="1" dirty="0">
                <a:latin typeface="Arial" panose="020B0604020202020204" pitchFamily="34" charset="0"/>
                <a:cs typeface="Arial" panose="020B0604020202020204" pitchFamily="34" charset="0"/>
              </a:rPr>
              <a:t>X</a:t>
            </a:r>
            <a:r>
              <a:rPr lang="en-US" sz="1800" baseline="-25000" dirty="0">
                <a:latin typeface="Arial" panose="020B0604020202020204" pitchFamily="34" charset="0"/>
                <a:cs typeface="Arial" panose="020B0604020202020204" pitchFamily="34" charset="0"/>
              </a:rPr>
              <a:t>1</a:t>
            </a:r>
            <a:r>
              <a:rPr lang="en-US" sz="1800" dirty="0">
                <a:latin typeface="Arial" panose="020B0604020202020204" pitchFamily="34" charset="0"/>
                <a:cs typeface="Arial" panose="020B0604020202020204" pitchFamily="34" charset="0"/>
              </a:rPr>
              <a:t> and</a:t>
            </a:r>
            <a:r>
              <a:rPr lang="en-US" sz="1800" i="1" dirty="0">
                <a:latin typeface="Arial" panose="020B0604020202020204" pitchFamily="34" charset="0"/>
                <a:cs typeface="Arial" panose="020B0604020202020204" pitchFamily="34" charset="0"/>
              </a:rPr>
              <a:t> Y</a:t>
            </a:r>
            <a:r>
              <a:rPr lang="en-US" sz="1800" dirty="0">
                <a:latin typeface="Arial" panose="020B0604020202020204" pitchFamily="34" charset="0"/>
                <a:cs typeface="Arial" panose="020B0604020202020204" pitchFamily="34" charset="0"/>
              </a:rPr>
              <a:t> after that portion of </a:t>
            </a:r>
            <a:r>
              <a:rPr lang="en-US" sz="1800" i="1" dirty="0">
                <a:latin typeface="Arial" panose="020B0604020202020204" pitchFamily="34" charset="0"/>
                <a:cs typeface="Arial" panose="020B0604020202020204" pitchFamily="34" charset="0"/>
              </a:rPr>
              <a:t>Y</a:t>
            </a:r>
            <a:r>
              <a:rPr lang="en-US" sz="1800" dirty="0">
                <a:latin typeface="Arial" panose="020B0604020202020204" pitchFamily="34" charset="0"/>
                <a:cs typeface="Arial" panose="020B0604020202020204" pitchFamily="34" charset="0"/>
              </a:rPr>
              <a:t> that can be linearly predicted from </a:t>
            </a:r>
            <a:r>
              <a:rPr lang="en-US" sz="1800" i="1" dirty="0">
                <a:latin typeface="Arial" panose="020B0604020202020204" pitchFamily="34" charset="0"/>
                <a:cs typeface="Arial" panose="020B0604020202020204" pitchFamily="34" charset="0"/>
              </a:rPr>
              <a:t>X</a:t>
            </a:r>
            <a:r>
              <a:rPr lang="en-US" sz="1800" baseline="-25000" dirty="0">
                <a:latin typeface="Arial" panose="020B0604020202020204" pitchFamily="34" charset="0"/>
                <a:cs typeface="Arial" panose="020B0604020202020204" pitchFamily="34" charset="0"/>
              </a:rPr>
              <a:t>2</a:t>
            </a:r>
            <a:r>
              <a:rPr lang="en-US" sz="1800" dirty="0">
                <a:latin typeface="Arial" panose="020B0604020202020204" pitchFamily="34" charset="0"/>
                <a:cs typeface="Arial" panose="020B0604020202020204" pitchFamily="34" charset="0"/>
              </a:rPr>
              <a:t> has been removed from </a:t>
            </a:r>
            <a:r>
              <a:rPr lang="en-US" sz="1800" i="1" dirty="0">
                <a:latin typeface="Arial" panose="020B0604020202020204" pitchFamily="34" charset="0"/>
                <a:cs typeface="Arial" panose="020B0604020202020204" pitchFamily="34" charset="0"/>
              </a:rPr>
              <a:t>Y</a:t>
            </a:r>
          </a:p>
          <a:p>
            <a:pPr lvl="1"/>
            <a:r>
              <a:rPr lang="en-US" sz="1800" i="1" dirty="0">
                <a:latin typeface="Arial" panose="020B0604020202020204" pitchFamily="34" charset="0"/>
                <a:cs typeface="Arial" panose="020B0604020202020204" pitchFamily="34" charset="0"/>
              </a:rPr>
              <a:t>I am going through several examples today, at home you should go through the examples yourself, making sure you understand.</a:t>
            </a:r>
            <a:endParaRPr lang="en-US" sz="1800" dirty="0">
              <a:latin typeface="Arial" panose="020B0604020202020204" pitchFamily="34" charset="0"/>
              <a:cs typeface="Arial" panose="020B0604020202020204" pitchFamily="34" charset="0"/>
            </a:endParaRPr>
          </a:p>
          <a:p>
            <a:pPr lvl="1"/>
            <a:endParaRPr lang="en-US" dirty="0"/>
          </a:p>
          <a:p>
            <a:endParaRPr lang="en-US" dirty="0"/>
          </a:p>
        </p:txBody>
      </p:sp>
    </p:spTree>
    <p:extLst>
      <p:ext uri="{BB962C8B-B14F-4D97-AF65-F5344CB8AC3E}">
        <p14:creationId xmlns:p14="http://schemas.microsoft.com/office/powerpoint/2010/main" val="88622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467C5-8553-136D-25D1-AD77F8B7C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236EA5-C765-9704-97D9-E1EE1F95D171}"/>
              </a:ext>
            </a:extLst>
          </p:cNvPr>
          <p:cNvSpPr>
            <a:spLocks noGrp="1"/>
          </p:cNvSpPr>
          <p:nvPr>
            <p:ph type="title"/>
          </p:nvPr>
        </p:nvSpPr>
        <p:spPr>
          <a:xfrm>
            <a:off x="145181" y="182245"/>
            <a:ext cx="10515600" cy="607027"/>
          </a:xfrm>
        </p:spPr>
        <p:txBody>
          <a:bodyPr>
            <a:normAutofit/>
          </a:bodyPr>
          <a:lstStyle/>
          <a:p>
            <a:r>
              <a:rPr lang="en-US" sz="3600" dirty="0">
                <a:latin typeface="Arial" panose="020B0604020202020204" pitchFamily="34" charset="0"/>
                <a:cs typeface="Arial" panose="020B0604020202020204" pitchFamily="34" charset="0"/>
              </a:rPr>
              <a:t>Correlation: Interpretation &amp; Connection to MLR</a:t>
            </a:r>
          </a:p>
        </p:txBody>
      </p:sp>
      <p:sp>
        <p:nvSpPr>
          <p:cNvPr id="3" name="Content Placeholder 2">
            <a:extLst>
              <a:ext uri="{FF2B5EF4-FFF2-40B4-BE49-F238E27FC236}">
                <a16:creationId xmlns:a16="http://schemas.microsoft.com/office/drawing/2014/main" id="{7F1619CE-0BB3-6202-4563-2105A7564A37}"/>
              </a:ext>
            </a:extLst>
          </p:cNvPr>
          <p:cNvSpPr>
            <a:spLocks noGrp="1"/>
          </p:cNvSpPr>
          <p:nvPr>
            <p:ph idx="1"/>
          </p:nvPr>
        </p:nvSpPr>
        <p:spPr>
          <a:xfrm>
            <a:off x="241432" y="789272"/>
            <a:ext cx="11616891" cy="4610556"/>
          </a:xfrm>
        </p:spPr>
        <p:txBody>
          <a:bodyPr>
            <a:normAutofit/>
          </a:bodyPr>
          <a:lstStyle/>
          <a:p>
            <a:r>
              <a:rPr lang="en-US" sz="2000" b="1" dirty="0">
                <a:latin typeface="Arial" panose="020B0604020202020204" pitchFamily="34" charset="0"/>
                <a:cs typeface="Arial" panose="020B0604020202020204" pitchFamily="34" charset="0"/>
              </a:rPr>
              <a:t>Partial correlation </a:t>
            </a:r>
            <a:r>
              <a:rPr lang="en-US" sz="2000" dirty="0">
                <a:latin typeface="Arial" panose="020B0604020202020204" pitchFamily="34" charset="0"/>
                <a:cs typeface="Arial" panose="020B0604020202020204" pitchFamily="34" charset="0"/>
              </a:rPr>
              <a:t>(What is the true relationship between </a:t>
            </a:r>
            <a:r>
              <a:rPr lang="en-US" sz="2000" i="1" dirty="0">
                <a:latin typeface="Arial" panose="020B0604020202020204" pitchFamily="34" charset="0"/>
                <a:cs typeface="Arial" panose="020B0604020202020204" pitchFamily="34" charset="0"/>
              </a:rPr>
              <a:t>X</a:t>
            </a:r>
            <a:r>
              <a:rPr lang="en-US" sz="2000" dirty="0">
                <a:latin typeface="Arial" panose="020B0604020202020204" pitchFamily="34" charset="0"/>
                <a:cs typeface="Arial" panose="020B0604020202020204" pitchFamily="34" charset="0"/>
              </a:rPr>
              <a:t>₁ and </a:t>
            </a:r>
            <a:r>
              <a:rPr lang="en-US" sz="2000" i="1" dirty="0">
                <a:latin typeface="Arial" panose="020B0604020202020204" pitchFamily="34" charset="0"/>
                <a:cs typeface="Arial" panose="020B0604020202020204" pitchFamily="34" charset="0"/>
              </a:rPr>
              <a:t>Y</a:t>
            </a:r>
            <a:r>
              <a:rPr lang="en-US" sz="2000" dirty="0">
                <a:latin typeface="Arial" panose="020B0604020202020204" pitchFamily="34" charset="0"/>
                <a:cs typeface="Arial" panose="020B0604020202020204" pitchFamily="34" charset="0"/>
              </a:rPr>
              <a:t>)</a:t>
            </a:r>
          </a:p>
          <a:p>
            <a:pPr lvl="1"/>
            <a:r>
              <a:rPr lang="en-US" sz="2000" dirty="0">
                <a:latin typeface="Arial" panose="020B0604020202020204" pitchFamily="34" charset="0"/>
                <a:cs typeface="Arial" panose="020B0604020202020204" pitchFamily="34" charset="0"/>
              </a:rPr>
              <a:t>Partial correlation examines the relationship between two variables while statistically holding others constant (i.e., controlling for confounders in a regression model)</a:t>
            </a:r>
          </a:p>
          <a:p>
            <a:pPr lvl="1"/>
            <a:r>
              <a:rPr lang="en-US" sz="2000" dirty="0">
                <a:latin typeface="Arial" panose="020B0604020202020204" pitchFamily="34" charset="0"/>
                <a:cs typeface="Arial" panose="020B0604020202020204" pitchFamily="34" charset="0"/>
              </a:rPr>
              <a:t>"What is the relationship between X₁ and </a:t>
            </a:r>
            <a:r>
              <a:rPr lang="en-US" sz="2000" i="1" dirty="0">
                <a:latin typeface="Arial" panose="020B0604020202020204" pitchFamily="34" charset="0"/>
                <a:cs typeface="Arial" panose="020B0604020202020204" pitchFamily="34" charset="0"/>
              </a:rPr>
              <a:t>Y</a:t>
            </a:r>
            <a:r>
              <a:rPr lang="en-US" sz="2000" dirty="0">
                <a:latin typeface="Arial" panose="020B0604020202020204" pitchFamily="34" charset="0"/>
                <a:cs typeface="Arial" panose="020B0604020202020204" pitchFamily="34" charset="0"/>
              </a:rPr>
              <a:t> once the influence of another variable, say </a:t>
            </a:r>
            <a:r>
              <a:rPr lang="en-US" sz="2000" i="1" dirty="0">
                <a:latin typeface="Arial" panose="020B0604020202020204" pitchFamily="34" charset="0"/>
                <a:cs typeface="Arial" panose="020B0604020202020204" pitchFamily="34" charset="0"/>
              </a:rPr>
              <a:t>X</a:t>
            </a:r>
            <a:r>
              <a:rPr lang="en-US" sz="2000" baseline="-250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has been removed from both?“</a:t>
            </a:r>
          </a:p>
          <a:p>
            <a:pPr lvl="1"/>
            <a:r>
              <a:rPr lang="en-US" sz="2000" dirty="0">
                <a:latin typeface="Arial" panose="020B0604020202020204" pitchFamily="34" charset="0"/>
                <a:cs typeface="Arial" panose="020B0604020202020204" pitchFamily="34" charset="0"/>
              </a:rPr>
              <a:t>What does it mean ‘to control for’ another variable? Provide an example of how controlling for gender may affect the association between income and education, and why?</a:t>
            </a:r>
          </a:p>
          <a:p>
            <a:r>
              <a:rPr lang="en-US" sz="2000" b="1" dirty="0" err="1">
                <a:latin typeface="Arial" panose="020B0604020202020204" pitchFamily="34" charset="0"/>
                <a:cs typeface="Arial" panose="020B0604020202020204" pitchFamily="34" charset="0"/>
              </a:rPr>
              <a:t>Semipartial</a:t>
            </a:r>
            <a:r>
              <a:rPr lang="en-US" sz="2000" dirty="0">
                <a:latin typeface="Arial" panose="020B0604020202020204" pitchFamily="34" charset="0"/>
                <a:cs typeface="Arial" panose="020B0604020202020204" pitchFamily="34" charset="0"/>
              </a:rPr>
              <a:t> (How much additional variance in </a:t>
            </a:r>
            <a:r>
              <a:rPr lang="en-US" sz="2000" i="1" dirty="0">
                <a:latin typeface="Arial" panose="020B0604020202020204" pitchFamily="34" charset="0"/>
                <a:cs typeface="Arial" panose="020B0604020202020204" pitchFamily="34" charset="0"/>
              </a:rPr>
              <a:t>Y</a:t>
            </a:r>
            <a:r>
              <a:rPr lang="en-US" sz="2000" dirty="0">
                <a:latin typeface="Arial" panose="020B0604020202020204" pitchFamily="34" charset="0"/>
                <a:cs typeface="Arial" panose="020B0604020202020204" pitchFamily="34" charset="0"/>
              </a:rPr>
              <a:t> does X₁ explain beyond </a:t>
            </a:r>
            <a:r>
              <a:rPr lang="en-US" sz="2000" i="1" dirty="0">
                <a:latin typeface="Arial" panose="020B0604020202020204" pitchFamily="34" charset="0"/>
                <a:cs typeface="Arial" panose="020B0604020202020204" pitchFamily="34" charset="0"/>
              </a:rPr>
              <a:t>X</a:t>
            </a:r>
            <a:r>
              <a:rPr lang="en-US" sz="2000" baseline="-250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a:t>
            </a:r>
          </a:p>
          <a:p>
            <a:pPr lvl="1"/>
            <a:r>
              <a:rPr lang="en-US" sz="2000" dirty="0">
                <a:latin typeface="Arial" panose="020B0604020202020204" pitchFamily="34" charset="0"/>
                <a:cs typeface="Arial" panose="020B0604020202020204" pitchFamily="34" charset="0"/>
              </a:rPr>
              <a:t>In multiple regression, the </a:t>
            </a:r>
            <a:r>
              <a:rPr lang="en-US" sz="2000" dirty="0" err="1">
                <a:latin typeface="Arial" panose="020B0604020202020204" pitchFamily="34" charset="0"/>
                <a:cs typeface="Arial" panose="020B0604020202020204" pitchFamily="34" charset="0"/>
              </a:rPr>
              <a:t>semipartial</a:t>
            </a:r>
            <a:r>
              <a:rPr lang="en-US" sz="2000" dirty="0">
                <a:latin typeface="Arial" panose="020B0604020202020204" pitchFamily="34" charset="0"/>
                <a:cs typeface="Arial" panose="020B0604020202020204" pitchFamily="34" charset="0"/>
              </a:rPr>
              <a:t> correlation squared (sr²) represents the unique contribution of a predictor (X₁) to the outcome (</a:t>
            </a:r>
            <a:r>
              <a:rPr lang="en-US" sz="2000" i="1" dirty="0">
                <a:latin typeface="Arial" panose="020B0604020202020204" pitchFamily="34" charset="0"/>
                <a:cs typeface="Arial" panose="020B0604020202020204" pitchFamily="34" charset="0"/>
              </a:rPr>
              <a:t>Y</a:t>
            </a:r>
            <a:r>
              <a:rPr lang="en-US" sz="2000" dirty="0">
                <a:latin typeface="Arial" panose="020B0604020202020204" pitchFamily="34" charset="0"/>
                <a:cs typeface="Arial" panose="020B0604020202020204" pitchFamily="34" charset="0"/>
              </a:rPr>
              <a:t>) over and above other predictors.</a:t>
            </a:r>
          </a:p>
          <a:p>
            <a:pPr lvl="1"/>
            <a:r>
              <a:rPr lang="en-US" sz="2000" dirty="0">
                <a:latin typeface="Arial" panose="020B0604020202020204" pitchFamily="34" charset="0"/>
                <a:cs typeface="Arial" panose="020B0604020202020204" pitchFamily="34" charset="0"/>
              </a:rPr>
              <a:t>It answers: “If I add this predictor to the model, how much additional variance in </a:t>
            </a:r>
            <a:r>
              <a:rPr lang="en-US" sz="2000" i="1" dirty="0">
                <a:latin typeface="Arial" panose="020B0604020202020204" pitchFamily="34" charset="0"/>
                <a:cs typeface="Arial" panose="020B0604020202020204" pitchFamily="34" charset="0"/>
              </a:rPr>
              <a:t>Y </a:t>
            </a:r>
            <a:r>
              <a:rPr lang="en-US" sz="2000" dirty="0">
                <a:latin typeface="Arial" panose="020B0604020202020204" pitchFamily="34" charset="0"/>
                <a:cs typeface="Arial" panose="020B0604020202020204" pitchFamily="34" charset="0"/>
              </a:rPr>
              <a:t>does it explain?”</a:t>
            </a:r>
          </a:p>
          <a:p>
            <a:pPr lvl="1"/>
            <a:endParaRPr lang="en-US" dirty="0"/>
          </a:p>
          <a:p>
            <a:endParaRPr lang="en-US" dirty="0"/>
          </a:p>
        </p:txBody>
      </p:sp>
    </p:spTree>
    <p:extLst>
      <p:ext uri="{BB962C8B-B14F-4D97-AF65-F5344CB8AC3E}">
        <p14:creationId xmlns:p14="http://schemas.microsoft.com/office/powerpoint/2010/main" val="1982541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2CFC8-70E3-5D12-C32E-32E669C9BF07}"/>
              </a:ext>
            </a:extLst>
          </p:cNvPr>
          <p:cNvSpPr>
            <a:spLocks noGrp="1"/>
          </p:cNvSpPr>
          <p:nvPr>
            <p:ph type="title"/>
          </p:nvPr>
        </p:nvSpPr>
        <p:spPr>
          <a:xfrm>
            <a:off x="143256" y="157861"/>
            <a:ext cx="10515600" cy="1325563"/>
          </a:xfrm>
        </p:spPr>
        <p:txBody>
          <a:bodyPr/>
          <a:lstStyle/>
          <a:p>
            <a:r>
              <a:rPr lang="en-US" dirty="0">
                <a:latin typeface="Arial" panose="020B0604020202020204" pitchFamily="34" charset="0"/>
                <a:cs typeface="Arial" panose="020B0604020202020204" pitchFamily="34" charset="0"/>
              </a:rPr>
              <a:t>Partial correlation</a:t>
            </a:r>
            <a:br>
              <a:rPr lang="en-US" dirty="0">
                <a:latin typeface="Arial" panose="020B0604020202020204" pitchFamily="34" charset="0"/>
                <a:cs typeface="Arial" panose="020B0604020202020204" pitchFamily="34" charset="0"/>
              </a:rPr>
            </a:br>
            <a:r>
              <a:rPr lang="en-US" sz="3200" i="1" dirty="0">
                <a:latin typeface="Arial" panose="020B0604020202020204" pitchFamily="34" charset="0"/>
                <a:cs typeface="Arial" panose="020B0604020202020204" pitchFamily="34" charset="0"/>
              </a:rPr>
              <a:t>Intuition</a:t>
            </a:r>
            <a:endParaRPr lang="en-US" i="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41A8727-7FF4-203A-0C6F-FACD9B61E92F}"/>
              </a:ext>
            </a:extLst>
          </p:cNvPr>
          <p:cNvSpPr>
            <a:spLocks noGrp="1"/>
          </p:cNvSpPr>
          <p:nvPr>
            <p:ph idx="1"/>
          </p:nvPr>
        </p:nvSpPr>
        <p:spPr>
          <a:xfrm>
            <a:off x="265176" y="1483424"/>
            <a:ext cx="10515600" cy="4351338"/>
          </a:xfrm>
        </p:spPr>
        <p:txBody>
          <a:bodyPr>
            <a:normAutofit/>
          </a:bodyPr>
          <a:lstStyle/>
          <a:p>
            <a:r>
              <a:rPr lang="en-US" sz="2000" dirty="0">
                <a:latin typeface="Arial" panose="020B0604020202020204" pitchFamily="34" charset="0"/>
                <a:cs typeface="Arial" panose="020B0604020202020204" pitchFamily="34" charset="0"/>
              </a:rPr>
              <a:t>The correlation between two variables (</a:t>
            </a:r>
            <a:r>
              <a:rPr lang="en-US" sz="2000" i="1" dirty="0">
                <a:latin typeface="Arial" panose="020B0604020202020204" pitchFamily="34" charset="0"/>
                <a:cs typeface="Arial" panose="020B0604020202020204" pitchFamily="34" charset="0"/>
              </a:rPr>
              <a:t>X</a:t>
            </a:r>
            <a:r>
              <a:rPr lang="en-US" sz="2000" dirty="0">
                <a:latin typeface="Arial" panose="020B0604020202020204" pitchFamily="34" charset="0"/>
                <a:cs typeface="Arial" panose="020B0604020202020204" pitchFamily="34" charset="0"/>
              </a:rPr>
              <a:t>₁ and </a:t>
            </a:r>
            <a:r>
              <a:rPr lang="en-US" sz="2000" i="1" dirty="0">
                <a:latin typeface="Arial" panose="020B0604020202020204" pitchFamily="34" charset="0"/>
                <a:cs typeface="Arial" panose="020B0604020202020204" pitchFamily="34" charset="0"/>
              </a:rPr>
              <a:t>Y</a:t>
            </a:r>
            <a:r>
              <a:rPr lang="en-US" sz="2000" dirty="0">
                <a:latin typeface="Arial" panose="020B0604020202020204" pitchFamily="34" charset="0"/>
                <a:cs typeface="Arial" panose="020B0604020202020204" pitchFamily="34" charset="0"/>
              </a:rPr>
              <a:t>) after the influence of a third variable (</a:t>
            </a:r>
            <a:r>
              <a:rPr lang="en-US" sz="2000" i="1" dirty="0">
                <a:latin typeface="Arial" panose="020B0604020202020204" pitchFamily="34" charset="0"/>
                <a:cs typeface="Arial" panose="020B0604020202020204" pitchFamily="34" charset="0"/>
              </a:rPr>
              <a:t>X</a:t>
            </a:r>
            <a:r>
              <a:rPr lang="en-US" sz="2000" dirty="0">
                <a:latin typeface="Arial" panose="020B0604020202020204" pitchFamily="34" charset="0"/>
                <a:cs typeface="Arial" panose="020B0604020202020204" pitchFamily="34" charset="0"/>
              </a:rPr>
              <a:t>₂) is removed from both</a:t>
            </a:r>
          </a:p>
          <a:p>
            <a:r>
              <a:rPr lang="en-US" sz="2000" b="1" dirty="0">
                <a:latin typeface="Arial" panose="020B0604020202020204" pitchFamily="34" charset="0"/>
                <a:cs typeface="Arial" panose="020B0604020202020204" pitchFamily="34" charset="0"/>
              </a:rPr>
              <a:t>Example</a:t>
            </a:r>
            <a:r>
              <a:rPr lang="en-US" sz="2000" dirty="0">
                <a:latin typeface="Arial" panose="020B0604020202020204" pitchFamily="34" charset="0"/>
                <a:cs typeface="Arial" panose="020B0604020202020204" pitchFamily="34" charset="0"/>
              </a:rPr>
              <a:t>: What is the relationship between study time and exam scores?</a:t>
            </a:r>
          </a:p>
          <a:p>
            <a:pPr lvl="1"/>
            <a:r>
              <a:rPr lang="en-US" sz="1800" dirty="0">
                <a:latin typeface="Arial" panose="020B0604020202020204" pitchFamily="34" charset="0"/>
                <a:cs typeface="Arial" panose="020B0604020202020204" pitchFamily="34" charset="0"/>
              </a:rPr>
              <a:t>You find a positive correlation between them using Pearson’s </a:t>
            </a:r>
            <a:r>
              <a:rPr lang="en-US" sz="1800" i="1" dirty="0">
                <a:latin typeface="Arial" panose="020B0604020202020204" pitchFamily="34" charset="0"/>
                <a:cs typeface="Arial" panose="020B0604020202020204" pitchFamily="34" charset="0"/>
              </a:rPr>
              <a:t>r.</a:t>
            </a:r>
          </a:p>
          <a:p>
            <a:pPr lvl="1"/>
            <a:r>
              <a:rPr lang="en-US" sz="1800" dirty="0">
                <a:latin typeface="Arial" panose="020B0604020202020204" pitchFamily="34" charset="0"/>
                <a:cs typeface="Arial" panose="020B0604020202020204" pitchFamily="34" charset="0"/>
              </a:rPr>
              <a:t>Another variable, </a:t>
            </a:r>
            <a:r>
              <a:rPr lang="en-US" sz="1800" i="1" dirty="0">
                <a:latin typeface="Arial" panose="020B0604020202020204" pitchFamily="34" charset="0"/>
                <a:cs typeface="Arial" panose="020B0604020202020204" pitchFamily="34" charset="0"/>
              </a:rPr>
              <a:t>X</a:t>
            </a:r>
            <a:r>
              <a:rPr lang="en-US" sz="1800" dirty="0">
                <a:latin typeface="Arial" panose="020B0604020202020204" pitchFamily="34" charset="0"/>
                <a:cs typeface="Arial" panose="020B0604020202020204" pitchFamily="34" charset="0"/>
              </a:rPr>
              <a:t>₂ may be related to both</a:t>
            </a:r>
          </a:p>
          <a:p>
            <a:pPr lvl="1"/>
            <a:r>
              <a:rPr lang="en-US" sz="1800" dirty="0">
                <a:latin typeface="Arial" panose="020B0604020202020204" pitchFamily="34" charset="0"/>
                <a:cs typeface="Arial" panose="020B0604020202020204" pitchFamily="34" charset="0"/>
              </a:rPr>
              <a:t>We want to remove that influence before concluding there is a relationship between </a:t>
            </a:r>
            <a:r>
              <a:rPr lang="en-US" sz="1800" i="1" dirty="0">
                <a:latin typeface="Arial" panose="020B0604020202020204" pitchFamily="34" charset="0"/>
                <a:cs typeface="Arial" panose="020B0604020202020204" pitchFamily="34" charset="0"/>
              </a:rPr>
              <a:t>X</a:t>
            </a:r>
            <a:r>
              <a:rPr lang="en-US" sz="1800" dirty="0">
                <a:latin typeface="Arial" panose="020B0604020202020204" pitchFamily="34" charset="0"/>
                <a:cs typeface="Arial" panose="020B0604020202020204" pitchFamily="34" charset="0"/>
              </a:rPr>
              <a:t>₁ and </a:t>
            </a:r>
            <a:r>
              <a:rPr lang="en-US" sz="1800" i="1" dirty="0">
                <a:latin typeface="Arial" panose="020B0604020202020204" pitchFamily="34" charset="0"/>
                <a:cs typeface="Arial" panose="020B0604020202020204" pitchFamily="34" charset="0"/>
              </a:rPr>
              <a:t>Y</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3614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2CFC8-70E3-5D12-C32E-32E669C9BF07}"/>
              </a:ext>
            </a:extLst>
          </p:cNvPr>
          <p:cNvSpPr>
            <a:spLocks noGrp="1"/>
          </p:cNvSpPr>
          <p:nvPr>
            <p:ph type="title"/>
          </p:nvPr>
        </p:nvSpPr>
        <p:spPr>
          <a:xfrm>
            <a:off x="77805" y="124494"/>
            <a:ext cx="10515600" cy="1325563"/>
          </a:xfrm>
        </p:spPr>
        <p:txBody>
          <a:bodyPr/>
          <a:lstStyle/>
          <a:p>
            <a:r>
              <a:rPr lang="en-US" sz="3600" dirty="0">
                <a:latin typeface="Arial" panose="020B0604020202020204" pitchFamily="34" charset="0"/>
                <a:cs typeface="Arial" panose="020B0604020202020204" pitchFamily="34" charset="0"/>
              </a:rPr>
              <a:t>Partial correlation</a:t>
            </a:r>
            <a:br>
              <a:rPr lang="en-US" dirty="0">
                <a:latin typeface="Arial" panose="020B0604020202020204" pitchFamily="34" charset="0"/>
                <a:cs typeface="Arial" panose="020B0604020202020204" pitchFamily="34" charset="0"/>
              </a:rPr>
            </a:br>
            <a:r>
              <a:rPr lang="en-US" sz="3200" i="1" dirty="0">
                <a:latin typeface="Arial" panose="020B0604020202020204" pitchFamily="34" charset="0"/>
                <a:cs typeface="Arial" panose="020B0604020202020204" pitchFamily="34" charset="0"/>
              </a:rPr>
              <a:t>Example</a:t>
            </a:r>
            <a:endParaRPr lang="en-US" i="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41A8727-7FF4-203A-0C6F-FACD9B61E92F}"/>
              </a:ext>
            </a:extLst>
          </p:cNvPr>
          <p:cNvSpPr>
            <a:spLocks noGrp="1"/>
          </p:cNvSpPr>
          <p:nvPr>
            <p:ph idx="1"/>
          </p:nvPr>
        </p:nvSpPr>
        <p:spPr>
          <a:xfrm>
            <a:off x="212558" y="1344362"/>
            <a:ext cx="10515600" cy="4351338"/>
          </a:xfrm>
        </p:spPr>
        <p:txBody>
          <a:bodyPr>
            <a:normAutofit/>
          </a:bodyPr>
          <a:lstStyle/>
          <a:p>
            <a:r>
              <a:rPr lang="en-US" sz="2000" b="1" dirty="0">
                <a:latin typeface="Arial" panose="020B0604020202020204" pitchFamily="34" charset="0"/>
                <a:cs typeface="Arial" panose="020B0604020202020204" pitchFamily="34" charset="0"/>
              </a:rPr>
              <a:t>Definition:</a:t>
            </a:r>
            <a:r>
              <a:rPr lang="en-US" sz="2000" dirty="0">
                <a:latin typeface="Arial" panose="020B0604020202020204" pitchFamily="34" charset="0"/>
                <a:cs typeface="Arial" panose="020B0604020202020204" pitchFamily="34" charset="0"/>
              </a:rPr>
              <a:t> The correlation between an independent variable and a dependent variable after controlling for the influence of other variables on </a:t>
            </a:r>
            <a:r>
              <a:rPr lang="en-US" sz="2000" b="1" dirty="0">
                <a:latin typeface="Arial" panose="020B0604020202020204" pitchFamily="34" charset="0"/>
                <a:cs typeface="Arial" panose="020B0604020202020204" pitchFamily="34" charset="0"/>
              </a:rPr>
              <a:t>both</a:t>
            </a:r>
            <a:r>
              <a:rPr lang="en-US" sz="2000" dirty="0">
                <a:latin typeface="Arial" panose="020B0604020202020204" pitchFamily="34" charset="0"/>
                <a:cs typeface="Arial" panose="020B0604020202020204" pitchFamily="34" charset="0"/>
              </a:rPr>
              <a:t> the independent and dependent variables.</a:t>
            </a:r>
          </a:p>
          <a:p>
            <a:r>
              <a:rPr lang="en-US" sz="2000" b="1" dirty="0">
                <a:latin typeface="Arial" panose="020B0604020202020204" pitchFamily="34" charset="0"/>
                <a:cs typeface="Arial" panose="020B0604020202020204" pitchFamily="34" charset="0"/>
              </a:rPr>
              <a:t>Scenario:</a:t>
            </a:r>
            <a:r>
              <a:rPr lang="en-US" sz="2000" dirty="0">
                <a:latin typeface="Arial" panose="020B0604020202020204" pitchFamily="34" charset="0"/>
                <a:cs typeface="Arial" panose="020B0604020202020204" pitchFamily="34" charset="0"/>
              </a:rPr>
              <a:t> Regress SAT Math on SAT Verbal and Class Size</a:t>
            </a:r>
          </a:p>
          <a:p>
            <a:r>
              <a:rPr lang="en-US" sz="2000" b="1" dirty="0">
                <a:latin typeface="Arial" panose="020B0604020202020204" pitchFamily="34" charset="0"/>
                <a:cs typeface="Arial" panose="020B0604020202020204" pitchFamily="34" charset="0"/>
              </a:rPr>
              <a:t>The "Unaccounted For" Part:</a:t>
            </a:r>
            <a:endParaRPr lang="en-US" sz="2000" dirty="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We remove the effect of Class Size from SAT Math.</a:t>
            </a:r>
          </a:p>
          <a:p>
            <a:pPr lvl="1"/>
            <a:r>
              <a:rPr lang="en-US" sz="2000" dirty="0">
                <a:latin typeface="Arial" panose="020B0604020202020204" pitchFamily="34" charset="0"/>
                <a:cs typeface="Arial" panose="020B0604020202020204" pitchFamily="34" charset="0"/>
              </a:rPr>
              <a:t>We remove the effect of Class Size from SAT Verbal.</a:t>
            </a:r>
          </a:p>
          <a:p>
            <a:pPr lvl="1"/>
            <a:r>
              <a:rPr lang="en-US" sz="2000" dirty="0">
                <a:latin typeface="Arial" panose="020B0604020202020204" pitchFamily="34" charset="0"/>
                <a:cs typeface="Arial" panose="020B0604020202020204" pitchFamily="34" charset="0"/>
              </a:rPr>
              <a:t>We look at the correlation between what is left over (the residuals of both).</a:t>
            </a:r>
          </a:p>
          <a:p>
            <a:r>
              <a:rPr lang="en-US" sz="2000" b="1" dirty="0">
                <a:latin typeface="Arial" panose="020B0604020202020204" pitchFamily="34" charset="0"/>
                <a:cs typeface="Arial" panose="020B0604020202020204" pitchFamily="34" charset="0"/>
              </a:rPr>
              <a:t>Intuition:</a:t>
            </a:r>
            <a:r>
              <a:rPr lang="en-US" sz="2000" dirty="0">
                <a:latin typeface="Arial" panose="020B0604020202020204" pitchFamily="34" charset="0"/>
                <a:cs typeface="Arial" panose="020B0604020202020204" pitchFamily="34" charset="0"/>
              </a:rPr>
              <a:t> "If everyone had the exact same class size, how strongly would their Verbal scores predict their Math scores?"</a:t>
            </a:r>
          </a:p>
        </p:txBody>
      </p:sp>
    </p:spTree>
    <p:extLst>
      <p:ext uri="{BB962C8B-B14F-4D97-AF65-F5344CB8AC3E}">
        <p14:creationId xmlns:p14="http://schemas.microsoft.com/office/powerpoint/2010/main" val="1716104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2CFE9-06FA-4917-B79E-6F078EA6EFB7}"/>
              </a:ext>
            </a:extLst>
          </p:cNvPr>
          <p:cNvSpPr>
            <a:spLocks noGrp="1"/>
          </p:cNvSpPr>
          <p:nvPr>
            <p:ph type="title"/>
          </p:nvPr>
        </p:nvSpPr>
        <p:spPr>
          <a:xfrm>
            <a:off x="242776" y="195005"/>
            <a:ext cx="10515600" cy="613070"/>
          </a:xfrm>
        </p:spPr>
        <p:txBody>
          <a:bodyPr>
            <a:noAutofit/>
          </a:bodyPr>
          <a:lstStyle/>
          <a:p>
            <a:r>
              <a:rPr lang="en-US" sz="3600" dirty="0">
                <a:latin typeface="Arial" panose="020B0604020202020204" pitchFamily="34" charset="0"/>
                <a:cs typeface="Arial" panose="020B0604020202020204" pitchFamily="34" charset="0"/>
              </a:rPr>
              <a:t>Partial correlation: Running Example</a:t>
            </a:r>
          </a:p>
        </p:txBody>
      </p:sp>
      <p:sp>
        <p:nvSpPr>
          <p:cNvPr id="3" name="Content Placeholder 2">
            <a:extLst>
              <a:ext uri="{FF2B5EF4-FFF2-40B4-BE49-F238E27FC236}">
                <a16:creationId xmlns:a16="http://schemas.microsoft.com/office/drawing/2014/main" id="{73A6B812-AC9B-2C93-6956-1271AC9C3DDA}"/>
              </a:ext>
            </a:extLst>
          </p:cNvPr>
          <p:cNvSpPr>
            <a:spLocks noGrp="1"/>
          </p:cNvSpPr>
          <p:nvPr>
            <p:ph idx="1"/>
          </p:nvPr>
        </p:nvSpPr>
        <p:spPr>
          <a:xfrm>
            <a:off x="356191" y="808075"/>
            <a:ext cx="11438860" cy="4351338"/>
          </a:xfrm>
        </p:spPr>
        <p:txBody>
          <a:bodyPr>
            <a:normAutofit/>
          </a:bodyPr>
          <a:lstStyle/>
          <a:p>
            <a:r>
              <a:rPr lang="en-US" sz="2000" dirty="0">
                <a:latin typeface="Arial" panose="020B0604020202020204" pitchFamily="34" charset="0"/>
                <a:cs typeface="Arial" panose="020B0604020202020204" pitchFamily="34" charset="0"/>
              </a:rPr>
              <a:t>A partial correlation between education and income controls for gender in both variables.</a:t>
            </a:r>
          </a:p>
          <a:p>
            <a:pPr lvl="1"/>
            <a:r>
              <a:rPr lang="en-US" sz="1800" dirty="0">
                <a:latin typeface="Arial" panose="020B0604020202020204" pitchFamily="34" charset="0"/>
                <a:cs typeface="Arial" panose="020B0604020202020204" pitchFamily="34" charset="0"/>
              </a:rPr>
              <a:t>Remove gender effects from income → get residual income.</a:t>
            </a:r>
          </a:p>
          <a:p>
            <a:pPr lvl="1"/>
            <a:r>
              <a:rPr lang="en-US" sz="1800" dirty="0">
                <a:latin typeface="Arial" panose="020B0604020202020204" pitchFamily="34" charset="0"/>
                <a:cs typeface="Arial" panose="020B0604020202020204" pitchFamily="34" charset="0"/>
              </a:rPr>
              <a:t>Remove gender effects from education → get residual education.</a:t>
            </a:r>
          </a:p>
          <a:p>
            <a:pPr lvl="1"/>
            <a:r>
              <a:rPr lang="en-US" sz="1800" dirty="0">
                <a:latin typeface="Arial" panose="020B0604020202020204" pitchFamily="34" charset="0"/>
                <a:cs typeface="Arial" panose="020B0604020202020204" pitchFamily="34" charset="0"/>
              </a:rPr>
              <a:t>Correlate the two residuals.</a:t>
            </a:r>
          </a:p>
          <a:p>
            <a:r>
              <a:rPr lang="en-US" sz="2000" dirty="0">
                <a:latin typeface="Arial" panose="020B0604020202020204" pitchFamily="34" charset="0"/>
                <a:cs typeface="Arial" panose="020B0604020202020204" pitchFamily="34" charset="0"/>
              </a:rPr>
              <a:t>So we examine:</a:t>
            </a:r>
          </a:p>
          <a:p>
            <a:pPr lvl="1"/>
            <a:r>
              <a:rPr lang="en-US" sz="1800" dirty="0">
                <a:latin typeface="Arial" panose="020B0604020202020204" pitchFamily="34" charset="0"/>
                <a:cs typeface="Arial" panose="020B0604020202020204" pitchFamily="34" charset="0"/>
              </a:rPr>
              <a:t>income independent of gender</a:t>
            </a:r>
          </a:p>
          <a:p>
            <a:pPr lvl="1"/>
            <a:r>
              <a:rPr lang="en-US" sz="1800" dirty="0">
                <a:latin typeface="Arial" panose="020B0604020202020204" pitchFamily="34" charset="0"/>
                <a:cs typeface="Arial" panose="020B0604020202020204" pitchFamily="34" charset="0"/>
              </a:rPr>
              <a:t>education independent of gender</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and then correlate them.</a:t>
            </a:r>
          </a:p>
          <a:p>
            <a:pPr lvl="1"/>
            <a:r>
              <a:rPr lang="en-US" sz="1800" dirty="0">
                <a:latin typeface="Arial" panose="020B0604020202020204" pitchFamily="34" charset="0"/>
                <a:cs typeface="Arial" panose="020B0604020202020204" pitchFamily="34" charset="0"/>
              </a:rPr>
              <a:t>This tells us the relationship between education and income net of gender for both variables.</a:t>
            </a:r>
          </a:p>
          <a:p>
            <a:endParaRPr lang="en-US" dirty="0"/>
          </a:p>
        </p:txBody>
      </p:sp>
    </p:spTree>
    <p:extLst>
      <p:ext uri="{BB962C8B-B14F-4D97-AF65-F5344CB8AC3E}">
        <p14:creationId xmlns:p14="http://schemas.microsoft.com/office/powerpoint/2010/main" val="3553769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B948D-AB9B-9E9E-C1B9-7F11085FA5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5A959-F855-48EA-FC94-330BCCB3D295}"/>
              </a:ext>
            </a:extLst>
          </p:cNvPr>
          <p:cNvSpPr>
            <a:spLocks noGrp="1"/>
          </p:cNvSpPr>
          <p:nvPr>
            <p:ph type="title"/>
          </p:nvPr>
        </p:nvSpPr>
        <p:spPr>
          <a:xfrm>
            <a:off x="164432" y="182245"/>
            <a:ext cx="10515600" cy="1325563"/>
          </a:xfrm>
        </p:spPr>
        <p:txBody>
          <a:bodyPr/>
          <a:lstStyle/>
          <a:p>
            <a:r>
              <a:rPr lang="en-US" sz="3600" dirty="0" err="1"/>
              <a:t>Semipartial</a:t>
            </a:r>
            <a:r>
              <a:rPr lang="en-US" sz="3600" dirty="0"/>
              <a:t> correlation</a:t>
            </a:r>
            <a:br>
              <a:rPr lang="en-US" dirty="0"/>
            </a:br>
            <a:r>
              <a:rPr lang="en-US" sz="3200" i="1" dirty="0"/>
              <a:t>Intuition</a:t>
            </a:r>
            <a:endParaRPr lang="en-US" i="1" dirty="0"/>
          </a:p>
        </p:txBody>
      </p:sp>
      <p:sp>
        <p:nvSpPr>
          <p:cNvPr id="3" name="Content Placeholder 2">
            <a:extLst>
              <a:ext uri="{FF2B5EF4-FFF2-40B4-BE49-F238E27FC236}">
                <a16:creationId xmlns:a16="http://schemas.microsoft.com/office/drawing/2014/main" id="{F9B86CB0-7693-0089-F080-17A344E9821E}"/>
              </a:ext>
            </a:extLst>
          </p:cNvPr>
          <p:cNvSpPr>
            <a:spLocks noGrp="1"/>
          </p:cNvSpPr>
          <p:nvPr>
            <p:ph idx="1"/>
          </p:nvPr>
        </p:nvSpPr>
        <p:spPr>
          <a:xfrm>
            <a:off x="260683" y="1411738"/>
            <a:ext cx="11607265" cy="4351338"/>
          </a:xfrm>
        </p:spPr>
        <p:txBody>
          <a:bodyPr>
            <a:normAutofit/>
          </a:bodyPr>
          <a:lstStyle/>
          <a:p>
            <a:r>
              <a:rPr lang="en-US" sz="2000" b="1" dirty="0">
                <a:latin typeface="Arial" panose="020B0604020202020204" pitchFamily="34" charset="0"/>
                <a:cs typeface="Arial" panose="020B0604020202020204" pitchFamily="34" charset="0"/>
              </a:rPr>
              <a:t>Definition:</a:t>
            </a:r>
            <a:r>
              <a:rPr lang="en-US" sz="2000" dirty="0">
                <a:latin typeface="Arial" panose="020B0604020202020204" pitchFamily="34" charset="0"/>
                <a:cs typeface="Arial" panose="020B0604020202020204" pitchFamily="34" charset="0"/>
              </a:rPr>
              <a:t> The correlation between an independent variable and a dependent variable after controlling for the influence of other variables </a:t>
            </a:r>
            <a:r>
              <a:rPr lang="en-US" sz="2000" b="1" dirty="0">
                <a:latin typeface="Arial" panose="020B0604020202020204" pitchFamily="34" charset="0"/>
                <a:cs typeface="Arial" panose="020B0604020202020204" pitchFamily="34" charset="0"/>
              </a:rPr>
              <a:t>only on the independent variable</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Scenario:</a:t>
            </a:r>
            <a:r>
              <a:rPr lang="en-US" sz="2000" dirty="0">
                <a:latin typeface="Arial" panose="020B0604020202020204" pitchFamily="34" charset="0"/>
                <a:cs typeface="Arial" panose="020B0604020202020204" pitchFamily="34" charset="0"/>
              </a:rPr>
              <a:t> Regress SAT Math on SAT Verbal, removing the influence of Class Size from SAT Verbal only.</a:t>
            </a:r>
          </a:p>
          <a:p>
            <a:r>
              <a:rPr lang="en-US" sz="2000" b="1" dirty="0">
                <a:latin typeface="Arial" panose="020B0604020202020204" pitchFamily="34" charset="0"/>
                <a:cs typeface="Arial" panose="020B0604020202020204" pitchFamily="34" charset="0"/>
              </a:rPr>
              <a:t>The "Unaccounted For" Part:</a:t>
            </a:r>
            <a:endParaRPr lang="en-US" sz="2000" dirty="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We remove the effect of Class Size from SAT Verbal to get the "Pure Verbal" score.</a:t>
            </a:r>
          </a:p>
          <a:p>
            <a:pPr lvl="1"/>
            <a:r>
              <a:rPr lang="en-US" sz="2000" dirty="0">
                <a:latin typeface="Arial" panose="020B0604020202020204" pitchFamily="34" charset="0"/>
                <a:cs typeface="Arial" panose="020B0604020202020204" pitchFamily="34" charset="0"/>
              </a:rPr>
              <a:t>We rely on the original, ‘messy’ SAT Math score.</a:t>
            </a:r>
          </a:p>
          <a:p>
            <a:pPr lvl="1"/>
            <a:r>
              <a:rPr lang="en-US" sz="2000" dirty="0">
                <a:latin typeface="Arial" panose="020B0604020202020204" pitchFamily="34" charset="0"/>
                <a:cs typeface="Arial" panose="020B0604020202020204" pitchFamily="34" charset="0"/>
              </a:rPr>
              <a:t>We correlate "Pure Verbal" with the original SAT Math.</a:t>
            </a:r>
          </a:p>
          <a:p>
            <a:r>
              <a:rPr lang="en-US" sz="2000" b="1" dirty="0">
                <a:latin typeface="Arial" panose="020B0604020202020204" pitchFamily="34" charset="0"/>
                <a:cs typeface="Arial" panose="020B0604020202020204" pitchFamily="34" charset="0"/>
              </a:rPr>
              <a:t>Intuition:</a:t>
            </a:r>
            <a:r>
              <a:rPr lang="en-US" sz="2000" dirty="0">
                <a:latin typeface="Arial" panose="020B0604020202020204" pitchFamily="34" charset="0"/>
                <a:cs typeface="Arial" panose="020B0604020202020204" pitchFamily="34" charset="0"/>
              </a:rPr>
              <a:t> "How much of the total variation in Math scores can be explained </a:t>
            </a:r>
            <a:r>
              <a:rPr lang="en-US" sz="2000" i="1" dirty="0">
                <a:latin typeface="Arial" panose="020B0604020202020204" pitchFamily="34" charset="0"/>
                <a:cs typeface="Arial" panose="020B0604020202020204" pitchFamily="34" charset="0"/>
              </a:rPr>
              <a:t>uniquely</a:t>
            </a:r>
            <a:r>
              <a:rPr lang="en-US" sz="2000" dirty="0">
                <a:latin typeface="Arial" panose="020B0604020202020204" pitchFamily="34" charset="0"/>
                <a:cs typeface="Arial" panose="020B0604020202020204" pitchFamily="34" charset="0"/>
              </a:rPr>
              <a:t> by the part of Verbal scores that isn't related to Class Size?"</a:t>
            </a:r>
          </a:p>
          <a:p>
            <a:pPr lvl="1"/>
            <a:r>
              <a:rPr lang="en-US" sz="2000" i="1" dirty="0">
                <a:latin typeface="Arial" panose="020B0604020202020204" pitchFamily="34" charset="0"/>
                <a:cs typeface="Arial" panose="020B0604020202020204" pitchFamily="34" charset="0"/>
              </a:rPr>
              <a:t>Why use this?</a:t>
            </a:r>
            <a:r>
              <a:rPr lang="en-US" sz="2000" dirty="0">
                <a:latin typeface="Arial" panose="020B0604020202020204" pitchFamily="34" charset="0"/>
                <a:cs typeface="Arial" panose="020B0604020202020204" pitchFamily="34" charset="0"/>
              </a:rPr>
              <a:t> This is useful if you want to see how much </a:t>
            </a:r>
            <a:r>
              <a:rPr lang="en-US" sz="2000" b="1" dirty="0">
                <a:latin typeface="Arial" panose="020B0604020202020204" pitchFamily="34" charset="0"/>
                <a:cs typeface="Arial" panose="020B0604020202020204" pitchFamily="34" charset="0"/>
              </a:rPr>
              <a:t>unique variance</a:t>
            </a:r>
            <a:r>
              <a:rPr lang="en-US" sz="2000" dirty="0">
                <a:latin typeface="Arial" panose="020B0604020202020204" pitchFamily="34" charset="0"/>
                <a:cs typeface="Arial" panose="020B0604020202020204" pitchFamily="34" charset="0"/>
              </a:rPr>
              <a:t> (R-squared change) SAT Verbal adds to the model, over and above Class Size.</a:t>
            </a:r>
          </a:p>
        </p:txBody>
      </p:sp>
    </p:spTree>
    <p:extLst>
      <p:ext uri="{BB962C8B-B14F-4D97-AF65-F5344CB8AC3E}">
        <p14:creationId xmlns:p14="http://schemas.microsoft.com/office/powerpoint/2010/main" val="979890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A6777-FF2D-E742-5699-8FC721223801}"/>
              </a:ext>
            </a:extLst>
          </p:cNvPr>
          <p:cNvSpPr>
            <a:spLocks noGrp="1"/>
          </p:cNvSpPr>
          <p:nvPr>
            <p:ph type="title"/>
          </p:nvPr>
        </p:nvSpPr>
        <p:spPr/>
        <p:txBody>
          <a:bodyPr/>
          <a:lstStyle/>
          <a:p>
            <a:r>
              <a:rPr lang="en-US" dirty="0" err="1"/>
              <a:t>Semipartial</a:t>
            </a:r>
            <a:r>
              <a:rPr lang="en-US" dirty="0"/>
              <a:t> (part) correlation</a:t>
            </a:r>
            <a:br>
              <a:rPr lang="en-US" dirty="0"/>
            </a:br>
            <a:endParaRPr lang="en-US" dirty="0"/>
          </a:p>
        </p:txBody>
      </p:sp>
      <p:sp>
        <p:nvSpPr>
          <p:cNvPr id="3" name="Content Placeholder 2">
            <a:extLst>
              <a:ext uri="{FF2B5EF4-FFF2-40B4-BE49-F238E27FC236}">
                <a16:creationId xmlns:a16="http://schemas.microsoft.com/office/drawing/2014/main" id="{08ABADF9-C531-DC7C-E128-CF747EB3F3A4}"/>
              </a:ext>
            </a:extLst>
          </p:cNvPr>
          <p:cNvSpPr>
            <a:spLocks noGrp="1"/>
          </p:cNvSpPr>
          <p:nvPr>
            <p:ph idx="1"/>
          </p:nvPr>
        </p:nvSpPr>
        <p:spPr/>
        <p:txBody>
          <a:bodyPr>
            <a:normAutofit/>
          </a:bodyPr>
          <a:lstStyle/>
          <a:p>
            <a:r>
              <a:rPr lang="en-US" dirty="0"/>
              <a:t>A </a:t>
            </a:r>
            <a:r>
              <a:rPr lang="en-US" b="1" dirty="0" err="1"/>
              <a:t>semipartial</a:t>
            </a:r>
            <a:r>
              <a:rPr lang="en-US" b="1" dirty="0"/>
              <a:t> correlation</a:t>
            </a:r>
            <a:r>
              <a:rPr lang="en-US" dirty="0"/>
              <a:t> removes gender from only </a:t>
            </a:r>
            <a:r>
              <a:rPr lang="en-US" b="1" dirty="0"/>
              <a:t>one</a:t>
            </a:r>
            <a:r>
              <a:rPr lang="en-US" dirty="0"/>
              <a:t> variable—usually the predictor.</a:t>
            </a:r>
          </a:p>
          <a:p>
            <a:pPr lvl="1"/>
            <a:r>
              <a:rPr lang="en-US" dirty="0"/>
              <a:t>Remove gender effects from education.</a:t>
            </a:r>
          </a:p>
          <a:p>
            <a:pPr lvl="1"/>
            <a:r>
              <a:rPr lang="en-US" dirty="0"/>
              <a:t>Correlate that adjusted education with raw income.</a:t>
            </a:r>
          </a:p>
          <a:p>
            <a:pPr lvl="1"/>
            <a:r>
              <a:rPr lang="en-US" dirty="0"/>
              <a:t>This shows </a:t>
            </a:r>
            <a:r>
              <a:rPr lang="en-US" b="1" dirty="0"/>
              <a:t>how much unique variance education contributes to income beyond gender</a:t>
            </a:r>
            <a:r>
              <a:rPr lang="en-US" dirty="0"/>
              <a:t>.</a:t>
            </a:r>
          </a:p>
          <a:p>
            <a:endParaRPr lang="en-US" dirty="0"/>
          </a:p>
        </p:txBody>
      </p:sp>
    </p:spTree>
    <p:extLst>
      <p:ext uri="{BB962C8B-B14F-4D97-AF65-F5344CB8AC3E}">
        <p14:creationId xmlns:p14="http://schemas.microsoft.com/office/powerpoint/2010/main" val="1810344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5398F-CB43-A2AF-B167-A909315AAFDE}"/>
              </a:ext>
            </a:extLst>
          </p:cNvPr>
          <p:cNvSpPr>
            <a:spLocks noGrp="1"/>
          </p:cNvSpPr>
          <p:nvPr>
            <p:ph type="title"/>
          </p:nvPr>
        </p:nvSpPr>
        <p:spPr>
          <a:xfrm>
            <a:off x="164432" y="191871"/>
            <a:ext cx="10515600" cy="646332"/>
          </a:xfrm>
        </p:spPr>
        <p:txBody>
          <a:bodyPr>
            <a:normAutofit/>
          </a:bodyPr>
          <a:lstStyle/>
          <a:p>
            <a:r>
              <a:rPr lang="en-US" sz="3600" dirty="0">
                <a:latin typeface="Arial" panose="020B0604020202020204" pitchFamily="34" charset="0"/>
                <a:cs typeface="Arial" panose="020B0604020202020204" pitchFamily="34" charset="0"/>
              </a:rPr>
              <a:t>Summary</a:t>
            </a:r>
          </a:p>
        </p:txBody>
      </p:sp>
      <p:sp>
        <p:nvSpPr>
          <p:cNvPr id="9" name="TextBox 8">
            <a:extLst>
              <a:ext uri="{FF2B5EF4-FFF2-40B4-BE49-F238E27FC236}">
                <a16:creationId xmlns:a16="http://schemas.microsoft.com/office/drawing/2014/main" id="{121C7007-A472-FDF2-2C02-3C9BCCA6ED11}"/>
              </a:ext>
            </a:extLst>
          </p:cNvPr>
          <p:cNvSpPr txBox="1"/>
          <p:nvPr/>
        </p:nvSpPr>
        <p:spPr>
          <a:xfrm>
            <a:off x="164435" y="838203"/>
            <a:ext cx="10515597"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key difference between partial and </a:t>
            </a:r>
            <a:r>
              <a:rPr kumimoji="0" lang="en-US" sz="20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semipartial</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correlation is in how they adjust for the third variable (</a:t>
            </a:r>
            <a:r>
              <a:rPr kumimoji="0" lang="en-US" sz="20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r>
              <a:rPr kumimoji="0" lang="en-US" sz="2000" b="0" i="1"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2</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and what they tell us about prediction</a:t>
            </a:r>
          </a:p>
        </p:txBody>
      </p:sp>
      <p:graphicFrame>
        <p:nvGraphicFramePr>
          <p:cNvPr id="5" name="Content Placeholder 4">
            <a:extLst>
              <a:ext uri="{FF2B5EF4-FFF2-40B4-BE49-F238E27FC236}">
                <a16:creationId xmlns:a16="http://schemas.microsoft.com/office/drawing/2014/main" id="{4F5FF8AE-7C87-3710-1A29-A424C01ACBE1}"/>
              </a:ext>
            </a:extLst>
          </p:cNvPr>
          <p:cNvGraphicFramePr>
            <a:graphicFrameLocks noGrp="1"/>
          </p:cNvGraphicFramePr>
          <p:nvPr>
            <p:ph idx="1"/>
            <p:extLst>
              <p:ext uri="{D42A27DB-BD31-4B8C-83A1-F6EECF244321}">
                <p14:modId xmlns:p14="http://schemas.microsoft.com/office/powerpoint/2010/main" val="9877365"/>
              </p:ext>
            </p:extLst>
          </p:nvPr>
        </p:nvGraphicFramePr>
        <p:xfrm>
          <a:off x="414528" y="1658112"/>
          <a:ext cx="11472672" cy="4700162"/>
        </p:xfrm>
        <a:graphic>
          <a:graphicData uri="http://schemas.openxmlformats.org/drawingml/2006/table">
            <a:tbl>
              <a:tblPr>
                <a:tableStyleId>{616DA210-FB5B-4158-B5E0-FEB733F419BA}</a:tableStyleId>
              </a:tblPr>
              <a:tblGrid>
                <a:gridCol w="2578711">
                  <a:extLst>
                    <a:ext uri="{9D8B030D-6E8A-4147-A177-3AD203B41FA5}">
                      <a16:colId xmlns:a16="http://schemas.microsoft.com/office/drawing/2014/main" val="1976450558"/>
                    </a:ext>
                  </a:extLst>
                </a:gridCol>
                <a:gridCol w="2578711">
                  <a:extLst>
                    <a:ext uri="{9D8B030D-6E8A-4147-A177-3AD203B41FA5}">
                      <a16:colId xmlns:a16="http://schemas.microsoft.com/office/drawing/2014/main" val="179518809"/>
                    </a:ext>
                  </a:extLst>
                </a:gridCol>
                <a:gridCol w="3450130">
                  <a:extLst>
                    <a:ext uri="{9D8B030D-6E8A-4147-A177-3AD203B41FA5}">
                      <a16:colId xmlns:a16="http://schemas.microsoft.com/office/drawing/2014/main" val="3894321185"/>
                    </a:ext>
                  </a:extLst>
                </a:gridCol>
                <a:gridCol w="2865120">
                  <a:extLst>
                    <a:ext uri="{9D8B030D-6E8A-4147-A177-3AD203B41FA5}">
                      <a16:colId xmlns:a16="http://schemas.microsoft.com/office/drawing/2014/main" val="1795214903"/>
                    </a:ext>
                  </a:extLst>
                </a:gridCol>
              </a:tblGrid>
              <a:tr h="587647">
                <a:tc>
                  <a:txBody>
                    <a:bodyPr/>
                    <a:lstStyle/>
                    <a:p>
                      <a:pPr>
                        <a:buNone/>
                      </a:pPr>
                      <a:r>
                        <a:rPr lang="en-US" sz="2000" b="1" dirty="0">
                          <a:latin typeface="Arial" panose="020B0604020202020204" pitchFamily="34" charset="0"/>
                          <a:cs typeface="Arial" panose="020B0604020202020204" pitchFamily="34" charset="0"/>
                        </a:rPr>
                        <a:t>Type</a:t>
                      </a:r>
                    </a:p>
                  </a:txBody>
                  <a:tcPr marL="80580" marR="80580" marT="40290" marB="40290" anchor="ctr"/>
                </a:tc>
                <a:tc>
                  <a:txBody>
                    <a:bodyPr/>
                    <a:lstStyle/>
                    <a:p>
                      <a:pPr>
                        <a:buNone/>
                      </a:pPr>
                      <a:r>
                        <a:rPr lang="en-US" sz="2000" b="1" dirty="0">
                          <a:latin typeface="Arial" panose="020B0604020202020204" pitchFamily="34" charset="0"/>
                          <a:cs typeface="Arial" panose="020B0604020202020204" pitchFamily="34" charset="0"/>
                        </a:rPr>
                        <a:t>What It Controls For</a:t>
                      </a:r>
                    </a:p>
                  </a:txBody>
                  <a:tcPr marL="80580" marR="80580" marT="40290" marB="40290" anchor="ctr"/>
                </a:tc>
                <a:tc>
                  <a:txBody>
                    <a:bodyPr/>
                    <a:lstStyle/>
                    <a:p>
                      <a:pPr>
                        <a:buNone/>
                      </a:pPr>
                      <a:r>
                        <a:rPr lang="en-US" sz="2000" b="1" dirty="0">
                          <a:latin typeface="Arial" panose="020B0604020202020204" pitchFamily="34" charset="0"/>
                          <a:cs typeface="Arial" panose="020B0604020202020204" pitchFamily="34" charset="0"/>
                        </a:rPr>
                        <a:t>Meaning in terms of Y, X₁, and X₂</a:t>
                      </a:r>
                    </a:p>
                  </a:txBody>
                  <a:tcPr marL="80580" marR="80580" marT="40290" marB="40290" anchor="ctr"/>
                </a:tc>
                <a:tc>
                  <a:txBody>
                    <a:bodyPr/>
                    <a:lstStyle/>
                    <a:p>
                      <a:pPr>
                        <a:buNone/>
                      </a:pPr>
                      <a:r>
                        <a:rPr lang="en-US" sz="2000" b="1" dirty="0">
                          <a:latin typeface="Arial" panose="020B0604020202020204" pitchFamily="34" charset="0"/>
                          <a:cs typeface="Arial" panose="020B0604020202020204" pitchFamily="34" charset="0"/>
                        </a:rPr>
                        <a:t>Regression Interpretation</a:t>
                      </a:r>
                    </a:p>
                  </a:txBody>
                  <a:tcPr marL="80580" marR="80580" marT="40290" marB="40290" anchor="ctr"/>
                </a:tc>
                <a:extLst>
                  <a:ext uri="{0D108BD9-81ED-4DB2-BD59-A6C34878D82A}">
                    <a16:rowId xmlns:a16="http://schemas.microsoft.com/office/drawing/2014/main" val="936141017"/>
                  </a:ext>
                </a:extLst>
              </a:tr>
              <a:tr h="2100602">
                <a:tc>
                  <a:txBody>
                    <a:bodyPr/>
                    <a:lstStyle/>
                    <a:p>
                      <a:pPr>
                        <a:buNone/>
                      </a:pPr>
                      <a:r>
                        <a:rPr lang="en-US" sz="2000" b="0">
                          <a:latin typeface="Arial" panose="020B0604020202020204" pitchFamily="34" charset="0"/>
                          <a:cs typeface="Arial" panose="020B0604020202020204" pitchFamily="34" charset="0"/>
                        </a:rPr>
                        <a:t>Partial correlation</a:t>
                      </a:r>
                    </a:p>
                  </a:txBody>
                  <a:tcPr marL="80580" marR="80580" marT="40290" marB="40290" anchor="ctr"/>
                </a:tc>
                <a:tc>
                  <a:txBody>
                    <a:bodyPr/>
                    <a:lstStyle/>
                    <a:p>
                      <a:pPr>
                        <a:buNone/>
                      </a:pPr>
                      <a:r>
                        <a:rPr lang="en-US" sz="2000" b="0" dirty="0">
                          <a:latin typeface="Arial" panose="020B0604020202020204" pitchFamily="34" charset="0"/>
                          <a:cs typeface="Arial" panose="020B0604020202020204" pitchFamily="34" charset="0"/>
                        </a:rPr>
                        <a:t>Removes the effect of X₂ from both Y and X₁</a:t>
                      </a:r>
                    </a:p>
                  </a:txBody>
                  <a:tcPr marL="80580" marR="80580" marT="40290" marB="40290" anchor="ctr"/>
                </a:tc>
                <a:tc>
                  <a:txBody>
                    <a:bodyPr/>
                    <a:lstStyle/>
                    <a:p>
                      <a:pPr>
                        <a:buNone/>
                      </a:pPr>
                      <a:r>
                        <a:rPr lang="en-US" sz="2000" b="0" dirty="0">
                          <a:latin typeface="Arial" panose="020B0604020202020204" pitchFamily="34" charset="0"/>
                          <a:cs typeface="Arial" panose="020B0604020202020204" pitchFamily="34" charset="0"/>
                        </a:rPr>
                        <a:t>Examines the relationship between Y and X₁ after both have had the influence of X₂ removed, so the association reflects only the variation in Y and X₁ unrelated to X₂.</a:t>
                      </a:r>
                    </a:p>
                  </a:txBody>
                  <a:tcPr marL="80580" marR="80580" marT="40290" marB="40290" anchor="ctr"/>
                </a:tc>
                <a:tc>
                  <a:txBody>
                    <a:bodyPr/>
                    <a:lstStyle/>
                    <a:p>
                      <a:pPr>
                        <a:buNone/>
                      </a:pPr>
                      <a:r>
                        <a:rPr lang="en-US" sz="2000" b="0" dirty="0">
                          <a:latin typeface="Arial" panose="020B0604020202020204" pitchFamily="34" charset="0"/>
                          <a:cs typeface="Arial" panose="020B0604020202020204" pitchFamily="34" charset="0"/>
                        </a:rPr>
                        <a:t>Closely related to the standardized regression coefficient (β) for X₁ in a model predicting Y from X₁ and X₂.</a:t>
                      </a:r>
                    </a:p>
                  </a:txBody>
                  <a:tcPr marL="80580" marR="80580" marT="40290" marB="40290" anchor="ctr"/>
                </a:tc>
                <a:extLst>
                  <a:ext uri="{0D108BD9-81ED-4DB2-BD59-A6C34878D82A}">
                    <a16:rowId xmlns:a16="http://schemas.microsoft.com/office/drawing/2014/main" val="1254534183"/>
                  </a:ext>
                </a:extLst>
              </a:tr>
              <a:tr h="1848443">
                <a:tc>
                  <a:txBody>
                    <a:bodyPr/>
                    <a:lstStyle/>
                    <a:p>
                      <a:pPr>
                        <a:buNone/>
                      </a:pPr>
                      <a:r>
                        <a:rPr lang="en-US" sz="2000" b="0">
                          <a:latin typeface="Arial" panose="020B0604020202020204" pitchFamily="34" charset="0"/>
                          <a:cs typeface="Arial" panose="020B0604020202020204" pitchFamily="34" charset="0"/>
                        </a:rPr>
                        <a:t>Semipartial (part) correlation</a:t>
                      </a:r>
                    </a:p>
                  </a:txBody>
                  <a:tcPr marL="80580" marR="80580" marT="40290" marB="40290" anchor="ctr"/>
                </a:tc>
                <a:tc>
                  <a:txBody>
                    <a:bodyPr/>
                    <a:lstStyle/>
                    <a:p>
                      <a:pPr>
                        <a:buNone/>
                      </a:pPr>
                      <a:r>
                        <a:rPr lang="en-US" sz="2000" b="0">
                          <a:latin typeface="Arial" panose="020B0604020202020204" pitchFamily="34" charset="0"/>
                          <a:cs typeface="Arial" panose="020B0604020202020204" pitchFamily="34" charset="0"/>
                        </a:rPr>
                        <a:t>Removes the effect of X₂ from only X₁</a:t>
                      </a:r>
                    </a:p>
                  </a:txBody>
                  <a:tcPr marL="80580" marR="80580" marT="40290" marB="40290" anchor="ctr"/>
                </a:tc>
                <a:tc>
                  <a:txBody>
                    <a:bodyPr/>
                    <a:lstStyle/>
                    <a:p>
                      <a:pPr>
                        <a:buNone/>
                      </a:pPr>
                      <a:r>
                        <a:rPr lang="en-US" sz="2000" b="0" dirty="0">
                          <a:latin typeface="Arial" panose="020B0604020202020204" pitchFamily="34" charset="0"/>
                          <a:cs typeface="Arial" panose="020B0604020202020204" pitchFamily="34" charset="0"/>
                        </a:rPr>
                        <a:t>Examines how much unique variation in Y is associated with the part of X₁ that is independent of X₂, while Y remains unchanged.</a:t>
                      </a:r>
                    </a:p>
                  </a:txBody>
                  <a:tcPr marL="80580" marR="80580" marT="40290" marB="40290" anchor="ctr"/>
                </a:tc>
                <a:tc>
                  <a:txBody>
                    <a:bodyPr/>
                    <a:lstStyle/>
                    <a:p>
                      <a:pPr>
                        <a:buNone/>
                      </a:pPr>
                      <a:r>
                        <a:rPr lang="en-US" sz="2000" b="0" dirty="0">
                          <a:latin typeface="Arial" panose="020B0604020202020204" pitchFamily="34" charset="0"/>
                          <a:cs typeface="Arial" panose="020B0604020202020204" pitchFamily="34" charset="0"/>
                        </a:rPr>
                        <a:t>The square of this correlation equals the unique R² contribution of X₁ when added to a model already containing X₂.</a:t>
                      </a:r>
                    </a:p>
                  </a:txBody>
                  <a:tcPr marL="80580" marR="80580" marT="40290" marB="40290" anchor="ctr"/>
                </a:tc>
                <a:extLst>
                  <a:ext uri="{0D108BD9-81ED-4DB2-BD59-A6C34878D82A}">
                    <a16:rowId xmlns:a16="http://schemas.microsoft.com/office/drawing/2014/main" val="941555635"/>
                  </a:ext>
                </a:extLst>
              </a:tr>
            </a:tbl>
          </a:graphicData>
        </a:graphic>
      </p:graphicFrame>
      <p:sp>
        <p:nvSpPr>
          <p:cNvPr id="4" name="TextBox 3">
            <a:extLst>
              <a:ext uri="{FF2B5EF4-FFF2-40B4-BE49-F238E27FC236}">
                <a16:creationId xmlns:a16="http://schemas.microsoft.com/office/drawing/2014/main" id="{A5BBAF32-4CD8-720F-0B4C-D744B4029286}"/>
              </a:ext>
            </a:extLst>
          </p:cNvPr>
          <p:cNvSpPr txBox="1"/>
          <p:nvPr/>
        </p:nvSpPr>
        <p:spPr>
          <a:xfrm>
            <a:off x="304800" y="6481463"/>
            <a:ext cx="10265504" cy="369332"/>
          </a:xfrm>
          <a:prstGeom prst="rect">
            <a:avLst/>
          </a:prstGeom>
          <a:noFill/>
        </p:spPr>
        <p:txBody>
          <a:bodyPr wrap="square">
            <a:spAutoFit/>
          </a:bodyPr>
          <a:lstStyle/>
          <a:p>
            <a:r>
              <a:rPr lang="en-US" b="1" dirty="0"/>
              <a:t>https://issues-osu.github.io/statsii-spring2026/slides/MLR/correlate.R</a:t>
            </a:r>
          </a:p>
        </p:txBody>
      </p:sp>
    </p:spTree>
    <p:extLst>
      <p:ext uri="{BB962C8B-B14F-4D97-AF65-F5344CB8AC3E}">
        <p14:creationId xmlns:p14="http://schemas.microsoft.com/office/powerpoint/2010/main" val="67491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BF739-E08F-2B16-F775-6FA5A5EAEA1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560611-4A01-A25C-864A-660FC63D65B4}"/>
              </a:ext>
            </a:extLst>
          </p:cNvPr>
          <p:cNvSpPr>
            <a:spLocks noGrp="1"/>
          </p:cNvSpPr>
          <p:nvPr>
            <p:ph idx="1"/>
          </p:nvPr>
        </p:nvSpPr>
        <p:spPr>
          <a:xfrm>
            <a:off x="243932" y="821920"/>
            <a:ext cx="11300334" cy="4164608"/>
          </a:xfrm>
        </p:spPr>
        <p:txBody>
          <a:bodyPr anchor="t">
            <a:noAutofit/>
          </a:bodyPr>
          <a:lstStyle/>
          <a:p>
            <a:r>
              <a:rPr lang="en-US" sz="2000" b="0" i="0" dirty="0">
                <a:effectLst/>
                <a:latin typeface="Arial" panose="020B0604020202020204" pitchFamily="34" charset="0"/>
                <a:ea typeface="Calibri" panose="020F0502020204030204" pitchFamily="34" charset="0"/>
                <a:cs typeface="Arial" panose="020B0604020202020204" pitchFamily="34" charset="0"/>
              </a:rPr>
              <a:t>A related challenge arises when an important variable is omitted from the model. Confounding occurs when a third variable influences both a predictor and an outcome, distorting the apparent relationship between them.</a:t>
            </a:r>
          </a:p>
          <a:p>
            <a:r>
              <a:rPr lang="en-US" sz="2000" b="0" i="0" dirty="0">
                <a:effectLst/>
                <a:latin typeface="Arial" panose="020B0604020202020204" pitchFamily="34" charset="0"/>
                <a:ea typeface="Calibri" panose="020F0502020204030204" pitchFamily="34" charset="0"/>
                <a:cs typeface="Arial" panose="020B0604020202020204" pitchFamily="34" charset="0"/>
              </a:rPr>
              <a:t>If an omitted variable affects both the predictor and the outcome, the estimated effect of the predictor becomes biased. </a:t>
            </a:r>
          </a:p>
          <a:p>
            <a:pPr lvl="1"/>
            <a:r>
              <a:rPr lang="en-US" sz="1800" b="0" i="0" dirty="0">
                <a:effectLst/>
                <a:latin typeface="Arial" panose="020B0604020202020204" pitchFamily="34" charset="0"/>
                <a:ea typeface="Calibri" panose="020F0502020204030204" pitchFamily="34" charset="0"/>
                <a:cs typeface="Arial" panose="020B0604020202020204" pitchFamily="34" charset="0"/>
              </a:rPr>
              <a:t>This problem is often referred to as </a:t>
            </a:r>
            <a:r>
              <a:rPr lang="en-US" sz="1800" b="1" i="0" dirty="0">
                <a:effectLst/>
                <a:latin typeface="Arial" panose="020B0604020202020204" pitchFamily="34" charset="0"/>
                <a:ea typeface="Calibri" panose="020F0502020204030204" pitchFamily="34" charset="0"/>
                <a:cs typeface="Arial" panose="020B0604020202020204" pitchFamily="34" charset="0"/>
              </a:rPr>
              <a:t>omitted variable bias </a:t>
            </a:r>
            <a:r>
              <a:rPr lang="en-US" sz="1800" b="0" i="0" dirty="0">
                <a:effectLst/>
                <a:latin typeface="Arial" panose="020B0604020202020204" pitchFamily="34" charset="0"/>
                <a:ea typeface="Calibri" panose="020F0502020204030204" pitchFamily="34" charset="0"/>
                <a:cs typeface="Arial" panose="020B0604020202020204" pitchFamily="34" charset="0"/>
              </a:rPr>
              <a:t>and is one of the main ways confounding enters regression models</a:t>
            </a:r>
          </a:p>
          <a:p>
            <a:endParaRPr lang="en-US" sz="2000" b="0" i="0" dirty="0">
              <a:effectLst/>
              <a:latin typeface="Fira Sans" panose="020B0503050000020004" pitchFamily="34" charset="0"/>
            </a:endParaRPr>
          </a:p>
        </p:txBody>
      </p:sp>
      <p:sp>
        <p:nvSpPr>
          <p:cNvPr id="8" name="Title 1">
            <a:extLst>
              <a:ext uri="{FF2B5EF4-FFF2-40B4-BE49-F238E27FC236}">
                <a16:creationId xmlns:a16="http://schemas.microsoft.com/office/drawing/2014/main" id="{851E5D9C-AAD9-F03C-AB87-7B7AAEAF4AEB}"/>
              </a:ext>
            </a:extLst>
          </p:cNvPr>
          <p:cNvSpPr>
            <a:spLocks noGrp="1"/>
          </p:cNvSpPr>
          <p:nvPr>
            <p:ph type="title"/>
          </p:nvPr>
        </p:nvSpPr>
        <p:spPr>
          <a:xfrm>
            <a:off x="118354" y="117821"/>
            <a:ext cx="10515600" cy="704099"/>
          </a:xfrm>
        </p:spPr>
        <p:txBody>
          <a:bodyPr>
            <a:normAutofit/>
          </a:bodyPr>
          <a:lstStyle/>
          <a:p>
            <a:r>
              <a:rPr lang="en-US" sz="3600" dirty="0">
                <a:latin typeface="Arial" panose="020B0604020202020204" pitchFamily="34" charset="0"/>
                <a:cs typeface="Arial" panose="020B0604020202020204" pitchFamily="34" charset="0"/>
              </a:rPr>
              <a:t>What is confounding?</a:t>
            </a:r>
          </a:p>
        </p:txBody>
      </p:sp>
    </p:spTree>
    <p:extLst>
      <p:ext uri="{BB962C8B-B14F-4D97-AF65-F5344CB8AC3E}">
        <p14:creationId xmlns:p14="http://schemas.microsoft.com/office/powerpoint/2010/main" val="1601475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5" name="Picture 4">
            <a:extLst>
              <a:ext uri="{FF2B5EF4-FFF2-40B4-BE49-F238E27FC236}">
                <a16:creationId xmlns:a16="http://schemas.microsoft.com/office/drawing/2014/main" id="{2F079144-141B-A830-F0FF-0C6D85AED2FE}"/>
              </a:ext>
            </a:extLst>
          </p:cNvPr>
          <p:cNvPicPr>
            <a:picLocks noChangeAspect="1"/>
          </p:cNvPicPr>
          <p:nvPr/>
        </p:nvPicPr>
        <p:blipFill>
          <a:blip r:embed="rId2"/>
          <a:stretch>
            <a:fillRect/>
          </a:stretch>
        </p:blipFill>
        <p:spPr>
          <a:xfrm>
            <a:off x="2990995" y="3429000"/>
            <a:ext cx="6624536" cy="2335148"/>
          </a:xfrm>
          <a:prstGeom prst="rect">
            <a:avLst/>
          </a:prstGeom>
        </p:spPr>
      </p:pic>
      <p:sp>
        <p:nvSpPr>
          <p:cNvPr id="3" name="Content Placeholder 2">
            <a:extLst>
              <a:ext uri="{FF2B5EF4-FFF2-40B4-BE49-F238E27FC236}">
                <a16:creationId xmlns:a16="http://schemas.microsoft.com/office/drawing/2014/main" id="{ACA89A03-BC53-30F3-5584-4153F2F04D43}"/>
              </a:ext>
            </a:extLst>
          </p:cNvPr>
          <p:cNvSpPr>
            <a:spLocks noGrp="1"/>
          </p:cNvSpPr>
          <p:nvPr>
            <p:ph idx="1"/>
          </p:nvPr>
        </p:nvSpPr>
        <p:spPr>
          <a:xfrm>
            <a:off x="256124" y="967370"/>
            <a:ext cx="11300334" cy="3151762"/>
          </a:xfrm>
        </p:spPr>
        <p:txBody>
          <a:bodyPr anchor="t">
            <a:noAutofit/>
          </a:bodyPr>
          <a:lstStyle/>
          <a:p>
            <a:r>
              <a:rPr lang="en-US" sz="2000" b="0" i="0" dirty="0">
                <a:effectLst/>
                <a:latin typeface="Arial" panose="020B0604020202020204" pitchFamily="34" charset="0"/>
                <a:cs typeface="Arial" panose="020B0604020202020204" pitchFamily="34" charset="0"/>
              </a:rPr>
              <a:t>To be a confounding factor, three conditions must be met:</a:t>
            </a:r>
          </a:p>
          <a:p>
            <a:pPr lvl="1"/>
            <a:r>
              <a:rPr lang="en-US" sz="2000" b="0" i="0" dirty="0">
                <a:effectLst/>
                <a:latin typeface="Arial" panose="020B0604020202020204" pitchFamily="34" charset="0"/>
                <a:cs typeface="Arial" panose="020B0604020202020204" pitchFamily="34" charset="0"/>
              </a:rPr>
              <a:t>The confounding variable must be associated with the exposure (but not a consequence of the exposure)</a:t>
            </a:r>
          </a:p>
          <a:p>
            <a:pPr lvl="1"/>
            <a:r>
              <a:rPr lang="en-US" sz="2000" b="0" i="0" dirty="0">
                <a:effectLst/>
                <a:latin typeface="Arial" panose="020B0604020202020204" pitchFamily="34" charset="0"/>
                <a:cs typeface="Arial" panose="020B0604020202020204" pitchFamily="34" charset="0"/>
              </a:rPr>
              <a:t>The confounding variable must be associated with the </a:t>
            </a:r>
            <a:r>
              <a:rPr lang="en-US" sz="2000" b="1" i="1" dirty="0">
                <a:effectLst/>
                <a:latin typeface="Arial" panose="020B0604020202020204" pitchFamily="34" charset="0"/>
                <a:cs typeface="Arial" panose="020B0604020202020204" pitchFamily="34" charset="0"/>
              </a:rPr>
              <a:t>outcome independently of exposure</a:t>
            </a:r>
          </a:p>
          <a:p>
            <a:pPr lvl="1"/>
            <a:r>
              <a:rPr lang="en-US" sz="2000" b="0" i="0" dirty="0">
                <a:solidFill>
                  <a:srgbClr val="FF0000"/>
                </a:solidFill>
                <a:effectLst/>
                <a:latin typeface="Arial" panose="020B0604020202020204" pitchFamily="34" charset="0"/>
                <a:cs typeface="Arial" panose="020B0604020202020204" pitchFamily="34" charset="0"/>
              </a:rPr>
              <a:t>The confounding variable cannot be an intermediary step in the causal pathway from the exposure of interest to the outcome of interest.</a:t>
            </a:r>
            <a:endParaRPr lang="en-US" sz="2000" dirty="0">
              <a:solidFill>
                <a:srgbClr val="FF0000"/>
              </a:solidFill>
              <a:latin typeface="Arial" panose="020B06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Rectangle 22">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Title 1">
            <a:extLst>
              <a:ext uri="{FF2B5EF4-FFF2-40B4-BE49-F238E27FC236}">
                <a16:creationId xmlns:a16="http://schemas.microsoft.com/office/drawing/2014/main" id="{8AA687F1-27E0-84CD-53CB-E11876B9EB6A}"/>
              </a:ext>
            </a:extLst>
          </p:cNvPr>
          <p:cNvSpPr>
            <a:spLocks noGrp="1"/>
          </p:cNvSpPr>
          <p:nvPr>
            <p:ph type="title"/>
          </p:nvPr>
        </p:nvSpPr>
        <p:spPr>
          <a:xfrm>
            <a:off x="118354" y="117821"/>
            <a:ext cx="10515600" cy="704099"/>
          </a:xfrm>
        </p:spPr>
        <p:txBody>
          <a:bodyPr/>
          <a:lstStyle/>
          <a:p>
            <a:r>
              <a:rPr lang="en-US" dirty="0"/>
              <a:t>What is confounding?</a:t>
            </a:r>
          </a:p>
        </p:txBody>
      </p:sp>
    </p:spTree>
    <p:extLst>
      <p:ext uri="{BB962C8B-B14F-4D97-AF65-F5344CB8AC3E}">
        <p14:creationId xmlns:p14="http://schemas.microsoft.com/office/powerpoint/2010/main" val="3478782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6DFF9-F0D9-4CE7-EF9D-FC5FA2E3933B}"/>
              </a:ext>
            </a:extLst>
          </p:cNvPr>
          <p:cNvSpPr>
            <a:spLocks noGrp="1"/>
          </p:cNvSpPr>
          <p:nvPr>
            <p:ph type="title"/>
          </p:nvPr>
        </p:nvSpPr>
        <p:spPr>
          <a:xfrm>
            <a:off x="166992" y="250757"/>
            <a:ext cx="10515600" cy="860560"/>
          </a:xfrm>
        </p:spPr>
        <p:txBody>
          <a:bodyPr/>
          <a:lstStyle/>
          <a:p>
            <a:r>
              <a:rPr lang="en-US" dirty="0"/>
              <a:t>What is confounding important?</a:t>
            </a:r>
          </a:p>
        </p:txBody>
      </p:sp>
      <p:sp>
        <p:nvSpPr>
          <p:cNvPr id="3" name="Content Placeholder 2">
            <a:extLst>
              <a:ext uri="{FF2B5EF4-FFF2-40B4-BE49-F238E27FC236}">
                <a16:creationId xmlns:a16="http://schemas.microsoft.com/office/drawing/2014/main" id="{D52BE358-B357-0128-B019-E8703B609D45}"/>
              </a:ext>
            </a:extLst>
          </p:cNvPr>
          <p:cNvSpPr>
            <a:spLocks noGrp="1"/>
          </p:cNvSpPr>
          <p:nvPr>
            <p:ph idx="1"/>
          </p:nvPr>
        </p:nvSpPr>
        <p:spPr>
          <a:xfrm>
            <a:off x="361545" y="1111317"/>
            <a:ext cx="10515600" cy="4351338"/>
          </a:xfrm>
        </p:spPr>
        <p:txBody>
          <a:bodyPr>
            <a:normAutofit/>
          </a:bodyPr>
          <a:lstStyle/>
          <a:p>
            <a:r>
              <a:rPr lang="en-US" sz="2000" dirty="0">
                <a:latin typeface="Arial" panose="020B0604020202020204" pitchFamily="34" charset="0"/>
                <a:ea typeface="Calibri" panose="020F0502020204030204" pitchFamily="34" charset="0"/>
                <a:cs typeface="Arial" panose="020B0604020202020204" pitchFamily="34" charset="0"/>
              </a:rPr>
              <a:t>By controlling for confounding, we can obtain an unbiased estimate of the ‘causal’ relationship between exposure and outcome</a:t>
            </a:r>
          </a:p>
          <a:p>
            <a:r>
              <a:rPr lang="en-US" sz="2000" dirty="0">
                <a:latin typeface="Arial" panose="020B0604020202020204" pitchFamily="34" charset="0"/>
                <a:ea typeface="Calibri" panose="020F0502020204030204" pitchFamily="34" charset="0"/>
                <a:cs typeface="Arial" panose="020B0604020202020204" pitchFamily="34" charset="0"/>
              </a:rPr>
              <a:t>Two ways to deal with confounding</a:t>
            </a:r>
          </a:p>
          <a:p>
            <a:pPr lvl="1"/>
            <a:r>
              <a:rPr lang="en-US" sz="2000" dirty="0">
                <a:latin typeface="Arial" panose="020B0604020202020204" pitchFamily="34" charset="0"/>
                <a:ea typeface="Calibri" panose="020F0502020204030204" pitchFamily="34" charset="0"/>
                <a:cs typeface="Arial" panose="020B0604020202020204" pitchFamily="34" charset="0"/>
              </a:rPr>
              <a:t>The study design phase (by randomization, restriction, and matching)</a:t>
            </a:r>
          </a:p>
          <a:p>
            <a:pPr lvl="1"/>
            <a:r>
              <a:rPr lang="en-US" sz="2000" dirty="0">
                <a:latin typeface="Arial" panose="020B0604020202020204" pitchFamily="34" charset="0"/>
                <a:ea typeface="Calibri" panose="020F0502020204030204" pitchFamily="34" charset="0"/>
                <a:cs typeface="Arial" panose="020B0604020202020204" pitchFamily="34" charset="0"/>
              </a:rPr>
              <a:t>During data analysis (by stratification, propensity score matching, and multivariate analysis - MRL)</a:t>
            </a:r>
          </a:p>
        </p:txBody>
      </p:sp>
    </p:spTree>
    <p:extLst>
      <p:ext uri="{BB962C8B-B14F-4D97-AF65-F5344CB8AC3E}">
        <p14:creationId xmlns:p14="http://schemas.microsoft.com/office/powerpoint/2010/main" val="42783437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B22E3-7153-36E0-90E8-83E895C4D124}"/>
              </a:ext>
            </a:extLst>
          </p:cNvPr>
          <p:cNvSpPr>
            <a:spLocks noGrp="1"/>
          </p:cNvSpPr>
          <p:nvPr>
            <p:ph type="title"/>
          </p:nvPr>
        </p:nvSpPr>
        <p:spPr>
          <a:xfrm>
            <a:off x="838200" y="1710467"/>
            <a:ext cx="10515600" cy="2884786"/>
          </a:xfrm>
        </p:spPr>
        <p:txBody>
          <a:bodyPr>
            <a:normAutofit fontScale="90000"/>
          </a:bodyPr>
          <a:lstStyle/>
          <a:p>
            <a:r>
              <a:rPr lang="en-US" dirty="0"/>
              <a:t>The next four slides are from our paper titled , “</a:t>
            </a:r>
            <a:r>
              <a:rPr lang="en-US" i="1" dirty="0"/>
              <a:t>Redlining, Reinvestment, and Racial Segregation: A Bayesian Spatial Analysis of Mortgage Lending Trajectories and Firearm-Related Violence</a:t>
            </a:r>
            <a:r>
              <a:rPr lang="en-US" dirty="0"/>
              <a:t>” forthcoming in Injury Epidemiology</a:t>
            </a:r>
          </a:p>
        </p:txBody>
      </p:sp>
      <p:sp>
        <p:nvSpPr>
          <p:cNvPr id="3" name="Title 2">
            <a:extLst>
              <a:ext uri="{FF2B5EF4-FFF2-40B4-BE49-F238E27FC236}">
                <a16:creationId xmlns:a16="http://schemas.microsoft.com/office/drawing/2014/main" id="{A063DA63-D466-03D0-C38A-93B591C6CCC5}"/>
              </a:ext>
            </a:extLst>
          </p:cNvPr>
          <p:cNvSpPr txBox="1">
            <a:spLocks/>
          </p:cNvSpPr>
          <p:nvPr/>
        </p:nvSpPr>
        <p:spPr>
          <a:xfrm>
            <a:off x="98897" y="141391"/>
            <a:ext cx="10515600" cy="8508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rPr>
              <a:t>Example </a:t>
            </a:r>
          </a:p>
        </p:txBody>
      </p:sp>
    </p:spTree>
    <p:extLst>
      <p:ext uri="{BB962C8B-B14F-4D97-AF65-F5344CB8AC3E}">
        <p14:creationId xmlns:p14="http://schemas.microsoft.com/office/powerpoint/2010/main" val="13231152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5CF6F-D25F-8DAA-D672-38A56B35AB8C}"/>
              </a:ext>
            </a:extLst>
          </p:cNvPr>
          <p:cNvSpPr>
            <a:spLocks noGrp="1"/>
          </p:cNvSpPr>
          <p:nvPr>
            <p:ph type="title"/>
          </p:nvPr>
        </p:nvSpPr>
        <p:spPr>
          <a:xfrm>
            <a:off x="154541" y="90777"/>
            <a:ext cx="10515600" cy="590260"/>
          </a:xfrm>
        </p:spPr>
        <p:txBody>
          <a:bodyPr>
            <a:normAutofit/>
          </a:bodyPr>
          <a:lstStyle/>
          <a:p>
            <a:r>
              <a:rPr lang="en-US" sz="3600" dirty="0">
                <a:latin typeface="Arial" panose="020B0604020202020204" pitchFamily="34" charset="0"/>
                <a:cs typeface="Arial" panose="020B0604020202020204" pitchFamily="34" charset="0"/>
              </a:rPr>
              <a:t>Example</a:t>
            </a:r>
          </a:p>
        </p:txBody>
      </p:sp>
      <p:sp>
        <p:nvSpPr>
          <p:cNvPr id="3" name="Content Placeholder 2">
            <a:extLst>
              <a:ext uri="{FF2B5EF4-FFF2-40B4-BE49-F238E27FC236}">
                <a16:creationId xmlns:a16="http://schemas.microsoft.com/office/drawing/2014/main" id="{52A1745C-4795-07C5-26D0-A0F4FCA59110}"/>
              </a:ext>
            </a:extLst>
          </p:cNvPr>
          <p:cNvSpPr>
            <a:spLocks noGrp="1"/>
          </p:cNvSpPr>
          <p:nvPr>
            <p:ph idx="1"/>
          </p:nvPr>
        </p:nvSpPr>
        <p:spPr>
          <a:xfrm>
            <a:off x="286642" y="681037"/>
            <a:ext cx="10945238" cy="5184741"/>
          </a:xfrm>
        </p:spPr>
        <p:txBody>
          <a:bodyPr>
            <a:normAutofit/>
          </a:bodyPr>
          <a:lstStyle/>
          <a:p>
            <a:r>
              <a:rPr lang="en-US" sz="2000" b="1" dirty="0">
                <a:latin typeface="Arial" panose="020B0604020202020204" pitchFamily="34" charset="0"/>
                <a:ea typeface="Calibri" panose="020F0502020204030204" pitchFamily="34" charset="0"/>
                <a:cs typeface="Arial" panose="020B0604020202020204" pitchFamily="34" charset="0"/>
              </a:rPr>
              <a:t>Study Objective</a:t>
            </a:r>
            <a:r>
              <a:rPr lang="en-US" sz="2000" dirty="0">
                <a:latin typeface="Arial" panose="020B0604020202020204" pitchFamily="34" charset="0"/>
                <a:ea typeface="Calibri" panose="020F0502020204030204" pitchFamily="34" charset="0"/>
                <a:cs typeface="Arial" panose="020B0604020202020204" pitchFamily="34" charset="0"/>
              </a:rPr>
              <a:t>: Examining the relationship between lending trajectory (historical and contemporary housing discrimination) and firearm-related homicide victimization</a:t>
            </a:r>
          </a:p>
          <a:p>
            <a:pPr lvl="1"/>
            <a:r>
              <a:rPr lang="en-US" sz="1800" b="1" dirty="0">
                <a:latin typeface="Arial" panose="020B0604020202020204" pitchFamily="34" charset="0"/>
                <a:ea typeface="Calibri" panose="020F0502020204030204" pitchFamily="34" charset="0"/>
                <a:cs typeface="Arial" panose="020B0604020202020204" pitchFamily="34" charset="0"/>
              </a:rPr>
              <a:t>Key Variables</a:t>
            </a:r>
            <a:r>
              <a:rPr lang="en-US" sz="1800" dirty="0">
                <a:latin typeface="Arial" panose="020B0604020202020204" pitchFamily="34" charset="0"/>
                <a:ea typeface="Calibri" panose="020F0502020204030204" pitchFamily="34" charset="0"/>
                <a:cs typeface="Arial" panose="020B0604020202020204" pitchFamily="34" charset="0"/>
              </a:rPr>
              <a:t>: </a:t>
            </a:r>
            <a:r>
              <a:rPr lang="en-US" sz="1800" b="1" dirty="0">
                <a:latin typeface="Arial" panose="020B0604020202020204" pitchFamily="34" charset="0"/>
                <a:ea typeface="Calibri" panose="020F0502020204030204" pitchFamily="34" charset="0"/>
                <a:cs typeface="Arial" panose="020B0604020202020204" pitchFamily="34" charset="0"/>
              </a:rPr>
              <a:t>Lending Trajectory</a:t>
            </a:r>
            <a:r>
              <a:rPr lang="en-US" sz="1800" dirty="0">
                <a:latin typeface="Arial" panose="020B0604020202020204" pitchFamily="34" charset="0"/>
                <a:ea typeface="Calibri" panose="020F0502020204030204" pitchFamily="34" charset="0"/>
                <a:cs typeface="Arial" panose="020B0604020202020204" pitchFamily="34" charset="0"/>
              </a:rPr>
              <a:t> (Main Exposure): Sustained Disinvestment, Disinvestment, Growing Investment, High Investment</a:t>
            </a:r>
          </a:p>
          <a:p>
            <a:pPr lvl="1"/>
            <a:r>
              <a:rPr lang="en-US" sz="1800" b="1" dirty="0">
                <a:latin typeface="Arial" panose="020B0604020202020204" pitchFamily="34" charset="0"/>
                <a:ea typeface="Calibri" panose="020F0502020204030204" pitchFamily="34" charset="0"/>
                <a:cs typeface="Arial" panose="020B0604020202020204" pitchFamily="34" charset="0"/>
              </a:rPr>
              <a:t>Firearm-Related Homicide</a:t>
            </a:r>
            <a:r>
              <a:rPr lang="en-US" sz="1800" dirty="0">
                <a:latin typeface="Arial" panose="020B0604020202020204" pitchFamily="34" charset="0"/>
                <a:ea typeface="Calibri" panose="020F0502020204030204" pitchFamily="34" charset="0"/>
                <a:cs typeface="Arial" panose="020B0604020202020204" pitchFamily="34" charset="0"/>
              </a:rPr>
              <a:t> (Outcome)</a:t>
            </a:r>
          </a:p>
          <a:p>
            <a:pPr lvl="1"/>
            <a:r>
              <a:rPr lang="en-US" sz="1800" b="1" dirty="0">
                <a:latin typeface="Arial" panose="020B0604020202020204" pitchFamily="34" charset="0"/>
                <a:ea typeface="Calibri" panose="020F0502020204030204" pitchFamily="34" charset="0"/>
                <a:cs typeface="Arial" panose="020B0604020202020204" pitchFamily="34" charset="0"/>
              </a:rPr>
              <a:t>Possible confounders</a:t>
            </a:r>
          </a:p>
          <a:p>
            <a:pPr lvl="2"/>
            <a:r>
              <a:rPr lang="en-US" sz="1800" b="1" dirty="0">
                <a:latin typeface="Arial" panose="020B0604020202020204" pitchFamily="34" charset="0"/>
                <a:ea typeface="Calibri" panose="020F0502020204030204" pitchFamily="34" charset="0"/>
                <a:cs typeface="Arial" panose="020B0604020202020204" pitchFamily="34" charset="0"/>
              </a:rPr>
              <a:t>Area Deprivation Index (ADI)</a:t>
            </a:r>
            <a:r>
              <a:rPr lang="en-US" sz="1800" dirty="0">
                <a:latin typeface="Arial" panose="020B0604020202020204" pitchFamily="34" charset="0"/>
                <a:ea typeface="Calibri" panose="020F0502020204030204" pitchFamily="34" charset="0"/>
                <a:cs typeface="Arial" panose="020B0604020202020204" pitchFamily="34" charset="0"/>
              </a:rPr>
              <a:t>: Measure of socioeconomic disadvantage</a:t>
            </a:r>
          </a:p>
          <a:p>
            <a:pPr lvl="2"/>
            <a:r>
              <a:rPr lang="en-US" sz="1800" b="1" dirty="0">
                <a:latin typeface="Arial" panose="020B0604020202020204" pitchFamily="34" charset="0"/>
                <a:ea typeface="Calibri" panose="020F0502020204030204" pitchFamily="34" charset="0"/>
                <a:cs typeface="Arial" panose="020B0604020202020204" pitchFamily="34" charset="0"/>
              </a:rPr>
              <a:t>Racial Segregation</a:t>
            </a:r>
            <a:r>
              <a:rPr lang="en-US" sz="1800" dirty="0">
                <a:latin typeface="Arial" panose="020B0604020202020204" pitchFamily="34" charset="0"/>
                <a:ea typeface="Calibri" panose="020F0502020204030204" pitchFamily="34" charset="0"/>
                <a:cs typeface="Arial" panose="020B0604020202020204" pitchFamily="34" charset="0"/>
              </a:rPr>
              <a:t>: Degree of racial isolation within neighborhoods</a:t>
            </a:r>
          </a:p>
          <a:p>
            <a:r>
              <a:rPr lang="en-US" sz="2000" dirty="0">
                <a:latin typeface="Arial" panose="020B0604020202020204" pitchFamily="34" charset="0"/>
                <a:ea typeface="Calibri" panose="020F0502020204030204" pitchFamily="34" charset="0"/>
                <a:cs typeface="Arial" panose="020B0604020202020204" pitchFamily="34" charset="0"/>
              </a:rPr>
              <a:t>Argue that ADI and racial segregation are potential confounders</a:t>
            </a:r>
          </a:p>
          <a:p>
            <a:r>
              <a:rPr lang="en-US" sz="2000" dirty="0">
                <a:latin typeface="Arial" panose="020B0604020202020204" pitchFamily="34" charset="0"/>
                <a:ea typeface="Calibri" panose="020F0502020204030204" pitchFamily="34" charset="0"/>
                <a:cs typeface="Arial" panose="020B0604020202020204" pitchFamily="34" charset="0"/>
              </a:rPr>
              <a:t>Argue that ADI and racial segregation are NOT potential confounders</a:t>
            </a:r>
          </a:p>
        </p:txBody>
      </p:sp>
    </p:spTree>
    <p:extLst>
      <p:ext uri="{BB962C8B-B14F-4D97-AF65-F5344CB8AC3E}">
        <p14:creationId xmlns:p14="http://schemas.microsoft.com/office/powerpoint/2010/main" val="1240449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1000"/>
                                        <p:tgtEl>
                                          <p:spTgt spid="3">
                                            <p:txEl>
                                              <p:pRg st="6" end="6"/>
                                            </p:txEl>
                                          </p:spTgt>
                                        </p:tgtEl>
                                      </p:cBhvr>
                                    </p:animEffect>
                                    <p:anim calcmode="lin" valueType="num">
                                      <p:cBhvr>
                                        <p:cTn id="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7" end="7"/>
                                            </p:txEl>
                                          </p:spTgt>
                                        </p:tgtEl>
                                        <p:attrNameLst>
                                          <p:attrName>style.visibility</p:attrName>
                                        </p:attrNameLst>
                                      </p:cBhvr>
                                      <p:to>
                                        <p:strVal val="visible"/>
                                      </p:to>
                                    </p:set>
                                    <p:animEffect transition="in" filter="fade">
                                      <p:cBhvr>
                                        <p:cTn id="14" dur="1000"/>
                                        <p:tgtEl>
                                          <p:spTgt spid="3">
                                            <p:txEl>
                                              <p:pRg st="7" end="7"/>
                                            </p:txEl>
                                          </p:spTgt>
                                        </p:tgtEl>
                                      </p:cBhvr>
                                    </p:animEffect>
                                    <p:anim calcmode="lin" valueType="num">
                                      <p:cBhvr>
                                        <p:cTn id="1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D515E-9CE6-8624-DDB1-304DED72BE79}"/>
              </a:ext>
            </a:extLst>
          </p:cNvPr>
          <p:cNvSpPr>
            <a:spLocks noGrp="1"/>
          </p:cNvSpPr>
          <p:nvPr>
            <p:ph type="title"/>
          </p:nvPr>
        </p:nvSpPr>
        <p:spPr>
          <a:xfrm>
            <a:off x="176720" y="260484"/>
            <a:ext cx="10515600" cy="841105"/>
          </a:xfrm>
        </p:spPr>
        <p:txBody>
          <a:bodyPr>
            <a:normAutofit fontScale="90000"/>
          </a:bodyPr>
          <a:lstStyle/>
          <a:p>
            <a:r>
              <a:rPr lang="en-US" dirty="0"/>
              <a:t>Conceptual Issues in Adjusting for ADI and Racial Segregation</a:t>
            </a:r>
          </a:p>
        </p:txBody>
      </p:sp>
      <p:sp>
        <p:nvSpPr>
          <p:cNvPr id="3" name="Content Placeholder 2">
            <a:extLst>
              <a:ext uri="{FF2B5EF4-FFF2-40B4-BE49-F238E27FC236}">
                <a16:creationId xmlns:a16="http://schemas.microsoft.com/office/drawing/2014/main" id="{8126C96E-8A82-BE23-8749-AED316292290}"/>
              </a:ext>
            </a:extLst>
          </p:cNvPr>
          <p:cNvSpPr>
            <a:spLocks noGrp="1"/>
          </p:cNvSpPr>
          <p:nvPr>
            <p:ph idx="1"/>
          </p:nvPr>
        </p:nvSpPr>
        <p:spPr>
          <a:xfrm>
            <a:off x="369651" y="1313234"/>
            <a:ext cx="10984149" cy="4863729"/>
          </a:xfrm>
        </p:spPr>
        <p:txBody>
          <a:bodyPr>
            <a:normAutofit/>
          </a:bodyPr>
          <a:lstStyle/>
          <a:p>
            <a:pPr>
              <a:buFont typeface="Arial" panose="020B0604020202020204" pitchFamily="34" charset="0"/>
              <a:buChar char="•"/>
            </a:pPr>
            <a:r>
              <a:rPr lang="en-US" sz="2400" b="1" dirty="0">
                <a:latin typeface="Calibri" panose="020F0502020204030204" pitchFamily="34" charset="0"/>
                <a:ea typeface="Calibri" panose="020F0502020204030204" pitchFamily="34" charset="0"/>
                <a:cs typeface="Calibri" panose="020F0502020204030204" pitchFamily="34" charset="0"/>
              </a:rPr>
              <a:t>Omitting ADI and Racial Segregation</a:t>
            </a:r>
            <a:r>
              <a:rPr lang="en-US" sz="2400" dirty="0">
                <a:latin typeface="Calibri" panose="020F0502020204030204" pitchFamily="34" charset="0"/>
                <a:ea typeface="Calibri" panose="020F0502020204030204" pitchFamily="34" charset="0"/>
                <a:cs typeface="Calibri" panose="020F0502020204030204" pitchFamily="34" charset="0"/>
              </a:rPr>
              <a:t>:</a:t>
            </a:r>
          </a:p>
          <a:p>
            <a:pPr lvl="1"/>
            <a:r>
              <a:rPr lang="en-US" sz="2000" dirty="0">
                <a:latin typeface="Calibri" panose="020F0502020204030204" pitchFamily="34" charset="0"/>
                <a:ea typeface="Calibri" panose="020F0502020204030204" pitchFamily="34" charset="0"/>
                <a:cs typeface="Calibri" panose="020F0502020204030204" pitchFamily="34" charset="0"/>
              </a:rPr>
              <a:t>The key question is whether we should include the Area Deprivation Index (ADI) and racial segregation in the model or leave them out when studying how lending patterns relate to firearm homicide.</a:t>
            </a:r>
          </a:p>
          <a:p>
            <a:pPr lvl="1"/>
            <a:r>
              <a:rPr lang="en-US" sz="2000" dirty="0"/>
              <a:t>If we leave ADI and segregation out, we risk confounding. </a:t>
            </a:r>
          </a:p>
          <a:p>
            <a:pPr lvl="1"/>
            <a:r>
              <a:rPr lang="en-US" sz="2000" dirty="0">
                <a:latin typeface="Calibri" panose="020F0502020204030204" pitchFamily="34" charset="0"/>
                <a:ea typeface="Calibri" panose="020F0502020204030204" pitchFamily="34" charset="0"/>
                <a:cs typeface="Calibri" panose="020F0502020204030204" pitchFamily="34" charset="0"/>
              </a:rPr>
              <a:t>The model risks omitted variable bias, leading to an overestimated or misattributed effect of lending trajectory on firearm-related homicide.</a:t>
            </a:r>
          </a:p>
          <a:p>
            <a:pPr lvl="1"/>
            <a:r>
              <a:rPr lang="en-US" sz="2000" dirty="0"/>
              <a:t>In other words, we could overstate or misinterpret the effect of lending because we are ignoring other structural conditions that also influence violence</a:t>
            </a:r>
          </a:p>
          <a:p>
            <a:r>
              <a:rPr lang="en-US" sz="2400" b="1" dirty="0">
                <a:latin typeface="Calibri" panose="020F0502020204030204" pitchFamily="34" charset="0"/>
                <a:ea typeface="Calibri" panose="020F0502020204030204" pitchFamily="34" charset="0"/>
                <a:cs typeface="Calibri" panose="020F0502020204030204" pitchFamily="34" charset="0"/>
              </a:rPr>
              <a:t>Including ADI and Racial Segregation as Covariates</a:t>
            </a:r>
            <a:r>
              <a:rPr lang="en-US" sz="2400" dirty="0">
                <a:latin typeface="Calibri" panose="020F0502020204030204" pitchFamily="34" charset="0"/>
                <a:ea typeface="Calibri" panose="020F0502020204030204" pitchFamily="34" charset="0"/>
                <a:cs typeface="Calibri" panose="020F0502020204030204" pitchFamily="34" charset="0"/>
              </a:rPr>
              <a:t>:</a:t>
            </a:r>
          </a:p>
          <a:p>
            <a:pPr lvl="1"/>
            <a:r>
              <a:rPr lang="en-US" sz="2000" u="sng" dirty="0">
                <a:latin typeface="Calibri" panose="020F0502020204030204" pitchFamily="34" charset="0"/>
                <a:ea typeface="Calibri" panose="020F0502020204030204" pitchFamily="34" charset="0"/>
                <a:cs typeface="Calibri" panose="020F0502020204030204" pitchFamily="34" charset="0"/>
              </a:rPr>
              <a:t>For</a:t>
            </a:r>
            <a:r>
              <a:rPr lang="en-US" sz="2000" dirty="0">
                <a:latin typeface="Calibri" panose="020F0502020204030204" pitchFamily="34" charset="0"/>
                <a:ea typeface="Calibri" panose="020F0502020204030204" pitchFamily="34" charset="0"/>
                <a:cs typeface="Calibri" panose="020F0502020204030204" pitchFamily="34" charset="0"/>
              </a:rPr>
              <a:t>: If ADI and segregation are </a:t>
            </a:r>
            <a:r>
              <a:rPr lang="en-US" sz="2000" b="1" dirty="0">
                <a:latin typeface="Calibri" panose="020F0502020204030204" pitchFamily="34" charset="0"/>
                <a:ea typeface="Calibri" panose="020F0502020204030204" pitchFamily="34" charset="0"/>
                <a:cs typeface="Calibri" panose="020F0502020204030204" pitchFamily="34" charset="0"/>
              </a:rPr>
              <a:t>confounders</a:t>
            </a:r>
            <a:r>
              <a:rPr lang="en-US" sz="2000" dirty="0">
                <a:latin typeface="Calibri" panose="020F0502020204030204" pitchFamily="34" charset="0"/>
                <a:ea typeface="Calibri" panose="020F0502020204030204" pitchFamily="34" charset="0"/>
                <a:cs typeface="Calibri" panose="020F0502020204030204" pitchFamily="34" charset="0"/>
              </a:rPr>
              <a:t>, their inclusion helps isolate the true effect of lending trajectory</a:t>
            </a:r>
          </a:p>
          <a:p>
            <a:pPr lvl="1"/>
            <a:r>
              <a:rPr lang="en-US" sz="2000" u="sng" dirty="0">
                <a:latin typeface="Calibri" panose="020F0502020204030204" pitchFamily="34" charset="0"/>
                <a:ea typeface="Calibri" panose="020F0502020204030204" pitchFamily="34" charset="0"/>
                <a:cs typeface="Calibri" panose="020F0502020204030204" pitchFamily="34" charset="0"/>
              </a:rPr>
              <a:t>Against</a:t>
            </a:r>
            <a:r>
              <a:rPr lang="en-US" sz="2000" dirty="0">
                <a:latin typeface="Calibri" panose="020F0502020204030204" pitchFamily="34" charset="0"/>
                <a:ea typeface="Calibri" panose="020F0502020204030204" pitchFamily="34" charset="0"/>
                <a:cs typeface="Calibri" panose="020F0502020204030204" pitchFamily="34" charset="0"/>
              </a:rPr>
              <a:t>: risks over-adjustment if these variables are actually part of the causal pathway (i.e., mediators).</a:t>
            </a:r>
          </a:p>
        </p:txBody>
      </p:sp>
    </p:spTree>
    <p:extLst>
      <p:ext uri="{BB962C8B-B14F-4D97-AF65-F5344CB8AC3E}">
        <p14:creationId xmlns:p14="http://schemas.microsoft.com/office/powerpoint/2010/main" val="3299677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 calcmode="lin" valueType="num">
                                      <p:cBhvr additive="base">
                                        <p:cTn id="1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F1F0E-A50C-0F0A-BEF5-B2BE4D907EB6}"/>
              </a:ext>
            </a:extLst>
          </p:cNvPr>
          <p:cNvSpPr>
            <a:spLocks noGrp="1"/>
          </p:cNvSpPr>
          <p:nvPr>
            <p:ph type="title"/>
          </p:nvPr>
        </p:nvSpPr>
        <p:spPr>
          <a:xfrm>
            <a:off x="95922" y="130316"/>
            <a:ext cx="10515600" cy="827116"/>
          </a:xfrm>
        </p:spPr>
        <p:txBody>
          <a:bodyPr/>
          <a:lstStyle/>
          <a:p>
            <a:r>
              <a:rPr lang="en-US" dirty="0"/>
              <a:t>Simple confounding</a:t>
            </a:r>
          </a:p>
        </p:txBody>
      </p:sp>
      <p:pic>
        <p:nvPicPr>
          <p:cNvPr id="5" name="Content Placeholder 4" descr="A triangle with black lines and a black circle&#10;&#10;Description automatically generated">
            <a:extLst>
              <a:ext uri="{FF2B5EF4-FFF2-40B4-BE49-F238E27FC236}">
                <a16:creationId xmlns:a16="http://schemas.microsoft.com/office/drawing/2014/main" id="{427D2ADE-339A-E413-0B4A-7A848EDE45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8561" y="1581944"/>
            <a:ext cx="5798499" cy="3694113"/>
          </a:xfrm>
        </p:spPr>
      </p:pic>
      <p:pic>
        <p:nvPicPr>
          <p:cNvPr id="7" name="Picture 6" descr="A black line with a circle and a black circle&#10;&#10;Description automatically generated">
            <a:extLst>
              <a:ext uri="{FF2B5EF4-FFF2-40B4-BE49-F238E27FC236}">
                <a16:creationId xmlns:a16="http://schemas.microsoft.com/office/drawing/2014/main" id="{4A8AD569-9575-5C01-6349-206E188CAC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7060" y="1581942"/>
            <a:ext cx="5996379" cy="3820179"/>
          </a:xfrm>
          <a:prstGeom prst="rect">
            <a:avLst/>
          </a:prstGeom>
        </p:spPr>
      </p:pic>
      <p:sp>
        <p:nvSpPr>
          <p:cNvPr id="8" name="TextBox 7">
            <a:extLst>
              <a:ext uri="{FF2B5EF4-FFF2-40B4-BE49-F238E27FC236}">
                <a16:creationId xmlns:a16="http://schemas.microsoft.com/office/drawing/2014/main" id="{BD890CDF-6039-6C81-2AA6-3018FEA7C7AC}"/>
              </a:ext>
            </a:extLst>
          </p:cNvPr>
          <p:cNvSpPr txBox="1"/>
          <p:nvPr/>
        </p:nvSpPr>
        <p:spPr>
          <a:xfrm>
            <a:off x="612843" y="5807413"/>
            <a:ext cx="118263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a:ln>
                  <a:noFill/>
                </a:ln>
                <a:solidFill>
                  <a:prstClr val="black"/>
                </a:solidFill>
                <a:effectLst/>
                <a:uLnTx/>
                <a:uFillTx/>
                <a:latin typeface="Aptos" panose="02110004020202020204"/>
                <a:ea typeface="+mn-ea"/>
                <a:cs typeface="+mn-cs"/>
              </a:rPr>
              <a:t>dag_ex.R</a:t>
            </a:r>
            <a:endPar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87531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FE939E2-AD1E-7766-6720-1CC62DD41739}"/>
              </a:ext>
            </a:extLst>
          </p:cNvPr>
          <p:cNvPicPr>
            <a:picLocks noChangeAspect="1"/>
          </p:cNvPicPr>
          <p:nvPr/>
        </p:nvPicPr>
        <p:blipFill>
          <a:blip r:embed="rId2"/>
          <a:stretch>
            <a:fillRect/>
          </a:stretch>
        </p:blipFill>
        <p:spPr>
          <a:xfrm>
            <a:off x="7379795" y="647137"/>
            <a:ext cx="4650839" cy="5469913"/>
          </a:xfrm>
          <a:prstGeom prst="rect">
            <a:avLst/>
          </a:prstGeom>
        </p:spPr>
      </p:pic>
      <mc:AlternateContent xmlns:mc="http://schemas.openxmlformats.org/markup-compatibility/2006" xmlns:a14="http://schemas.microsoft.com/office/drawing/2010/main">
        <mc:Choice Requires="a14">
          <p:graphicFrame>
            <p:nvGraphicFramePr>
              <p:cNvPr id="9" name="Content Placeholder 3">
                <a:extLst>
                  <a:ext uri="{FF2B5EF4-FFF2-40B4-BE49-F238E27FC236}">
                    <a16:creationId xmlns:a16="http://schemas.microsoft.com/office/drawing/2014/main" id="{84B4C39A-666C-A7F0-EFD7-816DBEF282D1}"/>
                  </a:ext>
                </a:extLst>
              </p:cNvPr>
              <p:cNvGraphicFramePr>
                <a:graphicFrameLocks noGrp="1"/>
              </p:cNvGraphicFramePr>
              <p:nvPr>
                <p:ph idx="1"/>
              </p:nvPr>
            </p:nvGraphicFramePr>
            <p:xfrm>
              <a:off x="161366" y="755812"/>
              <a:ext cx="6970955" cy="5319886"/>
            </p:xfrm>
            <a:graphic>
              <a:graphicData uri="http://schemas.openxmlformats.org/drawingml/2006/table">
                <a:tbl>
                  <a:tblPr firstRow="1" firstCol="1" bandRow="1">
                    <a:tableStyleId>{3B4B98B0-60AC-42C2-AFA5-B58CD77FA1E5}</a:tableStyleId>
                  </a:tblPr>
                  <a:tblGrid>
                    <a:gridCol w="2850776">
                      <a:extLst>
                        <a:ext uri="{9D8B030D-6E8A-4147-A177-3AD203B41FA5}">
                          <a16:colId xmlns:a16="http://schemas.microsoft.com/office/drawing/2014/main" val="3580082454"/>
                        </a:ext>
                      </a:extLst>
                    </a:gridCol>
                    <a:gridCol w="1968650">
                      <a:extLst>
                        <a:ext uri="{9D8B030D-6E8A-4147-A177-3AD203B41FA5}">
                          <a16:colId xmlns:a16="http://schemas.microsoft.com/office/drawing/2014/main" val="2902192951"/>
                        </a:ext>
                      </a:extLst>
                    </a:gridCol>
                    <a:gridCol w="2151529">
                      <a:extLst>
                        <a:ext uri="{9D8B030D-6E8A-4147-A177-3AD203B41FA5}">
                          <a16:colId xmlns:a16="http://schemas.microsoft.com/office/drawing/2014/main" val="754021407"/>
                        </a:ext>
                      </a:extLst>
                    </a:gridCol>
                  </a:tblGrid>
                  <a:tr h="133631">
                    <a:tc gridSpan="3">
                      <a:txBody>
                        <a:bodyPr/>
                        <a:lstStyle/>
                        <a:p>
                          <a:pPr marL="0" marR="0"/>
                          <a:r>
                            <a:rPr lang="en-US" sz="1800" kern="100" dirty="0">
                              <a:effectLst/>
                            </a:rPr>
                            <a:t>Table 3. </a:t>
                          </a:r>
                          <a:r>
                            <a:rPr lang="en-US" sz="1800" b="0" kern="100" dirty="0">
                              <a:effectLst/>
                            </a:rPr>
                            <a:t>Summary of Exponentiated Fixed Effects</a:t>
                          </a:r>
                          <a:endParaRPr lang="en-US" sz="18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58044790"/>
                      </a:ext>
                    </a:extLst>
                  </a:tr>
                  <a:tr h="267263">
                    <a:tc>
                      <a:txBody>
                        <a:bodyPr/>
                        <a:lstStyle/>
                        <a:p>
                          <a:pPr marL="0" marR="0"/>
                          <a:r>
                            <a:rPr lang="en-US" sz="1200" kern="100" dirty="0">
                              <a:effectLst/>
                            </a:rPr>
                            <a: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b="1" kern="100" dirty="0">
                              <a:effectLst/>
                            </a:rPr>
                            <a:t>Model without ADI &amp; Racial Segregation (Mean [95% CrI])</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nchor="ctr"/>
                    </a:tc>
                    <a:tc>
                      <a:txBody>
                        <a:bodyPr/>
                        <a:lstStyle/>
                        <a:p>
                          <a:pPr marL="0" marR="0" algn="r"/>
                          <a:r>
                            <a:rPr lang="en-US" sz="1600" b="1" kern="100" dirty="0">
                              <a:effectLst/>
                            </a:rPr>
                            <a:t>Model with ADI &amp; Racial Segregation (Mean [95% CrI])</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294608612"/>
                      </a:ext>
                    </a:extLst>
                  </a:tr>
                  <a:tr h="267263">
                    <a:tc>
                      <a:txBody>
                        <a:bodyPr/>
                        <a:lstStyle/>
                        <a:p>
                          <a:pPr marL="0" marR="0"/>
                          <a:r>
                            <a:rPr lang="en-US" sz="1600" kern="100" dirty="0">
                              <a:effectLst/>
                            </a:rPr>
                            <a:t>(Intercept)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0.432 [0.265, 0.698]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0.038 [0.011, 0.124]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128242831"/>
                      </a:ext>
                    </a:extLst>
                  </a:tr>
                  <a:tr h="0">
                    <a:tc>
                      <a:txBody>
                        <a:bodyPr/>
                        <a:lstStyle/>
                        <a:p>
                          <a:pPr marL="0" marR="0"/>
                          <a:r>
                            <a:rPr lang="en-US" sz="1600" kern="100" dirty="0">
                              <a:effectLst/>
                            </a:rPr>
                            <a:t>Lending Trajectory</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082069846"/>
                      </a:ext>
                    </a:extLst>
                  </a:tr>
                  <a:tr h="91074">
                    <a:tc>
                      <a:txBody>
                        <a:bodyPr/>
                        <a:lstStyle/>
                        <a:p>
                          <a:pPr marL="0" marR="0"/>
                          <a:r>
                            <a:rPr lang="en-US" sz="1600" kern="100" dirty="0">
                              <a:effectLst/>
                            </a:rPr>
                            <a:t> </a:t>
                          </a:r>
                          <a14:m>
                            <m:oMath xmlns:m="http://schemas.openxmlformats.org/officeDocument/2006/math">
                              <m:sSub>
                                <m:sSubPr>
                                  <m:ctrlPr>
                                    <a:rPr lang="en-US" sz="1600" i="1" kern="10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1:</m:t>
                                  </m:r>
                                </m:sub>
                              </m:sSub>
                            </m:oMath>
                          </a14:m>
                          <a:r>
                            <a:rPr lang="en-US" sz="1600" kern="100" dirty="0">
                              <a:effectLst/>
                            </a:rPr>
                            <a:t> Growing investment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0.782 [0.452, 1.349]</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1.987 [1.144, 3.458]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75238891"/>
                      </a:ext>
                    </a:extLst>
                  </a:tr>
                  <a:tr h="0">
                    <a:tc>
                      <a:txBody>
                        <a:bodyPr/>
                        <a:lstStyle/>
                        <a:p>
                          <a:pPr marL="0" marR="0"/>
                          <a:r>
                            <a:rPr lang="en-US" sz="1600" kern="100">
                              <a:effectLst/>
                            </a:rPr>
                            <a:t> </a:t>
                          </a:r>
                          <a14:m>
                            <m:oMath xmlns:m="http://schemas.openxmlformats.org/officeDocument/2006/math">
                              <m:sSub>
                                <m:sSubPr>
                                  <m:ctrlPr>
                                    <a:rPr lang="en-US" sz="1600" i="1" kern="10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2:</m:t>
                                  </m:r>
                                </m:sub>
                              </m:sSub>
                              <m:r>
                                <a:rPr lang="en-US" sz="1600" kern="100">
                                  <a:effectLst/>
                                  <a:latin typeface="Cambria Math" panose="02040503050406030204" pitchFamily="18" charset="0"/>
                                </a:rPr>
                                <m:t> </m:t>
                              </m:r>
                            </m:oMath>
                          </a14:m>
                          <a:r>
                            <a:rPr lang="en-US" sz="1600" kern="100">
                              <a:effectLst/>
                            </a:rPr>
                            <a:t>High investment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0.146 [0.054, 0.397]</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1.031 [0.382, 2.770]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11933604"/>
                      </a:ext>
                    </a:extLst>
                  </a:tr>
                  <a:tr h="97063">
                    <a:tc>
                      <a:txBody>
                        <a:bodyPr/>
                        <a:lstStyle/>
                        <a:p>
                          <a:pPr marL="0" marR="0"/>
                          <a:r>
                            <a:rPr lang="en-US" sz="1600" kern="100" dirty="0">
                              <a:effectLst/>
                            </a:rPr>
                            <a:t> </a:t>
                          </a:r>
                          <a14:m>
                            <m:oMath xmlns:m="http://schemas.openxmlformats.org/officeDocument/2006/math">
                              <m:sSub>
                                <m:sSubPr>
                                  <m:ctrlPr>
                                    <a:rPr lang="en-US" sz="1600" i="1" kern="10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3</m:t>
                                  </m:r>
                                </m:sub>
                              </m:sSub>
                              <m:r>
                                <a:rPr lang="en-US" sz="1600" kern="100">
                                  <a:effectLst/>
                                  <a:latin typeface="Cambria Math" panose="02040503050406030204" pitchFamily="18" charset="0"/>
                                </a:rPr>
                                <m:t>: </m:t>
                              </m:r>
                            </m:oMath>
                          </a14:m>
                          <a:r>
                            <a:rPr lang="en-US" sz="1600" kern="100" dirty="0">
                              <a:effectLst/>
                            </a:rPr>
                            <a:t>Sustained disinvestment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2.230 [1.352, 3.681]</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1.714 [1.054, 2.791]</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839612905"/>
                      </a:ext>
                    </a:extLst>
                  </a:tr>
                  <a:tr h="0">
                    <a:tc>
                      <a:txBody>
                        <a:bodyPr/>
                        <a:lstStyle/>
                        <a:p>
                          <a:pPr marL="0" marR="0"/>
                          <a:r>
                            <a:rPr lang="en-US" sz="1600" kern="100">
                              <a:effectLst/>
                            </a:rPr>
                            <a:t>Area Level Deprivation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970716066"/>
                      </a:ext>
                    </a:extLst>
                  </a:tr>
                  <a:tr h="133631">
                    <a:tc>
                      <a:txBody>
                        <a:bodyPr/>
                        <a:lstStyle/>
                        <a:p>
                          <a:pPr marL="0" marR="0"/>
                          <a:r>
                            <a:rPr lang="en-US" sz="1600" kern="100">
                              <a:effectLst/>
                            </a:rPr>
                            <a:t>  </a:t>
                          </a:r>
                          <a14:m>
                            <m:oMath xmlns:m="http://schemas.openxmlformats.org/officeDocument/2006/math">
                              <m:sSub>
                                <m:sSubPr>
                                  <m:ctrlPr>
                                    <a:rPr lang="en-US" sz="1600" i="1" kern="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4:</m:t>
                                  </m:r>
                                </m:sub>
                              </m:sSub>
                              <m:r>
                                <a:rPr lang="en-US" sz="1600" kern="0">
                                  <a:effectLst/>
                                  <a:latin typeface="Cambria Math" panose="02040503050406030204" pitchFamily="18" charset="0"/>
                                </a:rPr>
                                <m:t> </m:t>
                              </m:r>
                            </m:oMath>
                          </a14:m>
                          <a:r>
                            <a:rPr lang="en-US" sz="1600" kern="100">
                              <a:effectLst/>
                            </a:rPr>
                            <a:t>Q2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0.653 [0.120, 2.137]</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880948838"/>
                      </a:ext>
                    </a:extLst>
                  </a:tr>
                  <a:tr h="133631">
                    <a:tc>
                      <a:txBody>
                        <a:bodyPr/>
                        <a:lstStyle/>
                        <a:p>
                          <a:pPr marL="0" marR="0"/>
                          <a:r>
                            <a:rPr lang="en-US" sz="1600" kern="100">
                              <a:effectLst/>
                            </a:rPr>
                            <a:t>  </a:t>
                          </a:r>
                          <a14:m>
                            <m:oMath xmlns:m="http://schemas.openxmlformats.org/officeDocument/2006/math">
                              <m:sSub>
                                <m:sSubPr>
                                  <m:ctrlPr>
                                    <a:rPr lang="en-US" sz="1600" i="1" kern="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5:</m:t>
                                  </m:r>
                                </m:sub>
                              </m:sSub>
                              <m:r>
                                <a:rPr lang="en-US" sz="1600" kern="0">
                                  <a:effectLst/>
                                  <a:latin typeface="Cambria Math" panose="02040503050406030204" pitchFamily="18" charset="0"/>
                                </a:rPr>
                                <m:t> </m:t>
                              </m:r>
                            </m:oMath>
                          </a14:m>
                          <a:r>
                            <a:rPr lang="en-US" sz="1600" kern="100">
                              <a:effectLst/>
                            </a:rPr>
                            <a:t>Q3</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0.192 [0.042, 0.874]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665745627"/>
                      </a:ext>
                    </a:extLst>
                  </a:tr>
                  <a:tr h="133631">
                    <a:tc>
                      <a:txBody>
                        <a:bodyPr/>
                        <a:lstStyle/>
                        <a:p>
                          <a:pPr marL="0" marR="0"/>
                          <a:r>
                            <a:rPr lang="en-US" sz="1600" kern="100">
                              <a:effectLst/>
                            </a:rPr>
                            <a:t>  </a:t>
                          </a:r>
                          <a14:m>
                            <m:oMath xmlns:m="http://schemas.openxmlformats.org/officeDocument/2006/math">
                              <m:sSub>
                                <m:sSubPr>
                                  <m:ctrlPr>
                                    <a:rPr lang="en-US" sz="1600" i="1" kern="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6:</m:t>
                                  </m:r>
                                </m:sub>
                              </m:sSub>
                              <m:r>
                                <a:rPr lang="en-US" sz="1600" kern="0">
                                  <a:effectLst/>
                                  <a:latin typeface="Cambria Math" panose="02040503050406030204" pitchFamily="18" charset="0"/>
                                </a:rPr>
                                <m:t> </m:t>
                              </m:r>
                            </m:oMath>
                          </a14:m>
                          <a:r>
                            <a:rPr lang="en-US" sz="1600" kern="100">
                              <a:effectLst/>
                            </a:rPr>
                            <a:t>Q4</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0.836 [0.244, 2.863]</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843408630"/>
                      </a:ext>
                    </a:extLst>
                  </a:tr>
                  <a:tr h="133631">
                    <a:tc>
                      <a:txBody>
                        <a:bodyPr/>
                        <a:lstStyle/>
                        <a:p>
                          <a:pPr marL="0" marR="0"/>
                          <a:r>
                            <a:rPr lang="en-US" sz="1600" kern="100">
                              <a:effectLst/>
                            </a:rPr>
                            <a:t>  </a:t>
                          </a:r>
                          <a14:m>
                            <m:oMath xmlns:m="http://schemas.openxmlformats.org/officeDocument/2006/math">
                              <m:sSub>
                                <m:sSubPr>
                                  <m:ctrlPr>
                                    <a:rPr lang="en-US" sz="1600" i="1" kern="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7:</m:t>
                                  </m:r>
                                </m:sub>
                              </m:sSub>
                              <m:r>
                                <a:rPr lang="en-US" sz="1600" kern="0">
                                  <a:effectLst/>
                                  <a:latin typeface="Cambria Math" panose="02040503050406030204" pitchFamily="18" charset="0"/>
                                </a:rPr>
                                <m:t> </m:t>
                              </m:r>
                            </m:oMath>
                          </a14:m>
                          <a:r>
                            <a:rPr lang="en-US" sz="1600" kern="100">
                              <a:effectLst/>
                            </a:rPr>
                            <a:t>Q5</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0.486 [0.125, 1.891]</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96257324"/>
                      </a:ext>
                    </a:extLst>
                  </a:tr>
                  <a:tr h="133631">
                    <a:tc>
                      <a:txBody>
                        <a:bodyPr/>
                        <a:lstStyle/>
                        <a:p>
                          <a:pPr marL="0" marR="0"/>
                          <a:r>
                            <a:rPr lang="en-US" sz="1600" kern="100">
                              <a:effectLst/>
                            </a:rPr>
                            <a:t>  </a:t>
                          </a:r>
                          <a14:m>
                            <m:oMath xmlns:m="http://schemas.openxmlformats.org/officeDocument/2006/math">
                              <m:sSub>
                                <m:sSubPr>
                                  <m:ctrlPr>
                                    <a:rPr lang="en-US" sz="1600" i="1" kern="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8:</m:t>
                                  </m:r>
                                </m:sub>
                              </m:sSub>
                              <m:r>
                                <a:rPr lang="en-US" sz="1600" kern="0">
                                  <a:effectLst/>
                                  <a:latin typeface="Cambria Math" panose="02040503050406030204" pitchFamily="18" charset="0"/>
                                </a:rPr>
                                <m:t> </m:t>
                              </m:r>
                            </m:oMath>
                          </a14:m>
                          <a:r>
                            <a:rPr lang="en-US" sz="1600" kern="100">
                              <a:effectLst/>
                            </a:rPr>
                            <a:t>Q6</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0.575 [0.141, 2.352]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748155098"/>
                      </a:ext>
                    </a:extLst>
                  </a:tr>
                  <a:tr h="133631">
                    <a:tc>
                      <a:txBody>
                        <a:bodyPr/>
                        <a:lstStyle/>
                        <a:p>
                          <a:pPr marL="0" marR="0"/>
                          <a:r>
                            <a:rPr lang="en-US" sz="1600" kern="100">
                              <a:effectLst/>
                            </a:rPr>
                            <a:t>  </a:t>
                          </a:r>
                          <a14:m>
                            <m:oMath xmlns:m="http://schemas.openxmlformats.org/officeDocument/2006/math">
                              <m:sSub>
                                <m:sSubPr>
                                  <m:ctrlPr>
                                    <a:rPr lang="en-US" sz="1600" i="1" kern="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9:</m:t>
                                  </m:r>
                                </m:sub>
                              </m:sSub>
                            </m:oMath>
                          </a14:m>
                          <a:r>
                            <a:rPr lang="en-US" sz="1600" kern="100">
                              <a:effectLst/>
                            </a:rPr>
                            <a:t>Q7</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0.923 [0.227, 3.770]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140751169"/>
                      </a:ext>
                    </a:extLst>
                  </a:tr>
                  <a:tr h="133631">
                    <a:tc>
                      <a:txBody>
                        <a:bodyPr/>
                        <a:lstStyle/>
                        <a:p>
                          <a:pPr marL="0" marR="0"/>
                          <a:r>
                            <a:rPr lang="en-US" sz="1600" kern="100">
                              <a:effectLst/>
                            </a:rPr>
                            <a:t>  </a:t>
                          </a:r>
                          <a14:m>
                            <m:oMath xmlns:m="http://schemas.openxmlformats.org/officeDocument/2006/math">
                              <m:sSub>
                                <m:sSubPr>
                                  <m:ctrlPr>
                                    <a:rPr lang="en-US" sz="1600" i="1" kern="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10:</m:t>
                                  </m:r>
                                </m:sub>
                              </m:sSub>
                              <m:r>
                                <a:rPr lang="en-US" sz="1600" kern="0">
                                  <a:effectLst/>
                                  <a:latin typeface="Cambria Math" panose="02040503050406030204" pitchFamily="18" charset="0"/>
                                </a:rPr>
                                <m:t> </m:t>
                              </m:r>
                            </m:oMath>
                          </a14:m>
                          <a:r>
                            <a:rPr lang="en-US" sz="1600" kern="100">
                              <a:effectLst/>
                            </a:rPr>
                            <a:t>Q8</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1.278 [0.314, 5.204]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827939303"/>
                      </a:ext>
                    </a:extLst>
                  </a:tr>
                  <a:tr h="133631">
                    <a:tc>
                      <a:txBody>
                        <a:bodyPr/>
                        <a:lstStyle/>
                        <a:p>
                          <a:pPr marL="0" marR="0"/>
                          <a:r>
                            <a:rPr lang="en-US" sz="1600" kern="100">
                              <a:effectLst/>
                            </a:rPr>
                            <a:t>  </a:t>
                          </a:r>
                          <a14:m>
                            <m:oMath xmlns:m="http://schemas.openxmlformats.org/officeDocument/2006/math">
                              <m:sSub>
                                <m:sSubPr>
                                  <m:ctrlPr>
                                    <a:rPr lang="en-US" sz="1600" i="1" kern="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11:</m:t>
                                  </m:r>
                                </m:sub>
                              </m:sSub>
                              <m:r>
                                <a:rPr lang="en-US" sz="1600" kern="0">
                                  <a:effectLst/>
                                  <a:latin typeface="Cambria Math" panose="02040503050406030204" pitchFamily="18" charset="0"/>
                                </a:rPr>
                                <m:t> </m:t>
                              </m:r>
                            </m:oMath>
                          </a14:m>
                          <a:r>
                            <a:rPr lang="en-US" sz="1600" kern="100">
                              <a:effectLst/>
                            </a:rPr>
                            <a:t>Q9</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1.382 [0.332, 5.758]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4226545591"/>
                      </a:ext>
                    </a:extLst>
                  </a:tr>
                  <a:tr h="267263">
                    <a:tc>
                      <a:txBody>
                        <a:bodyPr/>
                        <a:lstStyle/>
                        <a:p>
                          <a:pPr marL="0" marR="0"/>
                          <a:r>
                            <a:rPr lang="en-US" sz="1600" kern="100">
                              <a:effectLst/>
                            </a:rPr>
                            <a:t>  </a:t>
                          </a:r>
                          <a14:m>
                            <m:oMath xmlns:m="http://schemas.openxmlformats.org/officeDocument/2006/math">
                              <m:sSub>
                                <m:sSubPr>
                                  <m:ctrlPr>
                                    <a:rPr lang="en-US" sz="1600" i="1" kern="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12:</m:t>
                                  </m:r>
                                </m:sub>
                              </m:sSub>
                              <m:r>
                                <a:rPr lang="en-US" sz="1600" kern="0">
                                  <a:effectLst/>
                                  <a:latin typeface="Cambria Math" panose="02040503050406030204" pitchFamily="18" charset="0"/>
                                </a:rPr>
                                <m:t> </m:t>
                              </m:r>
                            </m:oMath>
                          </a14:m>
                          <a:r>
                            <a:rPr lang="en-US" sz="1600" kern="100">
                              <a:effectLst/>
                            </a:rPr>
                            <a:t>Q10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1.782 [0.423, 7.520]</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811563743"/>
                      </a:ext>
                    </a:extLst>
                  </a:tr>
                  <a:tr h="0">
                    <a:tc>
                      <a:txBody>
                        <a:bodyPr/>
                        <a:lstStyle/>
                        <a:p>
                          <a:pPr marL="0" marR="0"/>
                          <a14:m>
                            <m:oMath xmlns:m="http://schemas.openxmlformats.org/officeDocument/2006/math">
                              <m:sSub>
                                <m:sSubPr>
                                  <m:ctrlPr>
                                    <a:rPr lang="en-US" sz="1600" i="1" kern="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13:</m:t>
                                  </m:r>
                                </m:sub>
                              </m:sSub>
                              <m:r>
                                <a:rPr lang="en-US" sz="1600" kern="0">
                                  <a:effectLst/>
                                  <a:latin typeface="Cambria Math" panose="02040503050406030204" pitchFamily="18" charset="0"/>
                                </a:rPr>
                                <m:t> </m:t>
                              </m:r>
                            </m:oMath>
                          </a14:m>
                          <a:r>
                            <a:rPr lang="en-US" sz="1600" kern="100" dirty="0">
                              <a:effectLst/>
                            </a:rPr>
                            <a:t>Racial Segregation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0.072 [0.042, 0.124]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549305342"/>
                      </a:ext>
                    </a:extLst>
                  </a:tr>
                  <a:tr h="0">
                    <a:tc gridSpan="3">
                      <a:txBody>
                        <a:bodyPr/>
                        <a:lstStyle/>
                        <a:p>
                          <a:pPr marL="0" marR="0"/>
                          <a:r>
                            <a:rPr lang="en-US" sz="1200" kern="100" dirty="0">
                              <a:effectLst/>
                            </a:rPr>
                            <a:t>Notes: </a:t>
                          </a:r>
                          <a:r>
                            <a:rPr lang="en-US" sz="1200" b="0" kern="100" dirty="0">
                              <a:effectLst/>
                            </a:rPr>
                            <a:t>The reference category for ADI is Q1 = the least deprived 10% of neighborhoods; the reference category for Lending Trajectory is Disinvestment. CrI = Credible Interval.</a:t>
                          </a:r>
                          <a:endParaRPr lang="en-US" sz="12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18733605"/>
                      </a:ext>
                    </a:extLst>
                  </a:tr>
                </a:tbl>
              </a:graphicData>
            </a:graphic>
          </p:graphicFrame>
        </mc:Choice>
        <mc:Fallback xmlns="">
          <p:graphicFrame>
            <p:nvGraphicFramePr>
              <p:cNvPr id="9" name="Content Placeholder 3">
                <a:extLst>
                  <a:ext uri="{FF2B5EF4-FFF2-40B4-BE49-F238E27FC236}">
                    <a16:creationId xmlns:a16="http://schemas.microsoft.com/office/drawing/2014/main" id="{84B4C39A-666C-A7F0-EFD7-816DBEF282D1}"/>
                  </a:ext>
                </a:extLst>
              </p:cNvPr>
              <p:cNvGraphicFramePr>
                <a:graphicFrameLocks noGrp="1"/>
              </p:cNvGraphicFramePr>
              <p:nvPr>
                <p:ph idx="1"/>
                <p:extLst>
                  <p:ext uri="{D42A27DB-BD31-4B8C-83A1-F6EECF244321}">
                    <p14:modId xmlns:p14="http://schemas.microsoft.com/office/powerpoint/2010/main" val="989387146"/>
                  </p:ext>
                </p:extLst>
              </p:nvPr>
            </p:nvGraphicFramePr>
            <p:xfrm>
              <a:off x="161366" y="755812"/>
              <a:ext cx="6970955" cy="5319886"/>
            </p:xfrm>
            <a:graphic>
              <a:graphicData uri="http://schemas.openxmlformats.org/drawingml/2006/table">
                <a:tbl>
                  <a:tblPr firstRow="1" firstCol="1" bandRow="1">
                    <a:tableStyleId>{3B4B98B0-60AC-42C2-AFA5-B58CD77FA1E5}</a:tableStyleId>
                  </a:tblPr>
                  <a:tblGrid>
                    <a:gridCol w="2850776">
                      <a:extLst>
                        <a:ext uri="{9D8B030D-6E8A-4147-A177-3AD203B41FA5}">
                          <a16:colId xmlns:a16="http://schemas.microsoft.com/office/drawing/2014/main" val="3580082454"/>
                        </a:ext>
                      </a:extLst>
                    </a:gridCol>
                    <a:gridCol w="1968650">
                      <a:extLst>
                        <a:ext uri="{9D8B030D-6E8A-4147-A177-3AD203B41FA5}">
                          <a16:colId xmlns:a16="http://schemas.microsoft.com/office/drawing/2014/main" val="2902192951"/>
                        </a:ext>
                      </a:extLst>
                    </a:gridCol>
                    <a:gridCol w="2151529">
                      <a:extLst>
                        <a:ext uri="{9D8B030D-6E8A-4147-A177-3AD203B41FA5}">
                          <a16:colId xmlns:a16="http://schemas.microsoft.com/office/drawing/2014/main" val="754021407"/>
                        </a:ext>
                      </a:extLst>
                    </a:gridCol>
                  </a:tblGrid>
                  <a:tr h="274320">
                    <a:tc gridSpan="3">
                      <a:txBody>
                        <a:bodyPr/>
                        <a:lstStyle/>
                        <a:p>
                          <a:pPr marL="0" marR="0"/>
                          <a:r>
                            <a:rPr lang="en-US" sz="1800" kern="100" dirty="0">
                              <a:effectLst/>
                            </a:rPr>
                            <a:t>Table 3. </a:t>
                          </a:r>
                          <a:r>
                            <a:rPr lang="en-US" sz="1800" b="0" kern="100" dirty="0">
                              <a:effectLst/>
                            </a:rPr>
                            <a:t>Summary of Exponentiated Fixed Effects</a:t>
                          </a:r>
                          <a:endParaRPr lang="en-US" sz="18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58044790"/>
                      </a:ext>
                    </a:extLst>
                  </a:tr>
                  <a:tr h="731520">
                    <a:tc>
                      <a:txBody>
                        <a:bodyPr/>
                        <a:lstStyle/>
                        <a:p>
                          <a:pPr marL="0" marR="0"/>
                          <a:r>
                            <a:rPr lang="en-US" sz="1200" kern="100" dirty="0">
                              <a:effectLst/>
                            </a:rPr>
                            <a: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b="1" kern="100" dirty="0">
                              <a:effectLst/>
                            </a:rPr>
                            <a:t>Model without ADI &amp; Racial Segregation (Mean [95% CrI])</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nchor="ctr"/>
                    </a:tc>
                    <a:tc>
                      <a:txBody>
                        <a:bodyPr/>
                        <a:lstStyle/>
                        <a:p>
                          <a:pPr marL="0" marR="0" algn="r"/>
                          <a:r>
                            <a:rPr lang="en-US" sz="1600" b="1" kern="100" dirty="0">
                              <a:effectLst/>
                            </a:rPr>
                            <a:t>Model with ADI &amp; Racial Segregation (Mean [95% CrI])</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294608612"/>
                      </a:ext>
                    </a:extLst>
                  </a:tr>
                  <a:tr h="267263">
                    <a:tc>
                      <a:txBody>
                        <a:bodyPr/>
                        <a:lstStyle/>
                        <a:p>
                          <a:pPr marL="0" marR="0"/>
                          <a:r>
                            <a:rPr lang="en-US" sz="1600" kern="100" dirty="0">
                              <a:effectLst/>
                            </a:rPr>
                            <a:t>(Intercept)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0.432 [0.265, 0.698]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0.038 [0.011, 0.124]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128242831"/>
                      </a:ext>
                    </a:extLst>
                  </a:tr>
                  <a:tr h="243840">
                    <a:tc>
                      <a:txBody>
                        <a:bodyPr/>
                        <a:lstStyle/>
                        <a:p>
                          <a:pPr marL="0" marR="0"/>
                          <a:r>
                            <a:rPr lang="en-US" sz="1600" kern="100" dirty="0">
                              <a:effectLst/>
                            </a:rPr>
                            <a:t>Lending Trajectory</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082069846"/>
                      </a:ext>
                    </a:extLst>
                  </a:tr>
                  <a:tr h="243840">
                    <a:tc>
                      <a:txBody>
                        <a:bodyPr/>
                        <a:lstStyle/>
                        <a:p>
                          <a:endParaRPr lang="en-US"/>
                        </a:p>
                      </a:txBody>
                      <a:tcPr marL="42350" marR="42350" marT="0" marB="0">
                        <a:blipFill>
                          <a:blip r:embed="rId3"/>
                          <a:stretch>
                            <a:fillRect t="-650000" r="-144872" b="-1500000"/>
                          </a:stretch>
                        </a:blipFill>
                      </a:tcPr>
                    </a:tc>
                    <a:tc>
                      <a:txBody>
                        <a:bodyPr/>
                        <a:lstStyle/>
                        <a:p>
                          <a:pPr marL="0" marR="0" algn="r"/>
                          <a:r>
                            <a:rPr lang="en-US" sz="1600" kern="100" dirty="0">
                              <a:effectLst/>
                            </a:rPr>
                            <a:t>0.782 [0.452, 1.349]</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1.987 [1.144, 3.458]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75238891"/>
                      </a:ext>
                    </a:extLst>
                  </a:tr>
                  <a:tr h="243840">
                    <a:tc>
                      <a:txBody>
                        <a:bodyPr/>
                        <a:lstStyle/>
                        <a:p>
                          <a:endParaRPr lang="en-US"/>
                        </a:p>
                      </a:txBody>
                      <a:tcPr marL="42350" marR="42350" marT="0" marB="0">
                        <a:blipFill>
                          <a:blip r:embed="rId3"/>
                          <a:stretch>
                            <a:fillRect t="-750000" r="-144872" b="-1400000"/>
                          </a:stretch>
                        </a:blipFill>
                      </a:tcPr>
                    </a:tc>
                    <a:tc>
                      <a:txBody>
                        <a:bodyPr/>
                        <a:lstStyle/>
                        <a:p>
                          <a:pPr marL="0" marR="0" algn="r"/>
                          <a:r>
                            <a:rPr lang="en-US" sz="1600" kern="100" dirty="0">
                              <a:effectLst/>
                            </a:rPr>
                            <a:t>0.146 [0.054, 0.397]</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1.031 [0.382, 2.770]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11933604"/>
                      </a:ext>
                    </a:extLst>
                  </a:tr>
                  <a:tr h="243840">
                    <a:tc>
                      <a:txBody>
                        <a:bodyPr/>
                        <a:lstStyle/>
                        <a:p>
                          <a:endParaRPr lang="en-US"/>
                        </a:p>
                      </a:txBody>
                      <a:tcPr marL="42350" marR="42350" marT="0" marB="0">
                        <a:blipFill>
                          <a:blip r:embed="rId3"/>
                          <a:stretch>
                            <a:fillRect t="-850000" r="-144872" b="-1300000"/>
                          </a:stretch>
                        </a:blipFill>
                      </a:tcPr>
                    </a:tc>
                    <a:tc>
                      <a:txBody>
                        <a:bodyPr/>
                        <a:lstStyle/>
                        <a:p>
                          <a:pPr marL="0" marR="0" algn="r"/>
                          <a:r>
                            <a:rPr lang="en-US" sz="1600" kern="100" dirty="0">
                              <a:effectLst/>
                            </a:rPr>
                            <a:t>2.230 [1.352, 3.681]</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1.714 [1.054, 2.791]</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839612905"/>
                      </a:ext>
                    </a:extLst>
                  </a:tr>
                  <a:tr h="243840">
                    <a:tc>
                      <a:txBody>
                        <a:bodyPr/>
                        <a:lstStyle/>
                        <a:p>
                          <a:pPr marL="0" marR="0"/>
                          <a:r>
                            <a:rPr lang="en-US" sz="1600" kern="100">
                              <a:effectLst/>
                            </a:rPr>
                            <a:t>Area Level Deprivation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970716066"/>
                      </a:ext>
                    </a:extLst>
                  </a:tr>
                  <a:tr h="243840">
                    <a:tc>
                      <a:txBody>
                        <a:bodyPr/>
                        <a:lstStyle/>
                        <a:p>
                          <a:endParaRPr lang="en-US"/>
                        </a:p>
                      </a:txBody>
                      <a:tcPr marL="42350" marR="42350" marT="0" marB="0">
                        <a:blipFill>
                          <a:blip r:embed="rId3"/>
                          <a:stretch>
                            <a:fillRect t="-1024390" r="-144872" b="-1070732"/>
                          </a:stretch>
                        </a:blipFill>
                      </a:tcPr>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0.653 [0.120, 2.137]</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880948838"/>
                      </a:ext>
                    </a:extLst>
                  </a:tr>
                  <a:tr h="243840">
                    <a:tc>
                      <a:txBody>
                        <a:bodyPr/>
                        <a:lstStyle/>
                        <a:p>
                          <a:endParaRPr lang="en-US"/>
                        </a:p>
                      </a:txBody>
                      <a:tcPr marL="42350" marR="42350" marT="0" marB="0">
                        <a:blipFill>
                          <a:blip r:embed="rId3"/>
                          <a:stretch>
                            <a:fillRect t="-1152500" r="-144872" b="-997500"/>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0.192 [0.042, 0.874]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665745627"/>
                      </a:ext>
                    </a:extLst>
                  </a:tr>
                  <a:tr h="243840">
                    <a:tc>
                      <a:txBody>
                        <a:bodyPr/>
                        <a:lstStyle/>
                        <a:p>
                          <a:endParaRPr lang="en-US"/>
                        </a:p>
                      </a:txBody>
                      <a:tcPr marL="42350" marR="42350" marT="0" marB="0">
                        <a:blipFill>
                          <a:blip r:embed="rId3"/>
                          <a:stretch>
                            <a:fillRect t="-1252500" r="-144872" b="-897500"/>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0.836 [0.244, 2.863]</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843408630"/>
                      </a:ext>
                    </a:extLst>
                  </a:tr>
                  <a:tr h="243840">
                    <a:tc>
                      <a:txBody>
                        <a:bodyPr/>
                        <a:lstStyle/>
                        <a:p>
                          <a:endParaRPr lang="en-US"/>
                        </a:p>
                      </a:txBody>
                      <a:tcPr marL="42350" marR="42350" marT="0" marB="0">
                        <a:blipFill>
                          <a:blip r:embed="rId3"/>
                          <a:stretch>
                            <a:fillRect t="-1352500" r="-144872" b="-797500"/>
                          </a:stretch>
                        </a:blipFill>
                      </a:tcPr>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0.486 [0.125, 1.891]</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96257324"/>
                      </a:ext>
                    </a:extLst>
                  </a:tr>
                  <a:tr h="243840">
                    <a:tc>
                      <a:txBody>
                        <a:bodyPr/>
                        <a:lstStyle/>
                        <a:p>
                          <a:endParaRPr lang="en-US"/>
                        </a:p>
                      </a:txBody>
                      <a:tcPr marL="42350" marR="42350" marT="0" marB="0">
                        <a:blipFill>
                          <a:blip r:embed="rId3"/>
                          <a:stretch>
                            <a:fillRect t="-1452500" r="-144872" b="-697500"/>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0.575 [0.141, 2.352]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748155098"/>
                      </a:ext>
                    </a:extLst>
                  </a:tr>
                  <a:tr h="243840">
                    <a:tc>
                      <a:txBody>
                        <a:bodyPr/>
                        <a:lstStyle/>
                        <a:p>
                          <a:endParaRPr lang="en-US"/>
                        </a:p>
                      </a:txBody>
                      <a:tcPr marL="42350" marR="42350" marT="0" marB="0">
                        <a:blipFill>
                          <a:blip r:embed="rId3"/>
                          <a:stretch>
                            <a:fillRect t="-1552500" r="-144872" b="-597500"/>
                          </a:stretch>
                        </a:blipFill>
                      </a:tcPr>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0.923 [0.227, 3.770]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140751169"/>
                      </a:ext>
                    </a:extLst>
                  </a:tr>
                  <a:tr h="243840">
                    <a:tc>
                      <a:txBody>
                        <a:bodyPr/>
                        <a:lstStyle/>
                        <a:p>
                          <a:endParaRPr lang="en-US"/>
                        </a:p>
                      </a:txBody>
                      <a:tcPr marL="42350" marR="42350" marT="0" marB="0">
                        <a:blipFill>
                          <a:blip r:embed="rId3"/>
                          <a:stretch>
                            <a:fillRect t="-1652500" r="-144872" b="-497500"/>
                          </a:stretch>
                        </a:blipFill>
                      </a:tcPr>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1.278 [0.314, 5.204]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827939303"/>
                      </a:ext>
                    </a:extLst>
                  </a:tr>
                  <a:tr h="243840">
                    <a:tc>
                      <a:txBody>
                        <a:bodyPr/>
                        <a:lstStyle/>
                        <a:p>
                          <a:endParaRPr lang="en-US"/>
                        </a:p>
                      </a:txBody>
                      <a:tcPr marL="42350" marR="42350" marT="0" marB="0">
                        <a:blipFill>
                          <a:blip r:embed="rId3"/>
                          <a:stretch>
                            <a:fillRect t="-1752500" r="-144872" b="-397500"/>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1.382 [0.332, 5.758]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4226545591"/>
                      </a:ext>
                    </a:extLst>
                  </a:tr>
                  <a:tr h="267263">
                    <a:tc>
                      <a:txBody>
                        <a:bodyPr/>
                        <a:lstStyle/>
                        <a:p>
                          <a:endParaRPr lang="en-US"/>
                        </a:p>
                      </a:txBody>
                      <a:tcPr marL="42350" marR="42350" marT="0" marB="0">
                        <a:blipFill>
                          <a:blip r:embed="rId3"/>
                          <a:stretch>
                            <a:fillRect t="-1684091" r="-144872" b="-261364"/>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1.782 [0.423, 7.520]</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811563743"/>
                      </a:ext>
                    </a:extLst>
                  </a:tr>
                  <a:tr h="243840">
                    <a:tc>
                      <a:txBody>
                        <a:bodyPr/>
                        <a:lstStyle/>
                        <a:p>
                          <a:endParaRPr lang="en-US"/>
                        </a:p>
                      </a:txBody>
                      <a:tcPr marL="42350" marR="42350" marT="0" marB="0">
                        <a:blipFill>
                          <a:blip r:embed="rId3"/>
                          <a:stretch>
                            <a:fillRect t="-1962500" r="-144872" b="-187500"/>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0.072 [0.042, 0.124]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549305342"/>
                      </a:ext>
                    </a:extLst>
                  </a:tr>
                  <a:tr h="365760">
                    <a:tc gridSpan="3">
                      <a:txBody>
                        <a:bodyPr/>
                        <a:lstStyle/>
                        <a:p>
                          <a:pPr marL="0" marR="0"/>
                          <a:r>
                            <a:rPr lang="en-US" sz="1200" kern="100" dirty="0">
                              <a:effectLst/>
                            </a:rPr>
                            <a:t>Notes: </a:t>
                          </a:r>
                          <a:r>
                            <a:rPr lang="en-US" sz="1200" b="0" kern="100" dirty="0">
                              <a:effectLst/>
                            </a:rPr>
                            <a:t>The reference category for ADI is Q1 = the least deprived 10% of neighborhoods; the reference category for Lending Trajectory is Disinvestment. CrI = Credible Interval.</a:t>
                          </a:r>
                          <a:endParaRPr lang="en-US" sz="12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18733605"/>
                      </a:ext>
                    </a:extLst>
                  </a:tr>
                </a:tbl>
              </a:graphicData>
            </a:graphic>
          </p:graphicFrame>
        </mc:Fallback>
      </mc:AlternateContent>
      <p:sp>
        <p:nvSpPr>
          <p:cNvPr id="2" name="TextBox 1">
            <a:extLst>
              <a:ext uri="{FF2B5EF4-FFF2-40B4-BE49-F238E27FC236}">
                <a16:creationId xmlns:a16="http://schemas.microsoft.com/office/drawing/2014/main" id="{3D8A1BC1-B053-43E4-A6CB-BA79B76F36FD}"/>
              </a:ext>
            </a:extLst>
          </p:cNvPr>
          <p:cNvSpPr txBox="1"/>
          <p:nvPr/>
        </p:nvSpPr>
        <p:spPr>
          <a:xfrm>
            <a:off x="556793" y="131490"/>
            <a:ext cx="5836919" cy="369332"/>
          </a:xfrm>
          <a:prstGeom prst="rect">
            <a:avLst/>
          </a:prstGeom>
          <a:noFill/>
        </p:spPr>
        <p:txBody>
          <a:bodyPr wrap="square" rtlCol="0">
            <a:spAutoFit/>
          </a:bodyPr>
          <a:lstStyle/>
          <a:p>
            <a:r>
              <a:rPr lang="en-US" dirty="0"/>
              <a:t>Note to self: stop to explain this</a:t>
            </a:r>
          </a:p>
        </p:txBody>
      </p:sp>
    </p:spTree>
    <p:extLst>
      <p:ext uri="{BB962C8B-B14F-4D97-AF65-F5344CB8AC3E}">
        <p14:creationId xmlns:p14="http://schemas.microsoft.com/office/powerpoint/2010/main" val="16449517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9FC88-322C-7244-4632-6C28D25E0E62}"/>
              </a:ext>
            </a:extLst>
          </p:cNvPr>
          <p:cNvSpPr>
            <a:spLocks noGrp="1"/>
          </p:cNvSpPr>
          <p:nvPr>
            <p:ph type="title"/>
          </p:nvPr>
        </p:nvSpPr>
        <p:spPr>
          <a:xfrm>
            <a:off x="153737" y="167274"/>
            <a:ext cx="10515600" cy="624138"/>
          </a:xfrm>
        </p:spPr>
        <p:txBody>
          <a:bodyPr>
            <a:noAutofit/>
          </a:bodyPr>
          <a:lstStyle/>
          <a:p>
            <a:r>
              <a:rPr lang="en-US" sz="3600" dirty="0">
                <a:latin typeface="Arial" panose="020B0604020202020204" pitchFamily="34" charset="0"/>
                <a:cs typeface="Arial" panose="020B0604020202020204" pitchFamily="34" charset="0"/>
              </a:rPr>
              <a:t>A more basic analogy</a:t>
            </a:r>
          </a:p>
        </p:txBody>
      </p:sp>
      <p:sp>
        <p:nvSpPr>
          <p:cNvPr id="3" name="Content Placeholder 2">
            <a:extLst>
              <a:ext uri="{FF2B5EF4-FFF2-40B4-BE49-F238E27FC236}">
                <a16:creationId xmlns:a16="http://schemas.microsoft.com/office/drawing/2014/main" id="{4DBEB71B-0E13-0E89-3B14-CE0D41A81756}"/>
              </a:ext>
            </a:extLst>
          </p:cNvPr>
          <p:cNvSpPr>
            <a:spLocks noGrp="1"/>
          </p:cNvSpPr>
          <p:nvPr>
            <p:ph idx="1"/>
          </p:nvPr>
        </p:nvSpPr>
        <p:spPr>
          <a:xfrm>
            <a:off x="266032" y="791412"/>
            <a:ext cx="10515600" cy="4351338"/>
          </a:xfrm>
        </p:spPr>
        <p:txBody>
          <a:bodyPr>
            <a:normAutofit/>
          </a:bodyPr>
          <a:lstStyle/>
          <a:p>
            <a:r>
              <a:rPr lang="en-US" sz="2000" dirty="0">
                <a:latin typeface="Arial" panose="020B0604020202020204" pitchFamily="34" charset="0"/>
                <a:cs typeface="Arial" panose="020B0604020202020204" pitchFamily="34" charset="0"/>
              </a:rPr>
              <a:t>We know that smoking causes cancer by destroying lung cells, so: Smoking → lung damage → cancer.</a:t>
            </a:r>
          </a:p>
          <a:p>
            <a:r>
              <a:rPr lang="en-US" sz="2000" dirty="0">
                <a:latin typeface="Arial" panose="020B0604020202020204" pitchFamily="34" charset="0"/>
                <a:cs typeface="Arial" panose="020B0604020202020204" pitchFamily="34" charset="0"/>
              </a:rPr>
              <a:t>THIS IS NOT THE LINEAR REGRESSION MODEL!</a:t>
            </a:r>
          </a:p>
          <a:p>
            <a:pPr lvl="1"/>
            <a:r>
              <a:rPr lang="en-US" sz="1800" dirty="0">
                <a:latin typeface="Arial" panose="020B0604020202020204" pitchFamily="34" charset="0"/>
                <a:cs typeface="Arial" panose="020B0604020202020204" pitchFamily="34" charset="0"/>
              </a:rPr>
              <a:t>If we instead model the association between smoking and lung cancer, controlling for lung damage, we are asking: Among people with the same lung damage, does smoking still predict cancer?</a:t>
            </a:r>
          </a:p>
          <a:p>
            <a:pPr lvl="1"/>
            <a:r>
              <a:rPr lang="en-US" sz="1800" dirty="0">
                <a:latin typeface="Arial" panose="020B0604020202020204" pitchFamily="34" charset="0"/>
                <a:cs typeface="Arial" panose="020B0604020202020204" pitchFamily="34" charset="0"/>
              </a:rPr>
              <a:t>But lung damage is exactly how smoking causes cancer. So controlling for it hides part of smoking’s effect.</a:t>
            </a:r>
          </a:p>
          <a:p>
            <a:pPr lvl="1"/>
            <a:r>
              <a:rPr lang="en-US" sz="1800" dirty="0">
                <a:latin typeface="Arial" panose="020B0604020202020204" pitchFamily="34" charset="0"/>
                <a:cs typeface="Arial" panose="020B0604020202020204" pitchFamily="34" charset="0"/>
              </a:rPr>
              <a:t>The reason is: lung damage is part of the </a:t>
            </a:r>
            <a:r>
              <a:rPr lang="en-US" sz="1800" b="1" dirty="0">
                <a:latin typeface="Arial" panose="020B0604020202020204" pitchFamily="34" charset="0"/>
                <a:cs typeface="Arial" panose="020B0604020202020204" pitchFamily="34" charset="0"/>
              </a:rPr>
              <a:t>process or mechanism</a:t>
            </a:r>
            <a:r>
              <a:rPr lang="en-US" sz="1800" dirty="0">
                <a:latin typeface="Arial" panose="020B0604020202020204" pitchFamily="34" charset="0"/>
                <a:cs typeface="Arial" panose="020B0604020202020204" pitchFamily="34" charset="0"/>
              </a:rPr>
              <a:t> through which smoking leads to cancer.</a:t>
            </a:r>
          </a:p>
          <a:p>
            <a:r>
              <a:rPr lang="en-US" sz="2000" dirty="0">
                <a:latin typeface="Arial" panose="020B0604020202020204" pitchFamily="34" charset="0"/>
                <a:cs typeface="Arial" panose="020B0604020202020204" pitchFamily="34" charset="0"/>
              </a:rPr>
              <a:t>Same logic as our study</a:t>
            </a:r>
          </a:p>
          <a:p>
            <a:pPr lvl="1"/>
            <a:r>
              <a:rPr lang="en-US" sz="1800" dirty="0">
                <a:latin typeface="Arial" panose="020B0604020202020204" pitchFamily="34" charset="0"/>
                <a:cs typeface="Arial" panose="020B0604020202020204" pitchFamily="34" charset="0"/>
              </a:rPr>
              <a:t>Lending practices → neighborhood deprivation/segregation → violence.</a:t>
            </a:r>
          </a:p>
          <a:p>
            <a:pPr lvl="1"/>
            <a:r>
              <a:rPr lang="en-US" sz="1800" dirty="0">
                <a:latin typeface="Arial" panose="020B0604020202020204" pitchFamily="34" charset="0"/>
                <a:cs typeface="Arial" panose="020B0604020202020204" pitchFamily="34" charset="0"/>
              </a:rPr>
              <a:t>If deprivation and segregation are part of how lending produces violence, controlling for them removes part of lending’s effect.</a:t>
            </a:r>
          </a:p>
          <a:p>
            <a:pPr lvl="1"/>
            <a:endParaRPr lang="en-US" dirty="0"/>
          </a:p>
        </p:txBody>
      </p:sp>
    </p:spTree>
    <p:extLst>
      <p:ext uri="{BB962C8B-B14F-4D97-AF65-F5344CB8AC3E}">
        <p14:creationId xmlns:p14="http://schemas.microsoft.com/office/powerpoint/2010/main" val="1760658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 calcmode="lin" valueType="num">
                                      <p:cBhvr additive="base">
                                        <p:cTn id="3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F680451-BC08-663A-3517-EE33E04D0154}"/>
              </a:ext>
            </a:extLst>
          </p:cNvPr>
          <p:cNvGraphicFramePr>
            <a:graphicFrameLocks noGrp="1"/>
          </p:cNvGraphicFramePr>
          <p:nvPr>
            <p:extLst>
              <p:ext uri="{D42A27DB-BD31-4B8C-83A1-F6EECF244321}">
                <p14:modId xmlns:p14="http://schemas.microsoft.com/office/powerpoint/2010/main" val="1221412672"/>
              </p:ext>
            </p:extLst>
          </p:nvPr>
        </p:nvGraphicFramePr>
        <p:xfrm>
          <a:off x="5802942" y="1123496"/>
          <a:ext cx="6266237" cy="2063115"/>
        </p:xfrm>
        <a:graphic>
          <a:graphicData uri="http://schemas.openxmlformats.org/drawingml/2006/table">
            <a:tbl>
              <a:tblPr/>
              <a:tblGrid>
                <a:gridCol w="1511357">
                  <a:extLst>
                    <a:ext uri="{9D8B030D-6E8A-4147-A177-3AD203B41FA5}">
                      <a16:colId xmlns:a16="http://schemas.microsoft.com/office/drawing/2014/main" val="4037796489"/>
                    </a:ext>
                  </a:extLst>
                </a:gridCol>
                <a:gridCol w="377952">
                  <a:extLst>
                    <a:ext uri="{9D8B030D-6E8A-4147-A177-3AD203B41FA5}">
                      <a16:colId xmlns:a16="http://schemas.microsoft.com/office/drawing/2014/main" val="1818007832"/>
                    </a:ext>
                  </a:extLst>
                </a:gridCol>
                <a:gridCol w="1840992">
                  <a:extLst>
                    <a:ext uri="{9D8B030D-6E8A-4147-A177-3AD203B41FA5}">
                      <a16:colId xmlns:a16="http://schemas.microsoft.com/office/drawing/2014/main" val="2202364562"/>
                    </a:ext>
                  </a:extLst>
                </a:gridCol>
                <a:gridCol w="1511808">
                  <a:extLst>
                    <a:ext uri="{9D8B030D-6E8A-4147-A177-3AD203B41FA5}">
                      <a16:colId xmlns:a16="http://schemas.microsoft.com/office/drawing/2014/main" val="2409570494"/>
                    </a:ext>
                  </a:extLst>
                </a:gridCol>
                <a:gridCol w="1024128">
                  <a:extLst>
                    <a:ext uri="{9D8B030D-6E8A-4147-A177-3AD203B41FA5}">
                      <a16:colId xmlns:a16="http://schemas.microsoft.com/office/drawing/2014/main" val="2969770610"/>
                    </a:ext>
                  </a:extLst>
                </a:gridCol>
              </a:tblGrid>
              <a:tr h="0">
                <a:tc gridSpan="5">
                  <a:txBody>
                    <a:bodyPr/>
                    <a:lstStyle/>
                    <a:p>
                      <a:pPr algn="l">
                        <a:buNone/>
                      </a:pPr>
                      <a:r>
                        <a:rPr lang="en-US" b="0" i="1">
                          <a:solidFill>
                            <a:srgbClr val="000000"/>
                          </a:solidFill>
                          <a:effectLst/>
                          <a:latin typeface="Arial" panose="020B0604020202020204" pitchFamily="34" charset="0"/>
                        </a:rPr>
                        <a:t>Pearson's Correlations</a:t>
                      </a:r>
                      <a:r>
                        <a:rPr lang="en-US" b="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8143492"/>
                  </a:ext>
                </a:extLst>
              </a:tr>
              <a:tr h="0">
                <a:tc>
                  <a:txBody>
                    <a:bodyPr/>
                    <a:lstStyle/>
                    <a:p>
                      <a:pPr algn="ctr">
                        <a:buNone/>
                      </a:pPr>
                      <a:r>
                        <a:rPr lang="en-US" b="0" dirty="0">
                          <a:solidFill>
                            <a:srgbClr val="000000"/>
                          </a:solidFill>
                          <a:effectLst/>
                          <a:latin typeface="Arial" panose="020B0604020202020204" pitchFamily="34" charset="0"/>
                        </a:rPr>
                        <a:t> </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dirty="0">
                          <a:solidFill>
                            <a:srgbClr val="000000"/>
                          </a:solidFill>
                          <a:effectLst/>
                          <a:latin typeface="Arial" panose="020B0604020202020204" pitchFamily="34" charset="0"/>
                        </a:rPr>
                        <a:t> </a:t>
                      </a:r>
                    </a:p>
                  </a:txBody>
                  <a:tcPr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dirty="0">
                          <a:solidFill>
                            <a:srgbClr val="000000"/>
                          </a:solidFill>
                          <a:effectLst/>
                          <a:latin typeface="Arial" panose="020B0604020202020204" pitchFamily="34" charset="0"/>
                        </a:rPr>
                        <a:t> </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dirty="0">
                          <a:solidFill>
                            <a:srgbClr val="000000"/>
                          </a:solidFill>
                          <a:effectLst/>
                          <a:latin typeface="Arial" panose="020B0604020202020204" pitchFamily="34" charset="0"/>
                        </a:rPr>
                        <a:t>Pearson's r</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p</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1172594"/>
                  </a:ext>
                </a:extLst>
              </a:tr>
              <a:tr h="0">
                <a:tc>
                  <a:txBody>
                    <a:bodyPr/>
                    <a:lstStyle/>
                    <a:p>
                      <a:pPr algn="l">
                        <a:buNone/>
                      </a:pPr>
                      <a:r>
                        <a:rPr lang="en-US" b="0" dirty="0" err="1">
                          <a:solidFill>
                            <a:srgbClr val="000000"/>
                          </a:solidFill>
                          <a:effectLst/>
                          <a:latin typeface="Arial" panose="020B0604020202020204" pitchFamily="34" charset="0"/>
                        </a:rPr>
                        <a:t>SAT_math</a:t>
                      </a:r>
                      <a:endParaRPr lang="en-US" b="0" dirty="0">
                        <a:solidFill>
                          <a:srgbClr val="000000"/>
                        </a:solidFill>
                        <a:effectLst/>
                        <a:latin typeface="Arial" panose="020B0604020202020204" pitchFamily="34" charset="0"/>
                      </a:endParaRP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dirty="0">
                          <a:solidFill>
                            <a:srgbClr val="000000"/>
                          </a:solidFill>
                          <a:effectLst/>
                          <a:latin typeface="Arial" panose="020B0604020202020204" pitchFamily="34" charset="0"/>
                        </a:rPr>
                        <a:t>-</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l">
                        <a:buNone/>
                      </a:pPr>
                      <a:r>
                        <a:rPr lang="en-US" b="0" dirty="0" err="1">
                          <a:solidFill>
                            <a:srgbClr val="000000"/>
                          </a:solidFill>
                          <a:effectLst/>
                          <a:latin typeface="Arial" panose="020B0604020202020204" pitchFamily="34" charset="0"/>
                        </a:rPr>
                        <a:t>SAT_verbal</a:t>
                      </a:r>
                      <a:endParaRPr lang="en-US" b="0" dirty="0">
                        <a:solidFill>
                          <a:srgbClr val="000000"/>
                        </a:solidFill>
                        <a:effectLst/>
                        <a:latin typeface="Arial" panose="020B0604020202020204" pitchFamily="34" charset="0"/>
                      </a:endParaRP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dirty="0">
                          <a:solidFill>
                            <a:srgbClr val="000000"/>
                          </a:solidFill>
                          <a:effectLst/>
                          <a:latin typeface="Arial" panose="020B0604020202020204" pitchFamily="34" charset="0"/>
                        </a:rPr>
                        <a:t>0.464</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&lt; .001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640339901"/>
                  </a:ext>
                </a:extLst>
              </a:tr>
              <a:tr h="0">
                <a:tc>
                  <a:txBody>
                    <a:bodyPr/>
                    <a:lstStyle/>
                    <a:p>
                      <a:pPr algn="l">
                        <a:buNone/>
                      </a:pPr>
                      <a:r>
                        <a:rPr lang="en-US" b="0">
                          <a:solidFill>
                            <a:srgbClr val="000000"/>
                          </a:solidFill>
                          <a:effectLst/>
                          <a:latin typeface="Arial" panose="020B0604020202020204" pitchFamily="34" charset="0"/>
                        </a:rPr>
                        <a:t>SAT_math</a:t>
                      </a:r>
                    </a:p>
                  </a:txBody>
                  <a:tcPr marL="114300" marR="114300" marT="9525" marB="28575" anchor="ctr">
                    <a:lnL>
                      <a:noFill/>
                    </a:lnL>
                    <a:lnR>
                      <a:noFill/>
                    </a:lnR>
                    <a:lnT>
                      <a:noFill/>
                    </a:lnT>
                    <a:lnB>
                      <a:noFill/>
                    </a:lnB>
                    <a:solidFill>
                      <a:srgbClr val="EBEBEB"/>
                    </a:solidFill>
                  </a:tcPr>
                </a:tc>
                <a:tc>
                  <a:txBody>
                    <a:bodyPr/>
                    <a:lstStyle/>
                    <a:p>
                      <a:pPr algn="r">
                        <a:buNone/>
                      </a:pPr>
                      <a:r>
                        <a:rPr lang="en-US" b="0" dirty="0">
                          <a:solidFill>
                            <a:srgbClr val="000000"/>
                          </a:solidFill>
                          <a:effectLst/>
                          <a:latin typeface="Arial" panose="020B0604020202020204" pitchFamily="34" charset="0"/>
                        </a:rPr>
                        <a:t>-</a:t>
                      </a:r>
                    </a:p>
                  </a:txBody>
                  <a:tcPr marL="114300" marR="114300" marT="9525" marB="28575" anchor="ctr">
                    <a:lnL>
                      <a:noFill/>
                    </a:lnL>
                    <a:lnR>
                      <a:noFill/>
                    </a:lnR>
                    <a:lnT>
                      <a:noFill/>
                    </a:lnT>
                    <a:lnB>
                      <a:noFill/>
                    </a:lnB>
                    <a:solidFill>
                      <a:srgbClr val="EBEBEB"/>
                    </a:solidFill>
                  </a:tcPr>
                </a:tc>
                <a:tc>
                  <a:txBody>
                    <a:bodyPr/>
                    <a:lstStyle/>
                    <a:p>
                      <a:pPr algn="l">
                        <a:buNone/>
                      </a:pPr>
                      <a:r>
                        <a:rPr lang="en-US" b="0" dirty="0" err="1">
                          <a:solidFill>
                            <a:srgbClr val="000000"/>
                          </a:solidFill>
                          <a:effectLst/>
                          <a:latin typeface="Arial" panose="020B0604020202020204" pitchFamily="34" charset="0"/>
                        </a:rPr>
                        <a:t>HS_class_size</a:t>
                      </a:r>
                      <a:endParaRPr lang="en-US" b="0" dirty="0">
                        <a:solidFill>
                          <a:srgbClr val="000000"/>
                        </a:solidFill>
                        <a:effectLst/>
                        <a:latin typeface="Arial" panose="020B0604020202020204" pitchFamily="34" charset="0"/>
                      </a:endParaRPr>
                    </a:p>
                  </a:txBody>
                  <a:tcPr marL="114300" marR="114300" marT="9525" marB="28575" anchor="ctr">
                    <a:lnL>
                      <a:noFill/>
                    </a:lnL>
                    <a:lnR>
                      <a:noFill/>
                    </a:lnR>
                    <a:lnT>
                      <a:noFill/>
                    </a:lnT>
                    <a:lnB>
                      <a:noFill/>
                    </a:lnB>
                    <a:solidFill>
                      <a:srgbClr val="EBEBEB"/>
                    </a:solidFill>
                  </a:tcPr>
                </a:tc>
                <a:tc>
                  <a:txBody>
                    <a:bodyPr/>
                    <a:lstStyle/>
                    <a:p>
                      <a:pPr algn="r">
                        <a:buNone/>
                      </a:pPr>
                      <a:r>
                        <a:rPr lang="en-US" b="0" dirty="0">
                          <a:solidFill>
                            <a:srgbClr val="000000"/>
                          </a:solidFill>
                          <a:effectLst/>
                          <a:latin typeface="Arial" panose="020B0604020202020204" pitchFamily="34" charset="0"/>
                        </a:rPr>
                        <a:t>0.176</a:t>
                      </a:r>
                    </a:p>
                  </a:txBody>
                  <a:tcPr marL="114300" marR="114300" marT="9525" marB="28575" anchor="ctr">
                    <a:lnL>
                      <a:noFill/>
                    </a:lnL>
                    <a:lnR>
                      <a:noFill/>
                    </a:lnR>
                    <a:lnT>
                      <a:noFill/>
                    </a:lnT>
                    <a:lnB>
                      <a:noFill/>
                    </a:lnB>
                    <a:solidFill>
                      <a:srgbClr val="EBEBEB"/>
                    </a:solidFill>
                  </a:tcPr>
                </a:tc>
                <a:tc>
                  <a:txBody>
                    <a:bodyPr/>
                    <a:lstStyle/>
                    <a:p>
                      <a:pPr algn="r">
                        <a:buNone/>
                      </a:pPr>
                      <a:r>
                        <a:rPr lang="en-US" b="0">
                          <a:solidFill>
                            <a:srgbClr val="000000"/>
                          </a:solidFill>
                          <a:effectLst/>
                          <a:latin typeface="Arial" panose="020B0604020202020204" pitchFamily="34" charset="0"/>
                        </a:rPr>
                        <a:t>&lt; .001</a:t>
                      </a:r>
                    </a:p>
                  </a:txBody>
                  <a:tcPr marL="114300" marR="114300" marT="9525" marB="28575" anchor="ctr">
                    <a:lnL>
                      <a:noFill/>
                    </a:lnL>
                    <a:lnR>
                      <a:noFill/>
                    </a:lnR>
                    <a:lnT>
                      <a:noFill/>
                    </a:lnT>
                    <a:lnB>
                      <a:noFill/>
                    </a:lnB>
                    <a:solidFill>
                      <a:srgbClr val="EBEBEB"/>
                    </a:solidFill>
                  </a:tcPr>
                </a:tc>
                <a:extLst>
                  <a:ext uri="{0D108BD9-81ED-4DB2-BD59-A6C34878D82A}">
                    <a16:rowId xmlns:a16="http://schemas.microsoft.com/office/drawing/2014/main" val="2886044920"/>
                  </a:ext>
                </a:extLst>
              </a:tr>
              <a:tr h="0">
                <a:tc>
                  <a:txBody>
                    <a:bodyPr/>
                    <a:lstStyle/>
                    <a:p>
                      <a:pPr algn="l">
                        <a:spcAft>
                          <a:spcPts val="720"/>
                        </a:spcAft>
                        <a:buNone/>
                      </a:pPr>
                      <a:r>
                        <a:rPr lang="en-US" b="0">
                          <a:solidFill>
                            <a:srgbClr val="000000"/>
                          </a:solidFill>
                          <a:effectLst/>
                          <a:latin typeface="Arial" panose="020B0604020202020204" pitchFamily="34" charset="0"/>
                        </a:rPr>
                        <a:t>SAT_verbal</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b="0">
                          <a:solidFill>
                            <a:srgbClr val="000000"/>
                          </a:solidFill>
                          <a:effectLst/>
                          <a:latin typeface="Arial" panose="020B0604020202020204" pitchFamily="34" charset="0"/>
                        </a:rPr>
                        <a:t>-</a:t>
                      </a:r>
                    </a:p>
                  </a:txBody>
                  <a:tcPr marL="114300" marR="114300" marT="9525" marB="28575" anchor="ctr">
                    <a:lnL>
                      <a:noFill/>
                    </a:lnL>
                    <a:lnR>
                      <a:noFill/>
                    </a:lnR>
                    <a:lnT>
                      <a:noFill/>
                    </a:lnT>
                    <a:lnB>
                      <a:noFill/>
                    </a:lnB>
                    <a:solidFill>
                      <a:srgbClr val="FFFFFF"/>
                    </a:solidFill>
                  </a:tcPr>
                </a:tc>
                <a:tc>
                  <a:txBody>
                    <a:bodyPr/>
                    <a:lstStyle/>
                    <a:p>
                      <a:pPr algn="l">
                        <a:spcAft>
                          <a:spcPts val="720"/>
                        </a:spcAft>
                        <a:buNone/>
                      </a:pPr>
                      <a:r>
                        <a:rPr lang="en-US" b="0" dirty="0" err="1">
                          <a:solidFill>
                            <a:srgbClr val="000000"/>
                          </a:solidFill>
                          <a:effectLst/>
                          <a:latin typeface="Arial" panose="020B0604020202020204" pitchFamily="34" charset="0"/>
                        </a:rPr>
                        <a:t>HS_class_size</a:t>
                      </a:r>
                      <a:endParaRPr lang="en-US" b="0" dirty="0">
                        <a:solidFill>
                          <a:srgbClr val="000000"/>
                        </a:solidFill>
                        <a:effectLst/>
                        <a:latin typeface="Arial" panose="020B0604020202020204" pitchFamily="34" charset="0"/>
                      </a:endParaRP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b="0" dirty="0">
                          <a:solidFill>
                            <a:srgbClr val="000000"/>
                          </a:solidFill>
                          <a:effectLst/>
                          <a:latin typeface="Arial" panose="020B0604020202020204" pitchFamily="34" charset="0"/>
                        </a:rPr>
                        <a:t>0.045</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b="0" dirty="0">
                          <a:solidFill>
                            <a:srgbClr val="000000"/>
                          </a:solidFill>
                          <a:effectLst/>
                          <a:latin typeface="Arial" panose="020B0604020202020204" pitchFamily="34" charset="0"/>
                        </a:rPr>
                        <a:t>.240</a:t>
                      </a:r>
                    </a:p>
                  </a:txBody>
                  <a:tcPr marL="114300" marR="114300" marT="9525" marB="28575" anchor="ctr">
                    <a:lnL>
                      <a:noFill/>
                    </a:lnL>
                    <a:lnR>
                      <a:noFill/>
                    </a:lnR>
                    <a:lnT>
                      <a:noFill/>
                    </a:lnT>
                    <a:lnB>
                      <a:noFill/>
                    </a:lnB>
                    <a:solidFill>
                      <a:srgbClr val="FFFFFF"/>
                    </a:solidFill>
                  </a:tcPr>
                </a:tc>
                <a:extLst>
                  <a:ext uri="{0D108BD9-81ED-4DB2-BD59-A6C34878D82A}">
                    <a16:rowId xmlns:a16="http://schemas.microsoft.com/office/drawing/2014/main" val="3263131448"/>
                  </a:ext>
                </a:extLst>
              </a:tr>
              <a:tr h="0">
                <a:tc gridSpan="5">
                  <a:txBody>
                    <a:bodyPr/>
                    <a:lstStyle/>
                    <a:p>
                      <a:pPr algn="r">
                        <a:buNone/>
                      </a:pPr>
                      <a:endParaRPr lang="en-US" b="0" dirty="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EBEBE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0334857"/>
                  </a:ext>
                </a:extLst>
              </a:tr>
            </a:tbl>
          </a:graphicData>
        </a:graphic>
      </p:graphicFrame>
      <p:pic>
        <p:nvPicPr>
          <p:cNvPr id="6" name="Picture 5">
            <a:extLst>
              <a:ext uri="{FF2B5EF4-FFF2-40B4-BE49-F238E27FC236}">
                <a16:creationId xmlns:a16="http://schemas.microsoft.com/office/drawing/2014/main" id="{358741F5-D6C3-01BF-BA1D-A336FD2687CA}"/>
              </a:ext>
            </a:extLst>
          </p:cNvPr>
          <p:cNvPicPr>
            <a:picLocks noChangeAspect="1"/>
          </p:cNvPicPr>
          <p:nvPr/>
        </p:nvPicPr>
        <p:blipFill>
          <a:blip r:embed="rId2"/>
          <a:stretch>
            <a:fillRect/>
          </a:stretch>
        </p:blipFill>
        <p:spPr>
          <a:xfrm>
            <a:off x="122821" y="1123496"/>
            <a:ext cx="5473758" cy="4611007"/>
          </a:xfrm>
          <a:prstGeom prst="rect">
            <a:avLst/>
          </a:prstGeom>
        </p:spPr>
      </p:pic>
      <p:sp>
        <p:nvSpPr>
          <p:cNvPr id="2" name="Title 1">
            <a:extLst>
              <a:ext uri="{FF2B5EF4-FFF2-40B4-BE49-F238E27FC236}">
                <a16:creationId xmlns:a16="http://schemas.microsoft.com/office/drawing/2014/main" id="{D08767BD-38A6-9364-30D0-899434B6126C}"/>
              </a:ext>
            </a:extLst>
          </p:cNvPr>
          <p:cNvSpPr>
            <a:spLocks noGrp="1"/>
          </p:cNvSpPr>
          <p:nvPr>
            <p:ph type="title"/>
          </p:nvPr>
        </p:nvSpPr>
        <p:spPr>
          <a:xfrm>
            <a:off x="164432" y="191871"/>
            <a:ext cx="10515600" cy="646332"/>
          </a:xfrm>
        </p:spPr>
        <p:txBody>
          <a:bodyPr>
            <a:normAutofit fontScale="90000"/>
          </a:bodyPr>
          <a:lstStyle/>
          <a:p>
            <a:r>
              <a:rPr lang="en-US" sz="3600" dirty="0">
                <a:latin typeface="Arial" panose="020B0604020202020204" pitchFamily="34" charset="0"/>
                <a:cs typeface="Arial" panose="020B0604020202020204" pitchFamily="34" charset="0"/>
              </a:rPr>
              <a:t>Example: Zero order, part and partial correlation</a:t>
            </a:r>
            <a:r>
              <a:rPr lang="fr-FR" sz="3600" dirty="0">
                <a:latin typeface="Arial" panose="020B0604020202020204" pitchFamily="34" charset="0"/>
                <a:cs typeface="Arial" panose="020B0604020202020204" pitchFamily="34" charset="0"/>
              </a:rPr>
              <a:t> </a:t>
            </a:r>
            <a:r>
              <a:rPr lang="fr-FR" sz="3600" dirty="0" err="1">
                <a:latin typeface="Arial" panose="020B0604020202020204" pitchFamily="34" charset="0"/>
                <a:cs typeface="Arial" panose="020B0604020202020204" pitchFamily="34" charset="0"/>
              </a:rPr>
              <a:t>using</a:t>
            </a:r>
            <a:r>
              <a:rPr lang="fr-FR" sz="3600" dirty="0">
                <a:latin typeface="Arial" panose="020B0604020202020204" pitchFamily="34" charset="0"/>
                <a:cs typeface="Arial" panose="020B0604020202020204" pitchFamily="34" charset="0"/>
              </a:rPr>
              <a:t> the admissions data set</a:t>
            </a:r>
            <a:endParaRPr lang="en-US"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34537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57A2E-43B6-8C8F-025B-8B96A61D9CCE}"/>
              </a:ext>
            </a:extLst>
          </p:cNvPr>
          <p:cNvSpPr>
            <a:spLocks noGrp="1"/>
          </p:cNvSpPr>
          <p:nvPr>
            <p:ph type="title"/>
          </p:nvPr>
        </p:nvSpPr>
        <p:spPr>
          <a:xfrm>
            <a:off x="118872" y="123473"/>
            <a:ext cx="10515600" cy="1325563"/>
          </a:xfrm>
        </p:spPr>
        <p:txBody>
          <a:bodyPr>
            <a:normAutofit/>
          </a:bodyPr>
          <a:lstStyle/>
          <a:p>
            <a:r>
              <a:rPr kumimoji="0" lang="en-US" sz="3600" b="0" i="0" u="none" strike="noStrike" kern="1200" cap="none" spc="0" normalizeH="0" baseline="0" noProof="0" dirty="0">
                <a:ln>
                  <a:noFill/>
                </a:ln>
                <a:solidFill>
                  <a:prstClr val="black"/>
                </a:solidFill>
                <a:effectLst/>
                <a:uLnTx/>
                <a:uFillTx/>
                <a:latin typeface="Arial" panose="020B0604020202020204" pitchFamily="34" charset="0"/>
                <a:ea typeface="+mj-ea"/>
                <a:cs typeface="Arial" panose="020B0604020202020204" pitchFamily="34" charset="0"/>
              </a:rPr>
              <a:t>Example: Partial c</a:t>
            </a:r>
            <a:r>
              <a:rPr kumimoji="0" lang="en-US" sz="3600" b="0" i="0" u="none" strike="noStrike" kern="1200" cap="none" spc="0" normalizeH="0" baseline="0" noProof="0" dirty="0">
                <a:ln>
                  <a:noFill/>
                </a:ln>
                <a:solidFill>
                  <a:prstClr val="black"/>
                </a:solidFill>
                <a:effectLst/>
                <a:uLnTx/>
                <a:uFillTx/>
                <a:latin typeface="Aptos Display" panose="02110004020202020204"/>
                <a:ea typeface="+mj-ea"/>
                <a:cs typeface="+mj-cs"/>
              </a:rPr>
              <a:t>orrelation</a:t>
            </a:r>
            <a:r>
              <a:rPr kumimoji="0" lang="fr-FR" sz="3600" b="0" i="0" u="none" strike="noStrike" kern="1200" cap="none" spc="0" normalizeH="0" baseline="0" noProof="0" dirty="0">
                <a:ln>
                  <a:noFill/>
                </a:ln>
                <a:solidFill>
                  <a:prstClr val="black"/>
                </a:solidFill>
                <a:effectLst/>
                <a:uLnTx/>
                <a:uFillTx/>
                <a:latin typeface="Arial" panose="020B0604020202020204" pitchFamily="34" charset="0"/>
                <a:ea typeface="+mj-ea"/>
                <a:cs typeface="Arial" panose="020B0604020202020204" pitchFamily="34" charset="0"/>
              </a:rPr>
              <a:t> </a:t>
            </a:r>
            <a:r>
              <a:rPr kumimoji="0" lang="fr-FR" sz="3600" b="0" i="0" u="none" strike="noStrike" kern="1200" cap="none" spc="0" normalizeH="0" baseline="0" noProof="0" dirty="0" err="1">
                <a:ln>
                  <a:noFill/>
                </a:ln>
                <a:solidFill>
                  <a:prstClr val="black"/>
                </a:solidFill>
                <a:effectLst/>
                <a:uLnTx/>
                <a:uFillTx/>
                <a:latin typeface="Arial" panose="020B0604020202020204" pitchFamily="34" charset="0"/>
                <a:ea typeface="+mj-ea"/>
                <a:cs typeface="Arial" panose="020B0604020202020204" pitchFamily="34" charset="0"/>
              </a:rPr>
              <a:t>using</a:t>
            </a:r>
            <a:r>
              <a:rPr kumimoji="0" lang="fr-FR" sz="3600" b="0" i="0" u="none" strike="noStrike" kern="1200" cap="none" spc="0" normalizeH="0" baseline="0" noProof="0" dirty="0">
                <a:ln>
                  <a:noFill/>
                </a:ln>
                <a:solidFill>
                  <a:prstClr val="black"/>
                </a:solidFill>
                <a:effectLst/>
                <a:uLnTx/>
                <a:uFillTx/>
                <a:latin typeface="Arial" panose="020B0604020202020204" pitchFamily="34" charset="0"/>
                <a:ea typeface="+mj-ea"/>
                <a:cs typeface="Arial" panose="020B0604020202020204" pitchFamily="34" charset="0"/>
              </a:rPr>
              <a:t> the admissions data set</a:t>
            </a:r>
            <a:endParaRPr lang="en-US"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A5474C23-39A6-DCA8-4A91-3BFD990F5878}"/>
              </a:ext>
            </a:extLst>
          </p:cNvPr>
          <p:cNvSpPr txBox="1"/>
          <p:nvPr/>
        </p:nvSpPr>
        <p:spPr>
          <a:xfrm>
            <a:off x="324734" y="4216001"/>
            <a:ext cx="11015227" cy="2246769"/>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Partial Correlation </a:t>
            </a:r>
            <a:r>
              <a:rPr lang="en-US" sz="2000" dirty="0">
                <a:latin typeface="Arial" panose="020B0604020202020204" pitchFamily="34" charset="0"/>
                <a:cs typeface="Arial" panose="020B0604020202020204" pitchFamily="34" charset="0"/>
              </a:rPr>
              <a:t>(Second Section: Controlling for HS Class Size)</a:t>
            </a:r>
          </a:p>
          <a:p>
            <a:pPr marL="285750" indent="-285750">
              <a:buFont typeface="Arial" panose="020B0604020202020204" pitchFamily="34" charset="0"/>
              <a:buChar char="•"/>
            </a:pPr>
            <a:r>
              <a:rPr lang="en-US" sz="2000" b="1" dirty="0">
                <a:latin typeface="Arial" panose="020B0604020202020204" pitchFamily="34" charset="0"/>
                <a:cs typeface="Arial" panose="020B0604020202020204" pitchFamily="34" charset="0"/>
              </a:rPr>
              <a:t>Analysis: </a:t>
            </a:r>
            <a:r>
              <a:rPr lang="en-US" sz="2000" dirty="0">
                <a:latin typeface="Arial" panose="020B0604020202020204" pitchFamily="34" charset="0"/>
                <a:cs typeface="Arial" panose="020B0604020202020204" pitchFamily="34" charset="0"/>
              </a:rPr>
              <a:t>The partial correlation shows the correlation between SAT Math and SAT Verbal while controlling for HS Class Size, which is </a:t>
            </a:r>
            <a:r>
              <a:rPr lang="en-US" sz="2000" i="1" dirty="0">
                <a:latin typeface="Arial" panose="020B0604020202020204" pitchFamily="34" charset="0"/>
                <a:cs typeface="Arial" panose="020B0604020202020204" pitchFamily="34" charset="0"/>
              </a:rPr>
              <a:t>r</a:t>
            </a:r>
            <a:r>
              <a:rPr lang="en-US" sz="2000" dirty="0">
                <a:latin typeface="Arial" panose="020B0604020202020204" pitchFamily="34" charset="0"/>
                <a:cs typeface="Arial" panose="020B0604020202020204" pitchFamily="34" charset="0"/>
              </a:rPr>
              <a:t> = .449, p &lt; .001 (.464 → .449).</a:t>
            </a:r>
          </a:p>
          <a:p>
            <a:pPr marL="285750" indent="-285750">
              <a:buFont typeface="Arial" panose="020B0604020202020204" pitchFamily="34" charset="0"/>
              <a:buChar char="•"/>
            </a:pPr>
            <a:r>
              <a:rPr lang="en-US" sz="2000" b="1" dirty="0">
                <a:latin typeface="Arial" panose="020B0604020202020204" pitchFamily="34" charset="0"/>
                <a:cs typeface="Arial" panose="020B0604020202020204" pitchFamily="34" charset="0"/>
              </a:rPr>
              <a:t>Interpretation</a:t>
            </a:r>
            <a:r>
              <a:rPr lang="en-US" sz="2000" dirty="0">
                <a:latin typeface="Arial" panose="020B0604020202020204" pitchFamily="34" charset="0"/>
                <a:cs typeface="Arial" panose="020B0604020202020204" pitchFamily="34" charset="0"/>
              </a:rPr>
              <a:t>: Controlling for class size has little effect on the relationship between SAT Math and SAT Verbal, meaning class size does not confound or significantly influence their correlation.</a:t>
            </a:r>
          </a:p>
          <a:p>
            <a:endParaRPr lang="en-US" sz="2000"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8D2E36B3-734D-FA72-4524-DC61B1AC1A51}"/>
              </a:ext>
            </a:extLst>
          </p:cNvPr>
          <p:cNvPicPr>
            <a:picLocks noChangeAspect="1"/>
          </p:cNvPicPr>
          <p:nvPr/>
        </p:nvPicPr>
        <p:blipFill>
          <a:blip r:embed="rId2"/>
          <a:stretch>
            <a:fillRect/>
          </a:stretch>
        </p:blipFill>
        <p:spPr>
          <a:xfrm>
            <a:off x="324734" y="1449036"/>
            <a:ext cx="10646664" cy="2540591"/>
          </a:xfrm>
          <a:prstGeom prst="rect">
            <a:avLst/>
          </a:prstGeom>
        </p:spPr>
      </p:pic>
    </p:spTree>
    <p:extLst>
      <p:ext uri="{BB962C8B-B14F-4D97-AF65-F5344CB8AC3E}">
        <p14:creationId xmlns:p14="http://schemas.microsoft.com/office/powerpoint/2010/main" val="39858816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31B02-320A-E5E2-92BE-5FDD1DCC2E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C15B61F-4096-1C26-5154-FC7B0602E17D}"/>
              </a:ext>
            </a:extLst>
          </p:cNvPr>
          <p:cNvSpPr>
            <a:spLocks noGrp="1"/>
          </p:cNvSpPr>
          <p:nvPr>
            <p:ph idx="1"/>
          </p:nvPr>
        </p:nvSpPr>
        <p:spPr/>
        <p:txBody>
          <a:bodyPr/>
          <a:lstStyle/>
          <a:p>
            <a:r>
              <a:rPr lang="en-US" dirty="0">
                <a:hlinkClick r:id="rId2"/>
              </a:rPr>
              <a:t>Partial and Semi-Partial Correlation Analysis with PRAMS 8 Data – Statistics for Social Work</a:t>
            </a:r>
            <a:endParaRPr lang="en-US" dirty="0"/>
          </a:p>
        </p:txBody>
      </p:sp>
    </p:spTree>
    <p:extLst>
      <p:ext uri="{BB962C8B-B14F-4D97-AF65-F5344CB8AC3E}">
        <p14:creationId xmlns:p14="http://schemas.microsoft.com/office/powerpoint/2010/main" val="34913185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840E2-62AC-7877-BFAE-E18F0125160F}"/>
              </a:ext>
            </a:extLst>
          </p:cNvPr>
          <p:cNvSpPr>
            <a:spLocks noGrp="1"/>
          </p:cNvSpPr>
          <p:nvPr>
            <p:ph type="title"/>
          </p:nvPr>
        </p:nvSpPr>
        <p:spPr>
          <a:xfrm>
            <a:off x="115294" y="57347"/>
            <a:ext cx="10515600" cy="874739"/>
          </a:xfrm>
        </p:spPr>
        <p:txBody>
          <a:bodyPr>
            <a:normAutofit/>
          </a:bodyPr>
          <a:lstStyle/>
          <a:p>
            <a:r>
              <a:rPr lang="en-US" sz="3600" dirty="0">
                <a:latin typeface="Arial" panose="020B0604020202020204" pitchFamily="34" charset="0"/>
                <a:cs typeface="Arial" panose="020B0604020202020204" pitchFamily="34" charset="0"/>
              </a:rPr>
              <a:t>Recall: Inference, Error and Associations</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26836B0C-7692-71D8-FAAA-CA84AC64A30A}"/>
                  </a:ext>
                </a:extLst>
              </p:cNvPr>
              <p:cNvSpPr>
                <a:spLocks noGrp="1"/>
              </p:cNvSpPr>
              <p:nvPr>
                <p:ph type="body" idx="1"/>
              </p:nvPr>
            </p:nvSpPr>
            <p:spPr>
              <a:xfrm>
                <a:off x="266764" y="766763"/>
                <a:ext cx="5157787" cy="823912"/>
              </a:xfrm>
            </p:spPr>
            <p:txBody>
              <a:bodyPr>
                <a:noAutofit/>
              </a:bodyPr>
              <a:lstStyle/>
              <a:p>
                <a:r>
                  <a:rPr lang="en-US" dirty="0">
                    <a:latin typeface="Arial" panose="020B0604020202020204" pitchFamily="34" charset="0"/>
                    <a:cs typeface="Arial" panose="020B0604020202020204" pitchFamily="34" charset="0"/>
                  </a:rPr>
                  <a:t>We do not reject the null hypothesis</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𝐻</m:t>
                        </m:r>
                      </m:e>
                      <m:sub>
                        <m:r>
                          <a:rPr lang="en-US" b="0" i="1" smtClean="0">
                            <a:latin typeface="Cambria Math" panose="02040503050406030204" pitchFamily="18" charset="0"/>
                          </a:rPr>
                          <m:t>𝑜</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oMath>
                </a14:m>
                <a:r>
                  <a:rPr lang="en-US" b="0" dirty="0">
                    <a:latin typeface="Arial" panose="020B0604020202020204" pitchFamily="34" charset="0"/>
                    <a:cs typeface="Arial" panose="020B0604020202020204" pitchFamily="34" charset="0"/>
                  </a:rPr>
                  <a:t>= 0</a:t>
                </a:r>
              </a:p>
            </p:txBody>
          </p:sp>
        </mc:Choice>
        <mc:Fallback xmlns="">
          <p:sp>
            <p:nvSpPr>
              <p:cNvPr id="4" name="Text Placeholder 3">
                <a:extLst>
                  <a:ext uri="{FF2B5EF4-FFF2-40B4-BE49-F238E27FC236}">
                    <a16:creationId xmlns:a16="http://schemas.microsoft.com/office/drawing/2014/main" id="{26836B0C-7692-71D8-FAAA-CA84AC64A30A}"/>
                  </a:ext>
                </a:extLst>
              </p:cNvPr>
              <p:cNvSpPr>
                <a:spLocks noGrp="1" noRot="1" noChangeAspect="1" noMove="1" noResize="1" noEditPoints="1" noAdjustHandles="1" noChangeArrowheads="1" noChangeShapeType="1" noTextEdit="1"/>
              </p:cNvSpPr>
              <p:nvPr>
                <p:ph type="body" idx="1"/>
              </p:nvPr>
            </p:nvSpPr>
            <p:spPr>
              <a:xfrm>
                <a:off x="266764" y="766763"/>
                <a:ext cx="5157787" cy="823912"/>
              </a:xfrm>
              <a:blipFill>
                <a:blip r:embed="rId2"/>
                <a:stretch>
                  <a:fillRect l="-1891" t="-741" b="-17778"/>
                </a:stretch>
              </a:blipFill>
            </p:spPr>
            <p:txBody>
              <a:bodyPr/>
              <a:lstStyle/>
              <a:p>
                <a:r>
                  <a:rPr lang="en-US">
                    <a:noFill/>
                  </a:rPr>
                  <a:t> </a:t>
                </a:r>
              </a:p>
            </p:txBody>
          </p:sp>
        </mc:Fallback>
      </mc:AlternateContent>
      <p:sp>
        <p:nvSpPr>
          <p:cNvPr id="5" name="Content Placeholder 4">
            <a:extLst>
              <a:ext uri="{FF2B5EF4-FFF2-40B4-BE49-F238E27FC236}">
                <a16:creationId xmlns:a16="http://schemas.microsoft.com/office/drawing/2014/main" id="{2C452299-1E13-03CF-218A-229A1B67E5A8}"/>
              </a:ext>
            </a:extLst>
          </p:cNvPr>
          <p:cNvSpPr>
            <a:spLocks noGrp="1"/>
          </p:cNvSpPr>
          <p:nvPr>
            <p:ph sz="half" idx="2"/>
          </p:nvPr>
        </p:nvSpPr>
        <p:spPr>
          <a:xfrm>
            <a:off x="266764" y="1764295"/>
            <a:ext cx="5157787" cy="3684588"/>
          </a:xfrm>
        </p:spPr>
        <p:txBody>
          <a:bodyPr>
            <a:normAutofit/>
          </a:bodyPr>
          <a:lstStyle/>
          <a:p>
            <a:r>
              <a:rPr lang="en-US" sz="2000" b="0" i="0" dirty="0">
                <a:effectLst/>
                <a:latin typeface="Arial" panose="020B0604020202020204" pitchFamily="34" charset="0"/>
                <a:cs typeface="Arial" panose="020B0604020202020204" pitchFamily="34" charset="0"/>
              </a:rPr>
              <a:t>We committed a Type II error</a:t>
            </a:r>
          </a:p>
          <a:p>
            <a:r>
              <a:rPr lang="en-US" sz="2000" b="0" i="0" dirty="0">
                <a:effectLst/>
                <a:latin typeface="Arial" panose="020B0604020202020204" pitchFamily="34" charset="0"/>
                <a:cs typeface="Arial" panose="020B0604020202020204" pitchFamily="34" charset="0"/>
              </a:rPr>
              <a:t>There really is not much of a linear relationship between </a:t>
            </a:r>
            <a:r>
              <a:rPr lang="en-US" sz="2000" b="0" i="1" dirty="0">
                <a:effectLst/>
                <a:latin typeface="Arial" panose="020B0604020202020204" pitchFamily="34" charset="0"/>
                <a:cs typeface="Arial" panose="020B0604020202020204" pitchFamily="34" charset="0"/>
              </a:rPr>
              <a:t>x</a:t>
            </a:r>
            <a:r>
              <a:rPr lang="en-US" sz="2000" b="0" i="0" dirty="0">
                <a:effectLst/>
                <a:latin typeface="Arial" panose="020B0604020202020204" pitchFamily="34" charset="0"/>
                <a:cs typeface="Arial" panose="020B0604020202020204" pitchFamily="34" charset="0"/>
              </a:rPr>
              <a:t> and </a:t>
            </a:r>
            <a:r>
              <a:rPr lang="en-US" sz="2000" b="0" i="1" dirty="0">
                <a:effectLst/>
                <a:latin typeface="Arial" panose="020B0604020202020204" pitchFamily="34" charset="0"/>
                <a:cs typeface="Arial" panose="020B0604020202020204" pitchFamily="34" charset="0"/>
              </a:rPr>
              <a:t>y</a:t>
            </a:r>
            <a:endParaRPr lang="en-US" sz="2000" b="0" i="0" dirty="0">
              <a:effectLst/>
              <a:latin typeface="Arial" panose="020B0604020202020204" pitchFamily="34" charset="0"/>
              <a:cs typeface="Arial" panose="020B0604020202020204" pitchFamily="34" charset="0"/>
            </a:endParaRPr>
          </a:p>
          <a:p>
            <a:r>
              <a:rPr lang="en-US" sz="2000" b="0" i="0" dirty="0">
                <a:effectLst/>
                <a:latin typeface="Arial" panose="020B0604020202020204" pitchFamily="34" charset="0"/>
                <a:cs typeface="Arial" panose="020B0604020202020204" pitchFamily="34" charset="0"/>
              </a:rPr>
              <a:t>There is a relationship between </a:t>
            </a:r>
            <a:r>
              <a:rPr lang="en-US" sz="2000" b="0" i="1" dirty="0">
                <a:effectLst/>
                <a:latin typeface="Arial" panose="020B0604020202020204" pitchFamily="34" charset="0"/>
                <a:cs typeface="Arial" panose="020B0604020202020204" pitchFamily="34" charset="0"/>
              </a:rPr>
              <a:t>x</a:t>
            </a:r>
            <a:r>
              <a:rPr lang="en-US" sz="2000" b="0" i="0" dirty="0">
                <a:effectLst/>
                <a:latin typeface="Arial" panose="020B0604020202020204" pitchFamily="34" charset="0"/>
                <a:cs typeface="Arial" panose="020B0604020202020204" pitchFamily="34" charset="0"/>
              </a:rPr>
              <a:t> and </a:t>
            </a:r>
            <a:r>
              <a:rPr lang="en-US" sz="2000" b="0" i="1" dirty="0">
                <a:effectLst/>
                <a:latin typeface="Arial" panose="020B0604020202020204" pitchFamily="34" charset="0"/>
                <a:cs typeface="Arial" panose="020B0604020202020204" pitchFamily="34" charset="0"/>
              </a:rPr>
              <a:t>y</a:t>
            </a:r>
            <a:r>
              <a:rPr lang="en-US" sz="2000" b="0" i="0" dirty="0">
                <a:effectLst/>
                <a:latin typeface="Arial" panose="020B0604020202020204" pitchFamily="34" charset="0"/>
                <a:cs typeface="Arial" panose="020B0604020202020204" pitchFamily="34" charset="0"/>
              </a:rPr>
              <a:t> — it is just not linear</a:t>
            </a:r>
            <a:endParaRPr lang="en-US" sz="20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FE104A26-AF5C-268C-0468-FB59413CD76D}"/>
                  </a:ext>
                </a:extLst>
              </p:cNvPr>
              <p:cNvSpPr>
                <a:spLocks noGrp="1"/>
              </p:cNvSpPr>
              <p:nvPr>
                <p:ph type="body" sz="quarter" idx="3"/>
              </p:nvPr>
            </p:nvSpPr>
            <p:spPr>
              <a:xfrm>
                <a:off x="5599176" y="766763"/>
                <a:ext cx="5183188" cy="823912"/>
              </a:xfrm>
            </p:spPr>
            <p:txBody>
              <a:bodyPr>
                <a:noAutofit/>
              </a:bodyPr>
              <a:lstStyle/>
              <a:p>
                <a:r>
                  <a:rPr lang="en-US" dirty="0">
                    <a:latin typeface="Arial" panose="020B0604020202020204" pitchFamily="34" charset="0"/>
                    <a:cs typeface="Arial" panose="020B0604020202020204" pitchFamily="34" charset="0"/>
                  </a:rPr>
                  <a:t>We do reject the null hypothesis</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𝐻</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a:rPr lang="en-US" b="0" i="1" dirty="0" smtClean="0">
                        <a:latin typeface="Cambria Math" panose="02040503050406030204" pitchFamily="18" charset="0"/>
                        <a:ea typeface="Cambria Math" panose="02040503050406030204" pitchFamily="18" charset="0"/>
                      </a:rPr>
                      <m:t>≠ </m:t>
                    </m:r>
                    <m:r>
                      <m:rPr>
                        <m:nor/>
                      </m:rPr>
                      <a:rPr lang="en-US" b="0" dirty="0" smtClean="0">
                        <a:latin typeface="Arial" panose="020B0604020202020204" pitchFamily="34" charset="0"/>
                        <a:cs typeface="Arial" panose="020B0604020202020204" pitchFamily="34" charset="0"/>
                      </a:rPr>
                      <m:t>0</m:t>
                    </m:r>
                  </m:oMath>
                </a14:m>
                <a:endParaRPr lang="en-US" b="0" dirty="0">
                  <a:latin typeface="Arial" panose="020B0604020202020204" pitchFamily="34" charset="0"/>
                  <a:cs typeface="Arial" panose="020B0604020202020204" pitchFamily="34" charset="0"/>
                </a:endParaRPr>
              </a:p>
            </p:txBody>
          </p:sp>
        </mc:Choice>
        <mc:Fallback xmlns="">
          <p:sp>
            <p:nvSpPr>
              <p:cNvPr id="6" name="Text Placeholder 5">
                <a:extLst>
                  <a:ext uri="{FF2B5EF4-FFF2-40B4-BE49-F238E27FC236}">
                    <a16:creationId xmlns:a16="http://schemas.microsoft.com/office/drawing/2014/main" id="{FE104A26-AF5C-268C-0468-FB59413CD76D}"/>
                  </a:ext>
                </a:extLst>
              </p:cNvPr>
              <p:cNvSpPr>
                <a:spLocks noGrp="1" noRot="1" noChangeAspect="1" noMove="1" noResize="1" noEditPoints="1" noAdjustHandles="1" noChangeArrowheads="1" noChangeShapeType="1" noTextEdit="1"/>
              </p:cNvSpPr>
              <p:nvPr>
                <p:ph type="body" sz="quarter" idx="3"/>
              </p:nvPr>
            </p:nvSpPr>
            <p:spPr>
              <a:xfrm>
                <a:off x="5599176" y="766763"/>
                <a:ext cx="5183188" cy="823912"/>
              </a:xfrm>
              <a:blipFill>
                <a:blip r:embed="rId3"/>
                <a:stretch>
                  <a:fillRect l="-1882" t="-741" b="-17778"/>
                </a:stretch>
              </a:blipFill>
            </p:spPr>
            <p:txBody>
              <a:bodyPr/>
              <a:lstStyle/>
              <a:p>
                <a:r>
                  <a:rPr lang="en-US">
                    <a:noFill/>
                  </a:rPr>
                  <a:t> </a:t>
                </a:r>
              </a:p>
            </p:txBody>
          </p:sp>
        </mc:Fallback>
      </mc:AlternateContent>
      <p:sp>
        <p:nvSpPr>
          <p:cNvPr id="7" name="Content Placeholder 6">
            <a:extLst>
              <a:ext uri="{FF2B5EF4-FFF2-40B4-BE49-F238E27FC236}">
                <a16:creationId xmlns:a16="http://schemas.microsoft.com/office/drawing/2014/main" id="{39BD73E3-F6DD-CD20-83C5-F1208230B2C9}"/>
              </a:ext>
            </a:extLst>
          </p:cNvPr>
          <p:cNvSpPr>
            <a:spLocks noGrp="1"/>
          </p:cNvSpPr>
          <p:nvPr>
            <p:ph sz="quarter" idx="4"/>
          </p:nvPr>
        </p:nvSpPr>
        <p:spPr>
          <a:xfrm>
            <a:off x="5599176" y="1764295"/>
            <a:ext cx="5183188" cy="3684588"/>
          </a:xfrm>
        </p:spPr>
        <p:txBody>
          <a:bodyPr>
            <a:normAutofit/>
          </a:bodyPr>
          <a:lstStyle/>
          <a:p>
            <a:r>
              <a:rPr lang="en-US" sz="2000" b="0" i="0" dirty="0">
                <a:effectLst/>
                <a:latin typeface="Arial" panose="020B0604020202020204" pitchFamily="34" charset="0"/>
                <a:cs typeface="Arial" panose="020B0604020202020204" pitchFamily="34" charset="0"/>
              </a:rPr>
              <a:t>We committed a Type I error.</a:t>
            </a:r>
          </a:p>
          <a:p>
            <a:r>
              <a:rPr lang="en-US" sz="2000" b="0" i="0" dirty="0">
                <a:effectLst/>
                <a:latin typeface="Arial" panose="020B0604020202020204" pitchFamily="34" charset="0"/>
                <a:cs typeface="Arial" panose="020B0604020202020204" pitchFamily="34" charset="0"/>
              </a:rPr>
              <a:t>The relationship between </a:t>
            </a:r>
            <a:r>
              <a:rPr lang="en-US" sz="2000" b="0" i="1" dirty="0">
                <a:effectLst/>
                <a:latin typeface="Arial" panose="020B0604020202020204" pitchFamily="34" charset="0"/>
                <a:cs typeface="Arial" panose="020B0604020202020204" pitchFamily="34" charset="0"/>
              </a:rPr>
              <a:t>x</a:t>
            </a:r>
            <a:r>
              <a:rPr lang="en-US" sz="2000" b="0" i="0" dirty="0">
                <a:effectLst/>
                <a:latin typeface="Arial" panose="020B0604020202020204" pitchFamily="34" charset="0"/>
                <a:cs typeface="Arial" panose="020B0604020202020204" pitchFamily="34" charset="0"/>
              </a:rPr>
              <a:t> and </a:t>
            </a:r>
            <a:r>
              <a:rPr lang="en-US" sz="2000" b="0" i="1" dirty="0">
                <a:effectLst/>
                <a:latin typeface="Arial" panose="020B0604020202020204" pitchFamily="34" charset="0"/>
                <a:cs typeface="Arial" panose="020B0604020202020204" pitchFamily="34" charset="0"/>
              </a:rPr>
              <a:t>y</a:t>
            </a:r>
            <a:r>
              <a:rPr lang="en-US" sz="2000" b="0" i="0" dirty="0">
                <a:effectLst/>
                <a:latin typeface="Arial" panose="020B0604020202020204" pitchFamily="34" charset="0"/>
                <a:cs typeface="Arial" panose="020B0604020202020204" pitchFamily="34" charset="0"/>
              </a:rPr>
              <a:t> is indeed linear.</a:t>
            </a:r>
          </a:p>
          <a:p>
            <a:r>
              <a:rPr lang="en-US" sz="2000" b="0" i="0" dirty="0">
                <a:effectLst/>
                <a:latin typeface="Arial" panose="020B0604020202020204" pitchFamily="34" charset="0"/>
                <a:cs typeface="Arial" panose="020B0604020202020204" pitchFamily="34" charset="0"/>
              </a:rPr>
              <a:t>A linear function fits the data, okay, but a curved ("curvilinear") function would fit the data even better.</a:t>
            </a:r>
          </a:p>
          <a:p>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7387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heel(1)">
                                      <p:cBhvr>
                                        <p:cTn id="7" dur="2000"/>
                                        <p:tgtEl>
                                          <p:spTgt spid="7">
                                            <p:txEl>
                                              <p:pRg st="0" end="0"/>
                                            </p:txEl>
                                          </p:spTgt>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wheel(1)">
                                      <p:cBhvr>
                                        <p:cTn id="10" dur="2000"/>
                                        <p:tgtEl>
                                          <p:spTgt spid="7">
                                            <p:txEl>
                                              <p:pRg st="1" end="1"/>
                                            </p:txEl>
                                          </p:spTgt>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wheel(1)">
                                      <p:cBhvr>
                                        <p:cTn id="13" dur="2000"/>
                                        <p:tgtEl>
                                          <p:spTgt spid="7">
                                            <p:txEl>
                                              <p:pRg st="2" end="2"/>
                                            </p:txEl>
                                          </p:spTgt>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wheel(1)">
                                      <p:cBhvr>
                                        <p:cTn id="16"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DD319-7796-8098-4557-66C7F8D41EEB}"/>
              </a:ext>
            </a:extLst>
          </p:cNvPr>
          <p:cNvSpPr>
            <a:spLocks noGrp="1"/>
          </p:cNvSpPr>
          <p:nvPr>
            <p:ph type="title"/>
          </p:nvPr>
        </p:nvSpPr>
        <p:spPr>
          <a:xfrm>
            <a:off x="244098" y="189478"/>
            <a:ext cx="10515600" cy="724922"/>
          </a:xfrm>
        </p:spPr>
        <p:txBody>
          <a:bodyPr anchor="b">
            <a:normAutofit/>
          </a:bodyPr>
          <a:lstStyle/>
          <a:p>
            <a:r>
              <a:rPr lang="en-US" dirty="0">
                <a:latin typeface="Aptos Display (Headings)"/>
              </a:rPr>
              <a:t>Hypothesis testing of coefficients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43290D-3582-D081-927C-51CD23DD4796}"/>
                  </a:ext>
                </a:extLst>
              </p:cNvPr>
              <p:cNvSpPr>
                <a:spLocks noGrp="1"/>
              </p:cNvSpPr>
              <p:nvPr>
                <p:ph idx="4294967295"/>
              </p:nvPr>
            </p:nvSpPr>
            <p:spPr>
              <a:xfrm>
                <a:off x="449451" y="997058"/>
                <a:ext cx="11742549" cy="5227530"/>
              </a:xfrm>
            </p:spPr>
            <p:txBody>
              <a:bodyPr>
                <a:normAutofit/>
              </a:bodyPr>
              <a:lstStyle/>
              <a:p>
                <a:r>
                  <a:rPr lang="en-US" sz="2000" dirty="0"/>
                  <a:t>We follow standard hypothesis testing for the slope parameters in a linear regression model</a:t>
                </a:r>
              </a:p>
              <a:p>
                <a:r>
                  <a:rPr lang="en-US" sz="2000" dirty="0"/>
                  <a:t>First, specify the null and alternative</a:t>
                </a:r>
              </a:p>
              <a:p>
                <a:pPr lvl="1"/>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rPr>
                          <m:t>𝐻</m:t>
                        </m:r>
                      </m:e>
                      <m:sub>
                        <m:r>
                          <a:rPr lang="en-US" sz="2000" b="0" i="1">
                            <a:latin typeface="Cambria Math" panose="02040503050406030204" pitchFamily="18" charset="0"/>
                          </a:rPr>
                          <m:t>𝑜</m:t>
                        </m:r>
                      </m:sub>
                    </m:sSub>
                    <m:r>
                      <a:rPr lang="en-US" sz="2000" b="0" i="1">
                        <a:latin typeface="Cambria Math" panose="02040503050406030204" pitchFamily="18" charset="0"/>
                      </a:rPr>
                      <m:t>: </m:t>
                    </m:r>
                    <m:sSub>
                      <m:sSubPr>
                        <m:ctrlPr>
                          <a:rPr lang="en-US" sz="2000" b="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𝛽</m:t>
                        </m:r>
                      </m:e>
                      <m:sub>
                        <m:r>
                          <a:rPr lang="en-US" sz="2000" b="0" i="1">
                            <a:latin typeface="Cambria Math" panose="02040503050406030204" pitchFamily="18" charset="0"/>
                          </a:rPr>
                          <m:t>1</m:t>
                        </m:r>
                      </m:sub>
                    </m:sSub>
                  </m:oMath>
                </a14:m>
                <a:r>
                  <a:rPr lang="en-US" sz="2000" dirty="0"/>
                  <a:t>= 0</a:t>
                </a:r>
              </a:p>
              <a:p>
                <a:pPr lvl="1"/>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rPr>
                          <m:t>𝐻</m:t>
                        </m:r>
                      </m:e>
                      <m:sub>
                        <m:r>
                          <a:rPr lang="en-US" sz="2000" b="0" i="1">
                            <a:latin typeface="Cambria Math" panose="02040503050406030204" pitchFamily="18" charset="0"/>
                          </a:rPr>
                          <m:t>1</m:t>
                        </m:r>
                      </m:sub>
                    </m:sSub>
                    <m:r>
                      <a:rPr lang="en-US" sz="2000" b="0" i="1">
                        <a:latin typeface="Cambria Math" panose="02040503050406030204" pitchFamily="18" charset="0"/>
                      </a:rPr>
                      <m:t>: </m:t>
                    </m:r>
                    <m:sSub>
                      <m:sSubPr>
                        <m:ctrlPr>
                          <a:rPr lang="en-US" sz="2000" b="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𝛽</m:t>
                        </m:r>
                      </m:e>
                      <m:sub>
                        <m:r>
                          <a:rPr lang="en-US" sz="2000" b="0" i="1">
                            <a:latin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r>
                      <a:rPr lang="en-US" sz="2000" b="0" i="1">
                        <a:latin typeface="Cambria Math" panose="02040503050406030204" pitchFamily="18" charset="0"/>
                        <a:ea typeface="Cambria Math" panose="02040503050406030204" pitchFamily="18" charset="0"/>
                      </a:rPr>
                      <m:t> </m:t>
                    </m:r>
                  </m:oMath>
                </a14:m>
                <a:r>
                  <a:rPr lang="en-US" sz="2000" dirty="0"/>
                  <a:t>0</a:t>
                </a:r>
              </a:p>
              <a:p>
                <a:r>
                  <a:rPr lang="en-US" sz="2000" dirty="0"/>
                  <a:t>Second, calculate the test statistic</a:t>
                </a:r>
              </a:p>
              <a:p>
                <a:pPr lvl="1"/>
                <a14:m>
                  <m:oMath xmlns:m="http://schemas.openxmlformats.org/officeDocument/2006/math">
                    <m:sSup>
                      <m:sSupPr>
                        <m:ctrlPr>
                          <a:rPr lang="en-US" sz="2000" i="1">
                            <a:latin typeface="Cambria Math" panose="02040503050406030204" pitchFamily="18" charset="0"/>
                          </a:rPr>
                        </m:ctrlPr>
                      </m:sSupPr>
                      <m:e>
                        <m:r>
                          <a:rPr lang="en-US" sz="2000" b="0" i="1">
                            <a:latin typeface="Cambria Math" panose="02040503050406030204" pitchFamily="18" charset="0"/>
                          </a:rPr>
                          <m:t>𝑡</m:t>
                        </m:r>
                      </m:e>
                      <m:sup>
                        <m:r>
                          <a:rPr lang="en-US" sz="2000" b="0" i="1">
                            <a:latin typeface="Cambria Math" panose="02040503050406030204" pitchFamily="18" charset="0"/>
                          </a:rPr>
                          <m:t>∗</m:t>
                        </m:r>
                      </m:sup>
                    </m:sSup>
                    <m:r>
                      <a:rPr lang="en-US" sz="2000" b="0" i="1">
                        <a:latin typeface="Cambria Math" panose="02040503050406030204" pitchFamily="18" charset="0"/>
                      </a:rPr>
                      <m:t>=</m:t>
                    </m:r>
                    <m:f>
                      <m:fPr>
                        <m:ctrlPr>
                          <a:rPr lang="en-US" sz="2000" i="1" smtClean="0">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num>
                      <m:den>
                        <m:f>
                          <m:fPr>
                            <m:type m:val="skw"/>
                            <m:ctrlPr>
                              <a:rPr lang="en-US" sz="2000" i="1" smtClean="0">
                                <a:latin typeface="Cambria Math" panose="02040503050406030204" pitchFamily="18" charset="0"/>
                              </a:rPr>
                            </m:ctrlPr>
                          </m:fPr>
                          <m:num>
                            <m:rad>
                              <m:radPr>
                                <m:degHide m:val="on"/>
                                <m:ctrlPr>
                                  <a:rPr lang="en-US" sz="2000" i="1" smtClean="0">
                                    <a:latin typeface="Cambria Math" panose="02040503050406030204" pitchFamily="18" charset="0"/>
                                  </a:rPr>
                                </m:ctrlPr>
                              </m:radPr>
                              <m:deg/>
                              <m:e>
                                <m:r>
                                  <a:rPr lang="en-US" sz="2000" b="0" i="1" smtClean="0">
                                    <a:latin typeface="Cambria Math" panose="02040503050406030204" pitchFamily="18" charset="0"/>
                                  </a:rPr>
                                  <m:t>𝑀𝑆𝐸</m:t>
                                </m:r>
                              </m:e>
                            </m:rad>
                          </m:num>
                          <m:den>
                            <m:rad>
                              <m:radPr>
                                <m:degHide m:val="on"/>
                                <m:ctrlPr>
                                  <a:rPr lang="en-US" sz="2000" i="1" smtClean="0">
                                    <a:latin typeface="Cambria Math" panose="02040503050406030204" pitchFamily="18" charset="0"/>
                                  </a:rPr>
                                </m:ctrlPr>
                              </m:radPr>
                              <m:deg/>
                              <m:e>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r>
                                      <a:rPr lang="en-US" sz="2000" b="0" i="1" smtClean="0">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r>
                                      <a:rPr lang="en-US" sz="2000" b="0" i="1" smtClean="0">
                                        <a:latin typeface="Cambria Math" panose="02040503050406030204" pitchFamily="18" charset="0"/>
                                      </a:rPr>
                                      <m:t>)</m:t>
                                    </m:r>
                                  </m:e>
                                  <m:sup>
                                    <m:r>
                                      <a:rPr lang="en-US" sz="2000" b="0" i="1" smtClean="0">
                                        <a:latin typeface="Cambria Math" panose="02040503050406030204" pitchFamily="18" charset="0"/>
                                      </a:rPr>
                                      <m:t>2</m:t>
                                    </m:r>
                                  </m:sup>
                                </m:sSup>
                              </m:e>
                            </m:rad>
                          </m:den>
                        </m:f>
                      </m:den>
                    </m:f>
                    <m:r>
                      <a:rPr lang="en-US" sz="2000" b="0" i="1" smtClean="0">
                        <a:latin typeface="Cambria Math" panose="02040503050406030204" pitchFamily="18" charset="0"/>
                      </a:rPr>
                      <m:t>=</m:t>
                    </m:r>
                    <m:f>
                      <m:fPr>
                        <m:ctrlPr>
                          <a:rPr lang="en-US" sz="2000" b="0" i="1">
                            <a:latin typeface="Cambria Math" panose="02040503050406030204" pitchFamily="18" charset="0"/>
                          </a:rPr>
                        </m:ctrlPr>
                      </m:fPr>
                      <m:num>
                        <m:sSub>
                          <m:sSubPr>
                            <m:ctrlPr>
                              <a:rPr lang="en-US" sz="2000" b="0" i="1">
                                <a:latin typeface="Cambria Math" panose="02040503050406030204" pitchFamily="18" charset="0"/>
                              </a:rPr>
                            </m:ctrlPr>
                          </m:sSubPr>
                          <m:e>
                            <m:r>
                              <a:rPr lang="en-US" sz="2000" b="0" i="1">
                                <a:latin typeface="Cambria Math" panose="02040503050406030204" pitchFamily="18" charset="0"/>
                              </a:rPr>
                              <m:t>𝑏</m:t>
                            </m:r>
                          </m:e>
                          <m:sub>
                            <m:r>
                              <a:rPr lang="en-US" sz="2000" b="0" i="1">
                                <a:latin typeface="Cambria Math" panose="02040503050406030204" pitchFamily="18" charset="0"/>
                              </a:rPr>
                              <m:t>1</m:t>
                            </m:r>
                          </m:sub>
                        </m:sSub>
                        <m:r>
                          <a:rPr lang="en-US" sz="2000" b="0" i="1">
                            <a:latin typeface="Cambria Math" panose="02040503050406030204" pitchFamily="18" charset="0"/>
                          </a:rPr>
                          <m:t>−</m:t>
                        </m:r>
                        <m:sSub>
                          <m:sSubPr>
                            <m:ctrlPr>
                              <a:rPr lang="en-US" sz="2000" b="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𝛽</m:t>
                            </m:r>
                          </m:e>
                          <m:sub>
                            <m:r>
                              <a:rPr lang="en-US" sz="2000" b="0" i="1">
                                <a:latin typeface="Cambria Math" panose="02040503050406030204" pitchFamily="18" charset="0"/>
                              </a:rPr>
                              <m:t>1</m:t>
                            </m:r>
                          </m:sub>
                        </m:sSub>
                      </m:num>
                      <m:den>
                        <m:r>
                          <a:rPr lang="en-US" sz="2000" b="0" i="1">
                            <a:latin typeface="Cambria Math" panose="02040503050406030204" pitchFamily="18" charset="0"/>
                          </a:rPr>
                          <m:t>𝑠𝑒</m:t>
                        </m:r>
                        <m:r>
                          <a:rPr lang="en-US" sz="2000" b="0" i="1">
                            <a:latin typeface="Cambria Math" panose="02040503050406030204" pitchFamily="18" charset="0"/>
                          </a:rPr>
                          <m:t>(</m:t>
                        </m:r>
                        <m:sSub>
                          <m:sSubPr>
                            <m:ctrlPr>
                              <a:rPr lang="en-US" sz="2000" b="0" i="1">
                                <a:latin typeface="Cambria Math" panose="02040503050406030204" pitchFamily="18" charset="0"/>
                              </a:rPr>
                            </m:ctrlPr>
                          </m:sSubPr>
                          <m:e>
                            <m:r>
                              <a:rPr lang="en-US" sz="2000" b="0" i="1">
                                <a:latin typeface="Cambria Math" panose="02040503050406030204" pitchFamily="18" charset="0"/>
                              </a:rPr>
                              <m:t>𝑏</m:t>
                            </m:r>
                          </m:e>
                          <m:sub>
                            <m:r>
                              <a:rPr lang="en-US" sz="2000" b="0" i="1">
                                <a:latin typeface="Cambria Math" panose="02040503050406030204" pitchFamily="18" charset="0"/>
                              </a:rPr>
                              <m:t>1</m:t>
                            </m:r>
                          </m:sub>
                        </m:sSub>
                        <m:r>
                          <a:rPr lang="en-US" sz="2000" b="0" i="1">
                            <a:latin typeface="Cambria Math" panose="02040503050406030204" pitchFamily="18" charset="0"/>
                          </a:rPr>
                          <m:t>)</m:t>
                        </m:r>
                      </m:den>
                    </m:f>
                  </m:oMath>
                </a14:m>
                <a:endParaRPr lang="en-US" sz="2000" dirty="0"/>
              </a:p>
              <a:p>
                <a:r>
                  <a:rPr lang="en-US" sz="2000" dirty="0"/>
                  <a:t>Calculate the p-value**</a:t>
                </a:r>
              </a:p>
              <a:p>
                <a:pPr lvl="1"/>
                <a:r>
                  <a:rPr lang="en-US" sz="2000" dirty="0"/>
                  <a:t>The p-value is determined by referring to a t-distribution with </a:t>
                </a:r>
                <a:r>
                  <a:rPr lang="en-US" sz="2000" i="1" dirty="0"/>
                  <a:t>n – </a:t>
                </a:r>
                <a:r>
                  <a:rPr lang="en-US" sz="2000" dirty="0"/>
                  <a:t>2</a:t>
                </a:r>
                <a:r>
                  <a:rPr lang="en-US" sz="2000" i="1" dirty="0"/>
                  <a:t> </a:t>
                </a:r>
                <a:r>
                  <a:rPr lang="en-US" sz="2000" i="1" dirty="0" err="1"/>
                  <a:t>df</a:t>
                </a:r>
                <a:r>
                  <a:rPr lang="en-US" sz="2000" i="1" dirty="0"/>
                  <a:t>**</a:t>
                </a:r>
              </a:p>
              <a:p>
                <a:r>
                  <a:rPr lang="en-US" sz="2000" dirty="0"/>
                  <a:t>Decision: If </a:t>
                </a:r>
                <a:r>
                  <a:rPr lang="en-US" sz="2000" i="1" dirty="0"/>
                  <a:t>p-value &lt; </a:t>
                </a:r>
                <a14:m>
                  <m:oMath xmlns:m="http://schemas.openxmlformats.org/officeDocument/2006/math">
                    <m:r>
                      <a:rPr lang="en-US" sz="2000" i="1">
                        <a:latin typeface="Cambria Math" panose="02040503050406030204" pitchFamily="18" charset="0"/>
                        <a:ea typeface="Cambria Math" panose="02040503050406030204" pitchFamily="18" charset="0"/>
                      </a:rPr>
                      <m:t>𝛼</m:t>
                    </m:r>
                  </m:oMath>
                </a14:m>
                <a:r>
                  <a:rPr lang="en-US" sz="2000" dirty="0"/>
                  <a:t>		       reject </a:t>
                </a:r>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rPr>
                          <m:t>𝐻</m:t>
                        </m:r>
                      </m:e>
                      <m:sub>
                        <m:r>
                          <a:rPr lang="en-US" sz="2000" b="0" i="1">
                            <a:latin typeface="Cambria Math" panose="02040503050406030204" pitchFamily="18" charset="0"/>
                          </a:rPr>
                          <m:t>𝑜</m:t>
                        </m:r>
                      </m:sub>
                    </m:sSub>
                  </m:oMath>
                </a14:m>
                <a:endParaRPr lang="en-US" sz="2000" dirty="0"/>
              </a:p>
            </p:txBody>
          </p:sp>
        </mc:Choice>
        <mc:Fallback xmlns="">
          <p:sp>
            <p:nvSpPr>
              <p:cNvPr id="3" name="Content Placeholder 2">
                <a:extLst>
                  <a:ext uri="{FF2B5EF4-FFF2-40B4-BE49-F238E27FC236}">
                    <a16:creationId xmlns:a16="http://schemas.microsoft.com/office/drawing/2014/main" id="{D543290D-3582-D081-927C-51CD23DD4796}"/>
                  </a:ext>
                </a:extLst>
              </p:cNvPr>
              <p:cNvSpPr>
                <a:spLocks noGrp="1" noRot="1" noChangeAspect="1" noMove="1" noResize="1" noEditPoints="1" noAdjustHandles="1" noChangeArrowheads="1" noChangeShapeType="1" noTextEdit="1"/>
              </p:cNvSpPr>
              <p:nvPr>
                <p:ph idx="4294967295"/>
              </p:nvPr>
            </p:nvSpPr>
            <p:spPr>
              <a:xfrm>
                <a:off x="449451" y="997058"/>
                <a:ext cx="11742549" cy="5227530"/>
              </a:xfrm>
              <a:blipFill>
                <a:blip r:embed="rId3"/>
                <a:stretch>
                  <a:fillRect l="-467" t="-1167"/>
                </a:stretch>
              </a:blipFill>
            </p:spPr>
            <p:txBody>
              <a:bodyPr/>
              <a:lstStyle/>
              <a:p>
                <a:r>
                  <a:rPr lang="en-US">
                    <a:noFill/>
                  </a:rPr>
                  <a:t> </a:t>
                </a:r>
              </a:p>
            </p:txBody>
          </p:sp>
        </mc:Fallback>
      </mc:AlternateContent>
      <p:sp>
        <p:nvSpPr>
          <p:cNvPr id="6" name="Arrow: Right 5">
            <a:extLst>
              <a:ext uri="{FF2B5EF4-FFF2-40B4-BE49-F238E27FC236}">
                <a16:creationId xmlns:a16="http://schemas.microsoft.com/office/drawing/2014/main" id="{B5CC6430-3956-4462-86E6-80FFC655192D}"/>
              </a:ext>
            </a:extLst>
          </p:cNvPr>
          <p:cNvSpPr/>
          <p:nvPr/>
        </p:nvSpPr>
        <p:spPr>
          <a:xfrm>
            <a:off x="3342907" y="4360341"/>
            <a:ext cx="1153668" cy="372803"/>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92968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B384CFA-D5E4-4DFB-B355-696E25EEC5D2}"/>
              </a:ext>
            </a:extLst>
          </p:cNvPr>
          <p:cNvSpPr>
            <a:spLocks noGrp="1"/>
          </p:cNvSpPr>
          <p:nvPr>
            <p:ph type="sldNum" sz="quarter" idx="12"/>
          </p:nvPr>
        </p:nvSpPr>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4C357E0-7941-49F0-B6EC-21213A8B8148}" type="slidenum">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9153" name="Rectangle 2"/>
          <p:cNvSpPr>
            <a:spLocks noGrp="1"/>
          </p:cNvSpPr>
          <p:nvPr>
            <p:ph type="title" idx="4294967295"/>
          </p:nvPr>
        </p:nvSpPr>
        <p:spPr>
          <a:xfrm>
            <a:off x="132229" y="127228"/>
            <a:ext cx="11927541" cy="826161"/>
          </a:xfrm>
        </p:spPr>
        <p:txBody>
          <a:bodyPr vert="horz" lIns="91440" tIns="45720" rIns="91440" bIns="45720" rtlCol="0" anchor="ctr">
            <a:normAutofit/>
          </a:bodyPr>
          <a:lstStyle/>
          <a:p>
            <a:r>
              <a:rPr lang="en-US" sz="3600" kern="1200" dirty="0">
                <a:solidFill>
                  <a:schemeClr val="tx1"/>
                </a:solidFill>
                <a:latin typeface="Arial" panose="020B0604020202020204" pitchFamily="34" charset="0"/>
                <a:cs typeface="Arial" panose="020B0604020202020204" pitchFamily="34" charset="0"/>
              </a:rPr>
              <a:t>Sampling Distributions &amp; Inference</a:t>
            </a:r>
          </a:p>
        </p:txBody>
      </p:sp>
      <mc:AlternateContent xmlns:mc="http://schemas.openxmlformats.org/markup-compatibility/2006" xmlns:a14="http://schemas.microsoft.com/office/drawing/2010/main">
        <mc:Choice Requires="a14">
          <p:sp>
            <p:nvSpPr>
              <p:cNvPr id="49154" name="Rectangle 3"/>
              <p:cNvSpPr>
                <a:spLocks noGrp="1"/>
              </p:cNvSpPr>
              <p:nvPr>
                <p:ph type="body" idx="4294967295"/>
              </p:nvPr>
            </p:nvSpPr>
            <p:spPr>
              <a:xfrm>
                <a:off x="288843" y="953389"/>
                <a:ext cx="11561781" cy="2944368"/>
              </a:xfrm>
            </p:spPr>
            <p:txBody>
              <a:bodyPr vert="horz" lIns="91440" tIns="45720" rIns="91440" bIns="45720" rtlCol="0" anchor="ctr">
                <a:normAutofit/>
              </a:bodyPr>
              <a:lstStyle/>
              <a:p>
                <a:r>
                  <a:rPr lang="en-US" sz="2000" dirty="0">
                    <a:latin typeface="Arial" panose="020B0604020202020204" pitchFamily="34" charset="0"/>
                    <a:cs typeface="Arial" panose="020B0604020202020204" pitchFamily="34" charset="0"/>
                  </a:rPr>
                  <a:t>We can calculate the standard errors of the coefficients: </a:t>
                </a:r>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rPr>
                          <m:t>𝑏</m:t>
                        </m:r>
                      </m:e>
                      <m:sub>
                        <m:r>
                          <a:rPr lang="en-US" sz="2000" i="1">
                            <a:latin typeface="Cambria Math" panose="02040503050406030204" pitchFamily="18" charset="0"/>
                          </a:rPr>
                          <m:t>0</m:t>
                        </m:r>
                      </m:sub>
                    </m:sSub>
                  </m:oMath>
                </a14:m>
                <a:r>
                  <a:rPr lang="en-US" sz="2000" dirty="0">
                    <a:latin typeface="Arial" panose="020B0604020202020204" pitchFamily="34" charset="0"/>
                    <a:cs typeface="Arial" panose="020B0604020202020204" pitchFamily="34" charset="0"/>
                  </a:rPr>
                  <a:t>, </a:t>
                </a:r>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rPr>
                          <m:t>𝑏</m:t>
                        </m:r>
                      </m:e>
                      <m:sub>
                        <m:r>
                          <a:rPr lang="en-US" sz="2000" i="1">
                            <a:latin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 in order to construct confidence intervals for them.</a:t>
                </a:r>
              </a:p>
              <a:p>
                <a:r>
                  <a:rPr lang="en-US" sz="2000" dirty="0">
                    <a:latin typeface="Arial" panose="020B0604020202020204" pitchFamily="34" charset="0"/>
                    <a:cs typeface="Arial" panose="020B0604020202020204" pitchFamily="34" charset="0"/>
                  </a:rPr>
                  <a:t>We can use </a:t>
                </a:r>
                <a:r>
                  <a:rPr lang="en-US" sz="2000" i="1" dirty="0">
                    <a:latin typeface="Arial" panose="020B0604020202020204" pitchFamily="34" charset="0"/>
                    <a:cs typeface="Arial" panose="020B0604020202020204" pitchFamily="34" charset="0"/>
                  </a:rPr>
                  <a:t>t</a:t>
                </a:r>
                <a:r>
                  <a:rPr lang="en-US" sz="2000" dirty="0">
                    <a:latin typeface="Arial" panose="020B0604020202020204" pitchFamily="34" charset="0"/>
                    <a:cs typeface="Arial" panose="020B0604020202020204" pitchFamily="34" charset="0"/>
                  </a:rPr>
                  <a:t>-tests to determine whether the intercept or slope is significantly different from zero</a:t>
                </a:r>
              </a:p>
              <a:p>
                <a:pPr lvl="1"/>
                <a:r>
                  <a:rPr lang="en-US" sz="2000" dirty="0">
                    <a:latin typeface="Arial" panose="020B0604020202020204" pitchFamily="34" charset="0"/>
                    <a:cs typeface="Arial" panose="020B0604020202020204" pitchFamily="34" charset="0"/>
                  </a:rPr>
                  <a:t>This is only interesting for the case of the slope, since it amounts to a test for </a:t>
                </a:r>
                <a:r>
                  <a:rPr lang="en-US" sz="2000" i="1" dirty="0">
                    <a:latin typeface="Arial" panose="020B0604020202020204" pitchFamily="34" charset="0"/>
                    <a:cs typeface="Arial" panose="020B0604020202020204" pitchFamily="34" charset="0"/>
                  </a:rPr>
                  <a:t>whether Y is significantly linearly related to X</a:t>
                </a:r>
              </a:p>
              <a:p>
                <a:r>
                  <a:rPr lang="en-US" sz="2000" b="1" dirty="0">
                    <a:latin typeface="Arial" panose="020B0604020202020204" pitchFamily="34" charset="0"/>
                    <a:cs typeface="Arial" panose="020B0604020202020204" pitchFamily="34" charset="0"/>
                  </a:rPr>
                  <a:t>Idea</a:t>
                </a:r>
                <a:r>
                  <a:rPr lang="en-US" sz="2000" dirty="0">
                    <a:latin typeface="Arial" panose="020B0604020202020204" pitchFamily="34" charset="0"/>
                    <a:cs typeface="Arial" panose="020B0604020202020204" pitchFamily="34" charset="0"/>
                  </a:rPr>
                  <a:t>: To check whether the data really is drawn from an Assumed Linear Model (so that we can make inferences) we must make sure the assumptions of the error term are satisfied</a:t>
                </a:r>
              </a:p>
              <a:p>
                <a:pPr lvl="1"/>
                <a:r>
                  <a:rPr lang="en-US" sz="2000" dirty="0">
                    <a:latin typeface="Arial" panose="020B0604020202020204" pitchFamily="34" charset="0"/>
                    <a:cs typeface="Arial" panose="020B0604020202020204" pitchFamily="34" charset="0"/>
                  </a:rPr>
                  <a:t>Fatal to the model: the variance is not constant, or the errors are not normally distributed </a:t>
                </a:r>
              </a:p>
              <a:p>
                <a:endParaRPr lang="en-US" sz="1700" dirty="0"/>
              </a:p>
            </p:txBody>
          </p:sp>
        </mc:Choice>
        <mc:Fallback xmlns="">
          <p:sp>
            <p:nvSpPr>
              <p:cNvPr id="49154" name="Rectangle 3"/>
              <p:cNvSpPr>
                <a:spLocks noGrp="1" noRot="1" noChangeAspect="1" noMove="1" noResize="1" noEditPoints="1" noAdjustHandles="1" noChangeArrowheads="1" noChangeShapeType="1" noTextEdit="1"/>
              </p:cNvSpPr>
              <p:nvPr>
                <p:ph type="body" idx="4294967295"/>
              </p:nvPr>
            </p:nvSpPr>
            <p:spPr>
              <a:xfrm>
                <a:off x="288843" y="953389"/>
                <a:ext cx="11561781" cy="2944368"/>
              </a:xfrm>
              <a:blipFill>
                <a:blip r:embed="rId2"/>
                <a:stretch>
                  <a:fillRect l="-474" t="-3313"/>
                </a:stretch>
              </a:blipFill>
            </p:spPr>
            <p:txBody>
              <a:bodyPr/>
              <a:lstStyle/>
              <a:p>
                <a:r>
                  <a:rPr lang="en-US">
                    <a:noFill/>
                  </a:rPr>
                  <a:t> </a:t>
                </a:r>
              </a:p>
            </p:txBody>
          </p:sp>
        </mc:Fallback>
      </mc:AlternateContent>
    </p:spTree>
    <p:extLst>
      <p:ext uri="{BB962C8B-B14F-4D97-AF65-F5344CB8AC3E}">
        <p14:creationId xmlns:p14="http://schemas.microsoft.com/office/powerpoint/2010/main" val="1906034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15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15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915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915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2C1AB-74F7-027E-BDA6-8E955318FF58}"/>
              </a:ext>
            </a:extLst>
          </p:cNvPr>
          <p:cNvSpPr>
            <a:spLocks noGrp="1"/>
          </p:cNvSpPr>
          <p:nvPr>
            <p:ph type="title"/>
          </p:nvPr>
        </p:nvSpPr>
        <p:spPr>
          <a:xfrm>
            <a:off x="120112" y="194645"/>
            <a:ext cx="10515600" cy="792082"/>
          </a:xfrm>
        </p:spPr>
        <p:txBody>
          <a:bodyPr>
            <a:normAutofit/>
          </a:bodyPr>
          <a:lstStyle/>
          <a:p>
            <a:r>
              <a:rPr lang="en-US" dirty="0">
                <a:latin typeface="Aptos Display (Headings)"/>
              </a:rPr>
              <a:t>Confidence intervals as hypothesis testing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8B65B2-3884-7590-1F28-A9992F3A979F}"/>
                  </a:ext>
                </a:extLst>
              </p:cNvPr>
              <p:cNvSpPr>
                <a:spLocks noGrp="1"/>
              </p:cNvSpPr>
              <p:nvPr>
                <p:ph idx="4294967295"/>
              </p:nvPr>
            </p:nvSpPr>
            <p:spPr>
              <a:xfrm>
                <a:off x="299635" y="1064217"/>
                <a:ext cx="10890142" cy="4394200"/>
              </a:xfrm>
            </p:spPr>
            <p:txBody>
              <a:bodyPr>
                <a:normAutofit/>
              </a:bodyPr>
              <a:lstStyle/>
              <a:p>
                <a:r>
                  <a:rPr lang="en-US" sz="2000" dirty="0">
                    <a:latin typeface="Arial" panose="020B0604020202020204" pitchFamily="34" charset="0"/>
                    <a:cs typeface="Arial" panose="020B0604020202020204" pitchFamily="34" charset="0"/>
                  </a:rPr>
                  <a:t>It is also useful to look at the confidence interval for </a:t>
                </a:r>
                <a14:m>
                  <m:oMath xmlns:m="http://schemas.openxmlformats.org/officeDocument/2006/math">
                    <m:sSub>
                      <m:sSubPr>
                        <m:ctrlPr>
                          <a:rPr lang="en-US" sz="2000" b="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𝛽</m:t>
                        </m:r>
                      </m:e>
                      <m:sub>
                        <m:r>
                          <a:rPr lang="en-US" sz="2000" b="0" i="1">
                            <a:latin typeface="Cambria Math" panose="02040503050406030204" pitchFamily="18" charset="0"/>
                          </a:rPr>
                          <m:t>1</m:t>
                        </m:r>
                      </m:sub>
                    </m:sSub>
                  </m:oMath>
                </a14:m>
                <a:endParaRPr lang="en-US" sz="2000" dirty="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As always, the CI is the sample estimate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b="0" i="1">
                        <a:latin typeface="Cambria Math" panose="02040503050406030204" pitchFamily="18" charset="0"/>
                        <a:ea typeface="Cambria Math" panose="02040503050406030204" pitchFamily="18" charset="0"/>
                      </a:rPr>
                      <m:t> (</m:t>
                    </m:r>
                  </m:oMath>
                </a14:m>
                <a:r>
                  <a:rPr lang="en-US" sz="2000" b="0" i="1" dirty="0">
                    <a:latin typeface="Arial" panose="020B0604020202020204" pitchFamily="34" charset="0"/>
                    <a:ea typeface="Cambria Math" panose="02040503050406030204" pitchFamily="18" charset="0"/>
                    <a:cs typeface="Arial" panose="020B0604020202020204" pitchFamily="34" charset="0"/>
                  </a:rPr>
                  <a:t>t</a:t>
                </a:r>
                <a:r>
                  <a:rPr lang="en-US" sz="2000" b="0" dirty="0">
                    <a:latin typeface="Arial" panose="020B0604020202020204" pitchFamily="34" charset="0"/>
                    <a:ea typeface="Cambria Math" panose="02040503050406030204" pitchFamily="18" charset="0"/>
                    <a:cs typeface="Arial" panose="020B0604020202020204" pitchFamily="34" charset="0"/>
                  </a:rPr>
                  <a:t>-multiplier x standard error</a:t>
                </a:r>
                <a:r>
                  <a:rPr lang="en-US" sz="2000" b="0" i="1" dirty="0">
                    <a:latin typeface="Arial" panose="020B0604020202020204" pitchFamily="34" charset="0"/>
                    <a:ea typeface="Cambria Math" panose="02040503050406030204" pitchFamily="18" charset="0"/>
                    <a:cs typeface="Arial" panose="020B0604020202020204" pitchFamily="34" charset="0"/>
                  </a:rPr>
                  <a:t>)</a:t>
                </a:r>
              </a:p>
              <a:p>
                <a:pPr lvl="1"/>
                <a14:m>
                  <m:oMath xmlns:m="http://schemas.openxmlformats.org/officeDocument/2006/math">
                    <m:sSub>
                      <m:sSubPr>
                        <m:ctrlPr>
                          <a:rPr lang="en-US" sz="2000" b="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𝑏</m:t>
                        </m:r>
                      </m:e>
                      <m:sub>
                        <m:r>
                          <a:rPr lang="en-US" sz="2000" b="0" i="1">
                            <a:latin typeface="Cambria Math" panose="02040503050406030204" pitchFamily="18" charset="0"/>
                            <a:ea typeface="Cambria Math" panose="02040503050406030204" pitchFamily="18" charset="0"/>
                          </a:rPr>
                          <m:t>1</m:t>
                        </m:r>
                      </m:sub>
                    </m:sSub>
                    <m:r>
                      <a:rPr lang="en-US" sz="2000" b="0" i="1">
                        <a:latin typeface="Cambria Math" panose="02040503050406030204" pitchFamily="18" charset="0"/>
                        <a:ea typeface="Cambria Math" panose="02040503050406030204" pitchFamily="18" charset="0"/>
                      </a:rPr>
                      <m:t>±</m:t>
                    </m:r>
                    <m:sSub>
                      <m:sSubPr>
                        <m:ctrlPr>
                          <a:rPr lang="en-US" sz="2000" b="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𝑡</m:t>
                        </m:r>
                      </m:e>
                      <m:sub>
                        <m:d>
                          <m:dPr>
                            <m:ctrlPr>
                              <a:rPr lang="en-US" sz="2000" b="0" i="1">
                                <a:latin typeface="Cambria Math" panose="02040503050406030204" pitchFamily="18" charset="0"/>
                                <a:ea typeface="Cambria Math" panose="02040503050406030204" pitchFamily="18" charset="0"/>
                              </a:rPr>
                            </m:ctrlPr>
                          </m:dPr>
                          <m:e>
                            <m:f>
                              <m:fPr>
                                <m:type m:val="skw"/>
                                <m:ctrlPr>
                                  <a:rPr lang="en-US" sz="2000" b="0" i="1">
                                    <a:latin typeface="Cambria Math" panose="02040503050406030204" pitchFamily="18" charset="0"/>
                                    <a:ea typeface="Cambria Math" panose="02040503050406030204" pitchFamily="18" charset="0"/>
                                  </a:rPr>
                                </m:ctrlPr>
                              </m:fPr>
                              <m:num>
                                <m:r>
                                  <a:rPr lang="en-US" sz="2000" b="0" i="1">
                                    <a:latin typeface="Cambria Math" panose="02040503050406030204" pitchFamily="18" charset="0"/>
                                    <a:ea typeface="Cambria Math" panose="02040503050406030204" pitchFamily="18" charset="0"/>
                                  </a:rPr>
                                  <m:t>𝛼</m:t>
                                </m:r>
                              </m:num>
                              <m:den>
                                <m:r>
                                  <a:rPr lang="en-US" sz="2000" b="0" i="1">
                                    <a:latin typeface="Cambria Math" panose="02040503050406030204" pitchFamily="18" charset="0"/>
                                    <a:ea typeface="Cambria Math" panose="02040503050406030204" pitchFamily="18" charset="0"/>
                                  </a:rPr>
                                  <m:t>2</m:t>
                                </m:r>
                              </m:den>
                            </m:f>
                            <m:r>
                              <a:rPr lang="en-US" sz="2000" b="0" i="1">
                                <a:latin typeface="Cambria Math" panose="02040503050406030204" pitchFamily="18" charset="0"/>
                                <a:ea typeface="Cambria Math" panose="02040503050406030204" pitchFamily="18" charset="0"/>
                              </a:rPr>
                              <m:t>,   </m:t>
                            </m:r>
                            <m:r>
                              <a:rPr lang="en-US" sz="2000" b="0" i="1">
                                <a:latin typeface="Cambria Math" panose="02040503050406030204" pitchFamily="18" charset="0"/>
                                <a:ea typeface="Cambria Math" panose="02040503050406030204" pitchFamily="18" charset="0"/>
                              </a:rPr>
                              <m:t>𝑛</m:t>
                            </m:r>
                            <m:r>
                              <a:rPr lang="en-US" sz="2000" b="0" i="1">
                                <a:latin typeface="Cambria Math" panose="02040503050406030204" pitchFamily="18" charset="0"/>
                                <a:ea typeface="Cambria Math" panose="02040503050406030204" pitchFamily="18" charset="0"/>
                              </a:rPr>
                              <m:t>−2</m:t>
                            </m:r>
                          </m:e>
                        </m:d>
                      </m:sub>
                    </m:sSub>
                    <m:r>
                      <a:rPr lang="en-US" sz="2000" b="0" i="1">
                        <a:latin typeface="Cambria Math" panose="02040503050406030204" pitchFamily="18" charset="0"/>
                        <a:ea typeface="Cambria Math" panose="02040503050406030204" pitchFamily="18" charset="0"/>
                      </a:rPr>
                      <m:t>×</m:t>
                    </m:r>
                    <m:r>
                      <a:rPr lang="en-US" sz="2000" b="0" i="1">
                        <a:latin typeface="Cambria Math" panose="02040503050406030204" pitchFamily="18" charset="0"/>
                        <a:ea typeface="Cambria Math" panose="02040503050406030204" pitchFamily="18" charset="0"/>
                      </a:rPr>
                      <m:t>𝑠𝑒</m:t>
                    </m:r>
                  </m:oMath>
                </a14:m>
                <a:r>
                  <a:rPr lang="en-US" sz="2000" dirty="0">
                    <a:latin typeface="Arial" panose="020B0604020202020204" pitchFamily="34" charset="0"/>
                    <a:cs typeface="Arial" panose="020B0604020202020204" pitchFamily="34" charset="0"/>
                  </a:rPr>
                  <a:t>(</a:t>
                </a:r>
                <a14:m>
                  <m:oMath xmlns:m="http://schemas.openxmlformats.org/officeDocument/2006/math">
                    <m:sSub>
                      <m:sSubPr>
                        <m:ctrlPr>
                          <a:rPr lang="en-US" sz="2000" b="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𝑏</m:t>
                        </m:r>
                      </m:e>
                      <m:sub>
                        <m:r>
                          <a:rPr lang="en-US" sz="2000" b="0" i="1">
                            <a:latin typeface="Cambria Math" panose="02040503050406030204" pitchFamily="18" charset="0"/>
                            <a:ea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sym typeface="Wingdings" panose="05000000000000000000" pitchFamily="2" charset="2"/>
                  </a:rPr>
                  <a:t> </a:t>
                </a:r>
                <a14:m>
                  <m:oMath xmlns:m="http://schemas.openxmlformats.org/officeDocument/2006/math">
                    <m:sSub>
                      <m:sSubPr>
                        <m:ctrlPr>
                          <a:rPr lang="en-US" sz="2000" b="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𝑏</m:t>
                        </m:r>
                      </m:e>
                      <m:sub>
                        <m:r>
                          <a:rPr lang="en-US" sz="2000" b="0" i="1">
                            <a:latin typeface="Cambria Math" panose="02040503050406030204" pitchFamily="18" charset="0"/>
                            <a:ea typeface="Cambria Math" panose="02040503050406030204" pitchFamily="18" charset="0"/>
                          </a:rPr>
                          <m:t>1</m:t>
                        </m:r>
                      </m:sub>
                    </m:sSub>
                    <m:r>
                      <a:rPr lang="en-US" sz="2000" b="0" i="1">
                        <a:latin typeface="Cambria Math" panose="02040503050406030204" pitchFamily="18" charset="0"/>
                        <a:ea typeface="Cambria Math" panose="02040503050406030204" pitchFamily="18" charset="0"/>
                      </a:rPr>
                      <m:t>±1.96×</m:t>
                    </m:r>
                    <m:r>
                      <a:rPr lang="en-US" sz="2000" b="0" i="1">
                        <a:latin typeface="Cambria Math" panose="02040503050406030204" pitchFamily="18" charset="0"/>
                        <a:ea typeface="Cambria Math" panose="02040503050406030204" pitchFamily="18" charset="0"/>
                      </a:rPr>
                      <m:t>𝑠𝑒</m:t>
                    </m:r>
                  </m:oMath>
                </a14:m>
                <a:r>
                  <a:rPr lang="en-US" sz="2000" dirty="0">
                    <a:latin typeface="Arial" panose="020B0604020202020204" pitchFamily="34" charset="0"/>
                    <a:cs typeface="Arial" panose="020B0604020202020204" pitchFamily="34" charset="0"/>
                  </a:rPr>
                  <a:t>(</a:t>
                </a:r>
                <a14:m>
                  <m:oMath xmlns:m="http://schemas.openxmlformats.org/officeDocument/2006/math">
                    <m:sSub>
                      <m:sSubPr>
                        <m:ctrlPr>
                          <a:rPr lang="en-US" sz="2000" b="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𝑏</m:t>
                        </m:r>
                      </m:e>
                      <m:sub>
                        <m:r>
                          <a:rPr lang="en-US" sz="2000" b="0" i="1">
                            <a:latin typeface="Cambria Math" panose="02040503050406030204" pitchFamily="18" charset="0"/>
                            <a:ea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sym typeface="Wingdings" panose="05000000000000000000" pitchFamily="2" charset="2"/>
                  </a:rPr>
                  <a:t>     </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The CI provides the following information:</a:t>
                </a:r>
              </a:p>
              <a:p>
                <a:pPr lvl="1"/>
                <a:r>
                  <a:rPr lang="en-US" sz="2000" dirty="0">
                    <a:latin typeface="Arial" panose="020B0604020202020204" pitchFamily="34" charset="0"/>
                    <a:cs typeface="Arial" panose="020B0604020202020204" pitchFamily="34" charset="0"/>
                  </a:rPr>
                  <a:t>It gives us a range of values that is likely to contain the true unknown value of </a:t>
                </a:r>
                <a14:m>
                  <m:oMath xmlns:m="http://schemas.openxmlformats.org/officeDocument/2006/math">
                    <m:sSub>
                      <m:sSubPr>
                        <m:ctrlPr>
                          <a:rPr lang="en-US" sz="2000" b="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𝛽</m:t>
                        </m:r>
                      </m:e>
                      <m:sub>
                        <m:r>
                          <a:rPr lang="en-US" sz="2000" b="0" i="1">
                            <a:latin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sym typeface="Wingdings" panose="05000000000000000000" pitchFamily="2" charset="2"/>
                  </a:rPr>
                  <a:t> we are 95% certain that the true </a:t>
                </a:r>
                <a:r>
                  <a:rPr lang="en-US" sz="2000" u="sng" dirty="0">
                    <a:latin typeface="Arial" panose="020B0604020202020204" pitchFamily="34" charset="0"/>
                    <a:cs typeface="Arial" panose="020B0604020202020204" pitchFamily="34" charset="0"/>
                    <a:sym typeface="Wingdings" panose="05000000000000000000" pitchFamily="2" charset="2"/>
                  </a:rPr>
                  <a:t>population parameter </a:t>
                </a:r>
                <a:r>
                  <a:rPr lang="en-US" sz="2000" dirty="0">
                    <a:latin typeface="Arial" panose="020B0604020202020204" pitchFamily="34" charset="0"/>
                    <a:cs typeface="Arial" panose="020B0604020202020204" pitchFamily="34" charset="0"/>
                    <a:sym typeface="Wingdings" panose="05000000000000000000" pitchFamily="2" charset="2"/>
                  </a:rPr>
                  <a:t>lies within the confidence interval; and</a:t>
                </a:r>
              </a:p>
              <a:p>
                <a:pPr lvl="1"/>
                <a:r>
                  <a:rPr lang="en-US" sz="2000" dirty="0">
                    <a:latin typeface="Arial" panose="020B0604020202020204" pitchFamily="34" charset="0"/>
                    <a:cs typeface="Arial" panose="020B0604020202020204" pitchFamily="34" charset="0"/>
                    <a:sym typeface="Wingdings" panose="05000000000000000000" pitchFamily="2" charset="2"/>
                  </a:rPr>
                  <a:t>It gives us the answer to whether there is a significant relationship between X and Y  if 0 lies in the confidence interval then we know to </a:t>
                </a:r>
                <a:r>
                  <a:rPr lang="en-US" sz="2000" u="sng" dirty="0">
                    <a:latin typeface="Arial" panose="020B0604020202020204" pitchFamily="34" charset="0"/>
                    <a:cs typeface="Arial" panose="020B0604020202020204" pitchFamily="34" charset="0"/>
                    <a:sym typeface="Wingdings" panose="05000000000000000000" pitchFamily="2" charset="2"/>
                  </a:rPr>
                  <a:t>reject the null hypothesis. </a:t>
                </a:r>
                <a:r>
                  <a:rPr lang="en-US" sz="2000" dirty="0">
                    <a:latin typeface="Arial" panose="020B0604020202020204" pitchFamily="34" charset="0"/>
                    <a:cs typeface="Arial" panose="020B0604020202020204" pitchFamily="34" charset="0"/>
                    <a:sym typeface="Wingdings" panose="05000000000000000000" pitchFamily="2" charset="2"/>
                  </a:rPr>
                  <a:t>Why?</a:t>
                </a:r>
                <a:endParaRPr lang="en-US" sz="20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468B65B2-3884-7590-1F28-A9992F3A979F}"/>
                  </a:ext>
                </a:extLst>
              </p:cNvPr>
              <p:cNvSpPr>
                <a:spLocks noGrp="1" noRot="1" noChangeAspect="1" noMove="1" noResize="1" noEditPoints="1" noAdjustHandles="1" noChangeArrowheads="1" noChangeShapeType="1" noTextEdit="1"/>
              </p:cNvSpPr>
              <p:nvPr>
                <p:ph idx="4294967295"/>
              </p:nvPr>
            </p:nvSpPr>
            <p:spPr>
              <a:xfrm>
                <a:off x="299635" y="1064217"/>
                <a:ext cx="10890142" cy="4394200"/>
              </a:xfrm>
              <a:blipFill>
                <a:blip r:embed="rId2"/>
                <a:stretch>
                  <a:fillRect l="-504" t="-1389" r="-504"/>
                </a:stretch>
              </a:blipFill>
            </p:spPr>
            <p:txBody>
              <a:bodyPr/>
              <a:lstStyle/>
              <a:p>
                <a:r>
                  <a:rPr lang="en-US">
                    <a:noFill/>
                  </a:rPr>
                  <a:t> </a:t>
                </a:r>
              </a:p>
            </p:txBody>
          </p:sp>
        </mc:Fallback>
      </mc:AlternateContent>
    </p:spTree>
    <p:extLst>
      <p:ext uri="{BB962C8B-B14F-4D97-AF65-F5344CB8AC3E}">
        <p14:creationId xmlns:p14="http://schemas.microsoft.com/office/powerpoint/2010/main" val="31841344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18710-A465-BA81-03C9-DF3EDE212FCA}"/>
              </a:ext>
            </a:extLst>
          </p:cNvPr>
          <p:cNvSpPr>
            <a:spLocks noGrp="1"/>
          </p:cNvSpPr>
          <p:nvPr>
            <p:ph type="title"/>
          </p:nvPr>
        </p:nvSpPr>
        <p:spPr>
          <a:xfrm>
            <a:off x="121886" y="134753"/>
            <a:ext cx="11948228" cy="1280160"/>
          </a:xfrm>
        </p:spPr>
        <p:txBody>
          <a:bodyPr>
            <a:normAutofit/>
          </a:bodyPr>
          <a:lstStyle/>
          <a:p>
            <a:r>
              <a:rPr lang="en-US" sz="3600" dirty="0">
                <a:latin typeface="Arial" panose="020B0604020202020204" pitchFamily="34" charset="0"/>
                <a:ea typeface="Calibri Light" panose="020F0302020204030204" pitchFamily="34" charset="0"/>
                <a:cs typeface="Arial" panose="020B0604020202020204" pitchFamily="34" charset="0"/>
              </a:rPr>
              <a:t>Example: Regression with two independent/explanatory variables</a:t>
            </a:r>
          </a:p>
        </p:txBody>
      </p:sp>
      <p:sp>
        <p:nvSpPr>
          <p:cNvPr id="3" name="Content Placeholder 2">
            <a:extLst>
              <a:ext uri="{FF2B5EF4-FFF2-40B4-BE49-F238E27FC236}">
                <a16:creationId xmlns:a16="http://schemas.microsoft.com/office/drawing/2014/main" id="{7599305B-BE4A-1294-1B57-7AB76F19CF6D}"/>
              </a:ext>
            </a:extLst>
          </p:cNvPr>
          <p:cNvSpPr>
            <a:spLocks noGrp="1"/>
          </p:cNvSpPr>
          <p:nvPr>
            <p:ph idx="1"/>
          </p:nvPr>
        </p:nvSpPr>
        <p:spPr>
          <a:xfrm>
            <a:off x="250008" y="1261649"/>
            <a:ext cx="11371385" cy="4712677"/>
          </a:xfrm>
        </p:spPr>
        <p:txBody>
          <a:bodyPr>
            <a:normAutofit/>
          </a:bodyPr>
          <a:lstStyle/>
          <a:p>
            <a:r>
              <a:rPr lang="en-US" sz="2000" b="1" dirty="0">
                <a:latin typeface="Arial" panose="020B0604020202020204" pitchFamily="34" charset="0"/>
                <a:cs typeface="Arial" panose="020B0604020202020204" pitchFamily="34" charset="0"/>
              </a:rPr>
              <a:t>Question</a:t>
            </a:r>
            <a:r>
              <a:rPr lang="en-US" sz="2000" dirty="0">
                <a:latin typeface="Arial" panose="020B0604020202020204" pitchFamily="34" charset="0"/>
                <a:cs typeface="Arial" panose="020B0604020202020204" pitchFamily="34" charset="0"/>
              </a:rPr>
              <a:t>: How is math SAT score related to verbal SAT score and class size?</a:t>
            </a:r>
          </a:p>
          <a:p>
            <a:pPr lvl="1"/>
            <a:r>
              <a:rPr lang="en-US" sz="2000" dirty="0">
                <a:latin typeface="Arial" panose="020B0604020202020204" pitchFamily="34" charset="0"/>
                <a:cs typeface="Arial" panose="020B0604020202020204" pitchFamily="34" charset="0"/>
              </a:rPr>
              <a:t>“Regress math SAT score on verbal SAT score and class size” What is your intuition about the nature of the relationships in this model and </a:t>
            </a:r>
            <a:r>
              <a:rPr lang="en-US" sz="2000" i="1" dirty="0">
                <a:latin typeface="Arial" panose="020B0604020202020204" pitchFamily="34" charset="0"/>
                <a:cs typeface="Arial" panose="020B0604020202020204" pitchFamily="34" charset="0"/>
              </a:rPr>
              <a:t>why</a:t>
            </a:r>
            <a:r>
              <a:rPr lang="en-US" sz="2000" dirty="0">
                <a:latin typeface="Arial" panose="020B0604020202020204" pitchFamily="34" charset="0"/>
                <a:cs typeface="Arial" panose="020B0604020202020204" pitchFamily="34" charset="0"/>
              </a:rPr>
              <a:t>?</a:t>
            </a:r>
          </a:p>
          <a:p>
            <a:pPr lvl="1"/>
            <a:r>
              <a:rPr lang="en-US" sz="2000" dirty="0">
                <a:latin typeface="Arial" panose="020B0604020202020204" pitchFamily="34" charset="0"/>
                <a:cs typeface="Arial" panose="020B0604020202020204" pitchFamily="34" charset="0"/>
              </a:rPr>
              <a:t>Intuition: higher verbal scores should mean higher math scores because students who work hard at math probably work hard at other courses</a:t>
            </a:r>
          </a:p>
          <a:p>
            <a:pPr lvl="1"/>
            <a:r>
              <a:rPr lang="en-US" sz="2000" dirty="0">
                <a:latin typeface="Arial" panose="020B0604020202020204" pitchFamily="34" charset="0"/>
                <a:cs typeface="Arial" panose="020B0604020202020204" pitchFamily="34" charset="0"/>
              </a:rPr>
              <a:t>Intuition: bigger class size means lower math SAT scores because students have less opportunity to interact with teachers, etc.</a:t>
            </a:r>
          </a:p>
          <a:p>
            <a:pPr lvl="1"/>
            <a:r>
              <a:rPr lang="en-US" sz="2000" dirty="0">
                <a:latin typeface="Arial" panose="020B0604020202020204" pitchFamily="34" charset="0"/>
                <a:cs typeface="Arial" panose="020B0604020202020204" pitchFamily="34" charset="0"/>
              </a:rPr>
              <a:t>Intuition: Also though, verbal SAT scores should mean larger classes as well, for the same reason.</a:t>
            </a:r>
          </a:p>
          <a:p>
            <a:r>
              <a:rPr lang="en-US" sz="2000" dirty="0">
                <a:latin typeface="Arial" panose="020B0604020202020204" pitchFamily="34" charset="0"/>
                <a:cs typeface="Arial" panose="020B0604020202020204" pitchFamily="34" charset="0"/>
              </a:rPr>
              <a:t>Let’s fit a linear model </a:t>
            </a:r>
            <a:r>
              <a:rPr lang="en-US" sz="2000" b="1" dirty="0">
                <a:latin typeface="Arial" panose="020B0604020202020204" pitchFamily="34" charset="0"/>
                <a:cs typeface="Arial" panose="020B0604020202020204" pitchFamily="34" charset="0"/>
              </a:rPr>
              <a:t>using the admissions dataset</a:t>
            </a:r>
            <a:r>
              <a:rPr lang="en-US" sz="2000" dirty="0">
                <a:latin typeface="Arial" panose="020B0604020202020204" pitchFamily="34" charset="0"/>
                <a:cs typeface="Arial" panose="020B0604020202020204" pitchFamily="34" charset="0"/>
              </a:rPr>
              <a:t> to find out the relationships (if any!).</a:t>
            </a:r>
          </a:p>
          <a:p>
            <a:endParaRPr lang="en-US" sz="1700" dirty="0"/>
          </a:p>
        </p:txBody>
      </p:sp>
    </p:spTree>
    <p:extLst>
      <p:ext uri="{BB962C8B-B14F-4D97-AF65-F5344CB8AC3E}">
        <p14:creationId xmlns:p14="http://schemas.microsoft.com/office/powerpoint/2010/main" val="2829361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F75A390-783C-8EB8-014A-0EDC11E694CA}"/>
              </a:ext>
            </a:extLst>
          </p:cNvPr>
          <p:cNvGraphicFramePr>
            <a:graphicFrameLocks noGrp="1"/>
          </p:cNvGraphicFramePr>
          <p:nvPr/>
        </p:nvGraphicFramePr>
        <p:xfrm>
          <a:off x="761999" y="329406"/>
          <a:ext cx="10515603" cy="2962275"/>
        </p:xfrm>
        <a:graphic>
          <a:graphicData uri="http://schemas.openxmlformats.org/drawingml/2006/table">
            <a:tbl>
              <a:tblPr/>
              <a:tblGrid>
                <a:gridCol w="1502229">
                  <a:extLst>
                    <a:ext uri="{9D8B030D-6E8A-4147-A177-3AD203B41FA5}">
                      <a16:colId xmlns:a16="http://schemas.microsoft.com/office/drawing/2014/main" val="3635009290"/>
                    </a:ext>
                  </a:extLst>
                </a:gridCol>
                <a:gridCol w="1502229">
                  <a:extLst>
                    <a:ext uri="{9D8B030D-6E8A-4147-A177-3AD203B41FA5}">
                      <a16:colId xmlns:a16="http://schemas.microsoft.com/office/drawing/2014/main" val="1697748764"/>
                    </a:ext>
                  </a:extLst>
                </a:gridCol>
                <a:gridCol w="1502229">
                  <a:extLst>
                    <a:ext uri="{9D8B030D-6E8A-4147-A177-3AD203B41FA5}">
                      <a16:colId xmlns:a16="http://schemas.microsoft.com/office/drawing/2014/main" val="1612742880"/>
                    </a:ext>
                  </a:extLst>
                </a:gridCol>
                <a:gridCol w="1502229">
                  <a:extLst>
                    <a:ext uri="{9D8B030D-6E8A-4147-A177-3AD203B41FA5}">
                      <a16:colId xmlns:a16="http://schemas.microsoft.com/office/drawing/2014/main" val="1837013517"/>
                    </a:ext>
                  </a:extLst>
                </a:gridCol>
                <a:gridCol w="1502229">
                  <a:extLst>
                    <a:ext uri="{9D8B030D-6E8A-4147-A177-3AD203B41FA5}">
                      <a16:colId xmlns:a16="http://schemas.microsoft.com/office/drawing/2014/main" val="2384973055"/>
                    </a:ext>
                  </a:extLst>
                </a:gridCol>
                <a:gridCol w="1502229">
                  <a:extLst>
                    <a:ext uri="{9D8B030D-6E8A-4147-A177-3AD203B41FA5}">
                      <a16:colId xmlns:a16="http://schemas.microsoft.com/office/drawing/2014/main" val="3047185553"/>
                    </a:ext>
                  </a:extLst>
                </a:gridCol>
                <a:gridCol w="1502229">
                  <a:extLst>
                    <a:ext uri="{9D8B030D-6E8A-4147-A177-3AD203B41FA5}">
                      <a16:colId xmlns:a16="http://schemas.microsoft.com/office/drawing/2014/main" val="3445314590"/>
                    </a:ext>
                  </a:extLst>
                </a:gridCol>
              </a:tblGrid>
              <a:tr h="388620">
                <a:tc gridSpan="7">
                  <a:txBody>
                    <a:bodyPr/>
                    <a:lstStyle/>
                    <a:p>
                      <a:pPr algn="l">
                        <a:buNone/>
                      </a:pPr>
                      <a:r>
                        <a:rPr lang="en-US" sz="1600" b="0" i="1" dirty="0">
                          <a:solidFill>
                            <a:srgbClr val="000000"/>
                          </a:solidFill>
                          <a:effectLst/>
                          <a:latin typeface="Arial" panose="020B0604020202020204" pitchFamily="34" charset="0"/>
                        </a:rPr>
                        <a:t>ANOVA</a:t>
                      </a:r>
                      <a:r>
                        <a:rPr lang="en-US" sz="1600" b="0" dirty="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4653631"/>
                  </a:ext>
                </a:extLst>
              </a:tr>
              <a:tr h="605790">
                <a:tc>
                  <a:txBody>
                    <a:bodyPr/>
                    <a:lstStyle/>
                    <a:p>
                      <a:pPr algn="ctr">
                        <a:buNone/>
                      </a:pPr>
                      <a:r>
                        <a:rPr lang="en-US" sz="1600" b="0" dirty="0">
                          <a:solidFill>
                            <a:srgbClr val="000000"/>
                          </a:solidFill>
                          <a:effectLst/>
                          <a:latin typeface="Arial" panose="020B0604020202020204" pitchFamily="34" charset="0"/>
                        </a:rPr>
                        <a:t>Model</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 </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Sum of Squares</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df</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Mean Square</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F</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p</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8586455"/>
                  </a:ext>
                </a:extLst>
              </a:tr>
              <a:tr h="405765">
                <a:tc>
                  <a:txBody>
                    <a:bodyPr/>
                    <a:lstStyle/>
                    <a:p>
                      <a:pPr algn="l">
                        <a:buNone/>
                      </a:pPr>
                      <a:r>
                        <a:rPr lang="en-US" sz="1600" b="0">
                          <a:solidFill>
                            <a:srgbClr val="000000"/>
                          </a:solidFill>
                          <a:effectLst/>
                          <a:latin typeface="Arial" panose="020B0604020202020204" pitchFamily="34" charset="0"/>
                        </a:rPr>
                        <a:t>M₁</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l">
                        <a:buNone/>
                      </a:pPr>
                      <a:r>
                        <a:rPr lang="en-US" sz="1600" b="0">
                          <a:solidFill>
                            <a:srgbClr val="000000"/>
                          </a:solidFill>
                          <a:effectLst/>
                          <a:latin typeface="Arial" panose="020B0604020202020204" pitchFamily="34" charset="0"/>
                        </a:rPr>
                        <a:t>Regression</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dirty="0">
                          <a:solidFill>
                            <a:srgbClr val="000000"/>
                          </a:solidFill>
                          <a:effectLst/>
                          <a:latin typeface="Arial" panose="020B0604020202020204" pitchFamily="34" charset="0"/>
                        </a:rPr>
                        <a:t>738352.691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2</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369176.346</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100.802</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&lt; .001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641119237"/>
                  </a:ext>
                </a:extLst>
              </a:tr>
              <a:tr h="312420">
                <a:tc>
                  <a:txBody>
                    <a:bodyPr/>
                    <a:lstStyle/>
                    <a:p>
                      <a:pPr algn="l">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EBEBEB"/>
                    </a:solidFill>
                  </a:tcPr>
                </a:tc>
                <a:tc>
                  <a:txBody>
                    <a:bodyPr/>
                    <a:lstStyle/>
                    <a:p>
                      <a:pPr algn="l">
                        <a:buNone/>
                      </a:pPr>
                      <a:r>
                        <a:rPr lang="en-US" sz="1600" b="0">
                          <a:solidFill>
                            <a:srgbClr val="000000"/>
                          </a:solidFill>
                          <a:effectLst/>
                          <a:latin typeface="Arial" panose="020B0604020202020204" pitchFamily="34" charset="0"/>
                        </a:rPr>
                        <a:t>Residual</a:t>
                      </a:r>
                    </a:p>
                  </a:txBody>
                  <a:tcPr marL="114300" marR="114300" marT="9525" marB="28575" anchor="ctr">
                    <a:lnL>
                      <a:noFill/>
                    </a:lnL>
                    <a:lnR>
                      <a:noFill/>
                    </a:lnR>
                    <a:lnT>
                      <a:noFill/>
                    </a:lnT>
                    <a:lnB>
                      <a:noFill/>
                    </a:lnB>
                    <a:solidFill>
                      <a:srgbClr val="EBEBEB"/>
                    </a:solidFill>
                  </a:tcPr>
                </a:tc>
                <a:tc>
                  <a:txBody>
                    <a:bodyPr/>
                    <a:lstStyle/>
                    <a:p>
                      <a:pPr algn="r">
                        <a:buNone/>
                      </a:pPr>
                      <a:r>
                        <a:rPr lang="en-US" sz="1600" b="0" dirty="0">
                          <a:solidFill>
                            <a:srgbClr val="000000"/>
                          </a:solidFill>
                          <a:effectLst/>
                          <a:latin typeface="Arial" panose="020B0604020202020204" pitchFamily="34" charset="0"/>
                        </a:rPr>
                        <a:t>2.520e+6</a:t>
                      </a:r>
                    </a:p>
                  </a:txBody>
                  <a:tcPr marL="114300" marR="114300" marT="9525" marB="28575" anchor="ctr">
                    <a:lnL>
                      <a:noFill/>
                    </a:lnL>
                    <a:lnR>
                      <a:noFill/>
                    </a:lnR>
                    <a:lnT>
                      <a:noFill/>
                    </a:lnT>
                    <a:lnB>
                      <a:noFill/>
                    </a:lnB>
                    <a:solidFill>
                      <a:srgbClr val="EBEBEB"/>
                    </a:solidFill>
                  </a:tcPr>
                </a:tc>
                <a:tc>
                  <a:txBody>
                    <a:bodyPr/>
                    <a:lstStyle/>
                    <a:p>
                      <a:pPr algn="r">
                        <a:buNone/>
                      </a:pPr>
                      <a:r>
                        <a:rPr lang="en-US" sz="1600" b="0" dirty="0">
                          <a:solidFill>
                            <a:srgbClr val="000000"/>
                          </a:solidFill>
                          <a:effectLst/>
                          <a:latin typeface="Arial" panose="020B0604020202020204" pitchFamily="34" charset="0"/>
                        </a:rPr>
                        <a:t>688</a:t>
                      </a:r>
                    </a:p>
                  </a:txBody>
                  <a:tcPr marL="114300" marR="114300" marT="9525"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3662.387</a:t>
                      </a:r>
                    </a:p>
                  </a:txBody>
                  <a:tcPr marL="114300" marR="114300" marT="9525"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EBEBEB"/>
                    </a:solidFill>
                  </a:tcPr>
                </a:tc>
                <a:tc>
                  <a:txBody>
                    <a:bodyPr/>
                    <a:lstStyle/>
                    <a:p>
                      <a:pPr algn="r">
                        <a:buNone/>
                      </a:pPr>
                      <a:r>
                        <a:rPr lang="en-US" sz="18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EBEBEB"/>
                    </a:solidFill>
                  </a:tcPr>
                </a:tc>
                <a:extLst>
                  <a:ext uri="{0D108BD9-81ED-4DB2-BD59-A6C34878D82A}">
                    <a16:rowId xmlns:a16="http://schemas.microsoft.com/office/drawing/2014/main" val="3814946199"/>
                  </a:ext>
                </a:extLst>
              </a:tr>
              <a:tr h="312420">
                <a:tc>
                  <a:txBody>
                    <a:bodyPr/>
                    <a:lstStyle/>
                    <a:p>
                      <a:pPr algn="l">
                        <a:spcAft>
                          <a:spcPts val="720"/>
                        </a:spcAft>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tc>
                  <a:txBody>
                    <a:bodyPr/>
                    <a:lstStyle/>
                    <a:p>
                      <a:pPr algn="l">
                        <a:spcAft>
                          <a:spcPts val="720"/>
                        </a:spcAft>
                        <a:buNone/>
                      </a:pPr>
                      <a:r>
                        <a:rPr lang="en-US" sz="1600" b="0">
                          <a:solidFill>
                            <a:srgbClr val="000000"/>
                          </a:solidFill>
                          <a:effectLst/>
                          <a:latin typeface="Arial" panose="020B0604020202020204" pitchFamily="34" charset="0"/>
                        </a:rPr>
                        <a:t>Total</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a:solidFill>
                            <a:srgbClr val="000000"/>
                          </a:solidFill>
                          <a:effectLst/>
                          <a:latin typeface="Arial" panose="020B0604020202020204" pitchFamily="34" charset="0"/>
                        </a:rPr>
                        <a:t>3.258e+6</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dirty="0">
                          <a:solidFill>
                            <a:srgbClr val="000000"/>
                          </a:solidFill>
                          <a:effectLst/>
                          <a:latin typeface="Arial" panose="020B0604020202020204" pitchFamily="34" charset="0"/>
                        </a:rPr>
                        <a:t>690</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extLst>
                  <a:ext uri="{0D108BD9-81ED-4DB2-BD59-A6C34878D82A}">
                    <a16:rowId xmlns:a16="http://schemas.microsoft.com/office/drawing/2014/main" val="3987948290"/>
                  </a:ext>
                </a:extLst>
              </a:tr>
              <a:tr h="312420">
                <a:tc gridSpan="7">
                  <a:txBody>
                    <a:bodyPr/>
                    <a:lstStyle/>
                    <a:p>
                      <a:pPr algn="r">
                        <a:buNone/>
                      </a:pPr>
                      <a:endParaRPr lang="en-US" sz="1600" b="0" dirty="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EBEBE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7679960"/>
                  </a:ext>
                </a:extLst>
              </a:tr>
              <a:tr h="312420">
                <a:tc gridSpan="7">
                  <a:txBody>
                    <a:bodyPr/>
                    <a:lstStyle/>
                    <a:p>
                      <a:pPr algn="l">
                        <a:buNone/>
                      </a:pPr>
                      <a:r>
                        <a:rPr lang="en-US" sz="1600" b="0" i="1" dirty="0">
                          <a:solidFill>
                            <a:srgbClr val="000000"/>
                          </a:solidFill>
                          <a:effectLst/>
                          <a:latin typeface="Arial" panose="020B0604020202020204" pitchFamily="34" charset="0"/>
                        </a:rPr>
                        <a:t>Note.</a:t>
                      </a:r>
                      <a:r>
                        <a:rPr lang="en-US" sz="1600" b="0" dirty="0">
                          <a:solidFill>
                            <a:srgbClr val="000000"/>
                          </a:solidFill>
                          <a:effectLst/>
                          <a:latin typeface="Arial" panose="020B0604020202020204" pitchFamily="34" charset="0"/>
                        </a:rPr>
                        <a:t>  M₁ includes </a:t>
                      </a:r>
                      <a:r>
                        <a:rPr lang="en-US" sz="1600" b="0" dirty="0" err="1">
                          <a:solidFill>
                            <a:srgbClr val="000000"/>
                          </a:solidFill>
                          <a:effectLst/>
                          <a:latin typeface="Arial" panose="020B0604020202020204" pitchFamily="34" charset="0"/>
                        </a:rPr>
                        <a:t>SAT_verbal</a:t>
                      </a:r>
                      <a:r>
                        <a:rPr lang="en-US" sz="1600" b="0" dirty="0">
                          <a:solidFill>
                            <a:srgbClr val="000000"/>
                          </a:solidFill>
                          <a:effectLst/>
                          <a:latin typeface="Arial" panose="020B0604020202020204" pitchFamily="34" charset="0"/>
                        </a:rPr>
                        <a:t>, </a:t>
                      </a:r>
                      <a:r>
                        <a:rPr lang="en-US" sz="1600" b="0" dirty="0" err="1">
                          <a:solidFill>
                            <a:srgbClr val="000000"/>
                          </a:solidFill>
                          <a:effectLst/>
                          <a:latin typeface="Arial" panose="020B0604020202020204" pitchFamily="34" charset="0"/>
                        </a:rPr>
                        <a:t>HS_class_size</a:t>
                      </a:r>
                      <a:endParaRPr lang="en-US" sz="1600" b="0" dirty="0">
                        <a:solidFill>
                          <a:srgbClr val="000000"/>
                        </a:solidFill>
                        <a:effectLst/>
                        <a:latin typeface="Arial" panose="020B0604020202020204" pitchFamily="34" charset="0"/>
                      </a:endParaRPr>
                    </a:p>
                  </a:txBody>
                  <a:tcPr marR="114300" marT="9525" marB="28575" anchor="ctr">
                    <a:lnL>
                      <a:noFill/>
                    </a:lnL>
                    <a:lnR>
                      <a:noFill/>
                    </a:lnR>
                    <a:lnT w="7934" cap="flat" cmpd="sng" algn="ctr">
                      <a:solidFill>
                        <a:srgbClr val="000000"/>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20071984"/>
                  </a:ext>
                </a:extLst>
              </a:tr>
              <a:tr h="312420">
                <a:tc gridSpan="7">
                  <a:txBody>
                    <a:bodyPr/>
                    <a:lstStyle/>
                    <a:p>
                      <a:pPr algn="l">
                        <a:buNone/>
                      </a:pPr>
                      <a:r>
                        <a:rPr lang="en-US" sz="1600" b="0" i="1" dirty="0">
                          <a:solidFill>
                            <a:srgbClr val="000000"/>
                          </a:solidFill>
                          <a:effectLst/>
                          <a:latin typeface="Arial" panose="020B0604020202020204" pitchFamily="34" charset="0"/>
                        </a:rPr>
                        <a:t>Note.</a:t>
                      </a:r>
                      <a:r>
                        <a:rPr lang="en-US" sz="1600" b="0" dirty="0">
                          <a:solidFill>
                            <a:srgbClr val="000000"/>
                          </a:solidFill>
                          <a:effectLst/>
                          <a:latin typeface="Arial" panose="020B0604020202020204" pitchFamily="34" charset="0"/>
                        </a:rPr>
                        <a:t>  The intercept model is omitted, as no meaningful information can be shown.</a:t>
                      </a:r>
                    </a:p>
                  </a:txBody>
                  <a:tcPr marR="114300" marT="9525" marB="28575" anchor="ctr">
                    <a:lnL>
                      <a:noFill/>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77374194"/>
                  </a:ext>
                </a:extLst>
              </a:tr>
            </a:tbl>
          </a:graphicData>
        </a:graphic>
      </p:graphicFrame>
      <p:graphicFrame>
        <p:nvGraphicFramePr>
          <p:cNvPr id="5" name="Table 4">
            <a:extLst>
              <a:ext uri="{FF2B5EF4-FFF2-40B4-BE49-F238E27FC236}">
                <a16:creationId xmlns:a16="http://schemas.microsoft.com/office/drawing/2014/main" id="{91985B44-971B-F8A1-1099-C84108413B11}"/>
              </a:ext>
            </a:extLst>
          </p:cNvPr>
          <p:cNvGraphicFramePr>
            <a:graphicFrameLocks noGrp="1"/>
          </p:cNvGraphicFramePr>
          <p:nvPr/>
        </p:nvGraphicFramePr>
        <p:xfrm>
          <a:off x="761999" y="3728244"/>
          <a:ext cx="11277600" cy="2800350"/>
        </p:xfrm>
        <a:graphic>
          <a:graphicData uri="http://schemas.openxmlformats.org/drawingml/2006/table">
            <a:tbl>
              <a:tblPr/>
              <a:tblGrid>
                <a:gridCol w="1168400">
                  <a:extLst>
                    <a:ext uri="{9D8B030D-6E8A-4147-A177-3AD203B41FA5}">
                      <a16:colId xmlns:a16="http://schemas.microsoft.com/office/drawing/2014/main" val="1035524054"/>
                    </a:ext>
                  </a:extLst>
                </a:gridCol>
                <a:gridCol w="1679575">
                  <a:extLst>
                    <a:ext uri="{9D8B030D-6E8A-4147-A177-3AD203B41FA5}">
                      <a16:colId xmlns:a16="http://schemas.microsoft.com/office/drawing/2014/main" val="1327865898"/>
                    </a:ext>
                  </a:extLst>
                </a:gridCol>
                <a:gridCol w="1114425">
                  <a:extLst>
                    <a:ext uri="{9D8B030D-6E8A-4147-A177-3AD203B41FA5}">
                      <a16:colId xmlns:a16="http://schemas.microsoft.com/office/drawing/2014/main" val="3907141694"/>
                    </a:ext>
                  </a:extLst>
                </a:gridCol>
                <a:gridCol w="1057275">
                  <a:extLst>
                    <a:ext uri="{9D8B030D-6E8A-4147-A177-3AD203B41FA5}">
                      <a16:colId xmlns:a16="http://schemas.microsoft.com/office/drawing/2014/main" val="229898341"/>
                    </a:ext>
                  </a:extLst>
                </a:gridCol>
                <a:gridCol w="1657350">
                  <a:extLst>
                    <a:ext uri="{9D8B030D-6E8A-4147-A177-3AD203B41FA5}">
                      <a16:colId xmlns:a16="http://schemas.microsoft.com/office/drawing/2014/main" val="834822234"/>
                    </a:ext>
                  </a:extLst>
                </a:gridCol>
                <a:gridCol w="1066800">
                  <a:extLst>
                    <a:ext uri="{9D8B030D-6E8A-4147-A177-3AD203B41FA5}">
                      <a16:colId xmlns:a16="http://schemas.microsoft.com/office/drawing/2014/main" val="3035596231"/>
                    </a:ext>
                  </a:extLst>
                </a:gridCol>
                <a:gridCol w="809625">
                  <a:extLst>
                    <a:ext uri="{9D8B030D-6E8A-4147-A177-3AD203B41FA5}">
                      <a16:colId xmlns:a16="http://schemas.microsoft.com/office/drawing/2014/main" val="1825586597"/>
                    </a:ext>
                  </a:extLst>
                </a:gridCol>
                <a:gridCol w="1390650">
                  <a:extLst>
                    <a:ext uri="{9D8B030D-6E8A-4147-A177-3AD203B41FA5}">
                      <a16:colId xmlns:a16="http://schemas.microsoft.com/office/drawing/2014/main" val="3570311407"/>
                    </a:ext>
                  </a:extLst>
                </a:gridCol>
                <a:gridCol w="1333500">
                  <a:extLst>
                    <a:ext uri="{9D8B030D-6E8A-4147-A177-3AD203B41FA5}">
                      <a16:colId xmlns:a16="http://schemas.microsoft.com/office/drawing/2014/main" val="338614325"/>
                    </a:ext>
                  </a:extLst>
                </a:gridCol>
              </a:tblGrid>
              <a:tr h="0">
                <a:tc gridSpan="9">
                  <a:txBody>
                    <a:bodyPr/>
                    <a:lstStyle/>
                    <a:p>
                      <a:pPr algn="l">
                        <a:buNone/>
                      </a:pPr>
                      <a:r>
                        <a:rPr lang="en-US" sz="1600" b="0" i="1">
                          <a:solidFill>
                            <a:srgbClr val="000000"/>
                          </a:solidFill>
                          <a:effectLst/>
                          <a:latin typeface="Arial" panose="020B0604020202020204" pitchFamily="34" charset="0"/>
                        </a:rPr>
                        <a:t>Coefficients</a:t>
                      </a:r>
                      <a:r>
                        <a:rPr lang="en-US" sz="1600" b="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77158894"/>
                  </a:ext>
                </a:extLst>
              </a:tr>
              <a:tr h="0">
                <a:tc gridSpan="7">
                  <a:txBody>
                    <a:bodyPr/>
                    <a:lstStyle/>
                    <a:p>
                      <a:pPr algn="ctr">
                        <a:buNone/>
                      </a:pPr>
                      <a:endParaRPr lang="en-US" sz="1600" b="0" dirty="0">
                        <a:solidFill>
                          <a:srgbClr val="000000"/>
                        </a:solidFill>
                        <a:effectLst/>
                        <a:latin typeface="Arial" panose="020B0604020202020204" pitchFamily="34" charset="0"/>
                      </a:endParaRPr>
                    </a:p>
                  </a:txBody>
                  <a:tcPr marL="114300" marR="114300" marT="28575" marB="28575" anchor="ctr">
                    <a:lnL>
                      <a:noFill/>
                    </a:lnL>
                    <a:lnR>
                      <a:noFill/>
                    </a:lnR>
                    <a:lnT w="7934" cap="flat" cmpd="sng" algn="ctr">
                      <a:solidFill>
                        <a:srgbClr val="000000"/>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a:buNone/>
                      </a:pPr>
                      <a:r>
                        <a:rPr lang="en-US" sz="1600" b="0">
                          <a:solidFill>
                            <a:srgbClr val="000000"/>
                          </a:solidFill>
                          <a:effectLst/>
                          <a:latin typeface="Arial" panose="020B0604020202020204" pitchFamily="34" charset="0"/>
                        </a:rPr>
                        <a:t>95% CI</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563542566"/>
                  </a:ext>
                </a:extLst>
              </a:tr>
              <a:tr h="0">
                <a:tc>
                  <a:txBody>
                    <a:bodyPr/>
                    <a:lstStyle/>
                    <a:p>
                      <a:pPr algn="ctr">
                        <a:buNone/>
                      </a:pPr>
                      <a:r>
                        <a:rPr lang="en-US" sz="1600" b="0">
                          <a:solidFill>
                            <a:srgbClr val="000000"/>
                          </a:solidFill>
                          <a:effectLst/>
                          <a:latin typeface="Arial" panose="020B0604020202020204" pitchFamily="34" charset="0"/>
                        </a:rPr>
                        <a:t>Model</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 </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Unstandardized</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Standard Error</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Standardized</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t</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p</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Lower</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Upper</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75083429"/>
                  </a:ext>
                </a:extLst>
              </a:tr>
              <a:tr h="0">
                <a:tc>
                  <a:txBody>
                    <a:bodyPr/>
                    <a:lstStyle/>
                    <a:p>
                      <a:pPr algn="l">
                        <a:buNone/>
                      </a:pPr>
                      <a:r>
                        <a:rPr lang="en-US" sz="1600" b="0">
                          <a:solidFill>
                            <a:srgbClr val="000000"/>
                          </a:solidFill>
                          <a:effectLst/>
                          <a:latin typeface="Arial" panose="020B0604020202020204" pitchFamily="34" charset="0"/>
                        </a:rPr>
                        <a:t>M₀</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l">
                        <a:buNone/>
                      </a:pPr>
                      <a:r>
                        <a:rPr lang="en-US" sz="1600" b="0">
                          <a:solidFill>
                            <a:srgbClr val="000000"/>
                          </a:solidFill>
                          <a:effectLst/>
                          <a:latin typeface="Arial" panose="020B0604020202020204" pitchFamily="34" charset="0"/>
                        </a:rPr>
                        <a:t>(Intercept)</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585.007</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2.614</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 </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223.792</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&lt; .001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579.875</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590.140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709988131"/>
                  </a:ext>
                </a:extLst>
              </a:tr>
              <a:tr h="0">
                <a:tc>
                  <a:txBody>
                    <a:bodyPr/>
                    <a:lstStyle/>
                    <a:p>
                      <a:pPr algn="l">
                        <a:buNone/>
                      </a:pPr>
                      <a:r>
                        <a:rPr lang="en-US" sz="1600" b="0">
                          <a:solidFill>
                            <a:srgbClr val="000000"/>
                          </a:solidFill>
                          <a:effectLst/>
                          <a:latin typeface="Arial" panose="020B0604020202020204" pitchFamily="34" charset="0"/>
                        </a:rPr>
                        <a:t>M₁</a:t>
                      </a:r>
                    </a:p>
                  </a:txBody>
                  <a:tcPr marL="114300" marR="114300" marT="102870" marB="28575" anchor="ctr">
                    <a:lnL>
                      <a:noFill/>
                    </a:lnL>
                    <a:lnR>
                      <a:noFill/>
                    </a:lnR>
                    <a:lnT>
                      <a:noFill/>
                    </a:lnT>
                    <a:lnB>
                      <a:noFill/>
                    </a:lnB>
                    <a:solidFill>
                      <a:srgbClr val="EBEBEB"/>
                    </a:solidFill>
                  </a:tcPr>
                </a:tc>
                <a:tc>
                  <a:txBody>
                    <a:bodyPr/>
                    <a:lstStyle/>
                    <a:p>
                      <a:pPr algn="l">
                        <a:buNone/>
                      </a:pPr>
                      <a:r>
                        <a:rPr lang="en-US" sz="1600" b="0" dirty="0">
                          <a:solidFill>
                            <a:srgbClr val="000000"/>
                          </a:solidFill>
                          <a:effectLst/>
                          <a:latin typeface="Arial" panose="020B0604020202020204" pitchFamily="34" charset="0"/>
                        </a:rPr>
                        <a:t>(Intercept)</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314.147</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19.477</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 </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16.129</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&lt; .001</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275.904</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352.389</a:t>
                      </a:r>
                    </a:p>
                  </a:txBody>
                  <a:tcPr marL="114300" marR="114300" marT="102870" marB="28575" anchor="ctr">
                    <a:lnL>
                      <a:noFill/>
                    </a:lnL>
                    <a:lnR>
                      <a:noFill/>
                    </a:lnR>
                    <a:lnT>
                      <a:noFill/>
                    </a:lnT>
                    <a:lnB>
                      <a:noFill/>
                    </a:lnB>
                    <a:solidFill>
                      <a:srgbClr val="EBEBEB"/>
                    </a:solidFill>
                  </a:tcPr>
                </a:tc>
                <a:extLst>
                  <a:ext uri="{0D108BD9-81ED-4DB2-BD59-A6C34878D82A}">
                    <a16:rowId xmlns:a16="http://schemas.microsoft.com/office/drawing/2014/main" val="77949461"/>
                  </a:ext>
                </a:extLst>
              </a:tr>
              <a:tr h="0">
                <a:tc>
                  <a:txBody>
                    <a:bodyPr/>
                    <a:lstStyle/>
                    <a:p>
                      <a:pPr algn="l">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tc>
                  <a:txBody>
                    <a:bodyPr/>
                    <a:lstStyle/>
                    <a:p>
                      <a:pPr algn="l">
                        <a:buNone/>
                      </a:pPr>
                      <a:r>
                        <a:rPr lang="en-US" sz="1600" b="0">
                          <a:solidFill>
                            <a:srgbClr val="000000"/>
                          </a:solidFill>
                          <a:effectLst/>
                          <a:latin typeface="Arial" panose="020B0604020202020204" pitchFamily="34" charset="0"/>
                        </a:rPr>
                        <a:t>SAT_verbal</a:t>
                      </a:r>
                    </a:p>
                  </a:txBody>
                  <a:tcPr marL="114300" marR="114300" marT="9525" marB="28575" anchor="ctr">
                    <a:lnL>
                      <a:noFill/>
                    </a:lnL>
                    <a:lnR>
                      <a:noFill/>
                    </a:lnR>
                    <a:lnT>
                      <a:noFill/>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0.449</a:t>
                      </a:r>
                    </a:p>
                  </a:txBody>
                  <a:tcPr marL="114300" marR="114300" marT="9525" marB="28575" anchor="ctr">
                    <a:lnL>
                      <a:noFill/>
                    </a:lnL>
                    <a:lnR>
                      <a:noFill/>
                    </a:lnR>
                    <a:lnT>
                      <a:noFill/>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0.034</a:t>
                      </a:r>
                    </a:p>
                  </a:txBody>
                  <a:tcPr marL="114300" marR="114300" marT="9525" marB="28575" anchor="ctr">
                    <a:lnL>
                      <a:noFill/>
                    </a:lnL>
                    <a:lnR>
                      <a:noFill/>
                    </a:lnR>
                    <a:lnT>
                      <a:noFill/>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0.443</a:t>
                      </a:r>
                    </a:p>
                  </a:txBody>
                  <a:tcPr marL="114300" marR="114300" marT="9525" marB="28575" anchor="ctr">
                    <a:lnL>
                      <a:noFill/>
                    </a:lnL>
                    <a:lnR>
                      <a:noFill/>
                    </a:lnR>
                    <a:lnT>
                      <a:noFill/>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13.192</a:t>
                      </a:r>
                    </a:p>
                  </a:txBody>
                  <a:tcPr marL="114300" marR="114300" marT="9525" marB="28575" anchor="ctr">
                    <a:lnL>
                      <a:noFill/>
                    </a:lnL>
                    <a:lnR>
                      <a:noFill/>
                    </a:lnR>
                    <a:lnT>
                      <a:noFill/>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&lt; .001</a:t>
                      </a:r>
                    </a:p>
                  </a:txBody>
                  <a:tcPr marL="114300" marR="114300" marT="9525" marB="28575" anchor="ctr">
                    <a:lnL>
                      <a:noFill/>
                    </a:lnL>
                    <a:lnR>
                      <a:noFill/>
                    </a:lnR>
                    <a:lnT>
                      <a:noFill/>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0.382</a:t>
                      </a:r>
                    </a:p>
                  </a:txBody>
                  <a:tcPr marL="114300" marR="114300" marT="9525" marB="28575" anchor="ctr">
                    <a:lnL>
                      <a:noFill/>
                    </a:lnL>
                    <a:lnR>
                      <a:noFill/>
                    </a:lnR>
                    <a:lnT>
                      <a:noFill/>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0.515</a:t>
                      </a:r>
                    </a:p>
                  </a:txBody>
                  <a:tcPr marL="114300" marR="114300" marT="9525" marB="28575" anchor="ctr">
                    <a:lnL>
                      <a:noFill/>
                    </a:lnL>
                    <a:lnR>
                      <a:noFill/>
                    </a:lnR>
                    <a:lnT>
                      <a:noFill/>
                    </a:lnT>
                    <a:lnB>
                      <a:noFill/>
                    </a:lnB>
                    <a:solidFill>
                      <a:srgbClr val="FFFFFF"/>
                    </a:solidFill>
                  </a:tcPr>
                </a:tc>
                <a:extLst>
                  <a:ext uri="{0D108BD9-81ED-4DB2-BD59-A6C34878D82A}">
                    <a16:rowId xmlns:a16="http://schemas.microsoft.com/office/drawing/2014/main" val="1959395977"/>
                  </a:ext>
                </a:extLst>
              </a:tr>
              <a:tr h="0">
                <a:tc>
                  <a:txBody>
                    <a:bodyPr/>
                    <a:lstStyle/>
                    <a:p>
                      <a:pPr algn="l">
                        <a:spcAft>
                          <a:spcPts val="720"/>
                        </a:spcAft>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EBEBEB"/>
                    </a:solidFill>
                  </a:tcPr>
                </a:tc>
                <a:tc>
                  <a:txBody>
                    <a:bodyPr/>
                    <a:lstStyle/>
                    <a:p>
                      <a:pPr algn="l">
                        <a:spcAft>
                          <a:spcPts val="720"/>
                        </a:spcAft>
                        <a:buNone/>
                      </a:pPr>
                      <a:r>
                        <a:rPr lang="en-US" sz="1600" b="0">
                          <a:solidFill>
                            <a:srgbClr val="000000"/>
                          </a:solidFill>
                          <a:effectLst/>
                          <a:latin typeface="Arial" panose="020B0604020202020204" pitchFamily="34" charset="0"/>
                        </a:rPr>
                        <a:t>HS_class_size</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0.060</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0.013</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0.156</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4.656</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&lt; .001</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0.035</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0.086</a:t>
                      </a:r>
                    </a:p>
                  </a:txBody>
                  <a:tcPr marL="114300" marR="114300" marT="9525" marB="28575" anchor="ctr">
                    <a:lnL>
                      <a:noFill/>
                    </a:lnL>
                    <a:lnR>
                      <a:noFill/>
                    </a:lnR>
                    <a:lnT>
                      <a:noFill/>
                    </a:lnT>
                    <a:lnB>
                      <a:noFill/>
                    </a:lnB>
                    <a:solidFill>
                      <a:srgbClr val="EBEBEB"/>
                    </a:solidFill>
                  </a:tcPr>
                </a:tc>
                <a:extLst>
                  <a:ext uri="{0D108BD9-81ED-4DB2-BD59-A6C34878D82A}">
                    <a16:rowId xmlns:a16="http://schemas.microsoft.com/office/drawing/2014/main" val="1871920311"/>
                  </a:ext>
                </a:extLst>
              </a:tr>
              <a:tr h="0">
                <a:tc gridSpan="9">
                  <a:txBody>
                    <a:bodyPr/>
                    <a:lstStyle/>
                    <a:p>
                      <a:pPr algn="r">
                        <a:buNone/>
                      </a:pPr>
                      <a:endParaRPr lang="en-US" sz="1600" b="0" dirty="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80789369"/>
                  </a:ext>
                </a:extLst>
              </a:tr>
            </a:tbl>
          </a:graphicData>
        </a:graphic>
      </p:graphicFrame>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A2F4385D-C804-AFEB-15B7-EE069F75B11E}"/>
                  </a:ext>
                </a:extLst>
              </p14:cNvPr>
              <p14:cNvContentPartPr/>
              <p14:nvPr/>
            </p14:nvContentPartPr>
            <p14:xfrm>
              <a:off x="-1609875" y="1638210"/>
              <a:ext cx="360" cy="360"/>
            </p14:xfrm>
          </p:contentPart>
        </mc:Choice>
        <mc:Fallback xmlns="">
          <p:pic>
            <p:nvPicPr>
              <p:cNvPr id="7" name="Ink 6">
                <a:extLst>
                  <a:ext uri="{FF2B5EF4-FFF2-40B4-BE49-F238E27FC236}">
                    <a16:creationId xmlns:a16="http://schemas.microsoft.com/office/drawing/2014/main" id="{A2F4385D-C804-AFEB-15B7-EE069F75B11E}"/>
                  </a:ext>
                </a:extLst>
              </p:cNvPr>
              <p:cNvPicPr/>
              <p:nvPr/>
            </p:nvPicPr>
            <p:blipFill>
              <a:blip r:embed="rId3"/>
              <a:stretch>
                <a:fillRect/>
              </a:stretch>
            </p:blipFill>
            <p:spPr>
              <a:xfrm>
                <a:off x="-1618515" y="1629210"/>
                <a:ext cx="18000" cy="18000"/>
              </a:xfrm>
              <a:prstGeom prst="rect">
                <a:avLst/>
              </a:prstGeom>
            </p:spPr>
          </p:pic>
        </mc:Fallback>
      </mc:AlternateContent>
      <p:sp>
        <p:nvSpPr>
          <p:cNvPr id="2" name="Rectangle 1">
            <a:extLst>
              <a:ext uri="{FF2B5EF4-FFF2-40B4-BE49-F238E27FC236}">
                <a16:creationId xmlns:a16="http://schemas.microsoft.com/office/drawing/2014/main" id="{AA560965-F971-AA95-64F9-BD3AB92C39D7}"/>
              </a:ext>
            </a:extLst>
          </p:cNvPr>
          <p:cNvSpPr/>
          <p:nvPr/>
        </p:nvSpPr>
        <p:spPr>
          <a:xfrm>
            <a:off x="761999" y="5291328"/>
            <a:ext cx="11277600" cy="107289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9B9ECA7-F926-F953-4FB4-07D79DF48DB6}"/>
              </a:ext>
            </a:extLst>
          </p:cNvPr>
          <p:cNvSpPr/>
          <p:nvPr/>
        </p:nvSpPr>
        <p:spPr>
          <a:xfrm>
            <a:off x="761999" y="4995450"/>
            <a:ext cx="11277600" cy="29587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0D2BFD4-AF23-89CF-D96A-5BEA504FEF04}"/>
              </a:ext>
            </a:extLst>
          </p:cNvPr>
          <p:cNvSpPr/>
          <p:nvPr/>
        </p:nvSpPr>
        <p:spPr>
          <a:xfrm>
            <a:off x="761999" y="1274095"/>
            <a:ext cx="11277600" cy="107289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2932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23D30-FA30-3799-5A9A-8A63D3B48D22}"/>
              </a:ext>
            </a:extLst>
          </p:cNvPr>
          <p:cNvSpPr>
            <a:spLocks noGrp="1"/>
          </p:cNvSpPr>
          <p:nvPr>
            <p:ph type="title"/>
          </p:nvPr>
        </p:nvSpPr>
        <p:spPr>
          <a:xfrm>
            <a:off x="224750" y="181165"/>
            <a:ext cx="10515600" cy="761031"/>
          </a:xfrm>
        </p:spPr>
        <p:txBody>
          <a:bodyPr>
            <a:normAutofit/>
          </a:bodyPr>
          <a:lstStyle/>
          <a:p>
            <a:r>
              <a:rPr lang="en-US" sz="3600" dirty="0">
                <a:latin typeface="Arial" panose="020B0604020202020204" pitchFamily="34" charset="0"/>
                <a:cs typeface="Arial" panose="020B0604020202020204" pitchFamily="34" charset="0"/>
              </a:rPr>
              <a:t>The F-statistic: The overall hypothesis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C512406-066D-4F29-EF6B-D6B8ABDAD1FC}"/>
                  </a:ext>
                </a:extLst>
              </p:cNvPr>
              <p:cNvSpPr>
                <a:spLocks noGrp="1"/>
              </p:cNvSpPr>
              <p:nvPr>
                <p:ph idx="1"/>
              </p:nvPr>
            </p:nvSpPr>
            <p:spPr>
              <a:xfrm>
                <a:off x="412121" y="900741"/>
                <a:ext cx="10515600" cy="4351338"/>
              </a:xfrm>
            </p:spPr>
            <p:txBody>
              <a:bodyPr>
                <a:normAutofit/>
              </a:bodyPr>
              <a:lstStyle/>
              <a:p>
                <a:r>
                  <a:rPr lang="en-US" sz="2000" dirty="0">
                    <a:latin typeface="Arial" panose="020B0604020202020204" pitchFamily="34" charset="0"/>
                    <a:cs typeface="Arial" panose="020B0604020202020204" pitchFamily="34" charset="0"/>
                  </a:rPr>
                  <a:t>Before looking at individual variables (Verbal or Class Size), the F-test checks if the model </a:t>
                </a:r>
                <a:r>
                  <a:rPr lang="en-US" sz="2000" i="1" dirty="0">
                    <a:latin typeface="Arial" panose="020B0604020202020204" pitchFamily="34" charset="0"/>
                    <a:cs typeface="Arial" panose="020B0604020202020204" pitchFamily="34" charset="0"/>
                  </a:rPr>
                  <a:t>as a whole</a:t>
                </a:r>
                <a:r>
                  <a:rPr lang="en-US" sz="2000" dirty="0">
                    <a:latin typeface="Arial" panose="020B0604020202020204" pitchFamily="34" charset="0"/>
                    <a:cs typeface="Arial" panose="020B0604020202020204" pitchFamily="34" charset="0"/>
                  </a:rPr>
                  <a:t> explains anything better than a blind guess.</a:t>
                </a:r>
              </a:p>
              <a:p>
                <a:r>
                  <a:rPr lang="en-US" sz="2000" b="1" dirty="0">
                    <a:latin typeface="Arial" panose="020B0604020202020204" pitchFamily="34" charset="0"/>
                    <a:cs typeface="Arial" panose="020B0604020202020204" pitchFamily="34" charset="0"/>
                  </a:rPr>
                  <a:t>Null Hypothesis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𝐻</m:t>
                        </m:r>
                      </m:e>
                      <m:sub>
                        <m:r>
                          <a:rPr lang="ar-AE" sz="2000">
                            <a:latin typeface="Cambria Math" panose="02040503050406030204" pitchFamily="18" charset="0"/>
                          </a:rPr>
                          <m:t>0</m:t>
                        </m:r>
                      </m:sub>
                    </m:sSub>
                    <m:r>
                      <a:rPr lang="en-US" sz="2000" b="1" i="0" smtClean="0">
                        <a:latin typeface="Cambria Math" panose="02040503050406030204" pitchFamily="18" charset="0"/>
                      </a:rPr>
                      <m:t>: </m:t>
                    </m:r>
                    <m:sSub>
                      <m:sSubPr>
                        <m:ctrlPr>
                          <a:rPr lang="ar-AE" sz="2000" i="1">
                            <a:latin typeface="Cambria Math" panose="02040503050406030204" pitchFamily="18" charset="0"/>
                          </a:rPr>
                        </m:ctrlPr>
                      </m:sSubPr>
                      <m:e>
                        <m:r>
                          <a:rPr lang="ar-AE" sz="2000" i="1">
                            <a:latin typeface="Cambria Math" panose="02040503050406030204" pitchFamily="18" charset="0"/>
                          </a:rPr>
                          <m:t>𝛽</m:t>
                        </m:r>
                      </m:e>
                      <m:sub>
                        <m:r>
                          <m:rPr>
                            <m:nor/>
                          </m:rPr>
                          <a:rPr lang="en-US" sz="2000" i="1">
                            <a:latin typeface="Arial" panose="020B0604020202020204" pitchFamily="34" charset="0"/>
                            <a:cs typeface="Arial" panose="020B0604020202020204" pitchFamily="34" charset="0"/>
                          </a:rPr>
                          <m:t>verbal</m:t>
                        </m:r>
                      </m:sub>
                    </m:sSub>
                    <m:r>
                      <a:rPr lang="ar-AE" sz="200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𝛽</m:t>
                        </m:r>
                      </m:e>
                      <m:sub>
                        <m:r>
                          <m:rPr>
                            <m:nor/>
                          </m:rPr>
                          <a:rPr lang="en-US" sz="2000" i="1">
                            <a:latin typeface="Arial" panose="020B0604020202020204" pitchFamily="34" charset="0"/>
                            <a:cs typeface="Arial" panose="020B0604020202020204" pitchFamily="34" charset="0"/>
                          </a:rPr>
                          <m:t>class</m:t>
                        </m:r>
                        <m:r>
                          <m:rPr>
                            <m:lit/>
                            <m:nor/>
                          </m:rPr>
                          <a:rPr lang="en-US" sz="2000" i="1">
                            <a:latin typeface="Arial" panose="020B0604020202020204" pitchFamily="34" charset="0"/>
                            <a:cs typeface="Arial" panose="020B0604020202020204" pitchFamily="34" charset="0"/>
                          </a:rPr>
                          <m:t>_</m:t>
                        </m:r>
                        <m:r>
                          <m:rPr>
                            <m:nor/>
                          </m:rPr>
                          <a:rPr lang="en-US" sz="2000" i="1">
                            <a:latin typeface="Arial" panose="020B0604020202020204" pitchFamily="34" charset="0"/>
                            <a:cs typeface="Arial" panose="020B0604020202020204" pitchFamily="34" charset="0"/>
                          </a:rPr>
                          <m:t>size</m:t>
                        </m:r>
                      </m:sub>
                    </m:sSub>
                    <m:r>
                      <a:rPr lang="ar-AE" sz="2000">
                        <a:latin typeface="Cambria Math" panose="02040503050406030204" pitchFamily="18" charset="0"/>
                      </a:rPr>
                      <m:t>=</m:t>
                    </m:r>
                    <m:r>
                      <a:rPr lang="ar-AE" sz="2000">
                        <a:latin typeface="Cambria Math" panose="02040503050406030204" pitchFamily="18" charset="0"/>
                      </a:rPr>
                      <m:t>0</m:t>
                    </m:r>
                  </m:oMath>
                </a14:m>
                <a:endParaRPr lang="ar-AE" sz="2000" dirty="0">
                  <a:latin typeface="Arial" panose="020B0604020202020204" pitchFamily="34" charset="0"/>
                  <a:cs typeface="Arial" panose="020B0604020202020204" pitchFamily="34" charset="0"/>
                </a:endParaRPr>
              </a:p>
              <a:p>
                <a:pPr lvl="1"/>
                <a:r>
                  <a:rPr lang="en-US" sz="2000" i="1" dirty="0">
                    <a:latin typeface="Arial" panose="020B0604020202020204" pitchFamily="34" charset="0"/>
                    <a:cs typeface="Arial" panose="020B0604020202020204" pitchFamily="34" charset="0"/>
                  </a:rPr>
                  <a:t>Translation:</a:t>
                </a:r>
                <a:r>
                  <a:rPr lang="en-US" sz="2000" dirty="0">
                    <a:latin typeface="Arial" panose="020B0604020202020204" pitchFamily="34" charset="0"/>
                    <a:cs typeface="Arial" panose="020B0604020202020204" pitchFamily="34" charset="0"/>
                  </a:rPr>
                  <a:t> The model is useless. Neither verbal scores nor class size predict math scores. Your best bet is just guessing the average for everyone.</a:t>
                </a:r>
              </a:p>
              <a:p>
                <a:r>
                  <a:rPr lang="en-US" sz="2000" b="1" dirty="0">
                    <a:latin typeface="Arial" panose="020B0604020202020204" pitchFamily="34" charset="0"/>
                    <a:cs typeface="Arial" panose="020B0604020202020204" pitchFamily="34" charset="0"/>
                  </a:rPr>
                  <a:t>Alternative Hypothesis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𝐻</m:t>
                        </m:r>
                      </m:e>
                      <m:sub>
                        <m:r>
                          <a:rPr lang="ar-AE" sz="2000">
                            <a:latin typeface="Cambria Math" panose="02040503050406030204" pitchFamily="18" charset="0"/>
                          </a:rPr>
                          <m:t>1</m:t>
                        </m:r>
                      </m:sub>
                    </m:sSub>
                  </m:oMath>
                </a14:m>
                <a:r>
                  <a:rPr lang="ar-AE" sz="2000" b="1" dirty="0">
                    <a:latin typeface="Arial" panose="020B0604020202020204" pitchFamily="34" charset="0"/>
                    <a:cs typeface="Arial" panose="020B0604020202020204" pitchFamily="34" charset="0"/>
                  </a:rPr>
                  <a:t>):</a:t>
                </a:r>
                <a:r>
                  <a:rPr lang="ar-AE" sz="20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At least one coefficient is not zero.</a:t>
                </a:r>
              </a:p>
              <a:p>
                <a:pPr lvl="1"/>
                <a:r>
                  <a:rPr lang="en-US" sz="2000" i="1" dirty="0">
                    <a:latin typeface="Arial" panose="020B0604020202020204" pitchFamily="34" charset="0"/>
                    <a:cs typeface="Arial" panose="020B0604020202020204" pitchFamily="34" charset="0"/>
                  </a:rPr>
                  <a:t>Translation:</a:t>
                </a:r>
                <a:r>
                  <a:rPr lang="en-US" sz="2000" dirty="0">
                    <a:latin typeface="Arial" panose="020B0604020202020204" pitchFamily="34" charset="0"/>
                    <a:cs typeface="Arial" panose="020B0604020202020204" pitchFamily="34" charset="0"/>
                  </a:rPr>
                  <a:t> The model has </a:t>
                </a:r>
                <a:r>
                  <a:rPr lang="en-US" sz="2000" i="1" dirty="0">
                    <a:latin typeface="Arial" panose="020B0604020202020204" pitchFamily="34" charset="0"/>
                    <a:cs typeface="Arial" panose="020B0604020202020204" pitchFamily="34" charset="0"/>
                  </a:rPr>
                  <a:t>some</a:t>
                </a:r>
                <a:r>
                  <a:rPr lang="en-US" sz="2000" dirty="0">
                    <a:latin typeface="Arial" panose="020B0604020202020204" pitchFamily="34" charset="0"/>
                    <a:cs typeface="Arial" panose="020B0604020202020204" pitchFamily="34" charset="0"/>
                  </a:rPr>
                  <a:t> predictive power.</a:t>
                </a:r>
              </a:p>
              <a:p>
                <a:endParaRPr lang="en-US" sz="20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CC512406-066D-4F29-EF6B-D6B8ABDAD1FC}"/>
                  </a:ext>
                </a:extLst>
              </p:cNvPr>
              <p:cNvSpPr>
                <a:spLocks noGrp="1" noRot="1" noChangeAspect="1" noMove="1" noResize="1" noEditPoints="1" noAdjustHandles="1" noChangeArrowheads="1" noChangeShapeType="1" noTextEdit="1"/>
              </p:cNvSpPr>
              <p:nvPr>
                <p:ph idx="1"/>
              </p:nvPr>
            </p:nvSpPr>
            <p:spPr>
              <a:xfrm>
                <a:off x="412121" y="900741"/>
                <a:ext cx="10515600" cy="4351338"/>
              </a:xfrm>
              <a:blipFill>
                <a:blip r:embed="rId2"/>
                <a:stretch>
                  <a:fillRect l="-522" t="-1401"/>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27EA5C9C-35DD-40E6-F1E2-154492A45E99}"/>
                  </a:ext>
                </a:extLst>
              </p14:cNvPr>
              <p14:cNvContentPartPr/>
              <p14:nvPr/>
            </p14:nvContentPartPr>
            <p14:xfrm>
              <a:off x="3676365" y="3076410"/>
              <a:ext cx="360" cy="360"/>
            </p14:xfrm>
          </p:contentPart>
        </mc:Choice>
        <mc:Fallback xmlns="">
          <p:pic>
            <p:nvPicPr>
              <p:cNvPr id="4" name="Ink 3">
                <a:extLst>
                  <a:ext uri="{FF2B5EF4-FFF2-40B4-BE49-F238E27FC236}">
                    <a16:creationId xmlns:a16="http://schemas.microsoft.com/office/drawing/2014/main" id="{27EA5C9C-35DD-40E6-F1E2-154492A45E99}"/>
                  </a:ext>
                </a:extLst>
              </p:cNvPr>
              <p:cNvPicPr/>
              <p:nvPr/>
            </p:nvPicPr>
            <p:blipFill>
              <a:blip r:embed="rId4"/>
              <a:stretch>
                <a:fillRect/>
              </a:stretch>
            </p:blipFill>
            <p:spPr>
              <a:xfrm>
                <a:off x="3667725" y="3067410"/>
                <a:ext cx="18000" cy="18000"/>
              </a:xfrm>
              <a:prstGeom prst="rect">
                <a:avLst/>
              </a:prstGeom>
            </p:spPr>
          </p:pic>
        </mc:Fallback>
      </mc:AlternateContent>
    </p:spTree>
    <p:extLst>
      <p:ext uri="{BB962C8B-B14F-4D97-AF65-F5344CB8AC3E}">
        <p14:creationId xmlns:p14="http://schemas.microsoft.com/office/powerpoint/2010/main" val="34382700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39D24-46B0-2801-BE76-0DE0EF5246AF}"/>
              </a:ext>
            </a:extLst>
          </p:cNvPr>
          <p:cNvSpPr>
            <a:spLocks noGrp="1"/>
          </p:cNvSpPr>
          <p:nvPr>
            <p:ph type="title"/>
          </p:nvPr>
        </p:nvSpPr>
        <p:spPr>
          <a:xfrm>
            <a:off x="202933" y="143744"/>
            <a:ext cx="10515600" cy="626277"/>
          </a:xfrm>
        </p:spPr>
        <p:txBody>
          <a:bodyPr>
            <a:normAutofit/>
          </a:bodyPr>
          <a:lstStyle/>
          <a:p>
            <a:r>
              <a:rPr lang="en-US" sz="3600" dirty="0">
                <a:latin typeface="Arial" panose="020B0604020202020204" pitchFamily="34" charset="0"/>
                <a:cs typeface="Arial" panose="020B0604020202020204" pitchFamily="34" charset="0"/>
              </a:rPr>
              <a:t>The Ratio: Signal vs. Noise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948C84-A173-FB8A-F282-12BE5BA29F09}"/>
                  </a:ext>
                </a:extLst>
              </p:cNvPr>
              <p:cNvSpPr>
                <a:spLocks noGrp="1"/>
              </p:cNvSpPr>
              <p:nvPr>
                <p:ph idx="1"/>
              </p:nvPr>
            </p:nvSpPr>
            <p:spPr>
              <a:xfrm>
                <a:off x="443564" y="770021"/>
                <a:ext cx="10515600" cy="4351338"/>
              </a:xfrm>
            </p:spPr>
            <p:txBody>
              <a:bodyPr>
                <a:normAutofit/>
              </a:bodyPr>
              <a:lstStyle/>
              <a:p>
                <a:r>
                  <a:rPr lang="en-US" sz="2000" dirty="0">
                    <a:latin typeface="Arial" panose="020B0604020202020204" pitchFamily="34" charset="0"/>
                    <a:cs typeface="Arial" panose="020B0604020202020204" pitchFamily="34" charset="0"/>
                  </a:rPr>
                  <a:t>The F-statistic is a ratio of </a:t>
                </a:r>
                <a:r>
                  <a:rPr lang="en-US" sz="2000" b="1" dirty="0">
                    <a:latin typeface="Arial" panose="020B0604020202020204" pitchFamily="34" charset="0"/>
                    <a:cs typeface="Arial" panose="020B0604020202020204" pitchFamily="34" charset="0"/>
                  </a:rPr>
                  <a:t>explained variation</a:t>
                </a:r>
                <a:r>
                  <a:rPr lang="en-US" sz="2000" dirty="0">
                    <a:latin typeface="Arial" panose="020B0604020202020204" pitchFamily="34" charset="0"/>
                    <a:cs typeface="Arial" panose="020B0604020202020204" pitchFamily="34" charset="0"/>
                  </a:rPr>
                  <a:t> (Signal) to </a:t>
                </a:r>
                <a:r>
                  <a:rPr lang="en-US" sz="2000" b="1" dirty="0">
                    <a:latin typeface="Arial" panose="020B0604020202020204" pitchFamily="34" charset="0"/>
                    <a:cs typeface="Arial" panose="020B0604020202020204" pitchFamily="34" charset="0"/>
                  </a:rPr>
                  <a:t>unexplained variation</a:t>
                </a:r>
                <a:r>
                  <a:rPr lang="en-US" sz="2000" dirty="0">
                    <a:latin typeface="Arial" panose="020B0604020202020204" pitchFamily="34" charset="0"/>
                    <a:cs typeface="Arial" panose="020B0604020202020204" pitchFamily="34" charset="0"/>
                  </a:rPr>
                  <a:t> (Noise).</a:t>
                </a:r>
              </a:p>
              <a:p>
                <a14:m>
                  <m:oMath xmlns:m="http://schemas.openxmlformats.org/officeDocument/2006/math">
                    <m:r>
                      <a:rPr lang="en-US" sz="2000" i="1">
                        <a:latin typeface="Cambria Math" panose="02040503050406030204" pitchFamily="18" charset="0"/>
                      </a:rPr>
                      <m:t>𝐹</m:t>
                    </m:r>
                    <m:r>
                      <a:rPr lang="en-US" sz="2000">
                        <a:latin typeface="Cambria Math" panose="02040503050406030204" pitchFamily="18" charset="0"/>
                      </a:rPr>
                      <m:t>=</m:t>
                    </m:r>
                    <m:f>
                      <m:fPr>
                        <m:ctrlPr>
                          <a:rPr lang="ar-AE" sz="2000" i="1">
                            <a:latin typeface="Cambria Math" panose="02040503050406030204" pitchFamily="18" charset="0"/>
                          </a:rPr>
                        </m:ctrlPr>
                      </m:fPr>
                      <m:num>
                        <m:r>
                          <m:rPr>
                            <m:nor/>
                          </m:rPr>
                          <a:rPr lang="en-US" sz="2000" i="1">
                            <a:latin typeface="Arial" panose="020B0604020202020204" pitchFamily="34" charset="0"/>
                            <a:cs typeface="Arial" panose="020B0604020202020204" pitchFamily="34" charset="0"/>
                          </a:rPr>
                          <m:t>Mean</m:t>
                        </m:r>
                        <m:r>
                          <m:rPr>
                            <m:nor/>
                          </m:rPr>
                          <a:rPr lang="en-US" sz="2000" i="1">
                            <a:latin typeface="Arial" panose="020B0604020202020204" pitchFamily="34" charset="0"/>
                            <a:cs typeface="Arial" panose="020B0604020202020204" pitchFamily="34" charset="0"/>
                          </a:rPr>
                          <m:t> </m:t>
                        </m:r>
                        <m:r>
                          <m:rPr>
                            <m:nor/>
                          </m:rPr>
                          <a:rPr lang="en-US" sz="2000" i="1">
                            <a:latin typeface="Arial" panose="020B0604020202020204" pitchFamily="34" charset="0"/>
                            <a:cs typeface="Arial" panose="020B0604020202020204" pitchFamily="34" charset="0"/>
                          </a:rPr>
                          <m:t>Square</m:t>
                        </m:r>
                        <m:r>
                          <m:rPr>
                            <m:nor/>
                          </m:rPr>
                          <a:rPr lang="en-US" sz="2000" i="1">
                            <a:latin typeface="Arial" panose="020B0604020202020204" pitchFamily="34" charset="0"/>
                            <a:cs typeface="Arial" panose="020B0604020202020204" pitchFamily="34" charset="0"/>
                          </a:rPr>
                          <m:t> </m:t>
                        </m:r>
                        <m:r>
                          <m:rPr>
                            <m:nor/>
                          </m:rPr>
                          <a:rPr lang="en-US" sz="2000" i="1">
                            <a:latin typeface="Arial" panose="020B0604020202020204" pitchFamily="34" charset="0"/>
                            <a:cs typeface="Arial" panose="020B0604020202020204" pitchFamily="34" charset="0"/>
                          </a:rPr>
                          <m:t>Regression</m:t>
                        </m:r>
                        <m:r>
                          <m:rPr>
                            <m:nor/>
                          </m:rPr>
                          <a:rPr lang="en-US" sz="2000" i="1">
                            <a:latin typeface="Arial" panose="020B0604020202020204" pitchFamily="34" charset="0"/>
                            <a:cs typeface="Arial" panose="020B0604020202020204" pitchFamily="34" charset="0"/>
                          </a:rPr>
                          <m:t> (</m:t>
                        </m:r>
                        <m:r>
                          <m:rPr>
                            <m:nor/>
                          </m:rPr>
                          <a:rPr lang="en-US" sz="2000" i="1">
                            <a:latin typeface="Arial" panose="020B0604020202020204" pitchFamily="34" charset="0"/>
                            <a:cs typeface="Arial" panose="020B0604020202020204" pitchFamily="34" charset="0"/>
                          </a:rPr>
                          <m:t>Signal</m:t>
                        </m:r>
                        <m:r>
                          <m:rPr>
                            <m:nor/>
                          </m:rPr>
                          <a:rPr lang="en-US" sz="2000" i="1">
                            <a:latin typeface="Arial" panose="020B0604020202020204" pitchFamily="34" charset="0"/>
                            <a:cs typeface="Arial" panose="020B0604020202020204" pitchFamily="34" charset="0"/>
                          </a:rPr>
                          <m:t>)</m:t>
                        </m:r>
                      </m:num>
                      <m:den>
                        <m:r>
                          <m:rPr>
                            <m:nor/>
                          </m:rPr>
                          <a:rPr lang="en-US" sz="2000" i="1">
                            <a:latin typeface="Arial" panose="020B0604020202020204" pitchFamily="34" charset="0"/>
                            <a:cs typeface="Arial" panose="020B0604020202020204" pitchFamily="34" charset="0"/>
                          </a:rPr>
                          <m:t>Mean</m:t>
                        </m:r>
                        <m:r>
                          <m:rPr>
                            <m:nor/>
                          </m:rPr>
                          <a:rPr lang="en-US" sz="2000" i="1">
                            <a:latin typeface="Arial" panose="020B0604020202020204" pitchFamily="34" charset="0"/>
                            <a:cs typeface="Arial" panose="020B0604020202020204" pitchFamily="34" charset="0"/>
                          </a:rPr>
                          <m:t> </m:t>
                        </m:r>
                        <m:r>
                          <m:rPr>
                            <m:nor/>
                          </m:rPr>
                          <a:rPr lang="en-US" sz="2000" i="1">
                            <a:latin typeface="Arial" panose="020B0604020202020204" pitchFamily="34" charset="0"/>
                            <a:cs typeface="Arial" panose="020B0604020202020204" pitchFamily="34" charset="0"/>
                          </a:rPr>
                          <m:t>Square</m:t>
                        </m:r>
                        <m:r>
                          <m:rPr>
                            <m:nor/>
                          </m:rPr>
                          <a:rPr lang="en-US" sz="2000" i="1">
                            <a:latin typeface="Arial" panose="020B0604020202020204" pitchFamily="34" charset="0"/>
                            <a:cs typeface="Arial" panose="020B0604020202020204" pitchFamily="34" charset="0"/>
                          </a:rPr>
                          <m:t> </m:t>
                        </m:r>
                        <m:r>
                          <m:rPr>
                            <m:nor/>
                          </m:rPr>
                          <a:rPr lang="en-US" sz="2000" i="1">
                            <a:latin typeface="Arial" panose="020B0604020202020204" pitchFamily="34" charset="0"/>
                            <a:cs typeface="Arial" panose="020B0604020202020204" pitchFamily="34" charset="0"/>
                          </a:rPr>
                          <m:t>Residual</m:t>
                        </m:r>
                        <m:r>
                          <m:rPr>
                            <m:nor/>
                          </m:rPr>
                          <a:rPr lang="en-US" sz="2000" i="1">
                            <a:latin typeface="Arial" panose="020B0604020202020204" pitchFamily="34" charset="0"/>
                            <a:cs typeface="Arial" panose="020B0604020202020204" pitchFamily="34" charset="0"/>
                          </a:rPr>
                          <m:t> (</m:t>
                        </m:r>
                        <m:r>
                          <m:rPr>
                            <m:nor/>
                          </m:rPr>
                          <a:rPr lang="en-US" sz="2000" i="1">
                            <a:latin typeface="Arial" panose="020B0604020202020204" pitchFamily="34" charset="0"/>
                            <a:cs typeface="Arial" panose="020B0604020202020204" pitchFamily="34" charset="0"/>
                          </a:rPr>
                          <m:t>Noise</m:t>
                        </m:r>
                        <m:r>
                          <m:rPr>
                            <m:nor/>
                          </m:rPr>
                          <a:rPr lang="en-US" sz="2000" i="1">
                            <a:latin typeface="Arial" panose="020B0604020202020204" pitchFamily="34" charset="0"/>
                            <a:cs typeface="Arial" panose="020B0604020202020204" pitchFamily="34" charset="0"/>
                          </a:rPr>
                          <m:t>)</m:t>
                        </m:r>
                      </m:den>
                    </m:f>
                  </m:oMath>
                </a14:m>
                <a:endParaRPr lang="ar-AE" sz="2000" b="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Using your table:</a:t>
                </a:r>
              </a:p>
              <a:p>
                <a:r>
                  <a:rPr lang="en-US" sz="2000" b="1" dirty="0">
                    <a:latin typeface="Arial" panose="020B0604020202020204" pitchFamily="34" charset="0"/>
                    <a:cs typeface="Arial" panose="020B0604020202020204" pitchFamily="34" charset="0"/>
                  </a:rPr>
                  <a:t>Signal (Meaningful Pattern):</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a:latin typeface="Cambria Math" panose="02040503050406030204" pitchFamily="18" charset="0"/>
                      </a:rPr>
                      <m:t>369</m:t>
                    </m:r>
                    <m:r>
                      <a:rPr lang="en-US" sz="2000">
                        <a:latin typeface="Cambria Math" panose="02040503050406030204" pitchFamily="18" charset="0"/>
                      </a:rPr>
                      <m:t>,</m:t>
                    </m:r>
                    <m:r>
                      <a:rPr lang="en-US" sz="2000">
                        <a:latin typeface="Cambria Math" panose="02040503050406030204" pitchFamily="18" charset="0"/>
                      </a:rPr>
                      <m:t>176</m:t>
                    </m:r>
                    <m:r>
                      <a:rPr lang="en-US" sz="2000">
                        <a:latin typeface="Cambria Math" panose="02040503050406030204" pitchFamily="18" charset="0"/>
                      </a:rPr>
                      <m:t>.</m:t>
                    </m:r>
                    <m:r>
                      <a:rPr lang="en-US" sz="2000">
                        <a:latin typeface="Cambria Math" panose="02040503050406030204" pitchFamily="18" charset="0"/>
                      </a:rPr>
                      <m:t>346</m:t>
                    </m:r>
                  </m:oMath>
                </a14:m>
                <a:r>
                  <a:rPr lang="en-US" sz="2000" dirty="0">
                    <a:latin typeface="Arial" panose="020B0604020202020204" pitchFamily="34" charset="0"/>
                    <a:cs typeface="Arial" panose="020B0604020202020204" pitchFamily="34" charset="0"/>
                  </a:rPr>
                  <a:t> (The variance our model explains)</a:t>
                </a:r>
              </a:p>
              <a:p>
                <a:r>
                  <a:rPr lang="en-US" sz="2000" b="1" dirty="0">
                    <a:latin typeface="Arial" panose="020B0604020202020204" pitchFamily="34" charset="0"/>
                    <a:cs typeface="Arial" panose="020B0604020202020204" pitchFamily="34" charset="0"/>
                  </a:rPr>
                  <a:t>Noise (Random Error):</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a:latin typeface="Cambria Math" panose="02040503050406030204" pitchFamily="18" charset="0"/>
                      </a:rPr>
                      <m:t>3</m:t>
                    </m:r>
                    <m:r>
                      <a:rPr lang="en-US" sz="2000">
                        <a:latin typeface="Cambria Math" panose="02040503050406030204" pitchFamily="18" charset="0"/>
                      </a:rPr>
                      <m:t>,</m:t>
                    </m:r>
                    <m:r>
                      <a:rPr lang="en-US" sz="2000">
                        <a:latin typeface="Cambria Math" panose="02040503050406030204" pitchFamily="18" charset="0"/>
                      </a:rPr>
                      <m:t>662</m:t>
                    </m:r>
                    <m:r>
                      <a:rPr lang="en-US" sz="2000">
                        <a:latin typeface="Cambria Math" panose="02040503050406030204" pitchFamily="18" charset="0"/>
                      </a:rPr>
                      <m:t>.</m:t>
                    </m:r>
                    <m:r>
                      <a:rPr lang="en-US" sz="2000">
                        <a:latin typeface="Cambria Math" panose="02040503050406030204" pitchFamily="18" charset="0"/>
                      </a:rPr>
                      <m:t>387</m:t>
                    </m:r>
                  </m:oMath>
                </a14:m>
                <a:r>
                  <a:rPr lang="en-US" sz="2000" dirty="0">
                    <a:latin typeface="Arial" panose="020B0604020202020204" pitchFamily="34" charset="0"/>
                    <a:cs typeface="Arial" panose="020B0604020202020204" pitchFamily="34" charset="0"/>
                  </a:rPr>
                  <a:t> (The variance left over)</a:t>
                </a:r>
              </a:p>
              <a:p>
                <a14:m>
                  <m:oMath xmlns:m="http://schemas.openxmlformats.org/officeDocument/2006/math">
                    <m:r>
                      <a:rPr lang="en-US" sz="2000" i="1">
                        <a:latin typeface="Cambria Math" panose="02040503050406030204" pitchFamily="18" charset="0"/>
                      </a:rPr>
                      <m:t>𝐹</m:t>
                    </m:r>
                    <m:r>
                      <a:rPr lang="en-US"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369</m:t>
                        </m:r>
                        <m:r>
                          <a:rPr lang="ar-AE" sz="2000">
                            <a:latin typeface="Cambria Math" panose="02040503050406030204" pitchFamily="18" charset="0"/>
                          </a:rPr>
                          <m:t>,</m:t>
                        </m:r>
                        <m:r>
                          <a:rPr lang="ar-AE" sz="2000">
                            <a:latin typeface="Cambria Math" panose="02040503050406030204" pitchFamily="18" charset="0"/>
                          </a:rPr>
                          <m:t>176</m:t>
                        </m:r>
                        <m:r>
                          <a:rPr lang="ar-AE" sz="2000">
                            <a:latin typeface="Cambria Math" panose="02040503050406030204" pitchFamily="18" charset="0"/>
                          </a:rPr>
                          <m:t>.</m:t>
                        </m:r>
                        <m:r>
                          <a:rPr lang="ar-AE" sz="2000">
                            <a:latin typeface="Cambria Math" panose="02040503050406030204" pitchFamily="18" charset="0"/>
                          </a:rPr>
                          <m:t>346</m:t>
                        </m:r>
                      </m:num>
                      <m:den>
                        <m:r>
                          <a:rPr lang="ar-AE" sz="2000">
                            <a:latin typeface="Cambria Math" panose="02040503050406030204" pitchFamily="18" charset="0"/>
                          </a:rPr>
                          <m:t>3</m:t>
                        </m:r>
                        <m:r>
                          <a:rPr lang="ar-AE" sz="2000">
                            <a:latin typeface="Cambria Math" panose="02040503050406030204" pitchFamily="18" charset="0"/>
                          </a:rPr>
                          <m:t>,</m:t>
                        </m:r>
                        <m:r>
                          <a:rPr lang="ar-AE" sz="2000">
                            <a:latin typeface="Cambria Math" panose="02040503050406030204" pitchFamily="18" charset="0"/>
                          </a:rPr>
                          <m:t>662</m:t>
                        </m:r>
                        <m:r>
                          <a:rPr lang="ar-AE" sz="2000">
                            <a:latin typeface="Cambria Math" panose="02040503050406030204" pitchFamily="18" charset="0"/>
                          </a:rPr>
                          <m:t>.</m:t>
                        </m:r>
                        <m:r>
                          <a:rPr lang="ar-AE" sz="2000">
                            <a:latin typeface="Cambria Math" panose="02040503050406030204" pitchFamily="18" charset="0"/>
                          </a:rPr>
                          <m:t>387</m:t>
                        </m:r>
                      </m:den>
                    </m:f>
                    <m:r>
                      <a:rPr lang="ar-AE" sz="2000">
                        <a:latin typeface="Cambria Math" panose="02040503050406030204" pitchFamily="18" charset="0"/>
                      </a:rPr>
                      <m:t>≈</m:t>
                    </m:r>
                    <m:r>
                      <a:rPr lang="ar-AE" sz="2000">
                        <a:latin typeface="Cambria Math" panose="02040503050406030204" pitchFamily="18" charset="0"/>
                      </a:rPr>
                      <m:t>100</m:t>
                    </m:r>
                    <m:r>
                      <a:rPr lang="ar-AE" sz="2000">
                        <a:latin typeface="Cambria Math" panose="02040503050406030204" pitchFamily="18" charset="0"/>
                      </a:rPr>
                      <m:t>.</m:t>
                    </m:r>
                    <m:r>
                      <a:rPr lang="ar-AE" sz="2000">
                        <a:latin typeface="Cambria Math" panose="02040503050406030204" pitchFamily="18" charset="0"/>
                      </a:rPr>
                      <m:t>802</m:t>
                    </m:r>
                  </m:oMath>
                </a14:m>
                <a:endParaRPr lang="ar-AE"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46948C84-A173-FB8A-F282-12BE5BA29F09}"/>
                  </a:ext>
                </a:extLst>
              </p:cNvPr>
              <p:cNvSpPr>
                <a:spLocks noGrp="1" noRot="1" noChangeAspect="1" noMove="1" noResize="1" noEditPoints="1" noAdjustHandles="1" noChangeArrowheads="1" noChangeShapeType="1" noTextEdit="1"/>
              </p:cNvSpPr>
              <p:nvPr>
                <p:ph idx="1"/>
              </p:nvPr>
            </p:nvSpPr>
            <p:spPr>
              <a:xfrm>
                <a:off x="443564" y="770021"/>
                <a:ext cx="10515600" cy="4351338"/>
              </a:xfrm>
              <a:blipFill>
                <a:blip r:embed="rId2"/>
                <a:stretch>
                  <a:fillRect l="-522" t="-1261"/>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C8E75568-5338-EC7D-64A1-1FC3CC11D36A}"/>
              </a:ext>
            </a:extLst>
          </p:cNvPr>
          <p:cNvGraphicFramePr>
            <a:graphicFrameLocks noGrp="1"/>
          </p:cNvGraphicFramePr>
          <p:nvPr>
            <p:extLst>
              <p:ext uri="{D42A27DB-BD31-4B8C-83A1-F6EECF244321}">
                <p14:modId xmlns:p14="http://schemas.microsoft.com/office/powerpoint/2010/main" val="435348117"/>
              </p:ext>
            </p:extLst>
          </p:nvPr>
        </p:nvGraphicFramePr>
        <p:xfrm>
          <a:off x="443561" y="3751981"/>
          <a:ext cx="10515603" cy="2931795"/>
        </p:xfrm>
        <a:graphic>
          <a:graphicData uri="http://schemas.openxmlformats.org/drawingml/2006/table">
            <a:tbl>
              <a:tblPr/>
              <a:tblGrid>
                <a:gridCol w="1502229">
                  <a:extLst>
                    <a:ext uri="{9D8B030D-6E8A-4147-A177-3AD203B41FA5}">
                      <a16:colId xmlns:a16="http://schemas.microsoft.com/office/drawing/2014/main" val="3635009290"/>
                    </a:ext>
                  </a:extLst>
                </a:gridCol>
                <a:gridCol w="1502229">
                  <a:extLst>
                    <a:ext uri="{9D8B030D-6E8A-4147-A177-3AD203B41FA5}">
                      <a16:colId xmlns:a16="http://schemas.microsoft.com/office/drawing/2014/main" val="1697748764"/>
                    </a:ext>
                  </a:extLst>
                </a:gridCol>
                <a:gridCol w="1502229">
                  <a:extLst>
                    <a:ext uri="{9D8B030D-6E8A-4147-A177-3AD203B41FA5}">
                      <a16:colId xmlns:a16="http://schemas.microsoft.com/office/drawing/2014/main" val="1612742880"/>
                    </a:ext>
                  </a:extLst>
                </a:gridCol>
                <a:gridCol w="1502229">
                  <a:extLst>
                    <a:ext uri="{9D8B030D-6E8A-4147-A177-3AD203B41FA5}">
                      <a16:colId xmlns:a16="http://schemas.microsoft.com/office/drawing/2014/main" val="1837013517"/>
                    </a:ext>
                  </a:extLst>
                </a:gridCol>
                <a:gridCol w="1502229">
                  <a:extLst>
                    <a:ext uri="{9D8B030D-6E8A-4147-A177-3AD203B41FA5}">
                      <a16:colId xmlns:a16="http://schemas.microsoft.com/office/drawing/2014/main" val="2384973055"/>
                    </a:ext>
                  </a:extLst>
                </a:gridCol>
                <a:gridCol w="1502229">
                  <a:extLst>
                    <a:ext uri="{9D8B030D-6E8A-4147-A177-3AD203B41FA5}">
                      <a16:colId xmlns:a16="http://schemas.microsoft.com/office/drawing/2014/main" val="3047185553"/>
                    </a:ext>
                  </a:extLst>
                </a:gridCol>
                <a:gridCol w="1502229">
                  <a:extLst>
                    <a:ext uri="{9D8B030D-6E8A-4147-A177-3AD203B41FA5}">
                      <a16:colId xmlns:a16="http://schemas.microsoft.com/office/drawing/2014/main" val="3445314590"/>
                    </a:ext>
                  </a:extLst>
                </a:gridCol>
              </a:tblGrid>
              <a:tr h="388620">
                <a:tc gridSpan="7">
                  <a:txBody>
                    <a:bodyPr/>
                    <a:lstStyle/>
                    <a:p>
                      <a:pPr algn="l">
                        <a:buNone/>
                      </a:pPr>
                      <a:r>
                        <a:rPr lang="en-US" sz="1600" b="0" i="1" dirty="0">
                          <a:solidFill>
                            <a:srgbClr val="000000"/>
                          </a:solidFill>
                          <a:effectLst/>
                          <a:latin typeface="Arial" panose="020B0604020202020204" pitchFamily="34" charset="0"/>
                        </a:rPr>
                        <a:t>ANOVA</a:t>
                      </a:r>
                      <a:r>
                        <a:rPr lang="en-US" sz="1600" b="0" dirty="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4653631"/>
                  </a:ext>
                </a:extLst>
              </a:tr>
              <a:tr h="605790">
                <a:tc>
                  <a:txBody>
                    <a:bodyPr/>
                    <a:lstStyle/>
                    <a:p>
                      <a:pPr algn="ctr">
                        <a:buNone/>
                      </a:pPr>
                      <a:r>
                        <a:rPr lang="en-US" sz="1600" b="0" dirty="0">
                          <a:solidFill>
                            <a:srgbClr val="000000"/>
                          </a:solidFill>
                          <a:effectLst/>
                          <a:latin typeface="Arial" panose="020B0604020202020204" pitchFamily="34" charset="0"/>
                        </a:rPr>
                        <a:t>Model</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 </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Sum of Squares</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df</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Mean Square</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F</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dirty="0">
                          <a:solidFill>
                            <a:srgbClr val="000000"/>
                          </a:solidFill>
                          <a:effectLst/>
                          <a:latin typeface="Arial" panose="020B0604020202020204" pitchFamily="34" charset="0"/>
                        </a:rPr>
                        <a:t>p</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8586455"/>
                  </a:ext>
                </a:extLst>
              </a:tr>
              <a:tr h="191369">
                <a:tc>
                  <a:txBody>
                    <a:bodyPr/>
                    <a:lstStyle/>
                    <a:p>
                      <a:pPr algn="l">
                        <a:buNone/>
                      </a:pPr>
                      <a:r>
                        <a:rPr lang="en-US" sz="1600" b="0">
                          <a:solidFill>
                            <a:srgbClr val="000000"/>
                          </a:solidFill>
                          <a:effectLst/>
                          <a:latin typeface="Arial" panose="020B0604020202020204" pitchFamily="34" charset="0"/>
                        </a:rPr>
                        <a:t>M₁</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l">
                        <a:buNone/>
                      </a:pPr>
                      <a:r>
                        <a:rPr lang="en-US" sz="1600" b="0">
                          <a:solidFill>
                            <a:srgbClr val="000000"/>
                          </a:solidFill>
                          <a:effectLst/>
                          <a:latin typeface="Arial" panose="020B0604020202020204" pitchFamily="34" charset="0"/>
                        </a:rPr>
                        <a:t>Regression</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dirty="0">
                          <a:solidFill>
                            <a:srgbClr val="000000"/>
                          </a:solidFill>
                          <a:effectLst/>
                          <a:latin typeface="Arial" panose="020B0604020202020204" pitchFamily="34" charset="0"/>
                        </a:rPr>
                        <a:t>738352.691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2</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dirty="0">
                          <a:solidFill>
                            <a:srgbClr val="000000"/>
                          </a:solidFill>
                          <a:effectLst/>
                          <a:latin typeface="Arial" panose="020B0604020202020204" pitchFamily="34" charset="0"/>
                        </a:rPr>
                        <a:t>369176.346</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dirty="0">
                          <a:solidFill>
                            <a:srgbClr val="000000"/>
                          </a:solidFill>
                          <a:effectLst/>
                          <a:latin typeface="Arial" panose="020B0604020202020204" pitchFamily="34" charset="0"/>
                        </a:rPr>
                        <a:t>100.802</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dirty="0">
                          <a:solidFill>
                            <a:srgbClr val="000000"/>
                          </a:solidFill>
                          <a:effectLst/>
                          <a:latin typeface="Arial" panose="020B0604020202020204" pitchFamily="34" charset="0"/>
                        </a:rPr>
                        <a:t>&lt; .001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641119237"/>
                  </a:ext>
                </a:extLst>
              </a:tr>
              <a:tr h="312420">
                <a:tc>
                  <a:txBody>
                    <a:bodyPr/>
                    <a:lstStyle/>
                    <a:p>
                      <a:pPr algn="l">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EBEBEB"/>
                    </a:solidFill>
                  </a:tcPr>
                </a:tc>
                <a:tc>
                  <a:txBody>
                    <a:bodyPr/>
                    <a:lstStyle/>
                    <a:p>
                      <a:pPr algn="l">
                        <a:buNone/>
                      </a:pPr>
                      <a:r>
                        <a:rPr lang="en-US" sz="1600" b="0">
                          <a:solidFill>
                            <a:srgbClr val="000000"/>
                          </a:solidFill>
                          <a:effectLst/>
                          <a:latin typeface="Arial" panose="020B0604020202020204" pitchFamily="34" charset="0"/>
                        </a:rPr>
                        <a:t>Residual</a:t>
                      </a:r>
                    </a:p>
                  </a:txBody>
                  <a:tcPr marL="114300" marR="114300" marT="9525" marB="28575" anchor="ctr">
                    <a:lnL>
                      <a:noFill/>
                    </a:lnL>
                    <a:lnR>
                      <a:noFill/>
                    </a:lnR>
                    <a:lnT>
                      <a:noFill/>
                    </a:lnT>
                    <a:lnB>
                      <a:noFill/>
                    </a:lnB>
                    <a:solidFill>
                      <a:srgbClr val="EBEBEB"/>
                    </a:solidFill>
                  </a:tcPr>
                </a:tc>
                <a:tc>
                  <a:txBody>
                    <a:bodyPr/>
                    <a:lstStyle/>
                    <a:p>
                      <a:pPr algn="r">
                        <a:buNone/>
                      </a:pPr>
                      <a:r>
                        <a:rPr lang="en-US" sz="1600" b="0" dirty="0">
                          <a:solidFill>
                            <a:srgbClr val="000000"/>
                          </a:solidFill>
                          <a:effectLst/>
                          <a:latin typeface="Arial" panose="020B0604020202020204" pitchFamily="34" charset="0"/>
                        </a:rPr>
                        <a:t>2.520e+6</a:t>
                      </a:r>
                    </a:p>
                  </a:txBody>
                  <a:tcPr marL="114300" marR="114300" marT="9525" marB="28575" anchor="ctr">
                    <a:lnL>
                      <a:noFill/>
                    </a:lnL>
                    <a:lnR>
                      <a:noFill/>
                    </a:lnR>
                    <a:lnT>
                      <a:noFill/>
                    </a:lnT>
                    <a:lnB>
                      <a:noFill/>
                    </a:lnB>
                    <a:solidFill>
                      <a:srgbClr val="EBEBEB"/>
                    </a:solidFill>
                  </a:tcPr>
                </a:tc>
                <a:tc>
                  <a:txBody>
                    <a:bodyPr/>
                    <a:lstStyle/>
                    <a:p>
                      <a:pPr algn="r">
                        <a:buNone/>
                      </a:pPr>
                      <a:r>
                        <a:rPr lang="en-US" sz="1600" b="0" dirty="0">
                          <a:solidFill>
                            <a:srgbClr val="000000"/>
                          </a:solidFill>
                          <a:effectLst/>
                          <a:latin typeface="Arial" panose="020B0604020202020204" pitchFamily="34" charset="0"/>
                        </a:rPr>
                        <a:t>688</a:t>
                      </a:r>
                    </a:p>
                  </a:txBody>
                  <a:tcPr marL="114300" marR="114300" marT="9525"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3662.387</a:t>
                      </a:r>
                    </a:p>
                  </a:txBody>
                  <a:tcPr marL="114300" marR="114300" marT="9525"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EBEBEB"/>
                    </a:solidFill>
                  </a:tcPr>
                </a:tc>
                <a:tc>
                  <a:txBody>
                    <a:bodyPr/>
                    <a:lstStyle/>
                    <a:p>
                      <a:pPr algn="r">
                        <a:buNone/>
                      </a:pPr>
                      <a:r>
                        <a:rPr lang="en-US" sz="18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EBEBEB"/>
                    </a:solidFill>
                  </a:tcPr>
                </a:tc>
                <a:extLst>
                  <a:ext uri="{0D108BD9-81ED-4DB2-BD59-A6C34878D82A}">
                    <a16:rowId xmlns:a16="http://schemas.microsoft.com/office/drawing/2014/main" val="3814946199"/>
                  </a:ext>
                </a:extLst>
              </a:tr>
              <a:tr h="312420">
                <a:tc>
                  <a:txBody>
                    <a:bodyPr/>
                    <a:lstStyle/>
                    <a:p>
                      <a:pPr algn="l">
                        <a:spcAft>
                          <a:spcPts val="720"/>
                        </a:spcAft>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tc>
                  <a:txBody>
                    <a:bodyPr/>
                    <a:lstStyle/>
                    <a:p>
                      <a:pPr algn="l">
                        <a:spcAft>
                          <a:spcPts val="720"/>
                        </a:spcAft>
                        <a:buNone/>
                      </a:pPr>
                      <a:r>
                        <a:rPr lang="en-US" sz="1600" b="0">
                          <a:solidFill>
                            <a:srgbClr val="000000"/>
                          </a:solidFill>
                          <a:effectLst/>
                          <a:latin typeface="Arial" panose="020B0604020202020204" pitchFamily="34" charset="0"/>
                        </a:rPr>
                        <a:t>Total</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a:solidFill>
                            <a:srgbClr val="000000"/>
                          </a:solidFill>
                          <a:effectLst/>
                          <a:latin typeface="Arial" panose="020B0604020202020204" pitchFamily="34" charset="0"/>
                        </a:rPr>
                        <a:t>3.258e+6</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dirty="0">
                          <a:solidFill>
                            <a:srgbClr val="000000"/>
                          </a:solidFill>
                          <a:effectLst/>
                          <a:latin typeface="Arial" panose="020B0604020202020204" pitchFamily="34" charset="0"/>
                        </a:rPr>
                        <a:t>690</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extLst>
                  <a:ext uri="{0D108BD9-81ED-4DB2-BD59-A6C34878D82A}">
                    <a16:rowId xmlns:a16="http://schemas.microsoft.com/office/drawing/2014/main" val="3987948290"/>
                  </a:ext>
                </a:extLst>
              </a:tr>
              <a:tr h="312420">
                <a:tc gridSpan="7">
                  <a:txBody>
                    <a:bodyPr/>
                    <a:lstStyle/>
                    <a:p>
                      <a:pPr algn="r">
                        <a:buNone/>
                      </a:pPr>
                      <a:endParaRPr lang="en-US" sz="1600" b="0" dirty="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EBEBE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7679960"/>
                  </a:ext>
                </a:extLst>
              </a:tr>
              <a:tr h="312420">
                <a:tc gridSpan="7">
                  <a:txBody>
                    <a:bodyPr/>
                    <a:lstStyle/>
                    <a:p>
                      <a:pPr algn="l">
                        <a:buNone/>
                      </a:pPr>
                      <a:r>
                        <a:rPr lang="en-US" sz="1600" b="0" i="1" dirty="0">
                          <a:solidFill>
                            <a:srgbClr val="000000"/>
                          </a:solidFill>
                          <a:effectLst/>
                          <a:latin typeface="Arial" panose="020B0604020202020204" pitchFamily="34" charset="0"/>
                        </a:rPr>
                        <a:t>Note.</a:t>
                      </a:r>
                      <a:r>
                        <a:rPr lang="en-US" sz="1600" b="0" dirty="0">
                          <a:solidFill>
                            <a:srgbClr val="000000"/>
                          </a:solidFill>
                          <a:effectLst/>
                          <a:latin typeface="Arial" panose="020B0604020202020204" pitchFamily="34" charset="0"/>
                        </a:rPr>
                        <a:t>  M₁ includes </a:t>
                      </a:r>
                      <a:r>
                        <a:rPr lang="en-US" sz="1600" b="0" dirty="0" err="1">
                          <a:solidFill>
                            <a:srgbClr val="000000"/>
                          </a:solidFill>
                          <a:effectLst/>
                          <a:latin typeface="Arial" panose="020B0604020202020204" pitchFamily="34" charset="0"/>
                        </a:rPr>
                        <a:t>SAT_verbal</a:t>
                      </a:r>
                      <a:r>
                        <a:rPr lang="en-US" sz="1600" b="0" dirty="0">
                          <a:solidFill>
                            <a:srgbClr val="000000"/>
                          </a:solidFill>
                          <a:effectLst/>
                          <a:latin typeface="Arial" panose="020B0604020202020204" pitchFamily="34" charset="0"/>
                        </a:rPr>
                        <a:t>, </a:t>
                      </a:r>
                      <a:r>
                        <a:rPr lang="en-US" sz="1600" b="0" dirty="0" err="1">
                          <a:solidFill>
                            <a:srgbClr val="000000"/>
                          </a:solidFill>
                          <a:effectLst/>
                          <a:latin typeface="Arial" panose="020B0604020202020204" pitchFamily="34" charset="0"/>
                        </a:rPr>
                        <a:t>HS_class_size</a:t>
                      </a:r>
                      <a:endParaRPr lang="en-US" sz="1600" b="0" dirty="0">
                        <a:solidFill>
                          <a:srgbClr val="000000"/>
                        </a:solidFill>
                        <a:effectLst/>
                        <a:latin typeface="Arial" panose="020B0604020202020204" pitchFamily="34" charset="0"/>
                      </a:endParaRPr>
                    </a:p>
                  </a:txBody>
                  <a:tcPr marR="114300" marT="9525" marB="28575" anchor="ctr">
                    <a:lnL>
                      <a:noFill/>
                    </a:lnL>
                    <a:lnR>
                      <a:noFill/>
                    </a:lnR>
                    <a:lnT w="7934" cap="flat" cmpd="sng" algn="ctr">
                      <a:solidFill>
                        <a:srgbClr val="000000"/>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20071984"/>
                  </a:ext>
                </a:extLst>
              </a:tr>
              <a:tr h="312420">
                <a:tc gridSpan="7">
                  <a:txBody>
                    <a:bodyPr/>
                    <a:lstStyle/>
                    <a:p>
                      <a:pPr algn="l">
                        <a:buNone/>
                      </a:pPr>
                      <a:r>
                        <a:rPr lang="en-US" sz="1600" b="0" i="1" dirty="0">
                          <a:solidFill>
                            <a:srgbClr val="000000"/>
                          </a:solidFill>
                          <a:effectLst/>
                          <a:latin typeface="Arial" panose="020B0604020202020204" pitchFamily="34" charset="0"/>
                        </a:rPr>
                        <a:t>Note.</a:t>
                      </a:r>
                      <a:r>
                        <a:rPr lang="en-US" sz="1600" b="0" dirty="0">
                          <a:solidFill>
                            <a:srgbClr val="000000"/>
                          </a:solidFill>
                          <a:effectLst/>
                          <a:latin typeface="Arial" panose="020B0604020202020204" pitchFamily="34" charset="0"/>
                        </a:rPr>
                        <a:t>  The intercept model is omitted, as no meaningful information can be shown.</a:t>
                      </a:r>
                    </a:p>
                  </a:txBody>
                  <a:tcPr marR="114300" marT="9525" marB="28575" anchor="ctr">
                    <a:lnL>
                      <a:noFill/>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77374194"/>
                  </a:ext>
                </a:extLst>
              </a:tr>
            </a:tbl>
          </a:graphicData>
        </a:graphic>
      </p:graphicFrame>
    </p:spTree>
    <p:extLst>
      <p:ext uri="{BB962C8B-B14F-4D97-AF65-F5344CB8AC3E}">
        <p14:creationId xmlns:p14="http://schemas.microsoft.com/office/powerpoint/2010/main" val="13567045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BF4B8-3D08-44B6-5BEB-220ECA3383A1}"/>
              </a:ext>
            </a:extLst>
          </p:cNvPr>
          <p:cNvSpPr>
            <a:spLocks noGrp="1"/>
          </p:cNvSpPr>
          <p:nvPr>
            <p:ph type="title"/>
          </p:nvPr>
        </p:nvSpPr>
        <p:spPr>
          <a:xfrm>
            <a:off x="145181" y="191870"/>
            <a:ext cx="10515600" cy="674403"/>
          </a:xfrm>
        </p:spPr>
        <p:txBody>
          <a:bodyPr>
            <a:normAutofit/>
          </a:bodyPr>
          <a:lstStyle/>
          <a:p>
            <a:r>
              <a:rPr lang="en-US" sz="3600" dirty="0">
                <a:latin typeface="Arial" panose="020B0604020202020204" pitchFamily="34" charset="0"/>
                <a:cs typeface="Arial" panose="020B0604020202020204" pitchFamily="34" charset="0"/>
              </a:rPr>
              <a:t>Interpretation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8A07D40-C0A9-0867-6B22-C06C5EC5BA98}"/>
                  </a:ext>
                </a:extLst>
              </p:cNvPr>
              <p:cNvSpPr>
                <a:spLocks noGrp="1"/>
              </p:cNvSpPr>
              <p:nvPr>
                <p:ph idx="1"/>
              </p:nvPr>
            </p:nvSpPr>
            <p:spPr>
              <a:xfrm>
                <a:off x="279934" y="866273"/>
                <a:ext cx="10515600" cy="4351338"/>
              </a:xfrm>
            </p:spPr>
            <p:txBody>
              <a:bodyPr>
                <a:normAutofit/>
              </a:bodyPr>
              <a:lstStyle/>
              <a:p>
                <a:r>
                  <a:rPr lang="en-US" sz="2000" b="1" dirty="0">
                    <a:latin typeface="Arial" panose="020B0604020202020204" pitchFamily="34" charset="0"/>
                    <a:cs typeface="Arial" panose="020B0604020202020204" pitchFamily="34" charset="0"/>
                  </a:rPr>
                  <a:t>The Value (</a:t>
                </a:r>
                <a14:m>
                  <m:oMath xmlns:m="http://schemas.openxmlformats.org/officeDocument/2006/math">
                    <m:r>
                      <a:rPr lang="en-US" sz="2000">
                        <a:latin typeface="Cambria Math" panose="02040503050406030204" pitchFamily="18" charset="0"/>
                      </a:rPr>
                      <m:t>100.802</m:t>
                    </m:r>
                  </m:oMath>
                </a14:m>
                <a:r>
                  <a:rPr lang="en-US" sz="2000" b="1" dirty="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 This extremely high number means the "signal" (your model) is </a:t>
                </a:r>
                <a:r>
                  <a:rPr lang="en-US" sz="2000" b="1" dirty="0">
                    <a:latin typeface="Arial" panose="020B0604020202020204" pitchFamily="34" charset="0"/>
                    <a:cs typeface="Arial" panose="020B0604020202020204" pitchFamily="34" charset="0"/>
                  </a:rPr>
                  <a:t>100 times stronger</a:t>
                </a:r>
                <a:r>
                  <a:rPr lang="en-US" sz="2000" dirty="0">
                    <a:latin typeface="Arial" panose="020B0604020202020204" pitchFamily="34" charset="0"/>
                    <a:cs typeface="Arial" panose="020B0604020202020204" pitchFamily="34" charset="0"/>
                  </a:rPr>
                  <a:t> than the "noise" (random error).</a:t>
                </a:r>
              </a:p>
              <a:p>
                <a:r>
                  <a:rPr lang="en-US" sz="2000" b="1" dirty="0">
                    <a:latin typeface="Arial" panose="020B0604020202020204" pitchFamily="34" charset="0"/>
                    <a:cs typeface="Arial" panose="020B0604020202020204" pitchFamily="34" charset="0"/>
                  </a:rPr>
                  <a:t>The P-Value (</a:t>
                </a:r>
                <a14:m>
                  <m:oMath xmlns:m="http://schemas.openxmlformats.org/officeDocument/2006/math">
                    <m:r>
                      <a:rPr lang="en-US" sz="2000">
                        <a:latin typeface="Cambria Math" panose="02040503050406030204" pitchFamily="18" charset="0"/>
                      </a:rPr>
                      <m:t>&lt;.001</m:t>
                    </m:r>
                  </m:oMath>
                </a14:m>
                <a:r>
                  <a:rPr lang="en-US" sz="2000" b="1" dirty="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 Since the F-statistic is so massive, the probability of seeing this result by sheer luck is effectively zero.</a:t>
                </a:r>
              </a:p>
              <a:p>
                <a:endParaRPr lang="en-US" sz="20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48A07D40-C0A9-0867-6B22-C06C5EC5BA98}"/>
                  </a:ext>
                </a:extLst>
              </p:cNvPr>
              <p:cNvSpPr>
                <a:spLocks noGrp="1" noRot="1" noChangeAspect="1" noMove="1" noResize="1" noEditPoints="1" noAdjustHandles="1" noChangeArrowheads="1" noChangeShapeType="1" noTextEdit="1"/>
              </p:cNvSpPr>
              <p:nvPr>
                <p:ph idx="1"/>
              </p:nvPr>
            </p:nvSpPr>
            <p:spPr>
              <a:xfrm>
                <a:off x="279934" y="866273"/>
                <a:ext cx="10515600" cy="4351338"/>
              </a:xfrm>
              <a:blipFill>
                <a:blip r:embed="rId2"/>
                <a:stretch>
                  <a:fillRect l="-522" t="-1261" r="-464"/>
                </a:stretch>
              </a:blipFill>
            </p:spPr>
            <p:txBody>
              <a:bodyPr/>
              <a:lstStyle/>
              <a:p>
                <a:r>
                  <a:rPr lang="en-US">
                    <a:noFill/>
                  </a:rPr>
                  <a:t> </a:t>
                </a:r>
              </a:p>
            </p:txBody>
          </p:sp>
        </mc:Fallback>
      </mc:AlternateContent>
    </p:spTree>
    <p:extLst>
      <p:ext uri="{BB962C8B-B14F-4D97-AF65-F5344CB8AC3E}">
        <p14:creationId xmlns:p14="http://schemas.microsoft.com/office/powerpoint/2010/main" val="7812081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Content Placeholder 19">
            <a:extLst>
              <a:ext uri="{FF2B5EF4-FFF2-40B4-BE49-F238E27FC236}">
                <a16:creationId xmlns:a16="http://schemas.microsoft.com/office/drawing/2014/main" id="{1198C00B-ACE2-5196-2EE4-EC4EBF3CA4F8}"/>
              </a:ext>
            </a:extLst>
          </p:cNvPr>
          <p:cNvGraphicFramePr>
            <a:graphicFrameLocks noGrp="1"/>
          </p:cNvGraphicFramePr>
          <p:nvPr>
            <p:ph idx="1"/>
          </p:nvPr>
        </p:nvGraphicFramePr>
        <p:xfrm>
          <a:off x="420130" y="2920546"/>
          <a:ext cx="10515600" cy="2800350"/>
        </p:xfrm>
        <a:graphic>
          <a:graphicData uri="http://schemas.openxmlformats.org/drawingml/2006/table">
            <a:tbl>
              <a:tblPr/>
              <a:tblGrid>
                <a:gridCol w="722870">
                  <a:extLst>
                    <a:ext uri="{9D8B030D-6E8A-4147-A177-3AD203B41FA5}">
                      <a16:colId xmlns:a16="http://schemas.microsoft.com/office/drawing/2014/main" val="2439056403"/>
                    </a:ext>
                  </a:extLst>
                </a:gridCol>
                <a:gridCol w="1781175">
                  <a:extLst>
                    <a:ext uri="{9D8B030D-6E8A-4147-A177-3AD203B41FA5}">
                      <a16:colId xmlns:a16="http://schemas.microsoft.com/office/drawing/2014/main" val="3071121213"/>
                    </a:ext>
                  </a:extLst>
                </a:gridCol>
                <a:gridCol w="1001155">
                  <a:extLst>
                    <a:ext uri="{9D8B030D-6E8A-4147-A177-3AD203B41FA5}">
                      <a16:colId xmlns:a16="http://schemas.microsoft.com/office/drawing/2014/main" val="3058690076"/>
                    </a:ext>
                  </a:extLst>
                </a:gridCol>
                <a:gridCol w="1168400">
                  <a:extLst>
                    <a:ext uri="{9D8B030D-6E8A-4147-A177-3AD203B41FA5}">
                      <a16:colId xmlns:a16="http://schemas.microsoft.com/office/drawing/2014/main" val="1393401991"/>
                    </a:ext>
                  </a:extLst>
                </a:gridCol>
                <a:gridCol w="1168400">
                  <a:extLst>
                    <a:ext uri="{9D8B030D-6E8A-4147-A177-3AD203B41FA5}">
                      <a16:colId xmlns:a16="http://schemas.microsoft.com/office/drawing/2014/main" val="2630522891"/>
                    </a:ext>
                  </a:extLst>
                </a:gridCol>
                <a:gridCol w="1168400">
                  <a:extLst>
                    <a:ext uri="{9D8B030D-6E8A-4147-A177-3AD203B41FA5}">
                      <a16:colId xmlns:a16="http://schemas.microsoft.com/office/drawing/2014/main" val="966639539"/>
                    </a:ext>
                  </a:extLst>
                </a:gridCol>
                <a:gridCol w="1168400">
                  <a:extLst>
                    <a:ext uri="{9D8B030D-6E8A-4147-A177-3AD203B41FA5}">
                      <a16:colId xmlns:a16="http://schemas.microsoft.com/office/drawing/2014/main" val="3160143432"/>
                    </a:ext>
                  </a:extLst>
                </a:gridCol>
                <a:gridCol w="1168400">
                  <a:extLst>
                    <a:ext uri="{9D8B030D-6E8A-4147-A177-3AD203B41FA5}">
                      <a16:colId xmlns:a16="http://schemas.microsoft.com/office/drawing/2014/main" val="2869200059"/>
                    </a:ext>
                  </a:extLst>
                </a:gridCol>
                <a:gridCol w="1168400">
                  <a:extLst>
                    <a:ext uri="{9D8B030D-6E8A-4147-A177-3AD203B41FA5}">
                      <a16:colId xmlns:a16="http://schemas.microsoft.com/office/drawing/2014/main" val="1071525311"/>
                    </a:ext>
                  </a:extLst>
                </a:gridCol>
              </a:tblGrid>
              <a:tr h="0">
                <a:tc gridSpan="9">
                  <a:txBody>
                    <a:bodyPr/>
                    <a:lstStyle/>
                    <a:p>
                      <a:pPr algn="l">
                        <a:buNone/>
                      </a:pPr>
                      <a:r>
                        <a:rPr lang="en-US" sz="1600" b="0" i="1">
                          <a:solidFill>
                            <a:srgbClr val="000000"/>
                          </a:solidFill>
                          <a:effectLst/>
                          <a:latin typeface="Arial" panose="020B0604020202020204" pitchFamily="34" charset="0"/>
                        </a:rPr>
                        <a:t>Coefficients</a:t>
                      </a:r>
                      <a:r>
                        <a:rPr lang="en-US" sz="1600" b="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74050221"/>
                  </a:ext>
                </a:extLst>
              </a:tr>
              <a:tr h="0">
                <a:tc gridSpan="7">
                  <a:txBody>
                    <a:bodyPr/>
                    <a:lstStyle/>
                    <a:p>
                      <a:pPr algn="ctr">
                        <a:buNone/>
                      </a:pPr>
                      <a:endParaRPr lang="en-US" sz="1600" b="0">
                        <a:solidFill>
                          <a:srgbClr val="000000"/>
                        </a:solidFill>
                        <a:effectLst/>
                        <a:latin typeface="Arial" panose="020B0604020202020204" pitchFamily="34" charset="0"/>
                      </a:endParaRPr>
                    </a:p>
                  </a:txBody>
                  <a:tcPr marL="114300" marR="114300" marT="28575" marB="28575" anchor="ctr">
                    <a:lnL>
                      <a:noFill/>
                    </a:lnL>
                    <a:lnR>
                      <a:noFill/>
                    </a:lnR>
                    <a:lnT w="7934" cap="flat" cmpd="sng" algn="ctr">
                      <a:solidFill>
                        <a:srgbClr val="000000"/>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a:buNone/>
                      </a:pPr>
                      <a:r>
                        <a:rPr lang="en-US" sz="1600" b="0">
                          <a:solidFill>
                            <a:srgbClr val="000000"/>
                          </a:solidFill>
                          <a:effectLst/>
                          <a:latin typeface="Arial" panose="020B0604020202020204" pitchFamily="34" charset="0"/>
                        </a:rPr>
                        <a:t>95% CI</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716581214"/>
                  </a:ext>
                </a:extLst>
              </a:tr>
              <a:tr h="0">
                <a:tc>
                  <a:txBody>
                    <a:bodyPr/>
                    <a:lstStyle/>
                    <a:p>
                      <a:pPr algn="ctr">
                        <a:buNone/>
                      </a:pPr>
                      <a:r>
                        <a:rPr lang="en-US" sz="1600" b="0" dirty="0">
                          <a:solidFill>
                            <a:srgbClr val="000000"/>
                          </a:solidFill>
                          <a:effectLst/>
                          <a:latin typeface="Arial" panose="020B0604020202020204" pitchFamily="34" charset="0"/>
                        </a:rPr>
                        <a:t>Model</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 </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Unstandardized</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Standard Error</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Standardized</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t</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p</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Lower</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Upper</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32754943"/>
                  </a:ext>
                </a:extLst>
              </a:tr>
              <a:tr h="0">
                <a:tc>
                  <a:txBody>
                    <a:bodyPr/>
                    <a:lstStyle/>
                    <a:p>
                      <a:pPr algn="l">
                        <a:buNone/>
                      </a:pPr>
                      <a:r>
                        <a:rPr lang="en-US" sz="1600" b="0">
                          <a:solidFill>
                            <a:srgbClr val="000000"/>
                          </a:solidFill>
                          <a:effectLst/>
                          <a:latin typeface="Arial" panose="020B0604020202020204" pitchFamily="34" charset="0"/>
                        </a:rPr>
                        <a:t>M₀</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l">
                        <a:buNone/>
                      </a:pPr>
                      <a:r>
                        <a:rPr lang="en-US" sz="1600" b="0">
                          <a:solidFill>
                            <a:srgbClr val="000000"/>
                          </a:solidFill>
                          <a:effectLst/>
                          <a:latin typeface="Arial" panose="020B0604020202020204" pitchFamily="34" charset="0"/>
                        </a:rPr>
                        <a:t>(Intercept)</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585.007</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2.614</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 </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223.792</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&lt; .001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579.875</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590.140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016871276"/>
                  </a:ext>
                </a:extLst>
              </a:tr>
              <a:tr h="0">
                <a:tc>
                  <a:txBody>
                    <a:bodyPr/>
                    <a:lstStyle/>
                    <a:p>
                      <a:pPr algn="l">
                        <a:buNone/>
                      </a:pPr>
                      <a:r>
                        <a:rPr lang="en-US" sz="1600" b="0">
                          <a:solidFill>
                            <a:srgbClr val="000000"/>
                          </a:solidFill>
                          <a:effectLst/>
                          <a:latin typeface="Arial" panose="020B0604020202020204" pitchFamily="34" charset="0"/>
                        </a:rPr>
                        <a:t>M₁</a:t>
                      </a:r>
                    </a:p>
                  </a:txBody>
                  <a:tcPr marL="114300" marR="114300" marT="102870" marB="28575" anchor="ctr">
                    <a:lnL>
                      <a:noFill/>
                    </a:lnL>
                    <a:lnR>
                      <a:noFill/>
                    </a:lnR>
                    <a:lnT>
                      <a:noFill/>
                    </a:lnT>
                    <a:lnB>
                      <a:noFill/>
                    </a:lnB>
                    <a:solidFill>
                      <a:srgbClr val="EBEBEB"/>
                    </a:solidFill>
                  </a:tcPr>
                </a:tc>
                <a:tc>
                  <a:txBody>
                    <a:bodyPr/>
                    <a:lstStyle/>
                    <a:p>
                      <a:pPr algn="l">
                        <a:buNone/>
                      </a:pPr>
                      <a:r>
                        <a:rPr lang="en-US" sz="1600" b="0">
                          <a:solidFill>
                            <a:srgbClr val="000000"/>
                          </a:solidFill>
                          <a:effectLst/>
                          <a:latin typeface="Arial" panose="020B0604020202020204" pitchFamily="34" charset="0"/>
                        </a:rPr>
                        <a:t>(Intercept)</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314.147</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19.477</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 </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16.129</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&lt; .001</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275.904</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352.389</a:t>
                      </a:r>
                    </a:p>
                  </a:txBody>
                  <a:tcPr marL="114300" marR="114300" marT="102870" marB="28575" anchor="ctr">
                    <a:lnL>
                      <a:noFill/>
                    </a:lnL>
                    <a:lnR>
                      <a:noFill/>
                    </a:lnR>
                    <a:lnT>
                      <a:noFill/>
                    </a:lnT>
                    <a:lnB>
                      <a:noFill/>
                    </a:lnB>
                    <a:solidFill>
                      <a:srgbClr val="EBEBEB"/>
                    </a:solidFill>
                  </a:tcPr>
                </a:tc>
                <a:extLst>
                  <a:ext uri="{0D108BD9-81ED-4DB2-BD59-A6C34878D82A}">
                    <a16:rowId xmlns:a16="http://schemas.microsoft.com/office/drawing/2014/main" val="2960342989"/>
                  </a:ext>
                </a:extLst>
              </a:tr>
              <a:tr h="0">
                <a:tc>
                  <a:txBody>
                    <a:bodyPr/>
                    <a:lstStyle/>
                    <a:p>
                      <a:pPr algn="l">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tc>
                  <a:txBody>
                    <a:bodyPr/>
                    <a:lstStyle/>
                    <a:p>
                      <a:pPr algn="l">
                        <a:buNone/>
                      </a:pPr>
                      <a:r>
                        <a:rPr lang="en-US" sz="1600" b="0" dirty="0" err="1">
                          <a:solidFill>
                            <a:srgbClr val="000000"/>
                          </a:solidFill>
                          <a:effectLst/>
                          <a:latin typeface="Arial" panose="020B0604020202020204" pitchFamily="34" charset="0"/>
                        </a:rPr>
                        <a:t>SAT_verbal</a:t>
                      </a:r>
                      <a:endParaRPr lang="en-US" sz="1600" b="0" dirty="0">
                        <a:solidFill>
                          <a:srgbClr val="000000"/>
                        </a:solidFill>
                        <a:effectLst/>
                        <a:latin typeface="Arial" panose="020B0604020202020204" pitchFamily="34" charset="0"/>
                      </a:endParaRPr>
                    </a:p>
                  </a:txBody>
                  <a:tcPr marL="114300" marR="114300" marT="9525" marB="28575" anchor="ctr">
                    <a:lnL>
                      <a:noFill/>
                    </a:lnL>
                    <a:lnR>
                      <a:noFill/>
                    </a:lnR>
                    <a:lnT>
                      <a:noFill/>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0.449</a:t>
                      </a:r>
                    </a:p>
                  </a:txBody>
                  <a:tcPr marL="114300" marR="114300" marT="9525" marB="28575" anchor="ctr">
                    <a:lnL>
                      <a:noFill/>
                    </a:lnL>
                    <a:lnR>
                      <a:noFill/>
                    </a:lnR>
                    <a:lnT>
                      <a:noFill/>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0.034</a:t>
                      </a:r>
                    </a:p>
                  </a:txBody>
                  <a:tcPr marL="114300" marR="114300" marT="9525" marB="28575" anchor="ctr">
                    <a:lnL>
                      <a:noFill/>
                    </a:lnL>
                    <a:lnR>
                      <a:noFill/>
                    </a:lnR>
                    <a:lnT>
                      <a:noFill/>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0.443</a:t>
                      </a:r>
                    </a:p>
                  </a:txBody>
                  <a:tcPr marL="114300" marR="114300" marT="9525" marB="28575" anchor="ctr">
                    <a:lnL>
                      <a:noFill/>
                    </a:lnL>
                    <a:lnR>
                      <a:noFill/>
                    </a:lnR>
                    <a:lnT>
                      <a:noFill/>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13.192</a:t>
                      </a:r>
                    </a:p>
                  </a:txBody>
                  <a:tcPr marL="114300" marR="114300" marT="9525" marB="28575" anchor="ctr">
                    <a:lnL>
                      <a:noFill/>
                    </a:lnL>
                    <a:lnR>
                      <a:noFill/>
                    </a:lnR>
                    <a:lnT>
                      <a:noFill/>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&lt; .001</a:t>
                      </a:r>
                    </a:p>
                  </a:txBody>
                  <a:tcPr marL="114300" marR="114300" marT="9525" marB="28575" anchor="ctr">
                    <a:lnL>
                      <a:noFill/>
                    </a:lnL>
                    <a:lnR>
                      <a:noFill/>
                    </a:lnR>
                    <a:lnT>
                      <a:noFill/>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0.382</a:t>
                      </a:r>
                    </a:p>
                  </a:txBody>
                  <a:tcPr marL="114300" marR="114300" marT="9525" marB="28575" anchor="ctr">
                    <a:lnL>
                      <a:noFill/>
                    </a:lnL>
                    <a:lnR>
                      <a:noFill/>
                    </a:lnR>
                    <a:lnT>
                      <a:noFill/>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0.515</a:t>
                      </a:r>
                    </a:p>
                  </a:txBody>
                  <a:tcPr marL="114300" marR="114300" marT="9525" marB="28575" anchor="ctr">
                    <a:lnL>
                      <a:noFill/>
                    </a:lnL>
                    <a:lnR>
                      <a:noFill/>
                    </a:lnR>
                    <a:lnT>
                      <a:noFill/>
                    </a:lnT>
                    <a:lnB>
                      <a:noFill/>
                    </a:lnB>
                    <a:solidFill>
                      <a:srgbClr val="FFFFFF"/>
                    </a:solidFill>
                  </a:tcPr>
                </a:tc>
                <a:extLst>
                  <a:ext uri="{0D108BD9-81ED-4DB2-BD59-A6C34878D82A}">
                    <a16:rowId xmlns:a16="http://schemas.microsoft.com/office/drawing/2014/main" val="2090375316"/>
                  </a:ext>
                </a:extLst>
              </a:tr>
              <a:tr h="0">
                <a:tc>
                  <a:txBody>
                    <a:bodyPr/>
                    <a:lstStyle/>
                    <a:p>
                      <a:pPr algn="l">
                        <a:spcAft>
                          <a:spcPts val="720"/>
                        </a:spcAft>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EBEBEB"/>
                    </a:solidFill>
                  </a:tcPr>
                </a:tc>
                <a:tc>
                  <a:txBody>
                    <a:bodyPr/>
                    <a:lstStyle/>
                    <a:p>
                      <a:pPr algn="l">
                        <a:spcAft>
                          <a:spcPts val="720"/>
                        </a:spcAft>
                        <a:buNone/>
                      </a:pPr>
                      <a:r>
                        <a:rPr lang="en-US" sz="1600" b="0">
                          <a:solidFill>
                            <a:srgbClr val="000000"/>
                          </a:solidFill>
                          <a:effectLst/>
                          <a:latin typeface="Arial" panose="020B0604020202020204" pitchFamily="34" charset="0"/>
                        </a:rPr>
                        <a:t>HS_class_size</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0.060</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0.013</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0.156</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4.656</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&lt; .001</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0.035</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0.086</a:t>
                      </a:r>
                    </a:p>
                  </a:txBody>
                  <a:tcPr marL="114300" marR="114300" marT="9525" marB="28575" anchor="ctr">
                    <a:lnL>
                      <a:noFill/>
                    </a:lnL>
                    <a:lnR>
                      <a:noFill/>
                    </a:lnR>
                    <a:lnT>
                      <a:noFill/>
                    </a:lnT>
                    <a:lnB>
                      <a:noFill/>
                    </a:lnB>
                    <a:solidFill>
                      <a:srgbClr val="EBEBEB"/>
                    </a:solidFill>
                  </a:tcPr>
                </a:tc>
                <a:extLst>
                  <a:ext uri="{0D108BD9-81ED-4DB2-BD59-A6C34878D82A}">
                    <a16:rowId xmlns:a16="http://schemas.microsoft.com/office/drawing/2014/main" val="1991004659"/>
                  </a:ext>
                </a:extLst>
              </a:tr>
              <a:tr h="0">
                <a:tc gridSpan="9">
                  <a:txBody>
                    <a:bodyPr/>
                    <a:lstStyle/>
                    <a:p>
                      <a:pPr algn="r">
                        <a:buNone/>
                      </a:pPr>
                      <a:endParaRPr lang="en-US" sz="1600" b="0" dirty="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223072"/>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604E514-62D5-2CD8-1B08-BC01852A8AFB}"/>
                  </a:ext>
                </a:extLst>
              </p:cNvPr>
              <p:cNvSpPr txBox="1"/>
              <p:nvPr/>
            </p:nvSpPr>
            <p:spPr>
              <a:xfrm>
                <a:off x="2298357" y="5724127"/>
                <a:ext cx="325291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𝑘</m:t>
                          </m:r>
                        </m:sub>
                      </m:sSub>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𝑘</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𝜀</m:t>
                      </m:r>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7" name="TextBox 6">
                <a:extLst>
                  <a:ext uri="{FF2B5EF4-FFF2-40B4-BE49-F238E27FC236}">
                    <a16:creationId xmlns:a16="http://schemas.microsoft.com/office/drawing/2014/main" id="{7604E514-62D5-2CD8-1B08-BC01852A8AFB}"/>
                  </a:ext>
                </a:extLst>
              </p:cNvPr>
              <p:cNvSpPr txBox="1">
                <a:spLocks noRot="1" noChangeAspect="1" noMove="1" noResize="1" noEditPoints="1" noAdjustHandles="1" noChangeArrowheads="1" noChangeShapeType="1" noTextEdit="1"/>
              </p:cNvSpPr>
              <p:nvPr/>
            </p:nvSpPr>
            <p:spPr>
              <a:xfrm>
                <a:off x="2298357" y="5724127"/>
                <a:ext cx="3252916" cy="369332"/>
              </a:xfrm>
              <a:prstGeom prst="rect">
                <a:avLst/>
              </a:prstGeom>
              <a:blipFill>
                <a:blip r:embed="rId4"/>
                <a:stretch>
                  <a:fillRect b="-11475"/>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3A403BEF-721D-2470-B4E3-C2ED285E6E76}"/>
              </a:ext>
            </a:extLst>
          </p:cNvPr>
          <p:cNvSpPr txBox="1"/>
          <p:nvPr/>
        </p:nvSpPr>
        <p:spPr>
          <a:xfrm>
            <a:off x="393974" y="5724127"/>
            <a:ext cx="200772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Recall the model is:</a:t>
            </a:r>
          </a:p>
        </p:txBody>
      </p:sp>
      <p:sp>
        <p:nvSpPr>
          <p:cNvPr id="11" name="TextBox 10">
            <a:extLst>
              <a:ext uri="{FF2B5EF4-FFF2-40B4-BE49-F238E27FC236}">
                <a16:creationId xmlns:a16="http://schemas.microsoft.com/office/drawing/2014/main" id="{4E971C13-3394-8A19-9AA2-3AFED733F571}"/>
              </a:ext>
            </a:extLst>
          </p:cNvPr>
          <p:cNvSpPr txBox="1"/>
          <p:nvPr/>
        </p:nvSpPr>
        <p:spPr>
          <a:xfrm>
            <a:off x="5508145" y="5724127"/>
            <a:ext cx="146886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Here,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k =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3FC75C8-D6E6-287F-1CF7-35E3C2DF0BE4}"/>
                  </a:ext>
                </a:extLst>
              </p:cNvPr>
              <p:cNvSpPr txBox="1"/>
              <p:nvPr/>
            </p:nvSpPr>
            <p:spPr>
              <a:xfrm>
                <a:off x="6623221" y="5699413"/>
                <a:ext cx="325291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sub>
                      </m:sSub>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𝜀</m:t>
                      </m:r>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2" name="TextBox 11">
                <a:extLst>
                  <a:ext uri="{FF2B5EF4-FFF2-40B4-BE49-F238E27FC236}">
                    <a16:creationId xmlns:a16="http://schemas.microsoft.com/office/drawing/2014/main" id="{B3FC75C8-D6E6-287F-1CF7-35E3C2DF0BE4}"/>
                  </a:ext>
                </a:extLst>
              </p:cNvPr>
              <p:cNvSpPr txBox="1">
                <a:spLocks noRot="1" noChangeAspect="1" noMove="1" noResize="1" noEditPoints="1" noAdjustHandles="1" noChangeArrowheads="1" noChangeShapeType="1" noTextEdit="1"/>
              </p:cNvSpPr>
              <p:nvPr/>
            </p:nvSpPr>
            <p:spPr>
              <a:xfrm>
                <a:off x="6623221" y="5699413"/>
                <a:ext cx="3252916" cy="369332"/>
              </a:xfrm>
              <a:prstGeom prst="rect">
                <a:avLst/>
              </a:prstGeom>
              <a:blipFill>
                <a:blip r:embed="rId5"/>
                <a:stretch>
                  <a:fillRect b="-11475"/>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DC0E6B87-027F-C28F-B40C-5035410A9EA0}"/>
              </a:ext>
            </a:extLst>
          </p:cNvPr>
          <p:cNvSpPr txBox="1"/>
          <p:nvPr/>
        </p:nvSpPr>
        <p:spPr>
          <a:xfrm>
            <a:off x="420130" y="6093459"/>
            <a:ext cx="691362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MATH SAT Score = 314.147 + .449VERBAL_SAT(</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X</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1</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.060CLASS_SIZE(</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X</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2</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sp>
        <p:nvSpPr>
          <p:cNvPr id="14" name="Rectangle 13">
            <a:extLst>
              <a:ext uri="{FF2B5EF4-FFF2-40B4-BE49-F238E27FC236}">
                <a16:creationId xmlns:a16="http://schemas.microsoft.com/office/drawing/2014/main" id="{9DB0A8A0-14B1-EDBF-4EAF-3133317B7DFB}"/>
              </a:ext>
            </a:extLst>
          </p:cNvPr>
          <p:cNvSpPr/>
          <p:nvPr/>
        </p:nvSpPr>
        <p:spPr>
          <a:xfrm>
            <a:off x="1068736" y="4522574"/>
            <a:ext cx="2856079" cy="92572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Arrow Connector 16">
            <a:extLst>
              <a:ext uri="{FF2B5EF4-FFF2-40B4-BE49-F238E27FC236}">
                <a16:creationId xmlns:a16="http://schemas.microsoft.com/office/drawing/2014/main" id="{7CA9E29B-D9F4-DE0B-D59B-FFD697ACA5A3}"/>
              </a:ext>
            </a:extLst>
          </p:cNvPr>
          <p:cNvCxnSpPr>
            <a:cxnSpLocks/>
            <a:stCxn id="14" idx="3"/>
            <a:endCxn id="18" idx="1"/>
          </p:cNvCxnSpPr>
          <p:nvPr/>
        </p:nvCxnSpPr>
        <p:spPr>
          <a:xfrm flipV="1">
            <a:off x="3924815" y="1585050"/>
            <a:ext cx="2186562" cy="3400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99C8F56-4B8F-4C35-D509-B9B0A8B06465}"/>
              </a:ext>
            </a:extLst>
          </p:cNvPr>
          <p:cNvSpPr txBox="1"/>
          <p:nvPr/>
        </p:nvSpPr>
        <p:spPr>
          <a:xfrm>
            <a:off x="6111377" y="0"/>
            <a:ext cx="5868229"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Notice there are now multiple independent variables in the model. This means that the effect of one variable on Y needs to be interpreted slightly different. The slope of a variable now represents the effect  after all other variables in the model are controlled.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Every 1 unit increase in SAT verbal score increases the MATH verbal score by .449 </a:t>
            </a:r>
            <a:r>
              <a:rPr kumimoji="0" lang="en-US" sz="2000" b="0" i="1" u="sng"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holding class size constant at its mean</a:t>
            </a:r>
          </a:p>
        </p:txBody>
      </p:sp>
      <p:sp>
        <p:nvSpPr>
          <p:cNvPr id="3" name="Rectangle 2">
            <a:extLst>
              <a:ext uri="{FF2B5EF4-FFF2-40B4-BE49-F238E27FC236}">
                <a16:creationId xmlns:a16="http://schemas.microsoft.com/office/drawing/2014/main" id="{D020B565-DC7B-E50D-BD7E-BD506CD3657E}"/>
              </a:ext>
            </a:extLst>
          </p:cNvPr>
          <p:cNvSpPr/>
          <p:nvPr/>
        </p:nvSpPr>
        <p:spPr>
          <a:xfrm>
            <a:off x="3192087" y="4804756"/>
            <a:ext cx="732728" cy="274320"/>
          </a:xfrm>
          <a:prstGeom prst="rect">
            <a:avLst/>
          </a:prstGeom>
          <a:noFill/>
          <a:ln>
            <a:solidFill>
              <a:schemeClr val="tx1">
                <a:lumMod val="95000"/>
                <a:lumOff val="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w="6600">
                <a:solidFill>
                  <a:srgbClr val="ED7D31"/>
                </a:solidFill>
                <a:prstDash val="solid"/>
              </a:ln>
              <a:solidFill>
                <a:srgbClr val="FFFFFF"/>
              </a:solidFill>
              <a:effectLst>
                <a:outerShdw dist="38100" dir="2700000" algn="tl" rotWithShape="0">
                  <a:srgbClr val="ED7D31"/>
                </a:outerShdw>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006DFDFE-F327-2288-3D7C-E865BACF8F25}"/>
              </a:ext>
            </a:extLst>
          </p:cNvPr>
          <p:cNvSpPr txBox="1"/>
          <p:nvPr/>
        </p:nvSpPr>
        <p:spPr>
          <a:xfrm>
            <a:off x="310436" y="840463"/>
            <a:ext cx="5240837" cy="19389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Note</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the relationship (i.e., correlation) between SAT math score and SAT verbal score is .449 </a:t>
            </a:r>
            <a:r>
              <a:rPr kumimoji="0" lang="en-US" sz="2000" b="0"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after controlling for class size</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That is, after the effect of class size is removed from the relationship between SAT and MATH score.</a:t>
            </a:r>
          </a:p>
        </p:txBody>
      </p:sp>
      <p:cxnSp>
        <p:nvCxnSpPr>
          <p:cNvPr id="6" name="Straight Arrow Connector 5">
            <a:extLst>
              <a:ext uri="{FF2B5EF4-FFF2-40B4-BE49-F238E27FC236}">
                <a16:creationId xmlns:a16="http://schemas.microsoft.com/office/drawing/2014/main" id="{52DC8037-19AC-909E-1B01-5A590EB4FA7E}"/>
              </a:ext>
            </a:extLst>
          </p:cNvPr>
          <p:cNvCxnSpPr>
            <a:cxnSpLocks/>
            <a:stCxn id="3" idx="3"/>
            <a:endCxn id="4" idx="2"/>
          </p:cNvCxnSpPr>
          <p:nvPr/>
        </p:nvCxnSpPr>
        <p:spPr>
          <a:xfrm flipH="1" flipV="1">
            <a:off x="2930855" y="2779455"/>
            <a:ext cx="993960" cy="2162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7015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1000" fill="hold"/>
                                        <p:tgtEl>
                                          <p:spTgt spid="3"/>
                                        </p:tgtEl>
                                        <p:attrNameLst>
                                          <p:attrName>ppt_w</p:attrName>
                                        </p:attrNameLst>
                                      </p:cBhvr>
                                      <p:tavLst>
                                        <p:tav tm="0">
                                          <p:val>
                                            <p:fltVal val="0"/>
                                          </p:val>
                                        </p:tav>
                                        <p:tav tm="100000">
                                          <p:val>
                                            <p:strVal val="#ppt_w"/>
                                          </p:val>
                                        </p:tav>
                                      </p:tavLst>
                                    </p:anim>
                                    <p:anim calcmode="lin" valueType="num">
                                      <p:cBhvr>
                                        <p:cTn id="14" dur="1000" fill="hold"/>
                                        <p:tgtEl>
                                          <p:spTgt spid="3"/>
                                        </p:tgtEl>
                                        <p:attrNameLst>
                                          <p:attrName>ppt_h</p:attrName>
                                        </p:attrNameLst>
                                      </p:cBhvr>
                                      <p:tavLst>
                                        <p:tav tm="0">
                                          <p:val>
                                            <p:fltVal val="0"/>
                                          </p:val>
                                        </p:tav>
                                        <p:tav tm="100000">
                                          <p:val>
                                            <p:strVal val="#ppt_h"/>
                                          </p:val>
                                        </p:tav>
                                      </p:tavLst>
                                    </p:anim>
                                    <p:anim calcmode="lin" valueType="num">
                                      <p:cBhvr>
                                        <p:cTn id="15" dur="1000" fill="hold"/>
                                        <p:tgtEl>
                                          <p:spTgt spid="3"/>
                                        </p:tgtEl>
                                        <p:attrNameLst>
                                          <p:attrName>style.rotation</p:attrName>
                                        </p:attrNameLst>
                                      </p:cBhvr>
                                      <p:tavLst>
                                        <p:tav tm="0">
                                          <p:val>
                                            <p:fltVal val="90"/>
                                          </p:val>
                                        </p:tav>
                                        <p:tav tm="100000">
                                          <p:val>
                                            <p:fltVal val="0"/>
                                          </p:val>
                                        </p:tav>
                                      </p:tavLst>
                                    </p:anim>
                                    <p:animEffect transition="in" filter="fade">
                                      <p:cBhvr>
                                        <p:cTn id="16" dur="10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 grpId="0" animBg="1"/>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19">
            <a:extLst>
              <a:ext uri="{FF2B5EF4-FFF2-40B4-BE49-F238E27FC236}">
                <a16:creationId xmlns:a16="http://schemas.microsoft.com/office/drawing/2014/main" id="{FAE083A5-2E8C-0B26-7C81-0C6D1A42DC32}"/>
              </a:ext>
            </a:extLst>
          </p:cNvPr>
          <p:cNvGraphicFramePr>
            <a:graphicFrameLocks/>
          </p:cNvGraphicFramePr>
          <p:nvPr/>
        </p:nvGraphicFramePr>
        <p:xfrm>
          <a:off x="513951" y="2862022"/>
          <a:ext cx="11267185" cy="2800350"/>
        </p:xfrm>
        <a:graphic>
          <a:graphicData uri="http://schemas.openxmlformats.org/drawingml/2006/table">
            <a:tbl>
              <a:tblPr/>
              <a:tblGrid>
                <a:gridCol w="722870">
                  <a:extLst>
                    <a:ext uri="{9D8B030D-6E8A-4147-A177-3AD203B41FA5}">
                      <a16:colId xmlns:a16="http://schemas.microsoft.com/office/drawing/2014/main" val="2439056403"/>
                    </a:ext>
                  </a:extLst>
                </a:gridCol>
                <a:gridCol w="1781175">
                  <a:extLst>
                    <a:ext uri="{9D8B030D-6E8A-4147-A177-3AD203B41FA5}">
                      <a16:colId xmlns:a16="http://schemas.microsoft.com/office/drawing/2014/main" val="3071121213"/>
                    </a:ext>
                  </a:extLst>
                </a:gridCol>
                <a:gridCol w="1001155">
                  <a:extLst>
                    <a:ext uri="{9D8B030D-6E8A-4147-A177-3AD203B41FA5}">
                      <a16:colId xmlns:a16="http://schemas.microsoft.com/office/drawing/2014/main" val="3058690076"/>
                    </a:ext>
                  </a:extLst>
                </a:gridCol>
                <a:gridCol w="1168400">
                  <a:extLst>
                    <a:ext uri="{9D8B030D-6E8A-4147-A177-3AD203B41FA5}">
                      <a16:colId xmlns:a16="http://schemas.microsoft.com/office/drawing/2014/main" val="1393401991"/>
                    </a:ext>
                  </a:extLst>
                </a:gridCol>
                <a:gridCol w="1488185">
                  <a:extLst>
                    <a:ext uri="{9D8B030D-6E8A-4147-A177-3AD203B41FA5}">
                      <a16:colId xmlns:a16="http://schemas.microsoft.com/office/drawing/2014/main" val="2630522891"/>
                    </a:ext>
                  </a:extLst>
                </a:gridCol>
                <a:gridCol w="1285875">
                  <a:extLst>
                    <a:ext uri="{9D8B030D-6E8A-4147-A177-3AD203B41FA5}">
                      <a16:colId xmlns:a16="http://schemas.microsoft.com/office/drawing/2014/main" val="966639539"/>
                    </a:ext>
                  </a:extLst>
                </a:gridCol>
                <a:gridCol w="1000125">
                  <a:extLst>
                    <a:ext uri="{9D8B030D-6E8A-4147-A177-3AD203B41FA5}">
                      <a16:colId xmlns:a16="http://schemas.microsoft.com/office/drawing/2014/main" val="3160143432"/>
                    </a:ext>
                  </a:extLst>
                </a:gridCol>
                <a:gridCol w="1144289">
                  <a:extLst>
                    <a:ext uri="{9D8B030D-6E8A-4147-A177-3AD203B41FA5}">
                      <a16:colId xmlns:a16="http://schemas.microsoft.com/office/drawing/2014/main" val="2869200059"/>
                    </a:ext>
                  </a:extLst>
                </a:gridCol>
                <a:gridCol w="1675111">
                  <a:extLst>
                    <a:ext uri="{9D8B030D-6E8A-4147-A177-3AD203B41FA5}">
                      <a16:colId xmlns:a16="http://schemas.microsoft.com/office/drawing/2014/main" val="1071525311"/>
                    </a:ext>
                  </a:extLst>
                </a:gridCol>
              </a:tblGrid>
              <a:tr h="0">
                <a:tc gridSpan="9">
                  <a:txBody>
                    <a:bodyPr/>
                    <a:lstStyle/>
                    <a:p>
                      <a:pPr algn="l">
                        <a:buNone/>
                      </a:pPr>
                      <a:r>
                        <a:rPr lang="en-US" sz="1600" b="0" i="1" dirty="0">
                          <a:solidFill>
                            <a:srgbClr val="000000"/>
                          </a:solidFill>
                          <a:effectLst/>
                          <a:latin typeface="Arial" panose="020B0604020202020204" pitchFamily="34" charset="0"/>
                        </a:rPr>
                        <a:t>Coefficients</a:t>
                      </a:r>
                      <a:r>
                        <a:rPr lang="en-US" sz="1600" b="0" dirty="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74050221"/>
                  </a:ext>
                </a:extLst>
              </a:tr>
              <a:tr h="0">
                <a:tc gridSpan="7">
                  <a:txBody>
                    <a:bodyPr/>
                    <a:lstStyle/>
                    <a:p>
                      <a:pPr algn="ctr">
                        <a:buNone/>
                      </a:pPr>
                      <a:endParaRPr lang="en-US" sz="1600" b="0" dirty="0">
                        <a:solidFill>
                          <a:srgbClr val="000000"/>
                        </a:solidFill>
                        <a:effectLst/>
                        <a:latin typeface="Arial" panose="020B0604020202020204" pitchFamily="34" charset="0"/>
                      </a:endParaRPr>
                    </a:p>
                  </a:txBody>
                  <a:tcPr marL="114300" marR="114300" marT="28575" marB="28575" anchor="ctr">
                    <a:lnL>
                      <a:noFill/>
                    </a:lnL>
                    <a:lnR>
                      <a:noFill/>
                    </a:lnR>
                    <a:lnT w="7934" cap="flat" cmpd="sng" algn="ctr">
                      <a:solidFill>
                        <a:srgbClr val="000000"/>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a:buNone/>
                      </a:pPr>
                      <a:r>
                        <a:rPr lang="en-US" sz="1600" b="0">
                          <a:solidFill>
                            <a:srgbClr val="000000"/>
                          </a:solidFill>
                          <a:effectLst/>
                          <a:latin typeface="Arial" panose="020B0604020202020204" pitchFamily="34" charset="0"/>
                        </a:rPr>
                        <a:t>95% CI</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716581214"/>
                  </a:ext>
                </a:extLst>
              </a:tr>
              <a:tr h="0">
                <a:tc>
                  <a:txBody>
                    <a:bodyPr/>
                    <a:lstStyle/>
                    <a:p>
                      <a:pPr algn="ctr">
                        <a:buNone/>
                      </a:pPr>
                      <a:r>
                        <a:rPr lang="en-US" sz="1600" b="0" dirty="0">
                          <a:solidFill>
                            <a:srgbClr val="000000"/>
                          </a:solidFill>
                          <a:effectLst/>
                          <a:latin typeface="Arial" panose="020B0604020202020204" pitchFamily="34" charset="0"/>
                        </a:rPr>
                        <a:t>Model</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 </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Unstandardized</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Standard Error</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Standardized</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t</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p</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Lower</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Upper</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32754943"/>
                  </a:ext>
                </a:extLst>
              </a:tr>
              <a:tr h="0">
                <a:tc>
                  <a:txBody>
                    <a:bodyPr/>
                    <a:lstStyle/>
                    <a:p>
                      <a:pPr algn="l">
                        <a:buNone/>
                      </a:pPr>
                      <a:r>
                        <a:rPr lang="en-US" sz="1600" b="0">
                          <a:solidFill>
                            <a:srgbClr val="000000"/>
                          </a:solidFill>
                          <a:effectLst/>
                          <a:latin typeface="Arial" panose="020B0604020202020204" pitchFamily="34" charset="0"/>
                        </a:rPr>
                        <a:t>M₀</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l">
                        <a:buNone/>
                      </a:pPr>
                      <a:r>
                        <a:rPr lang="en-US" sz="1600" b="0">
                          <a:solidFill>
                            <a:srgbClr val="000000"/>
                          </a:solidFill>
                          <a:effectLst/>
                          <a:latin typeface="Arial" panose="020B0604020202020204" pitchFamily="34" charset="0"/>
                        </a:rPr>
                        <a:t>(Intercept)</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585.007</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2.614</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 </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223.792</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&lt; .001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dirty="0">
                          <a:solidFill>
                            <a:srgbClr val="000000"/>
                          </a:solidFill>
                          <a:effectLst/>
                          <a:latin typeface="Arial" panose="020B0604020202020204" pitchFamily="34" charset="0"/>
                        </a:rPr>
                        <a:t>579.875</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590.140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016871276"/>
                  </a:ext>
                </a:extLst>
              </a:tr>
              <a:tr h="0">
                <a:tc>
                  <a:txBody>
                    <a:bodyPr/>
                    <a:lstStyle/>
                    <a:p>
                      <a:pPr algn="l">
                        <a:buNone/>
                      </a:pPr>
                      <a:r>
                        <a:rPr lang="en-US" sz="1600" b="0">
                          <a:solidFill>
                            <a:srgbClr val="000000"/>
                          </a:solidFill>
                          <a:effectLst/>
                          <a:latin typeface="Arial" panose="020B0604020202020204" pitchFamily="34" charset="0"/>
                        </a:rPr>
                        <a:t>M₁</a:t>
                      </a:r>
                    </a:p>
                  </a:txBody>
                  <a:tcPr marL="114300" marR="114300" marT="102870" marB="28575" anchor="ctr">
                    <a:lnL>
                      <a:noFill/>
                    </a:lnL>
                    <a:lnR>
                      <a:noFill/>
                    </a:lnR>
                    <a:lnT>
                      <a:noFill/>
                    </a:lnT>
                    <a:lnB>
                      <a:noFill/>
                    </a:lnB>
                    <a:solidFill>
                      <a:srgbClr val="EBEBEB"/>
                    </a:solidFill>
                  </a:tcPr>
                </a:tc>
                <a:tc>
                  <a:txBody>
                    <a:bodyPr/>
                    <a:lstStyle/>
                    <a:p>
                      <a:pPr algn="l">
                        <a:buNone/>
                      </a:pPr>
                      <a:r>
                        <a:rPr lang="en-US" sz="1600" b="0">
                          <a:solidFill>
                            <a:srgbClr val="000000"/>
                          </a:solidFill>
                          <a:effectLst/>
                          <a:latin typeface="Arial" panose="020B0604020202020204" pitchFamily="34" charset="0"/>
                        </a:rPr>
                        <a:t>(Intercept)</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314.147</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19.477</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 </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16.129</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&lt; .001</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275.904</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352.389</a:t>
                      </a:r>
                    </a:p>
                  </a:txBody>
                  <a:tcPr marL="114300" marR="114300" marT="102870" marB="28575" anchor="ctr">
                    <a:lnL>
                      <a:noFill/>
                    </a:lnL>
                    <a:lnR>
                      <a:noFill/>
                    </a:lnR>
                    <a:lnT>
                      <a:noFill/>
                    </a:lnT>
                    <a:lnB>
                      <a:noFill/>
                    </a:lnB>
                    <a:solidFill>
                      <a:srgbClr val="EBEBEB"/>
                    </a:solidFill>
                  </a:tcPr>
                </a:tc>
                <a:extLst>
                  <a:ext uri="{0D108BD9-81ED-4DB2-BD59-A6C34878D82A}">
                    <a16:rowId xmlns:a16="http://schemas.microsoft.com/office/drawing/2014/main" val="2960342989"/>
                  </a:ext>
                </a:extLst>
              </a:tr>
              <a:tr h="0">
                <a:tc>
                  <a:txBody>
                    <a:bodyPr/>
                    <a:lstStyle/>
                    <a:p>
                      <a:pPr algn="l">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tc>
                  <a:txBody>
                    <a:bodyPr/>
                    <a:lstStyle/>
                    <a:p>
                      <a:pPr algn="l">
                        <a:buNone/>
                      </a:pPr>
                      <a:r>
                        <a:rPr lang="en-US" sz="1600" b="0" dirty="0" err="1">
                          <a:solidFill>
                            <a:srgbClr val="000000"/>
                          </a:solidFill>
                          <a:effectLst/>
                          <a:latin typeface="Arial" panose="020B0604020202020204" pitchFamily="34" charset="0"/>
                        </a:rPr>
                        <a:t>SAT_verbal</a:t>
                      </a:r>
                      <a:endParaRPr lang="en-US" sz="1600" b="0" dirty="0">
                        <a:solidFill>
                          <a:srgbClr val="000000"/>
                        </a:solidFill>
                        <a:effectLst/>
                        <a:latin typeface="Arial" panose="020B0604020202020204" pitchFamily="34" charset="0"/>
                      </a:endParaRPr>
                    </a:p>
                  </a:txBody>
                  <a:tcPr marL="114300" marR="114300" marT="9525" marB="28575" anchor="ctr">
                    <a:lnL>
                      <a:noFill/>
                    </a:lnL>
                    <a:lnR>
                      <a:noFill/>
                    </a:lnR>
                    <a:lnT>
                      <a:noFill/>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0.449</a:t>
                      </a:r>
                    </a:p>
                  </a:txBody>
                  <a:tcPr marL="114300" marR="114300" marT="9525" marB="28575" anchor="ctr">
                    <a:lnL>
                      <a:noFill/>
                    </a:lnL>
                    <a:lnR>
                      <a:noFill/>
                    </a:lnR>
                    <a:lnT>
                      <a:noFill/>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0.034</a:t>
                      </a:r>
                    </a:p>
                  </a:txBody>
                  <a:tcPr marL="114300" marR="114300" marT="9525" marB="28575" anchor="ctr">
                    <a:lnL>
                      <a:noFill/>
                    </a:lnL>
                    <a:lnR>
                      <a:noFill/>
                    </a:lnR>
                    <a:lnT>
                      <a:noFill/>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0.443</a:t>
                      </a:r>
                    </a:p>
                  </a:txBody>
                  <a:tcPr marL="114300" marR="114300" marT="9525" marB="28575" anchor="ctr">
                    <a:lnL>
                      <a:noFill/>
                    </a:lnL>
                    <a:lnR>
                      <a:noFill/>
                    </a:lnR>
                    <a:lnT>
                      <a:noFill/>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13.192</a:t>
                      </a:r>
                    </a:p>
                  </a:txBody>
                  <a:tcPr marL="114300" marR="114300" marT="9525" marB="28575" anchor="ctr">
                    <a:lnL>
                      <a:noFill/>
                    </a:lnL>
                    <a:lnR>
                      <a:noFill/>
                    </a:lnR>
                    <a:lnT>
                      <a:noFill/>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&lt; .001</a:t>
                      </a:r>
                    </a:p>
                  </a:txBody>
                  <a:tcPr marL="114300" marR="114300" marT="9525" marB="28575" anchor="ctr">
                    <a:lnL>
                      <a:noFill/>
                    </a:lnL>
                    <a:lnR>
                      <a:noFill/>
                    </a:lnR>
                    <a:lnT>
                      <a:noFill/>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0.382</a:t>
                      </a:r>
                    </a:p>
                  </a:txBody>
                  <a:tcPr marL="114300" marR="114300" marT="9525" marB="28575" anchor="ctr">
                    <a:lnL>
                      <a:noFill/>
                    </a:lnL>
                    <a:lnR>
                      <a:noFill/>
                    </a:lnR>
                    <a:lnT>
                      <a:noFill/>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0.515</a:t>
                      </a:r>
                    </a:p>
                  </a:txBody>
                  <a:tcPr marL="114300" marR="114300" marT="9525" marB="28575" anchor="ctr">
                    <a:lnL>
                      <a:noFill/>
                    </a:lnL>
                    <a:lnR>
                      <a:noFill/>
                    </a:lnR>
                    <a:lnT>
                      <a:noFill/>
                    </a:lnT>
                    <a:lnB>
                      <a:noFill/>
                    </a:lnB>
                    <a:solidFill>
                      <a:srgbClr val="FFFFFF"/>
                    </a:solidFill>
                  </a:tcPr>
                </a:tc>
                <a:extLst>
                  <a:ext uri="{0D108BD9-81ED-4DB2-BD59-A6C34878D82A}">
                    <a16:rowId xmlns:a16="http://schemas.microsoft.com/office/drawing/2014/main" val="2090375316"/>
                  </a:ext>
                </a:extLst>
              </a:tr>
              <a:tr h="0">
                <a:tc>
                  <a:txBody>
                    <a:bodyPr/>
                    <a:lstStyle/>
                    <a:p>
                      <a:pPr algn="l">
                        <a:spcAft>
                          <a:spcPts val="720"/>
                        </a:spcAft>
                        <a:buNone/>
                      </a:pPr>
                      <a:r>
                        <a:rPr lang="en-US" sz="16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EBEBEB"/>
                    </a:solidFill>
                  </a:tcPr>
                </a:tc>
                <a:tc>
                  <a:txBody>
                    <a:bodyPr/>
                    <a:lstStyle/>
                    <a:p>
                      <a:pPr algn="l">
                        <a:spcAft>
                          <a:spcPts val="720"/>
                        </a:spcAft>
                        <a:buNone/>
                      </a:pPr>
                      <a:r>
                        <a:rPr lang="en-US" sz="1600" b="0">
                          <a:solidFill>
                            <a:srgbClr val="000000"/>
                          </a:solidFill>
                          <a:effectLst/>
                          <a:latin typeface="Arial" panose="020B0604020202020204" pitchFamily="34" charset="0"/>
                        </a:rPr>
                        <a:t>HS_class_size</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0.060</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0.013</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0.156</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4.656</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&lt; .001</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0.035</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0.086</a:t>
                      </a:r>
                    </a:p>
                  </a:txBody>
                  <a:tcPr marL="114300" marR="114300" marT="9525" marB="28575" anchor="ctr">
                    <a:lnL>
                      <a:noFill/>
                    </a:lnL>
                    <a:lnR>
                      <a:noFill/>
                    </a:lnR>
                    <a:lnT>
                      <a:noFill/>
                    </a:lnT>
                    <a:lnB>
                      <a:noFill/>
                    </a:lnB>
                    <a:solidFill>
                      <a:srgbClr val="EBEBEB"/>
                    </a:solidFill>
                  </a:tcPr>
                </a:tc>
                <a:extLst>
                  <a:ext uri="{0D108BD9-81ED-4DB2-BD59-A6C34878D82A}">
                    <a16:rowId xmlns:a16="http://schemas.microsoft.com/office/drawing/2014/main" val="1991004659"/>
                  </a:ext>
                </a:extLst>
              </a:tr>
              <a:tr h="0">
                <a:tc gridSpan="9">
                  <a:txBody>
                    <a:bodyPr/>
                    <a:lstStyle/>
                    <a:p>
                      <a:pPr algn="r">
                        <a:buNone/>
                      </a:pPr>
                      <a:endParaRPr lang="en-US" sz="1600" b="0" dirty="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223072"/>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604E514-62D5-2CD8-1B08-BC01852A8AFB}"/>
                  </a:ext>
                </a:extLst>
              </p:cNvPr>
              <p:cNvSpPr txBox="1"/>
              <p:nvPr/>
            </p:nvSpPr>
            <p:spPr>
              <a:xfrm>
                <a:off x="2770677" y="382595"/>
                <a:ext cx="444419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0</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𝑘</m:t>
                          </m:r>
                        </m:sub>
                      </m:sSub>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𝜀</m:t>
                      </m:r>
                    </m:oMath>
                  </m:oMathPara>
                </a14:m>
                <a:endParaRPr kumimoji="0" lang="en-US" sz="2400" b="0" i="0" u="none" strike="noStrike" kern="1200" cap="none" spc="0" normalizeH="0" baseline="0" noProof="0" dirty="0">
                  <a:ln>
                    <a:noFill/>
                  </a:ln>
                  <a:solidFill>
                    <a:prstClr val="black"/>
                  </a:solidFill>
                  <a:effectLst/>
                  <a:uLnTx/>
                  <a:uFillTx/>
                  <a:latin typeface="Calibri" panose="020F0502020204030204"/>
                  <a:cs typeface="+mn-cs"/>
                </a:endParaRPr>
              </a:p>
            </p:txBody>
          </p:sp>
        </mc:Choice>
        <mc:Fallback xmlns="">
          <p:sp>
            <p:nvSpPr>
              <p:cNvPr id="7" name="TextBox 6">
                <a:extLst>
                  <a:ext uri="{FF2B5EF4-FFF2-40B4-BE49-F238E27FC236}">
                    <a16:creationId xmlns:a16="http://schemas.microsoft.com/office/drawing/2014/main" id="{7604E514-62D5-2CD8-1B08-BC01852A8AFB}"/>
                  </a:ext>
                </a:extLst>
              </p:cNvPr>
              <p:cNvSpPr txBox="1">
                <a:spLocks noRot="1" noChangeAspect="1" noMove="1" noResize="1" noEditPoints="1" noAdjustHandles="1" noChangeArrowheads="1" noChangeShapeType="1" noTextEdit="1"/>
              </p:cNvSpPr>
              <p:nvPr/>
            </p:nvSpPr>
            <p:spPr>
              <a:xfrm>
                <a:off x="2770677" y="382595"/>
                <a:ext cx="4444197" cy="461665"/>
              </a:xfrm>
              <a:prstGeom prst="rect">
                <a:avLst/>
              </a:prstGeom>
              <a:blipFill>
                <a:blip r:embed="rId2"/>
                <a:stretch>
                  <a:fillRect b="-18667"/>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3A403BEF-721D-2470-B4E3-C2ED285E6E76}"/>
              </a:ext>
            </a:extLst>
          </p:cNvPr>
          <p:cNvSpPr txBox="1"/>
          <p:nvPr/>
        </p:nvSpPr>
        <p:spPr>
          <a:xfrm>
            <a:off x="143745" y="410087"/>
            <a:ext cx="287290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Recall the model is:</a:t>
            </a:r>
          </a:p>
        </p:txBody>
      </p:sp>
      <p:sp>
        <p:nvSpPr>
          <p:cNvPr id="11" name="TextBox 10">
            <a:extLst>
              <a:ext uri="{FF2B5EF4-FFF2-40B4-BE49-F238E27FC236}">
                <a16:creationId xmlns:a16="http://schemas.microsoft.com/office/drawing/2014/main" id="{4E971C13-3394-8A19-9AA2-3AFED733F571}"/>
              </a:ext>
            </a:extLst>
          </p:cNvPr>
          <p:cNvSpPr txBox="1"/>
          <p:nvPr/>
        </p:nvSpPr>
        <p:spPr>
          <a:xfrm>
            <a:off x="143745" y="991166"/>
            <a:ext cx="208422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Here, </a:t>
            </a:r>
            <a:r>
              <a:rPr kumimoji="0" lang="en-US" sz="2400" b="0"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k = </a:t>
            </a: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2 </a:t>
            </a: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sym typeface="Wingdings" panose="05000000000000000000" pitchFamily="2" charset="2"/>
              </a:rPr>
              <a:t></a:t>
            </a:r>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3FC75C8-D6E6-287F-1CF7-35E3C2DF0BE4}"/>
                  </a:ext>
                </a:extLst>
              </p:cNvPr>
              <p:cNvSpPr txBox="1"/>
              <p:nvPr/>
            </p:nvSpPr>
            <p:spPr>
              <a:xfrm>
                <a:off x="2699777" y="993253"/>
                <a:ext cx="408981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0</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sub>
                      </m:sSub>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𝜀</m:t>
                      </m:r>
                    </m:oMath>
                  </m:oMathPara>
                </a14:m>
                <a:endParaRPr kumimoji="0" lang="en-US" sz="2400" b="0" i="0" u="none" strike="noStrike" kern="1200" cap="none" spc="0" normalizeH="0" baseline="0" noProof="0" dirty="0">
                  <a:ln>
                    <a:noFill/>
                  </a:ln>
                  <a:solidFill>
                    <a:prstClr val="black"/>
                  </a:solidFill>
                  <a:effectLst/>
                  <a:uLnTx/>
                  <a:uFillTx/>
                  <a:latin typeface="Calibri" panose="020F0502020204030204"/>
                  <a:cs typeface="+mn-cs"/>
                </a:endParaRPr>
              </a:p>
            </p:txBody>
          </p:sp>
        </mc:Choice>
        <mc:Fallback xmlns="">
          <p:sp>
            <p:nvSpPr>
              <p:cNvPr id="12" name="TextBox 11">
                <a:extLst>
                  <a:ext uri="{FF2B5EF4-FFF2-40B4-BE49-F238E27FC236}">
                    <a16:creationId xmlns:a16="http://schemas.microsoft.com/office/drawing/2014/main" id="{B3FC75C8-D6E6-287F-1CF7-35E3C2DF0BE4}"/>
                  </a:ext>
                </a:extLst>
              </p:cNvPr>
              <p:cNvSpPr txBox="1">
                <a:spLocks noRot="1" noChangeAspect="1" noMove="1" noResize="1" noEditPoints="1" noAdjustHandles="1" noChangeArrowheads="1" noChangeShapeType="1" noTextEdit="1"/>
              </p:cNvSpPr>
              <p:nvPr/>
            </p:nvSpPr>
            <p:spPr>
              <a:xfrm>
                <a:off x="2699777" y="993253"/>
                <a:ext cx="4089817" cy="461665"/>
              </a:xfrm>
              <a:prstGeom prst="rect">
                <a:avLst/>
              </a:prstGeom>
              <a:blipFill>
                <a:blip r:embed="rId3"/>
                <a:stretch>
                  <a:fillRect b="-17105"/>
                </a:stretch>
              </a:blipFill>
            </p:spPr>
            <p:txBody>
              <a:bodyPr/>
              <a:lstStyle/>
              <a:p>
                <a:r>
                  <a:rPr lang="en-US">
                    <a:noFill/>
                  </a:rPr>
                  <a:t> </a:t>
                </a:r>
              </a:p>
            </p:txBody>
          </p:sp>
        </mc:Fallback>
      </mc:AlternateContent>
      <p:sp>
        <p:nvSpPr>
          <p:cNvPr id="14" name="Rectangle 13">
            <a:extLst>
              <a:ext uri="{FF2B5EF4-FFF2-40B4-BE49-F238E27FC236}">
                <a16:creationId xmlns:a16="http://schemas.microsoft.com/office/drawing/2014/main" id="{9DB0A8A0-14B1-EDBF-4EAF-3133317B7DFB}"/>
              </a:ext>
            </a:extLst>
          </p:cNvPr>
          <p:cNvSpPr/>
          <p:nvPr/>
        </p:nvSpPr>
        <p:spPr>
          <a:xfrm>
            <a:off x="6789594" y="3613050"/>
            <a:ext cx="2078181" cy="36216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7CE4B3CA-63A6-1F4D-C77D-7AF95D5BA80D}"/>
              </a:ext>
            </a:extLst>
          </p:cNvPr>
          <p:cNvSpPr/>
          <p:nvPr/>
        </p:nvSpPr>
        <p:spPr>
          <a:xfrm>
            <a:off x="9047019" y="3613050"/>
            <a:ext cx="2587211" cy="3621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Arrow Connector 16">
            <a:extLst>
              <a:ext uri="{FF2B5EF4-FFF2-40B4-BE49-F238E27FC236}">
                <a16:creationId xmlns:a16="http://schemas.microsoft.com/office/drawing/2014/main" id="{7CA9E29B-D9F4-DE0B-D59B-FFD697ACA5A3}"/>
              </a:ext>
            </a:extLst>
          </p:cNvPr>
          <p:cNvCxnSpPr>
            <a:cxnSpLocks/>
            <a:stCxn id="15" idx="2"/>
            <a:endCxn id="18" idx="0"/>
          </p:cNvCxnSpPr>
          <p:nvPr/>
        </p:nvCxnSpPr>
        <p:spPr>
          <a:xfrm>
            <a:off x="10340625" y="3975217"/>
            <a:ext cx="523086" cy="20643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99C8F56-4B8F-4C35-D509-B9B0A8B06465}"/>
              </a:ext>
            </a:extLst>
          </p:cNvPr>
          <p:cNvSpPr txBox="1"/>
          <p:nvPr/>
        </p:nvSpPr>
        <p:spPr>
          <a:xfrm>
            <a:off x="9609201" y="6039559"/>
            <a:ext cx="250902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Confidence intervals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for the coefficients</a:t>
            </a:r>
          </a:p>
        </p:txBody>
      </p:sp>
      <p:sp>
        <p:nvSpPr>
          <p:cNvPr id="20" name="Rectangle 19">
            <a:extLst>
              <a:ext uri="{FF2B5EF4-FFF2-40B4-BE49-F238E27FC236}">
                <a16:creationId xmlns:a16="http://schemas.microsoft.com/office/drawing/2014/main" id="{A83775D8-93B5-1BE1-8D00-B1EE3DE54E9E}"/>
              </a:ext>
            </a:extLst>
          </p:cNvPr>
          <p:cNvSpPr/>
          <p:nvPr/>
        </p:nvSpPr>
        <p:spPr>
          <a:xfrm>
            <a:off x="5257800" y="3509929"/>
            <a:ext cx="1352550" cy="46946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Arrow Connector 21">
            <a:extLst>
              <a:ext uri="{FF2B5EF4-FFF2-40B4-BE49-F238E27FC236}">
                <a16:creationId xmlns:a16="http://schemas.microsoft.com/office/drawing/2014/main" id="{6D855672-4C87-FED2-321A-5073F1D0F3F3}"/>
              </a:ext>
            </a:extLst>
          </p:cNvPr>
          <p:cNvCxnSpPr>
            <a:cxnSpLocks/>
            <a:stCxn id="20" idx="0"/>
            <a:endCxn id="23" idx="1"/>
          </p:cNvCxnSpPr>
          <p:nvPr/>
        </p:nvCxnSpPr>
        <p:spPr>
          <a:xfrm flipV="1">
            <a:off x="5934075" y="1474801"/>
            <a:ext cx="1894467" cy="2035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B32319E-F395-EB36-B5C9-6CEC65EE152C}"/>
              </a:ext>
            </a:extLst>
          </p:cNvPr>
          <p:cNvSpPr txBox="1"/>
          <p:nvPr/>
        </p:nvSpPr>
        <p:spPr>
          <a:xfrm>
            <a:off x="7828542" y="43640"/>
            <a:ext cx="3710115" cy="28623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This is the standardized beta coefficient. This statistic puts the coefficients on the same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“footing” and hence it can be used to compare the strength of the coefficients, indicating which variable is more meaningfully related to the dependent variable.</a:t>
            </a:r>
          </a:p>
        </p:txBody>
      </p:sp>
    </p:spTree>
    <p:extLst>
      <p:ext uri="{BB962C8B-B14F-4D97-AF65-F5344CB8AC3E}">
        <p14:creationId xmlns:p14="http://schemas.microsoft.com/office/powerpoint/2010/main" val="1539902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ppt_x"/>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additive="base">
                                        <p:cTn id="29" dur="500" fill="hold"/>
                                        <p:tgtEl>
                                          <p:spTgt spid="18"/>
                                        </p:tgtEl>
                                        <p:attrNameLst>
                                          <p:attrName>ppt_x</p:attrName>
                                        </p:attrNameLst>
                                      </p:cBhvr>
                                      <p:tavLst>
                                        <p:tav tm="0">
                                          <p:val>
                                            <p:strVal val="#ppt_x"/>
                                          </p:val>
                                        </p:tav>
                                        <p:tav tm="100000">
                                          <p:val>
                                            <p:strVal val="#ppt_x"/>
                                          </p:val>
                                        </p:tav>
                                      </p:tavLst>
                                    </p:anim>
                                    <p:anim calcmode="lin" valueType="num">
                                      <p:cBhvr additive="base">
                                        <p:cTn id="30" dur="500" fill="hold"/>
                                        <p:tgtEl>
                                          <p:spTgt spid="18"/>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additive="base">
                                        <p:cTn id="33" dur="500" fill="hold"/>
                                        <p:tgtEl>
                                          <p:spTgt spid="17"/>
                                        </p:tgtEl>
                                        <p:attrNameLst>
                                          <p:attrName>ppt_x</p:attrName>
                                        </p:attrNameLst>
                                      </p:cBhvr>
                                      <p:tavLst>
                                        <p:tav tm="0">
                                          <p:val>
                                            <p:strVal val="#ppt_x"/>
                                          </p:val>
                                        </p:tav>
                                        <p:tav tm="100000">
                                          <p:val>
                                            <p:strVal val="#ppt_x"/>
                                          </p:val>
                                        </p:tav>
                                      </p:tavLst>
                                    </p:anim>
                                    <p:anim calcmode="lin" valueType="num">
                                      <p:cBhvr additive="base">
                                        <p:cTn id="3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500" fill="hold"/>
                                        <p:tgtEl>
                                          <p:spTgt spid="20"/>
                                        </p:tgtEl>
                                        <p:attrNameLst>
                                          <p:attrName>ppt_x</p:attrName>
                                        </p:attrNameLst>
                                      </p:cBhvr>
                                      <p:tavLst>
                                        <p:tav tm="0">
                                          <p:val>
                                            <p:strVal val="#ppt_x"/>
                                          </p:val>
                                        </p:tav>
                                        <p:tav tm="100000">
                                          <p:val>
                                            <p:strVal val="#ppt_x"/>
                                          </p:val>
                                        </p:tav>
                                      </p:tavLst>
                                    </p:anim>
                                    <p:anim calcmode="lin" valueType="num">
                                      <p:cBhvr additive="base">
                                        <p:cTn id="4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 calcmode="lin" valueType="num">
                                      <p:cBhvr additive="base">
                                        <p:cTn id="45" dur="500" fill="hold"/>
                                        <p:tgtEl>
                                          <p:spTgt spid="22"/>
                                        </p:tgtEl>
                                        <p:attrNameLst>
                                          <p:attrName>ppt_x</p:attrName>
                                        </p:attrNameLst>
                                      </p:cBhvr>
                                      <p:tavLst>
                                        <p:tav tm="0">
                                          <p:val>
                                            <p:strVal val="#ppt_x"/>
                                          </p:val>
                                        </p:tav>
                                        <p:tav tm="100000">
                                          <p:val>
                                            <p:strVal val="#ppt_x"/>
                                          </p:val>
                                        </p:tav>
                                      </p:tavLst>
                                    </p:anim>
                                    <p:anim calcmode="lin" valueType="num">
                                      <p:cBhvr additive="base">
                                        <p:cTn id="46" dur="500" fill="hold"/>
                                        <p:tgtEl>
                                          <p:spTgt spid="22"/>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 calcmode="lin" valueType="num">
                                      <p:cBhvr additive="base">
                                        <p:cTn id="49" dur="500" fill="hold"/>
                                        <p:tgtEl>
                                          <p:spTgt spid="23"/>
                                        </p:tgtEl>
                                        <p:attrNameLst>
                                          <p:attrName>ppt_x</p:attrName>
                                        </p:attrNameLst>
                                      </p:cBhvr>
                                      <p:tavLst>
                                        <p:tav tm="0">
                                          <p:val>
                                            <p:strVal val="#ppt_x"/>
                                          </p:val>
                                        </p:tav>
                                        <p:tav tm="100000">
                                          <p:val>
                                            <p:strVal val="#ppt_x"/>
                                          </p:val>
                                        </p:tav>
                                      </p:tavLst>
                                    </p:anim>
                                    <p:anim calcmode="lin" valueType="num">
                                      <p:cBhvr additive="base">
                                        <p:cTn id="5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4" grpId="0" animBg="1"/>
      <p:bldP spid="15" grpId="0" animBg="1"/>
      <p:bldP spid="18" grpId="0"/>
      <p:bldP spid="20" grpId="0" animBg="1"/>
      <p:bldP spid="2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BF5DC-EF30-57AF-9188-270E6723EC59}"/>
              </a:ext>
            </a:extLst>
          </p:cNvPr>
          <p:cNvSpPr>
            <a:spLocks noGrp="1"/>
          </p:cNvSpPr>
          <p:nvPr>
            <p:ph type="title"/>
          </p:nvPr>
        </p:nvSpPr>
        <p:spPr>
          <a:xfrm>
            <a:off x="114077" y="113168"/>
            <a:ext cx="10646968" cy="1135737"/>
          </a:xfrm>
        </p:spPr>
        <p:txBody>
          <a:bodyPr>
            <a:noAutofit/>
          </a:bodyPr>
          <a:lstStyle/>
          <a:p>
            <a:r>
              <a:rPr lang="en-US" sz="3600" dirty="0">
                <a:latin typeface="Arial" panose="020B0604020202020204" pitchFamily="34" charset="0"/>
                <a:cs typeface="Arial" panose="020B0604020202020204" pitchFamily="34" charset="0"/>
              </a:rPr>
              <a:t>Factors affecting the width of the CI:</a:t>
            </a:r>
            <a:br>
              <a:rPr lang="en-US" sz="3600" dirty="0">
                <a:latin typeface="Arial" panose="020B0604020202020204" pitchFamily="34" charset="0"/>
                <a:cs typeface="Arial" panose="020B0604020202020204" pitchFamily="34" charset="0"/>
              </a:rPr>
            </a:br>
            <a:r>
              <a:rPr lang="en-US" sz="2800" i="1" dirty="0">
                <a:latin typeface="Arial" panose="020B0604020202020204" pitchFamily="34" charset="0"/>
                <a:cs typeface="Arial" panose="020B0604020202020204" pitchFamily="34" charset="0"/>
              </a:rPr>
              <a:t>Making the interval as narrow as possible</a:t>
            </a:r>
            <a:endParaRPr lang="en-US" sz="3600" i="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C070D1-A898-C8A3-6112-CA81173A0D8C}"/>
                  </a:ext>
                </a:extLst>
              </p:cNvPr>
              <p:cNvSpPr>
                <a:spLocks noGrp="1"/>
              </p:cNvSpPr>
              <p:nvPr>
                <p:ph idx="1"/>
              </p:nvPr>
            </p:nvSpPr>
            <p:spPr>
              <a:xfrm>
                <a:off x="248831" y="1232009"/>
                <a:ext cx="10742990" cy="4393982"/>
              </a:xfrm>
            </p:spPr>
            <p:txBody>
              <a:bodyPr>
                <a:normAutofit/>
              </a:bodyPr>
              <a:lstStyle/>
              <a:p>
                <a:r>
                  <a:rPr lang="en-US" sz="2000" dirty="0">
                    <a:latin typeface="Arial" panose="020B0604020202020204" pitchFamily="34" charset="0"/>
                    <a:cs typeface="Arial" panose="020B0604020202020204" pitchFamily="34" charset="0"/>
                  </a:rPr>
                  <a:t>As the confidence level decreases, the width of the interval decreases</a:t>
                </a:r>
              </a:p>
              <a:p>
                <a:pPr lvl="1"/>
                <a:r>
                  <a:rPr lang="en-US" sz="2000" dirty="0">
                    <a:latin typeface="Arial" panose="020B0604020202020204" pitchFamily="34" charset="0"/>
                    <a:cs typeface="Arial" panose="020B0604020202020204" pitchFamily="34" charset="0"/>
                  </a:rPr>
                  <a:t>Compare </a:t>
                </a:r>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𝑏</m:t>
                        </m:r>
                      </m:e>
                      <m:sub>
                        <m:r>
                          <a:rPr lang="en-US" sz="2000" b="0" i="1">
                            <a:latin typeface="Cambria Math" panose="02040503050406030204" pitchFamily="18" charset="0"/>
                            <a:ea typeface="Cambria Math" panose="02040503050406030204" pitchFamily="18" charset="0"/>
                          </a:rPr>
                          <m:t>1</m:t>
                        </m:r>
                      </m:sub>
                    </m:sSub>
                    <m:r>
                      <a:rPr lang="en-US" sz="2000" b="0" i="1">
                        <a:latin typeface="Cambria Math" panose="02040503050406030204" pitchFamily="18" charset="0"/>
                        <a:ea typeface="Cambria Math" panose="02040503050406030204" pitchFamily="18" charset="0"/>
                      </a:rPr>
                      <m:t>±</m:t>
                    </m:r>
                    <m:r>
                      <a:rPr lang="en-US" sz="2000" b="0" i="1">
                        <a:latin typeface="Cambria Math" panose="02040503050406030204" pitchFamily="18" charset="0"/>
                        <a:ea typeface="Cambria Math" panose="02040503050406030204" pitchFamily="18" charset="0"/>
                      </a:rPr>
                      <m:t>1</m:t>
                    </m:r>
                    <m:r>
                      <a:rPr lang="en-US" sz="2000" b="0" i="1">
                        <a:latin typeface="Cambria Math" panose="02040503050406030204" pitchFamily="18" charset="0"/>
                        <a:ea typeface="Cambria Math" panose="02040503050406030204" pitchFamily="18" charset="0"/>
                      </a:rPr>
                      <m:t>.</m:t>
                    </m:r>
                    <m:r>
                      <a:rPr lang="en-US" sz="2000" b="0" i="1">
                        <a:latin typeface="Cambria Math" panose="02040503050406030204" pitchFamily="18" charset="0"/>
                        <a:ea typeface="Cambria Math" panose="02040503050406030204" pitchFamily="18" charset="0"/>
                      </a:rPr>
                      <m:t>96</m:t>
                    </m:r>
                    <m:r>
                      <a:rPr lang="en-US" sz="2000" b="0" i="1">
                        <a:latin typeface="Cambria Math" panose="02040503050406030204" pitchFamily="18" charset="0"/>
                        <a:ea typeface="Cambria Math" panose="02040503050406030204" pitchFamily="18" charset="0"/>
                      </a:rPr>
                      <m:t>×</m:t>
                    </m:r>
                    <m:r>
                      <a:rPr lang="en-US" sz="2000" b="0" i="1">
                        <a:latin typeface="Cambria Math" panose="02040503050406030204" pitchFamily="18" charset="0"/>
                        <a:ea typeface="Cambria Math" panose="02040503050406030204" pitchFamily="18" charset="0"/>
                      </a:rPr>
                      <m:t>𝑠𝑒</m:t>
                    </m:r>
                  </m:oMath>
                </a14:m>
                <a:r>
                  <a:rPr lang="en-US" sz="2000" dirty="0">
                    <a:latin typeface="Arial" panose="020B0604020202020204" pitchFamily="34" charset="0"/>
                    <a:cs typeface="Arial" panose="020B0604020202020204" pitchFamily="34" charset="0"/>
                  </a:rPr>
                  <a:t>(</a:t>
                </a:r>
                <a14:m>
                  <m:oMath xmlns:m="http://schemas.openxmlformats.org/officeDocument/2006/math">
                    <m:sSub>
                      <m:sSubPr>
                        <m:ctrlPr>
                          <a:rPr lang="en-US" sz="2000" b="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𝑏</m:t>
                        </m:r>
                      </m:e>
                      <m:sub>
                        <m:r>
                          <a:rPr lang="en-US" sz="2000" b="0" i="1">
                            <a:latin typeface="Cambria Math" panose="02040503050406030204" pitchFamily="18" charset="0"/>
                            <a:ea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 with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𝑏</m:t>
                        </m:r>
                      </m:e>
                      <m:sub>
                        <m:r>
                          <a:rPr lang="en-US" sz="2000" i="1">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1</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5</m:t>
                    </m:r>
                    <m:r>
                      <a:rPr lang="en-US" sz="2000" i="1">
                        <a:latin typeface="Cambria Math" panose="02040503050406030204" pitchFamily="18" charset="0"/>
                        <a:ea typeface="Cambria Math" panose="02040503050406030204" pitchFamily="18" charset="0"/>
                      </a:rPr>
                      <m:t>6</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𝑠𝑒</m:t>
                    </m:r>
                  </m:oMath>
                </a14:m>
                <a:r>
                  <a:rPr lang="en-US" sz="2000" dirty="0">
                    <a:latin typeface="Arial" panose="020B0604020202020204" pitchFamily="34" charset="0"/>
                    <a:cs typeface="Arial" panose="020B0604020202020204" pitchFamily="34" charset="0"/>
                  </a:rPr>
                  <a:t>(</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𝑏</m:t>
                        </m:r>
                      </m:e>
                      <m:sub>
                        <m:r>
                          <a:rPr lang="en-US" sz="2000" i="1">
                            <a:latin typeface="Cambria Math" panose="02040503050406030204" pitchFamily="18" charset="0"/>
                            <a:ea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a:t>
                </a:r>
              </a:p>
              <a:p>
                <a:pPr lvl="1"/>
                <a:r>
                  <a:rPr lang="en-US" sz="2000" dirty="0">
                    <a:latin typeface="Arial" panose="020B0604020202020204" pitchFamily="34" charset="0"/>
                    <a:cs typeface="Arial" panose="020B0604020202020204" pitchFamily="34" charset="0"/>
                  </a:rPr>
                  <a:t>Note: the wider interval makes it less likely we reject the null that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1</m:t>
                        </m:r>
                      </m:sub>
                    </m:sSub>
                  </m:oMath>
                </a14:m>
                <a:r>
                  <a:rPr lang="en-US" sz="2000" b="0" dirty="0">
                    <a:latin typeface="Arial" panose="020B0604020202020204" pitchFamily="34" charset="0"/>
                    <a:cs typeface="Arial" panose="020B0604020202020204" pitchFamily="34" charset="0"/>
                  </a:rPr>
                  <a:t>= 0, i.e. that 0 will be contained in the CI</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As the regression error (MSE) decreases, the width of the interval decreases</a:t>
                </a:r>
              </a:p>
              <a:p>
                <a:pPr lvl="1"/>
                <a:r>
                  <a:rPr lang="en-US" sz="2000" dirty="0">
                    <a:latin typeface="Arial" panose="020B0604020202020204" pitchFamily="34" charset="0"/>
                    <a:cs typeface="Arial" panose="020B0604020202020204" pitchFamily="34" charset="0"/>
                  </a:rPr>
                  <a:t>Less error means we are more confident about rejecting the null</a:t>
                </a:r>
              </a:p>
              <a:p>
                <a:pPr lvl="1"/>
                <a:r>
                  <a:rPr lang="en-US" sz="2000" dirty="0">
                    <a:latin typeface="Arial" panose="020B0604020202020204" pitchFamily="34" charset="0"/>
                    <a:cs typeface="Arial" panose="020B0604020202020204" pitchFamily="34" charset="0"/>
                  </a:rPr>
                  <a:t>Look at formula as MSE increases, </a:t>
                </a:r>
                <a:r>
                  <a:rPr lang="en-US" sz="2000" i="1" dirty="0">
                    <a:latin typeface="Arial" panose="020B0604020202020204" pitchFamily="34" charset="0"/>
                    <a:cs typeface="Arial" panose="020B0604020202020204" pitchFamily="34" charset="0"/>
                  </a:rPr>
                  <a:t>t-</a:t>
                </a:r>
                <a:r>
                  <a:rPr lang="en-US" sz="2000" dirty="0">
                    <a:latin typeface="Arial" panose="020B0604020202020204" pitchFamily="34" charset="0"/>
                    <a:cs typeface="Arial" panose="020B0604020202020204" pitchFamily="34" charset="0"/>
                  </a:rPr>
                  <a:t>statistic</a:t>
                </a:r>
                <a:r>
                  <a:rPr lang="en-US" sz="2000" i="1" dirty="0">
                    <a:latin typeface="Arial" panose="020B0604020202020204" pitchFamily="34" charset="0"/>
                    <a:cs typeface="Arial" panose="020B0604020202020204" pitchFamily="34" charset="0"/>
                  </a:rPr>
                  <a:t> decreases</a:t>
                </a:r>
              </a:p>
              <a:p>
                <a:r>
                  <a:rPr lang="en-US" sz="2000" dirty="0">
                    <a:latin typeface="Arial" panose="020B0604020202020204" pitchFamily="34" charset="0"/>
                    <a:cs typeface="Arial" panose="020B0604020202020204" pitchFamily="34" charset="0"/>
                  </a:rPr>
                  <a:t>The more spread out the predictor x values, the narrower the interval</a:t>
                </a:r>
              </a:p>
              <a:p>
                <a:pPr lvl="1"/>
                <a:r>
                  <a:rPr lang="en-US" sz="2000" dirty="0">
                    <a:latin typeface="Arial" panose="020B0604020202020204" pitchFamily="34" charset="0"/>
                    <a:cs typeface="Arial" panose="020B0604020202020204" pitchFamily="34" charset="0"/>
                  </a:rPr>
                  <a:t>Look at formula, more variation means </a:t>
                </a:r>
                <a:r>
                  <a:rPr lang="en-US" sz="2000" i="1" dirty="0">
                    <a:latin typeface="Arial" panose="020B0604020202020204" pitchFamily="34" charset="0"/>
                    <a:cs typeface="Arial" panose="020B0604020202020204" pitchFamily="34" charset="0"/>
                  </a:rPr>
                  <a:t>t-</a:t>
                </a:r>
                <a:r>
                  <a:rPr lang="en-US" sz="2000" dirty="0">
                    <a:latin typeface="Arial" panose="020B0604020202020204" pitchFamily="34" charset="0"/>
                    <a:cs typeface="Arial" panose="020B0604020202020204" pitchFamily="34" charset="0"/>
                  </a:rPr>
                  <a:t>statistic</a:t>
                </a:r>
                <a:r>
                  <a:rPr lang="en-US" sz="2000" i="1" dirty="0">
                    <a:latin typeface="Arial" panose="020B0604020202020204" pitchFamily="34" charset="0"/>
                    <a:cs typeface="Arial" panose="020B0604020202020204" pitchFamily="34" charset="0"/>
                  </a:rPr>
                  <a:t> increases </a:t>
                </a:r>
                <a:r>
                  <a:rPr lang="en-US" sz="2000" dirty="0">
                    <a:latin typeface="Arial" panose="020B0604020202020204" pitchFamily="34" charset="0"/>
                    <a:cs typeface="Arial" panose="020B0604020202020204" pitchFamily="34" charset="0"/>
                  </a:rPr>
                  <a:t>because the denominator will be smaller</a:t>
                </a:r>
              </a:p>
              <a:p>
                <a:r>
                  <a:rPr lang="en-US" sz="2000" dirty="0">
                    <a:latin typeface="Arial" panose="020B0604020202020204" pitchFamily="34" charset="0"/>
                    <a:cs typeface="Arial" panose="020B0604020202020204" pitchFamily="34" charset="0"/>
                  </a:rPr>
                  <a:t>As the sample size increases, the width of the interval decreases, i.e. it will be more narrow</a:t>
                </a:r>
              </a:p>
              <a:p>
                <a:pPr lvl="1"/>
                <a:r>
                  <a:rPr lang="en-US" sz="2000" dirty="0">
                    <a:latin typeface="Arial" panose="020B0604020202020204" pitchFamily="34" charset="0"/>
                    <a:cs typeface="Arial" panose="020B0604020202020204" pitchFamily="34" charset="0"/>
                  </a:rPr>
                  <a:t>Larger </a:t>
                </a:r>
                <a:r>
                  <a:rPr lang="en-US" sz="2000" i="1" dirty="0">
                    <a:latin typeface="Arial" panose="020B0604020202020204" pitchFamily="34" charset="0"/>
                    <a:cs typeface="Arial" panose="020B0604020202020204" pitchFamily="34" charset="0"/>
                  </a:rPr>
                  <a:t>n </a:t>
                </a:r>
                <a:r>
                  <a:rPr lang="en-US" sz="2000" dirty="0">
                    <a:latin typeface="Arial" panose="020B0604020202020204" pitchFamily="34" charset="0"/>
                    <a:cs typeface="Arial" panose="020B0604020202020204" pitchFamily="34" charset="0"/>
                  </a:rPr>
                  <a:t>means more variation</a:t>
                </a:r>
              </a:p>
            </p:txBody>
          </p:sp>
        </mc:Choice>
        <mc:Fallback xmlns="">
          <p:sp>
            <p:nvSpPr>
              <p:cNvPr id="3" name="Content Placeholder 2">
                <a:extLst>
                  <a:ext uri="{FF2B5EF4-FFF2-40B4-BE49-F238E27FC236}">
                    <a16:creationId xmlns:a16="http://schemas.microsoft.com/office/drawing/2014/main" id="{D5C070D1-A898-C8A3-6112-CA81173A0D8C}"/>
                  </a:ext>
                </a:extLst>
              </p:cNvPr>
              <p:cNvSpPr>
                <a:spLocks noGrp="1" noRot="1" noChangeAspect="1" noMove="1" noResize="1" noEditPoints="1" noAdjustHandles="1" noChangeArrowheads="1" noChangeShapeType="1" noTextEdit="1"/>
              </p:cNvSpPr>
              <p:nvPr>
                <p:ph idx="1"/>
              </p:nvPr>
            </p:nvSpPr>
            <p:spPr>
              <a:xfrm>
                <a:off x="248831" y="1232009"/>
                <a:ext cx="10742990" cy="4393982"/>
              </a:xfrm>
              <a:blipFill>
                <a:blip r:embed="rId2"/>
                <a:stretch>
                  <a:fillRect l="-511" t="-1248" r="-1249"/>
                </a:stretch>
              </a:blipFill>
            </p:spPr>
            <p:txBody>
              <a:bodyPr/>
              <a:lstStyle/>
              <a:p>
                <a:r>
                  <a:rPr lang="en-US">
                    <a:noFill/>
                  </a:rPr>
                  <a:t> </a:t>
                </a:r>
              </a:p>
            </p:txBody>
          </p:sp>
        </mc:Fallback>
      </mc:AlternateContent>
    </p:spTree>
    <p:extLst>
      <p:ext uri="{BB962C8B-B14F-4D97-AF65-F5344CB8AC3E}">
        <p14:creationId xmlns:p14="http://schemas.microsoft.com/office/powerpoint/2010/main" val="532247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 calcmode="lin" valueType="num">
                                      <p:cBhvr additive="base">
                                        <p:cTn id="2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 calcmode="lin" valueType="num">
                                      <p:cBhvr additive="base">
                                        <p:cTn id="3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C7E14-7AB4-4812-A939-047AEE24A53C}"/>
              </a:ext>
            </a:extLst>
          </p:cNvPr>
          <p:cNvSpPr>
            <a:spLocks noGrp="1"/>
          </p:cNvSpPr>
          <p:nvPr>
            <p:ph type="title"/>
          </p:nvPr>
        </p:nvSpPr>
        <p:spPr>
          <a:xfrm>
            <a:off x="295760" y="256638"/>
            <a:ext cx="10515600" cy="1065884"/>
          </a:xfrm>
        </p:spPr>
        <p:txBody>
          <a:bodyPr>
            <a:noAutofit/>
          </a:bodyPr>
          <a:lstStyle/>
          <a:p>
            <a:r>
              <a:rPr lang="en-US" sz="3600" dirty="0">
                <a:latin typeface="Arial" panose="020B0604020202020204" pitchFamily="34" charset="0"/>
                <a:cs typeface="Arial" panose="020B0604020202020204" pitchFamily="34" charset="0"/>
              </a:rPr>
              <a:t>1. As the Confidence Level Decreases, the Width of the Interval Decreases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466AA0-3230-F8B8-1627-E5A13F7DD799}"/>
                  </a:ext>
                </a:extLst>
              </p:cNvPr>
              <p:cNvSpPr>
                <a:spLocks noGrp="1"/>
              </p:cNvSpPr>
              <p:nvPr>
                <p:ph idx="1"/>
              </p:nvPr>
            </p:nvSpPr>
            <p:spPr>
              <a:xfrm>
                <a:off x="533400" y="1422669"/>
                <a:ext cx="11097768" cy="4351338"/>
              </a:xfrm>
            </p:spPr>
            <p:txBody>
              <a:bodyPr>
                <a:normAutofit/>
              </a:bodyPr>
              <a:lstStyle/>
              <a:p>
                <a:r>
                  <a:rPr lang="en-US" sz="2400" b="1" dirty="0">
                    <a:latin typeface="Arial" panose="020B0604020202020204" pitchFamily="34" charset="0"/>
                    <a:cs typeface="Arial" panose="020B0604020202020204" pitchFamily="34" charset="0"/>
                  </a:rPr>
                  <a:t>Example</a:t>
                </a:r>
                <a:r>
                  <a:rPr lang="en-US" sz="2400" dirty="0">
                    <a:latin typeface="Arial" panose="020B0604020202020204" pitchFamily="34" charset="0"/>
                    <a:cs typeface="Arial" panose="020B0604020202020204" pitchFamily="34" charset="0"/>
                  </a:rPr>
                  <a:t>: Guess my bench press</a:t>
                </a:r>
              </a:p>
              <a:p>
                <a:pPr lvl="1"/>
                <a:r>
                  <a:rPr lang="en-US" sz="2000" dirty="0">
                    <a:latin typeface="Arial" panose="020B0604020202020204" pitchFamily="34" charset="0"/>
                    <a:cs typeface="Arial" panose="020B0604020202020204" pitchFamily="34" charset="0"/>
                  </a:rPr>
                  <a:t>If you want to be 99% sure, you might guess somewhere between 40 and 240 pounds, a very wide range</a:t>
                </a:r>
              </a:p>
              <a:p>
                <a:pPr lvl="1"/>
                <a:r>
                  <a:rPr lang="en-US" sz="2000" dirty="0">
                    <a:latin typeface="Arial" panose="020B0604020202020204" pitchFamily="34" charset="0"/>
                    <a:cs typeface="Arial" panose="020B0604020202020204" pitchFamily="34" charset="0"/>
                  </a:rPr>
                  <a:t>If you want to be less certain, but still fairly accurate, say 95% sure, you might say somewhere between 80 and 180 pounds (a narrower range)</a:t>
                </a:r>
              </a:p>
              <a:p>
                <a:pPr lvl="1"/>
                <a:r>
                  <a:rPr lang="en-US" sz="2000" dirty="0">
                    <a:latin typeface="Arial" panose="020B0604020202020204" pitchFamily="34" charset="0"/>
                    <a:cs typeface="Arial" panose="020B0604020202020204" pitchFamily="34" charset="0"/>
                  </a:rPr>
                  <a:t>If you care only about being 90% sure, you might say between 100 and 160 pounds (an even narrower range)</a:t>
                </a:r>
              </a:p>
              <a:p>
                <a:pPr lvl="1"/>
                <a:r>
                  <a:rPr lang="en-US" sz="2000" dirty="0">
                    <a:latin typeface="Arial" panose="020B0604020202020204" pitchFamily="34" charset="0"/>
                    <a:cs typeface="Arial" panose="020B0604020202020204" pitchFamily="34" charset="0"/>
                  </a:rPr>
                  <a:t>Let’s say you want to be about 40% sure, maybe you would guess 135 to 155</a:t>
                </a:r>
              </a:p>
              <a:p>
                <a:r>
                  <a:rPr lang="en-US" sz="2000" dirty="0">
                    <a:latin typeface="Arial" panose="020B0604020202020204" pitchFamily="34" charset="0"/>
                    <a:cs typeface="Arial" panose="020B0604020202020204" pitchFamily="34" charset="0"/>
                    <a:sym typeface="Wingdings" panose="05000000000000000000" pitchFamily="2" charset="2"/>
                  </a:rPr>
                  <a:t> </a:t>
                </a:r>
                <a:r>
                  <a:rPr lang="en-US" sz="2000" dirty="0">
                    <a:latin typeface="Arial" panose="020B0604020202020204" pitchFamily="34" charset="0"/>
                    <a:cs typeface="Arial" panose="020B0604020202020204" pitchFamily="34" charset="0"/>
                  </a:rPr>
                  <a:t>Lower confidence means a smaller margin of error, but also a higher chance of missing the true value</a:t>
                </a:r>
              </a:p>
              <a:p>
                <a:pPr lvl="1"/>
                <a14:m>
                  <m:oMath xmlns:m="http://schemas.openxmlformats.org/officeDocument/2006/math">
                    <m:r>
                      <m:rPr>
                        <m:nor/>
                      </m:rPr>
                      <a:rPr lang="en-US" sz="2000" dirty="0">
                        <a:latin typeface="Arial" panose="020B0604020202020204" pitchFamily="34" charset="0"/>
                        <a:cs typeface="Arial" panose="020B0604020202020204" pitchFamily="34" charset="0"/>
                      </a:rPr>
                      <m:t>95</m:t>
                    </m:r>
                    <m:r>
                      <m:rPr>
                        <m:nor/>
                      </m:rPr>
                      <a:rPr lang="en-US" sz="2000" dirty="0">
                        <a:latin typeface="Arial" panose="020B0604020202020204" pitchFamily="34" charset="0"/>
                        <a:cs typeface="Arial" panose="020B0604020202020204" pitchFamily="34" charset="0"/>
                      </a:rPr>
                      <m:t>% </m:t>
                    </m:r>
                    <m:r>
                      <m:rPr>
                        <m:nor/>
                      </m:rPr>
                      <a:rPr lang="en-US" sz="2000" dirty="0">
                        <a:latin typeface="Arial" panose="020B0604020202020204" pitchFamily="34" charset="0"/>
                        <a:cs typeface="Arial" panose="020B0604020202020204" pitchFamily="34" charset="0"/>
                      </a:rPr>
                      <m:t>CI</m:t>
                    </m:r>
                    <m:r>
                      <a:rPr lang="en-US" sz="2000" b="0" i="1" dirty="0" smtClean="0">
                        <a:latin typeface="Cambria Math" panose="02040503050406030204" pitchFamily="18" charset="0"/>
                      </a:rPr>
                      <m:t>: </m:t>
                    </m:r>
                    <m:sSub>
                      <m:sSubPr>
                        <m:ctrlPr>
                          <a:rPr lang="en-US" sz="2000" b="0" i="1" smtClean="0">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𝑏</m:t>
                        </m:r>
                      </m:e>
                      <m:sub>
                        <m:r>
                          <a:rPr lang="en-US" sz="2000" b="0" i="1">
                            <a:latin typeface="Cambria Math" panose="02040503050406030204" pitchFamily="18" charset="0"/>
                            <a:ea typeface="Cambria Math" panose="02040503050406030204" pitchFamily="18" charset="0"/>
                          </a:rPr>
                          <m:t>1</m:t>
                        </m:r>
                      </m:sub>
                    </m:sSub>
                    <m:r>
                      <a:rPr lang="en-US" sz="2000" b="0" i="1">
                        <a:latin typeface="Cambria Math" panose="02040503050406030204" pitchFamily="18" charset="0"/>
                        <a:ea typeface="Cambria Math" panose="02040503050406030204" pitchFamily="18" charset="0"/>
                      </a:rPr>
                      <m:t>±</m:t>
                    </m:r>
                    <m:r>
                      <a:rPr lang="en-US" sz="2000" b="0" i="1">
                        <a:latin typeface="Cambria Math" panose="02040503050406030204" pitchFamily="18" charset="0"/>
                        <a:ea typeface="Cambria Math" panose="02040503050406030204" pitchFamily="18" charset="0"/>
                      </a:rPr>
                      <m:t>1</m:t>
                    </m:r>
                    <m:r>
                      <a:rPr lang="en-US" sz="2000" b="0" i="1">
                        <a:latin typeface="Cambria Math" panose="02040503050406030204" pitchFamily="18" charset="0"/>
                        <a:ea typeface="Cambria Math" panose="02040503050406030204" pitchFamily="18" charset="0"/>
                      </a:rPr>
                      <m:t>.</m:t>
                    </m:r>
                    <m:r>
                      <a:rPr lang="en-US" sz="2000" b="0" i="1">
                        <a:latin typeface="Cambria Math" panose="02040503050406030204" pitchFamily="18" charset="0"/>
                        <a:ea typeface="Cambria Math" panose="02040503050406030204" pitchFamily="18" charset="0"/>
                      </a:rPr>
                      <m:t>96</m:t>
                    </m:r>
                    <m:r>
                      <a:rPr lang="en-US" sz="2000" b="0" i="1">
                        <a:latin typeface="Cambria Math" panose="02040503050406030204" pitchFamily="18" charset="0"/>
                        <a:ea typeface="Cambria Math" panose="02040503050406030204" pitchFamily="18" charset="0"/>
                      </a:rPr>
                      <m:t>×</m:t>
                    </m:r>
                    <m:r>
                      <a:rPr lang="en-US" sz="2000" b="0" i="1">
                        <a:latin typeface="Cambria Math" panose="02040503050406030204" pitchFamily="18" charset="0"/>
                        <a:ea typeface="Cambria Math" panose="02040503050406030204" pitchFamily="18" charset="0"/>
                      </a:rPr>
                      <m:t>𝑠𝑒</m:t>
                    </m:r>
                  </m:oMath>
                </a14:m>
                <a:r>
                  <a:rPr lang="en-US" sz="2000" dirty="0">
                    <a:latin typeface="Arial" panose="020B0604020202020204" pitchFamily="34" charset="0"/>
                    <a:cs typeface="Arial" panose="020B0604020202020204" pitchFamily="34" charset="0"/>
                  </a:rPr>
                  <a:t>(</a:t>
                </a:r>
                <a14:m>
                  <m:oMath xmlns:m="http://schemas.openxmlformats.org/officeDocument/2006/math">
                    <m:sSub>
                      <m:sSubPr>
                        <m:ctrlPr>
                          <a:rPr lang="en-US" sz="2000" b="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𝑏</m:t>
                        </m:r>
                      </m:e>
                      <m:sub>
                        <m:r>
                          <a:rPr lang="en-US" sz="2000" b="0" i="1">
                            <a:latin typeface="Cambria Math" panose="02040503050406030204" pitchFamily="18" charset="0"/>
                            <a:ea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sym typeface="Wingdings" panose="05000000000000000000" pitchFamily="2" charset="2"/>
                  </a:rPr>
                  <a:t> wider range</a:t>
                </a:r>
                <a:endParaRPr lang="en-US" sz="2000" dirty="0">
                  <a:latin typeface="Arial" panose="020B0604020202020204" pitchFamily="34" charset="0"/>
                  <a:cs typeface="Arial" panose="020B0604020202020204" pitchFamily="34" charset="0"/>
                </a:endParaRPr>
              </a:p>
              <a:p>
                <a:pPr lvl="1"/>
                <a14:m>
                  <m:oMath xmlns:m="http://schemas.openxmlformats.org/officeDocument/2006/math">
                    <m:r>
                      <m:rPr>
                        <m:nor/>
                      </m:rPr>
                      <a:rPr lang="en-US" sz="2000" dirty="0">
                        <a:latin typeface="Arial" panose="020B0604020202020204" pitchFamily="34" charset="0"/>
                        <a:cs typeface="Arial" panose="020B0604020202020204" pitchFamily="34" charset="0"/>
                        <a:sym typeface="Wingdings" panose="05000000000000000000" pitchFamily="2" charset="2"/>
                      </a:rPr>
                      <m:t>90</m:t>
                    </m:r>
                    <m:r>
                      <m:rPr>
                        <m:nor/>
                      </m:rPr>
                      <a:rPr lang="en-US" sz="2000" dirty="0">
                        <a:latin typeface="Arial" panose="020B0604020202020204" pitchFamily="34" charset="0"/>
                        <a:cs typeface="Arial" panose="020B0604020202020204" pitchFamily="34" charset="0"/>
                        <a:sym typeface="Wingdings" panose="05000000000000000000" pitchFamily="2" charset="2"/>
                      </a:rPr>
                      <m:t>% </m:t>
                    </m:r>
                    <m:r>
                      <m:rPr>
                        <m:nor/>
                      </m:rPr>
                      <a:rPr lang="en-US" sz="2000" dirty="0">
                        <a:latin typeface="Arial" panose="020B0604020202020204" pitchFamily="34" charset="0"/>
                        <a:cs typeface="Arial" panose="020B0604020202020204" pitchFamily="34" charset="0"/>
                        <a:sym typeface="Wingdings" panose="05000000000000000000" pitchFamily="2" charset="2"/>
                      </a:rPr>
                      <m:t>CI</m:t>
                    </m:r>
                    <m:r>
                      <a:rPr lang="en-US" sz="2000" b="0" i="1" dirty="0" smtClean="0">
                        <a:latin typeface="Cambria Math" panose="02040503050406030204" pitchFamily="18" charset="0"/>
                        <a:sym typeface="Wingdings" panose="05000000000000000000" pitchFamily="2" charset="2"/>
                      </a:rPr>
                      <m:t>: </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𝑏</m:t>
                        </m:r>
                      </m:e>
                      <m:sub>
                        <m:r>
                          <a:rPr lang="en-US" sz="2000" i="1">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1</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5</m:t>
                    </m:r>
                    <m:r>
                      <a:rPr lang="en-US" sz="2000" i="1">
                        <a:latin typeface="Cambria Math" panose="02040503050406030204" pitchFamily="18" charset="0"/>
                        <a:ea typeface="Cambria Math" panose="02040503050406030204" pitchFamily="18" charset="0"/>
                      </a:rPr>
                      <m:t>6</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𝑠𝑒</m:t>
                    </m:r>
                  </m:oMath>
                </a14:m>
                <a:r>
                  <a:rPr lang="en-US" sz="2000" dirty="0">
                    <a:latin typeface="Arial" panose="020B0604020202020204" pitchFamily="34" charset="0"/>
                    <a:cs typeface="Arial" panose="020B0604020202020204" pitchFamily="34" charset="0"/>
                  </a:rPr>
                  <a:t>(</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𝑏</m:t>
                        </m:r>
                      </m:e>
                      <m:sub>
                        <m:r>
                          <a:rPr lang="en-US" sz="2000" i="1">
                            <a:latin typeface="Cambria Math" panose="02040503050406030204" pitchFamily="18" charset="0"/>
                            <a:ea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sym typeface="Wingdings" panose="05000000000000000000" pitchFamily="2" charset="2"/>
                  </a:rPr>
                  <a:t> narrower range</a:t>
                </a:r>
                <a:endParaRPr lang="en-US" sz="2000"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54466AA0-3230-F8B8-1627-E5A13F7DD799}"/>
                  </a:ext>
                </a:extLst>
              </p:cNvPr>
              <p:cNvSpPr>
                <a:spLocks noGrp="1" noRot="1" noChangeAspect="1" noMove="1" noResize="1" noEditPoints="1" noAdjustHandles="1" noChangeArrowheads="1" noChangeShapeType="1" noTextEdit="1"/>
              </p:cNvSpPr>
              <p:nvPr>
                <p:ph idx="1"/>
              </p:nvPr>
            </p:nvSpPr>
            <p:spPr>
              <a:xfrm>
                <a:off x="533400" y="1422669"/>
                <a:ext cx="11097768" cy="4351338"/>
              </a:xfrm>
              <a:blipFill>
                <a:blip r:embed="rId3"/>
                <a:stretch>
                  <a:fillRect l="-769" t="-1821"/>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85C1E248-FF96-9065-9963-83A2D7A20F06}"/>
              </a:ext>
            </a:extLst>
          </p:cNvPr>
          <p:cNvSpPr/>
          <p:nvPr/>
        </p:nvSpPr>
        <p:spPr>
          <a:xfrm>
            <a:off x="8778240" y="1834895"/>
            <a:ext cx="1304544" cy="329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83646BF-3990-32C6-06AD-485A11CE1577}"/>
              </a:ext>
            </a:extLst>
          </p:cNvPr>
          <p:cNvSpPr/>
          <p:nvPr/>
        </p:nvSpPr>
        <p:spPr>
          <a:xfrm>
            <a:off x="3712464" y="2712720"/>
            <a:ext cx="1322832" cy="329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04B893B-19A4-0DFC-9386-3D890868DC4C}"/>
              </a:ext>
            </a:extLst>
          </p:cNvPr>
          <p:cNvSpPr/>
          <p:nvPr/>
        </p:nvSpPr>
        <p:spPr>
          <a:xfrm>
            <a:off x="8778240" y="3639859"/>
            <a:ext cx="1414272" cy="329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AE8567F-4966-5558-677A-9918F3E6E4F1}"/>
              </a:ext>
            </a:extLst>
          </p:cNvPr>
          <p:cNvSpPr/>
          <p:nvPr/>
        </p:nvSpPr>
        <p:spPr>
          <a:xfrm>
            <a:off x="8345424" y="3041904"/>
            <a:ext cx="1414272" cy="329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7862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xit" presetSubtype="4" fill="hold" grpId="1" nodeType="clickEffect">
                                  <p:stCondLst>
                                    <p:cond delay="0"/>
                                  </p:stCondLst>
                                  <p:childTnLst>
                                    <p:anim calcmode="lin" valueType="num">
                                      <p:cBhvr additive="base">
                                        <p:cTn id="16" dur="500"/>
                                        <p:tgtEl>
                                          <p:spTgt spid="4"/>
                                        </p:tgtEl>
                                        <p:attrNameLst>
                                          <p:attrName>ppt_x</p:attrName>
                                        </p:attrNameLst>
                                      </p:cBhvr>
                                      <p:tavLst>
                                        <p:tav tm="0">
                                          <p:val>
                                            <p:strVal val="ppt_x"/>
                                          </p:val>
                                        </p:tav>
                                        <p:tav tm="100000">
                                          <p:val>
                                            <p:strVal val="ppt_x"/>
                                          </p:val>
                                        </p:tav>
                                      </p:tavLst>
                                    </p:anim>
                                    <p:anim calcmode="lin" valueType="num">
                                      <p:cBhvr additive="base">
                                        <p:cTn id="17" dur="500"/>
                                        <p:tgtEl>
                                          <p:spTgt spid="4"/>
                                        </p:tgtEl>
                                        <p:attrNameLst>
                                          <p:attrName>ppt_y</p:attrName>
                                        </p:attrNameLst>
                                      </p:cBhvr>
                                      <p:tavLst>
                                        <p:tav tm="0">
                                          <p:val>
                                            <p:strVal val="ppt_y"/>
                                          </p:val>
                                        </p:tav>
                                        <p:tav tm="100000">
                                          <p:val>
                                            <p:strVal val="1+ppt_h/2"/>
                                          </p:val>
                                        </p:tav>
                                      </p:tavLst>
                                    </p:anim>
                                    <p:set>
                                      <p:cBhvr>
                                        <p:cTn id="18" dur="1" fill="hold">
                                          <p:stCondLst>
                                            <p:cond delay="499"/>
                                          </p:stCondLst>
                                        </p:cTn>
                                        <p:tgtEl>
                                          <p:spTgt spid="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xit" presetSubtype="4" fill="hold" grpId="1" nodeType="clickEffect">
                                  <p:stCondLst>
                                    <p:cond delay="0"/>
                                  </p:stCondLst>
                                  <p:childTnLst>
                                    <p:anim calcmode="lin" valueType="num">
                                      <p:cBhvr additive="base">
                                        <p:cTn id="32" dur="500"/>
                                        <p:tgtEl>
                                          <p:spTgt spid="5"/>
                                        </p:tgtEl>
                                        <p:attrNameLst>
                                          <p:attrName>ppt_x</p:attrName>
                                        </p:attrNameLst>
                                      </p:cBhvr>
                                      <p:tavLst>
                                        <p:tav tm="0">
                                          <p:val>
                                            <p:strVal val="ppt_x"/>
                                          </p:val>
                                        </p:tav>
                                        <p:tav tm="100000">
                                          <p:val>
                                            <p:strVal val="ppt_x"/>
                                          </p:val>
                                        </p:tav>
                                      </p:tavLst>
                                    </p:anim>
                                    <p:anim calcmode="lin" valueType="num">
                                      <p:cBhvr additive="base">
                                        <p:cTn id="33" dur="500"/>
                                        <p:tgtEl>
                                          <p:spTgt spid="5"/>
                                        </p:tgtEl>
                                        <p:attrNameLst>
                                          <p:attrName>ppt_y</p:attrName>
                                        </p:attrNameLst>
                                      </p:cBhvr>
                                      <p:tavLst>
                                        <p:tav tm="0">
                                          <p:val>
                                            <p:strVal val="ppt_y"/>
                                          </p:val>
                                        </p:tav>
                                        <p:tav tm="100000">
                                          <p:val>
                                            <p:strVal val="1+ppt_h/2"/>
                                          </p:val>
                                        </p:tav>
                                      </p:tavLst>
                                    </p:anim>
                                    <p:set>
                                      <p:cBhvr>
                                        <p:cTn id="34" dur="1" fill="hold">
                                          <p:stCondLst>
                                            <p:cond delay="499"/>
                                          </p:stCondLst>
                                        </p:cTn>
                                        <p:tgtEl>
                                          <p:spTgt spid="5"/>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anim calcmode="lin" valueType="num">
                                      <p:cBhvr additive="base">
                                        <p:cTn id="3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xit" presetSubtype="4" fill="hold" grpId="1" nodeType="clickEffect">
                                  <p:stCondLst>
                                    <p:cond delay="0"/>
                                  </p:stCondLst>
                                  <p:childTnLst>
                                    <p:anim calcmode="lin" valueType="num">
                                      <p:cBhvr additive="base">
                                        <p:cTn id="48" dur="500"/>
                                        <p:tgtEl>
                                          <p:spTgt spid="7"/>
                                        </p:tgtEl>
                                        <p:attrNameLst>
                                          <p:attrName>ppt_x</p:attrName>
                                        </p:attrNameLst>
                                      </p:cBhvr>
                                      <p:tavLst>
                                        <p:tav tm="0">
                                          <p:val>
                                            <p:strVal val="ppt_x"/>
                                          </p:val>
                                        </p:tav>
                                        <p:tav tm="100000">
                                          <p:val>
                                            <p:strVal val="ppt_x"/>
                                          </p:val>
                                        </p:tav>
                                      </p:tavLst>
                                    </p:anim>
                                    <p:anim calcmode="lin" valueType="num">
                                      <p:cBhvr additive="base">
                                        <p:cTn id="49" dur="500"/>
                                        <p:tgtEl>
                                          <p:spTgt spid="7"/>
                                        </p:tgtEl>
                                        <p:attrNameLst>
                                          <p:attrName>ppt_y</p:attrName>
                                        </p:attrNameLst>
                                      </p:cBhvr>
                                      <p:tavLst>
                                        <p:tav tm="0">
                                          <p:val>
                                            <p:strVal val="ppt_y"/>
                                          </p:val>
                                        </p:tav>
                                        <p:tav tm="100000">
                                          <p:val>
                                            <p:strVal val="1+ppt_h/2"/>
                                          </p:val>
                                        </p:tav>
                                      </p:tavLst>
                                    </p:anim>
                                    <p:set>
                                      <p:cBhvr>
                                        <p:cTn id="50" dur="1" fill="hold">
                                          <p:stCondLst>
                                            <p:cond delay="499"/>
                                          </p:stCondLst>
                                        </p:cTn>
                                        <p:tgtEl>
                                          <p:spTgt spid="7"/>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 calcmode="lin" valueType="num">
                                      <p:cBhvr additive="base">
                                        <p:cTn id="5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6"/>
                                        </p:tgtEl>
                                        <p:attrNameLst>
                                          <p:attrName>style.visibility</p:attrName>
                                        </p:attrNameLst>
                                      </p:cBhvr>
                                      <p:to>
                                        <p:strVal val="visible"/>
                                      </p:to>
                                    </p:set>
                                    <p:anim calcmode="lin" valueType="num">
                                      <p:cBhvr additive="base">
                                        <p:cTn id="59" dur="500" fill="hold"/>
                                        <p:tgtEl>
                                          <p:spTgt spid="6"/>
                                        </p:tgtEl>
                                        <p:attrNameLst>
                                          <p:attrName>ppt_x</p:attrName>
                                        </p:attrNameLst>
                                      </p:cBhvr>
                                      <p:tavLst>
                                        <p:tav tm="0">
                                          <p:val>
                                            <p:strVal val="#ppt_x"/>
                                          </p:val>
                                        </p:tav>
                                        <p:tav tm="100000">
                                          <p:val>
                                            <p:strVal val="#ppt_x"/>
                                          </p:val>
                                        </p:tav>
                                      </p:tavLst>
                                    </p:anim>
                                    <p:anim calcmode="lin" valueType="num">
                                      <p:cBhvr additive="base">
                                        <p:cTn id="6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xit" presetSubtype="4" fill="hold" grpId="1" nodeType="clickEffect">
                                  <p:stCondLst>
                                    <p:cond delay="0"/>
                                  </p:stCondLst>
                                  <p:childTnLst>
                                    <p:anim calcmode="lin" valueType="num">
                                      <p:cBhvr additive="base">
                                        <p:cTn id="64" dur="500"/>
                                        <p:tgtEl>
                                          <p:spTgt spid="6"/>
                                        </p:tgtEl>
                                        <p:attrNameLst>
                                          <p:attrName>ppt_x</p:attrName>
                                        </p:attrNameLst>
                                      </p:cBhvr>
                                      <p:tavLst>
                                        <p:tav tm="0">
                                          <p:val>
                                            <p:strVal val="ppt_x"/>
                                          </p:val>
                                        </p:tav>
                                        <p:tav tm="100000">
                                          <p:val>
                                            <p:strVal val="ppt_x"/>
                                          </p:val>
                                        </p:tav>
                                      </p:tavLst>
                                    </p:anim>
                                    <p:anim calcmode="lin" valueType="num">
                                      <p:cBhvr additive="base">
                                        <p:cTn id="65" dur="500"/>
                                        <p:tgtEl>
                                          <p:spTgt spid="6"/>
                                        </p:tgtEl>
                                        <p:attrNameLst>
                                          <p:attrName>ppt_y</p:attrName>
                                        </p:attrNameLst>
                                      </p:cBhvr>
                                      <p:tavLst>
                                        <p:tav tm="0">
                                          <p:val>
                                            <p:strVal val="ppt_y"/>
                                          </p:val>
                                        </p:tav>
                                        <p:tav tm="100000">
                                          <p:val>
                                            <p:strVal val="1+ppt_h/2"/>
                                          </p:val>
                                        </p:tav>
                                      </p:tavLst>
                                    </p:anim>
                                    <p:set>
                                      <p:cBhvr>
                                        <p:cTn id="66" dur="1" fill="hold">
                                          <p:stCondLst>
                                            <p:cond delay="499"/>
                                          </p:stCondLst>
                                        </p:cTn>
                                        <p:tgtEl>
                                          <p:spTgt spid="6"/>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3">
                                            <p:txEl>
                                              <p:pRg st="5" end="5"/>
                                            </p:txEl>
                                          </p:spTgt>
                                        </p:tgtEl>
                                        <p:attrNameLst>
                                          <p:attrName>style.visibility</p:attrName>
                                        </p:attrNameLst>
                                      </p:cBhvr>
                                      <p:to>
                                        <p:strVal val="visible"/>
                                      </p:to>
                                    </p:set>
                                    <p:anim calcmode="lin" valueType="num">
                                      <p:cBhvr additive="base">
                                        <p:cTn id="7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3">
                                            <p:txEl>
                                              <p:pRg st="6" end="6"/>
                                            </p:txEl>
                                          </p:spTgt>
                                        </p:tgtEl>
                                        <p:attrNameLst>
                                          <p:attrName>style.visibility</p:attrName>
                                        </p:attrNameLst>
                                      </p:cBhvr>
                                      <p:to>
                                        <p:strVal val="visible"/>
                                      </p:to>
                                    </p:set>
                                    <p:anim calcmode="lin" valueType="num">
                                      <p:cBhvr additive="base">
                                        <p:cTn id="7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3">
                                            <p:txEl>
                                              <p:pRg st="7" end="7"/>
                                            </p:txEl>
                                          </p:spTgt>
                                        </p:tgtEl>
                                        <p:attrNameLst>
                                          <p:attrName>style.visibility</p:attrName>
                                        </p:attrNameLst>
                                      </p:cBhvr>
                                      <p:to>
                                        <p:strVal val="visible"/>
                                      </p:to>
                                    </p:set>
                                    <p:anim calcmode="lin" valueType="num">
                                      <p:cBhvr additive="base">
                                        <p:cTn id="8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1F13B-4CA5-6B2B-E7FC-7A386148CD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43DC15-7C51-C823-F929-226564CD9180}"/>
              </a:ext>
            </a:extLst>
          </p:cNvPr>
          <p:cNvSpPr>
            <a:spLocks noGrp="1"/>
          </p:cNvSpPr>
          <p:nvPr>
            <p:ph type="title"/>
          </p:nvPr>
        </p:nvSpPr>
        <p:spPr>
          <a:xfrm>
            <a:off x="117012" y="252306"/>
            <a:ext cx="10515600" cy="1071051"/>
          </a:xfrm>
        </p:spPr>
        <p:txBody>
          <a:bodyPr>
            <a:noAutofit/>
          </a:bodyPr>
          <a:lstStyle/>
          <a:p>
            <a:r>
              <a:rPr lang="en-US" sz="3600" dirty="0">
                <a:latin typeface="Arial" panose="020B0604020202020204" pitchFamily="34" charset="0"/>
                <a:cs typeface="Arial" panose="020B0604020202020204" pitchFamily="34" charset="0"/>
              </a:rPr>
              <a:t>2. As the Regression Error (MSE) Decreases, the Width of the Interval Decreases</a:t>
            </a:r>
          </a:p>
        </p:txBody>
      </p:sp>
      <p:sp>
        <p:nvSpPr>
          <p:cNvPr id="3" name="Content Placeholder 2">
            <a:extLst>
              <a:ext uri="{FF2B5EF4-FFF2-40B4-BE49-F238E27FC236}">
                <a16:creationId xmlns:a16="http://schemas.microsoft.com/office/drawing/2014/main" id="{7A1BE95B-9FB2-2C13-1685-06C3FD05006F}"/>
              </a:ext>
            </a:extLst>
          </p:cNvPr>
          <p:cNvSpPr>
            <a:spLocks noGrp="1"/>
          </p:cNvSpPr>
          <p:nvPr>
            <p:ph idx="1"/>
          </p:nvPr>
        </p:nvSpPr>
        <p:spPr>
          <a:xfrm>
            <a:off x="378417" y="1345177"/>
            <a:ext cx="11064498" cy="4724991"/>
          </a:xfrm>
        </p:spPr>
        <p:txBody>
          <a:bodyPr>
            <a:normAutofit fontScale="92500" lnSpcReduction="10000"/>
          </a:bodyPr>
          <a:lstStyle/>
          <a:p>
            <a:r>
              <a:rPr lang="en-US" sz="2200" b="1" dirty="0">
                <a:latin typeface="Arial" panose="020B0604020202020204" pitchFamily="34" charset="0"/>
                <a:cs typeface="Arial" panose="020B0604020202020204" pitchFamily="34" charset="0"/>
              </a:rPr>
              <a:t>Example</a:t>
            </a:r>
            <a:r>
              <a:rPr lang="en-US" sz="2200" dirty="0">
                <a:latin typeface="Arial" panose="020B0604020202020204" pitchFamily="34" charset="0"/>
                <a:cs typeface="Arial" panose="020B0604020202020204" pitchFamily="34" charset="0"/>
              </a:rPr>
              <a:t>: Predicting Commute Time to Work when I lived in Boston and Dublin</a:t>
            </a:r>
          </a:p>
          <a:p>
            <a:pPr lvl="1"/>
            <a:r>
              <a:rPr lang="en-US" sz="2200" dirty="0">
                <a:latin typeface="Arial" panose="020B0604020202020204" pitchFamily="34" charset="0"/>
                <a:cs typeface="Arial" panose="020B0604020202020204" pitchFamily="34" charset="0"/>
              </a:rPr>
              <a:t>Traffic times are widely unpredictable</a:t>
            </a:r>
          </a:p>
          <a:p>
            <a:pPr lvl="2"/>
            <a:r>
              <a:rPr lang="en-US" sz="2200" dirty="0">
                <a:latin typeface="Arial" panose="020B0604020202020204" pitchFamily="34" charset="0"/>
                <a:cs typeface="Arial" panose="020B0604020202020204" pitchFamily="34" charset="0"/>
              </a:rPr>
              <a:t>"I think my commute will take between 20 and 60 minutes.“</a:t>
            </a:r>
          </a:p>
          <a:p>
            <a:pPr lvl="2"/>
            <a:r>
              <a:rPr lang="en-US" sz="2200" dirty="0">
                <a:latin typeface="Arial" panose="020B0604020202020204" pitchFamily="34" charset="0"/>
                <a:cs typeface="Arial" panose="020B0604020202020204" pitchFamily="34" charset="0"/>
              </a:rPr>
              <a:t>The large uncertainty in your estimate means your confidence interval is wide.</a:t>
            </a:r>
          </a:p>
          <a:p>
            <a:pPr lvl="2"/>
            <a:r>
              <a:rPr lang="en-US" sz="2200" dirty="0">
                <a:latin typeface="Arial" panose="020B0604020202020204" pitchFamily="34" charset="0"/>
                <a:cs typeface="Arial" panose="020B0604020202020204" pitchFamily="34" charset="0"/>
              </a:rPr>
              <a:t>High Variability in Traffic (High MSE → Wide Confidence Interval)</a:t>
            </a:r>
          </a:p>
          <a:p>
            <a:pPr lvl="1"/>
            <a:r>
              <a:rPr lang="en-US" sz="2200" dirty="0">
                <a:latin typeface="Arial" panose="020B0604020202020204" pitchFamily="34" charset="0"/>
                <a:cs typeface="Arial" panose="020B0604020202020204" pitchFamily="34" charset="0"/>
              </a:rPr>
              <a:t>Traffic times in Dublin are pretty consistent</a:t>
            </a:r>
          </a:p>
          <a:p>
            <a:pPr lvl="2"/>
            <a:r>
              <a:rPr lang="en-US" sz="2200" dirty="0">
                <a:latin typeface="Arial" panose="020B0604020202020204" pitchFamily="34" charset="0"/>
                <a:cs typeface="Arial" panose="020B0604020202020204" pitchFamily="34" charset="0"/>
              </a:rPr>
              <a:t>"I think my commute will take between 28 and 32 minutes.“</a:t>
            </a:r>
          </a:p>
          <a:p>
            <a:pPr lvl="2"/>
            <a:r>
              <a:rPr lang="en-US" sz="2200" dirty="0">
                <a:latin typeface="Arial" panose="020B0604020202020204" pitchFamily="34" charset="0"/>
                <a:cs typeface="Arial" panose="020B0604020202020204" pitchFamily="34" charset="0"/>
              </a:rPr>
              <a:t>Since there’s less variation in travel time, you can be more confident in your prediction, leading to a narrower confidence interval</a:t>
            </a:r>
          </a:p>
          <a:p>
            <a:pPr lvl="2"/>
            <a:r>
              <a:rPr lang="en-US" sz="2200" dirty="0">
                <a:latin typeface="Arial" panose="020B0604020202020204" pitchFamily="34" charset="0"/>
                <a:cs typeface="Arial" panose="020B0604020202020204" pitchFamily="34" charset="0"/>
              </a:rPr>
              <a:t>Low Variability in Traffic (Low MSE → Narrow Confidence Interval)</a:t>
            </a:r>
          </a:p>
          <a:p>
            <a:r>
              <a:rPr lang="en-US" altLang="en-US" sz="2200" b="1" dirty="0">
                <a:latin typeface="Arial" panose="020B0604020202020204" pitchFamily="34" charset="0"/>
                <a:cs typeface="Arial" panose="020B0604020202020204" pitchFamily="34" charset="0"/>
              </a:rPr>
              <a:t>Connection</a:t>
            </a:r>
          </a:p>
          <a:p>
            <a:pPr lvl="1"/>
            <a:r>
              <a:rPr lang="en-US" altLang="en-US" sz="2200" dirty="0">
                <a:latin typeface="Arial" panose="020B0604020202020204" pitchFamily="34" charset="0"/>
                <a:cs typeface="Arial" panose="020B0604020202020204" pitchFamily="34" charset="0"/>
              </a:rPr>
              <a:t>If traffic is unpredictable, you give a wide range of possible commute times (like a wide confidence interval), making it harder to be certain.</a:t>
            </a:r>
          </a:p>
          <a:p>
            <a:pPr lvl="1"/>
            <a:r>
              <a:rPr lang="en-US" altLang="en-US" sz="2200" dirty="0">
                <a:latin typeface="Arial" panose="020B0604020202020204" pitchFamily="34" charset="0"/>
                <a:cs typeface="Arial" panose="020B0604020202020204" pitchFamily="34" charset="0"/>
              </a:rPr>
              <a:t>If traffic is consistent, you give a narrow range, making it easier to make a firm decision (like rejecting the null)</a:t>
            </a:r>
          </a:p>
          <a:p>
            <a:endParaRPr lang="en-US" b="1" dirty="0">
              <a:latin typeface="Calibri (Body)"/>
            </a:endParaRPr>
          </a:p>
          <a:p>
            <a:endParaRPr lang="en-US" dirty="0">
              <a:latin typeface="Calibri (Body)"/>
            </a:endParaRPr>
          </a:p>
        </p:txBody>
      </p:sp>
    </p:spTree>
    <p:extLst>
      <p:ext uri="{BB962C8B-B14F-4D97-AF65-F5344CB8AC3E}">
        <p14:creationId xmlns:p14="http://schemas.microsoft.com/office/powerpoint/2010/main" val="673934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9BA03-63F0-2072-2E36-F36E8F69D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4C98A7-D8CE-4EB3-8439-7CC8F031BEC7}"/>
              </a:ext>
            </a:extLst>
          </p:cNvPr>
          <p:cNvSpPr>
            <a:spLocks noGrp="1"/>
          </p:cNvSpPr>
          <p:nvPr>
            <p:ph type="title"/>
          </p:nvPr>
        </p:nvSpPr>
        <p:spPr>
          <a:xfrm>
            <a:off x="342254" y="199810"/>
            <a:ext cx="10515600" cy="1040055"/>
          </a:xfrm>
        </p:spPr>
        <p:txBody>
          <a:bodyPr>
            <a:noAutofit/>
          </a:bodyPr>
          <a:lstStyle/>
          <a:p>
            <a:r>
              <a:rPr lang="en-US" sz="3600" dirty="0">
                <a:latin typeface="Arial" panose="020B0604020202020204" pitchFamily="34" charset="0"/>
                <a:cs typeface="Arial" panose="020B0604020202020204" pitchFamily="34" charset="0"/>
              </a:rPr>
              <a:t>3. The More Spread Out the Predictor Values, the Narrower the Interval</a:t>
            </a:r>
          </a:p>
        </p:txBody>
      </p:sp>
      <p:sp>
        <p:nvSpPr>
          <p:cNvPr id="3" name="Content Placeholder 2">
            <a:extLst>
              <a:ext uri="{FF2B5EF4-FFF2-40B4-BE49-F238E27FC236}">
                <a16:creationId xmlns:a16="http://schemas.microsoft.com/office/drawing/2014/main" id="{3ACB0216-3639-3ADD-C9A8-44392006E777}"/>
              </a:ext>
            </a:extLst>
          </p:cNvPr>
          <p:cNvSpPr>
            <a:spLocks noGrp="1"/>
          </p:cNvSpPr>
          <p:nvPr>
            <p:ph idx="1"/>
          </p:nvPr>
        </p:nvSpPr>
        <p:spPr>
          <a:xfrm>
            <a:off x="466240" y="1376175"/>
            <a:ext cx="10515600" cy="4351338"/>
          </a:xfrm>
        </p:spPr>
        <p:txBody>
          <a:bodyPr>
            <a:normAutofit/>
          </a:bodyPr>
          <a:lstStyle/>
          <a:p>
            <a:r>
              <a:rPr lang="en-US" sz="2000" b="1" dirty="0">
                <a:latin typeface="Arial" panose="020B0604020202020204" pitchFamily="34" charset="0"/>
                <a:cs typeface="Arial" panose="020B0604020202020204" pitchFamily="34" charset="0"/>
              </a:rPr>
              <a:t>Example</a:t>
            </a:r>
            <a:r>
              <a:rPr lang="en-US" sz="2000" dirty="0">
                <a:latin typeface="Arial" panose="020B0604020202020204" pitchFamily="34" charset="0"/>
                <a:cs typeface="Arial" panose="020B0604020202020204" pitchFamily="34" charset="0"/>
              </a:rPr>
              <a:t>: Imagine you are measuring how study hours predict exam scores.</a:t>
            </a:r>
          </a:p>
          <a:p>
            <a:pPr lvl="1"/>
            <a:r>
              <a:rPr lang="en-US" sz="2000" dirty="0">
                <a:latin typeface="Arial" panose="020B0604020202020204" pitchFamily="34" charset="0"/>
                <a:cs typeface="Arial" panose="020B0604020202020204" pitchFamily="34" charset="0"/>
              </a:rPr>
              <a:t>If everyone in the sample studies between 2-4 hours, it is hard to detect a pattern.</a:t>
            </a:r>
          </a:p>
          <a:p>
            <a:pPr lvl="1"/>
            <a:r>
              <a:rPr lang="en-US" sz="2000" dirty="0">
                <a:latin typeface="Arial" panose="020B0604020202020204" pitchFamily="34" charset="0"/>
                <a:cs typeface="Arial" panose="020B0604020202020204" pitchFamily="34" charset="0"/>
              </a:rPr>
              <a:t>If some study 0 hours and others study 10+ hours, it is easier to see the effect of studying.</a:t>
            </a:r>
          </a:p>
          <a:p>
            <a:r>
              <a:rPr lang="en-US" sz="2000" dirty="0">
                <a:latin typeface="Arial" panose="020B0604020202020204" pitchFamily="34" charset="0"/>
                <a:cs typeface="Arial" panose="020B0604020202020204" pitchFamily="34" charset="0"/>
                <a:sym typeface="Wingdings" panose="05000000000000000000" pitchFamily="2" charset="2"/>
              </a:rPr>
              <a:t> </a:t>
            </a:r>
            <a:r>
              <a:rPr lang="en-US" sz="2000" dirty="0">
                <a:latin typeface="Arial" panose="020B0604020202020204" pitchFamily="34" charset="0"/>
                <a:cs typeface="Arial" panose="020B0604020202020204" pitchFamily="34" charset="0"/>
              </a:rPr>
              <a:t>More spread in predictor values makes the estimate of </a:t>
            </a:r>
            <a:r>
              <a:rPr lang="en-US" sz="2000" i="1" dirty="0">
                <a:latin typeface="Arial" panose="020B0604020202020204" pitchFamily="34" charset="0"/>
                <a:cs typeface="Arial" panose="020B0604020202020204" pitchFamily="34" charset="0"/>
              </a:rPr>
              <a:t>b</a:t>
            </a:r>
            <a:r>
              <a:rPr lang="en-US" sz="2000" baseline="-25000" dirty="0">
                <a:latin typeface="Arial" panose="020B0604020202020204" pitchFamily="34" charset="0"/>
                <a:cs typeface="Arial" panose="020B0604020202020204" pitchFamily="34" charset="0"/>
              </a:rPr>
              <a:t>1</a:t>
            </a:r>
            <a:r>
              <a:rPr lang="en-US" sz="2000" dirty="0">
                <a:latin typeface="Arial" panose="020B0604020202020204" pitchFamily="34" charset="0"/>
                <a:cs typeface="Arial" panose="020B0604020202020204" pitchFamily="34" charset="0"/>
              </a:rPr>
              <a:t>​ more reliable, leading to a narrower confidence interval.</a:t>
            </a:r>
          </a:p>
          <a:p>
            <a:endParaRPr lang="en-US" b="1" dirty="0">
              <a:latin typeface="Calibri (Body)"/>
            </a:endParaRPr>
          </a:p>
          <a:p>
            <a:endParaRPr lang="en-US" dirty="0">
              <a:latin typeface="Calibri (Body)"/>
            </a:endParaRPr>
          </a:p>
        </p:txBody>
      </p:sp>
    </p:spTree>
    <p:extLst>
      <p:ext uri="{BB962C8B-B14F-4D97-AF65-F5344CB8AC3E}">
        <p14:creationId xmlns:p14="http://schemas.microsoft.com/office/powerpoint/2010/main" val="2901381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6C07B-E0C6-2ED0-43CA-34F4581AAD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5B300-8C86-516C-1E39-F77E2788FFA4}"/>
              </a:ext>
            </a:extLst>
          </p:cNvPr>
          <p:cNvSpPr>
            <a:spLocks noGrp="1"/>
          </p:cNvSpPr>
          <p:nvPr>
            <p:ph type="title"/>
          </p:nvPr>
        </p:nvSpPr>
        <p:spPr>
          <a:xfrm>
            <a:off x="295759" y="235974"/>
            <a:ext cx="10515600" cy="1019390"/>
          </a:xfrm>
        </p:spPr>
        <p:txBody>
          <a:bodyPr>
            <a:noAutofit/>
          </a:bodyPr>
          <a:lstStyle/>
          <a:p>
            <a:r>
              <a:rPr lang="en-US" sz="3600" dirty="0">
                <a:latin typeface="Arial" panose="020B0604020202020204" pitchFamily="34" charset="0"/>
                <a:cs typeface="Arial" panose="020B0604020202020204" pitchFamily="34" charset="0"/>
              </a:rPr>
              <a:t>4. As the Sample Size (𝑛) Increases, the Width of the Interval Decreases</a:t>
            </a:r>
          </a:p>
        </p:txBody>
      </p:sp>
      <p:sp>
        <p:nvSpPr>
          <p:cNvPr id="3" name="Content Placeholder 2">
            <a:extLst>
              <a:ext uri="{FF2B5EF4-FFF2-40B4-BE49-F238E27FC236}">
                <a16:creationId xmlns:a16="http://schemas.microsoft.com/office/drawing/2014/main" id="{D9EF475F-8482-505D-2AFC-63ED5EBF6279}"/>
              </a:ext>
            </a:extLst>
          </p:cNvPr>
          <p:cNvSpPr>
            <a:spLocks noGrp="1"/>
          </p:cNvSpPr>
          <p:nvPr>
            <p:ph idx="1"/>
          </p:nvPr>
        </p:nvSpPr>
        <p:spPr>
          <a:xfrm>
            <a:off x="368085" y="1340011"/>
            <a:ext cx="10515600" cy="4351338"/>
          </a:xfrm>
        </p:spPr>
        <p:txBody>
          <a:bodyPr>
            <a:normAutofit/>
          </a:bodyPr>
          <a:lstStyle/>
          <a:p>
            <a:r>
              <a:rPr lang="en-US" sz="2000" b="1" dirty="0">
                <a:latin typeface="Arial" panose="020B0604020202020204" pitchFamily="34" charset="0"/>
                <a:cs typeface="Arial" panose="020B0604020202020204" pitchFamily="34" charset="0"/>
              </a:rPr>
              <a:t>Example</a:t>
            </a:r>
            <a:r>
              <a:rPr lang="en-US" sz="2000" dirty="0">
                <a:latin typeface="Arial" panose="020B0604020202020204" pitchFamily="34" charset="0"/>
                <a:cs typeface="Arial" panose="020B0604020202020204" pitchFamily="34" charset="0"/>
              </a:rPr>
              <a:t>: Imagine you are polling people about their favorite class</a:t>
            </a:r>
          </a:p>
          <a:p>
            <a:pPr lvl="1"/>
            <a:r>
              <a:rPr lang="en-US" sz="2000" dirty="0">
                <a:latin typeface="Arial" panose="020B0604020202020204" pitchFamily="34" charset="0"/>
                <a:cs typeface="Arial" panose="020B0604020202020204" pitchFamily="34" charset="0"/>
              </a:rPr>
              <a:t>If you survey only 5 people, their responses may not represent the whole population, and history of ancient civilization may emerge the winner</a:t>
            </a:r>
          </a:p>
          <a:p>
            <a:pPr lvl="1"/>
            <a:r>
              <a:rPr lang="en-US" sz="2000" dirty="0">
                <a:latin typeface="Arial" panose="020B0604020202020204" pitchFamily="34" charset="0"/>
                <a:cs typeface="Arial" panose="020B0604020202020204" pitchFamily="34" charset="0"/>
              </a:rPr>
              <a:t>If you survey 500 people, you get a more reliable estimate that statistics was their favorite class</a:t>
            </a:r>
          </a:p>
          <a:p>
            <a:pPr lvl="1"/>
            <a:r>
              <a:rPr lang="en-US" sz="2000" dirty="0">
                <a:latin typeface="Arial" panose="020B0604020202020204" pitchFamily="34" charset="0"/>
                <a:cs typeface="Arial" panose="020B0604020202020204" pitchFamily="34" charset="0"/>
              </a:rPr>
              <a:t>With larger samples, the margin of error decreases because you are more confident in the results</a:t>
            </a:r>
          </a:p>
          <a:p>
            <a:r>
              <a:rPr lang="en-US" sz="2000" dirty="0">
                <a:latin typeface="Arial" panose="020B0604020202020204" pitchFamily="34" charset="0"/>
                <a:cs typeface="Arial" panose="020B0604020202020204" pitchFamily="34" charset="0"/>
                <a:sym typeface="Wingdings" panose="05000000000000000000" pitchFamily="2" charset="2"/>
              </a:rPr>
              <a:t> </a:t>
            </a:r>
            <a:r>
              <a:rPr lang="en-US" sz="2000" dirty="0">
                <a:latin typeface="Arial" panose="020B0604020202020204" pitchFamily="34" charset="0"/>
                <a:cs typeface="Arial" panose="020B0604020202020204" pitchFamily="34" charset="0"/>
              </a:rPr>
              <a:t>Larger samples provide more precise estimates, making confidence intervals narrower.</a:t>
            </a:r>
          </a:p>
          <a:p>
            <a:endParaRPr lang="en-US" b="1" dirty="0">
              <a:latin typeface="Calibri (Body)"/>
            </a:endParaRPr>
          </a:p>
          <a:p>
            <a:endParaRPr lang="en-US" dirty="0">
              <a:latin typeface="Calibri (Body)"/>
            </a:endParaRPr>
          </a:p>
        </p:txBody>
      </p:sp>
    </p:spTree>
    <p:extLst>
      <p:ext uri="{BB962C8B-B14F-4D97-AF65-F5344CB8AC3E}">
        <p14:creationId xmlns:p14="http://schemas.microsoft.com/office/powerpoint/2010/main" val="3896349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Slide Background">
            <a:extLst>
              <a:ext uri="{FF2B5EF4-FFF2-40B4-BE49-F238E27FC236}">
                <a16:creationId xmlns:a16="http://schemas.microsoft.com/office/drawing/2014/main" id="{5F637E18-EF26-4327-9077-7FFC67B98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8" name="Rectangle 17">
            <a:extLst>
              <a:ext uri="{FF2B5EF4-FFF2-40B4-BE49-F238E27FC236}">
                <a16:creationId xmlns:a16="http://schemas.microsoft.com/office/drawing/2014/main" id="{3EED6667-6BE8-A2AB-422A-5A1D89727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3153CE-1E8E-7282-5B49-D625B22FA9C5}"/>
              </a:ext>
            </a:extLst>
          </p:cNvPr>
          <p:cNvSpPr>
            <a:spLocks noGrp="1"/>
          </p:cNvSpPr>
          <p:nvPr>
            <p:ph type="title" idx="4294967295"/>
          </p:nvPr>
        </p:nvSpPr>
        <p:spPr>
          <a:xfrm>
            <a:off x="260374" y="178548"/>
            <a:ext cx="9042122" cy="669658"/>
          </a:xfrm>
        </p:spPr>
        <p:txBody>
          <a:bodyPr vert="horz" lIns="91440" tIns="45720" rIns="91440" bIns="45720" rtlCol="0" anchor="ctr">
            <a:normAutofit/>
          </a:bodyPr>
          <a:lstStyle/>
          <a:p>
            <a:r>
              <a:rPr lang="en-US" sz="3600" kern="1200" dirty="0">
                <a:solidFill>
                  <a:schemeClr val="tx1"/>
                </a:solidFill>
                <a:latin typeface="Arial" panose="020B0604020202020204" pitchFamily="34" charset="0"/>
                <a:cs typeface="Arial" panose="020B0604020202020204" pitchFamily="34" charset="0"/>
              </a:rPr>
              <a:t>Concept, Intuition, and Take-away</a:t>
            </a:r>
          </a:p>
        </p:txBody>
      </p:sp>
      <p:graphicFrame>
        <p:nvGraphicFramePr>
          <p:cNvPr id="4" name="Content Placeholder 3">
            <a:extLst>
              <a:ext uri="{FF2B5EF4-FFF2-40B4-BE49-F238E27FC236}">
                <a16:creationId xmlns:a16="http://schemas.microsoft.com/office/drawing/2014/main" id="{A1980A72-E37B-243F-0CF5-3B732D30F96A}"/>
              </a:ext>
            </a:extLst>
          </p:cNvPr>
          <p:cNvGraphicFramePr>
            <a:graphicFrameLocks noGrp="1"/>
          </p:cNvGraphicFramePr>
          <p:nvPr>
            <p:ph idx="4294967295"/>
            <p:extLst>
              <p:ext uri="{D42A27DB-BD31-4B8C-83A1-F6EECF244321}">
                <p14:modId xmlns:p14="http://schemas.microsoft.com/office/powerpoint/2010/main" val="3509915952"/>
              </p:ext>
            </p:extLst>
          </p:nvPr>
        </p:nvGraphicFramePr>
        <p:xfrm>
          <a:off x="413559" y="848206"/>
          <a:ext cx="11364878" cy="5011490"/>
        </p:xfrm>
        <a:graphic>
          <a:graphicData uri="http://schemas.openxmlformats.org/drawingml/2006/table">
            <a:tbl>
              <a:tblPr firstRow="1" bandRow="1">
                <a:noFill/>
              </a:tblPr>
              <a:tblGrid>
                <a:gridCol w="3336984">
                  <a:extLst>
                    <a:ext uri="{9D8B030D-6E8A-4147-A177-3AD203B41FA5}">
                      <a16:colId xmlns:a16="http://schemas.microsoft.com/office/drawing/2014/main" val="422884678"/>
                    </a:ext>
                  </a:extLst>
                </a:gridCol>
                <a:gridCol w="4155141">
                  <a:extLst>
                    <a:ext uri="{9D8B030D-6E8A-4147-A177-3AD203B41FA5}">
                      <a16:colId xmlns:a16="http://schemas.microsoft.com/office/drawing/2014/main" val="2786961570"/>
                    </a:ext>
                  </a:extLst>
                </a:gridCol>
                <a:gridCol w="3872753">
                  <a:extLst>
                    <a:ext uri="{9D8B030D-6E8A-4147-A177-3AD203B41FA5}">
                      <a16:colId xmlns:a16="http://schemas.microsoft.com/office/drawing/2014/main" val="3388222827"/>
                    </a:ext>
                  </a:extLst>
                </a:gridCol>
              </a:tblGrid>
              <a:tr h="547576">
                <a:tc>
                  <a:txBody>
                    <a:bodyPr/>
                    <a:lstStyle/>
                    <a:p>
                      <a:pPr algn="ctr" fontAlgn="ctr"/>
                      <a:r>
                        <a:rPr lang="en-US" sz="2000" b="1" i="0" u="none" strike="noStrike" dirty="0">
                          <a:solidFill>
                            <a:srgbClr val="FFFFFF"/>
                          </a:solidFill>
                          <a:effectLst/>
                          <a:latin typeface="Arial" panose="020B0604020202020204" pitchFamily="34" charset="0"/>
                          <a:cs typeface="Arial" panose="020B0604020202020204" pitchFamily="34" charset="0"/>
                        </a:rPr>
                        <a:t>Concept</a:t>
                      </a:r>
                    </a:p>
                  </a:txBody>
                  <a:tcPr marL="225649" marR="135389" marT="135389" marB="135389" anchor="ctr">
                    <a:lnL w="38100" cap="flat" cmpd="sng" algn="ctr">
                      <a:no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lgn="ctr" fontAlgn="ctr"/>
                      <a:r>
                        <a:rPr lang="en-US" sz="2000" b="1" i="0" u="none" strike="noStrike" dirty="0">
                          <a:solidFill>
                            <a:srgbClr val="FFFFFF"/>
                          </a:solidFill>
                          <a:effectLst/>
                          <a:latin typeface="Arial" panose="020B0604020202020204" pitchFamily="34" charset="0"/>
                          <a:cs typeface="Arial" panose="020B0604020202020204" pitchFamily="34" charset="0"/>
                        </a:rPr>
                        <a:t>Intuitive Example</a:t>
                      </a:r>
                    </a:p>
                  </a:txBody>
                  <a:tcPr marL="225649" marR="135389" marT="135389" marB="135389"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lgn="ctr" fontAlgn="ctr"/>
                      <a:r>
                        <a:rPr lang="en-US" sz="2000" b="1" i="0" u="none" strike="noStrike">
                          <a:solidFill>
                            <a:srgbClr val="FFFFFF"/>
                          </a:solidFill>
                          <a:effectLst/>
                          <a:latin typeface="Arial" panose="020B0604020202020204" pitchFamily="34" charset="0"/>
                          <a:cs typeface="Arial" panose="020B0604020202020204" pitchFamily="34" charset="0"/>
                        </a:rPr>
                        <a:t>Key Takeaway</a:t>
                      </a:r>
                    </a:p>
                  </a:txBody>
                  <a:tcPr marL="225649" marR="135389" marT="135389" marB="135389" anchor="ctr">
                    <a:lnL w="38100" cap="flat" cmpd="sng" algn="ctr">
                      <a:solidFill>
                        <a:srgbClr val="FFFFFF"/>
                      </a:solidFill>
                      <a:prstDash val="solid"/>
                    </a:lnL>
                    <a:lnR w="38100" cap="flat" cmpd="sng" algn="ctr">
                      <a:noFill/>
                      <a:prstDash val="solid"/>
                    </a:lnR>
                    <a:lnT w="38100" cap="flat" cmpd="sng" algn="ctr">
                      <a:noFill/>
                      <a:prstDash val="solid"/>
                    </a:lnT>
                    <a:lnB w="38100" cap="flat" cmpd="sng" algn="ctr">
                      <a:solidFill>
                        <a:srgbClr val="FFFFFF"/>
                      </a:solidFill>
                      <a:prstDash val="solid"/>
                    </a:lnB>
                    <a:solidFill>
                      <a:srgbClr val="636B68">
                        <a:alpha val="69804"/>
                      </a:srgbClr>
                    </a:solidFill>
                  </a:tcPr>
                </a:tc>
                <a:extLst>
                  <a:ext uri="{0D108BD9-81ED-4DB2-BD59-A6C34878D82A}">
                    <a16:rowId xmlns:a16="http://schemas.microsoft.com/office/drawing/2014/main" val="227429365"/>
                  </a:ext>
                </a:extLst>
              </a:tr>
              <a:tr h="343701">
                <a:tc>
                  <a:txBody>
                    <a:bodyPr/>
                    <a:lstStyle/>
                    <a:p>
                      <a:pPr algn="l" fontAlgn="ctr"/>
                      <a:r>
                        <a:rPr lang="en-US" sz="2000" b="0" i="0" u="none" strike="noStrike" dirty="0">
                          <a:solidFill>
                            <a:schemeClr val="tx1">
                              <a:lumMod val="85000"/>
                              <a:lumOff val="15000"/>
                            </a:schemeClr>
                          </a:solidFill>
                          <a:effectLst/>
                          <a:latin typeface="Arial" panose="020B0604020202020204" pitchFamily="34" charset="0"/>
                          <a:cs typeface="Arial" panose="020B0604020202020204" pitchFamily="34" charset="0"/>
                        </a:rPr>
                        <a:t>Lower confidence level → narrower interval</a:t>
                      </a:r>
                    </a:p>
                  </a:txBody>
                  <a:tcPr marL="225649" marR="135389" marT="135389" marB="135389"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l" fontAlgn="ctr"/>
                      <a:r>
                        <a:rPr lang="en-US" sz="2000" b="0" i="0" u="none" strike="noStrike" dirty="0">
                          <a:solidFill>
                            <a:schemeClr val="tx1">
                              <a:lumMod val="85000"/>
                              <a:lumOff val="15000"/>
                            </a:schemeClr>
                          </a:solidFill>
                          <a:effectLst/>
                          <a:latin typeface="Arial" panose="020B0604020202020204" pitchFamily="34" charset="0"/>
                          <a:cs typeface="Arial" panose="020B0604020202020204" pitchFamily="34" charset="0"/>
                        </a:rPr>
                        <a:t>Guessing my bench—higher confidence means a wider range</a:t>
                      </a:r>
                    </a:p>
                  </a:txBody>
                  <a:tcPr marL="225649" marR="135389" marT="135389" marB="13538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l" fontAlgn="ctr"/>
                      <a:r>
                        <a:rPr lang="en-US" sz="2000" b="0" i="0" u="none" strike="noStrike">
                          <a:solidFill>
                            <a:schemeClr val="tx1">
                              <a:lumMod val="85000"/>
                              <a:lumOff val="15000"/>
                            </a:schemeClr>
                          </a:solidFill>
                          <a:effectLst/>
                          <a:latin typeface="Arial" panose="020B0604020202020204" pitchFamily="34" charset="0"/>
                          <a:cs typeface="Arial" panose="020B0604020202020204" pitchFamily="34" charset="0"/>
                        </a:rPr>
                        <a:t>Higher confidence = wider CI, lower confidence = narrower CI</a:t>
                      </a:r>
                    </a:p>
                  </a:txBody>
                  <a:tcPr marL="225649" marR="135389" marT="135389" marB="135389"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943567266"/>
                  </a:ext>
                </a:extLst>
              </a:tr>
              <a:tr h="788268">
                <a:tc>
                  <a:txBody>
                    <a:bodyPr/>
                    <a:lstStyle/>
                    <a:p>
                      <a:pPr algn="l" fontAlgn="ctr"/>
                      <a:r>
                        <a:rPr lang="en-US" sz="2000" b="0" i="0" u="none" strike="noStrike">
                          <a:solidFill>
                            <a:schemeClr val="tx1">
                              <a:lumMod val="85000"/>
                              <a:lumOff val="15000"/>
                            </a:schemeClr>
                          </a:solidFill>
                          <a:effectLst/>
                          <a:latin typeface="Arial" panose="020B0604020202020204" pitchFamily="34" charset="0"/>
                          <a:cs typeface="Arial" panose="020B0604020202020204" pitchFamily="34" charset="0"/>
                        </a:rPr>
                        <a:t>Less error (MSE) → narrower interval</a:t>
                      </a:r>
                    </a:p>
                  </a:txBody>
                  <a:tcPr marL="225649" marR="135389" marT="135389" marB="135389"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ctr"/>
                      <a:r>
                        <a:rPr lang="en-US" sz="2000" b="0" i="0" u="none" strike="noStrike" dirty="0">
                          <a:solidFill>
                            <a:schemeClr val="tx1">
                              <a:lumMod val="85000"/>
                              <a:lumOff val="15000"/>
                            </a:schemeClr>
                          </a:solidFill>
                          <a:effectLst/>
                          <a:latin typeface="Arial" panose="020B0604020202020204" pitchFamily="34" charset="0"/>
                          <a:cs typeface="Arial" panose="020B0604020202020204" pitchFamily="34" charset="0"/>
                        </a:rPr>
                        <a:t>Commute times—more accuracy means a smaller margin of error</a:t>
                      </a:r>
                    </a:p>
                  </a:txBody>
                  <a:tcPr marL="225649" marR="135389" marT="135389" marB="13538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ctr"/>
                      <a:r>
                        <a:rPr lang="en-US" sz="2000" b="0" i="0" u="none" strike="noStrike" dirty="0">
                          <a:solidFill>
                            <a:schemeClr val="tx1">
                              <a:lumMod val="85000"/>
                              <a:lumOff val="15000"/>
                            </a:schemeClr>
                          </a:solidFill>
                          <a:effectLst/>
                          <a:latin typeface="Arial" panose="020B0604020202020204" pitchFamily="34" charset="0"/>
                          <a:cs typeface="Arial" panose="020B0604020202020204" pitchFamily="34" charset="0"/>
                        </a:rPr>
                        <a:t>More precise regression estimates lead to narrower confidence intervals</a:t>
                      </a:r>
                    </a:p>
                  </a:txBody>
                  <a:tcPr marL="225649" marR="135389" marT="135389" marB="135389"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234243739"/>
                  </a:ext>
                </a:extLst>
              </a:tr>
              <a:tr h="788268">
                <a:tc>
                  <a:txBody>
                    <a:bodyPr/>
                    <a:lstStyle/>
                    <a:p>
                      <a:pPr algn="l" fontAlgn="ctr"/>
                      <a:r>
                        <a:rPr lang="en-US" sz="2000" b="0" i="0" u="none" strike="noStrike">
                          <a:solidFill>
                            <a:schemeClr val="tx1">
                              <a:lumMod val="85000"/>
                              <a:lumOff val="15000"/>
                            </a:schemeClr>
                          </a:solidFill>
                          <a:effectLst/>
                          <a:latin typeface="Arial" panose="020B0604020202020204" pitchFamily="34" charset="0"/>
                          <a:cs typeface="Arial" panose="020B0604020202020204" pitchFamily="34" charset="0"/>
                        </a:rPr>
                        <a:t>More spread in </a:t>
                      </a:r>
                      <a:r>
                        <a:rPr lang="en-US" sz="2000" b="0" i="1" u="none" strike="noStrike">
                          <a:solidFill>
                            <a:schemeClr val="tx1">
                              <a:lumMod val="85000"/>
                              <a:lumOff val="15000"/>
                            </a:schemeClr>
                          </a:solidFill>
                          <a:effectLst/>
                          <a:latin typeface="Arial" panose="020B0604020202020204" pitchFamily="34" charset="0"/>
                          <a:cs typeface="Arial" panose="020B0604020202020204" pitchFamily="34" charset="0"/>
                        </a:rPr>
                        <a:t>X</a:t>
                      </a:r>
                      <a:r>
                        <a:rPr lang="en-US" sz="2000" b="0" i="0" u="none" strike="noStrike">
                          <a:solidFill>
                            <a:schemeClr val="tx1">
                              <a:lumMod val="85000"/>
                              <a:lumOff val="15000"/>
                            </a:schemeClr>
                          </a:solidFill>
                          <a:effectLst/>
                          <a:latin typeface="Arial" panose="020B0604020202020204" pitchFamily="34" charset="0"/>
                          <a:cs typeface="Arial" panose="020B0604020202020204" pitchFamily="34" charset="0"/>
                        </a:rPr>
                        <a:t> → narrower interval</a:t>
                      </a:r>
                    </a:p>
                  </a:txBody>
                  <a:tcPr marL="225649" marR="135389" marT="135389" marB="135389"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l" fontAlgn="ctr"/>
                      <a:r>
                        <a:rPr lang="en-US" sz="2000" b="0" i="0" u="none" strike="noStrike" dirty="0">
                          <a:solidFill>
                            <a:schemeClr val="tx1">
                              <a:lumMod val="85000"/>
                              <a:lumOff val="15000"/>
                            </a:schemeClr>
                          </a:solidFill>
                          <a:effectLst/>
                          <a:latin typeface="Arial" panose="020B0604020202020204" pitchFamily="34" charset="0"/>
                          <a:cs typeface="Arial" panose="020B0604020202020204" pitchFamily="34" charset="0"/>
                        </a:rPr>
                        <a:t>Studying for an exam—more variation in study hours makes it easier to estimate impact</a:t>
                      </a:r>
                    </a:p>
                  </a:txBody>
                  <a:tcPr marL="225649" marR="135389" marT="135389" marB="13538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l" fontAlgn="ctr"/>
                      <a:r>
                        <a:rPr lang="en-US" sz="2000" b="0" i="0" u="none" strike="noStrike" dirty="0">
                          <a:solidFill>
                            <a:schemeClr val="tx1">
                              <a:lumMod val="85000"/>
                              <a:lumOff val="15000"/>
                            </a:schemeClr>
                          </a:solidFill>
                          <a:effectLst/>
                          <a:latin typeface="Arial" panose="020B0604020202020204" pitchFamily="34" charset="0"/>
                          <a:cs typeface="Arial" panose="020B0604020202020204" pitchFamily="34" charset="0"/>
                        </a:rPr>
                        <a:t>More predictor variation improves estimate precision</a:t>
                      </a:r>
                    </a:p>
                  </a:txBody>
                  <a:tcPr marL="225649" marR="135389" marT="135389" marB="135389"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371310470"/>
                  </a:ext>
                </a:extLst>
              </a:tr>
              <a:tr h="788268">
                <a:tc>
                  <a:txBody>
                    <a:bodyPr/>
                    <a:lstStyle/>
                    <a:p>
                      <a:pPr algn="l" fontAlgn="ctr"/>
                      <a:r>
                        <a:rPr lang="en-US" sz="2000" b="0" i="0" u="none" strike="noStrike">
                          <a:solidFill>
                            <a:schemeClr val="tx1">
                              <a:lumMod val="85000"/>
                              <a:lumOff val="15000"/>
                            </a:schemeClr>
                          </a:solidFill>
                          <a:effectLst/>
                          <a:latin typeface="Arial" panose="020B0604020202020204" pitchFamily="34" charset="0"/>
                          <a:cs typeface="Arial" panose="020B0604020202020204" pitchFamily="34" charset="0"/>
                        </a:rPr>
                        <a:t>Larger sample size → narrower interval</a:t>
                      </a:r>
                    </a:p>
                  </a:txBody>
                  <a:tcPr marL="225649" marR="135389" marT="135389" marB="135389" anchor="ctr">
                    <a:lnL w="12700" cmpd="sng">
                      <a:no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30196"/>
                      </a:srgbClr>
                    </a:solidFill>
                  </a:tcPr>
                </a:tc>
                <a:tc>
                  <a:txBody>
                    <a:bodyPr/>
                    <a:lstStyle/>
                    <a:p>
                      <a:pPr algn="l" fontAlgn="ctr"/>
                      <a:r>
                        <a:rPr lang="en-US" sz="2000" b="0" i="0" u="none" strike="noStrike">
                          <a:solidFill>
                            <a:schemeClr val="tx1">
                              <a:lumMod val="85000"/>
                              <a:lumOff val="15000"/>
                            </a:schemeClr>
                          </a:solidFill>
                          <a:effectLst/>
                          <a:latin typeface="Arial" panose="020B0604020202020204" pitchFamily="34" charset="0"/>
                          <a:cs typeface="Arial" panose="020B0604020202020204" pitchFamily="34" charset="0"/>
                        </a:rPr>
                        <a:t>Polling students—bigger samples reduce uncertainty</a:t>
                      </a:r>
                    </a:p>
                  </a:txBody>
                  <a:tcPr marL="225649" marR="135389" marT="135389" marB="13538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30196"/>
                      </a:srgbClr>
                    </a:solidFill>
                  </a:tcPr>
                </a:tc>
                <a:tc>
                  <a:txBody>
                    <a:bodyPr/>
                    <a:lstStyle/>
                    <a:p>
                      <a:pPr algn="l" fontAlgn="ctr"/>
                      <a:r>
                        <a:rPr lang="en-US" sz="2000" b="0" i="0" u="none" strike="noStrike" dirty="0">
                          <a:solidFill>
                            <a:schemeClr val="tx1">
                              <a:lumMod val="85000"/>
                              <a:lumOff val="15000"/>
                            </a:schemeClr>
                          </a:solidFill>
                          <a:effectLst/>
                          <a:latin typeface="Arial" panose="020B0604020202020204" pitchFamily="34" charset="0"/>
                          <a:cs typeface="Arial" panose="020B0604020202020204" pitchFamily="34" charset="0"/>
                        </a:rPr>
                        <a:t>More data = smaller standard errors and narrower CIs</a:t>
                      </a:r>
                    </a:p>
                  </a:txBody>
                  <a:tcPr marL="225649" marR="135389" marT="135389" marB="135389" anchor="ctr">
                    <a:lnL w="38100" cap="flat" cmpd="sng" algn="ctr">
                      <a:solidFill>
                        <a:srgbClr val="FFFFFF"/>
                      </a:solidFill>
                      <a:prstDash val="solid"/>
                    </a:lnL>
                    <a:lnR w="12700" cmpd="sng">
                      <a:noFill/>
                      <a:prstDash val="solid"/>
                    </a:lnR>
                    <a:lnT w="38100" cap="flat" cmpd="sng" algn="ctr">
                      <a:solidFill>
                        <a:srgbClr val="FFFFFF"/>
                      </a:solidFill>
                      <a:prstDash val="solid"/>
                    </a:lnT>
                    <a:lnB w="12700" cmpd="sng">
                      <a:noFill/>
                      <a:prstDash val="solid"/>
                    </a:lnB>
                    <a:solidFill>
                      <a:srgbClr val="878E8B">
                        <a:alpha val="30196"/>
                      </a:srgbClr>
                    </a:solidFill>
                  </a:tcPr>
                </a:tc>
                <a:extLst>
                  <a:ext uri="{0D108BD9-81ED-4DB2-BD59-A6C34878D82A}">
                    <a16:rowId xmlns:a16="http://schemas.microsoft.com/office/drawing/2014/main" val="260780267"/>
                  </a:ext>
                </a:extLst>
              </a:tr>
            </a:tbl>
          </a:graphicData>
        </a:graphic>
      </p:graphicFrame>
    </p:spTree>
    <p:extLst>
      <p:ext uri="{BB962C8B-B14F-4D97-AF65-F5344CB8AC3E}">
        <p14:creationId xmlns:p14="http://schemas.microsoft.com/office/powerpoint/2010/main" val="37926471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7ADB2-F10B-CCE0-2130-152B3510A313}"/>
              </a:ext>
            </a:extLst>
          </p:cNvPr>
          <p:cNvSpPr>
            <a:spLocks noGrp="1"/>
          </p:cNvSpPr>
          <p:nvPr>
            <p:ph type="title"/>
          </p:nvPr>
        </p:nvSpPr>
        <p:spPr>
          <a:xfrm>
            <a:off x="94488" y="168655"/>
            <a:ext cx="10515600" cy="902843"/>
          </a:xfrm>
        </p:spPr>
        <p:txBody>
          <a:bodyPr>
            <a:normAutofit/>
          </a:bodyPr>
          <a:lstStyle/>
          <a:p>
            <a:r>
              <a:rPr lang="en-US" sz="3600" dirty="0">
                <a:latin typeface="Arial" panose="020B0604020202020204" pitchFamily="34" charset="0"/>
                <a:cs typeface="Arial" panose="020B0604020202020204" pitchFamily="34" charset="0"/>
              </a:rPr>
              <a:t>Another example</a:t>
            </a:r>
          </a:p>
        </p:txBody>
      </p:sp>
      <p:sp>
        <p:nvSpPr>
          <p:cNvPr id="3" name="Content Placeholder 2">
            <a:extLst>
              <a:ext uri="{FF2B5EF4-FFF2-40B4-BE49-F238E27FC236}">
                <a16:creationId xmlns:a16="http://schemas.microsoft.com/office/drawing/2014/main" id="{E681A03B-3D93-958C-2FC1-826516F103A8}"/>
              </a:ext>
            </a:extLst>
          </p:cNvPr>
          <p:cNvSpPr>
            <a:spLocks noGrp="1"/>
          </p:cNvSpPr>
          <p:nvPr>
            <p:ph idx="1"/>
          </p:nvPr>
        </p:nvSpPr>
        <p:spPr>
          <a:xfrm>
            <a:off x="265176" y="935609"/>
            <a:ext cx="10515600" cy="4351338"/>
          </a:xfrm>
        </p:spPr>
        <p:txBody>
          <a:bodyPr>
            <a:normAutofit/>
          </a:bodyPr>
          <a:lstStyle/>
          <a:p>
            <a:r>
              <a:rPr lang="en-US" sz="2000" dirty="0">
                <a:latin typeface="Arial" panose="020B0604020202020204" pitchFamily="34" charset="0"/>
                <a:cs typeface="Arial" panose="020B0604020202020204" pitchFamily="34" charset="0"/>
              </a:rPr>
              <a:t>Can I predict your graduate GPA based on your undergraduate GPA &amp; score on the GRE</a:t>
            </a:r>
          </a:p>
          <a:p>
            <a:r>
              <a:rPr lang="en-US" sz="2000" b="1" dirty="0" err="1">
                <a:latin typeface="Arial" panose="020B0604020202020204" pitchFamily="34" charset="0"/>
                <a:cs typeface="Arial" panose="020B0604020202020204" pitchFamily="34" charset="0"/>
              </a:rPr>
              <a:t>gregpa.sav</a:t>
            </a:r>
            <a:endParaRPr lang="en-US" sz="2000" b="1"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Process</a:t>
            </a:r>
          </a:p>
          <a:p>
            <a:pPr lvl="1"/>
            <a:r>
              <a:rPr lang="en-US" sz="2000" dirty="0">
                <a:latin typeface="Arial" panose="020B0604020202020204" pitchFamily="34" charset="0"/>
                <a:cs typeface="Arial" panose="020B0604020202020204" pitchFamily="34" charset="0"/>
              </a:rPr>
              <a:t>Look at descriptive statistics</a:t>
            </a:r>
          </a:p>
          <a:p>
            <a:pPr lvl="1"/>
            <a:r>
              <a:rPr lang="en-US" sz="2000" dirty="0">
                <a:latin typeface="Arial" panose="020B0604020202020204" pitchFamily="34" charset="0"/>
                <a:cs typeface="Arial" panose="020B0604020202020204" pitchFamily="34" charset="0"/>
              </a:rPr>
              <a:t>Calculate the zero order and partial correlations between the variables</a:t>
            </a:r>
          </a:p>
          <a:p>
            <a:pPr lvl="1"/>
            <a:r>
              <a:rPr lang="en-US" sz="2000" dirty="0">
                <a:latin typeface="Arial" panose="020B0604020202020204" pitchFamily="34" charset="0"/>
                <a:cs typeface="Arial" panose="020B0604020202020204" pitchFamily="34" charset="0"/>
              </a:rPr>
              <a:t>Run regression analysis</a:t>
            </a:r>
          </a:p>
          <a:p>
            <a:pPr lvl="1"/>
            <a:r>
              <a:rPr lang="en-US" sz="2000" dirty="0">
                <a:latin typeface="Arial" panose="020B0604020202020204" pitchFamily="34" charset="0"/>
                <a:cs typeface="Arial" panose="020B0604020202020204" pitchFamily="34" charset="0"/>
              </a:rPr>
              <a:t>Interpret coefficients</a:t>
            </a:r>
          </a:p>
          <a:p>
            <a:pPr lvl="1"/>
            <a:r>
              <a:rPr lang="en-US" sz="2000" dirty="0">
                <a:latin typeface="Arial" panose="020B0604020202020204" pitchFamily="34" charset="0"/>
                <a:cs typeface="Arial" panose="020B0604020202020204" pitchFamily="34" charset="0"/>
              </a:rPr>
              <a:t>Evaluate overall model for assumptions and fit</a:t>
            </a:r>
          </a:p>
          <a:p>
            <a:endParaRPr lang="en-US" dirty="0"/>
          </a:p>
        </p:txBody>
      </p:sp>
    </p:spTree>
    <p:extLst>
      <p:ext uri="{BB962C8B-B14F-4D97-AF65-F5344CB8AC3E}">
        <p14:creationId xmlns:p14="http://schemas.microsoft.com/office/powerpoint/2010/main" val="13796087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A7F09-327D-DEBB-4BFF-BF68A7084725}"/>
              </a:ext>
            </a:extLst>
          </p:cNvPr>
          <p:cNvSpPr>
            <a:spLocks noGrp="1"/>
          </p:cNvSpPr>
          <p:nvPr>
            <p:ph type="title"/>
          </p:nvPr>
        </p:nvSpPr>
        <p:spPr>
          <a:xfrm>
            <a:off x="254431" y="194645"/>
            <a:ext cx="10515600" cy="786916"/>
          </a:xfrm>
        </p:spPr>
        <p:txBody>
          <a:bodyPr>
            <a:normAutofit/>
          </a:bodyPr>
          <a:lstStyle/>
          <a:p>
            <a:r>
              <a:rPr lang="en-US" altLang="en-US" sz="3600" dirty="0">
                <a:latin typeface="Arial" panose="020B0604020202020204" pitchFamily="34" charset="0"/>
                <a:cs typeface="Arial" panose="020B0604020202020204" pitchFamily="34" charset="0"/>
              </a:rPr>
              <a:t>GRE-GPA Example Data</a:t>
            </a:r>
            <a:endParaRPr lang="en-US" sz="3600" dirty="0">
              <a:latin typeface="Arial" panose="020B0604020202020204" pitchFamily="34" charset="0"/>
              <a:cs typeface="Arial" panose="020B0604020202020204" pitchFamily="34" charset="0"/>
            </a:endParaRPr>
          </a:p>
        </p:txBody>
      </p:sp>
      <p:graphicFrame>
        <p:nvGraphicFramePr>
          <p:cNvPr id="4" name="Content Placeholder 5">
            <a:extLst>
              <a:ext uri="{FF2B5EF4-FFF2-40B4-BE49-F238E27FC236}">
                <a16:creationId xmlns:a16="http://schemas.microsoft.com/office/drawing/2014/main" id="{43A655EA-A580-27E8-331C-001659975769}"/>
              </a:ext>
            </a:extLst>
          </p:cNvPr>
          <p:cNvGraphicFramePr>
            <a:graphicFrameLocks noGrp="1"/>
          </p:cNvGraphicFramePr>
          <p:nvPr>
            <p:ph idx="1"/>
            <p:extLst>
              <p:ext uri="{D42A27DB-BD31-4B8C-83A1-F6EECF244321}">
                <p14:modId xmlns:p14="http://schemas.microsoft.com/office/powerpoint/2010/main" val="4157143344"/>
              </p:ext>
            </p:extLst>
          </p:nvPr>
        </p:nvGraphicFramePr>
        <p:xfrm>
          <a:off x="472440" y="981561"/>
          <a:ext cx="9213566" cy="4215384"/>
        </p:xfrm>
        <a:graphic>
          <a:graphicData uri="http://schemas.openxmlformats.org/drawingml/2006/table">
            <a:tbl>
              <a:tblPr firstRow="1" firstCol="1" bandRow="1">
                <a:tableStyleId>{8EC20E35-A176-4012-BC5E-935CFFF8708E}</a:tableStyleId>
              </a:tblPr>
              <a:tblGrid>
                <a:gridCol w="1210655">
                  <a:extLst>
                    <a:ext uri="{9D8B030D-6E8A-4147-A177-3AD203B41FA5}">
                      <a16:colId xmlns:a16="http://schemas.microsoft.com/office/drawing/2014/main" val="20000"/>
                    </a:ext>
                  </a:extLst>
                </a:gridCol>
                <a:gridCol w="2232550">
                  <a:extLst>
                    <a:ext uri="{9D8B030D-6E8A-4147-A177-3AD203B41FA5}">
                      <a16:colId xmlns:a16="http://schemas.microsoft.com/office/drawing/2014/main" val="20001"/>
                    </a:ext>
                  </a:extLst>
                </a:gridCol>
                <a:gridCol w="3450793">
                  <a:extLst>
                    <a:ext uri="{9D8B030D-6E8A-4147-A177-3AD203B41FA5}">
                      <a16:colId xmlns:a16="http://schemas.microsoft.com/office/drawing/2014/main" val="20002"/>
                    </a:ext>
                  </a:extLst>
                </a:gridCol>
                <a:gridCol w="2319568">
                  <a:extLst>
                    <a:ext uri="{9D8B030D-6E8A-4147-A177-3AD203B41FA5}">
                      <a16:colId xmlns:a16="http://schemas.microsoft.com/office/drawing/2014/main" val="20003"/>
                    </a:ext>
                  </a:extLst>
                </a:gridCol>
              </a:tblGrid>
              <a:tr h="351282">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Student</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solidFill>
                      <a:schemeClr val="bg2"/>
                    </a:solidFill>
                  </a:tcPr>
                </a:tc>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GRE-Total (X</a:t>
                      </a:r>
                      <a:r>
                        <a:rPr lang="en-US" sz="2000" baseline="-25000" dirty="0">
                          <a:solidFill>
                            <a:schemeClr val="tx1"/>
                          </a:solidFill>
                          <a:effectLst/>
                          <a:latin typeface="Arial" panose="020B0604020202020204" pitchFamily="34" charset="0"/>
                          <a:cs typeface="Arial" panose="020B0604020202020204" pitchFamily="34" charset="0"/>
                        </a:rPr>
                        <a:t>1</a:t>
                      </a:r>
                      <a:r>
                        <a:rPr lang="en-US" sz="2000" dirty="0">
                          <a:solidFill>
                            <a:schemeClr val="tx1"/>
                          </a:solidFill>
                          <a:effectLst/>
                          <a:latin typeface="Arial" panose="020B0604020202020204" pitchFamily="34" charset="0"/>
                          <a:cs typeface="Arial" panose="020B0604020202020204" pitchFamily="34" charset="0"/>
                        </a:rPr>
                        <a:t>)   </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solidFill>
                      <a:schemeClr val="bg2"/>
                    </a:solidFill>
                  </a:tcPr>
                </a:tc>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Undergraduate GPA (X</a:t>
                      </a:r>
                      <a:r>
                        <a:rPr lang="en-US" sz="2000" baseline="-25000" dirty="0">
                          <a:solidFill>
                            <a:schemeClr val="tx1"/>
                          </a:solidFill>
                          <a:effectLst/>
                          <a:latin typeface="Arial" panose="020B0604020202020204" pitchFamily="34" charset="0"/>
                          <a:cs typeface="Arial" panose="020B0604020202020204" pitchFamily="34" charset="0"/>
                        </a:rPr>
                        <a:t>2</a:t>
                      </a:r>
                      <a:r>
                        <a:rPr lang="en-US" sz="2000" dirty="0">
                          <a:solidFill>
                            <a:schemeClr val="tx1"/>
                          </a:solidFill>
                          <a:effectLst/>
                          <a:latin typeface="Arial" panose="020B0604020202020204" pitchFamily="34" charset="0"/>
                          <a:cs typeface="Arial" panose="020B0604020202020204" pitchFamily="34" charset="0"/>
                        </a:rPr>
                        <a:t>)     </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solidFill>
                      <a:schemeClr val="bg2"/>
                    </a:solidFill>
                  </a:tcPr>
                </a:tc>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Graduate GPA(Y)</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solidFill>
                      <a:schemeClr val="bg2"/>
                    </a:solidFill>
                  </a:tcPr>
                </a:tc>
                <a:extLst>
                  <a:ext uri="{0D108BD9-81ED-4DB2-BD59-A6C34878D82A}">
                    <a16:rowId xmlns:a16="http://schemas.microsoft.com/office/drawing/2014/main" val="10000"/>
                  </a:ext>
                </a:extLst>
              </a:tr>
              <a:tr h="351282">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1</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solidFill>
                      <a:schemeClr val="bg2"/>
                    </a:solidFill>
                  </a:tcPr>
                </a:tc>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145</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3.2</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tc>
                  <a:txBody>
                    <a:bodyPr/>
                    <a:lstStyle/>
                    <a:p>
                      <a:pPr marL="0" marR="0" algn="ctr">
                        <a:spcBef>
                          <a:spcPts val="0"/>
                        </a:spcBef>
                        <a:spcAft>
                          <a:spcPts val="0"/>
                        </a:spcAft>
                      </a:pPr>
                      <a:r>
                        <a:rPr lang="en-US" sz="2000">
                          <a:solidFill>
                            <a:schemeClr val="tx1"/>
                          </a:solidFill>
                          <a:effectLst/>
                          <a:latin typeface="Arial" panose="020B0604020202020204" pitchFamily="34" charset="0"/>
                          <a:cs typeface="Arial" panose="020B0604020202020204" pitchFamily="34" charset="0"/>
                        </a:rPr>
                        <a:t>4.0</a:t>
                      </a:r>
                      <a:endParaRPr lang="en-US" sz="200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extLst>
                  <a:ext uri="{0D108BD9-81ED-4DB2-BD59-A6C34878D82A}">
                    <a16:rowId xmlns:a16="http://schemas.microsoft.com/office/drawing/2014/main" val="10001"/>
                  </a:ext>
                </a:extLst>
              </a:tr>
              <a:tr h="351282">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2</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solidFill>
                      <a:schemeClr val="bg2"/>
                    </a:solidFill>
                  </a:tcPr>
                </a:tc>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120</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3.7</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tc>
                  <a:txBody>
                    <a:bodyPr/>
                    <a:lstStyle/>
                    <a:p>
                      <a:pPr marL="0" marR="0" algn="ctr">
                        <a:spcBef>
                          <a:spcPts val="0"/>
                        </a:spcBef>
                        <a:spcAft>
                          <a:spcPts val="0"/>
                        </a:spcAft>
                      </a:pPr>
                      <a:r>
                        <a:rPr lang="en-US" sz="2000">
                          <a:solidFill>
                            <a:schemeClr val="tx1"/>
                          </a:solidFill>
                          <a:effectLst/>
                          <a:latin typeface="Arial" panose="020B0604020202020204" pitchFamily="34" charset="0"/>
                          <a:cs typeface="Arial" panose="020B0604020202020204" pitchFamily="34" charset="0"/>
                        </a:rPr>
                        <a:t>3.9</a:t>
                      </a:r>
                      <a:endParaRPr lang="en-US" sz="200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extLst>
                  <a:ext uri="{0D108BD9-81ED-4DB2-BD59-A6C34878D82A}">
                    <a16:rowId xmlns:a16="http://schemas.microsoft.com/office/drawing/2014/main" val="10002"/>
                  </a:ext>
                </a:extLst>
              </a:tr>
              <a:tr h="351282">
                <a:tc>
                  <a:txBody>
                    <a:bodyPr/>
                    <a:lstStyle/>
                    <a:p>
                      <a:pPr marL="0" marR="0" algn="ctr">
                        <a:spcBef>
                          <a:spcPts val="0"/>
                        </a:spcBef>
                        <a:spcAft>
                          <a:spcPts val="0"/>
                        </a:spcAft>
                      </a:pPr>
                      <a:r>
                        <a:rPr lang="en-US" sz="2000">
                          <a:solidFill>
                            <a:schemeClr val="tx1"/>
                          </a:solidFill>
                          <a:effectLst/>
                          <a:latin typeface="Arial" panose="020B0604020202020204" pitchFamily="34" charset="0"/>
                          <a:cs typeface="Arial" panose="020B0604020202020204" pitchFamily="34" charset="0"/>
                        </a:rPr>
                        <a:t>3</a:t>
                      </a:r>
                      <a:endParaRPr lang="en-US" sz="200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solidFill>
                      <a:schemeClr val="bg2"/>
                    </a:solidFill>
                  </a:tcPr>
                </a:tc>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125</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3.6</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tc>
                  <a:txBody>
                    <a:bodyPr/>
                    <a:lstStyle/>
                    <a:p>
                      <a:pPr marL="0" marR="0" algn="ctr">
                        <a:spcBef>
                          <a:spcPts val="0"/>
                        </a:spcBef>
                        <a:spcAft>
                          <a:spcPts val="0"/>
                        </a:spcAft>
                      </a:pPr>
                      <a:r>
                        <a:rPr lang="en-US" sz="2000">
                          <a:solidFill>
                            <a:schemeClr val="tx1"/>
                          </a:solidFill>
                          <a:effectLst/>
                          <a:latin typeface="Arial" panose="020B0604020202020204" pitchFamily="34" charset="0"/>
                          <a:cs typeface="Arial" panose="020B0604020202020204" pitchFamily="34" charset="0"/>
                        </a:rPr>
                        <a:t>3.8</a:t>
                      </a:r>
                      <a:endParaRPr lang="en-US" sz="200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extLst>
                  <a:ext uri="{0D108BD9-81ED-4DB2-BD59-A6C34878D82A}">
                    <a16:rowId xmlns:a16="http://schemas.microsoft.com/office/drawing/2014/main" val="10003"/>
                  </a:ext>
                </a:extLst>
              </a:tr>
              <a:tr h="351282">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4</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solidFill>
                      <a:schemeClr val="bg2"/>
                    </a:solidFill>
                  </a:tcPr>
                </a:tc>
                <a:tc>
                  <a:txBody>
                    <a:bodyPr/>
                    <a:lstStyle/>
                    <a:p>
                      <a:pPr marL="0" marR="0" algn="ctr">
                        <a:spcBef>
                          <a:spcPts val="0"/>
                        </a:spcBef>
                        <a:spcAft>
                          <a:spcPts val="0"/>
                        </a:spcAft>
                      </a:pPr>
                      <a:r>
                        <a:rPr lang="en-US" sz="2000">
                          <a:solidFill>
                            <a:schemeClr val="tx1"/>
                          </a:solidFill>
                          <a:effectLst/>
                          <a:latin typeface="Arial" panose="020B0604020202020204" pitchFamily="34" charset="0"/>
                          <a:cs typeface="Arial" panose="020B0604020202020204" pitchFamily="34" charset="0"/>
                        </a:rPr>
                        <a:t>130</a:t>
                      </a:r>
                      <a:endParaRPr lang="en-US" sz="200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2.9</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3.7</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extLst>
                  <a:ext uri="{0D108BD9-81ED-4DB2-BD59-A6C34878D82A}">
                    <a16:rowId xmlns:a16="http://schemas.microsoft.com/office/drawing/2014/main" val="10004"/>
                  </a:ext>
                </a:extLst>
              </a:tr>
              <a:tr h="351282">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5</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solidFill>
                      <a:schemeClr val="bg2"/>
                    </a:solidFill>
                  </a:tcPr>
                </a:tc>
                <a:tc>
                  <a:txBody>
                    <a:bodyPr/>
                    <a:lstStyle/>
                    <a:p>
                      <a:pPr marL="0" marR="0" algn="ctr">
                        <a:spcBef>
                          <a:spcPts val="0"/>
                        </a:spcBef>
                        <a:spcAft>
                          <a:spcPts val="0"/>
                        </a:spcAft>
                      </a:pPr>
                      <a:r>
                        <a:rPr lang="en-US" sz="2000">
                          <a:solidFill>
                            <a:schemeClr val="tx1"/>
                          </a:solidFill>
                          <a:effectLst/>
                          <a:latin typeface="Arial" panose="020B0604020202020204" pitchFamily="34" charset="0"/>
                          <a:cs typeface="Arial" panose="020B0604020202020204" pitchFamily="34" charset="0"/>
                        </a:rPr>
                        <a:t>110</a:t>
                      </a:r>
                      <a:endParaRPr lang="en-US" sz="200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3.5</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3.6</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extLst>
                  <a:ext uri="{0D108BD9-81ED-4DB2-BD59-A6C34878D82A}">
                    <a16:rowId xmlns:a16="http://schemas.microsoft.com/office/drawing/2014/main" val="10005"/>
                  </a:ext>
                </a:extLst>
              </a:tr>
              <a:tr h="351282">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6</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solidFill>
                      <a:schemeClr val="bg2"/>
                    </a:solidFill>
                  </a:tcPr>
                </a:tc>
                <a:tc>
                  <a:txBody>
                    <a:bodyPr/>
                    <a:lstStyle/>
                    <a:p>
                      <a:pPr marL="0" marR="0" algn="ctr">
                        <a:spcBef>
                          <a:spcPts val="0"/>
                        </a:spcBef>
                        <a:spcAft>
                          <a:spcPts val="0"/>
                        </a:spcAft>
                      </a:pPr>
                      <a:r>
                        <a:rPr lang="en-US" sz="2000">
                          <a:solidFill>
                            <a:schemeClr val="tx1"/>
                          </a:solidFill>
                          <a:effectLst/>
                          <a:latin typeface="Arial" panose="020B0604020202020204" pitchFamily="34" charset="0"/>
                          <a:cs typeface="Arial" panose="020B0604020202020204" pitchFamily="34" charset="0"/>
                        </a:rPr>
                        <a:t>100</a:t>
                      </a:r>
                      <a:endParaRPr lang="en-US" sz="200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3.3</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3.5</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extLst>
                  <a:ext uri="{0D108BD9-81ED-4DB2-BD59-A6C34878D82A}">
                    <a16:rowId xmlns:a16="http://schemas.microsoft.com/office/drawing/2014/main" val="10006"/>
                  </a:ext>
                </a:extLst>
              </a:tr>
              <a:tr h="351282">
                <a:tc>
                  <a:txBody>
                    <a:bodyPr/>
                    <a:lstStyle/>
                    <a:p>
                      <a:pPr marL="0" marR="0" algn="ctr">
                        <a:spcBef>
                          <a:spcPts val="0"/>
                        </a:spcBef>
                        <a:spcAft>
                          <a:spcPts val="0"/>
                        </a:spcAft>
                      </a:pPr>
                      <a:r>
                        <a:rPr lang="en-US" sz="2000">
                          <a:solidFill>
                            <a:schemeClr val="tx1"/>
                          </a:solidFill>
                          <a:effectLst/>
                          <a:latin typeface="Arial" panose="020B0604020202020204" pitchFamily="34" charset="0"/>
                          <a:cs typeface="Arial" panose="020B0604020202020204" pitchFamily="34" charset="0"/>
                        </a:rPr>
                        <a:t>7</a:t>
                      </a:r>
                      <a:endParaRPr lang="en-US" sz="200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solidFill>
                      <a:schemeClr val="bg2"/>
                    </a:solidFill>
                  </a:tcPr>
                </a:tc>
                <a:tc>
                  <a:txBody>
                    <a:bodyPr/>
                    <a:lstStyle/>
                    <a:p>
                      <a:pPr marL="0" marR="0" algn="ctr">
                        <a:spcBef>
                          <a:spcPts val="0"/>
                        </a:spcBef>
                        <a:spcAft>
                          <a:spcPts val="0"/>
                        </a:spcAft>
                      </a:pPr>
                      <a:r>
                        <a:rPr lang="en-US" sz="2000">
                          <a:solidFill>
                            <a:schemeClr val="tx1"/>
                          </a:solidFill>
                          <a:effectLst/>
                          <a:latin typeface="Arial" panose="020B0604020202020204" pitchFamily="34" charset="0"/>
                          <a:cs typeface="Arial" panose="020B0604020202020204" pitchFamily="34" charset="0"/>
                        </a:rPr>
                        <a:t>  95</a:t>
                      </a:r>
                      <a:endParaRPr lang="en-US" sz="200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3.0</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3.4</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extLst>
                  <a:ext uri="{0D108BD9-81ED-4DB2-BD59-A6C34878D82A}">
                    <a16:rowId xmlns:a16="http://schemas.microsoft.com/office/drawing/2014/main" val="10007"/>
                  </a:ext>
                </a:extLst>
              </a:tr>
              <a:tr h="351282">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8</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solidFill>
                      <a:schemeClr val="bg2"/>
                    </a:solidFill>
                  </a:tcPr>
                </a:tc>
                <a:tc>
                  <a:txBody>
                    <a:bodyPr/>
                    <a:lstStyle/>
                    <a:p>
                      <a:pPr marL="0" marR="0" algn="ctr">
                        <a:spcBef>
                          <a:spcPts val="0"/>
                        </a:spcBef>
                        <a:spcAft>
                          <a:spcPts val="0"/>
                        </a:spcAft>
                      </a:pPr>
                      <a:r>
                        <a:rPr lang="en-US" sz="2000">
                          <a:solidFill>
                            <a:schemeClr val="tx1"/>
                          </a:solidFill>
                          <a:effectLst/>
                          <a:latin typeface="Arial" panose="020B0604020202020204" pitchFamily="34" charset="0"/>
                          <a:cs typeface="Arial" panose="020B0604020202020204" pitchFamily="34" charset="0"/>
                        </a:rPr>
                        <a:t>115</a:t>
                      </a:r>
                      <a:endParaRPr lang="en-US" sz="200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tc>
                  <a:txBody>
                    <a:bodyPr/>
                    <a:lstStyle/>
                    <a:p>
                      <a:pPr marL="0" marR="0" algn="ctr">
                        <a:spcBef>
                          <a:spcPts val="0"/>
                        </a:spcBef>
                        <a:spcAft>
                          <a:spcPts val="0"/>
                        </a:spcAft>
                      </a:pPr>
                      <a:r>
                        <a:rPr lang="en-US" sz="2000">
                          <a:solidFill>
                            <a:schemeClr val="tx1"/>
                          </a:solidFill>
                          <a:effectLst/>
                          <a:latin typeface="Arial" panose="020B0604020202020204" pitchFamily="34" charset="0"/>
                          <a:cs typeface="Arial" panose="020B0604020202020204" pitchFamily="34" charset="0"/>
                        </a:rPr>
                        <a:t>2.7</a:t>
                      </a:r>
                      <a:endParaRPr lang="en-US" sz="200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3.3</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extLst>
                  <a:ext uri="{0D108BD9-81ED-4DB2-BD59-A6C34878D82A}">
                    <a16:rowId xmlns:a16="http://schemas.microsoft.com/office/drawing/2014/main" val="10008"/>
                  </a:ext>
                </a:extLst>
              </a:tr>
              <a:tr h="351282">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9</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solidFill>
                      <a:schemeClr val="bg2"/>
                    </a:solidFill>
                  </a:tcPr>
                </a:tc>
                <a:tc>
                  <a:txBody>
                    <a:bodyPr/>
                    <a:lstStyle/>
                    <a:p>
                      <a:pPr marL="0" marR="0" algn="ctr">
                        <a:spcBef>
                          <a:spcPts val="0"/>
                        </a:spcBef>
                        <a:spcAft>
                          <a:spcPts val="0"/>
                        </a:spcAft>
                      </a:pPr>
                      <a:r>
                        <a:rPr lang="en-US" sz="2000">
                          <a:solidFill>
                            <a:schemeClr val="tx1"/>
                          </a:solidFill>
                          <a:effectLst/>
                          <a:latin typeface="Arial" panose="020B0604020202020204" pitchFamily="34" charset="0"/>
                          <a:cs typeface="Arial" panose="020B0604020202020204" pitchFamily="34" charset="0"/>
                        </a:rPr>
                        <a:t>105</a:t>
                      </a:r>
                      <a:endParaRPr lang="en-US" sz="200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tc>
                  <a:txBody>
                    <a:bodyPr/>
                    <a:lstStyle/>
                    <a:p>
                      <a:pPr marL="0" marR="0" algn="ctr">
                        <a:spcBef>
                          <a:spcPts val="0"/>
                        </a:spcBef>
                        <a:spcAft>
                          <a:spcPts val="0"/>
                        </a:spcAft>
                      </a:pPr>
                      <a:r>
                        <a:rPr lang="en-US" sz="2000">
                          <a:solidFill>
                            <a:schemeClr val="tx1"/>
                          </a:solidFill>
                          <a:effectLst/>
                          <a:latin typeface="Arial" panose="020B0604020202020204" pitchFamily="34" charset="0"/>
                          <a:cs typeface="Arial" panose="020B0604020202020204" pitchFamily="34" charset="0"/>
                        </a:rPr>
                        <a:t>3.1</a:t>
                      </a:r>
                      <a:endParaRPr lang="en-US" sz="200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3.2</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extLst>
                  <a:ext uri="{0D108BD9-81ED-4DB2-BD59-A6C34878D82A}">
                    <a16:rowId xmlns:a16="http://schemas.microsoft.com/office/drawing/2014/main" val="10009"/>
                  </a:ext>
                </a:extLst>
              </a:tr>
              <a:tr h="351282">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10</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solidFill>
                      <a:schemeClr val="bg2"/>
                    </a:solidFill>
                  </a:tcPr>
                </a:tc>
                <a:tc>
                  <a:txBody>
                    <a:bodyPr/>
                    <a:lstStyle/>
                    <a:p>
                      <a:pPr marL="0" marR="0" algn="ctr">
                        <a:spcBef>
                          <a:spcPts val="0"/>
                        </a:spcBef>
                        <a:spcAft>
                          <a:spcPts val="0"/>
                        </a:spcAft>
                      </a:pPr>
                      <a:r>
                        <a:rPr lang="en-US" sz="2000">
                          <a:solidFill>
                            <a:schemeClr val="tx1"/>
                          </a:solidFill>
                          <a:effectLst/>
                          <a:latin typeface="Arial" panose="020B0604020202020204" pitchFamily="34" charset="0"/>
                          <a:cs typeface="Arial" panose="020B0604020202020204" pitchFamily="34" charset="0"/>
                        </a:rPr>
                        <a:t>  90</a:t>
                      </a:r>
                      <a:endParaRPr lang="en-US" sz="200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tc>
                  <a:txBody>
                    <a:bodyPr/>
                    <a:lstStyle/>
                    <a:p>
                      <a:pPr marL="0" marR="0" algn="ctr">
                        <a:spcBef>
                          <a:spcPts val="0"/>
                        </a:spcBef>
                        <a:spcAft>
                          <a:spcPts val="0"/>
                        </a:spcAft>
                      </a:pPr>
                      <a:r>
                        <a:rPr lang="en-US" sz="2000">
                          <a:solidFill>
                            <a:schemeClr val="tx1"/>
                          </a:solidFill>
                          <a:effectLst/>
                          <a:latin typeface="Arial" panose="020B0604020202020204" pitchFamily="34" charset="0"/>
                          <a:cs typeface="Arial" panose="020B0604020202020204" pitchFamily="34" charset="0"/>
                        </a:rPr>
                        <a:t>2.8</a:t>
                      </a:r>
                      <a:endParaRPr lang="en-US" sz="200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3.1</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extLst>
                  <a:ext uri="{0D108BD9-81ED-4DB2-BD59-A6C34878D82A}">
                    <a16:rowId xmlns:a16="http://schemas.microsoft.com/office/drawing/2014/main" val="10010"/>
                  </a:ext>
                </a:extLst>
              </a:tr>
              <a:tr h="351282">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11</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solidFill>
                      <a:schemeClr val="bg2"/>
                    </a:solidFill>
                  </a:tcPr>
                </a:tc>
                <a:tc>
                  <a:txBody>
                    <a:bodyPr/>
                    <a:lstStyle/>
                    <a:p>
                      <a:pPr marL="0" marR="0" algn="ctr">
                        <a:spcBef>
                          <a:spcPts val="0"/>
                        </a:spcBef>
                        <a:spcAft>
                          <a:spcPts val="0"/>
                        </a:spcAft>
                      </a:pPr>
                      <a:r>
                        <a:rPr lang="en-US" sz="2000">
                          <a:solidFill>
                            <a:schemeClr val="tx1"/>
                          </a:solidFill>
                          <a:effectLst/>
                          <a:latin typeface="Arial" panose="020B0604020202020204" pitchFamily="34" charset="0"/>
                          <a:cs typeface="Arial" panose="020B0604020202020204" pitchFamily="34" charset="0"/>
                        </a:rPr>
                        <a:t>105</a:t>
                      </a:r>
                      <a:endParaRPr lang="en-US" sz="200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tc>
                  <a:txBody>
                    <a:bodyPr/>
                    <a:lstStyle/>
                    <a:p>
                      <a:pPr marL="0" marR="0" algn="ctr">
                        <a:spcBef>
                          <a:spcPts val="0"/>
                        </a:spcBef>
                        <a:spcAft>
                          <a:spcPts val="0"/>
                        </a:spcAft>
                      </a:pPr>
                      <a:r>
                        <a:rPr lang="en-US" sz="2000">
                          <a:solidFill>
                            <a:schemeClr val="tx1"/>
                          </a:solidFill>
                          <a:effectLst/>
                          <a:latin typeface="Arial" panose="020B0604020202020204" pitchFamily="34" charset="0"/>
                          <a:cs typeface="Arial" panose="020B0604020202020204" pitchFamily="34" charset="0"/>
                        </a:rPr>
                        <a:t>2.4</a:t>
                      </a:r>
                      <a:endParaRPr lang="en-US" sz="200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tc>
                  <a:txBody>
                    <a:bodyPr/>
                    <a:lstStyle/>
                    <a:p>
                      <a:pPr marL="0" marR="0" algn="ctr">
                        <a:spcBef>
                          <a:spcPts val="0"/>
                        </a:spcBef>
                        <a:spcAft>
                          <a:spcPts val="0"/>
                        </a:spcAft>
                      </a:pPr>
                      <a:r>
                        <a:rPr lang="en-US" sz="2000" dirty="0">
                          <a:solidFill>
                            <a:schemeClr val="tx1"/>
                          </a:solidFill>
                          <a:effectLst/>
                          <a:latin typeface="Arial" panose="020B0604020202020204" pitchFamily="34" charset="0"/>
                          <a:cs typeface="Arial" panose="020B0604020202020204" pitchFamily="34" charset="0"/>
                        </a:rPr>
                        <a:t>3.0</a:t>
                      </a:r>
                      <a:endParaRPr lang="en-US" sz="20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6388" marR="96388" marT="0" marB="0"/>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5097314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2FB3B1A6-2009-892F-7988-E8035ED1C89A}"/>
              </a:ext>
            </a:extLst>
          </p:cNvPr>
          <p:cNvGraphicFramePr>
            <a:graphicFrameLocks noGrp="1"/>
          </p:cNvGraphicFramePr>
          <p:nvPr>
            <p:extLst>
              <p:ext uri="{D42A27DB-BD31-4B8C-83A1-F6EECF244321}">
                <p14:modId xmlns:p14="http://schemas.microsoft.com/office/powerpoint/2010/main" val="2670581760"/>
              </p:ext>
            </p:extLst>
          </p:nvPr>
        </p:nvGraphicFramePr>
        <p:xfrm>
          <a:off x="5315712" y="159426"/>
          <a:ext cx="6620256" cy="4607871"/>
        </p:xfrm>
        <a:graphic>
          <a:graphicData uri="http://schemas.openxmlformats.org/drawingml/2006/table">
            <a:tbl>
              <a:tblPr/>
              <a:tblGrid>
                <a:gridCol w="2507243">
                  <a:extLst>
                    <a:ext uri="{9D8B030D-6E8A-4147-A177-3AD203B41FA5}">
                      <a16:colId xmlns:a16="http://schemas.microsoft.com/office/drawing/2014/main" val="1753998698"/>
                    </a:ext>
                  </a:extLst>
                </a:gridCol>
                <a:gridCol w="1202699">
                  <a:extLst>
                    <a:ext uri="{9D8B030D-6E8A-4147-A177-3AD203B41FA5}">
                      <a16:colId xmlns:a16="http://schemas.microsoft.com/office/drawing/2014/main" val="1867021925"/>
                    </a:ext>
                  </a:extLst>
                </a:gridCol>
                <a:gridCol w="1739882">
                  <a:extLst>
                    <a:ext uri="{9D8B030D-6E8A-4147-A177-3AD203B41FA5}">
                      <a16:colId xmlns:a16="http://schemas.microsoft.com/office/drawing/2014/main" val="1461322621"/>
                    </a:ext>
                  </a:extLst>
                </a:gridCol>
                <a:gridCol w="1170432">
                  <a:extLst>
                    <a:ext uri="{9D8B030D-6E8A-4147-A177-3AD203B41FA5}">
                      <a16:colId xmlns:a16="http://schemas.microsoft.com/office/drawing/2014/main" val="397808603"/>
                    </a:ext>
                  </a:extLst>
                </a:gridCol>
              </a:tblGrid>
              <a:tr h="370636">
                <a:tc gridSpan="4">
                  <a:txBody>
                    <a:bodyPr/>
                    <a:lstStyle/>
                    <a:p>
                      <a:pPr algn="l">
                        <a:buNone/>
                      </a:pPr>
                      <a:r>
                        <a:rPr lang="en-US" sz="1700" b="0" i="1">
                          <a:solidFill>
                            <a:srgbClr val="000000"/>
                          </a:solidFill>
                          <a:effectLst/>
                          <a:latin typeface="Arial" panose="020B0604020202020204" pitchFamily="34" charset="0"/>
                        </a:rPr>
                        <a:t>Descriptive Statistics</a:t>
                      </a:r>
                      <a:r>
                        <a:rPr lang="en-US" sz="1700" b="0">
                          <a:solidFill>
                            <a:srgbClr val="000000"/>
                          </a:solidFill>
                          <a:effectLst/>
                          <a:latin typeface="Arial" panose="020B0604020202020204" pitchFamily="34" charset="0"/>
                        </a:rPr>
                        <a:t> </a:t>
                      </a:r>
                    </a:p>
                  </a:txBody>
                  <a:tcPr marL="87208" marR="90842" marT="54505" marB="54505"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96641237"/>
                  </a:ext>
                </a:extLst>
              </a:tr>
              <a:tr h="316131">
                <a:tc>
                  <a:txBody>
                    <a:bodyPr/>
                    <a:lstStyle/>
                    <a:p>
                      <a:pPr algn="ctr">
                        <a:buNone/>
                      </a:pPr>
                      <a:r>
                        <a:rPr lang="en-US" sz="1700" b="0">
                          <a:solidFill>
                            <a:srgbClr val="000000"/>
                          </a:solidFill>
                          <a:effectLst/>
                          <a:latin typeface="Arial" panose="020B0604020202020204" pitchFamily="34" charset="0"/>
                        </a:rPr>
                        <a:t> </a:t>
                      </a:r>
                    </a:p>
                  </a:txBody>
                  <a:tcPr marL="109011" marR="109011" marT="27253" marB="27253"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700" b="0" dirty="0">
                          <a:solidFill>
                            <a:srgbClr val="000000"/>
                          </a:solidFill>
                          <a:effectLst/>
                          <a:latin typeface="Arial" panose="020B0604020202020204" pitchFamily="34" charset="0"/>
                        </a:rPr>
                        <a:t>GRE</a:t>
                      </a:r>
                    </a:p>
                    <a:p>
                      <a:pPr algn="ctr">
                        <a:buNone/>
                      </a:pPr>
                      <a:r>
                        <a:rPr lang="en-US" sz="1700" b="0" dirty="0">
                          <a:solidFill>
                            <a:srgbClr val="000000"/>
                          </a:solidFill>
                          <a:effectLst/>
                          <a:latin typeface="Arial" panose="020B0604020202020204" pitchFamily="34" charset="0"/>
                        </a:rPr>
                        <a:t>Total</a:t>
                      </a:r>
                    </a:p>
                  </a:txBody>
                  <a:tcPr marL="109011" marR="109011" marT="27253" marB="27253"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700" b="0" dirty="0">
                          <a:solidFill>
                            <a:srgbClr val="000000"/>
                          </a:solidFill>
                          <a:effectLst/>
                          <a:latin typeface="Arial" panose="020B0604020202020204" pitchFamily="34" charset="0"/>
                        </a:rPr>
                        <a:t>UndergraduateGPA</a:t>
                      </a:r>
                    </a:p>
                  </a:txBody>
                  <a:tcPr marL="109011" marR="109011" marT="27253" marB="27253"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700" b="0" dirty="0">
                          <a:solidFill>
                            <a:srgbClr val="000000"/>
                          </a:solidFill>
                          <a:effectLst/>
                          <a:latin typeface="Arial" panose="020B0604020202020204" pitchFamily="34" charset="0"/>
                        </a:rPr>
                        <a:t>Graduate</a:t>
                      </a:r>
                    </a:p>
                    <a:p>
                      <a:pPr algn="ctr">
                        <a:buNone/>
                      </a:pPr>
                      <a:r>
                        <a:rPr lang="en-US" sz="1700" b="0" dirty="0">
                          <a:solidFill>
                            <a:srgbClr val="000000"/>
                          </a:solidFill>
                          <a:effectLst/>
                          <a:latin typeface="Arial" panose="020B0604020202020204" pitchFamily="34" charset="0"/>
                        </a:rPr>
                        <a:t>GPA</a:t>
                      </a:r>
                    </a:p>
                  </a:txBody>
                  <a:tcPr marL="109011" marR="109011" marT="27253" marB="27253"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09495044"/>
                  </a:ext>
                </a:extLst>
              </a:tr>
              <a:tr h="386987">
                <a:tc>
                  <a:txBody>
                    <a:bodyPr/>
                    <a:lstStyle/>
                    <a:p>
                      <a:pPr algn="l">
                        <a:buNone/>
                      </a:pPr>
                      <a:r>
                        <a:rPr lang="en-US" sz="1700" b="0">
                          <a:solidFill>
                            <a:srgbClr val="000000"/>
                          </a:solidFill>
                          <a:effectLst/>
                          <a:latin typeface="Arial" panose="020B0604020202020204" pitchFamily="34" charset="0"/>
                        </a:rPr>
                        <a:t>Valid</a:t>
                      </a:r>
                    </a:p>
                  </a:txBody>
                  <a:tcPr marL="109011" marR="109011" marT="98109" marB="27253"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700" b="0">
                          <a:solidFill>
                            <a:srgbClr val="000000"/>
                          </a:solidFill>
                          <a:effectLst/>
                          <a:latin typeface="Arial" panose="020B0604020202020204" pitchFamily="34" charset="0"/>
                        </a:rPr>
                        <a:t>11</a:t>
                      </a:r>
                    </a:p>
                  </a:txBody>
                  <a:tcPr marL="109011" marR="109011" marT="98109" marB="27253"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700" b="0">
                          <a:solidFill>
                            <a:srgbClr val="000000"/>
                          </a:solidFill>
                          <a:effectLst/>
                          <a:latin typeface="Arial" panose="020B0604020202020204" pitchFamily="34" charset="0"/>
                        </a:rPr>
                        <a:t>11</a:t>
                      </a:r>
                    </a:p>
                  </a:txBody>
                  <a:tcPr marL="109011" marR="109011" marT="98109" marB="27253"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700" b="0">
                          <a:solidFill>
                            <a:srgbClr val="000000"/>
                          </a:solidFill>
                          <a:effectLst/>
                          <a:latin typeface="Arial" panose="020B0604020202020204" pitchFamily="34" charset="0"/>
                        </a:rPr>
                        <a:t>11</a:t>
                      </a:r>
                    </a:p>
                  </a:txBody>
                  <a:tcPr marL="109011" marR="109011" marT="98109" marB="27253"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8895914"/>
                  </a:ext>
                </a:extLst>
              </a:tr>
              <a:tr h="297962">
                <a:tc>
                  <a:txBody>
                    <a:bodyPr/>
                    <a:lstStyle/>
                    <a:p>
                      <a:pPr algn="l">
                        <a:buNone/>
                      </a:pPr>
                      <a:r>
                        <a:rPr lang="en-US" sz="1700" b="0">
                          <a:solidFill>
                            <a:srgbClr val="000000"/>
                          </a:solidFill>
                          <a:effectLst/>
                          <a:latin typeface="Arial" panose="020B0604020202020204" pitchFamily="34" charset="0"/>
                        </a:rPr>
                        <a:t>Missing</a:t>
                      </a:r>
                    </a:p>
                  </a:txBody>
                  <a:tcPr marL="109011" marR="109011" marT="9084" marB="27253" anchor="ctr">
                    <a:lnL>
                      <a:noFill/>
                    </a:lnL>
                    <a:lnR>
                      <a:noFill/>
                    </a:lnR>
                    <a:lnT>
                      <a:noFill/>
                    </a:lnT>
                    <a:lnB>
                      <a:noFill/>
                    </a:lnB>
                    <a:solidFill>
                      <a:srgbClr val="EBEBEB"/>
                    </a:solidFill>
                  </a:tcPr>
                </a:tc>
                <a:tc>
                  <a:txBody>
                    <a:bodyPr/>
                    <a:lstStyle/>
                    <a:p>
                      <a:pPr algn="r">
                        <a:buNone/>
                      </a:pPr>
                      <a:r>
                        <a:rPr lang="en-US" sz="1700" b="0">
                          <a:solidFill>
                            <a:srgbClr val="000000"/>
                          </a:solidFill>
                          <a:effectLst/>
                          <a:latin typeface="Arial" panose="020B0604020202020204" pitchFamily="34" charset="0"/>
                        </a:rPr>
                        <a:t>0</a:t>
                      </a:r>
                    </a:p>
                  </a:txBody>
                  <a:tcPr marL="109011" marR="109011" marT="9084" marB="27253" anchor="ctr">
                    <a:lnL>
                      <a:noFill/>
                    </a:lnL>
                    <a:lnR>
                      <a:noFill/>
                    </a:lnR>
                    <a:lnT>
                      <a:noFill/>
                    </a:lnT>
                    <a:lnB>
                      <a:noFill/>
                    </a:lnB>
                    <a:solidFill>
                      <a:srgbClr val="EBEBEB"/>
                    </a:solidFill>
                  </a:tcPr>
                </a:tc>
                <a:tc>
                  <a:txBody>
                    <a:bodyPr/>
                    <a:lstStyle/>
                    <a:p>
                      <a:pPr algn="r">
                        <a:buNone/>
                      </a:pPr>
                      <a:r>
                        <a:rPr lang="en-US" sz="1700" b="0">
                          <a:solidFill>
                            <a:srgbClr val="000000"/>
                          </a:solidFill>
                          <a:effectLst/>
                          <a:latin typeface="Arial" panose="020B0604020202020204" pitchFamily="34" charset="0"/>
                        </a:rPr>
                        <a:t>0</a:t>
                      </a:r>
                    </a:p>
                  </a:txBody>
                  <a:tcPr marL="109011" marR="109011" marT="9084" marB="27253" anchor="ctr">
                    <a:lnL>
                      <a:noFill/>
                    </a:lnL>
                    <a:lnR>
                      <a:noFill/>
                    </a:lnR>
                    <a:lnT>
                      <a:noFill/>
                    </a:lnT>
                    <a:lnB>
                      <a:noFill/>
                    </a:lnB>
                    <a:solidFill>
                      <a:srgbClr val="EBEBEB"/>
                    </a:solidFill>
                  </a:tcPr>
                </a:tc>
                <a:tc>
                  <a:txBody>
                    <a:bodyPr/>
                    <a:lstStyle/>
                    <a:p>
                      <a:pPr algn="r">
                        <a:buNone/>
                      </a:pPr>
                      <a:r>
                        <a:rPr lang="en-US" sz="1700" b="0" dirty="0">
                          <a:solidFill>
                            <a:srgbClr val="000000"/>
                          </a:solidFill>
                          <a:effectLst/>
                          <a:latin typeface="Arial" panose="020B0604020202020204" pitchFamily="34" charset="0"/>
                        </a:rPr>
                        <a:t>0</a:t>
                      </a:r>
                    </a:p>
                  </a:txBody>
                  <a:tcPr marL="109011" marR="109011" marT="9084" marB="27253" anchor="ctr">
                    <a:lnL>
                      <a:noFill/>
                    </a:lnL>
                    <a:lnR>
                      <a:noFill/>
                    </a:lnR>
                    <a:lnT>
                      <a:noFill/>
                    </a:lnT>
                    <a:lnB>
                      <a:noFill/>
                    </a:lnB>
                    <a:solidFill>
                      <a:srgbClr val="EBEBEB"/>
                    </a:solidFill>
                  </a:tcPr>
                </a:tc>
                <a:extLst>
                  <a:ext uri="{0D108BD9-81ED-4DB2-BD59-A6C34878D82A}">
                    <a16:rowId xmlns:a16="http://schemas.microsoft.com/office/drawing/2014/main" val="2662431263"/>
                  </a:ext>
                </a:extLst>
              </a:tr>
              <a:tr h="297962">
                <a:tc>
                  <a:txBody>
                    <a:bodyPr/>
                    <a:lstStyle/>
                    <a:p>
                      <a:pPr algn="l">
                        <a:buNone/>
                      </a:pPr>
                      <a:r>
                        <a:rPr lang="en-US" sz="1700" b="0">
                          <a:solidFill>
                            <a:srgbClr val="000000"/>
                          </a:solidFill>
                          <a:effectLst/>
                          <a:latin typeface="Arial" panose="020B0604020202020204" pitchFamily="34" charset="0"/>
                        </a:rPr>
                        <a:t>Mean</a:t>
                      </a:r>
                    </a:p>
                  </a:txBody>
                  <a:tcPr marL="109011" marR="109011" marT="9084" marB="27253" anchor="ctr">
                    <a:lnL>
                      <a:noFill/>
                    </a:lnL>
                    <a:lnR>
                      <a:noFill/>
                    </a:lnR>
                    <a:lnT>
                      <a:noFill/>
                    </a:lnT>
                    <a:lnB>
                      <a:noFill/>
                    </a:lnB>
                    <a:solidFill>
                      <a:srgbClr val="FFFFFF"/>
                    </a:solidFill>
                  </a:tcPr>
                </a:tc>
                <a:tc>
                  <a:txBody>
                    <a:bodyPr/>
                    <a:lstStyle/>
                    <a:p>
                      <a:pPr algn="r">
                        <a:buNone/>
                      </a:pPr>
                      <a:r>
                        <a:rPr lang="en-US" sz="1700" b="0">
                          <a:solidFill>
                            <a:srgbClr val="000000"/>
                          </a:solidFill>
                          <a:effectLst/>
                          <a:latin typeface="Arial" panose="020B0604020202020204" pitchFamily="34" charset="0"/>
                        </a:rPr>
                        <a:t>112.727</a:t>
                      </a:r>
                    </a:p>
                  </a:txBody>
                  <a:tcPr marL="109011" marR="109011" marT="9084" marB="27253" anchor="ctr">
                    <a:lnL>
                      <a:noFill/>
                    </a:lnL>
                    <a:lnR>
                      <a:noFill/>
                    </a:lnR>
                    <a:lnT>
                      <a:noFill/>
                    </a:lnT>
                    <a:lnB>
                      <a:noFill/>
                    </a:lnB>
                    <a:solidFill>
                      <a:srgbClr val="FFFFFF"/>
                    </a:solidFill>
                  </a:tcPr>
                </a:tc>
                <a:tc>
                  <a:txBody>
                    <a:bodyPr/>
                    <a:lstStyle/>
                    <a:p>
                      <a:pPr algn="r">
                        <a:buNone/>
                      </a:pPr>
                      <a:r>
                        <a:rPr lang="en-US" sz="1700" b="0">
                          <a:solidFill>
                            <a:srgbClr val="000000"/>
                          </a:solidFill>
                          <a:effectLst/>
                          <a:latin typeface="Arial" panose="020B0604020202020204" pitchFamily="34" charset="0"/>
                        </a:rPr>
                        <a:t>3.109</a:t>
                      </a:r>
                    </a:p>
                  </a:txBody>
                  <a:tcPr marL="109011" marR="109011" marT="9084" marB="27253" anchor="ctr">
                    <a:lnL>
                      <a:noFill/>
                    </a:lnL>
                    <a:lnR>
                      <a:noFill/>
                    </a:lnR>
                    <a:lnT>
                      <a:noFill/>
                    </a:lnT>
                    <a:lnB>
                      <a:noFill/>
                    </a:lnB>
                    <a:solidFill>
                      <a:srgbClr val="FFFFFF"/>
                    </a:solidFill>
                  </a:tcPr>
                </a:tc>
                <a:tc>
                  <a:txBody>
                    <a:bodyPr/>
                    <a:lstStyle/>
                    <a:p>
                      <a:pPr algn="r">
                        <a:buNone/>
                      </a:pPr>
                      <a:r>
                        <a:rPr lang="en-US" sz="1700" b="0">
                          <a:solidFill>
                            <a:srgbClr val="000000"/>
                          </a:solidFill>
                          <a:effectLst/>
                          <a:latin typeface="Arial" panose="020B0604020202020204" pitchFamily="34" charset="0"/>
                        </a:rPr>
                        <a:t>3.500</a:t>
                      </a:r>
                    </a:p>
                  </a:txBody>
                  <a:tcPr marL="109011" marR="109011" marT="9084" marB="27253" anchor="ctr">
                    <a:lnL>
                      <a:noFill/>
                    </a:lnL>
                    <a:lnR>
                      <a:noFill/>
                    </a:lnR>
                    <a:lnT>
                      <a:noFill/>
                    </a:lnT>
                    <a:lnB>
                      <a:noFill/>
                    </a:lnB>
                    <a:solidFill>
                      <a:srgbClr val="FFFFFF"/>
                    </a:solidFill>
                  </a:tcPr>
                </a:tc>
                <a:extLst>
                  <a:ext uri="{0D108BD9-81ED-4DB2-BD59-A6C34878D82A}">
                    <a16:rowId xmlns:a16="http://schemas.microsoft.com/office/drawing/2014/main" val="655397335"/>
                  </a:ext>
                </a:extLst>
              </a:tr>
              <a:tr h="297962">
                <a:tc>
                  <a:txBody>
                    <a:bodyPr/>
                    <a:lstStyle/>
                    <a:p>
                      <a:pPr algn="l">
                        <a:buNone/>
                      </a:pPr>
                      <a:r>
                        <a:rPr lang="en-US" sz="1700" b="0">
                          <a:solidFill>
                            <a:srgbClr val="000000"/>
                          </a:solidFill>
                          <a:effectLst/>
                          <a:latin typeface="Arial" panose="020B0604020202020204" pitchFamily="34" charset="0"/>
                        </a:rPr>
                        <a:t>Std. Deviation</a:t>
                      </a:r>
                    </a:p>
                  </a:txBody>
                  <a:tcPr marL="109011" marR="109011" marT="9084" marB="27253" anchor="ctr">
                    <a:lnL>
                      <a:noFill/>
                    </a:lnL>
                    <a:lnR>
                      <a:noFill/>
                    </a:lnR>
                    <a:lnT>
                      <a:noFill/>
                    </a:lnT>
                    <a:lnB>
                      <a:noFill/>
                    </a:lnB>
                    <a:solidFill>
                      <a:srgbClr val="EBEBEB"/>
                    </a:solidFill>
                  </a:tcPr>
                </a:tc>
                <a:tc>
                  <a:txBody>
                    <a:bodyPr/>
                    <a:lstStyle/>
                    <a:p>
                      <a:pPr algn="r">
                        <a:buNone/>
                      </a:pPr>
                      <a:r>
                        <a:rPr lang="en-US" sz="1700" b="0">
                          <a:solidFill>
                            <a:srgbClr val="000000"/>
                          </a:solidFill>
                          <a:effectLst/>
                          <a:latin typeface="Arial" panose="020B0604020202020204" pitchFamily="34" charset="0"/>
                        </a:rPr>
                        <a:t>16.335</a:t>
                      </a:r>
                    </a:p>
                  </a:txBody>
                  <a:tcPr marL="109011" marR="109011" marT="9084" marB="27253" anchor="ctr">
                    <a:lnL>
                      <a:noFill/>
                    </a:lnL>
                    <a:lnR>
                      <a:noFill/>
                    </a:lnR>
                    <a:lnT>
                      <a:noFill/>
                    </a:lnT>
                    <a:lnB>
                      <a:noFill/>
                    </a:lnB>
                    <a:solidFill>
                      <a:srgbClr val="EBEBEB"/>
                    </a:solidFill>
                  </a:tcPr>
                </a:tc>
                <a:tc>
                  <a:txBody>
                    <a:bodyPr/>
                    <a:lstStyle/>
                    <a:p>
                      <a:pPr algn="r">
                        <a:buNone/>
                      </a:pPr>
                      <a:r>
                        <a:rPr lang="en-US" sz="1700" b="0">
                          <a:solidFill>
                            <a:srgbClr val="000000"/>
                          </a:solidFill>
                          <a:effectLst/>
                          <a:latin typeface="Arial" panose="020B0604020202020204" pitchFamily="34" charset="0"/>
                        </a:rPr>
                        <a:t>0.401</a:t>
                      </a:r>
                    </a:p>
                  </a:txBody>
                  <a:tcPr marL="109011" marR="109011" marT="9084" marB="27253" anchor="ctr">
                    <a:lnL>
                      <a:noFill/>
                    </a:lnL>
                    <a:lnR>
                      <a:noFill/>
                    </a:lnR>
                    <a:lnT>
                      <a:noFill/>
                    </a:lnT>
                    <a:lnB>
                      <a:noFill/>
                    </a:lnB>
                    <a:solidFill>
                      <a:srgbClr val="EBEBEB"/>
                    </a:solidFill>
                  </a:tcPr>
                </a:tc>
                <a:tc>
                  <a:txBody>
                    <a:bodyPr/>
                    <a:lstStyle/>
                    <a:p>
                      <a:pPr algn="r">
                        <a:buNone/>
                      </a:pPr>
                      <a:r>
                        <a:rPr lang="en-US" sz="1700" b="0" dirty="0">
                          <a:solidFill>
                            <a:srgbClr val="000000"/>
                          </a:solidFill>
                          <a:effectLst/>
                          <a:latin typeface="Arial" panose="020B0604020202020204" pitchFamily="34" charset="0"/>
                        </a:rPr>
                        <a:t>0.332</a:t>
                      </a:r>
                    </a:p>
                  </a:txBody>
                  <a:tcPr marL="109011" marR="109011" marT="9084" marB="27253" anchor="ctr">
                    <a:lnL>
                      <a:noFill/>
                    </a:lnL>
                    <a:lnR>
                      <a:noFill/>
                    </a:lnR>
                    <a:lnT>
                      <a:noFill/>
                    </a:lnT>
                    <a:lnB>
                      <a:noFill/>
                    </a:lnB>
                    <a:solidFill>
                      <a:srgbClr val="EBEBEB"/>
                    </a:solidFill>
                  </a:tcPr>
                </a:tc>
                <a:extLst>
                  <a:ext uri="{0D108BD9-81ED-4DB2-BD59-A6C34878D82A}">
                    <a16:rowId xmlns:a16="http://schemas.microsoft.com/office/drawing/2014/main" val="301178204"/>
                  </a:ext>
                </a:extLst>
              </a:tr>
              <a:tr h="297962">
                <a:tc>
                  <a:txBody>
                    <a:bodyPr/>
                    <a:lstStyle/>
                    <a:p>
                      <a:pPr algn="l">
                        <a:buNone/>
                      </a:pPr>
                      <a:r>
                        <a:rPr lang="en-US" sz="1700" b="0">
                          <a:solidFill>
                            <a:srgbClr val="000000"/>
                          </a:solidFill>
                          <a:effectLst/>
                          <a:latin typeface="Arial" panose="020B0604020202020204" pitchFamily="34" charset="0"/>
                        </a:rPr>
                        <a:t>Minimum</a:t>
                      </a:r>
                    </a:p>
                  </a:txBody>
                  <a:tcPr marL="109011" marR="109011" marT="9084" marB="27253" anchor="ctr">
                    <a:lnL>
                      <a:noFill/>
                    </a:lnL>
                    <a:lnR>
                      <a:noFill/>
                    </a:lnR>
                    <a:lnT>
                      <a:noFill/>
                    </a:lnT>
                    <a:lnB>
                      <a:noFill/>
                    </a:lnB>
                    <a:solidFill>
                      <a:srgbClr val="FFFFFF"/>
                    </a:solidFill>
                  </a:tcPr>
                </a:tc>
                <a:tc>
                  <a:txBody>
                    <a:bodyPr/>
                    <a:lstStyle/>
                    <a:p>
                      <a:pPr algn="r">
                        <a:buNone/>
                      </a:pPr>
                      <a:r>
                        <a:rPr lang="en-US" sz="1700" b="0">
                          <a:solidFill>
                            <a:srgbClr val="000000"/>
                          </a:solidFill>
                          <a:effectLst/>
                          <a:latin typeface="Arial" panose="020B0604020202020204" pitchFamily="34" charset="0"/>
                        </a:rPr>
                        <a:t>90.000</a:t>
                      </a:r>
                    </a:p>
                  </a:txBody>
                  <a:tcPr marL="109011" marR="109011" marT="9084" marB="27253" anchor="ctr">
                    <a:lnL>
                      <a:noFill/>
                    </a:lnL>
                    <a:lnR>
                      <a:noFill/>
                    </a:lnR>
                    <a:lnT>
                      <a:noFill/>
                    </a:lnT>
                    <a:lnB>
                      <a:noFill/>
                    </a:lnB>
                    <a:solidFill>
                      <a:srgbClr val="FFFFFF"/>
                    </a:solidFill>
                  </a:tcPr>
                </a:tc>
                <a:tc>
                  <a:txBody>
                    <a:bodyPr/>
                    <a:lstStyle/>
                    <a:p>
                      <a:pPr algn="r">
                        <a:buNone/>
                      </a:pPr>
                      <a:r>
                        <a:rPr lang="en-US" sz="1700" b="0">
                          <a:solidFill>
                            <a:srgbClr val="000000"/>
                          </a:solidFill>
                          <a:effectLst/>
                          <a:latin typeface="Arial" panose="020B0604020202020204" pitchFamily="34" charset="0"/>
                        </a:rPr>
                        <a:t>2.400</a:t>
                      </a:r>
                    </a:p>
                  </a:txBody>
                  <a:tcPr marL="109011" marR="109011" marT="9084" marB="27253" anchor="ctr">
                    <a:lnL>
                      <a:noFill/>
                    </a:lnL>
                    <a:lnR>
                      <a:noFill/>
                    </a:lnR>
                    <a:lnT>
                      <a:noFill/>
                    </a:lnT>
                    <a:lnB>
                      <a:noFill/>
                    </a:lnB>
                    <a:solidFill>
                      <a:srgbClr val="FFFFFF"/>
                    </a:solidFill>
                  </a:tcPr>
                </a:tc>
                <a:tc>
                  <a:txBody>
                    <a:bodyPr/>
                    <a:lstStyle/>
                    <a:p>
                      <a:pPr algn="r">
                        <a:buNone/>
                      </a:pPr>
                      <a:r>
                        <a:rPr lang="en-US" sz="1700" b="0">
                          <a:solidFill>
                            <a:srgbClr val="000000"/>
                          </a:solidFill>
                          <a:effectLst/>
                          <a:latin typeface="Arial" panose="020B0604020202020204" pitchFamily="34" charset="0"/>
                        </a:rPr>
                        <a:t>3.000</a:t>
                      </a:r>
                    </a:p>
                  </a:txBody>
                  <a:tcPr marL="109011" marR="109011" marT="9084" marB="27253" anchor="ctr">
                    <a:lnL>
                      <a:noFill/>
                    </a:lnL>
                    <a:lnR>
                      <a:noFill/>
                    </a:lnR>
                    <a:lnT>
                      <a:noFill/>
                    </a:lnT>
                    <a:lnB>
                      <a:noFill/>
                    </a:lnB>
                    <a:solidFill>
                      <a:srgbClr val="FFFFFF"/>
                    </a:solidFill>
                  </a:tcPr>
                </a:tc>
                <a:extLst>
                  <a:ext uri="{0D108BD9-81ED-4DB2-BD59-A6C34878D82A}">
                    <a16:rowId xmlns:a16="http://schemas.microsoft.com/office/drawing/2014/main" val="1141187719"/>
                  </a:ext>
                </a:extLst>
              </a:tr>
              <a:tr h="297962">
                <a:tc>
                  <a:txBody>
                    <a:bodyPr/>
                    <a:lstStyle/>
                    <a:p>
                      <a:pPr algn="l">
                        <a:buNone/>
                      </a:pPr>
                      <a:r>
                        <a:rPr lang="en-US" sz="1700" b="0" dirty="0">
                          <a:solidFill>
                            <a:srgbClr val="000000"/>
                          </a:solidFill>
                          <a:effectLst/>
                          <a:latin typeface="Arial" panose="020B0604020202020204" pitchFamily="34" charset="0"/>
                        </a:rPr>
                        <a:t>Maximum</a:t>
                      </a:r>
                    </a:p>
                  </a:txBody>
                  <a:tcPr marL="109011" marR="109011" marT="9084" marB="27253" anchor="ctr">
                    <a:lnL>
                      <a:noFill/>
                    </a:lnL>
                    <a:lnR>
                      <a:noFill/>
                    </a:lnR>
                    <a:lnT>
                      <a:noFill/>
                    </a:lnT>
                    <a:lnB>
                      <a:noFill/>
                    </a:lnB>
                    <a:solidFill>
                      <a:srgbClr val="EBEBEB"/>
                    </a:solidFill>
                  </a:tcPr>
                </a:tc>
                <a:tc>
                  <a:txBody>
                    <a:bodyPr/>
                    <a:lstStyle/>
                    <a:p>
                      <a:pPr algn="r">
                        <a:buNone/>
                      </a:pPr>
                      <a:r>
                        <a:rPr lang="en-US" sz="1700" b="0">
                          <a:solidFill>
                            <a:srgbClr val="000000"/>
                          </a:solidFill>
                          <a:effectLst/>
                          <a:latin typeface="Arial" panose="020B0604020202020204" pitchFamily="34" charset="0"/>
                        </a:rPr>
                        <a:t>145.000</a:t>
                      </a:r>
                    </a:p>
                  </a:txBody>
                  <a:tcPr marL="109011" marR="109011" marT="9084" marB="27253" anchor="ctr">
                    <a:lnL>
                      <a:noFill/>
                    </a:lnL>
                    <a:lnR>
                      <a:noFill/>
                    </a:lnR>
                    <a:lnT>
                      <a:noFill/>
                    </a:lnT>
                    <a:lnB>
                      <a:noFill/>
                    </a:lnB>
                    <a:solidFill>
                      <a:srgbClr val="EBEBEB"/>
                    </a:solidFill>
                  </a:tcPr>
                </a:tc>
                <a:tc>
                  <a:txBody>
                    <a:bodyPr/>
                    <a:lstStyle/>
                    <a:p>
                      <a:pPr algn="r">
                        <a:buNone/>
                      </a:pPr>
                      <a:r>
                        <a:rPr lang="en-US" sz="1700" b="0">
                          <a:solidFill>
                            <a:srgbClr val="000000"/>
                          </a:solidFill>
                          <a:effectLst/>
                          <a:latin typeface="Arial" panose="020B0604020202020204" pitchFamily="34" charset="0"/>
                        </a:rPr>
                        <a:t>3.700</a:t>
                      </a:r>
                    </a:p>
                  </a:txBody>
                  <a:tcPr marL="109011" marR="109011" marT="9084" marB="27253" anchor="ctr">
                    <a:lnL>
                      <a:noFill/>
                    </a:lnL>
                    <a:lnR>
                      <a:noFill/>
                    </a:lnR>
                    <a:lnT>
                      <a:noFill/>
                    </a:lnT>
                    <a:lnB>
                      <a:noFill/>
                    </a:lnB>
                    <a:solidFill>
                      <a:srgbClr val="EBEBEB"/>
                    </a:solidFill>
                  </a:tcPr>
                </a:tc>
                <a:tc>
                  <a:txBody>
                    <a:bodyPr/>
                    <a:lstStyle/>
                    <a:p>
                      <a:pPr algn="r">
                        <a:buNone/>
                      </a:pPr>
                      <a:r>
                        <a:rPr lang="en-US" sz="1700" b="0">
                          <a:solidFill>
                            <a:srgbClr val="000000"/>
                          </a:solidFill>
                          <a:effectLst/>
                          <a:latin typeface="Arial" panose="020B0604020202020204" pitchFamily="34" charset="0"/>
                        </a:rPr>
                        <a:t>4.000</a:t>
                      </a:r>
                    </a:p>
                  </a:txBody>
                  <a:tcPr marL="109011" marR="109011" marT="9084" marB="27253" anchor="ctr">
                    <a:lnL>
                      <a:noFill/>
                    </a:lnL>
                    <a:lnR>
                      <a:noFill/>
                    </a:lnR>
                    <a:lnT>
                      <a:noFill/>
                    </a:lnT>
                    <a:lnB>
                      <a:noFill/>
                    </a:lnB>
                    <a:solidFill>
                      <a:srgbClr val="EBEBEB"/>
                    </a:solidFill>
                  </a:tcPr>
                </a:tc>
                <a:extLst>
                  <a:ext uri="{0D108BD9-81ED-4DB2-BD59-A6C34878D82A}">
                    <a16:rowId xmlns:a16="http://schemas.microsoft.com/office/drawing/2014/main" val="3533687346"/>
                  </a:ext>
                </a:extLst>
              </a:tr>
              <a:tr h="297962">
                <a:tc>
                  <a:txBody>
                    <a:bodyPr/>
                    <a:lstStyle/>
                    <a:p>
                      <a:pPr algn="l">
                        <a:buNone/>
                      </a:pPr>
                      <a:r>
                        <a:rPr lang="en-US" sz="1700" b="0">
                          <a:solidFill>
                            <a:srgbClr val="000000"/>
                          </a:solidFill>
                          <a:effectLst/>
                          <a:latin typeface="Arial" panose="020B0604020202020204" pitchFamily="34" charset="0"/>
                        </a:rPr>
                        <a:t>20th percentile</a:t>
                      </a:r>
                    </a:p>
                  </a:txBody>
                  <a:tcPr marL="109011" marR="109011" marT="9084" marB="27253" anchor="ctr">
                    <a:lnL>
                      <a:noFill/>
                    </a:lnL>
                    <a:lnR>
                      <a:noFill/>
                    </a:lnR>
                    <a:lnT>
                      <a:noFill/>
                    </a:lnT>
                    <a:lnB>
                      <a:noFill/>
                    </a:lnB>
                    <a:solidFill>
                      <a:srgbClr val="FFFFFF"/>
                    </a:solidFill>
                  </a:tcPr>
                </a:tc>
                <a:tc>
                  <a:txBody>
                    <a:bodyPr/>
                    <a:lstStyle/>
                    <a:p>
                      <a:pPr algn="r">
                        <a:buNone/>
                      </a:pPr>
                      <a:r>
                        <a:rPr lang="en-US" sz="1700" b="0">
                          <a:solidFill>
                            <a:srgbClr val="000000"/>
                          </a:solidFill>
                          <a:effectLst/>
                          <a:latin typeface="Arial" panose="020B0604020202020204" pitchFamily="34" charset="0"/>
                        </a:rPr>
                        <a:t>100.000</a:t>
                      </a:r>
                    </a:p>
                  </a:txBody>
                  <a:tcPr marL="109011" marR="109011" marT="9084" marB="27253" anchor="ctr">
                    <a:lnL>
                      <a:noFill/>
                    </a:lnL>
                    <a:lnR>
                      <a:noFill/>
                    </a:lnR>
                    <a:lnT>
                      <a:noFill/>
                    </a:lnT>
                    <a:lnB>
                      <a:noFill/>
                    </a:lnB>
                    <a:solidFill>
                      <a:srgbClr val="FFFFFF"/>
                    </a:solidFill>
                  </a:tcPr>
                </a:tc>
                <a:tc>
                  <a:txBody>
                    <a:bodyPr/>
                    <a:lstStyle/>
                    <a:p>
                      <a:pPr algn="r">
                        <a:buNone/>
                      </a:pPr>
                      <a:r>
                        <a:rPr lang="en-US" sz="1700" b="0">
                          <a:solidFill>
                            <a:srgbClr val="000000"/>
                          </a:solidFill>
                          <a:effectLst/>
                          <a:latin typeface="Arial" panose="020B0604020202020204" pitchFamily="34" charset="0"/>
                        </a:rPr>
                        <a:t>2.800</a:t>
                      </a:r>
                    </a:p>
                  </a:txBody>
                  <a:tcPr marL="109011" marR="109011" marT="9084" marB="27253" anchor="ctr">
                    <a:lnL>
                      <a:noFill/>
                    </a:lnL>
                    <a:lnR>
                      <a:noFill/>
                    </a:lnR>
                    <a:lnT>
                      <a:noFill/>
                    </a:lnT>
                    <a:lnB>
                      <a:noFill/>
                    </a:lnB>
                    <a:solidFill>
                      <a:srgbClr val="FFFFFF"/>
                    </a:solidFill>
                  </a:tcPr>
                </a:tc>
                <a:tc>
                  <a:txBody>
                    <a:bodyPr/>
                    <a:lstStyle/>
                    <a:p>
                      <a:pPr algn="r">
                        <a:buNone/>
                      </a:pPr>
                      <a:r>
                        <a:rPr lang="en-US" sz="1700" b="0">
                          <a:solidFill>
                            <a:srgbClr val="000000"/>
                          </a:solidFill>
                          <a:effectLst/>
                          <a:latin typeface="Arial" panose="020B0604020202020204" pitchFamily="34" charset="0"/>
                        </a:rPr>
                        <a:t>3.200</a:t>
                      </a:r>
                    </a:p>
                  </a:txBody>
                  <a:tcPr marL="109011" marR="109011" marT="9084" marB="27253" anchor="ctr">
                    <a:lnL>
                      <a:noFill/>
                    </a:lnL>
                    <a:lnR>
                      <a:noFill/>
                    </a:lnR>
                    <a:lnT>
                      <a:noFill/>
                    </a:lnT>
                    <a:lnB>
                      <a:noFill/>
                    </a:lnB>
                    <a:solidFill>
                      <a:srgbClr val="FFFFFF"/>
                    </a:solidFill>
                  </a:tcPr>
                </a:tc>
                <a:extLst>
                  <a:ext uri="{0D108BD9-81ED-4DB2-BD59-A6C34878D82A}">
                    <a16:rowId xmlns:a16="http://schemas.microsoft.com/office/drawing/2014/main" val="3012266017"/>
                  </a:ext>
                </a:extLst>
              </a:tr>
              <a:tr h="297962">
                <a:tc>
                  <a:txBody>
                    <a:bodyPr/>
                    <a:lstStyle/>
                    <a:p>
                      <a:pPr algn="l">
                        <a:buNone/>
                      </a:pPr>
                      <a:r>
                        <a:rPr lang="en-US" sz="1700" b="0">
                          <a:solidFill>
                            <a:srgbClr val="000000"/>
                          </a:solidFill>
                          <a:effectLst/>
                          <a:latin typeface="Arial" panose="020B0604020202020204" pitchFamily="34" charset="0"/>
                        </a:rPr>
                        <a:t>40th percentile</a:t>
                      </a:r>
                    </a:p>
                  </a:txBody>
                  <a:tcPr marL="109011" marR="109011" marT="9084" marB="27253" anchor="ctr">
                    <a:lnL>
                      <a:noFill/>
                    </a:lnL>
                    <a:lnR>
                      <a:noFill/>
                    </a:lnR>
                    <a:lnT>
                      <a:noFill/>
                    </a:lnT>
                    <a:lnB>
                      <a:noFill/>
                    </a:lnB>
                    <a:solidFill>
                      <a:srgbClr val="EBEBEB"/>
                    </a:solidFill>
                  </a:tcPr>
                </a:tc>
                <a:tc>
                  <a:txBody>
                    <a:bodyPr/>
                    <a:lstStyle/>
                    <a:p>
                      <a:pPr algn="r">
                        <a:buNone/>
                      </a:pPr>
                      <a:r>
                        <a:rPr lang="en-US" sz="1700" b="0">
                          <a:solidFill>
                            <a:srgbClr val="000000"/>
                          </a:solidFill>
                          <a:effectLst/>
                          <a:latin typeface="Arial" panose="020B0604020202020204" pitchFamily="34" charset="0"/>
                        </a:rPr>
                        <a:t>105.000</a:t>
                      </a:r>
                    </a:p>
                  </a:txBody>
                  <a:tcPr marL="109011" marR="109011" marT="9084" marB="27253" anchor="ctr">
                    <a:lnL>
                      <a:noFill/>
                    </a:lnL>
                    <a:lnR>
                      <a:noFill/>
                    </a:lnR>
                    <a:lnT>
                      <a:noFill/>
                    </a:lnT>
                    <a:lnB>
                      <a:noFill/>
                    </a:lnB>
                    <a:solidFill>
                      <a:srgbClr val="EBEBEB"/>
                    </a:solidFill>
                  </a:tcPr>
                </a:tc>
                <a:tc>
                  <a:txBody>
                    <a:bodyPr/>
                    <a:lstStyle/>
                    <a:p>
                      <a:pPr algn="r">
                        <a:buNone/>
                      </a:pPr>
                      <a:r>
                        <a:rPr lang="en-US" sz="1700" b="0">
                          <a:solidFill>
                            <a:srgbClr val="000000"/>
                          </a:solidFill>
                          <a:effectLst/>
                          <a:latin typeface="Arial" panose="020B0604020202020204" pitchFamily="34" charset="0"/>
                        </a:rPr>
                        <a:t>3.000</a:t>
                      </a:r>
                    </a:p>
                  </a:txBody>
                  <a:tcPr marL="109011" marR="109011" marT="9084" marB="27253" anchor="ctr">
                    <a:lnL>
                      <a:noFill/>
                    </a:lnL>
                    <a:lnR>
                      <a:noFill/>
                    </a:lnR>
                    <a:lnT>
                      <a:noFill/>
                    </a:lnT>
                    <a:lnB>
                      <a:noFill/>
                    </a:lnB>
                    <a:solidFill>
                      <a:srgbClr val="EBEBEB"/>
                    </a:solidFill>
                  </a:tcPr>
                </a:tc>
                <a:tc>
                  <a:txBody>
                    <a:bodyPr/>
                    <a:lstStyle/>
                    <a:p>
                      <a:pPr algn="r">
                        <a:buNone/>
                      </a:pPr>
                      <a:r>
                        <a:rPr lang="en-US" sz="1700" b="0">
                          <a:solidFill>
                            <a:srgbClr val="000000"/>
                          </a:solidFill>
                          <a:effectLst/>
                          <a:latin typeface="Arial" panose="020B0604020202020204" pitchFamily="34" charset="0"/>
                        </a:rPr>
                        <a:t>3.400</a:t>
                      </a:r>
                    </a:p>
                  </a:txBody>
                  <a:tcPr marL="109011" marR="109011" marT="9084" marB="27253" anchor="ctr">
                    <a:lnL>
                      <a:noFill/>
                    </a:lnL>
                    <a:lnR>
                      <a:noFill/>
                    </a:lnR>
                    <a:lnT>
                      <a:noFill/>
                    </a:lnT>
                    <a:lnB>
                      <a:noFill/>
                    </a:lnB>
                    <a:solidFill>
                      <a:srgbClr val="EBEBEB"/>
                    </a:solidFill>
                  </a:tcPr>
                </a:tc>
                <a:extLst>
                  <a:ext uri="{0D108BD9-81ED-4DB2-BD59-A6C34878D82A}">
                    <a16:rowId xmlns:a16="http://schemas.microsoft.com/office/drawing/2014/main" val="1708057974"/>
                  </a:ext>
                </a:extLst>
              </a:tr>
              <a:tr h="297962">
                <a:tc>
                  <a:txBody>
                    <a:bodyPr/>
                    <a:lstStyle/>
                    <a:p>
                      <a:pPr algn="l">
                        <a:buNone/>
                      </a:pPr>
                      <a:r>
                        <a:rPr lang="en-US" sz="1700" b="0">
                          <a:solidFill>
                            <a:srgbClr val="000000"/>
                          </a:solidFill>
                          <a:effectLst/>
                          <a:latin typeface="Arial" panose="020B0604020202020204" pitchFamily="34" charset="0"/>
                        </a:rPr>
                        <a:t>60th percentile</a:t>
                      </a:r>
                    </a:p>
                  </a:txBody>
                  <a:tcPr marL="109011" marR="109011" marT="9084" marB="27253" anchor="ctr">
                    <a:lnL>
                      <a:noFill/>
                    </a:lnL>
                    <a:lnR>
                      <a:noFill/>
                    </a:lnR>
                    <a:lnT>
                      <a:noFill/>
                    </a:lnT>
                    <a:lnB>
                      <a:noFill/>
                    </a:lnB>
                    <a:solidFill>
                      <a:srgbClr val="FFFFFF"/>
                    </a:solidFill>
                  </a:tcPr>
                </a:tc>
                <a:tc>
                  <a:txBody>
                    <a:bodyPr/>
                    <a:lstStyle/>
                    <a:p>
                      <a:pPr algn="r">
                        <a:buNone/>
                      </a:pPr>
                      <a:r>
                        <a:rPr lang="en-US" sz="1700" b="0">
                          <a:solidFill>
                            <a:srgbClr val="000000"/>
                          </a:solidFill>
                          <a:effectLst/>
                          <a:latin typeface="Arial" panose="020B0604020202020204" pitchFamily="34" charset="0"/>
                        </a:rPr>
                        <a:t>115.000</a:t>
                      </a:r>
                    </a:p>
                  </a:txBody>
                  <a:tcPr marL="109011" marR="109011" marT="9084" marB="27253" anchor="ctr">
                    <a:lnL>
                      <a:noFill/>
                    </a:lnL>
                    <a:lnR>
                      <a:noFill/>
                    </a:lnR>
                    <a:lnT>
                      <a:noFill/>
                    </a:lnT>
                    <a:lnB>
                      <a:noFill/>
                    </a:lnB>
                    <a:solidFill>
                      <a:srgbClr val="FFFFFF"/>
                    </a:solidFill>
                  </a:tcPr>
                </a:tc>
                <a:tc>
                  <a:txBody>
                    <a:bodyPr/>
                    <a:lstStyle/>
                    <a:p>
                      <a:pPr algn="r">
                        <a:buNone/>
                      </a:pPr>
                      <a:r>
                        <a:rPr lang="en-US" sz="1700" b="0">
                          <a:solidFill>
                            <a:srgbClr val="000000"/>
                          </a:solidFill>
                          <a:effectLst/>
                          <a:latin typeface="Arial" panose="020B0604020202020204" pitchFamily="34" charset="0"/>
                        </a:rPr>
                        <a:t>3.200</a:t>
                      </a:r>
                    </a:p>
                  </a:txBody>
                  <a:tcPr marL="109011" marR="109011" marT="9084" marB="27253" anchor="ctr">
                    <a:lnL>
                      <a:noFill/>
                    </a:lnL>
                    <a:lnR>
                      <a:noFill/>
                    </a:lnR>
                    <a:lnT>
                      <a:noFill/>
                    </a:lnT>
                    <a:lnB>
                      <a:noFill/>
                    </a:lnB>
                    <a:solidFill>
                      <a:srgbClr val="FFFFFF"/>
                    </a:solidFill>
                  </a:tcPr>
                </a:tc>
                <a:tc>
                  <a:txBody>
                    <a:bodyPr/>
                    <a:lstStyle/>
                    <a:p>
                      <a:pPr algn="r">
                        <a:buNone/>
                      </a:pPr>
                      <a:r>
                        <a:rPr lang="en-US" sz="1700" b="0">
                          <a:solidFill>
                            <a:srgbClr val="000000"/>
                          </a:solidFill>
                          <a:effectLst/>
                          <a:latin typeface="Arial" panose="020B0604020202020204" pitchFamily="34" charset="0"/>
                        </a:rPr>
                        <a:t>3.600</a:t>
                      </a:r>
                    </a:p>
                  </a:txBody>
                  <a:tcPr marL="109011" marR="109011" marT="9084" marB="27253" anchor="ctr">
                    <a:lnL>
                      <a:noFill/>
                    </a:lnL>
                    <a:lnR>
                      <a:noFill/>
                    </a:lnR>
                    <a:lnT>
                      <a:noFill/>
                    </a:lnT>
                    <a:lnB>
                      <a:noFill/>
                    </a:lnB>
                    <a:solidFill>
                      <a:srgbClr val="FFFFFF"/>
                    </a:solidFill>
                  </a:tcPr>
                </a:tc>
                <a:extLst>
                  <a:ext uri="{0D108BD9-81ED-4DB2-BD59-A6C34878D82A}">
                    <a16:rowId xmlns:a16="http://schemas.microsoft.com/office/drawing/2014/main" val="667892343"/>
                  </a:ext>
                </a:extLst>
              </a:tr>
              <a:tr h="297962">
                <a:tc>
                  <a:txBody>
                    <a:bodyPr/>
                    <a:lstStyle/>
                    <a:p>
                      <a:pPr algn="l">
                        <a:buNone/>
                      </a:pPr>
                      <a:r>
                        <a:rPr lang="en-US" sz="1700" b="0">
                          <a:solidFill>
                            <a:srgbClr val="000000"/>
                          </a:solidFill>
                          <a:effectLst/>
                          <a:latin typeface="Arial" panose="020B0604020202020204" pitchFamily="34" charset="0"/>
                        </a:rPr>
                        <a:t>80th percentile</a:t>
                      </a:r>
                    </a:p>
                  </a:txBody>
                  <a:tcPr marL="109011" marR="109011" marT="9084" marB="27253" anchor="ctr">
                    <a:lnL>
                      <a:noFill/>
                    </a:lnL>
                    <a:lnR>
                      <a:noFill/>
                    </a:lnR>
                    <a:lnT>
                      <a:noFill/>
                    </a:lnT>
                    <a:lnB>
                      <a:noFill/>
                    </a:lnB>
                    <a:solidFill>
                      <a:srgbClr val="EBEBEB"/>
                    </a:solidFill>
                  </a:tcPr>
                </a:tc>
                <a:tc>
                  <a:txBody>
                    <a:bodyPr/>
                    <a:lstStyle/>
                    <a:p>
                      <a:pPr algn="r">
                        <a:buNone/>
                      </a:pPr>
                      <a:r>
                        <a:rPr lang="en-US" sz="1700" b="0">
                          <a:solidFill>
                            <a:srgbClr val="000000"/>
                          </a:solidFill>
                          <a:effectLst/>
                          <a:latin typeface="Arial" panose="020B0604020202020204" pitchFamily="34" charset="0"/>
                        </a:rPr>
                        <a:t>125.000</a:t>
                      </a:r>
                    </a:p>
                  </a:txBody>
                  <a:tcPr marL="109011" marR="109011" marT="9084" marB="27253" anchor="ctr">
                    <a:lnL>
                      <a:noFill/>
                    </a:lnL>
                    <a:lnR>
                      <a:noFill/>
                    </a:lnR>
                    <a:lnT>
                      <a:noFill/>
                    </a:lnT>
                    <a:lnB>
                      <a:noFill/>
                    </a:lnB>
                    <a:solidFill>
                      <a:srgbClr val="EBEBEB"/>
                    </a:solidFill>
                  </a:tcPr>
                </a:tc>
                <a:tc>
                  <a:txBody>
                    <a:bodyPr/>
                    <a:lstStyle/>
                    <a:p>
                      <a:pPr algn="r">
                        <a:buNone/>
                      </a:pPr>
                      <a:r>
                        <a:rPr lang="en-US" sz="1700" b="0">
                          <a:solidFill>
                            <a:srgbClr val="000000"/>
                          </a:solidFill>
                          <a:effectLst/>
                          <a:latin typeface="Arial" panose="020B0604020202020204" pitchFamily="34" charset="0"/>
                        </a:rPr>
                        <a:t>3.500</a:t>
                      </a:r>
                    </a:p>
                  </a:txBody>
                  <a:tcPr marL="109011" marR="109011" marT="9084" marB="27253" anchor="ctr">
                    <a:lnL>
                      <a:noFill/>
                    </a:lnL>
                    <a:lnR>
                      <a:noFill/>
                    </a:lnR>
                    <a:lnT>
                      <a:noFill/>
                    </a:lnT>
                    <a:lnB>
                      <a:noFill/>
                    </a:lnB>
                    <a:solidFill>
                      <a:srgbClr val="EBEBEB"/>
                    </a:solidFill>
                  </a:tcPr>
                </a:tc>
                <a:tc>
                  <a:txBody>
                    <a:bodyPr/>
                    <a:lstStyle/>
                    <a:p>
                      <a:pPr algn="r">
                        <a:buNone/>
                      </a:pPr>
                      <a:r>
                        <a:rPr lang="en-US" sz="1700" b="0">
                          <a:solidFill>
                            <a:srgbClr val="000000"/>
                          </a:solidFill>
                          <a:effectLst/>
                          <a:latin typeface="Arial" panose="020B0604020202020204" pitchFamily="34" charset="0"/>
                        </a:rPr>
                        <a:t>3.800</a:t>
                      </a:r>
                    </a:p>
                  </a:txBody>
                  <a:tcPr marL="109011" marR="109011" marT="9084" marB="27253" anchor="ctr">
                    <a:lnL>
                      <a:noFill/>
                    </a:lnL>
                    <a:lnR>
                      <a:noFill/>
                    </a:lnR>
                    <a:lnT>
                      <a:noFill/>
                    </a:lnT>
                    <a:lnB>
                      <a:noFill/>
                    </a:lnB>
                    <a:solidFill>
                      <a:srgbClr val="EBEBEB"/>
                    </a:solidFill>
                  </a:tcPr>
                </a:tc>
                <a:extLst>
                  <a:ext uri="{0D108BD9-81ED-4DB2-BD59-A6C34878D82A}">
                    <a16:rowId xmlns:a16="http://schemas.microsoft.com/office/drawing/2014/main" val="2649115776"/>
                  </a:ext>
                </a:extLst>
              </a:tr>
              <a:tr h="297962">
                <a:tc>
                  <a:txBody>
                    <a:bodyPr/>
                    <a:lstStyle/>
                    <a:p>
                      <a:pPr algn="l">
                        <a:spcAft>
                          <a:spcPts val="720"/>
                        </a:spcAft>
                        <a:buNone/>
                      </a:pPr>
                      <a:r>
                        <a:rPr lang="en-US" sz="1700" b="0">
                          <a:solidFill>
                            <a:srgbClr val="000000"/>
                          </a:solidFill>
                          <a:effectLst/>
                          <a:latin typeface="Arial" panose="020B0604020202020204" pitchFamily="34" charset="0"/>
                        </a:rPr>
                        <a:t>100th percentile</a:t>
                      </a:r>
                    </a:p>
                  </a:txBody>
                  <a:tcPr marL="109011" marR="109011" marT="9084" marB="27253" anchor="ctr">
                    <a:lnL>
                      <a:noFill/>
                    </a:lnL>
                    <a:lnR>
                      <a:noFill/>
                    </a:lnR>
                    <a:lnT>
                      <a:noFill/>
                    </a:lnT>
                    <a:lnB>
                      <a:noFill/>
                    </a:lnB>
                    <a:solidFill>
                      <a:srgbClr val="FFFFFF"/>
                    </a:solidFill>
                  </a:tcPr>
                </a:tc>
                <a:tc>
                  <a:txBody>
                    <a:bodyPr/>
                    <a:lstStyle/>
                    <a:p>
                      <a:pPr algn="r">
                        <a:spcAft>
                          <a:spcPts val="720"/>
                        </a:spcAft>
                        <a:buNone/>
                      </a:pPr>
                      <a:r>
                        <a:rPr lang="en-US" sz="1700" b="0">
                          <a:solidFill>
                            <a:srgbClr val="000000"/>
                          </a:solidFill>
                          <a:effectLst/>
                          <a:latin typeface="Arial" panose="020B0604020202020204" pitchFamily="34" charset="0"/>
                        </a:rPr>
                        <a:t>145.000</a:t>
                      </a:r>
                    </a:p>
                  </a:txBody>
                  <a:tcPr marL="109011" marR="109011" marT="9084" marB="27253" anchor="ctr">
                    <a:lnL>
                      <a:noFill/>
                    </a:lnL>
                    <a:lnR>
                      <a:noFill/>
                    </a:lnR>
                    <a:lnT>
                      <a:noFill/>
                    </a:lnT>
                    <a:lnB>
                      <a:noFill/>
                    </a:lnB>
                    <a:solidFill>
                      <a:srgbClr val="FFFFFF"/>
                    </a:solidFill>
                  </a:tcPr>
                </a:tc>
                <a:tc>
                  <a:txBody>
                    <a:bodyPr/>
                    <a:lstStyle/>
                    <a:p>
                      <a:pPr algn="r">
                        <a:spcAft>
                          <a:spcPts val="720"/>
                        </a:spcAft>
                        <a:buNone/>
                      </a:pPr>
                      <a:r>
                        <a:rPr lang="en-US" sz="1700" b="0">
                          <a:solidFill>
                            <a:srgbClr val="000000"/>
                          </a:solidFill>
                          <a:effectLst/>
                          <a:latin typeface="Arial" panose="020B0604020202020204" pitchFamily="34" charset="0"/>
                        </a:rPr>
                        <a:t>3.700</a:t>
                      </a:r>
                    </a:p>
                  </a:txBody>
                  <a:tcPr marL="109011" marR="109011" marT="9084" marB="27253" anchor="ctr">
                    <a:lnL>
                      <a:noFill/>
                    </a:lnL>
                    <a:lnR>
                      <a:noFill/>
                    </a:lnR>
                    <a:lnT>
                      <a:noFill/>
                    </a:lnT>
                    <a:lnB>
                      <a:noFill/>
                    </a:lnB>
                    <a:solidFill>
                      <a:srgbClr val="FFFFFF"/>
                    </a:solidFill>
                  </a:tcPr>
                </a:tc>
                <a:tc>
                  <a:txBody>
                    <a:bodyPr/>
                    <a:lstStyle/>
                    <a:p>
                      <a:pPr algn="r">
                        <a:spcAft>
                          <a:spcPts val="720"/>
                        </a:spcAft>
                        <a:buNone/>
                      </a:pPr>
                      <a:r>
                        <a:rPr lang="en-US" sz="1700" b="0">
                          <a:solidFill>
                            <a:srgbClr val="000000"/>
                          </a:solidFill>
                          <a:effectLst/>
                          <a:latin typeface="Arial" panose="020B0604020202020204" pitchFamily="34" charset="0"/>
                        </a:rPr>
                        <a:t>4.000</a:t>
                      </a:r>
                    </a:p>
                  </a:txBody>
                  <a:tcPr marL="109011" marR="109011" marT="9084" marB="27253" anchor="ctr">
                    <a:lnL>
                      <a:noFill/>
                    </a:lnL>
                    <a:lnR>
                      <a:noFill/>
                    </a:lnR>
                    <a:lnT>
                      <a:noFill/>
                    </a:lnT>
                    <a:lnB>
                      <a:noFill/>
                    </a:lnB>
                    <a:solidFill>
                      <a:srgbClr val="FFFFFF"/>
                    </a:solidFill>
                  </a:tcPr>
                </a:tc>
                <a:extLst>
                  <a:ext uri="{0D108BD9-81ED-4DB2-BD59-A6C34878D82A}">
                    <a16:rowId xmlns:a16="http://schemas.microsoft.com/office/drawing/2014/main" val="493493"/>
                  </a:ext>
                </a:extLst>
              </a:tr>
              <a:tr h="297962">
                <a:tc gridSpan="4">
                  <a:txBody>
                    <a:bodyPr/>
                    <a:lstStyle/>
                    <a:p>
                      <a:pPr algn="r">
                        <a:buNone/>
                      </a:pPr>
                      <a:endParaRPr lang="en-US" sz="1700" b="0" dirty="0">
                        <a:solidFill>
                          <a:srgbClr val="000000"/>
                        </a:solidFill>
                        <a:effectLst/>
                        <a:latin typeface="Arial" panose="020B0604020202020204" pitchFamily="34" charset="0"/>
                      </a:endParaRPr>
                    </a:p>
                  </a:txBody>
                  <a:tcPr marL="109011" marR="109011" marT="9084" marB="27253" anchor="ctr">
                    <a:lnL>
                      <a:noFill/>
                    </a:lnL>
                    <a:lnR>
                      <a:noFill/>
                    </a:lnR>
                    <a:lnT>
                      <a:noFill/>
                    </a:lnT>
                    <a:lnB w="7934" cap="flat" cmpd="sng" algn="ctr">
                      <a:solidFill>
                        <a:srgbClr val="000000"/>
                      </a:solidFill>
                      <a:prstDash val="solid"/>
                      <a:round/>
                      <a:headEnd type="none" w="med" len="med"/>
                      <a:tailEnd type="none" w="med" len="med"/>
                    </a:lnB>
                    <a:solidFill>
                      <a:srgbClr val="EBEBEB"/>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10777336"/>
                  </a:ext>
                </a:extLst>
              </a:tr>
            </a:tbl>
          </a:graphicData>
        </a:graphic>
      </p:graphicFrame>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07F1595-8F89-E0F3-7BE0-2F4E8A582136}"/>
                  </a:ext>
                </a:extLst>
              </p:cNvPr>
              <p:cNvSpPr txBox="1"/>
              <p:nvPr/>
            </p:nvSpPr>
            <p:spPr>
              <a:xfrm>
                <a:off x="6916842" y="5204738"/>
                <a:ext cx="3303008" cy="752450"/>
              </a:xfrm>
              <a:prstGeom prst="rect">
                <a:avLst/>
              </a:prstGeom>
              <a:noFill/>
            </p:spPr>
            <p:txBody>
              <a:bodyPr wrap="square">
                <a:spAutoFit/>
              </a:bodyPr>
              <a:lstStyle/>
              <a:p>
                <a:pPr lvl="0">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𝑌</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𝑌</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Sub>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m:t>
                              </m:r>
                            </m:e>
                            <m:sub>
                              <m:r>
                                <a:rPr lang="en-US" sz="2000" i="1">
                                  <a:solidFill>
                                    <a:prstClr val="black"/>
                                  </a:solidFill>
                                  <a:latin typeface="Cambria Math" panose="02040503050406030204" pitchFamily="18" charset="0"/>
                                </a:rPr>
                                <m:t>𝑋</m:t>
                              </m:r>
                              <m:r>
                                <a:rPr lang="en-US" sz="2000" i="1">
                                  <a:solidFill>
                                    <a:prstClr val="black"/>
                                  </a:solidFill>
                                  <a:latin typeface="Cambria Math" panose="02040503050406030204" pitchFamily="18" charset="0"/>
                                </a:rPr>
                                <m:t>2</m:t>
                              </m:r>
                              <m:r>
                                <a:rPr lang="en-US" sz="2000" i="1">
                                  <a:solidFill>
                                    <a:prstClr val="black"/>
                                  </a:solidFill>
                                  <a:latin typeface="Cambria Math" panose="02040503050406030204" pitchFamily="18" charset="0"/>
                                </a:rPr>
                                <m:t>.</m:t>
                              </m:r>
                              <m:r>
                                <a:rPr lang="en-US" sz="2000" i="1">
                                  <a:solidFill>
                                    <a:prstClr val="black"/>
                                  </a:solidFill>
                                  <a:latin typeface="Cambria Math" panose="02040503050406030204" pitchFamily="18" charset="0"/>
                                </a:rPr>
                                <m:t>𝑋</m:t>
                              </m:r>
                              <m:r>
                                <a:rPr lang="en-US" sz="2000" i="1">
                                  <a:solidFill>
                                    <a:prstClr val="black"/>
                                  </a:solidFill>
                                  <a:latin typeface="Cambria Math" panose="02040503050406030204" pitchFamily="18" charset="0"/>
                                </a:rPr>
                                <m:t>1</m:t>
                              </m:r>
                            </m:sub>
                          </m:s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𝑠</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𝑌</m:t>
                              </m:r>
                            </m:sub>
                          </m:sSub>
                        </m:num>
                        <m:den>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Sup>
                            <m:sSubSup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Sup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m:t>
                              </m:r>
                            </m:e>
                            <m:sub>
                              <m:r>
                                <a:rPr lang="en-US" sz="2000" i="1">
                                  <a:solidFill>
                                    <a:prstClr val="black"/>
                                  </a:solidFill>
                                  <a:latin typeface="Cambria Math" panose="02040503050406030204" pitchFamily="18" charset="0"/>
                                </a:rPr>
                                <m:t>𝑋</m:t>
                              </m:r>
                              <m:r>
                                <a:rPr lang="en-US" sz="2000" i="1">
                                  <a:solidFill>
                                    <a:prstClr val="black"/>
                                  </a:solidFill>
                                  <a:latin typeface="Cambria Math" panose="02040503050406030204" pitchFamily="18" charset="0"/>
                                </a:rPr>
                                <m:t>2</m:t>
                              </m:r>
                              <m:r>
                                <a:rPr lang="en-US" sz="2000" i="1">
                                  <a:solidFill>
                                    <a:prstClr val="black"/>
                                  </a:solidFill>
                                  <a:latin typeface="Cambria Math" panose="02040503050406030204" pitchFamily="18" charset="0"/>
                                </a:rPr>
                                <m:t>.</m:t>
                              </m:r>
                              <m:r>
                                <a:rPr lang="en-US" sz="2000" i="1">
                                  <a:solidFill>
                                    <a:prstClr val="black"/>
                                  </a:solidFill>
                                  <a:latin typeface="Cambria Math" panose="02040503050406030204" pitchFamily="18" charset="0"/>
                                </a:rPr>
                                <m:t>𝑋</m:t>
                              </m:r>
                              <m:r>
                                <a:rPr lang="en-US" sz="2000" i="1">
                                  <a:solidFill>
                                    <a:prstClr val="black"/>
                                  </a:solidFill>
                                  <a:latin typeface="Cambria Math" panose="02040503050406030204" pitchFamily="18" charset="0"/>
                                </a:rPr>
                                <m:t>1</m:t>
                              </m:r>
                            </m:sub>
                            <m:sup>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bSup>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𝑠</m:t>
                              </m:r>
                            </m:e>
                            <m: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den>
                      </m:f>
                    </m:oMath>
                  </m:oMathPara>
                </a14:m>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2" name="TextBox 11">
                <a:extLst>
                  <a:ext uri="{FF2B5EF4-FFF2-40B4-BE49-F238E27FC236}">
                    <a16:creationId xmlns:a16="http://schemas.microsoft.com/office/drawing/2014/main" id="{A07F1595-8F89-E0F3-7BE0-2F4E8A582136}"/>
                  </a:ext>
                </a:extLst>
              </p:cNvPr>
              <p:cNvSpPr txBox="1">
                <a:spLocks noRot="1" noChangeAspect="1" noMove="1" noResize="1" noEditPoints="1" noAdjustHandles="1" noChangeArrowheads="1" noChangeShapeType="1" noTextEdit="1"/>
              </p:cNvSpPr>
              <p:nvPr/>
            </p:nvSpPr>
            <p:spPr>
              <a:xfrm>
                <a:off x="6916842" y="5204738"/>
                <a:ext cx="3303008" cy="752450"/>
              </a:xfrm>
              <a:prstGeom prst="rect">
                <a:avLst/>
              </a:prstGeom>
              <a:blipFill>
                <a:blip r:embed="rId2"/>
                <a:stretch>
                  <a:fillRect/>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3293D607-D607-CA0F-21C3-A7DC365833A0}"/>
              </a:ext>
            </a:extLst>
          </p:cNvPr>
          <p:cNvSpPr txBox="1"/>
          <p:nvPr/>
        </p:nvSpPr>
        <p:spPr>
          <a:xfrm>
            <a:off x="1018996" y="5322917"/>
            <a:ext cx="2675028"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GPA in graduate school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X</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 = GRE score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X</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 = Undergraduate GPA</a:t>
            </a:r>
          </a:p>
        </p:txBody>
      </p:sp>
      <p:pic>
        <p:nvPicPr>
          <p:cNvPr id="4" name="Picture 3">
            <a:extLst>
              <a:ext uri="{FF2B5EF4-FFF2-40B4-BE49-F238E27FC236}">
                <a16:creationId xmlns:a16="http://schemas.microsoft.com/office/drawing/2014/main" id="{F15603EC-3082-9032-6F92-BA2CEE268288}"/>
              </a:ext>
            </a:extLst>
          </p:cNvPr>
          <p:cNvPicPr>
            <a:picLocks noChangeAspect="1"/>
          </p:cNvPicPr>
          <p:nvPr/>
        </p:nvPicPr>
        <p:blipFill>
          <a:blip r:embed="rId3"/>
          <a:stretch>
            <a:fillRect/>
          </a:stretch>
        </p:blipFill>
        <p:spPr>
          <a:xfrm>
            <a:off x="258662" y="159426"/>
            <a:ext cx="4841992" cy="4456176"/>
          </a:xfrm>
          <a:prstGeom prst="rect">
            <a:avLst/>
          </a:prstGeom>
        </p:spPr>
      </p:pic>
      <p:sp>
        <p:nvSpPr>
          <p:cNvPr id="5" name="Rectangle 4">
            <a:extLst>
              <a:ext uri="{FF2B5EF4-FFF2-40B4-BE49-F238E27FC236}">
                <a16:creationId xmlns:a16="http://schemas.microsoft.com/office/drawing/2014/main" id="{24095A1D-30B3-5400-824E-7DF434155D64}"/>
              </a:ext>
            </a:extLst>
          </p:cNvPr>
          <p:cNvSpPr/>
          <p:nvPr/>
        </p:nvSpPr>
        <p:spPr>
          <a:xfrm>
            <a:off x="5203354" y="2070522"/>
            <a:ext cx="6729984" cy="3169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53361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0644631-19BC-BEFC-33D0-2324257E2C88}"/>
                  </a:ext>
                </a:extLst>
              </p:cNvPr>
              <p:cNvSpPr txBox="1"/>
              <p:nvPr/>
            </p:nvSpPr>
            <p:spPr>
              <a:xfrm>
                <a:off x="6096000" y="5827454"/>
                <a:ext cx="6312215" cy="706475"/>
              </a:xfrm>
              <a:prstGeom prst="rect">
                <a:avLst/>
              </a:prstGeom>
              <a:noFill/>
            </p:spPr>
            <p:txBody>
              <a:bodyPr wrap="square">
                <a:spAutoFit/>
              </a:bodyPr>
              <a:lstStyle/>
              <a:p>
                <a:pPr lvl="0">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𝑌</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𝑌</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𝑟</m:t>
                              </m:r>
                            </m:e>
                            <m:sub>
                              <m:r>
                                <a:rPr lang="en-US" i="1">
                                  <a:solidFill>
                                    <a:prstClr val="black"/>
                                  </a:solidFill>
                                  <a:latin typeface="Cambria Math" panose="02040503050406030204" pitchFamily="18" charset="0"/>
                                </a:rPr>
                                <m:t>𝑋</m:t>
                              </m:r>
                              <m:r>
                                <a:rPr lang="en-US" i="1">
                                  <a:solidFill>
                                    <a:prstClr val="black"/>
                                  </a:solidFill>
                                  <a:latin typeface="Cambria Math" panose="02040503050406030204" pitchFamily="18" charset="0"/>
                                </a:rPr>
                                <m:t>2</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𝑋</m:t>
                              </m:r>
                              <m:r>
                                <a:rPr lang="en-US" i="1">
                                  <a:solidFill>
                                    <a:prstClr val="black"/>
                                  </a:solidFill>
                                  <a:latin typeface="Cambria Math" panose="02040503050406030204" pitchFamily="18" charset="0"/>
                                </a:rPr>
                                <m:t>1</m:t>
                              </m:r>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𝑠</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𝑌</m:t>
                              </m:r>
                            </m:sub>
                          </m:sSub>
                        </m:num>
                        <m:den>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Sup>
                            <m:sSub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m:t>
                              </m:r>
                            </m:e>
                            <m:sub>
                              <m:r>
                                <a:rPr lang="en-US" i="1">
                                  <a:solidFill>
                                    <a:prstClr val="black"/>
                                  </a:solidFill>
                                  <a:latin typeface="Cambria Math" panose="02040503050406030204" pitchFamily="18" charset="0"/>
                                </a:rPr>
                                <m:t>𝑋</m:t>
                              </m:r>
                              <m:r>
                                <a:rPr lang="en-US" i="1">
                                  <a:solidFill>
                                    <a:prstClr val="black"/>
                                  </a:solidFill>
                                  <a:latin typeface="Cambria Math" panose="02040503050406030204" pitchFamily="18" charset="0"/>
                                </a:rPr>
                                <m:t>2</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𝑋</m:t>
                              </m:r>
                              <m:r>
                                <a:rPr lang="en-US" i="1">
                                  <a:solidFill>
                                    <a:prstClr val="black"/>
                                  </a:solidFill>
                                  <a:latin typeface="Cambria Math" panose="02040503050406030204" pitchFamily="18" charset="0"/>
                                </a:rPr>
                                <m:t>1</m:t>
                              </m:r>
                            </m:sub>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b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𝑠</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den>
                      </m:f>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752</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784</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301</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332</m:t>
                          </m:r>
                        </m:num>
                        <m:den>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30</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401</m:t>
                          </m:r>
                        </m:den>
                      </m:f>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00644631-19BC-BEFC-33D0-2324257E2C88}"/>
                  </a:ext>
                </a:extLst>
              </p:cNvPr>
              <p:cNvSpPr txBox="1">
                <a:spLocks noRot="1" noChangeAspect="1" noMove="1" noResize="1" noEditPoints="1" noAdjustHandles="1" noChangeArrowheads="1" noChangeShapeType="1" noTextEdit="1"/>
              </p:cNvSpPr>
              <p:nvPr/>
            </p:nvSpPr>
            <p:spPr>
              <a:xfrm>
                <a:off x="6096000" y="5827454"/>
                <a:ext cx="6312215" cy="70647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69D93EA-66A0-0FB3-CBFF-106511510856}"/>
                  </a:ext>
                </a:extLst>
              </p:cNvPr>
              <p:cNvSpPr txBox="1"/>
              <p:nvPr/>
            </p:nvSpPr>
            <p:spPr>
              <a:xfrm>
                <a:off x="239778" y="2969977"/>
                <a:ext cx="139030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𝑌</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752</m:t>
                      </m:r>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8" name="TextBox 7">
                <a:extLst>
                  <a:ext uri="{FF2B5EF4-FFF2-40B4-BE49-F238E27FC236}">
                    <a16:creationId xmlns:a16="http://schemas.microsoft.com/office/drawing/2014/main" id="{E69D93EA-66A0-0FB3-CBFF-106511510856}"/>
                  </a:ext>
                </a:extLst>
              </p:cNvPr>
              <p:cNvSpPr txBox="1">
                <a:spLocks noRot="1" noChangeAspect="1" noMove="1" noResize="1" noEditPoints="1" noAdjustHandles="1" noChangeArrowheads="1" noChangeShapeType="1" noTextEdit="1"/>
              </p:cNvSpPr>
              <p:nvPr/>
            </p:nvSpPr>
            <p:spPr>
              <a:xfrm>
                <a:off x="239778" y="2969977"/>
                <a:ext cx="1390301" cy="369332"/>
              </a:xfrm>
              <a:prstGeom prst="rect">
                <a:avLst/>
              </a:prstGeom>
              <a:blipFill>
                <a:blip r:embed="rId4"/>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2C8B318D-FC28-D191-D583-8C0750D76CF6}"/>
              </a:ext>
            </a:extLst>
          </p:cNvPr>
          <p:cNvSpPr txBox="1"/>
          <p:nvPr/>
        </p:nvSpPr>
        <p:spPr>
          <a:xfrm>
            <a:off x="1545465" y="2991886"/>
            <a:ext cx="5661935"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The correlation between Graduate GPA and Undergrad GPA</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D689F5F-21CF-43EF-CF87-323A7CE36FBC}"/>
                  </a:ext>
                </a:extLst>
              </p:cNvPr>
              <p:cNvSpPr txBox="1"/>
              <p:nvPr/>
            </p:nvSpPr>
            <p:spPr>
              <a:xfrm>
                <a:off x="231916" y="2591776"/>
                <a:ext cx="139030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𝑌</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784</m:t>
                      </m:r>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0" name="TextBox 9">
                <a:extLst>
                  <a:ext uri="{FF2B5EF4-FFF2-40B4-BE49-F238E27FC236}">
                    <a16:creationId xmlns:a16="http://schemas.microsoft.com/office/drawing/2014/main" id="{2D689F5F-21CF-43EF-CF87-323A7CE36FBC}"/>
                  </a:ext>
                </a:extLst>
              </p:cNvPr>
              <p:cNvSpPr txBox="1">
                <a:spLocks noRot="1" noChangeAspect="1" noMove="1" noResize="1" noEditPoints="1" noAdjustHandles="1" noChangeArrowheads="1" noChangeShapeType="1" noTextEdit="1"/>
              </p:cNvSpPr>
              <p:nvPr/>
            </p:nvSpPr>
            <p:spPr>
              <a:xfrm>
                <a:off x="231916" y="2591776"/>
                <a:ext cx="1390301" cy="369332"/>
              </a:xfrm>
              <a:prstGeom prst="rect">
                <a:avLst/>
              </a:prstGeom>
              <a:blipFill>
                <a:blip r:embed="rId5"/>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E0B8B5DD-AE32-BD1D-8042-6BB4E0E4E142}"/>
              </a:ext>
            </a:extLst>
          </p:cNvPr>
          <p:cNvSpPr txBox="1"/>
          <p:nvPr/>
        </p:nvSpPr>
        <p:spPr>
          <a:xfrm>
            <a:off x="1502905" y="2622554"/>
            <a:ext cx="4673844"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The correlation between GRE and Graduate GPA</a:t>
            </a:r>
          </a:p>
        </p:txBody>
      </p:sp>
      <p:sp>
        <p:nvSpPr>
          <p:cNvPr id="13" name="TextBox 12">
            <a:extLst>
              <a:ext uri="{FF2B5EF4-FFF2-40B4-BE49-F238E27FC236}">
                <a16:creationId xmlns:a16="http://schemas.microsoft.com/office/drawing/2014/main" id="{38C1B4FE-8B7F-9E14-6DC1-D7D7FB1D950B}"/>
              </a:ext>
            </a:extLst>
          </p:cNvPr>
          <p:cNvSpPr txBox="1"/>
          <p:nvPr/>
        </p:nvSpPr>
        <p:spPr>
          <a:xfrm>
            <a:off x="1304544" y="3358284"/>
            <a:ext cx="5393418"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The correlation between GRE and Undergraduate GPA</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1E7137E-8CFA-FD33-5603-4FDED82C8D3F}"/>
                  </a:ext>
                </a:extLst>
              </p:cNvPr>
              <p:cNvSpPr txBox="1"/>
              <p:nvPr/>
            </p:nvSpPr>
            <p:spPr>
              <a:xfrm>
                <a:off x="0" y="5969874"/>
                <a:ext cx="6097384" cy="703206"/>
              </a:xfrm>
              <a:prstGeom prst="rect">
                <a:avLst/>
              </a:prstGeom>
              <a:noFill/>
            </p:spPr>
            <p:txBody>
              <a:bodyPr wrap="square">
                <a:spAutoFit/>
              </a:bodyPr>
              <a:lstStyle/>
              <a:p>
                <a:pPr lvl="0">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𝑌</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𝑌</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Sub>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𝑟</m:t>
                              </m:r>
                            </m:e>
                            <m:sub>
                              <m:r>
                                <a:rPr lang="en-US" i="1">
                                  <a:solidFill>
                                    <a:prstClr val="black"/>
                                  </a:solidFill>
                                  <a:latin typeface="Cambria Math" panose="02040503050406030204" pitchFamily="18" charset="0"/>
                                </a:rPr>
                                <m:t>𝑋</m:t>
                              </m:r>
                              <m:r>
                                <a:rPr lang="en-US" i="1">
                                  <a:solidFill>
                                    <a:prstClr val="black"/>
                                  </a:solidFill>
                                  <a:latin typeface="Cambria Math" panose="02040503050406030204" pitchFamily="18" charset="0"/>
                                </a:rPr>
                                <m:t>2</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𝑋</m:t>
                              </m:r>
                              <m:r>
                                <a:rPr lang="en-US" i="1">
                                  <a:solidFill>
                                    <a:prstClr val="black"/>
                                  </a:solidFill>
                                  <a:latin typeface="Cambria Math" panose="02040503050406030204" pitchFamily="18" charset="0"/>
                                </a:rPr>
                                <m:t>1</m:t>
                              </m:r>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𝑠</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𝑌</m:t>
                              </m:r>
                            </m:sub>
                          </m:sSub>
                        </m:num>
                        <m:den>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Sup>
                            <m:sSub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m:t>
                              </m:r>
                            </m:e>
                            <m:sub>
                              <m:r>
                                <a:rPr lang="en-US" i="1">
                                  <a:solidFill>
                                    <a:prstClr val="black"/>
                                  </a:solidFill>
                                  <a:latin typeface="Cambria Math" panose="02040503050406030204" pitchFamily="18" charset="0"/>
                                </a:rPr>
                                <m:t>𝑋</m:t>
                              </m:r>
                              <m:r>
                                <a:rPr lang="en-US" i="1">
                                  <a:solidFill>
                                    <a:prstClr val="black"/>
                                  </a:solidFill>
                                  <a:latin typeface="Cambria Math" panose="02040503050406030204" pitchFamily="18" charset="0"/>
                                </a:rPr>
                                <m:t>2</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𝑋</m:t>
                              </m:r>
                              <m:r>
                                <a:rPr lang="en-US" i="1">
                                  <a:solidFill>
                                    <a:prstClr val="black"/>
                                  </a:solidFill>
                                  <a:latin typeface="Cambria Math" panose="02040503050406030204" pitchFamily="18" charset="0"/>
                                </a:rPr>
                                <m:t>1</m:t>
                              </m:r>
                            </m:sub>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b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𝑠</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den>
                      </m:f>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784</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752</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301</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332</m:t>
                          </m:r>
                        </m:num>
                        <m:den>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30</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e>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16</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33</m:t>
                          </m:r>
                        </m:den>
                      </m:f>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7" name="TextBox 16">
                <a:extLst>
                  <a:ext uri="{FF2B5EF4-FFF2-40B4-BE49-F238E27FC236}">
                    <a16:creationId xmlns:a16="http://schemas.microsoft.com/office/drawing/2014/main" id="{21E7137E-8CFA-FD33-5603-4FDED82C8D3F}"/>
                  </a:ext>
                </a:extLst>
              </p:cNvPr>
              <p:cNvSpPr txBox="1">
                <a:spLocks noRot="1" noChangeAspect="1" noMove="1" noResize="1" noEditPoints="1" noAdjustHandles="1" noChangeArrowheads="1" noChangeShapeType="1" noTextEdit="1"/>
              </p:cNvSpPr>
              <p:nvPr/>
            </p:nvSpPr>
            <p:spPr>
              <a:xfrm>
                <a:off x="0" y="5969874"/>
                <a:ext cx="6097384" cy="703206"/>
              </a:xfrm>
              <a:prstGeom prst="rect">
                <a:avLst/>
              </a:prstGeom>
              <a:blipFill>
                <a:blip r:embed="rId7"/>
                <a:stretch>
                  <a:fillRect/>
                </a:stretch>
              </a:blipFill>
            </p:spPr>
            <p:txBody>
              <a:bodyPr/>
              <a:lstStyle/>
              <a:p>
                <a:r>
                  <a:rPr lang="en-US">
                    <a:noFill/>
                  </a:rPr>
                  <a:t> </a:t>
                </a:r>
              </a:p>
            </p:txBody>
          </p:sp>
        </mc:Fallback>
      </mc:AlternateContent>
      <p:sp>
        <p:nvSpPr>
          <p:cNvPr id="18" name="Left Brace 17">
            <a:extLst>
              <a:ext uri="{FF2B5EF4-FFF2-40B4-BE49-F238E27FC236}">
                <a16:creationId xmlns:a16="http://schemas.microsoft.com/office/drawing/2014/main" id="{09EA7DC4-5323-88CA-9D10-F014EF0112DF}"/>
              </a:ext>
            </a:extLst>
          </p:cNvPr>
          <p:cNvSpPr/>
          <p:nvPr/>
        </p:nvSpPr>
        <p:spPr>
          <a:xfrm>
            <a:off x="1394235" y="707783"/>
            <a:ext cx="573578" cy="175999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81179394-BB93-CA05-A034-F605F0C7C971}"/>
              </a:ext>
            </a:extLst>
          </p:cNvPr>
          <p:cNvSpPr txBox="1"/>
          <p:nvPr/>
        </p:nvSpPr>
        <p:spPr>
          <a:xfrm>
            <a:off x="105762" y="937638"/>
            <a:ext cx="1862051"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Zero order (the Pearson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you already know)</a:t>
            </a:r>
          </a:p>
        </p:txBody>
      </p:sp>
      <p:sp>
        <p:nvSpPr>
          <p:cNvPr id="4" name="TextBox 3">
            <a:extLst>
              <a:ext uri="{FF2B5EF4-FFF2-40B4-BE49-F238E27FC236}">
                <a16:creationId xmlns:a16="http://schemas.microsoft.com/office/drawing/2014/main" id="{76ADD56F-9207-3C83-4781-3EEB42B7CA69}"/>
              </a:ext>
            </a:extLst>
          </p:cNvPr>
          <p:cNvSpPr txBox="1"/>
          <p:nvPr/>
        </p:nvSpPr>
        <p:spPr>
          <a:xfrm>
            <a:off x="338633" y="4994938"/>
            <a:ext cx="5635655" cy="923330"/>
          </a:xfrm>
          <a:prstGeom prst="rect">
            <a:avLst/>
          </a:prstGeom>
          <a:noFill/>
        </p:spPr>
        <p:txBody>
          <a:bodyPr wrap="square">
            <a:spAutoFit/>
          </a:bodyPr>
          <a:lstStyle/>
          <a:p>
            <a:r>
              <a:rPr lang="en-US" dirty="0"/>
              <a:t>To isolate the unique effect of GRE, we subtract the portion of the GRE-Graduate GPA correlation that is explained by Undergraduate GPA</a:t>
            </a:r>
          </a:p>
        </p:txBody>
      </p:sp>
      <p:sp>
        <p:nvSpPr>
          <p:cNvPr id="15" name="TextBox 14">
            <a:extLst>
              <a:ext uri="{FF2B5EF4-FFF2-40B4-BE49-F238E27FC236}">
                <a16:creationId xmlns:a16="http://schemas.microsoft.com/office/drawing/2014/main" id="{BBFC7DEB-F931-0750-BDBB-EC8564E8ACC5}"/>
              </a:ext>
            </a:extLst>
          </p:cNvPr>
          <p:cNvSpPr txBox="1"/>
          <p:nvPr/>
        </p:nvSpPr>
        <p:spPr>
          <a:xfrm>
            <a:off x="6772562" y="4904124"/>
            <a:ext cx="5635653" cy="923330"/>
          </a:xfrm>
          <a:prstGeom prst="rect">
            <a:avLst/>
          </a:prstGeom>
          <a:noFill/>
        </p:spPr>
        <p:txBody>
          <a:bodyPr wrap="square">
            <a:spAutoFit/>
          </a:bodyPr>
          <a:lstStyle/>
          <a:p>
            <a:r>
              <a:rPr lang="en-US" dirty="0"/>
              <a:t>To isolate the unique effect of Undergraduate GPA we subtract the portion of the Undergraduate GPA–Graduate GPA correlation that is explained by GRE</a:t>
            </a:r>
          </a:p>
        </p:txBody>
      </p:sp>
      <p:cxnSp>
        <p:nvCxnSpPr>
          <p:cNvPr id="22" name="Straight Arrow Connector 21">
            <a:extLst>
              <a:ext uri="{FF2B5EF4-FFF2-40B4-BE49-F238E27FC236}">
                <a16:creationId xmlns:a16="http://schemas.microsoft.com/office/drawing/2014/main" id="{35FE86BB-034B-6F88-404D-E1A47B7706E3}"/>
              </a:ext>
            </a:extLst>
          </p:cNvPr>
          <p:cNvCxnSpPr>
            <a:cxnSpLocks/>
          </p:cNvCxnSpPr>
          <p:nvPr/>
        </p:nvCxnSpPr>
        <p:spPr>
          <a:xfrm>
            <a:off x="1630079" y="3206496"/>
            <a:ext cx="2689044" cy="27633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011A0E06-0C0A-C4EF-0687-6D4897B46FE0}"/>
              </a:ext>
            </a:extLst>
          </p:cNvPr>
          <p:cNvCxnSpPr>
            <a:cxnSpLocks/>
            <a:stCxn id="11" idx="3"/>
          </p:cNvCxnSpPr>
          <p:nvPr/>
        </p:nvCxnSpPr>
        <p:spPr>
          <a:xfrm>
            <a:off x="6176749" y="2791831"/>
            <a:ext cx="4442513" cy="31691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2" name="Table 1">
            <a:extLst>
              <a:ext uri="{FF2B5EF4-FFF2-40B4-BE49-F238E27FC236}">
                <a16:creationId xmlns:a16="http://schemas.microsoft.com/office/drawing/2014/main" id="{F106C566-8EB3-B1A3-2540-3D409DF65174}"/>
              </a:ext>
            </a:extLst>
          </p:cNvPr>
          <p:cNvGraphicFramePr>
            <a:graphicFrameLocks noGrp="1"/>
          </p:cNvGraphicFramePr>
          <p:nvPr>
            <p:extLst>
              <p:ext uri="{D42A27DB-BD31-4B8C-83A1-F6EECF244321}">
                <p14:modId xmlns:p14="http://schemas.microsoft.com/office/powerpoint/2010/main" val="3905037381"/>
              </p:ext>
            </p:extLst>
          </p:nvPr>
        </p:nvGraphicFramePr>
        <p:xfrm>
          <a:off x="1967813" y="224541"/>
          <a:ext cx="9257904" cy="2337435"/>
        </p:xfrm>
        <a:graphic>
          <a:graphicData uri="http://schemas.openxmlformats.org/drawingml/2006/table">
            <a:tbl>
              <a:tblPr/>
              <a:tblGrid>
                <a:gridCol w="2726107">
                  <a:extLst>
                    <a:ext uri="{9D8B030D-6E8A-4147-A177-3AD203B41FA5}">
                      <a16:colId xmlns:a16="http://schemas.microsoft.com/office/drawing/2014/main" val="690613459"/>
                    </a:ext>
                  </a:extLst>
                </a:gridCol>
                <a:gridCol w="390144">
                  <a:extLst>
                    <a:ext uri="{9D8B030D-6E8A-4147-A177-3AD203B41FA5}">
                      <a16:colId xmlns:a16="http://schemas.microsoft.com/office/drawing/2014/main" val="2568136019"/>
                    </a:ext>
                  </a:extLst>
                </a:gridCol>
                <a:gridCol w="2926080">
                  <a:extLst>
                    <a:ext uri="{9D8B030D-6E8A-4147-A177-3AD203B41FA5}">
                      <a16:colId xmlns:a16="http://schemas.microsoft.com/office/drawing/2014/main" val="3294695455"/>
                    </a:ext>
                  </a:extLst>
                </a:gridCol>
                <a:gridCol w="1301429">
                  <a:extLst>
                    <a:ext uri="{9D8B030D-6E8A-4147-A177-3AD203B41FA5}">
                      <a16:colId xmlns:a16="http://schemas.microsoft.com/office/drawing/2014/main" val="287093058"/>
                    </a:ext>
                  </a:extLst>
                </a:gridCol>
                <a:gridCol w="1914144">
                  <a:extLst>
                    <a:ext uri="{9D8B030D-6E8A-4147-A177-3AD203B41FA5}">
                      <a16:colId xmlns:a16="http://schemas.microsoft.com/office/drawing/2014/main" val="108296676"/>
                    </a:ext>
                  </a:extLst>
                </a:gridCol>
              </a:tblGrid>
              <a:tr h="0">
                <a:tc gridSpan="5">
                  <a:txBody>
                    <a:bodyPr/>
                    <a:lstStyle/>
                    <a:p>
                      <a:pPr algn="l">
                        <a:buNone/>
                      </a:pPr>
                      <a:r>
                        <a:rPr lang="en-US" b="0" i="1">
                          <a:solidFill>
                            <a:srgbClr val="000000"/>
                          </a:solidFill>
                          <a:effectLst/>
                          <a:latin typeface="Arial" panose="020B0604020202020204" pitchFamily="34" charset="0"/>
                        </a:rPr>
                        <a:t>Pearson's Correlations</a:t>
                      </a:r>
                      <a:r>
                        <a:rPr lang="en-US" b="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11374818"/>
                  </a:ext>
                </a:extLst>
              </a:tr>
              <a:tr h="0">
                <a:tc>
                  <a:txBody>
                    <a:bodyPr/>
                    <a:lstStyle/>
                    <a:p>
                      <a:pPr algn="ctr">
                        <a:buNone/>
                      </a:pPr>
                      <a:r>
                        <a:rPr lang="en-US" b="0">
                          <a:solidFill>
                            <a:srgbClr val="000000"/>
                          </a:solidFill>
                          <a:effectLst/>
                          <a:latin typeface="Arial" panose="020B0604020202020204" pitchFamily="34" charset="0"/>
                        </a:rPr>
                        <a:t> </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 </a:t>
                      </a:r>
                    </a:p>
                  </a:txBody>
                  <a:tcPr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 </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dirty="0">
                          <a:solidFill>
                            <a:srgbClr val="000000"/>
                          </a:solidFill>
                          <a:effectLst/>
                          <a:latin typeface="Arial" panose="020B0604020202020204" pitchFamily="34" charset="0"/>
                        </a:rPr>
                        <a:t>Pearson's r</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dirty="0">
                          <a:solidFill>
                            <a:srgbClr val="000000"/>
                          </a:solidFill>
                          <a:effectLst/>
                          <a:latin typeface="Arial" panose="020B0604020202020204" pitchFamily="34" charset="0"/>
                        </a:rPr>
                        <a:t>p</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4501123"/>
                  </a:ext>
                </a:extLst>
              </a:tr>
              <a:tr h="0">
                <a:tc>
                  <a:txBody>
                    <a:bodyPr/>
                    <a:lstStyle/>
                    <a:p>
                      <a:pPr algn="l">
                        <a:buNone/>
                      </a:pPr>
                      <a:r>
                        <a:rPr lang="en-US" b="0" dirty="0" err="1">
                          <a:solidFill>
                            <a:srgbClr val="000000"/>
                          </a:solidFill>
                          <a:effectLst/>
                          <a:latin typeface="Arial" panose="020B0604020202020204" pitchFamily="34" charset="0"/>
                        </a:rPr>
                        <a:t>GRETotal</a:t>
                      </a:r>
                      <a:r>
                        <a:rPr lang="en-US" b="0" dirty="0">
                          <a:solidFill>
                            <a:srgbClr val="000000"/>
                          </a:solidFill>
                          <a:effectLst/>
                          <a:latin typeface="Arial" panose="020B0604020202020204" pitchFamily="34" charset="0"/>
                        </a:rPr>
                        <a:t> (X1)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noFill/>
                  </a:tcPr>
                </a:tc>
                <a:tc>
                  <a:txBody>
                    <a:bodyPr/>
                    <a:lstStyle/>
                    <a:p>
                      <a:pPr algn="r">
                        <a:buNone/>
                      </a:pPr>
                      <a:r>
                        <a:rPr lang="en-US" b="0" dirty="0">
                          <a:solidFill>
                            <a:srgbClr val="000000"/>
                          </a:solidFill>
                          <a:effectLst/>
                          <a:latin typeface="Arial" panose="020B0604020202020204" pitchFamily="34" charset="0"/>
                        </a:rPr>
                        <a:t>-</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noFill/>
                  </a:tcPr>
                </a:tc>
                <a:tc>
                  <a:txBody>
                    <a:bodyPr/>
                    <a:lstStyle/>
                    <a:p>
                      <a:pPr algn="l">
                        <a:buNone/>
                      </a:pPr>
                      <a:r>
                        <a:rPr lang="en-US" b="0" dirty="0">
                          <a:solidFill>
                            <a:srgbClr val="000000"/>
                          </a:solidFill>
                          <a:effectLst/>
                          <a:latin typeface="Arial" panose="020B0604020202020204" pitchFamily="34" charset="0"/>
                        </a:rPr>
                        <a:t>UndergraduateGPA (X2)</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noFill/>
                  </a:tcPr>
                </a:tc>
                <a:tc>
                  <a:txBody>
                    <a:bodyPr/>
                    <a:lstStyle/>
                    <a:p>
                      <a:pPr algn="r">
                        <a:buNone/>
                      </a:pPr>
                      <a:r>
                        <a:rPr lang="en-US" b="0" dirty="0">
                          <a:solidFill>
                            <a:srgbClr val="000000"/>
                          </a:solidFill>
                          <a:effectLst/>
                          <a:latin typeface="Arial" panose="020B0604020202020204" pitchFamily="34" charset="0"/>
                        </a:rPr>
                        <a:t>0.301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noFill/>
                  </a:tcPr>
                </a:tc>
                <a:tc>
                  <a:txBody>
                    <a:bodyPr/>
                    <a:lstStyle/>
                    <a:p>
                      <a:pPr algn="r">
                        <a:buNone/>
                      </a:pPr>
                      <a:r>
                        <a:rPr lang="en-US" b="0">
                          <a:solidFill>
                            <a:srgbClr val="000000"/>
                          </a:solidFill>
                          <a:effectLst/>
                          <a:latin typeface="Arial" panose="020B0604020202020204" pitchFamily="34" charset="0"/>
                        </a:rPr>
                        <a:t>.368</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977217608"/>
                  </a:ext>
                </a:extLst>
              </a:tr>
              <a:tr h="0">
                <a:tc>
                  <a:txBody>
                    <a:bodyPr/>
                    <a:lstStyle/>
                    <a:p>
                      <a:pPr algn="l">
                        <a:buNone/>
                      </a:pPr>
                      <a:r>
                        <a:rPr lang="en-US" b="0" dirty="0" err="1">
                          <a:solidFill>
                            <a:srgbClr val="000000"/>
                          </a:solidFill>
                          <a:effectLst/>
                          <a:latin typeface="Arial" panose="020B0604020202020204" pitchFamily="34" charset="0"/>
                        </a:rPr>
                        <a:t>GRETotal</a:t>
                      </a:r>
                      <a:r>
                        <a:rPr lang="en-US" b="0" dirty="0">
                          <a:solidFill>
                            <a:srgbClr val="000000"/>
                          </a:solidFill>
                          <a:effectLst/>
                          <a:latin typeface="Arial" panose="020B0604020202020204" pitchFamily="34" charset="0"/>
                        </a:rPr>
                        <a:t> (X1)</a:t>
                      </a:r>
                    </a:p>
                  </a:txBody>
                  <a:tcPr marL="114300" marR="114300" marT="9525" marB="28575" anchor="ctr">
                    <a:lnL>
                      <a:noFill/>
                    </a:lnL>
                    <a:lnR>
                      <a:noFill/>
                    </a:lnR>
                    <a:lnT>
                      <a:noFill/>
                    </a:lnT>
                    <a:lnB>
                      <a:noFill/>
                    </a:lnB>
                    <a:solidFill>
                      <a:srgbClr val="EBEBEB"/>
                    </a:solidFill>
                  </a:tcPr>
                </a:tc>
                <a:tc>
                  <a:txBody>
                    <a:bodyPr/>
                    <a:lstStyle/>
                    <a:p>
                      <a:pPr algn="r">
                        <a:buNone/>
                      </a:pPr>
                      <a:r>
                        <a:rPr lang="en-US" b="0" dirty="0">
                          <a:solidFill>
                            <a:srgbClr val="000000"/>
                          </a:solidFill>
                          <a:effectLst/>
                          <a:latin typeface="Arial" panose="020B0604020202020204" pitchFamily="34" charset="0"/>
                        </a:rPr>
                        <a:t>-</a:t>
                      </a:r>
                    </a:p>
                  </a:txBody>
                  <a:tcPr marL="114300" marR="114300" marT="9525" marB="28575" anchor="ctr">
                    <a:lnL>
                      <a:noFill/>
                    </a:lnL>
                    <a:lnR>
                      <a:noFill/>
                    </a:lnR>
                    <a:lnT>
                      <a:noFill/>
                    </a:lnT>
                    <a:lnB>
                      <a:noFill/>
                    </a:lnB>
                    <a:solidFill>
                      <a:srgbClr val="EBEBEB"/>
                    </a:solidFill>
                  </a:tcPr>
                </a:tc>
                <a:tc>
                  <a:txBody>
                    <a:bodyPr/>
                    <a:lstStyle/>
                    <a:p>
                      <a:pPr algn="l">
                        <a:buNone/>
                      </a:pPr>
                      <a:r>
                        <a:rPr lang="en-US" b="0" dirty="0" err="1">
                          <a:solidFill>
                            <a:srgbClr val="000000"/>
                          </a:solidFill>
                          <a:effectLst/>
                          <a:latin typeface="Arial" panose="020B0604020202020204" pitchFamily="34" charset="0"/>
                        </a:rPr>
                        <a:t>GraduateGPA</a:t>
                      </a:r>
                      <a:r>
                        <a:rPr lang="en-US" b="0" dirty="0">
                          <a:solidFill>
                            <a:srgbClr val="000000"/>
                          </a:solidFill>
                          <a:effectLst/>
                          <a:latin typeface="Arial" panose="020B0604020202020204" pitchFamily="34" charset="0"/>
                        </a:rPr>
                        <a:t> (Y)</a:t>
                      </a:r>
                    </a:p>
                  </a:txBody>
                  <a:tcPr marL="114300" marR="114300" marT="9525" marB="28575" anchor="ctr">
                    <a:lnL>
                      <a:noFill/>
                    </a:lnL>
                    <a:lnR>
                      <a:noFill/>
                    </a:lnR>
                    <a:lnT>
                      <a:noFill/>
                    </a:lnT>
                    <a:lnB>
                      <a:noFill/>
                    </a:lnB>
                    <a:solidFill>
                      <a:srgbClr val="EBEBEB"/>
                    </a:solidFill>
                  </a:tcPr>
                </a:tc>
                <a:tc>
                  <a:txBody>
                    <a:bodyPr/>
                    <a:lstStyle/>
                    <a:p>
                      <a:pPr algn="r">
                        <a:buNone/>
                      </a:pPr>
                      <a:r>
                        <a:rPr lang="en-US" b="0" dirty="0">
                          <a:solidFill>
                            <a:srgbClr val="000000"/>
                          </a:solidFill>
                          <a:effectLst/>
                          <a:latin typeface="Arial" panose="020B0604020202020204" pitchFamily="34" charset="0"/>
                        </a:rPr>
                        <a:t>0.784</a:t>
                      </a:r>
                    </a:p>
                  </a:txBody>
                  <a:tcPr marL="114300" marR="114300" marT="9525" marB="28575" anchor="ctr">
                    <a:lnL>
                      <a:noFill/>
                    </a:lnL>
                    <a:lnR>
                      <a:noFill/>
                    </a:lnR>
                    <a:lnT>
                      <a:noFill/>
                    </a:lnT>
                    <a:lnB>
                      <a:noFill/>
                    </a:lnB>
                    <a:solidFill>
                      <a:srgbClr val="EBEBEB"/>
                    </a:solidFill>
                  </a:tcPr>
                </a:tc>
                <a:tc>
                  <a:txBody>
                    <a:bodyPr/>
                    <a:lstStyle/>
                    <a:p>
                      <a:pPr algn="r">
                        <a:buNone/>
                      </a:pPr>
                      <a:r>
                        <a:rPr lang="en-US" b="0" dirty="0">
                          <a:solidFill>
                            <a:srgbClr val="000000"/>
                          </a:solidFill>
                          <a:effectLst/>
                          <a:latin typeface="Arial" panose="020B0604020202020204" pitchFamily="34" charset="0"/>
                        </a:rPr>
                        <a:t>.004</a:t>
                      </a:r>
                    </a:p>
                  </a:txBody>
                  <a:tcPr marL="114300" marR="114300" marT="9525" marB="28575" anchor="ctr">
                    <a:lnL>
                      <a:noFill/>
                    </a:lnL>
                    <a:lnR>
                      <a:noFill/>
                    </a:lnR>
                    <a:lnT>
                      <a:noFill/>
                    </a:lnT>
                    <a:lnB>
                      <a:noFill/>
                    </a:lnB>
                    <a:solidFill>
                      <a:srgbClr val="EBEBEB"/>
                    </a:solidFill>
                  </a:tcPr>
                </a:tc>
                <a:extLst>
                  <a:ext uri="{0D108BD9-81ED-4DB2-BD59-A6C34878D82A}">
                    <a16:rowId xmlns:a16="http://schemas.microsoft.com/office/drawing/2014/main" val="724167884"/>
                  </a:ext>
                </a:extLst>
              </a:tr>
              <a:tr h="0">
                <a:tc>
                  <a:txBody>
                    <a:bodyPr/>
                    <a:lstStyle/>
                    <a:p>
                      <a:pPr algn="l">
                        <a:spcAft>
                          <a:spcPts val="720"/>
                        </a:spcAft>
                        <a:buNone/>
                      </a:pPr>
                      <a:r>
                        <a:rPr lang="en-US" b="0" dirty="0">
                          <a:solidFill>
                            <a:srgbClr val="000000"/>
                          </a:solidFill>
                          <a:effectLst/>
                          <a:latin typeface="Arial" panose="020B0604020202020204" pitchFamily="34" charset="0"/>
                        </a:rPr>
                        <a:t>UndergraduateGPA (X2)</a:t>
                      </a:r>
                    </a:p>
                  </a:txBody>
                  <a:tcPr marL="114300" marR="114300" marT="9525" marB="28575" anchor="ctr">
                    <a:lnL>
                      <a:noFill/>
                    </a:lnL>
                    <a:lnR>
                      <a:noFill/>
                    </a:lnR>
                    <a:lnT>
                      <a:noFill/>
                    </a:lnT>
                    <a:lnB>
                      <a:noFill/>
                    </a:lnB>
                    <a:noFill/>
                  </a:tcPr>
                </a:tc>
                <a:tc>
                  <a:txBody>
                    <a:bodyPr/>
                    <a:lstStyle/>
                    <a:p>
                      <a:pPr algn="r">
                        <a:spcAft>
                          <a:spcPts val="720"/>
                        </a:spcAft>
                        <a:buNone/>
                      </a:pPr>
                      <a:r>
                        <a:rPr lang="en-US" b="0" dirty="0">
                          <a:solidFill>
                            <a:srgbClr val="000000"/>
                          </a:solidFill>
                          <a:effectLst/>
                          <a:latin typeface="Arial" panose="020B0604020202020204" pitchFamily="34" charset="0"/>
                        </a:rPr>
                        <a:t>-</a:t>
                      </a:r>
                    </a:p>
                  </a:txBody>
                  <a:tcPr marL="114300" marR="114300" marT="9525" marB="28575" anchor="ctr">
                    <a:lnL>
                      <a:noFill/>
                    </a:lnL>
                    <a:lnR>
                      <a:noFill/>
                    </a:lnR>
                    <a:lnT>
                      <a:noFill/>
                    </a:lnT>
                    <a:lnB>
                      <a:noFill/>
                    </a:lnB>
                    <a:noFill/>
                  </a:tcPr>
                </a:tc>
                <a:tc>
                  <a:txBody>
                    <a:bodyPr/>
                    <a:lstStyle/>
                    <a:p>
                      <a:pPr algn="l">
                        <a:spcAft>
                          <a:spcPts val="720"/>
                        </a:spcAft>
                        <a:buNone/>
                      </a:pPr>
                      <a:r>
                        <a:rPr lang="en-US" b="0" dirty="0" err="1">
                          <a:solidFill>
                            <a:srgbClr val="000000"/>
                          </a:solidFill>
                          <a:effectLst/>
                          <a:latin typeface="Arial" panose="020B0604020202020204" pitchFamily="34" charset="0"/>
                        </a:rPr>
                        <a:t>GraduateGPA</a:t>
                      </a:r>
                      <a:r>
                        <a:rPr lang="en-US" b="0" dirty="0">
                          <a:solidFill>
                            <a:srgbClr val="000000"/>
                          </a:solidFill>
                          <a:effectLst/>
                          <a:latin typeface="Arial" panose="020B0604020202020204" pitchFamily="34" charset="0"/>
                        </a:rPr>
                        <a:t> (Y)</a:t>
                      </a:r>
                    </a:p>
                  </a:txBody>
                  <a:tcPr marL="114300" marR="114300" marT="9525" marB="28575" anchor="ctr">
                    <a:lnL>
                      <a:noFill/>
                    </a:lnL>
                    <a:lnR>
                      <a:noFill/>
                    </a:lnR>
                    <a:lnT>
                      <a:noFill/>
                    </a:lnT>
                    <a:lnB>
                      <a:noFill/>
                    </a:lnB>
                    <a:noFill/>
                  </a:tcPr>
                </a:tc>
                <a:tc>
                  <a:txBody>
                    <a:bodyPr/>
                    <a:lstStyle/>
                    <a:p>
                      <a:pPr algn="r">
                        <a:spcAft>
                          <a:spcPts val="720"/>
                        </a:spcAft>
                        <a:buNone/>
                      </a:pPr>
                      <a:r>
                        <a:rPr lang="en-US" b="0">
                          <a:solidFill>
                            <a:srgbClr val="000000"/>
                          </a:solidFill>
                          <a:effectLst/>
                          <a:latin typeface="Arial" panose="020B0604020202020204" pitchFamily="34" charset="0"/>
                        </a:rPr>
                        <a:t>0.752</a:t>
                      </a:r>
                    </a:p>
                  </a:txBody>
                  <a:tcPr marL="114300" marR="114300" marT="9525" marB="28575" anchor="ctr">
                    <a:lnL>
                      <a:noFill/>
                    </a:lnL>
                    <a:lnR>
                      <a:noFill/>
                    </a:lnR>
                    <a:lnT>
                      <a:noFill/>
                    </a:lnT>
                    <a:lnB>
                      <a:noFill/>
                    </a:lnB>
                    <a:noFill/>
                  </a:tcPr>
                </a:tc>
                <a:tc>
                  <a:txBody>
                    <a:bodyPr/>
                    <a:lstStyle/>
                    <a:p>
                      <a:pPr algn="r">
                        <a:spcAft>
                          <a:spcPts val="720"/>
                        </a:spcAft>
                        <a:buNone/>
                      </a:pPr>
                      <a:r>
                        <a:rPr lang="en-US" b="0" dirty="0">
                          <a:solidFill>
                            <a:srgbClr val="000000"/>
                          </a:solidFill>
                          <a:effectLst/>
                          <a:latin typeface="Arial" panose="020B0604020202020204" pitchFamily="34" charset="0"/>
                        </a:rPr>
                        <a:t>.008</a:t>
                      </a:r>
                    </a:p>
                  </a:txBody>
                  <a:tcPr marL="114300" marR="114300" marT="9525" marB="28575" anchor="ctr">
                    <a:lnL>
                      <a:noFill/>
                    </a:lnL>
                    <a:lnR>
                      <a:noFill/>
                    </a:lnR>
                    <a:lnT>
                      <a:noFill/>
                    </a:lnT>
                    <a:lnB>
                      <a:noFill/>
                    </a:lnB>
                    <a:noFill/>
                  </a:tcPr>
                </a:tc>
                <a:extLst>
                  <a:ext uri="{0D108BD9-81ED-4DB2-BD59-A6C34878D82A}">
                    <a16:rowId xmlns:a16="http://schemas.microsoft.com/office/drawing/2014/main" val="949717343"/>
                  </a:ext>
                </a:extLst>
              </a:tr>
              <a:tr h="0">
                <a:tc gridSpan="5">
                  <a:txBody>
                    <a:bodyPr/>
                    <a:lstStyle/>
                    <a:p>
                      <a:pPr algn="r">
                        <a:buNone/>
                      </a:pPr>
                      <a:endParaRPr lang="en-US" b="0" dirty="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EBEBE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53332206"/>
                  </a:ext>
                </a:extLst>
              </a:tr>
            </a:tbl>
          </a:graphicData>
        </a:graphic>
      </p:graphicFrame>
      <p:cxnSp>
        <p:nvCxnSpPr>
          <p:cNvPr id="5" name="Straight Arrow Connector 4">
            <a:extLst>
              <a:ext uri="{FF2B5EF4-FFF2-40B4-BE49-F238E27FC236}">
                <a16:creationId xmlns:a16="http://schemas.microsoft.com/office/drawing/2014/main" id="{315E0D29-E36F-4BDC-7465-C5E8FCD11AED}"/>
              </a:ext>
            </a:extLst>
          </p:cNvPr>
          <p:cNvCxnSpPr>
            <a:cxnSpLocks/>
            <a:stCxn id="13" idx="3"/>
          </p:cNvCxnSpPr>
          <p:nvPr/>
        </p:nvCxnSpPr>
        <p:spPr>
          <a:xfrm>
            <a:off x="6697962" y="3527561"/>
            <a:ext cx="4527755" cy="229989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96398919-AD8D-A63D-BF0F-C70DAD620B0C}"/>
              </a:ext>
            </a:extLst>
          </p:cNvPr>
          <p:cNvCxnSpPr>
            <a:cxnSpLocks/>
            <a:stCxn id="13" idx="3"/>
          </p:cNvCxnSpPr>
          <p:nvPr/>
        </p:nvCxnSpPr>
        <p:spPr>
          <a:xfrm flipH="1">
            <a:off x="5053490" y="3527561"/>
            <a:ext cx="1644472" cy="24423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92750F89-CD42-4B8F-B12C-C891CCF18D8F}"/>
              </a:ext>
            </a:extLst>
          </p:cNvPr>
          <p:cNvCxnSpPr>
            <a:cxnSpLocks/>
            <a:stCxn id="11" idx="3"/>
          </p:cNvCxnSpPr>
          <p:nvPr/>
        </p:nvCxnSpPr>
        <p:spPr>
          <a:xfrm flipH="1">
            <a:off x="3569644" y="2791831"/>
            <a:ext cx="2607105" cy="32296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B98F9502-90C4-7A3A-6841-E0AC01CDA983}"/>
                  </a:ext>
                </a:extLst>
              </p:cNvPr>
              <p:cNvSpPr txBox="1"/>
              <p:nvPr/>
            </p:nvSpPr>
            <p:spPr>
              <a:xfrm>
                <a:off x="75236" y="3348178"/>
                <a:ext cx="178209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301</m:t>
                      </m:r>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30" name="TextBox 29">
                <a:extLst>
                  <a:ext uri="{FF2B5EF4-FFF2-40B4-BE49-F238E27FC236}">
                    <a16:creationId xmlns:a16="http://schemas.microsoft.com/office/drawing/2014/main" id="{B98F9502-90C4-7A3A-6841-E0AC01CDA983}"/>
                  </a:ext>
                </a:extLst>
              </p:cNvPr>
              <p:cNvSpPr txBox="1">
                <a:spLocks noRot="1" noChangeAspect="1" noMove="1" noResize="1" noEditPoints="1" noAdjustHandles="1" noChangeArrowheads="1" noChangeShapeType="1" noTextEdit="1"/>
              </p:cNvSpPr>
              <p:nvPr/>
            </p:nvSpPr>
            <p:spPr>
              <a:xfrm>
                <a:off x="75236" y="3348178"/>
                <a:ext cx="1782094" cy="369332"/>
              </a:xfrm>
              <a:prstGeom prst="rect">
                <a:avLst/>
              </a:prstGeom>
              <a:blipFill>
                <a:blip r:embed="rId8"/>
                <a:stretch>
                  <a:fillRect/>
                </a:stretch>
              </a:blipFill>
            </p:spPr>
            <p:txBody>
              <a:bodyPr/>
              <a:lstStyle/>
              <a:p>
                <a:r>
                  <a:rPr lang="en-US">
                    <a:noFill/>
                  </a:rPr>
                  <a:t> </a:t>
                </a:r>
              </a:p>
            </p:txBody>
          </p:sp>
        </mc:Fallback>
      </mc:AlternateContent>
      <p:cxnSp>
        <p:nvCxnSpPr>
          <p:cNvPr id="37" name="Straight Arrow Connector 36">
            <a:extLst>
              <a:ext uri="{FF2B5EF4-FFF2-40B4-BE49-F238E27FC236}">
                <a16:creationId xmlns:a16="http://schemas.microsoft.com/office/drawing/2014/main" id="{416C9091-ACAA-89E9-0F82-95A9945DF1CC}"/>
              </a:ext>
            </a:extLst>
          </p:cNvPr>
          <p:cNvCxnSpPr>
            <a:cxnSpLocks/>
          </p:cNvCxnSpPr>
          <p:nvPr/>
        </p:nvCxnSpPr>
        <p:spPr>
          <a:xfrm>
            <a:off x="1630079" y="3206496"/>
            <a:ext cx="8038177" cy="27117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0586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ppt_x"/>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500" fill="hold"/>
                                        <p:tgtEl>
                                          <p:spTgt spid="9"/>
                                        </p:tgtEl>
                                        <p:attrNameLst>
                                          <p:attrName>ppt_x</p:attrName>
                                        </p:attrNameLst>
                                      </p:cBhvr>
                                      <p:tavLst>
                                        <p:tav tm="0">
                                          <p:val>
                                            <p:strVal val="#ppt_x"/>
                                          </p:val>
                                        </p:tav>
                                        <p:tav tm="100000">
                                          <p:val>
                                            <p:strVal val="#ppt_x"/>
                                          </p:val>
                                        </p:tav>
                                      </p:tavLst>
                                    </p:anim>
                                    <p:anim calcmode="lin" valueType="num">
                                      <p:cBhvr additive="base">
                                        <p:cTn id="40" dur="500" fill="hold"/>
                                        <p:tgtEl>
                                          <p:spTgt spid="9"/>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ppt_x"/>
                                          </p:val>
                                        </p:tav>
                                        <p:tav tm="100000">
                                          <p:val>
                                            <p:strVal val="#ppt_x"/>
                                          </p:val>
                                        </p:tav>
                                      </p:tavLst>
                                    </p:anim>
                                    <p:anim calcmode="lin" valueType="num">
                                      <p:cBhvr additive="base">
                                        <p:cTn id="4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0"/>
                                        </p:tgtEl>
                                        <p:attrNameLst>
                                          <p:attrName>style.visibility</p:attrName>
                                        </p:attrNameLst>
                                      </p:cBhvr>
                                      <p:to>
                                        <p:strVal val="visible"/>
                                      </p:to>
                                    </p:set>
                                    <p:anim calcmode="lin" valueType="num">
                                      <p:cBhvr additive="base">
                                        <p:cTn id="49" dur="500" fill="hold"/>
                                        <p:tgtEl>
                                          <p:spTgt spid="30"/>
                                        </p:tgtEl>
                                        <p:attrNameLst>
                                          <p:attrName>ppt_x</p:attrName>
                                        </p:attrNameLst>
                                      </p:cBhvr>
                                      <p:tavLst>
                                        <p:tav tm="0">
                                          <p:val>
                                            <p:strVal val="#ppt_x"/>
                                          </p:val>
                                        </p:tav>
                                        <p:tav tm="100000">
                                          <p:val>
                                            <p:strVal val="#ppt_x"/>
                                          </p:val>
                                        </p:tav>
                                      </p:tavLst>
                                    </p:anim>
                                    <p:anim calcmode="lin" valueType="num">
                                      <p:cBhvr additive="base">
                                        <p:cTn id="50" dur="500" fill="hold"/>
                                        <p:tgtEl>
                                          <p:spTgt spid="30"/>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500" fill="hold"/>
                                        <p:tgtEl>
                                          <p:spTgt spid="13"/>
                                        </p:tgtEl>
                                        <p:attrNameLst>
                                          <p:attrName>ppt_x</p:attrName>
                                        </p:attrNameLst>
                                      </p:cBhvr>
                                      <p:tavLst>
                                        <p:tav tm="0">
                                          <p:val>
                                            <p:strVal val="#ppt_x"/>
                                          </p:val>
                                        </p:tav>
                                        <p:tav tm="100000">
                                          <p:val>
                                            <p:strVal val="#ppt_x"/>
                                          </p:val>
                                        </p:tav>
                                      </p:tavLst>
                                    </p:anim>
                                    <p:anim calcmode="lin" valueType="num">
                                      <p:cBhvr additive="base">
                                        <p:cTn id="5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200" fill="hold"/>
                                        <p:tgtEl>
                                          <p:spTgt spid="17"/>
                                        </p:tgtEl>
                                        <p:attrNameLst>
                                          <p:attrName>ppt_x</p:attrName>
                                        </p:attrNameLst>
                                      </p:cBhvr>
                                      <p:tavLst>
                                        <p:tav tm="0">
                                          <p:val>
                                            <p:strVal val="#ppt_x"/>
                                          </p:val>
                                        </p:tav>
                                        <p:tav tm="100000">
                                          <p:val>
                                            <p:strVal val="#ppt_x"/>
                                          </p:val>
                                        </p:tav>
                                      </p:tavLst>
                                    </p:anim>
                                    <p:anim calcmode="lin" valueType="num">
                                      <p:cBhvr additive="base">
                                        <p:cTn id="60" dur="2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6"/>
                                        </p:tgtEl>
                                        <p:attrNameLst>
                                          <p:attrName>style.visibility</p:attrName>
                                        </p:attrNameLst>
                                      </p:cBhvr>
                                      <p:to>
                                        <p:strVal val="visible"/>
                                      </p:to>
                                    </p:set>
                                    <p:anim calcmode="lin" valueType="num">
                                      <p:cBhvr additive="base">
                                        <p:cTn id="65" dur="500" fill="hold"/>
                                        <p:tgtEl>
                                          <p:spTgt spid="6"/>
                                        </p:tgtEl>
                                        <p:attrNameLst>
                                          <p:attrName>ppt_x</p:attrName>
                                        </p:attrNameLst>
                                      </p:cBhvr>
                                      <p:tavLst>
                                        <p:tav tm="0">
                                          <p:val>
                                            <p:strVal val="#ppt_x"/>
                                          </p:val>
                                        </p:tav>
                                        <p:tav tm="100000">
                                          <p:val>
                                            <p:strVal val="#ppt_x"/>
                                          </p:val>
                                        </p:tav>
                                      </p:tavLst>
                                    </p:anim>
                                    <p:anim calcmode="lin" valueType="num">
                                      <p:cBhvr additive="base">
                                        <p:cTn id="6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23"/>
                                        </p:tgtEl>
                                        <p:attrNameLst>
                                          <p:attrName>style.visibility</p:attrName>
                                        </p:attrNameLst>
                                      </p:cBhvr>
                                      <p:to>
                                        <p:strVal val="visible"/>
                                      </p:to>
                                    </p:set>
                                    <p:anim calcmode="lin" valueType="num">
                                      <p:cBhvr additive="base">
                                        <p:cTn id="71" dur="500" fill="hold"/>
                                        <p:tgtEl>
                                          <p:spTgt spid="23"/>
                                        </p:tgtEl>
                                        <p:attrNameLst>
                                          <p:attrName>ppt_x</p:attrName>
                                        </p:attrNameLst>
                                      </p:cBhvr>
                                      <p:tavLst>
                                        <p:tav tm="0">
                                          <p:val>
                                            <p:strVal val="#ppt_x"/>
                                          </p:val>
                                        </p:tav>
                                        <p:tav tm="100000">
                                          <p:val>
                                            <p:strVal val="#ppt_x"/>
                                          </p:val>
                                        </p:tav>
                                      </p:tavLst>
                                    </p:anim>
                                    <p:anim calcmode="lin" valueType="num">
                                      <p:cBhvr additive="base">
                                        <p:cTn id="72" dur="500" fill="hold"/>
                                        <p:tgtEl>
                                          <p:spTgt spid="23"/>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26"/>
                                        </p:tgtEl>
                                        <p:attrNameLst>
                                          <p:attrName>style.visibility</p:attrName>
                                        </p:attrNameLst>
                                      </p:cBhvr>
                                      <p:to>
                                        <p:strVal val="visible"/>
                                      </p:to>
                                    </p:set>
                                    <p:anim calcmode="lin" valueType="num">
                                      <p:cBhvr additive="base">
                                        <p:cTn id="75" dur="500" fill="hold"/>
                                        <p:tgtEl>
                                          <p:spTgt spid="26"/>
                                        </p:tgtEl>
                                        <p:attrNameLst>
                                          <p:attrName>ppt_x</p:attrName>
                                        </p:attrNameLst>
                                      </p:cBhvr>
                                      <p:tavLst>
                                        <p:tav tm="0">
                                          <p:val>
                                            <p:strVal val="#ppt_x"/>
                                          </p:val>
                                        </p:tav>
                                        <p:tav tm="100000">
                                          <p:val>
                                            <p:strVal val="#ppt_x"/>
                                          </p:val>
                                        </p:tav>
                                      </p:tavLst>
                                    </p:anim>
                                    <p:anim calcmode="lin" valueType="num">
                                      <p:cBhvr additive="base">
                                        <p:cTn id="76"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22"/>
                                        </p:tgtEl>
                                        <p:attrNameLst>
                                          <p:attrName>style.visibility</p:attrName>
                                        </p:attrNameLst>
                                      </p:cBhvr>
                                      <p:to>
                                        <p:strVal val="visible"/>
                                      </p:to>
                                    </p:set>
                                    <p:anim calcmode="lin" valueType="num">
                                      <p:cBhvr additive="base">
                                        <p:cTn id="81" dur="500" fill="hold"/>
                                        <p:tgtEl>
                                          <p:spTgt spid="22"/>
                                        </p:tgtEl>
                                        <p:attrNameLst>
                                          <p:attrName>ppt_x</p:attrName>
                                        </p:attrNameLst>
                                      </p:cBhvr>
                                      <p:tavLst>
                                        <p:tav tm="0">
                                          <p:val>
                                            <p:strVal val="#ppt_x"/>
                                          </p:val>
                                        </p:tav>
                                        <p:tav tm="100000">
                                          <p:val>
                                            <p:strVal val="#ppt_x"/>
                                          </p:val>
                                        </p:tav>
                                      </p:tavLst>
                                    </p:anim>
                                    <p:anim calcmode="lin" valueType="num">
                                      <p:cBhvr additive="base">
                                        <p:cTn id="82" dur="500" fill="hold"/>
                                        <p:tgtEl>
                                          <p:spTgt spid="22"/>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37"/>
                                        </p:tgtEl>
                                        <p:attrNameLst>
                                          <p:attrName>style.visibility</p:attrName>
                                        </p:attrNameLst>
                                      </p:cBhvr>
                                      <p:to>
                                        <p:strVal val="visible"/>
                                      </p:to>
                                    </p:set>
                                    <p:anim calcmode="lin" valueType="num">
                                      <p:cBhvr additive="base">
                                        <p:cTn id="85" dur="500" fill="hold"/>
                                        <p:tgtEl>
                                          <p:spTgt spid="37"/>
                                        </p:tgtEl>
                                        <p:attrNameLst>
                                          <p:attrName>ppt_x</p:attrName>
                                        </p:attrNameLst>
                                      </p:cBhvr>
                                      <p:tavLst>
                                        <p:tav tm="0">
                                          <p:val>
                                            <p:strVal val="#ppt_x"/>
                                          </p:val>
                                        </p:tav>
                                        <p:tav tm="100000">
                                          <p:val>
                                            <p:strVal val="#ppt_x"/>
                                          </p:val>
                                        </p:tav>
                                      </p:tavLst>
                                    </p:anim>
                                    <p:anim calcmode="lin" valueType="num">
                                      <p:cBhvr additive="base">
                                        <p:cTn id="8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12"/>
                                        </p:tgtEl>
                                        <p:attrNameLst>
                                          <p:attrName>style.visibility</p:attrName>
                                        </p:attrNameLst>
                                      </p:cBhvr>
                                      <p:to>
                                        <p:strVal val="visible"/>
                                      </p:to>
                                    </p:set>
                                    <p:anim calcmode="lin" valueType="num">
                                      <p:cBhvr additive="base">
                                        <p:cTn id="91" dur="500" fill="hold"/>
                                        <p:tgtEl>
                                          <p:spTgt spid="12"/>
                                        </p:tgtEl>
                                        <p:attrNameLst>
                                          <p:attrName>ppt_x</p:attrName>
                                        </p:attrNameLst>
                                      </p:cBhvr>
                                      <p:tavLst>
                                        <p:tav tm="0">
                                          <p:val>
                                            <p:strVal val="#ppt_x"/>
                                          </p:val>
                                        </p:tav>
                                        <p:tav tm="100000">
                                          <p:val>
                                            <p:strVal val="#ppt_x"/>
                                          </p:val>
                                        </p:tav>
                                      </p:tavLst>
                                    </p:anim>
                                    <p:anim calcmode="lin" valueType="num">
                                      <p:cBhvr additive="base">
                                        <p:cTn id="92" dur="500" fill="hold"/>
                                        <p:tgtEl>
                                          <p:spTgt spid="12"/>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5"/>
                                        </p:tgtEl>
                                        <p:attrNameLst>
                                          <p:attrName>style.visibility</p:attrName>
                                        </p:attrNameLst>
                                      </p:cBhvr>
                                      <p:to>
                                        <p:strVal val="visible"/>
                                      </p:to>
                                    </p:set>
                                    <p:anim calcmode="lin" valueType="num">
                                      <p:cBhvr additive="base">
                                        <p:cTn id="95" dur="500" fill="hold"/>
                                        <p:tgtEl>
                                          <p:spTgt spid="5"/>
                                        </p:tgtEl>
                                        <p:attrNameLst>
                                          <p:attrName>ppt_x</p:attrName>
                                        </p:attrNameLst>
                                      </p:cBhvr>
                                      <p:tavLst>
                                        <p:tav tm="0">
                                          <p:val>
                                            <p:strVal val="#ppt_x"/>
                                          </p:val>
                                        </p:tav>
                                        <p:tav tm="100000">
                                          <p:val>
                                            <p:strVal val="#ppt_x"/>
                                          </p:val>
                                        </p:tav>
                                      </p:tavLst>
                                    </p:anim>
                                    <p:anim calcmode="lin" valueType="num">
                                      <p:cBhvr additive="base">
                                        <p:cTn id="9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1" grpId="0"/>
      <p:bldP spid="13" grpId="0"/>
      <p:bldP spid="17" grpId="0"/>
      <p:bldP spid="18" grpId="0" animBg="1"/>
      <p:bldP spid="19" grpId="0"/>
      <p:bldP spid="4" grpId="0"/>
      <p:bldP spid="15" grpId="0"/>
      <p:bldP spid="3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02" y="170070"/>
            <a:ext cx="10515600" cy="712836"/>
          </a:xfrm>
        </p:spPr>
        <p:txBody>
          <a:bodyPr/>
          <a:lstStyle/>
          <a:p>
            <a:r>
              <a:rPr lang="en-US" dirty="0"/>
              <a:t>Sample Partial Slope and Intercept</a:t>
            </a:r>
          </a:p>
        </p:txBody>
      </p:sp>
      <mc:AlternateContent xmlns:mc="http://schemas.openxmlformats.org/markup-compatibility/2006" xmlns:a14="http://schemas.microsoft.com/office/drawing/2010/main">
        <mc:Choice Requires="a14">
          <p:sp>
            <p:nvSpPr>
              <p:cNvPr id="4" name="Object 3"/>
              <p:cNvSpPr txBox="1"/>
              <p:nvPr/>
            </p:nvSpPr>
            <p:spPr bwMode="auto">
              <a:xfrm>
                <a:off x="4090969" y="1928861"/>
                <a:ext cx="6872287" cy="858838"/>
              </a:xfrm>
              <a:prstGeom prst="rect">
                <a:avLst/>
              </a:prstGeom>
              <a:noFill/>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𝑌</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𝑌</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Sub>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12</m:t>
                              </m:r>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𝑠</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𝑌</m:t>
                              </m:r>
                            </m:sub>
                          </m:sSub>
                        </m:num>
                        <m:den>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Sup>
                            <m:sSub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12</m:t>
                              </m:r>
                            </m:sub>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b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𝑠</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den>
                      </m:f>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7845</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7516</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3011</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3317</m:t>
                          </m:r>
                        </m:num>
                        <m:den>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301</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e>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16</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3346</m:t>
                          </m:r>
                        </m:den>
                      </m:f>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0125</m:t>
                      </m:r>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 name="Object 3"/>
              <p:cNvSpPr txBox="1">
                <a:spLocks noRot="1" noChangeAspect="1" noMove="1" noResize="1" noEditPoints="1" noAdjustHandles="1" noChangeArrowheads="1" noChangeShapeType="1" noTextEdit="1"/>
              </p:cNvSpPr>
              <p:nvPr/>
            </p:nvSpPr>
            <p:spPr bwMode="auto">
              <a:xfrm>
                <a:off x="4090969" y="1928861"/>
                <a:ext cx="6872287" cy="85883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bject 4"/>
              <p:cNvSpPr txBox="1"/>
              <p:nvPr/>
            </p:nvSpPr>
            <p:spPr bwMode="auto">
              <a:xfrm>
                <a:off x="4387823" y="3798332"/>
                <a:ext cx="6807200" cy="850900"/>
              </a:xfrm>
              <a:prstGeom prst="rect">
                <a:avLst/>
              </a:prstGeom>
              <a:noFill/>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𝑌</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𝑌</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12</m:t>
                              </m:r>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𝑠</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𝑌</m:t>
                              </m:r>
                            </m:sub>
                          </m:sSub>
                        </m:num>
                        <m:den>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Sup>
                            <m:sSub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12</m:t>
                              </m:r>
                            </m:sub>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b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𝑠</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Sub>
                        </m:den>
                      </m:f>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7516</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7845</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3011</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3317</m:t>
                          </m:r>
                        </m:num>
                        <m:den>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301</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e>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4011</m:t>
                          </m:r>
                        </m:den>
                      </m:f>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4687</m:t>
                      </m:r>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5" name="Object 4"/>
              <p:cNvSpPr txBox="1">
                <a:spLocks noRot="1" noChangeAspect="1" noMove="1" noResize="1" noEditPoints="1" noAdjustHandles="1" noChangeArrowheads="1" noChangeShapeType="1" noTextEdit="1"/>
              </p:cNvSpPr>
              <p:nvPr/>
            </p:nvSpPr>
            <p:spPr bwMode="auto">
              <a:xfrm>
                <a:off x="4387823" y="3798332"/>
                <a:ext cx="6807200" cy="850900"/>
              </a:xfrm>
              <a:prstGeom prst="rect">
                <a:avLst/>
              </a:prstGeom>
              <a:blipFill>
                <a:blip r:embed="rId4"/>
                <a:stretch>
                  <a:fillRect/>
                </a:stretch>
              </a:blipFill>
            </p:spPr>
            <p:txBody>
              <a:bodyPr/>
              <a:lstStyle/>
              <a:p>
                <a:r>
                  <a:rPr lang="en-US">
                    <a:noFill/>
                  </a:rPr>
                  <a:t> </a:t>
                </a:r>
              </a:p>
            </p:txBody>
          </p:sp>
        </mc:Fallback>
      </mc:AlternateContent>
      <p:sp>
        <p:nvSpPr>
          <p:cNvPr id="7" name="Rectangle 4"/>
          <p:cNvSpPr>
            <a:spLocks noChangeArrowheads="1"/>
          </p:cNvSpPr>
          <p:nvPr/>
        </p:nvSpPr>
        <p:spPr bwMode="auto">
          <a:xfrm>
            <a:off x="2592925" y="30480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9" name="Object 8"/>
              <p:cNvSpPr txBox="1"/>
              <p:nvPr/>
            </p:nvSpPr>
            <p:spPr bwMode="auto">
              <a:xfrm>
                <a:off x="4489002" y="5633323"/>
                <a:ext cx="7907337" cy="449263"/>
              </a:xfrm>
              <a:prstGeom prst="rect">
                <a:avLst/>
              </a:prstGeom>
              <a:noFill/>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e>
                        <m:sub>
                          <m:r>
                            <a:rPr kumimoji="0" lang="en-US"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r>
                        <a:rPr kumimoji="0" lang="en-US"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𝑌</m:t>
                          </m:r>
                        </m:e>
                      </m:acc>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𝑋</m:t>
                              </m:r>
                            </m:e>
                          </m:acc>
                        </m:e>
                        <m:sub>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Sub>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acc>
                            <m:accPr>
                              <m:chr m:val="̄"/>
                              <m:ctrlP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𝑋</m:t>
                              </m:r>
                            </m:e>
                          </m:acc>
                        </m:e>
                        <m:sub>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Sub>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oMath>
                  </m:oMathPara>
                </a14:m>
                <a:endParaRPr kumimoji="0" lang="en-US"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5000</m:t>
                      </m:r>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0125</m:t>
                      </m:r>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112</m:t>
                      </m:r>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7273</m:t>
                      </m:r>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4687</m:t>
                      </m:r>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1091</m:t>
                      </m:r>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6337</m:t>
                      </m:r>
                    </m:oMath>
                  </m:oMathPara>
                </a14:m>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9" name="Object 8"/>
              <p:cNvSpPr txBox="1">
                <a:spLocks noRot="1" noChangeAspect="1" noMove="1" noResize="1" noEditPoints="1" noAdjustHandles="1" noChangeArrowheads="1" noChangeShapeType="1" noTextEdit="1"/>
              </p:cNvSpPr>
              <p:nvPr/>
            </p:nvSpPr>
            <p:spPr bwMode="auto">
              <a:xfrm>
                <a:off x="4489002" y="5633323"/>
                <a:ext cx="7907337" cy="449263"/>
              </a:xfrm>
              <a:prstGeom prst="rect">
                <a:avLst/>
              </a:prstGeom>
              <a:blipFill>
                <a:blip r:embed="rId5"/>
                <a:stretch>
                  <a:fillRect b="-54054"/>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F4511AF0-4A07-6A86-0082-71B5BFCA204C}"/>
              </a:ext>
            </a:extLst>
          </p:cNvPr>
          <p:cNvSpPr txBox="1"/>
          <p:nvPr/>
        </p:nvSpPr>
        <p:spPr>
          <a:xfrm>
            <a:off x="363501" y="1123652"/>
            <a:ext cx="3229553" cy="1631216"/>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After removing the shared influence of Undergraduate GPA, GRE’s unique predictive power is much lower.</a:t>
            </a:r>
          </a:p>
        </p:txBody>
      </p:sp>
      <p:sp>
        <p:nvSpPr>
          <p:cNvPr id="8" name="TextBox 7">
            <a:extLst>
              <a:ext uri="{FF2B5EF4-FFF2-40B4-BE49-F238E27FC236}">
                <a16:creationId xmlns:a16="http://schemas.microsoft.com/office/drawing/2014/main" id="{8C645D5F-9A2E-F262-536A-ABF4A128B4AD}"/>
              </a:ext>
            </a:extLst>
          </p:cNvPr>
          <p:cNvSpPr txBox="1"/>
          <p:nvPr/>
        </p:nvSpPr>
        <p:spPr>
          <a:xfrm>
            <a:off x="3983598" y="1576332"/>
            <a:ext cx="628698" cy="369332"/>
          </a:xfrm>
          <a:prstGeom prst="rect">
            <a:avLst/>
          </a:prstGeom>
          <a:noFill/>
        </p:spPr>
        <p:txBody>
          <a:bodyPr wrap="none" rtlCol="0">
            <a:spAutoFit/>
          </a:bodyPr>
          <a:lstStyle/>
          <a:p>
            <a:r>
              <a:rPr lang="en-US" b="1" dirty="0"/>
              <a:t>GRE</a:t>
            </a:r>
          </a:p>
        </p:txBody>
      </p:sp>
      <p:sp>
        <p:nvSpPr>
          <p:cNvPr id="10" name="TextBox 9">
            <a:extLst>
              <a:ext uri="{FF2B5EF4-FFF2-40B4-BE49-F238E27FC236}">
                <a16:creationId xmlns:a16="http://schemas.microsoft.com/office/drawing/2014/main" id="{A49F9810-B5A9-B13C-01F0-02A8EBA42CEC}"/>
              </a:ext>
            </a:extLst>
          </p:cNvPr>
          <p:cNvSpPr txBox="1"/>
          <p:nvPr/>
        </p:nvSpPr>
        <p:spPr>
          <a:xfrm>
            <a:off x="4090969" y="3429000"/>
            <a:ext cx="2238498" cy="369332"/>
          </a:xfrm>
          <a:prstGeom prst="rect">
            <a:avLst/>
          </a:prstGeom>
          <a:noFill/>
        </p:spPr>
        <p:txBody>
          <a:bodyPr wrap="none" rtlCol="0">
            <a:spAutoFit/>
          </a:bodyPr>
          <a:lstStyle/>
          <a:p>
            <a:r>
              <a:rPr lang="en-US" b="1" dirty="0"/>
              <a:t>Undergraduate GPA</a:t>
            </a:r>
          </a:p>
        </p:txBody>
      </p:sp>
      <p:sp>
        <p:nvSpPr>
          <p:cNvPr id="12" name="TextBox 11">
            <a:extLst>
              <a:ext uri="{FF2B5EF4-FFF2-40B4-BE49-F238E27FC236}">
                <a16:creationId xmlns:a16="http://schemas.microsoft.com/office/drawing/2014/main" id="{670A7F53-13E6-2DA8-2A2A-689175CDC74E}"/>
              </a:ext>
            </a:extLst>
          </p:cNvPr>
          <p:cNvSpPr txBox="1"/>
          <p:nvPr/>
        </p:nvSpPr>
        <p:spPr>
          <a:xfrm>
            <a:off x="363501" y="2836467"/>
            <a:ext cx="3025158" cy="3785652"/>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This effect is much stronger than GRE’s effect, indicating that Undergraduate GPA is a better predictor of Graduate GPA than GRE. Removing the influence of GRE did not reduce Undergraduate GPAs’ predictive power as much as it did for GRE.</a:t>
            </a:r>
          </a:p>
        </p:txBody>
      </p:sp>
      <p:sp>
        <p:nvSpPr>
          <p:cNvPr id="13" name="TextBox 12">
            <a:extLst>
              <a:ext uri="{FF2B5EF4-FFF2-40B4-BE49-F238E27FC236}">
                <a16:creationId xmlns:a16="http://schemas.microsoft.com/office/drawing/2014/main" id="{DAFABC98-5F93-66ED-9477-971E47FD62A4}"/>
              </a:ext>
            </a:extLst>
          </p:cNvPr>
          <p:cNvSpPr txBox="1"/>
          <p:nvPr/>
        </p:nvSpPr>
        <p:spPr>
          <a:xfrm>
            <a:off x="4090969" y="5263991"/>
            <a:ext cx="1572354" cy="369332"/>
          </a:xfrm>
          <a:prstGeom prst="rect">
            <a:avLst/>
          </a:prstGeom>
          <a:noFill/>
        </p:spPr>
        <p:txBody>
          <a:bodyPr wrap="none" rtlCol="0">
            <a:spAutoFit/>
          </a:bodyPr>
          <a:lstStyle/>
          <a:p>
            <a:r>
              <a:rPr lang="en-US" b="1" dirty="0"/>
              <a:t>The Intercept</a:t>
            </a:r>
          </a:p>
        </p:txBody>
      </p:sp>
    </p:spTree>
    <p:extLst>
      <p:ext uri="{BB962C8B-B14F-4D97-AF65-F5344CB8AC3E}">
        <p14:creationId xmlns:p14="http://schemas.microsoft.com/office/powerpoint/2010/main" val="5077286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842" y="163647"/>
            <a:ext cx="10515600" cy="755919"/>
          </a:xfrm>
        </p:spPr>
        <p:txBody>
          <a:bodyPr/>
          <a:lstStyle/>
          <a:p>
            <a:r>
              <a:rPr lang="en-US" dirty="0"/>
              <a:t>Sample Multiple Linear Regression Model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90593" y="968052"/>
                <a:ext cx="10515600" cy="4351338"/>
              </a:xfrm>
            </p:spPr>
            <p:txBody>
              <a:bodyPr/>
              <a:lstStyle/>
              <a:p>
                <a:pPr marL="0" indent="0">
                  <a:buNone/>
                </a:pPr>
                <a14:m>
                  <m:oMath xmlns:m="http://schemas.openxmlformats.org/officeDocument/2006/math">
                    <m:acc>
                      <m:accPr>
                        <m:chr m:val="̂"/>
                        <m:ctrlPr>
                          <a:rPr lang="en-US" sz="2000" i="1" dirty="0" smtClean="0">
                            <a:latin typeface="Cambria Math" panose="02040503050406030204" pitchFamily="18" charset="0"/>
                          </a:rPr>
                        </m:ctrlPr>
                      </m:accPr>
                      <m:e>
                        <m:r>
                          <a:rPr lang="en-US" sz="2000" i="1" dirty="0">
                            <a:latin typeface="Cambria Math" panose="02040503050406030204" pitchFamily="18" charset="0"/>
                          </a:rPr>
                          <m:t>𝑌</m:t>
                        </m:r>
                        <m:r>
                          <m:rPr>
                            <m:nor/>
                          </m:rPr>
                          <a:rPr lang="en-US" sz="2000" i="1" baseline="-25000" dirty="0"/>
                          <m:t>i</m:t>
                        </m:r>
                      </m:e>
                    </m:acc>
                  </m:oMath>
                </a14:m>
                <a:r>
                  <a:rPr lang="en-US" sz="2000" dirty="0"/>
                  <a:t>= .6337 +</a:t>
                </a:r>
                <a:r>
                  <a:rPr lang="en-US" sz="2000" i="1" dirty="0"/>
                  <a:t> </a:t>
                </a:r>
                <a:r>
                  <a:rPr lang="en-US" sz="2000" dirty="0"/>
                  <a:t>.0125 </a:t>
                </a:r>
                <a:r>
                  <a:rPr lang="en-US" sz="2000" i="1" dirty="0"/>
                  <a:t>X</a:t>
                </a:r>
                <a:r>
                  <a:rPr lang="en-US" sz="2000" baseline="-25000" dirty="0"/>
                  <a:t>1</a:t>
                </a:r>
                <a:r>
                  <a:rPr lang="en-US" sz="2000" dirty="0"/>
                  <a:t> + .4687 </a:t>
                </a:r>
                <a:r>
                  <a:rPr lang="en-US" sz="2000" i="1" dirty="0"/>
                  <a:t>X</a:t>
                </a:r>
                <a:r>
                  <a:rPr lang="en-US" sz="2000" baseline="-25000" dirty="0"/>
                  <a:t>2</a:t>
                </a:r>
                <a:endParaRPr lang="en-US" sz="2000" i="1" baseline="-25000" dirty="0"/>
              </a:p>
              <a:p>
                <a:r>
                  <a:rPr lang="en-US" sz="2000" dirty="0"/>
                  <a:t>If your score on the GRETOT was 130 and your UGPA was 3.5, then your predicted score on the GGPA would be computed as:</a:t>
                </a:r>
              </a:p>
              <a:p>
                <a:pPr lvl="1"/>
                <a14:m>
                  <m:oMath xmlns:m="http://schemas.openxmlformats.org/officeDocument/2006/math">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𝑌</m:t>
                        </m:r>
                        <m:r>
                          <m:rPr>
                            <m:nor/>
                          </m:rPr>
                          <a:rPr lang="en-US" sz="2000" i="1" baseline="-25000" dirty="0"/>
                          <m:t>i</m:t>
                        </m:r>
                      </m:e>
                    </m:acc>
                  </m:oMath>
                </a14:m>
                <a:r>
                  <a:rPr lang="en-US" sz="2000" dirty="0"/>
                  <a:t> = .0125 (130) + .4687 (3.5000) + .6337 = 3.8992</a:t>
                </a:r>
              </a:p>
              <a:p>
                <a:pPr marL="0" indent="0">
                  <a:buNone/>
                </a:pPr>
                <a:br>
                  <a:rPr lang="en-US" dirty="0"/>
                </a:b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90593" y="968052"/>
                <a:ext cx="10515600" cy="4351338"/>
              </a:xfrm>
              <a:blipFill>
                <a:blip r:embed="rId2"/>
                <a:stretch>
                  <a:fillRect l="-522" t="-168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465AA303-35CC-6F9A-B0AA-F69860F9E428}"/>
              </a:ext>
            </a:extLst>
          </p:cNvPr>
          <p:cNvSpPr txBox="1"/>
          <p:nvPr/>
        </p:nvSpPr>
        <p:spPr>
          <a:xfrm>
            <a:off x="217842" y="6176963"/>
            <a:ext cx="430188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dirty="0">
                <a:ln>
                  <a:noFill/>
                </a:ln>
                <a:solidFill>
                  <a:prstClr val="black"/>
                </a:solidFill>
                <a:effectLst/>
                <a:uLnTx/>
                <a:uFillTx/>
                <a:latin typeface="Calibri" panose="020F0502020204030204"/>
                <a:ea typeface="+mn-ea"/>
                <a:cs typeface="+mn-cs"/>
              </a:rPr>
              <a:t>Admissions Data Analysis Example in R</a:t>
            </a:r>
          </a:p>
        </p:txBody>
      </p:sp>
    </p:spTree>
    <p:extLst>
      <p:ext uri="{BB962C8B-B14F-4D97-AF65-F5344CB8AC3E}">
        <p14:creationId xmlns:p14="http://schemas.microsoft.com/office/powerpoint/2010/main" val="13808737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556E2-2D66-F1D4-94E9-2C59CB93DBEA}"/>
              </a:ext>
            </a:extLst>
          </p:cNvPr>
          <p:cNvSpPr>
            <a:spLocks noGrp="1"/>
          </p:cNvSpPr>
          <p:nvPr>
            <p:ph type="title"/>
          </p:nvPr>
        </p:nvSpPr>
        <p:spPr>
          <a:xfrm>
            <a:off x="203802" y="71739"/>
            <a:ext cx="10515600" cy="654098"/>
          </a:xfrm>
        </p:spPr>
        <p:txBody>
          <a:bodyPr>
            <a:normAutofit/>
          </a:bodyPr>
          <a:lstStyle/>
          <a:p>
            <a:r>
              <a:rPr lang="en-US" sz="3600" dirty="0">
                <a:latin typeface="Arial" panose="020B0604020202020204" pitchFamily="34" charset="0"/>
                <a:cs typeface="Arial" panose="020B0604020202020204" pitchFamily="34" charset="0"/>
              </a:rPr>
              <a:t>Model Evaluation</a:t>
            </a:r>
          </a:p>
        </p:txBody>
      </p:sp>
      <p:sp>
        <p:nvSpPr>
          <p:cNvPr id="4" name="Content Placeholder 3">
            <a:extLst>
              <a:ext uri="{FF2B5EF4-FFF2-40B4-BE49-F238E27FC236}">
                <a16:creationId xmlns:a16="http://schemas.microsoft.com/office/drawing/2014/main" id="{F3DCC682-ED9D-CB49-9BFF-E84B869479B4}"/>
              </a:ext>
            </a:extLst>
          </p:cNvPr>
          <p:cNvSpPr>
            <a:spLocks noGrp="1"/>
          </p:cNvSpPr>
          <p:nvPr>
            <p:ph idx="1"/>
          </p:nvPr>
        </p:nvSpPr>
        <p:spPr>
          <a:xfrm>
            <a:off x="203802" y="725837"/>
            <a:ext cx="11369299" cy="5086620"/>
          </a:xfrm>
        </p:spPr>
        <p:txBody>
          <a:bodyPr>
            <a:normAutofit/>
          </a:bodyPr>
          <a:lstStyle/>
          <a:p>
            <a:pPr lvl="0"/>
            <a:r>
              <a:rPr lang="en-US" sz="2400" dirty="0">
                <a:latin typeface="Arial" panose="020B0604020202020204" pitchFamily="34" charset="0"/>
                <a:cs typeface="Arial" panose="020B0604020202020204" pitchFamily="34" charset="0"/>
              </a:rPr>
              <a:t>The </a:t>
            </a:r>
            <a:r>
              <a:rPr lang="en-US" sz="2400" b="1" u="sng" dirty="0">
                <a:latin typeface="Arial" panose="020B0604020202020204" pitchFamily="34" charset="0"/>
                <a:cs typeface="Arial" panose="020B0604020202020204" pitchFamily="34" charset="0"/>
              </a:rPr>
              <a:t>four</a:t>
            </a:r>
            <a:r>
              <a:rPr lang="en-US" sz="2400" dirty="0">
                <a:latin typeface="Arial" panose="020B0604020202020204" pitchFamily="34" charset="0"/>
                <a:cs typeface="Arial" panose="020B0604020202020204" pitchFamily="34" charset="0"/>
              </a:rPr>
              <a:t> conditions tell us what can go wrong</a:t>
            </a:r>
          </a:p>
          <a:p>
            <a:pPr lvl="1"/>
            <a:r>
              <a:rPr lang="en-US" sz="2000" dirty="0">
                <a:latin typeface="Arial" panose="020B0604020202020204" pitchFamily="34" charset="0"/>
                <a:cs typeface="Arial" panose="020B0604020202020204" pitchFamily="34" charset="0"/>
              </a:rPr>
              <a:t>The population regression function is </a:t>
            </a:r>
            <a:r>
              <a:rPr lang="en-US" sz="2000" b="1" dirty="0">
                <a:latin typeface="Arial" panose="020B0604020202020204" pitchFamily="34" charset="0"/>
                <a:cs typeface="Arial" panose="020B0604020202020204" pitchFamily="34" charset="0"/>
              </a:rPr>
              <a:t>nonlinear</a:t>
            </a:r>
          </a:p>
          <a:p>
            <a:pPr lvl="1"/>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error</a:t>
            </a:r>
            <a:r>
              <a:rPr lang="en-US" sz="2000" dirty="0">
                <a:latin typeface="Arial" panose="020B0604020202020204" pitchFamily="34" charset="0"/>
                <a:cs typeface="Arial" panose="020B0604020202020204" pitchFamily="34" charset="0"/>
              </a:rPr>
              <a:t> term is not independent</a:t>
            </a:r>
          </a:p>
          <a:p>
            <a:pPr lvl="1"/>
            <a:r>
              <a:rPr lang="en-US" sz="2000" dirty="0">
                <a:latin typeface="Arial" panose="020B0604020202020204" pitchFamily="34" charset="0"/>
                <a:cs typeface="Arial" panose="020B0604020202020204" pitchFamily="34" charset="0"/>
              </a:rPr>
              <a:t>The error terms are not </a:t>
            </a:r>
            <a:r>
              <a:rPr lang="en-US" sz="2000" b="1" dirty="0">
                <a:latin typeface="Arial" panose="020B0604020202020204" pitchFamily="34" charset="0"/>
                <a:cs typeface="Arial" panose="020B0604020202020204" pitchFamily="34" charset="0"/>
              </a:rPr>
              <a:t>normally</a:t>
            </a:r>
            <a:r>
              <a:rPr lang="en-US" sz="2000" dirty="0">
                <a:latin typeface="Arial" panose="020B0604020202020204" pitchFamily="34" charset="0"/>
                <a:cs typeface="Arial" panose="020B0604020202020204" pitchFamily="34" charset="0"/>
              </a:rPr>
              <a:t> distributed</a:t>
            </a:r>
          </a:p>
          <a:p>
            <a:pPr lvl="1"/>
            <a:r>
              <a:rPr lang="en-US" sz="2000" dirty="0">
                <a:latin typeface="Arial" panose="020B0604020202020204" pitchFamily="34" charset="0"/>
                <a:cs typeface="Arial" panose="020B0604020202020204" pitchFamily="34" charset="0"/>
              </a:rPr>
              <a:t>The error terms do not have equal </a:t>
            </a:r>
            <a:r>
              <a:rPr lang="en-US" sz="2000" b="1" dirty="0">
                <a:latin typeface="Arial" panose="020B0604020202020204" pitchFamily="34" charset="0"/>
                <a:cs typeface="Arial" panose="020B0604020202020204" pitchFamily="34" charset="0"/>
              </a:rPr>
              <a:t>variance</a:t>
            </a:r>
          </a:p>
          <a:p>
            <a:pPr lvl="0"/>
            <a:r>
              <a:rPr lang="en-US" sz="2400" dirty="0">
                <a:latin typeface="Arial" panose="020B0604020202020204" pitchFamily="34" charset="0"/>
                <a:cs typeface="Arial" panose="020B0604020202020204" pitchFamily="34" charset="0"/>
              </a:rPr>
              <a:t>Other major issues</a:t>
            </a:r>
          </a:p>
          <a:p>
            <a:pPr lvl="1"/>
            <a:r>
              <a:rPr lang="en-US" sz="2000" dirty="0">
                <a:latin typeface="Arial" panose="020B0604020202020204" pitchFamily="34" charset="0"/>
                <a:cs typeface="Arial" panose="020B0604020202020204" pitchFamily="34" charset="0"/>
              </a:rPr>
              <a:t>Presence of outliers</a:t>
            </a:r>
          </a:p>
          <a:p>
            <a:pPr lvl="1"/>
            <a:r>
              <a:rPr lang="en-US" sz="2000" dirty="0">
                <a:latin typeface="Arial" panose="020B0604020202020204" pitchFamily="34" charset="0"/>
                <a:cs typeface="Arial" panose="020B0604020202020204" pitchFamily="34" charset="0"/>
              </a:rPr>
              <a:t>Bias due to an omitted variable (i.e., omitted variable bias)</a:t>
            </a:r>
          </a:p>
          <a:p>
            <a:pPr lvl="0"/>
            <a:r>
              <a:rPr lang="en-US" sz="2400" dirty="0">
                <a:latin typeface="Arial" panose="020B0604020202020204" pitchFamily="34" charset="0"/>
                <a:cs typeface="Arial" panose="020B0604020202020204" pitchFamily="34" charset="0"/>
              </a:rPr>
              <a:t>Reinforce the importance of these assumptions</a:t>
            </a:r>
          </a:p>
          <a:p>
            <a:pPr lvl="1"/>
            <a:r>
              <a:rPr lang="en-US" sz="2000" dirty="0">
                <a:latin typeface="Arial" panose="020B0604020202020204" pitchFamily="34" charset="0"/>
                <a:cs typeface="Arial" panose="020B0604020202020204" pitchFamily="34" charset="0"/>
              </a:rPr>
              <a:t>In OLS the tests we perform are </a:t>
            </a:r>
            <a:r>
              <a:rPr lang="en-US" sz="2000" b="1" i="1" dirty="0">
                <a:latin typeface="Arial" panose="020B0604020202020204" pitchFamily="34" charset="0"/>
                <a:cs typeface="Arial" panose="020B0604020202020204" pitchFamily="34" charset="0"/>
              </a:rPr>
              <a:t>extremely sensitive </a:t>
            </a:r>
            <a:r>
              <a:rPr lang="en-US" sz="2000" dirty="0">
                <a:latin typeface="Arial" panose="020B0604020202020204" pitchFamily="34" charset="0"/>
                <a:cs typeface="Arial" panose="020B0604020202020204" pitchFamily="34" charset="0"/>
              </a:rPr>
              <a:t>to model assumptions</a:t>
            </a:r>
          </a:p>
          <a:p>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59852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anim calcmode="lin" valueType="num">
                                      <p:cBhvr additive="base">
                                        <p:cTn id="3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 calcmode="lin" valueType="num">
                                      <p:cBhvr additive="base">
                                        <p:cTn id="3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anim calcmode="lin" valueType="num">
                                      <p:cBhvr additive="base">
                                        <p:cTn id="39"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4">
                                            <p:txEl>
                                              <p:pRg st="8" end="8"/>
                                            </p:txEl>
                                          </p:spTgt>
                                        </p:tgtEl>
                                        <p:attrNameLst>
                                          <p:attrName>style.visibility</p:attrName>
                                        </p:attrNameLst>
                                      </p:cBhvr>
                                      <p:to>
                                        <p:strVal val="visible"/>
                                      </p:to>
                                    </p:set>
                                    <p:anim calcmode="lin" valueType="num">
                                      <p:cBhvr additive="base">
                                        <p:cTn id="45"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8" end="8"/>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4">
                                            <p:txEl>
                                              <p:pRg st="9" end="9"/>
                                            </p:txEl>
                                          </p:spTgt>
                                        </p:tgtEl>
                                        <p:attrNameLst>
                                          <p:attrName>style.visibility</p:attrName>
                                        </p:attrNameLst>
                                      </p:cBhvr>
                                      <p:to>
                                        <p:strVal val="visible"/>
                                      </p:to>
                                    </p:set>
                                    <p:anim calcmode="lin" valueType="num">
                                      <p:cBhvr additive="base">
                                        <p:cTn id="49"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46C5C-239A-62D2-6272-273817518739}"/>
            </a:ext>
          </a:extLst>
        </p:cNvPr>
        <p:cNvGrpSpPr/>
        <p:nvPr/>
      </p:nvGrpSpPr>
      <p:grpSpPr>
        <a:xfrm>
          <a:off x="0" y="0"/>
          <a:ext cx="0" cy="0"/>
          <a:chOff x="0" y="0"/>
          <a:chExt cx="0" cy="0"/>
        </a:xfrm>
      </p:grpSpPr>
      <p:sp>
        <p:nvSpPr>
          <p:cNvPr id="53249" name="Rectangle 2">
            <a:extLst>
              <a:ext uri="{FF2B5EF4-FFF2-40B4-BE49-F238E27FC236}">
                <a16:creationId xmlns:a16="http://schemas.microsoft.com/office/drawing/2014/main" id="{8745A18E-174C-6DC4-C742-149C3071CB78}"/>
              </a:ext>
            </a:extLst>
          </p:cNvPr>
          <p:cNvSpPr>
            <a:spLocks noGrp="1" noChangeArrowheads="1"/>
          </p:cNvSpPr>
          <p:nvPr>
            <p:ph type="title"/>
          </p:nvPr>
        </p:nvSpPr>
        <p:spPr>
          <a:xfrm>
            <a:off x="0" y="109984"/>
            <a:ext cx="9637776" cy="848869"/>
          </a:xfrm>
        </p:spPr>
        <p:txBody>
          <a:bodyPr>
            <a:normAutofit/>
          </a:bodyPr>
          <a:lstStyle/>
          <a:p>
            <a:pPr eaLnBrk="1" hangingPunct="1"/>
            <a:r>
              <a:rPr lang="en-US" sz="3600" dirty="0">
                <a:latin typeface="Arial" panose="020B0604020202020204" pitchFamily="34" charset="0"/>
                <a:cs typeface="Arial" panose="020B0604020202020204" pitchFamily="34" charset="0"/>
              </a:rPr>
              <a:t>Checking the Assumptions</a:t>
            </a:r>
          </a:p>
        </p:txBody>
      </p:sp>
      <p:sp>
        <p:nvSpPr>
          <p:cNvPr id="53250" name="Rectangle 3">
            <a:extLst>
              <a:ext uri="{FF2B5EF4-FFF2-40B4-BE49-F238E27FC236}">
                <a16:creationId xmlns:a16="http://schemas.microsoft.com/office/drawing/2014/main" id="{159F44DE-22E2-4453-35CE-248123CDC2AD}"/>
              </a:ext>
            </a:extLst>
          </p:cNvPr>
          <p:cNvSpPr>
            <a:spLocks noGrp="1" noChangeArrowheads="1"/>
          </p:cNvSpPr>
          <p:nvPr>
            <p:ph type="body" idx="1"/>
          </p:nvPr>
        </p:nvSpPr>
        <p:spPr>
          <a:xfrm>
            <a:off x="199825" y="917962"/>
            <a:ext cx="10579711" cy="4583256"/>
          </a:xfrm>
        </p:spPr>
        <p:txBody>
          <a:bodyPr>
            <a:normAutofit/>
          </a:bodyPr>
          <a:lstStyle/>
          <a:p>
            <a:pPr eaLnBrk="1" hangingPunct="1"/>
            <a:r>
              <a:rPr lang="en-US" sz="2000" dirty="0">
                <a:latin typeface="Arial" panose="020B0604020202020204" pitchFamily="34" charset="0"/>
                <a:cs typeface="Arial" panose="020B0604020202020204" pitchFamily="34" charset="0"/>
              </a:rPr>
              <a:t>We must check to see whether these assumptions are reasonable or not. </a:t>
            </a:r>
          </a:p>
          <a:p>
            <a:pPr eaLnBrk="1" hangingPunct="1"/>
            <a:r>
              <a:rPr lang="en-US" sz="2000" dirty="0">
                <a:latin typeface="Arial" panose="020B0604020202020204" pitchFamily="34" charset="0"/>
                <a:cs typeface="Arial" panose="020B0604020202020204" pitchFamily="34" charset="0"/>
              </a:rPr>
              <a:t>If the assumptions hold, then our assumed model is correct:</a:t>
            </a:r>
          </a:p>
          <a:p>
            <a:pPr lvl="1"/>
            <a:r>
              <a:rPr lang="en-US" sz="2000" dirty="0">
                <a:latin typeface="Arial" panose="020B0604020202020204" pitchFamily="34" charset="0"/>
                <a:cs typeface="Arial" panose="020B0604020202020204" pitchFamily="34" charset="0"/>
              </a:rPr>
              <a:t>Linearity </a:t>
            </a:r>
            <a:r>
              <a:rPr lang="en-US" sz="2000" dirty="0">
                <a:latin typeface="Arial" panose="020B0604020202020204" pitchFamily="34" charset="0"/>
                <a:cs typeface="Arial" panose="020B0604020202020204" pitchFamily="34" charset="0"/>
                <a:sym typeface="Wingdings" panose="05000000000000000000" pitchFamily="2" charset="2"/>
              </a:rPr>
              <a:t> Use (standardized) Residuals vs. (Standardized) Fitted plot</a:t>
            </a:r>
          </a:p>
          <a:p>
            <a:pPr lvl="1"/>
            <a:r>
              <a:rPr lang="en-US" sz="2000" dirty="0">
                <a:latin typeface="Arial" panose="020B0604020202020204" pitchFamily="34" charset="0"/>
                <a:cs typeface="Arial" panose="020B0604020202020204" pitchFamily="34" charset="0"/>
                <a:sym typeface="Wingdings" panose="05000000000000000000" pitchFamily="2" charset="2"/>
              </a:rPr>
              <a:t>Independence  Use Durbin-Watson test</a:t>
            </a:r>
          </a:p>
          <a:p>
            <a:pPr lvl="1"/>
            <a:r>
              <a:rPr lang="en-US" sz="2000" dirty="0">
                <a:latin typeface="Arial" panose="020B0604020202020204" pitchFamily="34" charset="0"/>
                <a:cs typeface="Arial" panose="020B0604020202020204" pitchFamily="34" charset="0"/>
                <a:sym typeface="Wingdings" panose="05000000000000000000" pitchFamily="2" charset="2"/>
              </a:rPr>
              <a:t>Normality  Use Normal Q-Q plot</a:t>
            </a:r>
          </a:p>
          <a:p>
            <a:pPr lvl="1"/>
            <a:r>
              <a:rPr lang="en-US" sz="2000" dirty="0">
                <a:latin typeface="Arial" panose="020B0604020202020204" pitchFamily="34" charset="0"/>
                <a:cs typeface="Arial" panose="020B0604020202020204" pitchFamily="34" charset="0"/>
              </a:rPr>
              <a:t>Equal Variance </a:t>
            </a:r>
            <a:r>
              <a:rPr lang="en-US" sz="2000" dirty="0">
                <a:latin typeface="Arial" panose="020B0604020202020204" pitchFamily="34" charset="0"/>
                <a:cs typeface="Arial" panose="020B0604020202020204" pitchFamily="34" charset="0"/>
                <a:sym typeface="Wingdings" panose="05000000000000000000" pitchFamily="2" charset="2"/>
              </a:rPr>
              <a:t> Use Residuals vs. Fitted plot (aka as above)</a:t>
            </a:r>
          </a:p>
          <a:p>
            <a:pPr marL="0" indent="0" eaLnBrk="1" hangingPunct="1">
              <a:buNone/>
            </a:pPr>
            <a:endParaRPr lang="en-US" sz="2000" dirty="0"/>
          </a:p>
        </p:txBody>
      </p:sp>
      <p:sp>
        <p:nvSpPr>
          <p:cNvPr id="3" name="Slide Number Placeholder 2">
            <a:extLst>
              <a:ext uri="{FF2B5EF4-FFF2-40B4-BE49-F238E27FC236}">
                <a16:creationId xmlns:a16="http://schemas.microsoft.com/office/drawing/2014/main" id="{254657A1-93DE-60CF-E4AE-3046FE4B878B}"/>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FAF2B675-3BAF-420B-B2FC-1C2A1E07683B}" type="slidenum">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16327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8E64C-CAD9-7ACA-3F7B-02B7F85B1811}"/>
              </a:ext>
            </a:extLst>
          </p:cNvPr>
          <p:cNvSpPr>
            <a:spLocks noGrp="1"/>
          </p:cNvSpPr>
          <p:nvPr>
            <p:ph type="title" idx="4294967295"/>
          </p:nvPr>
        </p:nvSpPr>
        <p:spPr>
          <a:xfrm>
            <a:off x="147444" y="207807"/>
            <a:ext cx="9637712" cy="706594"/>
          </a:xfrm>
        </p:spPr>
        <p:txBody>
          <a:bodyPr>
            <a:normAutofit/>
          </a:bodyPr>
          <a:lstStyle/>
          <a:p>
            <a:r>
              <a:rPr lang="en-US" sz="3600" dirty="0">
                <a:latin typeface="Arial" panose="020B0604020202020204" pitchFamily="34" charset="0"/>
                <a:cs typeface="Arial" panose="020B0604020202020204" pitchFamily="34" charset="0"/>
              </a:rPr>
              <a:t>Residual v Predicted (Fitted) Plot</a:t>
            </a:r>
          </a:p>
        </p:txBody>
      </p:sp>
      <p:sp>
        <p:nvSpPr>
          <p:cNvPr id="3" name="Content Placeholder 2">
            <a:extLst>
              <a:ext uri="{FF2B5EF4-FFF2-40B4-BE49-F238E27FC236}">
                <a16:creationId xmlns:a16="http://schemas.microsoft.com/office/drawing/2014/main" id="{C7CF1BAA-BB98-0A3C-377D-D8E7CEAEAF91}"/>
              </a:ext>
            </a:extLst>
          </p:cNvPr>
          <p:cNvSpPr>
            <a:spLocks noGrp="1"/>
          </p:cNvSpPr>
          <p:nvPr>
            <p:ph idx="4294967295"/>
          </p:nvPr>
        </p:nvSpPr>
        <p:spPr>
          <a:xfrm>
            <a:off x="305940" y="828339"/>
            <a:ext cx="11361804" cy="4374851"/>
          </a:xfrm>
        </p:spPr>
        <p:txBody>
          <a:bodyPr>
            <a:normAutofit/>
          </a:bodyPr>
          <a:lstStyle/>
          <a:p>
            <a:r>
              <a:rPr lang="en-US" sz="2000" b="0" i="0" dirty="0">
                <a:effectLst/>
                <a:latin typeface="Arial" panose="020B0604020202020204" pitchFamily="34" charset="0"/>
                <a:cs typeface="Arial" panose="020B0604020202020204" pitchFamily="34" charset="0"/>
              </a:rPr>
              <a:t>The bivariate plot of the </a:t>
            </a:r>
            <a:r>
              <a:rPr lang="en-US" sz="2000" b="1" i="0" u="sng" dirty="0">
                <a:effectLst/>
                <a:latin typeface="Arial" panose="020B0604020202020204" pitchFamily="34" charset="0"/>
                <a:cs typeface="Arial" panose="020B0604020202020204" pitchFamily="34" charset="0"/>
              </a:rPr>
              <a:t>predicted values against model residuals </a:t>
            </a:r>
            <a:r>
              <a:rPr lang="en-US" sz="2000" b="0" i="0" dirty="0">
                <a:effectLst/>
                <a:latin typeface="Arial" panose="020B0604020202020204" pitchFamily="34" charset="0"/>
                <a:cs typeface="Arial" panose="020B0604020202020204" pitchFamily="34" charset="0"/>
              </a:rPr>
              <a:t>can help us infer whether the relationships of the predictors to the outcome are linear and whether there is homogeneity of variance. </a:t>
            </a:r>
          </a:p>
          <a:p>
            <a:r>
              <a:rPr lang="en-US" sz="2000" dirty="0">
                <a:latin typeface="Arial" panose="020B0604020202020204" pitchFamily="34" charset="0"/>
                <a:cs typeface="Arial" panose="020B0604020202020204" pitchFamily="34" charset="0"/>
              </a:rPr>
              <a:t>The plot consists of residuals on the y-axis and fitted values on the x-axis</a:t>
            </a:r>
          </a:p>
          <a:p>
            <a:r>
              <a:rPr lang="en-US" sz="2000" dirty="0">
                <a:latin typeface="Arial" panose="020B0604020202020204" pitchFamily="34" charset="0"/>
                <a:cs typeface="Arial" panose="020B0604020202020204" pitchFamily="34" charset="0"/>
              </a:rPr>
              <a:t>Here is what you are looking for:</a:t>
            </a:r>
          </a:p>
          <a:p>
            <a:pPr lvl="1"/>
            <a:r>
              <a:rPr lang="en-US" sz="2000" dirty="0">
                <a:latin typeface="Arial" panose="020B0604020202020204" pitchFamily="34" charset="0"/>
                <a:cs typeface="Arial" panose="020B0604020202020204" pitchFamily="34" charset="0"/>
              </a:rPr>
              <a:t>The residuals "bounce randomly" around the residual = 0 line. This suggests that the assumption of a linear relationship is reasonable.</a:t>
            </a:r>
          </a:p>
          <a:p>
            <a:pPr lvl="1"/>
            <a:r>
              <a:rPr lang="en-US" sz="2000" dirty="0">
                <a:latin typeface="Arial" panose="020B0604020202020204" pitchFamily="34" charset="0"/>
                <a:cs typeface="Arial" panose="020B0604020202020204" pitchFamily="34" charset="0"/>
              </a:rPr>
              <a:t>The residuals roughly form a "horizontal band" around the residual = 0 line. This suggests that the variances of the error terms are equal.</a:t>
            </a:r>
          </a:p>
          <a:p>
            <a:pPr lvl="1"/>
            <a:r>
              <a:rPr lang="en-US" sz="2000" dirty="0">
                <a:latin typeface="Arial" panose="020B0604020202020204" pitchFamily="34" charset="0"/>
                <a:cs typeface="Arial" panose="020B0604020202020204" pitchFamily="34" charset="0"/>
              </a:rPr>
              <a:t>No one residual "stands out" from the basic random pattern of residuals. This suggests that there are no outliers.</a:t>
            </a:r>
          </a:p>
        </p:txBody>
      </p:sp>
    </p:spTree>
    <p:extLst>
      <p:ext uri="{BB962C8B-B14F-4D97-AF65-F5344CB8AC3E}">
        <p14:creationId xmlns:p14="http://schemas.microsoft.com/office/powerpoint/2010/main" val="3282788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1F6F2-22DC-A385-3173-5FEA85D76782}"/>
              </a:ext>
            </a:extLst>
          </p:cNvPr>
          <p:cNvSpPr>
            <a:spLocks noGrp="1"/>
          </p:cNvSpPr>
          <p:nvPr>
            <p:ph type="title"/>
          </p:nvPr>
        </p:nvSpPr>
        <p:spPr>
          <a:xfrm>
            <a:off x="302152" y="277303"/>
            <a:ext cx="10515600" cy="761084"/>
          </a:xfrm>
        </p:spPr>
        <p:txBody>
          <a:bodyPr>
            <a:normAutofit/>
          </a:bodyPr>
          <a:lstStyle/>
          <a:p>
            <a:r>
              <a:rPr lang="en-US" dirty="0"/>
              <a:t>Linearity (good)</a:t>
            </a:r>
          </a:p>
        </p:txBody>
      </p:sp>
      <p:graphicFrame>
        <p:nvGraphicFramePr>
          <p:cNvPr id="6" name="Chart 5">
            <a:extLst>
              <a:ext uri="{FF2B5EF4-FFF2-40B4-BE49-F238E27FC236}">
                <a16:creationId xmlns:a16="http://schemas.microsoft.com/office/drawing/2014/main" id="{AA8FEAEE-4299-00FA-2F96-F524D607EB73}"/>
              </a:ext>
            </a:extLst>
          </p:cNvPr>
          <p:cNvGraphicFramePr/>
          <p:nvPr>
            <p:extLst>
              <p:ext uri="{D42A27DB-BD31-4B8C-83A1-F6EECF244321}">
                <p14:modId xmlns:p14="http://schemas.microsoft.com/office/powerpoint/2010/main" val="2891512781"/>
              </p:ext>
            </p:extLst>
          </p:nvPr>
        </p:nvGraphicFramePr>
        <p:xfrm>
          <a:off x="137686" y="2366075"/>
          <a:ext cx="5242092" cy="3675802"/>
        </p:xfrm>
        <a:graphic>
          <a:graphicData uri="http://schemas.openxmlformats.org/drawingml/2006/chart">
            <c:chart xmlns:c="http://schemas.openxmlformats.org/drawingml/2006/chart" xmlns:r="http://schemas.openxmlformats.org/officeDocument/2006/relationships" r:id="rId3"/>
          </a:graphicData>
        </a:graphic>
      </p:graphicFrame>
      <p:pic>
        <p:nvPicPr>
          <p:cNvPr id="8" name="Picture 7">
            <a:extLst>
              <a:ext uri="{FF2B5EF4-FFF2-40B4-BE49-F238E27FC236}">
                <a16:creationId xmlns:a16="http://schemas.microsoft.com/office/drawing/2014/main" id="{4CADEF99-F591-EA99-3819-45076C911A96}"/>
              </a:ext>
            </a:extLst>
          </p:cNvPr>
          <p:cNvPicPr>
            <a:picLocks noChangeAspect="1"/>
          </p:cNvPicPr>
          <p:nvPr/>
        </p:nvPicPr>
        <p:blipFill>
          <a:blip r:embed="rId4"/>
          <a:stretch>
            <a:fillRect/>
          </a:stretch>
        </p:blipFill>
        <p:spPr>
          <a:xfrm>
            <a:off x="6025184" y="2242557"/>
            <a:ext cx="5683377" cy="4021677"/>
          </a:xfrm>
          <a:prstGeom prst="rect">
            <a:avLst/>
          </a:prstGeom>
        </p:spPr>
      </p:pic>
      <p:cxnSp>
        <p:nvCxnSpPr>
          <p:cNvPr id="11" name="Straight Connector 10">
            <a:extLst>
              <a:ext uri="{FF2B5EF4-FFF2-40B4-BE49-F238E27FC236}">
                <a16:creationId xmlns:a16="http://schemas.microsoft.com/office/drawing/2014/main" id="{A7FDD76B-9874-3260-7149-C6FE956795D9}"/>
              </a:ext>
            </a:extLst>
          </p:cNvPr>
          <p:cNvCxnSpPr>
            <a:cxnSpLocks/>
          </p:cNvCxnSpPr>
          <p:nvPr/>
        </p:nvCxnSpPr>
        <p:spPr>
          <a:xfrm>
            <a:off x="6370415" y="3981180"/>
            <a:ext cx="5006831"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E46220B-2EFC-BAD9-84C2-EDF63E36ED35}"/>
              </a:ext>
            </a:extLst>
          </p:cNvPr>
          <p:cNvSpPr txBox="1"/>
          <p:nvPr/>
        </p:nvSpPr>
        <p:spPr>
          <a:xfrm rot="16200000">
            <a:off x="5210586" y="4980203"/>
            <a:ext cx="1253344"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Overpredicted</a:t>
            </a:r>
          </a:p>
        </p:txBody>
      </p:sp>
      <p:sp>
        <p:nvSpPr>
          <p:cNvPr id="15" name="TextBox 14">
            <a:extLst>
              <a:ext uri="{FF2B5EF4-FFF2-40B4-BE49-F238E27FC236}">
                <a16:creationId xmlns:a16="http://schemas.microsoft.com/office/drawing/2014/main" id="{4F8E0FE3-1B2D-5768-0612-30C0DE1A18FB}"/>
              </a:ext>
            </a:extLst>
          </p:cNvPr>
          <p:cNvSpPr txBox="1"/>
          <p:nvPr/>
        </p:nvSpPr>
        <p:spPr>
          <a:xfrm rot="16200000">
            <a:off x="5201356" y="3486430"/>
            <a:ext cx="1338278"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Underpredicted</a:t>
            </a:r>
          </a:p>
        </p:txBody>
      </p:sp>
      <p:sp>
        <p:nvSpPr>
          <p:cNvPr id="16" name="Arrow: Up 15">
            <a:extLst>
              <a:ext uri="{FF2B5EF4-FFF2-40B4-BE49-F238E27FC236}">
                <a16:creationId xmlns:a16="http://schemas.microsoft.com/office/drawing/2014/main" id="{6E73ED27-C54F-D425-48C8-A4BFE8331813}"/>
              </a:ext>
            </a:extLst>
          </p:cNvPr>
          <p:cNvSpPr/>
          <p:nvPr/>
        </p:nvSpPr>
        <p:spPr>
          <a:xfrm>
            <a:off x="6043108" y="3422402"/>
            <a:ext cx="119770" cy="43583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Arrow: Up 16">
            <a:extLst>
              <a:ext uri="{FF2B5EF4-FFF2-40B4-BE49-F238E27FC236}">
                <a16:creationId xmlns:a16="http://schemas.microsoft.com/office/drawing/2014/main" id="{9A997D7B-D469-337D-CB50-4D7B0B93CE0B}"/>
              </a:ext>
            </a:extLst>
          </p:cNvPr>
          <p:cNvSpPr/>
          <p:nvPr/>
        </p:nvSpPr>
        <p:spPr>
          <a:xfrm rot="10800000">
            <a:off x="6058619" y="4916174"/>
            <a:ext cx="119770" cy="43583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2DBB001C-0769-E92C-919F-D02E75912FEE}"/>
              </a:ext>
            </a:extLst>
          </p:cNvPr>
          <p:cNvSpPr txBox="1"/>
          <p:nvPr/>
        </p:nvSpPr>
        <p:spPr>
          <a:xfrm>
            <a:off x="314324" y="933682"/>
            <a:ext cx="11355091" cy="1323439"/>
          </a:xfrm>
          <a:prstGeom prst="rect">
            <a:avLst/>
          </a:prstGeom>
          <a:noFill/>
        </p:spPr>
        <p:txBody>
          <a:bodyPr wrap="square">
            <a:spAutoFit/>
          </a:bodyPr>
          <a:lstStyle/>
          <a:p>
            <a:r>
              <a:rPr lang="en-US" sz="2000" b="0" i="0" dirty="0">
                <a:effectLst/>
                <a:latin typeface="Arial" panose="020B0604020202020204" pitchFamily="34" charset="0"/>
                <a:cs typeface="Arial" panose="020B0604020202020204" pitchFamily="34" charset="0"/>
              </a:rPr>
              <a:t>The plot suggests that there is a decreasing linear relationship between alcohol and PTSS. It also suggests that there are no anomalous data points in the dataset. And, it illustrates that the variation around the estimated regression line is constant suggesting that the assumption of equal error variances is reasonable.</a:t>
            </a:r>
            <a:endParaRPr lang="en-US" sz="2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112DA625-696C-8148-AA99-7E1D3C722A6F}"/>
              </a:ext>
            </a:extLst>
          </p:cNvPr>
          <p:cNvSpPr txBox="1"/>
          <p:nvPr/>
        </p:nvSpPr>
        <p:spPr>
          <a:xfrm>
            <a:off x="379663" y="6264234"/>
            <a:ext cx="5285037" cy="369332"/>
          </a:xfrm>
          <a:prstGeom prst="rect">
            <a:avLst/>
          </a:prstGeom>
          <a:noFill/>
        </p:spPr>
        <p:txBody>
          <a:bodyPr wrap="none" rtlCol="0">
            <a:spAutoFit/>
          </a:bodyPr>
          <a:lstStyle/>
          <a:p>
            <a:r>
              <a:rPr lang="en-US" dirty="0"/>
              <a:t>In this example, we think alcohol use predicts PTSS.</a:t>
            </a:r>
          </a:p>
        </p:txBody>
      </p:sp>
    </p:spTree>
    <p:extLst>
      <p:ext uri="{BB962C8B-B14F-4D97-AF65-F5344CB8AC3E}">
        <p14:creationId xmlns:p14="http://schemas.microsoft.com/office/powerpoint/2010/main" val="2675696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circle(in)">
                                      <p:cBhvr>
                                        <p:cTn id="25"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animBg="1"/>
      <p:bldP spid="1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253E26F-A02D-9C62-4118-B2C97A2359AE}"/>
              </a:ext>
            </a:extLst>
          </p:cNvPr>
          <p:cNvSpPr>
            <a:spLocks noGrp="1"/>
          </p:cNvSpPr>
          <p:nvPr>
            <p:ph type="title"/>
          </p:nvPr>
        </p:nvSpPr>
        <p:spPr>
          <a:xfrm>
            <a:off x="228600" y="194437"/>
            <a:ext cx="10515600" cy="695579"/>
          </a:xfrm>
        </p:spPr>
        <p:txBody>
          <a:bodyPr>
            <a:normAutofit fontScale="90000"/>
          </a:bodyPr>
          <a:lstStyle/>
          <a:p>
            <a:r>
              <a:rPr lang="en-US" dirty="0"/>
              <a:t>Substantive meaning of residual</a:t>
            </a:r>
          </a:p>
        </p:txBody>
      </p:sp>
      <p:sp>
        <p:nvSpPr>
          <p:cNvPr id="4" name="Content Placeholder 3">
            <a:extLst>
              <a:ext uri="{FF2B5EF4-FFF2-40B4-BE49-F238E27FC236}">
                <a16:creationId xmlns:a16="http://schemas.microsoft.com/office/drawing/2014/main" id="{C4588799-65A1-9C11-14EC-23F2A21274AB}"/>
              </a:ext>
            </a:extLst>
          </p:cNvPr>
          <p:cNvSpPr>
            <a:spLocks noGrp="1"/>
          </p:cNvSpPr>
          <p:nvPr>
            <p:ph idx="1"/>
          </p:nvPr>
        </p:nvSpPr>
        <p:spPr>
          <a:xfrm>
            <a:off x="338328" y="890016"/>
            <a:ext cx="10515600" cy="4351338"/>
          </a:xfrm>
        </p:spPr>
        <p:txBody>
          <a:bodyPr>
            <a:normAutofit/>
          </a:bodyPr>
          <a:lstStyle/>
          <a:p>
            <a:r>
              <a:rPr lang="en-US" sz="2000" dirty="0">
                <a:latin typeface="Arial" panose="020B0604020202020204" pitchFamily="34" charset="0"/>
                <a:cs typeface="Arial" panose="020B0604020202020204" pitchFamily="34" charset="0"/>
              </a:rPr>
              <a:t>The residual </a:t>
            </a:r>
            <a:r>
              <a:rPr lang="en-US" sz="2000" i="1" dirty="0">
                <a:latin typeface="Arial" panose="020B0604020202020204" pitchFamily="34" charset="0"/>
                <a:cs typeface="Arial" panose="020B0604020202020204" pitchFamily="34" charset="0"/>
              </a:rPr>
              <a:t>means</a:t>
            </a:r>
            <a:r>
              <a:rPr lang="en-US" sz="2000" dirty="0">
                <a:latin typeface="Arial" panose="020B0604020202020204" pitchFamily="34" charset="0"/>
                <a:cs typeface="Arial" panose="020B0604020202020204" pitchFamily="34" charset="0"/>
              </a:rPr>
              <a:t>: after accounting for alcohol use (and whatever else is in the model), how far above or below the “expected” PTS score a person is. </a:t>
            </a:r>
          </a:p>
          <a:p>
            <a:r>
              <a:rPr lang="en-US" sz="2000" dirty="0">
                <a:latin typeface="Arial" panose="020B0604020202020204" pitchFamily="34" charset="0"/>
                <a:cs typeface="Arial" panose="020B0604020202020204" pitchFamily="34" charset="0"/>
              </a:rPr>
              <a:t>In this framing, the residual is the part of the PTSS symptoms not explained by alcohol use—measurement noise, omitted factors, plus genuine individual variability.</a:t>
            </a:r>
          </a:p>
          <a:p>
            <a:pPr lvl="1"/>
            <a:r>
              <a:rPr lang="en-US" sz="1800" dirty="0">
                <a:latin typeface="Arial" panose="020B0604020202020204" pitchFamily="34" charset="0"/>
                <a:cs typeface="Arial" panose="020B0604020202020204" pitchFamily="34" charset="0"/>
                <a:sym typeface="Wingdings" panose="05000000000000000000" pitchFamily="2" charset="2"/>
              </a:rPr>
              <a:t> what other factors explain PTSS besides alcohol use that would explain variation in PTSS symptoms across individual?</a:t>
            </a:r>
            <a:endParaRPr lang="en-US" sz="18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Note: We could also have predicted alcohol use from PTSS</a:t>
            </a:r>
          </a:p>
        </p:txBody>
      </p:sp>
    </p:spTree>
    <p:extLst>
      <p:ext uri="{BB962C8B-B14F-4D97-AF65-F5344CB8AC3E}">
        <p14:creationId xmlns:p14="http://schemas.microsoft.com/office/powerpoint/2010/main" val="20892566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E5144-7FF1-A6C9-F0F7-CDFE87AFFB86}"/>
              </a:ext>
            </a:extLst>
          </p:cNvPr>
          <p:cNvSpPr>
            <a:spLocks noGrp="1"/>
          </p:cNvSpPr>
          <p:nvPr>
            <p:ph type="title"/>
          </p:nvPr>
        </p:nvSpPr>
        <p:spPr>
          <a:xfrm>
            <a:off x="192024" y="333247"/>
            <a:ext cx="11000232" cy="695579"/>
          </a:xfrm>
        </p:spPr>
        <p:txBody>
          <a:bodyPr>
            <a:normAutofit/>
          </a:bodyPr>
          <a:lstStyle/>
          <a:p>
            <a:r>
              <a:rPr lang="en-US" sz="3600" dirty="0">
                <a:latin typeface="Arial" panose="020B0604020202020204" pitchFamily="34" charset="0"/>
                <a:cs typeface="Arial" panose="020B0604020202020204" pitchFamily="34" charset="0"/>
              </a:rPr>
              <a:t>Constant variance (homoskedasticity) in this context</a:t>
            </a:r>
          </a:p>
        </p:txBody>
      </p:sp>
      <p:sp>
        <p:nvSpPr>
          <p:cNvPr id="3" name="Content Placeholder 2">
            <a:extLst>
              <a:ext uri="{FF2B5EF4-FFF2-40B4-BE49-F238E27FC236}">
                <a16:creationId xmlns:a16="http://schemas.microsoft.com/office/drawing/2014/main" id="{790F78B2-EF61-E575-7EDF-878C6A648D31}"/>
              </a:ext>
            </a:extLst>
          </p:cNvPr>
          <p:cNvSpPr>
            <a:spLocks noGrp="1"/>
          </p:cNvSpPr>
          <p:nvPr>
            <p:ph idx="1"/>
          </p:nvPr>
        </p:nvSpPr>
        <p:spPr>
          <a:xfrm>
            <a:off x="326136" y="1028826"/>
            <a:ext cx="10515600" cy="4351338"/>
          </a:xfrm>
        </p:spPr>
        <p:txBody>
          <a:bodyPr>
            <a:normAutofit/>
          </a:bodyPr>
          <a:lstStyle/>
          <a:p>
            <a:r>
              <a:rPr lang="en-US" sz="2000" b="1" dirty="0">
                <a:latin typeface="Arial" panose="020B0604020202020204" pitchFamily="34" charset="0"/>
                <a:cs typeface="Arial" panose="020B0604020202020204" pitchFamily="34" charset="0"/>
              </a:rPr>
              <a:t>Constant variance:</a:t>
            </a:r>
            <a:r>
              <a:rPr lang="en-US" sz="2000" dirty="0">
                <a:latin typeface="Arial" panose="020B0604020202020204" pitchFamily="34" charset="0"/>
                <a:cs typeface="Arial" panose="020B0604020202020204" pitchFamily="34" charset="0"/>
              </a:rPr>
              <a:t> for any level of alcohol use (low, medium, high), the </a:t>
            </a:r>
            <a:r>
              <a:rPr lang="en-US" sz="2000" i="1" dirty="0">
                <a:latin typeface="Arial" panose="020B0604020202020204" pitchFamily="34" charset="0"/>
                <a:cs typeface="Arial" panose="020B0604020202020204" pitchFamily="34" charset="0"/>
              </a:rPr>
              <a:t>spread</a:t>
            </a:r>
            <a:r>
              <a:rPr lang="en-US" sz="2000" dirty="0">
                <a:latin typeface="Arial" panose="020B0604020202020204" pitchFamily="34" charset="0"/>
                <a:cs typeface="Arial" panose="020B0604020202020204" pitchFamily="34" charset="0"/>
              </a:rPr>
              <a:t> of those unexplained parts is about the same. </a:t>
            </a:r>
          </a:p>
          <a:p>
            <a:pPr lvl="1"/>
            <a:r>
              <a:rPr lang="en-US" sz="1800" dirty="0">
                <a:latin typeface="Arial" panose="020B0604020202020204" pitchFamily="34" charset="0"/>
                <a:cs typeface="Arial" panose="020B0604020202020204" pitchFamily="34" charset="0"/>
              </a:rPr>
              <a:t>Substantively, that’s saying alcohol use shifts the </a:t>
            </a:r>
            <a:r>
              <a:rPr lang="en-US" sz="1800" i="1" dirty="0">
                <a:latin typeface="Arial" panose="020B0604020202020204" pitchFamily="34" charset="0"/>
                <a:cs typeface="Arial" panose="020B0604020202020204" pitchFamily="34" charset="0"/>
              </a:rPr>
              <a:t>mean</a:t>
            </a:r>
            <a:r>
              <a:rPr lang="en-US" sz="1800" dirty="0">
                <a:latin typeface="Arial" panose="020B0604020202020204" pitchFamily="34" charset="0"/>
                <a:cs typeface="Arial" panose="020B0604020202020204" pitchFamily="34" charset="0"/>
              </a:rPr>
              <a:t> PTS level (the regression line), but it doesn’t change how “predictable” PTS is across the alcohol spectrum. </a:t>
            </a:r>
          </a:p>
          <a:p>
            <a:pPr lvl="1"/>
            <a:r>
              <a:rPr lang="en-US" sz="1800" dirty="0">
                <a:latin typeface="Arial" panose="020B0604020202020204" pitchFamily="34" charset="0"/>
                <a:cs typeface="Arial" panose="020B0604020202020204" pitchFamily="34" charset="0"/>
              </a:rPr>
              <a:t>People with low alcohol use vary around their predicted PTS by about the same amount as people with high alcohol use.</a:t>
            </a:r>
          </a:p>
          <a:p>
            <a:r>
              <a:rPr lang="en-US" sz="2000" dirty="0">
                <a:latin typeface="Arial" panose="020B0604020202020204" pitchFamily="34" charset="0"/>
                <a:cs typeface="Arial" panose="020B0604020202020204" pitchFamily="34" charset="0"/>
              </a:rPr>
              <a:t>In a residual plot (residuals vs. fitted values or vs. alcohol), you’d see roughly the same vertical scatter everywhere—no widening, no narrowing, no pattern.</a:t>
            </a:r>
          </a:p>
          <a:p>
            <a:endParaRPr lang="en-US" dirty="0"/>
          </a:p>
        </p:txBody>
      </p:sp>
    </p:spTree>
    <p:extLst>
      <p:ext uri="{BB962C8B-B14F-4D97-AF65-F5344CB8AC3E}">
        <p14:creationId xmlns:p14="http://schemas.microsoft.com/office/powerpoint/2010/main" val="9066174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C9BCD-D00E-5409-805A-A6D0CB4AF4DD}"/>
              </a:ext>
            </a:extLst>
          </p:cNvPr>
          <p:cNvSpPr>
            <a:spLocks noGrp="1"/>
          </p:cNvSpPr>
          <p:nvPr>
            <p:ph type="title"/>
          </p:nvPr>
        </p:nvSpPr>
        <p:spPr>
          <a:xfrm>
            <a:off x="216408" y="170053"/>
            <a:ext cx="11500104" cy="1325563"/>
          </a:xfrm>
        </p:spPr>
        <p:txBody>
          <a:bodyPr>
            <a:noAutofit/>
          </a:bodyPr>
          <a:lstStyle/>
          <a:p>
            <a:r>
              <a:rPr lang="en-US" sz="3600" dirty="0"/>
              <a:t>Non-constant variance (heteroskedasticity): what it would mean with alcohol → PTSS</a:t>
            </a:r>
          </a:p>
        </p:txBody>
      </p:sp>
      <p:sp>
        <p:nvSpPr>
          <p:cNvPr id="3" name="Content Placeholder 2">
            <a:extLst>
              <a:ext uri="{FF2B5EF4-FFF2-40B4-BE49-F238E27FC236}">
                <a16:creationId xmlns:a16="http://schemas.microsoft.com/office/drawing/2014/main" id="{5F6D08D9-3CB4-28D1-6BF5-483AA84E5741}"/>
              </a:ext>
            </a:extLst>
          </p:cNvPr>
          <p:cNvSpPr>
            <a:spLocks noGrp="1"/>
          </p:cNvSpPr>
          <p:nvPr>
            <p:ph idx="1"/>
          </p:nvPr>
        </p:nvSpPr>
        <p:spPr>
          <a:xfrm>
            <a:off x="475488" y="1495615"/>
            <a:ext cx="10515600" cy="5192331"/>
          </a:xfrm>
        </p:spPr>
        <p:txBody>
          <a:bodyPr>
            <a:normAutofit/>
          </a:bodyPr>
          <a:lstStyle/>
          <a:p>
            <a:r>
              <a:rPr lang="en-US" sz="2000" dirty="0">
                <a:latin typeface="Arial" panose="020B0604020202020204" pitchFamily="34" charset="0"/>
                <a:cs typeface="Arial" panose="020B0604020202020204" pitchFamily="34" charset="0"/>
              </a:rPr>
              <a:t>Non-constant variance: the model’s errors get bigger or smaller depending on alcohol use (or depending on predicted PTS). So the </a:t>
            </a:r>
            <a:r>
              <a:rPr lang="en-US" sz="2000" i="1" dirty="0">
                <a:latin typeface="Arial" panose="020B0604020202020204" pitchFamily="34" charset="0"/>
                <a:cs typeface="Arial" panose="020B0604020202020204" pitchFamily="34" charset="0"/>
              </a:rPr>
              <a:t>predictability</a:t>
            </a:r>
            <a:r>
              <a:rPr lang="en-US" sz="2000" dirty="0">
                <a:latin typeface="Arial" panose="020B0604020202020204" pitchFamily="34" charset="0"/>
                <a:cs typeface="Arial" panose="020B0604020202020204" pitchFamily="34" charset="0"/>
              </a:rPr>
              <a:t> of PTS changes across the alcohol range.</a:t>
            </a:r>
          </a:p>
          <a:p>
            <a:pPr lvl="1"/>
            <a:r>
              <a:rPr lang="en-US" sz="1800" b="1" dirty="0">
                <a:latin typeface="Arial" panose="020B0604020202020204" pitchFamily="34" charset="0"/>
                <a:cs typeface="Arial" panose="020B0604020202020204" pitchFamily="34" charset="0"/>
              </a:rPr>
              <a:t>Fan shape: residual spread increases at higher alcohol use.</a:t>
            </a:r>
            <a:br>
              <a:rPr lang="en-US" sz="1800" dirty="0">
                <a:latin typeface="Arial" panose="020B0604020202020204" pitchFamily="34" charset="0"/>
                <a:cs typeface="Arial" panose="020B0604020202020204" pitchFamily="34" charset="0"/>
              </a:rPr>
            </a:br>
            <a:r>
              <a:rPr lang="en-US" sz="1800" b="1" dirty="0">
                <a:latin typeface="Arial" panose="020B0604020202020204" pitchFamily="34" charset="0"/>
                <a:cs typeface="Arial" panose="020B0604020202020204" pitchFamily="34" charset="0"/>
              </a:rPr>
              <a:t>Interpretation</a:t>
            </a:r>
            <a:r>
              <a:rPr lang="en-US" sz="1800" dirty="0">
                <a:latin typeface="Arial" panose="020B0604020202020204" pitchFamily="34" charset="0"/>
                <a:cs typeface="Arial" panose="020B0604020202020204" pitchFamily="34" charset="0"/>
              </a:rPr>
              <a:t>: among people with heavier alcohol use, PTS symptoms are much more heterogeneous for reasons your model doesn’t capture. Some people with high alcohol use might have extremely high PTS (e.g., severe trauma exposure, comorbid depression, ongoing victimization), while others might have more moderate PTS (e.g., different trauma types, stronger support, different coping patterns). Alcohol is related to the mean, but high-use cases are “messier,” so the unexplained variance inflates.</a:t>
            </a:r>
          </a:p>
          <a:p>
            <a:pPr lvl="1"/>
            <a:r>
              <a:rPr lang="en-US" sz="1800" b="1" dirty="0">
                <a:latin typeface="Arial" panose="020B0604020202020204" pitchFamily="34" charset="0"/>
                <a:cs typeface="Arial" panose="020B0604020202020204" pitchFamily="34" charset="0"/>
              </a:rPr>
              <a:t>Reverse fan: residual spread decreases at higher alcohol use. </a:t>
            </a:r>
            <a:r>
              <a:rPr lang="en-US" sz="1800" dirty="0">
                <a:latin typeface="Arial" panose="020B0604020202020204" pitchFamily="34" charset="0"/>
                <a:cs typeface="Arial" panose="020B0604020202020204" pitchFamily="34" charset="0"/>
              </a:rPr>
              <a:t>at high alcohol use levels, PTS is more uniformly high (a kind of ceiling/constraint), or the relationship is more deterministic for that subgroup. </a:t>
            </a:r>
          </a:p>
          <a:p>
            <a:pPr lvl="1"/>
            <a:r>
              <a:rPr lang="en-US" sz="1800" dirty="0">
                <a:latin typeface="Arial" panose="020B0604020202020204" pitchFamily="34" charset="0"/>
                <a:cs typeface="Arial" panose="020B0604020202020204" pitchFamily="34" charset="0"/>
              </a:rPr>
              <a:t>Another version is a measurement issue: maybe severe alcohol use is measured more reliably than low-level use, or the PTS measure behaves differently at different ranges.</a:t>
            </a:r>
          </a:p>
          <a:p>
            <a:endParaRPr lang="en-US" dirty="0"/>
          </a:p>
        </p:txBody>
      </p:sp>
    </p:spTree>
    <p:extLst>
      <p:ext uri="{BB962C8B-B14F-4D97-AF65-F5344CB8AC3E}">
        <p14:creationId xmlns:p14="http://schemas.microsoft.com/office/powerpoint/2010/main" val="24588241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63D48-855B-BCD4-E41B-66605BBD6F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BBF75D-B857-2BBB-E122-1D853B879FAF}"/>
              </a:ext>
            </a:extLst>
          </p:cNvPr>
          <p:cNvSpPr>
            <a:spLocks noGrp="1"/>
          </p:cNvSpPr>
          <p:nvPr>
            <p:ph type="title"/>
          </p:nvPr>
        </p:nvSpPr>
        <p:spPr>
          <a:xfrm>
            <a:off x="216408" y="170053"/>
            <a:ext cx="11500104" cy="1325563"/>
          </a:xfrm>
        </p:spPr>
        <p:txBody>
          <a:bodyPr>
            <a:noAutofit/>
          </a:bodyPr>
          <a:lstStyle/>
          <a:p>
            <a:r>
              <a:rPr lang="en-US" sz="3600" dirty="0"/>
              <a:t>Non-constant variance (heteroskedasticity): what it would mean with alcohol → PTSS</a:t>
            </a:r>
          </a:p>
        </p:txBody>
      </p:sp>
      <p:sp>
        <p:nvSpPr>
          <p:cNvPr id="3" name="Content Placeholder 2">
            <a:extLst>
              <a:ext uri="{FF2B5EF4-FFF2-40B4-BE49-F238E27FC236}">
                <a16:creationId xmlns:a16="http://schemas.microsoft.com/office/drawing/2014/main" id="{6E84E001-1BE3-E432-0CE8-A7813A74DAD1}"/>
              </a:ext>
            </a:extLst>
          </p:cNvPr>
          <p:cNvSpPr>
            <a:spLocks noGrp="1"/>
          </p:cNvSpPr>
          <p:nvPr>
            <p:ph idx="1"/>
          </p:nvPr>
        </p:nvSpPr>
        <p:spPr>
          <a:xfrm>
            <a:off x="475488" y="1495615"/>
            <a:ext cx="10515600" cy="5192331"/>
          </a:xfrm>
        </p:spPr>
        <p:txBody>
          <a:bodyPr>
            <a:normAutofit/>
          </a:bodyPr>
          <a:lstStyle/>
          <a:p>
            <a:r>
              <a:rPr lang="en-US" sz="2000" dirty="0">
                <a:latin typeface="Arial" panose="020B0604020202020204" pitchFamily="34" charset="0"/>
                <a:cs typeface="Arial" panose="020B0604020202020204" pitchFamily="34" charset="0"/>
              </a:rPr>
              <a:t>Non-constant variance: the model’s errors get bigger or smaller depending on alcohol use (or depending on predicted PTS). So the </a:t>
            </a:r>
            <a:r>
              <a:rPr lang="en-US" sz="2000" i="1" dirty="0">
                <a:latin typeface="Arial" panose="020B0604020202020204" pitchFamily="34" charset="0"/>
                <a:cs typeface="Arial" panose="020B0604020202020204" pitchFamily="34" charset="0"/>
              </a:rPr>
              <a:t>predictability</a:t>
            </a:r>
            <a:r>
              <a:rPr lang="en-US" sz="2000" dirty="0">
                <a:latin typeface="Arial" panose="020B0604020202020204" pitchFamily="34" charset="0"/>
                <a:cs typeface="Arial" panose="020B0604020202020204" pitchFamily="34" charset="0"/>
              </a:rPr>
              <a:t> of PTS changes across the alcohol range.</a:t>
            </a:r>
          </a:p>
          <a:p>
            <a:pPr lvl="1"/>
            <a:r>
              <a:rPr lang="en-US" sz="1800" b="1" dirty="0">
                <a:latin typeface="Arial" panose="020B0604020202020204" pitchFamily="34" charset="0"/>
                <a:cs typeface="Arial" panose="020B0604020202020204" pitchFamily="34" charset="0"/>
              </a:rPr>
              <a:t>Curved pattern + changing spread. </a:t>
            </a:r>
            <a:r>
              <a:rPr lang="en-US" sz="1800" dirty="0">
                <a:latin typeface="Arial" panose="020B0604020202020204" pitchFamily="34" charset="0"/>
                <a:cs typeface="Arial" panose="020B0604020202020204" pitchFamily="34" charset="0"/>
              </a:rPr>
              <a:t>Sometimes what looks like heteroskedasticity is partly “</a:t>
            </a:r>
            <a:r>
              <a:rPr lang="en-US" sz="1800" b="1" dirty="0">
                <a:latin typeface="Arial" panose="020B0604020202020204" pitchFamily="34" charset="0"/>
                <a:cs typeface="Arial" panose="020B0604020202020204" pitchFamily="34" charset="0"/>
              </a:rPr>
              <a:t>wrong functional form</a:t>
            </a:r>
            <a:r>
              <a:rPr lang="en-US" sz="1800" dirty="0">
                <a:latin typeface="Arial" panose="020B0604020202020204" pitchFamily="34" charset="0"/>
                <a:cs typeface="Arial" panose="020B0604020202020204" pitchFamily="34" charset="0"/>
              </a:rPr>
              <a:t>.” If the true relationship is nonlinear (e.g., PTS barely changes from 0–3 drinks, then rises sharply, then plateaus), fitting a straight line can leave systematic structure in residuals and also create apparent variance changes.</a:t>
            </a:r>
          </a:p>
          <a:p>
            <a:pPr lvl="1"/>
            <a:r>
              <a:rPr lang="en-US" sz="1800" b="1" dirty="0">
                <a:latin typeface="Arial" panose="020B0604020202020204" pitchFamily="34" charset="0"/>
                <a:cs typeface="Arial" panose="020B0604020202020204" pitchFamily="34" charset="0"/>
              </a:rPr>
              <a:t>Variance differs by subgroup that correlates with alcohol. </a:t>
            </a:r>
            <a:r>
              <a:rPr lang="en-US" sz="1800" dirty="0">
                <a:latin typeface="Arial" panose="020B0604020202020204" pitchFamily="34" charset="0"/>
                <a:cs typeface="Arial" panose="020B0604020202020204" pitchFamily="34" charset="0"/>
              </a:rPr>
              <a:t>If gender, trauma type, time since trauma, or treatment status changes both alcohol use and the variability of PTS, then the residual variance can differ across the alcohol range because you’re mixing different variance-regimes. </a:t>
            </a:r>
            <a:r>
              <a:rPr lang="en-US" sz="1800" b="1" u="sng" dirty="0">
                <a:latin typeface="Arial" panose="020B0604020202020204" pitchFamily="34" charset="0"/>
                <a:cs typeface="Arial" panose="020B0604020202020204" pitchFamily="34" charset="0"/>
              </a:rPr>
              <a:t>Example</a:t>
            </a:r>
            <a:r>
              <a:rPr lang="en-US" sz="1800" dirty="0">
                <a:latin typeface="Arial" panose="020B0604020202020204" pitchFamily="34" charset="0"/>
                <a:cs typeface="Arial" panose="020B0604020202020204" pitchFamily="34" charset="0"/>
              </a:rPr>
              <a:t>: high alcohol use might be more common among people with multiple traumas; that subgroup might have wider PTS variability, so the residuals widen at high alcohol.</a:t>
            </a:r>
          </a:p>
          <a:p>
            <a:endParaRPr lang="en-US" dirty="0"/>
          </a:p>
        </p:txBody>
      </p:sp>
    </p:spTree>
    <p:extLst>
      <p:ext uri="{BB962C8B-B14F-4D97-AF65-F5344CB8AC3E}">
        <p14:creationId xmlns:p14="http://schemas.microsoft.com/office/powerpoint/2010/main" val="22427643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Placeholder 2"/>
          <p:cNvSpPr>
            <a:spLocks noGrp="1"/>
          </p:cNvSpPr>
          <p:nvPr>
            <p:ph idx="1"/>
          </p:nvPr>
        </p:nvSpPr>
        <p:spPr>
          <a:xfrm>
            <a:off x="381001" y="1929968"/>
            <a:ext cx="5476102" cy="4426381"/>
          </a:xfrm>
        </p:spPr>
        <p:txBody>
          <a:bodyPr>
            <a:normAutofit/>
          </a:bodyPr>
          <a:lstStyle/>
          <a:p>
            <a:pPr marL="0" indent="0">
              <a:buNone/>
            </a:pPr>
            <a:r>
              <a:rPr lang="en-US" sz="2400" b="1" dirty="0">
                <a:latin typeface="ProximaNova"/>
              </a:rPr>
              <a:t>Homoscedasticity (defined): </a:t>
            </a:r>
            <a:r>
              <a:rPr lang="en-US" sz="2400" dirty="0">
                <a:latin typeface="ProximaNova"/>
              </a:rPr>
              <a:t>The variance of the residuals is homogeneous across levels of the predicted values</a:t>
            </a:r>
          </a:p>
          <a:p>
            <a:pPr marL="0" indent="0">
              <a:buNone/>
            </a:pPr>
            <a:r>
              <a:rPr lang="en-US" sz="2400" dirty="0">
                <a:latin typeface="ProximaNova"/>
              </a:rPr>
              <a:t>Equal variance of the distribution of the response variable for each level of the independent variable (homoscedasticity, the violation is called heteroskedasticity)</a:t>
            </a:r>
          </a:p>
          <a:p>
            <a:r>
              <a:rPr lang="en-US" sz="2400" dirty="0">
                <a:latin typeface="ProximaNova"/>
              </a:rPr>
              <a:t>The spread of the response around the straight line is same for all levels of explanatory variable</a:t>
            </a:r>
          </a:p>
          <a:p>
            <a:r>
              <a:rPr lang="en-US" sz="2400" dirty="0">
                <a:latin typeface="ProximaNova"/>
              </a:rPr>
              <a:t>Errors have constant variance</a:t>
            </a:r>
          </a:p>
        </p:txBody>
      </p:sp>
      <p:sp>
        <p:nvSpPr>
          <p:cNvPr id="3" name="Slide Number Placeholder 2">
            <a:extLst>
              <a:ext uri="{FF2B5EF4-FFF2-40B4-BE49-F238E27FC236}">
                <a16:creationId xmlns:a16="http://schemas.microsoft.com/office/drawing/2014/main" id="{52FC71BD-97D1-4896-8E71-6F05FF5F022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F2B675-3BAF-420B-B2FC-1C2A1E07683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6" name="Object 3">
                <a:extLst>
                  <a:ext uri="{FF2B5EF4-FFF2-40B4-BE49-F238E27FC236}">
                    <a16:creationId xmlns:a16="http://schemas.microsoft.com/office/drawing/2014/main" id="{59830F63-70A4-4C32-8AFC-B289D628C111}"/>
                  </a:ext>
                </a:extLst>
              </p:cNvPr>
              <p:cNvSpPr txBox="1"/>
              <p:nvPr/>
            </p:nvSpPr>
            <p:spPr bwMode="auto">
              <a:xfrm>
                <a:off x="3851189" y="1125766"/>
                <a:ext cx="3253946" cy="466211"/>
              </a:xfrm>
              <a:prstGeom prst="rect">
                <a:avLst/>
              </a:prstGeom>
              <a:noFill/>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𝑦</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𝛽</m:t>
                          </m:r>
                        </m:e>
                        <m: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𝛽</m:t>
                          </m:r>
                        </m:e>
                        <m: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𝜀</m:t>
                      </m:r>
                    </m:oMath>
                  </m:oMathPara>
                </a14:m>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Object 3">
                <a:extLst>
                  <a:ext uri="{FF2B5EF4-FFF2-40B4-BE49-F238E27FC236}">
                    <a16:creationId xmlns:a16="http://schemas.microsoft.com/office/drawing/2014/main" id="{59830F63-70A4-4C32-8AFC-B289D628C111}"/>
                  </a:ext>
                </a:extLst>
              </p:cNvPr>
              <p:cNvSpPr txBox="1">
                <a:spLocks noRot="1" noChangeAspect="1" noMove="1" noResize="1" noEditPoints="1" noAdjustHandles="1" noChangeArrowheads="1" noChangeShapeType="1" noTextEdit="1"/>
              </p:cNvSpPr>
              <p:nvPr/>
            </p:nvSpPr>
            <p:spPr bwMode="auto">
              <a:xfrm>
                <a:off x="3851189" y="1125766"/>
                <a:ext cx="3253946" cy="466211"/>
              </a:xfrm>
              <a:prstGeom prst="rect">
                <a:avLst/>
              </a:prstGeom>
              <a:blipFill>
                <a:blip r:embed="rId3"/>
                <a:stretch>
                  <a:fillRect/>
                </a:stretch>
              </a:blipFill>
            </p:spPr>
            <p:txBody>
              <a:bodyPr/>
              <a:lstStyle/>
              <a:p>
                <a:r>
                  <a:rPr lang="en-US">
                    <a:noFill/>
                  </a:rPr>
                  <a:t> </a:t>
                </a:r>
              </a:p>
            </p:txBody>
          </p:sp>
        </mc:Fallback>
      </mc:AlternateContent>
      <p:sp>
        <p:nvSpPr>
          <p:cNvPr id="7" name="Rectangle 2">
            <a:extLst>
              <a:ext uri="{FF2B5EF4-FFF2-40B4-BE49-F238E27FC236}">
                <a16:creationId xmlns:a16="http://schemas.microsoft.com/office/drawing/2014/main" id="{68FFE192-8527-42B8-A8BA-EEA21C570E75}"/>
              </a:ext>
            </a:extLst>
          </p:cNvPr>
          <p:cNvSpPr txBox="1">
            <a:spLocks/>
          </p:cNvSpPr>
          <p:nvPr/>
        </p:nvSpPr>
        <p:spPr>
          <a:xfrm>
            <a:off x="760308" y="4195331"/>
            <a:ext cx="8153400" cy="18589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838200" marR="0" lvl="0" indent="-838200" algn="l" defTabSz="914400" rtl="0" eaLnBrk="1" fontAlgn="auto" latinLnBrk="0" hangingPunct="1">
              <a:lnSpc>
                <a:spcPct val="90000"/>
              </a:lnSpc>
              <a:spcBef>
                <a:spcPct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Light" panose="020F0302020204030204"/>
              <a:ea typeface="+mj-ea"/>
              <a:cs typeface="+mj-cs"/>
            </a:endParaRPr>
          </a:p>
        </p:txBody>
      </p:sp>
      <p:pic>
        <p:nvPicPr>
          <p:cNvPr id="8" name="Picture 3">
            <a:extLst>
              <a:ext uri="{FF2B5EF4-FFF2-40B4-BE49-F238E27FC236}">
                <a16:creationId xmlns:a16="http://schemas.microsoft.com/office/drawing/2014/main" id="{5F7B358F-2D4A-4CB0-B750-81BC9A1ECF79}"/>
              </a:ext>
            </a:extLst>
          </p:cNvPr>
          <p:cNvPicPr>
            <a:picLocks noChangeAspect="1" noChangeArrowheads="1"/>
          </p:cNvPicPr>
          <p:nvPr/>
        </p:nvPicPr>
        <p:blipFill rotWithShape="1">
          <a:blip r:embed="rId4"/>
          <a:srcRect l="17898"/>
          <a:stretch/>
        </p:blipFill>
        <p:spPr>
          <a:xfrm>
            <a:off x="5993027" y="2026508"/>
            <a:ext cx="5921048" cy="4329841"/>
          </a:xfrm>
          <a:prstGeom prst="rect">
            <a:avLst/>
          </a:prstGeom>
          <a:noFill/>
          <a:ln/>
        </p:spPr>
      </p:pic>
      <p:sp>
        <p:nvSpPr>
          <p:cNvPr id="9" name="Rectangle: Rounded Corners 8">
            <a:extLst>
              <a:ext uri="{FF2B5EF4-FFF2-40B4-BE49-F238E27FC236}">
                <a16:creationId xmlns:a16="http://schemas.microsoft.com/office/drawing/2014/main" id="{1A1CF370-DDED-4584-85F3-2790DBB89125}"/>
              </a:ext>
            </a:extLst>
          </p:cNvPr>
          <p:cNvSpPr/>
          <p:nvPr/>
        </p:nvSpPr>
        <p:spPr>
          <a:xfrm>
            <a:off x="6096001" y="2022949"/>
            <a:ext cx="2817708" cy="1866767"/>
          </a:xfrm>
          <a:prstGeom prst="roundRect">
            <a:avLst/>
          </a:prstGeom>
          <a:no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itle 1">
            <a:extLst>
              <a:ext uri="{FF2B5EF4-FFF2-40B4-BE49-F238E27FC236}">
                <a16:creationId xmlns:a16="http://schemas.microsoft.com/office/drawing/2014/main" id="{C0E78FFF-4D7F-E241-83B1-3D8B413CF387}"/>
              </a:ext>
            </a:extLst>
          </p:cNvPr>
          <p:cNvSpPr>
            <a:spLocks noGrp="1"/>
          </p:cNvSpPr>
          <p:nvPr>
            <p:ph type="title"/>
          </p:nvPr>
        </p:nvSpPr>
        <p:spPr>
          <a:xfrm>
            <a:off x="174952" y="136525"/>
            <a:ext cx="10515600" cy="953567"/>
          </a:xfrm>
        </p:spPr>
        <p:txBody>
          <a:bodyPr/>
          <a:lstStyle/>
          <a:p>
            <a:r>
              <a:rPr lang="en-US" dirty="0">
                <a:latin typeface="Aptos Display (Headings)"/>
              </a:rPr>
              <a:t>Homogeneity of Variance</a:t>
            </a:r>
          </a:p>
        </p:txBody>
      </p:sp>
      <p:sp>
        <p:nvSpPr>
          <p:cNvPr id="11" name="TextBox 10">
            <a:extLst>
              <a:ext uri="{FF2B5EF4-FFF2-40B4-BE49-F238E27FC236}">
                <a16:creationId xmlns:a16="http://schemas.microsoft.com/office/drawing/2014/main" id="{91567DF7-2572-D5B4-0099-826B7472AB3C}"/>
              </a:ext>
            </a:extLst>
          </p:cNvPr>
          <p:cNvSpPr txBox="1"/>
          <p:nvPr/>
        </p:nvSpPr>
        <p:spPr>
          <a:xfrm>
            <a:off x="6718987" y="2254438"/>
            <a:ext cx="157239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equal variance</a:t>
            </a:r>
          </a:p>
        </p:txBody>
      </p:sp>
      <p:sp>
        <p:nvSpPr>
          <p:cNvPr id="14" name="TextBox 13">
            <a:extLst>
              <a:ext uri="{FF2B5EF4-FFF2-40B4-BE49-F238E27FC236}">
                <a16:creationId xmlns:a16="http://schemas.microsoft.com/office/drawing/2014/main" id="{77CCC116-33A0-FC99-6FC9-3D51AEDF952F}"/>
              </a:ext>
            </a:extLst>
          </p:cNvPr>
          <p:cNvSpPr txBox="1"/>
          <p:nvPr/>
        </p:nvSpPr>
        <p:spPr>
          <a:xfrm>
            <a:off x="9214022" y="2254438"/>
            <a:ext cx="246208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non-linear (curvilinear)</a:t>
            </a:r>
          </a:p>
        </p:txBody>
      </p:sp>
      <p:sp>
        <p:nvSpPr>
          <p:cNvPr id="16" name="TextBox 15">
            <a:extLst>
              <a:ext uri="{FF2B5EF4-FFF2-40B4-BE49-F238E27FC236}">
                <a16:creationId xmlns:a16="http://schemas.microsoft.com/office/drawing/2014/main" id="{61B24F16-0324-FD78-7E78-FB712C90888A}"/>
              </a:ext>
            </a:extLst>
          </p:cNvPr>
          <p:cNvSpPr txBox="1"/>
          <p:nvPr/>
        </p:nvSpPr>
        <p:spPr>
          <a:xfrm>
            <a:off x="6496565" y="4320688"/>
            <a:ext cx="20172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increasing variance</a:t>
            </a:r>
          </a:p>
        </p:txBody>
      </p:sp>
      <p:sp>
        <p:nvSpPr>
          <p:cNvPr id="18" name="TextBox 17">
            <a:extLst>
              <a:ext uri="{FF2B5EF4-FFF2-40B4-BE49-F238E27FC236}">
                <a16:creationId xmlns:a16="http://schemas.microsoft.com/office/drawing/2014/main" id="{27041274-ABC4-B16D-F3D0-AFB1812410E8}"/>
              </a:ext>
            </a:extLst>
          </p:cNvPr>
          <p:cNvSpPr txBox="1"/>
          <p:nvPr/>
        </p:nvSpPr>
        <p:spPr>
          <a:xfrm>
            <a:off x="9647538" y="4320688"/>
            <a:ext cx="1251121" cy="369332"/>
          </a:xfrm>
          <a:prstGeom prst="rect">
            <a:avLst/>
          </a:prstGeom>
          <a:noFill/>
        </p:spPr>
        <p:txBody>
          <a:bodyPr wrap="square">
            <a:spAutoFit/>
          </a:bodyPr>
          <a:lstStyle/>
          <a:p>
            <a:pPr marL="838200" marR="0" lvl="0" indent="-83820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time trend</a:t>
            </a:r>
          </a:p>
        </p:txBody>
      </p:sp>
    </p:spTree>
    <p:extLst>
      <p:ext uri="{BB962C8B-B14F-4D97-AF65-F5344CB8AC3E}">
        <p14:creationId xmlns:p14="http://schemas.microsoft.com/office/powerpoint/2010/main" val="3577834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anim calcmode="lin" valueType="num">
                                      <p:cBhvr additive="base">
                                        <p:cTn id="7" dur="500" fill="hold"/>
                                        <p:tgtEl>
                                          <p:spTgt spid="5222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22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2226">
                                            <p:txEl>
                                              <p:pRg st="1" end="1"/>
                                            </p:txEl>
                                          </p:spTgt>
                                        </p:tgtEl>
                                        <p:attrNameLst>
                                          <p:attrName>style.visibility</p:attrName>
                                        </p:attrNameLst>
                                      </p:cBhvr>
                                      <p:to>
                                        <p:strVal val="visible"/>
                                      </p:to>
                                    </p:set>
                                    <p:anim calcmode="lin" valueType="num">
                                      <p:cBhvr additive="base">
                                        <p:cTn id="13" dur="500" fill="hold"/>
                                        <p:tgtEl>
                                          <p:spTgt spid="5222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222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2226">
                                            <p:txEl>
                                              <p:pRg st="2" end="2"/>
                                            </p:txEl>
                                          </p:spTgt>
                                        </p:tgtEl>
                                        <p:attrNameLst>
                                          <p:attrName>style.visibility</p:attrName>
                                        </p:attrNameLst>
                                      </p:cBhvr>
                                      <p:to>
                                        <p:strVal val="visible"/>
                                      </p:to>
                                    </p:set>
                                    <p:anim calcmode="lin" valueType="num">
                                      <p:cBhvr additive="base">
                                        <p:cTn id="19" dur="500" fill="hold"/>
                                        <p:tgtEl>
                                          <p:spTgt spid="5222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222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2226">
                                            <p:txEl>
                                              <p:pRg st="3" end="3"/>
                                            </p:txEl>
                                          </p:spTgt>
                                        </p:tgtEl>
                                        <p:attrNameLst>
                                          <p:attrName>style.visibility</p:attrName>
                                        </p:attrNameLst>
                                      </p:cBhvr>
                                      <p:to>
                                        <p:strVal val="visible"/>
                                      </p:to>
                                    </p:set>
                                    <p:anim calcmode="lin" valueType="num">
                                      <p:cBhvr additive="base">
                                        <p:cTn id="25" dur="500" fill="hold"/>
                                        <p:tgtEl>
                                          <p:spTgt spid="5222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222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ppt_x"/>
                                          </p:val>
                                        </p:tav>
                                        <p:tav tm="100000">
                                          <p:val>
                                            <p:strVal val="#ppt_x"/>
                                          </p:val>
                                        </p:tav>
                                      </p:tavLst>
                                    </p:anim>
                                    <p:anim calcmode="lin" valueType="num">
                                      <p:cBhvr additive="base">
                                        <p:cTn id="4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500" fill="hold"/>
                                        <p:tgtEl>
                                          <p:spTgt spid="16"/>
                                        </p:tgtEl>
                                        <p:attrNameLst>
                                          <p:attrName>ppt_x</p:attrName>
                                        </p:attrNameLst>
                                      </p:cBhvr>
                                      <p:tavLst>
                                        <p:tav tm="0">
                                          <p:val>
                                            <p:strVal val="#ppt_x"/>
                                          </p:val>
                                        </p:tav>
                                        <p:tav tm="100000">
                                          <p:val>
                                            <p:strVal val="#ppt_x"/>
                                          </p:val>
                                        </p:tav>
                                      </p:tavLst>
                                    </p:anim>
                                    <p:anim calcmode="lin" valueType="num">
                                      <p:cBhvr additive="base">
                                        <p:cTn id="5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500" fill="hold"/>
                                        <p:tgtEl>
                                          <p:spTgt spid="18"/>
                                        </p:tgtEl>
                                        <p:attrNameLst>
                                          <p:attrName>ppt_x</p:attrName>
                                        </p:attrNameLst>
                                      </p:cBhvr>
                                      <p:tavLst>
                                        <p:tav tm="0">
                                          <p:val>
                                            <p:strVal val="#ppt_x"/>
                                          </p:val>
                                        </p:tav>
                                        <p:tav tm="100000">
                                          <p:val>
                                            <p:strVal val="#ppt_x"/>
                                          </p:val>
                                        </p:tav>
                                      </p:tavLst>
                                    </p:anim>
                                    <p:anim calcmode="lin" valueType="num">
                                      <p:cBhvr additive="base">
                                        <p:cTn id="6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14" grpId="0"/>
      <p:bldP spid="16" grpId="0"/>
      <p:bldP spid="18" grpId="0"/>
    </p:bld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944C7-08D4-C253-29F3-204B5D93AAAA}"/>
              </a:ext>
            </a:extLst>
          </p:cNvPr>
          <p:cNvSpPr>
            <a:spLocks noGrp="1"/>
          </p:cNvSpPr>
          <p:nvPr>
            <p:ph type="title"/>
          </p:nvPr>
        </p:nvSpPr>
        <p:spPr>
          <a:xfrm>
            <a:off x="207936" y="127485"/>
            <a:ext cx="10515600" cy="793562"/>
          </a:xfrm>
        </p:spPr>
        <p:txBody>
          <a:bodyPr>
            <a:normAutofit/>
          </a:bodyPr>
          <a:lstStyle/>
          <a:p>
            <a:r>
              <a:rPr lang="en-US" sz="3600" dirty="0">
                <a:latin typeface="Arial" panose="020B0604020202020204" pitchFamily="34" charset="0"/>
                <a:cs typeface="Arial" panose="020B0604020202020204" pitchFamily="34" charset="0"/>
              </a:rPr>
              <a:t>Homogeneity of Variance</a:t>
            </a:r>
          </a:p>
        </p:txBody>
      </p:sp>
      <p:sp>
        <p:nvSpPr>
          <p:cNvPr id="3" name="Content Placeholder 2">
            <a:extLst>
              <a:ext uri="{FF2B5EF4-FFF2-40B4-BE49-F238E27FC236}">
                <a16:creationId xmlns:a16="http://schemas.microsoft.com/office/drawing/2014/main" id="{A56BB746-69DD-084B-F0B0-6C208F2EB6F9}"/>
              </a:ext>
            </a:extLst>
          </p:cNvPr>
          <p:cNvSpPr>
            <a:spLocks noGrp="1"/>
          </p:cNvSpPr>
          <p:nvPr>
            <p:ph idx="4294967295"/>
          </p:nvPr>
        </p:nvSpPr>
        <p:spPr>
          <a:xfrm>
            <a:off x="323494" y="947481"/>
            <a:ext cx="5227638" cy="4849813"/>
          </a:xfrm>
        </p:spPr>
        <p:txBody>
          <a:bodyPr>
            <a:normAutofit/>
          </a:bodyPr>
          <a:lstStyle/>
          <a:p>
            <a:r>
              <a:rPr lang="en-US" sz="2000" b="0" i="0" dirty="0">
                <a:effectLst/>
                <a:latin typeface="Arial" panose="020B0604020202020204" pitchFamily="34" charset="0"/>
                <a:cs typeface="Arial" panose="020B0604020202020204" pitchFamily="34" charset="0"/>
              </a:rPr>
              <a:t>If the model is well-fitted, there should be no pattern to the residuals plotted against the fitted values</a:t>
            </a:r>
          </a:p>
          <a:p>
            <a:r>
              <a:rPr lang="en-US" sz="2000" dirty="0">
                <a:latin typeface="Arial" panose="020B0604020202020204" pitchFamily="34" charset="0"/>
                <a:cs typeface="Arial" panose="020B0604020202020204" pitchFamily="34" charset="0"/>
              </a:rPr>
              <a:t>If we look carefully at the plot, we see that the lower values of the standardized predicted values tend to have lower variance around zero.</a:t>
            </a:r>
          </a:p>
        </p:txBody>
      </p:sp>
      <p:pic>
        <p:nvPicPr>
          <p:cNvPr id="4" name="Content Placeholder 15">
            <a:extLst>
              <a:ext uri="{FF2B5EF4-FFF2-40B4-BE49-F238E27FC236}">
                <a16:creationId xmlns:a16="http://schemas.microsoft.com/office/drawing/2014/main" id="{EB3F0942-803D-7CD2-4AEE-0A0FFE209FD8}"/>
              </a:ext>
            </a:extLst>
          </p:cNvPr>
          <p:cNvPicPr>
            <a:picLocks noChangeAspect="1"/>
          </p:cNvPicPr>
          <p:nvPr/>
        </p:nvPicPr>
        <p:blipFill>
          <a:blip r:embed="rId2"/>
          <a:stretch>
            <a:fillRect/>
          </a:stretch>
        </p:blipFill>
        <p:spPr>
          <a:xfrm>
            <a:off x="5516131" y="710428"/>
            <a:ext cx="6155141" cy="3693084"/>
          </a:xfrm>
          <a:prstGeom prst="rect">
            <a:avLst/>
          </a:prstGeom>
        </p:spPr>
      </p:pic>
      <p:cxnSp>
        <p:nvCxnSpPr>
          <p:cNvPr id="6" name="Straight Arrow Connector 5">
            <a:extLst>
              <a:ext uri="{FF2B5EF4-FFF2-40B4-BE49-F238E27FC236}">
                <a16:creationId xmlns:a16="http://schemas.microsoft.com/office/drawing/2014/main" id="{6F2A9DEE-CFF0-D578-AB56-9327E4167A73}"/>
              </a:ext>
            </a:extLst>
          </p:cNvPr>
          <p:cNvCxnSpPr>
            <a:cxnSpLocks/>
            <a:stCxn id="4" idx="1"/>
          </p:cNvCxnSpPr>
          <p:nvPr/>
        </p:nvCxnSpPr>
        <p:spPr>
          <a:xfrm>
            <a:off x="5516131" y="2556970"/>
            <a:ext cx="1933388" cy="4548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24CE5663-E061-BC1C-68EA-8B1833020C87}"/>
                  </a:ext>
                </a:extLst>
              </p14:cNvPr>
              <p14:cNvContentPartPr/>
              <p14:nvPr/>
            </p14:nvContentPartPr>
            <p14:xfrm>
              <a:off x="7448575" y="1952170"/>
              <a:ext cx="585360" cy="1540080"/>
            </p14:xfrm>
          </p:contentPart>
        </mc:Choice>
        <mc:Fallback xmlns="">
          <p:pic>
            <p:nvPicPr>
              <p:cNvPr id="7" name="Ink 6">
                <a:extLst>
                  <a:ext uri="{FF2B5EF4-FFF2-40B4-BE49-F238E27FC236}">
                    <a16:creationId xmlns:a16="http://schemas.microsoft.com/office/drawing/2014/main" id="{24CE5663-E061-BC1C-68EA-8B1833020C87}"/>
                  </a:ext>
                </a:extLst>
              </p:cNvPr>
              <p:cNvPicPr/>
              <p:nvPr/>
            </p:nvPicPr>
            <p:blipFill>
              <a:blip r:embed="rId4"/>
              <a:stretch>
                <a:fillRect/>
              </a:stretch>
            </p:blipFill>
            <p:spPr>
              <a:xfrm>
                <a:off x="7439935" y="1943530"/>
                <a:ext cx="603000" cy="1557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6D71B38A-1E21-C9B5-4B7F-CFD1FEC4BBCA}"/>
                  </a:ext>
                </a:extLst>
              </p14:cNvPr>
              <p14:cNvContentPartPr/>
              <p14:nvPr/>
            </p14:nvContentPartPr>
            <p14:xfrm>
              <a:off x="10219495" y="1408930"/>
              <a:ext cx="1106280" cy="2296080"/>
            </p14:xfrm>
          </p:contentPart>
        </mc:Choice>
        <mc:Fallback xmlns="">
          <p:pic>
            <p:nvPicPr>
              <p:cNvPr id="8" name="Ink 7">
                <a:extLst>
                  <a:ext uri="{FF2B5EF4-FFF2-40B4-BE49-F238E27FC236}">
                    <a16:creationId xmlns:a16="http://schemas.microsoft.com/office/drawing/2014/main" id="{6D71B38A-1E21-C9B5-4B7F-CFD1FEC4BBCA}"/>
                  </a:ext>
                </a:extLst>
              </p:cNvPr>
              <p:cNvPicPr/>
              <p:nvPr/>
            </p:nvPicPr>
            <p:blipFill>
              <a:blip r:embed="rId6"/>
              <a:stretch>
                <a:fillRect/>
              </a:stretch>
            </p:blipFill>
            <p:spPr>
              <a:xfrm>
                <a:off x="10210855" y="1400290"/>
                <a:ext cx="1123920" cy="2313720"/>
              </a:xfrm>
              <a:prstGeom prst="rect">
                <a:avLst/>
              </a:prstGeom>
            </p:spPr>
          </p:pic>
        </mc:Fallback>
      </mc:AlternateContent>
    </p:spTree>
    <p:extLst>
      <p:ext uri="{BB962C8B-B14F-4D97-AF65-F5344CB8AC3E}">
        <p14:creationId xmlns:p14="http://schemas.microsoft.com/office/powerpoint/2010/main" val="1997316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297" name="Title 1"/>
          <p:cNvSpPr>
            <a:spLocks noGrp="1"/>
          </p:cNvSpPr>
          <p:nvPr>
            <p:ph type="title"/>
          </p:nvPr>
        </p:nvSpPr>
        <p:spPr>
          <a:xfrm>
            <a:off x="273424" y="365125"/>
            <a:ext cx="10515600" cy="788427"/>
          </a:xfrm>
        </p:spPr>
        <p:txBody>
          <a:bodyPr anchor="t">
            <a:normAutofit/>
          </a:bodyPr>
          <a:lstStyle/>
          <a:p>
            <a:r>
              <a:rPr lang="en-US" dirty="0">
                <a:latin typeface="Arial" panose="020B0604020202020204" pitchFamily="34" charset="0"/>
                <a:cs typeface="Arial" panose="020B0604020202020204" pitchFamily="34" charset="0"/>
              </a:rPr>
              <a:t>Fitted Values vs. Residuals Plot</a:t>
            </a:r>
          </a:p>
        </p:txBody>
      </p:sp>
      <p:sp>
        <p:nvSpPr>
          <p:cNvPr id="4" name="Slide Number Placeholder 3">
            <a:extLst>
              <a:ext uri="{FF2B5EF4-FFF2-40B4-BE49-F238E27FC236}">
                <a16:creationId xmlns:a16="http://schemas.microsoft.com/office/drawing/2014/main" id="{5685F3DD-8328-4821-A001-B9FCDED12534}"/>
              </a:ext>
            </a:extLst>
          </p:cNvPr>
          <p:cNvSpPr>
            <a:spLocks noGrp="1"/>
          </p:cNvSpPr>
          <p:nvPr>
            <p:ph type="sldNum" sz="quarter" idx="12"/>
          </p:nvPr>
        </p:nvSpPr>
        <p:spPr/>
        <p:txBody>
          <a:bodyPr>
            <a:normAutofit/>
          </a:bodyPr>
          <a:lstStyle/>
          <a:p>
            <a:pPr marL="0" marR="0" lvl="0" indent="0" defTabSz="914400" rtl="0" eaLnBrk="1" fontAlgn="auto" latinLnBrk="0" hangingPunct="1">
              <a:spcBef>
                <a:spcPts val="0"/>
              </a:spcBef>
              <a:spcAft>
                <a:spcPts val="600"/>
              </a:spcAft>
              <a:buClrTx/>
              <a:buSzTx/>
              <a:buFontTx/>
              <a:buNone/>
              <a:tabLst/>
              <a:defRPr/>
            </a:pPr>
            <a:fld id="{FAF2B675-3BAF-420B-B2FC-1C2A1E07683B}" type="slidenum">
              <a:rPr kumimoji="0" lang="en-US" sz="1000" b="0" i="0" u="none" strike="noStrike" kern="1200" cap="none" spc="0" normalizeH="0" baseline="0" noProof="0">
                <a:ln>
                  <a:noFill/>
                </a:ln>
                <a:effectLst/>
                <a:uLnTx/>
                <a:uFillTx/>
                <a:latin typeface="Calibri" panose="020F0502020204030204"/>
                <a:ea typeface="+mn-ea"/>
                <a:cs typeface="+mn-cs"/>
              </a:rPr>
              <a:pPr marL="0" marR="0" lvl="0" indent="0" defTabSz="914400" rtl="0" eaLnBrk="1" fontAlgn="auto" latinLnBrk="0" hangingPunct="1">
                <a:spcBef>
                  <a:spcPts val="0"/>
                </a:spcBef>
                <a:spcAft>
                  <a:spcPts val="600"/>
                </a:spcAft>
                <a:buClrTx/>
                <a:buSzTx/>
                <a:buFontTx/>
                <a:buNone/>
                <a:tabLst/>
                <a:defRPr/>
              </a:pPr>
              <a:t>61</a:t>
            </a:fld>
            <a:endParaRPr kumimoji="0" lang="en-US" sz="1000" b="0" i="0" u="none" strike="noStrike" kern="1200" cap="none" spc="0" normalizeH="0" baseline="0" noProof="0">
              <a:ln>
                <a:noFill/>
              </a:ln>
              <a:effectLst/>
              <a:uLnTx/>
              <a:uFillTx/>
              <a:latin typeface="Calibri" panose="020F0502020204030204"/>
              <a:ea typeface="+mn-ea"/>
              <a:cs typeface="+mn-cs"/>
            </a:endParaRPr>
          </a:p>
        </p:txBody>
      </p:sp>
      <p:sp>
        <p:nvSpPr>
          <p:cNvPr id="55298" name="Content Placeholder 2"/>
          <p:cNvSpPr>
            <a:spLocks noGrp="1"/>
          </p:cNvSpPr>
          <p:nvPr>
            <p:ph idx="4294967295"/>
          </p:nvPr>
        </p:nvSpPr>
        <p:spPr>
          <a:xfrm>
            <a:off x="7637463" y="2178424"/>
            <a:ext cx="4554537" cy="3936626"/>
          </a:xfrm>
        </p:spPr>
        <p:txBody>
          <a:bodyPr anchor="t">
            <a:normAutofit/>
          </a:bodyPr>
          <a:lstStyle/>
          <a:p>
            <a:r>
              <a:rPr lang="en-US" sz="2000" dirty="0">
                <a:latin typeface="Arial" panose="020B0604020202020204" pitchFamily="34" charset="0"/>
                <a:cs typeface="Arial" panose="020B0604020202020204" pitchFamily="34" charset="0"/>
              </a:rPr>
              <a:t>Looking for equal variance &amp; linearity</a:t>
            </a:r>
          </a:p>
          <a:p>
            <a:r>
              <a:rPr lang="en-US" sz="2000" dirty="0">
                <a:latin typeface="Arial" panose="020B0604020202020204" pitchFamily="34" charset="0"/>
                <a:cs typeface="Arial" panose="020B0604020202020204" pitchFamily="34" charset="0"/>
              </a:rPr>
              <a:t>Not looking for</a:t>
            </a:r>
          </a:p>
          <a:p>
            <a:pPr lvl="1"/>
            <a:r>
              <a:rPr lang="en-US" sz="2000" dirty="0">
                <a:latin typeface="Arial" panose="020B0604020202020204" pitchFamily="34" charset="0"/>
                <a:cs typeface="Arial" panose="020B0604020202020204" pitchFamily="34" charset="0"/>
              </a:rPr>
              <a:t>Curvilinear </a:t>
            </a:r>
          </a:p>
          <a:p>
            <a:pPr lvl="1"/>
            <a:r>
              <a:rPr lang="en-US" sz="2000" dirty="0">
                <a:latin typeface="Arial" panose="020B0604020202020204" pitchFamily="34" charset="0"/>
                <a:cs typeface="Arial" panose="020B0604020202020204" pitchFamily="34" charset="0"/>
              </a:rPr>
              <a:t>Non-constant variance</a:t>
            </a:r>
          </a:p>
          <a:p>
            <a:pPr lvl="1"/>
            <a:r>
              <a:rPr lang="en-US" sz="2000" dirty="0">
                <a:latin typeface="Arial" panose="020B0604020202020204" pitchFamily="34" charset="0"/>
                <a:cs typeface="Arial" panose="020B0604020202020204" pitchFamily="34" charset="0"/>
              </a:rPr>
              <a:t>Outliers</a:t>
            </a:r>
          </a:p>
          <a:p>
            <a:pPr lvl="1"/>
            <a:r>
              <a:rPr lang="en-US" sz="2000" dirty="0">
                <a:latin typeface="Arial" panose="020B0604020202020204" pitchFamily="34" charset="0"/>
                <a:cs typeface="Arial" panose="020B0604020202020204" pitchFamily="34" charset="0"/>
              </a:rPr>
              <a:t>Time trends</a:t>
            </a:r>
          </a:p>
        </p:txBody>
      </p:sp>
      <p:pic>
        <p:nvPicPr>
          <p:cNvPr id="2" name="Picture 1">
            <a:extLst>
              <a:ext uri="{FF2B5EF4-FFF2-40B4-BE49-F238E27FC236}">
                <a16:creationId xmlns:a16="http://schemas.microsoft.com/office/drawing/2014/main" id="{A1922C67-14AA-4C59-A697-195123E7E9F8}"/>
              </a:ext>
            </a:extLst>
          </p:cNvPr>
          <p:cNvPicPr>
            <a:picLocks noChangeAspect="1"/>
          </p:cNvPicPr>
          <p:nvPr/>
        </p:nvPicPr>
        <p:blipFill rotWithShape="1">
          <a:blip r:embed="rId2"/>
          <a:stretch/>
        </p:blipFill>
        <p:spPr>
          <a:xfrm>
            <a:off x="542364" y="1394852"/>
            <a:ext cx="6846374" cy="4550826"/>
          </a:xfrm>
          <a:prstGeom prst="rect">
            <a:avLst/>
          </a:prstGeom>
        </p:spPr>
      </p:pic>
    </p:spTree>
    <p:extLst>
      <p:ext uri="{BB962C8B-B14F-4D97-AF65-F5344CB8AC3E}">
        <p14:creationId xmlns:p14="http://schemas.microsoft.com/office/powerpoint/2010/main" val="53604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29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298">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29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5298">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 presetClass="emph" presetSubtype="2" fill="hold" nodeType="clickEffect">
                                  <p:stCondLst>
                                    <p:cond delay="0"/>
                                  </p:stCondLst>
                                  <p:childTnLst>
                                    <p:animClr clrSpc="rgb" dir="cw">
                                      <p:cBhvr override="childStyle">
                                        <p:cTn id="16" dur="500" fill="hold"/>
                                        <p:tgtEl>
                                          <p:spTgt spid="55298">
                                            <p:txEl>
                                              <p:pRg st="3" end="3"/>
                                            </p:txEl>
                                          </p:spTgt>
                                        </p:tgtEl>
                                        <p:attrNameLst>
                                          <p:attrName>style.color</p:attrName>
                                        </p:attrNameLst>
                                      </p:cBhvr>
                                      <p:to>
                                        <a:srgbClr val="CC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F1AB8-26C8-1A53-32F6-0769082DADB1}"/>
              </a:ext>
            </a:extLst>
          </p:cNvPr>
          <p:cNvSpPr>
            <a:spLocks noGrp="1"/>
          </p:cNvSpPr>
          <p:nvPr>
            <p:ph type="title"/>
          </p:nvPr>
        </p:nvSpPr>
        <p:spPr>
          <a:xfrm>
            <a:off x="105905" y="143603"/>
            <a:ext cx="10515600" cy="1002445"/>
          </a:xfrm>
        </p:spPr>
        <p:txBody>
          <a:bodyPr>
            <a:normAutofit fontScale="90000"/>
          </a:bodyPr>
          <a:lstStyle/>
          <a:p>
            <a:r>
              <a:rPr lang="en-US" sz="4000" dirty="0">
                <a:latin typeface="Arial" panose="020B0604020202020204" pitchFamily="34" charset="0"/>
                <a:cs typeface="Arial" panose="020B0604020202020204" pitchFamily="34" charset="0"/>
              </a:rPr>
              <a:t>Linearity (bad)</a:t>
            </a:r>
            <a:br>
              <a:rPr lang="en-US" dirty="0">
                <a:latin typeface="Arial" panose="020B0604020202020204" pitchFamily="34" charset="0"/>
                <a:cs typeface="Arial" panose="020B0604020202020204" pitchFamily="34" charset="0"/>
              </a:rPr>
            </a:br>
            <a:r>
              <a:rPr lang="en-US" sz="3100" dirty="0">
                <a:latin typeface="Arial" panose="020B0604020202020204" pitchFamily="34" charset="0"/>
                <a:cs typeface="Arial" panose="020B0604020202020204" pitchFamily="34" charset="0"/>
              </a:rPr>
              <a:t>API2000 (academic performance) v Enroll (number of students)</a:t>
            </a:r>
            <a:endParaRPr lang="en-US" dirty="0">
              <a:latin typeface="Arial" panose="020B0604020202020204" pitchFamily="34" charset="0"/>
              <a:cs typeface="Arial" panose="020B0604020202020204" pitchFamily="34" charset="0"/>
            </a:endParaRPr>
          </a:p>
        </p:txBody>
      </p:sp>
      <p:pic>
        <p:nvPicPr>
          <p:cNvPr id="16" name="Content Placeholder 15">
            <a:extLst>
              <a:ext uri="{FF2B5EF4-FFF2-40B4-BE49-F238E27FC236}">
                <a16:creationId xmlns:a16="http://schemas.microsoft.com/office/drawing/2014/main" id="{1C33EC1D-A0E7-CC70-81BC-2EBE1123D06E}"/>
              </a:ext>
            </a:extLst>
          </p:cNvPr>
          <p:cNvPicPr>
            <a:picLocks noGrp="1" noChangeAspect="1"/>
          </p:cNvPicPr>
          <p:nvPr>
            <p:ph sz="half" idx="2"/>
          </p:nvPr>
        </p:nvPicPr>
        <p:blipFill>
          <a:blip r:embed="rId2"/>
          <a:stretch>
            <a:fillRect/>
          </a:stretch>
        </p:blipFill>
        <p:spPr>
          <a:xfrm>
            <a:off x="6096000" y="2088498"/>
            <a:ext cx="5181600" cy="3290982"/>
          </a:xfrm>
        </p:spPr>
      </p:pic>
      <p:pic>
        <p:nvPicPr>
          <p:cNvPr id="34" name="Content Placeholder 33">
            <a:extLst>
              <a:ext uri="{FF2B5EF4-FFF2-40B4-BE49-F238E27FC236}">
                <a16:creationId xmlns:a16="http://schemas.microsoft.com/office/drawing/2014/main" id="{34D4AAF6-5398-90DC-920E-211DFA473CAD}"/>
              </a:ext>
            </a:extLst>
          </p:cNvPr>
          <p:cNvPicPr>
            <a:picLocks noGrp="1" noChangeAspect="1"/>
          </p:cNvPicPr>
          <p:nvPr>
            <p:ph sz="half" idx="1"/>
          </p:nvPr>
        </p:nvPicPr>
        <p:blipFill>
          <a:blip r:embed="rId3"/>
          <a:stretch>
            <a:fillRect/>
          </a:stretch>
        </p:blipFill>
        <p:spPr>
          <a:xfrm>
            <a:off x="393915" y="2088498"/>
            <a:ext cx="5181600" cy="3290982"/>
          </a:xfrm>
        </p:spPr>
      </p:pic>
    </p:spTree>
    <p:extLst>
      <p:ext uri="{BB962C8B-B14F-4D97-AF65-F5344CB8AC3E}">
        <p14:creationId xmlns:p14="http://schemas.microsoft.com/office/powerpoint/2010/main" val="26700367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7B051-E974-AF96-13AC-EB0EF2D61F7D}"/>
              </a:ext>
            </a:extLst>
          </p:cNvPr>
          <p:cNvSpPr>
            <a:spLocks noGrp="1"/>
          </p:cNvSpPr>
          <p:nvPr>
            <p:ph type="title"/>
          </p:nvPr>
        </p:nvSpPr>
        <p:spPr>
          <a:xfrm>
            <a:off x="142658" y="137179"/>
            <a:ext cx="10515600" cy="937030"/>
          </a:xfrm>
        </p:spPr>
        <p:txBody>
          <a:bodyPr>
            <a:normAutofit/>
          </a:bodyPr>
          <a:lstStyle/>
          <a:p>
            <a:r>
              <a:rPr lang="en-US" sz="3600" dirty="0">
                <a:latin typeface="Arial" panose="020B0604020202020204" pitchFamily="34" charset="0"/>
                <a:cs typeface="Arial" panose="020B0604020202020204" pitchFamily="34" charset="0"/>
              </a:rPr>
              <a:t>Normality of Residuals</a:t>
            </a:r>
          </a:p>
        </p:txBody>
      </p:sp>
      <p:sp>
        <p:nvSpPr>
          <p:cNvPr id="3" name="Content Placeholder 2">
            <a:extLst>
              <a:ext uri="{FF2B5EF4-FFF2-40B4-BE49-F238E27FC236}">
                <a16:creationId xmlns:a16="http://schemas.microsoft.com/office/drawing/2014/main" id="{142F661B-A75B-666D-4A10-4517442250F6}"/>
              </a:ext>
            </a:extLst>
          </p:cNvPr>
          <p:cNvSpPr>
            <a:spLocks noGrp="1"/>
          </p:cNvSpPr>
          <p:nvPr>
            <p:ph idx="4294967295"/>
          </p:nvPr>
        </p:nvSpPr>
        <p:spPr>
          <a:xfrm>
            <a:off x="335798" y="1235075"/>
            <a:ext cx="5925518" cy="4941888"/>
          </a:xfrm>
        </p:spPr>
        <p:txBody>
          <a:bodyPr>
            <a:normAutofit/>
          </a:bodyPr>
          <a:lstStyle/>
          <a:p>
            <a:r>
              <a:rPr lang="en-US" sz="2000" dirty="0">
                <a:latin typeface="Arial" panose="020B0604020202020204" pitchFamily="34" charset="0"/>
                <a:cs typeface="Arial" panose="020B0604020202020204" pitchFamily="34" charset="0"/>
              </a:rPr>
              <a:t>In linear regression, a common misconception is that the outcome has to be normally distributed, but the assumption is actually that the residuals are normally distributed</a:t>
            </a:r>
          </a:p>
          <a:p>
            <a:r>
              <a:rPr lang="en-US" sz="2000" dirty="0">
                <a:latin typeface="Arial" panose="020B0604020202020204" pitchFamily="34" charset="0"/>
                <a:cs typeface="Arial" panose="020B0604020202020204" pitchFamily="34" charset="0"/>
              </a:rPr>
              <a:t>A normal probability plot (P-P plot) helps us assess normality of the errors</a:t>
            </a:r>
          </a:p>
          <a:p>
            <a:r>
              <a:rPr lang="en-US" sz="2000" dirty="0">
                <a:latin typeface="Arial" panose="020B0604020202020204" pitchFamily="34" charset="0"/>
                <a:cs typeface="Arial" panose="020B0604020202020204" pitchFamily="34" charset="0"/>
              </a:rPr>
              <a:t>A normal Q-Q performs the same function but SPSS does not have the option so we will create it using JASP</a:t>
            </a:r>
          </a:p>
        </p:txBody>
      </p:sp>
      <p:pic>
        <p:nvPicPr>
          <p:cNvPr id="18" name="Picture 17">
            <a:extLst>
              <a:ext uri="{FF2B5EF4-FFF2-40B4-BE49-F238E27FC236}">
                <a16:creationId xmlns:a16="http://schemas.microsoft.com/office/drawing/2014/main" id="{C2329E55-7CB0-D940-845C-0FA87D836395}"/>
              </a:ext>
            </a:extLst>
          </p:cNvPr>
          <p:cNvPicPr>
            <a:picLocks noChangeAspect="1"/>
          </p:cNvPicPr>
          <p:nvPr/>
        </p:nvPicPr>
        <p:blipFill rotWithShape="1">
          <a:blip r:embed="rId2"/>
          <a:srcRect l="6052" r="17631"/>
          <a:stretch/>
        </p:blipFill>
        <p:spPr>
          <a:xfrm>
            <a:off x="7799587" y="343877"/>
            <a:ext cx="2951071" cy="3064486"/>
          </a:xfrm>
          <a:prstGeom prst="rect">
            <a:avLst/>
          </a:prstGeom>
        </p:spPr>
      </p:pic>
      <p:pic>
        <p:nvPicPr>
          <p:cNvPr id="9" name="Picture 8">
            <a:extLst>
              <a:ext uri="{FF2B5EF4-FFF2-40B4-BE49-F238E27FC236}">
                <a16:creationId xmlns:a16="http://schemas.microsoft.com/office/drawing/2014/main" id="{0A7240E3-2DA4-77B6-ABEA-DB8BADBA77EF}"/>
              </a:ext>
            </a:extLst>
          </p:cNvPr>
          <p:cNvPicPr>
            <a:picLocks noChangeAspect="1"/>
          </p:cNvPicPr>
          <p:nvPr/>
        </p:nvPicPr>
        <p:blipFill rotWithShape="1">
          <a:blip r:embed="rId3"/>
          <a:srcRect l="14041" r="10050"/>
          <a:stretch/>
        </p:blipFill>
        <p:spPr>
          <a:xfrm>
            <a:off x="7905497" y="3550217"/>
            <a:ext cx="2951071" cy="3071239"/>
          </a:xfrm>
          <a:prstGeom prst="rect">
            <a:avLst/>
          </a:prstGeom>
        </p:spPr>
      </p:pic>
    </p:spTree>
    <p:extLst>
      <p:ext uri="{BB962C8B-B14F-4D97-AF65-F5344CB8AC3E}">
        <p14:creationId xmlns:p14="http://schemas.microsoft.com/office/powerpoint/2010/main" val="32108094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297" name="Title 1"/>
          <p:cNvSpPr>
            <a:spLocks noGrp="1"/>
          </p:cNvSpPr>
          <p:nvPr>
            <p:ph type="title"/>
          </p:nvPr>
        </p:nvSpPr>
        <p:spPr>
          <a:xfrm>
            <a:off x="240659" y="136525"/>
            <a:ext cx="10515600" cy="735539"/>
          </a:xfrm>
        </p:spPr>
        <p:txBody>
          <a:bodyPr>
            <a:normAutofit/>
          </a:bodyPr>
          <a:lstStyle/>
          <a:p>
            <a:r>
              <a:rPr lang="en-US" sz="3600" dirty="0">
                <a:latin typeface="Arial" panose="020B0604020202020204" pitchFamily="34" charset="0"/>
                <a:cs typeface="Arial" panose="020B0604020202020204" pitchFamily="34" charset="0"/>
              </a:rPr>
              <a:t>Normal Probability Plot</a:t>
            </a:r>
          </a:p>
        </p:txBody>
      </p:sp>
      <p:sp>
        <p:nvSpPr>
          <p:cNvPr id="55298" name="Content Placeholder 2"/>
          <p:cNvSpPr>
            <a:spLocks noGrp="1"/>
          </p:cNvSpPr>
          <p:nvPr>
            <p:ph idx="1"/>
          </p:nvPr>
        </p:nvSpPr>
        <p:spPr>
          <a:xfrm>
            <a:off x="2398776" y="1920098"/>
            <a:ext cx="7903464" cy="597979"/>
          </a:xfrm>
        </p:spPr>
        <p:txBody>
          <a:bodyPr/>
          <a:lstStyle/>
          <a:p>
            <a:pPr marL="0" indent="0">
              <a:buNone/>
            </a:pPr>
            <a:r>
              <a:rPr lang="en-US" sz="2000" dirty="0">
                <a:latin typeface="Arial" panose="020B0604020202020204" pitchFamily="34" charset="0"/>
                <a:cs typeface="Arial" panose="020B0604020202020204" pitchFamily="34" charset="0"/>
              </a:rPr>
              <a:t>Looking for points to fall along the dashed line (normal distribution)</a:t>
            </a:r>
          </a:p>
          <a:p>
            <a:pPr marL="0" indent="0">
              <a:buNone/>
            </a:pPr>
            <a:endParaRPr lang="en-US" dirty="0"/>
          </a:p>
        </p:txBody>
      </p:sp>
      <p:pic>
        <p:nvPicPr>
          <p:cNvPr id="3" name="Picture 2">
            <a:extLst>
              <a:ext uri="{FF2B5EF4-FFF2-40B4-BE49-F238E27FC236}">
                <a16:creationId xmlns:a16="http://schemas.microsoft.com/office/drawing/2014/main" id="{3B973613-47B4-48E9-B94D-9AF33386FB22}"/>
              </a:ext>
            </a:extLst>
          </p:cNvPr>
          <p:cNvPicPr>
            <a:picLocks noChangeAspect="1"/>
          </p:cNvPicPr>
          <p:nvPr/>
        </p:nvPicPr>
        <p:blipFill>
          <a:blip r:embed="rId2"/>
          <a:stretch>
            <a:fillRect/>
          </a:stretch>
        </p:blipFill>
        <p:spPr>
          <a:xfrm>
            <a:off x="240659" y="2585545"/>
            <a:ext cx="5830969" cy="3958546"/>
          </a:xfrm>
          <a:prstGeom prst="rect">
            <a:avLst/>
          </a:prstGeom>
        </p:spPr>
      </p:pic>
      <p:pic>
        <p:nvPicPr>
          <p:cNvPr id="6" name="Picture 3">
            <a:extLst>
              <a:ext uri="{FF2B5EF4-FFF2-40B4-BE49-F238E27FC236}">
                <a16:creationId xmlns:a16="http://schemas.microsoft.com/office/drawing/2014/main" id="{C213E1AD-B4A4-45B0-AA42-841C0D8F7FE2}"/>
              </a:ext>
            </a:extLst>
          </p:cNvPr>
          <p:cNvPicPr>
            <a:picLocks noChangeAspect="1" noChangeArrowheads="1"/>
          </p:cNvPicPr>
          <p:nvPr/>
        </p:nvPicPr>
        <p:blipFill>
          <a:blip r:embed="rId3"/>
          <a:srcRect/>
          <a:stretch>
            <a:fillRect/>
          </a:stretch>
        </p:blipFill>
        <p:spPr>
          <a:xfrm>
            <a:off x="5810489" y="3318461"/>
            <a:ext cx="6066201" cy="2500669"/>
          </a:xfrm>
          <a:prstGeom prst="rect">
            <a:avLst/>
          </a:prstGeom>
          <a:noFill/>
          <a:ln/>
        </p:spPr>
      </p:pic>
      <p:sp>
        <p:nvSpPr>
          <p:cNvPr id="7" name="Rectangle: Rounded Corners 6">
            <a:extLst>
              <a:ext uri="{FF2B5EF4-FFF2-40B4-BE49-F238E27FC236}">
                <a16:creationId xmlns:a16="http://schemas.microsoft.com/office/drawing/2014/main" id="{EF1C0C95-5332-4064-8F3F-42DCF9222CAF}"/>
              </a:ext>
            </a:extLst>
          </p:cNvPr>
          <p:cNvSpPr/>
          <p:nvPr/>
        </p:nvSpPr>
        <p:spPr>
          <a:xfrm>
            <a:off x="9993614" y="3541985"/>
            <a:ext cx="2061752" cy="2165131"/>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849F52BB-D769-4E1C-89BF-296E0176E36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F2B675-3BAF-420B-B2FC-1C2A1E07683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4918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D6E30-908A-817B-E06E-40079984618C}"/>
              </a:ext>
            </a:extLst>
          </p:cNvPr>
          <p:cNvSpPr>
            <a:spLocks noGrp="1"/>
          </p:cNvSpPr>
          <p:nvPr>
            <p:ph type="title"/>
          </p:nvPr>
        </p:nvSpPr>
        <p:spPr>
          <a:xfrm>
            <a:off x="151108" y="204977"/>
            <a:ext cx="10515600" cy="823078"/>
          </a:xfrm>
        </p:spPr>
        <p:txBody>
          <a:bodyPr>
            <a:normAutofit/>
          </a:bodyPr>
          <a:lstStyle/>
          <a:p>
            <a:r>
              <a:rPr lang="en-US" sz="3600" dirty="0">
                <a:latin typeface="Arial" panose="020B0604020202020204" pitchFamily="34" charset="0"/>
                <a:cs typeface="Arial" panose="020B0604020202020204" pitchFamily="34" charset="0"/>
              </a:rPr>
              <a:t>Histogram of Standardized Residuals</a:t>
            </a:r>
          </a:p>
        </p:txBody>
      </p:sp>
      <p:sp>
        <p:nvSpPr>
          <p:cNvPr id="9" name="Content Placeholder 8">
            <a:extLst>
              <a:ext uri="{FF2B5EF4-FFF2-40B4-BE49-F238E27FC236}">
                <a16:creationId xmlns:a16="http://schemas.microsoft.com/office/drawing/2014/main" id="{C0B1E04E-DDBF-7047-3C6D-6A507BC8EAE7}"/>
              </a:ext>
            </a:extLst>
          </p:cNvPr>
          <p:cNvSpPr>
            <a:spLocks noGrp="1"/>
          </p:cNvSpPr>
          <p:nvPr>
            <p:ph idx="4294967295"/>
          </p:nvPr>
        </p:nvSpPr>
        <p:spPr>
          <a:xfrm>
            <a:off x="330630" y="951021"/>
            <a:ext cx="4773613" cy="4795837"/>
          </a:xfrm>
        </p:spPr>
        <p:txBody>
          <a:bodyPr>
            <a:normAutofit/>
          </a:bodyPr>
          <a:lstStyle/>
          <a:p>
            <a:r>
              <a:rPr lang="en-US" sz="2000" dirty="0">
                <a:latin typeface="Arial" panose="020B0604020202020204" pitchFamily="34" charset="0"/>
                <a:cs typeface="Arial" panose="020B0604020202020204" pitchFamily="34" charset="0"/>
              </a:rPr>
              <a:t>You can also get a sense of normality of errors by saving the standardized residuals and then creating a histogram plot with a normal overlay</a:t>
            </a:r>
          </a:p>
          <a:p>
            <a:r>
              <a:rPr lang="en-US" sz="2000" dirty="0">
                <a:latin typeface="Arial" panose="020B0604020202020204" pitchFamily="34" charset="0"/>
                <a:cs typeface="Arial" panose="020B0604020202020204" pitchFamily="34" charset="0"/>
              </a:rPr>
              <a:t>This is the same result as the normal probability plot, showing a slightly right skew to the data</a:t>
            </a:r>
          </a:p>
        </p:txBody>
      </p:sp>
      <p:pic>
        <p:nvPicPr>
          <p:cNvPr id="5" name="Content Placeholder 4">
            <a:extLst>
              <a:ext uri="{FF2B5EF4-FFF2-40B4-BE49-F238E27FC236}">
                <a16:creationId xmlns:a16="http://schemas.microsoft.com/office/drawing/2014/main" id="{59989228-43E4-992F-1C5C-D298CC2CF5E5}"/>
              </a:ext>
            </a:extLst>
          </p:cNvPr>
          <p:cNvPicPr>
            <a:picLocks noChangeAspect="1"/>
          </p:cNvPicPr>
          <p:nvPr/>
        </p:nvPicPr>
        <p:blipFill>
          <a:blip r:embed="rId3"/>
          <a:stretch>
            <a:fillRect/>
          </a:stretch>
        </p:blipFill>
        <p:spPr>
          <a:xfrm>
            <a:off x="5223351" y="1028055"/>
            <a:ext cx="6155141" cy="3849760"/>
          </a:xfrm>
          <a:prstGeom prst="rect">
            <a:avLst/>
          </a:prstGeom>
        </p:spPr>
      </p:pic>
    </p:spTree>
    <p:extLst>
      <p:ext uri="{BB962C8B-B14F-4D97-AF65-F5344CB8AC3E}">
        <p14:creationId xmlns:p14="http://schemas.microsoft.com/office/powerpoint/2010/main" val="6585308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1F1A1-248C-7AAB-642A-6D47E2070311}"/>
              </a:ext>
            </a:extLst>
          </p:cNvPr>
          <p:cNvSpPr>
            <a:spLocks noGrp="1"/>
          </p:cNvSpPr>
          <p:nvPr>
            <p:ph type="title"/>
          </p:nvPr>
        </p:nvSpPr>
        <p:spPr>
          <a:xfrm>
            <a:off x="158754" y="138437"/>
            <a:ext cx="10515600" cy="702811"/>
          </a:xfrm>
        </p:spPr>
        <p:txBody>
          <a:bodyPr>
            <a:normAutofit/>
          </a:bodyPr>
          <a:lstStyle/>
          <a:p>
            <a:r>
              <a:rPr lang="en-US" sz="3600" dirty="0">
                <a:latin typeface="Arial" panose="020B0604020202020204" pitchFamily="34" charset="0"/>
                <a:cs typeface="Arial" panose="020B0604020202020204" pitchFamily="34" charset="0"/>
              </a:rPr>
              <a:t>Checking for independence of residuals</a:t>
            </a:r>
          </a:p>
        </p:txBody>
      </p:sp>
      <p:sp>
        <p:nvSpPr>
          <p:cNvPr id="3" name="Content Placeholder 2">
            <a:extLst>
              <a:ext uri="{FF2B5EF4-FFF2-40B4-BE49-F238E27FC236}">
                <a16:creationId xmlns:a16="http://schemas.microsoft.com/office/drawing/2014/main" id="{E661D451-3698-3CE0-30C3-CF0CAD5D597A}"/>
              </a:ext>
            </a:extLst>
          </p:cNvPr>
          <p:cNvSpPr>
            <a:spLocks noGrp="1"/>
          </p:cNvSpPr>
          <p:nvPr>
            <p:ph idx="4294967295"/>
          </p:nvPr>
        </p:nvSpPr>
        <p:spPr>
          <a:xfrm>
            <a:off x="273183" y="841248"/>
            <a:ext cx="11106435" cy="4066212"/>
          </a:xfrm>
        </p:spPr>
        <p:txBody>
          <a:bodyPr>
            <a:normAutofit/>
          </a:bodyPr>
          <a:lstStyle/>
          <a:p>
            <a:r>
              <a:rPr lang="en-US" sz="2000" dirty="0">
                <a:latin typeface="Arial" panose="020B0604020202020204" pitchFamily="34" charset="0"/>
                <a:cs typeface="Arial" panose="020B0604020202020204" pitchFamily="34" charset="0"/>
              </a:rPr>
              <a:t>Use Durbin Watson test statistic (simple)</a:t>
            </a:r>
          </a:p>
          <a:p>
            <a:r>
              <a:rPr lang="en-US" sz="2000" dirty="0">
                <a:latin typeface="Arial" panose="020B0604020202020204" pitchFamily="34" charset="0"/>
                <a:cs typeface="Arial" panose="020B0604020202020204" pitchFamily="34" charset="0"/>
              </a:rPr>
              <a:t>The question is whether the residuals from the regression model are autocorrelated</a:t>
            </a:r>
          </a:p>
          <a:p>
            <a:pPr lvl="1"/>
            <a:r>
              <a:rPr lang="en-US" sz="2000" dirty="0">
                <a:latin typeface="Arial" panose="020B0604020202020204" pitchFamily="34" charset="0"/>
                <a:cs typeface="Arial" panose="020B0604020202020204" pitchFamily="34" charset="0"/>
              </a:rPr>
              <a:t>Autocorrelation is the degree to which the error term of one observation is related to the error term of a different observation</a:t>
            </a:r>
          </a:p>
          <a:p>
            <a:r>
              <a:rPr lang="en-US" sz="2000" dirty="0">
                <a:latin typeface="Arial" panose="020B0604020202020204" pitchFamily="34" charset="0"/>
                <a:cs typeface="Arial" panose="020B0604020202020204" pitchFamily="34" charset="0"/>
              </a:rPr>
              <a:t>The null hypothesis: the residuals are independent</a:t>
            </a:r>
          </a:p>
          <a:p>
            <a:pPr lvl="1"/>
            <a:r>
              <a:rPr lang="en-US" sz="2000" dirty="0">
                <a:latin typeface="Arial" panose="020B0604020202020204" pitchFamily="34" charset="0"/>
                <a:cs typeface="Arial" panose="020B0604020202020204" pitchFamily="34" charset="0"/>
              </a:rPr>
              <a:t>Large p-value indicates the residuals are not correlated (GOOD)</a:t>
            </a:r>
          </a:p>
          <a:p>
            <a:pPr lvl="1"/>
            <a:r>
              <a:rPr lang="en-US" sz="2000" dirty="0">
                <a:latin typeface="Arial" panose="020B0604020202020204" pitchFamily="34" charset="0"/>
                <a:cs typeface="Arial" panose="020B0604020202020204" pitchFamily="34" charset="0"/>
              </a:rPr>
              <a:t>Small p-value indicates the residuals are correlated (BAD)</a:t>
            </a:r>
          </a:p>
          <a:p>
            <a:endParaRPr lang="en-US" sz="1600" dirty="0"/>
          </a:p>
        </p:txBody>
      </p:sp>
    </p:spTree>
    <p:extLst>
      <p:ext uri="{BB962C8B-B14F-4D97-AF65-F5344CB8AC3E}">
        <p14:creationId xmlns:p14="http://schemas.microsoft.com/office/powerpoint/2010/main" val="20479196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057E4-C487-B173-28EE-BA1FF24D8A67}"/>
              </a:ext>
            </a:extLst>
          </p:cNvPr>
          <p:cNvSpPr>
            <a:spLocks noGrp="1"/>
          </p:cNvSpPr>
          <p:nvPr>
            <p:ph type="title"/>
          </p:nvPr>
        </p:nvSpPr>
        <p:spPr>
          <a:xfrm>
            <a:off x="181691" y="178733"/>
            <a:ext cx="10515600" cy="589364"/>
          </a:xfrm>
        </p:spPr>
        <p:txBody>
          <a:bodyPr>
            <a:normAutofit/>
          </a:bodyPr>
          <a:lstStyle/>
          <a:p>
            <a:r>
              <a:rPr lang="en-US" sz="3600" dirty="0">
                <a:latin typeface="Arial" panose="020B0604020202020204" pitchFamily="34" charset="0"/>
                <a:cs typeface="Arial" panose="020B0604020202020204" pitchFamily="34" charset="0"/>
              </a:rPr>
              <a:t>Checking for independence</a:t>
            </a:r>
          </a:p>
        </p:txBody>
      </p:sp>
      <p:sp>
        <p:nvSpPr>
          <p:cNvPr id="3" name="Content Placeholder 2">
            <a:extLst>
              <a:ext uri="{FF2B5EF4-FFF2-40B4-BE49-F238E27FC236}">
                <a16:creationId xmlns:a16="http://schemas.microsoft.com/office/drawing/2014/main" id="{974E4DBA-C37C-BEB0-304C-366209470765}"/>
              </a:ext>
            </a:extLst>
          </p:cNvPr>
          <p:cNvSpPr>
            <a:spLocks noGrp="1"/>
          </p:cNvSpPr>
          <p:nvPr>
            <p:ph idx="4294967295"/>
          </p:nvPr>
        </p:nvSpPr>
        <p:spPr>
          <a:xfrm>
            <a:off x="226431" y="875759"/>
            <a:ext cx="11783878" cy="4473736"/>
          </a:xfrm>
        </p:spPr>
        <p:txBody>
          <a:bodyPr>
            <a:normAutofit/>
          </a:bodyPr>
          <a:lstStyle/>
          <a:p>
            <a:r>
              <a:rPr lang="en-US" sz="2000" b="0" i="0" dirty="0">
                <a:effectLst/>
              </a:rPr>
              <a:t>The DW statistic ranges from zero to four, with a value of </a:t>
            </a:r>
            <a:r>
              <a:rPr lang="en-US" sz="2000" i="0" dirty="0">
                <a:effectLst/>
              </a:rPr>
              <a:t>2.0 indicating </a:t>
            </a:r>
            <a:r>
              <a:rPr lang="en-US" sz="2000" i="0" u="sng" dirty="0">
                <a:effectLst/>
              </a:rPr>
              <a:t>zero</a:t>
            </a:r>
            <a:r>
              <a:rPr lang="en-US" sz="2000" i="0" dirty="0">
                <a:effectLst/>
              </a:rPr>
              <a:t> autocorrelation</a:t>
            </a:r>
            <a:endParaRPr lang="en-US" sz="2000" dirty="0"/>
          </a:p>
          <a:p>
            <a:pPr lvl="1"/>
            <a:r>
              <a:rPr lang="en-US" sz="2000" b="0" i="0" dirty="0">
                <a:effectLst/>
                <a:latin typeface="Arial" panose="020B0604020202020204" pitchFamily="34" charset="0"/>
                <a:cs typeface="Arial" panose="020B0604020202020204" pitchFamily="34" charset="0"/>
              </a:rPr>
              <a:t>Values below 2.0 mean there is positive autocorrelation and above 2.0 indicates negative autocorrelation</a:t>
            </a:r>
          </a:p>
          <a:p>
            <a:pPr lvl="1"/>
            <a:r>
              <a:rPr lang="en-US" sz="2000" dirty="0">
                <a:latin typeface="Arial" panose="020B0604020202020204" pitchFamily="34" charset="0"/>
                <a:cs typeface="Arial" panose="020B0604020202020204" pitchFamily="34" charset="0"/>
              </a:rPr>
              <a:t>Ideally, the DW should be between 1 and 3</a:t>
            </a:r>
          </a:p>
          <a:p>
            <a:pPr lvl="1"/>
            <a:r>
              <a:rPr lang="en-US" sz="2000" dirty="0">
                <a:latin typeface="Arial" panose="020B0604020202020204" pitchFamily="34" charset="0"/>
                <a:cs typeface="Arial" panose="020B0604020202020204" pitchFamily="34" charset="0"/>
              </a:rPr>
              <a:t>SPSS gives the statistic only, JASP gives the value, the statistic and the p-value</a:t>
            </a:r>
          </a:p>
        </p:txBody>
      </p:sp>
    </p:spTree>
    <p:extLst>
      <p:ext uri="{BB962C8B-B14F-4D97-AF65-F5344CB8AC3E}">
        <p14:creationId xmlns:p14="http://schemas.microsoft.com/office/powerpoint/2010/main" val="31552746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6AADE-154A-9E03-6619-B8CDA5EFD853}"/>
              </a:ext>
            </a:extLst>
          </p:cNvPr>
          <p:cNvSpPr>
            <a:spLocks noGrp="1"/>
          </p:cNvSpPr>
          <p:nvPr>
            <p:ph type="title" idx="4294967295"/>
          </p:nvPr>
        </p:nvSpPr>
        <p:spPr>
          <a:xfrm>
            <a:off x="292491" y="162578"/>
            <a:ext cx="7229353" cy="642938"/>
          </a:xfrm>
        </p:spPr>
        <p:txBody>
          <a:bodyPr vert="horz" lIns="91440" tIns="45720" rIns="91440" bIns="45720" rtlCol="0" anchor="b">
            <a:noAutofit/>
          </a:bodyPr>
          <a:lstStyle/>
          <a:p>
            <a:pPr algn="ctr"/>
            <a:r>
              <a:rPr lang="en-US" dirty="0">
                <a:latin typeface="Aptos Display (Headings)"/>
              </a:rPr>
              <a:t>Independence of Observations</a:t>
            </a:r>
          </a:p>
        </p:txBody>
      </p:sp>
      <p:pic>
        <p:nvPicPr>
          <p:cNvPr id="4" name="Picture 3" descr="A graph of numbers and lines&#10;&#10;Description automatically generated">
            <a:extLst>
              <a:ext uri="{FF2B5EF4-FFF2-40B4-BE49-F238E27FC236}">
                <a16:creationId xmlns:a16="http://schemas.microsoft.com/office/drawing/2014/main" id="{1A1EE7AE-7304-3623-FB5C-B6D396CDCAB9}"/>
              </a:ext>
            </a:extLst>
          </p:cNvPr>
          <p:cNvPicPr>
            <a:picLocks noChangeAspect="1"/>
          </p:cNvPicPr>
          <p:nvPr/>
        </p:nvPicPr>
        <p:blipFill rotWithShape="1">
          <a:blip r:embed="rId3"/>
          <a:srcRect r="3392" b="1"/>
          <a:stretch/>
        </p:blipFill>
        <p:spPr>
          <a:xfrm>
            <a:off x="793605" y="1904726"/>
            <a:ext cx="9765908" cy="4953274"/>
          </a:xfrm>
          <a:prstGeom prst="rect">
            <a:avLst/>
          </a:prstGeom>
        </p:spPr>
      </p:pic>
      <p:sp>
        <p:nvSpPr>
          <p:cNvPr id="3" name="Rectangle 1">
            <a:extLst>
              <a:ext uri="{FF2B5EF4-FFF2-40B4-BE49-F238E27FC236}">
                <a16:creationId xmlns:a16="http://schemas.microsoft.com/office/drawing/2014/main" id="{0EA74011-B4F3-9886-35E0-E917927BF890}"/>
              </a:ext>
            </a:extLst>
          </p:cNvPr>
          <p:cNvSpPr>
            <a:spLocks noChangeArrowheads="1"/>
          </p:cNvSpPr>
          <p:nvPr/>
        </p:nvSpPr>
        <p:spPr bwMode="auto">
          <a:xfrm>
            <a:off x="362785" y="660187"/>
            <a:ext cx="1163651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When residuals are </a:t>
            </a:r>
            <a:r>
              <a:rPr kumimoji="0" lang="en-US" altLang="en-US" sz="1800" i="0" u="none" strike="noStrike" cap="none" normalizeH="0" baseline="0" dirty="0">
                <a:ln>
                  <a:noFill/>
                </a:ln>
                <a:solidFill>
                  <a:schemeClr val="tx1"/>
                </a:solidFill>
                <a:effectLst/>
                <a:latin typeface="Arial" panose="020B0604020202020204" pitchFamily="34" charset="0"/>
              </a:rPr>
              <a:t>independent</a:t>
            </a:r>
            <a:r>
              <a:rPr kumimoji="0" lang="en-US" altLang="en-US" sz="1800" b="0" i="0" u="none" strike="noStrike" cap="none" normalizeH="0" baseline="0" dirty="0">
                <a:ln>
                  <a:noFill/>
                </a:ln>
                <a:solidFill>
                  <a:schemeClr val="tx1"/>
                </a:solidFill>
                <a:effectLst/>
                <a:latin typeface="Arial" panose="020B0604020202020204" pitchFamily="34" charset="0"/>
              </a:rPr>
              <a:t>, they are randomly distributed across all units. Below, if residuals were truly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independent, they would be randomly distributed across all districts. Instead, we see that some districts have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consistently positive or negative residuals.  This suggests that student performance within the same district is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1" u="none" strike="noStrike" cap="none" normalizeH="0" baseline="0" dirty="0">
                <a:ln>
                  <a:noFill/>
                </a:ln>
                <a:solidFill>
                  <a:schemeClr val="tx1"/>
                </a:solidFill>
                <a:effectLst/>
                <a:latin typeface="Arial" panose="020B0604020202020204" pitchFamily="34" charset="0"/>
              </a:rPr>
              <a:t>systematically overpredicting or underpredicting outcomes in certain districts</a:t>
            </a:r>
            <a:r>
              <a:rPr kumimoji="0" lang="en-US" altLang="en-US" sz="1800" b="0" i="0" u="none" strike="noStrike" cap="none" normalizeH="0" baseline="0" dirty="0">
                <a:ln>
                  <a:noFill/>
                </a:ln>
                <a:solidFill>
                  <a:schemeClr val="tx1"/>
                </a:solidFill>
                <a:effectLst/>
                <a:latin typeface="Arial" panose="020B0604020202020204" pitchFamily="34" charset="0"/>
              </a:rPr>
              <a:t>, violating independence.</a:t>
            </a:r>
          </a:p>
        </p:txBody>
      </p:sp>
      <p:sp>
        <p:nvSpPr>
          <p:cNvPr id="5" name="TextBox 4">
            <a:extLst>
              <a:ext uri="{FF2B5EF4-FFF2-40B4-BE49-F238E27FC236}">
                <a16:creationId xmlns:a16="http://schemas.microsoft.com/office/drawing/2014/main" id="{6FC9B3FE-5EF4-DAEC-A626-98B2FF2FE1AE}"/>
              </a:ext>
            </a:extLst>
          </p:cNvPr>
          <p:cNvSpPr txBox="1"/>
          <p:nvPr/>
        </p:nvSpPr>
        <p:spPr>
          <a:xfrm>
            <a:off x="6266482" y="2691540"/>
            <a:ext cx="4495846" cy="646331"/>
          </a:xfrm>
          <a:prstGeom prst="rect">
            <a:avLst/>
          </a:prstGeom>
          <a:noFill/>
        </p:spPr>
        <p:txBody>
          <a:bodyPr wrap="none" rtlCol="0">
            <a:spAutoFit/>
          </a:bodyPr>
          <a:lstStyle/>
          <a:p>
            <a:r>
              <a:rPr lang="en-US" dirty="0"/>
              <a:t>Standard residuals of </a:t>
            </a:r>
            <a:r>
              <a:rPr lang="en-US" b="1" dirty="0"/>
              <a:t>student performance on</a:t>
            </a:r>
          </a:p>
          <a:p>
            <a:r>
              <a:rPr lang="en-US" b="1" dirty="0"/>
              <a:t>standardized tests across school districts</a:t>
            </a:r>
          </a:p>
        </p:txBody>
      </p:sp>
      <p:sp>
        <p:nvSpPr>
          <p:cNvPr id="6" name="TextBox 5">
            <a:extLst>
              <a:ext uri="{FF2B5EF4-FFF2-40B4-BE49-F238E27FC236}">
                <a16:creationId xmlns:a16="http://schemas.microsoft.com/office/drawing/2014/main" id="{2F9FF488-20FA-743F-C4A5-1731A778543C}"/>
              </a:ext>
            </a:extLst>
          </p:cNvPr>
          <p:cNvSpPr txBox="1"/>
          <p:nvPr/>
        </p:nvSpPr>
        <p:spPr>
          <a:xfrm>
            <a:off x="0" y="6326090"/>
            <a:ext cx="2147383" cy="369332"/>
          </a:xfrm>
          <a:prstGeom prst="rect">
            <a:avLst/>
          </a:prstGeom>
          <a:noFill/>
        </p:spPr>
        <p:txBody>
          <a:bodyPr wrap="none" rtlCol="0">
            <a:spAutoFit/>
          </a:bodyPr>
          <a:lstStyle/>
          <a:p>
            <a:r>
              <a:rPr lang="en-US" dirty="0"/>
              <a:t>Example: </a:t>
            </a:r>
            <a:r>
              <a:rPr lang="en-US" dirty="0" err="1"/>
              <a:t>Gapminder</a:t>
            </a:r>
            <a:endParaRPr lang="en-US" dirty="0"/>
          </a:p>
        </p:txBody>
      </p:sp>
    </p:spTree>
    <p:extLst>
      <p:ext uri="{BB962C8B-B14F-4D97-AF65-F5344CB8AC3E}">
        <p14:creationId xmlns:p14="http://schemas.microsoft.com/office/powerpoint/2010/main" val="37429797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E96D2-7CC1-FA00-701A-455BD3761455}"/>
              </a:ext>
            </a:extLst>
          </p:cNvPr>
          <p:cNvSpPr>
            <a:spLocks noGrp="1"/>
          </p:cNvSpPr>
          <p:nvPr>
            <p:ph type="title" idx="4294967295"/>
          </p:nvPr>
        </p:nvSpPr>
        <p:spPr>
          <a:xfrm>
            <a:off x="188259" y="168557"/>
            <a:ext cx="6911788" cy="692056"/>
          </a:xfrm>
        </p:spPr>
        <p:txBody>
          <a:bodyPr>
            <a:normAutofit fontScale="90000"/>
          </a:bodyPr>
          <a:lstStyle/>
          <a:p>
            <a:r>
              <a:rPr lang="en-US" dirty="0">
                <a:latin typeface="Arial" panose="020B0604020202020204" pitchFamily="34" charset="0"/>
                <a:cs typeface="Arial" panose="020B0604020202020204" pitchFamily="34" charset="0"/>
              </a:rPr>
              <a:t>Issues of Independence</a:t>
            </a:r>
          </a:p>
        </p:txBody>
      </p:sp>
      <p:sp>
        <p:nvSpPr>
          <p:cNvPr id="3" name="Content Placeholder 2">
            <a:extLst>
              <a:ext uri="{FF2B5EF4-FFF2-40B4-BE49-F238E27FC236}">
                <a16:creationId xmlns:a16="http://schemas.microsoft.com/office/drawing/2014/main" id="{70B20A89-9C62-C6F7-DDFC-F29057DDC262}"/>
              </a:ext>
            </a:extLst>
          </p:cNvPr>
          <p:cNvSpPr>
            <a:spLocks noGrp="1"/>
          </p:cNvSpPr>
          <p:nvPr>
            <p:ph idx="4294967295"/>
          </p:nvPr>
        </p:nvSpPr>
        <p:spPr>
          <a:xfrm>
            <a:off x="345726" y="860613"/>
            <a:ext cx="11151813" cy="4177366"/>
          </a:xfrm>
        </p:spPr>
        <p:txBody>
          <a:bodyPr>
            <a:normAutofit/>
          </a:bodyPr>
          <a:lstStyle/>
          <a:p>
            <a:r>
              <a:rPr lang="en-US" sz="2000" dirty="0">
                <a:latin typeface="Arial" panose="020B0604020202020204" pitchFamily="34" charset="0"/>
                <a:cs typeface="Arial" panose="020B0604020202020204" pitchFamily="34" charset="0"/>
              </a:rPr>
              <a:t>Independence is driven to a large degree by the method of data collection</a:t>
            </a:r>
          </a:p>
          <a:p>
            <a:r>
              <a:rPr lang="en-US" sz="2000" dirty="0">
                <a:latin typeface="Arial" panose="020B0604020202020204" pitchFamily="34" charset="0"/>
                <a:cs typeface="Arial" panose="020B0604020202020204" pitchFamily="34" charset="0"/>
              </a:rPr>
              <a:t>Therefore, violations can occur in a variety of situations</a:t>
            </a:r>
          </a:p>
          <a:p>
            <a:r>
              <a:rPr lang="en-US" sz="2000" dirty="0">
                <a:latin typeface="Arial" panose="020B0604020202020204" pitchFamily="34" charset="0"/>
                <a:cs typeface="Arial" panose="020B0604020202020204" pitchFamily="34" charset="0"/>
              </a:rPr>
              <a:t>Consider data on child welfare allegations in a particular state</a:t>
            </a:r>
          </a:p>
          <a:p>
            <a:pPr lvl="1"/>
            <a:r>
              <a:rPr lang="en-US" sz="2000" dirty="0">
                <a:latin typeface="Arial" panose="020B0604020202020204" pitchFamily="34" charset="0"/>
                <a:cs typeface="Arial" panose="020B0604020202020204" pitchFamily="34" charset="0"/>
              </a:rPr>
              <a:t>Why might these data violate the independence assumption</a:t>
            </a:r>
          </a:p>
          <a:p>
            <a:r>
              <a:rPr lang="en-US" sz="2000" dirty="0">
                <a:latin typeface="Arial" panose="020B0604020202020204" pitchFamily="34" charset="0"/>
                <a:cs typeface="Arial" panose="020B0604020202020204" pitchFamily="34" charset="0"/>
              </a:rPr>
              <a:t>If you have clustered data, you need to incorporate the clustering into your model</a:t>
            </a:r>
          </a:p>
          <a:p>
            <a:r>
              <a:rPr lang="en-US" sz="2000" dirty="0">
                <a:latin typeface="Arial" panose="020B0604020202020204" pitchFamily="34" charset="0"/>
                <a:cs typeface="Arial" panose="020B0604020202020204" pitchFamily="34" charset="0"/>
              </a:rPr>
              <a:t>You can get a general sense about violations of independence via descriptive statistics</a:t>
            </a:r>
          </a:p>
        </p:txBody>
      </p:sp>
      <p:sp>
        <p:nvSpPr>
          <p:cNvPr id="5" name="TextBox 4">
            <a:extLst>
              <a:ext uri="{FF2B5EF4-FFF2-40B4-BE49-F238E27FC236}">
                <a16:creationId xmlns:a16="http://schemas.microsoft.com/office/drawing/2014/main" id="{9C709A1C-06DA-D82A-C541-B0B6147A7C41}"/>
              </a:ext>
            </a:extLst>
          </p:cNvPr>
          <p:cNvSpPr txBox="1"/>
          <p:nvPr/>
        </p:nvSpPr>
        <p:spPr>
          <a:xfrm>
            <a:off x="345726" y="3658407"/>
            <a:ext cx="10566815" cy="923330"/>
          </a:xfrm>
          <a:prstGeom prst="rect">
            <a:avLst/>
          </a:prstGeom>
          <a:noFill/>
        </p:spPr>
        <p:txBody>
          <a:bodyPr wrap="square">
            <a:spAutoFit/>
          </a:bodyPr>
          <a:lstStyle/>
          <a:p>
            <a:r>
              <a:rPr lang="en-US" b="0" i="0" dirty="0">
                <a:solidFill>
                  <a:srgbClr val="222222"/>
                </a:solidFill>
                <a:effectLst/>
                <a:latin typeface="Arial" panose="020B0604020202020204" pitchFamily="34" charset="0"/>
              </a:rPr>
              <a:t>Barboza-Salerno, G. E., Steinke, H., Meshelemiah, J. C., Stanek, C., </a:t>
            </a:r>
            <a:r>
              <a:rPr lang="en-US" b="0" i="0" dirty="0" err="1">
                <a:solidFill>
                  <a:srgbClr val="222222"/>
                </a:solidFill>
                <a:effectLst/>
                <a:latin typeface="Arial" panose="020B0604020202020204" pitchFamily="34" charset="0"/>
              </a:rPr>
              <a:t>Duhany</a:t>
            </a:r>
            <a:r>
              <a:rPr lang="en-US" b="0" i="0" dirty="0">
                <a:solidFill>
                  <a:srgbClr val="222222"/>
                </a:solidFill>
                <a:effectLst/>
                <a:latin typeface="Arial" panose="020B0604020202020204" pitchFamily="34" charset="0"/>
              </a:rPr>
              <a:t>, S., &amp; Cash, S. (2025). A multilevel analysis of individual and community factors associated with case dispositions following child maltreatment investigations. </a:t>
            </a:r>
            <a:r>
              <a:rPr lang="en-US" b="0" i="1" dirty="0">
                <a:solidFill>
                  <a:srgbClr val="222222"/>
                </a:solidFill>
                <a:effectLst/>
                <a:latin typeface="Arial" panose="020B0604020202020204" pitchFamily="34" charset="0"/>
              </a:rPr>
              <a:t>Child maltreatment</a:t>
            </a:r>
            <a:r>
              <a:rPr lang="en-US" b="0" i="0" dirty="0">
                <a:solidFill>
                  <a:srgbClr val="222222"/>
                </a:solidFill>
                <a:effectLst/>
                <a:latin typeface="Arial" panose="020B0604020202020204" pitchFamily="34" charset="0"/>
              </a:rPr>
              <a:t>, </a:t>
            </a:r>
            <a:r>
              <a:rPr lang="en-US" b="0" i="1" dirty="0">
                <a:solidFill>
                  <a:srgbClr val="222222"/>
                </a:solidFill>
                <a:effectLst/>
                <a:latin typeface="Arial" panose="020B0604020202020204" pitchFamily="34" charset="0"/>
              </a:rPr>
              <a:t>30</a:t>
            </a:r>
            <a:r>
              <a:rPr lang="en-US" b="0" i="0" dirty="0">
                <a:solidFill>
                  <a:srgbClr val="222222"/>
                </a:solidFill>
                <a:effectLst/>
                <a:latin typeface="Arial" panose="020B0604020202020204" pitchFamily="34" charset="0"/>
              </a:rPr>
              <a:t>(1), 108-122.</a:t>
            </a:r>
            <a:endParaRPr lang="en-US" dirty="0"/>
          </a:p>
        </p:txBody>
      </p:sp>
    </p:spTree>
    <p:extLst>
      <p:ext uri="{BB962C8B-B14F-4D97-AF65-F5344CB8AC3E}">
        <p14:creationId xmlns:p14="http://schemas.microsoft.com/office/powerpoint/2010/main" val="15430328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D387A9-BF1F-09A0-D192-AC4D7F6EB15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166ED61-5B7F-D832-11CA-420479391D9F}"/>
              </a:ext>
            </a:extLst>
          </p:cNvPr>
          <p:cNvPicPr>
            <a:picLocks noChangeAspect="1"/>
          </p:cNvPicPr>
          <p:nvPr/>
        </p:nvPicPr>
        <p:blipFill>
          <a:blip r:embed="rId2"/>
          <a:stretch>
            <a:fillRect/>
          </a:stretch>
        </p:blipFill>
        <p:spPr>
          <a:xfrm>
            <a:off x="2833673" y="514584"/>
            <a:ext cx="9091334" cy="5639725"/>
          </a:xfrm>
          <a:prstGeom prst="rect">
            <a:avLst/>
          </a:prstGeom>
        </p:spPr>
      </p:pic>
      <p:sp>
        <p:nvSpPr>
          <p:cNvPr id="2" name="Title 1">
            <a:extLst>
              <a:ext uri="{FF2B5EF4-FFF2-40B4-BE49-F238E27FC236}">
                <a16:creationId xmlns:a16="http://schemas.microsoft.com/office/drawing/2014/main" id="{04620DA2-15D8-C5BF-5992-258FBCD7DBCD}"/>
              </a:ext>
            </a:extLst>
          </p:cNvPr>
          <p:cNvSpPr>
            <a:spLocks noGrp="1"/>
          </p:cNvSpPr>
          <p:nvPr>
            <p:ph type="title" idx="4294967295"/>
          </p:nvPr>
        </p:nvSpPr>
        <p:spPr>
          <a:xfrm>
            <a:off x="188259" y="168557"/>
            <a:ext cx="6911788" cy="692056"/>
          </a:xfrm>
        </p:spPr>
        <p:txBody>
          <a:bodyPr>
            <a:normAutofit fontScale="90000"/>
          </a:bodyPr>
          <a:lstStyle/>
          <a:p>
            <a:r>
              <a:rPr lang="en-US" dirty="0">
                <a:latin typeface="Arial" panose="020B0604020202020204" pitchFamily="34" charset="0"/>
                <a:cs typeface="Arial" panose="020B0604020202020204" pitchFamily="34" charset="0"/>
              </a:rPr>
              <a:t>Example</a:t>
            </a:r>
          </a:p>
        </p:txBody>
      </p:sp>
      <p:sp>
        <p:nvSpPr>
          <p:cNvPr id="5" name="TextBox 4">
            <a:extLst>
              <a:ext uri="{FF2B5EF4-FFF2-40B4-BE49-F238E27FC236}">
                <a16:creationId xmlns:a16="http://schemas.microsoft.com/office/drawing/2014/main" id="{52FA6478-2FB4-D683-664F-62F3378BD42C}"/>
              </a:ext>
            </a:extLst>
          </p:cNvPr>
          <p:cNvSpPr txBox="1"/>
          <p:nvPr/>
        </p:nvSpPr>
        <p:spPr>
          <a:xfrm>
            <a:off x="266993" y="954964"/>
            <a:ext cx="3121044" cy="3416320"/>
          </a:xfrm>
          <a:prstGeom prst="rect">
            <a:avLst/>
          </a:prstGeom>
          <a:noFill/>
        </p:spPr>
        <p:txBody>
          <a:bodyPr wrap="square">
            <a:spAutoFit/>
          </a:bodyPr>
          <a:lstStyle/>
          <a:p>
            <a:r>
              <a:rPr lang="en-US" b="0" i="0" dirty="0">
                <a:solidFill>
                  <a:srgbClr val="222222"/>
                </a:solidFill>
                <a:effectLst/>
                <a:latin typeface="Arial" panose="020B0604020202020204" pitchFamily="34" charset="0"/>
              </a:rPr>
              <a:t>Barboza-Salerno, G. E., Steinke, H., Meshelemiah, J. C., Stanek, C., </a:t>
            </a:r>
            <a:r>
              <a:rPr lang="en-US" b="0" i="0" dirty="0" err="1">
                <a:solidFill>
                  <a:srgbClr val="222222"/>
                </a:solidFill>
                <a:effectLst/>
                <a:latin typeface="Arial" panose="020B0604020202020204" pitchFamily="34" charset="0"/>
              </a:rPr>
              <a:t>Duhany</a:t>
            </a:r>
            <a:r>
              <a:rPr lang="en-US" b="0" i="0" dirty="0">
                <a:solidFill>
                  <a:srgbClr val="222222"/>
                </a:solidFill>
                <a:effectLst/>
                <a:latin typeface="Arial" panose="020B0604020202020204" pitchFamily="34" charset="0"/>
              </a:rPr>
              <a:t>, S., &amp; Cash, S. (2025). A multilevel analysis of individual and community factors associated with case dispositions following child maltreatment investigations. </a:t>
            </a:r>
            <a:r>
              <a:rPr lang="en-US" b="0" i="1" dirty="0">
                <a:solidFill>
                  <a:srgbClr val="222222"/>
                </a:solidFill>
                <a:effectLst/>
                <a:latin typeface="Arial" panose="020B0604020202020204" pitchFamily="34" charset="0"/>
              </a:rPr>
              <a:t>Child maltreatment</a:t>
            </a:r>
            <a:r>
              <a:rPr lang="en-US" b="0" i="0" dirty="0">
                <a:solidFill>
                  <a:srgbClr val="222222"/>
                </a:solidFill>
                <a:effectLst/>
                <a:latin typeface="Arial" panose="020B0604020202020204" pitchFamily="34" charset="0"/>
              </a:rPr>
              <a:t>, </a:t>
            </a:r>
            <a:r>
              <a:rPr lang="en-US" b="0" i="1" dirty="0">
                <a:solidFill>
                  <a:srgbClr val="222222"/>
                </a:solidFill>
                <a:effectLst/>
                <a:latin typeface="Arial" panose="020B0604020202020204" pitchFamily="34" charset="0"/>
              </a:rPr>
              <a:t>30</a:t>
            </a:r>
            <a:r>
              <a:rPr lang="en-US" b="0" i="0" dirty="0">
                <a:solidFill>
                  <a:srgbClr val="222222"/>
                </a:solidFill>
                <a:effectLst/>
                <a:latin typeface="Arial" panose="020B0604020202020204" pitchFamily="34" charset="0"/>
              </a:rPr>
              <a:t>(1), 108-122.</a:t>
            </a:r>
            <a:endParaRPr lang="en-US" dirty="0"/>
          </a:p>
        </p:txBody>
      </p:sp>
    </p:spTree>
    <p:extLst>
      <p:ext uri="{BB962C8B-B14F-4D97-AF65-F5344CB8AC3E}">
        <p14:creationId xmlns:p14="http://schemas.microsoft.com/office/powerpoint/2010/main" val="29449013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9F8FE-A594-334E-0E10-4B985484F80A}"/>
              </a:ext>
            </a:extLst>
          </p:cNvPr>
          <p:cNvSpPr>
            <a:spLocks noGrp="1"/>
          </p:cNvSpPr>
          <p:nvPr>
            <p:ph type="title" idx="4294967295"/>
          </p:nvPr>
        </p:nvSpPr>
        <p:spPr>
          <a:xfrm>
            <a:off x="1102658" y="2152650"/>
            <a:ext cx="9910483" cy="2552700"/>
          </a:xfrm>
        </p:spPr>
        <p:txBody>
          <a:bodyPr vert="horz" lIns="91440" tIns="45720" rIns="91440" bIns="45720" rtlCol="0" anchor="ctr">
            <a:normAutofit/>
          </a:bodyPr>
          <a:lstStyle/>
          <a:p>
            <a:pPr algn="ctr"/>
            <a:r>
              <a:rPr lang="en-US" sz="2800" dirty="0">
                <a:solidFill>
                  <a:schemeClr val="bg1"/>
                </a:solidFill>
                <a:latin typeface="Arial" panose="020B0604020202020204" pitchFamily="34" charset="0"/>
                <a:cs typeface="Arial" panose="020B0604020202020204" pitchFamily="34" charset="0"/>
              </a:rPr>
              <a:t>Note that all fit statistics are model-dependent; their results may change if we add more predictors. </a:t>
            </a:r>
            <a:br>
              <a:rPr lang="en-US" sz="2800" dirty="0">
                <a:solidFill>
                  <a:schemeClr val="bg1"/>
                </a:solidFill>
                <a:latin typeface="Arial" panose="020B0604020202020204" pitchFamily="34" charset="0"/>
                <a:cs typeface="Arial" panose="020B0604020202020204" pitchFamily="34" charset="0"/>
              </a:rPr>
            </a:br>
            <a:br>
              <a:rPr lang="en-US" sz="2800" dirty="0">
                <a:solidFill>
                  <a:schemeClr val="bg1"/>
                </a:solidFill>
                <a:latin typeface="Arial" panose="020B0604020202020204" pitchFamily="34" charset="0"/>
                <a:cs typeface="Arial" panose="020B0604020202020204" pitchFamily="34" charset="0"/>
              </a:rPr>
            </a:br>
            <a:r>
              <a:rPr lang="en-US" sz="2800" dirty="0">
                <a:solidFill>
                  <a:schemeClr val="bg1"/>
                </a:solidFill>
                <a:latin typeface="Arial" panose="020B0604020202020204" pitchFamily="34" charset="0"/>
                <a:cs typeface="Arial" panose="020B0604020202020204" pitchFamily="34" charset="0"/>
              </a:rPr>
              <a:t>Note to not forget about omitted variables (model specification) which is not unique to MLR</a:t>
            </a:r>
          </a:p>
        </p:txBody>
      </p:sp>
    </p:spTree>
    <p:extLst>
      <p:ext uri="{BB962C8B-B14F-4D97-AF65-F5344CB8AC3E}">
        <p14:creationId xmlns:p14="http://schemas.microsoft.com/office/powerpoint/2010/main" val="197796136"/>
      </p:ext>
    </p:extLst>
  </p:cSld>
  <p:clrMapOvr>
    <a:overrideClrMapping bg1="dk1" tx1="lt1" bg2="dk2" tx2="lt2" accent1="accent1" accent2="accent2" accent3="accent3" accent4="accent4" accent5="accent5" accent6="accent6" hlink="hlink" folHlink="folHlink"/>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D9E515-C5BB-6B3F-07C8-33AAE03C9924}"/>
              </a:ext>
            </a:extLst>
          </p:cNvPr>
          <p:cNvSpPr>
            <a:spLocks noGrp="1"/>
          </p:cNvSpPr>
          <p:nvPr>
            <p:ph idx="1"/>
          </p:nvPr>
        </p:nvSpPr>
        <p:spPr>
          <a:xfrm>
            <a:off x="335022" y="755904"/>
            <a:ext cx="10515600" cy="5581286"/>
          </a:xfrm>
        </p:spPr>
        <p:txBody>
          <a:bodyPr>
            <a:normAutofit/>
          </a:bodyPr>
          <a:lstStyle/>
          <a:p>
            <a:r>
              <a:rPr lang="en-US" sz="2000" b="1" dirty="0">
                <a:latin typeface="Arial" panose="020B0604020202020204" pitchFamily="34" charset="0"/>
                <a:cs typeface="Arial" panose="020B0604020202020204" pitchFamily="34" charset="0"/>
              </a:rPr>
              <a:t>Multicollinearity</a:t>
            </a:r>
            <a:r>
              <a:rPr lang="en-US" sz="2000" dirty="0">
                <a:latin typeface="Arial" panose="020B0604020202020204" pitchFamily="34" charset="0"/>
                <a:cs typeface="Arial" panose="020B0604020202020204" pitchFamily="34" charset="0"/>
              </a:rPr>
              <a:t> is when the predictors in the regression equation are correlated with each other</a:t>
            </a:r>
          </a:p>
          <a:p>
            <a:r>
              <a:rPr lang="en-US" sz="2000" dirty="0">
                <a:latin typeface="Arial" panose="020B0604020202020204" pitchFamily="34" charset="0"/>
                <a:cs typeface="Arial" panose="020B0604020202020204" pitchFamily="34" charset="0"/>
              </a:rPr>
              <a:t>One of the assumptions of the linear regression model is that there is </a:t>
            </a:r>
            <a:r>
              <a:rPr lang="en-US" sz="2000" b="1" dirty="0">
                <a:latin typeface="Arial" panose="020B0604020202020204" pitchFamily="34" charset="0"/>
                <a:cs typeface="Arial" panose="020B0604020202020204" pitchFamily="34" charset="0"/>
              </a:rPr>
              <a:t>no exact linear relationship</a:t>
            </a:r>
            <a:r>
              <a:rPr lang="en-US" sz="2000" dirty="0">
                <a:latin typeface="Arial" panose="020B0604020202020204" pitchFamily="34" charset="0"/>
                <a:cs typeface="Arial" panose="020B0604020202020204" pitchFamily="34" charset="0"/>
              </a:rPr>
              <a:t> among the regressors</a:t>
            </a:r>
          </a:p>
          <a:p>
            <a:pPr lvl="1"/>
            <a:r>
              <a:rPr lang="en-US" sz="1800" b="1" dirty="0">
                <a:latin typeface="Arial" panose="020B0604020202020204" pitchFamily="34" charset="0"/>
                <a:cs typeface="Arial" panose="020B0604020202020204" pitchFamily="34" charset="0"/>
              </a:rPr>
              <a:t>Perfect collinearity</a:t>
            </a:r>
            <a:r>
              <a:rPr lang="en-US" sz="1800" dirty="0">
                <a:latin typeface="Arial" panose="020B0604020202020204" pitchFamily="34" charset="0"/>
                <a:cs typeface="Arial" panose="020B0604020202020204" pitchFamily="34" charset="0"/>
              </a:rPr>
              <a:t>: A perfect linear relationship between the two variables exists.</a:t>
            </a:r>
          </a:p>
          <a:p>
            <a:pPr lvl="1"/>
            <a:r>
              <a:rPr lang="en-US" sz="1800" b="1" dirty="0">
                <a:latin typeface="Arial" panose="020B0604020202020204" pitchFamily="34" charset="0"/>
                <a:cs typeface="Arial" panose="020B0604020202020204" pitchFamily="34" charset="0"/>
              </a:rPr>
              <a:t>Imperfect collinearity</a:t>
            </a:r>
            <a:r>
              <a:rPr lang="en-US" sz="1800" dirty="0">
                <a:latin typeface="Arial" panose="020B0604020202020204" pitchFamily="34" charset="0"/>
                <a:cs typeface="Arial" panose="020B0604020202020204" pitchFamily="34" charset="0"/>
              </a:rPr>
              <a:t>: The regressors are highly (but not perfectly) collinear</a:t>
            </a:r>
          </a:p>
          <a:p>
            <a:r>
              <a:rPr lang="en-US" sz="2000" b="1" dirty="0">
                <a:latin typeface="Arial" panose="020B0604020202020204" pitchFamily="34" charset="0"/>
                <a:cs typeface="Arial" panose="020B0604020202020204" pitchFamily="34" charset="0"/>
              </a:rPr>
              <a:t>Why care?</a:t>
            </a:r>
          </a:p>
          <a:p>
            <a:pPr lvl="1"/>
            <a:r>
              <a:rPr lang="en-US" sz="2000" dirty="0">
                <a:latin typeface="Arial" panose="020B0604020202020204" pitchFamily="34" charset="0"/>
                <a:cs typeface="Arial" panose="020B0604020202020204" pitchFamily="34" charset="0"/>
              </a:rPr>
              <a:t>Multicollinearity can make it difficult to determine the unique effect of each predictor because correlated predictors share overlapping information about the outcome</a:t>
            </a:r>
          </a:p>
          <a:p>
            <a:pPr lvl="1"/>
            <a:r>
              <a:rPr lang="en-US" sz="2000" dirty="0">
                <a:latin typeface="Arial" panose="020B0604020202020204" pitchFamily="34" charset="0"/>
                <a:cs typeface="Arial" panose="020B0604020202020204" pitchFamily="34" charset="0"/>
              </a:rPr>
              <a:t>As a result, individual regression coefficients may appear statistically insignificant—even when together they explain a lot of variation in the outcome</a:t>
            </a:r>
          </a:p>
          <a:p>
            <a:pPr lvl="1"/>
            <a:r>
              <a:rPr lang="en-US" sz="2000" dirty="0">
                <a:latin typeface="Arial" panose="020B0604020202020204" pitchFamily="34" charset="0"/>
                <a:cs typeface="Arial" panose="020B0604020202020204" pitchFamily="34" charset="0"/>
              </a:rPr>
              <a:t>This can lead us to </a:t>
            </a:r>
            <a:r>
              <a:rPr lang="en-US" sz="2000" b="1" dirty="0">
                <a:latin typeface="Arial" panose="020B0604020202020204" pitchFamily="34" charset="0"/>
                <a:cs typeface="Arial" panose="020B0604020202020204" pitchFamily="34" charset="0"/>
              </a:rPr>
              <a:t>mistakenly conclude </a:t>
            </a:r>
            <a:r>
              <a:rPr lang="en-US" sz="2000" dirty="0">
                <a:latin typeface="Arial" panose="020B0604020202020204" pitchFamily="34" charset="0"/>
                <a:cs typeface="Arial" panose="020B0604020202020204" pitchFamily="34" charset="0"/>
              </a:rPr>
              <a:t>that important predictors have no real effect, when in reality their effects are obscured by overlap with other variables</a:t>
            </a:r>
          </a:p>
          <a:p>
            <a:pPr lvl="1"/>
            <a:r>
              <a:rPr lang="en-US" sz="2000" dirty="0">
                <a:latin typeface="Arial" panose="020B0604020202020204" pitchFamily="34" charset="0"/>
                <a:cs typeface="Arial" panose="020B0604020202020204" pitchFamily="34" charset="0"/>
              </a:rPr>
              <a:t>An easy way to allay people’s fears is by checking the VIF statistics (NOT CORRELATION AMONG VARIABLES)</a:t>
            </a:r>
          </a:p>
        </p:txBody>
      </p:sp>
      <p:sp>
        <p:nvSpPr>
          <p:cNvPr id="9" name="Title 1">
            <a:extLst>
              <a:ext uri="{FF2B5EF4-FFF2-40B4-BE49-F238E27FC236}">
                <a16:creationId xmlns:a16="http://schemas.microsoft.com/office/drawing/2014/main" id="{9951B31E-9418-84AE-F1DF-398939DC0D10}"/>
              </a:ext>
            </a:extLst>
          </p:cNvPr>
          <p:cNvSpPr>
            <a:spLocks noGrp="1"/>
          </p:cNvSpPr>
          <p:nvPr>
            <p:ph type="title"/>
          </p:nvPr>
        </p:nvSpPr>
        <p:spPr>
          <a:xfrm>
            <a:off x="217484" y="168439"/>
            <a:ext cx="10515600" cy="587465"/>
          </a:xfrm>
        </p:spPr>
        <p:txBody>
          <a:bodyPr>
            <a:normAutofit/>
          </a:bodyPr>
          <a:lstStyle/>
          <a:p>
            <a:r>
              <a:rPr lang="en-US" sz="3600" dirty="0">
                <a:latin typeface="Arial" panose="020B0604020202020204" pitchFamily="34" charset="0"/>
                <a:cs typeface="Arial" panose="020B0604020202020204" pitchFamily="34" charset="0"/>
              </a:rPr>
              <a:t>Multicollinearity</a:t>
            </a:r>
          </a:p>
        </p:txBody>
      </p:sp>
    </p:spTree>
    <p:extLst>
      <p:ext uri="{BB962C8B-B14F-4D97-AF65-F5344CB8AC3E}">
        <p14:creationId xmlns:p14="http://schemas.microsoft.com/office/powerpoint/2010/main" val="627593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 calcmode="lin" valueType="num">
                                      <p:cBhvr additive="base">
                                        <p:cTn id="1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 calcmode="lin" valueType="num">
                                      <p:cBhvr additive="base">
                                        <p:cTn id="2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B05C8-0C0A-C29B-2440-BF099ABFB402}"/>
              </a:ext>
            </a:extLst>
          </p:cNvPr>
          <p:cNvSpPr>
            <a:spLocks noGrp="1"/>
          </p:cNvSpPr>
          <p:nvPr>
            <p:ph type="title"/>
          </p:nvPr>
        </p:nvSpPr>
        <p:spPr>
          <a:xfrm>
            <a:off x="216408" y="109093"/>
            <a:ext cx="10515600" cy="1325563"/>
          </a:xfrm>
        </p:spPr>
        <p:txBody>
          <a:bodyPr>
            <a:normAutofit/>
          </a:bodyPr>
          <a:lstStyle/>
          <a:p>
            <a:r>
              <a:rPr lang="en-US" sz="3600" dirty="0">
                <a:latin typeface="Arial" panose="020B0604020202020204" pitchFamily="34" charset="0"/>
                <a:cs typeface="Arial" panose="020B0604020202020204" pitchFamily="34" charset="0"/>
              </a:rPr>
              <a:t>Relationship between Multicollinearity and Confounding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0405A17-A318-0516-4BE1-1B092D1284C0}"/>
                  </a:ext>
                </a:extLst>
              </p:cNvPr>
              <p:cNvSpPr>
                <a:spLocks noGrp="1"/>
              </p:cNvSpPr>
              <p:nvPr>
                <p:ph idx="1"/>
              </p:nvPr>
            </p:nvSpPr>
            <p:spPr>
              <a:xfrm>
                <a:off x="216407" y="1434656"/>
                <a:ext cx="11631035" cy="4351338"/>
              </a:xfrm>
            </p:spPr>
            <p:txBody>
              <a:bodyPr>
                <a:normAutofit/>
              </a:bodyPr>
              <a:lstStyle/>
              <a:p>
                <a:r>
                  <a:rPr lang="en-US" sz="2000" dirty="0">
                    <a:latin typeface="Arial" panose="020B0604020202020204" pitchFamily="34" charset="0"/>
                    <a:ea typeface="Calibri" panose="020F0502020204030204" pitchFamily="34" charset="0"/>
                    <a:cs typeface="Arial" panose="020B0604020202020204" pitchFamily="34" charset="0"/>
                  </a:rPr>
                  <a:t>Problematic multicollinearity occurs when predictors in a regression model are highly correlated with each other, making it difficult to distinguish their unique contributions to the outcome</a:t>
                </a:r>
              </a:p>
              <a:p>
                <a:r>
                  <a:rPr lang="en-US" sz="2000" dirty="0">
                    <a:latin typeface="Arial" panose="020B0604020202020204" pitchFamily="34" charset="0"/>
                    <a:ea typeface="Calibri" panose="020F0502020204030204" pitchFamily="34" charset="0"/>
                    <a:cs typeface="Arial" panose="020B0604020202020204" pitchFamily="34" charset="0"/>
                  </a:rPr>
                  <a:t>Multicollinearity makes it difficult to separate the effects of variables already included in the model, whereas confounding occurs when a variable that should be included is omitted and distorts the estimated relationship</a:t>
                </a:r>
              </a:p>
              <a:p>
                <a:r>
                  <a:rPr lang="en-US" sz="2000" b="1" dirty="0">
                    <a:latin typeface="Arial" panose="020B0604020202020204" pitchFamily="34" charset="0"/>
                    <a:ea typeface="Calibri" panose="020F0502020204030204" pitchFamily="34" charset="0"/>
                    <a:cs typeface="Arial" panose="020B0604020202020204" pitchFamily="34" charset="0"/>
                  </a:rPr>
                  <a:t>Example</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Suppose we predict income, </a:t>
                </a:r>
                <a14:m>
                  <m:oMath xmlns:m="http://schemas.openxmlformats.org/officeDocument/2006/math">
                    <m:r>
                      <a:rPr lang="en-US" sz="2000" i="1"/>
                      <m:t>𝑌</m:t>
                    </m:r>
                    <m:r>
                      <a:rPr lang="en-US" sz="2000" b="0" i="1" smtClean="0">
                        <a:latin typeface="Cambria Math" panose="02040503050406030204" pitchFamily="18" charset="0"/>
                      </a:rPr>
                      <m:t> </m:t>
                    </m:r>
                  </m:oMath>
                </a14:m>
                <a:r>
                  <a:rPr lang="en-US" sz="2000" dirty="0">
                    <a:latin typeface="Arial" panose="020B0604020202020204" pitchFamily="34" charset="0"/>
                    <a:cs typeface="Arial" panose="020B0604020202020204" pitchFamily="34" charset="0"/>
                  </a:rPr>
                  <a:t>using:</a:t>
                </a:r>
              </a:p>
              <a:p>
                <a:pPr lvl="1"/>
                <a:r>
                  <a:rPr lang="en-US" sz="1800" dirty="0">
                    <a:latin typeface="Arial" panose="020B0604020202020204" pitchFamily="34" charset="0"/>
                    <a:cs typeface="Arial" panose="020B0604020202020204" pitchFamily="34" charset="0"/>
                  </a:rPr>
                  <a:t>Education </a:t>
                </a:r>
                <a14:m>
                  <m:oMath xmlns:m="http://schemas.openxmlformats.org/officeDocument/2006/math">
                    <m:sSub>
                      <m:sSubPr>
                        <m:ctrlPr>
                          <a:rPr lang="ar-AE" sz="1800" smtClean="0"/>
                        </m:ctrlPr>
                      </m:sSubPr>
                      <m:e>
                        <m:r>
                          <a:rPr lang="ar-AE" sz="1800" i="1"/>
                          <m:t>𝑋</m:t>
                        </m:r>
                      </m:e>
                      <m:sub>
                        <m:r>
                          <a:rPr lang="ar-AE" sz="1800"/>
                          <m:t>1</m:t>
                        </m:r>
                      </m:sub>
                    </m:sSub>
                  </m:oMath>
                </a14:m>
                <a:r>
                  <a:rPr lang="en-US" sz="1800" dirty="0">
                    <a:latin typeface="Arial" panose="020B0604020202020204" pitchFamily="34" charset="0"/>
                    <a:cs typeface="Arial" panose="020B0604020202020204" pitchFamily="34" charset="0"/>
                  </a:rPr>
                  <a:t>; Occupational prestige </a:t>
                </a:r>
                <a14:m>
                  <m:oMath xmlns:m="http://schemas.openxmlformats.org/officeDocument/2006/math">
                    <m:sSub>
                      <m:sSubPr>
                        <m:ctrlPr>
                          <a:rPr lang="ar-AE" sz="1800"/>
                        </m:ctrlPr>
                      </m:sSubPr>
                      <m:e>
                        <m:r>
                          <a:rPr lang="ar-AE" sz="1800" i="1"/>
                          <m:t>𝑋</m:t>
                        </m:r>
                      </m:e>
                      <m:sub>
                        <m:r>
                          <a:rPr lang="ar-AE" sz="1800"/>
                          <m:t>2</m:t>
                        </m:r>
                      </m:sub>
                    </m:sSub>
                  </m:oMath>
                </a14:m>
                <a:endParaRPr lang="ar-AE" sz="1800" dirty="0">
                  <a:latin typeface="Arial" panose="020B0604020202020204" pitchFamily="34" charset="0"/>
                  <a:cs typeface="Arial" panose="020B0604020202020204" pitchFamily="34" charset="0"/>
                </a:endParaRPr>
              </a:p>
              <a:p>
                <a:pPr lvl="1"/>
                <a:r>
                  <a:rPr lang="en-US" sz="1800" dirty="0">
                    <a:latin typeface="Arial" panose="020B0604020202020204" pitchFamily="34" charset="0"/>
                    <a:cs typeface="Arial" panose="020B0604020202020204" pitchFamily="34" charset="0"/>
                  </a:rPr>
                  <a:t>Education and occupational prestige are highly correlated. Both relate to income, but when both enter the model:</a:t>
                </a:r>
              </a:p>
              <a:p>
                <a:pPr lvl="2"/>
                <a:r>
                  <a:rPr lang="en-US" sz="1600" dirty="0">
                    <a:latin typeface="Arial" panose="020B0604020202020204" pitchFamily="34" charset="0"/>
                    <a:cs typeface="Arial" panose="020B0604020202020204" pitchFamily="34" charset="0"/>
                  </a:rPr>
                  <a:t>Education partly explains income</a:t>
                </a:r>
              </a:p>
              <a:p>
                <a:pPr lvl="2"/>
                <a:r>
                  <a:rPr lang="en-US" sz="1600" dirty="0">
                    <a:latin typeface="Arial" panose="020B0604020202020204" pitchFamily="34" charset="0"/>
                    <a:cs typeface="Arial" panose="020B0604020202020204" pitchFamily="34" charset="0"/>
                  </a:rPr>
                  <a:t>Prestige explains many of the </a:t>
                </a:r>
                <a:r>
                  <a:rPr lang="en-US" sz="1600" i="1" dirty="0">
                    <a:latin typeface="Arial" panose="020B0604020202020204" pitchFamily="34" charset="0"/>
                    <a:cs typeface="Arial" panose="020B0604020202020204" pitchFamily="34" charset="0"/>
                  </a:rPr>
                  <a:t>same</a:t>
                </a:r>
                <a:r>
                  <a:rPr lang="en-US" sz="1600" dirty="0">
                    <a:latin typeface="Arial" panose="020B0604020202020204" pitchFamily="34" charset="0"/>
                    <a:cs typeface="Arial" panose="020B0604020202020204" pitchFamily="34" charset="0"/>
                  </a:rPr>
                  <a:t> income differences</a:t>
                </a:r>
              </a:p>
              <a:p>
                <a:pPr lvl="2"/>
                <a:r>
                  <a:rPr lang="en-US" sz="1600" dirty="0">
                    <a:latin typeface="Arial" panose="020B0604020202020204" pitchFamily="34" charset="0"/>
                    <a:cs typeface="Arial" panose="020B0604020202020204" pitchFamily="34" charset="0"/>
                  </a:rPr>
                  <a:t>The model struggles to assign credit to one vs. the other</a:t>
                </a:r>
              </a:p>
              <a:p>
                <a:r>
                  <a:rPr lang="en-US" sz="2000" dirty="0">
                    <a:latin typeface="Arial" panose="020B0604020202020204" pitchFamily="34" charset="0"/>
                    <a:cs typeface="Arial" panose="020B0604020202020204" pitchFamily="34" charset="0"/>
                  </a:rPr>
                  <a:t>Query: Can the F be significant even though neither coefficient is significant?</a:t>
                </a:r>
              </a:p>
              <a:p>
                <a:endParaRPr lang="en-US" sz="2000" dirty="0">
                  <a:latin typeface="Arial" panose="020B0604020202020204" pitchFamily="34" charset="0"/>
                  <a:ea typeface="Calibri" panose="020F0502020204030204" pitchFamily="34" charset="0"/>
                  <a:cs typeface="Arial" panose="020B0604020202020204" pitchFamily="34" charset="0"/>
                </a:endParaRPr>
              </a:p>
              <a:p>
                <a:endParaRPr lang="en-US" dirty="0"/>
              </a:p>
            </p:txBody>
          </p:sp>
        </mc:Choice>
        <mc:Fallback>
          <p:sp>
            <p:nvSpPr>
              <p:cNvPr id="3" name="Content Placeholder 2">
                <a:extLst>
                  <a:ext uri="{FF2B5EF4-FFF2-40B4-BE49-F238E27FC236}">
                    <a16:creationId xmlns:a16="http://schemas.microsoft.com/office/drawing/2014/main" id="{E0405A17-A318-0516-4BE1-1B092D1284C0}"/>
                  </a:ext>
                </a:extLst>
              </p:cNvPr>
              <p:cNvSpPr>
                <a:spLocks noGrp="1" noRot="1" noChangeAspect="1" noMove="1" noResize="1" noEditPoints="1" noAdjustHandles="1" noChangeArrowheads="1" noChangeShapeType="1" noTextEdit="1"/>
              </p:cNvSpPr>
              <p:nvPr>
                <p:ph idx="1"/>
              </p:nvPr>
            </p:nvSpPr>
            <p:spPr>
              <a:xfrm>
                <a:off x="216407" y="1434656"/>
                <a:ext cx="11631035" cy="4351338"/>
              </a:xfrm>
              <a:blipFill>
                <a:blip r:embed="rId2"/>
                <a:stretch>
                  <a:fillRect l="-419" t="-1261" r="-1205"/>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36BA14A-0A68-27F9-E440-B51EB078477E}"/>
              </a:ext>
            </a:extLst>
          </p:cNvPr>
          <p:cNvSpPr txBox="1"/>
          <p:nvPr/>
        </p:nvSpPr>
        <p:spPr>
          <a:xfrm>
            <a:off x="153195" y="6379575"/>
            <a:ext cx="3523337" cy="369332"/>
          </a:xfrm>
          <a:prstGeom prst="rect">
            <a:avLst/>
          </a:prstGeom>
          <a:noFill/>
        </p:spPr>
        <p:txBody>
          <a:bodyPr wrap="none" rtlCol="0">
            <a:spAutoFit/>
          </a:bodyPr>
          <a:lstStyle/>
          <a:p>
            <a:r>
              <a:rPr lang="en-US" u="sng" dirty="0">
                <a:hlinkClick r:id="rId3"/>
              </a:rPr>
              <a:t>Annotated JASP file</a:t>
            </a:r>
            <a:r>
              <a:rPr lang="en-US" dirty="0"/>
              <a:t> for PRAMS data</a:t>
            </a:r>
          </a:p>
        </p:txBody>
      </p:sp>
    </p:spTree>
    <p:extLst>
      <p:ext uri="{BB962C8B-B14F-4D97-AF65-F5344CB8AC3E}">
        <p14:creationId xmlns:p14="http://schemas.microsoft.com/office/powerpoint/2010/main" val="2602041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p:cTn id="41" dur="1000" fill="hold"/>
                                        <p:tgtEl>
                                          <p:spTgt spid="3">
                                            <p:txEl>
                                              <p:pRg st="8" end="8"/>
                                            </p:txEl>
                                          </p:spTgt>
                                        </p:tgtEl>
                                        <p:attrNameLst>
                                          <p:attrName>ppt_w</p:attrName>
                                        </p:attrNameLst>
                                      </p:cBhvr>
                                      <p:tavLst>
                                        <p:tav tm="0">
                                          <p:val>
                                            <p:fltVal val="0"/>
                                          </p:val>
                                        </p:tav>
                                        <p:tav tm="100000">
                                          <p:val>
                                            <p:strVal val="#ppt_w"/>
                                          </p:val>
                                        </p:tav>
                                      </p:tavLst>
                                    </p:anim>
                                    <p:anim calcmode="lin" valueType="num">
                                      <p:cBhvr>
                                        <p:cTn id="42" dur="1000" fill="hold"/>
                                        <p:tgtEl>
                                          <p:spTgt spid="3">
                                            <p:txEl>
                                              <p:pRg st="8" end="8"/>
                                            </p:txEl>
                                          </p:spTgt>
                                        </p:tgtEl>
                                        <p:attrNameLst>
                                          <p:attrName>ppt_h</p:attrName>
                                        </p:attrNameLst>
                                      </p:cBhvr>
                                      <p:tavLst>
                                        <p:tav tm="0">
                                          <p:val>
                                            <p:fltVal val="0"/>
                                          </p:val>
                                        </p:tav>
                                        <p:tav tm="100000">
                                          <p:val>
                                            <p:strVal val="#ppt_h"/>
                                          </p:val>
                                        </p:tav>
                                      </p:tavLst>
                                    </p:anim>
                                    <p:anim calcmode="lin" valueType="num">
                                      <p:cBhvr>
                                        <p:cTn id="43" dur="1000" fill="hold"/>
                                        <p:tgtEl>
                                          <p:spTgt spid="3">
                                            <p:txEl>
                                              <p:pRg st="8" end="8"/>
                                            </p:txEl>
                                          </p:spTgt>
                                        </p:tgtEl>
                                        <p:attrNameLst>
                                          <p:attrName>style.rotation</p:attrName>
                                        </p:attrNameLst>
                                      </p:cBhvr>
                                      <p:tavLst>
                                        <p:tav tm="0">
                                          <p:val>
                                            <p:fltVal val="90"/>
                                          </p:val>
                                        </p:tav>
                                        <p:tav tm="100000">
                                          <p:val>
                                            <p:fltVal val="0"/>
                                          </p:val>
                                        </p:tav>
                                      </p:tavLst>
                                    </p:anim>
                                    <p:animEffect transition="in" filter="fade">
                                      <p:cBhvr>
                                        <p:cTn id="44" dur="1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38B85-2D8B-BF26-9F84-F8AB81FBD4CB}"/>
              </a:ext>
            </a:extLst>
          </p:cNvPr>
          <p:cNvSpPr>
            <a:spLocks noGrp="1"/>
          </p:cNvSpPr>
          <p:nvPr>
            <p:ph type="title"/>
          </p:nvPr>
        </p:nvSpPr>
        <p:spPr>
          <a:xfrm>
            <a:off x="180908" y="144055"/>
            <a:ext cx="10515600" cy="611849"/>
          </a:xfrm>
        </p:spPr>
        <p:txBody>
          <a:bodyPr>
            <a:normAutofit/>
          </a:bodyPr>
          <a:lstStyle/>
          <a:p>
            <a:r>
              <a:rPr lang="en-US" sz="3600" dirty="0">
                <a:latin typeface="Arial" panose="020B0604020202020204" pitchFamily="34" charset="0"/>
                <a:cs typeface="Arial" panose="020B0604020202020204" pitchFamily="34" charset="0"/>
              </a:rPr>
              <a:t>Multicollinearity</a:t>
            </a:r>
          </a:p>
        </p:txBody>
      </p:sp>
      <p:sp>
        <p:nvSpPr>
          <p:cNvPr id="3" name="Content Placeholder 2">
            <a:extLst>
              <a:ext uri="{FF2B5EF4-FFF2-40B4-BE49-F238E27FC236}">
                <a16:creationId xmlns:a16="http://schemas.microsoft.com/office/drawing/2014/main" id="{6884F50D-1988-7DB2-9063-688869A0536C}"/>
              </a:ext>
            </a:extLst>
          </p:cNvPr>
          <p:cNvSpPr>
            <a:spLocks noGrp="1"/>
          </p:cNvSpPr>
          <p:nvPr>
            <p:ph idx="4294967295"/>
          </p:nvPr>
        </p:nvSpPr>
        <p:spPr>
          <a:xfrm>
            <a:off x="327212" y="755904"/>
            <a:ext cx="11291047" cy="5311589"/>
          </a:xfrm>
        </p:spPr>
        <p:txBody>
          <a:bodyPr>
            <a:noAutofit/>
          </a:bodyPr>
          <a:lstStyle/>
          <a:p>
            <a:pPr>
              <a:lnSpc>
                <a:spcPct val="110000"/>
              </a:lnSpc>
            </a:pPr>
            <a:r>
              <a:rPr lang="en-US" sz="2000" dirty="0">
                <a:latin typeface="Arial" panose="020B0604020202020204" pitchFamily="34" charset="0"/>
                <a:cs typeface="Arial" panose="020B0604020202020204" pitchFamily="34" charset="0"/>
              </a:rPr>
              <a:t>As the number of predictors increases, multiple regression modeling can become very complicated</a:t>
            </a:r>
          </a:p>
          <a:p>
            <a:pPr>
              <a:lnSpc>
                <a:spcPct val="110000"/>
              </a:lnSpc>
            </a:pPr>
            <a:r>
              <a:rPr lang="en-US" sz="2000" u="sng" dirty="0">
                <a:latin typeface="Arial" panose="020B0604020202020204" pitchFamily="34" charset="0"/>
                <a:cs typeface="Arial" panose="020B0604020202020204" pitchFamily="34" charset="0"/>
              </a:rPr>
              <a:t>Example</a:t>
            </a:r>
            <a:r>
              <a:rPr lang="en-US" sz="2000" dirty="0">
                <a:latin typeface="Arial" panose="020B0604020202020204" pitchFamily="34" charset="0"/>
                <a:cs typeface="Arial" panose="020B0604020202020204" pitchFamily="34" charset="0"/>
              </a:rPr>
              <a:t>: Suppose you use both educational attainment and job type as independent variables to predict income</a:t>
            </a:r>
          </a:p>
          <a:p>
            <a:pPr lvl="1">
              <a:lnSpc>
                <a:spcPct val="110000"/>
              </a:lnSpc>
            </a:pPr>
            <a:r>
              <a:rPr lang="en-US" sz="1800" dirty="0">
                <a:latin typeface="Arial" panose="020B0604020202020204" pitchFamily="34" charset="0"/>
                <a:cs typeface="Arial" panose="020B0604020202020204" pitchFamily="34" charset="0"/>
              </a:rPr>
              <a:t>Educational attainment and job type are </a:t>
            </a:r>
            <a:r>
              <a:rPr lang="en-US" sz="1800" u="sng" dirty="0">
                <a:latin typeface="Arial" panose="020B0604020202020204" pitchFamily="34" charset="0"/>
                <a:cs typeface="Arial" panose="020B0604020202020204" pitchFamily="34" charset="0"/>
              </a:rPr>
              <a:t>highly correlated</a:t>
            </a:r>
            <a:r>
              <a:rPr lang="en-US" sz="1800" dirty="0">
                <a:latin typeface="Arial" panose="020B0604020202020204" pitchFamily="34" charset="0"/>
                <a:cs typeface="Arial" panose="020B0604020202020204" pitchFamily="34" charset="0"/>
              </a:rPr>
              <a:t>! Thus having both educational attainment and job type in your multiple regression equation may only slightly improve the R</a:t>
            </a:r>
            <a:r>
              <a:rPr lang="en-US" sz="1800" baseline="30000" dirty="0">
                <a:latin typeface="Arial" panose="020B0604020202020204" pitchFamily="34" charset="0"/>
                <a:cs typeface="Arial" panose="020B0604020202020204" pitchFamily="34" charset="0"/>
              </a:rPr>
              <a:t>2</a:t>
            </a:r>
            <a:r>
              <a:rPr lang="en-US" sz="1800" dirty="0">
                <a:latin typeface="Arial" panose="020B0604020202020204" pitchFamily="34" charset="0"/>
                <a:cs typeface="Arial" panose="020B0604020202020204" pitchFamily="34" charset="0"/>
              </a:rPr>
              <a:t> over an equation with just educational attainment (think </a:t>
            </a:r>
            <a:r>
              <a:rPr lang="en-US" sz="1800" dirty="0" err="1">
                <a:latin typeface="Arial" panose="020B0604020202020204" pitchFamily="34" charset="0"/>
                <a:cs typeface="Arial" panose="020B0604020202020204" pitchFamily="34" charset="0"/>
              </a:rPr>
              <a:t>semipartial</a:t>
            </a:r>
            <a:r>
              <a:rPr lang="en-US" sz="1800" dirty="0">
                <a:latin typeface="Arial" panose="020B0604020202020204" pitchFamily="34" charset="0"/>
                <a:cs typeface="Arial" panose="020B0604020202020204" pitchFamily="34" charset="0"/>
              </a:rPr>
              <a:t> correlation </a:t>
            </a:r>
            <a:r>
              <a:rPr lang="en-US" sz="1800" dirty="0">
                <a:latin typeface="Arial" panose="020B0604020202020204" pitchFamily="34" charset="0"/>
                <a:cs typeface="Arial" panose="020B0604020202020204" pitchFamily="34" charset="0"/>
                <a:sym typeface="Wingdings" panose="05000000000000000000" pitchFamily="2" charset="2"/>
              </a:rPr>
              <a:t>)</a:t>
            </a:r>
            <a:endParaRPr lang="en-US" sz="1800" dirty="0">
              <a:latin typeface="Arial" panose="020B0604020202020204" pitchFamily="34" charset="0"/>
              <a:cs typeface="Arial" panose="020B0604020202020204" pitchFamily="34" charset="0"/>
            </a:endParaRPr>
          </a:p>
          <a:p>
            <a:pPr lvl="1">
              <a:lnSpc>
                <a:spcPct val="110000"/>
              </a:lnSpc>
            </a:pPr>
            <a:r>
              <a:rPr lang="en-US" sz="1800" dirty="0">
                <a:latin typeface="Arial" panose="020B0604020202020204" pitchFamily="34" charset="0"/>
                <a:cs typeface="Arial" panose="020B0604020202020204" pitchFamily="34" charset="0"/>
              </a:rPr>
              <a:t>Might conclude that job type is highly influential on income, while educational attainment is unimportant (or vice versa) which is not true!</a:t>
            </a:r>
          </a:p>
          <a:p>
            <a:pPr>
              <a:lnSpc>
                <a:spcPct val="110000"/>
              </a:lnSpc>
            </a:pPr>
            <a:r>
              <a:rPr lang="en-US" sz="2000" b="1" dirty="0">
                <a:latin typeface="Arial" panose="020B0604020202020204" pitchFamily="34" charset="0"/>
                <a:cs typeface="Arial" panose="020B0604020202020204" pitchFamily="34" charset="0"/>
              </a:rPr>
              <a:t>Note</a:t>
            </a:r>
            <a:r>
              <a:rPr lang="en-US" sz="2000" dirty="0">
                <a:latin typeface="Arial" panose="020B0604020202020204" pitchFamily="34" charset="0"/>
                <a:cs typeface="Arial" panose="020B0604020202020204" pitchFamily="34" charset="0"/>
              </a:rPr>
              <a:t> that while the may be substantial overlap between variables theoretically, they could be measuring very different concepts</a:t>
            </a:r>
          </a:p>
          <a:p>
            <a:pPr lvl="1">
              <a:lnSpc>
                <a:spcPct val="110000"/>
              </a:lnSpc>
            </a:pPr>
            <a:r>
              <a:rPr lang="en-US" sz="1800" dirty="0">
                <a:latin typeface="Arial" panose="020B0604020202020204" pitchFamily="34" charset="0"/>
                <a:cs typeface="Arial" panose="020B0604020202020204" pitchFamily="34" charset="0"/>
              </a:rPr>
              <a:t>This happened in our paper for SSRW when we included an index of redlining, concentrated disadvantage, and concentrated affluence in the model</a:t>
            </a:r>
          </a:p>
          <a:p>
            <a:pPr lvl="1">
              <a:lnSpc>
                <a:spcPct val="110000"/>
              </a:lnSpc>
            </a:pPr>
            <a:r>
              <a:rPr lang="en-US" sz="1800" dirty="0">
                <a:latin typeface="Arial" panose="020B0604020202020204" pitchFamily="34" charset="0"/>
                <a:cs typeface="Arial" panose="020B0604020202020204" pitchFamily="34" charset="0"/>
              </a:rPr>
              <a:t>The opposite of concentrated disadvantage is not concentrated advantage</a:t>
            </a:r>
          </a:p>
          <a:p>
            <a:pPr lvl="1">
              <a:lnSpc>
                <a:spcPct val="110000"/>
              </a:lnSpc>
            </a:pPr>
            <a:r>
              <a:rPr lang="en-US" sz="1800" dirty="0">
                <a:latin typeface="Arial" panose="020B0604020202020204" pitchFamily="34" charset="0"/>
                <a:cs typeface="Arial" panose="020B0604020202020204" pitchFamily="34" charset="0"/>
              </a:rPr>
              <a:t>Use theory to guide the model building!!!!!</a:t>
            </a:r>
          </a:p>
          <a:p>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8151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BE036E-E3CF-D9FD-BA9A-308E3BAED4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BAF9E7-5A01-F2CC-0F2B-D49E663A82AB}"/>
              </a:ext>
            </a:extLst>
          </p:cNvPr>
          <p:cNvSpPr>
            <a:spLocks noGrp="1"/>
          </p:cNvSpPr>
          <p:nvPr>
            <p:ph type="title"/>
          </p:nvPr>
        </p:nvSpPr>
        <p:spPr>
          <a:xfrm>
            <a:off x="180908" y="144055"/>
            <a:ext cx="10515600" cy="611849"/>
          </a:xfrm>
        </p:spPr>
        <p:txBody>
          <a:bodyPr>
            <a:normAutofit/>
          </a:bodyPr>
          <a:lstStyle/>
          <a:p>
            <a:r>
              <a:rPr lang="en-US" sz="3600" dirty="0">
                <a:latin typeface="Arial" panose="020B0604020202020204" pitchFamily="34" charset="0"/>
                <a:cs typeface="Arial" panose="020B0604020202020204" pitchFamily="34" charset="0"/>
              </a:rPr>
              <a:t>Multicollinearity</a:t>
            </a:r>
          </a:p>
        </p:txBody>
      </p:sp>
      <p:sp>
        <p:nvSpPr>
          <p:cNvPr id="3" name="Content Placeholder 2">
            <a:extLst>
              <a:ext uri="{FF2B5EF4-FFF2-40B4-BE49-F238E27FC236}">
                <a16:creationId xmlns:a16="http://schemas.microsoft.com/office/drawing/2014/main" id="{8D645A4A-7FFF-0D49-830D-0C11A8BD016F}"/>
              </a:ext>
            </a:extLst>
          </p:cNvPr>
          <p:cNvSpPr>
            <a:spLocks noGrp="1"/>
          </p:cNvSpPr>
          <p:nvPr>
            <p:ph idx="4294967295"/>
          </p:nvPr>
        </p:nvSpPr>
        <p:spPr>
          <a:xfrm>
            <a:off x="327212" y="755904"/>
            <a:ext cx="11291047" cy="5311589"/>
          </a:xfrm>
        </p:spPr>
        <p:txBody>
          <a:bodyPr>
            <a:noAutofit/>
          </a:bodyPr>
          <a:lstStyle/>
          <a:p>
            <a:pPr>
              <a:lnSpc>
                <a:spcPct val="110000"/>
              </a:lnSpc>
            </a:pPr>
            <a:r>
              <a:rPr lang="en-US" sz="2000" dirty="0">
                <a:latin typeface="Arial" panose="020B0604020202020204" pitchFamily="34" charset="0"/>
                <a:cs typeface="Arial" panose="020B0604020202020204" pitchFamily="34" charset="0"/>
              </a:rPr>
              <a:t>Partial correlation removes education from both job type and income, then correlates the leftovers.</a:t>
            </a:r>
          </a:p>
          <a:p>
            <a:pPr>
              <a:lnSpc>
                <a:spcPct val="110000"/>
              </a:lnSpc>
            </a:pPr>
            <a:r>
              <a:rPr lang="en-US" sz="2000" dirty="0" err="1">
                <a:latin typeface="Arial" panose="020B0604020202020204" pitchFamily="34" charset="0"/>
                <a:cs typeface="Arial" panose="020B0604020202020204" pitchFamily="34" charset="0"/>
              </a:rPr>
              <a:t>Semipartial</a:t>
            </a:r>
            <a:r>
              <a:rPr lang="en-US" sz="2000" dirty="0">
                <a:latin typeface="Arial" panose="020B0604020202020204" pitchFamily="34" charset="0"/>
                <a:cs typeface="Arial" panose="020B0604020202020204" pitchFamily="34" charset="0"/>
              </a:rPr>
              <a:t> correlation removes education only from job type, then relates what remains of job type to income.</a:t>
            </a:r>
          </a:p>
          <a:p>
            <a:pPr>
              <a:lnSpc>
                <a:spcPct val="110000"/>
              </a:lnSpc>
            </a:pPr>
            <a:r>
              <a:rPr lang="en-US" sz="2000" dirty="0">
                <a:latin typeface="Arial" panose="020B0604020202020204" pitchFamily="34" charset="0"/>
                <a:cs typeface="Arial" panose="020B0604020202020204" pitchFamily="34" charset="0"/>
              </a:rPr>
              <a:t>In regression terms:</a:t>
            </a:r>
          </a:p>
          <a:p>
            <a:pPr lvl="1">
              <a:lnSpc>
                <a:spcPct val="110000"/>
              </a:lnSpc>
            </a:pPr>
            <a:r>
              <a:rPr lang="en-US" sz="2000" dirty="0">
                <a:latin typeface="Arial" panose="020B0604020202020204" pitchFamily="34" charset="0"/>
                <a:cs typeface="Arial" panose="020B0604020202020204" pitchFamily="34" charset="0"/>
              </a:rPr>
              <a:t>Partial correlation = relationship after controlling for education on both sides.</a:t>
            </a:r>
          </a:p>
          <a:p>
            <a:pPr lvl="1">
              <a:lnSpc>
                <a:spcPct val="110000"/>
              </a:lnSpc>
            </a:pPr>
            <a:r>
              <a:rPr lang="en-US" sz="2000" dirty="0" err="1">
                <a:latin typeface="Arial" panose="020B0604020202020204" pitchFamily="34" charset="0"/>
                <a:cs typeface="Arial" panose="020B0604020202020204" pitchFamily="34" charset="0"/>
              </a:rPr>
              <a:t>Semipartial</a:t>
            </a:r>
            <a:r>
              <a:rPr lang="en-US" sz="2000" dirty="0">
                <a:latin typeface="Arial" panose="020B0604020202020204" pitchFamily="34" charset="0"/>
                <a:cs typeface="Arial" panose="020B0604020202020204" pitchFamily="34" charset="0"/>
              </a:rPr>
              <a:t> correlation = unique increase in R2 when adding job type to a model already containing education.</a:t>
            </a:r>
          </a:p>
        </p:txBody>
      </p:sp>
    </p:spTree>
    <p:extLst>
      <p:ext uri="{BB962C8B-B14F-4D97-AF65-F5344CB8AC3E}">
        <p14:creationId xmlns:p14="http://schemas.microsoft.com/office/powerpoint/2010/main" val="30819511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1E5C5-96C1-574B-EED9-D94FF0A01ADB}"/>
              </a:ext>
            </a:extLst>
          </p:cNvPr>
          <p:cNvSpPr>
            <a:spLocks noGrp="1"/>
          </p:cNvSpPr>
          <p:nvPr>
            <p:ph type="title"/>
          </p:nvPr>
        </p:nvSpPr>
        <p:spPr>
          <a:xfrm>
            <a:off x="192024" y="133477"/>
            <a:ext cx="10515600" cy="744347"/>
          </a:xfrm>
        </p:spPr>
        <p:txBody>
          <a:bodyPr>
            <a:normAutofit/>
          </a:bodyPr>
          <a:lstStyle/>
          <a:p>
            <a:r>
              <a:rPr lang="en-US" sz="3600" dirty="0">
                <a:latin typeface="Arial" panose="020B0604020202020204" pitchFamily="34" charset="0"/>
                <a:cs typeface="Arial" panose="020B0604020202020204" pitchFamily="34" charset="0"/>
              </a:rPr>
              <a:t>Multicollinearity and Partial Correlation</a:t>
            </a:r>
          </a:p>
        </p:txBody>
      </p:sp>
      <p:sp>
        <p:nvSpPr>
          <p:cNvPr id="3" name="Content Placeholder 2">
            <a:extLst>
              <a:ext uri="{FF2B5EF4-FFF2-40B4-BE49-F238E27FC236}">
                <a16:creationId xmlns:a16="http://schemas.microsoft.com/office/drawing/2014/main" id="{B4A59F06-4DE3-E428-6C95-BA62B3DC86F6}"/>
              </a:ext>
            </a:extLst>
          </p:cNvPr>
          <p:cNvSpPr>
            <a:spLocks noGrp="1"/>
          </p:cNvSpPr>
          <p:nvPr>
            <p:ph idx="1"/>
          </p:nvPr>
        </p:nvSpPr>
        <p:spPr>
          <a:xfrm>
            <a:off x="399287" y="877824"/>
            <a:ext cx="10737715" cy="4351338"/>
          </a:xfrm>
        </p:spPr>
        <p:txBody>
          <a:bodyPr>
            <a:normAutofit/>
          </a:bodyPr>
          <a:lstStyle/>
          <a:p>
            <a:r>
              <a:rPr lang="en-US" sz="2000" dirty="0">
                <a:latin typeface="Arial" panose="020B0604020202020204" pitchFamily="34" charset="0"/>
                <a:ea typeface="Calibri" panose="020F0502020204030204" pitchFamily="34" charset="0"/>
                <a:cs typeface="Arial" panose="020B0604020202020204" pitchFamily="34" charset="0"/>
              </a:rPr>
              <a:t>Multicollinearity in our previous example:</a:t>
            </a:r>
          </a:p>
          <a:p>
            <a:pPr lvl="1"/>
            <a:r>
              <a:rPr lang="en-US" sz="1800" dirty="0">
                <a:latin typeface="Arial" panose="020B0604020202020204" pitchFamily="34" charset="0"/>
                <a:ea typeface="Calibri" panose="020F0502020204030204" pitchFamily="34" charset="0"/>
                <a:cs typeface="Arial" panose="020B0604020202020204" pitchFamily="34" charset="0"/>
              </a:rPr>
              <a:t>High correlation between </a:t>
            </a:r>
            <a:r>
              <a:rPr lang="en-US" sz="1800" b="1" dirty="0">
                <a:latin typeface="Arial" panose="020B0604020202020204" pitchFamily="34" charset="0"/>
                <a:ea typeface="Calibri" panose="020F0502020204030204" pitchFamily="34" charset="0"/>
                <a:cs typeface="Arial" panose="020B0604020202020204" pitchFamily="34" charset="0"/>
              </a:rPr>
              <a:t>ADI, racial segregation, and lending trajectory</a:t>
            </a:r>
            <a:r>
              <a:rPr lang="en-US" sz="1800" dirty="0">
                <a:latin typeface="Arial" panose="020B0604020202020204" pitchFamily="34" charset="0"/>
                <a:ea typeface="Calibri" panose="020F0502020204030204" pitchFamily="34" charset="0"/>
                <a:cs typeface="Arial" panose="020B0604020202020204" pitchFamily="34" charset="0"/>
              </a:rPr>
              <a:t> can inflate standard errors, making it harder to detect true effects.</a:t>
            </a:r>
          </a:p>
          <a:p>
            <a:pPr lvl="1"/>
            <a:r>
              <a:rPr lang="en-US" sz="1800" dirty="0">
                <a:latin typeface="Arial" panose="020B0604020202020204" pitchFamily="34" charset="0"/>
                <a:ea typeface="Calibri" panose="020F0502020204030204" pitchFamily="34" charset="0"/>
                <a:cs typeface="Arial" panose="020B0604020202020204" pitchFamily="34" charset="0"/>
              </a:rPr>
              <a:t>Can result in unstable coefficient estimates in regression models.</a:t>
            </a:r>
          </a:p>
          <a:p>
            <a:pPr lvl="1"/>
            <a:r>
              <a:rPr lang="en-US" sz="1800" dirty="0">
                <a:latin typeface="Arial" panose="020B0604020202020204" pitchFamily="34" charset="0"/>
                <a:ea typeface="Calibri" panose="020F0502020204030204" pitchFamily="34" charset="0"/>
                <a:cs typeface="Arial" panose="020B0604020202020204" pitchFamily="34" charset="0"/>
              </a:rPr>
              <a:t>Variance Inflation Factor (VIF) (below) can assess the severity of multicollinearity.</a:t>
            </a:r>
          </a:p>
          <a:p>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294666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DFBA6-B826-3053-420B-E2B9A27DC3C9}"/>
              </a:ext>
            </a:extLst>
          </p:cNvPr>
          <p:cNvSpPr>
            <a:spLocks noGrp="1"/>
          </p:cNvSpPr>
          <p:nvPr>
            <p:ph type="title"/>
          </p:nvPr>
        </p:nvSpPr>
        <p:spPr>
          <a:xfrm>
            <a:off x="249804" y="206099"/>
            <a:ext cx="10515600" cy="684447"/>
          </a:xfrm>
        </p:spPr>
        <p:txBody>
          <a:bodyPr>
            <a:normAutofit/>
          </a:bodyPr>
          <a:lstStyle/>
          <a:p>
            <a:r>
              <a:rPr lang="en-US" sz="3600" dirty="0">
                <a:latin typeface="Arial" panose="020B0604020202020204" pitchFamily="34" charset="0"/>
                <a:cs typeface="Arial" panose="020B0604020202020204" pitchFamily="34" charset="0"/>
              </a:rPr>
              <a:t>Multicollinearity and Partial Correlation</a:t>
            </a:r>
          </a:p>
        </p:txBody>
      </p:sp>
      <p:sp>
        <p:nvSpPr>
          <p:cNvPr id="3" name="Content Placeholder 2">
            <a:extLst>
              <a:ext uri="{FF2B5EF4-FFF2-40B4-BE49-F238E27FC236}">
                <a16:creationId xmlns:a16="http://schemas.microsoft.com/office/drawing/2014/main" id="{8F408D5E-863A-B956-7558-B38D949AB90F}"/>
              </a:ext>
            </a:extLst>
          </p:cNvPr>
          <p:cNvSpPr>
            <a:spLocks noGrp="1"/>
          </p:cNvSpPr>
          <p:nvPr>
            <p:ph idx="1"/>
          </p:nvPr>
        </p:nvSpPr>
        <p:spPr>
          <a:xfrm>
            <a:off x="249804" y="890546"/>
            <a:ext cx="10515600" cy="4351338"/>
          </a:xfrm>
        </p:spPr>
        <p:txBody>
          <a:bodyPr/>
          <a:lstStyle/>
          <a:p>
            <a:r>
              <a:rPr lang="en-US" sz="2000" b="1" dirty="0">
                <a:latin typeface="Arial" panose="020B0604020202020204" pitchFamily="34" charset="0"/>
                <a:ea typeface="Calibri" panose="020F0502020204030204" pitchFamily="34" charset="0"/>
                <a:cs typeface="Arial" panose="020B0604020202020204" pitchFamily="34" charset="0"/>
              </a:rPr>
              <a:t>Example</a:t>
            </a:r>
            <a:r>
              <a:rPr lang="en-US" sz="2000" dirty="0">
                <a:latin typeface="Arial" panose="020B0604020202020204" pitchFamily="34" charset="0"/>
                <a:ea typeface="Calibri" panose="020F0502020204030204" pitchFamily="34" charset="0"/>
                <a:cs typeface="Arial" panose="020B0604020202020204" pitchFamily="34" charset="0"/>
              </a:rPr>
              <a:t>: Examine the relationship between </a:t>
            </a:r>
            <a:r>
              <a:rPr lang="en-US" sz="2000" b="1" dirty="0">
                <a:latin typeface="Arial" panose="020B0604020202020204" pitchFamily="34" charset="0"/>
                <a:ea typeface="Calibri" panose="020F0502020204030204" pitchFamily="34" charset="0"/>
                <a:cs typeface="Arial" panose="020B0604020202020204" pitchFamily="34" charset="0"/>
              </a:rPr>
              <a:t>lending trajectory and firearm-related homicide</a:t>
            </a:r>
            <a:r>
              <a:rPr lang="en-US" sz="2000" dirty="0">
                <a:latin typeface="Arial" panose="020B0604020202020204" pitchFamily="34" charset="0"/>
                <a:ea typeface="Calibri" panose="020F0502020204030204" pitchFamily="34" charset="0"/>
                <a:cs typeface="Arial" panose="020B0604020202020204" pitchFamily="34" charset="0"/>
              </a:rPr>
              <a:t>, controlling for ADI and segregation.</a:t>
            </a:r>
          </a:p>
          <a:p>
            <a:pPr lvl="1"/>
            <a:r>
              <a:rPr lang="en-US" sz="2000" dirty="0">
                <a:latin typeface="Arial" panose="020B0604020202020204" pitchFamily="34" charset="0"/>
                <a:cs typeface="Arial" panose="020B0604020202020204" pitchFamily="34" charset="0"/>
              </a:rPr>
              <a:t>There are three possible outcomes:</a:t>
            </a:r>
          </a:p>
          <a:p>
            <a:pPr lvl="2"/>
            <a:r>
              <a:rPr lang="en-US" b="1" dirty="0">
                <a:latin typeface="Arial" panose="020B0604020202020204" pitchFamily="34" charset="0"/>
                <a:cs typeface="Arial" panose="020B0604020202020204" pitchFamily="34" charset="0"/>
              </a:rPr>
              <a:t>Case 1: Association disappears or becomes very small or is eliminated.</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This suggests that the original relationship was primarily due to deprivation and segregation, meaning those variables </a:t>
            </a:r>
            <a:r>
              <a:rPr lang="en-US" b="1" u="sng" dirty="0">
                <a:latin typeface="Arial" panose="020B0604020202020204" pitchFamily="34" charset="0"/>
                <a:cs typeface="Arial" panose="020B0604020202020204" pitchFamily="34" charset="0"/>
              </a:rPr>
              <a:t>may be the mechanism </a:t>
            </a:r>
            <a:r>
              <a:rPr lang="en-US" dirty="0">
                <a:latin typeface="Arial" panose="020B0604020202020204" pitchFamily="34" charset="0"/>
                <a:cs typeface="Arial" panose="020B0604020202020204" pitchFamily="34" charset="0"/>
              </a:rPr>
              <a:t>by which lending is associated with firearm-related violence (i.e., mediators).</a:t>
            </a:r>
          </a:p>
          <a:p>
            <a:pPr lvl="2"/>
            <a:r>
              <a:rPr lang="en-US" b="1" dirty="0">
                <a:latin typeface="Arial" panose="020B0604020202020204" pitchFamily="34" charset="0"/>
                <a:cs typeface="Arial" panose="020B0604020202020204" pitchFamily="34" charset="0"/>
              </a:rPr>
              <a:t>Case 2: Association weakens but still exists.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This suggests part of the original relationship was due to deprivation and segregation (confounding), but lending still has an independent association with violence.</a:t>
            </a:r>
          </a:p>
          <a:p>
            <a:pPr lvl="2"/>
            <a:r>
              <a:rPr lang="en-US" b="1" dirty="0">
                <a:latin typeface="Arial" panose="020B0604020202020204" pitchFamily="34" charset="0"/>
                <a:cs typeface="Arial" panose="020B0604020202020204" pitchFamily="34" charset="0"/>
              </a:rPr>
              <a:t>Case 3: Association barely changes.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This suggests deprivation and segregation were not driving the relationship much at all.</a:t>
            </a:r>
          </a:p>
          <a:p>
            <a:endParaRPr lang="en-US" dirty="0"/>
          </a:p>
        </p:txBody>
      </p:sp>
    </p:spTree>
    <p:extLst>
      <p:ext uri="{BB962C8B-B14F-4D97-AF65-F5344CB8AC3E}">
        <p14:creationId xmlns:p14="http://schemas.microsoft.com/office/powerpoint/2010/main" val="200716222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9CF06-BB12-6A72-6B2E-ADA57544A506}"/>
              </a:ext>
            </a:extLst>
          </p:cNvPr>
          <p:cNvSpPr>
            <a:spLocks noGrp="1"/>
          </p:cNvSpPr>
          <p:nvPr>
            <p:ph type="title"/>
          </p:nvPr>
        </p:nvSpPr>
        <p:spPr>
          <a:xfrm>
            <a:off x="285307" y="145387"/>
            <a:ext cx="10515600" cy="839898"/>
          </a:xfrm>
        </p:spPr>
        <p:txBody>
          <a:bodyPr>
            <a:normAutofit fontScale="90000"/>
          </a:bodyPr>
          <a:lstStyle/>
          <a:p>
            <a:r>
              <a:rPr lang="en-US" sz="3600" dirty="0">
                <a:latin typeface="Arial" panose="020B0604020202020204" pitchFamily="34" charset="0"/>
                <a:cs typeface="Arial" panose="020B0604020202020204" pitchFamily="34" charset="0"/>
              </a:rPr>
              <a:t>Is regression based on partial or semi-partial correlation?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A8B05E8-530C-AEAD-A8EB-5D214B4219BF}"/>
                  </a:ext>
                </a:extLst>
              </p:cNvPr>
              <p:cNvSpPr>
                <a:spLocks noGrp="1"/>
              </p:cNvSpPr>
              <p:nvPr>
                <p:ph idx="1"/>
              </p:nvPr>
            </p:nvSpPr>
            <p:spPr>
              <a:xfrm>
                <a:off x="448339" y="840341"/>
                <a:ext cx="11119883" cy="4351338"/>
              </a:xfrm>
            </p:spPr>
            <p:txBody>
              <a:bodyPr>
                <a:normAutofit/>
              </a:bodyPr>
              <a:lstStyle/>
              <a:p>
                <a:r>
                  <a:rPr lang="en-US" sz="2000" dirty="0">
                    <a:latin typeface="Arial" panose="020B0604020202020204" pitchFamily="34" charset="0"/>
                    <a:cs typeface="Arial" panose="020B0604020202020204" pitchFamily="34" charset="0"/>
                  </a:rPr>
                  <a:t>In multiple regression:</a:t>
                </a:r>
              </a:p>
              <a:p>
                <a:pPr lvl="1"/>
                <a14:m>
                  <m:oMath xmlns:m="http://schemas.openxmlformats.org/officeDocument/2006/math">
                    <m:r>
                      <a:rPr lang="en-US" sz="2000" b="0" i="1" smtClean="0">
                        <a:latin typeface="Cambria Math" panose="02040503050406030204" pitchFamily="18" charset="0"/>
                      </a:rPr>
                      <m:t>𝐼𝑛𝑐𝑜𝑚𝑒</m:t>
                    </m:r>
                    <m:r>
                      <a:rPr lang="en-US" sz="2000" b="0" smtClean="0">
                        <a:latin typeface="Cambria Math" panose="02040503050406030204" pitchFamily="18" charset="0"/>
                      </a:rPr>
                      <m:t>=</m:t>
                    </m:r>
                    <m:sSub>
                      <m:sSubPr>
                        <m:ctrlPr>
                          <a:rPr lang="ar-AE" sz="2000" i="1">
                            <a:latin typeface="Cambria Math" panose="02040503050406030204" pitchFamily="18" charset="0"/>
                          </a:rPr>
                        </m:ctrlPr>
                      </m:sSubPr>
                      <m:e>
                        <m:r>
                          <a:rPr lang="ar-AE" sz="2000" b="0" i="1" smtClean="0">
                            <a:latin typeface="Cambria Math" panose="02040503050406030204" pitchFamily="18" charset="0"/>
                          </a:rPr>
                          <m:t>𝑏</m:t>
                        </m:r>
                      </m:e>
                      <m:sub>
                        <m:r>
                          <a:rPr lang="ar-AE" sz="2000" b="0" i="1" smtClean="0">
                            <a:latin typeface="Cambria Math" panose="02040503050406030204" pitchFamily="18" charset="0"/>
                          </a:rPr>
                          <m:t>0</m:t>
                        </m:r>
                      </m:sub>
                    </m:sSub>
                    <m:r>
                      <a:rPr lang="ar-AE" sz="2000" b="0" smtClean="0">
                        <a:latin typeface="Cambria Math" panose="02040503050406030204" pitchFamily="18" charset="0"/>
                      </a:rPr>
                      <m:t>+</m:t>
                    </m:r>
                    <m:sSub>
                      <m:sSubPr>
                        <m:ctrlPr>
                          <a:rPr lang="ar-AE" sz="2000" i="1">
                            <a:latin typeface="Cambria Math" panose="02040503050406030204" pitchFamily="18" charset="0"/>
                          </a:rPr>
                        </m:ctrlPr>
                      </m:sSubPr>
                      <m:e>
                        <m:r>
                          <a:rPr lang="ar-AE" sz="2000" b="0" i="1" smtClean="0">
                            <a:latin typeface="Cambria Math" panose="02040503050406030204" pitchFamily="18" charset="0"/>
                          </a:rPr>
                          <m:t>𝑏</m:t>
                        </m:r>
                      </m:e>
                      <m:sub>
                        <m:r>
                          <a:rPr lang="ar-AE" sz="2000" b="0" i="1" smtClean="0">
                            <a:latin typeface="Cambria Math" panose="02040503050406030204" pitchFamily="18" charset="0"/>
                          </a:rPr>
                          <m:t>1</m:t>
                        </m:r>
                      </m:sub>
                    </m:sSub>
                    <m:r>
                      <a:rPr lang="ar-AE" sz="2000" b="0" i="1" smtClean="0">
                        <a:latin typeface="Cambria Math" panose="02040503050406030204" pitchFamily="18" charset="0"/>
                      </a:rPr>
                      <m:t>𝐸𝑑𝑢𝑐𝑎𝑡𝑖𝑜𝑛</m:t>
                    </m:r>
                    <m:r>
                      <a:rPr lang="ar-AE" sz="2000" b="0" smtClean="0">
                        <a:latin typeface="Cambria Math" panose="02040503050406030204" pitchFamily="18" charset="0"/>
                      </a:rPr>
                      <m:t>+</m:t>
                    </m:r>
                    <m:sSub>
                      <m:sSubPr>
                        <m:ctrlPr>
                          <a:rPr lang="ar-AE" sz="2000" i="1">
                            <a:latin typeface="Cambria Math" panose="02040503050406030204" pitchFamily="18" charset="0"/>
                          </a:rPr>
                        </m:ctrlPr>
                      </m:sSubPr>
                      <m:e>
                        <m:r>
                          <a:rPr lang="ar-AE" sz="2000" b="0" i="1" smtClean="0">
                            <a:latin typeface="Cambria Math" panose="02040503050406030204" pitchFamily="18" charset="0"/>
                          </a:rPr>
                          <m:t>𝑏</m:t>
                        </m:r>
                      </m:e>
                      <m:sub>
                        <m:r>
                          <a:rPr lang="ar-AE" sz="2000" b="0" i="1" smtClean="0">
                            <a:latin typeface="Cambria Math" panose="02040503050406030204" pitchFamily="18" charset="0"/>
                          </a:rPr>
                          <m:t>2</m:t>
                        </m:r>
                      </m:sub>
                    </m:sSub>
                    <m:r>
                      <a:rPr lang="ar-AE" sz="2000" b="0" i="1" smtClean="0">
                        <a:latin typeface="Cambria Math" panose="02040503050406030204" pitchFamily="18" charset="0"/>
                      </a:rPr>
                      <m:t>𝐺𝑒𝑛𝑑𝑒𝑟</m:t>
                    </m:r>
                  </m:oMath>
                </a14:m>
                <a:endParaRPr lang="en-US" sz="2000" dirty="0">
                  <a:latin typeface="Arial" panose="020B0604020202020204" pitchFamily="34" charset="0"/>
                  <a:cs typeface="Arial" panose="020B0604020202020204" pitchFamily="34" charset="0"/>
                </a:endParaRPr>
              </a:p>
              <a:p>
                <a:pPr lvl="1"/>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The coefficient for education </a:t>
                </a:r>
                <a14:m>
                  <m:oMath xmlns:m="http://schemas.openxmlformats.org/officeDocument/2006/math">
                    <m:sSub>
                      <m:sSubPr>
                        <m:ctrlPr>
                          <a:rPr lang="ar-AE" sz="2000"/>
                        </m:ctrlPr>
                      </m:sSubPr>
                      <m:e>
                        <m:r>
                          <a:rPr lang="ar-AE" sz="2000" b="0" i="1" smtClean="0">
                            <a:latin typeface="Cambria Math" panose="02040503050406030204" pitchFamily="18" charset="0"/>
                          </a:rPr>
                          <m:t>𝑏</m:t>
                        </m:r>
                      </m:e>
                      <m:sub>
                        <m:r>
                          <a:rPr lang="ar-AE" sz="2000" b="0" i="1" smtClean="0">
                            <a:latin typeface="Cambria Math" panose="02040503050406030204" pitchFamily="18" charset="0"/>
                          </a:rPr>
                          <m:t>1</m:t>
                        </m:r>
                      </m:sub>
                    </m:sSub>
                    <m:r>
                      <a:rPr lang="en-US" sz="2000" b="0" i="0" smtClean="0">
                        <a:latin typeface="Cambria Math" panose="02040503050406030204" pitchFamily="18" charset="0"/>
                      </a:rPr>
                      <m:t> </m:t>
                    </m:r>
                    <m:r>
                      <m:rPr>
                        <m:sty m:val="p"/>
                      </m:rPr>
                      <a:rPr lang="en-US" sz="2000" b="0" i="0" smtClean="0">
                        <a:latin typeface="Cambria Math" panose="02040503050406030204" pitchFamily="18" charset="0"/>
                      </a:rPr>
                      <m:t>s</m:t>
                    </m:r>
                  </m:oMath>
                </a14:m>
                <a:r>
                  <a:rPr lang="en-US" sz="2000" dirty="0">
                    <a:latin typeface="Arial" panose="020B0604020202020204" pitchFamily="34" charset="0"/>
                    <a:cs typeface="Arial" panose="020B0604020202020204" pitchFamily="34" charset="0"/>
                  </a:rPr>
                  <a:t>hows how income changes with education while holding gender constant.</a:t>
                </a:r>
              </a:p>
              <a:p>
                <a:r>
                  <a:rPr lang="en-US" sz="2000" dirty="0">
                    <a:latin typeface="Arial" panose="020B0604020202020204" pitchFamily="34" charset="0"/>
                    <a:cs typeface="Arial" panose="020B0604020202020204" pitchFamily="34" charset="0"/>
                  </a:rPr>
                  <a:t>Regression isolates the effect of each predictor by adjusting for the others (“</a:t>
                </a:r>
                <a:r>
                  <a:rPr lang="en-US" sz="2000" dirty="0" err="1">
                    <a:latin typeface="Arial" panose="020B0604020202020204" pitchFamily="34" charset="0"/>
                    <a:cs typeface="Arial" panose="020B0604020202020204" pitchFamily="34" charset="0"/>
                  </a:rPr>
                  <a:t>partialing</a:t>
                </a:r>
                <a:r>
                  <a:rPr lang="en-US" sz="2000" dirty="0">
                    <a:latin typeface="Arial" panose="020B0604020202020204" pitchFamily="34" charset="0"/>
                    <a:cs typeface="Arial" panose="020B0604020202020204" pitchFamily="34" charset="0"/>
                  </a:rPr>
                  <a:t> out” their influence).</a:t>
                </a:r>
              </a:p>
              <a:p>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unique amount of variance</a:t>
                </a:r>
                <a:r>
                  <a:rPr lang="en-US" sz="2000" dirty="0">
                    <a:latin typeface="Arial" panose="020B0604020202020204" pitchFamily="34" charset="0"/>
                    <a:cs typeface="Arial" panose="020B0604020202020204" pitchFamily="34" charset="0"/>
                  </a:rPr>
                  <a:t> in income explained by education equals the </a:t>
                </a:r>
                <a:r>
                  <a:rPr lang="en-US" sz="2000" dirty="0" err="1">
                    <a:latin typeface="Arial" panose="020B0604020202020204" pitchFamily="34" charset="0"/>
                    <a:cs typeface="Arial" panose="020B0604020202020204" pitchFamily="34" charset="0"/>
                  </a:rPr>
                  <a:t>semipartial</a:t>
                </a:r>
                <a:r>
                  <a:rPr lang="en-US" sz="2000" dirty="0">
                    <a:latin typeface="Arial" panose="020B0604020202020204" pitchFamily="34" charset="0"/>
                    <a:cs typeface="Arial" panose="020B0604020202020204" pitchFamily="34" charset="0"/>
                  </a:rPr>
                  <a:t> correlation </a:t>
                </a:r>
                <a:r>
                  <a:rPr lang="en-US" sz="2000" i="1" dirty="0">
                    <a:latin typeface="Arial" panose="020B0604020202020204" pitchFamily="34" charset="0"/>
                    <a:cs typeface="Arial" panose="020B0604020202020204" pitchFamily="34" charset="0"/>
                  </a:rPr>
                  <a:t>squared</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Key distinction</a:t>
                </a:r>
              </a:p>
              <a:p>
                <a:pPr lvl="1"/>
                <a:r>
                  <a:rPr lang="en-US" sz="2000" dirty="0">
                    <a:latin typeface="Arial" panose="020B0604020202020204" pitchFamily="34" charset="0"/>
                    <a:cs typeface="Arial" panose="020B0604020202020204" pitchFamily="34" charset="0"/>
                  </a:rPr>
                  <a:t>Unique contribution of a predictor to </a:t>
                </a:r>
                <a14:m>
                  <m:oMath xmlns:m="http://schemas.openxmlformats.org/officeDocument/2006/math">
                    <m:sSup>
                      <m:sSupPr>
                        <m:ctrlPr>
                          <a:rPr lang="ar-AE" sz="2000"/>
                        </m:ctrlPr>
                      </m:sSupPr>
                      <m:e>
                        <m:r>
                          <a:rPr lang="ar-AE" sz="2000" b="0" i="1" smtClean="0">
                            <a:latin typeface="Cambria Math" panose="02040503050406030204" pitchFamily="18" charset="0"/>
                          </a:rPr>
                          <m:t>𝑅</m:t>
                        </m:r>
                      </m:e>
                      <m:sup>
                        <m:r>
                          <a:rPr lang="ar-AE" sz="2000" b="0" i="1" smtClean="0">
                            <a:latin typeface="Cambria Math" panose="02040503050406030204" pitchFamily="18" charset="0"/>
                          </a:rPr>
                          <m:t>2</m:t>
                        </m:r>
                      </m:sup>
                    </m:sSup>
                  </m:oMath>
                </a14:m>
                <a:r>
                  <a:rPr lang="ar-AE"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semipartial</a:t>
                </a:r>
                <a:r>
                  <a:rPr lang="en-US" sz="2000" dirty="0">
                    <a:latin typeface="Arial" panose="020B0604020202020204" pitchFamily="34" charset="0"/>
                    <a:cs typeface="Arial" panose="020B0604020202020204" pitchFamily="34" charset="0"/>
                  </a:rPr>
                  <a:t> correlation</a:t>
                </a:r>
              </a:p>
              <a:p>
                <a:pPr lvl="1"/>
                <a:r>
                  <a:rPr lang="en-US" sz="2000" dirty="0">
                    <a:latin typeface="Arial" panose="020B0604020202020204" pitchFamily="34" charset="0"/>
                    <a:cs typeface="Arial" panose="020B0604020202020204" pitchFamily="34" charset="0"/>
                  </a:rPr>
                  <a:t>Relationship between X and Y controlling for other variables → partial correlation</a:t>
                </a:r>
              </a:p>
              <a:p>
                <a:endParaRPr lang="en-US" dirty="0"/>
              </a:p>
            </p:txBody>
          </p:sp>
        </mc:Choice>
        <mc:Fallback>
          <p:sp>
            <p:nvSpPr>
              <p:cNvPr id="3" name="Content Placeholder 2">
                <a:extLst>
                  <a:ext uri="{FF2B5EF4-FFF2-40B4-BE49-F238E27FC236}">
                    <a16:creationId xmlns:a16="http://schemas.microsoft.com/office/drawing/2014/main" id="{4A8B05E8-530C-AEAD-A8EB-5D214B4219BF}"/>
                  </a:ext>
                </a:extLst>
              </p:cNvPr>
              <p:cNvSpPr>
                <a:spLocks noGrp="1" noRot="1" noChangeAspect="1" noMove="1" noResize="1" noEditPoints="1" noAdjustHandles="1" noChangeArrowheads="1" noChangeShapeType="1" noTextEdit="1"/>
              </p:cNvSpPr>
              <p:nvPr>
                <p:ph idx="1"/>
              </p:nvPr>
            </p:nvSpPr>
            <p:spPr>
              <a:xfrm>
                <a:off x="448339" y="840341"/>
                <a:ext cx="11119883" cy="4351338"/>
              </a:xfrm>
              <a:blipFill>
                <a:blip r:embed="rId2"/>
                <a:stretch>
                  <a:fillRect l="-493" t="-1401" r="-329"/>
                </a:stretch>
              </a:blipFill>
            </p:spPr>
            <p:txBody>
              <a:bodyPr/>
              <a:lstStyle/>
              <a:p>
                <a:r>
                  <a:rPr lang="en-US">
                    <a:noFill/>
                  </a:rPr>
                  <a:t> </a:t>
                </a:r>
              </a:p>
            </p:txBody>
          </p:sp>
        </mc:Fallback>
      </mc:AlternateContent>
    </p:spTree>
    <p:extLst>
      <p:ext uri="{BB962C8B-B14F-4D97-AF65-F5344CB8AC3E}">
        <p14:creationId xmlns:p14="http://schemas.microsoft.com/office/powerpoint/2010/main" val="386370913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6F15043-7248-47BE-8ECF-73BF20E563F4}"/>
              </a:ext>
            </a:extLst>
          </p:cNvPr>
          <p:cNvSpPr>
            <a:spLocks noGrp="1"/>
          </p:cNvSpPr>
          <p:nvPr>
            <p:ph type="title"/>
          </p:nvPr>
        </p:nvSpPr>
        <p:spPr>
          <a:xfrm>
            <a:off x="135546" y="148384"/>
            <a:ext cx="10515600" cy="761765"/>
          </a:xfrm>
        </p:spPr>
        <p:txBody>
          <a:bodyPr>
            <a:normAutofit/>
          </a:bodyPr>
          <a:lstStyle/>
          <a:p>
            <a:r>
              <a:rPr lang="en-US" sz="3600" dirty="0">
                <a:latin typeface="Arial" panose="020B0604020202020204" pitchFamily="34" charset="0"/>
                <a:cs typeface="Arial" panose="020B0604020202020204" pitchFamily="34" charset="0"/>
              </a:rPr>
              <a:t>What to do if you find multicollinearity?</a:t>
            </a:r>
          </a:p>
        </p:txBody>
      </p:sp>
      <p:sp>
        <p:nvSpPr>
          <p:cNvPr id="3" name="Slide Number Placeholder 2">
            <a:extLst>
              <a:ext uri="{FF2B5EF4-FFF2-40B4-BE49-F238E27FC236}">
                <a16:creationId xmlns:a16="http://schemas.microsoft.com/office/drawing/2014/main" id="{3722B258-BD8F-4173-AF23-8D01A566A48D}"/>
              </a:ext>
            </a:extLst>
          </p:cNvPr>
          <p:cNvSpPr>
            <a:spLocks noGrp="1"/>
          </p:cNvSpPr>
          <p:nvPr>
            <p:ph type="sldNum" sz="quarter" idx="12"/>
          </p:nvPr>
        </p:nvSpPr>
        <p:spPr/>
        <p:txBody>
          <a:bodyPr>
            <a:normAutofit/>
          </a:bodyPr>
          <a:lstStyle/>
          <a:p>
            <a:pPr marL="0" marR="0" lvl="0" indent="0" defTabSz="914400" rtl="0" eaLnBrk="1" fontAlgn="auto" latinLnBrk="0" hangingPunct="1">
              <a:spcBef>
                <a:spcPts val="0"/>
              </a:spcBef>
              <a:spcAft>
                <a:spcPts val="600"/>
              </a:spcAft>
              <a:buClrTx/>
              <a:buSzTx/>
              <a:buFontTx/>
              <a:buNone/>
              <a:tabLst/>
              <a:defRPr/>
            </a:pPr>
            <a:fld id="{F4D677F5-6401-4ECE-9434-31FD34043E71}" type="slidenum">
              <a:rPr kumimoji="0" lang="en-US" sz="1000" b="0" i="0" u="none" strike="noStrike" kern="1200" cap="none" spc="0" normalizeH="0" baseline="0" noProof="0">
                <a:ln>
                  <a:noFill/>
                </a:ln>
                <a:effectLst/>
                <a:uLnTx/>
                <a:uFillTx/>
                <a:latin typeface="Calibri" panose="020F0502020204030204"/>
                <a:ea typeface="+mn-ea"/>
                <a:cs typeface="+mn-cs"/>
              </a:rPr>
              <a:pPr marL="0" marR="0" lvl="0" indent="0" defTabSz="914400" rtl="0" eaLnBrk="1" fontAlgn="auto" latinLnBrk="0" hangingPunct="1">
                <a:spcBef>
                  <a:spcPts val="0"/>
                </a:spcBef>
                <a:spcAft>
                  <a:spcPts val="600"/>
                </a:spcAft>
                <a:buClrTx/>
                <a:buSzTx/>
                <a:buFontTx/>
                <a:buNone/>
                <a:tabLst/>
                <a:defRPr/>
              </a:pPr>
              <a:t>79</a:t>
            </a:fld>
            <a:endParaRPr kumimoji="0" lang="en-US" sz="1000" b="0" i="0" u="none" strike="noStrike" kern="1200" cap="none" spc="0" normalizeH="0" baseline="0" noProof="0">
              <a:ln>
                <a:noFill/>
              </a:ln>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B30B8480-76DF-46EB-AD1D-6A1E893446E6}"/>
              </a:ext>
            </a:extLst>
          </p:cNvPr>
          <p:cNvSpPr>
            <a:spLocks noGrp="1"/>
          </p:cNvSpPr>
          <p:nvPr>
            <p:ph idx="4294967295"/>
          </p:nvPr>
        </p:nvSpPr>
        <p:spPr>
          <a:xfrm>
            <a:off x="278983" y="910149"/>
            <a:ext cx="11295528" cy="4064654"/>
          </a:xfrm>
        </p:spPr>
        <p:txBody>
          <a:bodyPr>
            <a:normAutofit/>
          </a:bodyPr>
          <a:lstStyle/>
          <a:p>
            <a:r>
              <a:rPr lang="en-US" sz="2000" dirty="0">
                <a:latin typeface="Arial" panose="020B0604020202020204" pitchFamily="34" charset="0"/>
                <a:cs typeface="Arial" panose="020B0604020202020204" pitchFamily="34" charset="0"/>
              </a:rPr>
              <a:t>If two variables are highly correlated, it is probably not a good idea to use both in the regression equation. Why?</a:t>
            </a:r>
          </a:p>
          <a:p>
            <a:pPr lvl="1"/>
            <a:r>
              <a:rPr lang="en-US" sz="2000" dirty="0">
                <a:latin typeface="Arial" panose="020B0604020202020204" pitchFamily="34" charset="0"/>
                <a:cs typeface="Arial" panose="020B0604020202020204" pitchFamily="34" charset="0"/>
              </a:rPr>
              <a:t>Many correlated variables hurts the Adjusted R</a:t>
            </a:r>
            <a:r>
              <a:rPr lang="en-US" sz="2000" baseline="30000" dirty="0">
                <a:latin typeface="Arial" panose="020B0604020202020204" pitchFamily="34" charset="0"/>
                <a:cs typeface="Arial" panose="020B0604020202020204" pitchFamily="34" charset="0"/>
              </a:rPr>
              <a:t>2</a:t>
            </a:r>
          </a:p>
          <a:p>
            <a:pPr lvl="1"/>
            <a:r>
              <a:rPr lang="en-US" sz="2000" dirty="0">
                <a:latin typeface="Arial" panose="020B0604020202020204" pitchFamily="34" charset="0"/>
                <a:cs typeface="Arial" panose="020B0604020202020204" pitchFamily="34" charset="0"/>
              </a:rPr>
              <a:t>We generally prefer smaller models</a:t>
            </a:r>
          </a:p>
          <a:p>
            <a:pPr lvl="1"/>
            <a:r>
              <a:rPr lang="en-US" sz="2000" dirty="0">
                <a:latin typeface="Arial" panose="020B0604020202020204" pitchFamily="34" charset="0"/>
                <a:cs typeface="Arial" panose="020B0604020202020204" pitchFamily="34" charset="0"/>
              </a:rPr>
              <a:t>Smaller models are much easier to interpret</a:t>
            </a:r>
          </a:p>
          <a:p>
            <a:pPr lvl="1"/>
            <a:r>
              <a:rPr lang="en-US" sz="2000" dirty="0">
                <a:latin typeface="Arial" panose="020B0604020202020204" pitchFamily="34" charset="0"/>
                <a:cs typeface="Arial" panose="020B0604020202020204" pitchFamily="34" charset="0"/>
              </a:rPr>
              <a:t>Multiple regression models describe the effect of one variable on another </a:t>
            </a:r>
            <a:r>
              <a:rPr lang="en-US" sz="2000" b="1" i="1" dirty="0">
                <a:latin typeface="Arial" panose="020B0604020202020204" pitchFamily="34" charset="0"/>
                <a:cs typeface="Arial" panose="020B0604020202020204" pitchFamily="34" charset="0"/>
              </a:rPr>
              <a:t>after partialling out the effects of all other variables </a:t>
            </a:r>
            <a:r>
              <a:rPr lang="en-US" sz="2000" dirty="0">
                <a:latin typeface="Arial" panose="020B0604020202020204" pitchFamily="34" charset="0"/>
                <a:cs typeface="Arial" panose="020B0604020202020204" pitchFamily="34" charset="0"/>
              </a:rPr>
              <a:t>in the model</a:t>
            </a:r>
          </a:p>
          <a:p>
            <a:pPr lvl="2"/>
            <a:r>
              <a:rPr lang="en-US" dirty="0">
                <a:latin typeface="Arial" panose="020B0604020202020204" pitchFamily="34" charset="0"/>
                <a:cs typeface="Arial" panose="020B0604020202020204" pitchFamily="34" charset="0"/>
              </a:rPr>
              <a:t>Regarding MC, this means that if two variables are highly correlated, once one of them is </a:t>
            </a:r>
            <a:r>
              <a:rPr lang="en-US" dirty="0" err="1">
                <a:latin typeface="Arial" panose="020B0604020202020204" pitchFamily="34" charset="0"/>
                <a:cs typeface="Arial" panose="020B0604020202020204" pitchFamily="34" charset="0"/>
              </a:rPr>
              <a:t>partialled</a:t>
            </a:r>
            <a:r>
              <a:rPr lang="en-US" dirty="0">
                <a:latin typeface="Arial" panose="020B0604020202020204" pitchFamily="34" charset="0"/>
                <a:cs typeface="Arial" panose="020B0604020202020204" pitchFamily="34" charset="0"/>
              </a:rPr>
              <a:t> out, there is much less variation left in the other variable for the model to “explain”</a:t>
            </a:r>
          </a:p>
          <a:p>
            <a:pPr lvl="2"/>
            <a:r>
              <a:rPr lang="en-US" b="1" dirty="0">
                <a:latin typeface="Arial" panose="020B0604020202020204" pitchFamily="34" charset="0"/>
                <a:cs typeface="Arial" panose="020B0604020202020204" pitchFamily="34" charset="0"/>
              </a:rPr>
              <a:t>Check the partial correlation coefficients and zero order coefficients before including variables! </a:t>
            </a:r>
            <a:r>
              <a:rPr lang="en-US" b="1" dirty="0">
                <a:solidFill>
                  <a:srgbClr val="FF0000"/>
                </a:solidFill>
                <a:latin typeface="Arial" panose="020B0604020202020204" pitchFamily="34" charset="0"/>
                <a:cs typeface="Arial" panose="020B0604020202020204" pitchFamily="34" charset="0"/>
              </a:rPr>
              <a:t>But, beware.</a:t>
            </a:r>
          </a:p>
          <a:p>
            <a:endParaRPr lang="en-US" sz="1400" dirty="0"/>
          </a:p>
          <a:p>
            <a:pPr lvl="1"/>
            <a:endParaRPr lang="en-US" sz="1400" dirty="0"/>
          </a:p>
          <a:p>
            <a:pPr lvl="1"/>
            <a:endParaRPr lang="en-US" sz="1400" dirty="0"/>
          </a:p>
        </p:txBody>
      </p:sp>
    </p:spTree>
    <p:extLst>
      <p:ext uri="{BB962C8B-B14F-4D97-AF65-F5344CB8AC3E}">
        <p14:creationId xmlns:p14="http://schemas.microsoft.com/office/powerpoint/2010/main" val="1767144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anim calcmode="lin" valueType="num">
                                      <p:cBhvr additive="base">
                                        <p:cTn id="7"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anim calcmode="lin" valueType="num">
                                      <p:cBhvr additive="base">
                                        <p:cTn id="11"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anim calcmode="lin" valueType="num">
                                      <p:cBhvr additive="base">
                                        <p:cTn id="15"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9E7D4-FE53-CE5F-A731-6CA168B7C572}"/>
              </a:ext>
            </a:extLst>
          </p:cNvPr>
          <p:cNvSpPr>
            <a:spLocks noGrp="1"/>
          </p:cNvSpPr>
          <p:nvPr>
            <p:ph type="title"/>
          </p:nvPr>
        </p:nvSpPr>
        <p:spPr>
          <a:xfrm>
            <a:off x="110606" y="92975"/>
            <a:ext cx="10515600" cy="699505"/>
          </a:xfrm>
        </p:spPr>
        <p:txBody>
          <a:bodyPr>
            <a:normAutofit/>
          </a:bodyPr>
          <a:lstStyle/>
          <a:p>
            <a:r>
              <a:rPr lang="en-US" sz="3600" dirty="0">
                <a:latin typeface="Arial" panose="020B0604020202020204" pitchFamily="34" charset="0"/>
                <a:cs typeface="Arial" panose="020B0604020202020204" pitchFamily="34" charset="0"/>
              </a:rPr>
              <a:t>Clues that MC is a problem</a:t>
            </a:r>
          </a:p>
        </p:txBody>
      </p:sp>
      <p:sp>
        <p:nvSpPr>
          <p:cNvPr id="3" name="Content Placeholder 2">
            <a:extLst>
              <a:ext uri="{FF2B5EF4-FFF2-40B4-BE49-F238E27FC236}">
                <a16:creationId xmlns:a16="http://schemas.microsoft.com/office/drawing/2014/main" id="{3A5A4A0B-560F-FF1C-AB71-AC7A26A0D551}"/>
              </a:ext>
            </a:extLst>
          </p:cNvPr>
          <p:cNvSpPr>
            <a:spLocks noGrp="1"/>
          </p:cNvSpPr>
          <p:nvPr>
            <p:ph idx="1"/>
          </p:nvPr>
        </p:nvSpPr>
        <p:spPr>
          <a:xfrm>
            <a:off x="331457" y="792480"/>
            <a:ext cx="10790695" cy="4993925"/>
          </a:xfrm>
        </p:spPr>
        <p:txBody>
          <a:bodyPr/>
          <a:lstStyle/>
          <a:p>
            <a:r>
              <a:rPr lang="en-US" sz="2000" dirty="0">
                <a:latin typeface="Arial" panose="020B0604020202020204" pitchFamily="34" charset="0"/>
                <a:cs typeface="Arial" panose="020B0604020202020204" pitchFamily="34" charset="0"/>
              </a:rPr>
              <a:t>High </a:t>
            </a:r>
            <a:r>
              <a:rPr lang="en-US" sz="2000" i="1" dirty="0">
                <a:latin typeface="Arial" panose="020B0604020202020204" pitchFamily="34" charset="0"/>
                <a:cs typeface="Arial" panose="020B0604020202020204" pitchFamily="34" charset="0"/>
              </a:rPr>
              <a:t>R</a:t>
            </a:r>
            <a:r>
              <a:rPr lang="en-US" sz="2000" baseline="300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but few significant </a:t>
            </a:r>
            <a:r>
              <a:rPr lang="en-US" sz="2000" i="1" dirty="0">
                <a:latin typeface="Arial" panose="020B0604020202020204" pitchFamily="34" charset="0"/>
                <a:cs typeface="Arial" panose="020B0604020202020204" pitchFamily="34" charset="0"/>
              </a:rPr>
              <a:t>t</a:t>
            </a:r>
            <a:r>
              <a:rPr lang="en-US" sz="2000" dirty="0">
                <a:latin typeface="Arial" panose="020B0604020202020204" pitchFamily="34" charset="0"/>
                <a:cs typeface="Arial" panose="020B0604020202020204" pitchFamily="34" charset="0"/>
              </a:rPr>
              <a:t> ratios</a:t>
            </a:r>
          </a:p>
          <a:p>
            <a:r>
              <a:rPr lang="en-US" sz="2000" dirty="0">
                <a:latin typeface="Arial" panose="020B0604020202020204" pitchFamily="34" charset="0"/>
                <a:cs typeface="Arial" panose="020B0604020202020204" pitchFamily="34" charset="0"/>
              </a:rPr>
              <a:t>High pair-wise correlations among explanatory variables or regressors</a:t>
            </a:r>
          </a:p>
          <a:p>
            <a:r>
              <a:rPr lang="en-US" sz="2000" dirty="0">
                <a:latin typeface="Arial" panose="020B0604020202020204" pitchFamily="34" charset="0"/>
                <a:cs typeface="Arial" panose="020B0604020202020204" pitchFamily="34" charset="0"/>
              </a:rPr>
              <a:t>High partial correlation coefficients</a:t>
            </a:r>
          </a:p>
          <a:p>
            <a:r>
              <a:rPr lang="en-US" sz="2000" dirty="0">
                <a:latin typeface="Arial" panose="020B0604020202020204" pitchFamily="34" charset="0"/>
                <a:cs typeface="Arial" panose="020B0604020202020204" pitchFamily="34" charset="0"/>
              </a:rPr>
              <a:t>High Variance Inflation Factor (VIF) and low Tolerance Factor (TOL, the inverse of VIF)</a:t>
            </a:r>
          </a:p>
          <a:p>
            <a:endParaRPr lang="en-US" dirty="0"/>
          </a:p>
        </p:txBody>
      </p:sp>
    </p:spTree>
    <p:extLst>
      <p:ext uri="{BB962C8B-B14F-4D97-AF65-F5344CB8AC3E}">
        <p14:creationId xmlns:p14="http://schemas.microsoft.com/office/powerpoint/2010/main" val="125698760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7DA3C418-758E-4180-A5D0-8655D680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ectangle 1053">
            <a:extLst>
              <a:ext uri="{FF2B5EF4-FFF2-40B4-BE49-F238E27FC236}">
                <a16:creationId xmlns:a16="http://schemas.microsoft.com/office/drawing/2014/main" id="{28C8EF06-5EC3-4883-AFAF-D74FF4655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5135971" cy="687164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a:extLst>
              <a:ext uri="{FF2B5EF4-FFF2-40B4-BE49-F238E27FC236}">
                <a16:creationId xmlns:a16="http://schemas.microsoft.com/office/drawing/2014/main" id="{DF659AAD-ABE8-434D-CD3F-CC128A535ED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305521" y="15119"/>
            <a:ext cx="9398211" cy="6856529"/>
          </a:xfrm>
          <a:prstGeom prst="rect">
            <a:avLst/>
          </a:prstGeom>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2674436-8CA8-4C69-B677-1E20CD8A1DE9}"/>
              </a:ext>
            </a:extLst>
          </p:cNvPr>
          <p:cNvSpPr>
            <a:spLocks noGrp="1"/>
          </p:cNvSpPr>
          <p:nvPr>
            <p:ph type="title"/>
          </p:nvPr>
        </p:nvSpPr>
        <p:spPr>
          <a:xfrm rot="16200000">
            <a:off x="-2694276" y="2864961"/>
            <a:ext cx="6368224" cy="979678"/>
          </a:xfrm>
        </p:spPr>
        <p:txBody>
          <a:bodyPr vert="horz" lIns="91440" tIns="45720" rIns="91440" bIns="45720" rtlCol="0" anchor="b">
            <a:normAutofit/>
          </a:bodyPr>
          <a:lstStyle/>
          <a:p>
            <a:r>
              <a:rPr lang="en-US" sz="3300" dirty="0">
                <a:solidFill>
                  <a:schemeClr val="tx1">
                    <a:lumMod val="85000"/>
                    <a:lumOff val="15000"/>
                  </a:schemeClr>
                </a:solidFill>
              </a:rPr>
              <a:t>How to check for multicollinearity?</a:t>
            </a:r>
          </a:p>
        </p:txBody>
      </p:sp>
      <p:sp>
        <p:nvSpPr>
          <p:cNvPr id="5" name="Slide Number Placeholder 4">
            <a:extLst>
              <a:ext uri="{FF2B5EF4-FFF2-40B4-BE49-F238E27FC236}">
                <a16:creationId xmlns:a16="http://schemas.microsoft.com/office/drawing/2014/main" id="{F41564AE-E78B-4B48-B1D2-54689A9714A6}"/>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F4D677F5-6401-4ECE-9434-31FD34043E71}" type="slidenum">
              <a:rPr lang="en-US" sz="1000">
                <a:solidFill>
                  <a:srgbClr val="FFFFFF"/>
                </a:solidFill>
                <a:latin typeface="Calibri" panose="020F0502020204030204"/>
              </a:rPr>
              <a:pPr>
                <a:spcAft>
                  <a:spcPts val="600"/>
                </a:spcAft>
                <a:defRPr/>
              </a:pPr>
              <a:t>81</a:t>
            </a:fld>
            <a:endParaRPr lang="en-US" sz="1000">
              <a:solidFill>
                <a:srgbClr val="FFFFFF"/>
              </a:solidFill>
              <a:latin typeface="Calibri" panose="020F0502020204030204"/>
            </a:endParaRPr>
          </a:p>
        </p:txBody>
      </p:sp>
      <p:pic>
        <p:nvPicPr>
          <p:cNvPr id="14" name="Picture 13">
            <a:extLst>
              <a:ext uri="{FF2B5EF4-FFF2-40B4-BE49-F238E27FC236}">
                <a16:creationId xmlns:a16="http://schemas.microsoft.com/office/drawing/2014/main" id="{1C5D10A7-2442-6B0A-C8D2-F96229CA8E7B}"/>
              </a:ext>
            </a:extLst>
          </p:cNvPr>
          <p:cNvPicPr>
            <a:picLocks noChangeAspect="1"/>
          </p:cNvPicPr>
          <p:nvPr/>
        </p:nvPicPr>
        <p:blipFill>
          <a:blip r:embed="rId4"/>
          <a:stretch>
            <a:fillRect/>
          </a:stretch>
        </p:blipFill>
        <p:spPr>
          <a:xfrm>
            <a:off x="3083890" y="1418334"/>
            <a:ext cx="7097115" cy="4582164"/>
          </a:xfrm>
          <a:prstGeom prst="rect">
            <a:avLst/>
          </a:prstGeom>
        </p:spPr>
      </p:pic>
      <p:sp>
        <p:nvSpPr>
          <p:cNvPr id="15" name="TextBox 14">
            <a:extLst>
              <a:ext uri="{FF2B5EF4-FFF2-40B4-BE49-F238E27FC236}">
                <a16:creationId xmlns:a16="http://schemas.microsoft.com/office/drawing/2014/main" id="{A263D1BC-EF47-A04F-D8DB-D5B945710348}"/>
              </a:ext>
            </a:extLst>
          </p:cNvPr>
          <p:cNvSpPr txBox="1"/>
          <p:nvPr/>
        </p:nvSpPr>
        <p:spPr>
          <a:xfrm>
            <a:off x="6632447" y="3596640"/>
            <a:ext cx="2993127" cy="400110"/>
          </a:xfrm>
          <a:prstGeom prst="rect">
            <a:avLst/>
          </a:prstGeom>
          <a:noFill/>
        </p:spPr>
        <p:txBody>
          <a:bodyPr wrap="none" rtlCol="0">
            <a:spAutoFit/>
          </a:bodyPr>
          <a:lstStyle/>
          <a:p>
            <a:r>
              <a:rPr lang="en-US" sz="2000" dirty="0">
                <a:latin typeface="Arial" panose="020B0604020202020204" pitchFamily="34" charset="0"/>
                <a:cs typeface="Arial" panose="020B0604020202020204" pitchFamily="34" charset="0"/>
              </a:rPr>
              <a:t>Descriptives tab in JASP</a:t>
            </a:r>
          </a:p>
        </p:txBody>
      </p:sp>
      <p:cxnSp>
        <p:nvCxnSpPr>
          <p:cNvPr id="17" name="Straight Arrow Connector 16">
            <a:extLst>
              <a:ext uri="{FF2B5EF4-FFF2-40B4-BE49-F238E27FC236}">
                <a16:creationId xmlns:a16="http://schemas.microsoft.com/office/drawing/2014/main" id="{3C1802D8-AFE9-3D8D-606B-622B9707F158}"/>
              </a:ext>
            </a:extLst>
          </p:cNvPr>
          <p:cNvCxnSpPr/>
          <p:nvPr/>
        </p:nvCxnSpPr>
        <p:spPr>
          <a:xfrm flipH="1" flipV="1">
            <a:off x="5669280" y="2145792"/>
            <a:ext cx="2450592" cy="141427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219567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17"/>
                                        </p:tgtEl>
                                        <p:attrNameLst>
                                          <p:attrName>ppt_x</p:attrName>
                                        </p:attrNameLst>
                                      </p:cBhvr>
                                      <p:tavLst>
                                        <p:tav tm="0">
                                          <p:val>
                                            <p:strVal val="ppt_x"/>
                                          </p:val>
                                        </p:tav>
                                        <p:tav tm="100000">
                                          <p:val>
                                            <p:strVal val="ppt_x"/>
                                          </p:val>
                                        </p:tav>
                                      </p:tavLst>
                                    </p:anim>
                                    <p:anim calcmode="lin" valueType="num">
                                      <p:cBhvr additive="base">
                                        <p:cTn id="7" dur="500"/>
                                        <p:tgtEl>
                                          <p:spTgt spid="17"/>
                                        </p:tgtEl>
                                        <p:attrNameLst>
                                          <p:attrName>ppt_y</p:attrName>
                                        </p:attrNameLst>
                                      </p:cBhvr>
                                      <p:tavLst>
                                        <p:tav tm="0">
                                          <p:val>
                                            <p:strVal val="ppt_y"/>
                                          </p:val>
                                        </p:tav>
                                        <p:tav tm="100000">
                                          <p:val>
                                            <p:strVal val="1+ppt_h/2"/>
                                          </p:val>
                                        </p:tav>
                                      </p:tavLst>
                                    </p:anim>
                                    <p:set>
                                      <p:cBhvr>
                                        <p:cTn id="8" dur="1" fill="hold">
                                          <p:stCondLst>
                                            <p:cond delay="499"/>
                                          </p:stCondLst>
                                        </p:cTn>
                                        <p:tgtEl>
                                          <p:spTgt spid="17"/>
                                        </p:tgtEl>
                                        <p:attrNameLst>
                                          <p:attrName>style.visibility</p:attrName>
                                        </p:attrNameLst>
                                      </p:cBhvr>
                                      <p:to>
                                        <p:strVal val="hidden"/>
                                      </p:to>
                                    </p:set>
                                  </p:childTnLst>
                                </p:cTn>
                              </p:par>
                              <p:par>
                                <p:cTn id="9" presetID="2" presetClass="exit" presetSubtype="4" fill="hold" nodeType="withEffect">
                                  <p:stCondLst>
                                    <p:cond delay="0"/>
                                  </p:stCondLst>
                                  <p:childTnLst>
                                    <p:anim calcmode="lin" valueType="num">
                                      <p:cBhvr additive="base">
                                        <p:cTn id="10" dur="500"/>
                                        <p:tgtEl>
                                          <p:spTgt spid="14"/>
                                        </p:tgtEl>
                                        <p:attrNameLst>
                                          <p:attrName>ppt_x</p:attrName>
                                        </p:attrNameLst>
                                      </p:cBhvr>
                                      <p:tavLst>
                                        <p:tav tm="0">
                                          <p:val>
                                            <p:strVal val="ppt_x"/>
                                          </p:val>
                                        </p:tav>
                                        <p:tav tm="100000">
                                          <p:val>
                                            <p:strVal val="ppt_x"/>
                                          </p:val>
                                        </p:tav>
                                      </p:tavLst>
                                    </p:anim>
                                    <p:anim calcmode="lin" valueType="num">
                                      <p:cBhvr additive="base">
                                        <p:cTn id="11" dur="500"/>
                                        <p:tgtEl>
                                          <p:spTgt spid="14"/>
                                        </p:tgtEl>
                                        <p:attrNameLst>
                                          <p:attrName>ppt_y</p:attrName>
                                        </p:attrNameLst>
                                      </p:cBhvr>
                                      <p:tavLst>
                                        <p:tav tm="0">
                                          <p:val>
                                            <p:strVal val="ppt_y"/>
                                          </p:val>
                                        </p:tav>
                                        <p:tav tm="100000">
                                          <p:val>
                                            <p:strVal val="1+ppt_h/2"/>
                                          </p:val>
                                        </p:tav>
                                      </p:tavLst>
                                    </p:anim>
                                    <p:set>
                                      <p:cBhvr>
                                        <p:cTn id="12" dur="1" fill="hold">
                                          <p:stCondLst>
                                            <p:cond delay="499"/>
                                          </p:stCondLst>
                                        </p:cTn>
                                        <p:tgtEl>
                                          <p:spTgt spid="14"/>
                                        </p:tgtEl>
                                        <p:attrNameLst>
                                          <p:attrName>style.visibility</p:attrName>
                                        </p:attrNameLst>
                                      </p:cBhvr>
                                      <p:to>
                                        <p:strVal val="hidden"/>
                                      </p:to>
                                    </p:set>
                                  </p:childTnLst>
                                </p:cTn>
                              </p:par>
                              <p:par>
                                <p:cTn id="13" presetID="2" presetClass="exit" presetSubtype="4" fill="hold" grpId="0" nodeType="withEffect">
                                  <p:stCondLst>
                                    <p:cond delay="0"/>
                                  </p:stCondLst>
                                  <p:childTnLst>
                                    <p:anim calcmode="lin" valueType="num">
                                      <p:cBhvr additive="base">
                                        <p:cTn id="14" dur="500"/>
                                        <p:tgtEl>
                                          <p:spTgt spid="15"/>
                                        </p:tgtEl>
                                        <p:attrNameLst>
                                          <p:attrName>ppt_x</p:attrName>
                                        </p:attrNameLst>
                                      </p:cBhvr>
                                      <p:tavLst>
                                        <p:tav tm="0">
                                          <p:val>
                                            <p:strVal val="ppt_x"/>
                                          </p:val>
                                        </p:tav>
                                        <p:tav tm="100000">
                                          <p:val>
                                            <p:strVal val="ppt_x"/>
                                          </p:val>
                                        </p:tav>
                                      </p:tavLst>
                                    </p:anim>
                                    <p:anim calcmode="lin" valueType="num">
                                      <p:cBhvr additive="base">
                                        <p:cTn id="15" dur="500"/>
                                        <p:tgtEl>
                                          <p:spTgt spid="15"/>
                                        </p:tgtEl>
                                        <p:attrNameLst>
                                          <p:attrName>ppt_y</p:attrName>
                                        </p:attrNameLst>
                                      </p:cBhvr>
                                      <p:tavLst>
                                        <p:tav tm="0">
                                          <p:val>
                                            <p:strVal val="ppt_y"/>
                                          </p:val>
                                        </p:tav>
                                        <p:tav tm="100000">
                                          <p:val>
                                            <p:strVal val="1+ppt_h/2"/>
                                          </p:val>
                                        </p:tav>
                                      </p:tavLst>
                                    </p:anim>
                                    <p:set>
                                      <p:cBhvr>
                                        <p:cTn id="16"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BB1F58-D86B-C603-E163-DA27EFC34DBE}"/>
            </a:ext>
          </a:extLst>
        </p:cNvPr>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CACE851E-9881-98C4-6D92-D0DC593A2D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ectangle 1053">
            <a:extLst>
              <a:ext uri="{FF2B5EF4-FFF2-40B4-BE49-F238E27FC236}">
                <a16:creationId xmlns:a16="http://schemas.microsoft.com/office/drawing/2014/main" id="{8F5FC6F7-7B5C-9702-3390-E8B8AA4131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5135971" cy="687164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D9B5D0-BFA5-C864-E352-CFD9F3F586EF}"/>
              </a:ext>
            </a:extLst>
          </p:cNvPr>
          <p:cNvSpPr>
            <a:spLocks noGrp="1"/>
          </p:cNvSpPr>
          <p:nvPr>
            <p:ph type="title"/>
          </p:nvPr>
        </p:nvSpPr>
        <p:spPr>
          <a:xfrm rot="16200000">
            <a:off x="-2694276" y="2864961"/>
            <a:ext cx="6368224" cy="979678"/>
          </a:xfrm>
        </p:spPr>
        <p:txBody>
          <a:bodyPr vert="horz" lIns="91440" tIns="45720" rIns="91440" bIns="45720" rtlCol="0" anchor="b">
            <a:normAutofit/>
          </a:bodyPr>
          <a:lstStyle/>
          <a:p>
            <a:r>
              <a:rPr lang="en-US" sz="3300" dirty="0">
                <a:solidFill>
                  <a:schemeClr val="tx1">
                    <a:lumMod val="85000"/>
                    <a:lumOff val="15000"/>
                  </a:schemeClr>
                </a:solidFill>
              </a:rPr>
              <a:t>How to check for multicollinearity?</a:t>
            </a:r>
          </a:p>
        </p:txBody>
      </p:sp>
      <p:sp>
        <p:nvSpPr>
          <p:cNvPr id="5" name="Slide Number Placeholder 4">
            <a:extLst>
              <a:ext uri="{FF2B5EF4-FFF2-40B4-BE49-F238E27FC236}">
                <a16:creationId xmlns:a16="http://schemas.microsoft.com/office/drawing/2014/main" id="{913CF26F-A29B-E554-6E6B-AFDB84EDD28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F4D677F5-6401-4ECE-9434-31FD34043E71}" type="slidenum">
              <a:rPr lang="en-US" sz="1000">
                <a:solidFill>
                  <a:srgbClr val="FFFFFF"/>
                </a:solidFill>
                <a:latin typeface="Calibri" panose="020F0502020204030204"/>
              </a:rPr>
              <a:pPr>
                <a:spcAft>
                  <a:spcPts val="600"/>
                </a:spcAft>
                <a:defRPr/>
              </a:pPr>
              <a:t>82</a:t>
            </a:fld>
            <a:endParaRPr lang="en-US" sz="1000">
              <a:solidFill>
                <a:srgbClr val="FFFFFF"/>
              </a:solidFill>
              <a:latin typeface="Calibri" panose="020F0502020204030204"/>
            </a:endParaRPr>
          </a:p>
        </p:txBody>
      </p:sp>
      <p:pic>
        <p:nvPicPr>
          <p:cNvPr id="4" name="Picture 3">
            <a:extLst>
              <a:ext uri="{FF2B5EF4-FFF2-40B4-BE49-F238E27FC236}">
                <a16:creationId xmlns:a16="http://schemas.microsoft.com/office/drawing/2014/main" id="{9E7894D0-E5D8-ADB7-C9E6-C34387748275}"/>
              </a:ext>
            </a:extLst>
          </p:cNvPr>
          <p:cNvPicPr>
            <a:picLocks noChangeAspect="1"/>
          </p:cNvPicPr>
          <p:nvPr/>
        </p:nvPicPr>
        <p:blipFill>
          <a:blip r:embed="rId3"/>
          <a:stretch>
            <a:fillRect/>
          </a:stretch>
        </p:blipFill>
        <p:spPr>
          <a:xfrm>
            <a:off x="2542679" y="890233"/>
            <a:ext cx="7106642" cy="5077534"/>
          </a:xfrm>
          <a:prstGeom prst="rect">
            <a:avLst/>
          </a:prstGeom>
        </p:spPr>
      </p:pic>
      <p:sp>
        <p:nvSpPr>
          <p:cNvPr id="6" name="Rectangle 5">
            <a:extLst>
              <a:ext uri="{FF2B5EF4-FFF2-40B4-BE49-F238E27FC236}">
                <a16:creationId xmlns:a16="http://schemas.microsoft.com/office/drawing/2014/main" id="{6D757C66-DCC6-49AF-4BC9-7F4603AE5FC3}"/>
              </a:ext>
            </a:extLst>
          </p:cNvPr>
          <p:cNvSpPr/>
          <p:nvPr/>
        </p:nvSpPr>
        <p:spPr>
          <a:xfrm>
            <a:off x="6425184" y="4925568"/>
            <a:ext cx="3425952" cy="7437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1586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63985-5DBC-D2A9-B60A-15ABBC5E0694}"/>
              </a:ext>
            </a:extLst>
          </p:cNvPr>
          <p:cNvSpPr>
            <a:spLocks noGrp="1"/>
          </p:cNvSpPr>
          <p:nvPr>
            <p:ph type="title"/>
          </p:nvPr>
        </p:nvSpPr>
        <p:spPr>
          <a:xfrm>
            <a:off x="269929" y="227653"/>
            <a:ext cx="10515600" cy="810907"/>
          </a:xfrm>
        </p:spPr>
        <p:txBody>
          <a:bodyPr/>
          <a:lstStyle/>
          <a:p>
            <a:r>
              <a:rPr lang="en-US" dirty="0">
                <a:latin typeface="Aptos Display (Headings)"/>
              </a:rPr>
              <a:t>Variance Inflation Factor</a:t>
            </a:r>
          </a:p>
        </p:txBody>
      </p:sp>
      <p:sp>
        <p:nvSpPr>
          <p:cNvPr id="3" name="Content Placeholder 2">
            <a:extLst>
              <a:ext uri="{FF2B5EF4-FFF2-40B4-BE49-F238E27FC236}">
                <a16:creationId xmlns:a16="http://schemas.microsoft.com/office/drawing/2014/main" id="{D5D9D4A3-EEEA-C292-D59D-066D0C832F14}"/>
              </a:ext>
            </a:extLst>
          </p:cNvPr>
          <p:cNvSpPr>
            <a:spLocks noGrp="1"/>
          </p:cNvSpPr>
          <p:nvPr>
            <p:ph idx="1"/>
          </p:nvPr>
        </p:nvSpPr>
        <p:spPr>
          <a:xfrm>
            <a:off x="774032" y="3259789"/>
            <a:ext cx="10515600" cy="4351338"/>
          </a:xfrm>
        </p:spPr>
        <p:txBody>
          <a:bodyPr/>
          <a:lstStyle/>
          <a:p>
            <a:r>
              <a:rPr lang="en-US" dirty="0"/>
              <a:t>VIF is a measure of the degree to which the variance of the OLS estimator is inflated because of collinearity. </a:t>
            </a:r>
          </a:p>
          <a:p>
            <a:endParaRPr lang="en-US" dirty="0"/>
          </a:p>
        </p:txBody>
      </p:sp>
      <mc:AlternateContent xmlns:mc="http://schemas.openxmlformats.org/markup-compatibility/2006" xmlns:a14="http://schemas.microsoft.com/office/drawing/2010/main">
        <mc:Choice Requires="a14">
          <p:sp>
            <p:nvSpPr>
              <p:cNvPr id="4" name="Object 7">
                <a:extLst>
                  <a:ext uri="{FF2B5EF4-FFF2-40B4-BE49-F238E27FC236}">
                    <a16:creationId xmlns:a16="http://schemas.microsoft.com/office/drawing/2014/main" id="{0725A520-E476-2D40-43CA-F5D763D0EE8C}"/>
                  </a:ext>
                </a:extLst>
              </p:cNvPr>
              <p:cNvSpPr txBox="1"/>
              <p:nvPr/>
            </p:nvSpPr>
            <p:spPr bwMode="auto">
              <a:xfrm>
                <a:off x="4992938" y="1822966"/>
                <a:ext cx="2925763" cy="789889"/>
              </a:xfrm>
              <a:prstGeom prst="rect">
                <a:avLst/>
              </a:prstGeom>
              <a:noFill/>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𝑉𝐼𝐹</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𝑟</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b>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p>
                          </m:sSubSup>
                        </m:den>
                      </m:f>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 name="Object 7">
                <a:extLst>
                  <a:ext uri="{FF2B5EF4-FFF2-40B4-BE49-F238E27FC236}">
                    <a16:creationId xmlns:a16="http://schemas.microsoft.com/office/drawing/2014/main" id="{0725A520-E476-2D40-43CA-F5D763D0EE8C}"/>
                  </a:ext>
                </a:extLst>
              </p:cNvPr>
              <p:cNvSpPr txBox="1">
                <a:spLocks noRot="1" noChangeAspect="1" noMove="1" noResize="1" noEditPoints="1" noAdjustHandles="1" noChangeArrowheads="1" noChangeShapeType="1" noTextEdit="1"/>
              </p:cNvSpPr>
              <p:nvPr/>
            </p:nvSpPr>
            <p:spPr bwMode="auto">
              <a:xfrm>
                <a:off x="4992938" y="1822966"/>
                <a:ext cx="2925763" cy="78988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bject 1">
                <a:extLst>
                  <a:ext uri="{FF2B5EF4-FFF2-40B4-BE49-F238E27FC236}">
                    <a16:creationId xmlns:a16="http://schemas.microsoft.com/office/drawing/2014/main" id="{0C73BB3F-233F-B0FB-49A2-B67C53529B81}"/>
                  </a:ext>
                </a:extLst>
              </p:cNvPr>
              <p:cNvSpPr txBox="1"/>
              <p:nvPr/>
            </p:nvSpPr>
            <p:spPr bwMode="auto">
              <a:xfrm>
                <a:off x="4116387" y="1422998"/>
                <a:ext cx="3959225" cy="542925"/>
              </a:xfrm>
              <a:prstGeom prst="rect">
                <a:avLst/>
              </a:prstGeom>
              <a:noFill/>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𝑌</m:t>
                          </m:r>
                        </m:e>
                        <m: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𝑖</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𝛽</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𝛽</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𝑋</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𝑖</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𝛽</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𝑋</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𝑖</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𝑢</m:t>
                          </m:r>
                        </m:e>
                        <m: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𝑖</m:t>
                          </m:r>
                        </m:sub>
                      </m:sSub>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7" name="Object 1">
                <a:extLst>
                  <a:ext uri="{FF2B5EF4-FFF2-40B4-BE49-F238E27FC236}">
                    <a16:creationId xmlns:a16="http://schemas.microsoft.com/office/drawing/2014/main" id="{0C73BB3F-233F-B0FB-49A2-B67C53529B81}"/>
                  </a:ext>
                </a:extLst>
              </p:cNvPr>
              <p:cNvSpPr txBox="1">
                <a:spLocks noRot="1" noChangeAspect="1" noMove="1" noResize="1" noEditPoints="1" noAdjustHandles="1" noChangeArrowheads="1" noChangeShapeType="1" noTextEdit="1"/>
              </p:cNvSpPr>
              <p:nvPr/>
            </p:nvSpPr>
            <p:spPr bwMode="auto">
              <a:xfrm>
                <a:off x="4116387" y="1422998"/>
                <a:ext cx="3959225" cy="542925"/>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0420354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C46C5-AB84-68D7-8684-4EA3067E1221}"/>
              </a:ext>
            </a:extLst>
          </p:cNvPr>
          <p:cNvSpPr>
            <a:spLocks noGrp="1"/>
          </p:cNvSpPr>
          <p:nvPr>
            <p:ph type="title"/>
          </p:nvPr>
        </p:nvSpPr>
        <p:spPr>
          <a:xfrm>
            <a:off x="135609" y="31321"/>
            <a:ext cx="11513949" cy="700200"/>
          </a:xfrm>
        </p:spPr>
        <p:txBody>
          <a:bodyPr>
            <a:normAutofit/>
          </a:bodyPr>
          <a:lstStyle/>
          <a:p>
            <a:r>
              <a:rPr lang="en-US" sz="3600" dirty="0">
                <a:latin typeface="Arial" panose="020B0604020202020204" pitchFamily="34" charset="0"/>
                <a:cs typeface="Arial" panose="020B0604020202020204" pitchFamily="34" charset="0"/>
              </a:rPr>
              <a:t>What should we do if we detect multicollinearity?</a:t>
            </a:r>
          </a:p>
        </p:txBody>
      </p:sp>
      <p:sp>
        <p:nvSpPr>
          <p:cNvPr id="3" name="Content Placeholder 2">
            <a:extLst>
              <a:ext uri="{FF2B5EF4-FFF2-40B4-BE49-F238E27FC236}">
                <a16:creationId xmlns:a16="http://schemas.microsoft.com/office/drawing/2014/main" id="{00C940F8-4BBC-CE47-2ECD-FB20434A9517}"/>
              </a:ext>
            </a:extLst>
          </p:cNvPr>
          <p:cNvSpPr>
            <a:spLocks noGrp="1"/>
          </p:cNvSpPr>
          <p:nvPr>
            <p:ph idx="1"/>
          </p:nvPr>
        </p:nvSpPr>
        <p:spPr>
          <a:xfrm>
            <a:off x="242859" y="636595"/>
            <a:ext cx="10515600" cy="1716461"/>
          </a:xfrm>
        </p:spPr>
        <p:txBody>
          <a:bodyPr>
            <a:normAutofit/>
          </a:bodyPr>
          <a:lstStyle/>
          <a:p>
            <a:r>
              <a:rPr lang="en-US" sz="2000" dirty="0">
                <a:latin typeface="Arial" panose="020B0604020202020204" pitchFamily="34" charset="0"/>
                <a:cs typeface="Arial" panose="020B0604020202020204" pitchFamily="34" charset="0"/>
              </a:rPr>
              <a:t>Nothing, for we often have no control over the data and our model is driven by theory </a:t>
            </a:r>
          </a:p>
          <a:p>
            <a:r>
              <a:rPr lang="en-US" sz="2000" dirty="0">
                <a:latin typeface="Arial" panose="020B0604020202020204" pitchFamily="34" charset="0"/>
                <a:cs typeface="Arial" panose="020B0604020202020204" pitchFamily="34" charset="0"/>
              </a:rPr>
              <a:t>Redefine the model by excluding variables may attenuate the problem, provided we do not omit relevant variables</a:t>
            </a:r>
          </a:p>
          <a:p>
            <a:r>
              <a:rPr lang="en-US" sz="2000" dirty="0">
                <a:latin typeface="Arial" panose="020B0604020202020204" pitchFamily="34" charset="0"/>
                <a:cs typeface="Arial" panose="020B0604020202020204" pitchFamily="34" charset="0"/>
              </a:rPr>
              <a:t>Principal components analysis (this is something we will cover </a:t>
            </a:r>
            <a:r>
              <a:rPr lang="en-US" sz="2000" i="1" dirty="0">
                <a:latin typeface="Arial" panose="020B0604020202020204" pitchFamily="34" charset="0"/>
                <a:cs typeface="Arial" panose="020B0604020202020204" pitchFamily="34" charset="0"/>
              </a:rPr>
              <a:t>later</a:t>
            </a:r>
            <a:r>
              <a:rPr lang="en-US" sz="2000" dirty="0">
                <a:latin typeface="Arial" panose="020B0604020202020204" pitchFamily="34" charset="0"/>
                <a:cs typeface="Arial" panose="020B0604020202020204" pitchFamily="34" charset="0"/>
              </a:rPr>
              <a:t>)</a:t>
            </a:r>
          </a:p>
          <a:p>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4161695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B8605-9EF8-2B75-59CF-A133DA60B119}"/>
              </a:ext>
            </a:extLst>
          </p:cNvPr>
          <p:cNvSpPr>
            <a:spLocks noGrp="1"/>
          </p:cNvSpPr>
          <p:nvPr>
            <p:ph type="title"/>
          </p:nvPr>
        </p:nvSpPr>
        <p:spPr>
          <a:xfrm>
            <a:off x="160171" y="186501"/>
            <a:ext cx="11135357" cy="891954"/>
          </a:xfrm>
        </p:spPr>
        <p:txBody>
          <a:bodyPr>
            <a:normAutofit/>
          </a:bodyPr>
          <a:lstStyle/>
          <a:p>
            <a:r>
              <a:rPr lang="en-US" dirty="0">
                <a:latin typeface="Aptos Display (Headings)"/>
              </a:rPr>
              <a:t>Outliers</a:t>
            </a:r>
          </a:p>
        </p:txBody>
      </p:sp>
      <p:sp>
        <p:nvSpPr>
          <p:cNvPr id="3" name="Content Placeholder 2">
            <a:extLst>
              <a:ext uri="{FF2B5EF4-FFF2-40B4-BE49-F238E27FC236}">
                <a16:creationId xmlns:a16="http://schemas.microsoft.com/office/drawing/2014/main" id="{FE1FD500-57BC-A9CA-1B76-2B9746D648DB}"/>
              </a:ext>
            </a:extLst>
          </p:cNvPr>
          <p:cNvSpPr>
            <a:spLocks noGrp="1"/>
          </p:cNvSpPr>
          <p:nvPr>
            <p:ph idx="1"/>
          </p:nvPr>
        </p:nvSpPr>
        <p:spPr>
          <a:xfrm>
            <a:off x="346021" y="1305995"/>
            <a:ext cx="10763655" cy="2399314"/>
          </a:xfrm>
        </p:spPr>
        <p:txBody>
          <a:bodyPr anchor="ctr">
            <a:noAutofit/>
          </a:bodyPr>
          <a:lstStyle/>
          <a:p>
            <a:r>
              <a:rPr lang="en-US" sz="2000" b="1" dirty="0">
                <a:latin typeface="Arial" panose="020B0604020202020204" pitchFamily="34" charset="0"/>
                <a:cs typeface="Arial" panose="020B0604020202020204" pitchFamily="34" charset="0"/>
              </a:rPr>
              <a:t>Outlier</a:t>
            </a:r>
            <a:r>
              <a:rPr lang="en-US" sz="2000" dirty="0">
                <a:latin typeface="Arial" panose="020B0604020202020204" pitchFamily="34" charset="0"/>
                <a:cs typeface="Arial" panose="020B0604020202020204" pitchFamily="34" charset="0"/>
              </a:rPr>
              <a:t>: An outlier is unusual in the outcome (Y). </a:t>
            </a:r>
          </a:p>
          <a:p>
            <a:pPr lvl="1"/>
            <a:r>
              <a:rPr lang="en-US" sz="2000" dirty="0">
                <a:latin typeface="Arial" panose="020B0604020202020204" pitchFamily="34" charset="0"/>
                <a:cs typeface="Arial" panose="020B0604020202020204" pitchFamily="34" charset="0"/>
              </a:rPr>
              <a:t>The response value does not follow the general pattern seen in the rest of the data. </a:t>
            </a:r>
          </a:p>
          <a:p>
            <a:pPr lvl="1"/>
            <a:r>
              <a:rPr lang="en-US" sz="2000" b="1" dirty="0">
                <a:latin typeface="Arial" panose="020B0604020202020204" pitchFamily="34" charset="0"/>
                <a:cs typeface="Arial" panose="020B0604020202020204" pitchFamily="34" charset="0"/>
              </a:rPr>
              <a:t>Example</a:t>
            </a:r>
            <a:r>
              <a:rPr lang="en-US" sz="2000" dirty="0">
                <a:latin typeface="Arial" panose="020B0604020202020204" pitchFamily="34" charset="0"/>
                <a:cs typeface="Arial" panose="020B0604020202020204" pitchFamily="34" charset="0"/>
              </a:rPr>
              <a:t>: if income usually increases with education, but one person with very high education has an extremely low income, that observation may be an outlier in Y.</a:t>
            </a:r>
          </a:p>
          <a:p>
            <a:r>
              <a:rPr lang="en-US" sz="2000" dirty="0">
                <a:latin typeface="Arial" panose="020B0604020202020204" pitchFamily="34" charset="0"/>
                <a:cs typeface="Arial" panose="020B0604020202020204" pitchFamily="34" charset="0"/>
              </a:rPr>
              <a:t>Outliers are often identified using the interquartile range (IQR) rule: </a:t>
            </a:r>
          </a:p>
          <a:p>
            <a:pPr lvl="1"/>
            <a:r>
              <a:rPr lang="en-US" sz="2000" dirty="0">
                <a:latin typeface="Arial" panose="020B0604020202020204" pitchFamily="34" charset="0"/>
                <a:cs typeface="Arial" panose="020B0604020202020204" pitchFamily="34" charset="0"/>
              </a:rPr>
              <a:t> A point is considered an outlier if it falls beyond 1.5 times the IQR (i.e., 1.5×(𝑄3−𝑄1)) above the third quartile (Q3) or below the first quartile (Q1).</a:t>
            </a:r>
          </a:p>
        </p:txBody>
      </p:sp>
    </p:spTree>
    <p:extLst>
      <p:ext uri="{BB962C8B-B14F-4D97-AF65-F5344CB8AC3E}">
        <p14:creationId xmlns:p14="http://schemas.microsoft.com/office/powerpoint/2010/main" val="115113542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76B61-1EC4-B0E1-15D5-41BD40363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DBC56C-1536-5CAA-6C95-7B3CAEA97AED}"/>
              </a:ext>
            </a:extLst>
          </p:cNvPr>
          <p:cNvSpPr>
            <a:spLocks noGrp="1"/>
          </p:cNvSpPr>
          <p:nvPr>
            <p:ph type="title"/>
          </p:nvPr>
        </p:nvSpPr>
        <p:spPr>
          <a:xfrm>
            <a:off x="160171" y="186501"/>
            <a:ext cx="11135357" cy="891954"/>
          </a:xfrm>
        </p:spPr>
        <p:txBody>
          <a:bodyPr>
            <a:normAutofit/>
          </a:bodyPr>
          <a:lstStyle/>
          <a:p>
            <a:r>
              <a:rPr lang="en-US" dirty="0">
                <a:latin typeface="Aptos Display (Headings)"/>
              </a:rPr>
              <a:t>Leverage Points</a:t>
            </a:r>
          </a:p>
        </p:txBody>
      </p:sp>
      <p:sp>
        <p:nvSpPr>
          <p:cNvPr id="3" name="Content Placeholder 2">
            <a:extLst>
              <a:ext uri="{FF2B5EF4-FFF2-40B4-BE49-F238E27FC236}">
                <a16:creationId xmlns:a16="http://schemas.microsoft.com/office/drawing/2014/main" id="{5B4A5F14-56A2-E8B1-86B9-3E2634C5C850}"/>
              </a:ext>
            </a:extLst>
          </p:cNvPr>
          <p:cNvSpPr>
            <a:spLocks noGrp="1"/>
          </p:cNvSpPr>
          <p:nvPr>
            <p:ph idx="1"/>
          </p:nvPr>
        </p:nvSpPr>
        <p:spPr>
          <a:xfrm>
            <a:off x="346021" y="1011797"/>
            <a:ext cx="10763655" cy="3918012"/>
          </a:xfrm>
        </p:spPr>
        <p:txBody>
          <a:bodyPr anchor="ctr">
            <a:noAutofit/>
          </a:bodyPr>
          <a:lstStyle/>
          <a:p>
            <a:r>
              <a:rPr lang="en-US" sz="2000" b="1" dirty="0">
                <a:latin typeface="Arial" panose="020B0604020202020204" pitchFamily="34" charset="0"/>
                <a:cs typeface="Arial" panose="020B0604020202020204" pitchFamily="34" charset="0"/>
              </a:rPr>
              <a:t>High Leverage Point</a:t>
            </a:r>
            <a:r>
              <a:rPr lang="en-US" sz="2000" dirty="0">
                <a:latin typeface="Arial" panose="020B0604020202020204" pitchFamily="34" charset="0"/>
                <a:cs typeface="Arial" panose="020B0604020202020204" pitchFamily="34" charset="0"/>
              </a:rPr>
              <a:t>: A data point with an extreme value for one or more predictor variables (</a:t>
            </a:r>
            <a:r>
              <a:rPr lang="en-US" sz="2000" i="1" dirty="0">
                <a:latin typeface="Arial" panose="020B0604020202020204" pitchFamily="34" charset="0"/>
                <a:cs typeface="Arial" panose="020B0604020202020204" pitchFamily="34" charset="0"/>
              </a:rPr>
              <a:t>X</a:t>
            </a:r>
            <a:r>
              <a:rPr lang="en-US" sz="2000" dirty="0">
                <a:latin typeface="Arial" panose="020B0604020202020204" pitchFamily="34" charset="0"/>
                <a:cs typeface="Arial" panose="020B0604020202020204" pitchFamily="34" charset="0"/>
              </a:rPr>
              <a:t>).</a:t>
            </a:r>
          </a:p>
          <a:p>
            <a:pPr lvl="1"/>
            <a:r>
              <a:rPr lang="en-US" sz="2000" dirty="0">
                <a:latin typeface="Arial" panose="020B0604020202020204" pitchFamily="34" charset="0"/>
                <a:cs typeface="Arial" panose="020B0604020202020204" pitchFamily="34" charset="0"/>
              </a:rPr>
              <a:t>It occurs when a data point has predictor values that are far from where most observations lie. </a:t>
            </a:r>
          </a:p>
          <a:p>
            <a:pPr lvl="1"/>
            <a:r>
              <a:rPr lang="en-US" sz="2000" dirty="0">
                <a:latin typeface="Arial" panose="020B0604020202020204" pitchFamily="34" charset="0"/>
                <a:cs typeface="Arial" panose="020B0604020202020204" pitchFamily="34" charset="0"/>
              </a:rPr>
              <a:t>Such points matter because regression lines or planes are pulled toward extreme values of the predictor. </a:t>
            </a:r>
          </a:p>
          <a:p>
            <a:pPr lvl="2"/>
            <a:r>
              <a:rPr lang="en-US" dirty="0">
                <a:latin typeface="Arial" panose="020B0604020202020204" pitchFamily="34" charset="0"/>
                <a:cs typeface="Arial" panose="020B0604020202020204" pitchFamily="34" charset="0"/>
              </a:rPr>
              <a:t>In a </a:t>
            </a:r>
            <a:r>
              <a:rPr lang="en-US" b="1" dirty="0">
                <a:latin typeface="Arial" panose="020B0604020202020204" pitchFamily="34" charset="0"/>
                <a:cs typeface="Arial" panose="020B0604020202020204" pitchFamily="34" charset="0"/>
              </a:rPr>
              <a:t>single predictor model</a:t>
            </a:r>
            <a:r>
              <a:rPr lang="en-US" dirty="0">
                <a:latin typeface="Arial" panose="020B0604020202020204" pitchFamily="34" charset="0"/>
                <a:cs typeface="Arial" panose="020B0604020202020204" pitchFamily="34" charset="0"/>
              </a:rPr>
              <a:t>, this is easy to see. A high leverage point simply has a very large or very small X value compared to the rest of the data.</a:t>
            </a:r>
          </a:p>
          <a:p>
            <a:pPr lvl="2"/>
            <a:r>
              <a:rPr lang="en-US" dirty="0">
                <a:latin typeface="Arial" panose="020B0604020202020204" pitchFamily="34" charset="0"/>
                <a:cs typeface="Arial" panose="020B0604020202020204" pitchFamily="34" charset="0"/>
              </a:rPr>
              <a:t>In a </a:t>
            </a:r>
            <a:r>
              <a:rPr lang="en-US" b="1" dirty="0">
                <a:latin typeface="Arial" panose="020B0604020202020204" pitchFamily="34" charset="0"/>
                <a:cs typeface="Arial" panose="020B0604020202020204" pitchFamily="34" charset="0"/>
              </a:rPr>
              <a:t>multiple predictor model</a:t>
            </a:r>
            <a:r>
              <a:rPr lang="en-US" dirty="0">
                <a:latin typeface="Arial" panose="020B0604020202020204" pitchFamily="34" charset="0"/>
                <a:cs typeface="Arial" panose="020B0604020202020204" pitchFamily="34" charset="0"/>
              </a:rPr>
              <a:t>, things become less obvious because leverage depends on the </a:t>
            </a:r>
            <a:r>
              <a:rPr lang="en-US" i="1" dirty="0">
                <a:latin typeface="Arial" panose="020B0604020202020204" pitchFamily="34" charset="0"/>
                <a:cs typeface="Arial" panose="020B0604020202020204" pitchFamily="34" charset="0"/>
              </a:rPr>
              <a:t>combination</a:t>
            </a:r>
            <a:r>
              <a:rPr lang="en-US" dirty="0">
                <a:latin typeface="Arial" panose="020B0604020202020204" pitchFamily="34" charset="0"/>
                <a:cs typeface="Arial" panose="020B0604020202020204" pitchFamily="34" charset="0"/>
              </a:rPr>
              <a:t> of predictors, not just one variable at a time. A point may not look extreme on any single predictor, but the combination of values may be unusual.</a:t>
            </a:r>
          </a:p>
        </p:txBody>
      </p:sp>
    </p:spTree>
    <p:extLst>
      <p:ext uri="{BB962C8B-B14F-4D97-AF65-F5344CB8AC3E}">
        <p14:creationId xmlns:p14="http://schemas.microsoft.com/office/powerpoint/2010/main" val="130057886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64FC5-E8D8-B291-67EC-B4415A7FBCCF}"/>
              </a:ext>
            </a:extLst>
          </p:cNvPr>
          <p:cNvSpPr>
            <a:spLocks noGrp="1"/>
          </p:cNvSpPr>
          <p:nvPr>
            <p:ph type="title"/>
          </p:nvPr>
        </p:nvSpPr>
        <p:spPr>
          <a:xfrm>
            <a:off x="186193" y="190197"/>
            <a:ext cx="10515600" cy="740106"/>
          </a:xfrm>
        </p:spPr>
        <p:txBody>
          <a:bodyPr>
            <a:normAutofit/>
          </a:bodyPr>
          <a:lstStyle/>
          <a:p>
            <a:r>
              <a:rPr lang="en-US" sz="3600" dirty="0">
                <a:latin typeface="Arial" panose="020B0604020202020204" pitchFamily="34" charset="0"/>
                <a:cs typeface="Arial" panose="020B0604020202020204" pitchFamily="34" charset="0"/>
              </a:rPr>
              <a:t>Leverage Example</a:t>
            </a:r>
          </a:p>
        </p:txBody>
      </p:sp>
      <p:sp>
        <p:nvSpPr>
          <p:cNvPr id="3" name="Content Placeholder 2">
            <a:extLst>
              <a:ext uri="{FF2B5EF4-FFF2-40B4-BE49-F238E27FC236}">
                <a16:creationId xmlns:a16="http://schemas.microsoft.com/office/drawing/2014/main" id="{8696F900-CEF1-FD11-0848-6F70B556C1DD}"/>
              </a:ext>
            </a:extLst>
          </p:cNvPr>
          <p:cNvSpPr>
            <a:spLocks noGrp="1"/>
          </p:cNvSpPr>
          <p:nvPr>
            <p:ph idx="1"/>
          </p:nvPr>
        </p:nvSpPr>
        <p:spPr>
          <a:xfrm>
            <a:off x="353171" y="930303"/>
            <a:ext cx="10515600" cy="4351338"/>
          </a:xfrm>
        </p:spPr>
        <p:txBody>
          <a:bodyPr>
            <a:normAutofit/>
          </a:bodyPr>
          <a:lstStyle/>
          <a:p>
            <a:r>
              <a:rPr lang="en-US" sz="2000" b="1" dirty="0">
                <a:latin typeface="Arial" panose="020B0604020202020204" pitchFamily="34" charset="0"/>
                <a:cs typeface="Arial" panose="020B0604020202020204" pitchFamily="34" charset="0"/>
              </a:rPr>
              <a:t>Example</a:t>
            </a:r>
            <a:r>
              <a:rPr lang="en-US" sz="2000" dirty="0">
                <a:latin typeface="Arial" panose="020B0604020202020204" pitchFamily="34" charset="0"/>
                <a:cs typeface="Arial" panose="020B0604020202020204" pitchFamily="34" charset="0"/>
              </a:rPr>
              <a:t>: Suppose education and job experience are strongly positively correlated — people with more education usually also have more experience. Most observations lie along that pattern. </a:t>
            </a:r>
          </a:p>
          <a:p>
            <a:pPr lvl="1"/>
            <a:r>
              <a:rPr lang="en-US" sz="2000" dirty="0">
                <a:latin typeface="Arial" panose="020B0604020202020204" pitchFamily="34" charset="0"/>
                <a:cs typeface="Arial" panose="020B0604020202020204" pitchFamily="34" charset="0"/>
              </a:rPr>
              <a:t>Imagine someone with extremely high education but very low experience. Neither value alone may look extreme, but that </a:t>
            </a:r>
            <a:r>
              <a:rPr lang="en-US" sz="2000" i="1" dirty="0">
                <a:latin typeface="Arial" panose="020B0604020202020204" pitchFamily="34" charset="0"/>
                <a:cs typeface="Arial" panose="020B0604020202020204" pitchFamily="34" charset="0"/>
              </a:rPr>
              <a:t>combination</a:t>
            </a:r>
            <a:r>
              <a:rPr lang="en-US" sz="2000" dirty="0">
                <a:latin typeface="Arial" panose="020B0604020202020204" pitchFamily="34" charset="0"/>
                <a:cs typeface="Arial" panose="020B0604020202020204" pitchFamily="34" charset="0"/>
              </a:rPr>
              <a:t> is rare. </a:t>
            </a:r>
          </a:p>
          <a:p>
            <a:pPr lvl="1"/>
            <a:r>
              <a:rPr lang="en-US" sz="2000" dirty="0">
                <a:latin typeface="Arial" panose="020B0604020202020204" pitchFamily="34" charset="0"/>
                <a:cs typeface="Arial" panose="020B0604020202020204" pitchFamily="34" charset="0"/>
              </a:rPr>
              <a:t>Because the regression surface has little data in that region, this case </a:t>
            </a:r>
            <a:r>
              <a:rPr lang="en-US" sz="2000" b="1" u="sng" dirty="0">
                <a:latin typeface="Arial" panose="020B0604020202020204" pitchFamily="34" charset="0"/>
                <a:cs typeface="Arial" panose="020B0604020202020204" pitchFamily="34" charset="0"/>
              </a:rPr>
              <a:t>can</a:t>
            </a:r>
            <a:r>
              <a:rPr lang="en-US" sz="2000" dirty="0">
                <a:latin typeface="Arial" panose="020B0604020202020204" pitchFamily="34" charset="0"/>
                <a:cs typeface="Arial" panose="020B0604020202020204" pitchFamily="34" charset="0"/>
              </a:rPr>
              <a:t> strongly influence the fitted model, giving it high leverage.</a:t>
            </a:r>
          </a:p>
          <a:p>
            <a:r>
              <a:rPr lang="en-US" sz="2000" dirty="0">
                <a:latin typeface="Arial" panose="020B0604020202020204" pitchFamily="34" charset="0"/>
                <a:cs typeface="Arial" panose="020B0604020202020204" pitchFamily="34" charset="0"/>
              </a:rPr>
              <a:t>So the key idea is:</a:t>
            </a:r>
          </a:p>
          <a:p>
            <a:pPr lvl="1"/>
            <a:r>
              <a:rPr lang="en-US" sz="2000" dirty="0">
                <a:latin typeface="Arial" panose="020B0604020202020204" pitchFamily="34" charset="0"/>
                <a:cs typeface="Arial" panose="020B0604020202020204" pitchFamily="34" charset="0"/>
              </a:rPr>
              <a:t>Outlier → unusual </a:t>
            </a:r>
            <a:r>
              <a:rPr lang="en-US" sz="2000" b="1" dirty="0">
                <a:latin typeface="Arial" panose="020B0604020202020204" pitchFamily="34" charset="0"/>
                <a:cs typeface="Arial" panose="020B0604020202020204" pitchFamily="34" charset="0"/>
              </a:rPr>
              <a:t>Y value</a:t>
            </a:r>
            <a:r>
              <a:rPr lang="en-US" sz="2000" dirty="0">
                <a:latin typeface="Arial" panose="020B0604020202020204" pitchFamily="34" charset="0"/>
                <a:cs typeface="Arial" panose="020B0604020202020204" pitchFamily="34" charset="0"/>
              </a:rPr>
              <a:t>.</a:t>
            </a:r>
          </a:p>
          <a:p>
            <a:pPr lvl="1"/>
            <a:r>
              <a:rPr lang="en-US" sz="2000" dirty="0">
                <a:latin typeface="Arial" panose="020B0604020202020204" pitchFamily="34" charset="0"/>
                <a:cs typeface="Arial" panose="020B0604020202020204" pitchFamily="34" charset="0"/>
              </a:rPr>
              <a:t>High leverage → unusual </a:t>
            </a:r>
            <a:r>
              <a:rPr lang="en-US" sz="2000" b="1" dirty="0">
                <a:latin typeface="Arial" panose="020B0604020202020204" pitchFamily="34" charset="0"/>
                <a:cs typeface="Arial" panose="020B0604020202020204" pitchFamily="34" charset="0"/>
              </a:rPr>
              <a:t>X combination</a:t>
            </a:r>
            <a:r>
              <a:rPr lang="en-US" sz="2000" dirty="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8678599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FF665-F7A6-4FAB-2E23-7478F68A90A3}"/>
              </a:ext>
            </a:extLst>
          </p:cNvPr>
          <p:cNvSpPr>
            <a:spLocks noGrp="1"/>
          </p:cNvSpPr>
          <p:nvPr>
            <p:ph type="title"/>
          </p:nvPr>
        </p:nvSpPr>
        <p:spPr>
          <a:xfrm>
            <a:off x="177937" y="235455"/>
            <a:ext cx="10515600" cy="776001"/>
          </a:xfrm>
        </p:spPr>
        <p:txBody>
          <a:bodyPr>
            <a:normAutofit fontScale="90000"/>
          </a:bodyPr>
          <a:lstStyle/>
          <a:p>
            <a:r>
              <a:rPr lang="en-US" dirty="0">
                <a:latin typeface="Aptos Display (Headings)"/>
              </a:rPr>
              <a:t>Who’s the problem? Influencers, </a:t>
            </a:r>
            <a:r>
              <a:rPr lang="en-US" dirty="0" err="1">
                <a:latin typeface="Aptos Display (Headings)"/>
              </a:rPr>
              <a:t>Leverag-ors</a:t>
            </a:r>
            <a:r>
              <a:rPr lang="en-US" dirty="0">
                <a:latin typeface="Aptos Display (Headings)"/>
              </a:rPr>
              <a:t> and Outliers</a:t>
            </a:r>
          </a:p>
        </p:txBody>
      </p:sp>
      <p:pic>
        <p:nvPicPr>
          <p:cNvPr id="5" name="Picture 4">
            <a:extLst>
              <a:ext uri="{FF2B5EF4-FFF2-40B4-BE49-F238E27FC236}">
                <a16:creationId xmlns:a16="http://schemas.microsoft.com/office/drawing/2014/main" id="{3C91F41B-1314-ECF8-5B08-E7D9B2B00E19}"/>
              </a:ext>
            </a:extLst>
          </p:cNvPr>
          <p:cNvPicPr>
            <a:picLocks noChangeAspect="1"/>
          </p:cNvPicPr>
          <p:nvPr/>
        </p:nvPicPr>
        <p:blipFill>
          <a:blip r:embed="rId2"/>
          <a:stretch>
            <a:fillRect/>
          </a:stretch>
        </p:blipFill>
        <p:spPr>
          <a:xfrm>
            <a:off x="398024" y="1787457"/>
            <a:ext cx="2971800" cy="2971800"/>
          </a:xfrm>
          <a:prstGeom prst="rect">
            <a:avLst/>
          </a:prstGeom>
        </p:spPr>
      </p:pic>
      <p:sp>
        <p:nvSpPr>
          <p:cNvPr id="7" name="TextBox 6">
            <a:extLst>
              <a:ext uri="{FF2B5EF4-FFF2-40B4-BE49-F238E27FC236}">
                <a16:creationId xmlns:a16="http://schemas.microsoft.com/office/drawing/2014/main" id="{A722D382-6393-4F6A-5A49-19B22F4D2AED}"/>
              </a:ext>
            </a:extLst>
          </p:cNvPr>
          <p:cNvSpPr txBox="1"/>
          <p:nvPr/>
        </p:nvSpPr>
        <p:spPr>
          <a:xfrm>
            <a:off x="177937" y="4855981"/>
            <a:ext cx="3333748"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001D35"/>
                </a:solidFill>
                <a:effectLst/>
                <a:uLnTx/>
                <a:uFillTx/>
                <a:latin typeface="Google Sans"/>
                <a:ea typeface="+mn-ea"/>
                <a:cs typeface="+mn-cs"/>
              </a:rPr>
              <a:t>High leverage, no influence</a:t>
            </a:r>
            <a:r>
              <a:rPr kumimoji="0" lang="en-US" sz="1800" b="0" i="0" u="none" strike="noStrike" kern="1200" cap="none" spc="0" normalizeH="0" baseline="0" noProof="0" dirty="0">
                <a:ln>
                  <a:noFill/>
                </a:ln>
                <a:solidFill>
                  <a:srgbClr val="001D35"/>
                </a:solidFill>
                <a:effectLst/>
                <a:uLnTx/>
                <a:uFillTx/>
                <a:latin typeface="Google Sans"/>
                <a:ea typeface="+mn-ea"/>
                <a:cs typeface="+mn-cs"/>
              </a:rPr>
              <a:t>: </a:t>
            </a:r>
            <a:r>
              <a:rPr lang="en-US" dirty="0">
                <a:solidFill>
                  <a:prstClr val="black"/>
                </a:solidFill>
                <a:latin typeface="Calibri" panose="020F0502020204030204"/>
              </a:rPr>
              <a:t>An extreme value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i.e., lots of followers but no real impact</a:t>
            </a:r>
          </a:p>
        </p:txBody>
      </p:sp>
      <p:pic>
        <p:nvPicPr>
          <p:cNvPr id="9" name="Picture 8">
            <a:extLst>
              <a:ext uri="{FF2B5EF4-FFF2-40B4-BE49-F238E27FC236}">
                <a16:creationId xmlns:a16="http://schemas.microsoft.com/office/drawing/2014/main" id="{FE3E3F6A-4887-AF26-0F88-D23CBB592032}"/>
              </a:ext>
            </a:extLst>
          </p:cNvPr>
          <p:cNvPicPr>
            <a:picLocks noChangeAspect="1"/>
          </p:cNvPicPr>
          <p:nvPr/>
        </p:nvPicPr>
        <p:blipFill>
          <a:blip r:embed="rId3"/>
          <a:stretch>
            <a:fillRect/>
          </a:stretch>
        </p:blipFill>
        <p:spPr>
          <a:xfrm>
            <a:off x="3761361" y="1919740"/>
            <a:ext cx="3608091" cy="2474576"/>
          </a:xfrm>
          <a:prstGeom prst="rect">
            <a:avLst/>
          </a:prstGeom>
        </p:spPr>
      </p:pic>
      <p:sp>
        <p:nvSpPr>
          <p:cNvPr id="11" name="TextBox 10">
            <a:extLst>
              <a:ext uri="{FF2B5EF4-FFF2-40B4-BE49-F238E27FC236}">
                <a16:creationId xmlns:a16="http://schemas.microsoft.com/office/drawing/2014/main" id="{F52C5B3F-3C99-C4C9-B2CA-D194BE7E9959}"/>
              </a:ext>
            </a:extLst>
          </p:cNvPr>
          <p:cNvSpPr txBox="1"/>
          <p:nvPr/>
        </p:nvSpPr>
        <p:spPr>
          <a:xfrm>
            <a:off x="3667483" y="4436091"/>
            <a:ext cx="3795845" cy="1200329"/>
          </a:xfrm>
          <a:prstGeom prst="rect">
            <a:avLst/>
          </a:prstGeom>
          <a:noFill/>
        </p:spPr>
        <p:txBody>
          <a:bodyPr wrap="square">
            <a:spAutoFit/>
          </a:bodyPr>
          <a:lstStyle/>
          <a:p>
            <a:pPr lvl="0">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Trendsetters: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Some people are influential</a:t>
            </a:r>
            <a:r>
              <a:rPr lang="en-US" dirty="0">
                <a:solidFill>
                  <a:prstClr val="black"/>
                </a:solidFill>
              </a:rPr>
              <a:t>; they set trends (high leverage, strong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influence). Extreme values that change the regression line.</a:t>
            </a:r>
          </a:p>
        </p:txBody>
      </p:sp>
      <p:sp>
        <p:nvSpPr>
          <p:cNvPr id="13" name="TextBox 12">
            <a:extLst>
              <a:ext uri="{FF2B5EF4-FFF2-40B4-BE49-F238E27FC236}">
                <a16:creationId xmlns:a16="http://schemas.microsoft.com/office/drawing/2014/main" id="{B19A61BE-28D2-C729-6435-18CDD00C4AAE}"/>
              </a:ext>
            </a:extLst>
          </p:cNvPr>
          <p:cNvSpPr txBox="1"/>
          <p:nvPr/>
        </p:nvSpPr>
        <p:spPr>
          <a:xfrm>
            <a:off x="7605189" y="4903888"/>
            <a:ext cx="4254230"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Bizarre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Some things are outliers, meaning they are an unusual outcome (i.e., millions made on a pet rock), but sales follows the general ‘trend’</a:t>
            </a:r>
          </a:p>
        </p:txBody>
      </p:sp>
      <p:pic>
        <p:nvPicPr>
          <p:cNvPr id="5126" name="Picture 6" descr="Amazon.com: Pet Rock - The Original by Gary Dahl : Pet Supplies">
            <a:extLst>
              <a:ext uri="{FF2B5EF4-FFF2-40B4-BE49-F238E27FC236}">
                <a16:creationId xmlns:a16="http://schemas.microsoft.com/office/drawing/2014/main" id="{986ACBA0-F283-6EB1-D662-15741AEE7D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3328" y="1954111"/>
            <a:ext cx="4396091" cy="2949777"/>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Biography | Representative Lauren Boebert">
            <a:extLst>
              <a:ext uri="{FF2B5EF4-FFF2-40B4-BE49-F238E27FC236}">
                <a16:creationId xmlns:a16="http://schemas.microsoft.com/office/drawing/2014/main" id="{5B796DCE-0CD4-7F70-F085-9227D73E1B7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60430" y="623455"/>
            <a:ext cx="4752652" cy="59349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2599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80">
                                          <p:stCondLst>
                                            <p:cond delay="0"/>
                                          </p:stCondLst>
                                        </p:cTn>
                                        <p:tgtEl>
                                          <p:spTgt spid="7"/>
                                        </p:tgtEl>
                                      </p:cBhvr>
                                    </p:animEffect>
                                    <p:anim calcmode="lin" valueType="num">
                                      <p:cBhvr>
                                        <p:cTn id="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3" dur="26">
                                          <p:stCondLst>
                                            <p:cond delay="650"/>
                                          </p:stCondLst>
                                        </p:cTn>
                                        <p:tgtEl>
                                          <p:spTgt spid="7"/>
                                        </p:tgtEl>
                                      </p:cBhvr>
                                      <p:to x="100000" y="60000"/>
                                    </p:animScale>
                                    <p:animScale>
                                      <p:cBhvr>
                                        <p:cTn id="14" dur="166" decel="50000">
                                          <p:stCondLst>
                                            <p:cond delay="676"/>
                                          </p:stCondLst>
                                        </p:cTn>
                                        <p:tgtEl>
                                          <p:spTgt spid="7"/>
                                        </p:tgtEl>
                                      </p:cBhvr>
                                      <p:to x="100000" y="100000"/>
                                    </p:animScale>
                                    <p:animScale>
                                      <p:cBhvr>
                                        <p:cTn id="15" dur="26">
                                          <p:stCondLst>
                                            <p:cond delay="1312"/>
                                          </p:stCondLst>
                                        </p:cTn>
                                        <p:tgtEl>
                                          <p:spTgt spid="7"/>
                                        </p:tgtEl>
                                      </p:cBhvr>
                                      <p:to x="100000" y="80000"/>
                                    </p:animScale>
                                    <p:animScale>
                                      <p:cBhvr>
                                        <p:cTn id="16" dur="166" decel="50000">
                                          <p:stCondLst>
                                            <p:cond delay="1338"/>
                                          </p:stCondLst>
                                        </p:cTn>
                                        <p:tgtEl>
                                          <p:spTgt spid="7"/>
                                        </p:tgtEl>
                                      </p:cBhvr>
                                      <p:to x="100000" y="100000"/>
                                    </p:animScale>
                                    <p:animScale>
                                      <p:cBhvr>
                                        <p:cTn id="17" dur="26">
                                          <p:stCondLst>
                                            <p:cond delay="1642"/>
                                          </p:stCondLst>
                                        </p:cTn>
                                        <p:tgtEl>
                                          <p:spTgt spid="7"/>
                                        </p:tgtEl>
                                      </p:cBhvr>
                                      <p:to x="100000" y="90000"/>
                                    </p:animScale>
                                    <p:animScale>
                                      <p:cBhvr>
                                        <p:cTn id="18" dur="166" decel="50000">
                                          <p:stCondLst>
                                            <p:cond delay="1668"/>
                                          </p:stCondLst>
                                        </p:cTn>
                                        <p:tgtEl>
                                          <p:spTgt spid="7"/>
                                        </p:tgtEl>
                                      </p:cBhvr>
                                      <p:to x="100000" y="100000"/>
                                    </p:animScale>
                                    <p:animScale>
                                      <p:cBhvr>
                                        <p:cTn id="19" dur="26">
                                          <p:stCondLst>
                                            <p:cond delay="1808"/>
                                          </p:stCondLst>
                                        </p:cTn>
                                        <p:tgtEl>
                                          <p:spTgt spid="7"/>
                                        </p:tgtEl>
                                      </p:cBhvr>
                                      <p:to x="100000" y="95000"/>
                                    </p:animScale>
                                    <p:animScale>
                                      <p:cBhvr>
                                        <p:cTn id="20" dur="166" decel="50000">
                                          <p:stCondLst>
                                            <p:cond delay="1834"/>
                                          </p:stCondLst>
                                        </p:cTn>
                                        <p:tgtEl>
                                          <p:spTgt spid="7"/>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down)">
                                      <p:cBhvr>
                                        <p:cTn id="23" dur="580">
                                          <p:stCondLst>
                                            <p:cond delay="0"/>
                                          </p:stCondLst>
                                        </p:cTn>
                                        <p:tgtEl>
                                          <p:spTgt spid="11"/>
                                        </p:tgtEl>
                                      </p:cBhvr>
                                    </p:animEffect>
                                    <p:anim calcmode="lin" valueType="num">
                                      <p:cBhvr>
                                        <p:cTn id="24"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29" dur="26">
                                          <p:stCondLst>
                                            <p:cond delay="650"/>
                                          </p:stCondLst>
                                        </p:cTn>
                                        <p:tgtEl>
                                          <p:spTgt spid="11"/>
                                        </p:tgtEl>
                                      </p:cBhvr>
                                      <p:to x="100000" y="60000"/>
                                    </p:animScale>
                                    <p:animScale>
                                      <p:cBhvr>
                                        <p:cTn id="30" dur="166" decel="50000">
                                          <p:stCondLst>
                                            <p:cond delay="676"/>
                                          </p:stCondLst>
                                        </p:cTn>
                                        <p:tgtEl>
                                          <p:spTgt spid="11"/>
                                        </p:tgtEl>
                                      </p:cBhvr>
                                      <p:to x="100000" y="100000"/>
                                    </p:animScale>
                                    <p:animScale>
                                      <p:cBhvr>
                                        <p:cTn id="31" dur="26">
                                          <p:stCondLst>
                                            <p:cond delay="1312"/>
                                          </p:stCondLst>
                                        </p:cTn>
                                        <p:tgtEl>
                                          <p:spTgt spid="11"/>
                                        </p:tgtEl>
                                      </p:cBhvr>
                                      <p:to x="100000" y="80000"/>
                                    </p:animScale>
                                    <p:animScale>
                                      <p:cBhvr>
                                        <p:cTn id="32" dur="166" decel="50000">
                                          <p:stCondLst>
                                            <p:cond delay="1338"/>
                                          </p:stCondLst>
                                        </p:cTn>
                                        <p:tgtEl>
                                          <p:spTgt spid="11"/>
                                        </p:tgtEl>
                                      </p:cBhvr>
                                      <p:to x="100000" y="100000"/>
                                    </p:animScale>
                                    <p:animScale>
                                      <p:cBhvr>
                                        <p:cTn id="33" dur="26">
                                          <p:stCondLst>
                                            <p:cond delay="1642"/>
                                          </p:stCondLst>
                                        </p:cTn>
                                        <p:tgtEl>
                                          <p:spTgt spid="11"/>
                                        </p:tgtEl>
                                      </p:cBhvr>
                                      <p:to x="100000" y="90000"/>
                                    </p:animScale>
                                    <p:animScale>
                                      <p:cBhvr>
                                        <p:cTn id="34" dur="166" decel="50000">
                                          <p:stCondLst>
                                            <p:cond delay="1668"/>
                                          </p:stCondLst>
                                        </p:cTn>
                                        <p:tgtEl>
                                          <p:spTgt spid="11"/>
                                        </p:tgtEl>
                                      </p:cBhvr>
                                      <p:to x="100000" y="100000"/>
                                    </p:animScale>
                                    <p:animScale>
                                      <p:cBhvr>
                                        <p:cTn id="35" dur="26">
                                          <p:stCondLst>
                                            <p:cond delay="1808"/>
                                          </p:stCondLst>
                                        </p:cTn>
                                        <p:tgtEl>
                                          <p:spTgt spid="11"/>
                                        </p:tgtEl>
                                      </p:cBhvr>
                                      <p:to x="100000" y="95000"/>
                                    </p:animScale>
                                    <p:animScale>
                                      <p:cBhvr>
                                        <p:cTn id="36" dur="166" decel="50000">
                                          <p:stCondLst>
                                            <p:cond delay="1834"/>
                                          </p:stCondLst>
                                        </p:cTn>
                                        <p:tgtEl>
                                          <p:spTgt spid="11"/>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down)">
                                      <p:cBhvr>
                                        <p:cTn id="39" dur="580">
                                          <p:stCondLst>
                                            <p:cond delay="0"/>
                                          </p:stCondLst>
                                        </p:cTn>
                                        <p:tgtEl>
                                          <p:spTgt spid="13"/>
                                        </p:tgtEl>
                                      </p:cBhvr>
                                    </p:animEffect>
                                    <p:anim calcmode="lin" valueType="num">
                                      <p:cBhvr>
                                        <p:cTn id="40"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45" dur="26">
                                          <p:stCondLst>
                                            <p:cond delay="650"/>
                                          </p:stCondLst>
                                        </p:cTn>
                                        <p:tgtEl>
                                          <p:spTgt spid="13"/>
                                        </p:tgtEl>
                                      </p:cBhvr>
                                      <p:to x="100000" y="60000"/>
                                    </p:animScale>
                                    <p:animScale>
                                      <p:cBhvr>
                                        <p:cTn id="46" dur="166" decel="50000">
                                          <p:stCondLst>
                                            <p:cond delay="676"/>
                                          </p:stCondLst>
                                        </p:cTn>
                                        <p:tgtEl>
                                          <p:spTgt spid="13"/>
                                        </p:tgtEl>
                                      </p:cBhvr>
                                      <p:to x="100000" y="100000"/>
                                    </p:animScale>
                                    <p:animScale>
                                      <p:cBhvr>
                                        <p:cTn id="47" dur="26">
                                          <p:stCondLst>
                                            <p:cond delay="1312"/>
                                          </p:stCondLst>
                                        </p:cTn>
                                        <p:tgtEl>
                                          <p:spTgt spid="13"/>
                                        </p:tgtEl>
                                      </p:cBhvr>
                                      <p:to x="100000" y="80000"/>
                                    </p:animScale>
                                    <p:animScale>
                                      <p:cBhvr>
                                        <p:cTn id="48" dur="166" decel="50000">
                                          <p:stCondLst>
                                            <p:cond delay="1338"/>
                                          </p:stCondLst>
                                        </p:cTn>
                                        <p:tgtEl>
                                          <p:spTgt spid="13"/>
                                        </p:tgtEl>
                                      </p:cBhvr>
                                      <p:to x="100000" y="100000"/>
                                    </p:animScale>
                                    <p:animScale>
                                      <p:cBhvr>
                                        <p:cTn id="49" dur="26">
                                          <p:stCondLst>
                                            <p:cond delay="1642"/>
                                          </p:stCondLst>
                                        </p:cTn>
                                        <p:tgtEl>
                                          <p:spTgt spid="13"/>
                                        </p:tgtEl>
                                      </p:cBhvr>
                                      <p:to x="100000" y="90000"/>
                                    </p:animScale>
                                    <p:animScale>
                                      <p:cBhvr>
                                        <p:cTn id="50" dur="166" decel="50000">
                                          <p:stCondLst>
                                            <p:cond delay="1668"/>
                                          </p:stCondLst>
                                        </p:cTn>
                                        <p:tgtEl>
                                          <p:spTgt spid="13"/>
                                        </p:tgtEl>
                                      </p:cBhvr>
                                      <p:to x="100000" y="100000"/>
                                    </p:animScale>
                                    <p:animScale>
                                      <p:cBhvr>
                                        <p:cTn id="51" dur="26">
                                          <p:stCondLst>
                                            <p:cond delay="1808"/>
                                          </p:stCondLst>
                                        </p:cTn>
                                        <p:tgtEl>
                                          <p:spTgt spid="13"/>
                                        </p:tgtEl>
                                      </p:cBhvr>
                                      <p:to x="100000" y="95000"/>
                                    </p:animScale>
                                    <p:animScale>
                                      <p:cBhvr>
                                        <p:cTn id="52" dur="166" decel="50000">
                                          <p:stCondLst>
                                            <p:cond delay="1834"/>
                                          </p:stCondLst>
                                        </p:cTn>
                                        <p:tgtEl>
                                          <p:spTgt spid="13"/>
                                        </p:tgtEl>
                                      </p:cBhvr>
                                      <p:to x="100000" y="100000"/>
                                    </p:animScale>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2050"/>
                                        </p:tgtEl>
                                        <p:attrNameLst>
                                          <p:attrName>style.visibility</p:attrName>
                                        </p:attrNameLst>
                                      </p:cBhvr>
                                      <p:to>
                                        <p:strVal val="visible"/>
                                      </p:to>
                                    </p:set>
                                    <p:anim calcmode="lin" valueType="num">
                                      <p:cBhvr additive="base">
                                        <p:cTn id="57" dur="500" fill="hold"/>
                                        <p:tgtEl>
                                          <p:spTgt spid="2050"/>
                                        </p:tgtEl>
                                        <p:attrNameLst>
                                          <p:attrName>ppt_x</p:attrName>
                                        </p:attrNameLst>
                                      </p:cBhvr>
                                      <p:tavLst>
                                        <p:tav tm="0">
                                          <p:val>
                                            <p:strVal val="#ppt_x"/>
                                          </p:val>
                                        </p:tav>
                                        <p:tav tm="100000">
                                          <p:val>
                                            <p:strVal val="#ppt_x"/>
                                          </p:val>
                                        </p:tav>
                                      </p:tavLst>
                                    </p:anim>
                                    <p:anim calcmode="lin" valueType="num">
                                      <p:cBhvr additive="base">
                                        <p:cTn id="58"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3"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F1104-3485-0EB0-8838-D562E7CBE1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2763AC-6DD3-B587-4787-796164CD04C3}"/>
              </a:ext>
            </a:extLst>
          </p:cNvPr>
          <p:cNvSpPr>
            <a:spLocks noGrp="1"/>
          </p:cNvSpPr>
          <p:nvPr>
            <p:ph type="title"/>
          </p:nvPr>
        </p:nvSpPr>
        <p:spPr>
          <a:xfrm>
            <a:off x="186193" y="190197"/>
            <a:ext cx="10515600" cy="740106"/>
          </a:xfrm>
        </p:spPr>
        <p:txBody>
          <a:bodyPr>
            <a:normAutofit/>
          </a:bodyPr>
          <a:lstStyle/>
          <a:p>
            <a:r>
              <a:rPr lang="en-US" sz="3600" dirty="0">
                <a:latin typeface="Arial" panose="020B0604020202020204" pitchFamily="34" charset="0"/>
                <a:cs typeface="Arial" panose="020B0604020202020204" pitchFamily="34" charset="0"/>
              </a:rPr>
              <a:t>When is leverage + outlier a problem?</a:t>
            </a:r>
          </a:p>
        </p:txBody>
      </p:sp>
      <p:sp>
        <p:nvSpPr>
          <p:cNvPr id="3" name="Content Placeholder 2">
            <a:extLst>
              <a:ext uri="{FF2B5EF4-FFF2-40B4-BE49-F238E27FC236}">
                <a16:creationId xmlns:a16="http://schemas.microsoft.com/office/drawing/2014/main" id="{D2590207-27DB-8948-2B25-E76F0716B1C0}"/>
              </a:ext>
            </a:extLst>
          </p:cNvPr>
          <p:cNvSpPr>
            <a:spLocks noGrp="1"/>
          </p:cNvSpPr>
          <p:nvPr>
            <p:ph idx="1"/>
          </p:nvPr>
        </p:nvSpPr>
        <p:spPr>
          <a:xfrm>
            <a:off x="353171" y="930303"/>
            <a:ext cx="10515600" cy="4351338"/>
          </a:xfrm>
        </p:spPr>
        <p:txBody>
          <a:bodyPr>
            <a:normAutofit/>
          </a:bodyPr>
          <a:lstStyle/>
          <a:p>
            <a:r>
              <a:rPr lang="en-US" sz="2000" b="1" dirty="0">
                <a:latin typeface="Arial" panose="020B0604020202020204" pitchFamily="34" charset="0"/>
                <a:cs typeface="Arial" panose="020B0604020202020204" pitchFamily="34" charset="0"/>
              </a:rPr>
              <a:t>In regression, a point is influential only if it combines high leverage (unusual X values) and a large residual (it does not follow the trend of the regression line)</a:t>
            </a:r>
            <a:endParaRPr lang="en-US" sz="2000" dirty="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Low leverage + outlier in Y → weird point, little effect.</a:t>
            </a:r>
          </a:p>
          <a:p>
            <a:pPr lvl="1"/>
            <a:r>
              <a:rPr lang="en-US" sz="2000" dirty="0">
                <a:latin typeface="Arial" panose="020B0604020202020204" pitchFamily="34" charset="0"/>
                <a:cs typeface="Arial" panose="020B0604020202020204" pitchFamily="34" charset="0"/>
              </a:rPr>
              <a:t>High leverage + small residual → reinforces trend, little effect.</a:t>
            </a:r>
          </a:p>
          <a:p>
            <a:pPr lvl="1"/>
            <a:r>
              <a:rPr lang="en-US" sz="2000" dirty="0">
                <a:latin typeface="Arial" panose="020B0604020202020204" pitchFamily="34" charset="0"/>
                <a:cs typeface="Arial" panose="020B0604020202020204" pitchFamily="34" charset="0"/>
              </a:rPr>
              <a:t>High leverage + large residual → </a:t>
            </a:r>
            <a:r>
              <a:rPr lang="en-US" sz="2000" b="1" dirty="0">
                <a:solidFill>
                  <a:srgbClr val="FF0000"/>
                </a:solidFill>
                <a:latin typeface="Arial" panose="020B0604020202020204" pitchFamily="34" charset="0"/>
                <a:cs typeface="Arial" panose="020B0604020202020204" pitchFamily="34" charset="0"/>
              </a:rPr>
              <a:t>influential point</a:t>
            </a:r>
            <a:r>
              <a:rPr lang="en-US" sz="2000" dirty="0">
                <a:solidFill>
                  <a:srgbClr val="FF000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57990787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CB662-E265-7FFB-164D-9F74BC202C2D}"/>
              </a:ext>
            </a:extLst>
          </p:cNvPr>
          <p:cNvSpPr>
            <a:spLocks noGrp="1"/>
          </p:cNvSpPr>
          <p:nvPr>
            <p:ph type="title"/>
          </p:nvPr>
        </p:nvSpPr>
        <p:spPr>
          <a:xfrm>
            <a:off x="250093" y="220292"/>
            <a:ext cx="6812187" cy="750388"/>
          </a:xfrm>
        </p:spPr>
        <p:txBody>
          <a:bodyPr>
            <a:normAutofit/>
          </a:bodyPr>
          <a:lstStyle/>
          <a:p>
            <a:r>
              <a:rPr lang="en-US" sz="3600" dirty="0">
                <a:latin typeface="Aptos Display (Headings)"/>
              </a:rPr>
              <a:t>Outliers and Leverage Points</a:t>
            </a:r>
            <a:endParaRPr lang="en-US" sz="3600" dirty="0"/>
          </a:p>
        </p:txBody>
      </p:sp>
      <p:sp>
        <p:nvSpPr>
          <p:cNvPr id="3" name="Content Placeholder 2">
            <a:extLst>
              <a:ext uri="{FF2B5EF4-FFF2-40B4-BE49-F238E27FC236}">
                <a16:creationId xmlns:a16="http://schemas.microsoft.com/office/drawing/2014/main" id="{0276D3BF-1F84-1D00-09AB-96A030A7BEFE}"/>
              </a:ext>
            </a:extLst>
          </p:cNvPr>
          <p:cNvSpPr>
            <a:spLocks noGrp="1"/>
          </p:cNvSpPr>
          <p:nvPr>
            <p:ph idx="1"/>
          </p:nvPr>
        </p:nvSpPr>
        <p:spPr>
          <a:xfrm>
            <a:off x="1506766" y="1738831"/>
            <a:ext cx="4230992" cy="543654"/>
          </a:xfrm>
        </p:spPr>
        <p:txBody>
          <a:bodyPr anchor="ctr">
            <a:noAutofit/>
          </a:bodyPr>
          <a:lstStyle/>
          <a:p>
            <a:pPr marL="0" indent="0">
              <a:lnSpc>
                <a:spcPct val="100000"/>
              </a:lnSpc>
              <a:spcBef>
                <a:spcPts val="0"/>
              </a:spcBef>
              <a:buNone/>
            </a:pPr>
            <a:r>
              <a:rPr lang="en-US" sz="1800" dirty="0"/>
              <a:t>Does anything look unusual or different about plot A?</a:t>
            </a:r>
          </a:p>
        </p:txBody>
      </p:sp>
      <p:sp>
        <p:nvSpPr>
          <p:cNvPr id="8" name="TextBox 7">
            <a:extLst>
              <a:ext uri="{FF2B5EF4-FFF2-40B4-BE49-F238E27FC236}">
                <a16:creationId xmlns:a16="http://schemas.microsoft.com/office/drawing/2014/main" id="{95673BFC-46D0-EC39-717A-9B9790B6EBBC}"/>
              </a:ext>
            </a:extLst>
          </p:cNvPr>
          <p:cNvSpPr txBox="1"/>
          <p:nvPr/>
        </p:nvSpPr>
        <p:spPr>
          <a:xfrm>
            <a:off x="873295" y="1762270"/>
            <a:ext cx="51538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A</a:t>
            </a:r>
          </a:p>
        </p:txBody>
      </p:sp>
      <p:sp>
        <p:nvSpPr>
          <p:cNvPr id="9" name="TextBox 8">
            <a:extLst>
              <a:ext uri="{FF2B5EF4-FFF2-40B4-BE49-F238E27FC236}">
                <a16:creationId xmlns:a16="http://schemas.microsoft.com/office/drawing/2014/main" id="{0B854F41-D053-41A4-66D8-2413370999DE}"/>
              </a:ext>
            </a:extLst>
          </p:cNvPr>
          <p:cNvSpPr txBox="1"/>
          <p:nvPr/>
        </p:nvSpPr>
        <p:spPr>
          <a:xfrm>
            <a:off x="6317500" y="1738831"/>
            <a:ext cx="51538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B</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06B4BB8F-4365-D542-C03D-FF211281C188}"/>
              </a:ext>
            </a:extLst>
          </p:cNvPr>
          <p:cNvPicPr>
            <a:picLocks noChangeAspect="1"/>
          </p:cNvPicPr>
          <p:nvPr/>
        </p:nvPicPr>
        <p:blipFill>
          <a:blip r:embed="rId3"/>
          <a:stretch>
            <a:fillRect/>
          </a:stretch>
        </p:blipFill>
        <p:spPr>
          <a:xfrm>
            <a:off x="818368" y="2316549"/>
            <a:ext cx="4543425" cy="3764344"/>
          </a:xfrm>
          <a:prstGeom prst="rect">
            <a:avLst/>
          </a:prstGeom>
        </p:spPr>
      </p:pic>
      <p:sp>
        <p:nvSpPr>
          <p:cNvPr id="12" name="TextBox 11">
            <a:extLst>
              <a:ext uri="{FF2B5EF4-FFF2-40B4-BE49-F238E27FC236}">
                <a16:creationId xmlns:a16="http://schemas.microsoft.com/office/drawing/2014/main" id="{67ACEA3B-290F-6500-039F-E476E9416E0A}"/>
              </a:ext>
            </a:extLst>
          </p:cNvPr>
          <p:cNvSpPr txBox="1"/>
          <p:nvPr/>
        </p:nvSpPr>
        <p:spPr>
          <a:xfrm>
            <a:off x="51363" y="6266120"/>
            <a:ext cx="153401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Influence1.sav</a:t>
            </a:r>
          </a:p>
        </p:txBody>
      </p:sp>
      <p:pic>
        <p:nvPicPr>
          <p:cNvPr id="14" name="Picture 13">
            <a:extLst>
              <a:ext uri="{FF2B5EF4-FFF2-40B4-BE49-F238E27FC236}">
                <a16:creationId xmlns:a16="http://schemas.microsoft.com/office/drawing/2014/main" id="{D52AD6BE-0435-67BC-29DB-5F5DA6F69737}"/>
              </a:ext>
            </a:extLst>
          </p:cNvPr>
          <p:cNvPicPr>
            <a:picLocks noChangeAspect="1"/>
          </p:cNvPicPr>
          <p:nvPr/>
        </p:nvPicPr>
        <p:blipFill>
          <a:blip r:embed="rId4"/>
          <a:stretch>
            <a:fillRect/>
          </a:stretch>
        </p:blipFill>
        <p:spPr>
          <a:xfrm>
            <a:off x="6575195" y="2341694"/>
            <a:ext cx="4719638" cy="3714054"/>
          </a:xfrm>
          <a:prstGeom prst="rect">
            <a:avLst/>
          </a:prstGeom>
        </p:spPr>
      </p:pic>
      <p:sp>
        <p:nvSpPr>
          <p:cNvPr id="16" name="TextBox 15">
            <a:extLst>
              <a:ext uri="{FF2B5EF4-FFF2-40B4-BE49-F238E27FC236}">
                <a16:creationId xmlns:a16="http://schemas.microsoft.com/office/drawing/2014/main" id="{C3328BD8-15BF-3039-99E5-FA34B399F795}"/>
              </a:ext>
            </a:extLst>
          </p:cNvPr>
          <p:cNvSpPr txBox="1"/>
          <p:nvPr/>
        </p:nvSpPr>
        <p:spPr>
          <a:xfrm>
            <a:off x="7207492" y="1670841"/>
            <a:ext cx="4230991"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Does anything look unusual or different about plot B?</a:t>
            </a:r>
          </a:p>
        </p:txBody>
      </p:sp>
      <p:sp>
        <p:nvSpPr>
          <p:cNvPr id="17" name="TextBox 16">
            <a:extLst>
              <a:ext uri="{FF2B5EF4-FFF2-40B4-BE49-F238E27FC236}">
                <a16:creationId xmlns:a16="http://schemas.microsoft.com/office/drawing/2014/main" id="{FE7AE321-373C-AB85-2E2C-D026F2032B19}"/>
              </a:ext>
            </a:extLst>
          </p:cNvPr>
          <p:cNvSpPr txBox="1"/>
          <p:nvPr/>
        </p:nvSpPr>
        <p:spPr>
          <a:xfrm>
            <a:off x="10227597" y="220292"/>
            <a:ext cx="153401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Influence1.sav</a:t>
            </a:r>
          </a:p>
        </p:txBody>
      </p:sp>
    </p:spTree>
    <p:extLst>
      <p:ext uri="{BB962C8B-B14F-4D97-AF65-F5344CB8AC3E}">
        <p14:creationId xmlns:p14="http://schemas.microsoft.com/office/powerpoint/2010/main" val="3485539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additive="base">
                                        <p:cTn id="24" dur="500" fill="hold"/>
                                        <p:tgtEl>
                                          <p:spTgt spid="14"/>
                                        </p:tgtEl>
                                        <p:attrNameLst>
                                          <p:attrName>ppt_x</p:attrName>
                                        </p:attrNameLst>
                                      </p:cBhvr>
                                      <p:tavLst>
                                        <p:tav tm="0">
                                          <p:val>
                                            <p:strVal val="#ppt_x"/>
                                          </p:val>
                                        </p:tav>
                                        <p:tav tm="100000">
                                          <p:val>
                                            <p:strVal val="#ppt_x"/>
                                          </p:val>
                                        </p:tav>
                                      </p:tavLst>
                                    </p:anim>
                                    <p:anim calcmode="lin" valueType="num">
                                      <p:cBhvr additive="base">
                                        <p:cTn id="25" dur="500" fill="hold"/>
                                        <p:tgtEl>
                                          <p:spTgt spid="14"/>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additive="base">
                                        <p:cTn id="28" dur="500" fill="hold"/>
                                        <p:tgtEl>
                                          <p:spTgt spid="16"/>
                                        </p:tgtEl>
                                        <p:attrNameLst>
                                          <p:attrName>ppt_x</p:attrName>
                                        </p:attrNameLst>
                                      </p:cBhvr>
                                      <p:tavLst>
                                        <p:tav tm="0">
                                          <p:val>
                                            <p:strVal val="#ppt_x"/>
                                          </p:val>
                                        </p:tav>
                                        <p:tav tm="100000">
                                          <p:val>
                                            <p:strVal val="#ppt_x"/>
                                          </p:val>
                                        </p:tav>
                                      </p:tavLst>
                                    </p:anim>
                                    <p:anim calcmode="lin" valueType="num">
                                      <p:cBhvr additive="base">
                                        <p:cTn id="29" dur="500" fill="hold"/>
                                        <p:tgtEl>
                                          <p:spTgt spid="16"/>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9" grpId="0"/>
      <p:bldP spid="16"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70B17-D22F-AE92-B753-B40558AB6BF9}"/>
              </a:ext>
            </a:extLst>
          </p:cNvPr>
          <p:cNvSpPr>
            <a:spLocks noGrp="1"/>
          </p:cNvSpPr>
          <p:nvPr>
            <p:ph type="title"/>
          </p:nvPr>
        </p:nvSpPr>
        <p:spPr>
          <a:xfrm>
            <a:off x="0" y="127312"/>
            <a:ext cx="3685032" cy="706062"/>
          </a:xfrm>
        </p:spPr>
        <p:txBody>
          <a:bodyPr>
            <a:normAutofit/>
          </a:bodyPr>
          <a:lstStyle/>
          <a:p>
            <a:r>
              <a:rPr lang="en-US" sz="3600" dirty="0">
                <a:latin typeface="Aptos Display (Headings)"/>
              </a:rPr>
              <a:t>Regression output</a:t>
            </a:r>
          </a:p>
        </p:txBody>
      </p:sp>
      <p:sp>
        <p:nvSpPr>
          <p:cNvPr id="3" name="Content Placeholder 2">
            <a:extLst>
              <a:ext uri="{FF2B5EF4-FFF2-40B4-BE49-F238E27FC236}">
                <a16:creationId xmlns:a16="http://schemas.microsoft.com/office/drawing/2014/main" id="{37C28D47-B120-F0F3-8569-D6331F6C12F1}"/>
              </a:ext>
            </a:extLst>
          </p:cNvPr>
          <p:cNvSpPr>
            <a:spLocks noGrp="1"/>
          </p:cNvSpPr>
          <p:nvPr>
            <p:ph idx="1"/>
          </p:nvPr>
        </p:nvSpPr>
        <p:spPr>
          <a:xfrm>
            <a:off x="4864100" y="338329"/>
            <a:ext cx="6675627" cy="721740"/>
          </a:xfrm>
        </p:spPr>
        <p:txBody>
          <a:bodyPr anchor="ctr">
            <a:normAutofit/>
          </a:bodyPr>
          <a:lstStyle/>
          <a:p>
            <a:r>
              <a:rPr lang="en-US" sz="2000" dirty="0"/>
              <a:t>Compare the two regressions, any differences?</a:t>
            </a:r>
          </a:p>
        </p:txBody>
      </p:sp>
      <p:sp>
        <p:nvSpPr>
          <p:cNvPr id="4" name="TextBox 3">
            <a:extLst>
              <a:ext uri="{FF2B5EF4-FFF2-40B4-BE49-F238E27FC236}">
                <a16:creationId xmlns:a16="http://schemas.microsoft.com/office/drawing/2014/main" id="{7C7F41A8-F87E-27DB-89F9-3F3D7D6A2936}"/>
              </a:ext>
            </a:extLst>
          </p:cNvPr>
          <p:cNvSpPr txBox="1"/>
          <p:nvPr/>
        </p:nvSpPr>
        <p:spPr>
          <a:xfrm>
            <a:off x="510996" y="833374"/>
            <a:ext cx="51538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a:t>
            </a:r>
          </a:p>
        </p:txBody>
      </p:sp>
      <p:sp>
        <p:nvSpPr>
          <p:cNvPr id="6" name="TextBox 5">
            <a:extLst>
              <a:ext uri="{FF2B5EF4-FFF2-40B4-BE49-F238E27FC236}">
                <a16:creationId xmlns:a16="http://schemas.microsoft.com/office/drawing/2014/main" id="{98CD7830-B51D-97D9-3D5B-5AEB8F36A3B3}"/>
              </a:ext>
            </a:extLst>
          </p:cNvPr>
          <p:cNvSpPr txBox="1"/>
          <p:nvPr/>
        </p:nvSpPr>
        <p:spPr>
          <a:xfrm>
            <a:off x="6523076" y="833374"/>
            <a:ext cx="51538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a:t>
            </a:r>
          </a:p>
        </p:txBody>
      </p:sp>
      <p:pic>
        <p:nvPicPr>
          <p:cNvPr id="7" name="Picture 6">
            <a:extLst>
              <a:ext uri="{FF2B5EF4-FFF2-40B4-BE49-F238E27FC236}">
                <a16:creationId xmlns:a16="http://schemas.microsoft.com/office/drawing/2014/main" id="{B0CD82FB-B7AA-0A18-E8AA-13F3758EDF9F}"/>
              </a:ext>
            </a:extLst>
          </p:cNvPr>
          <p:cNvPicPr>
            <a:picLocks noChangeAspect="1"/>
          </p:cNvPicPr>
          <p:nvPr/>
        </p:nvPicPr>
        <p:blipFill>
          <a:blip r:embed="rId3"/>
          <a:stretch>
            <a:fillRect/>
          </a:stretch>
        </p:blipFill>
        <p:spPr>
          <a:xfrm>
            <a:off x="6180977" y="1424246"/>
            <a:ext cx="5834814" cy="4600379"/>
          </a:xfrm>
          <a:prstGeom prst="rect">
            <a:avLst/>
          </a:prstGeom>
        </p:spPr>
      </p:pic>
      <p:pic>
        <p:nvPicPr>
          <p:cNvPr id="16" name="Picture 15">
            <a:extLst>
              <a:ext uri="{FF2B5EF4-FFF2-40B4-BE49-F238E27FC236}">
                <a16:creationId xmlns:a16="http://schemas.microsoft.com/office/drawing/2014/main" id="{3B59553A-DDBF-2F60-7D6C-27FB8B0EA2FB}"/>
              </a:ext>
            </a:extLst>
          </p:cNvPr>
          <p:cNvPicPr>
            <a:picLocks noChangeAspect="1"/>
          </p:cNvPicPr>
          <p:nvPr/>
        </p:nvPicPr>
        <p:blipFill>
          <a:blip r:embed="rId4"/>
          <a:stretch>
            <a:fillRect/>
          </a:stretch>
        </p:blipFill>
        <p:spPr>
          <a:xfrm>
            <a:off x="207477" y="1539436"/>
            <a:ext cx="5720904" cy="4485189"/>
          </a:xfrm>
          <a:prstGeom prst="rect">
            <a:avLst/>
          </a:prstGeom>
        </p:spPr>
      </p:pic>
    </p:spTree>
    <p:extLst>
      <p:ext uri="{BB962C8B-B14F-4D97-AF65-F5344CB8AC3E}">
        <p14:creationId xmlns:p14="http://schemas.microsoft.com/office/powerpoint/2010/main" val="117003084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0AA23-0AEA-35A2-DA19-367C73E86699}"/>
              </a:ext>
            </a:extLst>
          </p:cNvPr>
          <p:cNvSpPr>
            <a:spLocks noGrp="1"/>
          </p:cNvSpPr>
          <p:nvPr>
            <p:ph type="title"/>
          </p:nvPr>
        </p:nvSpPr>
        <p:spPr>
          <a:xfrm>
            <a:off x="102920" y="125540"/>
            <a:ext cx="3685032" cy="694406"/>
          </a:xfrm>
        </p:spPr>
        <p:txBody>
          <a:bodyPr>
            <a:normAutofit/>
          </a:bodyPr>
          <a:lstStyle/>
          <a:p>
            <a:r>
              <a:rPr lang="en-US" sz="3600" dirty="0">
                <a:latin typeface="Aptos Display (Headings)"/>
              </a:rPr>
              <a:t>Compare &amp; Intuit</a:t>
            </a:r>
          </a:p>
        </p:txBody>
      </p:sp>
      <p:sp>
        <p:nvSpPr>
          <p:cNvPr id="11" name="Content Placeholder 10">
            <a:extLst>
              <a:ext uri="{FF2B5EF4-FFF2-40B4-BE49-F238E27FC236}">
                <a16:creationId xmlns:a16="http://schemas.microsoft.com/office/drawing/2014/main" id="{6926FE88-4F6D-8352-7A8D-660B65760221}"/>
              </a:ext>
            </a:extLst>
          </p:cNvPr>
          <p:cNvSpPr>
            <a:spLocks noGrp="1"/>
          </p:cNvSpPr>
          <p:nvPr>
            <p:ph idx="1"/>
          </p:nvPr>
        </p:nvSpPr>
        <p:spPr>
          <a:xfrm>
            <a:off x="4986560" y="31670"/>
            <a:ext cx="6675627" cy="882146"/>
          </a:xfrm>
        </p:spPr>
        <p:txBody>
          <a:bodyPr anchor="ctr">
            <a:noAutofit/>
          </a:bodyPr>
          <a:lstStyle/>
          <a:p>
            <a:r>
              <a:rPr lang="en-US" sz="2000" dirty="0">
                <a:latin typeface="Arial" panose="020B0604020202020204" pitchFamily="34" charset="0"/>
                <a:cs typeface="Arial" panose="020B0604020202020204" pitchFamily="34" charset="0"/>
              </a:rPr>
              <a:t>Lines are fairly similar BUT More error &amp; less confidence </a:t>
            </a:r>
            <a:r>
              <a:rPr lang="en-US" sz="2000" dirty="0">
                <a:latin typeface="Arial" panose="020B0604020202020204" pitchFamily="34" charset="0"/>
                <a:cs typeface="Arial" panose="020B0604020202020204" pitchFamily="34" charset="0"/>
                <a:sym typeface="Wingdings" panose="05000000000000000000" pitchFamily="2" charset="2"/>
              </a:rPr>
              <a:t> smaller t-value, bigger standard errors, wider confidence interval</a:t>
            </a:r>
            <a:endParaRPr lang="en-US" sz="20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EE21968-FC58-CC15-FD36-500EF16293DD}"/>
              </a:ext>
            </a:extLst>
          </p:cNvPr>
          <p:cNvPicPr>
            <a:picLocks noChangeAspect="1"/>
          </p:cNvPicPr>
          <p:nvPr/>
        </p:nvPicPr>
        <p:blipFill>
          <a:blip r:embed="rId2"/>
          <a:stretch>
            <a:fillRect/>
          </a:stretch>
        </p:blipFill>
        <p:spPr>
          <a:xfrm>
            <a:off x="6808870" y="3321913"/>
            <a:ext cx="4493486" cy="3536087"/>
          </a:xfrm>
          <a:prstGeom prst="rect">
            <a:avLst/>
          </a:prstGeom>
        </p:spPr>
      </p:pic>
      <p:pic>
        <p:nvPicPr>
          <p:cNvPr id="17" name="Picture 16">
            <a:extLst>
              <a:ext uri="{FF2B5EF4-FFF2-40B4-BE49-F238E27FC236}">
                <a16:creationId xmlns:a16="http://schemas.microsoft.com/office/drawing/2014/main" id="{B27569F9-E129-85C5-9F00-AC77642058B3}"/>
              </a:ext>
            </a:extLst>
          </p:cNvPr>
          <p:cNvPicPr>
            <a:picLocks noChangeAspect="1"/>
          </p:cNvPicPr>
          <p:nvPr/>
        </p:nvPicPr>
        <p:blipFill>
          <a:blip r:embed="rId3"/>
          <a:stretch>
            <a:fillRect/>
          </a:stretch>
        </p:blipFill>
        <p:spPr>
          <a:xfrm>
            <a:off x="571702" y="3074637"/>
            <a:ext cx="4414858" cy="3657823"/>
          </a:xfrm>
          <a:prstGeom prst="rect">
            <a:avLst/>
          </a:prstGeom>
        </p:spPr>
      </p:pic>
      <p:pic>
        <p:nvPicPr>
          <p:cNvPr id="3" name="Picture 2">
            <a:extLst>
              <a:ext uri="{FF2B5EF4-FFF2-40B4-BE49-F238E27FC236}">
                <a16:creationId xmlns:a16="http://schemas.microsoft.com/office/drawing/2014/main" id="{C884E068-193C-359F-94DB-339F43A60CF3}"/>
              </a:ext>
            </a:extLst>
          </p:cNvPr>
          <p:cNvPicPr>
            <a:picLocks noChangeAspect="1"/>
          </p:cNvPicPr>
          <p:nvPr/>
        </p:nvPicPr>
        <p:blipFill>
          <a:blip r:embed="rId4"/>
          <a:srcRect t="71044"/>
          <a:stretch>
            <a:fillRect/>
          </a:stretch>
        </p:blipFill>
        <p:spPr>
          <a:xfrm>
            <a:off x="220708" y="2105830"/>
            <a:ext cx="5720904" cy="1298732"/>
          </a:xfrm>
          <a:prstGeom prst="rect">
            <a:avLst/>
          </a:prstGeom>
        </p:spPr>
      </p:pic>
      <p:pic>
        <p:nvPicPr>
          <p:cNvPr id="5" name="Picture 4">
            <a:extLst>
              <a:ext uri="{FF2B5EF4-FFF2-40B4-BE49-F238E27FC236}">
                <a16:creationId xmlns:a16="http://schemas.microsoft.com/office/drawing/2014/main" id="{8C46669F-3079-3187-CA80-49FAB5A6A8F1}"/>
              </a:ext>
            </a:extLst>
          </p:cNvPr>
          <p:cNvPicPr>
            <a:picLocks noChangeAspect="1"/>
          </p:cNvPicPr>
          <p:nvPr/>
        </p:nvPicPr>
        <p:blipFill>
          <a:blip r:embed="rId5"/>
          <a:stretch>
            <a:fillRect/>
          </a:stretch>
        </p:blipFill>
        <p:spPr>
          <a:xfrm>
            <a:off x="571702" y="970685"/>
            <a:ext cx="4154804" cy="1384935"/>
          </a:xfrm>
          <a:prstGeom prst="rect">
            <a:avLst/>
          </a:prstGeom>
        </p:spPr>
      </p:pic>
      <p:pic>
        <p:nvPicPr>
          <p:cNvPr id="8" name="Picture 7">
            <a:extLst>
              <a:ext uri="{FF2B5EF4-FFF2-40B4-BE49-F238E27FC236}">
                <a16:creationId xmlns:a16="http://schemas.microsoft.com/office/drawing/2014/main" id="{5E4EC583-3A2C-DE37-DD9D-D03A4AF6A46F}"/>
              </a:ext>
            </a:extLst>
          </p:cNvPr>
          <p:cNvPicPr>
            <a:picLocks noChangeAspect="1"/>
          </p:cNvPicPr>
          <p:nvPr/>
        </p:nvPicPr>
        <p:blipFill>
          <a:blip r:embed="rId6"/>
          <a:stretch>
            <a:fillRect/>
          </a:stretch>
        </p:blipFill>
        <p:spPr>
          <a:xfrm>
            <a:off x="6960157" y="988846"/>
            <a:ext cx="3825152" cy="1348611"/>
          </a:xfrm>
          <a:prstGeom prst="rect">
            <a:avLst/>
          </a:prstGeom>
        </p:spPr>
      </p:pic>
      <p:pic>
        <p:nvPicPr>
          <p:cNvPr id="9" name="Picture 8">
            <a:extLst>
              <a:ext uri="{FF2B5EF4-FFF2-40B4-BE49-F238E27FC236}">
                <a16:creationId xmlns:a16="http://schemas.microsoft.com/office/drawing/2014/main" id="{D16F1D3C-EC12-087B-2A5E-135FABBC09C8}"/>
              </a:ext>
            </a:extLst>
          </p:cNvPr>
          <p:cNvPicPr>
            <a:picLocks noChangeAspect="1"/>
          </p:cNvPicPr>
          <p:nvPr/>
        </p:nvPicPr>
        <p:blipFill>
          <a:blip r:embed="rId7"/>
          <a:srcRect t="69468"/>
          <a:stretch>
            <a:fillRect/>
          </a:stretch>
        </p:blipFill>
        <p:spPr>
          <a:xfrm>
            <a:off x="6357186" y="2242574"/>
            <a:ext cx="5834814" cy="1404611"/>
          </a:xfrm>
          <a:prstGeom prst="rect">
            <a:avLst/>
          </a:prstGeom>
        </p:spPr>
      </p:pic>
    </p:spTree>
    <p:extLst>
      <p:ext uri="{BB962C8B-B14F-4D97-AF65-F5344CB8AC3E}">
        <p14:creationId xmlns:p14="http://schemas.microsoft.com/office/powerpoint/2010/main" val="415240990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E0864-73D8-758F-F259-C9AA328901C8}"/>
              </a:ext>
            </a:extLst>
          </p:cNvPr>
          <p:cNvSpPr>
            <a:spLocks noGrp="1"/>
          </p:cNvSpPr>
          <p:nvPr>
            <p:ph type="title"/>
          </p:nvPr>
        </p:nvSpPr>
        <p:spPr>
          <a:xfrm>
            <a:off x="841248" y="510047"/>
            <a:ext cx="3300984" cy="1645920"/>
          </a:xfrm>
        </p:spPr>
        <p:txBody>
          <a:bodyPr>
            <a:normAutofit/>
          </a:bodyPr>
          <a:lstStyle/>
          <a:p>
            <a:r>
              <a:rPr lang="en-US" sz="2800" dirty="0"/>
              <a:t> </a:t>
            </a:r>
          </a:p>
        </p:txBody>
      </p:sp>
      <p:sp>
        <p:nvSpPr>
          <p:cNvPr id="5" name="TextBox 4">
            <a:extLst>
              <a:ext uri="{FF2B5EF4-FFF2-40B4-BE49-F238E27FC236}">
                <a16:creationId xmlns:a16="http://schemas.microsoft.com/office/drawing/2014/main" id="{3EBBE3ED-DDAB-B150-0163-E53F132A24A3}"/>
              </a:ext>
            </a:extLst>
          </p:cNvPr>
          <p:cNvSpPr txBox="1"/>
          <p:nvPr/>
        </p:nvSpPr>
        <p:spPr>
          <a:xfrm>
            <a:off x="108933" y="5862549"/>
            <a:ext cx="153401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Influence3.sav</a:t>
            </a:r>
          </a:p>
        </p:txBody>
      </p:sp>
      <p:pic>
        <p:nvPicPr>
          <p:cNvPr id="10" name="Picture 9">
            <a:extLst>
              <a:ext uri="{FF2B5EF4-FFF2-40B4-BE49-F238E27FC236}">
                <a16:creationId xmlns:a16="http://schemas.microsoft.com/office/drawing/2014/main" id="{9C231DB3-A943-BA8D-8881-5FE4ADA6D45C}"/>
              </a:ext>
            </a:extLst>
          </p:cNvPr>
          <p:cNvPicPr>
            <a:picLocks noChangeAspect="1"/>
          </p:cNvPicPr>
          <p:nvPr/>
        </p:nvPicPr>
        <p:blipFill>
          <a:blip r:embed="rId3"/>
          <a:stretch>
            <a:fillRect/>
          </a:stretch>
        </p:blipFill>
        <p:spPr>
          <a:xfrm>
            <a:off x="7498858" y="4312604"/>
            <a:ext cx="2316497" cy="1919277"/>
          </a:xfrm>
          <a:prstGeom prst="rect">
            <a:avLst/>
          </a:prstGeom>
        </p:spPr>
      </p:pic>
      <p:pic>
        <p:nvPicPr>
          <p:cNvPr id="16" name="Picture 15">
            <a:extLst>
              <a:ext uri="{FF2B5EF4-FFF2-40B4-BE49-F238E27FC236}">
                <a16:creationId xmlns:a16="http://schemas.microsoft.com/office/drawing/2014/main" id="{BF27C9B3-70A8-6CBB-A516-119A8E1DD5C6}"/>
              </a:ext>
            </a:extLst>
          </p:cNvPr>
          <p:cNvPicPr>
            <a:picLocks noChangeAspect="1"/>
          </p:cNvPicPr>
          <p:nvPr/>
        </p:nvPicPr>
        <p:blipFill>
          <a:blip r:embed="rId4"/>
          <a:stretch>
            <a:fillRect/>
          </a:stretch>
        </p:blipFill>
        <p:spPr>
          <a:xfrm>
            <a:off x="6414331" y="442679"/>
            <a:ext cx="5052826" cy="3793346"/>
          </a:xfrm>
          <a:prstGeom prst="rect">
            <a:avLst/>
          </a:prstGeom>
        </p:spPr>
      </p:pic>
      <p:sp>
        <p:nvSpPr>
          <p:cNvPr id="17" name="TextBox 16">
            <a:extLst>
              <a:ext uri="{FF2B5EF4-FFF2-40B4-BE49-F238E27FC236}">
                <a16:creationId xmlns:a16="http://schemas.microsoft.com/office/drawing/2014/main" id="{8783A555-F22D-A6E2-3DF1-8B67ED500243}"/>
              </a:ext>
            </a:extLst>
          </p:cNvPr>
          <p:cNvSpPr txBox="1"/>
          <p:nvPr/>
        </p:nvSpPr>
        <p:spPr>
          <a:xfrm>
            <a:off x="8378886" y="6396810"/>
            <a:ext cx="129657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From above</a:t>
            </a:r>
          </a:p>
        </p:txBody>
      </p:sp>
      <p:pic>
        <p:nvPicPr>
          <p:cNvPr id="6" name="Picture 5">
            <a:extLst>
              <a:ext uri="{FF2B5EF4-FFF2-40B4-BE49-F238E27FC236}">
                <a16:creationId xmlns:a16="http://schemas.microsoft.com/office/drawing/2014/main" id="{303B7B92-6B2B-7E66-61AB-5A5A70F5B40E}"/>
              </a:ext>
            </a:extLst>
          </p:cNvPr>
          <p:cNvPicPr>
            <a:picLocks noChangeAspect="1"/>
          </p:cNvPicPr>
          <p:nvPr/>
        </p:nvPicPr>
        <p:blipFill>
          <a:blip r:embed="rId5"/>
          <a:stretch>
            <a:fillRect/>
          </a:stretch>
        </p:blipFill>
        <p:spPr>
          <a:xfrm>
            <a:off x="466455" y="442679"/>
            <a:ext cx="5813764" cy="4446313"/>
          </a:xfrm>
          <a:prstGeom prst="rect">
            <a:avLst/>
          </a:prstGeom>
        </p:spPr>
      </p:pic>
    </p:spTree>
    <p:extLst>
      <p:ext uri="{BB962C8B-B14F-4D97-AF65-F5344CB8AC3E}">
        <p14:creationId xmlns:p14="http://schemas.microsoft.com/office/powerpoint/2010/main" val="223063513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D33B3-5F14-E6A3-8FB3-AA2DD2A31E44}"/>
              </a:ext>
            </a:extLst>
          </p:cNvPr>
          <p:cNvSpPr>
            <a:spLocks noGrp="1"/>
          </p:cNvSpPr>
          <p:nvPr>
            <p:ph type="title" idx="4294967295"/>
          </p:nvPr>
        </p:nvSpPr>
        <p:spPr>
          <a:xfrm>
            <a:off x="145915" y="201882"/>
            <a:ext cx="11517549" cy="856710"/>
          </a:xfrm>
        </p:spPr>
        <p:txBody>
          <a:bodyPr anchor="ctr">
            <a:normAutofit/>
          </a:bodyPr>
          <a:lstStyle/>
          <a:p>
            <a:r>
              <a:rPr lang="en-US" sz="4000" dirty="0">
                <a:latin typeface="Aptos Display (Headings)"/>
              </a:rPr>
              <a:t>Unusual values and influential points</a:t>
            </a:r>
          </a:p>
        </p:txBody>
      </p:sp>
      <p:sp>
        <p:nvSpPr>
          <p:cNvPr id="3" name="Content Placeholder 2">
            <a:extLst>
              <a:ext uri="{FF2B5EF4-FFF2-40B4-BE49-F238E27FC236}">
                <a16:creationId xmlns:a16="http://schemas.microsoft.com/office/drawing/2014/main" id="{1503D36D-570E-2AC3-0E3E-2CC6AA06EB7F}"/>
              </a:ext>
            </a:extLst>
          </p:cNvPr>
          <p:cNvSpPr>
            <a:spLocks noGrp="1"/>
          </p:cNvSpPr>
          <p:nvPr>
            <p:ph idx="4294967295"/>
          </p:nvPr>
        </p:nvSpPr>
        <p:spPr>
          <a:xfrm>
            <a:off x="2892853" y="1636162"/>
            <a:ext cx="6894512" cy="455285"/>
          </a:xfrm>
        </p:spPr>
        <p:txBody>
          <a:bodyPr anchor="t">
            <a:normAutofit/>
          </a:bodyPr>
          <a:lstStyle/>
          <a:p>
            <a:pPr marL="0" indent="0">
              <a:buNone/>
            </a:pPr>
            <a:r>
              <a:rPr lang="en-US" sz="2200" dirty="0"/>
              <a:t>Does anything look unusual or different about </a:t>
            </a:r>
            <a:r>
              <a:rPr lang="en-US" sz="2200" i="1" dirty="0"/>
              <a:t>this </a:t>
            </a:r>
            <a:r>
              <a:rPr lang="en-US" sz="2200" dirty="0"/>
              <a:t>plot?</a:t>
            </a:r>
          </a:p>
          <a:p>
            <a:endParaRPr lang="en-US" sz="2200" dirty="0"/>
          </a:p>
        </p:txBody>
      </p:sp>
      <p:pic>
        <p:nvPicPr>
          <p:cNvPr id="4" name="Picture 3">
            <a:extLst>
              <a:ext uri="{FF2B5EF4-FFF2-40B4-BE49-F238E27FC236}">
                <a16:creationId xmlns:a16="http://schemas.microsoft.com/office/drawing/2014/main" id="{53B2E37F-A3DD-F876-04A2-A06ED3B7114A}"/>
              </a:ext>
            </a:extLst>
          </p:cNvPr>
          <p:cNvPicPr>
            <a:picLocks noChangeAspect="1"/>
          </p:cNvPicPr>
          <p:nvPr/>
        </p:nvPicPr>
        <p:blipFill>
          <a:blip r:embed="rId2"/>
          <a:stretch>
            <a:fillRect/>
          </a:stretch>
        </p:blipFill>
        <p:spPr>
          <a:xfrm>
            <a:off x="2588052" y="2274910"/>
            <a:ext cx="6633274" cy="3913632"/>
          </a:xfrm>
          <a:prstGeom prst="rect">
            <a:avLst/>
          </a:prstGeom>
        </p:spPr>
      </p:pic>
    </p:spTree>
    <p:extLst>
      <p:ext uri="{BB962C8B-B14F-4D97-AF65-F5344CB8AC3E}">
        <p14:creationId xmlns:p14="http://schemas.microsoft.com/office/powerpoint/2010/main" val="176663195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D33B3-5F14-E6A3-8FB3-AA2DD2A31E44}"/>
              </a:ext>
            </a:extLst>
          </p:cNvPr>
          <p:cNvSpPr>
            <a:spLocks noGrp="1"/>
          </p:cNvSpPr>
          <p:nvPr>
            <p:ph type="title"/>
          </p:nvPr>
        </p:nvSpPr>
        <p:spPr>
          <a:xfrm>
            <a:off x="0" y="119280"/>
            <a:ext cx="7609855" cy="897085"/>
          </a:xfrm>
        </p:spPr>
        <p:txBody>
          <a:bodyPr>
            <a:normAutofit/>
          </a:bodyPr>
          <a:lstStyle/>
          <a:p>
            <a:r>
              <a:rPr lang="en-US" sz="3600" dirty="0">
                <a:latin typeface="Aptos Display (Headings)"/>
              </a:rPr>
              <a:t>Unusual values and influential points</a:t>
            </a:r>
          </a:p>
        </p:txBody>
      </p:sp>
      <p:sp>
        <p:nvSpPr>
          <p:cNvPr id="11" name="TextBox 10">
            <a:extLst>
              <a:ext uri="{FF2B5EF4-FFF2-40B4-BE49-F238E27FC236}">
                <a16:creationId xmlns:a16="http://schemas.microsoft.com/office/drawing/2014/main" id="{A1ABF79F-DDA4-24AE-0BB9-5CCBA2782F4A}"/>
              </a:ext>
            </a:extLst>
          </p:cNvPr>
          <p:cNvSpPr txBox="1"/>
          <p:nvPr/>
        </p:nvSpPr>
        <p:spPr>
          <a:xfrm>
            <a:off x="6503324" y="2595495"/>
            <a:ext cx="51538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a:t>
            </a:r>
          </a:p>
        </p:txBody>
      </p:sp>
      <p:pic>
        <p:nvPicPr>
          <p:cNvPr id="13" name="Picture 12">
            <a:extLst>
              <a:ext uri="{FF2B5EF4-FFF2-40B4-BE49-F238E27FC236}">
                <a16:creationId xmlns:a16="http://schemas.microsoft.com/office/drawing/2014/main" id="{3F9F31EE-2FD4-0EF7-EADD-BE762A5C27C3}"/>
              </a:ext>
            </a:extLst>
          </p:cNvPr>
          <p:cNvPicPr>
            <a:picLocks noChangeAspect="1"/>
          </p:cNvPicPr>
          <p:nvPr/>
        </p:nvPicPr>
        <p:blipFill>
          <a:blip r:embed="rId2"/>
          <a:stretch>
            <a:fillRect/>
          </a:stretch>
        </p:blipFill>
        <p:spPr>
          <a:xfrm>
            <a:off x="5374168" y="1497234"/>
            <a:ext cx="6194744" cy="3652938"/>
          </a:xfrm>
          <a:prstGeom prst="rect">
            <a:avLst/>
          </a:prstGeom>
        </p:spPr>
      </p:pic>
      <p:pic>
        <p:nvPicPr>
          <p:cNvPr id="4" name="Picture 3">
            <a:extLst>
              <a:ext uri="{FF2B5EF4-FFF2-40B4-BE49-F238E27FC236}">
                <a16:creationId xmlns:a16="http://schemas.microsoft.com/office/drawing/2014/main" id="{620C5686-7D6F-62EA-DE9E-EC5E91A8883F}"/>
              </a:ext>
            </a:extLst>
          </p:cNvPr>
          <p:cNvPicPr>
            <a:picLocks noChangeAspect="1"/>
          </p:cNvPicPr>
          <p:nvPr/>
        </p:nvPicPr>
        <p:blipFill>
          <a:blip r:embed="rId3"/>
          <a:stretch>
            <a:fillRect/>
          </a:stretch>
        </p:blipFill>
        <p:spPr>
          <a:xfrm>
            <a:off x="256370" y="1016365"/>
            <a:ext cx="5193400" cy="4133807"/>
          </a:xfrm>
          <a:prstGeom prst="rect">
            <a:avLst/>
          </a:prstGeom>
        </p:spPr>
      </p:pic>
    </p:spTree>
    <p:extLst>
      <p:ext uri="{BB962C8B-B14F-4D97-AF65-F5344CB8AC3E}">
        <p14:creationId xmlns:p14="http://schemas.microsoft.com/office/powerpoint/2010/main" val="110776933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98F37-C537-FCB0-C6AF-5C3EFADA6568}"/>
              </a:ext>
            </a:extLst>
          </p:cNvPr>
          <p:cNvSpPr>
            <a:spLocks noGrp="1"/>
          </p:cNvSpPr>
          <p:nvPr>
            <p:ph type="title"/>
          </p:nvPr>
        </p:nvSpPr>
        <p:spPr>
          <a:xfrm>
            <a:off x="168471" y="206762"/>
            <a:ext cx="11018520" cy="607767"/>
          </a:xfrm>
        </p:spPr>
        <p:txBody>
          <a:bodyPr anchor="b">
            <a:noAutofit/>
          </a:bodyPr>
          <a:lstStyle/>
          <a:p>
            <a:r>
              <a:rPr lang="en-US" sz="3600" dirty="0">
                <a:latin typeface="Arial" panose="020B0604020202020204" pitchFamily="34" charset="0"/>
                <a:cs typeface="Arial" panose="020B0604020202020204" pitchFamily="34" charset="0"/>
              </a:rPr>
              <a:t>Leverage and Influence in Regression Analysis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81EB745-44D8-10EF-35FD-45CA9F32E00E}"/>
                  </a:ext>
                </a:extLst>
              </p:cNvPr>
              <p:cNvSpPr>
                <a:spLocks noGrp="1"/>
              </p:cNvSpPr>
              <p:nvPr>
                <p:ph idx="1"/>
              </p:nvPr>
            </p:nvSpPr>
            <p:spPr>
              <a:xfrm>
                <a:off x="314384" y="814529"/>
                <a:ext cx="11018519" cy="4679679"/>
              </a:xfrm>
            </p:spPr>
            <p:txBody>
              <a:bodyPr anchor="t">
                <a:normAutofit/>
              </a:bodyPr>
              <a:lstStyle/>
              <a:p>
                <a:r>
                  <a:rPr lang="en-US" sz="2000" dirty="0">
                    <a:latin typeface="Arial" panose="020B0604020202020204" pitchFamily="34" charset="0"/>
                    <a:cs typeface="Arial" panose="020B0604020202020204" pitchFamily="34" charset="0"/>
                  </a:rPr>
                  <a:t>Leverage Depends Only on Predictor Values:</a:t>
                </a:r>
              </a:p>
              <a:p>
                <a:pPr lvl="1"/>
                <a:r>
                  <a:rPr lang="en-US" sz="1800" dirty="0">
                    <a:latin typeface="Arial" panose="020B0604020202020204" pitchFamily="34" charset="0"/>
                    <a:cs typeface="Arial" panose="020B0604020202020204" pitchFamily="34" charset="0"/>
                  </a:rPr>
                  <a:t>Leverage measures how far an observation’s predictor values (</a:t>
                </a:r>
                <a:r>
                  <a:rPr lang="en-US" sz="1800" i="1" dirty="0">
                    <a:latin typeface="Arial" panose="020B0604020202020204" pitchFamily="34" charset="0"/>
                    <a:cs typeface="Arial" panose="020B0604020202020204" pitchFamily="34" charset="0"/>
                  </a:rPr>
                  <a:t>X</a:t>
                </a:r>
                <a:r>
                  <a:rPr lang="en-US" sz="1800" dirty="0">
                    <a:latin typeface="Arial" panose="020B0604020202020204" pitchFamily="34" charset="0"/>
                    <a:cs typeface="Arial" panose="020B0604020202020204" pitchFamily="34" charset="0"/>
                  </a:rPr>
                  <a:t> values) are from the mean of all predictor values.</a:t>
                </a:r>
              </a:p>
              <a:p>
                <a:pPr lvl="1"/>
                <a:r>
                  <a:rPr lang="en-US" sz="1800" dirty="0">
                    <a:latin typeface="Arial" panose="020B0604020202020204" pitchFamily="34" charset="0"/>
                    <a:cs typeface="Arial" panose="020B0604020202020204" pitchFamily="34" charset="0"/>
                  </a:rPr>
                  <a:t>It is purely a function of </a:t>
                </a:r>
                <a:r>
                  <a:rPr lang="en-US" sz="1800" i="1" dirty="0">
                    <a:latin typeface="Arial" panose="020B0604020202020204" pitchFamily="34" charset="0"/>
                    <a:cs typeface="Arial" panose="020B0604020202020204" pitchFamily="34" charset="0"/>
                  </a:rPr>
                  <a:t>X</a:t>
                </a:r>
                <a:r>
                  <a:rPr lang="en-US" sz="1800" dirty="0">
                    <a:latin typeface="Arial" panose="020B0604020202020204" pitchFamily="34" charset="0"/>
                    <a:cs typeface="Arial" panose="020B0604020202020204" pitchFamily="34" charset="0"/>
                  </a:rPr>
                  <a:t> and does not depend on the response variable (Y)</a:t>
                </a:r>
              </a:p>
              <a:p>
                <a:r>
                  <a:rPr lang="en-US" sz="2000" dirty="0">
                    <a:latin typeface="Arial" panose="020B0604020202020204" pitchFamily="34" charset="0"/>
                    <a:cs typeface="Arial" panose="020B0604020202020204" pitchFamily="34" charset="0"/>
                  </a:rPr>
                  <a:t>Leverage Indicates </a:t>
                </a:r>
                <a:r>
                  <a:rPr lang="en-US" sz="2000" b="1" dirty="0">
                    <a:latin typeface="Arial" panose="020B0604020202020204" pitchFamily="34" charset="0"/>
                    <a:cs typeface="Arial" panose="020B0604020202020204" pitchFamily="34" charset="0"/>
                  </a:rPr>
                  <a:t>Potential</a:t>
                </a:r>
                <a:r>
                  <a:rPr lang="en-US" sz="2000" dirty="0">
                    <a:latin typeface="Arial" panose="020B0604020202020204" pitchFamily="34" charset="0"/>
                    <a:cs typeface="Arial" panose="020B0604020202020204" pitchFamily="34" charset="0"/>
                  </a:rPr>
                  <a:t> Influence, Not Actual Influence</a:t>
                </a:r>
              </a:p>
              <a:p>
                <a:pPr lvl="1"/>
                <a:r>
                  <a:rPr lang="en-US" sz="1800" dirty="0">
                    <a:latin typeface="Arial" panose="020B0604020202020204" pitchFamily="34" charset="0"/>
                    <a:cs typeface="Arial" panose="020B0604020202020204" pitchFamily="34" charset="0"/>
                  </a:rPr>
                  <a:t>A data point with high leverage has the potential to impact the regression model significantly</a:t>
                </a:r>
              </a:p>
              <a:p>
                <a:pPr lvl="1"/>
                <a:r>
                  <a:rPr lang="en-US" sz="1800" dirty="0">
                    <a:latin typeface="Arial" panose="020B0604020202020204" pitchFamily="34" charset="0"/>
                    <a:cs typeface="Arial" panose="020B0604020202020204" pitchFamily="34" charset="0"/>
                  </a:rPr>
                  <a:t>However, whether it is truly influential depends on how different its actual </a:t>
                </a:r>
                <a:r>
                  <a:rPr lang="en-US" sz="1800" i="1" dirty="0">
                    <a:latin typeface="Arial" panose="020B0604020202020204" pitchFamily="34" charset="0"/>
                    <a:cs typeface="Arial" panose="020B0604020202020204" pitchFamily="34" charset="0"/>
                  </a:rPr>
                  <a:t>Y</a:t>
                </a:r>
                <a:r>
                  <a:rPr lang="en-US" sz="1800" dirty="0">
                    <a:latin typeface="Arial" panose="020B0604020202020204" pitchFamily="34" charset="0"/>
                    <a:cs typeface="Arial" panose="020B0604020202020204" pitchFamily="34" charset="0"/>
                  </a:rPr>
                  <a:t> value is from the predicted trend</a:t>
                </a:r>
              </a:p>
              <a:p>
                <a:r>
                  <a:rPr lang="en-US" sz="2000" dirty="0">
                    <a:latin typeface="Arial" panose="020B0604020202020204" pitchFamily="34" charset="0"/>
                    <a:cs typeface="Arial" panose="020B0604020202020204" pitchFamily="34" charset="0"/>
                  </a:rPr>
                  <a:t>Determining High and Worrisome Leverage:</a:t>
                </a:r>
              </a:p>
              <a:p>
                <a:pPr lvl="1"/>
                <a:r>
                  <a:rPr lang="en-US" sz="1800" dirty="0">
                    <a:latin typeface="Arial" panose="020B0604020202020204" pitchFamily="34" charset="0"/>
                    <a:cs typeface="Arial" panose="020B0604020202020204" pitchFamily="34" charset="0"/>
                  </a:rPr>
                  <a:t>The leverage of an observation is denoted as ​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h</m:t>
                        </m:r>
                      </m:e>
                      <m:sub>
                        <m:r>
                          <a:rPr lang="en-US" sz="1800" b="0" i="1" smtClean="0">
                            <a:latin typeface="Cambria Math" panose="02040503050406030204" pitchFamily="18" charset="0"/>
                          </a:rPr>
                          <m:t>𝑖𝑖</m:t>
                        </m:r>
                      </m:sub>
                    </m:sSub>
                  </m:oMath>
                </a14:m>
                <a:endParaRPr lang="en-US" sz="1800" dirty="0">
                  <a:latin typeface="Arial" panose="020B0604020202020204" pitchFamily="34" charset="0"/>
                  <a:cs typeface="Arial" panose="020B0604020202020204" pitchFamily="34" charset="0"/>
                </a:endParaRPr>
              </a:p>
              <a:p>
                <a:pPr lvl="1"/>
                <a:r>
                  <a:rPr lang="en-US" sz="1800" dirty="0">
                    <a:latin typeface="Arial" panose="020B0604020202020204" pitchFamily="34" charset="0"/>
                    <a:cs typeface="Arial" panose="020B0604020202020204" pitchFamily="34" charset="0"/>
                  </a:rPr>
                  <a:t>The mean leverage value in a model with p predictors and n observations is </a:t>
                </a:r>
                <a14:m>
                  <m:oMath xmlns:m="http://schemas.openxmlformats.org/officeDocument/2006/math">
                    <m:acc>
                      <m:accPr>
                        <m:chr m:val="̅"/>
                        <m:ctrlPr>
                          <a:rPr lang="en-US" sz="1800" i="1" smtClean="0">
                            <a:latin typeface="Cambria Math" panose="02040503050406030204" pitchFamily="18" charset="0"/>
                          </a:rPr>
                        </m:ctrlPr>
                      </m:accPr>
                      <m:e>
                        <m:r>
                          <a:rPr lang="en-US" sz="1800" b="0" i="1" smtClean="0">
                            <a:latin typeface="Cambria Math" panose="02040503050406030204" pitchFamily="18" charset="0"/>
                          </a:rPr>
                          <m:t>h</m:t>
                        </m:r>
                      </m:e>
                    </m:acc>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𝑝</m:t>
                        </m:r>
                        <m:r>
                          <a:rPr lang="en-US" sz="1800" b="0" i="1" smtClean="0">
                            <a:latin typeface="Cambria Math" panose="02040503050406030204" pitchFamily="18" charset="0"/>
                          </a:rPr>
                          <m:t>+</m:t>
                        </m:r>
                        <m:r>
                          <a:rPr lang="en-US" sz="1800" b="0" i="1" smtClean="0">
                            <a:latin typeface="Cambria Math" panose="02040503050406030204" pitchFamily="18" charset="0"/>
                          </a:rPr>
                          <m:t>1</m:t>
                        </m:r>
                      </m:num>
                      <m:den>
                        <m:r>
                          <a:rPr lang="en-US" sz="1800" b="0" i="1" smtClean="0">
                            <a:latin typeface="Cambria Math" panose="02040503050406030204" pitchFamily="18" charset="0"/>
                          </a:rPr>
                          <m:t>𝑛</m:t>
                        </m:r>
                      </m:den>
                    </m:f>
                  </m:oMath>
                </a14:m>
                <a:endParaRPr lang="en-US" sz="1800" dirty="0">
                  <a:latin typeface="Arial" panose="020B0604020202020204" pitchFamily="34" charset="0"/>
                  <a:cs typeface="Arial" panose="020B0604020202020204" pitchFamily="34" charset="0"/>
                </a:endParaRPr>
              </a:p>
              <a:p>
                <a:pPr lvl="1"/>
                <a:r>
                  <a:rPr lang="en-US" sz="1800" dirty="0">
                    <a:latin typeface="Arial" panose="020B0604020202020204" pitchFamily="34" charset="0"/>
                    <a:cs typeface="Arial" panose="020B0604020202020204" pitchFamily="34" charset="0"/>
                  </a:rPr>
                  <a:t>Leverage is too large if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h</m:t>
                        </m:r>
                      </m:e>
                      <m:sub>
                        <m:r>
                          <a:rPr lang="en-US" sz="1800" b="0" i="1" smtClean="0">
                            <a:latin typeface="Cambria Math" panose="02040503050406030204" pitchFamily="18" charset="0"/>
                          </a:rPr>
                          <m:t>𝑖𝑖</m:t>
                        </m:r>
                      </m:sub>
                    </m:sSub>
                    <m:r>
                      <a:rPr lang="en-US" sz="1800" b="0" i="1" smtClean="0">
                        <a:latin typeface="Cambria Math" panose="02040503050406030204" pitchFamily="18" charset="0"/>
                        <a:ea typeface="Cambria Math" panose="02040503050406030204" pitchFamily="18" charset="0"/>
                      </a:rPr>
                      <m:t>&gt;</m:t>
                    </m:r>
                    <m:r>
                      <a:rPr lang="en-US" sz="1800" b="0" i="1" smtClean="0">
                        <a:latin typeface="Cambria Math" panose="02040503050406030204" pitchFamily="18" charset="0"/>
                        <a:ea typeface="Cambria Math" panose="02040503050406030204" pitchFamily="18" charset="0"/>
                      </a:rPr>
                      <m:t>3</m:t>
                    </m:r>
                    <m:r>
                      <a:rPr lang="en-US" sz="1800" b="0" i="1" smtClean="0">
                        <a:latin typeface="Cambria Math" panose="02040503050406030204" pitchFamily="18" charset="0"/>
                        <a:ea typeface="Cambria Math" panose="02040503050406030204" pitchFamily="18" charset="0"/>
                      </a:rPr>
                      <m:t>×</m:t>
                    </m:r>
                    <m:acc>
                      <m:accPr>
                        <m:chr m:val="̅"/>
                        <m:ctrlPr>
                          <a:rPr lang="en-US" sz="1800" i="1">
                            <a:latin typeface="Cambria Math" panose="02040503050406030204" pitchFamily="18" charset="0"/>
                          </a:rPr>
                        </m:ctrlPr>
                      </m:accPr>
                      <m:e>
                        <m:r>
                          <a:rPr lang="en-US" sz="1800" i="1">
                            <a:latin typeface="Cambria Math" panose="02040503050406030204" pitchFamily="18" charset="0"/>
                          </a:rPr>
                          <m:t>h</m:t>
                        </m:r>
                      </m:e>
                    </m:acc>
                  </m:oMath>
                </a14:m>
                <a:endParaRPr lang="en-US" sz="1800" dirty="0">
                  <a:latin typeface="Arial" panose="020B0604020202020204" pitchFamily="34" charset="0"/>
                  <a:cs typeface="Arial" panose="020B0604020202020204" pitchFamily="34" charset="0"/>
                </a:endParaRPr>
              </a:p>
            </p:txBody>
          </p:sp>
        </mc:Choice>
        <mc:Fallback>
          <p:sp>
            <p:nvSpPr>
              <p:cNvPr id="3" name="Content Placeholder 2">
                <a:extLst>
                  <a:ext uri="{FF2B5EF4-FFF2-40B4-BE49-F238E27FC236}">
                    <a16:creationId xmlns:a16="http://schemas.microsoft.com/office/drawing/2014/main" id="{F81EB745-44D8-10EF-35FD-45CA9F32E00E}"/>
                  </a:ext>
                </a:extLst>
              </p:cNvPr>
              <p:cNvSpPr>
                <a:spLocks noGrp="1" noRot="1" noChangeAspect="1" noMove="1" noResize="1" noEditPoints="1" noAdjustHandles="1" noChangeArrowheads="1" noChangeShapeType="1" noTextEdit="1"/>
              </p:cNvSpPr>
              <p:nvPr>
                <p:ph idx="1"/>
              </p:nvPr>
            </p:nvSpPr>
            <p:spPr>
              <a:xfrm>
                <a:off x="314384" y="814529"/>
                <a:ext cx="11018519" cy="4679679"/>
              </a:xfrm>
              <a:blipFill>
                <a:blip r:embed="rId3"/>
                <a:stretch>
                  <a:fillRect l="-498" t="-1304"/>
                </a:stretch>
              </a:blipFill>
            </p:spPr>
            <p:txBody>
              <a:bodyPr/>
              <a:lstStyle/>
              <a:p>
                <a:r>
                  <a:rPr lang="en-US">
                    <a:noFill/>
                  </a:rPr>
                  <a:t> </a:t>
                </a:r>
              </a:p>
            </p:txBody>
          </p:sp>
        </mc:Fallback>
      </mc:AlternateContent>
    </p:spTree>
    <p:extLst>
      <p:ext uri="{BB962C8B-B14F-4D97-AF65-F5344CB8AC3E}">
        <p14:creationId xmlns:p14="http://schemas.microsoft.com/office/powerpoint/2010/main" val="2726129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A9B61-4429-7A1C-5E9C-57D8A1E18F1D}"/>
              </a:ext>
            </a:extLst>
          </p:cNvPr>
          <p:cNvSpPr>
            <a:spLocks noGrp="1"/>
          </p:cNvSpPr>
          <p:nvPr>
            <p:ph type="title"/>
          </p:nvPr>
        </p:nvSpPr>
        <p:spPr>
          <a:xfrm>
            <a:off x="216408" y="198028"/>
            <a:ext cx="10515600" cy="756233"/>
          </a:xfrm>
        </p:spPr>
        <p:txBody>
          <a:bodyPr>
            <a:normAutofit/>
          </a:bodyPr>
          <a:lstStyle/>
          <a:p>
            <a:r>
              <a:rPr lang="en-US" sz="3600" dirty="0">
                <a:latin typeface="Arial" panose="020B0604020202020204" pitchFamily="34" charset="0"/>
                <a:cs typeface="Arial" panose="020B0604020202020204" pitchFamily="34" charset="0"/>
              </a:rPr>
              <a:t>Leverage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A1CC014-E87C-CA80-A76D-7AFBA518FE8F}"/>
                  </a:ext>
                </a:extLst>
              </p:cNvPr>
              <p:cNvSpPr txBox="1"/>
              <p:nvPr/>
            </p:nvSpPr>
            <p:spPr>
              <a:xfrm>
                <a:off x="2963065" y="1781652"/>
                <a:ext cx="1700209" cy="84029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h</m:t>
                          </m:r>
                        </m:e>
                      </m:acc>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nary>
                        <m:naryPr>
                          <m:chr m:val="∑"/>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brk m:alnAt="23"/>
                            </m:r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up>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p>
                        <m:e>
                          <m:f>
                            <m:f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h</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𝑖𝑖</m:t>
                                  </m:r>
                                </m:sub>
                              </m:sSub>
                            </m:num>
                            <m:den>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den>
                          </m:f>
                        </m:e>
                      </m:nary>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m:t>
                          </m:r>
                        </m:num>
                        <m:den>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den>
                      </m:f>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 name="TextBox 3">
                <a:extLst>
                  <a:ext uri="{FF2B5EF4-FFF2-40B4-BE49-F238E27FC236}">
                    <a16:creationId xmlns:a16="http://schemas.microsoft.com/office/drawing/2014/main" id="{9A1CC014-E87C-CA80-A76D-7AFBA518FE8F}"/>
                  </a:ext>
                </a:extLst>
              </p:cNvPr>
              <p:cNvSpPr txBox="1">
                <a:spLocks noRot="1" noChangeAspect="1" noMove="1" noResize="1" noEditPoints="1" noAdjustHandles="1" noChangeArrowheads="1" noChangeShapeType="1" noTextEdit="1"/>
              </p:cNvSpPr>
              <p:nvPr/>
            </p:nvSpPr>
            <p:spPr>
              <a:xfrm>
                <a:off x="2963065" y="1781652"/>
                <a:ext cx="1700209" cy="84029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0812935-19B1-0EAD-6DD7-B8CC0B2999DB}"/>
                  </a:ext>
                </a:extLst>
              </p:cNvPr>
              <p:cNvSpPr txBox="1"/>
              <p:nvPr/>
            </p:nvSpPr>
            <p:spPr>
              <a:xfrm>
                <a:off x="3015907" y="3791985"/>
                <a:ext cx="1146531" cy="47436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h</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𝑖𝑖</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&gt;3</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𝑝</m:t>
                              </m:r>
                            </m:num>
                            <m:den>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den>
                          </m:f>
                        </m:e>
                      </m:d>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5" name="TextBox 4">
                <a:extLst>
                  <a:ext uri="{FF2B5EF4-FFF2-40B4-BE49-F238E27FC236}">
                    <a16:creationId xmlns:a16="http://schemas.microsoft.com/office/drawing/2014/main" id="{E0812935-19B1-0EAD-6DD7-B8CC0B2999DB}"/>
                  </a:ext>
                </a:extLst>
              </p:cNvPr>
              <p:cNvSpPr txBox="1">
                <a:spLocks noRot="1" noChangeAspect="1" noMove="1" noResize="1" noEditPoints="1" noAdjustHandles="1" noChangeArrowheads="1" noChangeShapeType="1" noTextEdit="1"/>
              </p:cNvSpPr>
              <p:nvPr/>
            </p:nvSpPr>
            <p:spPr>
              <a:xfrm>
                <a:off x="3015907" y="3791985"/>
                <a:ext cx="1146531" cy="474361"/>
              </a:xfrm>
              <a:prstGeom prst="rect">
                <a:avLst/>
              </a:prstGeom>
              <a:blipFill>
                <a:blip r:embed="rId3"/>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98C14A4F-6B79-7489-F71B-F8F673E6E61D}"/>
              </a:ext>
            </a:extLst>
          </p:cNvPr>
          <p:cNvSpPr txBox="1"/>
          <p:nvPr/>
        </p:nvSpPr>
        <p:spPr>
          <a:xfrm>
            <a:off x="1164626" y="2996700"/>
            <a:ext cx="1410485"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That is, if:</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D2A25734-CF25-86A7-B27B-211E7F1B0980}"/>
              </a:ext>
            </a:extLst>
          </p:cNvPr>
          <p:cNvSpPr txBox="1"/>
          <p:nvPr/>
        </p:nvSpPr>
        <p:spPr>
          <a:xfrm>
            <a:off x="5062817" y="1698104"/>
            <a:ext cx="3360297"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p </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 # of parameters in the model and </a:t>
            </a:r>
            <a:r>
              <a:rPr kumimoji="0" lang="en-US" sz="2000" b="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n </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 the number of observations</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BD90E925-C23E-7F09-0F7E-FA74AEA0DE7E}"/>
              </a:ext>
            </a:extLst>
          </p:cNvPr>
          <p:cNvSpPr txBox="1"/>
          <p:nvPr/>
        </p:nvSpPr>
        <p:spPr>
          <a:xfrm>
            <a:off x="5007560" y="3429000"/>
            <a:ext cx="3415554" cy="16312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Then flag the observations as unusual </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Wingdings" panose="05000000000000000000" pitchFamily="2" charset="2"/>
              </a:rPr>
              <a:t> </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X is an observation whose value gives it large </a:t>
            </a:r>
            <a:r>
              <a:rPr kumimoji="0" lang="en-US" sz="2000" b="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leverage</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 for the regression analysis</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8425511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330A6-286D-BCA2-7CC1-36CAB538B0E0}"/>
              </a:ext>
            </a:extLst>
          </p:cNvPr>
          <p:cNvSpPr>
            <a:spLocks noGrp="1"/>
          </p:cNvSpPr>
          <p:nvPr>
            <p:ph type="title"/>
          </p:nvPr>
        </p:nvSpPr>
        <p:spPr>
          <a:xfrm>
            <a:off x="162612" y="133477"/>
            <a:ext cx="10515600" cy="671195"/>
          </a:xfrm>
        </p:spPr>
        <p:txBody>
          <a:bodyPr>
            <a:normAutofit/>
          </a:bodyPr>
          <a:lstStyle/>
          <a:p>
            <a:r>
              <a:rPr lang="en-US" sz="3600" dirty="0">
                <a:latin typeface="Arial" panose="020B0604020202020204" pitchFamily="34" charset="0"/>
                <a:cs typeface="Arial" panose="020B0604020202020204" pitchFamily="34" charset="0"/>
              </a:rPr>
              <a:t>Example</a:t>
            </a:r>
          </a:p>
        </p:txBody>
      </p:sp>
      <p:sp>
        <p:nvSpPr>
          <p:cNvPr id="3" name="Content Placeholder 2">
            <a:extLst>
              <a:ext uri="{FF2B5EF4-FFF2-40B4-BE49-F238E27FC236}">
                <a16:creationId xmlns:a16="http://schemas.microsoft.com/office/drawing/2014/main" id="{E7F029D6-E1EE-907F-E12B-7AFE482CAAE4}"/>
              </a:ext>
            </a:extLst>
          </p:cNvPr>
          <p:cNvSpPr>
            <a:spLocks noGrp="1"/>
          </p:cNvSpPr>
          <p:nvPr>
            <p:ph idx="1"/>
          </p:nvPr>
        </p:nvSpPr>
        <p:spPr>
          <a:xfrm>
            <a:off x="362712" y="804672"/>
            <a:ext cx="4582212" cy="4351338"/>
          </a:xfrm>
        </p:spPr>
        <p:txBody>
          <a:bodyPr>
            <a:normAutofit/>
          </a:bodyPr>
          <a:lstStyle/>
          <a:p>
            <a:r>
              <a:rPr lang="en-US" sz="2000" dirty="0">
                <a:latin typeface="Arial" panose="020B0604020202020204" pitchFamily="34" charset="0"/>
                <a:cs typeface="Arial" panose="020B0604020202020204" pitchFamily="34" charset="0"/>
              </a:rPr>
              <a:t>You perform a SLR with </a:t>
            </a:r>
            <a:r>
              <a:rPr lang="en-US" sz="2000" i="1" dirty="0">
                <a:latin typeface="Arial" panose="020B0604020202020204" pitchFamily="34" charset="0"/>
                <a:cs typeface="Arial" panose="020B0604020202020204" pitchFamily="34" charset="0"/>
              </a:rPr>
              <a:t>n </a:t>
            </a:r>
            <a:r>
              <a:rPr lang="en-US" sz="2000" dirty="0">
                <a:latin typeface="Arial" panose="020B0604020202020204" pitchFamily="34" charset="0"/>
                <a:cs typeface="Arial" panose="020B0604020202020204" pitchFamily="34" charset="0"/>
              </a:rPr>
              <a:t>= 21 cases. What is the leverage cutoff value that gives you some reason to be concerned?</a:t>
            </a:r>
          </a:p>
          <a:p>
            <a:r>
              <a:rPr lang="en-US" sz="2000" i="1" dirty="0">
                <a:latin typeface="Arial" panose="020B0604020202020204" pitchFamily="34" charset="0"/>
                <a:cs typeface="Arial" panose="020B0604020202020204" pitchFamily="34" charset="0"/>
              </a:rPr>
              <a:t>p = </a:t>
            </a:r>
            <a:r>
              <a:rPr lang="en-US" sz="2000" dirty="0">
                <a:latin typeface="Arial" panose="020B0604020202020204" pitchFamily="34" charset="0"/>
                <a:cs typeface="Arial" panose="020B0604020202020204" pitchFamily="34" charset="0"/>
              </a:rPr>
              <a:t>2</a:t>
            </a:r>
            <a:r>
              <a:rPr lang="en-US" sz="2000" i="1" dirty="0">
                <a:latin typeface="Arial" panose="020B0604020202020204" pitchFamily="34" charset="0"/>
                <a:cs typeface="Arial" panose="020B0604020202020204" pitchFamily="34" charset="0"/>
              </a:rPr>
              <a:t>, n </a:t>
            </a:r>
            <a:r>
              <a:rPr lang="en-US" sz="2000" dirty="0">
                <a:latin typeface="Arial" panose="020B0604020202020204" pitchFamily="34" charset="0"/>
                <a:cs typeface="Arial" panose="020B0604020202020204" pitchFamily="34" charset="0"/>
              </a:rPr>
              <a:t>= 21</a:t>
            </a:r>
            <a:endParaRPr lang="en-US" sz="2000" i="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A080F7D-ADC9-FCA7-B972-5E811F633589}"/>
                  </a:ext>
                </a:extLst>
              </p:cNvPr>
              <p:cNvSpPr txBox="1"/>
              <p:nvPr/>
            </p:nvSpPr>
            <p:spPr>
              <a:xfrm>
                <a:off x="560708" y="2703983"/>
                <a:ext cx="2312556" cy="55271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h</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𝑖𝑖</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&gt;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3</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dPr>
                      <m:e>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2</m:t>
                            </m:r>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21</m:t>
                            </m:r>
                          </m:den>
                        </m:f>
                      </m:e>
                    </m:d>
                  </m:oMath>
                </a14:m>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=.286</a:t>
                </a:r>
              </a:p>
            </p:txBody>
          </p:sp>
        </mc:Choice>
        <mc:Fallback xmlns="">
          <p:sp>
            <p:nvSpPr>
              <p:cNvPr id="4" name="TextBox 3">
                <a:extLst>
                  <a:ext uri="{FF2B5EF4-FFF2-40B4-BE49-F238E27FC236}">
                    <a16:creationId xmlns:a16="http://schemas.microsoft.com/office/drawing/2014/main" id="{BA080F7D-ADC9-FCA7-B972-5E811F633589}"/>
                  </a:ext>
                </a:extLst>
              </p:cNvPr>
              <p:cNvSpPr txBox="1">
                <a:spLocks noRot="1" noChangeAspect="1" noMove="1" noResize="1" noEditPoints="1" noAdjustHandles="1" noChangeArrowheads="1" noChangeShapeType="1" noTextEdit="1"/>
              </p:cNvSpPr>
              <p:nvPr/>
            </p:nvSpPr>
            <p:spPr>
              <a:xfrm>
                <a:off x="560708" y="2703983"/>
                <a:ext cx="2312556" cy="552715"/>
              </a:xfrm>
              <a:prstGeom prst="rect">
                <a:avLst/>
              </a:prstGeom>
              <a:blipFill>
                <a:blip r:embed="rId2"/>
                <a:stretch>
                  <a:fillRect t="-1111" r="-7124" b="-16667"/>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E1C77E53-CC1D-7A74-5E2F-F4E16776BC0E}"/>
              </a:ext>
            </a:extLst>
          </p:cNvPr>
          <p:cNvPicPr>
            <a:picLocks noChangeAspect="1"/>
          </p:cNvPicPr>
          <p:nvPr/>
        </p:nvPicPr>
        <p:blipFill>
          <a:blip r:embed="rId3"/>
          <a:stretch>
            <a:fillRect/>
          </a:stretch>
        </p:blipFill>
        <p:spPr>
          <a:xfrm>
            <a:off x="5370484" y="133477"/>
            <a:ext cx="6658904" cy="4534533"/>
          </a:xfrm>
          <a:prstGeom prst="rect">
            <a:avLst/>
          </a:prstGeom>
        </p:spPr>
      </p:pic>
    </p:spTree>
    <p:extLst>
      <p:ext uri="{BB962C8B-B14F-4D97-AF65-F5344CB8AC3E}">
        <p14:creationId xmlns:p14="http://schemas.microsoft.com/office/powerpoint/2010/main" val="204860335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82FCB-07F3-6E84-F7D2-454DB640D5B4}"/>
              </a:ext>
            </a:extLst>
          </p:cNvPr>
          <p:cNvSpPr>
            <a:spLocks noGrp="1"/>
          </p:cNvSpPr>
          <p:nvPr>
            <p:ph type="title"/>
          </p:nvPr>
        </p:nvSpPr>
        <p:spPr>
          <a:xfrm>
            <a:off x="246592" y="192024"/>
            <a:ext cx="8275616" cy="832104"/>
          </a:xfrm>
        </p:spPr>
        <p:txBody>
          <a:bodyPr>
            <a:normAutofit/>
          </a:bodyPr>
          <a:lstStyle/>
          <a:p>
            <a:r>
              <a:rPr lang="en-US" sz="3600" dirty="0">
                <a:latin typeface="Arial" panose="020B0604020202020204" pitchFamily="34" charset="0"/>
                <a:cs typeface="Arial" panose="020B0604020202020204" pitchFamily="34" charset="0"/>
              </a:rPr>
              <a:t>Can have JASP provide diagnostics</a:t>
            </a:r>
          </a:p>
        </p:txBody>
      </p:sp>
      <p:graphicFrame>
        <p:nvGraphicFramePr>
          <p:cNvPr id="3" name="Table 2">
            <a:extLst>
              <a:ext uri="{FF2B5EF4-FFF2-40B4-BE49-F238E27FC236}">
                <a16:creationId xmlns:a16="http://schemas.microsoft.com/office/drawing/2014/main" id="{436EDEC0-F0ED-9156-AEAB-0FD1DAC01FA2}"/>
              </a:ext>
            </a:extLst>
          </p:cNvPr>
          <p:cNvGraphicFramePr>
            <a:graphicFrameLocks noGrp="1"/>
          </p:cNvGraphicFramePr>
          <p:nvPr>
            <p:extLst>
              <p:ext uri="{D42A27DB-BD31-4B8C-83A1-F6EECF244321}">
                <p14:modId xmlns:p14="http://schemas.microsoft.com/office/powerpoint/2010/main" val="1120106707"/>
              </p:ext>
            </p:extLst>
          </p:nvPr>
        </p:nvGraphicFramePr>
        <p:xfrm>
          <a:off x="606551" y="1115600"/>
          <a:ext cx="10515603" cy="2430780"/>
        </p:xfrm>
        <a:graphic>
          <a:graphicData uri="http://schemas.openxmlformats.org/drawingml/2006/table">
            <a:tbl>
              <a:tblPr/>
              <a:tblGrid>
                <a:gridCol w="1502229">
                  <a:extLst>
                    <a:ext uri="{9D8B030D-6E8A-4147-A177-3AD203B41FA5}">
                      <a16:colId xmlns:a16="http://schemas.microsoft.com/office/drawing/2014/main" val="3857246663"/>
                    </a:ext>
                  </a:extLst>
                </a:gridCol>
                <a:gridCol w="1502229">
                  <a:extLst>
                    <a:ext uri="{9D8B030D-6E8A-4147-A177-3AD203B41FA5}">
                      <a16:colId xmlns:a16="http://schemas.microsoft.com/office/drawing/2014/main" val="1544833788"/>
                    </a:ext>
                  </a:extLst>
                </a:gridCol>
                <a:gridCol w="1502229">
                  <a:extLst>
                    <a:ext uri="{9D8B030D-6E8A-4147-A177-3AD203B41FA5}">
                      <a16:colId xmlns:a16="http://schemas.microsoft.com/office/drawing/2014/main" val="873651645"/>
                    </a:ext>
                  </a:extLst>
                </a:gridCol>
                <a:gridCol w="1502229">
                  <a:extLst>
                    <a:ext uri="{9D8B030D-6E8A-4147-A177-3AD203B41FA5}">
                      <a16:colId xmlns:a16="http://schemas.microsoft.com/office/drawing/2014/main" val="381429759"/>
                    </a:ext>
                  </a:extLst>
                </a:gridCol>
                <a:gridCol w="1502229">
                  <a:extLst>
                    <a:ext uri="{9D8B030D-6E8A-4147-A177-3AD203B41FA5}">
                      <a16:colId xmlns:a16="http://schemas.microsoft.com/office/drawing/2014/main" val="1518475890"/>
                    </a:ext>
                  </a:extLst>
                </a:gridCol>
                <a:gridCol w="1502229">
                  <a:extLst>
                    <a:ext uri="{9D8B030D-6E8A-4147-A177-3AD203B41FA5}">
                      <a16:colId xmlns:a16="http://schemas.microsoft.com/office/drawing/2014/main" val="2278917690"/>
                    </a:ext>
                  </a:extLst>
                </a:gridCol>
                <a:gridCol w="1502229">
                  <a:extLst>
                    <a:ext uri="{9D8B030D-6E8A-4147-A177-3AD203B41FA5}">
                      <a16:colId xmlns:a16="http://schemas.microsoft.com/office/drawing/2014/main" val="4140615892"/>
                    </a:ext>
                  </a:extLst>
                </a:gridCol>
              </a:tblGrid>
              <a:tr h="388620">
                <a:tc gridSpan="7">
                  <a:txBody>
                    <a:bodyPr/>
                    <a:lstStyle/>
                    <a:p>
                      <a:pPr algn="l">
                        <a:buNone/>
                      </a:pPr>
                      <a:r>
                        <a:rPr lang="en-US" sz="1800" b="0" i="1">
                          <a:solidFill>
                            <a:srgbClr val="000000"/>
                          </a:solidFill>
                          <a:effectLst/>
                          <a:latin typeface="Arial" panose="020B0604020202020204" pitchFamily="34" charset="0"/>
                        </a:rPr>
                        <a:t>Coefficients</a:t>
                      </a:r>
                      <a:r>
                        <a:rPr lang="en-US" sz="1800" b="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04629580"/>
                  </a:ext>
                </a:extLst>
              </a:tr>
              <a:tr h="605790">
                <a:tc>
                  <a:txBody>
                    <a:bodyPr/>
                    <a:lstStyle/>
                    <a:p>
                      <a:pPr algn="ctr">
                        <a:buNone/>
                      </a:pPr>
                      <a:r>
                        <a:rPr lang="en-US" sz="1800" b="0">
                          <a:solidFill>
                            <a:srgbClr val="000000"/>
                          </a:solidFill>
                          <a:effectLst/>
                          <a:latin typeface="Arial" panose="020B0604020202020204" pitchFamily="34" charset="0"/>
                        </a:rPr>
                        <a:t>Model</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 </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Unstandardized</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Standard Error</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Standardized</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t</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p</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4187479"/>
                  </a:ext>
                </a:extLst>
              </a:tr>
              <a:tr h="405765">
                <a:tc>
                  <a:txBody>
                    <a:bodyPr/>
                    <a:lstStyle/>
                    <a:p>
                      <a:pPr algn="l">
                        <a:buNone/>
                      </a:pPr>
                      <a:r>
                        <a:rPr lang="en-US" sz="1800" b="0">
                          <a:solidFill>
                            <a:srgbClr val="000000"/>
                          </a:solidFill>
                          <a:effectLst/>
                          <a:latin typeface="Arial" panose="020B0604020202020204" pitchFamily="34" charset="0"/>
                        </a:rPr>
                        <a:t>M₀</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l">
                        <a:buNone/>
                      </a:pPr>
                      <a:r>
                        <a:rPr lang="en-US" sz="1800" b="0">
                          <a:solidFill>
                            <a:srgbClr val="000000"/>
                          </a:solidFill>
                          <a:effectLst/>
                          <a:latin typeface="Arial" panose="020B0604020202020204" pitchFamily="34" charset="0"/>
                        </a:rPr>
                        <a:t>(Intercept)</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25.700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3.319</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 </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7.743</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&lt; .001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030473227"/>
                  </a:ext>
                </a:extLst>
              </a:tr>
              <a:tr h="405765">
                <a:tc>
                  <a:txBody>
                    <a:bodyPr/>
                    <a:lstStyle/>
                    <a:p>
                      <a:pPr algn="l">
                        <a:buNone/>
                      </a:pPr>
                      <a:r>
                        <a:rPr lang="en-US" sz="1800" b="0">
                          <a:solidFill>
                            <a:srgbClr val="000000"/>
                          </a:solidFill>
                          <a:effectLst/>
                          <a:latin typeface="Arial" panose="020B0604020202020204" pitchFamily="34" charset="0"/>
                        </a:rPr>
                        <a:t>M₁</a:t>
                      </a:r>
                    </a:p>
                  </a:txBody>
                  <a:tcPr marL="114300" marR="114300" marT="102870" marB="28575" anchor="ctr">
                    <a:lnL>
                      <a:noFill/>
                    </a:lnL>
                    <a:lnR>
                      <a:noFill/>
                    </a:lnR>
                    <a:lnT>
                      <a:noFill/>
                    </a:lnT>
                    <a:lnB>
                      <a:noFill/>
                    </a:lnB>
                    <a:solidFill>
                      <a:srgbClr val="EBEBEB"/>
                    </a:solidFill>
                  </a:tcPr>
                </a:tc>
                <a:tc>
                  <a:txBody>
                    <a:bodyPr/>
                    <a:lstStyle/>
                    <a:p>
                      <a:pPr algn="l">
                        <a:buNone/>
                      </a:pPr>
                      <a:r>
                        <a:rPr lang="en-US" sz="1800" b="0">
                          <a:solidFill>
                            <a:srgbClr val="000000"/>
                          </a:solidFill>
                          <a:effectLst/>
                          <a:latin typeface="Arial" panose="020B0604020202020204" pitchFamily="34" charset="0"/>
                        </a:rPr>
                        <a:t>(Intercept)</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a:solidFill>
                            <a:srgbClr val="000000"/>
                          </a:solidFill>
                          <a:effectLst/>
                          <a:latin typeface="Arial" panose="020B0604020202020204" pitchFamily="34" charset="0"/>
                        </a:rPr>
                        <a:t>8.505</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a:solidFill>
                            <a:srgbClr val="000000"/>
                          </a:solidFill>
                          <a:effectLst/>
                          <a:latin typeface="Arial" panose="020B0604020202020204" pitchFamily="34" charset="0"/>
                        </a:rPr>
                        <a:t>4.222</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a:solidFill>
                            <a:srgbClr val="000000"/>
                          </a:solidFill>
                          <a:effectLst/>
                          <a:latin typeface="Arial" panose="020B0604020202020204" pitchFamily="34" charset="0"/>
                        </a:rPr>
                        <a:t> </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a:solidFill>
                            <a:srgbClr val="000000"/>
                          </a:solidFill>
                          <a:effectLst/>
                          <a:latin typeface="Arial" panose="020B0604020202020204" pitchFamily="34" charset="0"/>
                        </a:rPr>
                        <a:t>2.014</a:t>
                      </a:r>
                    </a:p>
                  </a:txBody>
                  <a:tcPr marL="114300" marR="114300" marT="102870" marB="28575" anchor="ctr">
                    <a:lnL>
                      <a:noFill/>
                    </a:lnL>
                    <a:lnR>
                      <a:noFill/>
                    </a:lnR>
                    <a:lnT>
                      <a:noFill/>
                    </a:lnT>
                    <a:lnB>
                      <a:noFill/>
                    </a:lnB>
                    <a:solidFill>
                      <a:srgbClr val="EBEBEB"/>
                    </a:solidFill>
                  </a:tcPr>
                </a:tc>
                <a:tc>
                  <a:txBody>
                    <a:bodyPr/>
                    <a:lstStyle/>
                    <a:p>
                      <a:pPr algn="r">
                        <a:buNone/>
                      </a:pPr>
                      <a:r>
                        <a:rPr lang="en-US" sz="1800" b="0">
                          <a:solidFill>
                            <a:srgbClr val="000000"/>
                          </a:solidFill>
                          <a:effectLst/>
                          <a:latin typeface="Arial" panose="020B0604020202020204" pitchFamily="34" charset="0"/>
                        </a:rPr>
                        <a:t>.058</a:t>
                      </a:r>
                    </a:p>
                  </a:txBody>
                  <a:tcPr marL="114300" marR="114300" marT="102870" marB="28575" anchor="ctr">
                    <a:lnL>
                      <a:noFill/>
                    </a:lnL>
                    <a:lnR>
                      <a:noFill/>
                    </a:lnR>
                    <a:lnT>
                      <a:noFill/>
                    </a:lnT>
                    <a:lnB>
                      <a:noFill/>
                    </a:lnB>
                    <a:solidFill>
                      <a:srgbClr val="EBEBEB"/>
                    </a:solidFill>
                  </a:tcPr>
                </a:tc>
                <a:extLst>
                  <a:ext uri="{0D108BD9-81ED-4DB2-BD59-A6C34878D82A}">
                    <a16:rowId xmlns:a16="http://schemas.microsoft.com/office/drawing/2014/main" val="1404626284"/>
                  </a:ext>
                </a:extLst>
              </a:tr>
              <a:tr h="312420">
                <a:tc>
                  <a:txBody>
                    <a:bodyPr/>
                    <a:lstStyle/>
                    <a:p>
                      <a:pPr algn="l">
                        <a:spcAft>
                          <a:spcPts val="720"/>
                        </a:spcAft>
                        <a:buNone/>
                      </a:pPr>
                      <a:r>
                        <a:rPr lang="en-US" sz="1800"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tc>
                  <a:txBody>
                    <a:bodyPr/>
                    <a:lstStyle/>
                    <a:p>
                      <a:pPr algn="l">
                        <a:spcAft>
                          <a:spcPts val="720"/>
                        </a:spcAft>
                        <a:buNone/>
                      </a:pPr>
                      <a:r>
                        <a:rPr lang="en-US" sz="1800" b="0">
                          <a:solidFill>
                            <a:srgbClr val="000000"/>
                          </a:solidFill>
                          <a:effectLst/>
                          <a:latin typeface="Arial" panose="020B0604020202020204" pitchFamily="34" charset="0"/>
                        </a:rPr>
                        <a:t>x</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3.320</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0.686</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0.743</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4.838</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&lt; .001</a:t>
                      </a:r>
                    </a:p>
                  </a:txBody>
                  <a:tcPr marL="114300" marR="114300" marT="9525" marB="28575" anchor="ctr">
                    <a:lnL>
                      <a:noFill/>
                    </a:lnL>
                    <a:lnR>
                      <a:noFill/>
                    </a:lnR>
                    <a:lnT>
                      <a:noFill/>
                    </a:lnT>
                    <a:lnB>
                      <a:noFill/>
                    </a:lnB>
                    <a:solidFill>
                      <a:srgbClr val="FFFFFF"/>
                    </a:solidFill>
                  </a:tcPr>
                </a:tc>
                <a:extLst>
                  <a:ext uri="{0D108BD9-81ED-4DB2-BD59-A6C34878D82A}">
                    <a16:rowId xmlns:a16="http://schemas.microsoft.com/office/drawing/2014/main" val="3592741383"/>
                  </a:ext>
                </a:extLst>
              </a:tr>
              <a:tr h="312420">
                <a:tc gridSpan="7">
                  <a:txBody>
                    <a:bodyPr/>
                    <a:lstStyle/>
                    <a:p>
                      <a:pPr algn="r">
                        <a:buNone/>
                      </a:pPr>
                      <a:endParaRPr lang="en-US" sz="1800" b="0" dirty="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EBEBE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5896544"/>
                  </a:ext>
                </a:extLst>
              </a:tr>
            </a:tbl>
          </a:graphicData>
        </a:graphic>
      </p:graphicFrame>
      <p:graphicFrame>
        <p:nvGraphicFramePr>
          <p:cNvPr id="5" name="Table 4">
            <a:extLst>
              <a:ext uri="{FF2B5EF4-FFF2-40B4-BE49-F238E27FC236}">
                <a16:creationId xmlns:a16="http://schemas.microsoft.com/office/drawing/2014/main" id="{41853DA2-0C9A-6045-AD45-1434D230E914}"/>
              </a:ext>
            </a:extLst>
          </p:cNvPr>
          <p:cNvGraphicFramePr>
            <a:graphicFrameLocks noGrp="1"/>
          </p:cNvGraphicFramePr>
          <p:nvPr>
            <p:extLst>
              <p:ext uri="{D42A27DB-BD31-4B8C-83A1-F6EECF244321}">
                <p14:modId xmlns:p14="http://schemas.microsoft.com/office/powerpoint/2010/main" val="1519936840"/>
              </p:ext>
            </p:extLst>
          </p:nvPr>
        </p:nvGraphicFramePr>
        <p:xfrm>
          <a:off x="606551" y="4110450"/>
          <a:ext cx="10515603" cy="2025015"/>
        </p:xfrm>
        <a:graphic>
          <a:graphicData uri="http://schemas.openxmlformats.org/drawingml/2006/table">
            <a:tbl>
              <a:tblPr/>
              <a:tblGrid>
                <a:gridCol w="1502229">
                  <a:extLst>
                    <a:ext uri="{9D8B030D-6E8A-4147-A177-3AD203B41FA5}">
                      <a16:colId xmlns:a16="http://schemas.microsoft.com/office/drawing/2014/main" val="1143983799"/>
                    </a:ext>
                  </a:extLst>
                </a:gridCol>
                <a:gridCol w="1502229">
                  <a:extLst>
                    <a:ext uri="{9D8B030D-6E8A-4147-A177-3AD203B41FA5}">
                      <a16:colId xmlns:a16="http://schemas.microsoft.com/office/drawing/2014/main" val="3786209040"/>
                    </a:ext>
                  </a:extLst>
                </a:gridCol>
                <a:gridCol w="1502229">
                  <a:extLst>
                    <a:ext uri="{9D8B030D-6E8A-4147-A177-3AD203B41FA5}">
                      <a16:colId xmlns:a16="http://schemas.microsoft.com/office/drawing/2014/main" val="657350627"/>
                    </a:ext>
                  </a:extLst>
                </a:gridCol>
                <a:gridCol w="1502229">
                  <a:extLst>
                    <a:ext uri="{9D8B030D-6E8A-4147-A177-3AD203B41FA5}">
                      <a16:colId xmlns:a16="http://schemas.microsoft.com/office/drawing/2014/main" val="1443569798"/>
                    </a:ext>
                  </a:extLst>
                </a:gridCol>
                <a:gridCol w="1502229">
                  <a:extLst>
                    <a:ext uri="{9D8B030D-6E8A-4147-A177-3AD203B41FA5}">
                      <a16:colId xmlns:a16="http://schemas.microsoft.com/office/drawing/2014/main" val="2058915593"/>
                    </a:ext>
                  </a:extLst>
                </a:gridCol>
                <a:gridCol w="1502229">
                  <a:extLst>
                    <a:ext uri="{9D8B030D-6E8A-4147-A177-3AD203B41FA5}">
                      <a16:colId xmlns:a16="http://schemas.microsoft.com/office/drawing/2014/main" val="1507955778"/>
                    </a:ext>
                  </a:extLst>
                </a:gridCol>
                <a:gridCol w="1502229">
                  <a:extLst>
                    <a:ext uri="{9D8B030D-6E8A-4147-A177-3AD203B41FA5}">
                      <a16:colId xmlns:a16="http://schemas.microsoft.com/office/drawing/2014/main" val="2252042832"/>
                    </a:ext>
                  </a:extLst>
                </a:gridCol>
              </a:tblGrid>
              <a:tr h="388620">
                <a:tc gridSpan="7">
                  <a:txBody>
                    <a:bodyPr/>
                    <a:lstStyle/>
                    <a:p>
                      <a:pPr algn="l">
                        <a:buNone/>
                      </a:pPr>
                      <a:r>
                        <a:rPr lang="en-US" sz="1800" b="0" i="1">
                          <a:solidFill>
                            <a:srgbClr val="000000"/>
                          </a:solidFill>
                          <a:effectLst/>
                          <a:latin typeface="Arial" panose="020B0604020202020204" pitchFamily="34" charset="0"/>
                        </a:rPr>
                        <a:t>Influential Cases</a:t>
                      </a:r>
                      <a:r>
                        <a:rPr lang="en-US" sz="1800" b="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78903699"/>
                  </a:ext>
                </a:extLst>
              </a:tr>
              <a:tr h="605790">
                <a:tc>
                  <a:txBody>
                    <a:bodyPr/>
                    <a:lstStyle/>
                    <a:p>
                      <a:pPr algn="ctr">
                        <a:buNone/>
                      </a:pPr>
                      <a:r>
                        <a:rPr lang="en-US" sz="1800" b="0">
                          <a:solidFill>
                            <a:srgbClr val="000000"/>
                          </a:solidFill>
                          <a:effectLst/>
                          <a:latin typeface="Arial" panose="020B0604020202020204" pitchFamily="34" charset="0"/>
                        </a:rPr>
                        <a:t>Case Number</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Std. Residual</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y</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Predicted Value</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Residual</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Cook's Distance</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Leverage</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2051256"/>
                  </a:ext>
                </a:extLst>
              </a:tr>
              <a:tr h="405765">
                <a:tc>
                  <a:txBody>
                    <a:bodyPr/>
                    <a:lstStyle/>
                    <a:p>
                      <a:pPr algn="r">
                        <a:spcAft>
                          <a:spcPts val="720"/>
                        </a:spcAft>
                        <a:buNone/>
                      </a:pPr>
                      <a:r>
                        <a:rPr lang="en-US" sz="1800" b="0">
                          <a:solidFill>
                            <a:srgbClr val="000000"/>
                          </a:solidFill>
                          <a:effectLst/>
                          <a:latin typeface="Arial" panose="020B0604020202020204" pitchFamily="34" charset="0"/>
                        </a:rPr>
                        <a:t>21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-4.230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15.000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51.662</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-36.662</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4.048*</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spcAft>
                          <a:spcPts val="720"/>
                        </a:spcAft>
                        <a:buNone/>
                      </a:pPr>
                      <a:r>
                        <a:rPr lang="en-US" sz="1800" b="0">
                          <a:solidFill>
                            <a:srgbClr val="000000"/>
                          </a:solidFill>
                          <a:effectLst/>
                          <a:latin typeface="Arial" panose="020B0604020202020204" pitchFamily="34" charset="0"/>
                        </a:rPr>
                        <a:t>0.312*</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017017157"/>
                  </a:ext>
                </a:extLst>
              </a:tr>
              <a:tr h="312420">
                <a:tc gridSpan="7">
                  <a:txBody>
                    <a:bodyPr/>
                    <a:lstStyle/>
                    <a:p>
                      <a:pPr algn="r">
                        <a:buNone/>
                      </a:pPr>
                      <a:endParaRPr lang="en-US" sz="1800" b="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EBEBE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40453374"/>
                  </a:ext>
                </a:extLst>
              </a:tr>
              <a:tr h="312420">
                <a:tc gridSpan="7">
                  <a:txBody>
                    <a:bodyPr/>
                    <a:lstStyle/>
                    <a:p>
                      <a:pPr algn="l">
                        <a:buNone/>
                      </a:pPr>
                      <a:r>
                        <a:rPr lang="en-US" sz="1800" b="0" dirty="0">
                          <a:solidFill>
                            <a:srgbClr val="000000"/>
                          </a:solidFill>
                          <a:effectLst/>
                          <a:latin typeface="Arial" panose="020B0604020202020204" pitchFamily="34" charset="0"/>
                        </a:rPr>
                        <a:t>* Potentially influential case, according to the selected influence measure.</a:t>
                      </a:r>
                    </a:p>
                  </a:txBody>
                  <a:tcPr marR="114300" marT="9525" marB="28575" anchor="ctr">
                    <a:lnL>
                      <a:noFill/>
                    </a:lnL>
                    <a:lnR>
                      <a:noFill/>
                    </a:lnR>
                    <a:lnT w="7934" cap="flat" cmpd="sng" algn="ctr">
                      <a:solidFill>
                        <a:srgbClr val="000000"/>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78572563"/>
                  </a:ext>
                </a:extLst>
              </a:tr>
            </a:tbl>
          </a:graphicData>
        </a:graphic>
      </p:graphicFrame>
    </p:spTree>
    <p:extLst>
      <p:ext uri="{BB962C8B-B14F-4D97-AF65-F5344CB8AC3E}">
        <p14:creationId xmlns:p14="http://schemas.microsoft.com/office/powerpoint/2010/main" val="86411678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38D57F6-7F5F-8101-EEA3-3CECD78A4E25}"/>
              </a:ext>
            </a:extLst>
          </p:cNvPr>
          <p:cNvGraphicFramePr>
            <a:graphicFrameLocks noGrp="1"/>
          </p:cNvGraphicFramePr>
          <p:nvPr>
            <p:extLst>
              <p:ext uri="{D42A27DB-BD31-4B8C-83A1-F6EECF244321}">
                <p14:modId xmlns:p14="http://schemas.microsoft.com/office/powerpoint/2010/main" val="3439089086"/>
              </p:ext>
            </p:extLst>
          </p:nvPr>
        </p:nvGraphicFramePr>
        <p:xfrm>
          <a:off x="704088" y="0"/>
          <a:ext cx="10515600" cy="2924175"/>
        </p:xfrm>
        <a:graphic>
          <a:graphicData uri="http://schemas.openxmlformats.org/drawingml/2006/table">
            <a:tbl>
              <a:tblPr/>
              <a:tblGrid>
                <a:gridCol w="1752600">
                  <a:extLst>
                    <a:ext uri="{9D8B030D-6E8A-4147-A177-3AD203B41FA5}">
                      <a16:colId xmlns:a16="http://schemas.microsoft.com/office/drawing/2014/main" val="1015012660"/>
                    </a:ext>
                  </a:extLst>
                </a:gridCol>
                <a:gridCol w="1752600">
                  <a:extLst>
                    <a:ext uri="{9D8B030D-6E8A-4147-A177-3AD203B41FA5}">
                      <a16:colId xmlns:a16="http://schemas.microsoft.com/office/drawing/2014/main" val="3542772993"/>
                    </a:ext>
                  </a:extLst>
                </a:gridCol>
                <a:gridCol w="1752600">
                  <a:extLst>
                    <a:ext uri="{9D8B030D-6E8A-4147-A177-3AD203B41FA5}">
                      <a16:colId xmlns:a16="http://schemas.microsoft.com/office/drawing/2014/main" val="1560489081"/>
                    </a:ext>
                  </a:extLst>
                </a:gridCol>
                <a:gridCol w="1752600">
                  <a:extLst>
                    <a:ext uri="{9D8B030D-6E8A-4147-A177-3AD203B41FA5}">
                      <a16:colId xmlns:a16="http://schemas.microsoft.com/office/drawing/2014/main" val="2149451986"/>
                    </a:ext>
                  </a:extLst>
                </a:gridCol>
                <a:gridCol w="1752600">
                  <a:extLst>
                    <a:ext uri="{9D8B030D-6E8A-4147-A177-3AD203B41FA5}">
                      <a16:colId xmlns:a16="http://schemas.microsoft.com/office/drawing/2014/main" val="1805881935"/>
                    </a:ext>
                  </a:extLst>
                </a:gridCol>
                <a:gridCol w="1752600">
                  <a:extLst>
                    <a:ext uri="{9D8B030D-6E8A-4147-A177-3AD203B41FA5}">
                      <a16:colId xmlns:a16="http://schemas.microsoft.com/office/drawing/2014/main" val="2896297996"/>
                    </a:ext>
                  </a:extLst>
                </a:gridCol>
              </a:tblGrid>
              <a:tr h="0">
                <a:tc gridSpan="6">
                  <a:txBody>
                    <a:bodyPr/>
                    <a:lstStyle/>
                    <a:p>
                      <a:pPr algn="l">
                        <a:buNone/>
                      </a:pPr>
                      <a:r>
                        <a:rPr lang="en-US" b="0" i="1">
                          <a:solidFill>
                            <a:srgbClr val="000000"/>
                          </a:solidFill>
                          <a:effectLst/>
                          <a:latin typeface="Arial" panose="020B0604020202020204" pitchFamily="34" charset="0"/>
                        </a:rPr>
                        <a:t>Residuals Statistics</a:t>
                      </a:r>
                      <a:r>
                        <a:rPr lang="en-US" b="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04339941"/>
                  </a:ext>
                </a:extLst>
              </a:tr>
              <a:tr h="0">
                <a:tc>
                  <a:txBody>
                    <a:bodyPr/>
                    <a:lstStyle/>
                    <a:p>
                      <a:pPr algn="ctr">
                        <a:buNone/>
                      </a:pPr>
                      <a:r>
                        <a:rPr lang="en-US" b="0">
                          <a:solidFill>
                            <a:srgbClr val="000000"/>
                          </a:solidFill>
                          <a:effectLst/>
                          <a:latin typeface="Arial" panose="020B0604020202020204" pitchFamily="34" charset="0"/>
                        </a:rPr>
                        <a:t> </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Minimum</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Maximum</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Mean</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SD</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N</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6762327"/>
                  </a:ext>
                </a:extLst>
              </a:tr>
              <a:tr h="0">
                <a:tc>
                  <a:txBody>
                    <a:bodyPr/>
                    <a:lstStyle/>
                    <a:p>
                      <a:pPr algn="l">
                        <a:buNone/>
                      </a:pPr>
                      <a:r>
                        <a:rPr lang="en-US" b="0">
                          <a:solidFill>
                            <a:srgbClr val="000000"/>
                          </a:solidFill>
                          <a:effectLst/>
                          <a:latin typeface="Arial" panose="020B0604020202020204" pitchFamily="34" charset="0"/>
                        </a:rPr>
                        <a:t>Predicted Value</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8.837</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51.662</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25.700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11.300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21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150885928"/>
                  </a:ext>
                </a:extLst>
              </a:tr>
              <a:tr h="0">
                <a:tc>
                  <a:txBody>
                    <a:bodyPr/>
                    <a:lstStyle/>
                    <a:p>
                      <a:pPr algn="l">
                        <a:buNone/>
                      </a:pPr>
                      <a:r>
                        <a:rPr lang="en-US" b="0">
                          <a:solidFill>
                            <a:srgbClr val="000000"/>
                          </a:solidFill>
                          <a:effectLst/>
                          <a:latin typeface="Arial" panose="020B0604020202020204" pitchFamily="34" charset="0"/>
                        </a:rPr>
                        <a:t>Residual</a:t>
                      </a:r>
                    </a:p>
                  </a:txBody>
                  <a:tcPr marL="114300" marR="114300" marT="9525" marB="28575" anchor="ctr">
                    <a:lnL>
                      <a:noFill/>
                    </a:lnL>
                    <a:lnR>
                      <a:noFill/>
                    </a:lnR>
                    <a:lnT>
                      <a:noFill/>
                    </a:lnT>
                    <a:lnB>
                      <a:noFill/>
                    </a:lnB>
                    <a:solidFill>
                      <a:srgbClr val="EBEBEB"/>
                    </a:solidFill>
                  </a:tcPr>
                </a:tc>
                <a:tc>
                  <a:txBody>
                    <a:bodyPr/>
                    <a:lstStyle/>
                    <a:p>
                      <a:pPr algn="r">
                        <a:buNone/>
                      </a:pPr>
                      <a:r>
                        <a:rPr lang="en-US" b="0">
                          <a:solidFill>
                            <a:srgbClr val="000000"/>
                          </a:solidFill>
                          <a:effectLst/>
                          <a:latin typeface="Arial" panose="020B0604020202020204" pitchFamily="34" charset="0"/>
                        </a:rPr>
                        <a:t>-36.662</a:t>
                      </a:r>
                    </a:p>
                  </a:txBody>
                  <a:tcPr marL="114300" marR="114300" marT="9525" marB="28575" anchor="ctr">
                    <a:lnL>
                      <a:noFill/>
                    </a:lnL>
                    <a:lnR>
                      <a:noFill/>
                    </a:lnR>
                    <a:lnT>
                      <a:noFill/>
                    </a:lnT>
                    <a:lnB>
                      <a:noFill/>
                    </a:lnB>
                    <a:solidFill>
                      <a:srgbClr val="EBEBEB"/>
                    </a:solidFill>
                  </a:tcPr>
                </a:tc>
                <a:tc>
                  <a:txBody>
                    <a:bodyPr/>
                    <a:lstStyle/>
                    <a:p>
                      <a:pPr algn="r">
                        <a:buNone/>
                      </a:pPr>
                      <a:r>
                        <a:rPr lang="en-US" b="0">
                          <a:solidFill>
                            <a:srgbClr val="000000"/>
                          </a:solidFill>
                          <a:effectLst/>
                          <a:latin typeface="Arial" panose="020B0604020202020204" pitchFamily="34" charset="0"/>
                        </a:rPr>
                        <a:t>12.617</a:t>
                      </a:r>
                    </a:p>
                  </a:txBody>
                  <a:tcPr marL="114300" marR="114300" marT="9525" marB="28575" anchor="ctr">
                    <a:lnL>
                      <a:noFill/>
                    </a:lnL>
                    <a:lnR>
                      <a:noFill/>
                    </a:lnR>
                    <a:lnT>
                      <a:noFill/>
                    </a:lnT>
                    <a:lnB>
                      <a:noFill/>
                    </a:lnB>
                    <a:solidFill>
                      <a:srgbClr val="EBEBEB"/>
                    </a:solidFill>
                  </a:tcPr>
                </a:tc>
                <a:tc>
                  <a:txBody>
                    <a:bodyPr/>
                    <a:lstStyle/>
                    <a:p>
                      <a:pPr algn="r">
                        <a:buNone/>
                      </a:pPr>
                      <a:r>
                        <a:rPr lang="en-US" b="0">
                          <a:solidFill>
                            <a:srgbClr val="000000"/>
                          </a:solidFill>
                          <a:effectLst/>
                          <a:latin typeface="Arial" panose="020B0604020202020204" pitchFamily="34" charset="0"/>
                        </a:rPr>
                        <a:t>-2.435e-16</a:t>
                      </a:r>
                    </a:p>
                  </a:txBody>
                  <a:tcPr marL="114300" marR="114300" marT="9525" marB="28575" anchor="ctr">
                    <a:lnL>
                      <a:noFill/>
                    </a:lnL>
                    <a:lnR>
                      <a:noFill/>
                    </a:lnR>
                    <a:lnT>
                      <a:noFill/>
                    </a:lnT>
                    <a:lnB>
                      <a:noFill/>
                    </a:lnB>
                    <a:solidFill>
                      <a:srgbClr val="EBEBEB"/>
                    </a:solidFill>
                  </a:tcPr>
                </a:tc>
                <a:tc>
                  <a:txBody>
                    <a:bodyPr/>
                    <a:lstStyle/>
                    <a:p>
                      <a:pPr algn="r">
                        <a:buNone/>
                      </a:pPr>
                      <a:r>
                        <a:rPr lang="en-US" b="0">
                          <a:solidFill>
                            <a:srgbClr val="000000"/>
                          </a:solidFill>
                          <a:effectLst/>
                          <a:latin typeface="Arial" panose="020B0604020202020204" pitchFamily="34" charset="0"/>
                        </a:rPr>
                        <a:t>10.181</a:t>
                      </a:r>
                    </a:p>
                  </a:txBody>
                  <a:tcPr marL="114300" marR="114300" marT="9525" marB="28575" anchor="ctr">
                    <a:lnL>
                      <a:noFill/>
                    </a:lnL>
                    <a:lnR>
                      <a:noFill/>
                    </a:lnR>
                    <a:lnT>
                      <a:noFill/>
                    </a:lnT>
                    <a:lnB>
                      <a:noFill/>
                    </a:lnB>
                    <a:solidFill>
                      <a:srgbClr val="EBEBEB"/>
                    </a:solidFill>
                  </a:tcPr>
                </a:tc>
                <a:tc>
                  <a:txBody>
                    <a:bodyPr/>
                    <a:lstStyle/>
                    <a:p>
                      <a:pPr algn="r">
                        <a:buNone/>
                      </a:pPr>
                      <a:r>
                        <a:rPr lang="en-US" b="0">
                          <a:solidFill>
                            <a:srgbClr val="000000"/>
                          </a:solidFill>
                          <a:effectLst/>
                          <a:latin typeface="Arial" panose="020B0604020202020204" pitchFamily="34" charset="0"/>
                        </a:rPr>
                        <a:t>21</a:t>
                      </a:r>
                    </a:p>
                  </a:txBody>
                  <a:tcPr marL="114300" marR="114300" marT="9525" marB="28575" anchor="ctr">
                    <a:lnL>
                      <a:noFill/>
                    </a:lnL>
                    <a:lnR>
                      <a:noFill/>
                    </a:lnR>
                    <a:lnT>
                      <a:noFill/>
                    </a:lnT>
                    <a:lnB>
                      <a:noFill/>
                    </a:lnB>
                    <a:solidFill>
                      <a:srgbClr val="EBEBEB"/>
                    </a:solidFill>
                  </a:tcPr>
                </a:tc>
                <a:extLst>
                  <a:ext uri="{0D108BD9-81ED-4DB2-BD59-A6C34878D82A}">
                    <a16:rowId xmlns:a16="http://schemas.microsoft.com/office/drawing/2014/main" val="4083837336"/>
                  </a:ext>
                </a:extLst>
              </a:tr>
              <a:tr h="0">
                <a:tc>
                  <a:txBody>
                    <a:bodyPr/>
                    <a:lstStyle/>
                    <a:p>
                      <a:pPr algn="l">
                        <a:buNone/>
                      </a:pPr>
                      <a:r>
                        <a:rPr lang="en-US" b="0" dirty="0">
                          <a:solidFill>
                            <a:srgbClr val="000000"/>
                          </a:solidFill>
                          <a:effectLst/>
                          <a:latin typeface="Arial" panose="020B0604020202020204" pitchFamily="34" charset="0"/>
                        </a:rPr>
                        <a:t>Std. Predicted Value</a:t>
                      </a:r>
                    </a:p>
                  </a:txBody>
                  <a:tcPr marL="114300" marR="114300" marT="9525" marB="28575" anchor="ctr">
                    <a:lnL>
                      <a:noFill/>
                    </a:lnL>
                    <a:lnR>
                      <a:noFill/>
                    </a:lnR>
                    <a:lnT>
                      <a:noFill/>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-1.492</a:t>
                      </a:r>
                    </a:p>
                  </a:txBody>
                  <a:tcPr marL="114300" marR="114300" marT="9525" marB="28575" anchor="ctr">
                    <a:lnL>
                      <a:noFill/>
                    </a:lnL>
                    <a:lnR>
                      <a:noFill/>
                    </a:lnR>
                    <a:lnT>
                      <a:noFill/>
                    </a:lnT>
                    <a:lnB>
                      <a:noFill/>
                    </a:lnB>
                    <a:solidFill>
                      <a:srgbClr val="FFFFFF"/>
                    </a:solidFill>
                  </a:tcPr>
                </a:tc>
                <a:tc>
                  <a:txBody>
                    <a:bodyPr/>
                    <a:lstStyle/>
                    <a:p>
                      <a:pPr algn="r">
                        <a:buNone/>
                      </a:pPr>
                      <a:r>
                        <a:rPr lang="en-US" b="0" dirty="0">
                          <a:solidFill>
                            <a:srgbClr val="000000"/>
                          </a:solidFill>
                          <a:effectLst/>
                          <a:latin typeface="Arial" panose="020B0604020202020204" pitchFamily="34" charset="0"/>
                        </a:rPr>
                        <a:t>2.297</a:t>
                      </a:r>
                    </a:p>
                  </a:txBody>
                  <a:tcPr marL="114300" marR="114300" marT="9525" marB="28575" anchor="ctr">
                    <a:lnL>
                      <a:noFill/>
                    </a:lnL>
                    <a:lnR>
                      <a:noFill/>
                    </a:lnR>
                    <a:lnT>
                      <a:noFill/>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-5.772e-18</a:t>
                      </a:r>
                    </a:p>
                  </a:txBody>
                  <a:tcPr marL="114300" marR="114300" marT="9525" marB="28575" anchor="ctr">
                    <a:lnL>
                      <a:noFill/>
                    </a:lnL>
                    <a:lnR>
                      <a:noFill/>
                    </a:lnR>
                    <a:lnT>
                      <a:noFill/>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1.000</a:t>
                      </a:r>
                    </a:p>
                  </a:txBody>
                  <a:tcPr marL="114300" marR="114300" marT="9525" marB="28575" anchor="ctr">
                    <a:lnL>
                      <a:noFill/>
                    </a:lnL>
                    <a:lnR>
                      <a:noFill/>
                    </a:lnR>
                    <a:lnT>
                      <a:noFill/>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21</a:t>
                      </a:r>
                    </a:p>
                  </a:txBody>
                  <a:tcPr marL="114300" marR="114300" marT="9525" marB="28575" anchor="ctr">
                    <a:lnL>
                      <a:noFill/>
                    </a:lnL>
                    <a:lnR>
                      <a:noFill/>
                    </a:lnR>
                    <a:lnT>
                      <a:noFill/>
                    </a:lnT>
                    <a:lnB>
                      <a:noFill/>
                    </a:lnB>
                    <a:solidFill>
                      <a:srgbClr val="FFFFFF"/>
                    </a:solidFill>
                  </a:tcPr>
                </a:tc>
                <a:extLst>
                  <a:ext uri="{0D108BD9-81ED-4DB2-BD59-A6C34878D82A}">
                    <a16:rowId xmlns:a16="http://schemas.microsoft.com/office/drawing/2014/main" val="1455711963"/>
                  </a:ext>
                </a:extLst>
              </a:tr>
              <a:tr h="0">
                <a:tc>
                  <a:txBody>
                    <a:bodyPr/>
                    <a:lstStyle/>
                    <a:p>
                      <a:pPr algn="l">
                        <a:spcAft>
                          <a:spcPts val="720"/>
                        </a:spcAft>
                        <a:buNone/>
                      </a:pPr>
                      <a:r>
                        <a:rPr lang="en-US" b="0">
                          <a:solidFill>
                            <a:srgbClr val="000000"/>
                          </a:solidFill>
                          <a:effectLst/>
                          <a:latin typeface="Arial" panose="020B0604020202020204" pitchFamily="34" charset="0"/>
                        </a:rPr>
                        <a:t>Std. Residual</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b="0">
                          <a:solidFill>
                            <a:srgbClr val="000000"/>
                          </a:solidFill>
                          <a:effectLst/>
                          <a:latin typeface="Arial" panose="020B0604020202020204" pitchFamily="34" charset="0"/>
                        </a:rPr>
                        <a:t>-4.230</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b="0">
                          <a:solidFill>
                            <a:srgbClr val="000000"/>
                          </a:solidFill>
                          <a:effectLst/>
                          <a:latin typeface="Arial" panose="020B0604020202020204" pitchFamily="34" charset="0"/>
                        </a:rPr>
                        <a:t>1.274</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b="0">
                          <a:solidFill>
                            <a:srgbClr val="000000"/>
                          </a:solidFill>
                          <a:effectLst/>
                          <a:latin typeface="Arial" panose="020B0604020202020204" pitchFamily="34" charset="0"/>
                        </a:rPr>
                        <a:t>-0.030</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b="0">
                          <a:solidFill>
                            <a:srgbClr val="000000"/>
                          </a:solidFill>
                          <a:effectLst/>
                          <a:latin typeface="Arial" panose="020B0604020202020204" pitchFamily="34" charset="0"/>
                        </a:rPr>
                        <a:t>1.125</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b="0">
                          <a:solidFill>
                            <a:srgbClr val="000000"/>
                          </a:solidFill>
                          <a:effectLst/>
                          <a:latin typeface="Arial" panose="020B0604020202020204" pitchFamily="34" charset="0"/>
                        </a:rPr>
                        <a:t>21</a:t>
                      </a:r>
                    </a:p>
                  </a:txBody>
                  <a:tcPr marL="114300" marR="114300" marT="9525" marB="28575" anchor="ctr">
                    <a:lnL>
                      <a:noFill/>
                    </a:lnL>
                    <a:lnR>
                      <a:noFill/>
                    </a:lnR>
                    <a:lnT>
                      <a:noFill/>
                    </a:lnT>
                    <a:lnB>
                      <a:noFill/>
                    </a:lnB>
                    <a:solidFill>
                      <a:srgbClr val="EBEBEB"/>
                    </a:solidFill>
                  </a:tcPr>
                </a:tc>
                <a:extLst>
                  <a:ext uri="{0D108BD9-81ED-4DB2-BD59-A6C34878D82A}">
                    <a16:rowId xmlns:a16="http://schemas.microsoft.com/office/drawing/2014/main" val="1564688132"/>
                  </a:ext>
                </a:extLst>
              </a:tr>
              <a:tr h="0">
                <a:tc gridSpan="6">
                  <a:txBody>
                    <a:bodyPr/>
                    <a:lstStyle/>
                    <a:p>
                      <a:pPr algn="r">
                        <a:buNone/>
                      </a:pPr>
                      <a:endParaRPr lang="en-US" b="0" dirty="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39619510"/>
                  </a:ext>
                </a:extLst>
              </a:tr>
            </a:tbl>
          </a:graphicData>
        </a:graphic>
      </p:graphicFrame>
      <p:graphicFrame>
        <p:nvGraphicFramePr>
          <p:cNvPr id="3" name="Table 2">
            <a:extLst>
              <a:ext uri="{FF2B5EF4-FFF2-40B4-BE49-F238E27FC236}">
                <a16:creationId xmlns:a16="http://schemas.microsoft.com/office/drawing/2014/main" id="{32157AE2-21B0-D926-B919-48DFD9EFE817}"/>
              </a:ext>
            </a:extLst>
          </p:cNvPr>
          <p:cNvGraphicFramePr>
            <a:graphicFrameLocks noGrp="1"/>
          </p:cNvGraphicFramePr>
          <p:nvPr>
            <p:extLst>
              <p:ext uri="{D42A27DB-BD31-4B8C-83A1-F6EECF244321}">
                <p14:modId xmlns:p14="http://schemas.microsoft.com/office/powerpoint/2010/main" val="1965709025"/>
              </p:ext>
            </p:extLst>
          </p:nvPr>
        </p:nvGraphicFramePr>
        <p:xfrm>
          <a:off x="704088" y="3429000"/>
          <a:ext cx="11024616" cy="2025015"/>
        </p:xfrm>
        <a:graphic>
          <a:graphicData uri="http://schemas.openxmlformats.org/drawingml/2006/table">
            <a:tbl>
              <a:tblPr/>
              <a:tblGrid>
                <a:gridCol w="1314450">
                  <a:extLst>
                    <a:ext uri="{9D8B030D-6E8A-4147-A177-3AD203B41FA5}">
                      <a16:colId xmlns:a16="http://schemas.microsoft.com/office/drawing/2014/main" val="946738413"/>
                    </a:ext>
                  </a:extLst>
                </a:gridCol>
                <a:gridCol w="1314450">
                  <a:extLst>
                    <a:ext uri="{9D8B030D-6E8A-4147-A177-3AD203B41FA5}">
                      <a16:colId xmlns:a16="http://schemas.microsoft.com/office/drawing/2014/main" val="802776099"/>
                    </a:ext>
                  </a:extLst>
                </a:gridCol>
                <a:gridCol w="1314450">
                  <a:extLst>
                    <a:ext uri="{9D8B030D-6E8A-4147-A177-3AD203B41FA5}">
                      <a16:colId xmlns:a16="http://schemas.microsoft.com/office/drawing/2014/main" val="729049577"/>
                    </a:ext>
                  </a:extLst>
                </a:gridCol>
                <a:gridCol w="1314450">
                  <a:extLst>
                    <a:ext uri="{9D8B030D-6E8A-4147-A177-3AD203B41FA5}">
                      <a16:colId xmlns:a16="http://schemas.microsoft.com/office/drawing/2014/main" val="743141758"/>
                    </a:ext>
                  </a:extLst>
                </a:gridCol>
                <a:gridCol w="1314450">
                  <a:extLst>
                    <a:ext uri="{9D8B030D-6E8A-4147-A177-3AD203B41FA5}">
                      <a16:colId xmlns:a16="http://schemas.microsoft.com/office/drawing/2014/main" val="2440475055"/>
                    </a:ext>
                  </a:extLst>
                </a:gridCol>
                <a:gridCol w="1314450">
                  <a:extLst>
                    <a:ext uri="{9D8B030D-6E8A-4147-A177-3AD203B41FA5}">
                      <a16:colId xmlns:a16="http://schemas.microsoft.com/office/drawing/2014/main" val="2566752533"/>
                    </a:ext>
                  </a:extLst>
                </a:gridCol>
                <a:gridCol w="1314450">
                  <a:extLst>
                    <a:ext uri="{9D8B030D-6E8A-4147-A177-3AD203B41FA5}">
                      <a16:colId xmlns:a16="http://schemas.microsoft.com/office/drawing/2014/main" val="303640179"/>
                    </a:ext>
                  </a:extLst>
                </a:gridCol>
                <a:gridCol w="1823466">
                  <a:extLst>
                    <a:ext uri="{9D8B030D-6E8A-4147-A177-3AD203B41FA5}">
                      <a16:colId xmlns:a16="http://schemas.microsoft.com/office/drawing/2014/main" val="1030476625"/>
                    </a:ext>
                  </a:extLst>
                </a:gridCol>
              </a:tblGrid>
              <a:tr h="0">
                <a:tc gridSpan="8">
                  <a:txBody>
                    <a:bodyPr/>
                    <a:lstStyle/>
                    <a:p>
                      <a:pPr algn="l">
                        <a:buNone/>
                      </a:pPr>
                      <a:r>
                        <a:rPr lang="en-US" b="0" i="1">
                          <a:solidFill>
                            <a:srgbClr val="000000"/>
                          </a:solidFill>
                          <a:effectLst/>
                          <a:latin typeface="Arial" panose="020B0604020202020204" pitchFamily="34" charset="0"/>
                        </a:rPr>
                        <a:t>Influential Cases</a:t>
                      </a:r>
                      <a:r>
                        <a:rPr lang="en-US" b="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78920268"/>
                  </a:ext>
                </a:extLst>
              </a:tr>
              <a:tr h="0">
                <a:tc>
                  <a:txBody>
                    <a:bodyPr/>
                    <a:lstStyle/>
                    <a:p>
                      <a:pPr algn="ctr">
                        <a:buNone/>
                      </a:pPr>
                      <a:r>
                        <a:rPr lang="en-US" b="0">
                          <a:solidFill>
                            <a:srgbClr val="000000"/>
                          </a:solidFill>
                          <a:effectLst/>
                          <a:latin typeface="Arial" panose="020B0604020202020204" pitchFamily="34" charset="0"/>
                        </a:rPr>
                        <a:t>Case Number</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Std. Residual</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y</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Predicted Value</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Residual</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Cook's Distance</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Leverage</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Mahalanobis</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6925742"/>
                  </a:ext>
                </a:extLst>
              </a:tr>
              <a:tr h="0">
                <a:tc>
                  <a:txBody>
                    <a:bodyPr/>
                    <a:lstStyle/>
                    <a:p>
                      <a:pPr algn="r">
                        <a:spcAft>
                          <a:spcPts val="720"/>
                        </a:spcAft>
                        <a:buNone/>
                      </a:pPr>
                      <a:r>
                        <a:rPr lang="en-US" b="0">
                          <a:solidFill>
                            <a:srgbClr val="000000"/>
                          </a:solidFill>
                          <a:effectLst/>
                          <a:latin typeface="Arial" panose="020B0604020202020204" pitchFamily="34" charset="0"/>
                        </a:rPr>
                        <a:t>21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spcAft>
                          <a:spcPts val="720"/>
                        </a:spcAft>
                        <a:buNone/>
                      </a:pPr>
                      <a:r>
                        <a:rPr lang="en-US" b="0">
                          <a:solidFill>
                            <a:srgbClr val="000000"/>
                          </a:solidFill>
                          <a:effectLst/>
                          <a:latin typeface="Arial" panose="020B0604020202020204" pitchFamily="34" charset="0"/>
                        </a:rPr>
                        <a:t>-4.230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spcAft>
                          <a:spcPts val="720"/>
                        </a:spcAft>
                        <a:buNone/>
                      </a:pPr>
                      <a:r>
                        <a:rPr lang="en-US" b="0">
                          <a:solidFill>
                            <a:srgbClr val="000000"/>
                          </a:solidFill>
                          <a:effectLst/>
                          <a:latin typeface="Arial" panose="020B0604020202020204" pitchFamily="34" charset="0"/>
                        </a:rPr>
                        <a:t>15.000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spcAft>
                          <a:spcPts val="720"/>
                        </a:spcAft>
                        <a:buNone/>
                      </a:pPr>
                      <a:r>
                        <a:rPr lang="en-US" b="0">
                          <a:solidFill>
                            <a:srgbClr val="000000"/>
                          </a:solidFill>
                          <a:effectLst/>
                          <a:latin typeface="Arial" panose="020B0604020202020204" pitchFamily="34" charset="0"/>
                        </a:rPr>
                        <a:t>51.662</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spcAft>
                          <a:spcPts val="720"/>
                        </a:spcAft>
                        <a:buNone/>
                      </a:pPr>
                      <a:r>
                        <a:rPr lang="en-US" b="0">
                          <a:solidFill>
                            <a:srgbClr val="000000"/>
                          </a:solidFill>
                          <a:effectLst/>
                          <a:latin typeface="Arial" panose="020B0604020202020204" pitchFamily="34" charset="0"/>
                        </a:rPr>
                        <a:t>-36.662</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spcAft>
                          <a:spcPts val="720"/>
                        </a:spcAft>
                        <a:buNone/>
                      </a:pPr>
                      <a:r>
                        <a:rPr lang="en-US" b="0">
                          <a:solidFill>
                            <a:srgbClr val="000000"/>
                          </a:solidFill>
                          <a:effectLst/>
                          <a:latin typeface="Arial" panose="020B0604020202020204" pitchFamily="34" charset="0"/>
                        </a:rPr>
                        <a:t>4.048*</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spcAft>
                          <a:spcPts val="720"/>
                        </a:spcAft>
                        <a:buNone/>
                      </a:pPr>
                      <a:r>
                        <a:rPr lang="en-US" b="0">
                          <a:solidFill>
                            <a:srgbClr val="000000"/>
                          </a:solidFill>
                          <a:effectLst/>
                          <a:latin typeface="Arial" panose="020B0604020202020204" pitchFamily="34" charset="0"/>
                        </a:rPr>
                        <a:t>0.312*</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spcAft>
                          <a:spcPts val="720"/>
                        </a:spcAft>
                        <a:buNone/>
                      </a:pPr>
                      <a:r>
                        <a:rPr lang="en-US" b="0">
                          <a:solidFill>
                            <a:srgbClr val="000000"/>
                          </a:solidFill>
                          <a:effectLst/>
                          <a:latin typeface="Arial" panose="020B0604020202020204" pitchFamily="34" charset="0"/>
                        </a:rPr>
                        <a:t>5.278</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73437544"/>
                  </a:ext>
                </a:extLst>
              </a:tr>
              <a:tr h="0">
                <a:tc gridSpan="8">
                  <a:txBody>
                    <a:bodyPr/>
                    <a:lstStyle/>
                    <a:p>
                      <a:pPr algn="r">
                        <a:buNone/>
                      </a:pPr>
                      <a:endParaRPr lang="en-US" b="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EBEBE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68350832"/>
                  </a:ext>
                </a:extLst>
              </a:tr>
              <a:tr h="0">
                <a:tc gridSpan="8">
                  <a:txBody>
                    <a:bodyPr/>
                    <a:lstStyle/>
                    <a:p>
                      <a:pPr algn="l">
                        <a:buNone/>
                      </a:pPr>
                      <a:r>
                        <a:rPr lang="en-US" b="0" dirty="0">
                          <a:solidFill>
                            <a:srgbClr val="000000"/>
                          </a:solidFill>
                          <a:effectLst/>
                          <a:latin typeface="Arial" panose="020B0604020202020204" pitchFamily="34" charset="0"/>
                        </a:rPr>
                        <a:t>* Potentially influential case, according to the selected influence measure.</a:t>
                      </a:r>
                    </a:p>
                  </a:txBody>
                  <a:tcPr marR="114300" marT="9525" marB="28575" anchor="ctr">
                    <a:lnL>
                      <a:noFill/>
                    </a:lnL>
                    <a:lnR>
                      <a:noFill/>
                    </a:lnR>
                    <a:lnT w="7934" cap="flat" cmpd="sng" algn="ctr">
                      <a:solidFill>
                        <a:srgbClr val="000000"/>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52766955"/>
                  </a:ext>
                </a:extLst>
              </a:tr>
            </a:tbl>
          </a:graphicData>
        </a:graphic>
      </p:graphicFrame>
    </p:spTree>
    <p:extLst>
      <p:ext uri="{BB962C8B-B14F-4D97-AF65-F5344CB8AC3E}">
        <p14:creationId xmlns:p14="http://schemas.microsoft.com/office/powerpoint/2010/main" val="91698111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C24EE-D0F5-F567-D673-C554076CCD56}"/>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E92A4916-67E1-B9EC-4394-31F1F0C45B11}"/>
              </a:ext>
            </a:extLst>
          </p:cNvPr>
          <p:cNvGraphicFramePr>
            <a:graphicFrameLocks noGrp="1"/>
          </p:cNvGraphicFramePr>
          <p:nvPr>
            <p:extLst>
              <p:ext uri="{D42A27DB-BD31-4B8C-83A1-F6EECF244321}">
                <p14:modId xmlns:p14="http://schemas.microsoft.com/office/powerpoint/2010/main" val="2474268719"/>
              </p:ext>
            </p:extLst>
          </p:nvPr>
        </p:nvGraphicFramePr>
        <p:xfrm>
          <a:off x="235806" y="367523"/>
          <a:ext cx="11720387" cy="3561016"/>
        </p:xfrm>
        <a:graphic>
          <a:graphicData uri="http://schemas.openxmlformats.org/drawingml/2006/table">
            <a:tbl>
              <a:tblPr>
                <a:tableStyleId>{5C22544A-7EE6-4342-B048-85BDC9FD1C3A}</a:tableStyleId>
              </a:tblPr>
              <a:tblGrid>
                <a:gridCol w="1587541">
                  <a:extLst>
                    <a:ext uri="{9D8B030D-6E8A-4147-A177-3AD203B41FA5}">
                      <a16:colId xmlns:a16="http://schemas.microsoft.com/office/drawing/2014/main" val="230949315"/>
                    </a:ext>
                  </a:extLst>
                </a:gridCol>
                <a:gridCol w="3284575">
                  <a:extLst>
                    <a:ext uri="{9D8B030D-6E8A-4147-A177-3AD203B41FA5}">
                      <a16:colId xmlns:a16="http://schemas.microsoft.com/office/drawing/2014/main" val="321623845"/>
                    </a:ext>
                  </a:extLst>
                </a:gridCol>
                <a:gridCol w="3501957">
                  <a:extLst>
                    <a:ext uri="{9D8B030D-6E8A-4147-A177-3AD203B41FA5}">
                      <a16:colId xmlns:a16="http://schemas.microsoft.com/office/drawing/2014/main" val="208389588"/>
                    </a:ext>
                  </a:extLst>
                </a:gridCol>
                <a:gridCol w="3346314">
                  <a:extLst>
                    <a:ext uri="{9D8B030D-6E8A-4147-A177-3AD203B41FA5}">
                      <a16:colId xmlns:a16="http://schemas.microsoft.com/office/drawing/2014/main" val="1957769089"/>
                    </a:ext>
                  </a:extLst>
                </a:gridCol>
              </a:tblGrid>
              <a:tr h="293240">
                <a:tc>
                  <a:txBody>
                    <a:bodyPr/>
                    <a:lstStyle/>
                    <a:p>
                      <a:pPr algn="l" fontAlgn="b"/>
                      <a:r>
                        <a:rPr lang="en-US" sz="1200" b="1" u="none" strike="noStrike" dirty="0">
                          <a:solidFill>
                            <a:srgbClr val="000000"/>
                          </a:solidFill>
                          <a:effectLst/>
                          <a:latin typeface="Arial" panose="020B0604020202020204" pitchFamily="34" charset="0"/>
                          <a:cs typeface="Arial" panose="020B0604020202020204" pitchFamily="34" charset="0"/>
                        </a:rPr>
                        <a:t>Statistic</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tc>
                <a:tc>
                  <a:txBody>
                    <a:bodyPr/>
                    <a:lstStyle/>
                    <a:p>
                      <a:pPr algn="l" fontAlgn="b"/>
                      <a:r>
                        <a:rPr lang="en-US" sz="1200" b="1" u="none" strike="noStrike" dirty="0">
                          <a:solidFill>
                            <a:srgbClr val="000000"/>
                          </a:solidFill>
                          <a:effectLst/>
                          <a:latin typeface="Arial" panose="020B0604020202020204" pitchFamily="34" charset="0"/>
                          <a:cs typeface="Arial" panose="020B0604020202020204" pitchFamily="34" charset="0"/>
                        </a:rPr>
                        <a:t>Meaning</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tc>
                <a:tc>
                  <a:txBody>
                    <a:bodyPr/>
                    <a:lstStyle/>
                    <a:p>
                      <a:pPr algn="l" fontAlgn="b"/>
                      <a:r>
                        <a:rPr lang="en-US" sz="1200" b="1" u="none" strike="noStrike" dirty="0">
                          <a:solidFill>
                            <a:srgbClr val="000000"/>
                          </a:solidFill>
                          <a:effectLst/>
                          <a:latin typeface="Arial" panose="020B0604020202020204" pitchFamily="34" charset="0"/>
                          <a:cs typeface="Arial" panose="020B0604020202020204" pitchFamily="34" charset="0"/>
                        </a:rPr>
                        <a:t>Cutoffs</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tc>
                <a:tc>
                  <a:txBody>
                    <a:bodyPr/>
                    <a:lstStyle/>
                    <a:p>
                      <a:pPr algn="l" fontAlgn="b"/>
                      <a:r>
                        <a:rPr lang="en-US" sz="1200" b="1" u="none" strike="noStrike" dirty="0">
                          <a:solidFill>
                            <a:srgbClr val="000000"/>
                          </a:solidFill>
                          <a:effectLst/>
                          <a:latin typeface="Arial" panose="020B0604020202020204" pitchFamily="34" charset="0"/>
                          <a:cs typeface="Arial" panose="020B0604020202020204" pitchFamily="34" charset="0"/>
                        </a:rPr>
                        <a:t>Example from above</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3897936229"/>
                  </a:ext>
                </a:extLst>
              </a:tr>
              <a:tr h="408472">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Residual</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ctr">
                    <a:solidFill>
                      <a:schemeClr val="bg1">
                        <a:lumMod val="85000"/>
                      </a:schemeClr>
                    </a:solidFill>
                  </a:tcPr>
                </a:tc>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The difference between observed and predicted values (Y - Y-hat).</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Values far from 0 indicate poor model fit; extreme values suggest outliers.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Min: -36.6619 (Potential extreme residual)</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94109348"/>
                  </a:ext>
                </a:extLst>
              </a:tr>
              <a:tr h="408472">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Standardized Residual</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ctr"/>
                </a:tc>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Residual divided by its standard deviation, helping detect outliers.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tc>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Greater than ±2 suggests a possible outlier; greater than ±3 is a likely outlier.</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tc>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Min: -3.510 (Likely outlier)</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1466805502"/>
                  </a:ext>
                </a:extLst>
              </a:tr>
              <a:tr h="408472">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Studentized Residual</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ctr">
                    <a:solidFill>
                      <a:schemeClr val="bg1">
                        <a:lumMod val="85000"/>
                      </a:schemeClr>
                    </a:solidFill>
                  </a:tcPr>
                </a:tc>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Similar to standardized residual but adjusted for variance, used for identifying influential cases.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Greater than ±2 suggests a possible outlier; greater than ±3 is a likely outlier.</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Min: -4.230 (Highly influential outlier)</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1007028268"/>
                  </a:ext>
                </a:extLst>
              </a:tr>
              <a:tr h="408472">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Deleted Residual</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ctr"/>
                </a:tc>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Residual recalculated after removing the observation, helping assess influence.</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tc>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No strict cutoff, but large deviations suggest influence on the model.</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tc>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Min: -53.2515 (Extreme case)</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518899959"/>
                  </a:ext>
                </a:extLst>
              </a:tr>
              <a:tr h="408472">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Studentized Deleted Residual</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ctr">
                    <a:solidFill>
                      <a:schemeClr val="bg1">
                        <a:lumMod val="85000"/>
                      </a:schemeClr>
                    </a:solidFill>
                  </a:tcPr>
                </a:tc>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Deleted residual standardized to assess the impact of omitting an observation.</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Greater than ±3 suggests a highly influential data point.</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Min: -17.047 (Highly influential)</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729835786"/>
                  </a:ext>
                </a:extLst>
              </a:tr>
              <a:tr h="408472">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Mahalanobis Distance</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ctr"/>
                </a:tc>
                <a:tc>
                  <a:txBody>
                    <a:bodyPr/>
                    <a:lstStyle/>
                    <a:p>
                      <a:pPr algn="l" fontAlgn="b"/>
                      <a:r>
                        <a:rPr lang="en-US" sz="1200" b="0" u="none" strike="noStrike">
                          <a:solidFill>
                            <a:srgbClr val="000000"/>
                          </a:solidFill>
                          <a:effectLst/>
                          <a:latin typeface="Arial" panose="020B0604020202020204" pitchFamily="34" charset="0"/>
                          <a:cs typeface="Arial" panose="020B0604020202020204" pitchFamily="34" charset="0"/>
                        </a:rPr>
                        <a:t>Measures how far an observation is from the mean in predictor space.</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3007" marR="3007" marT="3007" marB="0" anchor="b"/>
                </a:tc>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Values greater than 15 in small samples may indicate an outlier.</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tc>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Max: 5.278 (Moderate distance from center)</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3877527655"/>
                  </a:ext>
                </a:extLst>
              </a:tr>
              <a:tr h="408472">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Cook’s Distance</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ctr">
                    <a:solidFill>
                      <a:schemeClr val="bg1">
                        <a:lumMod val="85000"/>
                      </a:schemeClr>
                    </a:solidFill>
                  </a:tcPr>
                </a:tc>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Measures the influence of a single case on the regression model.</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Values greater than 1 indicate highly influential points.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Max: 4.048 (high influence)</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964924758"/>
                  </a:ext>
                </a:extLst>
              </a:tr>
              <a:tr h="408472">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Centered Leverage Value</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ctr"/>
                </a:tc>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Indicates the extent to which an observation’s predictor values are extreme.</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tc>
                <a:tc>
                  <a:txBody>
                    <a:bodyPr/>
                    <a:lstStyle/>
                    <a:p>
                      <a:pPr algn="l" fontAlgn="b"/>
                      <a:r>
                        <a:rPr lang="en-US" sz="1200" dirty="0">
                          <a:latin typeface="Arial" panose="020B0604020202020204" pitchFamily="34" charset="0"/>
                          <a:cs typeface="Arial" panose="020B0604020202020204" pitchFamily="34" charset="0"/>
                        </a:rPr>
                        <a:t>Concern if </a:t>
                      </a:r>
                      <a:r>
                        <a:rPr lang="en-US" sz="1200" b="0" dirty="0">
                          <a:latin typeface="Arial" panose="020B0604020202020204" pitchFamily="34" charset="0"/>
                          <a:cs typeface="Arial" panose="020B0604020202020204" pitchFamily="34" charset="0"/>
                        </a:rPr>
                        <a:t>&gt; 3(p/n) </a:t>
                      </a:r>
                      <a:r>
                        <a:rPr lang="en-US" sz="1200" dirty="0">
                          <a:latin typeface="Arial" panose="020B0604020202020204" pitchFamily="34" charset="0"/>
                          <a:cs typeface="Arial" panose="020B0604020202020204" pitchFamily="34" charset="0"/>
                        </a:rPr>
                        <a:t>(where p = predictors, n = obs.)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tc>
                <a:tc>
                  <a:txBody>
                    <a:bodyPr/>
                    <a:lstStyle/>
                    <a:p>
                      <a:pPr algn="l" fontAlgn="b"/>
                      <a:r>
                        <a:rPr lang="en-US" sz="1200" b="0" u="none" strike="noStrike" dirty="0">
                          <a:solidFill>
                            <a:srgbClr val="000000"/>
                          </a:solidFill>
                          <a:effectLst/>
                          <a:latin typeface="Arial" panose="020B0604020202020204" pitchFamily="34" charset="0"/>
                          <a:cs typeface="Arial" panose="020B0604020202020204" pitchFamily="34" charset="0"/>
                        </a:rPr>
                        <a:t>Max: 0.264 (max = .264 exceeds)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3167758267"/>
                  </a:ext>
                </a:extLst>
              </a:tr>
            </a:tbl>
          </a:graphicData>
        </a:graphic>
      </p:graphicFrame>
    </p:spTree>
    <p:extLst>
      <p:ext uri="{BB962C8B-B14F-4D97-AF65-F5344CB8AC3E}">
        <p14:creationId xmlns:p14="http://schemas.microsoft.com/office/powerpoint/2010/main" val="396228874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8DE41-0E95-A281-B44A-0B1626DE943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2DACE06-BBF6-2F61-D072-537CF03DA092}"/>
              </a:ext>
            </a:extLst>
          </p:cNvPr>
          <p:cNvSpPr>
            <a:spLocks noGrp="1"/>
          </p:cNvSpPr>
          <p:nvPr>
            <p:ph idx="1"/>
          </p:nvPr>
        </p:nvSpPr>
        <p:spPr/>
        <p:txBody>
          <a:bodyPr/>
          <a:lstStyle/>
          <a:p>
            <a:r>
              <a:rPr lang="en-US" dirty="0"/>
              <a:t>Go over the assignment 1</a:t>
            </a:r>
          </a:p>
        </p:txBody>
      </p:sp>
    </p:spTree>
    <p:extLst>
      <p:ext uri="{BB962C8B-B14F-4D97-AF65-F5344CB8AC3E}">
        <p14:creationId xmlns:p14="http://schemas.microsoft.com/office/powerpoint/2010/main" val="14427070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FD3A3-1FBC-107D-1F8D-447DB4153C32}"/>
              </a:ext>
            </a:extLst>
          </p:cNvPr>
          <p:cNvSpPr>
            <a:spLocks noGrp="1"/>
          </p:cNvSpPr>
          <p:nvPr>
            <p:ph type="ctrTitle"/>
          </p:nvPr>
        </p:nvSpPr>
        <p:spPr/>
        <p:txBody>
          <a:bodyPr>
            <a:normAutofit fontScale="90000"/>
          </a:bodyPr>
          <a:lstStyle/>
          <a:p>
            <a:r>
              <a:rPr lang="en-US" dirty="0"/>
              <a:t>Effect Size, Confidence Intervals, and Diagnostic Criteria</a:t>
            </a:r>
          </a:p>
        </p:txBody>
      </p:sp>
      <p:sp>
        <p:nvSpPr>
          <p:cNvPr id="3" name="Subtitle 2">
            <a:extLst>
              <a:ext uri="{FF2B5EF4-FFF2-40B4-BE49-F238E27FC236}">
                <a16:creationId xmlns:a16="http://schemas.microsoft.com/office/drawing/2014/main" id="{7A3A4358-2DAF-06D2-5BC0-A001583330B4}"/>
              </a:ext>
            </a:extLst>
          </p:cNvPr>
          <p:cNvSpPr>
            <a:spLocks noGrp="1"/>
          </p:cNvSpPr>
          <p:nvPr>
            <p:ph type="subTitle" idx="1"/>
          </p:nvPr>
        </p:nvSpPr>
        <p:spPr/>
        <p:txBody>
          <a:bodyPr/>
          <a:lstStyle/>
          <a:p>
            <a:r>
              <a:rPr lang="en-US" dirty="0"/>
              <a:t>Week 6</a:t>
            </a:r>
          </a:p>
          <a:p>
            <a:r>
              <a:rPr lang="en-US" dirty="0"/>
              <a:t>January 10, 2025</a:t>
            </a:r>
          </a:p>
        </p:txBody>
      </p:sp>
    </p:spTree>
    <p:extLst>
      <p:ext uri="{BB962C8B-B14F-4D97-AF65-F5344CB8AC3E}">
        <p14:creationId xmlns:p14="http://schemas.microsoft.com/office/powerpoint/2010/main" val="248013107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2F1AF-B3F5-FCA4-C02A-F3A1C8E3ABA2}"/>
              </a:ext>
            </a:extLst>
          </p:cNvPr>
          <p:cNvSpPr>
            <a:spLocks noGrp="1"/>
          </p:cNvSpPr>
          <p:nvPr>
            <p:ph type="title"/>
          </p:nvPr>
        </p:nvSpPr>
        <p:spPr>
          <a:xfrm>
            <a:off x="143256" y="109093"/>
            <a:ext cx="10515600" cy="707771"/>
          </a:xfrm>
        </p:spPr>
        <p:txBody>
          <a:bodyPr>
            <a:normAutofit/>
          </a:bodyPr>
          <a:lstStyle/>
          <a:p>
            <a:r>
              <a:rPr lang="en-US" sz="3600" dirty="0">
                <a:latin typeface="Arial" panose="020B0604020202020204" pitchFamily="34" charset="0"/>
                <a:cs typeface="Arial" panose="020B0604020202020204" pitchFamily="34" charset="0"/>
              </a:rPr>
              <a:t>Effect Size: What it is, why it matters</a:t>
            </a:r>
          </a:p>
        </p:txBody>
      </p:sp>
      <p:sp>
        <p:nvSpPr>
          <p:cNvPr id="3" name="Content Placeholder 2">
            <a:extLst>
              <a:ext uri="{FF2B5EF4-FFF2-40B4-BE49-F238E27FC236}">
                <a16:creationId xmlns:a16="http://schemas.microsoft.com/office/drawing/2014/main" id="{D6D6ED64-D4C5-2228-63DA-5F2675C43A48}"/>
              </a:ext>
            </a:extLst>
          </p:cNvPr>
          <p:cNvSpPr>
            <a:spLocks noGrp="1"/>
          </p:cNvSpPr>
          <p:nvPr>
            <p:ph idx="1"/>
          </p:nvPr>
        </p:nvSpPr>
        <p:spPr>
          <a:xfrm>
            <a:off x="277368" y="804672"/>
            <a:ext cx="10515600" cy="4351338"/>
          </a:xfrm>
        </p:spPr>
        <p:txBody>
          <a:bodyPr>
            <a:normAutofit/>
          </a:bodyPr>
          <a:lstStyle/>
          <a:p>
            <a:pPr>
              <a:lnSpc>
                <a:spcPct val="100000"/>
              </a:lnSpc>
            </a:pPr>
            <a:r>
              <a:rPr lang="en-US" sz="2000" dirty="0">
                <a:latin typeface="Arial" panose="020B0604020202020204" pitchFamily="34" charset="0"/>
                <a:cs typeface="Arial" panose="020B0604020202020204" pitchFamily="34" charset="0"/>
              </a:rPr>
              <a:t>Measure of the magnitude of a relationship or difference</a:t>
            </a:r>
          </a:p>
          <a:p>
            <a:pPr>
              <a:lnSpc>
                <a:spcPct val="100000"/>
              </a:lnSpc>
            </a:pPr>
            <a:r>
              <a:rPr lang="en-US" sz="2000" dirty="0">
                <a:latin typeface="Arial" panose="020B0604020202020204" pitchFamily="34" charset="0"/>
                <a:cs typeface="Arial" panose="020B0604020202020204" pitchFamily="34" charset="0"/>
              </a:rPr>
              <a:t>Why it matters</a:t>
            </a:r>
          </a:p>
          <a:p>
            <a:pPr lvl="1">
              <a:lnSpc>
                <a:spcPct val="100000"/>
              </a:lnSpc>
            </a:pPr>
            <a:r>
              <a:rPr lang="en-US" sz="1800" dirty="0">
                <a:latin typeface="Arial" panose="020B0604020202020204" pitchFamily="34" charset="0"/>
                <a:cs typeface="Arial" panose="020B0604020202020204" pitchFamily="34" charset="0"/>
              </a:rPr>
              <a:t>Provides practical significance rather than just statistical significance</a:t>
            </a:r>
          </a:p>
          <a:p>
            <a:pPr lvl="1">
              <a:lnSpc>
                <a:spcPct val="100000"/>
              </a:lnSpc>
            </a:pPr>
            <a:r>
              <a:rPr lang="en-US" sz="1800" dirty="0">
                <a:latin typeface="Arial" panose="020B0604020202020204" pitchFamily="34" charset="0"/>
                <a:cs typeface="Arial" panose="020B0604020202020204" pitchFamily="34" charset="0"/>
              </a:rPr>
              <a:t>Helps compare results across studies (meta-analysis)(but see condom study)</a:t>
            </a:r>
          </a:p>
          <a:p>
            <a:pPr>
              <a:lnSpc>
                <a:spcPct val="100000"/>
              </a:lnSpc>
            </a:pPr>
            <a:r>
              <a:rPr lang="en-US" sz="2000" dirty="0">
                <a:latin typeface="Arial" panose="020B0604020202020204" pitchFamily="34" charset="0"/>
                <a:cs typeface="Arial" panose="020B0604020202020204" pitchFamily="34" charset="0"/>
              </a:rPr>
              <a:t>Types</a:t>
            </a:r>
          </a:p>
          <a:p>
            <a:pPr lvl="1">
              <a:lnSpc>
                <a:spcPct val="100000"/>
              </a:lnSpc>
            </a:pPr>
            <a:r>
              <a:rPr lang="en-US" sz="1800" dirty="0">
                <a:latin typeface="Arial" panose="020B0604020202020204" pitchFamily="34" charset="0"/>
                <a:cs typeface="Arial" panose="020B0604020202020204" pitchFamily="34" charset="0"/>
              </a:rPr>
              <a:t>For mean differences (e.g., Cohen’s d)</a:t>
            </a:r>
          </a:p>
          <a:p>
            <a:pPr lvl="1">
              <a:lnSpc>
                <a:spcPct val="100000"/>
              </a:lnSpc>
            </a:pPr>
            <a:r>
              <a:rPr lang="en-US" sz="1800" dirty="0">
                <a:latin typeface="Arial" panose="020B0604020202020204" pitchFamily="34" charset="0"/>
                <a:cs typeface="Arial" panose="020B0604020202020204" pitchFamily="34" charset="0"/>
              </a:rPr>
              <a:t>For correlations (e.g., Pearson’s r, part and partial correlation)</a:t>
            </a:r>
          </a:p>
          <a:p>
            <a:pPr lvl="1">
              <a:lnSpc>
                <a:spcPct val="100000"/>
              </a:lnSpc>
            </a:pPr>
            <a:r>
              <a:rPr lang="en-US" sz="1800" dirty="0">
                <a:latin typeface="Arial" panose="020B0604020202020204" pitchFamily="34" charset="0"/>
                <a:cs typeface="Arial" panose="020B0604020202020204" pitchFamily="34" charset="0"/>
              </a:rPr>
              <a:t>For categorical data (e.g., Odds Ratio, Risk Ratio)</a:t>
            </a:r>
          </a:p>
          <a:p>
            <a:pPr>
              <a:lnSpc>
                <a:spcPct val="100000"/>
              </a:lnSpc>
            </a:pPr>
            <a:r>
              <a:rPr lang="en-US" sz="2000" dirty="0">
                <a:latin typeface="Arial" panose="020B0604020202020204" pitchFamily="34" charset="0"/>
                <a:cs typeface="Arial" panose="020B0604020202020204" pitchFamily="34" charset="0"/>
              </a:rPr>
              <a:t>Interpreting guidelines</a:t>
            </a:r>
          </a:p>
          <a:p>
            <a:pPr>
              <a:lnSpc>
                <a:spcPct val="100000"/>
              </a:lnSpc>
            </a:pPr>
            <a:r>
              <a:rPr lang="en-US" sz="2000" dirty="0">
                <a:latin typeface="Arial" panose="020B0604020202020204" pitchFamily="34" charset="0"/>
                <a:cs typeface="Arial" panose="020B0604020202020204" pitchFamily="34" charset="0"/>
              </a:rPr>
              <a:t>Importance of context in interpretation</a:t>
            </a:r>
          </a:p>
        </p:txBody>
      </p:sp>
    </p:spTree>
    <p:extLst>
      <p:ext uri="{BB962C8B-B14F-4D97-AF65-F5344CB8AC3E}">
        <p14:creationId xmlns:p14="http://schemas.microsoft.com/office/powerpoint/2010/main" val="298504230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8FA93C5-9208-9A36-640D-F412A6E7621B}"/>
                  </a:ext>
                </a:extLst>
              </p:cNvPr>
              <p:cNvSpPr>
                <a:spLocks noGrp="1"/>
              </p:cNvSpPr>
              <p:nvPr>
                <p:ph idx="1"/>
              </p:nvPr>
            </p:nvSpPr>
            <p:spPr>
              <a:xfrm>
                <a:off x="353170" y="262392"/>
                <a:ext cx="10515600" cy="6202017"/>
              </a:xfrm>
            </p:spPr>
            <p:txBody>
              <a:bodyPr>
                <a:normAutofit/>
              </a:bodyPr>
              <a:lstStyle/>
              <a:p>
                <a:r>
                  <a:rPr lang="en-US" sz="2000" dirty="0">
                    <a:latin typeface="Arial" panose="020B0604020202020204" pitchFamily="34" charset="0"/>
                    <a:cs typeface="Arial" panose="020B0604020202020204" pitchFamily="34" charset="0"/>
                  </a:rPr>
                  <a:t>Cohen’s </a:t>
                </a:r>
                <a:r>
                  <a:rPr lang="en-US" sz="2000" i="1" dirty="0">
                    <a:latin typeface="Arial" panose="020B0604020202020204" pitchFamily="34" charset="0"/>
                    <a:cs typeface="Arial" panose="020B0604020202020204" pitchFamily="34" charset="0"/>
                  </a:rPr>
                  <a:t>d</a:t>
                </a:r>
                <a:r>
                  <a:rPr lang="en-US" sz="2000" dirty="0">
                    <a:latin typeface="Arial" panose="020B0604020202020204" pitchFamily="34" charset="0"/>
                    <a:cs typeface="Arial" panose="020B0604020202020204" pitchFamily="34" charset="0"/>
                  </a:rPr>
                  <a:t> was used here to answer a simple question:</a:t>
                </a:r>
              </a:p>
              <a:p>
                <a:r>
                  <a:rPr lang="en-US" sz="2000" b="1" dirty="0">
                    <a:latin typeface="Arial" panose="020B0604020202020204" pitchFamily="34" charset="0"/>
                    <a:cs typeface="Arial" panose="020B0604020202020204" pitchFamily="34" charset="0"/>
                  </a:rPr>
                  <a:t>How big is the difference between high-deprivation and low-deprivation counties?</a:t>
                </a:r>
                <a:endParaRPr lang="en-US" sz="2000" dirty="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Not just </a:t>
                </a:r>
                <a:r>
                  <a:rPr lang="en-US" sz="2000" i="1" dirty="0">
                    <a:latin typeface="Arial" panose="020B0604020202020204" pitchFamily="34" charset="0"/>
                    <a:cs typeface="Arial" panose="020B0604020202020204" pitchFamily="34" charset="0"/>
                  </a:rPr>
                  <a:t>whether</a:t>
                </a:r>
                <a:r>
                  <a:rPr lang="en-US" sz="2000" dirty="0">
                    <a:latin typeface="Arial" panose="020B0604020202020204" pitchFamily="34" charset="0"/>
                    <a:cs typeface="Arial" panose="020B0604020202020204" pitchFamily="34" charset="0"/>
                  </a:rPr>
                  <a:t> they differ, but </a:t>
                </a:r>
                <a:r>
                  <a:rPr lang="en-US" sz="2000" b="1" dirty="0">
                    <a:latin typeface="Arial" panose="020B0604020202020204" pitchFamily="34" charset="0"/>
                    <a:cs typeface="Arial" panose="020B0604020202020204" pitchFamily="34" charset="0"/>
                  </a:rPr>
                  <a:t>how large the difference is in practical terms</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What was done</a:t>
                </a:r>
              </a:p>
              <a:p>
                <a:r>
                  <a:rPr lang="en-US" sz="2000" dirty="0">
                    <a:latin typeface="Arial" panose="020B0604020202020204" pitchFamily="34" charset="0"/>
                    <a:cs typeface="Arial" panose="020B0604020202020204" pitchFamily="34" charset="0"/>
                  </a:rPr>
                  <a:t>I divided counties into two groups:</a:t>
                </a:r>
              </a:p>
              <a:p>
                <a:pPr lvl="1"/>
                <a:r>
                  <a:rPr lang="en-US" sz="2000" dirty="0">
                    <a:latin typeface="Arial" panose="020B0604020202020204" pitchFamily="34" charset="0"/>
                    <a:cs typeface="Arial" panose="020B0604020202020204" pitchFamily="34" charset="0"/>
                  </a:rPr>
                  <a:t>Lowest 25% ADI counties (least deprived)</a:t>
                </a:r>
              </a:p>
              <a:p>
                <a:pPr lvl="1"/>
                <a:r>
                  <a:rPr lang="en-US" sz="2000" dirty="0">
                    <a:latin typeface="Arial" panose="020B0604020202020204" pitchFamily="34" charset="0"/>
                    <a:cs typeface="Arial" panose="020B0604020202020204" pitchFamily="34" charset="0"/>
                  </a:rPr>
                  <a:t>Highest 25% ADI counties (most deprived)</a:t>
                </a:r>
              </a:p>
              <a:p>
                <a:r>
                  <a:rPr lang="en-US" sz="2000" dirty="0">
                    <a:latin typeface="Arial" panose="020B0604020202020204" pitchFamily="34" charset="0"/>
                    <a:cs typeface="Arial" panose="020B0604020202020204" pitchFamily="34" charset="0"/>
                  </a:rPr>
                  <a:t>Then you compared the </a:t>
                </a:r>
                <a:r>
                  <a:rPr lang="en-US" sz="2000" b="1" dirty="0">
                    <a:latin typeface="Arial" panose="020B0604020202020204" pitchFamily="34" charset="0"/>
                    <a:cs typeface="Arial" panose="020B0604020202020204" pitchFamily="34" charset="0"/>
                  </a:rPr>
                  <a:t>average ADI values</a:t>
                </a:r>
                <a:r>
                  <a:rPr lang="en-US" sz="2000" dirty="0">
                    <a:latin typeface="Arial" panose="020B0604020202020204" pitchFamily="34" charset="0"/>
                    <a:cs typeface="Arial" panose="020B0604020202020204" pitchFamily="34" charset="0"/>
                  </a:rPr>
                  <a:t> in those two groups.</a:t>
                </a:r>
              </a:p>
              <a:p>
                <a:r>
                  <a:rPr lang="en-US" sz="2000" dirty="0">
                    <a:latin typeface="Arial" panose="020B0604020202020204" pitchFamily="34" charset="0"/>
                    <a:cs typeface="Arial" panose="020B0604020202020204" pitchFamily="34" charset="0"/>
                  </a:rPr>
                  <a:t>But instead of just reporting the raw difference in ADI scores, Cohen’s </a:t>
                </a:r>
                <a:r>
                  <a:rPr lang="en-US" sz="2000" i="1" dirty="0">
                    <a:latin typeface="Arial" panose="020B0604020202020204" pitchFamily="34" charset="0"/>
                    <a:cs typeface="Arial" panose="020B0604020202020204" pitchFamily="34" charset="0"/>
                  </a:rPr>
                  <a:t>d</a:t>
                </a:r>
                <a:r>
                  <a:rPr lang="en-US" sz="2000" dirty="0">
                    <a:latin typeface="Arial" panose="020B0604020202020204" pitchFamily="34" charset="0"/>
                    <a:cs typeface="Arial" panose="020B0604020202020204" pitchFamily="34" charset="0"/>
                  </a:rPr>
                  <a:t> expresses that difference in </a:t>
                </a:r>
                <a:r>
                  <a:rPr lang="en-US" sz="2000" b="1" dirty="0">
                    <a:latin typeface="Arial" panose="020B0604020202020204" pitchFamily="34" charset="0"/>
                    <a:cs typeface="Arial" panose="020B0604020202020204" pitchFamily="34" charset="0"/>
                  </a:rPr>
                  <a:t>standard deviation units</a:t>
                </a:r>
                <a:r>
                  <a:rPr lang="en-US" sz="2000" dirty="0">
                    <a:latin typeface="Arial" panose="020B0604020202020204" pitchFamily="34" charset="0"/>
                    <a:cs typeface="Arial" panose="020B0604020202020204" pitchFamily="34" charset="0"/>
                  </a:rPr>
                  <a:t>, using:</a:t>
                </a:r>
              </a:p>
              <a:p>
                <a14:m>
                  <m:oMath xmlns:m="http://schemas.openxmlformats.org/officeDocument/2006/math">
                    <m:r>
                      <a:rPr lang="en-US" sz="2000" i="1"/>
                      <m:t>𝑑</m:t>
                    </m:r>
                    <m:r>
                      <a:rPr lang="en-US" sz="2000"/>
                      <m:t>=</m:t>
                    </m:r>
                    <m:f>
                      <m:fPr>
                        <m:ctrlPr>
                          <a:rPr lang="ar-AE" sz="2000" i="1"/>
                        </m:ctrlPr>
                      </m:fPr>
                      <m:num>
                        <m:sSub>
                          <m:sSubPr>
                            <m:ctrlPr>
                              <a:rPr lang="ar-AE" sz="2000" i="1"/>
                            </m:ctrlPr>
                          </m:sSubPr>
                          <m:e>
                            <m:r>
                              <m:rPr>
                                <m:nor/>
                              </m:rPr>
                              <a:rPr lang="en-US" sz="2000" i="1">
                                <a:latin typeface="Arial" panose="020B0604020202020204" pitchFamily="34" charset="0"/>
                                <a:cs typeface="Arial" panose="020B0604020202020204" pitchFamily="34" charset="0"/>
                              </a:rPr>
                              <m:t>Mean</m:t>
                            </m:r>
                          </m:e>
                          <m:sub>
                            <m:r>
                              <a:rPr lang="ar-AE" sz="2000" i="1"/>
                              <m:t>h</m:t>
                            </m:r>
                            <m:r>
                              <a:rPr lang="ar-AE" sz="2000" i="1"/>
                              <m:t>𝑖𝑔</m:t>
                            </m:r>
                            <m:r>
                              <a:rPr lang="ar-AE" sz="2000" i="1"/>
                              <m:t>h</m:t>
                            </m:r>
                          </m:sub>
                        </m:sSub>
                        <m:r>
                          <a:rPr lang="ar-AE" sz="2000"/>
                          <m:t>−</m:t>
                        </m:r>
                        <m:sSub>
                          <m:sSubPr>
                            <m:ctrlPr>
                              <a:rPr lang="ar-AE" sz="2000" i="1"/>
                            </m:ctrlPr>
                          </m:sSubPr>
                          <m:e>
                            <m:r>
                              <m:rPr>
                                <m:nor/>
                              </m:rPr>
                              <a:rPr lang="en-US" sz="2000" i="1">
                                <a:latin typeface="Arial" panose="020B0604020202020204" pitchFamily="34" charset="0"/>
                                <a:cs typeface="Arial" panose="020B0604020202020204" pitchFamily="34" charset="0"/>
                              </a:rPr>
                              <m:t>Mean</m:t>
                            </m:r>
                          </m:e>
                          <m:sub>
                            <m:r>
                              <a:rPr lang="ar-AE" sz="2000" i="1"/>
                              <m:t>𝑙𝑜𝑤</m:t>
                            </m:r>
                          </m:sub>
                        </m:sSub>
                      </m:num>
                      <m:den>
                        <m:r>
                          <m:rPr>
                            <m:nor/>
                          </m:rPr>
                          <a:rPr lang="en-US" sz="2000" i="1">
                            <a:latin typeface="Arial" panose="020B0604020202020204" pitchFamily="34" charset="0"/>
                            <a:cs typeface="Arial" panose="020B0604020202020204" pitchFamily="34" charset="0"/>
                          </a:rPr>
                          <m:t>pooled</m:t>
                        </m:r>
                        <m:r>
                          <m:rPr>
                            <m:nor/>
                          </m:rPr>
                          <a:rPr lang="en-US" sz="2000" i="1">
                            <a:latin typeface="Arial" panose="020B0604020202020204" pitchFamily="34" charset="0"/>
                            <a:cs typeface="Arial" panose="020B0604020202020204" pitchFamily="34" charset="0"/>
                          </a:rPr>
                          <m:t> </m:t>
                        </m:r>
                        <m:r>
                          <m:rPr>
                            <m:nor/>
                          </m:rPr>
                          <a:rPr lang="en-US" sz="2000" i="1">
                            <a:latin typeface="Arial" panose="020B0604020202020204" pitchFamily="34" charset="0"/>
                            <a:cs typeface="Arial" panose="020B0604020202020204" pitchFamily="34" charset="0"/>
                          </a:rPr>
                          <m:t>SD</m:t>
                        </m:r>
                      </m:den>
                    </m:f>
                  </m:oMath>
                </a14:m>
                <a:endParaRPr lang="ar-AE" sz="2000" b="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So Cohen’s </a:t>
                </a:r>
                <a:r>
                  <a:rPr lang="en-US" sz="2000" i="1" dirty="0">
                    <a:latin typeface="Arial" panose="020B0604020202020204" pitchFamily="34" charset="0"/>
                    <a:cs typeface="Arial" panose="020B0604020202020204" pitchFamily="34" charset="0"/>
                  </a:rPr>
                  <a:t>d</a:t>
                </a:r>
                <a:r>
                  <a:rPr lang="en-US" sz="2000" dirty="0">
                    <a:latin typeface="Arial" panose="020B0604020202020204" pitchFamily="34" charset="0"/>
                    <a:cs typeface="Arial" panose="020B0604020202020204" pitchFamily="34" charset="0"/>
                  </a:rPr>
                  <a:t> tells us how far apart are the two groups relative to the overall variability in ADI?</a:t>
                </a:r>
              </a:p>
              <a:p>
                <a:endParaRPr lang="en-US" sz="2000" dirty="0">
                  <a:latin typeface="Arial" panose="020B0604020202020204" pitchFamily="34" charset="0"/>
                  <a:cs typeface="Arial" panose="020B0604020202020204" pitchFamily="34" charset="0"/>
                </a:endParaRPr>
              </a:p>
            </p:txBody>
          </p:sp>
        </mc:Choice>
        <mc:Fallback>
          <p:sp>
            <p:nvSpPr>
              <p:cNvPr id="3" name="Content Placeholder 2">
                <a:extLst>
                  <a:ext uri="{FF2B5EF4-FFF2-40B4-BE49-F238E27FC236}">
                    <a16:creationId xmlns:a16="http://schemas.microsoft.com/office/drawing/2014/main" id="{A8FA93C5-9208-9A36-640D-F412A6E7621B}"/>
                  </a:ext>
                </a:extLst>
              </p:cNvPr>
              <p:cNvSpPr>
                <a:spLocks noGrp="1" noRot="1" noChangeAspect="1" noMove="1" noResize="1" noEditPoints="1" noAdjustHandles="1" noChangeArrowheads="1" noChangeShapeType="1" noTextEdit="1"/>
              </p:cNvSpPr>
              <p:nvPr>
                <p:ph idx="1"/>
              </p:nvPr>
            </p:nvSpPr>
            <p:spPr>
              <a:xfrm>
                <a:off x="353170" y="262392"/>
                <a:ext cx="10515600" cy="6202017"/>
              </a:xfrm>
              <a:blipFill>
                <a:blip r:embed="rId2"/>
                <a:stretch>
                  <a:fillRect l="-522" t="-885"/>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40E527AB-999D-74CB-11BB-54FA0442D153}"/>
              </a:ext>
            </a:extLst>
          </p:cNvPr>
          <p:cNvSpPr txBox="1"/>
          <p:nvPr/>
        </p:nvSpPr>
        <p:spPr>
          <a:xfrm>
            <a:off x="0" y="6226276"/>
            <a:ext cx="10392355" cy="369332"/>
          </a:xfrm>
          <a:prstGeom prst="rect">
            <a:avLst/>
          </a:prstGeom>
          <a:noFill/>
        </p:spPr>
        <p:txBody>
          <a:bodyPr wrap="square">
            <a:spAutoFit/>
          </a:bodyPr>
          <a:lstStyle/>
          <a:p>
            <a:pPr lvl="1">
              <a:lnSpc>
                <a:spcPct val="100000"/>
              </a:lnSpc>
            </a:pPr>
            <a:r>
              <a:rPr lang="en-US" sz="1800" dirty="0">
                <a:latin typeface="Arial" panose="020B0604020202020204" pitchFamily="34" charset="0"/>
                <a:cs typeface="Arial" panose="020B0604020202020204" pitchFamily="34" charset="0"/>
                <a:hlinkClick r:id="rId3"/>
              </a:rPr>
              <a:t>Analysis of Area Deprivation Disparities Using Cohen’s D – Statistics for Social Work</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446840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655A5-752C-B0A3-34C5-7022D74965C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779B36-A678-062D-2F6D-7F44C8E19768}"/>
              </a:ext>
            </a:extLst>
          </p:cNvPr>
          <p:cNvSpPr>
            <a:spLocks noGrp="1"/>
          </p:cNvSpPr>
          <p:nvPr>
            <p:ph idx="1"/>
          </p:nvPr>
        </p:nvSpPr>
        <p:spPr>
          <a:xfrm>
            <a:off x="353170" y="262392"/>
            <a:ext cx="10515600" cy="6202017"/>
          </a:xfrm>
        </p:spPr>
        <p:txBody>
          <a:bodyPr>
            <a:normAutofit/>
          </a:bodyPr>
          <a:lstStyle/>
          <a:p>
            <a:r>
              <a:rPr lang="en-US" sz="2000" b="1" dirty="0">
                <a:latin typeface="Arial" panose="020B0604020202020204" pitchFamily="34" charset="0"/>
                <a:cs typeface="Arial" panose="020B0604020202020204" pitchFamily="34" charset="0"/>
              </a:rPr>
              <a:t>Why not just compare means?</a:t>
            </a:r>
          </a:p>
          <a:p>
            <a:r>
              <a:rPr lang="en-US" sz="2000" dirty="0">
                <a:latin typeface="Arial" panose="020B0604020202020204" pitchFamily="34" charset="0"/>
                <a:cs typeface="Arial" panose="020B0604020202020204" pitchFamily="34" charset="0"/>
              </a:rPr>
              <a:t>Suppose the difference in means is 20 ADI points. Is that large or small?</a:t>
            </a:r>
          </a:p>
          <a:p>
            <a:pPr lvl="1"/>
            <a:r>
              <a:rPr lang="en-US" sz="2000" dirty="0">
                <a:latin typeface="Arial" panose="020B0604020202020204" pitchFamily="34" charset="0"/>
                <a:cs typeface="Arial" panose="020B0604020202020204" pitchFamily="34" charset="0"/>
              </a:rPr>
              <a:t>We can’t tell unless we know how much ADI normally varies.</a:t>
            </a:r>
          </a:p>
          <a:p>
            <a:pPr lvl="1"/>
            <a:r>
              <a:rPr lang="en-US" sz="2000" dirty="0">
                <a:latin typeface="Arial" panose="020B0604020202020204" pitchFamily="34" charset="0"/>
                <a:cs typeface="Arial" panose="020B0604020202020204" pitchFamily="34" charset="0"/>
              </a:rPr>
              <a:t>• If ADI usually varies by only 5 points, then 20 is huge.</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 If ADI varies by 100 points, then 20 is small.</a:t>
            </a:r>
          </a:p>
          <a:p>
            <a:r>
              <a:rPr lang="en-US" sz="2000" dirty="0">
                <a:latin typeface="Arial" panose="020B0604020202020204" pitchFamily="34" charset="0"/>
                <a:cs typeface="Arial" panose="020B0604020202020204" pitchFamily="34" charset="0"/>
              </a:rPr>
              <a:t>Cohen’s </a:t>
            </a:r>
            <a:r>
              <a:rPr lang="en-US" sz="2000" i="1" dirty="0">
                <a:latin typeface="Arial" panose="020B0604020202020204" pitchFamily="34" charset="0"/>
                <a:cs typeface="Arial" panose="020B0604020202020204" pitchFamily="34" charset="0"/>
              </a:rPr>
              <a:t>d</a:t>
            </a:r>
            <a:r>
              <a:rPr lang="en-US" sz="2000" dirty="0">
                <a:latin typeface="Arial" panose="020B0604020202020204" pitchFamily="34" charset="0"/>
                <a:cs typeface="Arial" panose="020B0604020202020204" pitchFamily="34" charset="0"/>
              </a:rPr>
              <a:t> standardizes the difference so we can interpret magnitude.</a:t>
            </a:r>
          </a:p>
          <a:p>
            <a:r>
              <a:rPr lang="en-US" sz="2000" b="1" dirty="0">
                <a:latin typeface="Arial" panose="020B0604020202020204" pitchFamily="34" charset="0"/>
                <a:cs typeface="Arial" panose="020B0604020202020204" pitchFamily="34" charset="0"/>
              </a:rPr>
              <a:t>What Cohen’s d tells us</a:t>
            </a:r>
          </a:p>
          <a:p>
            <a:pPr lvl="1"/>
            <a:r>
              <a:rPr lang="en-US" sz="2000" dirty="0">
                <a:latin typeface="Arial" panose="020B0604020202020204" pitchFamily="34" charset="0"/>
                <a:cs typeface="Arial" panose="020B0604020202020204" pitchFamily="34" charset="0"/>
              </a:rPr>
              <a:t>A result of </a:t>
            </a:r>
            <a:r>
              <a:rPr lang="en-US" sz="2000" b="1" dirty="0">
                <a:latin typeface="Arial" panose="020B0604020202020204" pitchFamily="34" charset="0"/>
                <a:cs typeface="Arial" panose="020B0604020202020204" pitchFamily="34" charset="0"/>
              </a:rPr>
              <a:t>d = 3.39</a:t>
            </a:r>
            <a:r>
              <a:rPr lang="en-US" sz="2000" dirty="0">
                <a:latin typeface="Arial" panose="020B0604020202020204" pitchFamily="34" charset="0"/>
                <a:cs typeface="Arial" panose="020B0604020202020204" pitchFamily="34" charset="0"/>
              </a:rPr>
              <a:t> means:</a:t>
            </a:r>
          </a:p>
          <a:p>
            <a:pPr lvl="2"/>
            <a:r>
              <a:rPr lang="en-US" dirty="0">
                <a:latin typeface="Arial" panose="020B0604020202020204" pitchFamily="34" charset="0"/>
                <a:cs typeface="Arial" panose="020B0604020202020204" pitchFamily="34" charset="0"/>
              </a:rPr>
              <a:t>The average high-deprivation county is more than three standard deviations worse than low-deprivation counties.</a:t>
            </a:r>
          </a:p>
          <a:p>
            <a:pPr lvl="2"/>
            <a:r>
              <a:rPr lang="en-US" dirty="0">
                <a:latin typeface="Arial" panose="020B0604020202020204" pitchFamily="34" charset="0"/>
                <a:cs typeface="Arial" panose="020B0604020202020204" pitchFamily="34" charset="0"/>
              </a:rPr>
              <a:t>That is an extremely large separation between groups.</a:t>
            </a:r>
          </a:p>
          <a:p>
            <a:r>
              <a:rPr lang="en-US" sz="2000" b="1" dirty="0">
                <a:latin typeface="Arial" panose="020B0604020202020204" pitchFamily="34" charset="0"/>
                <a:cs typeface="Arial" panose="020B0604020202020204" pitchFamily="34" charset="0"/>
              </a:rPr>
              <a:t>Why use Cohen’s d here?</a:t>
            </a:r>
          </a:p>
          <a:p>
            <a:r>
              <a:rPr lang="en-US" sz="2000" dirty="0">
                <a:latin typeface="Arial" panose="020B0604020202020204" pitchFamily="34" charset="0"/>
                <a:cs typeface="Arial" panose="020B0604020202020204" pitchFamily="34" charset="0"/>
              </a:rPr>
              <a:t>Because with thousands of counties, a statistical test would </a:t>
            </a:r>
            <a:r>
              <a:rPr lang="en-US" sz="2000" b="1" dirty="0">
                <a:latin typeface="Arial" panose="020B0604020202020204" pitchFamily="34" charset="0"/>
                <a:cs typeface="Arial" panose="020B0604020202020204" pitchFamily="34" charset="0"/>
              </a:rPr>
              <a:t>always</a:t>
            </a:r>
            <a:r>
              <a:rPr lang="en-US" sz="2000" dirty="0">
                <a:latin typeface="Arial" panose="020B0604020202020204" pitchFamily="34" charset="0"/>
                <a:cs typeface="Arial" panose="020B0604020202020204" pitchFamily="34" charset="0"/>
              </a:rPr>
              <a:t> be significant. Cohen’s </a:t>
            </a:r>
            <a:r>
              <a:rPr lang="en-US" sz="2000" i="1" dirty="0">
                <a:latin typeface="Arial" panose="020B0604020202020204" pitchFamily="34" charset="0"/>
                <a:cs typeface="Arial" panose="020B0604020202020204" pitchFamily="34" charset="0"/>
              </a:rPr>
              <a:t>d</a:t>
            </a:r>
            <a:r>
              <a:rPr lang="en-US" sz="2000" dirty="0">
                <a:latin typeface="Arial" panose="020B0604020202020204" pitchFamily="34" charset="0"/>
                <a:cs typeface="Arial" panose="020B0604020202020204" pitchFamily="34" charset="0"/>
              </a:rPr>
              <a:t> instead tells us:</a:t>
            </a:r>
          </a:p>
          <a:p>
            <a:r>
              <a:rPr lang="en-US" sz="2000" dirty="0">
                <a:latin typeface="Arial" panose="020B0604020202020204" pitchFamily="34" charset="0"/>
                <a:cs typeface="Arial" panose="020B0604020202020204" pitchFamily="34" charset="0"/>
              </a:rPr>
              <a:t>Not just that groups differ, but </a:t>
            </a:r>
            <a:r>
              <a:rPr lang="en-US" sz="2000" b="1" dirty="0">
                <a:latin typeface="Arial" panose="020B0604020202020204" pitchFamily="34" charset="0"/>
                <a:cs typeface="Arial" panose="020B0604020202020204" pitchFamily="34" charset="0"/>
              </a:rPr>
              <a:t>how large the disparity actually is</a:t>
            </a:r>
            <a:r>
              <a:rPr lang="en-US" sz="2000" dirty="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02748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5065</TotalTime>
  <Words>10848</Words>
  <Application>Microsoft Office PowerPoint</Application>
  <PresentationFormat>Widescreen</PresentationFormat>
  <Paragraphs>1241</Paragraphs>
  <Slides>106</Slides>
  <Notes>26</Notes>
  <HiddenSlides>2</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106</vt:i4>
      </vt:variant>
    </vt:vector>
  </HeadingPairs>
  <TitlesOfParts>
    <vt:vector size="122" baseType="lpstr">
      <vt:lpstr>Aptos</vt:lpstr>
      <vt:lpstr>Aptos Display</vt:lpstr>
      <vt:lpstr>Aptos Display (Headings)</vt:lpstr>
      <vt:lpstr>Arial</vt:lpstr>
      <vt:lpstr>Calibri</vt:lpstr>
      <vt:lpstr>Calibri (Body)</vt:lpstr>
      <vt:lpstr>Calibri Light</vt:lpstr>
      <vt:lpstr>Cambria Math</vt:lpstr>
      <vt:lpstr>Fira Sans</vt:lpstr>
      <vt:lpstr>Google Sans</vt:lpstr>
      <vt:lpstr>ProximaNova</vt:lpstr>
      <vt:lpstr>Times New Roman</vt:lpstr>
      <vt:lpstr>Wingdings</vt:lpstr>
      <vt:lpstr>Office Theme</vt:lpstr>
      <vt:lpstr>1_Office Theme</vt:lpstr>
      <vt:lpstr>2_Office Theme</vt:lpstr>
      <vt:lpstr>Agenda</vt:lpstr>
      <vt:lpstr>Proximity-Based Social Networks (PBSN)</vt:lpstr>
      <vt:lpstr>Introduction to Multiple Linear Regression</vt:lpstr>
      <vt:lpstr>What is MLR and how does it work?</vt:lpstr>
      <vt:lpstr>Multiple Linear Regression</vt:lpstr>
      <vt:lpstr>Key Questions</vt:lpstr>
      <vt:lpstr>Similarities/Differences between MLR and SLR</vt:lpstr>
      <vt:lpstr>Correlation: Interpretation &amp; Connection to MLR</vt:lpstr>
      <vt:lpstr>Correlation: Interpretation &amp; Connection to MLR</vt:lpstr>
      <vt:lpstr>Partial correlation Intuition</vt:lpstr>
      <vt:lpstr>Partial correlation Example</vt:lpstr>
      <vt:lpstr>Partial correlation: Running Example</vt:lpstr>
      <vt:lpstr>Semipartial correlation Intuition</vt:lpstr>
      <vt:lpstr>Semipartial (part) correlation </vt:lpstr>
      <vt:lpstr>Summary</vt:lpstr>
      <vt:lpstr>What is confounding?</vt:lpstr>
      <vt:lpstr>What is confounding?</vt:lpstr>
      <vt:lpstr>What is confounding important?</vt:lpstr>
      <vt:lpstr>The next four slides are from our paper titled , “Redlining, Reinvestment, and Racial Segregation: A Bayesian Spatial Analysis of Mortgage Lending Trajectories and Firearm-Related Violence” forthcoming in Injury Epidemiology</vt:lpstr>
      <vt:lpstr>Example</vt:lpstr>
      <vt:lpstr>Conceptual Issues in Adjusting for ADI and Racial Segregation</vt:lpstr>
      <vt:lpstr>Simple confounding</vt:lpstr>
      <vt:lpstr>PowerPoint Presentation</vt:lpstr>
      <vt:lpstr>A more basic analogy</vt:lpstr>
      <vt:lpstr>Example: Zero order, part and partial correlation using the admissions data set</vt:lpstr>
      <vt:lpstr>Example: Partial correlation using the admissions data set</vt:lpstr>
      <vt:lpstr>PowerPoint Presentation</vt:lpstr>
      <vt:lpstr>Recall: Inference, Error and Associations</vt:lpstr>
      <vt:lpstr>Hypothesis testing of coefficients</vt:lpstr>
      <vt:lpstr>Sampling Distributions &amp; Inference</vt:lpstr>
      <vt:lpstr>Confidence intervals as hypothesis testing</vt:lpstr>
      <vt:lpstr>Example: Regression with two independent/explanatory variables</vt:lpstr>
      <vt:lpstr>PowerPoint Presentation</vt:lpstr>
      <vt:lpstr>The F-statistic: The overall hypothesis</vt:lpstr>
      <vt:lpstr>The Ratio: Signal vs. Noise</vt:lpstr>
      <vt:lpstr>Interpretation</vt:lpstr>
      <vt:lpstr>PowerPoint Presentation</vt:lpstr>
      <vt:lpstr>PowerPoint Presentation</vt:lpstr>
      <vt:lpstr>Factors affecting the width of the CI: Making the interval as narrow as possible</vt:lpstr>
      <vt:lpstr>1. As the Confidence Level Decreases, the Width of the Interval Decreases</vt:lpstr>
      <vt:lpstr>2. As the Regression Error (MSE) Decreases, the Width of the Interval Decreases</vt:lpstr>
      <vt:lpstr>3. The More Spread Out the Predictor Values, the Narrower the Interval</vt:lpstr>
      <vt:lpstr>4. As the Sample Size (𝑛) Increases, the Width of the Interval Decreases</vt:lpstr>
      <vt:lpstr>Concept, Intuition, and Take-away</vt:lpstr>
      <vt:lpstr>Another example</vt:lpstr>
      <vt:lpstr>GRE-GPA Example Data</vt:lpstr>
      <vt:lpstr>PowerPoint Presentation</vt:lpstr>
      <vt:lpstr>PowerPoint Presentation</vt:lpstr>
      <vt:lpstr>Sample Partial Slope and Intercept</vt:lpstr>
      <vt:lpstr>Sample Multiple Linear Regression Model</vt:lpstr>
      <vt:lpstr>Model Evaluation</vt:lpstr>
      <vt:lpstr>Checking the Assumptions</vt:lpstr>
      <vt:lpstr>Residual v Predicted (Fitted) Plot</vt:lpstr>
      <vt:lpstr>Linearity (good)</vt:lpstr>
      <vt:lpstr>Substantive meaning of residual</vt:lpstr>
      <vt:lpstr>Constant variance (homoskedasticity) in this context</vt:lpstr>
      <vt:lpstr>Non-constant variance (heteroskedasticity): what it would mean with alcohol → PTSS</vt:lpstr>
      <vt:lpstr>Non-constant variance (heteroskedasticity): what it would mean with alcohol → PTSS</vt:lpstr>
      <vt:lpstr>Homogeneity of Variance</vt:lpstr>
      <vt:lpstr>Homogeneity of Variance</vt:lpstr>
      <vt:lpstr>Fitted Values vs. Residuals Plot</vt:lpstr>
      <vt:lpstr>Linearity (bad) API2000 (academic performance) v Enroll (number of students)</vt:lpstr>
      <vt:lpstr>Normality of Residuals</vt:lpstr>
      <vt:lpstr>Normal Probability Plot</vt:lpstr>
      <vt:lpstr>Histogram of Standardized Residuals</vt:lpstr>
      <vt:lpstr>Checking for independence of residuals</vt:lpstr>
      <vt:lpstr>Checking for independence</vt:lpstr>
      <vt:lpstr>Independence of Observations</vt:lpstr>
      <vt:lpstr>Issues of Independence</vt:lpstr>
      <vt:lpstr>Example</vt:lpstr>
      <vt:lpstr>Note that all fit statistics are model-dependent; their results may change if we add more predictors.   Note to not forget about omitted variables (model specification) which is not unique to MLR</vt:lpstr>
      <vt:lpstr>Multicollinearity</vt:lpstr>
      <vt:lpstr>Relationship between Multicollinearity and Confounding</vt:lpstr>
      <vt:lpstr>Multicollinearity</vt:lpstr>
      <vt:lpstr>Multicollinearity</vt:lpstr>
      <vt:lpstr>Multicollinearity and Partial Correlation</vt:lpstr>
      <vt:lpstr>Multicollinearity and Partial Correlation</vt:lpstr>
      <vt:lpstr>Is regression based on partial or semi-partial correlation?</vt:lpstr>
      <vt:lpstr>What to do if you find multicollinearity?</vt:lpstr>
      <vt:lpstr>Clues that MC is a problem</vt:lpstr>
      <vt:lpstr>How to check for multicollinearity?</vt:lpstr>
      <vt:lpstr>How to check for multicollinearity?</vt:lpstr>
      <vt:lpstr>Variance Inflation Factor</vt:lpstr>
      <vt:lpstr>What should we do if we detect multicollinearity?</vt:lpstr>
      <vt:lpstr>Outliers</vt:lpstr>
      <vt:lpstr>Leverage Points</vt:lpstr>
      <vt:lpstr>Leverage Example</vt:lpstr>
      <vt:lpstr>Who’s the problem? Influencers, Leverag-ors and Outliers</vt:lpstr>
      <vt:lpstr>When is leverage + outlier a problem?</vt:lpstr>
      <vt:lpstr>Outliers and Leverage Points</vt:lpstr>
      <vt:lpstr>Regression output</vt:lpstr>
      <vt:lpstr>Compare &amp; Intuit</vt:lpstr>
      <vt:lpstr> </vt:lpstr>
      <vt:lpstr>Unusual values and influential points</vt:lpstr>
      <vt:lpstr>Unusual values and influential points</vt:lpstr>
      <vt:lpstr>Leverage and Influence in Regression Analysis</vt:lpstr>
      <vt:lpstr>Leverage</vt:lpstr>
      <vt:lpstr>Example</vt:lpstr>
      <vt:lpstr>Can have JASP provide diagnostics</vt:lpstr>
      <vt:lpstr>PowerPoint Presentation</vt:lpstr>
      <vt:lpstr>PowerPoint Presentation</vt:lpstr>
      <vt:lpstr>PowerPoint Presentation</vt:lpstr>
      <vt:lpstr>Effect Size, Confidence Intervals, and Diagnostic Criteria</vt:lpstr>
      <vt:lpstr>Effect Size: What it is, why it matters</vt:lpstr>
      <vt:lpstr>PowerPoint Presentation</vt:lpstr>
      <vt:lpstr>PowerPoint Presentation</vt:lpstr>
    </vt:vector>
  </TitlesOfParts>
  <Company>The Ohio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Barboza-Salerno, Gia</dc:creator>
  <cp:lastModifiedBy>Barboza-Salerno, Gia</cp:lastModifiedBy>
  <cp:revision>209</cp:revision>
  <dcterms:created xsi:type="dcterms:W3CDTF">2025-02-09T18:49:07Z</dcterms:created>
  <dcterms:modified xsi:type="dcterms:W3CDTF">2026-02-17T13:28:11Z</dcterms:modified>
</cp:coreProperties>
</file>