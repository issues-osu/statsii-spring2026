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7.xml" ContentType="application/vnd.openxmlformats-officedocument.presentationml.notesSlide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  <p:sldMasterId id="2147483674" r:id="rId3"/>
  </p:sldMasterIdLst>
  <p:notesMasterIdLst>
    <p:notesMasterId r:id="rId107"/>
  </p:notesMasterIdLst>
  <p:sldIdLst>
    <p:sldId id="256" r:id="rId4"/>
    <p:sldId id="808" r:id="rId5"/>
    <p:sldId id="732" r:id="rId6"/>
    <p:sldId id="740" r:id="rId7"/>
    <p:sldId id="739" r:id="rId8"/>
    <p:sldId id="257" r:id="rId9"/>
    <p:sldId id="884" r:id="rId10"/>
    <p:sldId id="259" r:id="rId11"/>
    <p:sldId id="742" r:id="rId12"/>
    <p:sldId id="314" r:id="rId13"/>
    <p:sldId id="315" r:id="rId14"/>
    <p:sldId id="343" r:id="rId15"/>
    <p:sldId id="885" r:id="rId16"/>
    <p:sldId id="886" r:id="rId17"/>
    <p:sldId id="266" r:id="rId18"/>
    <p:sldId id="887" r:id="rId19"/>
    <p:sldId id="757" r:id="rId20"/>
    <p:sldId id="897" r:id="rId21"/>
    <p:sldId id="764" r:id="rId22"/>
    <p:sldId id="888" r:id="rId23"/>
    <p:sldId id="889" r:id="rId24"/>
    <p:sldId id="892" r:id="rId25"/>
    <p:sldId id="891" r:id="rId26"/>
    <p:sldId id="1297" r:id="rId27"/>
    <p:sldId id="890" r:id="rId28"/>
    <p:sldId id="756" r:id="rId29"/>
    <p:sldId id="261" r:id="rId30"/>
    <p:sldId id="265" r:id="rId31"/>
    <p:sldId id="893" r:id="rId32"/>
    <p:sldId id="878" r:id="rId33"/>
    <p:sldId id="264" r:id="rId34"/>
    <p:sldId id="895" r:id="rId35"/>
    <p:sldId id="896" r:id="rId36"/>
    <p:sldId id="794" r:id="rId37"/>
    <p:sldId id="772" r:id="rId38"/>
    <p:sldId id="773" r:id="rId39"/>
    <p:sldId id="774" r:id="rId40"/>
    <p:sldId id="804" r:id="rId41"/>
    <p:sldId id="267" r:id="rId42"/>
    <p:sldId id="775" r:id="rId43"/>
    <p:sldId id="776" r:id="rId44"/>
    <p:sldId id="778" r:id="rId45"/>
    <p:sldId id="807" r:id="rId46"/>
    <p:sldId id="829" r:id="rId47"/>
    <p:sldId id="822" r:id="rId48"/>
    <p:sldId id="898" r:id="rId49"/>
    <p:sldId id="817" r:id="rId50"/>
    <p:sldId id="823" r:id="rId51"/>
    <p:sldId id="824" r:id="rId52"/>
    <p:sldId id="825" r:id="rId53"/>
    <p:sldId id="826" r:id="rId54"/>
    <p:sldId id="831" r:id="rId55"/>
    <p:sldId id="828" r:id="rId56"/>
    <p:sldId id="841" r:id="rId57"/>
    <p:sldId id="827" r:id="rId58"/>
    <p:sldId id="1298" r:id="rId59"/>
    <p:sldId id="1299" r:id="rId60"/>
    <p:sldId id="1300" r:id="rId61"/>
    <p:sldId id="1286" r:id="rId62"/>
    <p:sldId id="864" r:id="rId63"/>
    <p:sldId id="270" r:id="rId64"/>
    <p:sldId id="743" r:id="rId65"/>
    <p:sldId id="745" r:id="rId66"/>
    <p:sldId id="746" r:id="rId67"/>
    <p:sldId id="744" r:id="rId68"/>
    <p:sldId id="271" r:id="rId69"/>
    <p:sldId id="272" r:id="rId70"/>
    <p:sldId id="273" r:id="rId71"/>
    <p:sldId id="274" r:id="rId72"/>
    <p:sldId id="275" r:id="rId73"/>
    <p:sldId id="276" r:id="rId74"/>
    <p:sldId id="277" r:id="rId75"/>
    <p:sldId id="278" r:id="rId76"/>
    <p:sldId id="280" r:id="rId77"/>
    <p:sldId id="282" r:id="rId78"/>
    <p:sldId id="284" r:id="rId79"/>
    <p:sldId id="287" r:id="rId80"/>
    <p:sldId id="863" r:id="rId81"/>
    <p:sldId id="870" r:id="rId82"/>
    <p:sldId id="865" r:id="rId83"/>
    <p:sldId id="866" r:id="rId84"/>
    <p:sldId id="844" r:id="rId85"/>
    <p:sldId id="290" r:id="rId86"/>
    <p:sldId id="291" r:id="rId87"/>
    <p:sldId id="779" r:id="rId88"/>
    <p:sldId id="1288" r:id="rId89"/>
    <p:sldId id="1289" r:id="rId90"/>
    <p:sldId id="1290" r:id="rId91"/>
    <p:sldId id="1291" r:id="rId92"/>
    <p:sldId id="783" r:id="rId93"/>
    <p:sldId id="784" r:id="rId94"/>
    <p:sldId id="785" r:id="rId95"/>
    <p:sldId id="1292" r:id="rId96"/>
    <p:sldId id="1293" r:id="rId97"/>
    <p:sldId id="1294" r:id="rId98"/>
    <p:sldId id="792" r:id="rId99"/>
    <p:sldId id="1295" r:id="rId100"/>
    <p:sldId id="1296" r:id="rId101"/>
    <p:sldId id="809" r:id="rId102"/>
    <p:sldId id="810" r:id="rId103"/>
    <p:sldId id="811" r:id="rId104"/>
    <p:sldId id="263" r:id="rId105"/>
    <p:sldId id="777" r:id="rId10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DE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0522" autoAdjust="0"/>
    <p:restoredTop sz="81877" autoAdjust="0"/>
  </p:normalViewPr>
  <p:slideViewPr>
    <p:cSldViewPr snapToGrid="0">
      <p:cViewPr>
        <p:scale>
          <a:sx n="118" d="100"/>
          <a:sy n="118" d="100"/>
        </p:scale>
        <p:origin x="525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249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84" Type="http://schemas.openxmlformats.org/officeDocument/2006/relationships/slide" Target="slides/slide81.xml"/><Relationship Id="rId89" Type="http://schemas.openxmlformats.org/officeDocument/2006/relationships/slide" Target="slides/slide86.xml"/><Relationship Id="rId16" Type="http://schemas.openxmlformats.org/officeDocument/2006/relationships/slide" Target="slides/slide13.xml"/><Relationship Id="rId107" Type="http://schemas.openxmlformats.org/officeDocument/2006/relationships/notesMaster" Target="notesMasters/notesMaster1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slide" Target="slides/slide76.xml"/><Relationship Id="rId102" Type="http://schemas.openxmlformats.org/officeDocument/2006/relationships/slide" Target="slides/slide99.xml"/><Relationship Id="rId5" Type="http://schemas.openxmlformats.org/officeDocument/2006/relationships/slide" Target="slides/slide2.xml"/><Relationship Id="rId90" Type="http://schemas.openxmlformats.org/officeDocument/2006/relationships/slide" Target="slides/slide87.xml"/><Relationship Id="rId95" Type="http://schemas.openxmlformats.org/officeDocument/2006/relationships/slide" Target="slides/slide92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80" Type="http://schemas.openxmlformats.org/officeDocument/2006/relationships/slide" Target="slides/slide77.xml"/><Relationship Id="rId85" Type="http://schemas.openxmlformats.org/officeDocument/2006/relationships/slide" Target="slides/slide82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59" Type="http://schemas.openxmlformats.org/officeDocument/2006/relationships/slide" Target="slides/slide56.xml"/><Relationship Id="rId103" Type="http://schemas.openxmlformats.org/officeDocument/2006/relationships/slide" Target="slides/slide100.xml"/><Relationship Id="rId108" Type="http://schemas.openxmlformats.org/officeDocument/2006/relationships/presProps" Target="presProps.xml"/><Relationship Id="rId54" Type="http://schemas.openxmlformats.org/officeDocument/2006/relationships/slide" Target="slides/slide51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91" Type="http://schemas.openxmlformats.org/officeDocument/2006/relationships/slide" Target="slides/slide88.xml"/><Relationship Id="rId96" Type="http://schemas.openxmlformats.org/officeDocument/2006/relationships/slide" Target="slides/slide9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6" Type="http://schemas.openxmlformats.org/officeDocument/2006/relationships/slide" Target="slides/slide103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slide" Target="slides/slide75.xml"/><Relationship Id="rId81" Type="http://schemas.openxmlformats.org/officeDocument/2006/relationships/slide" Target="slides/slide78.xml"/><Relationship Id="rId86" Type="http://schemas.openxmlformats.org/officeDocument/2006/relationships/slide" Target="slides/slide83.xml"/><Relationship Id="rId94" Type="http://schemas.openxmlformats.org/officeDocument/2006/relationships/slide" Target="slides/slide91.xml"/><Relationship Id="rId99" Type="http://schemas.openxmlformats.org/officeDocument/2006/relationships/slide" Target="slides/slide96.xml"/><Relationship Id="rId101" Type="http://schemas.openxmlformats.org/officeDocument/2006/relationships/slide" Target="slides/slide9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109" Type="http://schemas.openxmlformats.org/officeDocument/2006/relationships/viewProps" Target="viewProps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slide" Target="slides/slide73.xml"/><Relationship Id="rId97" Type="http://schemas.openxmlformats.org/officeDocument/2006/relationships/slide" Target="slides/slide94.xml"/><Relationship Id="rId104" Type="http://schemas.openxmlformats.org/officeDocument/2006/relationships/slide" Target="slides/slide101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92" Type="http://schemas.openxmlformats.org/officeDocument/2006/relationships/slide" Target="slides/slide8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Relationship Id="rId87" Type="http://schemas.openxmlformats.org/officeDocument/2006/relationships/slide" Target="slides/slide84.xml"/><Relationship Id="rId110" Type="http://schemas.openxmlformats.org/officeDocument/2006/relationships/theme" Target="theme/theme1.xml"/><Relationship Id="rId61" Type="http://schemas.openxmlformats.org/officeDocument/2006/relationships/slide" Target="slides/slide58.xml"/><Relationship Id="rId82" Type="http://schemas.openxmlformats.org/officeDocument/2006/relationships/slide" Target="slides/slide79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56" Type="http://schemas.openxmlformats.org/officeDocument/2006/relationships/slide" Target="slides/slide53.xml"/><Relationship Id="rId77" Type="http://schemas.openxmlformats.org/officeDocument/2006/relationships/slide" Target="slides/slide74.xml"/><Relationship Id="rId100" Type="http://schemas.openxmlformats.org/officeDocument/2006/relationships/slide" Target="slides/slide97.xml"/><Relationship Id="rId105" Type="http://schemas.openxmlformats.org/officeDocument/2006/relationships/slide" Target="slides/slide102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93" Type="http://schemas.openxmlformats.org/officeDocument/2006/relationships/slide" Target="slides/slide90.xml"/><Relationship Id="rId98" Type="http://schemas.openxmlformats.org/officeDocument/2006/relationships/slide" Target="slides/slide95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22.xml"/><Relationship Id="rId46" Type="http://schemas.openxmlformats.org/officeDocument/2006/relationships/slide" Target="slides/slide43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62" Type="http://schemas.openxmlformats.org/officeDocument/2006/relationships/slide" Target="slides/slide59.xml"/><Relationship Id="rId83" Type="http://schemas.openxmlformats.org/officeDocument/2006/relationships/slide" Target="slides/slide80.xml"/><Relationship Id="rId88" Type="http://schemas.openxmlformats.org/officeDocument/2006/relationships/slide" Target="slides/slide85.xml"/><Relationship Id="rId111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NULL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aseline="0"/>
              <a:t>Scatter Plot of Zscore:  Unstandardized Residual by Zscore:  Unstandardized Predicted Value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Lit>
              <c:formatCode>0.00000</c:formatCode>
              <c:ptCount val="691"/>
              <c:pt idx="0">
                <c:v>-8.1802410429693329E-2</c:v>
              </c:pt>
              <c:pt idx="1">
                <c:v>0.35987099491361413</c:v>
              </c:pt>
              <c:pt idx="2">
                <c:v>-5.3037761915754753E-2</c:v>
              </c:pt>
              <c:pt idx="3">
                <c:v>-0.65805010701847111</c:v>
              </c:pt>
              <c:pt idx="4">
                <c:v>-1.2670991952235919</c:v>
              </c:pt>
              <c:pt idx="5">
                <c:v>-0.54117956363662423</c:v>
              </c:pt>
              <c:pt idx="6">
                <c:v>0.49333288927092855</c:v>
              </c:pt>
              <c:pt idx="7">
                <c:v>-0.18688096660766124</c:v>
              </c:pt>
              <c:pt idx="8">
                <c:v>2.3135190645696309</c:v>
              </c:pt>
              <c:pt idx="9">
                <c:v>-0.34799511259075139</c:v>
              </c:pt>
              <c:pt idx="10">
                <c:v>0.2363576043184589</c:v>
              </c:pt>
              <c:pt idx="11">
                <c:v>0.17332939108105655</c:v>
              </c:pt>
              <c:pt idx="12">
                <c:v>2.9874713835695048</c:v>
              </c:pt>
              <c:pt idx="13">
                <c:v>-0.72514659747390509</c:v>
              </c:pt>
              <c:pt idx="14">
                <c:v>-0.4173163968225041</c:v>
              </c:pt>
              <c:pt idx="15">
                <c:v>2.5790122142927525</c:v>
              </c:pt>
              <c:pt idx="16">
                <c:v>0.53757649187217871</c:v>
              </c:pt>
              <c:pt idx="17">
                <c:v>-0.82027664988971716</c:v>
              </c:pt>
              <c:pt idx="18">
                <c:v>-2.0151721622267997</c:v>
              </c:pt>
              <c:pt idx="19">
                <c:v>3.0014881645496887</c:v>
              </c:pt>
              <c:pt idx="20">
                <c:v>3.0512622174760944</c:v>
              </c:pt>
              <c:pt idx="21">
                <c:v>-0.37564736421653411</c:v>
              </c:pt>
              <c:pt idx="22">
                <c:v>0.65517812180758606</c:v>
              </c:pt>
              <c:pt idx="23">
                <c:v>-0.74949319255084368</c:v>
              </c:pt>
              <c:pt idx="24">
                <c:v>0.25075569563324179</c:v>
              </c:pt>
              <c:pt idx="25">
                <c:v>0.24748157320001796</c:v>
              </c:pt>
              <c:pt idx="26">
                <c:v>-0.12420252958922376</c:v>
              </c:pt>
              <c:pt idx="27">
                <c:v>-2.240808228670049</c:v>
              </c:pt>
              <c:pt idx="28">
                <c:v>0.93170063806539538</c:v>
              </c:pt>
              <c:pt idx="29">
                <c:v>0.62571392085570732</c:v>
              </c:pt>
              <c:pt idx="30">
                <c:v>-0.66246816045546753</c:v>
              </c:pt>
              <c:pt idx="31">
                <c:v>3.6180529840306029E-2</c:v>
              </c:pt>
              <c:pt idx="32">
                <c:v>-0.63262264916900024</c:v>
              </c:pt>
              <c:pt idx="33">
                <c:v>-0.10096833140044101</c:v>
              </c:pt>
              <c:pt idx="34">
                <c:v>0.21058037025002316</c:v>
              </c:pt>
              <c:pt idx="35">
                <c:v>0.12136207849395891</c:v>
              </c:pt>
              <c:pt idx="36">
                <c:v>-0.27978622524715807</c:v>
              </c:pt>
              <c:pt idx="37">
                <c:v>-0.22041344477756811</c:v>
              </c:pt>
              <c:pt idx="38">
                <c:v>-6.632345634237824E-2</c:v>
              </c:pt>
              <c:pt idx="39">
                <c:v>-0.34062117882387583</c:v>
              </c:pt>
              <c:pt idx="40">
                <c:v>-0.80368529891424967</c:v>
              </c:pt>
              <c:pt idx="41">
                <c:v>0.12762361537267861</c:v>
              </c:pt>
              <c:pt idx="42">
                <c:v>-1.0090430474985901</c:v>
              </c:pt>
              <c:pt idx="43">
                <c:v>1.0179630494915806</c:v>
              </c:pt>
              <c:pt idx="44">
                <c:v>0.36689515246152138</c:v>
              </c:pt>
              <c:pt idx="45">
                <c:v>1.0703747406445105</c:v>
              </c:pt>
              <c:pt idx="46">
                <c:v>1.1260290201150442</c:v>
              </c:pt>
              <c:pt idx="47">
                <c:v>0.67583775000108171</c:v>
              </c:pt>
              <c:pt idx="48">
                <c:v>-0.79189331171037414</c:v>
              </c:pt>
              <c:pt idx="49">
                <c:v>-0.89106010722859064</c:v>
              </c:pt>
              <c:pt idx="50">
                <c:v>-1.8017093933220234</c:v>
              </c:pt>
              <c:pt idx="51">
                <c:v>-0.60090212032518953</c:v>
              </c:pt>
              <c:pt idx="52">
                <c:v>0.28244469036142889</c:v>
              </c:pt>
              <c:pt idx="53">
                <c:v>1.1761528492604223</c:v>
              </c:pt>
              <c:pt idx="54">
                <c:v>1.3390789445696085</c:v>
              </c:pt>
              <c:pt idx="55">
                <c:v>-0.37707800320803814</c:v>
              </c:pt>
              <c:pt idx="56">
                <c:v>-1.1436173387440569</c:v>
              </c:pt>
              <c:pt idx="57">
                <c:v>-1.3666473010764004</c:v>
              </c:pt>
              <c:pt idx="58">
                <c:v>-1.3305087187955897</c:v>
              </c:pt>
              <c:pt idx="59">
                <c:v>-0.88368617346171507</c:v>
              </c:pt>
              <c:pt idx="60">
                <c:v>0.12908578847980634</c:v>
              </c:pt>
              <c:pt idx="61">
                <c:v>0.17444178796920898</c:v>
              </c:pt>
              <c:pt idx="62">
                <c:v>-0.89843404099546631</c:v>
              </c:pt>
              <c:pt idx="63">
                <c:v>-7.3319862073803026E-3</c:v>
              </c:pt>
              <c:pt idx="64">
                <c:v>-1.170888280035244</c:v>
              </c:pt>
              <c:pt idx="65">
                <c:v>-1.8820600440884605</c:v>
              </c:pt>
              <c:pt idx="66">
                <c:v>2.4687214498929766</c:v>
              </c:pt>
              <c:pt idx="67">
                <c:v>-0.50357880824868917</c:v>
              </c:pt>
              <c:pt idx="68">
                <c:v>-0.97916600209649551</c:v>
              </c:pt>
              <c:pt idx="69">
                <c:v>-1.3563174869796493</c:v>
              </c:pt>
              <c:pt idx="70">
                <c:v>-0.44163145778381557</c:v>
              </c:pt>
              <c:pt idx="71">
                <c:v>-0.48072592039450202</c:v>
              </c:pt>
              <c:pt idx="72">
                <c:v>0.40853265095186769</c:v>
              </c:pt>
              <c:pt idx="73">
                <c:v>-1.2704363858880561</c:v>
              </c:pt>
              <c:pt idx="74">
                <c:v>1.107943961916829</c:v>
              </c:pt>
              <c:pt idx="75">
                <c:v>-0.38260845353319395</c:v>
              </c:pt>
              <c:pt idx="76">
                <c:v>-0.84312953774390442</c:v>
              </c:pt>
              <c:pt idx="77">
                <c:v>-0.71704157715346906</c:v>
              </c:pt>
              <c:pt idx="78">
                <c:v>0.58992511479386489</c:v>
              </c:pt>
              <c:pt idx="79">
                <c:v>0.21534819990599144</c:v>
              </c:pt>
              <c:pt idx="80">
                <c:v>-0.81547728611812176</c:v>
              </c:pt>
              <c:pt idx="81">
                <c:v>-0.77676413384203091</c:v>
              </c:pt>
              <c:pt idx="82">
                <c:v>-1.3235160953633096</c:v>
              </c:pt>
              <c:pt idx="83">
                <c:v>-0.17877594628722177</c:v>
              </c:pt>
              <c:pt idx="84">
                <c:v>-1.1531845321716208</c:v>
              </c:pt>
              <c:pt idx="85">
                <c:v>-1.5694304796654608</c:v>
              </c:pt>
              <c:pt idx="86">
                <c:v>-0.72145963059046903</c:v>
              </c:pt>
              <c:pt idx="87">
                <c:v>-0.54521630673903554</c:v>
              </c:pt>
              <c:pt idx="88">
                <c:v>-0.58504185590328239</c:v>
              </c:pt>
              <c:pt idx="89">
                <c:v>-1.4274822546531183</c:v>
              </c:pt>
              <c:pt idx="90">
                <c:v>0.60321080922048842</c:v>
              </c:pt>
              <c:pt idx="91">
                <c:v>0.66776426379626586</c:v>
              </c:pt>
              <c:pt idx="92">
                <c:v>6.1226677355181371E-2</c:v>
              </c:pt>
              <c:pt idx="93">
                <c:v>1.35455789865692</c:v>
              </c:pt>
              <c:pt idx="94">
                <c:v>-0.83022515365187299</c:v>
              </c:pt>
              <c:pt idx="95">
                <c:v>-1.5697802558844325</c:v>
              </c:pt>
              <c:pt idx="96">
                <c:v>-0.43314512712878406</c:v>
              </c:pt>
              <c:pt idx="97">
                <c:v>0.54383802875089848</c:v>
              </c:pt>
              <c:pt idx="98">
                <c:v>-1.199240084098967</c:v>
              </c:pt>
              <c:pt idx="99">
                <c:v>1.9485093431093212</c:v>
              </c:pt>
              <c:pt idx="100">
                <c:v>0.52540319433371119</c:v>
              </c:pt>
              <c:pt idx="101">
                <c:v>-2.7079090918628288</c:v>
              </c:pt>
              <c:pt idx="102">
                <c:v>-0.76570323319171918</c:v>
              </c:pt>
              <c:pt idx="103">
                <c:v>-1.395411949590339</c:v>
              </c:pt>
              <c:pt idx="104">
                <c:v>0.41186984161633544</c:v>
              </c:pt>
              <c:pt idx="105">
                <c:v>0.35729642491833397</c:v>
              </c:pt>
              <c:pt idx="106">
                <c:v>1.9990460167049149</c:v>
              </c:pt>
              <c:pt idx="107">
                <c:v>-0.32329874129484787</c:v>
              </c:pt>
              <c:pt idx="108">
                <c:v>0.50073835715342441</c:v>
              </c:pt>
              <c:pt idx="109">
                <c:v>-1.2649059355629002</c:v>
              </c:pt>
              <c:pt idx="110">
                <c:v>1.4818213243667586</c:v>
              </c:pt>
              <c:pt idx="111">
                <c:v>1.7561190468482564</c:v>
              </c:pt>
              <c:pt idx="112">
                <c:v>1.2082231543232047</c:v>
              </c:pt>
              <c:pt idx="113">
                <c:v>1.7162619635683893</c:v>
              </c:pt>
              <c:pt idx="114">
                <c:v>-0.87926812002471866</c:v>
              </c:pt>
              <c:pt idx="115">
                <c:v>-0.99318278307668639</c:v>
              </c:pt>
              <c:pt idx="116">
                <c:v>0.44689602700899023</c:v>
              </c:pt>
              <c:pt idx="117">
                <c:v>-0.30337019965490919</c:v>
              </c:pt>
              <c:pt idx="118">
                <c:v>-0.48365026660875049</c:v>
              </c:pt>
              <c:pt idx="119">
                <c:v>-3.1647047168695257E-2</c:v>
              </c:pt>
              <c:pt idx="120">
                <c:v>-0.93457262327628055</c:v>
              </c:pt>
              <c:pt idx="121">
                <c:v>-0.23185565576247183</c:v>
              </c:pt>
              <c:pt idx="122">
                <c:v>-0.70375588272684553</c:v>
              </c:pt>
              <c:pt idx="123">
                <c:v>-1.0606605838667158</c:v>
              </c:pt>
              <c:pt idx="124">
                <c:v>-1.1019483061380904</c:v>
              </c:pt>
              <c:pt idx="125">
                <c:v>-0.43794449090037607</c:v>
              </c:pt>
              <c:pt idx="126">
                <c:v>-0.20715928446656831</c:v>
              </c:pt>
              <c:pt idx="127">
                <c:v>0.15750066077477312</c:v>
              </c:pt>
              <c:pt idx="128">
                <c:v>-0.87300658314599544</c:v>
              </c:pt>
              <c:pt idx="129">
                <c:v>2.3452395934134418</c:v>
              </c:pt>
              <c:pt idx="130">
                <c:v>1.764923619606636</c:v>
              </c:pt>
              <c:pt idx="131">
                <c:v>3.2134572262317205</c:v>
              </c:pt>
              <c:pt idx="132">
                <c:v>0.40633939129117957</c:v>
              </c:pt>
              <c:pt idx="133">
                <c:v>-0.25620225083941045</c:v>
              </c:pt>
              <c:pt idx="134">
                <c:v>1.2008492205563293</c:v>
              </c:pt>
              <c:pt idx="135">
                <c:v>-1.5856405203063362</c:v>
              </c:pt>
              <c:pt idx="136">
                <c:v>0.45722584110573805</c:v>
              </c:pt>
              <c:pt idx="137">
                <c:v>-1.0625040673084321</c:v>
              </c:pt>
              <c:pt idx="138">
                <c:v>0.12612990814993413</c:v>
              </c:pt>
              <c:pt idx="139">
                <c:v>0.32818200018542704</c:v>
              </c:pt>
              <c:pt idx="140">
                <c:v>0.9563970093612989</c:v>
              </c:pt>
              <c:pt idx="141">
                <c:v>0.37719343244264897</c:v>
              </c:pt>
              <c:pt idx="142">
                <c:v>0.20209403959499164</c:v>
              </c:pt>
              <c:pt idx="143">
                <c:v>-1.3987176061391797</c:v>
              </c:pt>
              <c:pt idx="144">
                <c:v>0.95601569902670691</c:v>
              </c:pt>
              <c:pt idx="145">
                <c:v>-0.32625462162472008</c:v>
              </c:pt>
              <c:pt idx="146">
                <c:v>-0.3354720388333155</c:v>
              </c:pt>
              <c:pt idx="147">
                <c:v>1.1256161756648286</c:v>
              </c:pt>
              <c:pt idx="148">
                <c:v>-0.24291655641278351</c:v>
              </c:pt>
              <c:pt idx="149">
                <c:v>2.3931701628981314</c:v>
              </c:pt>
              <c:pt idx="150">
                <c:v>0.32522611985555483</c:v>
              </c:pt>
              <c:pt idx="151">
                <c:v>0.36171447835533388</c:v>
              </c:pt>
              <c:pt idx="152">
                <c:v>0.83545818876142386</c:v>
              </c:pt>
              <c:pt idx="153">
                <c:v>-9.1750914191849109E-2</c:v>
              </c:pt>
              <c:pt idx="154">
                <c:v>-1.1019483061380904</c:v>
              </c:pt>
              <c:pt idx="155">
                <c:v>-0.89474707411203025</c:v>
              </c:pt>
              <c:pt idx="156">
                <c:v>-0.70451850339603317</c:v>
              </c:pt>
              <c:pt idx="157">
                <c:v>0.89924902266802076</c:v>
              </c:pt>
              <c:pt idx="158">
                <c:v>-0.85787740527765566</c:v>
              </c:pt>
              <c:pt idx="159">
                <c:v>-0.23112456920891145</c:v>
              </c:pt>
              <c:pt idx="160">
                <c:v>-1.5786782746788127E-2</c:v>
              </c:pt>
              <c:pt idx="161">
                <c:v>0.16261826664970974</c:v>
              </c:pt>
              <c:pt idx="162">
                <c:v>3.8024013282022325E-2</c:v>
              </c:pt>
              <c:pt idx="163">
                <c:v>-0.87631223969484295</c:v>
              </c:pt>
              <c:pt idx="164">
                <c:v>1.8725767457798841</c:v>
              </c:pt>
              <c:pt idx="165">
                <c:v>2.7175917145250037</c:v>
              </c:pt>
              <c:pt idx="166">
                <c:v>1.1082937381357971</c:v>
              </c:pt>
              <c:pt idx="167">
                <c:v>1.2078418439886094</c:v>
              </c:pt>
              <c:pt idx="168">
                <c:v>-1.4628582162647448</c:v>
              </c:pt>
              <c:pt idx="169">
                <c:v>-1.1012172195845265</c:v>
              </c:pt>
              <c:pt idx="170">
                <c:v>-0.41140463616275275</c:v>
              </c:pt>
              <c:pt idx="171">
                <c:v>-0.1050366086184726</c:v>
              </c:pt>
              <c:pt idx="172">
                <c:v>0.4402847139112987</c:v>
              </c:pt>
              <c:pt idx="173">
                <c:v>-0.33324724505700365</c:v>
              </c:pt>
              <c:pt idx="174">
                <c:v>0.4712110879703017</c:v>
              </c:pt>
              <c:pt idx="175">
                <c:v>-1.5336732077192454</c:v>
              </c:pt>
              <c:pt idx="176">
                <c:v>-0.15074238432684706</c:v>
              </c:pt>
              <c:pt idx="177">
                <c:v>1.0076332353948327</c:v>
              </c:pt>
              <c:pt idx="178">
                <c:v>0.20946797336186379</c:v>
              </c:pt>
              <c:pt idx="179">
                <c:v>0.79607701816301313</c:v>
              </c:pt>
              <c:pt idx="180">
                <c:v>-0.82212013333143696</c:v>
              </c:pt>
              <c:pt idx="181">
                <c:v>-0.5625387442680635</c:v>
              </c:pt>
              <c:pt idx="182">
                <c:v>-1.6730153286206806</c:v>
              </c:pt>
              <c:pt idx="183">
                <c:v>0.68171797654520938</c:v>
              </c:pt>
              <c:pt idx="184">
                <c:v>-0.94747700736831197</c:v>
              </c:pt>
              <c:pt idx="185">
                <c:v>0.52177929568151549</c:v>
              </c:pt>
              <c:pt idx="186">
                <c:v>1.4179989563445452</c:v>
              </c:pt>
              <c:pt idx="187">
                <c:v>0.63601220083683485</c:v>
              </c:pt>
              <c:pt idx="188">
                <c:v>0.64192396149657927</c:v>
              </c:pt>
              <c:pt idx="189">
                <c:v>0.97079510067607833</c:v>
              </c:pt>
              <c:pt idx="190">
                <c:v>-0.48330049038978562</c:v>
              </c:pt>
              <c:pt idx="191">
                <c:v>-0.71373592060462498</c:v>
              </c:pt>
              <c:pt idx="192">
                <c:v>-1.058817100424996</c:v>
              </c:pt>
              <c:pt idx="193">
                <c:v>-0.43867557745393992</c:v>
              </c:pt>
              <c:pt idx="194">
                <c:v>-0.94375850636925218</c:v>
              </c:pt>
              <c:pt idx="195">
                <c:v>0.63159414739983155</c:v>
              </c:pt>
              <c:pt idx="196">
                <c:v>0.72119374949048431</c:v>
              </c:pt>
              <c:pt idx="197">
                <c:v>-0.33950878193572337</c:v>
              </c:pt>
              <c:pt idx="198">
                <c:v>-0.95485094113518409</c:v>
              </c:pt>
              <c:pt idx="199">
                <c:v>-0.42837729747281578</c:v>
              </c:pt>
              <c:pt idx="200">
                <c:v>-1.3283154591349016</c:v>
              </c:pt>
              <c:pt idx="201">
                <c:v>0.93427520806067554</c:v>
              </c:pt>
              <c:pt idx="202">
                <c:v>0.66550793590433388</c:v>
              </c:pt>
              <c:pt idx="203">
                <c:v>-1.1948535647775873</c:v>
              </c:pt>
              <c:pt idx="204">
                <c:v>-0.3273354843972523</c:v>
              </c:pt>
              <c:pt idx="205">
                <c:v>-0.14594302055525507</c:v>
              </c:pt>
              <c:pt idx="206">
                <c:v>2.0304167693297575</c:v>
              </c:pt>
              <c:pt idx="207">
                <c:v>-1.1023296164726823</c:v>
              </c:pt>
              <c:pt idx="208">
                <c:v>0.64008047805486301</c:v>
              </c:pt>
              <c:pt idx="209">
                <c:v>-0.16695242496772253</c:v>
              </c:pt>
              <c:pt idx="210">
                <c:v>-0.92608629262124553</c:v>
              </c:pt>
              <c:pt idx="211">
                <c:v>-0.89032902067503028</c:v>
              </c:pt>
              <c:pt idx="212">
                <c:v>-0.75832929942484362</c:v>
              </c:pt>
              <c:pt idx="213">
                <c:v>-0.62559849162109304</c:v>
              </c:pt>
              <c:pt idx="214">
                <c:v>-1.2737420424369037</c:v>
              </c:pt>
              <c:pt idx="215">
                <c:v>-0.72184094092506101</c:v>
              </c:pt>
              <c:pt idx="216">
                <c:v>1.2373375790561083</c:v>
              </c:pt>
              <c:pt idx="217">
                <c:v>-0.83944257086046836</c:v>
              </c:pt>
              <c:pt idx="218">
                <c:v>5.9537082192431907E-3</c:v>
              </c:pt>
              <c:pt idx="219">
                <c:v>0.93354412150711519</c:v>
              </c:pt>
              <c:pt idx="220">
                <c:v>2.367711170933037</c:v>
              </c:pt>
              <c:pt idx="221">
                <c:v>-1.4783687044676836</c:v>
              </c:pt>
              <c:pt idx="222">
                <c:v>-0.9353037098298409</c:v>
              </c:pt>
              <c:pt idx="223">
                <c:v>-1.005356080615154</c:v>
              </c:pt>
              <c:pt idx="224">
                <c:v>0.89998010922158123</c:v>
              </c:pt>
              <c:pt idx="225">
                <c:v>-0.95300745769346773</c:v>
              </c:pt>
              <c:pt idx="226">
                <c:v>-1.1432360284094649</c:v>
              </c:pt>
              <c:pt idx="227">
                <c:v>0.54348825253192667</c:v>
              </c:pt>
              <c:pt idx="228">
                <c:v>0.11176335095077149</c:v>
              </c:pt>
              <c:pt idx="229">
                <c:v>-0.79704245170093446</c:v>
              </c:pt>
              <c:pt idx="230">
                <c:v>-0.50726577513212878</c:v>
              </c:pt>
              <c:pt idx="231">
                <c:v>0.86202957761467436</c:v>
              </c:pt>
              <c:pt idx="232">
                <c:v>-1.4160715777838346</c:v>
              </c:pt>
              <c:pt idx="233">
                <c:v>3.7720327090724948</c:v>
              </c:pt>
              <c:pt idx="234">
                <c:v>-0.83391212053530905</c:v>
              </c:pt>
              <c:pt idx="235">
                <c:v>0.88707572512954969</c:v>
              </c:pt>
              <c:pt idx="236">
                <c:v>-0.30448259654306858</c:v>
              </c:pt>
              <c:pt idx="237">
                <c:v>0.27618315348270916</c:v>
              </c:pt>
              <c:pt idx="238">
                <c:v>-1.0768706245075914</c:v>
              </c:pt>
              <c:pt idx="239">
                <c:v>0.13757211913483439</c:v>
              </c:pt>
              <c:pt idx="240">
                <c:v>-1.9145116594858351</c:v>
              </c:pt>
              <c:pt idx="241">
                <c:v>-0.68201539176081427</c:v>
              </c:pt>
              <c:pt idx="242">
                <c:v>1.7229048107816975</c:v>
              </c:pt>
              <c:pt idx="243">
                <c:v>1.0703747406445105</c:v>
              </c:pt>
              <c:pt idx="244">
                <c:v>2.7515055030295059</c:v>
              </c:pt>
              <c:pt idx="245">
                <c:v>0.22752149744446251</c:v>
              </c:pt>
              <c:pt idx="246">
                <c:v>-0.41436051649262495</c:v>
              </c:pt>
              <c:pt idx="247">
                <c:v>1.9382110631281972</c:v>
              </c:pt>
              <c:pt idx="248">
                <c:v>-0.20235992069497286</c:v>
              </c:pt>
              <c:pt idx="249">
                <c:v>-3.89894468199437E-2</c:v>
              </c:pt>
              <c:pt idx="250">
                <c:v>1.5883305195362307</c:v>
              </c:pt>
              <c:pt idx="251">
                <c:v>0.87127852893889002</c:v>
              </c:pt>
              <c:pt idx="252">
                <c:v>-0.85123455806434389</c:v>
              </c:pt>
              <c:pt idx="253">
                <c:v>1.5466614869302642</c:v>
              </c:pt>
              <c:pt idx="254">
                <c:v>-0.32587331129012803</c:v>
              </c:pt>
              <c:pt idx="255">
                <c:v>-1.2390971673788373</c:v>
              </c:pt>
              <c:pt idx="256">
                <c:v>-5.1575588808630494E-2</c:v>
              </c:pt>
              <c:pt idx="257">
                <c:v>-1.0469935791055003</c:v>
              </c:pt>
              <c:pt idx="258">
                <c:v>-0.35721252979934681</c:v>
              </c:pt>
              <c:pt idx="259">
                <c:v>-0.59130339278200206</c:v>
              </c:pt>
              <c:pt idx="260">
                <c:v>-0.83502451742346839</c:v>
              </c:pt>
              <c:pt idx="261">
                <c:v>0.77573563207286556</c:v>
              </c:pt>
              <c:pt idx="262">
                <c:v>-0.22486303233019173</c:v>
              </c:pt>
              <c:pt idx="263">
                <c:v>0.537608025987799</c:v>
              </c:pt>
              <c:pt idx="264">
                <c:v>-0.82285121988499732</c:v>
              </c:pt>
              <c:pt idx="265">
                <c:v>2.9583569588365943</c:v>
              </c:pt>
              <c:pt idx="266">
                <c:v>-0.74726839877453188</c:v>
              </c:pt>
              <c:pt idx="267">
                <c:v>0.73002985636449114</c:v>
              </c:pt>
              <c:pt idx="268">
                <c:v>-0.61011953753378489</c:v>
              </c:pt>
              <c:pt idx="269">
                <c:v>-1.0680345176335879</c:v>
              </c:pt>
              <c:pt idx="270">
                <c:v>0.88488246546886162</c:v>
              </c:pt>
              <c:pt idx="271">
                <c:v>-1.4831680682392756</c:v>
              </c:pt>
              <c:pt idx="272">
                <c:v>0.25851093973470946</c:v>
              </c:pt>
              <c:pt idx="273">
                <c:v>-1.090855871372155</c:v>
              </c:pt>
              <c:pt idx="274">
                <c:v>-7.9227840434409696E-2</c:v>
              </c:pt>
              <c:pt idx="275">
                <c:v>0.53868888876033116</c:v>
              </c:pt>
              <c:pt idx="276">
                <c:v>0.37093189556392581</c:v>
              </c:pt>
              <c:pt idx="277">
                <c:v>-1.1332875246473091</c:v>
              </c:pt>
              <c:pt idx="278">
                <c:v>2.5125837421596313</c:v>
              </c:pt>
              <c:pt idx="279">
                <c:v>-4.2739481934630633E-2</c:v>
              </c:pt>
              <c:pt idx="280">
                <c:v>-6.8913899406855593E-4</c:v>
              </c:pt>
              <c:pt idx="281">
                <c:v>0.54126345875561477</c:v>
              </c:pt>
              <c:pt idx="282">
                <c:v>-0.85933957838477992</c:v>
              </c:pt>
              <c:pt idx="283">
                <c:v>-0.46302217253087857</c:v>
              </c:pt>
              <c:pt idx="284">
                <c:v>2.8986028680324085</c:v>
              </c:pt>
              <c:pt idx="285">
                <c:v>0.27176510004571269</c:v>
              </c:pt>
              <c:pt idx="286">
                <c:v>-0.90580797476234187</c:v>
              </c:pt>
              <c:pt idx="287">
                <c:v>0.49701985615436461</c:v>
              </c:pt>
              <c:pt idx="288">
                <c:v>0.36244556490889773</c:v>
              </c:pt>
              <c:pt idx="289">
                <c:v>-8.2183720764285373E-2</c:v>
              </c:pt>
              <c:pt idx="290">
                <c:v>0.73521053047067519</c:v>
              </c:pt>
              <c:pt idx="291">
                <c:v>-1.32167261192159</c:v>
              </c:pt>
              <c:pt idx="292">
                <c:v>-2.9453787508003662E-2</c:v>
              </c:pt>
              <c:pt idx="293">
                <c:v>-0.53971739052949996</c:v>
              </c:pt>
              <c:pt idx="294">
                <c:v>-0.3262230875090999</c:v>
              </c:pt>
              <c:pt idx="295">
                <c:v>-1.0422257494495286</c:v>
              </c:pt>
              <c:pt idx="296">
                <c:v>-0.46667760529869096</c:v>
              </c:pt>
              <c:pt idx="297">
                <c:v>0.17555418485736834</c:v>
              </c:pt>
              <c:pt idx="298">
                <c:v>0.41333201472345621</c:v>
              </c:pt>
              <c:pt idx="299">
                <c:v>-1.9314843207958947</c:v>
              </c:pt>
              <c:pt idx="300">
                <c:v>-1.1590962928313719</c:v>
              </c:pt>
              <c:pt idx="301">
                <c:v>-0.60792627787309328</c:v>
              </c:pt>
              <c:pt idx="302">
                <c:v>-6.632345634237824E-2</c:v>
              </c:pt>
              <c:pt idx="303">
                <c:v>-0.24698483363081508</c:v>
              </c:pt>
              <c:pt idx="304">
                <c:v>0.47048000141673785</c:v>
              </c:pt>
              <c:pt idx="305">
                <c:v>-1.1487664787346208</c:v>
              </c:pt>
              <c:pt idx="306">
                <c:v>0.36762623901508523</c:v>
              </c:pt>
              <c:pt idx="307">
                <c:v>0.92359561774495591</c:v>
              </c:pt>
              <c:pt idx="308">
                <c:v>-0.50281618757950519</c:v>
              </c:pt>
              <c:pt idx="309">
                <c:v>-0.79039960448762614</c:v>
              </c:pt>
              <c:pt idx="310">
                <c:v>2.9656993584878459</c:v>
              </c:pt>
              <c:pt idx="311">
                <c:v>-0.82469470332671713</c:v>
              </c:pt>
              <c:pt idx="312">
                <c:v>1.1050196157025769</c:v>
              </c:pt>
              <c:pt idx="313">
                <c:v>-0.74100686189581222</c:v>
              </c:pt>
              <c:pt idx="314">
                <c:v>-0.60754496753850118</c:v>
              </c:pt>
              <c:pt idx="315">
                <c:v>-0.56771941837425099</c:v>
              </c:pt>
              <c:pt idx="316">
                <c:v>-1.1130092067884021</c:v>
              </c:pt>
              <c:pt idx="317">
                <c:v>-3.3140754391443206E-2</c:v>
              </c:pt>
              <c:pt idx="318">
                <c:v>-0.32587331129012803</c:v>
              </c:pt>
              <c:pt idx="319">
                <c:v>-3.6450193239442345E-3</c:v>
              </c:pt>
              <c:pt idx="320">
                <c:v>0.63051328462729928</c:v>
              </c:pt>
              <c:pt idx="321">
                <c:v>0.78864001616489698</c:v>
              </c:pt>
              <c:pt idx="322">
                <c:v>-1.005356080615154</c:v>
              </c:pt>
              <c:pt idx="323">
                <c:v>4.2823377053617773E-2</c:v>
              </c:pt>
              <c:pt idx="324">
                <c:v>-0.10576769517203646</c:v>
              </c:pt>
              <c:pt idx="325">
                <c:v>-0.44496864844828332</c:v>
              </c:pt>
              <c:pt idx="326">
                <c:v>-0.98542753897521873</c:v>
              </c:pt>
              <c:pt idx="327">
                <c:v>-0.49916075481168931</c:v>
              </c:pt>
              <c:pt idx="328">
                <c:v>0.24748157320001796</c:v>
              </c:pt>
              <c:pt idx="329">
                <c:v>-0.75871060975943561</c:v>
              </c:pt>
              <c:pt idx="330">
                <c:v>1.6281245345848572</c:v>
              </c:pt>
              <c:pt idx="331">
                <c:v>-0.28274210557703722</c:v>
              </c:pt>
              <c:pt idx="332">
                <c:v>0.4700986910821493</c:v>
              </c:pt>
              <c:pt idx="333">
                <c:v>1.2152157777554848</c:v>
              </c:pt>
              <c:pt idx="334">
                <c:v>0.45722584110573805</c:v>
              </c:pt>
              <c:pt idx="335">
                <c:v>-1.0687656041871554</c:v>
              </c:pt>
              <c:pt idx="336">
                <c:v>1.3575137789867957</c:v>
              </c:pt>
              <c:pt idx="337">
                <c:v>2.1679154067894761</c:v>
              </c:pt>
              <c:pt idx="338">
                <c:v>0.80488159092139278</c:v>
              </c:pt>
              <c:pt idx="339">
                <c:v>-1.8411220980360543</c:v>
              </c:pt>
              <c:pt idx="340">
                <c:v>0.34143616049642683</c:v>
              </c:pt>
              <c:pt idx="341">
                <c:v>-1.6652916186348368</c:v>
              </c:pt>
              <c:pt idx="342">
                <c:v>0.74477772389823893</c:v>
              </c:pt>
              <c:pt idx="343">
                <c:v>-0.29933345655250476</c:v>
              </c:pt>
              <c:pt idx="344">
                <c:v>-0.32698570817828398</c:v>
              </c:pt>
              <c:pt idx="345">
                <c:v>-1.3744025451778681</c:v>
              </c:pt>
              <c:pt idx="346">
                <c:v>-0.32402982784840828</c:v>
              </c:pt>
              <c:pt idx="347">
                <c:v>-0.6554755370231875</c:v>
              </c:pt>
              <c:pt idx="348">
                <c:v>1.0065523726223005</c:v>
              </c:pt>
              <c:pt idx="349">
                <c:v>-0.60976976131481309</c:v>
              </c:pt>
              <c:pt idx="350">
                <c:v>-0.23700479575303562</c:v>
              </c:pt>
              <c:pt idx="351">
                <c:v>1.5676708913427315</c:v>
              </c:pt>
              <c:pt idx="352">
                <c:v>1.076223433073018</c:v>
              </c:pt>
              <c:pt idx="353">
                <c:v>1.6204008245990134</c:v>
              </c:pt>
              <c:pt idx="354">
                <c:v>-0.44312516500656357</c:v>
              </c:pt>
              <c:pt idx="355">
                <c:v>0.36835732556864564</c:v>
              </c:pt>
              <c:pt idx="356">
                <c:v>-9.8743537624129199E-2</c:v>
              </c:pt>
              <c:pt idx="357">
                <c:v>0.90001164333720141</c:v>
              </c:pt>
              <c:pt idx="358">
                <c:v>-1.014573497823746</c:v>
              </c:pt>
              <c:pt idx="359">
                <c:v>-8.3264583536821063E-2</c:v>
              </c:pt>
              <c:pt idx="360">
                <c:v>0.98039382821926579</c:v>
              </c:pt>
              <c:pt idx="361">
                <c:v>2.1675656305705044</c:v>
              </c:pt>
              <c:pt idx="362">
                <c:v>0.71674416193786417</c:v>
              </c:pt>
              <c:pt idx="363">
                <c:v>0.11284421372330371</c:v>
              </c:pt>
              <c:pt idx="364">
                <c:v>-0.14813628021594319</c:v>
              </c:pt>
              <c:pt idx="365">
                <c:v>0.81187421435367979</c:v>
              </c:pt>
              <c:pt idx="366">
                <c:v>0.31969566953039896</c:v>
              </c:pt>
              <c:pt idx="367">
                <c:v>-0.90580797476234187</c:v>
              </c:pt>
              <c:pt idx="368">
                <c:v>-0.10614900550662851</c:v>
              </c:pt>
              <c:pt idx="369">
                <c:v>0.15635672977099352</c:v>
              </c:pt>
              <c:pt idx="370">
                <c:v>-1.0809389017256195</c:v>
              </c:pt>
              <c:pt idx="371">
                <c:v>0.7285361491417397</c:v>
              </c:pt>
              <c:pt idx="372">
                <c:v>1.0706929827478622</c:v>
              </c:pt>
              <c:pt idx="373">
                <c:v>-0.95815659768403161</c:v>
              </c:pt>
              <c:pt idx="374">
                <c:v>0.73187333980620739</c:v>
              </c:pt>
              <c:pt idx="375">
                <c:v>-1.2859153399753713</c:v>
              </c:pt>
              <c:pt idx="376">
                <c:v>-0.89770295444190595</c:v>
              </c:pt>
              <c:pt idx="377">
                <c:v>5.0578621155085428E-2</c:v>
              </c:pt>
              <c:pt idx="378">
                <c:v>1.0032151819578292</c:v>
              </c:pt>
              <c:pt idx="379">
                <c:v>-0.17693246284550199</c:v>
              </c:pt>
              <c:pt idx="380">
                <c:v>-0.64218984259656398</c:v>
              </c:pt>
              <c:pt idx="381">
                <c:v>-0.3476138022561594</c:v>
              </c:pt>
              <c:pt idx="382">
                <c:v>-0.31370001375166046</c:v>
              </c:pt>
              <c:pt idx="383">
                <c:v>-3.9020980935570868E-2</c:v>
              </c:pt>
              <c:pt idx="384">
                <c:v>2.1675656305705044</c:v>
              </c:pt>
              <c:pt idx="385">
                <c:v>-1.270786162107028</c:v>
              </c:pt>
              <c:pt idx="386">
                <c:v>-0.17508897940378571</c:v>
              </c:pt>
              <c:pt idx="387">
                <c:v>-0.49620487448181361</c:v>
              </c:pt>
              <c:pt idx="388">
                <c:v>-0.36086796256716264</c:v>
              </c:pt>
              <c:pt idx="389">
                <c:v>-6.3717352231474386E-2</c:v>
              </c:pt>
              <c:pt idx="390">
                <c:v>1.288573805089642</c:v>
              </c:pt>
              <c:pt idx="391">
                <c:v>0.3956598009754565</c:v>
              </c:pt>
              <c:pt idx="392">
                <c:v>-0.71039872994015729</c:v>
              </c:pt>
              <c:pt idx="393">
                <c:v>-0.72110985437150066</c:v>
              </c:pt>
              <c:pt idx="394">
                <c:v>0.35141619837420629</c:v>
              </c:pt>
              <c:pt idx="395">
                <c:v>0.31047825232180704</c:v>
              </c:pt>
              <c:pt idx="396">
                <c:v>0.67841231999636531</c:v>
              </c:pt>
              <c:pt idx="397">
                <c:v>0.32853177640439535</c:v>
              </c:pt>
              <c:pt idx="398">
                <c:v>-8.1802410429693329E-2</c:v>
              </c:pt>
              <c:pt idx="399">
                <c:v>-0.1680648218558819</c:v>
              </c:pt>
              <c:pt idx="400">
                <c:v>0.23638913843408607</c:v>
              </c:pt>
              <c:pt idx="401">
                <c:v>1.6067968880690418</c:v>
              </c:pt>
              <c:pt idx="402">
                <c:v>-0.50284772169512537</c:v>
              </c:pt>
              <c:pt idx="403">
                <c:v>0.92763236084736034</c:v>
              </c:pt>
              <c:pt idx="404">
                <c:v>-0.83022515365187299</c:v>
              </c:pt>
              <c:pt idx="405">
                <c:v>0.38498021065973681</c:v>
              </c:pt>
              <c:pt idx="406">
                <c:v>-1.8223374873998988</c:v>
              </c:pt>
              <c:pt idx="407">
                <c:v>-0.51130251823453321</c:v>
              </c:pt>
              <c:pt idx="408">
                <c:v>0.19729467582339968</c:v>
              </c:pt>
              <c:pt idx="409">
                <c:v>1.0419598683495439</c:v>
              </c:pt>
              <c:pt idx="410">
                <c:v>0.41962508571779961</c:v>
              </c:pt>
              <c:pt idx="411">
                <c:v>0.12428642470821437</c:v>
              </c:pt>
              <c:pt idx="412">
                <c:v>-1.1513410487299043</c:v>
              </c:pt>
              <c:pt idx="413">
                <c:v>-0.73989446500765632</c:v>
              </c:pt>
              <c:pt idx="414">
                <c:v>-0.25251528395597095</c:v>
              </c:pt>
              <c:pt idx="415">
                <c:v>-1.170888280035244</c:v>
              </c:pt>
              <c:pt idx="416">
                <c:v>0.13903429224196212</c:v>
              </c:pt>
              <c:pt idx="417">
                <c:v>1.0043275788459887</c:v>
              </c:pt>
              <c:pt idx="418">
                <c:v>-0.4110233258281607</c:v>
              </c:pt>
              <c:pt idx="419">
                <c:v>-0.59870886066449791</c:v>
              </c:pt>
              <c:pt idx="420">
                <c:v>-1.1513410487299043</c:v>
              </c:pt>
              <c:pt idx="421">
                <c:v>0.91584037364348825</c:v>
              </c:pt>
              <c:pt idx="422">
                <c:v>1.2775129044393303</c:v>
              </c:pt>
              <c:pt idx="423">
                <c:v>1.2838059754336737</c:v>
              </c:pt>
              <c:pt idx="424">
                <c:v>0.80084484781898835</c:v>
              </c:pt>
              <c:pt idx="425">
                <c:v>6.0527124917241201E-2</c:v>
              </c:pt>
              <c:pt idx="426">
                <c:v>0.11176335095077149</c:v>
              </c:pt>
              <c:pt idx="427">
                <c:v>-0.48330049038978562</c:v>
              </c:pt>
              <c:pt idx="428">
                <c:v>2.0320265418398896E-2</c:v>
              </c:pt>
              <c:pt idx="429">
                <c:v>1.7239856735542298</c:v>
              </c:pt>
              <c:pt idx="430">
                <c:v>2.0462454996360409</c:v>
              </c:pt>
              <c:pt idx="431">
                <c:v>-0.68681475553240623</c:v>
              </c:pt>
              <c:pt idx="432">
                <c:v>1.0249872070394879</c:v>
              </c:pt>
              <c:pt idx="433">
                <c:v>-1.3659162145228401</c:v>
              </c:pt>
              <c:pt idx="434">
                <c:v>1.7719477771545398</c:v>
              </c:pt>
              <c:pt idx="435">
                <c:v>-1.2674805055581839</c:v>
              </c:pt>
              <c:pt idx="436">
                <c:v>0.13722234291586605</c:v>
              </c:pt>
              <c:pt idx="437">
                <c:v>-0.57766792213640672</c:v>
              </c:pt>
              <c:pt idx="438">
                <c:v>-0.86194568249568371</c:v>
              </c:pt>
              <c:pt idx="439">
                <c:v>1.8806817661003234</c:v>
              </c:pt>
              <c:pt idx="440">
                <c:v>-1.9985808112513321</c:v>
              </c:pt>
              <c:pt idx="441">
                <c:v>-0.80368529891424967</c:v>
              </c:pt>
              <c:pt idx="442">
                <c:v>6.4563868019649084E-2</c:v>
              </c:pt>
              <c:pt idx="443">
                <c:v>4.3173153272589596E-2</c:v>
              </c:pt>
              <c:pt idx="444">
                <c:v>0.73187333980620739</c:v>
              </c:pt>
              <c:pt idx="445">
                <c:v>0.22125996056574282</c:v>
              </c:pt>
              <c:pt idx="446">
                <c:v>1.6041907839581344</c:v>
              </c:pt>
              <c:pt idx="447">
                <c:v>-0.16955852907862987</c:v>
              </c:pt>
              <c:pt idx="448">
                <c:v>-0.49140551071022165</c:v>
              </c:pt>
              <c:pt idx="449">
                <c:v>-0.96664292833905963</c:v>
              </c:pt>
              <c:pt idx="450">
                <c:v>-0.77565173695387502</c:v>
              </c:pt>
              <c:pt idx="451">
                <c:v>0.26696573627411724</c:v>
              </c:pt>
              <c:pt idx="452">
                <c:v>-1.3253595788050294</c:v>
              </c:pt>
              <c:pt idx="453">
                <c:v>0.36873863590324113</c:v>
              </c:pt>
              <c:pt idx="454">
                <c:v>4.4666860495337544E-2</c:v>
              </c:pt>
              <c:pt idx="455">
                <c:v>-1.1598273793849323</c:v>
              </c:pt>
              <c:pt idx="456">
                <c:v>-3.3871840945007073E-2</c:v>
              </c:pt>
              <c:pt idx="457">
                <c:v>-1.2232369029569337</c:v>
              </c:pt>
              <c:pt idx="458">
                <c:v>-0.53564911331146836</c:v>
              </c:pt>
              <c:pt idx="459">
                <c:v>-8.1071323876129475E-2</c:v>
              </c:pt>
              <c:pt idx="460">
                <c:v>-1.1635143462683686</c:v>
              </c:pt>
              <c:pt idx="461">
                <c:v>0.50960599814305141</c:v>
              </c:pt>
              <c:pt idx="462">
                <c:v>1.0438033517912637</c:v>
              </c:pt>
              <c:pt idx="463">
                <c:v>-0.64587680948000004</c:v>
              </c:pt>
              <c:pt idx="464">
                <c:v>0.32741937951624295</c:v>
              </c:pt>
              <c:pt idx="465">
                <c:v>-0.63039785539268844</c:v>
              </c:pt>
              <c:pt idx="466">
                <c:v>0.85726174795870258</c:v>
              </c:pt>
              <c:pt idx="467">
                <c:v>0.50401247958665163</c:v>
              </c:pt>
              <c:pt idx="468">
                <c:v>1.6491654731129484</c:v>
              </c:pt>
              <c:pt idx="469">
                <c:v>0.29242472823920834</c:v>
              </c:pt>
              <c:pt idx="470">
                <c:v>3.7289144429313772E-3</c:v>
              </c:pt>
              <c:pt idx="471">
                <c:v>0.11068248817823928</c:v>
              </c:pt>
              <c:pt idx="472">
                <c:v>0.53573300843045901</c:v>
              </c:pt>
              <c:pt idx="473">
                <c:v>1.9090966383952903</c:v>
              </c:pt>
              <c:pt idx="474">
                <c:v>-2.0232771825472393</c:v>
              </c:pt>
              <c:pt idx="475">
                <c:v>0.51510491435258354</c:v>
              </c:pt>
              <c:pt idx="476">
                <c:v>0.81187421435367979</c:v>
              </c:pt>
              <c:pt idx="477">
                <c:v>1.4253728901114173</c:v>
              </c:pt>
              <c:pt idx="478">
                <c:v>2.8838130189054109E-2</c:v>
              </c:pt>
              <c:pt idx="479">
                <c:v>1.0861719368351739</c:v>
              </c:pt>
              <c:pt idx="480">
                <c:v>0.76689952519886573</c:v>
              </c:pt>
              <c:pt idx="481">
                <c:v>-0.19018662315650528</c:v>
              </c:pt>
              <c:pt idx="482">
                <c:v>-1.0728023472895631</c:v>
              </c:pt>
              <c:pt idx="483">
                <c:v>-8.1071323876129475E-2</c:v>
              </c:pt>
              <c:pt idx="484">
                <c:v>3.5099667067773815E-2</c:v>
              </c:pt>
              <c:pt idx="485">
                <c:v>0.38939826409674022</c:v>
              </c:pt>
              <c:pt idx="486">
                <c:v>-0.52017015922416021</c:v>
              </c:pt>
              <c:pt idx="487">
                <c:v>0.33406222672955121</c:v>
              </c:pt>
              <c:pt idx="488">
                <c:v>-1.0790954182839032</c:v>
              </c:pt>
              <c:pt idx="489">
                <c:v>1.1123620153538323</c:v>
              </c:pt>
              <c:pt idx="490">
                <c:v>-0.72845225402274905</c:v>
              </c:pt>
              <c:pt idx="491">
                <c:v>-1.0252530881394655</c:v>
              </c:pt>
              <c:pt idx="492">
                <c:v>-0.51057143168097274</c:v>
              </c:pt>
              <c:pt idx="493">
                <c:v>-1.4499538321727135</c:v>
              </c:pt>
              <c:pt idx="494">
                <c:v>2.3047144918112514</c:v>
              </c:pt>
              <c:pt idx="495">
                <c:v>-1.237984770490685</c:v>
              </c:pt>
              <c:pt idx="496">
                <c:v>-0.43978797434209582</c:v>
              </c:pt>
              <c:pt idx="497">
                <c:v>-0.6554755370231875</c:v>
              </c:pt>
              <c:pt idx="498">
                <c:v>-0.50396011858328471</c:v>
              </c:pt>
              <c:pt idx="499">
                <c:v>-0.67095449111050254</c:v>
              </c:pt>
              <c:pt idx="500">
                <c:v>-0.18910576038396959</c:v>
              </c:pt>
              <c:pt idx="501">
                <c:v>-3.1647047168695257E-2</c:v>
              </c:pt>
              <c:pt idx="502">
                <c:v>-0.70782415994487713</c:v>
              </c:pt>
              <c:pt idx="503">
                <c:v>0.51288012057626831</c:v>
              </c:pt>
              <c:pt idx="504">
                <c:v>-0.84055496774862426</c:v>
              </c:pt>
              <c:pt idx="505">
                <c:v>-0.29933345655250476</c:v>
              </c:pt>
              <c:pt idx="506">
                <c:v>-1.1030607030262463</c:v>
              </c:pt>
              <c:pt idx="507">
                <c:v>-0.43794449090037607</c:v>
              </c:pt>
              <c:pt idx="508">
                <c:v>0.1460584497898659</c:v>
              </c:pt>
              <c:pt idx="509">
                <c:v>-1.3364204794553411</c:v>
              </c:pt>
              <c:pt idx="510">
                <c:v>0.60282949888589643</c:v>
              </c:pt>
              <c:pt idx="511">
                <c:v>0.91218494087567248</c:v>
              </c:pt>
              <c:pt idx="512">
                <c:v>-0.58907859900569026</c:v>
              </c:pt>
              <c:pt idx="513">
                <c:v>-0.1083107310516964</c:v>
              </c:pt>
              <c:pt idx="514">
                <c:v>-0.10169941795400836</c:v>
              </c:pt>
              <c:pt idx="515">
                <c:v>1.733934177316389</c:v>
              </c:pt>
              <c:pt idx="516">
                <c:v>2.366980084379473</c:v>
              </c:pt>
              <c:pt idx="517">
                <c:v>-0.86083328560753136</c:v>
              </c:pt>
              <c:pt idx="518">
                <c:v>-1.0987418975196152E-2</c:v>
              </c:pt>
              <c:pt idx="519">
                <c:v>0.74550881045180273</c:v>
              </c:pt>
              <c:pt idx="520">
                <c:v>7.3781285228244481E-2</c:v>
              </c:pt>
              <c:pt idx="521">
                <c:v>1.1551119107323311</c:v>
              </c:pt>
              <c:pt idx="522">
                <c:v>0.35360945803489785</c:v>
              </c:pt>
              <c:pt idx="523">
                <c:v>0.85427433351321025</c:v>
              </c:pt>
              <c:pt idx="524">
                <c:v>0.91622168397808035</c:v>
              </c:pt>
              <c:pt idx="525">
                <c:v>-0.77749522039559471</c:v>
              </c:pt>
              <c:pt idx="526">
                <c:v>2.441863353052002</c:v>
              </c:pt>
              <c:pt idx="527">
                <c:v>-0.53749259675318817</c:v>
              </c:pt>
              <c:pt idx="528">
                <c:v>3.0667411715634096</c:v>
              </c:pt>
              <c:pt idx="529">
                <c:v>-0.47258936595843881</c:v>
              </c:pt>
              <c:pt idx="530">
                <c:v>0.36762623901508523</c:v>
              </c:pt>
              <c:pt idx="531">
                <c:v>-0.70229370961972126</c:v>
              </c:pt>
              <c:pt idx="532">
                <c:v>-2.4966711167343609</c:v>
              </c:pt>
              <c:pt idx="533">
                <c:v>1.6730992237396713</c:v>
              </c:pt>
              <c:pt idx="534">
                <c:v>-0.31039435720281644</c:v>
              </c:pt>
              <c:pt idx="535">
                <c:v>-0.48883094071494149</c:v>
              </c:pt>
              <c:pt idx="536">
                <c:v>-0.12086533892475604</c:v>
              </c:pt>
              <c:pt idx="537">
                <c:v>-0.32587331129012803</c:v>
              </c:pt>
              <c:pt idx="538">
                <c:v>-0.1083107310516964</c:v>
              </c:pt>
              <c:pt idx="539">
                <c:v>-0.80810335235124964</c:v>
              </c:pt>
              <c:pt idx="540">
                <c:v>-0.32145525785312812</c:v>
              </c:pt>
              <c:pt idx="541">
                <c:v>-0.18170029250147374</c:v>
              </c:pt>
              <c:pt idx="542">
                <c:v>0.13204166880967855</c:v>
              </c:pt>
              <c:pt idx="543">
                <c:v>6.4945178354244612E-2</c:v>
              </c:pt>
              <c:pt idx="544">
                <c:v>1.6399480559043564</c:v>
              </c:pt>
              <c:pt idx="545">
                <c:v>0.4144444116116156</c:v>
              </c:pt>
              <c:pt idx="546">
                <c:v>1.7719477771545398</c:v>
              </c:pt>
              <c:pt idx="547">
                <c:v>0.53646409498402281</c:v>
              </c:pt>
              <c:pt idx="548">
                <c:v>0.59399339201189305</c:v>
              </c:pt>
              <c:pt idx="549">
                <c:v>-0.40476178894944104</c:v>
              </c:pt>
              <c:pt idx="550">
                <c:v>3.951772050477375E-2</c:v>
              </c:pt>
              <c:pt idx="551">
                <c:v>-8.6951550420257137E-2</c:v>
              </c:pt>
              <c:pt idx="552">
                <c:v>0.48042850517889713</c:v>
              </c:pt>
              <c:pt idx="553">
                <c:v>0.66995752345695747</c:v>
              </c:pt>
              <c:pt idx="554">
                <c:v>-9.5088104856313346E-2</c:v>
              </c:pt>
              <c:pt idx="555">
                <c:v>0.86644763105167433</c:v>
              </c:pt>
              <c:pt idx="556">
                <c:v>1.4721910627079511</c:v>
              </c:pt>
              <c:pt idx="557">
                <c:v>0.92102104774967231</c:v>
              </c:pt>
              <c:pt idx="558">
                <c:v>-1.9340273566755548</c:v>
              </c:pt>
              <c:pt idx="559">
                <c:v>-0.29342169589275341</c:v>
              </c:pt>
              <c:pt idx="560">
                <c:v>-0.15995980153544243</c:v>
              </c:pt>
              <c:pt idx="561">
                <c:v>-0.35168207947419095</c:v>
              </c:pt>
              <c:pt idx="562">
                <c:v>-1.2099512085303104</c:v>
              </c:pt>
              <c:pt idx="563">
                <c:v>0.83952646597945901</c:v>
              </c:pt>
              <c:pt idx="564">
                <c:v>0.93322587940376356</c:v>
              </c:pt>
              <c:pt idx="565">
                <c:v>0.13903429224196212</c:v>
              </c:pt>
              <c:pt idx="566">
                <c:v>0.56300394972164958</c:v>
              </c:pt>
              <c:pt idx="567">
                <c:v>-0.20750906068553665</c:v>
              </c:pt>
              <c:pt idx="568">
                <c:v>0.29534907445346031</c:v>
              </c:pt>
              <c:pt idx="569">
                <c:v>-0.26357618460628263</c:v>
              </c:pt>
              <c:pt idx="570">
                <c:v>-0.9935325592956582</c:v>
              </c:pt>
              <c:pt idx="571">
                <c:v>-0.77749522039559471</c:v>
              </c:pt>
              <c:pt idx="572">
                <c:v>-0.82507601366130923</c:v>
              </c:pt>
              <c:pt idx="573">
                <c:v>1.1455447173047673</c:v>
              </c:pt>
              <c:pt idx="574">
                <c:v>-0.62044935163053272</c:v>
              </c:pt>
              <c:pt idx="575">
                <c:v>-0.30006454310606517</c:v>
              </c:pt>
              <c:pt idx="576">
                <c:v>-1.0993737361428066</c:v>
              </c:pt>
              <c:pt idx="577">
                <c:v>-0.92535520606768507</c:v>
              </c:pt>
              <c:pt idx="578">
                <c:v>-0.66208685012087554</c:v>
              </c:pt>
              <c:pt idx="579">
                <c:v>1.1105185319121125</c:v>
              </c:pt>
              <c:pt idx="580">
                <c:v>-0.71631049059990515</c:v>
              </c:pt>
              <c:pt idx="581">
                <c:v>-0.46782153630247053</c:v>
              </c:pt>
              <c:pt idx="582">
                <c:v>0.79566417371280085</c:v>
              </c:pt>
              <c:pt idx="583">
                <c:v>-1.2096014323113384</c:v>
              </c:pt>
              <c:pt idx="584">
                <c:v>-1.3972554330320588</c:v>
              </c:pt>
              <c:pt idx="585">
                <c:v>0.10400810684930731</c:v>
              </c:pt>
              <c:pt idx="586">
                <c:v>-0.27241229148028595</c:v>
              </c:pt>
              <c:pt idx="587">
                <c:v>-1.2206623329616502</c:v>
              </c:pt>
              <c:pt idx="588">
                <c:v>-0.74396274222568437</c:v>
              </c:pt>
              <c:pt idx="589">
                <c:v>-1.242784134262277</c:v>
              </c:pt>
              <c:pt idx="590">
                <c:v>0.86717871760524168</c:v>
              </c:pt>
              <c:pt idx="591">
                <c:v>0.22237235745389525</c:v>
              </c:pt>
              <c:pt idx="592">
                <c:v>-1.3161421615964342</c:v>
              </c:pt>
              <c:pt idx="593">
                <c:v>-1.2818470627573397</c:v>
              </c:pt>
              <c:pt idx="594">
                <c:v>-0.17063939185116206</c:v>
              </c:pt>
              <c:pt idx="595">
                <c:v>0.83215253221258334</c:v>
              </c:pt>
              <c:pt idx="596">
                <c:v>0.91142232020648839</c:v>
              </c:pt>
              <c:pt idx="597">
                <c:v>-0.429458160245348</c:v>
              </c:pt>
              <c:pt idx="598">
                <c:v>-0.94118393637396858</c:v>
              </c:pt>
              <c:pt idx="599">
                <c:v>1.2071107574350488</c:v>
              </c:pt>
              <c:pt idx="600">
                <c:v>0.46936760452858539</c:v>
              </c:pt>
              <c:pt idx="601">
                <c:v>-0.64368354981931197</c:v>
              </c:pt>
              <c:pt idx="602">
                <c:v>-0.20420340413669263</c:v>
              </c:pt>
              <c:pt idx="603">
                <c:v>-0.22816868887903577</c:v>
              </c:pt>
              <c:pt idx="604">
                <c:v>0.84874388318805438</c:v>
              </c:pt>
              <c:pt idx="605">
                <c:v>0.24004457120189845</c:v>
              </c:pt>
              <c:pt idx="606">
                <c:v>5.0165776704869693E-2</c:v>
              </c:pt>
              <c:pt idx="607">
                <c:v>-1.6487002676593656</c:v>
              </c:pt>
              <c:pt idx="608">
                <c:v>-3.0184874061571002E-2</c:v>
              </c:pt>
              <c:pt idx="609">
                <c:v>-0.20235992069497286</c:v>
              </c:pt>
              <c:pt idx="610">
                <c:v>-1.3283154591349016</c:v>
              </c:pt>
              <c:pt idx="611">
                <c:v>1.1285720559947043</c:v>
              </c:pt>
              <c:pt idx="612">
                <c:v>-0.49324899415193796</c:v>
              </c:pt>
              <c:pt idx="613">
                <c:v>-0.46670913941431463</c:v>
              </c:pt>
              <c:pt idx="614">
                <c:v>-0.28162970868887788</c:v>
              </c:pt>
              <c:pt idx="615">
                <c:v>-0.51721427889428107</c:v>
              </c:pt>
              <c:pt idx="616">
                <c:v>4.6510343937057316E-2</c:v>
              </c:pt>
              <c:pt idx="617">
                <c:v>-1.6026131816163993</c:v>
              </c:pt>
              <c:pt idx="618">
                <c:v>-2.0472424672895824</c:v>
              </c:pt>
              <c:pt idx="619">
                <c:v>-0.84090474396759263</c:v>
              </c:pt>
              <c:pt idx="620">
                <c:v>1.3350422014672005</c:v>
              </c:pt>
              <c:pt idx="621">
                <c:v>0.93573738116779981</c:v>
              </c:pt>
              <c:pt idx="622">
                <c:v>0.13127904814049099</c:v>
              </c:pt>
              <c:pt idx="623">
                <c:v>-0.95446963080059199</c:v>
              </c:pt>
              <c:pt idx="624">
                <c:v>-0.24990917984506708</c:v>
              </c:pt>
              <c:pt idx="625">
                <c:v>-1.3847323592746159</c:v>
              </c:pt>
              <c:pt idx="626">
                <c:v>-0.11720990615694019</c:v>
              </c:pt>
              <c:pt idx="627">
                <c:v>0.63270654428798745</c:v>
              </c:pt>
              <c:pt idx="628">
                <c:v>0.19506988204708786</c:v>
              </c:pt>
              <c:pt idx="629">
                <c:v>0.81336792157642079</c:v>
              </c:pt>
              <c:pt idx="630">
                <c:v>0.52177929568151549</c:v>
              </c:pt>
              <c:pt idx="631">
                <c:v>0.79458331094026857</c:v>
              </c:pt>
              <c:pt idx="632">
                <c:v>-1.6637979114120853</c:v>
              </c:pt>
              <c:pt idx="633">
                <c:v>0.41590658471873981</c:v>
              </c:pt>
              <c:pt idx="634">
                <c:v>-0.60198298309772169</c:v>
              </c:pt>
              <c:pt idx="635">
                <c:v>-0.43022078091453558</c:v>
              </c:pt>
              <c:pt idx="636">
                <c:v>0.67768123344280151</c:v>
              </c:pt>
              <c:pt idx="637">
                <c:v>1.7232861211162931</c:v>
              </c:pt>
              <c:pt idx="638">
                <c:v>-5.4150158803914133E-2</c:v>
              </c:pt>
              <c:pt idx="639">
                <c:v>2.3389780565347222</c:v>
              </c:pt>
              <c:pt idx="640">
                <c:v>2.5594334488717823</c:v>
              </c:pt>
              <c:pt idx="641">
                <c:v>-0.32584177717450435</c:v>
              </c:pt>
              <c:pt idx="642">
                <c:v>-1.0130797906009978</c:v>
              </c:pt>
              <c:pt idx="643">
                <c:v>-0.40034373551244107</c:v>
              </c:pt>
              <c:pt idx="644">
                <c:v>0.77020518174770969</c:v>
              </c:pt>
              <c:pt idx="645">
                <c:v>-7.296630355568999E-2</c:v>
              </c:pt>
              <c:pt idx="646">
                <c:v>0.15082627944583768</c:v>
              </c:pt>
              <c:pt idx="647">
                <c:v>-0.34910750947891078</c:v>
              </c:pt>
              <c:pt idx="648">
                <c:v>2.4769852971026001E-2</c:v>
              </c:pt>
              <c:pt idx="649">
                <c:v>-0.42246553681306442</c:v>
              </c:pt>
              <c:pt idx="650">
                <c:v>1.3822101502827027</c:v>
              </c:pt>
              <c:pt idx="651">
                <c:v>1.833482283169201</c:v>
              </c:pt>
              <c:pt idx="652">
                <c:v>2.6963112631710643E-2</c:v>
              </c:pt>
              <c:pt idx="653">
                <c:v>0.44063449013027051</c:v>
              </c:pt>
              <c:pt idx="654">
                <c:v>0.19840707271155211</c:v>
              </c:pt>
              <c:pt idx="655">
                <c:v>0.64008047805486301</c:v>
              </c:pt>
              <c:pt idx="656">
                <c:v>0.25552352528921007</c:v>
              </c:pt>
              <c:pt idx="657">
                <c:v>0.40338351096130393</c:v>
              </c:pt>
              <c:pt idx="658">
                <c:v>-0.98542753897521873</c:v>
              </c:pt>
              <c:pt idx="659">
                <c:v>0.91399689020176855</c:v>
              </c:pt>
              <c:pt idx="660">
                <c:v>-0.38117781454168992</c:v>
              </c:pt>
              <c:pt idx="661">
                <c:v>-0.54375413363190783</c:v>
              </c:pt>
              <c:pt idx="662">
                <c:v>-0.16364676841887851</c:v>
              </c:pt>
              <c:pt idx="663">
                <c:v>0.50550618680939263</c:v>
              </c:pt>
              <c:pt idx="664">
                <c:v>0.88818812201770558</c:v>
              </c:pt>
              <c:pt idx="665">
                <c:v>-5.4150158803914133E-2</c:v>
              </c:pt>
              <c:pt idx="666">
                <c:v>-0.12124664925934808</c:v>
              </c:pt>
              <c:pt idx="667">
                <c:v>-0.63777178915956401</c:v>
              </c:pt>
              <c:pt idx="668">
                <c:v>-3.3490530610415029E-2</c:v>
              </c:pt>
              <c:pt idx="669">
                <c:v>-0.13453234368597158</c:v>
              </c:pt>
              <c:pt idx="670">
                <c:v>0.95493483625417475</c:v>
              </c:pt>
              <c:pt idx="671">
                <c:v>7.3399974893648953E-2</c:v>
              </c:pt>
              <c:pt idx="672">
                <c:v>0.17959092795977624</c:v>
              </c:pt>
              <c:pt idx="673">
                <c:v>-0.25397745706309865</c:v>
              </c:pt>
              <c:pt idx="674">
                <c:v>6.8250834903088628E-2</c:v>
              </c:pt>
              <c:pt idx="675">
                <c:v>-1.1362118708615612</c:v>
              </c:pt>
              <c:pt idx="676">
                <c:v>-1.3994802268083673</c:v>
              </c:pt>
              <c:pt idx="677">
                <c:v>2.003432536026291</c:v>
              </c:pt>
              <c:pt idx="678">
                <c:v>-0.76385974974999937</c:v>
              </c:pt>
              <c:pt idx="679">
                <c:v>0.56780331349324153</c:v>
              </c:pt>
              <c:pt idx="680">
                <c:v>-0.91906213507334522</c:v>
              </c:pt>
              <c:pt idx="681">
                <c:v>-1.0141921874891537</c:v>
              </c:pt>
              <c:pt idx="682">
                <c:v>0.26623464972055688</c:v>
              </c:pt>
              <c:pt idx="683">
                <c:v>0.73114225325264359</c:v>
              </c:pt>
              <c:pt idx="684">
                <c:v>0.12981687503337022</c:v>
              </c:pt>
              <c:pt idx="685">
                <c:v>-0.9566944245769039</c:v>
              </c:pt>
              <c:pt idx="686">
                <c:v>0.24668741841521019</c:v>
              </c:pt>
              <c:pt idx="687">
                <c:v>-1.426020081545994</c:v>
              </c:pt>
              <c:pt idx="688">
                <c:v>1.4965061236692625</c:v>
              </c:pt>
              <c:pt idx="689">
                <c:v>0.52136645123130332</c:v>
              </c:pt>
              <c:pt idx="690">
                <c:v>-7.1853906667537562E-2</c:v>
              </c:pt>
            </c:numLit>
          </c:xVal>
          <c:yVal>
            <c:numLit>
              <c:formatCode>0.00000</c:formatCode>
              <c:ptCount val="691"/>
              <c:pt idx="0">
                <c:v>0.62334529067577249</c:v>
              </c:pt>
              <c:pt idx="1">
                <c:v>-0.7741093843607858</c:v>
              </c:pt>
              <c:pt idx="2">
                <c:v>0.93873641095031557</c:v>
              </c:pt>
              <c:pt idx="3">
                <c:v>0.93528078596864495</c:v>
              </c:pt>
              <c:pt idx="4">
                <c:v>-1.0517619875443267</c:v>
              </c:pt>
              <c:pt idx="5">
                <c:v>-1.2792371512038578</c:v>
              </c:pt>
              <c:pt idx="6">
                <c:v>1.1394170959907586</c:v>
              </c:pt>
              <c:pt idx="7">
                <c:v>1.8302505211011566E-2</c:v>
              </c:pt>
              <c:pt idx="8">
                <c:v>0.3195914929007907</c:v>
              </c:pt>
              <c:pt idx="9">
                <c:v>-1.3838121243909169</c:v>
              </c:pt>
              <c:pt idx="10">
                <c:v>3.2642957702507887</c:v>
              </c:pt>
              <c:pt idx="11">
                <c:v>-1.0040923841439831</c:v>
              </c:pt>
              <c:pt idx="12">
                <c:v>-4.5233653777460955E-2</c:v>
              </c:pt>
              <c:pt idx="13">
                <c:v>0.14419644953548214</c:v>
              </c:pt>
              <c:pt idx="14">
                <c:v>-1.1808059682611673</c:v>
              </c:pt>
              <c:pt idx="15">
                <c:v>0.34135526506063563</c:v>
              </c:pt>
              <c:pt idx="16">
                <c:v>0.94998603801153614</c:v>
              </c:pt>
              <c:pt idx="17">
                <c:v>-1.9555609233102553</c:v>
              </c:pt>
              <c:pt idx="18">
                <c:v>-0.64681371120635112</c:v>
              </c:pt>
              <c:pt idx="19">
                <c:v>1.6019890274080419</c:v>
              </c:pt>
              <c:pt idx="20">
                <c:v>-7.9765028892002293E-2</c:v>
              </c:pt>
              <c:pt idx="21">
                <c:v>0.45144794366432051</c:v>
              </c:pt>
              <c:pt idx="22">
                <c:v>1.548249809454652</c:v>
              </c:pt>
              <c:pt idx="23">
                <c:v>-0.67002934128882197</c:v>
              </c:pt>
              <c:pt idx="24">
                <c:v>-5.3118775092804389E-2</c:v>
              </c:pt>
              <c:pt idx="25">
                <c:v>-0.71327052958454118</c:v>
              </c:pt>
              <c:pt idx="26">
                <c:v>-0.181107732274886</c:v>
              </c:pt>
              <c:pt idx="27">
                <c:v>0.79917624923952169</c:v>
              </c:pt>
              <c:pt idx="28">
                <c:v>1.0676000625281223</c:v>
              </c:pt>
              <c:pt idx="29">
                <c:v>1.5641994265580965</c:v>
              </c:pt>
              <c:pt idx="30">
                <c:v>-1.2135809780928308</c:v>
              </c:pt>
              <c:pt idx="31">
                <c:v>-1.0953317297989698</c:v>
              </c:pt>
              <c:pt idx="32">
                <c:v>-1.3952180339925033</c:v>
              </c:pt>
              <c:pt idx="33">
                <c:v>0.30275816901486158</c:v>
              </c:pt>
              <c:pt idx="34">
                <c:v>0.29959106251525663</c:v>
              </c:pt>
              <c:pt idx="35">
                <c:v>-1.1414423671627019</c:v>
              </c:pt>
              <c:pt idx="36">
                <c:v>-2.0826591972184234</c:v>
              </c:pt>
              <c:pt idx="37">
                <c:v>-1.2873938474567994</c:v>
              </c:pt>
              <c:pt idx="38">
                <c:v>0.61496619391161145</c:v>
              </c:pt>
              <c:pt idx="39">
                <c:v>-1.7187658505199916</c:v>
              </c:pt>
              <c:pt idx="40">
                <c:v>-0.14425088607103823</c:v>
              </c:pt>
              <c:pt idx="41">
                <c:v>1.3535315968890791E-2</c:v>
              </c:pt>
              <c:pt idx="42">
                <c:v>0.95979992259108626</c:v>
              </c:pt>
              <c:pt idx="43">
                <c:v>2.8018167500566234E-2</c:v>
              </c:pt>
              <c:pt idx="44">
                <c:v>-2.267240959106485</c:v>
              </c:pt>
              <c:pt idx="45">
                <c:v>-0.49679650998102104</c:v>
              </c:pt>
              <c:pt idx="46">
                <c:v>-1.0233664715164452</c:v>
              </c:pt>
              <c:pt idx="47">
                <c:v>-0.4487060255941428</c:v>
              </c:pt>
              <c:pt idx="48">
                <c:v>2.3315812605141693</c:v>
              </c:pt>
              <c:pt idx="49">
                <c:v>1.0614142009115679</c:v>
              </c:pt>
              <c:pt idx="50">
                <c:v>0.39600140829166375</c:v>
              </c:pt>
              <c:pt idx="51">
                <c:v>1.7317504653139626</c:v>
              </c:pt>
              <c:pt idx="52">
                <c:v>-0.40123477610634722</c:v>
              </c:pt>
              <c:pt idx="53">
                <c:v>-0.71953754338385634</c:v>
              </c:pt>
              <c:pt idx="54">
                <c:v>1.9672129721832084E-2</c:v>
              </c:pt>
              <c:pt idx="55">
                <c:v>1.2796275156907349</c:v>
              </c:pt>
              <c:pt idx="56">
                <c:v>-0.78764336580541017</c:v>
              </c:pt>
              <c:pt idx="57">
                <c:v>-4.9882552290701201E-3</c:v>
              </c:pt>
              <c:pt idx="58">
                <c:v>2.126702492038028</c:v>
              </c:pt>
              <c:pt idx="59">
                <c:v>0.39549842045608896</c:v>
              </c:pt>
              <c:pt idx="60">
                <c:v>1.3365920269568674</c:v>
              </c:pt>
              <c:pt idx="61">
                <c:v>-0.50825146744622252</c:v>
              </c:pt>
              <c:pt idx="62">
                <c:v>1.3963679270406426</c:v>
              </c:pt>
              <c:pt idx="63">
                <c:v>-0.7408153978153651</c:v>
              </c:pt>
              <c:pt idx="64">
                <c:v>2.7022205622488191</c:v>
              </c:pt>
              <c:pt idx="65">
                <c:v>2.0943072464869985</c:v>
              </c:pt>
              <c:pt idx="66">
                <c:v>0.56653909784533196</c:v>
              </c:pt>
              <c:pt idx="67">
                <c:v>0.52070003541919774</c:v>
              </c:pt>
              <c:pt idx="68">
                <c:v>0.44718374225777069</c:v>
              </c:pt>
              <c:pt idx="69">
                <c:v>-1.3344282270798737</c:v>
              </c:pt>
              <c:pt idx="70">
                <c:v>2.6384199313769505</c:v>
              </c:pt>
              <c:pt idx="71">
                <c:v>-1.4774430591060579</c:v>
              </c:pt>
              <c:pt idx="72">
                <c:v>-1.131413058563367</c:v>
              </c:pt>
              <c:pt idx="73">
                <c:v>-0.88447446600558288</c:v>
              </c:pt>
              <c:pt idx="74">
                <c:v>0.64123363809645872</c:v>
              </c:pt>
              <c:pt idx="75">
                <c:v>-0.86863208357889077</c:v>
              </c:pt>
              <c:pt idx="76">
                <c:v>0.704506279867809</c:v>
              </c:pt>
              <c:pt idx="77">
                <c:v>1.1326951875532063</c:v>
              </c:pt>
              <c:pt idx="78">
                <c:v>0.75616755507082489</c:v>
              </c:pt>
              <c:pt idx="79">
                <c:v>-0.6958760310499017</c:v>
              </c:pt>
              <c:pt idx="80">
                <c:v>-1.1307537881874283</c:v>
              </c:pt>
              <c:pt idx="81">
                <c:v>0.17213815215417289</c:v>
              </c:pt>
              <c:pt idx="82">
                <c:v>-0.69026022990604952</c:v>
              </c:pt>
              <c:pt idx="83">
                <c:v>0.84132021606553176</c:v>
              </c:pt>
              <c:pt idx="84">
                <c:v>1.5342699457585494</c:v>
              </c:pt>
              <c:pt idx="85">
                <c:v>0.60122580083396149</c:v>
              </c:pt>
              <c:pt idx="86">
                <c:v>-0.68520452218186301</c:v>
              </c:pt>
              <c:pt idx="87">
                <c:v>-0.94608991945032461</c:v>
              </c:pt>
              <c:pt idx="88">
                <c:v>0.89575982110076324</c:v>
              </c:pt>
              <c:pt idx="89">
                <c:v>0.68986714579576591</c:v>
              </c:pt>
              <c:pt idx="90">
                <c:v>-0.2439104451960884</c:v>
              </c:pt>
              <c:pt idx="91">
                <c:v>-0.11337361641348458</c:v>
              </c:pt>
              <c:pt idx="92">
                <c:v>2.3662118125849876</c:v>
              </c:pt>
              <c:pt idx="93">
                <c:v>-0.1541879942055292</c:v>
              </c:pt>
              <c:pt idx="94">
                <c:v>1.3594449628659449</c:v>
              </c:pt>
              <c:pt idx="95">
                <c:v>0.76689616952295636</c:v>
              </c:pt>
              <c:pt idx="96">
                <c:v>0.15161068733440006</c:v>
              </c:pt>
              <c:pt idx="97">
                <c:v>1.44303961249032</c:v>
              </c:pt>
              <c:pt idx="98">
                <c:v>1.0627577429283945</c:v>
              </c:pt>
              <c:pt idx="99">
                <c:v>-0.14474486151985205</c:v>
              </c:pt>
              <c:pt idx="100">
                <c:v>-0.20179147963502655</c:v>
              </c:pt>
              <c:pt idx="101">
                <c:v>0.390104065157175</c:v>
              </c:pt>
              <c:pt idx="102">
                <c:v>0.66259372593977472</c:v>
              </c:pt>
              <c:pt idx="103">
                <c:v>-0.98230348415642188</c:v>
              </c:pt>
              <c:pt idx="104">
                <c:v>-0.80225749861250606</c:v>
              </c:pt>
              <c:pt idx="105">
                <c:v>5.4689422564711425E-2</c:v>
              </c:pt>
              <c:pt idx="106">
                <c:v>1.648189829341292</c:v>
              </c:pt>
              <c:pt idx="107">
                <c:v>-1.3971808109084125</c:v>
              </c:pt>
              <c:pt idx="108">
                <c:v>-0.35392089038796604</c:v>
              </c:pt>
              <c:pt idx="109">
                <c:v>-0.55650616553118093</c:v>
              </c:pt>
              <c:pt idx="110">
                <c:v>-1.0504836088320706</c:v>
              </c:pt>
              <c:pt idx="111">
                <c:v>-4.0599781706084852E-2</c:v>
              </c:pt>
              <c:pt idx="112">
                <c:v>-1.0678599560304287</c:v>
              </c:pt>
              <c:pt idx="113">
                <c:v>-1.0119104328221991</c:v>
              </c:pt>
              <c:pt idx="114">
                <c:v>0.55858785855913851</c:v>
              </c:pt>
              <c:pt idx="115">
                <c:v>-0.53811483027491991</c:v>
              </c:pt>
              <c:pt idx="116">
                <c:v>1.1645543862832379</c:v>
              </c:pt>
              <c:pt idx="117">
                <c:v>-8.4120349534347438E-2</c:v>
              </c:pt>
              <c:pt idx="118">
                <c:v>2.6611656326092734</c:v>
              </c:pt>
              <c:pt idx="119">
                <c:v>9.9752012885115732E-2</c:v>
              </c:pt>
              <c:pt idx="120">
                <c:v>-1.0662848745528581</c:v>
              </c:pt>
              <c:pt idx="121">
                <c:v>-0.12283273797735185</c:v>
              </c:pt>
              <c:pt idx="122">
                <c:v>0.13261718728629313</c:v>
              </c:pt>
              <c:pt idx="123">
                <c:v>-1.990916863727862</c:v>
              </c:pt>
              <c:pt idx="124">
                <c:v>-0.97568075267514442</c:v>
              </c:pt>
              <c:pt idx="125">
                <c:v>1.6435379324964015</c:v>
              </c:pt>
              <c:pt idx="126">
                <c:v>0.85668473848436544</c:v>
              </c:pt>
              <c:pt idx="127">
                <c:v>1.1557294072675968</c:v>
              </c:pt>
              <c:pt idx="128">
                <c:v>-0.27220678426769673</c:v>
              </c:pt>
              <c:pt idx="129">
                <c:v>-1.1869087683624042</c:v>
              </c:pt>
              <c:pt idx="130">
                <c:v>0.28559616460724535</c:v>
              </c:pt>
              <c:pt idx="131">
                <c:v>1.8182075875149195</c:v>
              </c:pt>
              <c:pt idx="132">
                <c:v>-2.1231119620661212</c:v>
              </c:pt>
              <c:pt idx="133">
                <c:v>2.207080987299185</c:v>
              </c:pt>
              <c:pt idx="134">
                <c:v>-1.725792392880567</c:v>
              </c:pt>
              <c:pt idx="135">
                <c:v>0.775481677920143</c:v>
              </c:pt>
              <c:pt idx="136">
                <c:v>1.6554057132276601</c:v>
              </c:pt>
              <c:pt idx="137">
                <c:v>1.8161446789764539</c:v>
              </c:pt>
              <c:pt idx="138">
                <c:v>-0.64758021625904438</c:v>
              </c:pt>
              <c:pt idx="139">
                <c:v>0.56689277963197005</c:v>
              </c:pt>
              <c:pt idx="140">
                <c:v>-0.10413581413178835</c:v>
              </c:pt>
              <c:pt idx="141">
                <c:v>-1.4454105077284236</c:v>
              </c:pt>
              <c:pt idx="142">
                <c:v>-1.6815874268486513</c:v>
              </c:pt>
              <c:pt idx="143">
                <c:v>-0.15310892407210622</c:v>
              </c:pt>
              <c:pt idx="144">
                <c:v>0.88895676048045225</c:v>
              </c:pt>
              <c:pt idx="145">
                <c:v>-1.2300997010026964</c:v>
              </c:pt>
              <c:pt idx="146">
                <c:v>-0.72866702975975139</c:v>
              </c:pt>
              <c:pt idx="147">
                <c:v>-1.3541050441025855</c:v>
              </c:pt>
              <c:pt idx="148">
                <c:v>0.21411682405305713</c:v>
              </c:pt>
              <c:pt idx="149">
                <c:v>2.262246935347485</c:v>
              </c:pt>
              <c:pt idx="150">
                <c:v>1.561379025353697</c:v>
              </c:pt>
              <c:pt idx="151">
                <c:v>2.5345132409525895</c:v>
              </c:pt>
              <c:pt idx="152">
                <c:v>-1.031555145525765</c:v>
              </c:pt>
              <c:pt idx="153">
                <c:v>-0.69511758371768806</c:v>
              </c:pt>
              <c:pt idx="154">
                <c:v>-1.8030858884911554</c:v>
              </c:pt>
              <c:pt idx="155">
                <c:v>1.2288910639761061</c:v>
              </c:pt>
              <c:pt idx="156">
                <c:v>0.13303001055235011</c:v>
              </c:pt>
              <c:pt idx="157">
                <c:v>1.085166832481318</c:v>
              </c:pt>
              <c:pt idx="158">
                <c:v>-1.1078016753220741</c:v>
              </c:pt>
              <c:pt idx="159">
                <c:v>4.225253602703196E-2</c:v>
              </c:pt>
              <c:pt idx="160">
                <c:v>-0.57075760416488153</c:v>
              </c:pt>
              <c:pt idx="161">
                <c:v>-0.6673321636393631</c:v>
              </c:pt>
              <c:pt idx="162">
                <c:v>6.2037542392779393E-2</c:v>
              </c:pt>
              <c:pt idx="163">
                <c:v>0.22602572149021832</c:v>
              </c:pt>
              <c:pt idx="164">
                <c:v>-0.10364088401669316</c:v>
              </c:pt>
              <c:pt idx="165">
                <c:v>0.59730120166842238</c:v>
              </c:pt>
              <c:pt idx="166">
                <c:v>-0.51732289357174721</c:v>
              </c:pt>
              <c:pt idx="167">
                <c:v>2.2419669988666442</c:v>
              </c:pt>
              <c:pt idx="168">
                <c:v>0.54353590122103834</c:v>
              </c:pt>
              <c:pt idx="169">
                <c:v>2.1680630102668763</c:v>
              </c:pt>
              <c:pt idx="170">
                <c:v>-0.85304407941979465</c:v>
              </c:pt>
              <c:pt idx="171">
                <c:v>-0.19148266494038127</c:v>
              </c:pt>
              <c:pt idx="172">
                <c:v>0.67169015333024673</c:v>
              </c:pt>
              <c:pt idx="173">
                <c:v>-0.23342827785384052</c:v>
              </c:pt>
              <c:pt idx="174">
                <c:v>-1.4963043232124649</c:v>
              </c:pt>
              <c:pt idx="175">
                <c:v>0.25090755228605682</c:v>
              </c:pt>
              <c:pt idx="176">
                <c:v>-0.33222215496992441</c:v>
              </c:pt>
              <c:pt idx="177">
                <c:v>-0.79379521377026019</c:v>
              </c:pt>
              <c:pt idx="178">
                <c:v>-0.69269293567210666</c:v>
              </c:pt>
              <c:pt idx="179">
                <c:v>0.47909198885141929</c:v>
              </c:pt>
              <c:pt idx="180">
                <c:v>0.19669034776204111</c:v>
              </c:pt>
              <c:pt idx="181">
                <c:v>0.8835783940597246</c:v>
              </c:pt>
              <c:pt idx="182">
                <c:v>0.6572985475971338</c:v>
              </c:pt>
              <c:pt idx="183">
                <c:v>-1.444775283951151</c:v>
              </c:pt>
              <c:pt idx="184">
                <c:v>0.26454876840743191</c:v>
              </c:pt>
              <c:pt idx="185">
                <c:v>0.62757535186784874</c:v>
              </c:pt>
              <c:pt idx="186">
                <c:v>-0.6849731092838881</c:v>
              </c:pt>
              <c:pt idx="187">
                <c:v>6.9295497651327712E-2</c:v>
              </c:pt>
              <c:pt idx="188">
                <c:v>0.56253841365590629</c:v>
              </c:pt>
              <c:pt idx="189">
                <c:v>-0.77385392486414506</c:v>
              </c:pt>
              <c:pt idx="190">
                <c:v>0.67520396512505865</c:v>
              </c:pt>
              <c:pt idx="191">
                <c:v>-0.35842348118391981</c:v>
              </c:pt>
              <c:pt idx="192">
                <c:v>0.15933857144309815</c:v>
              </c:pt>
              <c:pt idx="193">
                <c:v>-1.996648911935226</c:v>
              </c:pt>
              <c:pt idx="194">
                <c:v>0.42801688956206307</c:v>
              </c:pt>
              <c:pt idx="195">
                <c:v>0.73361119536429276</c:v>
              </c:pt>
              <c:pt idx="196">
                <c:v>-0.63873924836521123</c:v>
              </c:pt>
              <c:pt idx="197">
                <c:v>0.59736636497299289</c:v>
              </c:pt>
              <c:pt idx="198">
                <c:v>1.0959455760261112</c:v>
              </c:pt>
              <c:pt idx="199">
                <c:v>-1.6451270414747438E-2</c:v>
              </c:pt>
              <c:pt idx="200">
                <c:v>-0.19121914772326093</c:v>
              </c:pt>
              <c:pt idx="201">
                <c:v>0.23880125560262525</c:v>
              </c:pt>
              <c:pt idx="202">
                <c:v>0.54977189193025455</c:v>
              </c:pt>
              <c:pt idx="203">
                <c:v>-9.7983966166940203E-2</c:v>
              </c:pt>
              <c:pt idx="204">
                <c:v>-1.3949956334812876</c:v>
              </c:pt>
              <c:pt idx="205">
                <c:v>-0.66578220998951076</c:v>
              </c:pt>
              <c:pt idx="206">
                <c:v>0.80380301825669676</c:v>
              </c:pt>
              <c:pt idx="207">
                <c:v>-1.6373984496949257</c:v>
              </c:pt>
              <c:pt idx="208">
                <c:v>1.2254604402593809</c:v>
              </c:pt>
              <c:pt idx="209">
                <c:v>7.5147492794593032E-3</c:v>
              </c:pt>
              <c:pt idx="210">
                <c:v>-0.24347357533136735</c:v>
              </c:pt>
              <c:pt idx="211">
                <c:v>-1.0902349053688787</c:v>
              </c:pt>
              <c:pt idx="212">
                <c:v>-0.49976513600531081</c:v>
              </c:pt>
              <c:pt idx="213">
                <c:v>1.4141570975050539</c:v>
              </c:pt>
              <c:pt idx="214">
                <c:v>0.60664420273154518</c:v>
              </c:pt>
              <c:pt idx="215">
                <c:v>-2.3074001896026739E-2</c:v>
              </c:pt>
              <c:pt idx="216">
                <c:v>-1.4145822859344832</c:v>
              </c:pt>
              <c:pt idx="217">
                <c:v>1.3644345526192834</c:v>
              </c:pt>
              <c:pt idx="218">
                <c:v>-0.58252620793986321</c:v>
              </c:pt>
              <c:pt idx="219">
                <c:v>-1.2501322357073761</c:v>
              </c:pt>
              <c:pt idx="220">
                <c:v>1.9450663908046351</c:v>
              </c:pt>
              <c:pt idx="221">
                <c:v>0.88289412241884047</c:v>
              </c:pt>
              <c:pt idx="222">
                <c:v>-0.73492706706763544</c:v>
              </c:pt>
              <c:pt idx="223">
                <c:v>1.123285113852954</c:v>
              </c:pt>
              <c:pt idx="224">
                <c:v>0.75380902499609537</c:v>
              </c:pt>
              <c:pt idx="225">
                <c:v>0.43302354942263638</c:v>
              </c:pt>
              <c:pt idx="226">
                <c:v>3.9555358377573083E-2</c:v>
              </c:pt>
              <c:pt idx="227">
                <c:v>-0.7080243991055154</c:v>
              </c:pt>
              <c:pt idx="228">
                <c:v>2.2120824366079362E-2</c:v>
              </c:pt>
              <c:pt idx="229">
                <c:v>0.5140773039379184</c:v>
              </c:pt>
              <c:pt idx="230">
                <c:v>-0.30470926449547697</c:v>
              </c:pt>
              <c:pt idx="231">
                <c:v>0.77435247869405643</c:v>
              </c:pt>
              <c:pt idx="232">
                <c:v>-1.4675630565556597</c:v>
              </c:pt>
              <c:pt idx="233">
                <c:v>-0.13897182316935455</c:v>
              </c:pt>
              <c:pt idx="234">
                <c:v>-0.62433152719114671</c:v>
              </c:pt>
              <c:pt idx="235">
                <c:v>-6.6610685165242822E-2</c:v>
              </c:pt>
              <c:pt idx="236">
                <c:v>2.0677351683791305</c:v>
              </c:pt>
              <c:pt idx="237">
                <c:v>0.5950408938836883</c:v>
              </c:pt>
              <c:pt idx="238">
                <c:v>-1.1547368779888718</c:v>
              </c:pt>
              <c:pt idx="239">
                <c:v>1.3319981903623512</c:v>
              </c:pt>
              <c:pt idx="240">
                <c:v>1.6154309349505878</c:v>
              </c:pt>
              <c:pt idx="241">
                <c:v>0.28632961067451357</c:v>
              </c:pt>
              <c:pt idx="242">
                <c:v>-0.18810121565003637</c:v>
              </c:pt>
              <c:pt idx="243">
                <c:v>-1.1587206186338299</c:v>
              </c:pt>
              <c:pt idx="244">
                <c:v>1.9027911427032036</c:v>
              </c:pt>
              <c:pt idx="245">
                <c:v>0.45590148659665919</c:v>
              </c:pt>
              <c:pt idx="246">
                <c:v>-1.0169250238404828</c:v>
              </c:pt>
              <c:pt idx="247">
                <c:v>-0.80109428573471309</c:v>
              </c:pt>
              <c:pt idx="248">
                <c:v>-0.96620456100404228</c:v>
              </c:pt>
              <c:pt idx="249">
                <c:v>-0.39271646690905904</c:v>
              </c:pt>
              <c:pt idx="250">
                <c:v>0.71215193056470183</c:v>
              </c:pt>
              <c:pt idx="251">
                <c:v>0.43838376450707878</c:v>
              </c:pt>
              <c:pt idx="252">
                <c:v>0.87437473199250182</c:v>
              </c:pt>
              <c:pt idx="253">
                <c:v>1.2311513717608402</c:v>
              </c:pt>
              <c:pt idx="254">
                <c:v>1.0864282676491064</c:v>
              </c:pt>
              <c:pt idx="255">
                <c:v>-1.3978821526565373</c:v>
              </c:pt>
              <c:pt idx="256">
                <c:v>-0.38590331267294037</c:v>
              </c:pt>
              <c:pt idx="257">
                <c:v>0.64938132196264486</c:v>
              </c:pt>
              <c:pt idx="258">
                <c:v>-5.497431733196103E-2</c:v>
              </c:pt>
              <c:pt idx="259">
                <c:v>0.40270624662197935</c:v>
              </c:pt>
              <c:pt idx="260">
                <c:v>-0.95469141672570135</c:v>
              </c:pt>
              <c:pt idx="261">
                <c:v>0.9865463080128386</c:v>
              </c:pt>
              <c:pt idx="262">
                <c:v>-1.4504662154526102</c:v>
              </c:pt>
              <c:pt idx="263">
                <c:v>-4.2917195074911707E-2</c:v>
              </c:pt>
              <c:pt idx="264">
                <c:v>-0.13387595340554487</c:v>
              </c:pt>
              <c:pt idx="265">
                <c:v>0.13600764896339518</c:v>
              </c:pt>
              <c:pt idx="266">
                <c:v>1.4800196822491105</c:v>
              </c:pt>
              <c:pt idx="267">
                <c:v>1.0112878451464977</c:v>
              </c:pt>
              <c:pt idx="268">
                <c:v>-8.3551243727922719E-2</c:v>
              </c:pt>
              <c:pt idx="269">
                <c:v>1.3226953513388497</c:v>
              </c:pt>
              <c:pt idx="270">
                <c:v>-0.89282856150479473</c:v>
              </c:pt>
              <c:pt idx="271">
                <c:v>0.38904904162241605</c:v>
              </c:pt>
              <c:pt idx="272">
                <c:v>0.43912622296110421</c:v>
              </c:pt>
              <c:pt idx="273">
                <c:v>-1.3126473848127902</c:v>
              </c:pt>
              <c:pt idx="274">
                <c:v>0.12550853807667767</c:v>
              </c:pt>
              <c:pt idx="275">
                <c:v>-4.3502289759522771E-2</c:v>
              </c:pt>
              <c:pt idx="276">
                <c:v>-1.4420210007175993</c:v>
              </c:pt>
              <c:pt idx="277">
                <c:v>0.53061309695502279</c:v>
              </c:pt>
              <c:pt idx="278">
                <c:v>-0.45009068431687205</c:v>
              </c:pt>
              <c:pt idx="279">
                <c:v>-1.2180916266092603</c:v>
              </c:pt>
              <c:pt idx="280">
                <c:v>-1.0753733707856197</c:v>
              </c:pt>
              <c:pt idx="281">
                <c:v>-4.4895960869011091E-2</c:v>
              </c:pt>
              <c:pt idx="282">
                <c:v>-0.27960503318842456</c:v>
              </c:pt>
              <c:pt idx="283">
                <c:v>-0.1631782681482952</c:v>
              </c:pt>
              <c:pt idx="284">
                <c:v>2.8728194876092733E-3</c:v>
              </c:pt>
              <c:pt idx="285">
                <c:v>-0.72641573436177642</c:v>
              </c:pt>
              <c:pt idx="286">
                <c:v>-8.8969645625506397E-2</c:v>
              </c:pt>
              <c:pt idx="287">
                <c:v>1.4683833144158287</c:v>
              </c:pt>
              <c:pt idx="288">
                <c:v>0.87930721616174756</c:v>
              </c:pt>
              <c:pt idx="289">
                <c:v>-3.8372406344008604E-2</c:v>
              </c:pt>
              <c:pt idx="290">
                <c:v>1.3394454871466923</c:v>
              </c:pt>
              <c:pt idx="291">
                <c:v>0.63259006944889984</c:v>
              </c:pt>
              <c:pt idx="292">
                <c:v>-0.89432140957055806</c:v>
              </c:pt>
              <c:pt idx="293">
                <c:v>-0.78358557603188983</c:v>
              </c:pt>
              <c:pt idx="294">
                <c:v>1.2520986363381013</c:v>
              </c:pt>
              <c:pt idx="295">
                <c:v>0.81228141853989988</c:v>
              </c:pt>
              <c:pt idx="296">
                <c:v>-0.3266805295173999</c:v>
              </c:pt>
              <c:pt idx="297">
                <c:v>0.98047561223074731</c:v>
              </c:pt>
              <c:pt idx="298">
                <c:v>-1.1340110592565473</c:v>
              </c:pt>
              <c:pt idx="299">
                <c:v>1.2936565538132179</c:v>
              </c:pt>
              <c:pt idx="300">
                <c:v>0.7100649754275703</c:v>
              </c:pt>
              <c:pt idx="301">
                <c:v>-1.574067747673203</c:v>
              </c:pt>
              <c:pt idx="302">
                <c:v>-0.54340099623080362</c:v>
              </c:pt>
              <c:pt idx="303">
                <c:v>-0.44560503706538784</c:v>
              </c:pt>
              <c:pt idx="304">
                <c:v>-0.83398446140083593</c:v>
              </c:pt>
              <c:pt idx="305">
                <c:v>-1.1158180779128399</c:v>
              </c:pt>
              <c:pt idx="306">
                <c:v>-1.2747505492860922</c:v>
              </c:pt>
              <c:pt idx="307">
                <c:v>0.41006337883680449</c:v>
              </c:pt>
              <c:pt idx="308">
                <c:v>-0.96904203231567687</c:v>
              </c:pt>
              <c:pt idx="309">
                <c:v>1.337886521110081</c:v>
              </c:pt>
              <c:pt idx="310">
                <c:v>-0.36441003422164497</c:v>
              </c:pt>
              <c:pt idx="311">
                <c:v>0.8600081275243362</c:v>
              </c:pt>
              <c:pt idx="312">
                <c:v>-1.1774746480634861</c:v>
              </c:pt>
              <c:pt idx="313">
                <c:v>-1.0055852322097445</c:v>
              </c:pt>
              <c:pt idx="314">
                <c:v>0.57697919381539764</c:v>
              </c:pt>
              <c:pt idx="315">
                <c:v>-0.6029464380828834</c:v>
              </c:pt>
              <c:pt idx="316">
                <c:v>-0.47325016348153331</c:v>
              </c:pt>
              <c:pt idx="317">
                <c:v>0.92796572512600195</c:v>
              </c:pt>
              <c:pt idx="318">
                <c:v>0.58998518615949991</c:v>
              </c:pt>
              <c:pt idx="319">
                <c:v>8.459390209931146E-2</c:v>
              </c:pt>
              <c:pt idx="320">
                <c:v>1.3961203987017123</c:v>
              </c:pt>
              <c:pt idx="321">
                <c:v>1.6414849910109746</c:v>
              </c:pt>
              <c:pt idx="322">
                <c:v>-0.69700618494226962</c:v>
              </c:pt>
              <c:pt idx="323">
                <c:v>-0.10604148546360673</c:v>
              </c:pt>
              <c:pt idx="324">
                <c:v>1.1327613055240562</c:v>
              </c:pt>
              <c:pt idx="325">
                <c:v>2.6402264257524939</c:v>
              </c:pt>
              <c:pt idx="326">
                <c:v>-0.8732749680370222</c:v>
              </c:pt>
              <c:pt idx="327">
                <c:v>0.18734639203263889</c:v>
              </c:pt>
              <c:pt idx="328">
                <c:v>-0.21682744809493473</c:v>
              </c:pt>
              <c:pt idx="329">
                <c:v>0.98977052009653632</c:v>
              </c:pt>
              <c:pt idx="330">
                <c:v>1.5180156947320833</c:v>
              </c:pt>
              <c:pt idx="331">
                <c:v>7.0194238645722731E-2</c:v>
              </c:pt>
              <c:pt idx="332">
                <c:v>-0.3373349682782037</c:v>
              </c:pt>
              <c:pt idx="333">
                <c:v>1.2450891640847608</c:v>
              </c:pt>
              <c:pt idx="334">
                <c:v>0.99348160457485146</c:v>
              </c:pt>
              <c:pt idx="335">
                <c:v>2.3159772674768848</c:v>
              </c:pt>
              <c:pt idx="336">
                <c:v>0.34065500454156139</c:v>
              </c:pt>
              <c:pt idx="337">
                <c:v>-2.7457295752045554</c:v>
              </c:pt>
              <c:pt idx="338">
                <c:v>0.97076896232795162</c:v>
              </c:pt>
              <c:pt idx="339">
                <c:v>2.8995517757552958</c:v>
              </c:pt>
              <c:pt idx="340">
                <c:v>-0.43316815052770652</c:v>
              </c:pt>
              <c:pt idx="341">
                <c:v>-8.8065743841360348E-3</c:v>
              </c:pt>
              <c:pt idx="342">
                <c:v>0.83782347437795657</c:v>
              </c:pt>
              <c:pt idx="343">
                <c:v>-1.0791916899406857</c:v>
              </c:pt>
              <c:pt idx="344">
                <c:v>-0.8987418935174718</c:v>
              </c:pt>
              <c:pt idx="345">
                <c:v>-0.49723325328297868</c:v>
              </c:pt>
              <c:pt idx="346">
                <c:v>1.4163924040248426</c:v>
              </c:pt>
              <c:pt idx="347">
                <c:v>-0.720923156772865</c:v>
              </c:pt>
              <c:pt idx="348">
                <c:v>0.36515707105676604</c:v>
              </c:pt>
              <c:pt idx="349">
                <c:v>-1.0766267482329286</c:v>
              </c:pt>
              <c:pt idx="350">
                <c:v>-0.45100745008478144</c:v>
              </c:pt>
              <c:pt idx="351">
                <c:v>0.39237338532866811</c:v>
              </c:pt>
              <c:pt idx="352">
                <c:v>-1.16188664390439</c:v>
              </c:pt>
              <c:pt idx="353">
                <c:v>-0.29809459073467914</c:v>
              </c:pt>
              <c:pt idx="354">
                <c:v>-0.67039203546221726</c:v>
              </c:pt>
              <c:pt idx="355">
                <c:v>-0.77870322095530398</c:v>
              </c:pt>
              <c:pt idx="356">
                <c:v>1.2944400024103788</c:v>
              </c:pt>
              <c:pt idx="357">
                <c:v>9.1867846236051778E-2</c:v>
              </c:pt>
              <c:pt idx="358">
                <c:v>0.63183162211668431</c:v>
              </c:pt>
              <c:pt idx="359">
                <c:v>-1.0306734746386086</c:v>
              </c:pt>
              <c:pt idx="360">
                <c:v>-0.28260684476090459</c:v>
              </c:pt>
              <c:pt idx="361">
                <c:v>-9.7843799067527867E-2</c:v>
              </c:pt>
              <c:pt idx="362">
                <c:v>0.85299865527099761</c:v>
              </c:pt>
              <c:pt idx="363">
                <c:v>-2.1297176234401598</c:v>
              </c:pt>
              <c:pt idx="364">
                <c:v>-0.66459495051305195</c:v>
              </c:pt>
              <c:pt idx="365">
                <c:v>-1.5152317052897257</c:v>
              </c:pt>
              <c:pt idx="366">
                <c:v>0.73696764338968845</c:v>
              </c:pt>
              <c:pt idx="367">
                <c:v>-1.578298890094326</c:v>
              </c:pt>
              <c:pt idx="368">
                <c:v>-0.35636152731173559</c:v>
              </c:pt>
              <c:pt idx="369">
                <c:v>0.16346247918746845</c:v>
              </c:pt>
              <c:pt idx="370">
                <c:v>-0.98705360329130776</c:v>
              </c:pt>
              <c:pt idx="371">
                <c:v>1.0120964215713748</c:v>
              </c:pt>
              <c:pt idx="372">
                <c:v>1.8197655988852515</c:v>
              </c:pt>
              <c:pt idx="373">
                <c:v>0.10484883731520679</c:v>
              </c:pt>
              <c:pt idx="374">
                <c:v>-1.3064444530889989</c:v>
              </c:pt>
              <c:pt idx="375">
                <c:v>2.1025631196962169</c:v>
              </c:pt>
              <c:pt idx="376">
                <c:v>-2.2446104237086235</c:v>
              </c:pt>
              <c:pt idx="377">
                <c:v>-0.44120162322570899</c:v>
              </c:pt>
              <c:pt idx="378">
                <c:v>-1.949770814852519</c:v>
              </c:pt>
              <c:pt idx="379">
                <c:v>-0.64900694635395584</c:v>
              </c:pt>
              <c:pt idx="380">
                <c:v>-0.39715293973416099</c:v>
              </c:pt>
              <c:pt idx="381">
                <c:v>0.10531070844487513</c:v>
              </c:pt>
              <c:pt idx="382">
                <c:v>0.41791448650044533</c:v>
              </c:pt>
              <c:pt idx="383">
                <c:v>-1.5510665869442357</c:v>
              </c:pt>
              <c:pt idx="384">
                <c:v>0.89504236391168512</c:v>
              </c:pt>
              <c:pt idx="385">
                <c:v>-1.2152471788061947</c:v>
              </c:pt>
              <c:pt idx="386">
                <c:v>-1.3119289729574308</c:v>
              </c:pt>
              <c:pt idx="387">
                <c:v>-0.80713985368909003</c:v>
              </c:pt>
              <c:pt idx="388">
                <c:v>-2.0387678774962876</c:v>
              </c:pt>
              <c:pt idx="389">
                <c:v>-0.37933071028432469</c:v>
              </c:pt>
              <c:pt idx="390">
                <c:v>4.7011667548673162E-2</c:v>
              </c:pt>
              <c:pt idx="391">
                <c:v>-0.9589636758527269</c:v>
              </c:pt>
              <c:pt idx="392">
                <c:v>-1.1876351113754742</c:v>
              </c:pt>
              <c:pt idx="393">
                <c:v>-2.3469755054845109E-2</c:v>
              </c:pt>
              <c:pt idx="394">
                <c:v>-0.27308953638389788</c:v>
              </c:pt>
              <c:pt idx="395">
                <c:v>-0.58189098416259233</c:v>
              </c:pt>
              <c:pt idx="396">
                <c:v>-0.78106175103003539</c:v>
              </c:pt>
              <c:pt idx="397">
                <c:v>-0.42618272487303382</c:v>
              </c:pt>
              <c:pt idx="398">
                <c:v>0.45786426351257037</c:v>
              </c:pt>
              <c:pt idx="399">
                <c:v>1.001003077050522</c:v>
              </c:pt>
              <c:pt idx="400">
                <c:v>-1.7001521147525149</c:v>
              </c:pt>
              <c:pt idx="401">
                <c:v>4.023157229798139E-2</c:v>
              </c:pt>
              <c:pt idx="402">
                <c:v>-0.1416198263924312</c:v>
              </c:pt>
              <c:pt idx="403">
                <c:v>1.7317264187152968</c:v>
              </c:pt>
              <c:pt idx="404">
                <c:v>-0.62632736309248094</c:v>
              </c:pt>
              <c:pt idx="405">
                <c:v>-1.1186636069449523</c:v>
              </c:pt>
              <c:pt idx="406">
                <c:v>1.7310160645804149</c:v>
              </c:pt>
              <c:pt idx="407">
                <c:v>-0.46800511423155411</c:v>
              </c:pt>
              <c:pt idx="408">
                <c:v>1.1341880356189675</c:v>
              </c:pt>
              <c:pt idx="409">
                <c:v>-0.97785799894455894</c:v>
              </c:pt>
              <c:pt idx="410">
                <c:v>-0.80645558204820211</c:v>
              </c:pt>
              <c:pt idx="411">
                <c:v>0.34630386467083668</c:v>
              </c:pt>
              <c:pt idx="412">
                <c:v>-0.28701927098734059</c:v>
              </c:pt>
              <c:pt idx="413">
                <c:v>0.97958492895683369</c:v>
              </c:pt>
              <c:pt idx="414">
                <c:v>5.3831798276220963E-2</c:v>
              </c:pt>
              <c:pt idx="415">
                <c:v>1.0474102906167977</c:v>
              </c:pt>
              <c:pt idx="416">
                <c:v>-0.82004666907691737</c:v>
              </c:pt>
              <c:pt idx="417">
                <c:v>0.53184242780366375</c:v>
              </c:pt>
              <c:pt idx="418">
                <c:v>1.2980028620688058</c:v>
              </c:pt>
              <c:pt idx="419">
                <c:v>-0.58617117444732836</c:v>
              </c:pt>
              <c:pt idx="420">
                <c:v>0.87134791915507459</c:v>
              </c:pt>
              <c:pt idx="421">
                <c:v>8.3299407946098081E-2</c:v>
              </c:pt>
              <c:pt idx="422">
                <c:v>-0.11248185191052439</c:v>
              </c:pt>
              <c:pt idx="423">
                <c:v>-1.6052176734974033</c:v>
              </c:pt>
              <c:pt idx="424">
                <c:v>-0.84733715904014706</c:v>
              </c:pt>
              <c:pt idx="425">
                <c:v>0.21533714251494288</c:v>
              </c:pt>
              <c:pt idx="426">
                <c:v>-0.47432225712352716</c:v>
              </c:pt>
              <c:pt idx="427">
                <c:v>-0.64864425218055866</c:v>
              </c:pt>
              <c:pt idx="428">
                <c:v>-0.92126519423857889</c:v>
              </c:pt>
              <c:pt idx="429">
                <c:v>-0.5196483646610518</c:v>
              </c:pt>
              <c:pt idx="430">
                <c:v>0.46427252564034061</c:v>
              </c:pt>
              <c:pt idx="431">
                <c:v>0.4544086385308978</c:v>
              </c:pt>
              <c:pt idx="432">
                <c:v>1.513545081692506</c:v>
              </c:pt>
              <c:pt idx="433">
                <c:v>1.4839452360809309</c:v>
              </c:pt>
              <c:pt idx="434">
                <c:v>-0.87657335581204754</c:v>
              </c:pt>
              <c:pt idx="435">
                <c:v>-5.8669412932086093E-2</c:v>
              </c:pt>
              <c:pt idx="436">
                <c:v>0.50478239607213127</c:v>
              </c:pt>
              <c:pt idx="437">
                <c:v>0.22984404064528424</c:v>
              </c:pt>
              <c:pt idx="438">
                <c:v>1.8730590611499267</c:v>
              </c:pt>
              <c:pt idx="439">
                <c:v>-0.6044713904677903</c:v>
              </c:pt>
              <c:pt idx="440">
                <c:v>-0.32483291843595374</c:v>
              </c:pt>
              <c:pt idx="441">
                <c:v>1.3450783583977812</c:v>
              </c:pt>
              <c:pt idx="442">
                <c:v>-0.28329111640179055</c:v>
              </c:pt>
              <c:pt idx="443">
                <c:v>-2.2574841801110277</c:v>
              </c:pt>
              <c:pt idx="444">
                <c:v>-1.1409634259257968</c:v>
              </c:pt>
              <c:pt idx="445">
                <c:v>-0.20263311504532691</c:v>
              </c:pt>
              <c:pt idx="446">
                <c:v>4.1642313514706458E-2</c:v>
              </c:pt>
              <c:pt idx="447">
                <c:v>-0.32203656383021995</c:v>
              </c:pt>
              <c:pt idx="448">
                <c:v>-0.80973785438227208</c:v>
              </c:pt>
              <c:pt idx="449">
                <c:v>1.7642529455417446</c:v>
              </c:pt>
              <c:pt idx="450">
                <c:v>0.83346009601513371</c:v>
              </c:pt>
              <c:pt idx="451">
                <c:v>0.76551151080022706</c:v>
              </c:pt>
              <c:pt idx="452">
                <c:v>-0.68926231195538146</c:v>
              </c:pt>
              <c:pt idx="453">
                <c:v>-1.4408337412411423</c:v>
              </c:pt>
              <c:pt idx="454">
                <c:v>-0.93444453923028559</c:v>
              </c:pt>
              <c:pt idx="455">
                <c:v>1.0414227829127931</c:v>
              </c:pt>
              <c:pt idx="456">
                <c:v>0.92836147828482218</c:v>
              </c:pt>
              <c:pt idx="457">
                <c:v>-1.4064676610537239</c:v>
              </c:pt>
              <c:pt idx="458">
                <c:v>4.1617312249757288E-2</c:v>
              </c:pt>
              <c:pt idx="459">
                <c:v>-0.53541765262546293</c:v>
              </c:pt>
              <c:pt idx="460">
                <c:v>0.21601348299811646</c:v>
              </c:pt>
              <c:pt idx="461">
                <c:v>0.13772194287409284</c:v>
              </c:pt>
              <c:pt idx="462">
                <c:v>0.67595435473679466</c:v>
              </c:pt>
              <c:pt idx="463">
                <c:v>0.43224803198318412</c:v>
              </c:pt>
              <c:pt idx="464">
                <c:v>7.0862521408418616E-2</c:v>
              </c:pt>
              <c:pt idx="465">
                <c:v>0.9203120167086315</c:v>
              </c:pt>
              <c:pt idx="466">
                <c:v>1.1078954636064078</c:v>
              </c:pt>
              <c:pt idx="467">
                <c:v>0.47171189126697111</c:v>
              </c:pt>
              <c:pt idx="468">
                <c:v>0.67922063819267453</c:v>
              </c:pt>
              <c:pt idx="469">
                <c:v>-0.40663718912574082</c:v>
              </c:pt>
              <c:pt idx="470">
                <c:v>-1.4087270141721786</c:v>
              </c:pt>
              <c:pt idx="471">
                <c:v>0.68463002770349912</c:v>
              </c:pt>
              <c:pt idx="472">
                <c:v>-1.3657504243226262</c:v>
              </c:pt>
              <c:pt idx="473">
                <c:v>0.37303317998535412</c:v>
              </c:pt>
              <c:pt idx="474">
                <c:v>-0.80790731340806266</c:v>
              </c:pt>
              <c:pt idx="475">
                <c:v>0.13474525912932728</c:v>
              </c:pt>
              <c:pt idx="476">
                <c:v>1.9598698651375199</c:v>
              </c:pt>
              <c:pt idx="477">
                <c:v>0.96584549054546509</c:v>
              </c:pt>
              <c:pt idx="478">
                <c:v>-1.0913571281035361</c:v>
              </c:pt>
              <c:pt idx="479">
                <c:v>-0.50534787816373794</c:v>
              </c:pt>
              <c:pt idx="480">
                <c:v>1.3222915404595519</c:v>
              </c:pt>
              <c:pt idx="481">
                <c:v>-1.4692373149895013</c:v>
              </c:pt>
              <c:pt idx="482">
                <c:v>1.4280646191816211E-3</c:v>
              </c:pt>
              <c:pt idx="483">
                <c:v>0.45746851035375008</c:v>
              </c:pt>
              <c:pt idx="484">
                <c:v>-0.92926560795115631</c:v>
              </c:pt>
              <c:pt idx="485">
                <c:v>-0.95557416884190627</c:v>
              </c:pt>
              <c:pt idx="486">
                <c:v>-0.79416692033041081</c:v>
              </c:pt>
              <c:pt idx="487">
                <c:v>-0.59465750588823829</c:v>
              </c:pt>
              <c:pt idx="488">
                <c:v>-1.8154566570579849</c:v>
              </c:pt>
              <c:pt idx="489">
                <c:v>1.1352851305259088</c:v>
              </c:pt>
              <c:pt idx="490">
                <c:v>0.80790998245659751</c:v>
              </c:pt>
              <c:pt idx="491">
                <c:v>0.80309374535086353</c:v>
              </c:pt>
              <c:pt idx="492">
                <c:v>-0.63388189455357458</c:v>
              </c:pt>
              <c:pt idx="493">
                <c:v>0.37106944840316353</c:v>
              </c:pt>
              <c:pt idx="494">
                <c:v>-0.33756650773894381</c:v>
              </c:pt>
              <c:pt idx="495">
                <c:v>-0.2401171273059679</c:v>
              </c:pt>
              <c:pt idx="496">
                <c:v>-1.0274421184951999E-2</c:v>
              </c:pt>
              <c:pt idx="497">
                <c:v>-0.22448007528325856</c:v>
              </c:pt>
              <c:pt idx="498">
                <c:v>-0.96842279741659232</c:v>
              </c:pt>
              <c:pt idx="499">
                <c:v>0.77678518446011546</c:v>
              </c:pt>
              <c:pt idx="500">
                <c:v>0.51594991628431186</c:v>
              </c:pt>
              <c:pt idx="501">
                <c:v>0.43071406721152006</c:v>
              </c:pt>
              <c:pt idx="502">
                <c:v>-0.69258570099535399</c:v>
              </c:pt>
              <c:pt idx="503">
                <c:v>2.2872029418346527</c:v>
              </c:pt>
              <c:pt idx="504">
                <c:v>-1.1171786900369014</c:v>
              </c:pt>
              <c:pt idx="505">
                <c:v>-0.91371066277748336</c:v>
              </c:pt>
              <c:pt idx="506">
                <c:v>0.51425065658552294</c:v>
              </c:pt>
              <c:pt idx="507">
                <c:v>-0.83867747495163092</c:v>
              </c:pt>
              <c:pt idx="508">
                <c:v>-0.16192489070098637</c:v>
              </c:pt>
              <c:pt idx="509">
                <c:v>-0.18683172276177029</c:v>
              </c:pt>
              <c:pt idx="510">
                <c:v>-1.5675522508686783</c:v>
              </c:pt>
              <c:pt idx="511">
                <c:v>1.4091263910458147</c:v>
              </c:pt>
              <c:pt idx="512">
                <c:v>-0.92234630026733366</c:v>
              </c:pt>
              <c:pt idx="513">
                <c:v>0.80317585219990362</c:v>
              </c:pt>
              <c:pt idx="514">
                <c:v>0.79959700366329023</c:v>
              </c:pt>
              <c:pt idx="515">
                <c:v>-1.3524388433892214</c:v>
              </c:pt>
              <c:pt idx="516">
                <c:v>-0.3712722363213749</c:v>
              </c:pt>
              <c:pt idx="517">
                <c:v>-0.77523953825315384</c:v>
              </c:pt>
              <c:pt idx="518">
                <c:v>-0.90431765918446794</c:v>
              </c:pt>
              <c:pt idx="519">
                <c:v>0.50646566689273198</c:v>
              </c:pt>
              <c:pt idx="520">
                <c:v>4.2681348171275307E-2</c:v>
              </c:pt>
              <c:pt idx="521">
                <c:v>0.2847385403187549</c:v>
              </c:pt>
              <c:pt idx="522">
                <c:v>-0.43975782302356081</c:v>
              </c:pt>
              <c:pt idx="523">
                <c:v>-4.8854573686258375E-2</c:v>
              </c:pt>
              <c:pt idx="524">
                <c:v>1.0759791592922834</c:v>
              </c:pt>
              <c:pt idx="525">
                <c:v>-0.82035225766621989</c:v>
              </c:pt>
              <c:pt idx="526">
                <c:v>-8.084613492075518E-2</c:v>
              </c:pt>
              <c:pt idx="527">
                <c:v>-0.45382785128918113</c:v>
              </c:pt>
              <c:pt idx="528">
                <c:v>-0.25362515281936548</c:v>
              </c:pt>
              <c:pt idx="529">
                <c:v>-0.48896139119557219</c:v>
              </c:pt>
              <c:pt idx="530">
                <c:v>-0.44734541347008133</c:v>
              </c:pt>
              <c:pt idx="531">
                <c:v>0.62826876245826102</c:v>
              </c:pt>
              <c:pt idx="532">
                <c:v>-0.55164881171954239</c:v>
              </c:pt>
              <c:pt idx="533">
                <c:v>1.4936699107572426</c:v>
              </c:pt>
              <c:pt idx="534">
                <c:v>1.0780491708849471</c:v>
              </c:pt>
              <c:pt idx="535">
                <c:v>-0.48016947116535413</c:v>
              </c:pt>
              <c:pt idx="536">
                <c:v>0.31352885483917708</c:v>
              </c:pt>
              <c:pt idx="537">
                <c:v>0.25902313183309561</c:v>
              </c:pt>
              <c:pt idx="538">
                <c:v>0.14125174354709491</c:v>
              </c:pt>
              <c:pt idx="539">
                <c:v>2.3621730152318426E-2</c:v>
              </c:pt>
              <c:pt idx="540">
                <c:v>-1.2326977016958784</c:v>
              </c:pt>
              <c:pt idx="541">
                <c:v>-1.1428690972576152</c:v>
              </c:pt>
              <c:pt idx="542">
                <c:v>-1.1472234632336791</c:v>
              </c:pt>
              <c:pt idx="543">
                <c:v>-1.9383077996668419</c:v>
              </c:pt>
              <c:pt idx="544">
                <c:v>1.6770963909252239</c:v>
              </c:pt>
              <c:pt idx="545">
                <c:v>0.18923499325722051</c:v>
              </c:pt>
              <c:pt idx="546">
                <c:v>0.28179383433036764</c:v>
              </c:pt>
              <c:pt idx="547">
                <c:v>-0.70422206882863769</c:v>
              </c:pt>
              <c:pt idx="548">
                <c:v>-0.40440188260595211</c:v>
              </c:pt>
              <c:pt idx="549">
                <c:v>0.96365130073157901</c:v>
              </c:pt>
              <c:pt idx="550">
                <c:v>0.39219102029430647</c:v>
              </c:pt>
              <c:pt idx="551">
                <c:v>0.46065160573154512</c:v>
              </c:pt>
              <c:pt idx="552">
                <c:v>0.31899738582942061</c:v>
              </c:pt>
              <c:pt idx="553">
                <c:v>1.0438063142524698</c:v>
              </c:pt>
              <c:pt idx="554">
                <c:v>0.29957507363706654</c:v>
              </c:pt>
              <c:pt idx="555">
                <c:v>-1.2138114363245243</c:v>
              </c:pt>
              <c:pt idx="556">
                <c:v>-1.3762325916648741</c:v>
              </c:pt>
              <c:pt idx="557">
                <c:v>-0.58142911303292022</c:v>
              </c:pt>
              <c:pt idx="558">
                <c:v>-1.3526632797957652</c:v>
              </c:pt>
              <c:pt idx="559">
                <c:v>-0.91691082826251502</c:v>
              </c:pt>
              <c:pt idx="560">
                <c:v>3.7294891098183652E-3</c:v>
              </c:pt>
              <c:pt idx="561">
                <c:v>-0.38893012551036765</c:v>
              </c:pt>
              <c:pt idx="562">
                <c:v>0.57211282761700188</c:v>
              </c:pt>
              <c:pt idx="563">
                <c:v>-0.37183328440732194</c:v>
              </c:pt>
              <c:pt idx="564">
                <c:v>-0.42255482847280723</c:v>
              </c:pt>
              <c:pt idx="565">
                <c:v>-0.15812256042410869</c:v>
              </c:pt>
              <c:pt idx="566">
                <c:v>-1.0495507276232077</c:v>
              </c:pt>
              <c:pt idx="567">
                <c:v>2.946894419414545E-2</c:v>
              </c:pt>
              <c:pt idx="568">
                <c:v>-1.5665873919034352</c:v>
              </c:pt>
              <c:pt idx="569">
                <c:v>0.22530033314342776</c:v>
              </c:pt>
              <c:pt idx="570">
                <c:v>-0.70340651591232939</c:v>
              </c:pt>
              <c:pt idx="571">
                <c:v>-0.32390917617661336</c:v>
              </c:pt>
              <c:pt idx="572">
                <c:v>0.19829043050455511</c:v>
              </c:pt>
              <c:pt idx="573">
                <c:v>-1.5303738271973397</c:v>
              </c:pt>
              <c:pt idx="574">
                <c:v>8.7521537980463818E-2</c:v>
              </c:pt>
              <c:pt idx="575">
                <c:v>-0.74783388245546278</c:v>
              </c:pt>
              <c:pt idx="576">
                <c:v>0.18129276635778241</c:v>
              </c:pt>
              <c:pt idx="577">
                <c:v>-1.5677175457958032</c:v>
              </c:pt>
              <c:pt idx="578">
                <c:v>-0.71734430823625173</c:v>
              </c:pt>
              <c:pt idx="579">
                <c:v>-0.35304619599224257</c:v>
              </c:pt>
              <c:pt idx="580">
                <c:v>0.13941327141517312</c:v>
              </c:pt>
              <c:pt idx="581">
                <c:v>-0.32606129461831529</c:v>
              </c:pt>
              <c:pt idx="582">
                <c:v>0.81027752491808602</c:v>
              </c:pt>
              <c:pt idx="583">
                <c:v>-1.2483678127040148</c:v>
              </c:pt>
              <c:pt idx="584">
                <c:v>-0.15390043038974294</c:v>
              </c:pt>
              <c:pt idx="585">
                <c:v>-1.1320482823406399</c:v>
              </c:pt>
              <c:pt idx="586">
                <c:v>-1.5902077875314853</c:v>
              </c:pt>
              <c:pt idx="587">
                <c:v>-0.24949414202079698</c:v>
              </c:pt>
              <c:pt idx="588">
                <c:v>0.31986306783838686</c:v>
              </c:pt>
              <c:pt idx="589">
                <c:v>-0.5684811809391902</c:v>
              </c:pt>
              <c:pt idx="590">
                <c:v>0.1096410278222711</c:v>
              </c:pt>
              <c:pt idx="591">
                <c:v>0.29320780165243365</c:v>
              </c:pt>
              <c:pt idx="592">
                <c:v>0.96055836992330179</c:v>
              </c:pt>
              <c:pt idx="593">
                <c:v>0.61103162769303387</c:v>
              </c:pt>
              <c:pt idx="594">
                <c:v>-0.48693249630881108</c:v>
              </c:pt>
              <c:pt idx="595">
                <c:v>0.12860146888495494</c:v>
              </c:pt>
              <c:pt idx="596">
                <c:v>-7.979003015694959E-2</c:v>
              </c:pt>
              <c:pt idx="597">
                <c:v>0.1496148514330658</c:v>
              </c:pt>
              <c:pt idx="598">
                <c:v>0.75758527277897914</c:v>
              </c:pt>
              <c:pt idx="599">
                <c:v>-0.90177676407537866</c:v>
              </c:pt>
              <c:pt idx="600">
                <c:v>-1.3298253780985965</c:v>
              </c:pt>
              <c:pt idx="601">
                <c:v>-1.5547115534517009</c:v>
              </c:pt>
              <c:pt idx="602">
                <c:v>0.52412260141544531</c:v>
              </c:pt>
              <c:pt idx="603">
                <c:v>-0.45579062820509042</c:v>
              </c:pt>
              <c:pt idx="604">
                <c:v>-0.21134184699745823</c:v>
              </c:pt>
              <c:pt idx="605">
                <c:v>-1.5366498533834101</c:v>
              </c:pt>
              <c:pt idx="606">
                <c:v>-1.2683832773014556</c:v>
              </c:pt>
              <c:pt idx="607">
                <c:v>0.47865524554946165</c:v>
              </c:pt>
              <c:pt idx="608">
                <c:v>-0.89392565641173594</c:v>
              </c:pt>
              <c:pt idx="609">
                <c:v>0.35764365630157502</c:v>
              </c:pt>
              <c:pt idx="610">
                <c:v>1.1326290695823562</c:v>
              </c:pt>
              <c:pt idx="611">
                <c:v>1.1265102806029312</c:v>
              </c:pt>
              <c:pt idx="612">
                <c:v>-0.97422096359480803</c:v>
              </c:pt>
              <c:pt idx="613">
                <c:v>0.83170373073225201</c:v>
              </c:pt>
              <c:pt idx="614">
                <c:v>1.0624782368330858</c:v>
              </c:pt>
              <c:pt idx="615">
                <c:v>1.3554863500486996</c:v>
              </c:pt>
              <c:pt idx="616">
                <c:v>0.38840576012466366</c:v>
              </c:pt>
              <c:pt idx="617">
                <c:v>2.6049606499044033</c:v>
              </c:pt>
              <c:pt idx="618">
                <c:v>0.52891383725623198</c:v>
              </c:pt>
              <c:pt idx="619">
                <c:v>-0.62054626702150395</c:v>
              </c:pt>
              <c:pt idx="620">
                <c:v>2.1857307148959025E-2</c:v>
              </c:pt>
              <c:pt idx="621">
                <c:v>-0.75487641369422642</c:v>
              </c:pt>
              <c:pt idx="622">
                <c:v>1.1699237403172082</c:v>
              </c:pt>
              <c:pt idx="623">
                <c:v>0.43381505574027501</c:v>
              </c:pt>
              <c:pt idx="624">
                <c:v>0.21790208422269997</c:v>
              </c:pt>
              <c:pt idx="625">
                <c:v>0.99768774573102526</c:v>
              </c:pt>
              <c:pt idx="626">
                <c:v>1.4699172791874928</c:v>
              </c:pt>
              <c:pt idx="627">
                <c:v>7.1084921919636279E-2</c:v>
              </c:pt>
              <c:pt idx="628">
                <c:v>0.30798722938665252</c:v>
              </c:pt>
              <c:pt idx="629">
                <c:v>-0.5231541187353842</c:v>
              </c:pt>
              <c:pt idx="630">
                <c:v>1.2894994605206573</c:v>
              </c:pt>
              <c:pt idx="631">
                <c:v>-1.8368338150085377</c:v>
              </c:pt>
              <c:pt idx="632">
                <c:v>-0.17509617797221544</c:v>
              </c:pt>
              <c:pt idx="633">
                <c:v>-0.96992370320283328</c:v>
              </c:pt>
              <c:pt idx="634">
                <c:v>7.7525288366552064E-2</c:v>
              </c:pt>
              <c:pt idx="635">
                <c:v>-0.18093437962728154</c:v>
              </c:pt>
              <c:pt idx="636">
                <c:v>-0.78066599787121516</c:v>
              </c:pt>
              <c:pt idx="637">
                <c:v>-2.282660011986366E-2</c:v>
              </c:pt>
              <c:pt idx="638">
                <c:v>-5.3547587237047736E-2</c:v>
              </c:pt>
              <c:pt idx="639">
                <c:v>2.2915823090756637</c:v>
              </c:pt>
              <c:pt idx="640">
                <c:v>2.1722449782616207</c:v>
              </c:pt>
              <c:pt idx="641">
                <c:v>-1.5612852370693651</c:v>
              </c:pt>
              <c:pt idx="642">
                <c:v>-1.1892682531034151</c:v>
              </c:pt>
              <c:pt idx="643">
                <c:v>-0.19710747847099061</c:v>
              </c:pt>
              <c:pt idx="644">
                <c:v>0.82405903470163877</c:v>
              </c:pt>
              <c:pt idx="645">
                <c:v>0.45308108539225944</c:v>
              </c:pt>
              <c:pt idx="646">
                <c:v>-2.6467212287349664</c:v>
              </c:pt>
              <c:pt idx="647">
                <c:v>0.10611928486975238</c:v>
              </c:pt>
              <c:pt idx="648">
                <c:v>0.89661744538925181</c:v>
              </c:pt>
              <c:pt idx="649">
                <c:v>1.3041967814058379</c:v>
              </c:pt>
              <c:pt idx="650">
                <c:v>0.8237293995136703</c:v>
              </c:pt>
              <c:pt idx="651">
                <c:v>-0.4134402497460537</c:v>
              </c:pt>
              <c:pt idx="652">
                <c:v>0.89543018591279488</c:v>
              </c:pt>
              <c:pt idx="653">
                <c:v>-0.15590432401155677</c:v>
              </c:pt>
              <c:pt idx="654">
                <c:v>-0.35574337364169767</c:v>
              </c:pt>
              <c:pt idx="655">
                <c:v>0.56353633160657246</c:v>
              </c:pt>
              <c:pt idx="656">
                <c:v>0.27526234864765464</c:v>
              </c:pt>
              <c:pt idx="657">
                <c:v>0.69166558245083165</c:v>
              </c:pt>
              <c:pt idx="658">
                <c:v>-0.54231291371061785</c:v>
              </c:pt>
              <c:pt idx="659">
                <c:v>-0.57762678275604251</c:v>
              </c:pt>
              <c:pt idx="660">
                <c:v>0.28896067035312062</c:v>
              </c:pt>
              <c:pt idx="661">
                <c:v>0.37696679153765228</c:v>
              </c:pt>
              <c:pt idx="662">
                <c:v>0.99861148799036559</c:v>
              </c:pt>
              <c:pt idx="663">
                <c:v>-2.5539766647507005E-2</c:v>
              </c:pt>
              <c:pt idx="664">
                <c:v>0.26374920436931371</c:v>
              </c:pt>
              <c:pt idx="665">
                <c:v>-0.2190286144002499</c:v>
              </c:pt>
              <c:pt idx="666">
                <c:v>0.31373526647220462</c:v>
              </c:pt>
              <c:pt idx="667">
                <c:v>9.6898552695291018E-2</c:v>
              </c:pt>
              <c:pt idx="668">
                <c:v>-1.2230982864698337</c:v>
              </c:pt>
              <c:pt idx="669">
                <c:v>-1.1684021407089147</c:v>
              </c:pt>
              <c:pt idx="670">
                <c:v>0.22761774651225461</c:v>
              </c:pt>
              <c:pt idx="671">
                <c:v>0.20836878696750694</c:v>
              </c:pt>
              <c:pt idx="672">
                <c:v>0.8128094076404182</c:v>
              </c:pt>
              <c:pt idx="673">
                <c:v>0.71654741324667015</c:v>
              </c:pt>
              <c:pt idx="674">
                <c:v>-1.1126920881191376</c:v>
              </c:pt>
              <c:pt idx="675">
                <c:v>0.20123405526389757</c:v>
              </c:pt>
              <c:pt idx="676">
                <c:v>-0.81462020945885782</c:v>
              </c:pt>
              <c:pt idx="677">
                <c:v>0.15648606591955483</c:v>
              </c:pt>
              <c:pt idx="678">
                <c:v>1.158038889478713</c:v>
              </c:pt>
              <c:pt idx="679">
                <c:v>0.10621846182602543</c:v>
              </c:pt>
              <c:pt idx="680">
                <c:v>-0.57823795993464755</c:v>
              </c:pt>
              <c:pt idx="681">
                <c:v>-0.19577992533235414</c:v>
              </c:pt>
              <c:pt idx="682">
                <c:v>-1.0543840348361784</c:v>
              </c:pt>
              <c:pt idx="683">
                <c:v>-0.80960561844057211</c:v>
              </c:pt>
              <c:pt idx="684">
                <c:v>1.6671583281244515</c:v>
              </c:pt>
              <c:pt idx="685">
                <c:v>-0.5578667776552424</c:v>
              </c:pt>
              <c:pt idx="686">
                <c:v>-0.8783216633744515</c:v>
              </c:pt>
              <c:pt idx="687">
                <c:v>2.1784048839469468</c:v>
              </c:pt>
              <c:pt idx="688">
                <c:v>-0.39650870357012913</c:v>
              </c:pt>
              <c:pt idx="689">
                <c:v>-3.4125275044697458E-2</c:v>
              </c:pt>
              <c:pt idx="690">
                <c:v>0.61795994776361574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0-3BB7-4214-A112-DE47C78784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52652384"/>
        <c:axId val="552625488"/>
      </c:scatterChart>
      <c:valAx>
        <c:axId val="552652384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200" baseline="0"/>
                  <a:t>Zscore:  Unstandardized Predicted Value</a:t>
                </a:r>
                <a:endParaRPr lang="en-US" sz="120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.00000" sourceLinked="1"/>
        <c:majorTickMark val="none"/>
        <c:minorTickMark val="none"/>
        <c:tickLblPos val="nextTo"/>
        <c:crossAx val="552625488"/>
        <c:crosses val="autoZero"/>
        <c:crossBetween val="midCat"/>
      </c:valAx>
      <c:valAx>
        <c:axId val="552625488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200" baseline="0"/>
                  <a:t>Zscore:  Unstandardized Residual</a:t>
                </a:r>
                <a:endParaRPr lang="en-US" sz="120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.00000" sourceLinked="1"/>
        <c:majorTickMark val="none"/>
        <c:minorTickMark val="none"/>
        <c:tickLblPos val="nextTo"/>
        <c:crossAx val="55265238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1-09-10T22:41:00.59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1-09-10T22:41:01.74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1-09-10T22:41:02.21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1,'5'0,"1"0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1-09-10T22:41:02.61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1-09-10T22:41:49.68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1-09-10T22:41:50.96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0,'0'0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1-09-10T22:41:51.84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1-09-10T22:41:59.65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1-09-10T22:42:00.44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1,'0'0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1-09-10T22:42:00.892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1-09-10T22:42:01.27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3AE12D-26D0-444D-BBA7-78E95FB31145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5D3A84-54A3-49ED-9B5C-2CC97FEEEB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063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 the slope is known not estimated</a:t>
            </a:r>
          </a:p>
          <a:p>
            <a:r>
              <a:rPr lang="en-US" dirty="0"/>
              <a:t>-- there is no variability around the line, there is no probability distribution for the mean of Y</a:t>
            </a:r>
          </a:p>
          <a:p>
            <a:r>
              <a:rPr lang="en-US" dirty="0"/>
              <a:t>-- all points fall on the line with no error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BCF90D-E7D4-4E5F-AFBD-9DC01811C13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062792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that most of the points do not fall directly on the line of statistical relationship. </a:t>
            </a:r>
          </a:p>
          <a:p>
            <a:r>
              <a:rPr lang="en-US" dirty="0"/>
              <a:t>This scattering of points around the line represents variation in test scores that is </a:t>
            </a:r>
            <a:r>
              <a:rPr lang="en-US" b="1" dirty="0"/>
              <a:t>not associated with ACEs </a:t>
            </a:r>
            <a:r>
              <a:rPr lang="en-US" dirty="0"/>
              <a:t>and that is usually considered to be of a random nature.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BCF90D-E7D4-4E5F-AFBD-9DC01811C13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11506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D3A84-54A3-49ED-9B5C-2CC97FEEEB7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8795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Independent means the outcome of any one trial has no effect on the error term for any other trial</a:t>
            </a:r>
          </a:p>
          <a:p>
            <a:r>
              <a:rPr lang="en-US" dirty="0"/>
              <a:t>The regression is simple, linear in the parameters and linear in the predictor</a:t>
            </a:r>
          </a:p>
          <a:p>
            <a:r>
              <a:rPr lang="en-US" altLang="en-US" dirty="0"/>
              <a:t>Explanatory and Response Variables are Numeric</a:t>
            </a:r>
          </a:p>
          <a:p>
            <a:r>
              <a:rPr lang="en-US" altLang="en-US" dirty="0"/>
              <a:t>Relationship between the mean of the response variable and the level of the explanatory variable assumed to be approximately linear (straight line)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BCF90D-E7D4-4E5F-AFBD-9DC01811C13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43207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take a sample of children because we cannot collect data on the population</a:t>
            </a:r>
          </a:p>
          <a:p>
            <a:r>
              <a:rPr lang="en-US" dirty="0"/>
              <a:t>Every time we take a sample we will get a different line, different estimates</a:t>
            </a:r>
          </a:p>
          <a:p>
            <a:r>
              <a:rPr lang="en-US" dirty="0"/>
              <a:t>Ultimately we want to learn about the population parameters and we will do so by looking at the sample estimates for the intercept and slope</a:t>
            </a:r>
          </a:p>
          <a:p>
            <a:r>
              <a:rPr lang="en-US" dirty="0"/>
              <a:t>Of course, this is where our error comes 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92095C-E0B3-4597-BA71-7FEF5DC3BC1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7483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C0713C-B11C-4BFA-8C15-41693D75BFE0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794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3795" name="备注占位符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lIns="91785" tIns="45892" rIns="91785" bIns="45892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/>
          </a:p>
        </p:txBody>
      </p:sp>
      <p:sp>
        <p:nvSpPr>
          <p:cNvPr id="33796" name="灯片编号占位符 3"/>
          <p:cNvSpPr txBox="1">
            <a:spLocks noGrp="1"/>
          </p:cNvSpPr>
          <p:nvPr/>
        </p:nvSpPr>
        <p:spPr bwMode="auto">
          <a:xfrm>
            <a:off x="3978132" y="8842029"/>
            <a:ext cx="3043343" cy="46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785" tIns="45892" rIns="91785" bIns="45892" anchor="b"/>
          <a:lstStyle/>
          <a:p>
            <a:pPr marL="0" marR="0" lvl="0" indent="0" algn="r" defTabSz="91703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5F6CCC5-25EC-4E6A-824A-7E2726FF0236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+mn-ea"/>
                <a:cs typeface="Arial" charset="0"/>
              </a:rPr>
              <a:pPr marL="0" marR="0" lvl="0" indent="0" algn="r" defTabSz="91703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+mn-ea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27520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marL="0" marR="0" lvl="0" indent="0" algn="r" defTabSz="933237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C0713C-B11C-4BFA-8C15-41693D75BFE0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3237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794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3795" name="备注占位符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lIns="91785" tIns="45892" rIns="91785" bIns="45892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/>
          </a:p>
        </p:txBody>
      </p:sp>
      <p:sp>
        <p:nvSpPr>
          <p:cNvPr id="33796" name="灯片编号占位符 3"/>
          <p:cNvSpPr txBox="1">
            <a:spLocks noGrp="1"/>
          </p:cNvSpPr>
          <p:nvPr/>
        </p:nvSpPr>
        <p:spPr bwMode="auto">
          <a:xfrm>
            <a:off x="3978132" y="8842029"/>
            <a:ext cx="3043343" cy="46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785" tIns="45892" rIns="91785" bIns="45892" anchor="b"/>
          <a:lstStyle/>
          <a:p>
            <a:pPr marL="0" marR="0" lvl="0" indent="0" algn="r" defTabSz="91703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5F6CCC5-25EC-4E6A-824A-7E2726FF0236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+mn-ea"/>
                <a:cs typeface="Arial" charset="0"/>
              </a:rPr>
              <a:pPr marL="0" marR="0" lvl="0" indent="0" algn="r" defTabSz="91703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+mn-ea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3522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80C25-9D7B-5170-ECA8-2F08114FD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496C0B-430B-2121-932A-5491F81F4D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8ACA81-7A85-A59E-C33D-4737E187FF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24EA1-DCED-4425-EE57-FF9FA9AAF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892095C-E0B3-4597-BA71-7FEF5DC3BC1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06478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BCF90D-E7D4-4E5F-AFBD-9DC01811C13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5993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892095C-E0B3-4597-BA71-7FEF5DC3BC1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25663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92095C-E0B3-4597-BA71-7FEF5DC3BC1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5147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probability distributions of Y are identical when the slope is 0 </a:t>
            </a:r>
            <a:r>
              <a:rPr lang="en-US" dirty="0">
                <a:sym typeface="Wingdings" panose="05000000000000000000" pitchFamily="2" charset="2"/>
              </a:rPr>
              <a:t> there is no relationship between X and 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323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BCF90D-E7D4-4E5F-AFBD-9DC01811C13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323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407133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92095C-E0B3-4597-BA71-7FEF5DC3BC15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2217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3EC470-3195-4084-9C7D-116AB2D6F9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321690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Use the Durbin-Watson statistic to test for the presence of autocorrelation in the errors of a regression model. Autocorrelation means that the errors of adjacent observations are correlated. If the errors are correlated, then least-squares regression can underestimate the standard error of the coefficients. Underestimated standard errors can make your predictors seem to be significant when they are not.</a:t>
            </a:r>
          </a:p>
          <a:p>
            <a:endParaRPr lang="en-US" b="0" i="0" dirty="0">
              <a:solidFill>
                <a:srgbClr val="333333"/>
              </a:solidFill>
              <a:effectLst/>
              <a:latin typeface="Open Sans" panose="020B0606030504020204" pitchFamily="34" charset="0"/>
            </a:endParaRPr>
          </a:p>
          <a:p>
            <a:r>
              <a:rPr 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Durbin Watson ranges from 0-4, a statistic around 2 is what you are looing for…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892095C-E0B3-4597-BA71-7FEF5DC3BC1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818812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 math score for a 410 verbal score and a class size of 35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892095C-E0B3-4597-BA71-7FEF5DC3BC1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146185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892095C-E0B3-4597-BA71-7FEF5DC3BC1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60008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BCF90D-E7D4-4E5F-AFBD-9DC01811C13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2090959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BCF90D-E7D4-4E5F-AFBD-9DC01811C13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96311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BCF90D-E7D4-4E5F-AFBD-9DC01811C13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48523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63E0B-818E-D205-CB51-4EE8B07F54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42920E-E447-F106-6671-B5BE65D506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7D93E-3BC1-D967-5CB1-0507ECA4A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13103-A497-4B78-B408-3347A04A32EC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544914-1ED0-ABCC-3F37-6C6940DA1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072E34-AB01-0EE8-4624-BC26FBE12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CC639-2214-43CF-A479-25F9123388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740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09A4B-C0EE-44F4-1B89-D83538EF9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B4E22-F66A-17A2-DB9A-D04446EFB2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2E718E-C98B-BD34-AA33-269B47B9C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13103-A497-4B78-B408-3347A04A32EC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38E1D-BD73-F390-BB71-3878EEF7BE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C8FDAE-8485-8BC4-30B7-89604CF26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CC639-2214-43CF-A479-25F9123388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735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F2018-E5D5-99C2-DA22-E67C62EA9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FA0838-2693-6C70-1B6C-D51F76AA62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31017F-B0E3-AF50-8A3D-71D240FB8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13103-A497-4B78-B408-3347A04A32EC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33BB7F-2423-99B5-6002-28E97778F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C456D5-F4D1-9222-BD8D-9537CF6FE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CC639-2214-43CF-A479-25F9123388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576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5A184-BF22-B2B0-48AF-B1F4DE119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DC7D85-D8D8-21FF-ED43-4B31534BDC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691929-2CDB-7288-F076-623B08E18D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AC76F9-660A-91FE-4ED0-EAAD0CCE3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13103-A497-4B78-B408-3347A04A32EC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CFC925-669D-B717-E084-94116D558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CB720A-CCD0-805A-D0F0-04A5363A2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CC639-2214-43CF-A479-25F9123388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6562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8D7B0-1410-A57F-BEB8-24EB3C62E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001DFB-F33A-9FD3-8D7E-D9959799E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97CAFE-756A-DA1C-5BF8-4C2482DBFD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850268-19CD-C1BF-8C40-276BD8AC3F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B23D70-3BEA-B30F-1015-5166B7FC92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FA1D8F-775E-EEF6-48AA-D8823753F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13103-A497-4B78-B408-3347A04A32EC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0F0BE6-6962-9C58-902E-B8E6E70C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C26CAC-122C-D1A5-840A-7F9F23327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CC639-2214-43CF-A479-25F9123388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495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27517-9A51-E866-A621-8ADFC86F7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14CC2B-69F2-FC44-CAD6-8D7A00780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13103-A497-4B78-B408-3347A04A32EC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D9066D-4643-83EA-69EC-777BB7491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B9343F-0A35-8F7D-B1AA-2C076F521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CC639-2214-43CF-A479-25F9123388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873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B911AF-D78B-64B0-9AD7-A96F0399D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13103-A497-4B78-B408-3347A04A32EC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414DDC-D87E-17E0-0D5F-BE860FF9D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B3E6A-105C-6955-72A2-2CEA2636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CC639-2214-43CF-A479-25F9123388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9444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4EA98-286B-1830-5D6D-BA65F5B5D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C74885-1F47-ED83-73BF-AC20F8C272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11F979-6B9A-96F6-93D6-779795B8B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A9FC5C-63F4-C7DC-E393-1939C8093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13103-A497-4B78-B408-3347A04A32EC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16654F-587C-D888-35BB-01FE78862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390298-2EF2-5564-EEDB-6190E6FB9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CC639-2214-43CF-A479-25F9123388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7769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17ABF-31E5-464C-C803-3C08FEFC2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93440D-A92D-7576-06E0-3D1BCC60D2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A07FAD-73E1-046E-6147-7E049F03F7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4C63DE-F452-A596-E9FB-A6BDCC7096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13103-A497-4B78-B408-3347A04A32EC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35D95A-B3C0-5EFE-8969-17FBD9FEA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5F6E0A-57E5-5275-58FC-C9FD9661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CC639-2214-43CF-A479-25F9123388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3543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A402E-08AB-4BE3-BD0F-30C64C53C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4FC4F9-BED1-4C9D-8974-9B7C5262A9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B1D7B-0EA7-8E6E-85A7-D0C69197F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13103-A497-4B78-B408-3347A04A32EC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C92A87-5450-8EA4-3481-406A8FE89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574D6-4E79-08A5-D307-F48A0E811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CC639-2214-43CF-A479-25F9123388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8478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85416F-3977-A778-9386-4EB254C245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8AC633-91D8-30F1-93E3-25434E9B17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419AF-6909-03A5-7118-D78602890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13103-A497-4B78-B408-3347A04A32EC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D82464-853D-2912-91C6-61CEC30FC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3B001-7799-C66E-3696-BF4B53ACC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CC639-2214-43CF-A479-25F9123388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5072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edia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5F5D581-F5B0-4701-B187-0D4FAB44900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  <a:ln w="1270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ru-RU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E5F41AB-E2B9-45DD-B1C7-9F4DBA4946B9}"/>
              </a:ext>
            </a:extLst>
          </p:cNvPr>
          <p:cNvSpPr/>
          <p:nvPr userDrawn="1"/>
        </p:nvSpPr>
        <p:spPr>
          <a:xfrm>
            <a:off x="2445759" y="-12700"/>
            <a:ext cx="7289800" cy="6883400"/>
          </a:xfrm>
          <a:custGeom>
            <a:avLst/>
            <a:gdLst>
              <a:gd name="connsiteX0" fmla="*/ 5063490 w 7289800"/>
              <a:gd name="connsiteY0" fmla="*/ 12700 h 6883400"/>
              <a:gd name="connsiteX1" fmla="*/ 2499360 w 7289800"/>
              <a:gd name="connsiteY1" fmla="*/ 6870700 h 6883400"/>
              <a:gd name="connsiteX2" fmla="*/ 4721860 w 7289800"/>
              <a:gd name="connsiteY2" fmla="*/ 6870700 h 6883400"/>
              <a:gd name="connsiteX3" fmla="*/ 7285990 w 7289800"/>
              <a:gd name="connsiteY3" fmla="*/ 12700 h 6883400"/>
              <a:gd name="connsiteX4" fmla="*/ 5063490 w 7289800"/>
              <a:gd name="connsiteY4" fmla="*/ 12700 h 6883400"/>
              <a:gd name="connsiteX5" fmla="*/ 12700 w 7289800"/>
              <a:gd name="connsiteY5" fmla="*/ 6870700 h 6883400"/>
              <a:gd name="connsiteX6" fmla="*/ 2235200 w 7289800"/>
              <a:gd name="connsiteY6" fmla="*/ 6870700 h 6883400"/>
              <a:gd name="connsiteX7" fmla="*/ 4799331 w 7289800"/>
              <a:gd name="connsiteY7" fmla="*/ 12700 h 6883400"/>
              <a:gd name="connsiteX8" fmla="*/ 2576830 w 7289800"/>
              <a:gd name="connsiteY8" fmla="*/ 12700 h 6883400"/>
              <a:gd name="connsiteX9" fmla="*/ 12700 w 7289800"/>
              <a:gd name="connsiteY9" fmla="*/ 6870700 h 6883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289800" h="6883400">
                <a:moveTo>
                  <a:pt x="5063490" y="12700"/>
                </a:moveTo>
                <a:lnTo>
                  <a:pt x="2499360" y="6870700"/>
                </a:lnTo>
                <a:lnTo>
                  <a:pt x="4721860" y="6870700"/>
                </a:lnTo>
                <a:lnTo>
                  <a:pt x="7285990" y="12700"/>
                </a:lnTo>
                <a:lnTo>
                  <a:pt x="5063490" y="12700"/>
                </a:lnTo>
                <a:close/>
                <a:moveTo>
                  <a:pt x="12700" y="6870700"/>
                </a:moveTo>
                <a:lnTo>
                  <a:pt x="2235200" y="6870700"/>
                </a:lnTo>
                <a:lnTo>
                  <a:pt x="4799331" y="12700"/>
                </a:lnTo>
                <a:lnTo>
                  <a:pt x="2576830" y="12700"/>
                </a:lnTo>
                <a:lnTo>
                  <a:pt x="12700" y="6870700"/>
                </a:lnTo>
                <a:close/>
              </a:path>
            </a:pathLst>
          </a:custGeom>
          <a:solidFill>
            <a:schemeClr val="bg2">
              <a:alpha val="15000"/>
            </a:schemeClr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6ADBD7-8355-4951-B459-EC284BCE83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4510C334-F1CE-4CEF-ADC6-D1BADB9947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56579"/>
            <a:ext cx="10515600" cy="1325563"/>
          </a:xfrm>
        </p:spPr>
        <p:txBody>
          <a:bodyPr lIns="0" rIns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VIDEO SLIDE</a:t>
            </a:r>
            <a:endParaRPr lang="ru-RU" dirty="0"/>
          </a:p>
        </p:txBody>
      </p:sp>
      <p:sp>
        <p:nvSpPr>
          <p:cNvPr id="16" name="Media Placeholder 7">
            <a:extLst>
              <a:ext uri="{FF2B5EF4-FFF2-40B4-BE49-F238E27FC236}">
                <a16:creationId xmlns:a16="http://schemas.microsoft.com/office/drawing/2014/main" id="{A11F77F4-4B16-4503-B9B6-AE22C686E3E3}"/>
              </a:ext>
            </a:extLst>
          </p:cNvPr>
          <p:cNvSpPr>
            <a:spLocks noGrp="1"/>
          </p:cNvSpPr>
          <p:nvPr>
            <p:ph type="media" sz="quarter" idx="17"/>
          </p:nvPr>
        </p:nvSpPr>
        <p:spPr>
          <a:xfrm>
            <a:off x="1395984" y="1497770"/>
            <a:ext cx="9400032" cy="4215384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4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icon to add media</a:t>
            </a:r>
            <a:endParaRPr lang="ru-RU" dirty="0"/>
          </a:p>
        </p:txBody>
      </p:sp>
      <p:sp>
        <p:nvSpPr>
          <p:cNvPr id="12" name="Graphic 4">
            <a:extLst>
              <a:ext uri="{FF2B5EF4-FFF2-40B4-BE49-F238E27FC236}">
                <a16:creationId xmlns:a16="http://schemas.microsoft.com/office/drawing/2014/main" id="{C7654E36-50FF-425E-B595-F3957610B5D8}"/>
              </a:ext>
            </a:extLst>
          </p:cNvPr>
          <p:cNvSpPr/>
          <p:nvPr userDrawn="1"/>
        </p:nvSpPr>
        <p:spPr>
          <a:xfrm>
            <a:off x="11292630" y="6103003"/>
            <a:ext cx="910800" cy="144000"/>
          </a:xfrm>
          <a:custGeom>
            <a:avLst/>
            <a:gdLst>
              <a:gd name="connsiteX0" fmla="*/ 689134 w 695325"/>
              <a:gd name="connsiteY0" fmla="*/ 7144 h 114300"/>
              <a:gd name="connsiteX1" fmla="*/ 689134 w 695325"/>
              <a:gd name="connsiteY1" fmla="*/ 115729 h 114300"/>
              <a:gd name="connsiteX2" fmla="*/ 78581 w 695325"/>
              <a:gd name="connsiteY2" fmla="*/ 115729 h 114300"/>
              <a:gd name="connsiteX3" fmla="*/ 7144 w 695325"/>
              <a:gd name="connsiteY3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5325" h="114300">
                <a:moveTo>
                  <a:pt x="689134" y="7144"/>
                </a:moveTo>
                <a:lnTo>
                  <a:pt x="689134" y="115729"/>
                </a:lnTo>
                <a:lnTo>
                  <a:pt x="78581" y="115729"/>
                </a:lnTo>
                <a:lnTo>
                  <a:pt x="7144" y="7144"/>
                </a:ln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380855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A1367-AC30-8923-643E-4E34909D6B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4CD009-766E-FD05-B372-A8DBED4BC6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0E63FB-88CE-6DF8-EA5D-9751DDBE2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E87E3-4C50-4627-A3CB-F1F224F266E6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C3577E-7013-66D2-70FA-0FD819C03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207110-2737-3E78-9E9A-921158690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C9452-3E6F-4A4A-B4AE-160A11948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747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1AD3E-402B-9043-47A1-A62B591F8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F32D2F-734B-F73E-AD1B-DFDF18ECA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94D9E8-F7E6-0546-DFB6-0116B3D82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E87E3-4C50-4627-A3CB-F1F224F266E6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F7A4CB-87FC-9594-DA39-C6ACB86CE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0AFDB9-9D2E-CB1B-7F30-5E9B43B04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C9452-3E6F-4A4A-B4AE-160A11948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7159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604C9-B123-4631-8E98-AAAF1440C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7C745E-BFB1-4D9E-DADB-92EF4743E4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5C6E59-9F5C-053F-2CE7-1A07D0728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E87E3-4C50-4627-A3CB-F1F224F266E6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3B669-C958-2A0D-7112-4DB474DA6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3E386-23C5-11CF-3F85-1D32B2DB3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C9452-3E6F-4A4A-B4AE-160A11948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8263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9F852-493D-014D-B738-74554A14C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BCFC13-2131-F56F-DF27-EC4A4B5ADB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0AF006-779A-72B2-E0D2-CFFFEB0ACD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6674FC-57A6-2163-AE59-60A776F85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E87E3-4C50-4627-A3CB-F1F224F266E6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BE850D-617C-5120-2BC1-05BC6E507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4334B6-5001-678A-A998-D0BC2D3DF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C9452-3E6F-4A4A-B4AE-160A11948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8991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C1F91-869A-9DEB-6FD1-AC6767C12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A5559E-E9A4-B707-39E3-01E2705B76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F18645-8EE4-1345-41A5-8CCE7AF7F0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C6973E-28A8-3E62-FC08-493D2A345E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A088FF-3941-D4A3-E8F9-D559CD9B6D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9B4CF2-38E0-8F9E-AD6F-F2DDA595D3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E87E3-4C50-4627-A3CB-F1F224F266E6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A14555-DEDD-09F7-BAFD-660C40EDA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BC312C-1E49-129C-FE32-4CD99D6F0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C9452-3E6F-4A4A-B4AE-160A11948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7409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79396-51BB-2BBD-2B2F-ED862DF9A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5B2B1D-1B33-5FBA-BF0A-21CC9C29D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E87E3-4C50-4627-A3CB-F1F224F266E6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CD90FC-71D6-E5EB-36AE-82BF606B0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A1D42B-215D-4418-2886-C1C4396DE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C9452-3E6F-4A4A-B4AE-160A11948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16101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77E1C7-46F4-F762-EB48-44EB0BF39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E87E3-4C50-4627-A3CB-F1F224F266E6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9A2228-04CF-09F5-E92E-120859DAE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34FF2-17D0-25EC-D7B9-6E65459BE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C9452-3E6F-4A4A-B4AE-160A11948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80761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32B82-714E-2E66-20A7-D34A1F291F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B85E5-6AD4-6F42-642B-0F41AB34D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CEED12-6AEA-3180-2D0D-07FCB9F5C9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64011E-210E-331F-EA13-890E2F72F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E87E3-4C50-4627-A3CB-F1F224F266E6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0A5923-ECE8-5108-0C85-9A1C6A7E6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95014E-6A59-E9AF-FDC8-4251F5D65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C9452-3E6F-4A4A-B4AE-160A11948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6855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04526-549C-0712-7B12-9449221769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D0A4B2-8D1B-8A80-D613-5498159F8A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7419D6-BB69-6ACA-2445-FB6651D49C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79A5A3-98B7-609C-1C96-06425F931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E87E3-4C50-4627-A3CB-F1F224F266E6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A45D33-F972-B36A-FF47-F2F9EF005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01D54C-F49A-AA3F-8317-71E405BA0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C9452-3E6F-4A4A-B4AE-160A11948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37945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4B342-A99A-80F7-6C9F-0A41B660E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3D2747-8B7D-6EE3-73EF-F777E3FCF8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2A2B7A-912A-BB22-B0B1-DBC325BB7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E87E3-4C50-4627-A3CB-F1F224F266E6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1897C4-4A8D-A870-FC61-A89EA87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9AEEF-5E04-E818-F53D-FE7D67D5F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C9452-3E6F-4A4A-B4AE-160A11948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61674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39F7A7-7C14-4909-7B55-F2259714EF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48069A-2E55-1D4F-5D10-F58FE599A6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B692EB-443A-4A88-ACB5-2069E7AFF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E87E3-4C50-4627-A3CB-F1F224F266E6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626EE5-DC82-69FB-5272-59BB00AAB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63137D-105C-E9C9-4A00-4AF7DF3C0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C9452-3E6F-4A4A-B4AE-160A11948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8747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6096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914400" y="1981200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981200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914400" y="6248400"/>
            <a:ext cx="2540000" cy="457200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64714F1-95EB-1F40-9805-DFCE867847BA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2/8/2025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165600" y="6248400"/>
            <a:ext cx="3860800" cy="457200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Lecture 9 - Simple Linear Regression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600" y="6248400"/>
            <a:ext cx="2540000" cy="457200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4C357E0-7941-49F0-B6EC-21213A8B8148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3215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931B9-691F-FF49-8EF3-B687E94B8A0E}" type="datetime1">
              <a:rPr lang="en-US" smtClean="0"/>
              <a:t>2/8/2025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9 - Simple Linear Regression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2B675-3BAF-420B-B2FC-1C2A1E07683B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23714734-47E8-DD41-ACED-824DEB7B3FD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704764"/>
            <a:ext cx="1967908" cy="1153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281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18192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E7E6C-F68A-794A-B125-A29E11B90236}" type="datetime1">
              <a:rPr lang="en-US" smtClean="0"/>
              <a:t>2/8/2025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9 - Simple Linear Regression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2B675-3BAF-420B-B2FC-1C2A1E07683B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AAB0FC02-3086-E746-B1AB-24084911A2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704764"/>
            <a:ext cx="1967908" cy="1153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54827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9A0D1-DD00-8045-8CAB-105DB30771DC}" type="datetime1">
              <a:rPr lang="en-US" smtClean="0"/>
              <a:t>2/8/2025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9 - Simple Linear Regression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2B675-3BAF-420B-B2FC-1C2A1E07683B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A0AED61D-4E5B-E340-B453-21EBC27EAD1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704764"/>
            <a:ext cx="1967908" cy="1153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65008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BDA4E-A86E-5C4C-A91B-2639F67C3430}" type="datetime1">
              <a:rPr lang="en-US" smtClean="0"/>
              <a:t>2/8/2025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9 - Simple Linear Regression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2B675-3BAF-420B-B2FC-1C2A1E07683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016590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8440A-EFED-1440-9E87-6484AB1EAA68}" type="datetime1">
              <a:rPr lang="en-US" smtClean="0"/>
              <a:t>2/8/2025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9 - Simple Linear Regression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2B675-3BAF-420B-B2FC-1C2A1E07683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668476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25959-59CE-E245-B03F-1A1EA4F7E585}" type="datetime1">
              <a:rPr lang="en-US" smtClean="0"/>
              <a:t>2/8/2025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9 - Simple Linear Regression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2B675-3BAF-420B-B2FC-1C2A1E07683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41119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44314-65CA-2C4C-B82F-87EB2A3CD062}" type="datetime1">
              <a:rPr lang="en-US" smtClean="0"/>
              <a:t>2/8/2025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9 - Simple Linear Regression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2B675-3BAF-420B-B2FC-1C2A1E07683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061068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3B58E-1DD5-934B-8B67-B289212F9EF9}" type="datetime1">
              <a:rPr lang="en-US" smtClean="0"/>
              <a:t>2/8/2025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9 - Simple Linear Regression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2B675-3BAF-420B-B2FC-1C2A1E07683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996429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42F48-8500-424F-9E8B-F9E4305981E2}" type="datetime1">
              <a:rPr lang="en-US" smtClean="0"/>
              <a:t>2/8/2025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9 - Simple Linear Regression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2B675-3BAF-420B-B2FC-1C2A1E07683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89443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5E23F-E577-B044-8AD0-27597BE6A209}" type="datetime1">
              <a:rPr lang="en-US" smtClean="0"/>
              <a:t>2/8/2025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9 - Simple Linear Regression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2B675-3BAF-420B-B2FC-1C2A1E07683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404763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BF481-829F-014F-8725-0255AAEC2AEC}" type="datetime1">
              <a:rPr lang="en-US" smtClean="0"/>
              <a:t>2/8/2025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9 - Simple Linear Regression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2B675-3BAF-420B-B2FC-1C2A1E07683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16462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6096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914400" y="1981200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981200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914400" y="6248400"/>
            <a:ext cx="2540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64714F1-95EB-1F40-9805-DFCE867847BA}" type="datetime1">
              <a:rPr lang="en-US" smtClean="0"/>
              <a:t>2/8/2025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165600" y="6248400"/>
            <a:ext cx="38608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Lecture 9 - Simple Linear Regression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600" y="6248400"/>
            <a:ext cx="2540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4C357E0-7941-49F0-B6EC-21213A8B814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11443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690708-7E1C-C91C-1E30-B6C286608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16B1F7-E788-0815-29B4-E85BD4188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AE6054-C872-1706-20A4-924F5DAC19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413103-A497-4B78-B408-3347A04A32EC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C50A7B-3B2F-CFEF-335A-F4E33E7830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C4F69D-C085-DA0B-4600-580666048D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1CC639-2214-43CF-A479-25F9123388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693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69F9CD-71EF-C7CF-9FFD-C67D5F8CC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7AD5F6-EF19-5690-A2D1-C373833652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9EA7DE-25B4-3040-A3AB-FDD0059825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E87E3-4C50-4627-A3CB-F1F224F266E6}" type="datetimeFigureOut">
              <a:rPr lang="en-US" smtClean="0"/>
              <a:t>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3F48F5-9191-40ED-E6E1-D00B7A41A7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EE1AF-7D31-8376-B63A-F9696EBF4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AC9452-3E6F-4A4A-B4AE-160A11948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61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0BE8F1-25A8-1B4B-BE82-7C70A88FE4C4}" type="datetime1">
              <a:rPr lang="en-US" smtClean="0"/>
              <a:t>2/8/2025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Lecture 9 - Simple Linear Regression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F2B675-3BAF-420B-B2FC-1C2A1E07683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09525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3" Type="http://schemas.openxmlformats.org/officeDocument/2006/relationships/image" Target="../media/image5.wmf"/><Relationship Id="rId7" Type="http://schemas.openxmlformats.org/officeDocument/2006/relationships/image" Target="../media/image81.png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14.xml"/><Relationship Id="rId6" Type="http://schemas.openxmlformats.org/officeDocument/2006/relationships/customXml" Target="../ink/ink1.xml"/><Relationship Id="rId11" Type="http://schemas.openxmlformats.org/officeDocument/2006/relationships/customXml" Target="../ink/ink4.xml"/><Relationship Id="rId5" Type="http://schemas.openxmlformats.org/officeDocument/2006/relationships/image" Target="../media/image6.wmf"/><Relationship Id="rId10" Type="http://schemas.openxmlformats.org/officeDocument/2006/relationships/image" Target="../media/image310.png"/><Relationship Id="rId4" Type="http://schemas.openxmlformats.org/officeDocument/2006/relationships/oleObject" Target="../embeddings/oleObject3.bin"/><Relationship Id="rId9" Type="http://schemas.openxmlformats.org/officeDocument/2006/relationships/customXml" Target="../ink/ink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220.png"/><Relationship Id="rId4" Type="http://schemas.openxmlformats.org/officeDocument/2006/relationships/image" Target="../media/image2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11.png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1.xml"/><Relationship Id="rId4" Type="http://schemas.openxmlformats.org/officeDocument/2006/relationships/image" Target="../media/image8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0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10.png"/><Relationship Id="rId5" Type="http://schemas.openxmlformats.org/officeDocument/2006/relationships/image" Target="../media/image105.png"/><Relationship Id="rId4" Type="http://schemas.openxmlformats.org/officeDocument/2006/relationships/image" Target="../media/image9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31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88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30.png"/><Relationship Id="rId4" Type="http://schemas.openxmlformats.org/officeDocument/2006/relationships/image" Target="../media/image2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312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9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0.png"/><Relationship Id="rId5" Type="http://schemas.openxmlformats.org/officeDocument/2006/relationships/image" Target="../media/image46.png"/><Relationship Id="rId4" Type="http://schemas.openxmlformats.org/officeDocument/2006/relationships/image" Target="../media/image1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70.png"/><Relationship Id="rId4" Type="http://schemas.openxmlformats.org/officeDocument/2006/relationships/image" Target="../media/image5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0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20.png"/><Relationship Id="rId4" Type="http://schemas.openxmlformats.org/officeDocument/2006/relationships/image" Target="../media/image111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png"/><Relationship Id="rId4" Type="http://schemas.openxmlformats.org/officeDocument/2006/relationships/chart" Target="../charts/char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customXml" Target="../ink/ink10.xml"/><Relationship Id="rId3" Type="http://schemas.openxmlformats.org/officeDocument/2006/relationships/image" Target="../media/image811.png"/><Relationship Id="rId7" Type="http://schemas.openxmlformats.org/officeDocument/2006/relationships/customXml" Target="../ink/ink9.xml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4.xml"/><Relationship Id="rId6" Type="http://schemas.openxmlformats.org/officeDocument/2006/relationships/customXml" Target="../ink/ink8.xml"/><Relationship Id="rId5" Type="http://schemas.openxmlformats.org/officeDocument/2006/relationships/customXml" Target="../ink/ink7.xml"/><Relationship Id="rId4" Type="http://schemas.openxmlformats.org/officeDocument/2006/relationships/customXml" Target="../ink/ink6.xml"/><Relationship Id="rId9" Type="http://schemas.openxmlformats.org/officeDocument/2006/relationships/customXml" Target="../ink/ink1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1.png"/><Relationship Id="rId4" Type="http://schemas.openxmlformats.org/officeDocument/2006/relationships/image" Target="../media/image68.wmf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50.png"/><Relationship Id="rId4" Type="http://schemas.openxmlformats.org/officeDocument/2006/relationships/image" Target="../media/image1340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261.png"/><Relationship Id="rId7" Type="http://schemas.openxmlformats.org/officeDocument/2006/relationships/image" Target="../media/image75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280.png"/><Relationship Id="rId4" Type="http://schemas.openxmlformats.org/officeDocument/2006/relationships/image" Target="../media/image270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0.png"/><Relationship Id="rId2" Type="http://schemas.openxmlformats.org/officeDocument/2006/relationships/image" Target="../media/image14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40.png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0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0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3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1.png"/><Relationship Id="rId4" Type="http://schemas.openxmlformats.org/officeDocument/2006/relationships/image" Target="../media/image98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99.png"/><Relationship Id="rId4" Type="http://schemas.openxmlformats.org/officeDocument/2006/relationships/image" Target="../media/image910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5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0.png"/><Relationship Id="rId2" Type="http://schemas.openxmlformats.org/officeDocument/2006/relationships/image" Target="../media/image640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png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wmf"/><Relationship Id="rId7" Type="http://schemas.openxmlformats.org/officeDocument/2006/relationships/image" Target="../media/image107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.bin"/><Relationship Id="rId5" Type="http://schemas.openxmlformats.org/officeDocument/2006/relationships/image" Target="../media/image106.wmf"/><Relationship Id="rId4" Type="http://schemas.openxmlformats.org/officeDocument/2006/relationships/oleObject" Target="../embeddings/oleObject6.bin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0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0.png"/><Relationship Id="rId2" Type="http://schemas.openxmlformats.org/officeDocument/2006/relationships/image" Target="../media/image9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0.png"/><Relationship Id="rId4" Type="http://schemas.openxmlformats.org/officeDocument/2006/relationships/image" Target="../media/image720.png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FE2FC-558E-307E-EF79-18C5A02BE8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Week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B21D8F-79BC-A1A1-2159-585576B242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Review</a:t>
            </a:r>
          </a:p>
          <a:p>
            <a:r>
              <a:rPr lang="en-US" dirty="0"/>
              <a:t>Introduction to Multiple Linear Regression</a:t>
            </a:r>
          </a:p>
          <a:p>
            <a:r>
              <a:rPr lang="en-US" dirty="0"/>
              <a:t>Hypothesis Testing and Decomposition of Effects</a:t>
            </a:r>
          </a:p>
        </p:txBody>
      </p:sp>
    </p:spTree>
    <p:extLst>
      <p:ext uri="{BB962C8B-B14F-4D97-AF65-F5344CB8AC3E}">
        <p14:creationId xmlns:p14="http://schemas.microsoft.com/office/powerpoint/2010/main" val="950931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2E5FF-7D7D-33F2-7A98-0719BA9D2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13D23-5C50-BB70-AD1F-5C6BED9A3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651E1-27FE-A338-2054-9F7B9CD67F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Makeover Challenge: Reimagine data using effective storytelling </a:t>
            </a:r>
          </a:p>
          <a:p>
            <a:r>
              <a:rPr lang="en-US" dirty="0"/>
              <a:t>Are there differences in infant mortality by race?</a:t>
            </a:r>
          </a:p>
        </p:txBody>
      </p:sp>
    </p:spTree>
    <p:extLst>
      <p:ext uri="{BB962C8B-B14F-4D97-AF65-F5344CB8AC3E}">
        <p14:creationId xmlns:p14="http://schemas.microsoft.com/office/powerpoint/2010/main" val="1151542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D7FBBE-A20C-4B1D-90B6-5532C7C690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730162" y="6002372"/>
            <a:ext cx="54944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D495E168-DA5E-4888-8D8A-92B118324C14}" type="slidenum">
              <a:rPr lang="ru-RU" smtClean="0"/>
              <a:pPr>
                <a:spcAft>
                  <a:spcPts val="600"/>
                </a:spcAft>
              </a:pPr>
              <a:t>3</a:t>
            </a:fld>
            <a:endParaRPr lang="ru-RU"/>
          </a:p>
        </p:txBody>
      </p:sp>
      <p:sp>
        <p:nvSpPr>
          <p:cNvPr id="10" name="Title 2">
            <a:extLst>
              <a:ext uri="{FF2B5EF4-FFF2-40B4-BE49-F238E27FC236}">
                <a16:creationId xmlns:a16="http://schemas.microsoft.com/office/drawing/2014/main" id="{3C249D8E-1B1B-4C20-A54F-B66E633DC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579"/>
            <a:ext cx="10515600" cy="1325563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tx1"/>
                </a:solidFill>
              </a:rPr>
              <a:t>What model do I choose?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sz="3200" dirty="0">
                <a:solidFill>
                  <a:schemeClr val="tx1"/>
                </a:solidFill>
              </a:rPr>
              <a:t>Basic Statistical Analysis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5" name="Group 3">
            <a:extLst>
              <a:ext uri="{FF2B5EF4-FFF2-40B4-BE49-F238E27FC236}">
                <a16:creationId xmlns:a16="http://schemas.microsoft.com/office/drawing/2014/main" id="{6B88C205-B8AB-46D7-9FF7-6073B30B4B4F}"/>
              </a:ext>
            </a:extLst>
          </p:cNvPr>
          <p:cNvGraphicFramePr>
            <a:graphicFrameLocks/>
          </p:cNvGraphicFramePr>
          <p:nvPr/>
        </p:nvGraphicFramePr>
        <p:xfrm>
          <a:off x="1395984" y="1924531"/>
          <a:ext cx="9400033" cy="3409336"/>
        </p:xfrm>
        <a:graphic>
          <a:graphicData uri="http://schemas.openxmlformats.org/drawingml/2006/table">
            <a:tbl>
              <a:tblPr>
                <a:solidFill>
                  <a:schemeClr val="bg1"/>
                </a:solidFill>
              </a:tblPr>
              <a:tblGrid>
                <a:gridCol w="1366001">
                  <a:extLst>
                    <a:ext uri="{9D8B030D-6E8A-4147-A177-3AD203B41FA5}">
                      <a16:colId xmlns:a16="http://schemas.microsoft.com/office/drawing/2014/main" val="2200425388"/>
                    </a:ext>
                  </a:extLst>
                </a:gridCol>
                <a:gridCol w="2571580">
                  <a:extLst>
                    <a:ext uri="{9D8B030D-6E8A-4147-A177-3AD203B41FA5}">
                      <a16:colId xmlns:a16="http://schemas.microsoft.com/office/drawing/2014/main" val="3306377049"/>
                    </a:ext>
                  </a:extLst>
                </a:gridCol>
                <a:gridCol w="2711793">
                  <a:extLst>
                    <a:ext uri="{9D8B030D-6E8A-4147-A177-3AD203B41FA5}">
                      <a16:colId xmlns:a16="http://schemas.microsoft.com/office/drawing/2014/main" val="1335301271"/>
                    </a:ext>
                  </a:extLst>
                </a:gridCol>
                <a:gridCol w="2750659">
                  <a:extLst>
                    <a:ext uri="{9D8B030D-6E8A-4147-A177-3AD203B41FA5}">
                      <a16:colId xmlns:a16="http://schemas.microsoft.com/office/drawing/2014/main" val="3742422588"/>
                    </a:ext>
                  </a:extLst>
                </a:gridCol>
              </a:tblGrid>
              <a:tr h="344092">
                <a:tc rowSpan="2"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en-US" sz="1100" b="0" i="0" u="none" strike="noStrike" cap="none" spc="0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11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Outcome Variable</a:t>
                      </a:r>
                    </a:p>
                  </a:txBody>
                  <a:tcPr marL="90673" marR="69748" marT="69748" marB="69748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11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Are the observations independent or correlated?</a:t>
                      </a:r>
                    </a:p>
                  </a:txBody>
                  <a:tcPr marL="90673" marR="69748" marT="69748" marB="69748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en-US" sz="1100" b="0" i="0" u="none" strike="noStrike" cap="none" spc="0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11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Alternatives if the normality assumption is violated (and small sample size):</a:t>
                      </a:r>
                    </a:p>
                  </a:txBody>
                  <a:tcPr marL="90673" marR="69748" marT="69748" marB="69748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5050416"/>
                  </a:ext>
                </a:extLst>
              </a:tr>
              <a:tr h="34409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11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independent</a:t>
                      </a:r>
                    </a:p>
                  </a:txBody>
                  <a:tcPr marL="90673" marR="69748" marT="69748" marB="69748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11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correlated </a:t>
                      </a:r>
                    </a:p>
                  </a:txBody>
                  <a:tcPr marL="90673" marR="69748" marT="69748" marB="69748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1276731"/>
                  </a:ext>
                </a:extLst>
              </a:tr>
              <a:tr h="2673681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11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Continuous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11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(e.g. pain scale, cognitive function)</a:t>
                      </a:r>
                    </a:p>
                  </a:txBody>
                  <a:tcPr marL="90673" marR="69748" marT="69748" marB="69748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GB" altLang="en-US" sz="1100" b="1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T-test:</a:t>
                      </a:r>
                      <a:r>
                        <a:rPr kumimoji="0" lang="en-GB" altLang="en-US" sz="11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 compares means between two independent groups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GB" altLang="en-US" sz="1100" b="0" i="0" u="none" strike="noStrike" cap="none" spc="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GB" altLang="en-US" sz="1100" b="1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ANOVA:</a:t>
                      </a:r>
                      <a:r>
                        <a:rPr kumimoji="0" lang="en-GB" altLang="en-US" sz="11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 compares means between more than two independent groups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GB" altLang="en-US" sz="1100" b="0" i="0" u="none" strike="noStrike" cap="none" spc="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GB" altLang="en-US" sz="1100" b="1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Pearson’s correlation coefficient</a:t>
                      </a:r>
                      <a:r>
                        <a:rPr kumimoji="0" lang="en-GB" altLang="en-US" sz="11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 (linear correlation): shows linear correlation between two continuous variables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GB" altLang="en-US" sz="1100" b="0" i="0" u="none" strike="noStrike" cap="none" spc="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GB" altLang="en-US" sz="1100" b="1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Linear regression:</a:t>
                      </a:r>
                      <a:r>
                        <a:rPr kumimoji="0" lang="en-GB" altLang="en-US" sz="11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 multivariate regression technique used when the outcome is continuous; gives slopes</a:t>
                      </a:r>
                      <a:endParaRPr kumimoji="0" lang="en-US" altLang="en-US" sz="1100" b="0" i="0" u="none" strike="noStrike" cap="none" spc="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0673" marR="69748" marT="69748" marB="69748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1100" b="1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Paired </a:t>
                      </a:r>
                      <a:r>
                        <a:rPr kumimoji="0" lang="en-US" altLang="en-US" sz="1100" b="1" i="0" u="none" strike="noStrike" cap="none" spc="0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ttest</a:t>
                      </a:r>
                      <a:r>
                        <a:rPr kumimoji="0" lang="en-US" altLang="en-US" sz="1100" b="1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:</a:t>
                      </a:r>
                      <a:r>
                        <a:rPr kumimoji="0" lang="en-US" altLang="en-US" sz="11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 compares means between two related groups (e.g., the same subjects before and after)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en-US" sz="1100" b="0" i="0" u="none" strike="noStrike" cap="none" spc="0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1100" b="1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Repeated-measures ANOVA:</a:t>
                      </a:r>
                      <a:r>
                        <a:rPr kumimoji="0" lang="en-US" altLang="en-US" sz="11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 compares changes over time in the means of two or more groups (repeated measurements)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en-US" sz="1100" b="0" i="0" u="none" strike="noStrike" cap="none" spc="0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1100" b="1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Mixed models/GEE modeling</a:t>
                      </a:r>
                      <a:r>
                        <a:rPr kumimoji="0" lang="en-US" altLang="en-US" sz="11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: multivariate regression techniques to compare changes over time between two or more groups; gives rate of change over time</a:t>
                      </a:r>
                    </a:p>
                  </a:txBody>
                  <a:tcPr marL="90673" marR="69748" marT="69748" marB="69748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1100" b="0" i="0" u="sng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Non-parametric statistics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1100" b="1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Wilcoxon sign-rank test</a:t>
                      </a:r>
                      <a:r>
                        <a:rPr kumimoji="0" lang="en-US" altLang="en-US" sz="11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: non-parametric alternative to the paired </a:t>
                      </a:r>
                      <a:r>
                        <a:rPr kumimoji="0" lang="en-US" altLang="en-US" sz="1100" b="0" i="0" u="none" strike="noStrike" cap="none" spc="0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ttest</a:t>
                      </a:r>
                      <a:endParaRPr kumimoji="0" lang="en-US" altLang="en-US" sz="1100" b="1" i="0" u="none" strike="noStrike" cap="none" spc="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en-US" sz="1100" b="1" i="0" u="none" strike="noStrike" cap="none" spc="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1100" b="1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Wilcoxon sum-rank test</a:t>
                      </a:r>
                      <a:r>
                        <a:rPr kumimoji="0" lang="en-US" altLang="en-US" sz="11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 (=Mann-Whitney U test): non-parametric alternative to the </a:t>
                      </a:r>
                      <a:r>
                        <a:rPr kumimoji="0" lang="en-US" altLang="en-US" sz="1100" b="0" i="0" u="none" strike="noStrike" cap="none" spc="0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ttest</a:t>
                      </a:r>
                      <a:endParaRPr kumimoji="0" lang="en-US" altLang="en-US" sz="1100" b="0" i="0" u="none" strike="noStrike" cap="none" spc="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en-US" sz="1100" b="0" i="0" u="none" strike="noStrike" cap="none" spc="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1100" b="1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Kruskal-Wallis test: </a:t>
                      </a:r>
                      <a:r>
                        <a:rPr kumimoji="0" lang="en-US" altLang="en-US" sz="11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non-parametric alternative to ANOVA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en-US" sz="1100" b="0" i="0" u="none" strike="noStrike" cap="none" spc="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1100" b="1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Spearman rank correlation coefficient:</a:t>
                      </a:r>
                      <a:r>
                        <a:rPr kumimoji="0" lang="en-US" altLang="en-US" sz="11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 non-parametric alternative to Pearson’s correlation coefficient </a:t>
                      </a:r>
                      <a:endParaRPr kumimoji="0" lang="en-US" altLang="en-US" sz="1100" b="1" i="0" u="none" strike="noStrike" cap="none" spc="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0673" marR="69748" marT="69748" marB="69748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3335816"/>
                  </a:ext>
                </a:extLst>
              </a:tr>
            </a:tbl>
          </a:graphicData>
        </a:graphic>
      </p:graphicFrame>
      <p:sp>
        <p:nvSpPr>
          <p:cNvPr id="8" name="Oval 22">
            <a:extLst>
              <a:ext uri="{FF2B5EF4-FFF2-40B4-BE49-F238E27FC236}">
                <a16:creationId xmlns:a16="http://schemas.microsoft.com/office/drawing/2014/main" id="{E9666A15-4B6E-4872-ABFD-077460EEFF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370" y="4338312"/>
            <a:ext cx="2971800" cy="12192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453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88F9E8-9C66-496D-B37E-83065854B1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495E168-DA5E-4888-8D8A-92B118324C14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ru-RU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7523E8C-F049-4B08-BEAA-E3C6C7BC7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Linear regression –Terminology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EF4A57-9583-44FE-A333-D825FEAABA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Outcome, Y</a:t>
            </a:r>
          </a:p>
          <a:p>
            <a:pPr lvl="1"/>
            <a:r>
              <a:rPr lang="en-US" dirty="0"/>
              <a:t>Dependent variable</a:t>
            </a:r>
          </a:p>
          <a:p>
            <a:pPr lvl="1"/>
            <a:r>
              <a:rPr lang="en-US" dirty="0"/>
              <a:t>Response variable</a:t>
            </a:r>
          </a:p>
          <a:p>
            <a:pPr lvl="1"/>
            <a:r>
              <a:rPr lang="en-US" dirty="0"/>
              <a:t>Consequent</a:t>
            </a:r>
          </a:p>
          <a:p>
            <a:endParaRPr lang="en-US" dirty="0"/>
          </a:p>
          <a:p>
            <a:r>
              <a:rPr lang="en-US" dirty="0"/>
              <a:t>Explanatory variable (predictor), X</a:t>
            </a:r>
          </a:p>
          <a:p>
            <a:pPr lvl="1"/>
            <a:r>
              <a:rPr lang="en-US" dirty="0"/>
              <a:t>Independent variable</a:t>
            </a:r>
          </a:p>
          <a:p>
            <a:pPr lvl="1"/>
            <a:r>
              <a:rPr lang="en-US" dirty="0"/>
              <a:t>Covariate</a:t>
            </a:r>
          </a:p>
          <a:p>
            <a:pPr lvl="1"/>
            <a:r>
              <a:rPr lang="en-US" dirty="0"/>
              <a:t>Control</a:t>
            </a:r>
          </a:p>
          <a:p>
            <a:pPr lvl="1"/>
            <a:r>
              <a:rPr lang="en-US" dirty="0"/>
              <a:t>Exposure</a:t>
            </a:r>
          </a:p>
          <a:p>
            <a:pPr lvl="1"/>
            <a:r>
              <a:rPr lang="en-US" dirty="0"/>
              <a:t>Antecedent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277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3CB6580-7287-4513-9175-76E38676F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br>
              <a:rPr lang="en-US" dirty="0"/>
            </a:br>
            <a:r>
              <a:rPr lang="en-US" sz="3200" dirty="0"/>
              <a:t>Linear Regression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245968FD-F5FB-4A28-843F-9E4EE7202D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en-US" dirty="0">
                    <a:solidFill>
                      <a:schemeClr val="tx1"/>
                    </a:solidFill>
                    <a:ea typeface="ＭＳ Ｐゴシック" panose="020B0600070205080204" pitchFamily="34" charset="-128"/>
                  </a:rPr>
                  <a:t>Aims to predict the value of an outcome </a:t>
                </a:r>
                <a:r>
                  <a:rPr lang="en-US" altLang="en-US" i="1" dirty="0">
                    <a:solidFill>
                      <a:schemeClr val="tx1"/>
                    </a:solidFill>
                    <a:ea typeface="ＭＳ Ｐゴシック" panose="020B0600070205080204" pitchFamily="34" charset="-128"/>
                  </a:rPr>
                  <a:t>Y</a:t>
                </a:r>
                <a:r>
                  <a:rPr lang="en-US" altLang="en-US" dirty="0">
                    <a:solidFill>
                      <a:schemeClr val="tx1"/>
                    </a:solidFill>
                    <a:ea typeface="ＭＳ Ｐゴシック" panose="020B0600070205080204" pitchFamily="34" charset="-128"/>
                  </a:rPr>
                  <a:t>, based on the value of one or more explanatory variables,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ＭＳ Ｐゴシック" panose="020B0600070205080204" pitchFamily="34" charset="-128"/>
                          </a:rPr>
                        </m:ctrlPr>
                      </m:sSubPr>
                      <m:e>
                        <m:r>
                          <a:rPr lang="en-US" alt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ＭＳ Ｐゴシック" panose="020B0600070205080204" pitchFamily="34" charset="-128"/>
                          </a:rPr>
                          <m:t>𝑋</m:t>
                        </m:r>
                      </m:e>
                      <m:sub>
                        <m:r>
                          <a:rPr lang="en-US" alt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ＭＳ Ｐゴシック" panose="020B0600070205080204" pitchFamily="34" charset="-128"/>
                          </a:rPr>
                          <m:t>1</m:t>
                        </m:r>
                      </m:sub>
                    </m:sSub>
                    <m:r>
                      <a:rPr lang="en-US" alt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ＭＳ Ｐゴシック" panose="020B0600070205080204" pitchFamily="34" charset="-128"/>
                      </a:rPr>
                      <m:t>, …</m:t>
                    </m:r>
                    <m:sSub>
                      <m:sSubPr>
                        <m:ctrlPr>
                          <a:rPr lang="en-US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ＭＳ Ｐゴシック" panose="020B0600070205080204" pitchFamily="34" charset="-128"/>
                          </a:rPr>
                        </m:ctrlPr>
                      </m:sSubPr>
                      <m:e>
                        <m:r>
                          <a:rPr lang="en-US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ＭＳ Ｐゴシック" panose="020B0600070205080204" pitchFamily="34" charset="-128"/>
                          </a:rPr>
                          <m:t>𝑋</m:t>
                        </m:r>
                      </m:e>
                      <m:sub>
                        <m:r>
                          <a:rPr lang="en-US" alt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ＭＳ Ｐゴシック" panose="020B0600070205080204" pitchFamily="34" charset="-128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en-US" dirty="0">
                    <a:solidFill>
                      <a:schemeClr val="tx1"/>
                    </a:solidFill>
                    <a:ea typeface="ＭＳ Ｐゴシック" panose="020B0600070205080204" pitchFamily="34" charset="-128"/>
                  </a:rPr>
                  <a:t>.</a:t>
                </a:r>
              </a:p>
              <a:p>
                <a:pPr eaLnBrk="1" hangingPunct="1">
                  <a:lnSpc>
                    <a:spcPct val="90000"/>
                  </a:lnSpc>
                </a:pPr>
                <a:endParaRPr lang="en-US" altLang="en-US" dirty="0">
                  <a:solidFill>
                    <a:schemeClr val="tx1"/>
                  </a:solidFill>
                  <a:ea typeface="ＭＳ Ｐゴシック" panose="020B0600070205080204" pitchFamily="34" charset="-128"/>
                </a:endParaRPr>
              </a:p>
              <a:p>
                <a:pPr lvl="1" eaLnBrk="1" hangingPunct="1">
                  <a:lnSpc>
                    <a:spcPct val="90000"/>
                  </a:lnSpc>
                </a:pPr>
                <a:r>
                  <a:rPr lang="en-US" altLang="en-US" dirty="0">
                    <a:solidFill>
                      <a:schemeClr val="tx1"/>
                    </a:solidFill>
                    <a:ea typeface="ＭＳ Ｐゴシック" panose="020B0600070205080204" pitchFamily="34" charset="-128"/>
                  </a:rPr>
                  <a:t>What is the relationship between </a:t>
                </a:r>
                <a:r>
                  <a:rPr lang="en-US" altLang="en-US" i="1" dirty="0">
                    <a:solidFill>
                      <a:schemeClr val="tx1"/>
                    </a:solidFill>
                    <a:ea typeface="ＭＳ Ｐゴシック" panose="020B0600070205080204" pitchFamily="34" charset="-128"/>
                  </a:rPr>
                  <a:t>Y</a:t>
                </a:r>
                <a:r>
                  <a:rPr lang="en-US" altLang="en-US" dirty="0">
                    <a:solidFill>
                      <a:schemeClr val="tx1"/>
                    </a:solidFill>
                    <a:ea typeface="ＭＳ Ｐゴシック" panose="020B0600070205080204" pitchFamily="34" charset="-128"/>
                  </a:rPr>
                  <a:t> and </a:t>
                </a:r>
                <a:r>
                  <a:rPr lang="en-US" altLang="en-US" i="1" dirty="0">
                    <a:solidFill>
                      <a:schemeClr val="tx1"/>
                    </a:solidFill>
                    <a:ea typeface="ＭＳ Ｐゴシック" panose="020B0600070205080204" pitchFamily="34" charset="-128"/>
                  </a:rPr>
                  <a:t>X’</a:t>
                </a:r>
                <a:r>
                  <a:rPr lang="en-US" altLang="en-US" dirty="0">
                    <a:solidFill>
                      <a:schemeClr val="tx1"/>
                    </a:solidFill>
                    <a:ea typeface="ＭＳ Ｐゴシック" panose="020B0600070205080204" pitchFamily="34" charset="-128"/>
                  </a:rPr>
                  <a:t>s on average? </a:t>
                </a:r>
              </a:p>
              <a:p>
                <a:pPr lvl="2" eaLnBrk="1" hangingPunct="1">
                  <a:lnSpc>
                    <a:spcPct val="90000"/>
                  </a:lnSpc>
                </a:pPr>
                <a:r>
                  <a:rPr lang="en-US" altLang="en-US" dirty="0">
                    <a:solidFill>
                      <a:schemeClr val="tx1"/>
                    </a:solidFill>
                    <a:ea typeface="ＭＳ Ｐゴシック" panose="020B0600070205080204" pitchFamily="34" charset="-128"/>
                  </a:rPr>
                  <a:t>The analysis “models” this as a line</a:t>
                </a:r>
              </a:p>
              <a:p>
                <a:pPr lvl="2" eaLnBrk="1" hangingPunct="1">
                  <a:lnSpc>
                    <a:spcPct val="90000"/>
                  </a:lnSpc>
                </a:pPr>
                <a:r>
                  <a:rPr lang="en-US" altLang="en-US" dirty="0">
                    <a:solidFill>
                      <a:schemeClr val="tx1"/>
                    </a:solidFill>
                    <a:ea typeface="ＭＳ Ｐゴシック" panose="020B0600070205080204" pitchFamily="34" charset="-128"/>
                    <a:cs typeface="Times New Roman" panose="02020603050405020304" pitchFamily="18" charset="0"/>
                  </a:rPr>
                  <a:t>We care about “slope”—size, direction</a:t>
                </a:r>
              </a:p>
              <a:p>
                <a:pPr lvl="2" eaLnBrk="1" hangingPunct="1">
                  <a:lnSpc>
                    <a:spcPct val="90000"/>
                  </a:lnSpc>
                </a:pPr>
                <a:r>
                  <a:rPr lang="en-US" altLang="en-US" dirty="0">
                    <a:solidFill>
                      <a:schemeClr val="tx1"/>
                    </a:solidFill>
                    <a:ea typeface="ＭＳ Ｐゴシック" panose="020B0600070205080204" pitchFamily="34" charset="-128"/>
                    <a:cs typeface="Times New Roman" panose="02020603050405020304" pitchFamily="18" charset="0"/>
                  </a:rPr>
                  <a:t>Slope=0 corresponds to “no association”</a:t>
                </a:r>
              </a:p>
              <a:p>
                <a:pPr eaLnBrk="1" hangingPunct="1">
                  <a:lnSpc>
                    <a:spcPct val="90000"/>
                  </a:lnSpc>
                </a:pPr>
                <a:endParaRPr lang="en-US" altLang="en-US" dirty="0">
                  <a:solidFill>
                    <a:schemeClr val="tx1"/>
                  </a:solidFill>
                  <a:ea typeface="ＭＳ Ｐゴシック" panose="020B0600070205080204" pitchFamily="34" charset="-128"/>
                </a:endParaRPr>
              </a:p>
              <a:p>
                <a:pPr lvl="1" eaLnBrk="1" hangingPunct="1">
                  <a:lnSpc>
                    <a:spcPct val="90000"/>
                  </a:lnSpc>
                </a:pPr>
                <a:r>
                  <a:rPr lang="en-US" altLang="en-US" dirty="0">
                    <a:solidFill>
                      <a:schemeClr val="tx1"/>
                    </a:solidFill>
                    <a:ea typeface="ＭＳ Ｐゴシック" panose="020B0600070205080204" pitchFamily="34" charset="-128"/>
                  </a:rPr>
                  <a:t>How precisely can we predict a Y conditional on certain values of the independent variables?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245968FD-F5FB-4A28-843F-9E4EE7202D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5366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3D45F-FDBD-1DC1-00D6-8B9407166D3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8587" y="0"/>
            <a:ext cx="10944225" cy="1624013"/>
          </a:xfrm>
        </p:spPr>
        <p:txBody>
          <a:bodyPr>
            <a:normAutofit/>
          </a:bodyPr>
          <a:lstStyle/>
          <a:p>
            <a:r>
              <a:rPr lang="en-US" dirty="0"/>
              <a:t>Deterministic Relationship between 2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A5AFB-48C0-DDE8-6162-C54194EDD7C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89019" y="1329531"/>
            <a:ext cx="4498181" cy="4852988"/>
          </a:xfrm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A functional relation between two variables is expressed by a mathematical formula</a:t>
            </a:r>
          </a:p>
          <a:p>
            <a:pPr marL="0" indent="0">
              <a:buNone/>
            </a:pPr>
            <a:r>
              <a:rPr lang="en-US" dirty="0"/>
              <a:t>If </a:t>
            </a:r>
            <a:r>
              <a:rPr lang="en-US" i="1" dirty="0"/>
              <a:t>X</a:t>
            </a:r>
            <a:r>
              <a:rPr lang="en-US" dirty="0"/>
              <a:t> denotes the independent variable and </a:t>
            </a:r>
            <a:r>
              <a:rPr lang="en-US" i="1" dirty="0"/>
              <a:t>Y</a:t>
            </a:r>
            <a:r>
              <a:rPr lang="en-US" dirty="0"/>
              <a:t> the dependent variable, a functional relation is: Y = </a:t>
            </a:r>
            <a:r>
              <a:rPr lang="en-US" i="1" dirty="0"/>
              <a:t>f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given a value of </a:t>
            </a:r>
            <a:r>
              <a:rPr lang="en-US" i="1" dirty="0"/>
              <a:t>X</a:t>
            </a:r>
            <a:r>
              <a:rPr lang="en-US" dirty="0"/>
              <a:t>, the function </a:t>
            </a:r>
            <a:r>
              <a:rPr lang="en-US" i="1" dirty="0"/>
              <a:t>f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 indicates the value of Y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Example: Y = 200X (?)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3C72AE42-0D1F-40FA-166C-5A0305EAC6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9028946"/>
              </p:ext>
            </p:extLst>
          </p:nvPr>
        </p:nvGraphicFramePr>
        <p:xfrm>
          <a:off x="662677" y="1969036"/>
          <a:ext cx="6192252" cy="3386328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2145948">
                  <a:extLst>
                    <a:ext uri="{9D8B030D-6E8A-4147-A177-3AD203B41FA5}">
                      <a16:colId xmlns:a16="http://schemas.microsoft.com/office/drawing/2014/main" val="923121989"/>
                    </a:ext>
                  </a:extLst>
                </a:gridCol>
                <a:gridCol w="2442701">
                  <a:extLst>
                    <a:ext uri="{9D8B030D-6E8A-4147-A177-3AD203B41FA5}">
                      <a16:colId xmlns:a16="http://schemas.microsoft.com/office/drawing/2014/main" val="2655415840"/>
                    </a:ext>
                  </a:extLst>
                </a:gridCol>
                <a:gridCol w="1603603">
                  <a:extLst>
                    <a:ext uri="{9D8B030D-6E8A-4147-A177-3AD203B41FA5}">
                      <a16:colId xmlns:a16="http://schemas.microsoft.com/office/drawing/2014/main" val="1785986915"/>
                    </a:ext>
                  </a:extLst>
                </a:gridCol>
              </a:tblGrid>
              <a:tr h="359732">
                <a:tc>
                  <a:txBody>
                    <a:bodyPr/>
                    <a:lstStyle/>
                    <a:p>
                      <a:pPr algn="ctr"/>
                      <a:r>
                        <a:rPr lang="en-US" sz="3300" dirty="0"/>
                        <a:t>Age</a:t>
                      </a:r>
                    </a:p>
                  </a:txBody>
                  <a:tcPr marL="167640" marR="167640" marT="83820" marB="838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300" dirty="0"/>
                        <a:t>ACEs</a:t>
                      </a:r>
                    </a:p>
                  </a:txBody>
                  <a:tcPr marL="167640" marR="167640" marT="83820" marB="838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300" dirty="0"/>
                        <a:t>Test Score</a:t>
                      </a:r>
                    </a:p>
                  </a:txBody>
                  <a:tcPr marL="167640" marR="167640" marT="83820" marB="83820" anchor="ctr"/>
                </a:tc>
                <a:extLst>
                  <a:ext uri="{0D108BD9-81ED-4DB2-BD59-A6C34878D82A}">
                    <a16:rowId xmlns:a16="http://schemas.microsoft.com/office/drawing/2014/main" val="4037410758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pPr algn="ctr"/>
                      <a:r>
                        <a:rPr lang="en-US" sz="3300" dirty="0"/>
                        <a:t>5</a:t>
                      </a:r>
                    </a:p>
                  </a:txBody>
                  <a:tcPr marL="167640" marR="167640" marT="83820" marB="838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300" dirty="0"/>
                        <a:t>7</a:t>
                      </a:r>
                    </a:p>
                  </a:txBody>
                  <a:tcPr marL="167640" marR="167640" marT="83820" marB="838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300" dirty="0"/>
                        <a:t>1400</a:t>
                      </a:r>
                    </a:p>
                  </a:txBody>
                  <a:tcPr marL="167640" marR="167640" marT="83820" marB="83820" anchor="ctr"/>
                </a:tc>
                <a:extLst>
                  <a:ext uri="{0D108BD9-81ED-4DB2-BD59-A6C34878D82A}">
                    <a16:rowId xmlns:a16="http://schemas.microsoft.com/office/drawing/2014/main" val="3989448968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pPr algn="ctr"/>
                      <a:r>
                        <a:rPr lang="en-US" sz="3300" dirty="0"/>
                        <a:t>10</a:t>
                      </a:r>
                    </a:p>
                  </a:txBody>
                  <a:tcPr marL="167640" marR="167640" marT="83820" marB="838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300" dirty="0"/>
                        <a:t>1</a:t>
                      </a:r>
                    </a:p>
                  </a:txBody>
                  <a:tcPr marL="167640" marR="167640" marT="83820" marB="838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300" dirty="0"/>
                        <a:t>200</a:t>
                      </a:r>
                    </a:p>
                  </a:txBody>
                  <a:tcPr marL="167640" marR="167640" marT="83820" marB="83820" anchor="ctr"/>
                </a:tc>
                <a:extLst>
                  <a:ext uri="{0D108BD9-81ED-4DB2-BD59-A6C34878D82A}">
                    <a16:rowId xmlns:a16="http://schemas.microsoft.com/office/drawing/2014/main" val="3282544168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pPr algn="ctr"/>
                      <a:r>
                        <a:rPr lang="en-US" sz="3300" dirty="0"/>
                        <a:t>20</a:t>
                      </a:r>
                    </a:p>
                  </a:txBody>
                  <a:tcPr marL="167640" marR="167640" marT="83820" marB="838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300" dirty="0"/>
                        <a:t>3</a:t>
                      </a:r>
                    </a:p>
                  </a:txBody>
                  <a:tcPr marL="167640" marR="167640" marT="83820" marB="838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300" dirty="0"/>
                        <a:t>600</a:t>
                      </a:r>
                    </a:p>
                  </a:txBody>
                  <a:tcPr marL="167640" marR="167640" marT="83820" marB="83820" anchor="ctr"/>
                </a:tc>
                <a:extLst>
                  <a:ext uri="{0D108BD9-81ED-4DB2-BD59-A6C34878D82A}">
                    <a16:rowId xmlns:a16="http://schemas.microsoft.com/office/drawing/2014/main" val="2437323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11690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4C5AB-EB0B-6198-C1B0-0EC3C71CDDD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78882" y="306566"/>
            <a:ext cx="10808231" cy="1624013"/>
          </a:xfrm>
        </p:spPr>
        <p:txBody>
          <a:bodyPr>
            <a:normAutofit/>
          </a:bodyPr>
          <a:lstStyle/>
          <a:p>
            <a:r>
              <a:rPr lang="en-US" dirty="0"/>
              <a:t>Statistical Relationship between 2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A0BD62-A8AA-9E6B-B7B1-BA9F4624048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960519" y="1531938"/>
            <a:ext cx="3852599" cy="4852988"/>
          </a:xfrm>
        </p:spPr>
        <p:txBody>
          <a:bodyPr anchor="ctr">
            <a:normAutofit/>
          </a:bodyPr>
          <a:lstStyle/>
          <a:p>
            <a:r>
              <a:rPr lang="en-US" dirty="0"/>
              <a:t>A statistical relation, unlike a functional relation, is not a perfect one</a:t>
            </a:r>
          </a:p>
          <a:p>
            <a:r>
              <a:rPr lang="en-US" dirty="0"/>
              <a:t>The observations for a statistical relation do not fall directly on-the curve of relationship</a:t>
            </a:r>
          </a:p>
        </p:txBody>
      </p:sp>
      <p:pic>
        <p:nvPicPr>
          <p:cNvPr id="4" name="Content Placeholder 11" descr="Chart, line chart, scatter chart&#10;&#10;Description automatically generated">
            <a:extLst>
              <a:ext uri="{FF2B5EF4-FFF2-40B4-BE49-F238E27FC236}">
                <a16:creationId xmlns:a16="http://schemas.microsoft.com/office/drawing/2014/main" id="{E7E7EDA6-B8A0-8BBB-6C77-F07441F80C4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9672"/>
          <a:stretch/>
        </p:blipFill>
        <p:spPr>
          <a:xfrm>
            <a:off x="321732" y="2408240"/>
            <a:ext cx="7056669" cy="4143194"/>
          </a:xfrm>
          <a:prstGeom prst="rect">
            <a:avLst/>
          </a:prstGeom>
          <a:noFill/>
          <a:effectLst/>
        </p:spPr>
      </p:pic>
    </p:spTree>
    <p:extLst>
      <p:ext uri="{BB962C8B-B14F-4D97-AF65-F5344CB8AC3E}">
        <p14:creationId xmlns:p14="http://schemas.microsoft.com/office/powerpoint/2010/main" val="522085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3">
            <a:extLst>
              <a:ext uri="{FF2B5EF4-FFF2-40B4-BE49-F238E27FC236}">
                <a16:creationId xmlns:a16="http://schemas.microsoft.com/office/drawing/2014/main" id="{3AB8544D-C554-42E4-9EFA-0D06D3EFB96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12705" y="2067374"/>
            <a:ext cx="4579475" cy="4114800"/>
          </a:xfrm>
          <a:ln>
            <a:noFill/>
          </a:ln>
        </p:spPr>
        <p:txBody>
          <a:bodyPr/>
          <a:lstStyle/>
          <a:p>
            <a:pPr marL="0" indent="0">
              <a:lnSpc>
                <a:spcPct val="90000"/>
              </a:lnSpc>
              <a:buNone/>
            </a:pPr>
            <a:r>
              <a:rPr lang="en-US" altLang="en-US" dirty="0"/>
              <a:t>The first order linear model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altLang="en-US" dirty="0"/>
              <a:t>Y = dependent variable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altLang="en-US" dirty="0"/>
              <a:t>X = independent variable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altLang="en-US" dirty="0">
                <a:latin typeface="Symbol" panose="05050102010706020507" pitchFamily="18" charset="2"/>
              </a:rPr>
              <a:t>b</a:t>
            </a:r>
            <a:r>
              <a:rPr lang="en-US" altLang="en-US" baseline="-25000" dirty="0"/>
              <a:t>0</a:t>
            </a:r>
            <a:r>
              <a:rPr lang="en-US" altLang="en-US" dirty="0"/>
              <a:t> = Y-intercept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altLang="en-US" dirty="0">
                <a:latin typeface="Symbol" panose="05050102010706020507" pitchFamily="18" charset="2"/>
              </a:rPr>
              <a:t>b</a:t>
            </a:r>
            <a:r>
              <a:rPr lang="en-US" altLang="en-US" baseline="-25000" dirty="0"/>
              <a:t>1</a:t>
            </a:r>
            <a:r>
              <a:rPr lang="en-US" altLang="en-US" dirty="0"/>
              <a:t> = slope of the line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altLang="en-US" dirty="0">
                <a:latin typeface="Symbol" panose="05050102010706020507" pitchFamily="18" charset="2"/>
              </a:rPr>
              <a:t>e</a:t>
            </a:r>
            <a:r>
              <a:rPr lang="en-US" altLang="en-US" dirty="0"/>
              <a:t> = error variable</a:t>
            </a:r>
          </a:p>
        </p:txBody>
      </p:sp>
      <p:graphicFrame>
        <p:nvGraphicFramePr>
          <p:cNvPr id="5124" name="Object 4">
            <a:extLst>
              <a:ext uri="{FF2B5EF4-FFF2-40B4-BE49-F238E27FC236}">
                <a16:creationId xmlns:a16="http://schemas.microsoft.com/office/drawing/2014/main" id="{04286BA5-DD75-4597-ADD2-8F1ED8800E0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411662" y="390427"/>
          <a:ext cx="3368675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03300" imgH="177800" progId="Equation.3">
                  <p:embed/>
                </p:oleObj>
              </mc:Choice>
              <mc:Fallback>
                <p:oleObj name="Equation" r:id="rId2" imgW="1003300" imgH="177800" progId="Equation.3">
                  <p:embed/>
                  <p:pic>
                    <p:nvPicPr>
                      <p:cNvPr id="5124" name="Object 4">
                        <a:extLst>
                          <a:ext uri="{FF2B5EF4-FFF2-40B4-BE49-F238E27FC236}">
                            <a16:creationId xmlns:a16="http://schemas.microsoft.com/office/drawing/2014/main" id="{04286BA5-DD75-4597-ADD2-8F1ED8800E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11662" y="390427"/>
                        <a:ext cx="3368675" cy="596900"/>
                      </a:xfrm>
                      <a:prstGeom prst="rect">
                        <a:avLst/>
                      </a:prstGeom>
                      <a:solidFill>
                        <a:srgbClr val="92D050"/>
                      </a:solidFill>
                      <a:ln>
                        <a:noFill/>
                      </a:ln>
                      <a:effectLst>
                        <a:outerShdw dist="117088" dir="18636078" algn="ctr" rotWithShape="0">
                          <a:srgbClr val="2C2CB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139" name="Group 19">
            <a:extLst>
              <a:ext uri="{FF2B5EF4-FFF2-40B4-BE49-F238E27FC236}">
                <a16:creationId xmlns:a16="http://schemas.microsoft.com/office/drawing/2014/main" id="{B2F21EE9-2C77-471D-ABD4-62AF99B3E280}"/>
              </a:ext>
            </a:extLst>
          </p:cNvPr>
          <p:cNvGrpSpPr>
            <a:grpSpLocks/>
          </p:cNvGrpSpPr>
          <p:nvPr/>
        </p:nvGrpSpPr>
        <p:grpSpPr bwMode="auto">
          <a:xfrm>
            <a:off x="5390085" y="3507029"/>
            <a:ext cx="4964723" cy="2366657"/>
            <a:chOff x="3408" y="2496"/>
            <a:chExt cx="1680" cy="1248"/>
          </a:xfrm>
        </p:grpSpPr>
        <p:sp>
          <p:nvSpPr>
            <p:cNvPr id="5125" name="Line 5">
              <a:extLst>
                <a:ext uri="{FF2B5EF4-FFF2-40B4-BE49-F238E27FC236}">
                  <a16:creationId xmlns:a16="http://schemas.microsoft.com/office/drawing/2014/main" id="{843618FE-798D-4F38-953F-A19A27B193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08" y="2496"/>
              <a:ext cx="0" cy="12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126" name="Line 6">
              <a:extLst>
                <a:ext uri="{FF2B5EF4-FFF2-40B4-BE49-F238E27FC236}">
                  <a16:creationId xmlns:a16="http://schemas.microsoft.com/office/drawing/2014/main" id="{88CA9C3C-6F99-4006-92CD-2C496EACE2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08" y="3744"/>
              <a:ext cx="16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5127" name="Text Box 7">
            <a:extLst>
              <a:ext uri="{FF2B5EF4-FFF2-40B4-BE49-F238E27FC236}">
                <a16:creationId xmlns:a16="http://schemas.microsoft.com/office/drawing/2014/main" id="{ADBD7636-BA92-4C33-8193-F2755C88AF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58551" y="5642853"/>
            <a:ext cx="365806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X</a:t>
            </a:r>
          </a:p>
        </p:txBody>
      </p:sp>
      <p:sp>
        <p:nvSpPr>
          <p:cNvPr id="5128" name="Text Box 8">
            <a:extLst>
              <a:ext uri="{FF2B5EF4-FFF2-40B4-BE49-F238E27FC236}">
                <a16:creationId xmlns:a16="http://schemas.microsoft.com/office/drawing/2014/main" id="{F551C333-5A32-4AE9-9B66-AB8843E7FE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36586" y="3239884"/>
            <a:ext cx="35458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Y</a:t>
            </a:r>
          </a:p>
        </p:txBody>
      </p:sp>
      <p:sp>
        <p:nvSpPr>
          <p:cNvPr id="5131" name="Line 11">
            <a:extLst>
              <a:ext uri="{FF2B5EF4-FFF2-40B4-BE49-F238E27FC236}">
                <a16:creationId xmlns:a16="http://schemas.microsoft.com/office/drawing/2014/main" id="{7BE12063-0D72-40E0-826F-E53AA150ADF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390085" y="1976136"/>
            <a:ext cx="4507519" cy="297927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132" name="Text Box 12">
            <a:extLst>
              <a:ext uri="{FF2B5EF4-FFF2-40B4-BE49-F238E27FC236}">
                <a16:creationId xmlns:a16="http://schemas.microsoft.com/office/drawing/2014/main" id="{B5A56E8F-6C7B-4C09-9C49-58DA87417D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79721" y="4690358"/>
            <a:ext cx="38576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ymbol" panose="05050102010706020507" pitchFamily="18" charset="2"/>
                <a:ea typeface="+mn-ea"/>
                <a:cs typeface="+mn-cs"/>
              </a:rPr>
              <a:t>b</a:t>
            </a:r>
            <a:r>
              <a:rPr kumimoji="0" lang="en-US" alt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+mn-cs"/>
              </a:rPr>
              <a:t>0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+mn-cs"/>
            </a:endParaRPr>
          </a:p>
        </p:txBody>
      </p:sp>
      <p:sp>
        <p:nvSpPr>
          <p:cNvPr id="5133" name="Freeform 13">
            <a:extLst>
              <a:ext uri="{FF2B5EF4-FFF2-40B4-BE49-F238E27FC236}">
                <a16:creationId xmlns:a16="http://schemas.microsoft.com/office/drawing/2014/main" id="{14DF4386-25B6-4D05-9B7F-ABBC016A3464}"/>
              </a:ext>
            </a:extLst>
          </p:cNvPr>
          <p:cNvSpPr>
            <a:spLocks/>
          </p:cNvSpPr>
          <p:nvPr/>
        </p:nvSpPr>
        <p:spPr bwMode="auto">
          <a:xfrm>
            <a:off x="5791207" y="4282098"/>
            <a:ext cx="685800" cy="457200"/>
          </a:xfrm>
          <a:custGeom>
            <a:avLst/>
            <a:gdLst>
              <a:gd name="T0" fmla="*/ 0 w 432"/>
              <a:gd name="T1" fmla="*/ 288 h 288"/>
              <a:gd name="T2" fmla="*/ 432 w 432"/>
              <a:gd name="T3" fmla="*/ 288 h 288"/>
              <a:gd name="T4" fmla="*/ 432 w 432"/>
              <a:gd name="T5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432" h="288">
                <a:moveTo>
                  <a:pt x="0" y="288"/>
                </a:moveTo>
                <a:lnTo>
                  <a:pt x="432" y="288"/>
                </a:lnTo>
                <a:lnTo>
                  <a:pt x="432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134" name="Text Box 14">
            <a:extLst>
              <a:ext uri="{FF2B5EF4-FFF2-40B4-BE49-F238E27FC236}">
                <a16:creationId xmlns:a16="http://schemas.microsoft.com/office/drawing/2014/main" id="{510ED92D-47EA-46E0-8CF8-1620F89CF7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31010" y="4726001"/>
            <a:ext cx="58221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Run</a:t>
            </a:r>
          </a:p>
        </p:txBody>
      </p:sp>
      <p:sp>
        <p:nvSpPr>
          <p:cNvPr id="5135" name="Text Box 15">
            <a:extLst>
              <a:ext uri="{FF2B5EF4-FFF2-40B4-BE49-F238E27FC236}">
                <a16:creationId xmlns:a16="http://schemas.microsoft.com/office/drawing/2014/main" id="{9570667C-D9CC-4A72-8910-3012E14ABC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29841" y="4356669"/>
            <a:ext cx="61266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Rise</a:t>
            </a:r>
          </a:p>
        </p:txBody>
      </p:sp>
      <p:sp>
        <p:nvSpPr>
          <p:cNvPr id="5136" name="Text Box 16">
            <a:extLst>
              <a:ext uri="{FF2B5EF4-FFF2-40B4-BE49-F238E27FC236}">
                <a16:creationId xmlns:a16="http://schemas.microsoft.com/office/drawing/2014/main" id="{45030B29-F80D-4506-8FDF-6BFFF304252A}"/>
              </a:ext>
            </a:extLst>
          </p:cNvPr>
          <p:cNvSpPr txBox="1">
            <a:spLocks noChangeArrowheads="1"/>
          </p:cNvSpPr>
          <p:nvPr/>
        </p:nvSpPr>
        <p:spPr bwMode="auto">
          <a:xfrm rot="19766849">
            <a:off x="5475178" y="3999588"/>
            <a:ext cx="1505797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ymbol" panose="05050102010706020507" pitchFamily="18" charset="2"/>
                <a:ea typeface="+mn-ea"/>
                <a:cs typeface="+mn-cs"/>
              </a:rPr>
              <a:t>b</a:t>
            </a:r>
            <a:r>
              <a:rPr kumimoji="0" lang="en-US" alt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ymbol" panose="05050102010706020507" pitchFamily="18" charset="2"/>
                <a:ea typeface="+mn-ea"/>
                <a:cs typeface="+mn-cs"/>
              </a:rPr>
              <a:t>1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= Rise/Run</a:t>
            </a:r>
          </a:p>
        </p:txBody>
      </p:sp>
      <p:sp>
        <p:nvSpPr>
          <p:cNvPr id="5138" name="Text Box 18">
            <a:extLst>
              <a:ext uri="{FF2B5EF4-FFF2-40B4-BE49-F238E27FC236}">
                <a16:creationId xmlns:a16="http://schemas.microsoft.com/office/drawing/2014/main" id="{E334A014-6370-478B-BED6-B83DFB7BE8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93055" y="1204185"/>
            <a:ext cx="5195091" cy="646331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ymbol" panose="05050102010706020507" pitchFamily="18" charset="2"/>
                <a:ea typeface="+mn-ea"/>
                <a:cs typeface="+mn-cs"/>
              </a:rPr>
              <a:t>b</a:t>
            </a:r>
            <a:r>
              <a:rPr kumimoji="0" lang="en-US" alt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0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and 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ymbol" panose="05050102010706020507" pitchFamily="18" charset="2"/>
                <a:ea typeface="+mn-ea"/>
                <a:cs typeface="+mn-cs"/>
              </a:rPr>
              <a:t>b</a:t>
            </a:r>
            <a:r>
              <a:rPr kumimoji="0" lang="en-US" alt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are unknown population parameters, therefore are estimated from the data.</a:t>
            </a:r>
          </a:p>
        </p:txBody>
      </p:sp>
    </p:spTree>
    <p:extLst>
      <p:ext uri="{BB962C8B-B14F-4D97-AF65-F5344CB8AC3E}">
        <p14:creationId xmlns:p14="http://schemas.microsoft.com/office/powerpoint/2010/main" val="4126456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38" grpId="0" animBg="1" autoUpdateAnimBg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898E72F4-F025-446E-84A3-F88D6ABA068C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14685" y="88043"/>
            <a:ext cx="10515600" cy="1325563"/>
          </a:xfrm>
          <a:ln>
            <a:noFill/>
          </a:ln>
        </p:spPr>
        <p:txBody>
          <a:bodyPr/>
          <a:lstStyle/>
          <a:p>
            <a:pPr algn="l"/>
            <a:r>
              <a:rPr lang="en-US" altLang="en-US" dirty="0"/>
              <a:t>Estimating the Coefficients</a:t>
            </a:r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3C7DAE65-B90A-4087-AD06-B7EFBCD11183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293000" y="1758095"/>
            <a:ext cx="5053013" cy="4130675"/>
          </a:xfrm>
          <a:ln>
            <a:noFill/>
          </a:ln>
        </p:spPr>
        <p:txBody>
          <a:bodyPr>
            <a:normAutofit/>
          </a:bodyPr>
          <a:lstStyle/>
          <a:p>
            <a:r>
              <a:rPr lang="en-US" altLang="en-US" dirty="0"/>
              <a:t>The coefficients are determined by </a:t>
            </a:r>
          </a:p>
          <a:p>
            <a:pPr lvl="1"/>
            <a:r>
              <a:rPr lang="en-US" altLang="en-US" dirty="0"/>
              <a:t>Drawing a sample from the population of interest,</a:t>
            </a:r>
          </a:p>
          <a:p>
            <a:pPr lvl="1"/>
            <a:r>
              <a:rPr lang="en-US" altLang="en-US" dirty="0"/>
              <a:t>Calculating sample statistics.</a:t>
            </a:r>
          </a:p>
          <a:p>
            <a:pPr lvl="1"/>
            <a:r>
              <a:rPr lang="en-US" altLang="en-US" dirty="0"/>
              <a:t>Estimating a straight line that cuts into the data.</a:t>
            </a:r>
          </a:p>
        </p:txBody>
      </p:sp>
      <p:sp>
        <p:nvSpPr>
          <p:cNvPr id="8220" name="Text Box 28">
            <a:extLst>
              <a:ext uri="{FF2B5EF4-FFF2-40B4-BE49-F238E27FC236}">
                <a16:creationId xmlns:a16="http://schemas.microsoft.com/office/drawing/2014/main" id="{28E18FEA-2677-4911-B0DD-9AD084C03C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0732" y="1720976"/>
            <a:ext cx="4714874" cy="830997"/>
          </a:xfrm>
          <a:prstGeom prst="rect">
            <a:avLst/>
          </a:prstGeom>
          <a:solidFill>
            <a:srgbClr val="D1D1D1"/>
          </a:solidFill>
          <a:ln w="9525">
            <a:noFill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ucida Grande"/>
                <a:ea typeface="+mn-ea"/>
                <a:cs typeface="+mn-cs"/>
              </a:rPr>
              <a:t>Question: What should be </a:t>
            </a:r>
            <a:b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ucida Grande"/>
                <a:ea typeface="+mn-ea"/>
                <a:cs typeface="+mn-cs"/>
              </a:rPr>
            </a:b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ucida Grande"/>
                <a:ea typeface="+mn-ea"/>
                <a:cs typeface="+mn-cs"/>
              </a:rPr>
              <a:t>considered a good line?</a:t>
            </a:r>
          </a:p>
        </p:txBody>
      </p:sp>
      <p:sp>
        <p:nvSpPr>
          <p:cNvPr id="26" name="Freeform 4">
            <a:extLst>
              <a:ext uri="{FF2B5EF4-FFF2-40B4-BE49-F238E27FC236}">
                <a16:creationId xmlns:a16="http://schemas.microsoft.com/office/drawing/2014/main" id="{A371CDE9-80D0-45BD-9304-F4050E975A08}"/>
              </a:ext>
            </a:extLst>
          </p:cNvPr>
          <p:cNvSpPr>
            <a:spLocks/>
          </p:cNvSpPr>
          <p:nvPr/>
        </p:nvSpPr>
        <p:spPr bwMode="auto">
          <a:xfrm>
            <a:off x="5931878" y="3024922"/>
            <a:ext cx="4335141" cy="2224086"/>
          </a:xfrm>
          <a:custGeom>
            <a:avLst/>
            <a:gdLst>
              <a:gd name="T0" fmla="*/ 0 w 2112"/>
              <a:gd name="T1" fmla="*/ 0 h 1248"/>
              <a:gd name="T2" fmla="*/ 0 w 2112"/>
              <a:gd name="T3" fmla="*/ 1248 h 1248"/>
              <a:gd name="T4" fmla="*/ 2112 w 2112"/>
              <a:gd name="T5" fmla="*/ 1248 h 12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12" h="1248">
                <a:moveTo>
                  <a:pt x="0" y="0"/>
                </a:moveTo>
                <a:lnTo>
                  <a:pt x="0" y="1248"/>
                </a:lnTo>
                <a:lnTo>
                  <a:pt x="2112" y="124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Lucida Grande"/>
              <a:ea typeface="+mn-ea"/>
              <a:cs typeface="+mn-cs"/>
            </a:endParaRPr>
          </a:p>
        </p:txBody>
      </p:sp>
      <p:sp>
        <p:nvSpPr>
          <p:cNvPr id="27" name="Text Box 7">
            <a:extLst>
              <a:ext uri="{FF2B5EF4-FFF2-40B4-BE49-F238E27FC236}">
                <a16:creationId xmlns:a16="http://schemas.microsoft.com/office/drawing/2014/main" id="{D4160A6A-9AC2-499A-8D01-28BEC12B83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4603" y="3151921"/>
            <a:ext cx="31591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Wingdings" panose="05000000000000000000" pitchFamily="2" charset="2"/>
                <a:ea typeface="+mn-ea"/>
                <a:cs typeface="+mn-cs"/>
              </a:rPr>
              <a:t>w</a:t>
            </a:r>
          </a:p>
        </p:txBody>
      </p:sp>
      <p:sp>
        <p:nvSpPr>
          <p:cNvPr id="28" name="Text Box 8">
            <a:extLst>
              <a:ext uri="{FF2B5EF4-FFF2-40B4-BE49-F238E27FC236}">
                <a16:creationId xmlns:a16="http://schemas.microsoft.com/office/drawing/2014/main" id="{E7EE1DAE-8305-4624-919C-AAF6FE091E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1803" y="3456721"/>
            <a:ext cx="31591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Wingdings" panose="05000000000000000000" pitchFamily="2" charset="2"/>
                <a:ea typeface="+mn-ea"/>
                <a:cs typeface="+mn-cs"/>
              </a:rPr>
              <a:t>w</a:t>
            </a:r>
          </a:p>
        </p:txBody>
      </p:sp>
      <p:sp>
        <p:nvSpPr>
          <p:cNvPr id="29" name="Text Box 9">
            <a:extLst>
              <a:ext uri="{FF2B5EF4-FFF2-40B4-BE49-F238E27FC236}">
                <a16:creationId xmlns:a16="http://schemas.microsoft.com/office/drawing/2014/main" id="{5B65F67C-60B1-4F00-9938-2D40ABBCB5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1803" y="3913921"/>
            <a:ext cx="31591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Wingdings" panose="05000000000000000000" pitchFamily="2" charset="2"/>
                <a:ea typeface="+mn-ea"/>
                <a:cs typeface="+mn-cs"/>
              </a:rPr>
              <a:t>w</a:t>
            </a:r>
          </a:p>
        </p:txBody>
      </p:sp>
      <p:sp>
        <p:nvSpPr>
          <p:cNvPr id="30" name="Text Box 10">
            <a:extLst>
              <a:ext uri="{FF2B5EF4-FFF2-40B4-BE49-F238E27FC236}">
                <a16:creationId xmlns:a16="http://schemas.microsoft.com/office/drawing/2014/main" id="{731C1A05-CB93-40D3-BE02-305E118F14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1803" y="4258409"/>
            <a:ext cx="3159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Wingdings" panose="05000000000000000000" pitchFamily="2" charset="2"/>
                <a:ea typeface="+mn-ea"/>
                <a:cs typeface="+mn-cs"/>
              </a:rPr>
              <a:t>w</a:t>
            </a:r>
          </a:p>
        </p:txBody>
      </p:sp>
      <p:sp>
        <p:nvSpPr>
          <p:cNvPr id="31" name="Text Box 11">
            <a:extLst>
              <a:ext uri="{FF2B5EF4-FFF2-40B4-BE49-F238E27FC236}">
                <a16:creationId xmlns:a16="http://schemas.microsoft.com/office/drawing/2014/main" id="{B2B6E184-EC38-4815-84E6-B8442EE2A6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35202" y="4106009"/>
            <a:ext cx="2998788" cy="366713"/>
          </a:xfrm>
          <a:prstGeom prst="rect">
            <a:avLst/>
          </a:prstGeom>
          <a:solidFill>
            <a:schemeClr val="bg1">
              <a:alpha val="9000"/>
            </a:schemeClr>
          </a:solidFill>
          <a:ln>
            <a:noFill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Wingdings" panose="05000000000000000000" pitchFamily="2" charset="2"/>
                <a:ea typeface="+mn-ea"/>
                <a:cs typeface="+mn-cs"/>
              </a:rPr>
              <a:t>w  </a:t>
            </a:r>
            <a:r>
              <a:rPr kumimoji="0" lang="en-US" alt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Wingdings" panose="05000000000000000000" pitchFamily="2" charset="2"/>
                <a:ea typeface="+mn-ea"/>
                <a:cs typeface="+mn-cs"/>
              </a:rPr>
              <a:t>w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Wingdings" panose="05000000000000000000" pitchFamily="2" charset="2"/>
                <a:ea typeface="+mn-ea"/>
                <a:cs typeface="+mn-cs"/>
              </a:rPr>
              <a:t>  </a:t>
            </a:r>
            <a:r>
              <a:rPr kumimoji="0" lang="en-US" alt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Wingdings" panose="05000000000000000000" pitchFamily="2" charset="2"/>
                <a:ea typeface="+mn-ea"/>
                <a:cs typeface="+mn-cs"/>
              </a:rPr>
              <a:t>w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Wingdings" panose="05000000000000000000" pitchFamily="2" charset="2"/>
                <a:ea typeface="+mn-ea"/>
                <a:cs typeface="+mn-cs"/>
              </a:rPr>
              <a:t>      </a:t>
            </a:r>
            <a:r>
              <a:rPr kumimoji="0" lang="en-US" alt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Wingdings" panose="05000000000000000000" pitchFamily="2" charset="2"/>
                <a:ea typeface="+mn-ea"/>
                <a:cs typeface="+mn-cs"/>
              </a:rPr>
              <a:t>w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Wingdings" panose="05000000000000000000" pitchFamily="2" charset="2"/>
              <a:ea typeface="+mn-ea"/>
              <a:cs typeface="+mn-cs"/>
            </a:endParaRPr>
          </a:p>
        </p:txBody>
      </p:sp>
      <p:sp>
        <p:nvSpPr>
          <p:cNvPr id="32" name="Text Box 12">
            <a:extLst>
              <a:ext uri="{FF2B5EF4-FFF2-40B4-BE49-F238E27FC236}">
                <a16:creationId xmlns:a16="http://schemas.microsoft.com/office/drawing/2014/main" id="{0ED642C0-9B4C-42E6-8A76-527D64D48B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3528" y="3761521"/>
            <a:ext cx="31591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Wingdings" panose="05000000000000000000" pitchFamily="2" charset="2"/>
                <a:ea typeface="+mn-ea"/>
                <a:cs typeface="+mn-cs"/>
              </a:rPr>
              <a:t>w</a:t>
            </a:r>
          </a:p>
        </p:txBody>
      </p:sp>
      <p:sp>
        <p:nvSpPr>
          <p:cNvPr id="33" name="Text Box 13">
            <a:extLst>
              <a:ext uri="{FF2B5EF4-FFF2-40B4-BE49-F238E27FC236}">
                <a16:creationId xmlns:a16="http://schemas.microsoft.com/office/drawing/2014/main" id="{51B896FD-620F-4999-955B-C0940954E4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14716" y="4375884"/>
            <a:ext cx="1133475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Wingdings" panose="05000000000000000000" pitchFamily="2" charset="2"/>
                <a:ea typeface="+mn-ea"/>
                <a:cs typeface="+mn-cs"/>
              </a:rPr>
              <a:t>w   w</a:t>
            </a:r>
          </a:p>
        </p:txBody>
      </p:sp>
      <p:sp>
        <p:nvSpPr>
          <p:cNvPr id="34" name="Text Box 14">
            <a:extLst>
              <a:ext uri="{FF2B5EF4-FFF2-40B4-BE49-F238E27FC236}">
                <a16:creationId xmlns:a16="http://schemas.microsoft.com/office/drawing/2014/main" id="{7092A3A7-349C-4EE1-99F4-35BF5D1E4E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91003" y="4029809"/>
            <a:ext cx="3159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Wingdings" panose="05000000000000000000" pitchFamily="2" charset="2"/>
                <a:ea typeface="+mn-ea"/>
                <a:cs typeface="+mn-cs"/>
              </a:rPr>
              <a:t>w</a:t>
            </a:r>
          </a:p>
        </p:txBody>
      </p:sp>
      <p:sp>
        <p:nvSpPr>
          <p:cNvPr id="35" name="Text Box 15">
            <a:extLst>
              <a:ext uri="{FF2B5EF4-FFF2-40B4-BE49-F238E27FC236}">
                <a16:creationId xmlns:a16="http://schemas.microsoft.com/office/drawing/2014/main" id="{C83BC05B-CE2A-4B46-8298-71C0ECE8E3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27266" y="4371121"/>
            <a:ext cx="90487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Wingdings" panose="05000000000000000000" pitchFamily="2" charset="2"/>
                <a:ea typeface="+mn-ea"/>
                <a:cs typeface="+mn-cs"/>
              </a:rPr>
              <a:t>w  w</a:t>
            </a:r>
          </a:p>
        </p:txBody>
      </p:sp>
      <p:sp>
        <p:nvSpPr>
          <p:cNvPr id="36" name="Text Box 16">
            <a:extLst>
              <a:ext uri="{FF2B5EF4-FFF2-40B4-BE49-F238E27FC236}">
                <a16:creationId xmlns:a16="http://schemas.microsoft.com/office/drawing/2014/main" id="{3D7F7799-3353-49F8-8A37-23B7E65DB6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13128" y="4675921"/>
            <a:ext cx="31591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Wingdings" panose="05000000000000000000" pitchFamily="2" charset="2"/>
                <a:ea typeface="+mn-ea"/>
                <a:cs typeface="+mn-cs"/>
              </a:rPr>
              <a:t>w</a:t>
            </a:r>
          </a:p>
        </p:txBody>
      </p:sp>
      <p:sp>
        <p:nvSpPr>
          <p:cNvPr id="37" name="Line 18">
            <a:extLst>
              <a:ext uri="{FF2B5EF4-FFF2-40B4-BE49-F238E27FC236}">
                <a16:creationId xmlns:a16="http://schemas.microsoft.com/office/drawing/2014/main" id="{ECD5F60E-3F94-4EA2-8794-8F8E116F096A}"/>
              </a:ext>
            </a:extLst>
          </p:cNvPr>
          <p:cNvSpPr>
            <a:spLocks noChangeShapeType="1"/>
          </p:cNvSpPr>
          <p:nvPr/>
        </p:nvSpPr>
        <p:spPr bwMode="auto">
          <a:xfrm>
            <a:off x="6759759" y="3640077"/>
            <a:ext cx="0" cy="914400"/>
          </a:xfrm>
          <a:prstGeom prst="line">
            <a:avLst/>
          </a:prstGeom>
          <a:noFill/>
          <a:ln w="9525">
            <a:noFill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Lucida Grande"/>
              <a:ea typeface="+mn-ea"/>
              <a:cs typeface="+mn-cs"/>
            </a:endParaRPr>
          </a:p>
        </p:txBody>
      </p:sp>
      <p:sp>
        <p:nvSpPr>
          <p:cNvPr id="38" name="Line 19">
            <a:extLst>
              <a:ext uri="{FF2B5EF4-FFF2-40B4-BE49-F238E27FC236}">
                <a16:creationId xmlns:a16="http://schemas.microsoft.com/office/drawing/2014/main" id="{E8A0484B-56BD-4978-9EB6-3E8FAC7B11FB}"/>
              </a:ext>
            </a:extLst>
          </p:cNvPr>
          <p:cNvSpPr>
            <a:spLocks noChangeShapeType="1"/>
          </p:cNvSpPr>
          <p:nvPr/>
        </p:nvSpPr>
        <p:spPr bwMode="auto">
          <a:xfrm>
            <a:off x="7282840" y="4106008"/>
            <a:ext cx="0" cy="609600"/>
          </a:xfrm>
          <a:prstGeom prst="line">
            <a:avLst/>
          </a:prstGeom>
          <a:noFill/>
          <a:ln w="9525">
            <a:noFill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Lucida Grande"/>
              <a:ea typeface="+mn-ea"/>
              <a:cs typeface="+mn-cs"/>
            </a:endParaRPr>
          </a:p>
        </p:txBody>
      </p:sp>
      <p:sp>
        <p:nvSpPr>
          <p:cNvPr id="39" name="Line 21">
            <a:extLst>
              <a:ext uri="{FF2B5EF4-FFF2-40B4-BE49-F238E27FC236}">
                <a16:creationId xmlns:a16="http://schemas.microsoft.com/office/drawing/2014/main" id="{78984C38-7875-4473-8087-5EA1FF7C287C}"/>
              </a:ext>
            </a:extLst>
          </p:cNvPr>
          <p:cNvSpPr>
            <a:spLocks noChangeShapeType="1"/>
          </p:cNvSpPr>
          <p:nvPr/>
        </p:nvSpPr>
        <p:spPr bwMode="auto">
          <a:xfrm>
            <a:off x="7861484" y="3875821"/>
            <a:ext cx="0" cy="990600"/>
          </a:xfrm>
          <a:prstGeom prst="line">
            <a:avLst/>
          </a:prstGeom>
          <a:noFill/>
          <a:ln w="9525">
            <a:noFill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Lucida Grande"/>
              <a:ea typeface="+mn-ea"/>
              <a:cs typeface="+mn-cs"/>
            </a:endParaRPr>
          </a:p>
        </p:txBody>
      </p:sp>
      <p:sp>
        <p:nvSpPr>
          <p:cNvPr id="40" name="Line 22">
            <a:extLst>
              <a:ext uri="{FF2B5EF4-FFF2-40B4-BE49-F238E27FC236}">
                <a16:creationId xmlns:a16="http://schemas.microsoft.com/office/drawing/2014/main" id="{FD6E8F9F-A90C-4052-88FC-34F7BBF474C1}"/>
              </a:ext>
            </a:extLst>
          </p:cNvPr>
          <p:cNvSpPr>
            <a:spLocks noChangeShapeType="1"/>
          </p:cNvSpPr>
          <p:nvPr/>
        </p:nvSpPr>
        <p:spPr bwMode="auto">
          <a:xfrm>
            <a:off x="8471084" y="4166333"/>
            <a:ext cx="0" cy="838200"/>
          </a:xfrm>
          <a:prstGeom prst="line">
            <a:avLst/>
          </a:prstGeom>
          <a:noFill/>
          <a:ln w="9525">
            <a:noFill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Lucida Grande"/>
              <a:ea typeface="+mn-ea"/>
              <a:cs typeface="+mn-cs"/>
            </a:endParaRPr>
          </a:p>
        </p:txBody>
      </p:sp>
      <p:sp>
        <p:nvSpPr>
          <p:cNvPr id="41" name="Line 23">
            <a:extLst>
              <a:ext uri="{FF2B5EF4-FFF2-40B4-BE49-F238E27FC236}">
                <a16:creationId xmlns:a16="http://schemas.microsoft.com/office/drawing/2014/main" id="{502D5253-E5E3-448E-97AF-90A15205B4C1}"/>
              </a:ext>
            </a:extLst>
          </p:cNvPr>
          <p:cNvSpPr>
            <a:spLocks noChangeShapeType="1"/>
          </p:cNvSpPr>
          <p:nvPr/>
        </p:nvSpPr>
        <p:spPr bwMode="auto">
          <a:xfrm>
            <a:off x="9248959" y="4186788"/>
            <a:ext cx="0" cy="533400"/>
          </a:xfrm>
          <a:prstGeom prst="line">
            <a:avLst/>
          </a:prstGeom>
          <a:noFill/>
          <a:ln w="9525">
            <a:noFill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Lucida Grande"/>
              <a:ea typeface="+mn-ea"/>
              <a:cs typeface="+mn-cs"/>
            </a:endParaRPr>
          </a:p>
        </p:txBody>
      </p:sp>
      <p:sp>
        <p:nvSpPr>
          <p:cNvPr id="42" name="Line 24">
            <a:extLst>
              <a:ext uri="{FF2B5EF4-FFF2-40B4-BE49-F238E27FC236}">
                <a16:creationId xmlns:a16="http://schemas.microsoft.com/office/drawing/2014/main" id="{5B250964-0826-4928-AA5D-EDA936A2934E}"/>
              </a:ext>
            </a:extLst>
          </p:cNvPr>
          <p:cNvSpPr>
            <a:spLocks noChangeShapeType="1"/>
          </p:cNvSpPr>
          <p:nvPr/>
        </p:nvSpPr>
        <p:spPr bwMode="auto">
          <a:xfrm>
            <a:off x="5931877" y="3766283"/>
            <a:ext cx="4114800" cy="1066800"/>
          </a:xfrm>
          <a:prstGeom prst="line">
            <a:avLst/>
          </a:prstGeom>
          <a:noFill/>
          <a:ln w="9525">
            <a:solidFill>
              <a:schemeClr val="accent4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Lucida Grande"/>
              <a:ea typeface="+mn-ea"/>
              <a:cs typeface="+mn-cs"/>
            </a:endParaRPr>
          </a:p>
        </p:txBody>
      </p:sp>
      <p:sp>
        <p:nvSpPr>
          <p:cNvPr id="43" name="Line 25">
            <a:extLst>
              <a:ext uri="{FF2B5EF4-FFF2-40B4-BE49-F238E27FC236}">
                <a16:creationId xmlns:a16="http://schemas.microsoft.com/office/drawing/2014/main" id="{15F6868B-3BE1-4147-BA16-EDBB5360D8E6}"/>
              </a:ext>
            </a:extLst>
          </p:cNvPr>
          <p:cNvSpPr>
            <a:spLocks noChangeShapeType="1"/>
          </p:cNvSpPr>
          <p:nvPr/>
        </p:nvSpPr>
        <p:spPr bwMode="auto">
          <a:xfrm>
            <a:off x="5931877" y="3267808"/>
            <a:ext cx="4038600" cy="190500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Lucida Grande"/>
              <a:ea typeface="+mn-ea"/>
              <a:cs typeface="+mn-cs"/>
            </a:endParaRPr>
          </a:p>
        </p:txBody>
      </p:sp>
      <p:sp>
        <p:nvSpPr>
          <p:cNvPr id="44" name="Line 27">
            <a:extLst>
              <a:ext uri="{FF2B5EF4-FFF2-40B4-BE49-F238E27FC236}">
                <a16:creationId xmlns:a16="http://schemas.microsoft.com/office/drawing/2014/main" id="{6BECAD8C-AFCA-4181-B11D-489F40DF9700}"/>
              </a:ext>
            </a:extLst>
          </p:cNvPr>
          <p:cNvSpPr>
            <a:spLocks noChangeShapeType="1"/>
          </p:cNvSpPr>
          <p:nvPr/>
        </p:nvSpPr>
        <p:spPr bwMode="auto">
          <a:xfrm>
            <a:off x="5931877" y="4029808"/>
            <a:ext cx="4038600" cy="6096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Lucida Grande"/>
              <a:ea typeface="+mn-ea"/>
              <a:cs typeface="+mn-cs"/>
            </a:endParaRPr>
          </a:p>
        </p:txBody>
      </p:sp>
      <p:sp>
        <p:nvSpPr>
          <p:cNvPr id="45" name="Text Box 29">
            <a:extLst>
              <a:ext uri="{FF2B5EF4-FFF2-40B4-BE49-F238E27FC236}">
                <a16:creationId xmlns:a16="http://schemas.microsoft.com/office/drawing/2014/main" id="{D501DB62-636D-4504-BB4C-377D3D2AA6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31008" y="5249008"/>
            <a:ext cx="32092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ucida Grande"/>
                <a:ea typeface="+mn-ea"/>
                <a:cs typeface="+mn-cs"/>
              </a:rPr>
              <a:t>X</a:t>
            </a:r>
          </a:p>
        </p:txBody>
      </p:sp>
      <p:sp>
        <p:nvSpPr>
          <p:cNvPr id="46" name="Text Box 30">
            <a:extLst>
              <a:ext uri="{FF2B5EF4-FFF2-40B4-BE49-F238E27FC236}">
                <a16:creationId xmlns:a16="http://schemas.microsoft.com/office/drawing/2014/main" id="{3A0B756B-ECE6-496F-95D0-FA70D732CE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5335" y="2979081"/>
            <a:ext cx="31290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ucida Grande"/>
                <a:ea typeface="+mn-ea"/>
                <a:cs typeface="+mn-cs"/>
              </a:rPr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141208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8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20" grpId="0" animBg="1" autoUpdateAnimBg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2">
            <a:extLst>
              <a:ext uri="{FF2B5EF4-FFF2-40B4-BE49-F238E27FC236}">
                <a16:creationId xmlns:a16="http://schemas.microsoft.com/office/drawing/2014/main" id="{4C589ADD-B4D9-4709-B8DC-0BF19E64569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61781" y="301752"/>
            <a:ext cx="10005337" cy="782638"/>
          </a:xfrm>
        </p:spPr>
        <p:txBody>
          <a:bodyPr>
            <a:normAutofit fontScale="90000"/>
          </a:bodyPr>
          <a:lstStyle/>
          <a:p>
            <a:r>
              <a:rPr lang="en-US" altLang="en-US" sz="4900" dirty="0"/>
              <a:t>The Least Squares Regression Slope</a:t>
            </a:r>
            <a:br>
              <a:rPr lang="en-US" altLang="en-US" dirty="0"/>
            </a:br>
            <a:r>
              <a:rPr lang="en-US" altLang="en-US" sz="4000" dirty="0"/>
              <a:t>Where should we draw the line</a:t>
            </a:r>
            <a:endParaRPr lang="en-US" altLang="en-US" dirty="0"/>
          </a:p>
        </p:txBody>
      </p:sp>
      <p:sp>
        <p:nvSpPr>
          <p:cNvPr id="70663" name="Text Box 7">
            <a:extLst>
              <a:ext uri="{FF2B5EF4-FFF2-40B4-BE49-F238E27FC236}">
                <a16:creationId xmlns:a16="http://schemas.microsoft.com/office/drawing/2014/main" id="{ADA6FF94-A1BF-4E68-B685-A2E63D15B3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336" y="2531519"/>
            <a:ext cx="10148047" cy="1692771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 good line is one that minimizes the sum of squared differences between the points and the line.</a:t>
            </a: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70381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3" name="Text Box 3">
            <a:extLst>
              <a:ext uri="{FF2B5EF4-FFF2-40B4-BE49-F238E27FC236}">
                <a16:creationId xmlns:a16="http://schemas.microsoft.com/office/drawing/2014/main" id="{AE3F5BE8-8696-43DA-AFFD-814CB9D207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10175" y="4987925"/>
            <a:ext cx="3097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71684" name="Text Box 4">
            <a:extLst>
              <a:ext uri="{FF2B5EF4-FFF2-40B4-BE49-F238E27FC236}">
                <a16:creationId xmlns:a16="http://schemas.microsoft.com/office/drawing/2014/main" id="{2C7DB27F-1663-410A-B05C-58A2C000C8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30450" y="2819400"/>
            <a:ext cx="3097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71685" name="Line 5">
            <a:extLst>
              <a:ext uri="{FF2B5EF4-FFF2-40B4-BE49-F238E27FC236}">
                <a16:creationId xmlns:a16="http://schemas.microsoft.com/office/drawing/2014/main" id="{6B465A7D-9CED-4796-B04A-5EA17B283B1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559050" y="3062288"/>
            <a:ext cx="2819400" cy="0"/>
          </a:xfrm>
          <a:prstGeom prst="line">
            <a:avLst/>
          </a:prstGeom>
          <a:noFill/>
          <a:ln w="3175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1686" name="Line 6">
            <a:extLst>
              <a:ext uri="{FF2B5EF4-FFF2-40B4-BE49-F238E27FC236}">
                <a16:creationId xmlns:a16="http://schemas.microsoft.com/office/drawing/2014/main" id="{A95F7F05-939D-45C9-AF3F-35C633ACB663}"/>
              </a:ext>
            </a:extLst>
          </p:cNvPr>
          <p:cNvSpPr>
            <a:spLocks noChangeShapeType="1"/>
          </p:cNvSpPr>
          <p:nvPr/>
        </p:nvSpPr>
        <p:spPr bwMode="auto">
          <a:xfrm>
            <a:off x="5353050" y="3068638"/>
            <a:ext cx="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1688" name="Freeform 8">
            <a:extLst>
              <a:ext uri="{FF2B5EF4-FFF2-40B4-BE49-F238E27FC236}">
                <a16:creationId xmlns:a16="http://schemas.microsoft.com/office/drawing/2014/main" id="{2FD4A5DA-42D3-4B9F-8D07-3A25473C3B3B}"/>
              </a:ext>
            </a:extLst>
          </p:cNvPr>
          <p:cNvSpPr>
            <a:spLocks/>
          </p:cNvSpPr>
          <p:nvPr/>
        </p:nvSpPr>
        <p:spPr bwMode="auto">
          <a:xfrm>
            <a:off x="2559050" y="1676400"/>
            <a:ext cx="4724400" cy="3352800"/>
          </a:xfrm>
          <a:custGeom>
            <a:avLst/>
            <a:gdLst>
              <a:gd name="T0" fmla="*/ 0 w 3744"/>
              <a:gd name="T1" fmla="*/ 0 h 2112"/>
              <a:gd name="T2" fmla="*/ 0 w 3744"/>
              <a:gd name="T3" fmla="*/ 2112 h 2112"/>
              <a:gd name="T4" fmla="*/ 3744 w 3744"/>
              <a:gd name="T5" fmla="*/ 2112 h 21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3744" h="2112">
                <a:moveTo>
                  <a:pt x="0" y="0"/>
                </a:moveTo>
                <a:lnTo>
                  <a:pt x="0" y="2112"/>
                </a:lnTo>
                <a:lnTo>
                  <a:pt x="3744" y="2112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1689" name="Text Box 9">
            <a:extLst>
              <a:ext uri="{FF2B5EF4-FFF2-40B4-BE49-F238E27FC236}">
                <a16:creationId xmlns:a16="http://schemas.microsoft.com/office/drawing/2014/main" id="{DD3BD78C-F0B3-4077-9307-D70868A0B0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57538" y="3581401"/>
            <a:ext cx="315912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0066"/>
                </a:solidFill>
                <a:effectLst/>
                <a:uLnTx/>
                <a:uFillTx/>
                <a:latin typeface="Wingdings" panose="05000000000000000000" pitchFamily="2" charset="2"/>
                <a:ea typeface="+mn-ea"/>
                <a:cs typeface="+mn-cs"/>
              </a:rPr>
              <a:t>w</a:t>
            </a:r>
          </a:p>
        </p:txBody>
      </p:sp>
      <p:sp>
        <p:nvSpPr>
          <p:cNvPr id="71690" name="Text Box 10">
            <a:extLst>
              <a:ext uri="{FF2B5EF4-FFF2-40B4-BE49-F238E27FC236}">
                <a16:creationId xmlns:a16="http://schemas.microsoft.com/office/drawing/2014/main" id="{CF0D4E02-ACEF-47E5-8293-A0D17176D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91126" y="3844926"/>
            <a:ext cx="3159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0066"/>
                </a:solidFill>
                <a:effectLst/>
                <a:uLnTx/>
                <a:uFillTx/>
                <a:latin typeface="Wingdings" panose="05000000000000000000" pitchFamily="2" charset="2"/>
                <a:ea typeface="+mn-ea"/>
                <a:cs typeface="+mn-cs"/>
              </a:rPr>
              <a:t>w</a:t>
            </a:r>
          </a:p>
        </p:txBody>
      </p:sp>
      <p:sp>
        <p:nvSpPr>
          <p:cNvPr id="71691" name="Text Box 11">
            <a:extLst>
              <a:ext uri="{FF2B5EF4-FFF2-40B4-BE49-F238E27FC236}">
                <a16:creationId xmlns:a16="http://schemas.microsoft.com/office/drawing/2014/main" id="{79FB92BF-0781-454C-9C37-D0C06C272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17976" y="2286001"/>
            <a:ext cx="3159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0066"/>
                </a:solidFill>
                <a:effectLst/>
                <a:uLnTx/>
                <a:uFillTx/>
                <a:latin typeface="Wingdings" panose="05000000000000000000" pitchFamily="2" charset="2"/>
                <a:ea typeface="+mn-ea"/>
                <a:cs typeface="+mn-cs"/>
              </a:rPr>
              <a:t>w</a:t>
            </a:r>
          </a:p>
        </p:txBody>
      </p:sp>
      <p:sp>
        <p:nvSpPr>
          <p:cNvPr id="71692" name="Text Box 12">
            <a:extLst>
              <a:ext uri="{FF2B5EF4-FFF2-40B4-BE49-F238E27FC236}">
                <a16:creationId xmlns:a16="http://schemas.microsoft.com/office/drawing/2014/main" id="{84B36763-F529-400D-8921-4DF5AD1CC5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16651" y="2743201"/>
            <a:ext cx="3159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0066"/>
                </a:solidFill>
                <a:effectLst/>
                <a:uLnTx/>
                <a:uFillTx/>
                <a:latin typeface="Wingdings" panose="05000000000000000000" pitchFamily="2" charset="2"/>
                <a:ea typeface="+mn-ea"/>
                <a:cs typeface="+mn-cs"/>
              </a:rPr>
              <a:t>w</a:t>
            </a:r>
          </a:p>
        </p:txBody>
      </p:sp>
      <p:sp>
        <p:nvSpPr>
          <p:cNvPr id="71693" name="Line 13">
            <a:extLst>
              <a:ext uri="{FF2B5EF4-FFF2-40B4-BE49-F238E27FC236}">
                <a16:creationId xmlns:a16="http://schemas.microsoft.com/office/drawing/2014/main" id="{C1E51FD3-6667-4624-AB22-F167314C0CB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559050" y="2432050"/>
            <a:ext cx="3803650" cy="236855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1694" name="Line 14">
            <a:extLst>
              <a:ext uri="{FF2B5EF4-FFF2-40B4-BE49-F238E27FC236}">
                <a16:creationId xmlns:a16="http://schemas.microsoft.com/office/drawing/2014/main" id="{DA2AB780-5D44-40BF-A505-53FF26171AA7}"/>
              </a:ext>
            </a:extLst>
          </p:cNvPr>
          <p:cNvSpPr>
            <a:spLocks noChangeShapeType="1"/>
          </p:cNvSpPr>
          <p:nvPr/>
        </p:nvSpPr>
        <p:spPr bwMode="auto">
          <a:xfrm>
            <a:off x="3321050" y="37338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1695" name="Line 15">
            <a:extLst>
              <a:ext uri="{FF2B5EF4-FFF2-40B4-BE49-F238E27FC236}">
                <a16:creationId xmlns:a16="http://schemas.microsoft.com/office/drawing/2014/main" id="{62B3E9E0-B3D5-4D45-BC7B-2794CEA31E7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270375" y="25146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1696" name="Line 16">
            <a:extLst>
              <a:ext uri="{FF2B5EF4-FFF2-40B4-BE49-F238E27FC236}">
                <a16:creationId xmlns:a16="http://schemas.microsoft.com/office/drawing/2014/main" id="{ACCFCDF2-8C55-4AFC-A3F6-D4952A3B4B5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373814" y="2419350"/>
            <a:ext cx="14287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1697" name="Text Box 17">
            <a:extLst>
              <a:ext uri="{FF2B5EF4-FFF2-40B4-BE49-F238E27FC236}">
                <a16:creationId xmlns:a16="http://schemas.microsoft.com/office/drawing/2014/main" id="{5793D703-8336-4567-856D-1AA78E651A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16650" y="4987925"/>
            <a:ext cx="3097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grpSp>
        <p:nvGrpSpPr>
          <p:cNvPr id="71698" name="Group 18">
            <a:extLst>
              <a:ext uri="{FF2B5EF4-FFF2-40B4-BE49-F238E27FC236}">
                <a16:creationId xmlns:a16="http://schemas.microsoft.com/office/drawing/2014/main" id="{49F3CFF1-F4FF-450F-86B1-C118B174A642}"/>
              </a:ext>
            </a:extLst>
          </p:cNvPr>
          <p:cNvGrpSpPr>
            <a:grpSpLocks/>
          </p:cNvGrpSpPr>
          <p:nvPr/>
        </p:nvGrpSpPr>
        <p:grpSpPr bwMode="auto">
          <a:xfrm>
            <a:off x="2314576" y="4073525"/>
            <a:ext cx="1163638" cy="1284288"/>
            <a:chOff x="854" y="3382"/>
            <a:chExt cx="733" cy="809"/>
          </a:xfrm>
        </p:grpSpPr>
        <p:sp>
          <p:nvSpPr>
            <p:cNvPr id="71699" name="Text Box 19">
              <a:extLst>
                <a:ext uri="{FF2B5EF4-FFF2-40B4-BE49-F238E27FC236}">
                  <a16:creationId xmlns:a16="http://schemas.microsoft.com/office/drawing/2014/main" id="{F25A7949-E29A-48FA-B062-D3ABE42862A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92" y="3958"/>
              <a:ext cx="19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1700" name="Text Box 20">
              <a:extLst>
                <a:ext uri="{FF2B5EF4-FFF2-40B4-BE49-F238E27FC236}">
                  <a16:creationId xmlns:a16="http://schemas.microsoft.com/office/drawing/2014/main" id="{C90D00E5-9F6F-4D16-9B21-1BFB51FEDE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54" y="3382"/>
              <a:ext cx="19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sp>
        <p:nvSpPr>
          <p:cNvPr id="71701" name="Text Box 21">
            <a:extLst>
              <a:ext uri="{FF2B5EF4-FFF2-40B4-BE49-F238E27FC236}">
                <a16:creationId xmlns:a16="http://schemas.microsoft.com/office/drawing/2014/main" id="{E57DF1D1-D6B5-41BC-A125-E26EDBAE99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4575" y="2092325"/>
            <a:ext cx="3097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1702" name="Text Box 22">
            <a:extLst>
              <a:ext uri="{FF2B5EF4-FFF2-40B4-BE49-F238E27FC236}">
                <a16:creationId xmlns:a16="http://schemas.microsoft.com/office/drawing/2014/main" id="{5CBDA142-AE84-4370-BB3B-51C7FE49DE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51138" y="3657600"/>
            <a:ext cx="62228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(1,2)</a:t>
            </a:r>
          </a:p>
        </p:txBody>
      </p:sp>
      <p:sp>
        <p:nvSpPr>
          <p:cNvPr id="71703" name="Line 23">
            <a:extLst>
              <a:ext uri="{FF2B5EF4-FFF2-40B4-BE49-F238E27FC236}">
                <a16:creationId xmlns:a16="http://schemas.microsoft.com/office/drawing/2014/main" id="{8F946483-8FFE-442B-AB40-8BF3A0C4735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559050" y="4343400"/>
            <a:ext cx="762000" cy="0"/>
          </a:xfrm>
          <a:prstGeom prst="line">
            <a:avLst/>
          </a:prstGeom>
          <a:noFill/>
          <a:ln w="3175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1704" name="Text Box 24">
            <a:extLst>
              <a:ext uri="{FF2B5EF4-FFF2-40B4-BE49-F238E27FC236}">
                <a16:creationId xmlns:a16="http://schemas.microsoft.com/office/drawing/2014/main" id="{1BA033F0-8EFE-4960-91D9-00EBD2EA9B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19563" y="4987925"/>
            <a:ext cx="3097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71705" name="Text Box 25">
            <a:extLst>
              <a:ext uri="{FF2B5EF4-FFF2-40B4-BE49-F238E27FC236}">
                <a16:creationId xmlns:a16="http://schemas.microsoft.com/office/drawing/2014/main" id="{9FE8C34C-2634-42A8-9E65-46D8A3673A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9813" y="3463925"/>
            <a:ext cx="3097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71706" name="Line 26">
            <a:extLst>
              <a:ext uri="{FF2B5EF4-FFF2-40B4-BE49-F238E27FC236}">
                <a16:creationId xmlns:a16="http://schemas.microsoft.com/office/drawing/2014/main" id="{6B6EBD6F-7EE9-402E-8C7E-BE810280831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549526" y="3733800"/>
            <a:ext cx="1719263" cy="0"/>
          </a:xfrm>
          <a:prstGeom prst="line">
            <a:avLst/>
          </a:prstGeom>
          <a:noFill/>
          <a:ln w="3175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1707" name="Text Box 27">
            <a:extLst>
              <a:ext uri="{FF2B5EF4-FFF2-40B4-BE49-F238E27FC236}">
                <a16:creationId xmlns:a16="http://schemas.microsoft.com/office/drawing/2014/main" id="{6E8052D4-AE43-45F3-9EE2-736FA4710F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83050" y="2057400"/>
            <a:ext cx="62228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(2,4)</a:t>
            </a:r>
          </a:p>
        </p:txBody>
      </p:sp>
      <p:sp>
        <p:nvSpPr>
          <p:cNvPr id="71708" name="Text Box 28">
            <a:extLst>
              <a:ext uri="{FF2B5EF4-FFF2-40B4-BE49-F238E27FC236}">
                <a16:creationId xmlns:a16="http://schemas.microsoft.com/office/drawing/2014/main" id="{0389B1A1-6301-4405-ADA6-B08E1FD238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62576" y="3733800"/>
            <a:ext cx="79701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(3,1.5)</a:t>
            </a:r>
          </a:p>
        </p:txBody>
      </p:sp>
      <p:sp>
        <p:nvSpPr>
          <p:cNvPr id="71709" name="Line 29">
            <a:extLst>
              <a:ext uri="{FF2B5EF4-FFF2-40B4-BE49-F238E27FC236}">
                <a16:creationId xmlns:a16="http://schemas.microsoft.com/office/drawing/2014/main" id="{90A6CE0C-C2E6-4F80-ABB4-9B35AB4CA75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559050" y="2438400"/>
            <a:ext cx="3810000" cy="0"/>
          </a:xfrm>
          <a:prstGeom prst="line">
            <a:avLst/>
          </a:prstGeom>
          <a:noFill/>
          <a:ln w="3175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1710" name="Text Box 30">
            <a:extLst>
              <a:ext uri="{FF2B5EF4-FFF2-40B4-BE49-F238E27FC236}">
                <a16:creationId xmlns:a16="http://schemas.microsoft.com/office/drawing/2014/main" id="{F073D92A-2C9F-457E-8B93-F9D437DD25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497" y="272441"/>
            <a:ext cx="337739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Sum of squared differences =</a:t>
            </a:r>
          </a:p>
        </p:txBody>
      </p:sp>
      <p:sp>
        <p:nvSpPr>
          <p:cNvPr id="71711" name="Text Box 31">
            <a:extLst>
              <a:ext uri="{FF2B5EF4-FFF2-40B4-BE49-F238E27FC236}">
                <a16:creationId xmlns:a16="http://schemas.microsoft.com/office/drawing/2014/main" id="{C887CD9A-5A39-4FD1-BBF7-C6A955A223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59370" y="267803"/>
            <a:ext cx="115768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(2 - 1)</a:t>
            </a:r>
            <a:r>
              <a:rPr kumimoji="0" lang="en-US" altLang="en-US" sz="1800" b="1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r>
              <a:rPr kumimoji="0" lang="en-US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+</a:t>
            </a:r>
          </a:p>
        </p:txBody>
      </p:sp>
      <p:sp>
        <p:nvSpPr>
          <p:cNvPr id="71712" name="Text Box 32">
            <a:extLst>
              <a:ext uri="{FF2B5EF4-FFF2-40B4-BE49-F238E27FC236}">
                <a16:creationId xmlns:a16="http://schemas.microsoft.com/office/drawing/2014/main" id="{2D0A78F3-D5D4-4CF7-91C9-C8039D3B33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2551" y="278885"/>
            <a:ext cx="1135247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(4 - 2)</a:t>
            </a:r>
            <a:r>
              <a:rPr kumimoji="0" lang="en-US" altLang="en-US" sz="1800" b="1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 </a:t>
            </a:r>
            <a:r>
              <a:rPr kumimoji="0" lang="en-US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+</a:t>
            </a:r>
          </a:p>
        </p:txBody>
      </p:sp>
      <p:sp>
        <p:nvSpPr>
          <p:cNvPr id="71713" name="Text Box 33">
            <a:extLst>
              <a:ext uri="{FF2B5EF4-FFF2-40B4-BE49-F238E27FC236}">
                <a16:creationId xmlns:a16="http://schemas.microsoft.com/office/drawing/2014/main" id="{1EC4287E-28C8-4A2F-AA5C-379B6A72A9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73372" y="289441"/>
            <a:ext cx="135325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(1.5 - 3)</a:t>
            </a:r>
            <a:r>
              <a:rPr kumimoji="0" lang="en-US" altLang="en-US" sz="1800" b="1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r>
              <a:rPr kumimoji="0" lang="en-US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+</a:t>
            </a:r>
          </a:p>
        </p:txBody>
      </p:sp>
      <p:sp>
        <p:nvSpPr>
          <p:cNvPr id="71714" name="Text Box 34">
            <a:extLst>
              <a:ext uri="{FF2B5EF4-FFF2-40B4-BE49-F238E27FC236}">
                <a16:creationId xmlns:a16="http://schemas.microsoft.com/office/drawing/2014/main" id="{98E65E80-1FEA-4CC9-A103-B4C720145E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29376" y="2701925"/>
            <a:ext cx="79701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(4,3.2)</a:t>
            </a:r>
          </a:p>
        </p:txBody>
      </p:sp>
      <p:sp>
        <p:nvSpPr>
          <p:cNvPr id="71715" name="Text Box 35">
            <a:extLst>
              <a:ext uri="{FF2B5EF4-FFF2-40B4-BE49-F238E27FC236}">
                <a16:creationId xmlns:a16="http://schemas.microsoft.com/office/drawing/2014/main" id="{6261E51C-3F0B-4C34-AD8E-407158E52C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04942" y="312443"/>
            <a:ext cx="187904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(3.2 - 4)</a:t>
            </a:r>
            <a:r>
              <a:rPr kumimoji="0" lang="en-US" altLang="en-US" sz="1800" b="1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r>
              <a:rPr kumimoji="0" lang="en-US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= 6.89</a:t>
            </a:r>
          </a:p>
        </p:txBody>
      </p:sp>
      <p:sp>
        <p:nvSpPr>
          <p:cNvPr id="71716" name="Line 36">
            <a:extLst>
              <a:ext uri="{FF2B5EF4-FFF2-40B4-BE49-F238E27FC236}">
                <a16:creationId xmlns:a16="http://schemas.microsoft.com/office/drawing/2014/main" id="{3B615F14-F081-492A-B526-EA368D029244}"/>
              </a:ext>
            </a:extLst>
          </p:cNvPr>
          <p:cNvSpPr>
            <a:spLocks noChangeShapeType="1"/>
          </p:cNvSpPr>
          <p:nvPr/>
        </p:nvSpPr>
        <p:spPr bwMode="auto">
          <a:xfrm>
            <a:off x="2559050" y="3394075"/>
            <a:ext cx="3810000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71717" name="Group 37">
            <a:extLst>
              <a:ext uri="{FF2B5EF4-FFF2-40B4-BE49-F238E27FC236}">
                <a16:creationId xmlns:a16="http://schemas.microsoft.com/office/drawing/2014/main" id="{878DDCE7-9D00-4708-B51E-0BF8C5E45D6F}"/>
              </a:ext>
            </a:extLst>
          </p:cNvPr>
          <p:cNvGrpSpPr>
            <a:grpSpLocks/>
          </p:cNvGrpSpPr>
          <p:nvPr/>
        </p:nvGrpSpPr>
        <p:grpSpPr bwMode="auto">
          <a:xfrm>
            <a:off x="3302000" y="2514601"/>
            <a:ext cx="3048000" cy="1489075"/>
            <a:chOff x="1488" y="2400"/>
            <a:chExt cx="1920" cy="938"/>
          </a:xfrm>
        </p:grpSpPr>
        <p:sp>
          <p:nvSpPr>
            <p:cNvPr id="71718" name="Line 38">
              <a:extLst>
                <a:ext uri="{FF2B5EF4-FFF2-40B4-BE49-F238E27FC236}">
                  <a16:creationId xmlns:a16="http://schemas.microsoft.com/office/drawing/2014/main" id="{275C9686-5CA0-49DB-87A8-F1AFFF2DED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88" y="2950"/>
              <a:ext cx="0" cy="240"/>
            </a:xfrm>
            <a:prstGeom prst="line">
              <a:avLst/>
            </a:prstGeom>
            <a:noFill/>
            <a:ln w="9525">
              <a:solidFill>
                <a:schemeClr val="accent2"/>
              </a:solidFill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71719" name="Line 39">
              <a:extLst>
                <a:ext uri="{FF2B5EF4-FFF2-40B4-BE49-F238E27FC236}">
                  <a16:creationId xmlns:a16="http://schemas.microsoft.com/office/drawing/2014/main" id="{89F327EC-0F3A-4C24-B6A7-E88F717E3EB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050" y="2400"/>
              <a:ext cx="0" cy="554"/>
            </a:xfrm>
            <a:prstGeom prst="line">
              <a:avLst/>
            </a:prstGeom>
            <a:noFill/>
            <a:ln w="9525">
              <a:solidFill>
                <a:schemeClr val="accent2"/>
              </a:solidFill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71720" name="Line 40">
              <a:extLst>
                <a:ext uri="{FF2B5EF4-FFF2-40B4-BE49-F238E27FC236}">
                  <a16:creationId xmlns:a16="http://schemas.microsoft.com/office/drawing/2014/main" id="{C9C299CB-06A4-4008-A84A-14B767916BB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408" y="2666"/>
              <a:ext cx="0" cy="288"/>
            </a:xfrm>
            <a:prstGeom prst="line">
              <a:avLst/>
            </a:prstGeom>
            <a:noFill/>
            <a:ln w="9525">
              <a:solidFill>
                <a:schemeClr val="accent2"/>
              </a:solidFill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71721" name="Line 41">
              <a:extLst>
                <a:ext uri="{FF2B5EF4-FFF2-40B4-BE49-F238E27FC236}">
                  <a16:creationId xmlns:a16="http://schemas.microsoft.com/office/drawing/2014/main" id="{1905D5FB-C3A3-436D-96E4-3AD64D88D6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2" y="2954"/>
              <a:ext cx="0" cy="384"/>
            </a:xfrm>
            <a:prstGeom prst="line">
              <a:avLst/>
            </a:prstGeom>
            <a:noFill/>
            <a:ln w="9525">
              <a:solidFill>
                <a:schemeClr val="accent2"/>
              </a:solidFill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grpSp>
        <p:nvGrpSpPr>
          <p:cNvPr id="71722" name="Group 42">
            <a:extLst>
              <a:ext uri="{FF2B5EF4-FFF2-40B4-BE49-F238E27FC236}">
                <a16:creationId xmlns:a16="http://schemas.microsoft.com/office/drawing/2014/main" id="{AAC393B5-3731-4E95-923A-D396904CB94C}"/>
              </a:ext>
            </a:extLst>
          </p:cNvPr>
          <p:cNvGrpSpPr>
            <a:grpSpLocks/>
          </p:cNvGrpSpPr>
          <p:nvPr/>
        </p:nvGrpSpPr>
        <p:grpSpPr bwMode="auto">
          <a:xfrm>
            <a:off x="296497" y="586606"/>
            <a:ext cx="9452647" cy="528705"/>
            <a:chOff x="1056" y="1785"/>
            <a:chExt cx="4831" cy="233"/>
          </a:xfrm>
        </p:grpSpPr>
        <p:sp>
          <p:nvSpPr>
            <p:cNvPr id="71723" name="Text Box 43">
              <a:extLst>
                <a:ext uri="{FF2B5EF4-FFF2-40B4-BE49-F238E27FC236}">
                  <a16:creationId xmlns:a16="http://schemas.microsoft.com/office/drawing/2014/main" id="{509B03FE-47B0-402A-B0E4-DDDF94076D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56" y="1785"/>
              <a:ext cx="212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E9713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Sum of squared differences =</a:t>
              </a:r>
            </a:p>
          </p:txBody>
        </p:sp>
        <p:sp>
          <p:nvSpPr>
            <p:cNvPr id="71724" name="Text Box 44">
              <a:extLst>
                <a:ext uri="{FF2B5EF4-FFF2-40B4-BE49-F238E27FC236}">
                  <a16:creationId xmlns:a16="http://schemas.microsoft.com/office/drawing/2014/main" id="{736B1C5C-7AD1-41B8-9F57-FE36859A1D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56" y="1785"/>
              <a:ext cx="812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E9713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(2 -2.5)</a:t>
              </a:r>
              <a:r>
                <a:rPr kumimoji="0" lang="en-US" altLang="en-US" sz="1800" b="1" i="0" u="none" strike="noStrike" kern="1200" cap="none" spc="0" normalizeH="0" baseline="30000" noProof="0">
                  <a:ln>
                    <a:noFill/>
                  </a:ln>
                  <a:solidFill>
                    <a:srgbClr val="E9713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2</a:t>
              </a:r>
              <a:r>
                <a:rPr kumimoji="0" lang="en-US" alt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E9713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 +</a:t>
              </a:r>
            </a:p>
          </p:txBody>
        </p:sp>
        <p:sp>
          <p:nvSpPr>
            <p:cNvPr id="71725" name="Text Box 45">
              <a:extLst>
                <a:ext uri="{FF2B5EF4-FFF2-40B4-BE49-F238E27FC236}">
                  <a16:creationId xmlns:a16="http://schemas.microsoft.com/office/drawing/2014/main" id="{68F85103-838C-403D-8AB8-1E9A63BADDC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19" y="1785"/>
              <a:ext cx="838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E9713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(4 - 2.5)</a:t>
              </a:r>
              <a:r>
                <a:rPr kumimoji="0" lang="en-US" altLang="en-US" sz="1800" b="1" i="0" u="none" strike="noStrike" kern="1200" cap="none" spc="0" normalizeH="0" baseline="30000" noProof="0">
                  <a:ln>
                    <a:noFill/>
                  </a:ln>
                  <a:solidFill>
                    <a:srgbClr val="E9713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2 </a:t>
              </a:r>
              <a:r>
                <a:rPr kumimoji="0" lang="en-US" alt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E9713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+</a:t>
              </a:r>
            </a:p>
          </p:txBody>
        </p:sp>
        <p:sp>
          <p:nvSpPr>
            <p:cNvPr id="71726" name="Text Box 46">
              <a:extLst>
                <a:ext uri="{FF2B5EF4-FFF2-40B4-BE49-F238E27FC236}">
                  <a16:creationId xmlns:a16="http://schemas.microsoft.com/office/drawing/2014/main" id="{2451F8C6-E5CB-4507-93CB-2143A37512C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88" y="1785"/>
              <a:ext cx="976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E9713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(1.5 - 2.5)</a:t>
              </a:r>
              <a:r>
                <a:rPr kumimoji="0" lang="en-US" altLang="en-US" sz="1800" b="1" i="0" u="none" strike="noStrike" kern="1200" cap="none" spc="0" normalizeH="0" baseline="30000" noProof="0">
                  <a:ln>
                    <a:noFill/>
                  </a:ln>
                  <a:solidFill>
                    <a:srgbClr val="E9713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2</a:t>
              </a:r>
              <a:r>
                <a:rPr kumimoji="0" lang="en-US" alt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E9713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 +</a:t>
              </a:r>
            </a:p>
          </p:txBody>
        </p:sp>
        <p:sp>
          <p:nvSpPr>
            <p:cNvPr id="71727" name="Text Box 47">
              <a:extLst>
                <a:ext uri="{FF2B5EF4-FFF2-40B4-BE49-F238E27FC236}">
                  <a16:creationId xmlns:a16="http://schemas.microsoft.com/office/drawing/2014/main" id="{133E20B9-C6D2-48D2-989F-5735A4F5F8C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80" y="1785"/>
              <a:ext cx="130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E9713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(3.2 - 2.5)</a:t>
              </a:r>
              <a:r>
                <a:rPr kumimoji="0" lang="en-US" altLang="en-US" sz="1800" b="1" i="0" u="none" strike="noStrike" kern="1200" cap="none" spc="0" normalizeH="0" baseline="30000" noProof="0">
                  <a:ln>
                    <a:noFill/>
                  </a:ln>
                  <a:solidFill>
                    <a:srgbClr val="E9713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2</a:t>
              </a:r>
              <a:r>
                <a:rPr kumimoji="0" lang="en-US" alt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E97132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 = 3.99</a:t>
              </a:r>
            </a:p>
          </p:txBody>
        </p:sp>
      </p:grpSp>
      <p:sp>
        <p:nvSpPr>
          <p:cNvPr id="71728" name="Text Box 48">
            <a:extLst>
              <a:ext uri="{FF2B5EF4-FFF2-40B4-BE49-F238E27FC236}">
                <a16:creationId xmlns:a16="http://schemas.microsoft.com/office/drawing/2014/main" id="{C4F8ACBC-70B3-4546-9F15-08F1BB6773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62175" y="3159125"/>
            <a:ext cx="48442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2.5</a:t>
            </a:r>
          </a:p>
        </p:txBody>
      </p:sp>
      <p:sp>
        <p:nvSpPr>
          <p:cNvPr id="71731" name="Text Box 51">
            <a:extLst>
              <a:ext uri="{FF2B5EF4-FFF2-40B4-BE49-F238E27FC236}">
                <a16:creationId xmlns:a16="http://schemas.microsoft.com/office/drawing/2014/main" id="{8D8A57A3-3A06-492A-8143-799DC7FBC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6281" y="2936876"/>
            <a:ext cx="3418628" cy="1569660"/>
          </a:xfrm>
          <a:prstGeom prst="rect">
            <a:avLst/>
          </a:prstGeom>
          <a:solidFill>
            <a:srgbClr val="D1D1D1"/>
          </a:solidFill>
          <a:ln w="9525">
            <a:solidFill>
              <a:schemeClr val="accent2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 smaller the sum of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squared differences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 better the “fit” of the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line to the data (?)</a:t>
            </a:r>
          </a:p>
        </p:txBody>
      </p:sp>
    </p:spTree>
    <p:extLst>
      <p:ext uri="{BB962C8B-B14F-4D97-AF65-F5344CB8AC3E}">
        <p14:creationId xmlns:p14="http://schemas.microsoft.com/office/powerpoint/2010/main" val="21093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16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716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717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0" presetID="4" presetClass="entr" presetSubtype="3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22" dur="500"/>
                                        <p:tgtEl>
                                          <p:spTgt spid="717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16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717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3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716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4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716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 nodeType="clickPar">
                      <p:stCondLst>
                        <p:cond delay="indefinite"/>
                      </p:stCondLst>
                      <p:childTnLst>
                        <p:par>
                          <p:cTn id="5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500"/>
                                        <p:tgtEl>
                                          <p:spTgt spid="716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5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500"/>
                                        <p:tgtEl>
                                          <p:spTgt spid="717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 nodeType="clickPar">
                      <p:stCondLst>
                        <p:cond delay="indefinite"/>
                      </p:stCondLst>
                      <p:childTnLst>
                        <p:par>
                          <p:cTn id="6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717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68" presetID="17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717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717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 nodeType="clickPar">
                      <p:stCondLst>
                        <p:cond delay="indefinite"/>
                      </p:stCondLst>
                      <p:childTnLst>
                        <p:par>
                          <p:cTn id="7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717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7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10" grpId="0" autoUpdateAnimBg="0"/>
      <p:bldP spid="71711" grpId="0" autoUpdateAnimBg="0"/>
      <p:bldP spid="71712" grpId="0" autoUpdateAnimBg="0"/>
      <p:bldP spid="71713" grpId="0" autoUpdateAnimBg="0"/>
      <p:bldP spid="71715" grpId="0" autoUpdateAnimBg="0"/>
      <p:bldP spid="71731" grpId="0" animBg="1" autoUpdateAnimBg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7DBD0-C4AE-42BC-B69A-0370D0B06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88931"/>
            <a:ext cx="10515600" cy="1325563"/>
          </a:xfrm>
        </p:spPr>
        <p:txBody>
          <a:bodyPr/>
          <a:lstStyle/>
          <a:p>
            <a:r>
              <a:rPr lang="en-US" dirty="0"/>
              <a:t>Simple Linear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231721-9DB5-4948-87F5-C62E44494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272" y="1870075"/>
            <a:ext cx="10515600" cy="4486275"/>
          </a:xfrm>
        </p:spPr>
        <p:txBody>
          <a:bodyPr/>
          <a:lstStyle/>
          <a:p>
            <a:r>
              <a:rPr lang="en-US" dirty="0"/>
              <a:t>Assumption: a linear relationship between X &amp; Y exists</a:t>
            </a:r>
          </a:p>
          <a:p>
            <a:r>
              <a:rPr lang="en-US" dirty="0"/>
              <a:t>Observed Y values can be expressed as: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Use data to estimate that linear relationship with a straight line:</a:t>
            </a:r>
          </a:p>
          <a:p>
            <a:pPr lvl="1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3">
                <a:extLst>
                  <a:ext uri="{FF2B5EF4-FFF2-40B4-BE49-F238E27FC236}">
                    <a16:creationId xmlns:a16="http://schemas.microsoft.com/office/drawing/2014/main" id="{010C1F6F-2687-4117-A696-EE72EFA65C3F}"/>
                  </a:ext>
                </a:extLst>
              </p:cNvPr>
              <p:cNvSpPr txBox="1"/>
              <p:nvPr/>
            </p:nvSpPr>
            <p:spPr bwMode="auto">
              <a:xfrm>
                <a:off x="2857812" y="3139694"/>
                <a:ext cx="3683000" cy="828675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𝑦</m:t>
                      </m:r>
                      <m:r>
                        <a:rPr kumimoji="0" lang="en-US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0</m:t>
                          </m:r>
                        </m:sub>
                      </m:sSub>
                      <m:r>
                        <a:rPr kumimoji="0" lang="en-US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  <m:r>
                        <a:rPr kumimoji="0" lang="en-US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r>
                        <a:rPr kumimoji="0" lang="en-US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𝜀</m:t>
                      </m:r>
                    </m:oMath>
                  </m:oMathPara>
                </a14:m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8" name="Object 3">
                <a:extLst>
                  <a:ext uri="{FF2B5EF4-FFF2-40B4-BE49-F238E27FC236}">
                    <a16:creationId xmlns:a16="http://schemas.microsoft.com/office/drawing/2014/main" id="{010C1F6F-2687-4117-A696-EE72EFA65C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57812" y="3139694"/>
                <a:ext cx="3683000" cy="8286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6">
                <a:extLst>
                  <a:ext uri="{FF2B5EF4-FFF2-40B4-BE49-F238E27FC236}">
                    <a16:creationId xmlns:a16="http://schemas.microsoft.com/office/drawing/2014/main" id="{1D022014-4CE9-4DE3-B413-D601A9FA426A}"/>
                  </a:ext>
                </a:extLst>
              </p:cNvPr>
              <p:cNvSpPr txBox="1"/>
              <p:nvPr/>
            </p:nvSpPr>
            <p:spPr bwMode="auto">
              <a:xfrm>
                <a:off x="2926394" y="4762924"/>
                <a:ext cx="2852737" cy="925513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0" lang="en-US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accPr>
                        <m:e>
                          <m:r>
                            <a:rPr kumimoji="0" lang="en-US" sz="3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𝑦</m:t>
                          </m:r>
                        </m:e>
                      </m:acc>
                      <m:r>
                        <a:rPr kumimoji="0" lang="en-US" sz="36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sz="3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𝑏</m:t>
                          </m:r>
                        </m:e>
                        <m:sub>
                          <m:r>
                            <a:rPr kumimoji="0" lang="en-US" sz="3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0</m:t>
                          </m:r>
                        </m:sub>
                      </m:sSub>
                      <m:r>
                        <a:rPr kumimoji="0" lang="en-US" sz="36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sz="3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3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𝑏</m:t>
                          </m:r>
                        </m:e>
                        <m:sub>
                          <m:r>
                            <a:rPr kumimoji="0" lang="en-US" sz="3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36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</m:oMath>
                  </m:oMathPara>
                </a14:m>
                <a:endParaRPr kumimoji="0" lang="en-US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9" name="Object 6">
                <a:extLst>
                  <a:ext uri="{FF2B5EF4-FFF2-40B4-BE49-F238E27FC236}">
                    <a16:creationId xmlns:a16="http://schemas.microsoft.com/office/drawing/2014/main" id="{1D022014-4CE9-4DE3-B413-D601A9FA4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26394" y="4762924"/>
                <a:ext cx="2852737" cy="9255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A7FA552-040D-402B-B33D-6CCC56215C1F}"/>
              </a:ext>
            </a:extLst>
          </p:cNvPr>
          <p:cNvSpPr/>
          <p:nvPr/>
        </p:nvSpPr>
        <p:spPr>
          <a:xfrm>
            <a:off x="3529638" y="3108434"/>
            <a:ext cx="1718790" cy="641131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136F3A-7BED-4711-AD83-08578660B1A2}"/>
              </a:ext>
            </a:extLst>
          </p:cNvPr>
          <p:cNvSpPr txBox="1"/>
          <p:nvPr/>
        </p:nvSpPr>
        <p:spPr>
          <a:xfrm>
            <a:off x="3048157" y="3774688"/>
            <a:ext cx="2618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straight line (average)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437A8D7-1A47-4207-9887-F037C3724987}"/>
              </a:ext>
            </a:extLst>
          </p:cNvPr>
          <p:cNvSpPr/>
          <p:nvPr/>
        </p:nvSpPr>
        <p:spPr>
          <a:xfrm>
            <a:off x="5555884" y="3155784"/>
            <a:ext cx="459730" cy="641131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09ED54-489F-4650-AA38-F12044EB0D27}"/>
              </a:ext>
            </a:extLst>
          </p:cNvPr>
          <p:cNvSpPr txBox="1"/>
          <p:nvPr/>
        </p:nvSpPr>
        <p:spPr>
          <a:xfrm>
            <a:off x="6012131" y="3297151"/>
            <a:ext cx="2349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Deviation from the line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FC7679-2443-4822-B18F-3AA957A9B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4D677F5-6401-4ECE-9434-31FD34043E7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8228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13" grpId="0" animBg="1"/>
      <p:bldP spid="1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74C60-FBE0-3AA2-2151-9763B8038F9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37786" y="93206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1AD792-7A19-3D2A-0C82-A7ED2CDAD6B1}"/>
                  </a:ext>
                </a:extLst>
              </p:cNvPr>
              <p:cNvSpPr>
                <a:spLocks noGrp="1"/>
              </p:cNvSpPr>
              <p:nvPr>
                <p:ph idx="4294967295"/>
              </p:nvPr>
            </p:nvSpPr>
            <p:spPr>
              <a:xfrm>
                <a:off x="563671" y="1957388"/>
                <a:ext cx="10515600" cy="3871912"/>
              </a:xfrm>
            </p:spPr>
            <p:txBody>
              <a:bodyPr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 is value of the dependent variable for observation </a:t>
                </a:r>
                <a:r>
                  <a:rPr lang="en-US" sz="2400" i="1" dirty="0" err="1"/>
                  <a:t>i</a:t>
                </a:r>
                <a:endParaRPr lang="en-US" sz="2400" dirty="0"/>
              </a:p>
              <a:p>
                <a:pPr lvl="1"/>
                <a:r>
                  <a:rPr lang="en-US" b="1" dirty="0"/>
                  <a:t>Note: </a:t>
                </a:r>
                <a:r>
                  <a:rPr lang="en-US" dirty="0"/>
                  <a:t>again,</a:t>
                </a:r>
                <a:r>
                  <a:rPr lang="en-US" b="1" dirty="0"/>
                  <a:t> </a:t>
                </a:r>
                <a:r>
                  <a:rPr lang="en-US" i="1" dirty="0" err="1"/>
                  <a:t>i</a:t>
                </a:r>
                <a:r>
                  <a:rPr lang="en-US" i="1" dirty="0"/>
                  <a:t> </a:t>
                </a:r>
                <a:r>
                  <a:rPr lang="en-US" dirty="0"/>
                  <a:t>refers to the line number of the data, so for example if I have 10 rows of data, the number of observations range from </a:t>
                </a:r>
                <a:r>
                  <a:rPr lang="en-US" i="1" dirty="0" err="1"/>
                  <a:t>i</a:t>
                </a:r>
                <a:r>
                  <a:rPr lang="en-US" i="1" dirty="0"/>
                  <a:t> = </a:t>
                </a:r>
                <a:r>
                  <a:rPr lang="en-US" dirty="0"/>
                  <a:t>1 to 10. With </a:t>
                </a:r>
                <a:r>
                  <a:rPr lang="en-US" i="1" dirty="0"/>
                  <a:t>n </a:t>
                </a:r>
                <a:r>
                  <a:rPr lang="en-US" dirty="0"/>
                  <a:t>rows of data, the number of observations ranges from </a:t>
                </a:r>
                <a:r>
                  <a:rPr lang="en-US" i="1" dirty="0" err="1"/>
                  <a:t>i</a:t>
                </a:r>
                <a:r>
                  <a:rPr lang="en-US" i="1" dirty="0"/>
                  <a:t> = </a:t>
                </a:r>
                <a:r>
                  <a:rPr lang="en-US" dirty="0"/>
                  <a:t>1 … n.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denotes the value of the independent or predictor variable for experimental unit </a:t>
                </a:r>
                <a:r>
                  <a:rPr lang="en-US" sz="2400" i="1" dirty="0" err="1"/>
                  <a:t>i</a:t>
                </a:r>
                <a:r>
                  <a:rPr lang="en-US" sz="2400" i="1" dirty="0"/>
                  <a:t> </a:t>
                </a:r>
                <a:r>
                  <a:rPr lang="en-US" sz="2400" dirty="0"/>
                  <a:t>(the one corresponding to the dependent variable)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 is the predicted value (also called fitted value) for experimental unit </a:t>
                </a:r>
                <a:r>
                  <a:rPr lang="en-US" sz="2400" i="1" dirty="0" err="1"/>
                  <a:t>i</a:t>
                </a:r>
                <a:r>
                  <a:rPr lang="en-US" sz="2400" i="1" dirty="0"/>
                  <a:t> </a:t>
                </a:r>
              </a:p>
              <a:p>
                <a:r>
                  <a:rPr lang="en-US" sz="2400" dirty="0"/>
                  <a:t>The equation for the best fitting line is given by</a:t>
                </a:r>
                <a:r>
                  <a:rPr lang="en-US" sz="2400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400" dirty="0"/>
                  <a:t>+</a:t>
                </a:r>
                <a:r>
                  <a:rPr lang="en-US" sz="24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lvl="1"/>
                <a:r>
                  <a:rPr lang="en-US" sz="2000" b="1" dirty="0"/>
                  <a:t>Note</a:t>
                </a:r>
                <a:r>
                  <a:rPr lang="en-US" sz="2000" dirty="0"/>
                  <a:t>: the observation = unit of analysis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1AD792-7A19-3D2A-0C82-A7ED2CDAD6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4294967295"/>
              </p:nvPr>
            </p:nvSpPr>
            <p:spPr>
              <a:xfrm>
                <a:off x="563671" y="1957388"/>
                <a:ext cx="10515600" cy="3871912"/>
              </a:xfrm>
              <a:blipFill>
                <a:blip r:embed="rId2"/>
                <a:stretch>
                  <a:fillRect l="-754" t="-2205" r="-1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96100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3" name="Rectangle 2"/>
          <p:cNvSpPr>
            <a:spLocks noGrp="1"/>
          </p:cNvSpPr>
          <p:nvPr>
            <p:ph type="title"/>
          </p:nvPr>
        </p:nvSpPr>
        <p:spPr>
          <a:xfrm>
            <a:off x="231364" y="436962"/>
            <a:ext cx="10515600" cy="759340"/>
          </a:xfrm>
        </p:spPr>
        <p:txBody>
          <a:bodyPr/>
          <a:lstStyle/>
          <a:p>
            <a:r>
              <a:rPr lang="en-US" dirty="0"/>
              <a:t>Inference from Regression</a:t>
            </a:r>
          </a:p>
        </p:txBody>
      </p:sp>
      <p:sp>
        <p:nvSpPr>
          <p:cNvPr id="43014" name="Rectangle 3"/>
          <p:cNvSpPr>
            <a:spLocks noGrp="1"/>
          </p:cNvSpPr>
          <p:nvPr>
            <p:ph idx="1"/>
          </p:nvPr>
        </p:nvSpPr>
        <p:spPr>
          <a:xfrm>
            <a:off x="419099" y="1620462"/>
            <a:ext cx="11353800" cy="4864743"/>
          </a:xfrm>
        </p:spPr>
        <p:txBody>
          <a:bodyPr>
            <a:normAutofit/>
          </a:bodyPr>
          <a:lstStyle/>
          <a:p>
            <a:r>
              <a:rPr lang="en-US" dirty="0"/>
              <a:t>We want to use our regression equation to make predictions for our dependent variable based on the linear combination of independent variables. </a:t>
            </a:r>
            <a:r>
              <a:rPr lang="en-US" u="sng" dirty="0"/>
              <a:t>To do this we need assumptions on how the data is made</a:t>
            </a:r>
            <a:r>
              <a:rPr lang="en-US" dirty="0"/>
              <a:t>!</a:t>
            </a:r>
          </a:p>
          <a:p>
            <a:r>
              <a:rPr lang="en-US" dirty="0"/>
              <a:t>We imagined that in the population, the values of </a:t>
            </a:r>
            <a:r>
              <a:rPr lang="en-US" i="1" dirty="0"/>
              <a:t>Y</a:t>
            </a:r>
            <a:r>
              <a:rPr lang="en-US" dirty="0"/>
              <a:t> really are generated from the linear probabilistic model</a:t>
            </a:r>
          </a:p>
          <a:p>
            <a:pPr>
              <a:spcBef>
                <a:spcPct val="50000"/>
              </a:spcBef>
              <a:buNone/>
            </a:pPr>
            <a:endParaRPr lang="en-US" dirty="0">
              <a:latin typeface="Times New Roman" pitchFamily="18" charset="0"/>
            </a:endParaRPr>
          </a:p>
          <a:p>
            <a:pPr>
              <a:spcBef>
                <a:spcPct val="50000"/>
              </a:spcBef>
              <a:buNone/>
            </a:pPr>
            <a:r>
              <a:rPr lang="en-US" dirty="0">
                <a:latin typeface="Times New Roman" pitchFamily="18" charset="0"/>
              </a:rPr>
              <a:t>	</a:t>
            </a:r>
            <a:r>
              <a:rPr lang="en-US" dirty="0"/>
              <a:t>where </a:t>
            </a:r>
            <a:r>
              <a:rPr lang="en-US" dirty="0">
                <a:sym typeface="Symbol" pitchFamily="18" charset="2"/>
              </a:rPr>
              <a:t> is an error term normally distributed with mean 0 and variance </a:t>
            </a:r>
            <a:r>
              <a:rPr lang="en-US" baseline="30000" dirty="0">
                <a:sym typeface="Symbol" pitchFamily="18" charset="2"/>
              </a:rPr>
              <a:t>2</a:t>
            </a:r>
            <a:endParaRPr lang="en-US" dirty="0">
              <a:sym typeface="Symbol" pitchFamily="18" charset="2"/>
            </a:endParaRPr>
          </a:p>
          <a:p>
            <a:pPr>
              <a:spcBef>
                <a:spcPct val="50000"/>
              </a:spcBef>
            </a:pPr>
            <a:r>
              <a:rPr lang="en-US" dirty="0"/>
              <a:t>For our linear regression inference, we will always assume </a:t>
            </a:r>
            <a:r>
              <a:rPr lang="en-US" dirty="0">
                <a:sym typeface="Symbol" pitchFamily="18" charset="2"/>
              </a:rPr>
              <a:t> has a normal distribution, N(0, </a:t>
            </a:r>
            <a:r>
              <a:rPr lang="en-US" baseline="30000" dirty="0">
                <a:sym typeface="Symbol" pitchFamily="18" charset="2"/>
              </a:rPr>
              <a:t>2</a:t>
            </a:r>
            <a:r>
              <a:rPr lang="en-US" dirty="0">
                <a:sym typeface="Symbol" pitchFamily="18" charset="2"/>
              </a:rPr>
              <a:t>)</a:t>
            </a:r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012" name="Object 4"/>
              <p:cNvSpPr txBox="1"/>
              <p:nvPr/>
            </p:nvSpPr>
            <p:spPr bwMode="auto">
              <a:xfrm>
                <a:off x="4026243" y="3762900"/>
                <a:ext cx="3579813" cy="579866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𝑦</m:t>
                      </m:r>
                      <m:r>
                        <a:rPr kumimoji="0" lang="en-US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0</m:t>
                          </m:r>
                        </m:sub>
                      </m:sSub>
                      <m:r>
                        <a:rPr kumimoji="0" lang="en-US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  <m:r>
                        <a:rPr kumimoji="0" lang="en-US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r>
                        <a:rPr kumimoji="0" lang="en-US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𝜀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3012" name="Objec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26243" y="3762900"/>
                <a:ext cx="3579813" cy="57986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B053CB-EA35-4C25-AAE4-348E35D9E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AF2B675-3BAF-420B-B2FC-1C2A1E07683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5671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034A4-1996-3AAC-EF11-C904A2306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424" y="294209"/>
            <a:ext cx="10515600" cy="1325563"/>
          </a:xfrm>
        </p:spPr>
        <p:txBody>
          <a:bodyPr/>
          <a:lstStyle/>
          <a:p>
            <a:r>
              <a:rPr lang="en-US" dirty="0"/>
              <a:t>The full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34974D-F770-31CC-DBD8-7A899801C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62696"/>
            <a:ext cx="10832123" cy="4351338"/>
          </a:xfrm>
        </p:spPr>
        <p:txBody>
          <a:bodyPr/>
          <a:lstStyle/>
          <a:p>
            <a:r>
              <a:rPr lang="en-US" dirty="0"/>
              <a:t>The standard assumption is that the </a:t>
            </a:r>
            <a:r>
              <a:rPr lang="en-US" b="1" dirty="0"/>
              <a:t>error term </a:t>
            </a:r>
            <a:r>
              <a:rPr lang="en-US" dirty="0"/>
              <a:t>is normally distributed</a:t>
            </a:r>
          </a:p>
          <a:p>
            <a:r>
              <a:rPr lang="en-US" dirty="0"/>
              <a:t>The model you are to use for SLR (which will be extended to the multivariate case) is: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46EF26C-04D4-9DCD-A814-5697EBCAB083}"/>
                  </a:ext>
                </a:extLst>
              </p:cNvPr>
              <p:cNvSpPr txBox="1"/>
              <p:nvPr/>
            </p:nvSpPr>
            <p:spPr>
              <a:xfrm>
                <a:off x="2054336" y="3357895"/>
                <a:ext cx="299524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𝑌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0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𝑋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𝜀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46EF26C-04D4-9DCD-A814-5697EBCAB0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4336" y="3357895"/>
                <a:ext cx="2995244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66F88A-17E5-118B-C89B-B6DAF96FC1FD}"/>
                  </a:ext>
                </a:extLst>
              </p:cNvPr>
              <p:cNvSpPr txBox="1"/>
              <p:nvPr/>
            </p:nvSpPr>
            <p:spPr>
              <a:xfrm>
                <a:off x="1146139" y="4467846"/>
                <a:ext cx="6682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𝑌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66F88A-17E5-118B-C89B-B6DAF96FC1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139" y="4467846"/>
                <a:ext cx="6682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C71F47D7-A1BA-BEE5-AE32-57704F5B575B}"/>
              </a:ext>
            </a:extLst>
          </p:cNvPr>
          <p:cNvSpPr txBox="1"/>
          <p:nvPr/>
        </p:nvSpPr>
        <p:spPr>
          <a:xfrm>
            <a:off x="1739931" y="4467846"/>
            <a:ext cx="53051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observed response for the </a:t>
            </a:r>
            <a:r>
              <a:rPr kumimoji="0" lang="en-US" sz="18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trial (or row of data)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D86955A-A772-F71D-07BB-B80486C0DA7C}"/>
                  </a:ext>
                </a:extLst>
              </p:cNvPr>
              <p:cNvSpPr txBox="1"/>
              <p:nvPr/>
            </p:nvSpPr>
            <p:spPr>
              <a:xfrm>
                <a:off x="1205502" y="4886120"/>
                <a:ext cx="53442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𝑋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D86955A-A772-F71D-07BB-B80486C0DA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5502" y="4886120"/>
                <a:ext cx="534429" cy="369332"/>
              </a:xfrm>
              <a:prstGeom prst="rect">
                <a:avLst/>
              </a:prstGeom>
              <a:blipFill>
                <a:blip r:embed="rId5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20495016-F945-268D-BB24-6057A8F255E7}"/>
              </a:ext>
            </a:extLst>
          </p:cNvPr>
          <p:cNvSpPr txBox="1"/>
          <p:nvPr/>
        </p:nvSpPr>
        <p:spPr>
          <a:xfrm>
            <a:off x="1739931" y="4886120"/>
            <a:ext cx="5582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 </a:t>
            </a:r>
            <a:r>
              <a:rPr kumimoji="0" lang="en-US" sz="1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known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constant, the level of the predictor in the </a:t>
            </a:r>
            <a:r>
              <a:rPr kumimoji="0" lang="en-US" sz="18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trial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82A558-2D62-E41A-5AE6-93C90104F43F}"/>
              </a:ext>
            </a:extLst>
          </p:cNvPr>
          <p:cNvSpPr txBox="1"/>
          <p:nvPr/>
        </p:nvSpPr>
        <p:spPr>
          <a:xfrm>
            <a:off x="1812925" y="5304394"/>
            <a:ext cx="3236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Unknown regression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BCCCCF7-70CF-9B22-0E00-93EA78C61BFD}"/>
                  </a:ext>
                </a:extLst>
              </p:cNvPr>
              <p:cNvSpPr txBox="1"/>
              <p:nvPr/>
            </p:nvSpPr>
            <p:spPr>
              <a:xfrm>
                <a:off x="922336" y="5304394"/>
                <a:ext cx="8429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𝛽</m:t>
                        </m:r>
                      </m:e>
                      <m:sub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0</m:t>
                        </m:r>
                      </m:sub>
                    </m:sSub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𝛽</m:t>
                        </m:r>
                      </m:e>
                      <m:sub>
                        <m: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BCCCCF7-70CF-9B22-0E00-93EA78C61B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336" y="5304394"/>
                <a:ext cx="842976" cy="369332"/>
              </a:xfrm>
              <a:prstGeom prst="rect">
                <a:avLst/>
              </a:prstGeom>
              <a:blipFill>
                <a:blip r:embed="rId6"/>
                <a:stretch>
                  <a:fillRect l="-2158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D42B5BC-AFDB-327B-67F7-B0E6BC337561}"/>
                  </a:ext>
                </a:extLst>
              </p:cNvPr>
              <p:cNvSpPr txBox="1"/>
              <p:nvPr/>
            </p:nvSpPr>
            <p:spPr>
              <a:xfrm>
                <a:off x="1274855" y="5692648"/>
                <a:ext cx="41086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𝜀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D42B5BC-AFDB-327B-67F7-B0E6BC3375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4855" y="5692648"/>
                <a:ext cx="410862" cy="369332"/>
              </a:xfrm>
              <a:prstGeom prst="rect">
                <a:avLst/>
              </a:prstGeom>
              <a:blipFill>
                <a:blip r:embed="rId7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279F20C-F30E-00FB-EA8E-DDCE17D29B91}"/>
                  </a:ext>
                </a:extLst>
              </p:cNvPr>
              <p:cNvSpPr txBox="1"/>
              <p:nvPr/>
            </p:nvSpPr>
            <p:spPr>
              <a:xfrm>
                <a:off x="1812925" y="5722668"/>
                <a:ext cx="588821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Error term, </a:t>
                </a:r>
                <a:r>
                  <a:rPr kumimoji="0" lang="en-US" sz="1800" b="0" i="0" u="sng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independently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and normally distributed, N(0,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𝜎</m:t>
                        </m:r>
                      </m:e>
                      <m:sup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p>
                    </m:sSup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)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279F20C-F30E-00FB-EA8E-DDCE17D29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925" y="5722668"/>
                <a:ext cx="5888215" cy="369332"/>
              </a:xfrm>
              <a:prstGeom prst="rect">
                <a:avLst/>
              </a:prstGeom>
              <a:blipFill>
                <a:blip r:embed="rId8"/>
                <a:stretch>
                  <a:fillRect l="-828" t="-10000" r="-104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667955E-F14D-4193-23F8-72D5CE0D3CD2}"/>
                  </a:ext>
                </a:extLst>
              </p:cNvPr>
              <p:cNvSpPr txBox="1"/>
              <p:nvPr/>
            </p:nvSpPr>
            <p:spPr>
              <a:xfrm>
                <a:off x="1274855" y="6061980"/>
                <a:ext cx="37379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𝑖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667955E-F14D-4193-23F8-72D5CE0D3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4855" y="6061980"/>
                <a:ext cx="373791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5CD751B2-BDAD-516E-7705-8A706836EB93}"/>
              </a:ext>
            </a:extLst>
          </p:cNvPr>
          <p:cNvSpPr txBox="1"/>
          <p:nvPr/>
        </p:nvSpPr>
        <p:spPr>
          <a:xfrm>
            <a:off x="1797296" y="6061980"/>
            <a:ext cx="6014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index for the total number of cases in your data, </a:t>
            </a:r>
            <a:r>
              <a:rPr kumimoji="0" lang="en-US" sz="18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=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… 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F23B6A1A-9C0A-7BD3-60CC-D4870C9EB2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50764" y="3073390"/>
            <a:ext cx="3294653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alt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ymbol" panose="05050102010706020507" pitchFamily="18" charset="2"/>
                <a:ea typeface="+mn-ea"/>
                <a:cs typeface="+mn-cs"/>
              </a:rPr>
              <a:t>b</a:t>
            </a:r>
            <a:r>
              <a:rPr kumimoji="0" lang="en-US" alt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&gt; 0  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Symbol" panose="05050102010706020507" pitchFamily="18" charset="2"/>
              </a:rPr>
              <a:t> Positive Association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Symbol" panose="05050102010706020507" pitchFamily="18" charset="2"/>
              </a:rPr>
              <a:t> </a:t>
            </a:r>
            <a:r>
              <a:rPr kumimoji="0" lang="en-US" alt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ymbol" panose="05050102010706020507" pitchFamily="18" charset="2"/>
                <a:ea typeface="+mn-ea"/>
                <a:cs typeface="+mn-cs"/>
              </a:rPr>
              <a:t>b</a:t>
            </a:r>
            <a:r>
              <a:rPr kumimoji="0" lang="en-US" alt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&lt; 0  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Symbol" panose="05050102010706020507" pitchFamily="18" charset="2"/>
              </a:rPr>
              <a:t> Negative Association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Symbol" panose="05050102010706020507" pitchFamily="18" charset="2"/>
              </a:rPr>
              <a:t> </a:t>
            </a:r>
            <a:r>
              <a:rPr kumimoji="0" lang="en-US" alt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ymbol" panose="05050102010706020507" pitchFamily="18" charset="2"/>
                <a:ea typeface="+mn-ea"/>
                <a:cs typeface="+mn-cs"/>
              </a:rPr>
              <a:t>b</a:t>
            </a:r>
            <a:r>
              <a:rPr kumimoji="0" lang="en-US" alt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= 0  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Symbol" panose="05050102010706020507" pitchFamily="18" charset="2"/>
              </a:rPr>
              <a:t> No Association</a:t>
            </a:r>
          </a:p>
        </p:txBody>
      </p:sp>
    </p:spTree>
    <p:extLst>
      <p:ext uri="{BB962C8B-B14F-4D97-AF65-F5344CB8AC3E}">
        <p14:creationId xmlns:p14="http://schemas.microsoft.com/office/powerpoint/2010/main" val="42668084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/>
              <a:t>Interpretation of Regression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890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838200" y="2435225"/>
                <a:ext cx="10515600" cy="3414590"/>
              </a:xfrm>
            </p:spPr>
            <p:txBody>
              <a:bodyPr/>
              <a:lstStyle/>
              <a:p>
                <a:r>
                  <a:rPr lang="en-US" dirty="0"/>
                  <a:t>The magnitude of the slope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tells how much </a:t>
                </a:r>
                <a:r>
                  <a:rPr lang="en-US" i="1" dirty="0"/>
                  <a:t>Y</a:t>
                </a:r>
                <a:r>
                  <a:rPr lang="en-US" dirty="0"/>
                  <a:t> is expected to increase per unit increase in X.</a:t>
                </a:r>
              </a:p>
              <a:p>
                <a:endParaRPr lang="en-US" dirty="0"/>
              </a:p>
              <a:p>
                <a:r>
                  <a:rPr lang="en-US" u="sng" dirty="0"/>
                  <a:t>Example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 = 3 + 2x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= 3,</a:t>
                </a:r>
                <a:r>
                  <a:rPr lang="en-US" dirty="0">
                    <a:latin typeface="Calibri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If </a:t>
                </a:r>
                <a:r>
                  <a:rPr lang="en-US" i="1" dirty="0"/>
                  <a:t>X</a:t>
                </a:r>
                <a:r>
                  <a:rPr lang="en-US" dirty="0"/>
                  <a:t> increases by 1, </a:t>
                </a:r>
                <a:r>
                  <a:rPr lang="en-US" i="1" dirty="0"/>
                  <a:t>Y</a:t>
                </a:r>
                <a:r>
                  <a:rPr lang="en-US" dirty="0"/>
                  <a:t> is expected to increase by 2</a:t>
                </a:r>
              </a:p>
              <a:p>
                <a:pPr lvl="1"/>
                <a:r>
                  <a:rPr lang="en-US" dirty="0"/>
                  <a:t>If </a:t>
                </a:r>
                <a:r>
                  <a:rPr lang="en-US" i="1" dirty="0"/>
                  <a:t>X</a:t>
                </a:r>
                <a:r>
                  <a:rPr lang="en-US" dirty="0"/>
                  <a:t> increases by 1, then the predicted value of </a:t>
                </a:r>
                <a:r>
                  <a:rPr lang="en-US" i="1" dirty="0"/>
                  <a:t>Y</a:t>
                </a:r>
                <a:r>
                  <a:rPr lang="en-US" dirty="0"/>
                  <a:t> increases by 2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7890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838200" y="2435225"/>
                <a:ext cx="10515600" cy="3414590"/>
              </a:xfrm>
              <a:blipFill>
                <a:blip r:embed="rId2"/>
                <a:stretch>
                  <a:fillRect l="-1043" t="-2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A950AE-A27A-497F-89BC-715A7F8E1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AF2B675-3BAF-420B-B2FC-1C2A1E07683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3">
                <a:extLst>
                  <a:ext uri="{FF2B5EF4-FFF2-40B4-BE49-F238E27FC236}">
                    <a16:creationId xmlns:a16="http://schemas.microsoft.com/office/drawing/2014/main" id="{70DF4E2A-7629-DC4D-B412-2764846E0FD1}"/>
                  </a:ext>
                </a:extLst>
              </p:cNvPr>
              <p:cNvSpPr txBox="1"/>
              <p:nvPr/>
            </p:nvSpPr>
            <p:spPr bwMode="auto">
              <a:xfrm>
                <a:off x="4495800" y="1643856"/>
                <a:ext cx="3200400" cy="419100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0" lang="en-US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accPr>
                        <m:e>
                          <m: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𝑦</m:t>
                          </m:r>
                        </m:e>
                      </m:acc>
                      <m:r>
                        <a:rPr kumimoji="0" lang="en-US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𝑏</m:t>
                          </m:r>
                        </m:e>
                        <m:sub>
                          <m: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0</m:t>
                          </m:r>
                        </m:sub>
                      </m:sSub>
                      <m:r>
                        <a:rPr kumimoji="0" lang="en-US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3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𝑏</m:t>
                          </m:r>
                        </m:e>
                        <m:sub>
                          <m: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</m:oMath>
                  </m:oMathPara>
                </a14:m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7" name="Object 3">
                <a:extLst>
                  <a:ext uri="{FF2B5EF4-FFF2-40B4-BE49-F238E27FC236}">
                    <a16:creationId xmlns:a16="http://schemas.microsoft.com/office/drawing/2014/main" id="{70DF4E2A-7629-DC4D-B412-2764846E0F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95800" y="1643856"/>
                <a:ext cx="3200400" cy="419100"/>
              </a:xfrm>
              <a:prstGeom prst="rect">
                <a:avLst/>
              </a:prstGeom>
              <a:blipFill>
                <a:blip r:embed="rId3"/>
                <a:stretch>
                  <a:fillRect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6983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890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EF097E9-54E9-D42E-9D26-E6F0B491F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12" y="124011"/>
            <a:ext cx="10515600" cy="1325563"/>
          </a:xfrm>
        </p:spPr>
        <p:txBody>
          <a:bodyPr/>
          <a:lstStyle/>
          <a:p>
            <a:r>
              <a:rPr lang="en-US" b="1" dirty="0"/>
              <a:t>BLUE</a:t>
            </a:r>
            <a:r>
              <a:rPr lang="en-US" dirty="0"/>
              <a:t>: Best Linear Unbiased Estimators**</a:t>
            </a: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EBCD6DDE-7ED2-9B16-E204-2D0DC9EF2507}"/>
              </a:ext>
            </a:extLst>
          </p:cNvPr>
          <p:cNvSpPr txBox="1">
            <a:spLocks noChangeArrowheads="1"/>
          </p:cNvSpPr>
          <p:nvPr/>
        </p:nvSpPr>
        <p:spPr>
          <a:xfrm>
            <a:off x="621322" y="1740876"/>
            <a:ext cx="10822405" cy="4359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ar-SA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Mathematically, we obtain estimating formulas: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endParaRPr kumimoji="0" lang="en-US" altLang="ar-SA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itchFamily="18" charset="0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0" lang="en-US" altLang="ar-SA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n-ea"/>
                <a:cs typeface="+mn-cs"/>
              </a:rPr>
              <a:t>		   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endParaRPr kumimoji="0" lang="en-US" altLang="ar-SA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itchFamily="18" charset="0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0" lang="en-US" altLang="ar-SA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n-ea"/>
                <a:cs typeface="+mn-cs"/>
              </a:rPr>
              <a:t>		or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endParaRPr kumimoji="0" lang="en-US" altLang="ar-SA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itchFamily="18" charset="0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endParaRPr kumimoji="0" lang="en-US" altLang="ar-SA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itchFamily="18" charset="0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endParaRPr kumimoji="0" lang="en-US" altLang="ar-SA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itchFamily="18" charset="0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endParaRPr kumimoji="0" lang="en-US" altLang="ar-SA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itchFamily="18" charset="0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4">
                <a:extLst>
                  <a:ext uri="{FF2B5EF4-FFF2-40B4-BE49-F238E27FC236}">
                    <a16:creationId xmlns:a16="http://schemas.microsoft.com/office/drawing/2014/main" id="{A8612BA7-E92A-4AD3-7A1C-AC95B52BA717}"/>
                  </a:ext>
                </a:extLst>
              </p:cNvPr>
              <p:cNvSpPr txBox="1"/>
              <p:nvPr/>
            </p:nvSpPr>
            <p:spPr bwMode="auto">
              <a:xfrm>
                <a:off x="1796159" y="2610837"/>
                <a:ext cx="8971153" cy="12700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 lvl="0"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𝑏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ctrlP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naryPr>
                          <m:sub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𝑖</m:t>
                            </m:r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=1</m:t>
                            </m:r>
                          </m:sub>
                          <m:sup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𝑛</m:t>
                            </m:r>
                          </m:sup>
                          <m:e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−</m:t>
                            </m:r>
                            <m:acc>
                              <m:accPr>
                                <m:chr m:val="̄"/>
                                <m:ctrlP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accPr>
                              <m:e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)(</m:t>
                            </m:r>
                            <m:sSub>
                              <m:sSubPr>
                                <m:ctrlP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−</m:t>
                            </m:r>
                            <m:acc>
                              <m:accPr>
                                <m:chr m:val="̄"/>
                                <m:ctrlP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accPr>
                              <m:e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𝑦</m:t>
                                </m:r>
                              </m:e>
                            </m:acc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)</m:t>
                            </m:r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ctrlP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naryPr>
                          <m:sub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𝑖</m:t>
                            </m:r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=1</m:t>
                            </m:r>
                          </m:sub>
                          <m:sup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𝑛</m:t>
                            </m:r>
                          </m:sup>
                          <m:e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−</m:t>
                            </m:r>
                            <m:acc>
                              <m:accPr>
                                <m:chr m:val="̄"/>
                                <m:ctrlP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accPr>
                              <m:e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</m:e>
                            </m:acc>
                            <m:sSup>
                              <m:sSupPr>
                                <m:ctrlP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pPr>
                              <m:e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den>
                    </m:f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𝑛</m:t>
                        </m:r>
                        <m:nary>
                          <m:naryPr>
                            <m:chr m:val="∑"/>
                            <m:ctrlP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naryPr>
                          <m:sub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𝑖</m:t>
                            </m:r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=1</m:t>
                            </m:r>
                          </m:sub>
                          <m:sup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−</m:t>
                            </m:r>
                            <m:nary>
                              <m:naryPr>
                                <m:chr m:val="∑"/>
                                <m:ctrlP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naryPr>
                              <m:sub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𝑖</m:t>
                                </m:r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𝑛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kumimoji="0" lang="en-US" sz="2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sz="2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sz="2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nary>
                                  <m:naryPr>
                                    <m:chr m:val="∑"/>
                                    <m:ctrlPr>
                                      <a:rPr kumimoji="0" lang="en-US" sz="2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naryPr>
                                  <m:sub>
                                    <m:r>
                                      <a:rPr kumimoji="0" lang="en-US" sz="2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𝑖</m:t>
                                    </m:r>
                                    <m:r>
                                      <a:rPr kumimoji="0" lang="en-US" sz="2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kumimoji="0" lang="en-US" sz="2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kumimoji="0" lang="en-US" sz="2400" b="0" i="1" u="none" strike="noStrike" kern="1200" cap="none" spc="0" normalizeH="0" baseline="0" noProof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sz="2400" b="0" i="1" u="none" strike="noStrike" kern="1200" cap="none" spc="0" normalizeH="0" baseline="0" noProof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sz="2400" b="0" i="1" u="none" strike="noStrike" kern="1200" cap="none" spc="0" normalizeH="0" baseline="0" noProof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1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nary>
                          </m:e>
                        </m:nary>
                      </m:num>
                      <m:den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𝑛</m:t>
                        </m:r>
                        <m:nary>
                          <m:naryPr>
                            <m:chr m:val="∑"/>
                            <m:ctrlP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naryPr>
                          <m:sub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𝑖</m:t>
                            </m:r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=1</m:t>
                            </m:r>
                          </m:sub>
                          <m:sup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𝑛</m:t>
                            </m:r>
                          </m:sup>
                          <m:e>
                            <m:sSubSup>
                              <m:sSubSupPr>
                                <m:ctrlP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−(</m:t>
                            </m:r>
                            <m:nary>
                              <m:naryPr>
                                <m:chr m:val="∑"/>
                                <m:ctrlP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naryPr>
                              <m:sub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𝑖</m:t>
                                </m:r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𝑛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kumimoji="0" lang="en-US" sz="2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sz="2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sz="2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kumimoji="0" lang="en-US" sz="2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r>
                                      <a:rPr kumimoji="0" lang="en-US" sz="2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kumimoji="0" lang="en-US" sz="2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nary>
                          </m:e>
                        </m:nary>
                      </m:den>
                    </m:f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Lucida Grande"/>
                    <a:ea typeface="+mn-ea"/>
                    <a:cs typeface="+mn-cs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0" lang="en-US" sz="24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𝐶𝑂𝑉</m:t>
                        </m:r>
                        <m:r>
                          <a:rPr kumimoji="0" lang="en-US" sz="24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(</m:t>
                        </m:r>
                        <m:r>
                          <a:rPr kumimoji="0" lang="en-US" sz="24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𝑋</m:t>
                        </m:r>
                        <m:r>
                          <a:rPr kumimoji="0" lang="en-US" sz="24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kumimoji="0" lang="en-US" sz="24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𝑌</m:t>
                        </m:r>
                        <m:r>
                          <a:rPr kumimoji="0" lang="en-US" sz="24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)</m:t>
                        </m:r>
                      </m:num>
                      <m:den>
                        <m:sSubSup>
                          <m:sSubSupPr>
                            <m:ctrlPr>
                              <a:rPr kumimoji="0" lang="en-US" sz="2400" b="0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SupPr>
                          <m:e>
                            <m:r>
                              <a:rPr kumimoji="0" lang="en-US" sz="2400" b="0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𝑆𝑆</m:t>
                            </m:r>
                          </m:e>
                          <m:sub>
                            <m:r>
                              <a:rPr kumimoji="0" lang="en-US" sz="2400" b="0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𝑋</m:t>
                            </m:r>
                          </m:sub>
                          <m:sup>
                            <m:r>
                              <a:rPr kumimoji="0" lang="en-US" sz="2400" b="0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kumimoji="0" lang="en-US" sz="2400" b="0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lang="en-US" sz="24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𝑋𝑌</m:t>
                            </m:r>
                          </m:sub>
                        </m:sSub>
                      </m:num>
                      <m:den>
                        <m:sSubSup>
                          <m:sSubSupPr>
                            <m:ctrlPr>
                              <a:rPr lang="en-US" sz="24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𝑆𝑆</m:t>
                            </m:r>
                          </m:e>
                          <m:sub>
                            <m:r>
                              <a:rPr lang="en-US" sz="24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en-US" sz="24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Lucida Grande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2" name="Object 4">
                <a:extLst>
                  <a:ext uri="{FF2B5EF4-FFF2-40B4-BE49-F238E27FC236}">
                    <a16:creationId xmlns:a16="http://schemas.microsoft.com/office/drawing/2014/main" id="{A8612BA7-E92A-4AD3-7A1C-AC95B52BA7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96159" y="2610837"/>
                <a:ext cx="8971153" cy="1270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bject 5">
                <a:extLst>
                  <a:ext uri="{FF2B5EF4-FFF2-40B4-BE49-F238E27FC236}">
                    <a16:creationId xmlns:a16="http://schemas.microsoft.com/office/drawing/2014/main" id="{2D9C941B-9791-DDE1-73B8-139BB3307313}"/>
                  </a:ext>
                </a:extLst>
              </p:cNvPr>
              <p:cNvSpPr txBox="1"/>
              <p:nvPr/>
            </p:nvSpPr>
            <p:spPr bwMode="auto">
              <a:xfrm>
                <a:off x="3740759" y="3828949"/>
                <a:ext cx="2651760" cy="55245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𝑏</m:t>
                          </m:r>
                        </m:e>
                        <m:sub>
                          <m: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0</m:t>
                          </m:r>
                        </m:sub>
                      </m:sSub>
                      <m:r>
                        <a:rPr kumimoji="0" lang="en-US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acc>
                        <m:accPr>
                          <m:chr m:val="̄"/>
                          <m:ctrlP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accPr>
                        <m:e>
                          <m: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𝑦</m:t>
                          </m:r>
                        </m:e>
                      </m:acc>
                      <m:r>
                        <a:rPr kumimoji="0" lang="en-US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𝑏</m:t>
                          </m:r>
                        </m:e>
                        <m:sub>
                          <m: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acc>
                        <m:accPr>
                          <m:chr m:val="̄"/>
                          <m:ctrlP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accPr>
                        <m:e>
                          <m: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Lucida Grande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3" name="Object 5">
                <a:extLst>
                  <a:ext uri="{FF2B5EF4-FFF2-40B4-BE49-F238E27FC236}">
                    <a16:creationId xmlns:a16="http://schemas.microsoft.com/office/drawing/2014/main" id="{2D9C941B-9791-DDE1-73B8-139BB33073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40759" y="3828949"/>
                <a:ext cx="2651760" cy="5524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bject 6">
                <a:extLst>
                  <a:ext uri="{FF2B5EF4-FFF2-40B4-BE49-F238E27FC236}">
                    <a16:creationId xmlns:a16="http://schemas.microsoft.com/office/drawing/2014/main" id="{A0B2762D-7EF0-83B1-3854-05BB832ED90C}"/>
                  </a:ext>
                </a:extLst>
              </p:cNvPr>
              <p:cNvSpPr txBox="1"/>
              <p:nvPr/>
            </p:nvSpPr>
            <p:spPr bwMode="auto">
              <a:xfrm>
                <a:off x="2304683" y="3678137"/>
                <a:ext cx="2057400" cy="70326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𝑏</m:t>
                          </m:r>
                        </m:e>
                        <m:sub>
                          <m: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𝑟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𝑆</m:t>
                              </m:r>
                            </m:e>
                            <m:sub>
                              <m: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𝑆</m:t>
                              </m:r>
                            </m:e>
                            <m:sub>
                              <m: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Lucida Grande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Object 6">
                <a:extLst>
                  <a:ext uri="{FF2B5EF4-FFF2-40B4-BE49-F238E27FC236}">
                    <a16:creationId xmlns:a16="http://schemas.microsoft.com/office/drawing/2014/main" id="{A0B2762D-7EF0-83B1-3854-05BB832ED9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04683" y="3678137"/>
                <a:ext cx="2057400" cy="70326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2342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>
            <a:extLst>
              <a:ext uri="{FF2B5EF4-FFF2-40B4-BE49-F238E27FC236}">
                <a16:creationId xmlns:a16="http://schemas.microsoft.com/office/drawing/2014/main" id="{17416DCA-FDDC-4FEB-B8E9-130E606DBE1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The Estimated Coefficients</a:t>
            </a:r>
          </a:p>
        </p:txBody>
      </p:sp>
      <p:sp>
        <p:nvSpPr>
          <p:cNvPr id="72710" name="Text Box 6">
            <a:extLst>
              <a:ext uri="{FF2B5EF4-FFF2-40B4-BE49-F238E27FC236}">
                <a16:creationId xmlns:a16="http://schemas.microsoft.com/office/drawing/2014/main" id="{601EBCC7-2D23-4942-A93A-1DA2B34B8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8754" y="1866186"/>
            <a:ext cx="4636911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ucida Grande"/>
                <a:ea typeface="+mn-ea"/>
                <a:cs typeface="+mn-cs"/>
              </a:rPr>
              <a:t>To calculate the estimates of the line coefficients that minimize the differences between the data points and the line, use the formulas: </a:t>
            </a:r>
          </a:p>
        </p:txBody>
      </p:sp>
      <p:graphicFrame>
        <p:nvGraphicFramePr>
          <p:cNvPr id="72711" name="Object 7">
            <a:extLst>
              <a:ext uri="{FF2B5EF4-FFF2-40B4-BE49-F238E27FC236}">
                <a16:creationId xmlns:a16="http://schemas.microsoft.com/office/drawing/2014/main" id="{700B10F5-ADB4-4BE6-BC07-CF37DFA7251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28754" y="3267588"/>
          <a:ext cx="4624848" cy="22308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84300" imgH="698500" progId="Equation.3">
                  <p:embed/>
                </p:oleObj>
              </mc:Choice>
              <mc:Fallback>
                <p:oleObj name="Equation" r:id="rId2" imgW="1384300" imgH="698500" progId="Equation.3">
                  <p:embed/>
                  <p:pic>
                    <p:nvPicPr>
                      <p:cNvPr id="72711" name="Object 7">
                        <a:extLst>
                          <a:ext uri="{FF2B5EF4-FFF2-40B4-BE49-F238E27FC236}">
                            <a16:creationId xmlns:a16="http://schemas.microsoft.com/office/drawing/2014/main" id="{700B10F5-ADB4-4BE6-BC07-CF37DFA7251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8754" y="3267588"/>
                        <a:ext cx="4624848" cy="2230809"/>
                      </a:xfrm>
                      <a:prstGeom prst="rect">
                        <a:avLst/>
                      </a:prstGeom>
                      <a:solidFill>
                        <a:srgbClr val="B4DE86"/>
                      </a:solidFill>
                      <a:ln w="9525">
                        <a:solidFill>
                          <a:schemeClr val="bg1"/>
                        </a:solidFill>
                        <a:miter lim="800000"/>
                        <a:headEnd/>
                        <a:tailEnd/>
                      </a:ln>
                      <a:effectLst>
                        <a:outerShdw dist="107763" dir="18900000" algn="ctr" rotWithShape="0">
                          <a:schemeClr val="tx1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2712" name="Text Box 8">
            <a:extLst>
              <a:ext uri="{FF2B5EF4-FFF2-40B4-BE49-F238E27FC236}">
                <a16:creationId xmlns:a16="http://schemas.microsoft.com/office/drawing/2014/main" id="{795B5FF8-2BED-4E95-B4B6-47D4767CED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866186"/>
            <a:ext cx="413173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ucida Grande"/>
                <a:ea typeface="+mn-ea"/>
                <a:cs typeface="+mn-cs"/>
              </a:rPr>
              <a:t>The regression equation that estimates the first order linear model is: </a:t>
            </a:r>
          </a:p>
        </p:txBody>
      </p:sp>
      <p:graphicFrame>
        <p:nvGraphicFramePr>
          <p:cNvPr id="72713" name="Object 9">
            <a:extLst>
              <a:ext uri="{FF2B5EF4-FFF2-40B4-BE49-F238E27FC236}">
                <a16:creationId xmlns:a16="http://schemas.microsoft.com/office/drawing/2014/main" id="{5DFBBA8F-1CE5-4AB9-9370-7BADED5CEBB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38200" y="2908683"/>
          <a:ext cx="3455207" cy="97994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62000" imgH="215900" progId="Equation.3">
                  <p:embed/>
                </p:oleObj>
              </mc:Choice>
              <mc:Fallback>
                <p:oleObj name="Equation" r:id="rId4" imgW="762000" imgH="215900" progId="Equation.3">
                  <p:embed/>
                  <p:pic>
                    <p:nvPicPr>
                      <p:cNvPr id="72713" name="Object 9">
                        <a:extLst>
                          <a:ext uri="{FF2B5EF4-FFF2-40B4-BE49-F238E27FC236}">
                            <a16:creationId xmlns:a16="http://schemas.microsoft.com/office/drawing/2014/main" id="{5DFBBA8F-1CE5-4AB9-9370-7BADED5CEBB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2908683"/>
                        <a:ext cx="3455207" cy="979944"/>
                      </a:xfrm>
                      <a:prstGeom prst="rect">
                        <a:avLst/>
                      </a:prstGeom>
                      <a:solidFill>
                        <a:srgbClr val="B4DE86"/>
                      </a:solidFill>
                      <a:ln w="9525">
                        <a:noFill/>
                        <a:miter lim="800000"/>
                        <a:headEnd/>
                        <a:tailEnd/>
                      </a:ln>
                      <a:effectLst>
                        <a:outerShdw dist="107763" dir="18900000" algn="ctr" rotWithShape="0">
                          <a:schemeClr val="tx1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22610C5-8691-416D-9926-FF01CDE00F68}"/>
                  </a:ext>
                </a:extLst>
              </p14:cNvPr>
              <p14:cNvContentPartPr/>
              <p14:nvPr/>
            </p14:nvContentPartPr>
            <p14:xfrm>
              <a:off x="3925404" y="3177255"/>
              <a:ext cx="360" cy="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22610C5-8691-416D-9926-FF01CDE00F6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16404" y="316825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1CF551F3-AEDF-49E2-914C-560BFAADA1C4}"/>
                  </a:ext>
                </a:extLst>
              </p14:cNvPr>
              <p14:cNvContentPartPr/>
              <p14:nvPr/>
            </p14:nvContentPartPr>
            <p14:xfrm>
              <a:off x="3407724" y="3666495"/>
              <a:ext cx="360" cy="3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1CF551F3-AEDF-49E2-914C-560BFAADA1C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399084" y="3657855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EE23CBEA-5E4E-4C9D-9D28-8BDB73DE764E}"/>
              </a:ext>
            </a:extLst>
          </p:cNvPr>
          <p:cNvGrpSpPr/>
          <p:nvPr/>
        </p:nvGrpSpPr>
        <p:grpSpPr>
          <a:xfrm>
            <a:off x="3657204" y="3398655"/>
            <a:ext cx="9720" cy="360"/>
            <a:chOff x="3657204" y="3398655"/>
            <a:chExt cx="972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D477C58-7A2E-4D88-8F32-8C444DA44A6F}"/>
                    </a:ext>
                  </a:extLst>
                </p14:cNvPr>
                <p14:cNvContentPartPr/>
                <p14:nvPr/>
              </p14:nvContentPartPr>
              <p14:xfrm>
                <a:off x="3657204" y="3398655"/>
                <a:ext cx="3960" cy="3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D477C58-7A2E-4D88-8F32-8C444DA44A6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648204" y="3390015"/>
                  <a:ext cx="216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3AEBF03-C0D6-4611-AE8B-755C290FDE77}"/>
                    </a:ext>
                  </a:extLst>
                </p14:cNvPr>
                <p14:cNvContentPartPr/>
                <p14:nvPr/>
              </p14:nvContentPartPr>
              <p14:xfrm>
                <a:off x="3666564" y="3398655"/>
                <a:ext cx="360" cy="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3AEBF03-C0D6-4611-AE8B-755C290FDE7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657924" y="3390015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300014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01DC2-2032-A25B-3AFD-4AF946341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317" y="173511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What do the regression parameters estimate?</a:t>
            </a:r>
          </a:p>
        </p:txBody>
      </p:sp>
      <p:pic>
        <p:nvPicPr>
          <p:cNvPr id="4" name="Content Placeholder 11">
            <a:extLst>
              <a:ext uri="{FF2B5EF4-FFF2-40B4-BE49-F238E27FC236}">
                <a16:creationId xmlns:a16="http://schemas.microsoft.com/office/drawing/2014/main" id="{33D78F1E-D3E4-8E56-B11D-09A54B659B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5486" y="1767750"/>
            <a:ext cx="7986079" cy="5182956"/>
          </a:xfrm>
          <a:noFill/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F10705F-47F6-6388-C3D3-EE9600B0359D}"/>
              </a:ext>
            </a:extLst>
          </p:cNvPr>
          <p:cNvCxnSpPr/>
          <p:nvPr/>
        </p:nvCxnSpPr>
        <p:spPr>
          <a:xfrm>
            <a:off x="1273216" y="2801073"/>
            <a:ext cx="6366076" cy="3009417"/>
          </a:xfrm>
          <a:prstGeom prst="line">
            <a:avLst/>
          </a:prstGeom>
          <a:ln cmpd="sng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B42D71D-F33D-7F84-84D8-B9D7719AC84A}"/>
                  </a:ext>
                </a:extLst>
              </p:cNvPr>
              <p:cNvSpPr txBox="1"/>
              <p:nvPr/>
            </p:nvSpPr>
            <p:spPr>
              <a:xfrm>
                <a:off x="2227835" y="2954813"/>
                <a:ext cx="21203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+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B42D71D-F33D-7F84-84D8-B9D7719AC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7835" y="2954813"/>
                <a:ext cx="2120389" cy="276999"/>
              </a:xfrm>
              <a:prstGeom prst="rect">
                <a:avLst/>
              </a:prstGeom>
              <a:blipFill>
                <a:blip r:embed="rId4"/>
                <a:stretch>
                  <a:fillRect l="-3736" t="-28889" r="-3161" b="-5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1F03F90-41B1-AC89-A545-18A53D13C0B5}"/>
                  </a:ext>
                </a:extLst>
              </p:cNvPr>
              <p:cNvSpPr txBox="1"/>
              <p:nvPr/>
            </p:nvSpPr>
            <p:spPr>
              <a:xfrm>
                <a:off x="4158206" y="4821384"/>
                <a:ext cx="28097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+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1F03F90-41B1-AC89-A545-18A53D13C0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206" y="4821384"/>
                <a:ext cx="2809753" cy="369332"/>
              </a:xfrm>
              <a:prstGeom prst="rect">
                <a:avLst/>
              </a:prstGeom>
              <a:blipFill>
                <a:blip r:embed="rId5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125BA0AA-712D-7992-CA0D-77DBFCCAFBBA}"/>
              </a:ext>
            </a:extLst>
          </p:cNvPr>
          <p:cNvSpPr txBox="1"/>
          <p:nvPr/>
        </p:nvSpPr>
        <p:spPr>
          <a:xfrm>
            <a:off x="8611565" y="3659450"/>
            <a:ext cx="24738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Solid line = sample</a:t>
            </a:r>
          </a:p>
          <a:p>
            <a:r>
              <a:rPr lang="en-US" dirty="0"/>
              <a:t>Dotted line = population</a:t>
            </a:r>
          </a:p>
        </p:txBody>
      </p:sp>
    </p:spTree>
    <p:extLst>
      <p:ext uri="{BB962C8B-B14F-4D97-AF65-F5344CB8AC3E}">
        <p14:creationId xmlns:p14="http://schemas.microsoft.com/office/powerpoint/2010/main" val="2989999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78BDC0-6929-452D-9F76-6AA571F89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FAF2B675-3BAF-420B-B2FC-1C2A1E07683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769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205658" y="257153"/>
            <a:ext cx="9637712" cy="13335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The Intercept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770" name="Rectangle 3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344488" y="1664353"/>
                <a:ext cx="11417452" cy="2714625"/>
              </a:xfrm>
            </p:spPr>
            <p:txBody>
              <a:bodyPr vert="horz" lIns="91440" tIns="45720" rIns="91440" bIns="45720" rtlCol="0">
                <a:normAutofit/>
              </a:bodyPr>
              <a:lstStyle/>
              <a:p>
                <a:r>
                  <a:rPr lang="en-US" sz="2400" dirty="0"/>
                  <a:t>The intercept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400" dirty="0"/>
                  <a:t> tells the predicted value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sz="2400" dirty="0"/>
                  <a:t> when </a:t>
                </a:r>
                <a:r>
                  <a:rPr lang="en-US" sz="2400" i="1" dirty="0"/>
                  <a:t>X</a:t>
                </a:r>
                <a:r>
                  <a:rPr lang="en-US" sz="2400" dirty="0"/>
                  <a:t> = 0.</a:t>
                </a:r>
              </a:p>
              <a:p>
                <a:r>
                  <a:rPr lang="en-US" sz="2400" u="sng" dirty="0"/>
                  <a:t>Note</a:t>
                </a:r>
                <a:r>
                  <a:rPr lang="en-US" sz="2400" dirty="0"/>
                  <a:t>: If zero is not in or near the range of values observed for X, then the intercept has no interpretation (i.e. it represents an extrapolation).</a:t>
                </a:r>
              </a:p>
              <a:p>
                <a:r>
                  <a:rPr lang="en-US" sz="2400" u="sng" dirty="0"/>
                  <a:t>Example</a:t>
                </a:r>
                <a:r>
                  <a:rPr lang="en-US" sz="2400" dirty="0"/>
                  <a:t>: Predicting the selling price of a house (</a:t>
                </a:r>
                <a:r>
                  <a:rPr lang="en-US" sz="2400" i="1" dirty="0"/>
                  <a:t>Y</a:t>
                </a:r>
                <a:r>
                  <a:rPr lang="en-US" sz="2400" dirty="0"/>
                  <a:t>) based on square footage (</a:t>
                </a:r>
                <a:r>
                  <a:rPr lang="en-US" sz="2400" i="1" dirty="0"/>
                  <a:t>X</a:t>
                </a:r>
                <a:r>
                  <a:rPr lang="en-US" sz="2400" dirty="0"/>
                  <a:t>)</a:t>
                </a:r>
              </a:p>
              <a:p>
                <a:pPr lvl="1"/>
                <a:r>
                  <a:rPr lang="en-US" dirty="0"/>
                  <a:t>It would not make sense to have house with 0 square feet, in this case the intercept would not have an interpretation.</a:t>
                </a:r>
              </a:p>
            </p:txBody>
          </p:sp>
        </mc:Choice>
        <mc:Fallback xmlns="">
          <p:sp>
            <p:nvSpPr>
              <p:cNvPr id="32770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44488" y="1664353"/>
                <a:ext cx="11417452" cy="2714625"/>
              </a:xfrm>
              <a:blipFill>
                <a:blip r:embed="rId3"/>
                <a:stretch>
                  <a:fillRect l="-748" t="-31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78624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384CFA-D5E4-4DFB-B355-696E25EEC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64C357E0-7941-49F0-B6EC-21213A8B8148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21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9153" name="Rectangle 2"/>
          <p:cNvSpPr>
            <a:spLocks noGrp="1"/>
          </p:cNvSpPr>
          <p:nvPr>
            <p:ph type="title" idx="4294967295"/>
          </p:nvPr>
        </p:nvSpPr>
        <p:spPr>
          <a:xfrm>
            <a:off x="169101" y="204787"/>
            <a:ext cx="8943584" cy="81443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200" dirty="0"/>
              <a:t>Sampling Distributions &amp; Inference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154" name="Rectangle 3"/>
              <p:cNvSpPr>
                <a:spLocks noGrp="1"/>
              </p:cNvSpPr>
              <p:nvPr>
                <p:ph type="body" idx="4294967295"/>
              </p:nvPr>
            </p:nvSpPr>
            <p:spPr>
              <a:xfrm>
                <a:off x="569934" y="1620837"/>
                <a:ext cx="11141900" cy="3319463"/>
              </a:xfrm>
            </p:spPr>
            <p:txBody>
              <a:bodyPr vert="horz" lIns="91440" tIns="45720" rIns="91440" bIns="45720" rtlCol="0">
                <a:normAutofit fontScale="92500"/>
              </a:bodyPr>
              <a:lstStyle/>
              <a:p>
                <a:r>
                  <a:rPr lang="en-US" sz="2400" dirty="0"/>
                  <a:t>We can calculate the standard errors of the coefficients: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/>
                  <a:t>, in order to construct confidence intervals for them.</a:t>
                </a:r>
              </a:p>
              <a:p>
                <a:r>
                  <a:rPr lang="en-US" sz="2400" dirty="0"/>
                  <a:t>We can use </a:t>
                </a:r>
                <a:r>
                  <a:rPr lang="en-US" sz="2400" i="1" dirty="0"/>
                  <a:t>t</a:t>
                </a:r>
                <a:r>
                  <a:rPr lang="en-US" sz="2400" dirty="0"/>
                  <a:t>-tests to determine whether the intercept or slope is significantly different from zero</a:t>
                </a:r>
              </a:p>
              <a:p>
                <a:pPr lvl="1"/>
                <a:r>
                  <a:rPr lang="en-US" dirty="0"/>
                  <a:t>This is only interesting for the case of the slope, since it amounts to a test for </a:t>
                </a:r>
                <a:r>
                  <a:rPr lang="en-US" i="1" dirty="0"/>
                  <a:t>whether Y is significantly linearly related to X</a:t>
                </a:r>
              </a:p>
              <a:p>
                <a:r>
                  <a:rPr lang="en-US" sz="2400" b="1" dirty="0"/>
                  <a:t>Idea</a:t>
                </a:r>
                <a:r>
                  <a:rPr lang="en-US" sz="2400" dirty="0"/>
                  <a:t>: To check whether the data really is drawn from an Assumed Linear Model (so that we can make inferences) we must make sure the assumptions of the error term are satisfied</a:t>
                </a:r>
              </a:p>
              <a:p>
                <a:pPr lvl="1"/>
                <a:r>
                  <a:rPr lang="en-US" b="1" dirty="0"/>
                  <a:t>Fatal to the model</a:t>
                </a:r>
                <a:r>
                  <a:rPr lang="en-US" dirty="0"/>
                  <a:t>: the variance is not constant, or the errors are not normally distributed </a:t>
                </a:r>
              </a:p>
              <a:p>
                <a:endParaRPr lang="en-US" sz="1200" dirty="0"/>
              </a:p>
            </p:txBody>
          </p:sp>
        </mc:Choice>
        <mc:Fallback xmlns="">
          <p:sp>
            <p:nvSpPr>
              <p:cNvPr id="49154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569934" y="1620837"/>
                <a:ext cx="11141900" cy="3319463"/>
              </a:xfrm>
              <a:blipFill>
                <a:blip r:embed="rId2"/>
                <a:stretch>
                  <a:fillRect l="-602" t="-2206" r="-4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8646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154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D77A7-DC78-B0CD-D35F-800E90893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113545"/>
            <a:ext cx="10515600" cy="1325563"/>
          </a:xfrm>
        </p:spPr>
        <p:txBody>
          <a:bodyPr/>
          <a:lstStyle/>
          <a:p>
            <a:r>
              <a:rPr lang="en-US" dirty="0"/>
              <a:t>More about the best fitting line: minimizing the sum of squared errors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7658F4C8-9F1A-D221-7E50-148AB9205925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685800" y="2002433"/>
              <a:ext cx="3307466" cy="40792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46230">
                      <a:extLst>
                        <a:ext uri="{9D8B030D-6E8A-4147-A177-3AD203B41FA5}">
                          <a16:colId xmlns:a16="http://schemas.microsoft.com/office/drawing/2014/main" val="2337070626"/>
                        </a:ext>
                      </a:extLst>
                    </a:gridCol>
                    <a:gridCol w="844952">
                      <a:extLst>
                        <a:ext uri="{9D8B030D-6E8A-4147-A177-3AD203B41FA5}">
                          <a16:colId xmlns:a16="http://schemas.microsoft.com/office/drawing/2014/main" val="1000169567"/>
                        </a:ext>
                      </a:extLst>
                    </a:gridCol>
                    <a:gridCol w="601884">
                      <a:extLst>
                        <a:ext uri="{9D8B030D-6E8A-4147-A177-3AD203B41FA5}">
                          <a16:colId xmlns:a16="http://schemas.microsoft.com/office/drawing/2014/main" val="390610468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13181814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err="1"/>
                            <a:t>i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415009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63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127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120.1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99781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64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121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126.3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5995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66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142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138.5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776600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69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157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157.0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0254104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solidFill>
                                <a:schemeClr val="bg1"/>
                              </a:solidFill>
                              <a:effectLst/>
                            </a:rPr>
                            <a:t>5</a:t>
                          </a:r>
                        </a:p>
                      </a:txBody>
                      <a:tcPr>
                        <a:solidFill>
                          <a:srgbClr val="FF0000">
                            <a:alpha val="62000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solidFill>
                                <a:schemeClr val="bg1"/>
                              </a:solidFill>
                              <a:effectLst/>
                            </a:rPr>
                            <a:t>69</a:t>
                          </a:r>
                        </a:p>
                      </a:txBody>
                      <a:tcPr>
                        <a:solidFill>
                          <a:srgbClr val="FF0000">
                            <a:alpha val="62000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solidFill>
                                <a:schemeClr val="bg1"/>
                              </a:solidFill>
                              <a:effectLst/>
                            </a:rPr>
                            <a:t>162</a:t>
                          </a:r>
                        </a:p>
                      </a:txBody>
                      <a:tcPr>
                        <a:solidFill>
                          <a:srgbClr val="FF0000">
                            <a:alpha val="62000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solidFill>
                                <a:schemeClr val="bg1"/>
                              </a:solidFill>
                              <a:effectLst/>
                            </a:rPr>
                            <a:t>157.0</a:t>
                          </a:r>
                        </a:p>
                      </a:txBody>
                      <a:tcPr>
                        <a:solidFill>
                          <a:srgbClr val="FF0000">
                            <a:alpha val="62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387342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71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156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169.2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07239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71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169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169.2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0231777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72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165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175.4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468311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73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181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181.5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898236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75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208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193.8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4176282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7658F4C8-9F1A-D221-7E50-148AB9205925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368455767"/>
                  </p:ext>
                </p:extLst>
              </p:nvPr>
            </p:nvGraphicFramePr>
            <p:xfrm>
              <a:off x="685800" y="2002433"/>
              <a:ext cx="3307466" cy="40792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46230">
                      <a:extLst>
                        <a:ext uri="{9D8B030D-6E8A-4147-A177-3AD203B41FA5}">
                          <a16:colId xmlns:a16="http://schemas.microsoft.com/office/drawing/2014/main" val="2337070626"/>
                        </a:ext>
                      </a:extLst>
                    </a:gridCol>
                    <a:gridCol w="844952">
                      <a:extLst>
                        <a:ext uri="{9D8B030D-6E8A-4147-A177-3AD203B41FA5}">
                          <a16:colId xmlns:a16="http://schemas.microsoft.com/office/drawing/2014/main" val="1000169567"/>
                        </a:ext>
                      </a:extLst>
                    </a:gridCol>
                    <a:gridCol w="601884">
                      <a:extLst>
                        <a:ext uri="{9D8B030D-6E8A-4147-A177-3AD203B41FA5}">
                          <a16:colId xmlns:a16="http://schemas.microsoft.com/office/drawing/2014/main" val="390610468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13181814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err="1"/>
                            <a:t>i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12950" t="-8197" r="-182014" b="-10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98990" t="-8197" r="-155556" b="-10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3333" t="-8197" r="-2667" b="-10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415009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63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127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120.1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99781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64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121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126.3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5995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66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142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138.5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776600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69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157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157.0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0254104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solidFill>
                                <a:schemeClr val="bg1"/>
                              </a:solidFill>
                              <a:effectLst/>
                            </a:rPr>
                            <a:t>5</a:t>
                          </a:r>
                        </a:p>
                      </a:txBody>
                      <a:tcPr>
                        <a:solidFill>
                          <a:srgbClr val="FF0000">
                            <a:alpha val="62000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solidFill>
                                <a:schemeClr val="bg1"/>
                              </a:solidFill>
                              <a:effectLst/>
                            </a:rPr>
                            <a:t>69</a:t>
                          </a:r>
                        </a:p>
                      </a:txBody>
                      <a:tcPr>
                        <a:solidFill>
                          <a:srgbClr val="FF0000">
                            <a:alpha val="62000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solidFill>
                                <a:schemeClr val="bg1"/>
                              </a:solidFill>
                              <a:effectLst/>
                            </a:rPr>
                            <a:t>162</a:t>
                          </a:r>
                        </a:p>
                      </a:txBody>
                      <a:tcPr>
                        <a:solidFill>
                          <a:srgbClr val="FF0000">
                            <a:alpha val="62000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solidFill>
                                <a:schemeClr val="bg1"/>
                              </a:solidFill>
                              <a:effectLst/>
                            </a:rPr>
                            <a:t>157.0</a:t>
                          </a:r>
                        </a:p>
                      </a:txBody>
                      <a:tcPr>
                        <a:solidFill>
                          <a:srgbClr val="FF0000">
                            <a:alpha val="62000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387342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71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156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169.2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07239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71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169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169.2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0231777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72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165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175.4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468311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73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181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181.5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898236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>
                              <a:effectLst/>
                            </a:rPr>
                            <a:t>75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208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t"/>
                          <a:r>
                            <a:rPr lang="en-US" dirty="0">
                              <a:effectLst/>
                            </a:rPr>
                            <a:t>193.8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41762827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85D40F79-AD4E-2D3A-3BF6-2EBF863716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0265" y="2210742"/>
            <a:ext cx="7275935" cy="377174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CF5AB8-7008-C3BB-DFA6-AA911A0BCA9C}"/>
              </a:ext>
            </a:extLst>
          </p:cNvPr>
          <p:cNvSpPr txBox="1"/>
          <p:nvPr/>
        </p:nvSpPr>
        <p:spPr>
          <a:xfrm>
            <a:off x="685800" y="6305470"/>
            <a:ext cx="9385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begin to practice visualizing data, you should be able to make this chart in excel,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jasp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or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spss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683DFC3-0E44-5A23-0CEB-32C63CFFF538}"/>
              </a:ext>
            </a:extLst>
          </p:cNvPr>
          <p:cNvSpPr txBox="1"/>
          <p:nvPr/>
        </p:nvSpPr>
        <p:spPr>
          <a:xfrm>
            <a:off x="409832" y="1339739"/>
            <a:ext cx="103343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If we did know the value for observation 5 the equation line would predict it to be 157. The actual value for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observation 5 is 162, hence the prediction error is 162 – 157 = 5.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is the general equation for the error?</a:t>
            </a:r>
          </a:p>
        </p:txBody>
      </p:sp>
    </p:spTree>
    <p:extLst>
      <p:ext uri="{BB962C8B-B14F-4D97-AF65-F5344CB8AC3E}">
        <p14:creationId xmlns:p14="http://schemas.microsoft.com/office/powerpoint/2010/main" val="17198251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342441" y="88090"/>
            <a:ext cx="10515600" cy="1325563"/>
          </a:xfrm>
        </p:spPr>
        <p:txBody>
          <a:bodyPr/>
          <a:lstStyle/>
          <a:p>
            <a:pPr eaLnBrk="1" hangingPunct="1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Residuals of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770" name="Rectangle 3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838200" y="1462891"/>
                <a:ext cx="10515600" cy="4794983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A residual (AKA prediction error) is the difference between the </a:t>
                </a:r>
                <a:r>
                  <a:rPr lang="en-US" u="sng" dirty="0">
                    <a:latin typeface="Calibri" panose="020F0502020204030204" pitchFamily="34" charset="0"/>
                    <a:cs typeface="Calibri" panose="020F0502020204030204" pitchFamily="34" charset="0"/>
                  </a:rPr>
                  <a:t>observed value</a:t>
                </a:r>
                <a:r>
                  <a:rPr 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and the </a:t>
                </a:r>
                <a:r>
                  <a:rPr lang="en-US" u="sng" dirty="0">
                    <a:latin typeface="Calibri" panose="020F0502020204030204" pitchFamily="34" charset="0"/>
                    <a:cs typeface="Calibri" panose="020F0502020204030204" pitchFamily="34" charset="0"/>
                  </a:rPr>
                  <a:t>predicted value</a:t>
                </a:r>
                <a:r>
                  <a:rPr 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for each obs.  </a:t>
                </a:r>
              </a:p>
              <a:p>
                <a:pPr>
                  <a:lnSpc>
                    <a:spcPct val="110000"/>
                  </a:lnSpc>
                </a:pPr>
                <a:endParaRPr 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>
                  <a:lnSpc>
                    <a:spcPct val="110000"/>
                  </a:lnSpc>
                </a:pPr>
                <a:endParaRPr 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>
                  <a:lnSpc>
                    <a:spcPct val="110000"/>
                  </a:lnSpc>
                </a:pPr>
                <a:r>
                  <a:rPr 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A small residual means that the response variable is close to what it was predicted to be under the fitted regression model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The point on the scatterplot is close to the fitted line </a:t>
                </a:r>
              </a:p>
              <a:p>
                <a:pPr>
                  <a:lnSpc>
                    <a:spcPct val="110000"/>
                  </a:lnSpc>
                </a:pPr>
                <a:r>
                  <a:rPr 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A large residual means that the response variable was unexpectedly high or low when compared to the fitted regression model</a:t>
                </a:r>
              </a:p>
              <a:p>
                <a:pPr>
                  <a:lnSpc>
                    <a:spcPct val="110000"/>
                  </a:lnSpc>
                </a:pPr>
                <a:r>
                  <a:rPr 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Intuitively we would like our model to generate residuals that are as small as possible. </a:t>
                </a:r>
              </a:p>
            </p:txBody>
          </p:sp>
        </mc:Choice>
        <mc:Fallback xmlns="">
          <p:sp>
            <p:nvSpPr>
              <p:cNvPr id="32770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838200" y="1462891"/>
                <a:ext cx="10515600" cy="4794983"/>
              </a:xfrm>
              <a:blipFill>
                <a:blip r:embed="rId3"/>
                <a:stretch>
                  <a:fillRect l="-928" t="-1906" r="-1565" b="-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962" name="Object 2"/>
              <p:cNvSpPr txBox="1"/>
              <p:nvPr/>
            </p:nvSpPr>
            <p:spPr bwMode="auto">
              <a:xfrm>
                <a:off x="4322849" y="2357438"/>
                <a:ext cx="2226232" cy="632897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𝑒</m:t>
                          </m:r>
                        </m:e>
                        <m:sub>
                          <m: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𝑦</m:t>
                          </m:r>
                        </m:e>
                        <m:sub>
                          <m: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0" lang="en-US" sz="3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sz="3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0" lang="en-US" sz="3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68962" name="Objec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22849" y="2357438"/>
                <a:ext cx="2226232" cy="6328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EA6DAC-572A-41A9-B44F-F6A62D85A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AF2B675-3BAF-420B-B2FC-1C2A1E07683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43974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7DB0F-19F7-112D-480C-09C28F056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9870B-442E-0C4F-18FD-23617D150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about the best fitting line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E3344C-58C3-84E8-5F5B-2B6F471A19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ym typeface="Wingdings" panose="05000000000000000000" pitchFamily="2" charset="2"/>
                  </a:rPr>
                  <a:t>To minimize the SSE, we find the values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b="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which make the sum of the squared prediction errors the smallest they can be. So, we find these values so that the following equation is minimized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Since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62A15A-3DB0-B98A-966D-141B7D57B5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 r="-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F9C628-DB8C-E42A-BE34-6A57F4847AE4}"/>
                  </a:ext>
                </a:extLst>
              </p:cNvPr>
              <p:cNvSpPr txBox="1"/>
              <p:nvPr/>
            </p:nvSpPr>
            <p:spPr>
              <a:xfrm>
                <a:off x="1591038" y="3220182"/>
                <a:ext cx="2682433" cy="11005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𝑄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=1</m:t>
                          </m:r>
                        </m:sub>
                        <m:sup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0" lang="en-US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m:rPr>
                                      <m:nor/>
                                    </m:rPr>
                                    <a:rPr kumimoji="0" lang="en-US" sz="2400" b="0" i="0" u="none" strike="noStrike" kern="120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libri" panose="020F0502020204030204"/>
                                      <a:ea typeface="+mn-ea"/>
                                      <a:cs typeface="+mn-cs"/>
                                    </a:rPr>
                                    <m:t> − </m:t>
                                  </m:r>
                                  <m:sSub>
                                    <m:sSubPr>
                                      <m:ctrlP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kumimoji="0" lang="en-US" sz="24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kumimoji="0" lang="en-US" sz="24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C830C5F-2DF3-E5AA-DDDC-7122670FE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1038" y="3220182"/>
                <a:ext cx="2682433" cy="110055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FF1A3D-34C2-6212-E34F-C0E3BB025FA9}"/>
                  </a:ext>
                </a:extLst>
              </p:cNvPr>
              <p:cNvSpPr txBox="1"/>
              <p:nvPr/>
            </p:nvSpPr>
            <p:spPr>
              <a:xfrm>
                <a:off x="4777453" y="3177266"/>
                <a:ext cx="4643860" cy="11005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𝑄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=1</m:t>
                          </m:r>
                        </m:sub>
                        <m:sup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0" lang="en-US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m:rPr>
                                      <m:nor/>
                                    </m:rPr>
                                    <a:rPr kumimoji="0" lang="en-US" sz="2400" b="0" i="0" u="none" strike="noStrike" kern="120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libri" panose="020F0502020204030204"/>
                                      <a:ea typeface="+mn-ea"/>
                                      <a:cs typeface="+mn-cs"/>
                                    </a:rPr>
                                    <m:t> − </m:t>
                                  </m:r>
                                  <m:r>
                                    <a:rPr kumimoji="0" lang="en-US" sz="24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kumimoji="0" lang="en-US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kumimoji="0" lang="en-US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m:rPr>
                                      <m:nor/>
                                    </m:rPr>
                                    <a:rPr kumimoji="0" lang="en-US" sz="2400" b="0" i="0" u="none" strike="noStrike" kern="120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libri" panose="020F0502020204030204"/>
                                      <a:ea typeface="+mn-ea"/>
                                      <a:cs typeface="+mn-cs"/>
                                    </a:rPr>
                                    <m:t>+ </m:t>
                                  </m:r>
                                  <m:sSub>
                                    <m:sSubPr>
                                      <m:ctrlPr>
                                        <a:rPr kumimoji="0" lang="en-US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kumimoji="0" lang="en-US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kumimoji="0" lang="en-US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kumimoji="0" lang="en-US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sz="24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E8E82E3-6E19-38DD-4BDD-59E76AFA56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7453" y="3177266"/>
                <a:ext cx="4643860" cy="110055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7FA440-A118-41B6-42B9-A009BD994524}"/>
                  </a:ext>
                </a:extLst>
              </p:cNvPr>
              <p:cNvSpPr txBox="1"/>
              <p:nvPr/>
            </p:nvSpPr>
            <p:spPr>
              <a:xfrm>
                <a:off x="1926703" y="4623205"/>
                <a:ext cx="20342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sSub>
                      <m:sSub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𝑏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0</m:t>
                        </m:r>
                      </m:sub>
                    </m:sSub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𝑏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𝑥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7E3F22D-64BB-48D9-C005-3AD8B3104C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6703" y="4623205"/>
                <a:ext cx="2034250" cy="461665"/>
              </a:xfrm>
              <a:prstGeom prst="rect">
                <a:avLst/>
              </a:prstGeom>
              <a:blipFill>
                <a:blip r:embed="rId6"/>
                <a:stretch>
                  <a:fillRect l="-898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Arrow: Right 7">
            <a:extLst>
              <a:ext uri="{FF2B5EF4-FFF2-40B4-BE49-F238E27FC236}">
                <a16:creationId xmlns:a16="http://schemas.microsoft.com/office/drawing/2014/main" id="{DA42EA27-495B-37C7-F8E2-C5585913ACA4}"/>
              </a:ext>
            </a:extLst>
          </p:cNvPr>
          <p:cNvSpPr/>
          <p:nvPr/>
        </p:nvSpPr>
        <p:spPr>
          <a:xfrm>
            <a:off x="4354977" y="3532454"/>
            <a:ext cx="844952" cy="476013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EFE82A2-36B3-CA96-165C-931EB8747EC0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3360145" y="4008467"/>
            <a:ext cx="2539387" cy="14792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59550C6-761A-5CEA-B0D6-D0DEDF8FA9C2}"/>
                  </a:ext>
                </a:extLst>
              </p:cNvPr>
              <p:cNvSpPr txBox="1"/>
              <p:nvPr/>
            </p:nvSpPr>
            <p:spPr>
              <a:xfrm>
                <a:off x="2850614" y="5487715"/>
                <a:ext cx="609783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𝑒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𝑦</m:t>
                          </m:r>
                        </m:e>
                        <m:sub>
                          <m:r>
                            <a:rPr kumimoji="0" lang="en-US" sz="2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m:rPr>
                          <m:nor/>
                        </m:rP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m:t> − </m:t>
                      </m:r>
                      <m:sSub>
                        <m:sSubPr>
                          <m:ctrlPr>
                            <a:rPr kumimoji="0" lang="en-US" sz="2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0" lang="en-US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0" lang="en-US" sz="2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3E5BFC0-4235-94AF-6DB8-5D14AFAF92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0614" y="5487715"/>
                <a:ext cx="6097836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82261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B43F1-D12A-F6C2-FC88-38C4F8E92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4400" dirty="0"/>
              <a:t>Least Squares Estimation of </a:t>
            </a:r>
            <a:r>
              <a:rPr lang="en-US" altLang="en-US" sz="4400" i="1" dirty="0">
                <a:latin typeface="Symbol" panose="05050102010706020507" pitchFamily="18" charset="2"/>
              </a:rPr>
              <a:t>b</a:t>
            </a:r>
            <a:r>
              <a:rPr lang="en-US" altLang="en-US" sz="4400" baseline="-25000" dirty="0"/>
              <a:t>0</a:t>
            </a:r>
            <a:r>
              <a:rPr lang="en-US" altLang="en-US" sz="4400" dirty="0"/>
              <a:t>, </a:t>
            </a:r>
            <a:r>
              <a:rPr lang="en-US" altLang="en-US" sz="4400" i="1" dirty="0">
                <a:latin typeface="Symbol" panose="05050102010706020507" pitchFamily="18" charset="2"/>
              </a:rPr>
              <a:t>b</a:t>
            </a:r>
            <a:r>
              <a:rPr lang="en-US" altLang="en-US" sz="4400" baseline="-25000" dirty="0"/>
              <a:t>1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9CAF8-37D7-50F9-18AC-2F55B53A76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2800" i="1" dirty="0">
                <a:latin typeface="Symbol" panose="05050102010706020507" pitchFamily="18" charset="2"/>
              </a:rPr>
              <a:t>b</a:t>
            </a:r>
            <a:r>
              <a:rPr lang="en-US" altLang="en-US" sz="2800" baseline="-25000" dirty="0"/>
              <a:t>0</a:t>
            </a:r>
            <a:r>
              <a:rPr lang="en-US" altLang="en-US" sz="2800" dirty="0"/>
              <a:t> </a:t>
            </a:r>
            <a:r>
              <a:rPr lang="en-US" altLang="en-US" sz="2800" dirty="0">
                <a:sym typeface="Wingdings" panose="05000000000000000000" pitchFamily="2" charset="2"/>
              </a:rPr>
              <a:t></a:t>
            </a:r>
            <a:r>
              <a:rPr lang="en-US" altLang="en-US" sz="2800" dirty="0">
                <a:sym typeface="Symbol" panose="05050102010706020507" pitchFamily="18" charset="2"/>
              </a:rPr>
              <a:t> Mean response when</a:t>
            </a:r>
            <a:r>
              <a:rPr lang="en-US" altLang="en-US" sz="2800" i="1" dirty="0">
                <a:sym typeface="Symbol" panose="05050102010706020507" pitchFamily="18" charset="2"/>
              </a:rPr>
              <a:t> X </a:t>
            </a:r>
            <a:r>
              <a:rPr lang="en-US" altLang="en-US" sz="2800" dirty="0">
                <a:sym typeface="Symbol" panose="05050102010706020507" pitchFamily="18" charset="2"/>
              </a:rPr>
              <a:t>= 0 (</a:t>
            </a:r>
            <a:r>
              <a:rPr lang="en-US" altLang="en-US" sz="2800" i="1" dirty="0">
                <a:sym typeface="Symbol" panose="05050102010706020507" pitchFamily="18" charset="2"/>
              </a:rPr>
              <a:t>y</a:t>
            </a:r>
            <a:r>
              <a:rPr lang="en-US" altLang="en-US" sz="2800" dirty="0">
                <a:sym typeface="Symbol" panose="05050102010706020507" pitchFamily="18" charset="2"/>
              </a:rPr>
              <a:t>-intercept)</a:t>
            </a:r>
          </a:p>
          <a:p>
            <a:r>
              <a:rPr lang="en-US" altLang="en-US" sz="2800" i="1" dirty="0">
                <a:latin typeface="Symbol" panose="05050102010706020507" pitchFamily="18" charset="2"/>
              </a:rPr>
              <a:t> b</a:t>
            </a:r>
            <a:r>
              <a:rPr lang="en-US" altLang="en-US" sz="2800" baseline="-25000" dirty="0"/>
              <a:t>1</a:t>
            </a:r>
            <a:r>
              <a:rPr lang="en-US" altLang="en-US" sz="2800" dirty="0"/>
              <a:t> </a:t>
            </a:r>
            <a:r>
              <a:rPr lang="en-US" altLang="en-US" sz="2800" dirty="0">
                <a:sym typeface="Wingdings" panose="05000000000000000000" pitchFamily="2" charset="2"/>
              </a:rPr>
              <a:t></a:t>
            </a:r>
            <a:r>
              <a:rPr lang="en-US" altLang="en-US" sz="2800" dirty="0">
                <a:sym typeface="Symbol" panose="05050102010706020507" pitchFamily="18" charset="2"/>
              </a:rPr>
              <a:t> Change in mean response when </a:t>
            </a:r>
            <a:r>
              <a:rPr lang="en-US" altLang="en-US" sz="2800" i="1" dirty="0">
                <a:sym typeface="Symbol" panose="05050102010706020507" pitchFamily="18" charset="2"/>
              </a:rPr>
              <a:t>X</a:t>
            </a:r>
            <a:r>
              <a:rPr lang="en-US" altLang="en-US" sz="2800" dirty="0">
                <a:sym typeface="Symbol" panose="05050102010706020507" pitchFamily="18" charset="2"/>
              </a:rPr>
              <a:t> increases by 1 unit (slope)</a:t>
            </a:r>
          </a:p>
          <a:p>
            <a:r>
              <a:rPr lang="en-US" altLang="en-US" sz="2800" dirty="0">
                <a:sym typeface="Symbol" panose="05050102010706020507" pitchFamily="18" charset="2"/>
              </a:rPr>
              <a:t> </a:t>
            </a:r>
            <a:r>
              <a:rPr lang="en-US" altLang="en-US" sz="2800" i="1" dirty="0">
                <a:latin typeface="Symbol" panose="05050102010706020507" pitchFamily="18" charset="2"/>
              </a:rPr>
              <a:t>b</a:t>
            </a:r>
            <a:r>
              <a:rPr lang="en-US" altLang="en-US" sz="2800" baseline="-25000" dirty="0"/>
              <a:t>0</a:t>
            </a:r>
            <a:r>
              <a:rPr lang="en-US" altLang="en-US" sz="2800" dirty="0"/>
              <a:t>,</a:t>
            </a:r>
            <a:r>
              <a:rPr lang="en-US" altLang="en-US" sz="2800" baseline="-25000" dirty="0"/>
              <a:t> </a:t>
            </a:r>
            <a:r>
              <a:rPr lang="en-US" altLang="en-US" sz="2800" i="1" dirty="0">
                <a:latin typeface="Symbol" panose="05050102010706020507" pitchFamily="18" charset="2"/>
              </a:rPr>
              <a:t>b</a:t>
            </a:r>
            <a:r>
              <a:rPr lang="en-US" altLang="en-US" sz="2800" baseline="-25000" dirty="0"/>
              <a:t>1 </a:t>
            </a:r>
            <a:r>
              <a:rPr lang="en-US" altLang="en-US" sz="2800" dirty="0"/>
              <a:t> are unknown parameters (like </a:t>
            </a:r>
            <a:r>
              <a:rPr lang="en-US" altLang="en-US" sz="2800" i="1" dirty="0">
                <a:latin typeface="Symbol" panose="05050102010706020507" pitchFamily="18" charset="2"/>
              </a:rPr>
              <a:t>m</a:t>
            </a:r>
            <a:r>
              <a:rPr lang="en-US" altLang="en-US" sz="2800" dirty="0"/>
              <a:t>)</a:t>
            </a:r>
          </a:p>
          <a:p>
            <a:r>
              <a:rPr lang="en-US" altLang="en-US" sz="2800" dirty="0"/>
              <a:t> </a:t>
            </a:r>
            <a:r>
              <a:rPr lang="en-US" altLang="en-US" sz="2800" i="1" dirty="0">
                <a:latin typeface="Symbol" panose="05050102010706020507" pitchFamily="18" charset="2"/>
              </a:rPr>
              <a:t>b</a:t>
            </a:r>
            <a:r>
              <a:rPr lang="en-US" altLang="en-US" sz="2800" baseline="-25000" dirty="0"/>
              <a:t>0</a:t>
            </a:r>
            <a:r>
              <a:rPr lang="en-US" altLang="en-US" sz="2800" dirty="0"/>
              <a:t>+</a:t>
            </a:r>
            <a:r>
              <a:rPr lang="en-US" altLang="en-US" sz="2800" i="1" dirty="0">
                <a:latin typeface="Symbol" panose="05050102010706020507" pitchFamily="18" charset="2"/>
              </a:rPr>
              <a:t>b</a:t>
            </a:r>
            <a:r>
              <a:rPr lang="en-US" altLang="en-US" sz="2800" baseline="-25000" dirty="0"/>
              <a:t>1</a:t>
            </a:r>
            <a:r>
              <a:rPr lang="en-US" altLang="en-US" sz="2800" i="1" dirty="0"/>
              <a:t>x</a:t>
            </a:r>
            <a:r>
              <a:rPr lang="en-US" altLang="en-US" sz="2800" dirty="0"/>
              <a:t> </a:t>
            </a:r>
            <a:r>
              <a:rPr lang="en-US" altLang="en-US" sz="2800" dirty="0">
                <a:sym typeface="Symbol" panose="05050102010706020507" pitchFamily="18" charset="2"/>
              </a:rPr>
              <a:t></a:t>
            </a:r>
            <a:r>
              <a:rPr lang="en-US" altLang="en-US" sz="2800" dirty="0">
                <a:sym typeface="Wingdings" panose="05000000000000000000" pitchFamily="2" charset="2"/>
              </a:rPr>
              <a:t></a:t>
            </a:r>
            <a:r>
              <a:rPr lang="en-US" altLang="en-US" sz="2800" dirty="0">
                <a:sym typeface="Symbol" panose="05050102010706020507" pitchFamily="18" charset="2"/>
              </a:rPr>
              <a:t> Mean response when explanatory variable takes on the value </a:t>
            </a:r>
            <a:r>
              <a:rPr lang="en-US" altLang="en-US" sz="2800" i="1" dirty="0">
                <a:sym typeface="Symbol" panose="05050102010706020507" pitchFamily="18" charset="2"/>
              </a:rPr>
              <a:t>x</a:t>
            </a:r>
            <a:endParaRPr lang="en-US" altLang="en-US" sz="2800" dirty="0"/>
          </a:p>
          <a:p>
            <a:r>
              <a:rPr lang="en-US" altLang="en-US" sz="2800" b="1" dirty="0"/>
              <a:t>Goal</a:t>
            </a:r>
            <a:r>
              <a:rPr lang="en-US" altLang="en-US" sz="2800" dirty="0"/>
              <a:t>: Choose values (estimates) that minimize the sum of squared errors (</a:t>
            </a:r>
            <a:r>
              <a:rPr lang="en-US" altLang="en-US" sz="2800" i="1" dirty="0"/>
              <a:t>SSE</a:t>
            </a:r>
            <a:r>
              <a:rPr lang="en-US" altLang="en-US" sz="2800" dirty="0"/>
              <a:t>) of observed values to the straight-line: </a:t>
            </a:r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F2AECD66-6613-8EC5-E07F-4FD2531562B0}"/>
                  </a:ext>
                </a:extLst>
              </p:cNvPr>
              <p:cNvSpPr txBox="1"/>
              <p:nvPr/>
            </p:nvSpPr>
            <p:spPr bwMode="auto">
              <a:xfrm>
                <a:off x="1828800" y="5193880"/>
                <a:ext cx="8534400" cy="9906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 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𝑄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4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𝑆𝑆𝐸</m:t>
                      </m:r>
                      <m:r>
                        <a:rPr kumimoji="0" lang="en-US" sz="24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en-US" sz="2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kumimoji="0" lang="en-US" sz="2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  <m:r>
                            <a:rPr kumimoji="0" lang="en-US" sz="2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=1</m:t>
                          </m:r>
                        </m:sub>
                        <m:sup>
                          <m:r>
                            <a:rPr kumimoji="0" lang="en-US" sz="2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kumimoji="0" lang="en-US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0" lang="en-US" sz="2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sz="2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kumimoji="0" lang="en-US" sz="24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kumimoji="0" lang="en-US" sz="24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kumimoji="0" lang="en-US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kumimoji="0" lang="en-US" sz="24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=1</m:t>
                          </m:r>
                        </m:sub>
                        <m:sup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0" lang="en-US" sz="2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sz="2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d>
                                    <m:dPr>
                                      <m:ctrlP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sz="24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sz="24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kumimoji="0" lang="en-US" sz="24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kumimoji="0" lang="en-US" sz="24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sz="24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kumimoji="0" lang="en-US" sz="24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kumimoji="0" lang="en-US" sz="24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sz="24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kumimoji="0" lang="en-US" sz="24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F2AECD66-6613-8EC5-E07F-4FD2531562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8800" y="5193880"/>
                <a:ext cx="8534400" cy="990600"/>
              </a:xfrm>
              <a:prstGeom prst="rect">
                <a:avLst/>
              </a:prstGeom>
              <a:blipFill>
                <a:blip r:embed="rId2"/>
                <a:stretch>
                  <a:fillRect b="-4908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864632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EF097E9-54E9-D42E-9D26-E6F0B491F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058" y="229283"/>
            <a:ext cx="10515600" cy="1325563"/>
          </a:xfrm>
        </p:spPr>
        <p:txBody>
          <a:bodyPr/>
          <a:lstStyle/>
          <a:p>
            <a:r>
              <a:rPr lang="en-US" dirty="0"/>
              <a:t>Intuition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053633-8E83-65B1-255F-08EF8AAE33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 rtl="0" eaLnBrk="1" hangingPunct="1"/>
            <a:r>
              <a:rPr lang="en-US" altLang="ar-SA" sz="2800" dirty="0">
                <a:latin typeface="+mj-lt"/>
              </a:rPr>
              <a:t>We will write an estimated regression line based on sample data as</a:t>
            </a:r>
          </a:p>
          <a:p>
            <a:pPr algn="ctr" rtl="0" eaLnBrk="1" hangingPunct="1">
              <a:buFont typeface="Wingdings" pitchFamily="2" charset="2"/>
              <a:buNone/>
            </a:pPr>
            <a:r>
              <a:rPr lang="en-US" altLang="ar-SA" dirty="0">
                <a:latin typeface="Times New Roman" pitchFamily="18" charset="0"/>
              </a:rPr>
              <a:t>		</a:t>
            </a:r>
          </a:p>
          <a:p>
            <a:pPr algn="l" rtl="0" eaLnBrk="1" hangingPunct="1"/>
            <a:r>
              <a:rPr lang="en-US" altLang="ar-SA" sz="2800" dirty="0">
                <a:latin typeface="+mj-lt"/>
              </a:rPr>
              <a:t>The method of least squares chooses the values for </a:t>
            </a:r>
            <a:r>
              <a:rPr lang="en-US" altLang="ar-SA" sz="2800" dirty="0">
                <a:latin typeface="Times New Roman" pitchFamily="18" charset="0"/>
              </a:rPr>
              <a:t>b</a:t>
            </a:r>
            <a:r>
              <a:rPr lang="en-US" altLang="ar-SA" sz="2800" baseline="-25000" dirty="0">
                <a:latin typeface="Times New Roman" pitchFamily="18" charset="0"/>
              </a:rPr>
              <a:t>0</a:t>
            </a:r>
            <a:r>
              <a:rPr lang="en-US" altLang="ar-SA" dirty="0">
                <a:latin typeface="Times New Roman" pitchFamily="18" charset="0"/>
              </a:rPr>
              <a:t> </a:t>
            </a:r>
            <a:r>
              <a:rPr lang="en-US" altLang="ar-SA" sz="2800" dirty="0">
                <a:latin typeface="+mj-lt"/>
              </a:rPr>
              <a:t>and</a:t>
            </a:r>
            <a:r>
              <a:rPr lang="en-US" altLang="ar-SA" dirty="0">
                <a:latin typeface="Times New Roman" pitchFamily="18" charset="0"/>
              </a:rPr>
              <a:t> </a:t>
            </a:r>
            <a:r>
              <a:rPr lang="en-US" altLang="ar-SA" sz="2800" dirty="0">
                <a:latin typeface="Times New Roman" pitchFamily="18" charset="0"/>
              </a:rPr>
              <a:t>b</a:t>
            </a:r>
            <a:r>
              <a:rPr lang="en-US" altLang="ar-SA" sz="2800" baseline="-25000" dirty="0">
                <a:latin typeface="Times New Roman" pitchFamily="18" charset="0"/>
              </a:rPr>
              <a:t>1</a:t>
            </a:r>
            <a:r>
              <a:rPr lang="en-US" altLang="ar-SA" dirty="0">
                <a:latin typeface="Times New Roman" pitchFamily="18" charset="0"/>
              </a:rPr>
              <a:t> </a:t>
            </a:r>
            <a:r>
              <a:rPr lang="en-US" altLang="ar-SA" sz="2800" dirty="0">
                <a:latin typeface="+mj-lt"/>
              </a:rPr>
              <a:t>to minimize the sum of squared errors</a:t>
            </a:r>
          </a:p>
          <a:p>
            <a:pPr marL="457200" indent="-457200"/>
            <a:endParaRPr lang="en-US" altLang="en-US" sz="3600" dirty="0">
              <a:latin typeface="Times New Roman" pitchFamily="18" charset="0"/>
            </a:endParaRPr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162F4CF-7D9D-7A25-3541-6622780921C8}"/>
                  </a:ext>
                </a:extLst>
              </p:cNvPr>
              <p:cNvSpPr txBox="1"/>
              <p:nvPr/>
            </p:nvSpPr>
            <p:spPr>
              <a:xfrm>
                <a:off x="4310311" y="2367183"/>
                <a:ext cx="253056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𝑌</m:t>
                    </m:r>
                    <m:r>
                      <a:rPr kumimoji="0" lang="en-US" sz="2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 </m:t>
                    </m:r>
                    <m:sSub>
                      <m:sSubPr>
                        <m:ctrlPr>
                          <a:rPr kumimoji="0" lang="en-US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𝛽</m:t>
                        </m:r>
                      </m:e>
                      <m:sub>
                        <m:r>
                          <a:rPr kumimoji="0" lang="en-US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0</m:t>
                        </m:r>
                      </m:sub>
                    </m:sSub>
                    <m:r>
                      <a:rPr kumimoji="0" lang="en-US" sz="2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+</m:t>
                    </m:r>
                    <m:sSub>
                      <m:sSubPr>
                        <m:ctrlPr>
                          <a:rPr kumimoji="0" lang="en-US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𝛽</m:t>
                        </m:r>
                      </m:e>
                      <m:sub>
                        <m:r>
                          <a:rPr kumimoji="0" lang="en-US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0</m:t>
                        </m:r>
                      </m:sub>
                    </m:sSub>
                  </m:oMath>
                </a14:m>
                <a:r>
                  <a:rPr kumimoji="0" lang="en-US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Lucida Grande"/>
                    <a:ea typeface="+mn-ea"/>
                    <a:cs typeface="+mn-cs"/>
                  </a:rPr>
                  <a:t>X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Lucida Grande"/>
                    <a:ea typeface="+mn-ea"/>
                    <a:cs typeface="+mn-cs"/>
                  </a:rPr>
                  <a:t>+</a:t>
                </a:r>
                <a:r>
                  <a:rPr kumimoji="0" lang="el-GR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ε</a:t>
                </a:r>
                <a:endParaRPr kumimoji="0" lang="en-US" sz="2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Lucida Grande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162F4CF-7D9D-7A25-3541-6622780921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0311" y="2367183"/>
                <a:ext cx="2530565" cy="430887"/>
              </a:xfrm>
              <a:prstGeom prst="rect">
                <a:avLst/>
              </a:prstGeom>
              <a:blipFill>
                <a:blip r:embed="rId2"/>
                <a:stretch>
                  <a:fillRect t="-26761" r="-7229" b="-49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bject 1025">
                <a:extLst>
                  <a:ext uri="{FF2B5EF4-FFF2-40B4-BE49-F238E27FC236}">
                    <a16:creationId xmlns:a16="http://schemas.microsoft.com/office/drawing/2014/main" id="{A4FA0365-943A-054D-2FF2-EFD45C49DE2B}"/>
                  </a:ext>
                </a:extLst>
              </p:cNvPr>
              <p:cNvSpPr txBox="1"/>
              <p:nvPr/>
            </p:nvSpPr>
            <p:spPr bwMode="auto">
              <a:xfrm>
                <a:off x="3714474" y="3912833"/>
                <a:ext cx="4359570" cy="114936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𝑆𝑆𝐸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=1</m:t>
                          </m:r>
                        </m:sub>
                        <m: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</m:t>
                          </m:r>
                        </m:sup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𝑦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−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</m:t>
                          </m:r>
                        </m:e>
                      </m:nary>
                      <m:sSup>
                        <m:sSup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nary>
                            <m:naryPr>
                              <m:chr m:val="∑"/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naryPr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</m:t>
                              </m:r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=1</m:t>
                              </m:r>
                            </m:sub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ctrlP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𝑦</m:t>
                                  </m:r>
                                  <m: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kumimoji="0" lang="en-US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kumimoji="0" lang="en-US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nary>
                        </m:e>
                        <m: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Lucida Grande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Object 1025">
                <a:extLst>
                  <a:ext uri="{FF2B5EF4-FFF2-40B4-BE49-F238E27FC236}">
                    <a16:creationId xmlns:a16="http://schemas.microsoft.com/office/drawing/2014/main" id="{A4FA0365-943A-054D-2FF2-EFD45C49DE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14474" y="3912833"/>
                <a:ext cx="4359570" cy="114936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06083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B3E2B-1BEC-04EB-ED40-F772BD44F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of least -Squares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ACAFDE-2D11-D9E2-DECD-AAEB968C81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To find "good" estimators of the regression parameters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 we employ the method of least squares. </a:t>
                </a:r>
              </a:p>
              <a:p>
                <a:r>
                  <a:rPr lang="en-US" dirty="0"/>
                  <a:t>The method of least squares considers the deviation of </a:t>
                </a:r>
                <a:r>
                  <a:rPr lang="en-US" i="1" dirty="0"/>
                  <a:t>Y</a:t>
                </a:r>
                <a:r>
                  <a:rPr lang="en-US" dirty="0"/>
                  <a:t>i from its expected value</a:t>
                </a:r>
              </a:p>
              <a:p>
                <a:r>
                  <a:rPr lang="en-US" dirty="0"/>
                  <a:t>In particular, the method of least squares requires that we consider the sum of the </a:t>
                </a:r>
                <a:r>
                  <a:rPr lang="en-US" i="1" dirty="0"/>
                  <a:t>n</a:t>
                </a:r>
                <a:r>
                  <a:rPr lang="en-US" dirty="0"/>
                  <a:t> squared deviations. </a:t>
                </a:r>
              </a:p>
              <a:p>
                <a:r>
                  <a:rPr lang="en-US" dirty="0"/>
                  <a:t>This criterion is denoted by Q: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ACAFDE-2D11-D9E2-DECD-AAEB968C81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1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91F9A91-1A76-BC2D-DB0E-D4D55EF535FC}"/>
                  </a:ext>
                </a:extLst>
              </p:cNvPr>
              <p:cNvSpPr txBox="1"/>
              <p:nvPr/>
            </p:nvSpPr>
            <p:spPr>
              <a:xfrm>
                <a:off x="2517794" y="5076405"/>
                <a:ext cx="2682433" cy="11005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𝑄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=1</m:t>
                          </m:r>
                        </m:sub>
                        <m:sup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0" lang="en-US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m:rPr>
                                      <m:nor/>
                                    </m:rPr>
                                    <a:rPr kumimoji="0" lang="en-US" sz="2400" b="0" i="0" u="none" strike="noStrike" kern="120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libri" panose="020F0502020204030204"/>
                                      <a:ea typeface="+mn-ea"/>
                                      <a:cs typeface="+mn-cs"/>
                                    </a:rPr>
                                    <m:t> − </m:t>
                                  </m:r>
                                  <m:sSub>
                                    <m:sSubPr>
                                      <m:ctrlP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kumimoji="0" lang="en-US" sz="24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kumimoji="0" lang="en-US" sz="24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91F9A91-1A76-BC2D-DB0E-D4D55EF535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7794" y="5076405"/>
                <a:ext cx="2682433" cy="110055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B0A87C2-9EE0-CD8E-F49D-D0A7B1492D48}"/>
                  </a:ext>
                </a:extLst>
              </p:cNvPr>
              <p:cNvSpPr txBox="1"/>
              <p:nvPr/>
            </p:nvSpPr>
            <p:spPr>
              <a:xfrm>
                <a:off x="5704209" y="5033489"/>
                <a:ext cx="4643860" cy="11005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𝑄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=1</m:t>
                          </m:r>
                        </m:sub>
                        <m:sup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0" lang="en-US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m:rPr>
                                      <m:nor/>
                                    </m:rPr>
                                    <a:rPr kumimoji="0" lang="en-US" sz="2400" b="0" i="0" u="none" strike="noStrike" kern="120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libri" panose="020F0502020204030204"/>
                                      <a:ea typeface="+mn-ea"/>
                                      <a:cs typeface="+mn-cs"/>
                                    </a:rPr>
                                    <m:t> − </m:t>
                                  </m:r>
                                  <m:r>
                                    <a:rPr kumimoji="0" lang="en-US" sz="24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kumimoji="0" lang="en-US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kumimoji="0" lang="en-US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m:rPr>
                                      <m:nor/>
                                    </m:rPr>
                                    <a:rPr kumimoji="0" lang="en-US" sz="2400" b="0" i="0" u="none" strike="noStrike" kern="120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libri" panose="020F0502020204030204"/>
                                      <a:ea typeface="+mn-ea"/>
                                      <a:cs typeface="+mn-cs"/>
                                    </a:rPr>
                                    <m:t>+ </m:t>
                                  </m:r>
                                  <m:sSub>
                                    <m:sSubPr>
                                      <m:ctrlPr>
                                        <a:rPr kumimoji="0" lang="en-US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kumimoji="0" lang="en-US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kumimoji="0" lang="en-US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kumimoji="0" lang="en-US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sz="24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B0A87C2-9EE0-CD8E-F49D-D0A7B1492D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209" y="5033489"/>
                <a:ext cx="4643860" cy="110055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Arrow: Right 7">
            <a:extLst>
              <a:ext uri="{FF2B5EF4-FFF2-40B4-BE49-F238E27FC236}">
                <a16:creationId xmlns:a16="http://schemas.microsoft.com/office/drawing/2014/main" id="{397A5B48-14A0-AFD0-FA5C-304FAD72AA00}"/>
              </a:ext>
            </a:extLst>
          </p:cNvPr>
          <p:cNvSpPr/>
          <p:nvPr/>
        </p:nvSpPr>
        <p:spPr>
          <a:xfrm>
            <a:off x="5281733" y="5388677"/>
            <a:ext cx="844952" cy="476013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A563DB6-5435-5B31-90C2-21A179A315D9}"/>
              </a:ext>
            </a:extLst>
          </p:cNvPr>
          <p:cNvCxnSpPr/>
          <p:nvPr/>
        </p:nvCxnSpPr>
        <p:spPr>
          <a:xfrm>
            <a:off x="3373395" y="3323968"/>
            <a:ext cx="4880919" cy="20647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5B0BB5C-0933-50F4-AF9D-2F2C753FECF2}"/>
              </a:ext>
            </a:extLst>
          </p:cNvPr>
          <p:cNvCxnSpPr>
            <a:cxnSpLocks/>
          </p:cNvCxnSpPr>
          <p:nvPr/>
        </p:nvCxnSpPr>
        <p:spPr>
          <a:xfrm>
            <a:off x="3373395" y="3323968"/>
            <a:ext cx="1124464" cy="21624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27677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821F7-0D62-5909-6972-53E3E66F8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C31032-CDB6-F580-20ED-1B62E03B80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deviation of an observation is calculated around its estimated mean, hence the deviations are the residuals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EF649D8-3D64-C9E7-BD6A-E8781B5918DD}"/>
                  </a:ext>
                </a:extLst>
              </p:cNvPr>
              <p:cNvSpPr txBox="1"/>
              <p:nvPr/>
            </p:nvSpPr>
            <p:spPr>
              <a:xfrm>
                <a:off x="1631093" y="2833277"/>
                <a:ext cx="4646140" cy="5347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𝑒</m:t>
                        </m:r>
                      </m:e>
                      <m:sub>
                        <m:r>
                          <a:rPr kumimoji="0" lang="en-US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𝑌</m:t>
                        </m:r>
                      </m:e>
                      <m:sub>
                        <m:r>
                          <a:rPr kumimoji="0" lang="en-US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kumimoji="0" lang="en-US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kumimoji="0" lang="en-US" sz="2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kumimoji="0" lang="en-US" sz="2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 </m:t>
                            </m:r>
                            <m:r>
                              <a:rPr kumimoji="0" lang="en-US" sz="2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kumimoji="0" lang="en-US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EF649D8-3D64-C9E7-BD6A-E8781B591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093" y="2833277"/>
                <a:ext cx="4646140" cy="534762"/>
              </a:xfrm>
              <a:prstGeom prst="rect">
                <a:avLst/>
              </a:prstGeom>
              <a:blipFill>
                <a:blip r:embed="rId2"/>
                <a:stretch>
                  <a:fillRect t="-919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6FF951C-B939-9DF5-9D6D-80714C07866D}"/>
                  </a:ext>
                </a:extLst>
              </p:cNvPr>
              <p:cNvSpPr txBox="1"/>
              <p:nvPr/>
            </p:nvSpPr>
            <p:spPr>
              <a:xfrm>
                <a:off x="1472101" y="3792351"/>
                <a:ext cx="5349961" cy="5347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𝑆𝑆𝐸</m:t>
                    </m:r>
                  </m:oMath>
                </a14:m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=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kumimoji="0" lang="en-US" sz="28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kumimoji="0" lang="en-US" sz="2800" b="0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pPr>
                          <m:e>
                            <m:r>
                              <a:rPr kumimoji="0" lang="en-US" sz="2800" b="0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kumimoji="0" lang="en-US" sz="28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0" lang="en-US" sz="28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 </m:t>
                                    </m:r>
                                    <m:r>
                                      <a:rPr kumimoji="0" lang="en-US" sz="28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𝑌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kumimoji="0" lang="en-US" sz="2800" b="0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)</m:t>
                            </m:r>
                          </m:e>
                          <m:sup>
                            <m:r>
                              <a:rPr kumimoji="0" lang="en-US" sz="2800" b="0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2</m:t>
                            </m:r>
                          </m:sup>
                        </m:sSup>
                        <m:r>
                          <a:rPr kumimoji="0" lang="en-US" sz="28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</m:t>
                        </m:r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kumimoji="0" lang="en-US" sz="2800" b="0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naryPr>
                          <m:sub/>
                          <m:sup/>
                          <m:e>
                            <m:sSup>
                              <m:sSupPr>
                                <m:ctrlPr>
                                  <a:rPr kumimoji="0" lang="en-US" sz="28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kumimoji="0" lang="en-US" sz="28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sz="28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kumimoji="0" lang="en-US" sz="28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kumimoji="0" lang="en-US" sz="28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nary>
                  </m:oMath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6FF951C-B939-9DF5-9D6D-80714C0786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2101" y="3792351"/>
                <a:ext cx="5349961" cy="534762"/>
              </a:xfrm>
              <a:prstGeom prst="rect">
                <a:avLst/>
              </a:prstGeom>
              <a:blipFill>
                <a:blip r:embed="rId3"/>
                <a:stretch>
                  <a:fillRect t="-7955" b="-3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E19696D3-41F5-ABE2-45F9-E88B5885223B}"/>
              </a:ext>
            </a:extLst>
          </p:cNvPr>
          <p:cNvSpPr txBox="1"/>
          <p:nvPr/>
        </p:nvSpPr>
        <p:spPr>
          <a:xfrm>
            <a:off x="7316656" y="3852457"/>
            <a:ext cx="36970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Residual sum of squares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51835F3-0469-4B14-F492-CD10750CBB02}"/>
                  </a:ext>
                </a:extLst>
              </p:cNvPr>
              <p:cNvSpPr txBox="1"/>
              <p:nvPr/>
            </p:nvSpPr>
            <p:spPr>
              <a:xfrm>
                <a:off x="1472101" y="4692859"/>
                <a:ext cx="6215450" cy="7641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p>
                      <m:sSupPr>
                        <m:ctrlPr>
                          <a:rPr kumimoji="0" lang="en-US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kumimoji="0" lang="en-US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𝑠</m:t>
                        </m:r>
                      </m:e>
                      <m:sup>
                        <m:r>
                          <a:rPr kumimoji="0" lang="en-US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p>
                    </m:sSup>
                  </m:oMath>
                </a14:m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=</a:t>
                </a:r>
                <a14:m>
                  <m:oMath xmlns:m="http://schemas.openxmlformats.org/officeDocument/2006/math">
                    <m:r>
                      <a:rPr kumimoji="0" lang="en-US" sz="2800" b="0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𝑀𝑆𝐸</m:t>
                    </m:r>
                    <m:r>
                      <a:rPr kumimoji="0" lang="en-US" sz="2800" b="0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8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8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𝑆𝑆𝐸</m:t>
                        </m:r>
                      </m:num>
                      <m:den>
                        <m:r>
                          <a:rPr kumimoji="0" lang="en-US" sz="28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𝑛</m:t>
                        </m:r>
                        <m:r>
                          <a:rPr kumimoji="0" lang="en-US" sz="28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−2</m:t>
                        </m:r>
                      </m:den>
                    </m:f>
                    <m:r>
                      <a:rPr kumimoji="0" lang="en-US" sz="2800" b="0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8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kumimoji="0" lang="en-US" sz="2800" b="0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naryPr>
                          <m:sub/>
                          <m:sup/>
                          <m:e>
                            <m:sSup>
                              <m:sSupPr>
                                <m:ctrlPr>
                                  <a:rPr kumimoji="0" lang="en-US" sz="28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pPr>
                              <m:e>
                                <m:r>
                                  <a:rPr kumimoji="0" lang="en-US" sz="28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kumimoji="0" lang="en-US" sz="28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sz="28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𝑌</m:t>
                                    </m:r>
                                  </m:e>
                                  <m:sub>
                                    <m:r>
                                      <a:rPr kumimoji="0" lang="en-US" sz="28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kumimoji="0" lang="en-US" sz="28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sz="28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kumimoji="0" lang="en-US" sz="28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kumimoji="0" lang="en-US" sz="28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 </m:t>
                                        </m:r>
                                        <m:r>
                                          <a:rPr kumimoji="0" lang="en-US" sz="28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𝑌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kumimoji="0" lang="en-US" sz="28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kumimoji="0" lang="en-US" sz="28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kumimoji="0" lang="en-US" sz="28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num>
                      <m:den>
                        <m:r>
                          <a:rPr kumimoji="0" lang="en-US" sz="28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𝑛</m:t>
                        </m:r>
                        <m:r>
                          <a:rPr kumimoji="0" lang="en-US" sz="28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−2</m:t>
                        </m:r>
                      </m:den>
                    </m:f>
                    <m:r>
                      <a:rPr kumimoji="0" lang="en-US" sz="2800" b="0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8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kumimoji="0" lang="en-US" sz="2800" b="0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naryPr>
                          <m:sub/>
                          <m:sup/>
                          <m:e>
                            <m:sSup>
                              <m:sSupPr>
                                <m:ctrlPr>
                                  <a:rPr kumimoji="0" lang="en-US" sz="28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kumimoji="0" lang="en-US" sz="28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sz="28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kumimoji="0" lang="en-US" sz="28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kumimoji="0" lang="en-US" sz="28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num>
                      <m:den>
                        <m:r>
                          <a:rPr kumimoji="0" lang="en-US" sz="28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𝑛</m:t>
                        </m:r>
                        <m:r>
                          <a:rPr kumimoji="0" lang="en-US" sz="28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−2</m:t>
                        </m:r>
                      </m:den>
                    </m:f>
                  </m:oMath>
                </a14:m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51835F3-0469-4B14-F492-CD10750CBB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2101" y="4692859"/>
                <a:ext cx="6215450" cy="764184"/>
              </a:xfrm>
              <a:prstGeom prst="rect">
                <a:avLst/>
              </a:prstGeom>
              <a:blipFill>
                <a:blip r:embed="rId4"/>
                <a:stretch>
                  <a:fillRect b="-104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E952C328-388E-A7CD-70EE-D3D11D617EBF}"/>
              </a:ext>
            </a:extLst>
          </p:cNvPr>
          <p:cNvSpPr txBox="1"/>
          <p:nvPr/>
        </p:nvSpPr>
        <p:spPr>
          <a:xfrm>
            <a:off x="7316656" y="4813341"/>
            <a:ext cx="29200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Mean square error</a:t>
            </a:r>
          </a:p>
        </p:txBody>
      </p:sp>
    </p:spTree>
    <p:extLst>
      <p:ext uri="{BB962C8B-B14F-4D97-AF65-F5344CB8AC3E}">
        <p14:creationId xmlns:p14="http://schemas.microsoft.com/office/powerpoint/2010/main" val="11669500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7">
            <a:extLst>
              <a:ext uri="{FF2B5EF4-FFF2-40B4-BE49-F238E27FC236}">
                <a16:creationId xmlns:a16="http://schemas.microsoft.com/office/drawing/2014/main" id="{F98ED85F-DCEE-4B50-802E-71A6E3E12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564" y="320040"/>
            <a:ext cx="11548872" cy="6217920"/>
          </a:xfrm>
          <a:prstGeom prst="rect">
            <a:avLst/>
          </a:prstGeom>
          <a:solidFill>
            <a:schemeClr val="tx1">
              <a:alpha val="14000"/>
            </a:schemeClr>
          </a:solidFill>
          <a:ln w="127000" cap="sq" cmpd="thinThick">
            <a:solidFill>
              <a:schemeClr val="tx1">
                <a:lumMod val="85000"/>
                <a:lumOff val="15000"/>
                <a:alpha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8D3D36-5CBC-3396-0EF7-2AA30F6F1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318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83CF09-A7D9-B2A9-40F1-1A841676CC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57400"/>
                <a:ext cx="10515600" cy="3871762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In general, when we 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400" dirty="0"/>
                  <a:t>+</a:t>
                </a:r>
                <a:r>
                  <a:rPr lang="en-US" sz="24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 to predict the actual response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 we make a prediction, or residual error, equal to</a:t>
                </a:r>
              </a:p>
              <a:p>
                <a:pPr marL="0" indent="0">
                  <a:buNone/>
                </a:pPr>
                <a:r>
                  <a:rPr lang="en-US" sz="2400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2400" dirty="0"/>
              </a:p>
              <a:p>
                <a:r>
                  <a:rPr lang="en-US" sz="2400" dirty="0"/>
                  <a:t>The best fitting line makes all prediction errors as small as possible</a:t>
                </a:r>
              </a:p>
              <a:p>
                <a:r>
                  <a:rPr lang="en-US" sz="2400" dirty="0"/>
                  <a:t>The best fitting line minimizes </a:t>
                </a:r>
                <a:r>
                  <a:rPr lang="en-US" sz="2400" u="sng" dirty="0"/>
                  <a:t>the sum of the squared prediction errors </a:t>
                </a:r>
                <a:r>
                  <a:rPr lang="en-US" sz="2400" dirty="0">
                    <a:sym typeface="Wingdings" panose="05000000000000000000" pitchFamily="2" charset="2"/>
                  </a:rPr>
                  <a:t> the least squares criterion</a:t>
                </a:r>
              </a:p>
              <a:p>
                <a:pPr lvl="1"/>
                <a:r>
                  <a:rPr lang="en-US" b="1" dirty="0">
                    <a:sym typeface="Wingdings" panose="05000000000000000000" pitchFamily="2" charset="2"/>
                  </a:rPr>
                  <a:t>Note</a:t>
                </a:r>
                <a:r>
                  <a:rPr lang="en-US" dirty="0">
                    <a:sym typeface="Wingdings" panose="05000000000000000000" pitchFamily="2" charset="2"/>
                  </a:rPr>
                  <a:t>: why do we need to square the prediction errors?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83CF09-A7D9-B2A9-40F1-1A841676CC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57400"/>
                <a:ext cx="10515600" cy="3871762"/>
              </a:xfrm>
              <a:blipFill>
                <a:blip r:embed="rId2"/>
                <a:stretch>
                  <a:fillRect l="-812" t="-2205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8A0955AE-1CA2-1EE4-1197-E9B878FD70FD}"/>
              </a:ext>
            </a:extLst>
          </p:cNvPr>
          <p:cNvSpPr txBox="1"/>
          <p:nvPr/>
        </p:nvSpPr>
        <p:spPr>
          <a:xfrm>
            <a:off x="4271522" y="2876934"/>
            <a:ext cx="3109121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Prediction error for data point </a:t>
            </a:r>
            <a:r>
              <a:rPr kumimoji="0" lang="en-US" sz="1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008616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34925B2C-00AB-899E-0420-D4D4804F20AA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1524000" y="496711"/>
              <a:ext cx="7811911" cy="5892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35111">
                      <a:extLst>
                        <a:ext uri="{9D8B030D-6E8A-4147-A177-3AD203B41FA5}">
                          <a16:colId xmlns:a16="http://schemas.microsoft.com/office/drawing/2014/main" val="1181227326"/>
                        </a:ext>
                      </a:extLst>
                    </a:gridCol>
                    <a:gridCol w="2370667">
                      <a:extLst>
                        <a:ext uri="{9D8B030D-6E8A-4147-A177-3AD203B41FA5}">
                          <a16:colId xmlns:a16="http://schemas.microsoft.com/office/drawing/2014/main" val="459271482"/>
                        </a:ext>
                      </a:extLst>
                    </a:gridCol>
                    <a:gridCol w="2506133">
                      <a:extLst>
                        <a:ext uri="{9D8B030D-6E8A-4147-A177-3AD203B41FA5}">
                          <a16:colId xmlns:a16="http://schemas.microsoft.com/office/drawing/2014/main" val="291118171"/>
                        </a:ext>
                      </a:extLst>
                    </a:gridCol>
                  </a:tblGrid>
                  <a:tr h="82248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2800" dirty="0"/>
                            <a:t> 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28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sz="2800" b="1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white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sz="28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white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0" lang="en-US" sz="28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white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white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28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72508841"/>
                      </a:ext>
                    </a:extLst>
                  </a:tr>
                  <a:tr h="462514"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 dirty="0">
                              <a:effectLst/>
                            </a:rPr>
                            <a:t>127</a:t>
                          </a:r>
                          <a:endParaRPr lang="en-US" sz="18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 dirty="0">
                              <a:effectLst/>
                            </a:rPr>
                            <a:t>120</a:t>
                          </a:r>
                          <a:endParaRPr lang="en-US" sz="18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u="none" strike="noStrike" dirty="0">
                              <a:effectLst/>
                            </a:rPr>
                            <a:t>6.9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1239557310"/>
                      </a:ext>
                    </a:extLst>
                  </a:tr>
                  <a:tr h="476968"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121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126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u="none" strike="noStrike" dirty="0">
                              <a:effectLst/>
                            </a:rPr>
                            <a:t>-5.3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3686629407"/>
                      </a:ext>
                    </a:extLst>
                  </a:tr>
                  <a:tr h="462514"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142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139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u="none" strike="noStrike" dirty="0">
                              <a:effectLst/>
                            </a:rPr>
                            <a:t>3.5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2253379322"/>
                      </a:ext>
                    </a:extLst>
                  </a:tr>
                  <a:tr h="462514"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157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157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u="none" strike="noStrike" dirty="0">
                              <a:effectLst/>
                            </a:rPr>
                            <a:t>0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2779355466"/>
                      </a:ext>
                    </a:extLst>
                  </a:tr>
                  <a:tr h="462514"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162</a:t>
                          </a:r>
                          <a:endParaRPr lang="en-US" sz="1800" b="0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157</a:t>
                          </a:r>
                          <a:endParaRPr lang="en-US" sz="1800" b="0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u="none" strike="noStrike" dirty="0">
                              <a:effectLst/>
                            </a:rPr>
                            <a:t>5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865135866"/>
                      </a:ext>
                    </a:extLst>
                  </a:tr>
                  <a:tr h="462514"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156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169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u="none" strike="noStrike" dirty="0">
                              <a:effectLst/>
                            </a:rPr>
                            <a:t>-13.2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4147795918"/>
                      </a:ext>
                    </a:extLst>
                  </a:tr>
                  <a:tr h="462514"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169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169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u="none" strike="noStrike" dirty="0">
                              <a:effectLst/>
                            </a:rPr>
                            <a:t>-0.2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3805896791"/>
                      </a:ext>
                    </a:extLst>
                  </a:tr>
                  <a:tr h="462514"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165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175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u="none" strike="noStrike" dirty="0">
                              <a:effectLst/>
                            </a:rPr>
                            <a:t>-10.4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61194989"/>
                      </a:ext>
                    </a:extLst>
                  </a:tr>
                  <a:tr h="462514"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181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182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u="none" strike="noStrike" dirty="0">
                              <a:effectLst/>
                            </a:rPr>
                            <a:t>-0.5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484464241"/>
                      </a:ext>
                    </a:extLst>
                  </a:tr>
                  <a:tr h="462514"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208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194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u="none" strike="noStrike" dirty="0">
                              <a:effectLst/>
                            </a:rPr>
                            <a:t>14.2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4213782291"/>
                      </a:ext>
                    </a:extLst>
                  </a:tr>
                  <a:tr h="430717">
                    <a:tc>
                      <a:txBody>
                        <a:bodyPr/>
                        <a:lstStyle/>
                        <a:p>
                          <a:pPr algn="l" fontAlgn="b"/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endParaRPr lang="en-US" sz="1800" b="0" i="0" u="none" strike="noStrike" dirty="0">
                            <a:solidFill>
                              <a:srgbClr val="FF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u="none" strike="noStrike" dirty="0">
                              <a:solidFill>
                                <a:srgbClr val="FF0000"/>
                              </a:solidFill>
                              <a:effectLst/>
                            </a:rPr>
                            <a:t>Sum </a:t>
                          </a:r>
                          <a:r>
                            <a:rPr lang="en-US" sz="1800" u="none" strike="noStrike" dirty="0">
                              <a:effectLst/>
                            </a:rPr>
                            <a:t>= 0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192587744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34925B2C-00AB-899E-0420-D4D4804F20A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237996639"/>
                  </p:ext>
                </p:extLst>
              </p:nvPr>
            </p:nvGraphicFramePr>
            <p:xfrm>
              <a:off x="1524000" y="496711"/>
              <a:ext cx="7811911" cy="5892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35111">
                      <a:extLst>
                        <a:ext uri="{9D8B030D-6E8A-4147-A177-3AD203B41FA5}">
                          <a16:colId xmlns:a16="http://schemas.microsoft.com/office/drawing/2014/main" val="1181227326"/>
                        </a:ext>
                      </a:extLst>
                    </a:gridCol>
                    <a:gridCol w="2370667">
                      <a:extLst>
                        <a:ext uri="{9D8B030D-6E8A-4147-A177-3AD203B41FA5}">
                          <a16:colId xmlns:a16="http://schemas.microsoft.com/office/drawing/2014/main" val="459271482"/>
                        </a:ext>
                      </a:extLst>
                    </a:gridCol>
                    <a:gridCol w="2506133">
                      <a:extLst>
                        <a:ext uri="{9D8B030D-6E8A-4147-A177-3AD203B41FA5}">
                          <a16:colId xmlns:a16="http://schemas.microsoft.com/office/drawing/2014/main" val="291118171"/>
                        </a:ext>
                      </a:extLst>
                    </a:gridCol>
                  </a:tblGrid>
                  <a:tr h="82248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415" t="-741" r="-166805" b="-6340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24422" t="-741" r="-106684" b="-6340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2"/>
                          <a:stretch>
                            <a:fillRect l="-212409" t="-741" r="-973" b="-6340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508841"/>
                      </a:ext>
                    </a:extLst>
                  </a:tr>
                  <a:tr h="462514"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 dirty="0">
                              <a:effectLst/>
                            </a:rPr>
                            <a:t>127</a:t>
                          </a:r>
                          <a:endParaRPr lang="en-US" sz="18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 dirty="0">
                              <a:effectLst/>
                            </a:rPr>
                            <a:t>120</a:t>
                          </a:r>
                          <a:endParaRPr lang="en-US" sz="18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u="none" strike="noStrike" dirty="0">
                              <a:effectLst/>
                            </a:rPr>
                            <a:t>6.9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1239557310"/>
                      </a:ext>
                    </a:extLst>
                  </a:tr>
                  <a:tr h="476968"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121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126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u="none" strike="noStrike" dirty="0">
                              <a:effectLst/>
                            </a:rPr>
                            <a:t>-5.3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3686629407"/>
                      </a:ext>
                    </a:extLst>
                  </a:tr>
                  <a:tr h="462514"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142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139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u="none" strike="noStrike" dirty="0">
                              <a:effectLst/>
                            </a:rPr>
                            <a:t>3.5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2253379322"/>
                      </a:ext>
                    </a:extLst>
                  </a:tr>
                  <a:tr h="462514"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157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157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u="none" strike="noStrike" dirty="0">
                              <a:effectLst/>
                            </a:rPr>
                            <a:t>0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2779355466"/>
                      </a:ext>
                    </a:extLst>
                  </a:tr>
                  <a:tr h="462514"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162</a:t>
                          </a:r>
                          <a:endParaRPr lang="en-US" sz="1800" b="0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157</a:t>
                          </a:r>
                          <a:endParaRPr lang="en-US" sz="1800" b="0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u="none" strike="noStrike" dirty="0">
                              <a:effectLst/>
                            </a:rPr>
                            <a:t>5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865135866"/>
                      </a:ext>
                    </a:extLst>
                  </a:tr>
                  <a:tr h="462514"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156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169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u="none" strike="noStrike" dirty="0">
                              <a:effectLst/>
                            </a:rPr>
                            <a:t>-13.2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4147795918"/>
                      </a:ext>
                    </a:extLst>
                  </a:tr>
                  <a:tr h="462514"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169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169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u="none" strike="noStrike" dirty="0">
                              <a:effectLst/>
                            </a:rPr>
                            <a:t>-0.2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3805896791"/>
                      </a:ext>
                    </a:extLst>
                  </a:tr>
                  <a:tr h="462514"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165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175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u="none" strike="noStrike" dirty="0">
                              <a:effectLst/>
                            </a:rPr>
                            <a:t>-10.4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61194989"/>
                      </a:ext>
                    </a:extLst>
                  </a:tr>
                  <a:tr h="462514"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181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182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u="none" strike="noStrike" dirty="0">
                              <a:effectLst/>
                            </a:rPr>
                            <a:t>-0.5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484464241"/>
                      </a:ext>
                    </a:extLst>
                  </a:tr>
                  <a:tr h="462514"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208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rtl="0" fontAlgn="t"/>
                          <a:r>
                            <a:rPr lang="en-US" sz="1800" u="none" strike="noStrike">
                              <a:effectLst/>
                            </a:rPr>
                            <a:t>194</a:t>
                          </a:r>
                          <a:endParaRPr lang="en-US" sz="18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u="none" strike="noStrike" dirty="0">
                              <a:effectLst/>
                            </a:rPr>
                            <a:t>14.2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4213782291"/>
                      </a:ext>
                    </a:extLst>
                  </a:tr>
                  <a:tr h="430717">
                    <a:tc>
                      <a:txBody>
                        <a:bodyPr/>
                        <a:lstStyle/>
                        <a:p>
                          <a:pPr algn="l" fontAlgn="b"/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endParaRPr lang="en-US" sz="1800" b="0" i="0" u="none" strike="noStrike" dirty="0">
                            <a:solidFill>
                              <a:srgbClr val="FF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u="none" strike="noStrike" dirty="0">
                              <a:solidFill>
                                <a:srgbClr val="FF0000"/>
                              </a:solidFill>
                              <a:effectLst/>
                            </a:rPr>
                            <a:t>Sum </a:t>
                          </a:r>
                          <a:r>
                            <a:rPr lang="en-US" sz="1800" u="none" strike="noStrike" dirty="0">
                              <a:effectLst/>
                            </a:rPr>
                            <a:t>= 0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192587744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782485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372202C-5772-F911-A753-EBB159F59F9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Estimation of Error Terms 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372202C-5772-F911-A753-EBB159F59F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7F8C51-48BD-9F0E-D962-11A7844A5E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7863" y="1807488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The variance of the error terms needs to be estimated to obtain an indication of the variability of the probability distributions of </a:t>
                </a:r>
                <a:r>
                  <a:rPr lang="en-US" i="1" dirty="0"/>
                  <a:t>Y</a:t>
                </a:r>
              </a:p>
              <a:p>
                <a:r>
                  <a:rPr lang="en-US" dirty="0"/>
                  <a:t>We know the variance of a </a:t>
                </a:r>
                <a:r>
                  <a:rPr lang="en-US" u="sng" dirty="0"/>
                  <a:t>population </a:t>
                </a:r>
                <a:r>
                  <a:rPr lang="en-US" dirty="0"/>
                  <a:t>is estimated by the sample 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b="0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logic of developing an estimator of the variance for the regression model is the same as for sampling from a single population that we’ve seen previously (i.e., standard error)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7F8C51-48BD-9F0E-D962-11A7844A5E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7863" y="1807488"/>
                <a:ext cx="10515600" cy="4351338"/>
              </a:xfrm>
              <a:blipFill>
                <a:blip r:embed="rId4"/>
                <a:stretch>
                  <a:fillRect l="-1043" t="-3226" r="-19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D9F9D03-7115-1D03-F172-7C9DF4BC6357}"/>
                  </a:ext>
                </a:extLst>
              </p:cNvPr>
              <p:cNvSpPr txBox="1"/>
              <p:nvPr/>
            </p:nvSpPr>
            <p:spPr>
              <a:xfrm>
                <a:off x="3538026" y="3781166"/>
                <a:ext cx="1671355" cy="5640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p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kumimoji="0" lang="en-US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kumimoji="0" lang="en-US" sz="18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sz="18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kumimoji="0" lang="en-US" sz="18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kumimoji="0" lang="en-US" sz="18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kumimoji="0" lang="en-US" sz="18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𝑌</m:t>
                                          </m:r>
                                        </m:e>
                                        <m:sub>
                                          <m:r>
                                            <a:rPr kumimoji="0" lang="en-US" sz="18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kumimoji="0" lang="en-US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kumimoji="0" lang="en-US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</m:t>
                          </m:r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D9F9D03-7115-1D03-F172-7C9DF4BC6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8026" y="3781166"/>
                <a:ext cx="1671355" cy="5640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1BE476A3-6F7C-6DA4-5C16-559E6C3655E9}"/>
              </a:ext>
            </a:extLst>
          </p:cNvPr>
          <p:cNvSpPr txBox="1"/>
          <p:nvPr/>
        </p:nvSpPr>
        <p:spPr>
          <a:xfrm>
            <a:off x="5379601" y="3638377"/>
            <a:ext cx="1621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Sum of squares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5F900F-B7D4-C48D-0C20-2B9209D11066}"/>
              </a:ext>
            </a:extLst>
          </p:cNvPr>
          <p:cNvSpPr txBox="1"/>
          <p:nvPr/>
        </p:nvSpPr>
        <p:spPr>
          <a:xfrm>
            <a:off x="5379601" y="3998143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df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8E9450CD-907F-FBA0-72C3-70BB9485617D}"/>
              </a:ext>
            </a:extLst>
          </p:cNvPr>
          <p:cNvSpPr/>
          <p:nvPr/>
        </p:nvSpPr>
        <p:spPr>
          <a:xfrm>
            <a:off x="6955312" y="3408406"/>
            <a:ext cx="377026" cy="119860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8DFD90-B906-5384-2311-01951A2E9E5D}"/>
              </a:ext>
            </a:extLst>
          </p:cNvPr>
          <p:cNvSpPr txBox="1"/>
          <p:nvPr/>
        </p:nvSpPr>
        <p:spPr>
          <a:xfrm>
            <a:off x="7388860" y="3781166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Mean square</a:t>
            </a:r>
          </a:p>
        </p:txBody>
      </p:sp>
    </p:spTree>
    <p:extLst>
      <p:ext uri="{BB962C8B-B14F-4D97-AF65-F5344CB8AC3E}">
        <p14:creationId xmlns:p14="http://schemas.microsoft.com/office/powerpoint/2010/main" val="818517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A0F1B-8F82-B245-8DDE-12F90CD5D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variance of deviations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EAF801-6F5A-6E66-FEB3-F6FA0C43A8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variance of the deviation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) is denoted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sz="28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and is estimated using the average squared residual that we have seen before!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EAF801-6F5A-6E66-FEB3-F6FA0C43A8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205BDD-1719-F90D-0DF5-DE8C7007AECF}"/>
                  </a:ext>
                </a:extLst>
              </p:cNvPr>
              <p:cNvSpPr txBox="1"/>
              <p:nvPr/>
            </p:nvSpPr>
            <p:spPr>
              <a:xfrm>
                <a:off x="3236916" y="2937685"/>
                <a:ext cx="5317097" cy="10082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𝑆</m:t>
                          </m:r>
                        </m:e>
                        <m:sup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</m:t>
                          </m:r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−2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=1</m:t>
                          </m:r>
                        </m:sub>
                        <m:sup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kumimoji="0" lang="en-US" sz="2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2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0" lang="en-US" sz="2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kumimoji="0" lang="en-US" sz="2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kumimoji="0" lang="en-US" sz="2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e>
                            <m:sup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</m:t>
                          </m:r>
                          <m:f>
                            <m:f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𝑆𝑆𝐸</m:t>
                              </m:r>
                            </m:num>
                            <m:den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𝑛</m:t>
                              </m:r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−2</m:t>
                              </m:r>
                            </m:den>
                          </m:f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</m:t>
                          </m:r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𝑀𝑆𝐸</m:t>
                          </m:r>
                        </m:e>
                      </m:nary>
                    </m:oMath>
                  </m:oMathPara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205BDD-1719-F90D-0DF5-DE8C7007AE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6916" y="2937685"/>
                <a:ext cx="5317097" cy="100822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17B0950-CA98-902F-56BF-5A4BCF162073}"/>
                  </a:ext>
                </a:extLst>
              </p:cNvPr>
              <p:cNvSpPr txBox="1"/>
              <p:nvPr/>
            </p:nvSpPr>
            <p:spPr>
              <a:xfrm>
                <a:off x="162000" y="6101978"/>
                <a:ext cx="1180231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Note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: to make inferences about the model parameters (i.e., hypothesis test) we also need to assume that the deviations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𝜀</m:t>
                        </m:r>
                      </m:e>
                      <m:sub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are normally distributed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17B0950-CA98-902F-56BF-5A4BCF162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000" y="6101978"/>
                <a:ext cx="11802317" cy="646331"/>
              </a:xfrm>
              <a:prstGeom prst="rect">
                <a:avLst/>
              </a:prstGeom>
              <a:blipFill>
                <a:blip r:embed="rId4"/>
                <a:stretch>
                  <a:fillRect l="-465" t="-5660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23579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F3654-50A4-FDF7-CF13-6F3D69682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Analysis of Variance for SLR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EEDE57-4007-22D1-DDD3-7300E22D2D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929384"/>
                <a:ext cx="10515600" cy="4251960"/>
              </a:xfrm>
            </p:spPr>
            <p:txBody>
              <a:bodyPr>
                <a:normAutofit/>
              </a:bodyPr>
              <a:lstStyle/>
              <a:p>
                <a:r>
                  <a:rPr lang="en-US" sz="2200" b="0" i="0" dirty="0">
                    <a:effectLst/>
                    <a:latin typeface="open-sans"/>
                  </a:rPr>
                  <a:t>A measure of ‘goodness of fit’</a:t>
                </a:r>
              </a:p>
              <a:p>
                <a:r>
                  <a:rPr lang="en-US" sz="2200" b="0" i="0" dirty="0">
                    <a:effectLst/>
                    <a:latin typeface="open-sans"/>
                  </a:rPr>
                  <a:t>SSE is the "error sum of squares" and quantifies how much the data points,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00" b="0" i="0" dirty="0">
                    <a:effectLst/>
                    <a:latin typeface="open-sans"/>
                  </a:rPr>
                  <a:t>, vary around the estimated regression line,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00" b="0" i="0" dirty="0">
                    <a:effectLst/>
                    <a:latin typeface="open-sans"/>
                  </a:rPr>
                  <a:t>.</a:t>
                </a:r>
              </a:p>
              <a:p>
                <a:pPr lvl="1"/>
                <a:r>
                  <a:rPr lang="en-US" sz="2200" dirty="0"/>
                  <a:t>SSE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200"/>
                                  <m:t> − </m:t>
                                </m:r>
                                <m:sSub>
                                  <m:sSub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sz="2200" b="0" i="0" dirty="0">
                  <a:effectLst/>
                  <a:latin typeface="open-sans"/>
                </a:endParaRPr>
              </a:p>
              <a:p>
                <a:r>
                  <a:rPr lang="en-US" sz="2200" b="0" i="0" dirty="0">
                    <a:effectLst/>
                    <a:latin typeface="open-sans"/>
                  </a:rPr>
                  <a:t>SSR is the "regression sum of squares" and quantifies how far the estimated sloped regression line,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00" b="0" i="0" dirty="0">
                    <a:effectLst/>
                    <a:latin typeface="open-sans"/>
                  </a:rPr>
                  <a:t>, is from the horizontal "no relationship line," the sample </a:t>
                </a:r>
                <a:r>
                  <a:rPr lang="en-US" sz="2200" b="1" i="0" dirty="0">
                    <a:effectLst/>
                    <a:latin typeface="open-sans"/>
                  </a:rPr>
                  <a:t>mean</a:t>
                </a:r>
                <a:r>
                  <a:rPr lang="en-US" sz="2200" b="0" i="0" dirty="0">
                    <a:effectLst/>
                    <a:latin typeface="open-sans"/>
                  </a:rPr>
                  <a:t> of 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200" b="0" i="1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200" b="0" i="1"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sz="2200" b="0" i="0" dirty="0">
                    <a:effectLst/>
                    <a:latin typeface="open-sans"/>
                  </a:rPr>
                  <a:t>.</a:t>
                </a:r>
              </a:p>
              <a:p>
                <a:pPr lvl="1"/>
                <a:r>
                  <a:rPr kumimoji="0" lang="en-US" sz="2200" b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SSR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kumimoji="0" lang="en-US" sz="2200" b="0" i="1" u="none" strike="noStrike" kern="1200" cap="none" spc="0" normalizeH="0" baseline="0" noProof="0">
                            <a:ln>
                              <a:noFill/>
                            </a:ln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0" lang="en-US" sz="2200" b="0" i="1" u="none" strike="noStrike" kern="1200" cap="none" spc="0" normalizeH="0" baseline="0" noProof="0">
                            <a:ln>
                              <a:noFill/>
                            </a:ln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kumimoji="0" lang="en-US" sz="2200" b="0" i="1" u="none" strike="noStrike" kern="1200" cap="none" spc="0" normalizeH="0" baseline="0" noProof="0">
                            <a:ln>
                              <a:noFill/>
                            </a:ln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kumimoji="0" lang="en-US" sz="2200" b="0" i="1" u="none" strike="noStrike" kern="1200" cap="none" spc="0" normalizeH="0" baseline="0" noProof="0">
                            <a:ln>
                              <a:noFill/>
                            </a:ln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kumimoji="0" lang="en-US" sz="2200" b="0" i="1" u="none" strike="noStrike" kern="1200" cap="none" spc="0" normalizeH="0" baseline="0" noProof="0">
                                <a:ln>
                                  <a:noFill/>
                                </a:ln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kumimoji="0" lang="en-US" sz="22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200" b="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22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2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kumimoji="0" lang="en-US" sz="2200" b="0" i="1" u="none" strike="noStrike" kern="1200" cap="none" spc="0" normalizeH="0" baseline="0" noProof="0">
                                <a:ln>
                                  <a:noFill/>
                                </a:ln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sz="2200" b="0" i="0" dirty="0">
                  <a:effectLst/>
                  <a:latin typeface="open-sans"/>
                </a:endParaRPr>
              </a:p>
              <a:p>
                <a:r>
                  <a:rPr lang="en-US" sz="2200" b="0" i="0" dirty="0">
                    <a:effectLst/>
                    <a:latin typeface="open-sans"/>
                  </a:rPr>
                  <a:t>SSTO is the "total sum of squares" and quantifies how much the data points,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00" b="0" i="0" dirty="0">
                    <a:effectLst/>
                    <a:latin typeface="open-sans"/>
                  </a:rPr>
                  <a:t>, vary around their mean, 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200" b="0" i="1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200" b="0" i="1"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sz="2200" b="0" i="0" dirty="0">
                    <a:effectLst/>
                    <a:latin typeface="open-sans"/>
                  </a:rPr>
                  <a:t>.</a:t>
                </a:r>
              </a:p>
              <a:p>
                <a:pPr lvl="1"/>
                <a:r>
                  <a:rPr kumimoji="0" lang="en-US" sz="2200" b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SSTO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kumimoji="0" lang="en-US" sz="2200" b="0" i="1" u="none" strike="noStrike" kern="1200" cap="none" spc="0" normalizeH="0" baseline="0" noProof="0">
                            <a:ln>
                              <a:noFill/>
                            </a:ln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0" lang="en-US" sz="2200" b="0" i="1" u="none" strike="noStrike" kern="1200" cap="none" spc="0" normalizeH="0" baseline="0" noProof="0">
                            <a:ln>
                              <a:noFill/>
                            </a:ln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kumimoji="0" lang="en-US" sz="2200" b="0" i="1" u="none" strike="noStrike" kern="1200" cap="none" spc="0" normalizeH="0" baseline="0" noProof="0">
                            <a:ln>
                              <a:noFill/>
                            </a:ln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kumimoji="0" lang="en-US" sz="2200" b="0" i="1" u="none" strike="noStrike" kern="1200" cap="none" spc="0" normalizeH="0" baseline="0" noProof="0">
                            <a:ln>
                              <a:noFill/>
                            </a:ln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kumimoji="0" lang="en-US" sz="2200" b="0" i="1" u="none" strike="noStrike" kern="1200" cap="none" spc="0" normalizeH="0" baseline="0" noProof="0">
                                <a:ln>
                                  <a:noFill/>
                                </a:ln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kumimoji="0" lang="en-US" sz="22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200" b="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22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200" b="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kumimoji="0" lang="en-US" sz="2200" b="0" i="1" u="none" strike="noStrike" kern="1200" cap="none" spc="0" normalizeH="0" baseline="0" noProof="0">
                                <a:ln>
                                  <a:noFill/>
                                </a:ln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sz="2200" b="0" i="0" dirty="0">
                  <a:effectLst/>
                  <a:latin typeface="open-sans"/>
                </a:endParaRPr>
              </a:p>
              <a:p>
                <a:r>
                  <a:rPr lang="en-US" sz="2200" dirty="0"/>
                  <a:t>Note: SST0 = SSR + SSE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EEDE57-4007-22D1-DDD3-7300E22D2D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929384"/>
                <a:ext cx="10515600" cy="4251960"/>
              </a:xfrm>
              <a:blipFill>
                <a:blip r:embed="rId3"/>
                <a:stretch>
                  <a:fillRect l="-696" t="-1865" b="-63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98661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A37A6-4EA1-4CFE-E827-1FCC5E2B8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Variance in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A2327-73FD-0532-CA38-15B61AD9E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Goal</a:t>
            </a:r>
            <a:r>
              <a:rPr lang="en-US" dirty="0"/>
              <a:t>: partition the total variation in </a:t>
            </a:r>
            <a:r>
              <a:rPr lang="en-US" i="1" dirty="0"/>
              <a:t>Y </a:t>
            </a:r>
            <a:r>
              <a:rPr lang="en-US" dirty="0"/>
              <a:t>into variation “explained” by X and random variation</a:t>
            </a:r>
          </a:p>
          <a:p>
            <a:r>
              <a:rPr lang="en-US" dirty="0"/>
              <a:t>The total variation in an observed response about its mean can be written as a sum of two parts – (a) its </a:t>
            </a:r>
            <a:r>
              <a:rPr lang="en-US" i="1" dirty="0"/>
              <a:t>deviation from the fitted value </a:t>
            </a:r>
            <a:r>
              <a:rPr lang="en-US" dirty="0"/>
              <a:t>plus (b) the </a:t>
            </a:r>
            <a:r>
              <a:rPr lang="en-US" u="sng" dirty="0"/>
              <a:t>deviation of the fitted value from the mean </a:t>
            </a:r>
            <a:r>
              <a:rPr lang="en-US" dirty="0"/>
              <a:t>response</a:t>
            </a:r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85CD1BF-D24D-19CF-6FDF-B8A121A4029A}"/>
                  </a:ext>
                </a:extLst>
              </p:cNvPr>
              <p:cNvSpPr txBox="1"/>
              <p:nvPr/>
            </p:nvSpPr>
            <p:spPr>
              <a:xfrm>
                <a:off x="4476459" y="4236708"/>
                <a:ext cx="38720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𝑦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−</m:t>
                    </m:r>
                    <m:acc>
                      <m:accPr>
                        <m:chr m:val="̅"/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acc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𝑦</m:t>
                        </m:r>
                      </m:e>
                    </m:acc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d>
                      <m:d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𝑦</m:t>
                            </m:r>
                          </m:e>
                          <m:sub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− </m:t>
                        </m:r>
                        <m:sSub>
                          <m:sSubPr>
                            <m:ctrlP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0" lang="en-US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accPr>
                              <m:e>
                                <m:r>
                                  <a:rPr kumimoji="0" lang="en-US" sz="2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+</m:t>
                    </m:r>
                    <m:sSub>
                      <m:sSub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(</m:t>
                        </m:r>
                        <m:acc>
                          <m:accPr>
                            <m:chr m:val="̂"/>
                            <m:ctrlP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−</m:t>
                    </m:r>
                    <m:acc>
                      <m:accPr>
                        <m:chr m:val="̅"/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acc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𝑦</m:t>
                        </m:r>
                      </m:e>
                    </m:acc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)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85CD1BF-D24D-19CF-6FDF-B8A121A40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6459" y="4236708"/>
                <a:ext cx="3872022" cy="369332"/>
              </a:xfrm>
              <a:prstGeom prst="rect">
                <a:avLst/>
              </a:prstGeom>
              <a:blipFill>
                <a:blip r:embed="rId2"/>
                <a:stretch>
                  <a:fillRect l="-2830" t="-26230" r="-10377" b="-47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112E9B0-0477-47F3-8DE1-0F0879A3D00D}"/>
                  </a:ext>
                </a:extLst>
              </p:cNvPr>
              <p:cNvSpPr txBox="1"/>
              <p:nvPr/>
            </p:nvSpPr>
            <p:spPr>
              <a:xfrm>
                <a:off x="3985049" y="4947502"/>
                <a:ext cx="485484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</m:t>
                          </m:r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𝑦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sz="2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kumimoji="0" lang="en-US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𝑦</m:t>
                              </m:r>
                            </m:e>
                          </m:acc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</m:t>
                          </m:r>
                        </m:e>
                        <m:sup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p>
                        <m:sSupPr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kumimoji="0" lang="en-US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sz="2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2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0" lang="en-US" sz="2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− </m:t>
                              </m:r>
                              <m:sSub>
                                <m:sSubPr>
                                  <m:ctrlPr>
                                    <a:rPr kumimoji="0" lang="en-US" sz="2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sz="2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kumimoji="0" lang="en-US" sz="2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sSup>
                        <m:sSupPr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acc>
                                <m:accPr>
                                  <m:chr m:val="̂"/>
                                  <m:ctrlPr>
                                    <a:rPr kumimoji="0" lang="en-US" sz="2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sz="2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sz="2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−</m:t>
                          </m:r>
                          <m:acc>
                            <m:accPr>
                              <m:chr m:val="̅"/>
                              <m:ctrlPr>
                                <a:rPr kumimoji="0" lang="en-US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𝑦</m:t>
                              </m:r>
                            </m:e>
                          </m:acc>
                          <m:r>
                            <m:rPr>
                              <m:nor/>
                            </m:rPr>
                            <a:rPr kumimoji="0" lang="en-US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m:t>)</m:t>
                          </m:r>
                        </m:e>
                        <m:sup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112E9B0-0477-47F3-8DE1-0F0879A3D0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049" y="4947502"/>
                <a:ext cx="4854841" cy="461665"/>
              </a:xfrm>
              <a:prstGeom prst="rect">
                <a:avLst/>
              </a:prstGeom>
              <a:blipFill>
                <a:blip r:embed="rId3"/>
                <a:stretch>
                  <a:fillRect t="-4000" r="-1759"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Left Brace 5">
            <a:extLst>
              <a:ext uri="{FF2B5EF4-FFF2-40B4-BE49-F238E27FC236}">
                <a16:creationId xmlns:a16="http://schemas.microsoft.com/office/drawing/2014/main" id="{0FC6EF7A-4851-54C9-0043-7D9590CE45D9}"/>
              </a:ext>
            </a:extLst>
          </p:cNvPr>
          <p:cNvSpPr/>
          <p:nvPr/>
        </p:nvSpPr>
        <p:spPr>
          <a:xfrm rot="16200000">
            <a:off x="4588365" y="5299615"/>
            <a:ext cx="312300" cy="80127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6313F2F1-6851-6A84-A2B2-818CADD04917}"/>
              </a:ext>
            </a:extLst>
          </p:cNvPr>
          <p:cNvSpPr/>
          <p:nvPr/>
        </p:nvSpPr>
        <p:spPr>
          <a:xfrm rot="16200000">
            <a:off x="6183066" y="5299615"/>
            <a:ext cx="312300" cy="80127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E09640E1-233D-C6AE-AF3A-037612EC8482}"/>
              </a:ext>
            </a:extLst>
          </p:cNvPr>
          <p:cNvSpPr/>
          <p:nvPr/>
        </p:nvSpPr>
        <p:spPr>
          <a:xfrm rot="16200000">
            <a:off x="7791692" y="5305791"/>
            <a:ext cx="312300" cy="80127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E2FA27-3627-812A-9FDE-C3169BD73093}"/>
              </a:ext>
            </a:extLst>
          </p:cNvPr>
          <p:cNvSpPr txBox="1"/>
          <p:nvPr/>
        </p:nvSpPr>
        <p:spPr>
          <a:xfrm>
            <a:off x="4456997" y="5991340"/>
            <a:ext cx="6881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SST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BBABE2-0784-A6B1-72E3-47B23F606FFA}"/>
              </a:ext>
            </a:extLst>
          </p:cNvPr>
          <p:cNvSpPr txBox="1"/>
          <p:nvPr/>
        </p:nvSpPr>
        <p:spPr>
          <a:xfrm>
            <a:off x="6091350" y="6021424"/>
            <a:ext cx="6881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SSE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172C95-6B2E-D068-26A0-1BC45EE4D387}"/>
              </a:ext>
            </a:extLst>
          </p:cNvPr>
          <p:cNvSpPr txBox="1"/>
          <p:nvPr/>
        </p:nvSpPr>
        <p:spPr>
          <a:xfrm>
            <a:off x="7725703" y="6031210"/>
            <a:ext cx="6881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SSR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86B567-05A7-8D0B-EC4D-ED687590F09B}"/>
              </a:ext>
            </a:extLst>
          </p:cNvPr>
          <p:cNvSpPr txBox="1"/>
          <p:nvPr/>
        </p:nvSpPr>
        <p:spPr>
          <a:xfrm>
            <a:off x="237067" y="6333759"/>
            <a:ext cx="50094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go back to last week’s lecture introducing SLR</a:t>
            </a:r>
          </a:p>
        </p:txBody>
      </p:sp>
    </p:spTree>
    <p:extLst>
      <p:ext uri="{BB962C8B-B14F-4D97-AF65-F5344CB8AC3E}">
        <p14:creationId xmlns:p14="http://schemas.microsoft.com/office/powerpoint/2010/main" val="1288197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7" grpId="0" animBg="1"/>
      <p:bldP spid="8" grpId="0" animBg="1"/>
      <p:bldP spid="9" grpId="0"/>
      <p:bldP spid="10" grpId="0"/>
      <p:bldP spid="1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9AAF865-72FC-9220-AD43-3ADF6BA1887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276390" y="505438"/>
                <a:ext cx="9637776" cy="896511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Calibri Light (Headings)"/>
                    <a:ea typeface="Calibri" panose="020F0502020204030204" pitchFamily="34" charset="0"/>
                    <a:cs typeface="Calibri" panose="020F0502020204030204" pitchFamily="34" charset="0"/>
                  </a:rPr>
                  <a:t>The Coefficient of Determination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>
                  <a:latin typeface="Calibri Light (Headings)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9AAF865-72FC-9220-AD43-3ADF6BA188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76390" y="505438"/>
                <a:ext cx="9637776" cy="896511"/>
              </a:xfrm>
              <a:blipFill>
                <a:blip r:embed="rId3"/>
                <a:stretch>
                  <a:fillRect l="-2530" t="-8844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F5B10-95B1-B7ED-EEFA-6B66C193F0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317" y="1498054"/>
            <a:ext cx="7671852" cy="229929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/>
              <a:t>Question: how much of the total variation in the response </a:t>
            </a:r>
            <a:r>
              <a:rPr lang="en-US" sz="2400" i="1" dirty="0"/>
              <a:t>Y</a:t>
            </a:r>
            <a:r>
              <a:rPr lang="en-US" sz="2400" dirty="0"/>
              <a:t> is due to the regression of</a:t>
            </a:r>
            <a:r>
              <a:rPr lang="en-US" sz="2400" i="1" dirty="0"/>
              <a:t> Y </a:t>
            </a:r>
            <a:r>
              <a:rPr lang="en-US" sz="2400" dirty="0"/>
              <a:t>on </a:t>
            </a:r>
            <a:r>
              <a:rPr lang="en-US" sz="2400" i="1" dirty="0"/>
              <a:t>X</a:t>
            </a:r>
            <a:r>
              <a:rPr lang="en-US" sz="2400" dirty="0"/>
              <a:t> as opposed to random error?</a:t>
            </a:r>
          </a:p>
          <a:p>
            <a:pPr marL="0" indent="0">
              <a:buNone/>
            </a:pPr>
            <a:r>
              <a:rPr lang="en-US" sz="2400" b="1" dirty="0"/>
              <a:t>EXAMPLE</a:t>
            </a:r>
            <a:r>
              <a:rPr lang="en-US" sz="2400" dirty="0"/>
              <a:t>: SSE = 1708.5; SSR = 6679.3; SSTO = 8487.8</a:t>
            </a:r>
          </a:p>
          <a:p>
            <a:pPr marL="0" indent="0">
              <a:buNone/>
            </a:pPr>
            <a:r>
              <a:rPr lang="en-US" sz="2400" dirty="0"/>
              <a:t>We can see that most of the total variation (SSTO) is accounted for by the regression (SSR). That is,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37EA93B-B193-9184-1613-635D600A621C}"/>
                  </a:ext>
                </a:extLst>
              </p:cNvPr>
              <p:cNvSpPr txBox="1"/>
              <p:nvPr/>
            </p:nvSpPr>
            <p:spPr>
              <a:xfrm>
                <a:off x="496614" y="3756314"/>
                <a:ext cx="2006809" cy="7026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𝑆𝑆𝑅</m:t>
                        </m:r>
                      </m:num>
                      <m:den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𝑆𝑆𝑇𝑂</m:t>
                        </m:r>
                      </m:den>
                    </m:f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3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.799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37EA93B-B193-9184-1613-635D600A6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14" y="3756314"/>
                <a:ext cx="2006809" cy="702693"/>
              </a:xfrm>
              <a:prstGeom prst="rect">
                <a:avLst/>
              </a:prstGeom>
              <a:blipFill>
                <a:blip r:embed="rId4"/>
                <a:stretch>
                  <a:fillRect t="-4348" r="-6970" b="-18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CAAEF99-49A0-6D19-CACC-8011762A412C}"/>
                  </a:ext>
                </a:extLst>
              </p:cNvPr>
              <p:cNvSpPr txBox="1"/>
              <p:nvPr/>
            </p:nvSpPr>
            <p:spPr>
              <a:xfrm>
                <a:off x="8175875" y="2337377"/>
                <a:ext cx="2298041" cy="39523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𝑆𝑆𝑅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𝑆𝑆𝑇𝑂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1 − 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𝑆𝑆𝐸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𝑆𝑆𝑇𝑂</m:t>
                        </m:r>
                      </m:den>
                    </m:f>
                  </m:oMath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CAAEF99-49A0-6D19-CACC-8011762A41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5875" y="2337377"/>
                <a:ext cx="2298041" cy="395236"/>
              </a:xfrm>
              <a:prstGeom prst="rect">
                <a:avLst/>
              </a:prstGeom>
              <a:blipFill>
                <a:blip r:embed="rId5"/>
                <a:stretch>
                  <a:fillRect l="-3448" b="-1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A0B64C2C-D7BE-5DEC-898D-719A773B99DB}"/>
              </a:ext>
            </a:extLst>
          </p:cNvPr>
          <p:cNvSpPr/>
          <p:nvPr/>
        </p:nvSpPr>
        <p:spPr>
          <a:xfrm>
            <a:off x="9431329" y="2256093"/>
            <a:ext cx="965675" cy="60802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1D8F886-D338-634F-F16B-8C6AF4AF0807}"/>
              </a:ext>
            </a:extLst>
          </p:cNvPr>
          <p:cNvSpPr/>
          <p:nvPr/>
        </p:nvSpPr>
        <p:spPr>
          <a:xfrm>
            <a:off x="8680443" y="2256092"/>
            <a:ext cx="518585" cy="641033"/>
          </a:xfrm>
          <a:prstGeom prst="rect">
            <a:avLst/>
          </a:prstGeom>
          <a:noFill/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1102BBB8-EC24-20B5-AB1B-B3A36079ADE6}"/>
              </a:ext>
            </a:extLst>
          </p:cNvPr>
          <p:cNvSpPr/>
          <p:nvPr/>
        </p:nvSpPr>
        <p:spPr>
          <a:xfrm rot="16200000">
            <a:off x="8781944" y="2950092"/>
            <a:ext cx="315581" cy="415101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DF4D5C7B-C06C-8F68-C594-47DC4E22CD56}"/>
              </a:ext>
            </a:extLst>
          </p:cNvPr>
          <p:cNvSpPr/>
          <p:nvPr/>
        </p:nvSpPr>
        <p:spPr>
          <a:xfrm rot="16200000">
            <a:off x="10102390" y="2971017"/>
            <a:ext cx="265782" cy="32344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ACD00C-D762-D7F5-E95A-499FA182806E}"/>
              </a:ext>
            </a:extLst>
          </p:cNvPr>
          <p:cNvSpPr txBox="1"/>
          <p:nvPr/>
        </p:nvSpPr>
        <p:spPr>
          <a:xfrm>
            <a:off x="8505057" y="3265632"/>
            <a:ext cx="9893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Explained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6551E0-1C29-F6A2-C6C5-34E1EC33412F}"/>
              </a:ext>
            </a:extLst>
          </p:cNvPr>
          <p:cNvSpPr txBox="1"/>
          <p:nvPr/>
        </p:nvSpPr>
        <p:spPr>
          <a:xfrm>
            <a:off x="9431329" y="3253899"/>
            <a:ext cx="1346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Not Explained</a:t>
            </a:r>
          </a:p>
        </p:txBody>
      </p:sp>
    </p:spTree>
    <p:extLst>
      <p:ext uri="{BB962C8B-B14F-4D97-AF65-F5344CB8AC3E}">
        <p14:creationId xmlns:p14="http://schemas.microsoft.com/office/powerpoint/2010/main" val="27816594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BF9C98F-B476-7EC5-A603-A9A298AED26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227125" y="358608"/>
                <a:ext cx="9637776" cy="1118500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Interpretation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BF9C98F-B476-7EC5-A603-A9A298AED2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27125" y="358608"/>
                <a:ext cx="9637776" cy="1118500"/>
              </a:xfrm>
              <a:blipFill>
                <a:blip r:embed="rId2"/>
                <a:stretch>
                  <a:fillRect l="-2530" b="-7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A17D38-B92B-F376-7A9A-454FFF69EB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9615" y="1594339"/>
                <a:ext cx="11218985" cy="3974312"/>
              </a:xfrm>
            </p:spPr>
            <p:txBody>
              <a:bodyPr>
                <a:normAutofit/>
              </a:bodyPr>
              <a:lstStyle/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 b="0" i="0" dirty="0">
                    <a:effectLst/>
                    <a:latin typeface="open-sans"/>
                  </a:rPr>
                  <a:t>Since 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b="0" i="0" dirty="0">
                    <a:effectLst/>
                    <a:latin typeface="open-sans"/>
                  </a:rPr>
                  <a:t> is a proportion, it is always a number between 0 and 1.</a:t>
                </a:r>
              </a:p>
              <a:p>
                <a:pPr lvl="1"/>
                <a:r>
                  <a:rPr lang="en-US" b="0" i="0" dirty="0">
                    <a:effectLst/>
                    <a:latin typeface="open-sans"/>
                  </a:rPr>
                  <a:t>If 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0" i="0" dirty="0">
                    <a:effectLst/>
                    <a:latin typeface="open-sans"/>
                  </a:rPr>
                  <a:t> = 1, all of the data points fall perfectly on the regression line.</a:t>
                </a:r>
                <a:r>
                  <a:rPr lang="en-US" b="1" i="0" dirty="0">
                    <a:effectLst/>
                    <a:latin typeface="open-sans"/>
                  </a:rPr>
                  <a:t> </a:t>
                </a:r>
                <a:r>
                  <a:rPr lang="en-US" b="0" i="0" dirty="0">
                    <a:effectLst/>
                    <a:latin typeface="open-sans"/>
                  </a:rPr>
                  <a:t>The predictor </a:t>
                </a:r>
                <a:r>
                  <a:rPr lang="en-US" b="0" i="1" dirty="0">
                    <a:effectLst/>
                    <a:latin typeface="open-sans"/>
                  </a:rPr>
                  <a:t>X</a:t>
                </a:r>
                <a:r>
                  <a:rPr lang="en-US" b="0" i="0" dirty="0">
                    <a:effectLst/>
                    <a:latin typeface="open-sans"/>
                  </a:rPr>
                  <a:t> accounts for </a:t>
                </a:r>
                <a:r>
                  <a:rPr lang="en-US" b="0" i="1" dirty="0">
                    <a:effectLst/>
                    <a:latin typeface="open-sans"/>
                  </a:rPr>
                  <a:t>all</a:t>
                </a:r>
                <a:r>
                  <a:rPr lang="en-US" b="0" i="0" dirty="0">
                    <a:effectLst/>
                    <a:latin typeface="open-sans"/>
                  </a:rPr>
                  <a:t> of the variations in </a:t>
                </a:r>
                <a:r>
                  <a:rPr lang="en-US" b="0" i="1" dirty="0">
                    <a:effectLst/>
                    <a:latin typeface="open-sans"/>
                  </a:rPr>
                  <a:t>Y</a:t>
                </a:r>
                <a:r>
                  <a:rPr lang="en-US" b="0" i="0" dirty="0">
                    <a:effectLst/>
                    <a:latin typeface="open-sans"/>
                  </a:rPr>
                  <a:t>!</a:t>
                </a:r>
              </a:p>
              <a:p>
                <a:pPr lvl="1"/>
                <a:r>
                  <a:rPr lang="en-US" b="0" i="0" dirty="0">
                    <a:effectLst/>
                    <a:latin typeface="open-sans"/>
                  </a:rPr>
                  <a:t>If 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i="0" dirty="0">
                    <a:effectLst/>
                    <a:latin typeface="open-sans"/>
                  </a:rPr>
                  <a:t>= 0, the estimated regression line is perfectly horizontal. The predictor </a:t>
                </a:r>
                <a:r>
                  <a:rPr lang="en-US" b="0" i="1" dirty="0">
                    <a:effectLst/>
                    <a:latin typeface="open-sans"/>
                  </a:rPr>
                  <a:t>X</a:t>
                </a:r>
                <a:r>
                  <a:rPr lang="en-US" b="0" i="0" dirty="0">
                    <a:effectLst/>
                    <a:latin typeface="open-sans"/>
                  </a:rPr>
                  <a:t> accounts for </a:t>
                </a:r>
                <a:r>
                  <a:rPr lang="en-US" b="0" i="1" dirty="0">
                    <a:effectLst/>
                    <a:latin typeface="open-sans"/>
                  </a:rPr>
                  <a:t>none</a:t>
                </a:r>
                <a:r>
                  <a:rPr lang="en-US" b="0" i="0" dirty="0">
                    <a:effectLst/>
                    <a:latin typeface="open-sans"/>
                  </a:rPr>
                  <a:t> of the variations in </a:t>
                </a:r>
                <a:r>
                  <a:rPr lang="en-US" b="0" i="1" dirty="0">
                    <a:effectLst/>
                    <a:latin typeface="open-sans"/>
                  </a:rPr>
                  <a:t>Y</a:t>
                </a:r>
                <a:r>
                  <a:rPr lang="en-US" b="0" i="0" dirty="0">
                    <a:effectLst/>
                    <a:latin typeface="open-sans"/>
                  </a:rPr>
                  <a:t>!</a:t>
                </a:r>
              </a:p>
              <a:p>
                <a:pPr marL="0" indent="0">
                  <a:buNone/>
                </a:pPr>
                <a:endParaRPr lang="en-US" sz="2400" dirty="0">
                  <a:latin typeface="open-sans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b="0" i="0" dirty="0">
                    <a:effectLst/>
                    <a:latin typeface="open-sans"/>
                  </a:rPr>
                  <a:t> × 100 percent of the variation in </a:t>
                </a:r>
                <a:r>
                  <a:rPr lang="en-US" sz="2400" b="0" i="1" dirty="0">
                    <a:effectLst/>
                    <a:latin typeface="open-sans"/>
                  </a:rPr>
                  <a:t>Y</a:t>
                </a:r>
                <a:r>
                  <a:rPr lang="en-US" sz="2400" b="0" i="0" dirty="0">
                    <a:effectLst/>
                    <a:latin typeface="open-sans"/>
                  </a:rPr>
                  <a:t> is reduced by taking into account predictor </a:t>
                </a:r>
                <a:r>
                  <a:rPr lang="en-US" sz="2400" b="0" i="1" dirty="0">
                    <a:effectLst/>
                    <a:latin typeface="open-sans"/>
                  </a:rPr>
                  <a:t>X</a:t>
                </a:r>
                <a:r>
                  <a:rPr lang="en-US" sz="2400" dirty="0">
                    <a:latin typeface="open-sans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sz="2400" i="1" dirty="0">
                    <a:latin typeface="open-sans"/>
                  </a:rPr>
                  <a:t>or 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b="0" i="0" dirty="0">
                    <a:effectLst/>
                    <a:latin typeface="open-sans"/>
                  </a:rPr>
                  <a:t> × 100 percent </a:t>
                </a:r>
                <a:r>
                  <a:rPr lang="en-US" sz="2400" dirty="0"/>
                  <a:t>of the variation in </a:t>
                </a:r>
                <a:r>
                  <a:rPr lang="en-US" sz="2400" i="1" dirty="0"/>
                  <a:t>Y</a:t>
                </a:r>
                <a:r>
                  <a:rPr lang="en-US" sz="2400" dirty="0"/>
                  <a:t> is explained by </a:t>
                </a:r>
                <a:r>
                  <a:rPr lang="en-US" sz="2400" i="1" dirty="0"/>
                  <a:t>X</a:t>
                </a:r>
              </a:p>
              <a:p>
                <a:endParaRPr lang="en-US" sz="1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A17D38-B92B-F376-7A9A-454FFF69EB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9615" y="1594339"/>
                <a:ext cx="11218985" cy="3974312"/>
              </a:xfrm>
              <a:blipFill>
                <a:blip r:embed="rId3"/>
                <a:stretch>
                  <a:fillRect l="-815" t="-2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10534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50F0ABB-2099-9A2C-8A34-62ADEEB10E4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263769" y="253100"/>
                <a:ext cx="9637776" cy="948515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Pearson Correlation, </a:t>
                </a:r>
                <a:r>
                  <a:rPr lang="en-US" i="1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r &amp;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!!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50F0ABB-2099-9A2C-8A34-62ADEEB10E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63769" y="253100"/>
                <a:ext cx="9637776" cy="948515"/>
              </a:xfrm>
              <a:blipFill>
                <a:blip r:embed="rId2"/>
                <a:stretch>
                  <a:fillRect l="-2530" t="-6452" b="-180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DFFF62-A755-9117-BB57-EA463822BA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1338" y="1371601"/>
                <a:ext cx="10474502" cy="4197050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sz="2400" b="0" i="0" dirty="0">
                    <a:effectLst/>
                    <a:latin typeface="open-sans"/>
                  </a:rPr>
                  <a:t>So, we have another interpretation of </a:t>
                </a:r>
                <a:r>
                  <a:rPr lang="en-US" sz="2400" b="0" i="1" dirty="0">
                    <a:effectLst/>
                    <a:latin typeface="open-sans"/>
                  </a:rPr>
                  <a:t>r – </a:t>
                </a:r>
                <a:r>
                  <a:rPr lang="en-US" sz="2400" b="0" dirty="0">
                    <a:effectLst/>
                    <a:latin typeface="open-sans"/>
                  </a:rPr>
                  <a:t>the square of the coefficient of determination</a:t>
                </a:r>
              </a:p>
              <a:p>
                <a:r>
                  <a:rPr lang="en-US" sz="2400" b="0" i="0" dirty="0">
                    <a:effectLst/>
                    <a:latin typeface="open-sans"/>
                  </a:rPr>
                  <a:t>The correlation coefficient, </a:t>
                </a:r>
                <a:r>
                  <a:rPr lang="en-US" sz="2400" b="0" i="1" dirty="0">
                    <a:effectLst/>
                    <a:latin typeface="open-sans"/>
                  </a:rPr>
                  <a:t>r,</a:t>
                </a:r>
                <a:r>
                  <a:rPr lang="en-US" sz="2400" b="0" i="0" dirty="0">
                    <a:effectLst/>
                    <a:latin typeface="open-sans"/>
                  </a:rPr>
                  <a:t> is directly related to the coefficient of determination 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400" b="0" dirty="0"/>
              </a:p>
              <a:p>
                <a:pPr lvl="1"/>
                <a:r>
                  <a:rPr lang="en-US" b="0" i="0" dirty="0">
                    <a:effectLst/>
                    <a:latin typeface="open-sans"/>
                  </a:rPr>
                  <a:t>If 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i="0" dirty="0">
                    <a:effectLst/>
                    <a:latin typeface="open-sans"/>
                  </a:rPr>
                  <a:t>is represented in decimal form, </a:t>
                </a:r>
                <a:r>
                  <a:rPr lang="en-US" b="0" i="1" dirty="0">
                    <a:effectLst/>
                    <a:latin typeface="open-sans"/>
                  </a:rPr>
                  <a:t>e.g.</a:t>
                </a:r>
                <a:r>
                  <a:rPr lang="en-US" b="0" i="0" dirty="0">
                    <a:effectLst/>
                    <a:latin typeface="open-sans"/>
                  </a:rPr>
                  <a:t> 0.39 or 0.87, then all we have to do to obtain </a:t>
                </a:r>
                <a:r>
                  <a:rPr lang="en-US" b="0" i="1" dirty="0">
                    <a:effectLst/>
                    <a:latin typeface="open-sans"/>
                  </a:rPr>
                  <a:t>r</a:t>
                </a:r>
                <a:r>
                  <a:rPr lang="en-US" b="0" i="0" dirty="0">
                    <a:effectLst/>
                    <a:latin typeface="open-sans"/>
                  </a:rPr>
                  <a:t> is to take the square root of 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i="0" dirty="0">
                    <a:effectLst/>
                    <a:latin typeface="open-sans"/>
                  </a:rPr>
                  <a:t>: </a:t>
                </a:r>
                <a14:m>
                  <m:oMath xmlns:m="http://schemas.openxmlformats.org/officeDocument/2006/math">
                    <m:r>
                      <a:rPr lang="en-US" b="0" i="1">
                        <a:effectLst/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>
                        <a:effectLst/>
                        <a:latin typeface="Cambria Math" panose="02040503050406030204" pitchFamily="18" charset="0"/>
                      </a:rPr>
                      <m:t>=±</m:t>
                    </m:r>
                    <m:rad>
                      <m:radPr>
                        <m:degHide m:val="on"/>
                        <m:ctrlPr>
                          <a:rPr lang="en-US" b="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en-US" b="0" i="0" dirty="0">
                  <a:effectLst/>
                  <a:latin typeface="open-sans"/>
                </a:endParaRPr>
              </a:p>
              <a:p>
                <a:r>
                  <a:rPr lang="en-US" sz="2400" b="0" i="0" dirty="0">
                    <a:effectLst/>
                    <a:latin typeface="open-sans"/>
                  </a:rPr>
                  <a:t>The sign of </a:t>
                </a:r>
                <a:r>
                  <a:rPr lang="en-US" sz="2400" b="0" i="1" dirty="0">
                    <a:effectLst/>
                    <a:latin typeface="open-sans"/>
                  </a:rPr>
                  <a:t>r</a:t>
                </a:r>
                <a:r>
                  <a:rPr lang="en-US" sz="2400" b="0" i="0" dirty="0">
                    <a:effectLst/>
                    <a:latin typeface="open-sans"/>
                  </a:rPr>
                  <a:t> depends on the sign of the estimated slope coefficient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>
                            <a:effectLst/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b="0" i="0" dirty="0">
                    <a:effectLst/>
                    <a:latin typeface="open-sans"/>
                  </a:rPr>
                  <a:t> :</a:t>
                </a:r>
              </a:p>
              <a:p>
                <a:pPr lvl="1"/>
                <a:r>
                  <a:rPr lang="en-US" b="0" i="0" dirty="0">
                    <a:effectLst/>
                    <a:latin typeface="open-sans"/>
                  </a:rPr>
                  <a:t>If </a:t>
                </a:r>
                <a:r>
                  <a:rPr lang="en-US" b="0" dirty="0">
                    <a:effectLst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effectLst/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b="0" i="0" dirty="0">
                    <a:effectLst/>
                    <a:latin typeface="open-sans"/>
                  </a:rPr>
                  <a:t>  is negative, then </a:t>
                </a:r>
                <a:r>
                  <a:rPr lang="en-US" b="0" i="1" dirty="0">
                    <a:effectLst/>
                    <a:latin typeface="open-sans"/>
                  </a:rPr>
                  <a:t>r</a:t>
                </a:r>
                <a:r>
                  <a:rPr lang="en-US" b="0" i="0" dirty="0">
                    <a:effectLst/>
                    <a:latin typeface="open-sans"/>
                  </a:rPr>
                  <a:t> takes a negative sign.</a:t>
                </a:r>
              </a:p>
              <a:p>
                <a:pPr lvl="1"/>
                <a:r>
                  <a:rPr lang="en-US" b="0" i="0" dirty="0">
                    <a:effectLst/>
                    <a:latin typeface="open-sans"/>
                  </a:rPr>
                  <a:t>If </a:t>
                </a:r>
                <a:r>
                  <a:rPr lang="en-US" b="0" dirty="0">
                    <a:effectLst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effectLst/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b="0" i="0" dirty="0">
                    <a:effectLst/>
                    <a:latin typeface="open-sans"/>
                  </a:rPr>
                  <a:t>  is positive, then </a:t>
                </a:r>
                <a:r>
                  <a:rPr lang="en-US" b="0" i="1" dirty="0">
                    <a:effectLst/>
                    <a:latin typeface="open-sans"/>
                  </a:rPr>
                  <a:t>r</a:t>
                </a:r>
                <a:r>
                  <a:rPr lang="en-US" b="0" i="0" dirty="0">
                    <a:effectLst/>
                    <a:latin typeface="open-sans"/>
                  </a:rPr>
                  <a:t> takes a positive sign.</a:t>
                </a:r>
              </a:p>
              <a:p>
                <a:r>
                  <a:rPr lang="en-US" sz="2400" b="0" i="0" dirty="0">
                    <a:effectLst/>
                    <a:latin typeface="open-sans"/>
                  </a:rPr>
                  <a:t>That is, the estimated slope and the correlation coefficient </a:t>
                </a:r>
                <a:r>
                  <a:rPr lang="en-US" sz="2400" b="0" i="1" dirty="0">
                    <a:effectLst/>
                    <a:latin typeface="open-sans"/>
                  </a:rPr>
                  <a:t>r</a:t>
                </a:r>
                <a:r>
                  <a:rPr lang="en-US" sz="2400" b="0" i="0" dirty="0">
                    <a:effectLst/>
                    <a:latin typeface="open-sans"/>
                  </a:rPr>
                  <a:t> always share the same sign. Furthermore, because 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b="0" i="0" dirty="0">
                    <a:effectLst/>
                    <a:latin typeface="open-sans"/>
                  </a:rPr>
                  <a:t> is always a number between 0 and 1, the correlation coefficient </a:t>
                </a:r>
                <a:r>
                  <a:rPr lang="en-US" sz="2400" b="0" i="1" dirty="0">
                    <a:effectLst/>
                    <a:latin typeface="open-sans"/>
                  </a:rPr>
                  <a:t>r</a:t>
                </a:r>
                <a:r>
                  <a:rPr lang="en-US" sz="2400" b="0" i="0" dirty="0">
                    <a:effectLst/>
                    <a:latin typeface="open-sans"/>
                  </a:rPr>
                  <a:t> is always a number between -1 and 1.</a:t>
                </a:r>
              </a:p>
              <a:p>
                <a:endParaRPr lang="en-US" sz="17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DFFF62-A755-9117-BB57-EA463822BA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1338" y="1371601"/>
                <a:ext cx="10474502" cy="4197050"/>
              </a:xfrm>
              <a:blipFill>
                <a:blip r:embed="rId3"/>
                <a:stretch>
                  <a:fillRect l="-640" t="-1890" r="-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32176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3B1AD-C49C-6B79-64A2-013D80DD0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D99B61-46E9-F5BE-B30D-3A2A44EEE3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Note: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and SST we can calculate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and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D99B61-46E9-F5BE-B30D-3A2A44EEE3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902C43-8178-5567-20D3-630585F44C70}"/>
                  </a:ext>
                </a:extLst>
              </p:cNvPr>
              <p:cNvSpPr txBox="1"/>
              <p:nvPr/>
            </p:nvSpPr>
            <p:spPr>
              <a:xfrm>
                <a:off x="2915240" y="2379424"/>
                <a:ext cx="22317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𝑆𝑆𝑅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𝑆𝑆𝑇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902C43-8178-5567-20D3-630585F44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5240" y="2379424"/>
                <a:ext cx="2231795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380D22-8F69-A0AA-AFC3-30E4B92EA6F0}"/>
                  </a:ext>
                </a:extLst>
              </p:cNvPr>
              <p:cNvSpPr txBox="1"/>
              <p:nvPr/>
            </p:nvSpPr>
            <p:spPr>
              <a:xfrm>
                <a:off x="2638720" y="3392283"/>
                <a:ext cx="3457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𝑆𝑆𝐸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(1 −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𝑆𝑆𝑇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380D22-8F69-A0AA-AFC3-30E4B92EA6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8720" y="3392283"/>
                <a:ext cx="3457280" cy="461665"/>
              </a:xfrm>
              <a:prstGeom prst="rect">
                <a:avLst/>
              </a:prstGeom>
              <a:blipFill>
                <a:blip r:embed="rId4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37143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47D64-E660-A5DB-F584-9C2D1E9573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482" y="347913"/>
            <a:ext cx="8084763" cy="1076442"/>
          </a:xfrm>
        </p:spPr>
        <p:txBody>
          <a:bodyPr>
            <a:normAutofit/>
          </a:bodyPr>
          <a:lstStyle/>
          <a:p>
            <a:r>
              <a:rPr lang="en-US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Inferences for point estimates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91CE7C-6BE3-38B0-E288-6FB5B1A7C1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8946" y="1629508"/>
                <a:ext cx="4497500" cy="411663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sz="2400" dirty="0"/>
                  <a:t>We are interested in drawing inferences about the slope of the regression line</a:t>
                </a:r>
              </a:p>
              <a:p>
                <a:r>
                  <a:rPr lang="en-US" sz="2400" dirty="0"/>
                  <a:t>The most common hypothesis to test is:</a:t>
                </a:r>
              </a:p>
              <a:p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dirty="0"/>
                  <a:t>The reason for testing this is that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>
                        <a:latin typeface="Cambria Math" panose="02040503050406030204" pitchFamily="18" charset="0"/>
                      </a:rPr>
                      <m:t>=0 </m:t>
                    </m:r>
                  </m:oMath>
                </a14:m>
                <a:r>
                  <a:rPr lang="en-US" sz="2400" dirty="0"/>
                  <a:t>there is no linear association between </a:t>
                </a:r>
                <a:r>
                  <a:rPr lang="en-US" sz="2400" i="1" dirty="0"/>
                  <a:t>Y </a:t>
                </a:r>
                <a:r>
                  <a:rPr lang="en-US" sz="2400" dirty="0"/>
                  <a:t>and </a:t>
                </a:r>
                <a:r>
                  <a:rPr lang="en-US" sz="2400" i="1" dirty="0"/>
                  <a:t>X</a:t>
                </a: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91CE7C-6BE3-38B0-E288-6FB5B1A7C1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8946" y="1629508"/>
                <a:ext cx="4497500" cy="4116636"/>
              </a:xfrm>
              <a:blipFill>
                <a:blip r:embed="rId3"/>
                <a:stretch>
                  <a:fillRect l="-1900" t="-2663" r="-8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2AD5766C-B015-E823-3665-26C1B89921F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4701"/>
          <a:stretch/>
        </p:blipFill>
        <p:spPr>
          <a:xfrm>
            <a:off x="5405863" y="2208463"/>
            <a:ext cx="5134452" cy="2437828"/>
          </a:xfrm>
          <a:prstGeom prst="rect">
            <a:avLst/>
          </a:prstGeom>
          <a:effectLst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8A33A0-4970-249D-7842-27D3DA6EB2F6}"/>
                  </a:ext>
                </a:extLst>
              </p:cNvPr>
              <p:cNvSpPr txBox="1"/>
              <p:nvPr/>
            </p:nvSpPr>
            <p:spPr>
              <a:xfrm>
                <a:off x="761183" y="3615996"/>
                <a:ext cx="3218668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𝐻</m:t>
                          </m:r>
                        </m:e>
                        <m:sub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0</m:t>
                          </m:r>
                        </m:sub>
                      </m:sSub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:</m:t>
                      </m:r>
                      <m:sSub>
                        <m:sSubPr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=0 </m:t>
                      </m:r>
                      <m:r>
                        <m:rPr>
                          <m:sty m:val="p"/>
                        </m:rPr>
                        <a:rPr kumimoji="0" lang="en-US" sz="24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vs</m:t>
                      </m:r>
                      <m:r>
                        <a:rPr kumimoji="0" lang="en-US" sz="24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.</m:t>
                      </m:r>
                      <m:sSub>
                        <m:sSubPr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𝐻</m:t>
                          </m:r>
                        </m:e>
                        <m:sub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0</m:t>
                          </m:r>
                        </m:sub>
                      </m:sSub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:</m:t>
                      </m:r>
                      <m:sSub>
                        <m:sSubPr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≠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0</m:t>
                      </m:r>
                    </m:oMath>
                  </m:oMathPara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cs typeface="+mn-cs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8A33A0-4970-249D-7842-27D3DA6EB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183" y="3615996"/>
                <a:ext cx="3218668" cy="369332"/>
              </a:xfrm>
              <a:prstGeom prst="rect">
                <a:avLst/>
              </a:prstGeom>
              <a:blipFill>
                <a:blip r:embed="rId5"/>
                <a:stretch>
                  <a:fillRect l="-2273" r="-2083" b="-34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0FC70F9-CB1C-3E1D-5511-AB496D0D91DD}"/>
                  </a:ext>
                </a:extLst>
              </p:cNvPr>
              <p:cNvSpPr txBox="1"/>
              <p:nvPr/>
            </p:nvSpPr>
            <p:spPr>
              <a:xfrm flipH="1">
                <a:off x="10334027" y="3242711"/>
                <a:ext cx="71360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0FC70F9-CB1C-3E1D-5511-AB496D0D91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334027" y="3242711"/>
                <a:ext cx="713604" cy="369332"/>
              </a:xfrm>
              <a:prstGeom prst="rect">
                <a:avLst/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F7F7B60-E0AE-8839-E3A7-DA54092A9C19}"/>
                  </a:ext>
                </a:extLst>
              </p:cNvPr>
              <p:cNvSpPr txBox="1"/>
              <p:nvPr/>
            </p:nvSpPr>
            <p:spPr>
              <a:xfrm>
                <a:off x="6657119" y="4772917"/>
                <a:ext cx="263193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Mean(Y</a:t>
                </a:r>
                <a14:m>
                  <m:oMath xmlns:m="http://schemas.openxmlformats.org/officeDocument/2006/math">
                    <m:r>
                      <a:rPr kumimoji="0" lang="en-US" sz="2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)</m:t>
                    </m:r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sSub>
                      <m:sSubPr>
                        <m:ctrlP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𝛽</m:t>
                        </m:r>
                      </m:e>
                      <m:sub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0</m:t>
                        </m:r>
                      </m:sub>
                    </m:sSub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+0</m:t>
                    </m:r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𝑋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𝛽</m:t>
                        </m:r>
                      </m:e>
                      <m:sub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0</m:t>
                        </m:r>
                      </m:sub>
                    </m:sSub>
                  </m:oMath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F7F7B60-E0AE-8839-E3A7-DA54092A9C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7119" y="4772917"/>
                <a:ext cx="2631939" cy="307777"/>
              </a:xfrm>
              <a:prstGeom prst="rect">
                <a:avLst/>
              </a:prstGeom>
              <a:blipFill>
                <a:blip r:embed="rId7"/>
                <a:stretch>
                  <a:fillRect l="-5787" t="-26000" r="-926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57480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DD319-7796-8098-4557-66C7F8D41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65" y="142386"/>
            <a:ext cx="10515600" cy="936137"/>
          </a:xfrm>
        </p:spPr>
        <p:txBody>
          <a:bodyPr anchor="b">
            <a:normAutofit/>
          </a:bodyPr>
          <a:lstStyle/>
          <a:p>
            <a:r>
              <a:rPr lang="en-US" sz="41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Hypothesis testing of coefficients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3290D-3582-D081-927C-51CD23DD47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sz="2400" dirty="0"/>
                  <a:t>We follow standard hypothesis testing for the slope parameters in a linear regression model</a:t>
                </a:r>
              </a:p>
              <a:p>
                <a:r>
                  <a:rPr lang="en-US" sz="2400" dirty="0"/>
                  <a:t>First, specify the null and alternative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  <m:r>
                      <a:rPr lang="en-US" b="0" i="1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= 0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0</a:t>
                </a:r>
              </a:p>
              <a:p>
                <a:r>
                  <a:rPr lang="en-US" sz="2400" dirty="0"/>
                  <a:t>Second, calculate the test statistic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b="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f>
                          <m:fPr>
                            <m:type m:val="skw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ad>
                              <m:radPr>
                                <m:degHide m:val="on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𝑀𝑆𝐸</m:t>
                                </m:r>
                              </m:e>
                            </m:rad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p>
                                  <m:s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̅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den>
                        </m:f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𝑠𝑒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sz="2400" dirty="0"/>
                  <a:t>Calculate the p-value**</a:t>
                </a:r>
              </a:p>
              <a:p>
                <a:pPr lvl="1"/>
                <a:r>
                  <a:rPr lang="en-US" dirty="0"/>
                  <a:t>The p-value is determined by referring to a t-distribution with </a:t>
                </a:r>
                <a:r>
                  <a:rPr lang="en-US" i="1" dirty="0"/>
                  <a:t>n – </a:t>
                </a:r>
                <a:r>
                  <a:rPr lang="en-US" dirty="0"/>
                  <a:t>2</a:t>
                </a:r>
                <a:r>
                  <a:rPr lang="en-US" i="1" dirty="0"/>
                  <a:t> </a:t>
                </a:r>
                <a:r>
                  <a:rPr lang="en-US" i="1" dirty="0" err="1"/>
                  <a:t>df</a:t>
                </a:r>
                <a:r>
                  <a:rPr lang="en-US" i="1" dirty="0"/>
                  <a:t>**</a:t>
                </a:r>
              </a:p>
              <a:p>
                <a:r>
                  <a:rPr lang="en-US" sz="2400" dirty="0"/>
                  <a:t>Decision: If </a:t>
                </a:r>
                <a:r>
                  <a:rPr lang="en-US" sz="2400" i="1" dirty="0"/>
                  <a:t>p-value &lt;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400" dirty="0"/>
                  <a:t>		  reject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3290D-3582-D081-927C-51CD23DD47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812" t="-2661" b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row: Right 5">
            <a:extLst>
              <a:ext uri="{FF2B5EF4-FFF2-40B4-BE49-F238E27FC236}">
                <a16:creationId xmlns:a16="http://schemas.microsoft.com/office/drawing/2014/main" id="{B5CC6430-3956-4462-86E6-80FFC655192D}"/>
              </a:ext>
            </a:extLst>
          </p:cNvPr>
          <p:cNvSpPr/>
          <p:nvPr/>
        </p:nvSpPr>
        <p:spPr>
          <a:xfrm>
            <a:off x="4171027" y="5804160"/>
            <a:ext cx="1404538" cy="372803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4602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2C1AB-74F7-027E-BDA6-8E955318F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696" y="339319"/>
            <a:ext cx="8635349" cy="938497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Confidence intervals as hypothesis testing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8B65B2-3884-7590-1F28-A9992F3A979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3465" y="1782981"/>
                <a:ext cx="10177116" cy="4836096"/>
              </a:xfrm>
            </p:spPr>
            <p:txBody>
              <a:bodyPr>
                <a:noAutofit/>
              </a:bodyPr>
              <a:lstStyle/>
              <a:p>
                <a:r>
                  <a:rPr lang="en-US" dirty="0"/>
                  <a:t>It is also useful to look at the confidence interval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As always, the CI is the sample estimate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(</m:t>
                    </m:r>
                  </m:oMath>
                </a14:m>
                <a:r>
                  <a:rPr lang="en-US" b="0" i="1" dirty="0">
                    <a:ea typeface="Cambria Math" panose="02040503050406030204" pitchFamily="18" charset="0"/>
                  </a:rPr>
                  <a:t>t</a:t>
                </a:r>
                <a:r>
                  <a:rPr lang="en-US" b="0" dirty="0">
                    <a:ea typeface="Cambria Math" panose="02040503050406030204" pitchFamily="18" charset="0"/>
                  </a:rPr>
                  <a:t>-multiplier x standard error</a:t>
                </a:r>
                <a:r>
                  <a:rPr lang="en-US" b="0" i="1" dirty="0">
                    <a:ea typeface="Cambria Math" panose="020405030504060302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sSub>
                      <m:sSubPr>
                        <m:ctrlPr>
                          <a:rPr lang="en-US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d>
                          <m:dPr>
                            <m:ctrlPr>
                              <a:rPr lang="en-US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type m:val="skw"/>
                                <m:ctrlPr>
                                  <a:rPr lang="en-US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en-US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  </m:t>
                            </m:r>
                            <m:r>
                              <a:rPr lang="en-US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−2</m:t>
                            </m:r>
                          </m:e>
                        </m:d>
                      </m:sub>
                    </m:sSub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𝑠𝑒</m:t>
                    </m:r>
                  </m:oMath>
                </a14:m>
                <a:r>
                  <a:rPr lang="en-US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) 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±1.96×</m:t>
                    </m:r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𝑠𝑒</m:t>
                    </m:r>
                  </m:oMath>
                </a14:m>
                <a:r>
                  <a:rPr lang="en-US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)</a:t>
                </a:r>
                <a:r>
                  <a:rPr lang="en-US" dirty="0">
                    <a:sym typeface="Wingdings" panose="05000000000000000000" pitchFamily="2" charset="2"/>
                  </a:rPr>
                  <a:t>     </a:t>
                </a:r>
                <a:endParaRPr lang="en-US" dirty="0"/>
              </a:p>
              <a:p>
                <a:r>
                  <a:rPr lang="en-US" dirty="0"/>
                  <a:t>The CI provides the following information:</a:t>
                </a:r>
              </a:p>
              <a:p>
                <a:pPr lvl="1"/>
                <a:r>
                  <a:rPr lang="en-US" dirty="0"/>
                  <a:t>It gives us a range of values that is likely to contain the true unknown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>
                    <a:sym typeface="Wingdings" panose="05000000000000000000" pitchFamily="2" charset="2"/>
                  </a:rPr>
                  <a:t> we are 95% certain that the true </a:t>
                </a:r>
                <a:r>
                  <a:rPr lang="en-US" u="sng" dirty="0">
                    <a:sym typeface="Wingdings" panose="05000000000000000000" pitchFamily="2" charset="2"/>
                  </a:rPr>
                  <a:t>population parameter </a:t>
                </a:r>
                <a:r>
                  <a:rPr lang="en-US" dirty="0">
                    <a:sym typeface="Wingdings" panose="05000000000000000000" pitchFamily="2" charset="2"/>
                  </a:rPr>
                  <a:t>lies within the confidence interval; and</a:t>
                </a:r>
              </a:p>
              <a:p>
                <a:pPr lvl="1"/>
                <a:r>
                  <a:rPr lang="en-US" dirty="0">
                    <a:sym typeface="Wingdings" panose="05000000000000000000" pitchFamily="2" charset="2"/>
                  </a:rPr>
                  <a:t>It gives us the answer to whether there is a significant relationship between X and Y  if 0 lies in the confidence interval then we know to not </a:t>
                </a:r>
                <a:r>
                  <a:rPr lang="en-US" u="sng" dirty="0">
                    <a:sym typeface="Wingdings" panose="05000000000000000000" pitchFamily="2" charset="2"/>
                  </a:rPr>
                  <a:t>reject the null hypothesis. </a:t>
                </a:r>
                <a:r>
                  <a:rPr lang="en-US" dirty="0">
                    <a:sym typeface="Wingdings" panose="05000000000000000000" pitchFamily="2" charset="2"/>
                  </a:rPr>
                  <a:t>Why?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8B65B2-3884-7590-1F28-A9992F3A97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3465" y="1782981"/>
                <a:ext cx="10177116" cy="4836096"/>
              </a:xfrm>
              <a:blipFill>
                <a:blip r:embed="rId2"/>
                <a:stretch>
                  <a:fillRect l="-1078" t="-21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18167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840E2-62AC-7877-BFAE-E18F01251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Critical: </a:t>
            </a:r>
            <a:r>
              <a:rPr lang="en-US" dirty="0"/>
              <a:t>Inference, Error and Associations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26836B0C-7692-71D8-FAAA-CA84AC64A30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US" sz="2800" dirty="0"/>
                  <a:t>We do not reject the null hypothesis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b="0" dirty="0"/>
                  <a:t>= 0</a:t>
                </a: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26836B0C-7692-71D8-FAAA-CA84AC64A3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2482" t="-17037" b="-21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C452299-1E13-03CF-218A-229A1B67E5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678695"/>
            <a:ext cx="5157787" cy="3684588"/>
          </a:xfrm>
        </p:spPr>
        <p:txBody>
          <a:bodyPr/>
          <a:lstStyle/>
          <a:p>
            <a:r>
              <a:rPr lang="en-US" b="0" i="0" dirty="0">
                <a:solidFill>
                  <a:srgbClr val="3B444F"/>
                </a:solidFill>
                <a:effectLst/>
                <a:latin typeface="open-sans"/>
              </a:rPr>
              <a:t>We committed a Type II error</a:t>
            </a:r>
          </a:p>
          <a:p>
            <a:r>
              <a:rPr lang="en-US" b="0" i="0" dirty="0">
                <a:solidFill>
                  <a:srgbClr val="3B444F"/>
                </a:solidFill>
                <a:effectLst/>
                <a:latin typeface="open-sans"/>
              </a:rPr>
              <a:t>There really is not much of a linear relationship between </a:t>
            </a:r>
            <a:r>
              <a:rPr lang="en-US" b="0" i="1" dirty="0">
                <a:solidFill>
                  <a:srgbClr val="3B444F"/>
                </a:solidFill>
                <a:effectLst/>
                <a:latin typeface="open-sans"/>
              </a:rPr>
              <a:t>x</a:t>
            </a:r>
            <a:r>
              <a:rPr lang="en-US" b="0" i="0" dirty="0">
                <a:solidFill>
                  <a:srgbClr val="3B444F"/>
                </a:solidFill>
                <a:effectLst/>
                <a:latin typeface="open-sans"/>
              </a:rPr>
              <a:t> and </a:t>
            </a:r>
            <a:r>
              <a:rPr lang="en-US" b="0" i="1" dirty="0">
                <a:solidFill>
                  <a:srgbClr val="3B444F"/>
                </a:solidFill>
                <a:effectLst/>
                <a:latin typeface="open-sans"/>
              </a:rPr>
              <a:t>y</a:t>
            </a:r>
            <a:endParaRPr lang="en-US" b="0" i="0" dirty="0">
              <a:solidFill>
                <a:srgbClr val="3B444F"/>
              </a:solidFill>
              <a:effectLst/>
              <a:latin typeface="open-sans"/>
            </a:endParaRPr>
          </a:p>
          <a:p>
            <a:r>
              <a:rPr lang="en-US" b="0" i="0" dirty="0">
                <a:solidFill>
                  <a:srgbClr val="3B444F"/>
                </a:solidFill>
                <a:effectLst/>
                <a:latin typeface="open-sans"/>
              </a:rPr>
              <a:t>There is a relationship between </a:t>
            </a:r>
            <a:r>
              <a:rPr lang="en-US" b="0" i="1" dirty="0">
                <a:solidFill>
                  <a:srgbClr val="3B444F"/>
                </a:solidFill>
                <a:effectLst/>
                <a:latin typeface="open-sans"/>
              </a:rPr>
              <a:t>x</a:t>
            </a:r>
            <a:r>
              <a:rPr lang="en-US" b="0" i="0" dirty="0">
                <a:solidFill>
                  <a:srgbClr val="3B444F"/>
                </a:solidFill>
                <a:effectLst/>
                <a:latin typeface="open-sans"/>
              </a:rPr>
              <a:t> and </a:t>
            </a:r>
            <a:r>
              <a:rPr lang="en-US" b="0" i="1" dirty="0">
                <a:solidFill>
                  <a:srgbClr val="3B444F"/>
                </a:solidFill>
                <a:effectLst/>
                <a:latin typeface="open-sans"/>
              </a:rPr>
              <a:t>y</a:t>
            </a:r>
            <a:r>
              <a:rPr lang="en-US" b="0" i="0" dirty="0">
                <a:solidFill>
                  <a:srgbClr val="3B444F"/>
                </a:solidFill>
                <a:effectLst/>
                <a:latin typeface="open-sans"/>
              </a:rPr>
              <a:t> — it is just not linear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Placeholder 5">
                <a:extLst>
                  <a:ext uri="{FF2B5EF4-FFF2-40B4-BE49-F238E27FC236}">
                    <a16:creationId xmlns:a16="http://schemas.microsoft.com/office/drawing/2014/main" id="{FE104A26-AF5C-268C-0468-FB59413CD76D}"/>
                  </a:ext>
                </a:extLst>
              </p:cNvPr>
              <p:cNvSpPr>
                <a:spLocks noGrp="1"/>
              </p:cNvSpPr>
              <p:nvPr>
                <p:ph type="body" sz="quarter" idx="3"/>
              </p:nvPr>
            </p:nvSpPr>
            <p:spPr>
              <a:xfrm>
                <a:off x="6194427" y="1657527"/>
                <a:ext cx="5183188" cy="823912"/>
              </a:xfrm>
            </p:spPr>
            <p:txBody>
              <a:bodyPr>
                <a:noAutofit/>
              </a:bodyPr>
              <a:lstStyle/>
              <a:p>
                <a:r>
                  <a:rPr lang="en-US" sz="2800" dirty="0"/>
                  <a:t>We do reject the null hypothesis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 </m:t>
                    </m:r>
                    <m:r>
                      <m:rPr>
                        <m:nor/>
                      </m:rPr>
                      <a:rPr lang="en-US" sz="2800" b="0" dirty="0" smtClean="0"/>
                      <m:t>0</m:t>
                    </m:r>
                  </m:oMath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6" name="Text Placeholder 5">
                <a:extLst>
                  <a:ext uri="{FF2B5EF4-FFF2-40B4-BE49-F238E27FC236}">
                    <a16:creationId xmlns:a16="http://schemas.microsoft.com/office/drawing/2014/main" id="{FE104A26-AF5C-268C-0468-FB59413CD7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3"/>
              </p:nvPr>
            </p:nvSpPr>
            <p:spPr>
              <a:xfrm>
                <a:off x="6194427" y="1657527"/>
                <a:ext cx="5183188" cy="823912"/>
              </a:xfrm>
              <a:blipFill>
                <a:blip r:embed="rId3"/>
                <a:stretch>
                  <a:fillRect l="-2353" t="-16296" b="-21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BD73E3-F6DD-CD20-83C5-F1208230B2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678695"/>
            <a:ext cx="5183188" cy="3684588"/>
          </a:xfrm>
        </p:spPr>
        <p:txBody>
          <a:bodyPr/>
          <a:lstStyle/>
          <a:p>
            <a:r>
              <a:rPr lang="en-US" b="0" i="0" dirty="0">
                <a:solidFill>
                  <a:srgbClr val="3B444F"/>
                </a:solidFill>
                <a:effectLst/>
                <a:latin typeface="open-sans"/>
              </a:rPr>
              <a:t>We committed a Type I error</a:t>
            </a:r>
          </a:p>
          <a:p>
            <a:r>
              <a:rPr lang="en-US" b="0" i="0" dirty="0">
                <a:solidFill>
                  <a:srgbClr val="3B444F"/>
                </a:solidFill>
                <a:effectLst/>
                <a:latin typeface="open-sans"/>
              </a:rPr>
              <a:t>The relationship between </a:t>
            </a:r>
            <a:r>
              <a:rPr lang="en-US" b="0" i="1" dirty="0">
                <a:solidFill>
                  <a:srgbClr val="3B444F"/>
                </a:solidFill>
                <a:effectLst/>
                <a:latin typeface="open-sans"/>
              </a:rPr>
              <a:t>x</a:t>
            </a:r>
            <a:r>
              <a:rPr lang="en-US" b="0" i="0" dirty="0">
                <a:solidFill>
                  <a:srgbClr val="3B444F"/>
                </a:solidFill>
                <a:effectLst/>
                <a:latin typeface="open-sans"/>
              </a:rPr>
              <a:t> and </a:t>
            </a:r>
            <a:r>
              <a:rPr lang="en-US" b="0" i="1" dirty="0">
                <a:solidFill>
                  <a:srgbClr val="3B444F"/>
                </a:solidFill>
                <a:effectLst/>
                <a:latin typeface="open-sans"/>
              </a:rPr>
              <a:t>y</a:t>
            </a:r>
            <a:r>
              <a:rPr lang="en-US" b="0" i="0" dirty="0">
                <a:solidFill>
                  <a:srgbClr val="3B444F"/>
                </a:solidFill>
                <a:effectLst/>
                <a:latin typeface="open-sans"/>
              </a:rPr>
              <a:t> is indeed linear.</a:t>
            </a:r>
          </a:p>
          <a:p>
            <a:r>
              <a:rPr lang="en-US" b="0" i="0" dirty="0">
                <a:solidFill>
                  <a:srgbClr val="3B444F"/>
                </a:solidFill>
                <a:effectLst/>
                <a:latin typeface="open-sans"/>
              </a:rPr>
              <a:t>A linear function fits the data, okay, but a curved ("curvilinear") function would fit the data even better (i.e., the model is mis- specified)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971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2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3" dur="2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6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7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C6406-C78B-BEB5-6E80-43FB29B9C1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 to Multiple Linear Regression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3A651B-43C8-B26C-FEA8-29F2086B9CA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What is it and how it works</a:t>
            </a:r>
          </a:p>
        </p:txBody>
      </p:sp>
    </p:spTree>
    <p:extLst>
      <p:ext uri="{BB962C8B-B14F-4D97-AF65-F5344CB8AC3E}">
        <p14:creationId xmlns:p14="http://schemas.microsoft.com/office/powerpoint/2010/main" val="163127661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FABB6-A875-B099-E912-B1735611D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803" y="1352142"/>
            <a:ext cx="10512810" cy="4153715"/>
          </a:xfrm>
        </p:spPr>
        <p:txBody>
          <a:bodyPr anchor="ctr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400" dirty="0"/>
              <a:t>Is the overall model (regression equation) useful? i.e. are any of the fitted </a:t>
            </a:r>
            <a:r>
              <a:rPr lang="en-US" sz="2400" dirty="0" err="1"/>
              <a:t>coeff</a:t>
            </a:r>
            <a:r>
              <a:rPr lang="en-US" sz="2400" dirty="0"/>
              <a:t>. significant?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Which features are “significant” and what does that mean?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Are the various features positively or negatively related to the response? How do we interpret them?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How much of the variability in the response variable is explained by the model?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Are the OLS assumptions satisfactory? </a:t>
            </a:r>
          </a:p>
          <a:p>
            <a:endParaRPr lang="en-US" sz="17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EFAA75-4C55-6156-35FD-898A74B90E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803" y="412846"/>
            <a:ext cx="11416415" cy="882387"/>
          </a:xfrm>
        </p:spPr>
        <p:txBody>
          <a:bodyPr anchor="ctr">
            <a:normAutofit/>
          </a:bodyPr>
          <a:lstStyle/>
          <a:p>
            <a:r>
              <a:rPr lang="en-US" sz="4000" dirty="0"/>
              <a:t>Key Questions</a:t>
            </a:r>
          </a:p>
        </p:txBody>
      </p:sp>
    </p:spTree>
    <p:extLst>
      <p:ext uri="{BB962C8B-B14F-4D97-AF65-F5344CB8AC3E}">
        <p14:creationId xmlns:p14="http://schemas.microsoft.com/office/powerpoint/2010/main" val="1093467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/>
              <a:t>Multiple Linear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8443"/>
                <a:ext cx="10515600" cy="5230153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/>
                  <a:t>Data</a:t>
                </a:r>
                <a:r>
                  <a:rPr lang="en-US" dirty="0"/>
                  <a:t>: (Y</a:t>
                </a:r>
                <a:r>
                  <a:rPr lang="en-US" baseline="-25000" dirty="0"/>
                  <a:t>i</a:t>
                </a:r>
                <a:r>
                  <a:rPr lang="en-US" dirty="0"/>
                  <a:t>, X</a:t>
                </a:r>
                <a:r>
                  <a:rPr lang="en-US" baseline="-25000" dirty="0"/>
                  <a:t>i,1 </a:t>
                </a:r>
                <a:r>
                  <a:rPr lang="en-US" dirty="0"/>
                  <a:t>, X</a:t>
                </a:r>
                <a:r>
                  <a:rPr lang="en-US" baseline="-25000" dirty="0"/>
                  <a:t>i,2</a:t>
                </a:r>
                <a:r>
                  <a:rPr lang="en-US" dirty="0"/>
                  <a:t>,</a:t>
                </a:r>
                <a:r>
                  <a:rPr lang="mr-IN" dirty="0"/>
                  <a:t>…</a:t>
                </a:r>
                <a:r>
                  <a:rPr lang="en-US" dirty="0"/>
                  <a:t> ,</a:t>
                </a:r>
                <a:r>
                  <a:rPr lang="en-US" dirty="0" err="1"/>
                  <a:t>X</a:t>
                </a:r>
                <a:r>
                  <a:rPr lang="en-US" baseline="-25000" dirty="0" err="1"/>
                  <a:t>i,k</a:t>
                </a:r>
                <a:r>
                  <a:rPr lang="en-US" dirty="0"/>
                  <a:t>) i.e.  there are now </a:t>
                </a:r>
                <a:r>
                  <a:rPr lang="en-US" i="1" dirty="0"/>
                  <a:t>m </a:t>
                </a:r>
                <a:r>
                  <a:rPr lang="en-US" dirty="0"/>
                  <a:t>variables for each observation, </a:t>
                </a:r>
                <a:r>
                  <a:rPr lang="en-US" i="1" dirty="0" err="1"/>
                  <a:t>i</a:t>
                </a:r>
                <a:r>
                  <a:rPr lang="en-US" i="1" dirty="0"/>
                  <a:t> </a:t>
                </a:r>
                <a:r>
                  <a:rPr lang="en-US" dirty="0"/>
                  <a:t>remains the number of cases</a:t>
                </a:r>
              </a:p>
              <a:p>
                <a:r>
                  <a:rPr lang="en-US" b="1" dirty="0"/>
                  <a:t>Linear Model </a:t>
                </a:r>
                <a:r>
                  <a:rPr lang="en-US" dirty="0"/>
                  <a:t>is now: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 ~ Norm(0,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b="0" i="1" baseline="300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b="1" dirty="0"/>
                  <a:t>Goal</a:t>
                </a:r>
                <a:r>
                  <a:rPr lang="en-US" dirty="0"/>
                  <a:t>: To fit a Linear Regression Model with coefficients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…,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:</a:t>
                </a:r>
              </a:p>
              <a:p>
                <a:pPr marL="0" indent="0" algn="ctr"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acc>
                  </m:oMath>
                </a14:m>
                <a:r>
                  <a:rPr lang="en-US" dirty="0"/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m:rPr>
                        <m:nor/>
                      </m:rPr>
                      <a:rPr lang="en-US" b="0" i="0" smtClean="0">
                        <a:solidFill>
                          <a:srgbClr val="000000"/>
                        </a:solidFill>
                        <a:latin typeface="Cambria Math" charset="0"/>
                      </a:rPr>
                      <m:t> +</m:t>
                    </m:r>
                    <m:r>
                      <m:rPr>
                        <m:nor/>
                      </m:rPr>
                      <a:rPr lang="en-US" altLang="en-US" dirty="0"/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charset="0"/>
                      </a:rPr>
                      <m:t>𝑥</m:t>
                    </m:r>
                    <m:r>
                      <a:rPr lang="en-US" b="0" i="1" baseline="-25000" smtClean="0">
                        <a:solidFill>
                          <a:srgbClr val="000000"/>
                        </a:solidFill>
                        <a:latin typeface="Cambria Math" charset="0"/>
                      </a:rPr>
                      <m:t>1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 charset="0"/>
                      </a:rPr>
                      <m:t>, …,</m:t>
                    </m:r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baseline="-25000" dirty="0"/>
              </a:p>
              <a:p>
                <a:pPr lvl="1"/>
                <a:r>
                  <a:rPr lang="en-US" dirty="0"/>
                  <a:t>Example: </a:t>
                </a:r>
                <a:r>
                  <a:rPr lang="en-US" i="1" dirty="0"/>
                  <a:t>k</a:t>
                </a:r>
                <a:r>
                  <a:rPr lang="en-US" dirty="0"/>
                  <a:t> = 3</a:t>
                </a:r>
              </a:p>
              <a:p>
                <a:r>
                  <a:rPr lang="en-US" dirty="0"/>
                  <a:t>Note that the fitting is still done with Ordinary Least Squares (OLS) method just like in simple linear regression. 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8443"/>
                <a:ext cx="10515600" cy="5230153"/>
              </a:xfrm>
              <a:blipFill>
                <a:blip r:embed="rId3"/>
                <a:stretch>
                  <a:fillRect l="-1043" t="-1981" r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93D746-49E6-44B9-A74E-23E10B03F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4D677F5-6401-4ECE-9434-31FD34043E7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2102360" y="5709855"/>
                <a:ext cx="8382000" cy="56361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8E0D30"/>
                  </a:buClr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altLang="en-US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altLang="en-US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𝑄</m:t>
                        </m:r>
                        <m:r>
                          <a:rPr kumimoji="0" lang="en-US" altLang="en-US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</m:t>
                        </m:r>
                        <m:r>
                          <a:rPr kumimoji="0" lang="en-US" altLang="en-US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charset="0"/>
                            <a:ea typeface="+mn-ea"/>
                            <a:cs typeface="+mn-cs"/>
                          </a:rPr>
                          <m:t>𝑚𝑖𝑛</m:t>
                        </m:r>
                      </m:e>
                      <m:sub>
                        <m:sSub>
                          <m:sSubPr>
                            <m:ctrlPr>
                              <a:rPr kumimoji="0" lang="en-US" sz="2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sz="2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𝑏</m:t>
                            </m:r>
                          </m:e>
                          <m:sub>
                            <m:r>
                              <a:rPr kumimoji="0" lang="en-US" sz="2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0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kumimoji="0" lang="en-US" altLang="en-US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m:t>, </m:t>
                        </m:r>
                        <m:sSub>
                          <m:sSubPr>
                            <m:ctrlPr>
                              <a:rPr kumimoji="0" lang="en-US" sz="2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sz="2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𝑏</m:t>
                            </m:r>
                          </m:e>
                          <m:sub>
                            <m:r>
                              <a:rPr kumimoji="0" lang="en-US" sz="2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1</m:t>
                            </m:r>
                          </m:sub>
                        </m:sSub>
                        <m:r>
                          <a:rPr kumimoji="0" lang="en-US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charset="0"/>
                            <a:ea typeface="+mn-ea"/>
                            <a:cs typeface="+mn-cs"/>
                          </a:rPr>
                          <m:t>, …,</m:t>
                        </m:r>
                        <m:sSub>
                          <m:sSubPr>
                            <m:ctrlPr>
                              <a:rPr kumimoji="0" lang="en-US" sz="2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sz="2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𝑏</m:t>
                            </m:r>
                          </m:e>
                          <m:sub>
                            <m:r>
                              <a:rPr kumimoji="0" lang="en-US" sz="2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charset="0"/>
                                <a:ea typeface="+mn-ea"/>
                                <a:cs typeface="+mn-cs"/>
                              </a:rPr>
                              <m:t>𝑘</m:t>
                            </m:r>
                          </m:sub>
                        </m:sSub>
                      </m:sub>
                    </m:sSub>
                    <m:nary>
                      <m:naryPr>
                        <m:chr m:val="∑"/>
                        <m:supHide m:val="on"/>
                        <m:ctrlPr>
                          <a:rPr kumimoji="0" lang="en-US" altLang="en-US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kumimoji="0" lang="en-US" altLang="en-US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  <m:sup/>
                      <m:e>
                        <m:r>
                          <a:rPr kumimoji="0" lang="en-US" altLang="en-US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charset="0"/>
                            <a:ea typeface="+mn-ea"/>
                            <a:cs typeface="+mn-cs"/>
                          </a:rPr>
                          <m:t>(</m:t>
                        </m:r>
                        <m:sSub>
                          <m:sSubPr>
                            <m:ctrlPr>
                              <a:rPr kumimoji="0" lang="en-US" altLang="en-US" sz="2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en-US" sz="2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charset="0"/>
                                <a:ea typeface="+mn-ea"/>
                                <a:cs typeface="+mn-cs"/>
                              </a:rPr>
                              <m:t>𝑦</m:t>
                            </m:r>
                          </m:e>
                          <m:sub>
                            <m:r>
                              <a:rPr kumimoji="0" lang="en-US" altLang="en-US" sz="2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charset="0"/>
                                <a:ea typeface="+mn-ea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en-US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charset="0"/>
                            <a:ea typeface="+mn-ea"/>
                            <a:cs typeface="+mn-cs"/>
                          </a:rPr>
                          <m:t> −</m:t>
                        </m:r>
                        <m:sSub>
                          <m:sSubPr>
                            <m:ctrlPr>
                              <a:rPr kumimoji="0" lang="en-US" sz="2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sz="2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𝑏</m:t>
                            </m:r>
                          </m:e>
                          <m:sub>
                            <m:r>
                              <a:rPr kumimoji="0" lang="en-US" sz="2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0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kumimoji="0" lang="en-US" sz="2800" b="0" i="0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charset="0"/>
                            <a:ea typeface="+mn-ea"/>
                            <a:cs typeface="+mn-cs"/>
                          </a:rPr>
                          <m:t> +</m:t>
                        </m:r>
                        <m:r>
                          <m:rPr>
                            <m:nor/>
                          </m:rPr>
                          <a:rPr kumimoji="0" lang="en-US" altLang="en-US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m:t> </m:t>
                        </m:r>
                        <m:sSub>
                          <m:sSubPr>
                            <m:ctrlPr>
                              <a:rPr kumimoji="0" lang="en-US" sz="2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sz="2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𝑏</m:t>
                            </m:r>
                          </m:e>
                          <m:sub>
                            <m:r>
                              <a:rPr kumimoji="0" lang="en-US" sz="2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1</m:t>
                            </m:r>
                          </m:sub>
                        </m:sSub>
                        <m:r>
                          <a:rPr kumimoji="0" lang="en-US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charset="0"/>
                            <a:ea typeface="+mn-ea"/>
                            <a:cs typeface="+mn-cs"/>
                          </a:rPr>
                          <m:t>𝑥</m:t>
                        </m:r>
                        <m:r>
                          <a:rPr kumimoji="0" lang="en-US" sz="2800" b="0" i="1" u="none" strike="noStrike" kern="1200" cap="none" spc="0" normalizeH="0" baseline="-2500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charset="0"/>
                            <a:ea typeface="+mn-ea"/>
                            <a:cs typeface="+mn-cs"/>
                          </a:rPr>
                          <m:t>1</m:t>
                        </m:r>
                        <m:r>
                          <a:rPr kumimoji="0" lang="en-US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charset="0"/>
                            <a:ea typeface="+mn-ea"/>
                            <a:cs typeface="+mn-cs"/>
                          </a:rPr>
                          <m:t>, …,</m:t>
                        </m:r>
                        <m:r>
                          <a:rPr kumimoji="0" lang="en-US" sz="2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charset="0"/>
                            <a:ea typeface="+mn-ea"/>
                            <a:cs typeface="+mn-cs"/>
                          </a:rPr>
                          <m:t>+</m:t>
                        </m:r>
                        <m:sSub>
                          <m:sSubPr>
                            <m:ctrlPr>
                              <a:rPr kumimoji="0" lang="en-US" sz="2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sz="2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𝑏</m:t>
                            </m:r>
                          </m:e>
                          <m:sub>
                            <m:r>
                              <a:rPr kumimoji="0" lang="en-US" sz="2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sz="2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sz="2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sz="2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𝑘</m:t>
                            </m:r>
                          </m:sub>
                        </m:sSub>
                        <m:r>
                          <a:rPr kumimoji="0" lang="en-US" altLang="en-US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charset="0"/>
                            <a:ea typeface="+mn-ea"/>
                            <a:cs typeface="+mn-cs"/>
                          </a:rPr>
                          <m:t>)</m:t>
                        </m:r>
                      </m:e>
                    </m:nary>
                  </m:oMath>
                </a14:m>
                <a:r>
                  <a:rPr kumimoji="0" lang="en-US" altLang="en-US" sz="2800" b="0" i="0" u="none" strike="noStrike" kern="1200" cap="none" spc="0" normalizeH="0" baseline="30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</a:t>
                </a:r>
                <a:endPara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2360" y="5709855"/>
                <a:ext cx="8382000" cy="563616"/>
              </a:xfrm>
              <a:prstGeom prst="rect">
                <a:avLst/>
              </a:prstGeom>
              <a:blipFill>
                <a:blip r:embed="rId4"/>
                <a:stretch>
                  <a:fillRect t="-5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532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395" y="142903"/>
            <a:ext cx="11189979" cy="988373"/>
          </a:xfrm>
        </p:spPr>
        <p:txBody>
          <a:bodyPr>
            <a:normAutofit/>
          </a:bodyPr>
          <a:lstStyle/>
          <a:p>
            <a:r>
              <a:rPr lang="en-US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Similarities/Differences between MLR and SLR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9CBE65A-E3EC-5633-13AD-1CAFC9E77A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462" y="1406769"/>
            <a:ext cx="10310378" cy="5036234"/>
          </a:xfrm>
        </p:spPr>
        <p:txBody>
          <a:bodyPr>
            <a:normAutofit/>
          </a:bodyPr>
          <a:lstStyle/>
          <a:p>
            <a:r>
              <a:rPr lang="en-US" sz="2400" u="sng" dirty="0"/>
              <a:t>F-test (ANOVA table): </a:t>
            </a:r>
            <a:r>
              <a:rPr lang="en-US" sz="2400" dirty="0"/>
              <a:t>Tells us whether </a:t>
            </a:r>
            <a:r>
              <a:rPr lang="en-US" sz="2400" i="1" dirty="0"/>
              <a:t>any</a:t>
            </a:r>
            <a:r>
              <a:rPr lang="en-US" sz="2400" dirty="0"/>
              <a:t> </a:t>
            </a:r>
            <a:r>
              <a:rPr lang="en-US" sz="2400" dirty="0" err="1"/>
              <a:t>indep</a:t>
            </a:r>
            <a:r>
              <a:rPr lang="en-US" sz="2400" dirty="0"/>
              <a:t>. vars are significant</a:t>
            </a:r>
          </a:p>
          <a:p>
            <a:pPr lvl="1"/>
            <a:r>
              <a:rPr lang="en-US" dirty="0"/>
              <a:t>H</a:t>
            </a:r>
            <a:r>
              <a:rPr lang="en-US" baseline="-25000" dirty="0"/>
              <a:t>0</a:t>
            </a:r>
            <a:r>
              <a:rPr lang="en-US" dirty="0"/>
              <a:t>: </a:t>
            </a:r>
            <a:r>
              <a:rPr lang="el-GR" dirty="0"/>
              <a:t>β</a:t>
            </a:r>
            <a:r>
              <a:rPr lang="en-US" i="1" baseline="-25000" dirty="0" err="1"/>
              <a:t>i</a:t>
            </a:r>
            <a:r>
              <a:rPr lang="en-US" baseline="-25000" dirty="0"/>
              <a:t> </a:t>
            </a:r>
            <a:r>
              <a:rPr lang="en-US" dirty="0"/>
              <a:t>= 0 for all </a:t>
            </a:r>
            <a:r>
              <a:rPr lang="en-US" i="1" dirty="0" err="1"/>
              <a:t>i</a:t>
            </a:r>
            <a:r>
              <a:rPr lang="en-US" dirty="0"/>
              <a:t> or H</a:t>
            </a:r>
            <a:r>
              <a:rPr lang="en-US" baseline="-25000" dirty="0"/>
              <a:t>0</a:t>
            </a:r>
            <a:r>
              <a:rPr lang="en-US" dirty="0"/>
              <a:t>: </a:t>
            </a:r>
            <a:r>
              <a:rPr lang="el-GR" dirty="0"/>
              <a:t>β</a:t>
            </a:r>
            <a:r>
              <a:rPr lang="en-US" baseline="-25000" dirty="0"/>
              <a:t>1 </a:t>
            </a:r>
            <a:r>
              <a:rPr lang="en-US" dirty="0"/>
              <a:t>= </a:t>
            </a:r>
            <a:r>
              <a:rPr lang="el-GR" dirty="0"/>
              <a:t>β</a:t>
            </a:r>
            <a:r>
              <a:rPr lang="en-US" baseline="-25000" dirty="0"/>
              <a:t>2 =</a:t>
            </a:r>
            <a:r>
              <a:rPr lang="el-GR" dirty="0"/>
              <a:t> β</a:t>
            </a:r>
            <a:r>
              <a:rPr lang="en-US" baseline="-25000" dirty="0"/>
              <a:t>3 …</a:t>
            </a:r>
            <a:r>
              <a:rPr lang="el-GR" dirty="0"/>
              <a:t> β</a:t>
            </a:r>
            <a:r>
              <a:rPr lang="en-US" i="1" baseline="-25000" dirty="0"/>
              <a:t>k</a:t>
            </a:r>
            <a:r>
              <a:rPr lang="en-US" dirty="0"/>
              <a:t> = 0 </a:t>
            </a:r>
            <a:r>
              <a:rPr lang="en-US" sz="1800" dirty="0"/>
              <a:t>(None of the X variables have linear relationships with Y) </a:t>
            </a:r>
          </a:p>
          <a:p>
            <a:pPr lvl="1"/>
            <a:r>
              <a:rPr lang="en-US" dirty="0"/>
              <a:t>H</a:t>
            </a:r>
            <a:r>
              <a:rPr lang="en-US" baseline="-25000" dirty="0"/>
              <a:t>1</a:t>
            </a:r>
            <a:r>
              <a:rPr lang="en-US" dirty="0"/>
              <a:t>: </a:t>
            </a:r>
            <a:r>
              <a:rPr lang="el-GR" dirty="0"/>
              <a:t>β</a:t>
            </a:r>
            <a:r>
              <a:rPr lang="en-US" i="1" baseline="-25000" dirty="0" err="1"/>
              <a:t>i</a:t>
            </a:r>
            <a:r>
              <a:rPr lang="en-US" dirty="0"/>
              <a:t> ≠ 0 for some </a:t>
            </a:r>
            <a:r>
              <a:rPr lang="en-US" i="1" dirty="0" err="1"/>
              <a:t>i</a:t>
            </a:r>
            <a:r>
              <a:rPr lang="en-US" dirty="0"/>
              <a:t> </a:t>
            </a:r>
            <a:r>
              <a:rPr lang="en-US" sz="1800" dirty="0"/>
              <a:t>(At least one X variable has a linear relationship with Y) </a:t>
            </a:r>
          </a:p>
          <a:p>
            <a:r>
              <a:rPr lang="en-US" sz="2400" u="sng" dirty="0"/>
              <a:t>Intercept</a:t>
            </a:r>
            <a:r>
              <a:rPr lang="en-US" sz="2400" dirty="0"/>
              <a:t>: </a:t>
            </a:r>
            <a:r>
              <a:rPr lang="el-GR" sz="2400" dirty="0"/>
              <a:t>β</a:t>
            </a:r>
            <a:r>
              <a:rPr lang="en-US" sz="2400" baseline="-25000" dirty="0"/>
              <a:t>0 </a:t>
            </a:r>
            <a:r>
              <a:rPr lang="en-US" sz="2400" dirty="0"/>
              <a:t>is the expected value of Y when </a:t>
            </a:r>
            <a:r>
              <a:rPr lang="en-US" sz="2400" i="1" u="sng" dirty="0"/>
              <a:t>all</a:t>
            </a:r>
            <a:r>
              <a:rPr lang="en-US" sz="2400" dirty="0"/>
              <a:t> predictors are zero</a:t>
            </a:r>
          </a:p>
          <a:p>
            <a:r>
              <a:rPr lang="en-US" sz="2400" u="sng" dirty="0"/>
              <a:t>Slope(s)</a:t>
            </a:r>
            <a:r>
              <a:rPr lang="en-US" sz="2400" dirty="0"/>
              <a:t>: </a:t>
            </a:r>
            <a:r>
              <a:rPr lang="el-GR" sz="2400" dirty="0"/>
              <a:t>β</a:t>
            </a:r>
            <a:r>
              <a:rPr lang="en-US" sz="2400" baseline="-25000" dirty="0" err="1"/>
              <a:t>i</a:t>
            </a:r>
            <a:r>
              <a:rPr lang="en-US" sz="2400" baseline="-25000" dirty="0"/>
              <a:t> </a:t>
            </a:r>
            <a:r>
              <a:rPr lang="en-US" sz="2400" dirty="0"/>
              <a:t>is the expected change in response (Y) for every 1 unit increase in X</a:t>
            </a:r>
            <a:r>
              <a:rPr lang="en-US" sz="2400" baseline="-25000" dirty="0"/>
              <a:t>i</a:t>
            </a:r>
            <a:r>
              <a:rPr lang="en-US" sz="2400" dirty="0"/>
              <a:t>, </a:t>
            </a:r>
            <a:r>
              <a:rPr lang="en-US" sz="2400" i="1" u="sng" dirty="0"/>
              <a:t>while holding all other predictors constant</a:t>
            </a:r>
            <a:r>
              <a:rPr lang="en-US" sz="2400" u="sng" dirty="0"/>
              <a:t>.</a:t>
            </a:r>
          </a:p>
          <a:p>
            <a:pPr lvl="1"/>
            <a:r>
              <a:rPr lang="en-US" dirty="0"/>
              <a:t>Individual t-tests for each coefficient are reported in summary</a:t>
            </a:r>
          </a:p>
          <a:p>
            <a:r>
              <a:rPr lang="en-US" sz="2400" u="sng" dirty="0"/>
              <a:t>R</a:t>
            </a:r>
            <a:r>
              <a:rPr lang="en-US" sz="2400" u="sng" baseline="30000" dirty="0"/>
              <a:t>2</a:t>
            </a:r>
            <a:r>
              <a:rPr lang="en-US" sz="2400" dirty="0"/>
              <a:t>: Proportion of variance in Y that is explained by </a:t>
            </a:r>
            <a:r>
              <a:rPr lang="en-US" sz="2400" i="1" dirty="0"/>
              <a:t>all</a:t>
            </a:r>
            <a:r>
              <a:rPr lang="en-US" sz="2400" dirty="0"/>
              <a:t> independent vars</a:t>
            </a:r>
          </a:p>
          <a:p>
            <a:pPr lvl="1"/>
            <a:r>
              <a:rPr lang="en-US" dirty="0"/>
              <a:t>Use </a:t>
            </a:r>
            <a:r>
              <a:rPr lang="en-US" b="1" dirty="0"/>
              <a:t>adjusted R-sq </a:t>
            </a:r>
            <a:r>
              <a:rPr lang="en-US" dirty="0"/>
              <a:t>because it adjusts for number of predictors (same interpretation) as opposed to regular R</a:t>
            </a:r>
            <a:r>
              <a:rPr lang="en-US" baseline="30000" dirty="0"/>
              <a:t>2 </a:t>
            </a:r>
            <a:r>
              <a:rPr lang="en-US" dirty="0"/>
              <a:t>which always increases in # predictors</a:t>
            </a:r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016807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18710-A465-BA81-03C9-DF3EDE212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772" y="0"/>
            <a:ext cx="11948228" cy="1744394"/>
          </a:xfrm>
        </p:spPr>
        <p:txBody>
          <a:bodyPr>
            <a:normAutofit/>
          </a:bodyPr>
          <a:lstStyle/>
          <a:p>
            <a:r>
              <a:rPr lang="en-US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Example: Regression with two independent/explanatory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99305B-BE4A-1294-1B57-7AB76F19CF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2257" y="1800664"/>
            <a:ext cx="11371385" cy="4712677"/>
          </a:xfrm>
        </p:spPr>
        <p:txBody>
          <a:bodyPr>
            <a:normAutofit fontScale="92500"/>
          </a:bodyPr>
          <a:lstStyle/>
          <a:p>
            <a:r>
              <a:rPr lang="en-US" b="1" dirty="0"/>
              <a:t>Question</a:t>
            </a:r>
            <a:r>
              <a:rPr lang="en-US" dirty="0"/>
              <a:t>: How is math SAT score related to verbal SAT score and class size?</a:t>
            </a:r>
          </a:p>
          <a:p>
            <a:pPr lvl="1"/>
            <a:r>
              <a:rPr lang="en-US" sz="2800" dirty="0"/>
              <a:t>“Regress math SAT score on verbal SAT score and class size” What is your intuition about the nature of the relationships in this model and </a:t>
            </a:r>
            <a:r>
              <a:rPr lang="en-US" sz="2800" i="1" dirty="0"/>
              <a:t>why</a:t>
            </a:r>
            <a:r>
              <a:rPr lang="en-US" sz="2800" dirty="0"/>
              <a:t>?</a:t>
            </a:r>
          </a:p>
          <a:p>
            <a:pPr lvl="1"/>
            <a:r>
              <a:rPr lang="en-US" sz="2800" dirty="0"/>
              <a:t>Intuition: higher verbal scores should mean higher math scores because students who work hard at math probably work hard at other courses</a:t>
            </a:r>
          </a:p>
          <a:p>
            <a:pPr lvl="1"/>
            <a:r>
              <a:rPr lang="en-US" sz="2800" dirty="0"/>
              <a:t>Intuition: bigger class size means lower math SAT scores because students have less opportunity to interact with teachers, etc.</a:t>
            </a:r>
          </a:p>
          <a:p>
            <a:pPr lvl="1"/>
            <a:r>
              <a:rPr lang="en-US" sz="2800" dirty="0"/>
              <a:t>Intuition: Also though, verbal SAT scores should mean larger classes as well, for the same reason.</a:t>
            </a:r>
          </a:p>
          <a:p>
            <a:r>
              <a:rPr lang="en-US" dirty="0"/>
              <a:t>Let’s fit a linear model to find out the relationships (if any!).</a:t>
            </a:r>
          </a:p>
          <a:p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903738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4956A-4673-6BE6-2288-E81E7520C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definitions in the school admissions dataset: </a:t>
            </a:r>
            <a:r>
              <a:rPr lang="en-US" dirty="0" err="1">
                <a:solidFill>
                  <a:srgbClr val="FF0000"/>
                </a:solidFill>
              </a:rPr>
              <a:t>admissions.sav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50B3F4-6978-E7AE-0732-B6034AB13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F581163-09C2-3F27-21E7-CBEF813F7EE5}"/>
              </a:ext>
            </a:extLst>
          </p:cNvPr>
          <p:cNvGrpSpPr/>
          <p:nvPr/>
        </p:nvGrpSpPr>
        <p:grpSpPr>
          <a:xfrm>
            <a:off x="1300078" y="2429690"/>
            <a:ext cx="5967186" cy="3508653"/>
            <a:chOff x="3650343" y="2490847"/>
            <a:chExt cx="5967186" cy="350865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33F46C4-8C92-28E3-4540-149308021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50343" y="2490847"/>
              <a:ext cx="5967186" cy="3148981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02718A6-4579-CB31-B73D-0CCFE3DC9EFF}"/>
                </a:ext>
              </a:extLst>
            </p:cNvPr>
            <p:cNvSpPr txBox="1"/>
            <p:nvPr/>
          </p:nvSpPr>
          <p:spPr>
            <a:xfrm>
              <a:off x="6433455" y="5353169"/>
              <a:ext cx="115932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mr-IN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charset="0"/>
                  <a:ea typeface="Cambria Math" charset="0"/>
                  <a:cs typeface="Cambria Math" charset="0"/>
                </a:rPr>
                <a:t>…</a:t>
              </a:r>
              <a:endPara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 Math" charset="0"/>
                <a:ea typeface="Cambria Math" charset="0"/>
                <a:cs typeface="Cambria Math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2450308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C6BB5D6-04C5-E260-C0AF-9453EBD83A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381" y="1875492"/>
            <a:ext cx="3049588" cy="4449763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C2669F2-441A-BE42-63B4-8D05B3B1CD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29825" y="1690688"/>
            <a:ext cx="2619375" cy="2235200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700C830-3F12-CB84-2EE0-0C0940C126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220" y="4358717"/>
            <a:ext cx="2619375" cy="2143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D7973BA-C681-11A2-C1FE-809CB7D34E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1254" y="1875492"/>
            <a:ext cx="4697413" cy="44497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97062C3-42F9-6B09-759A-A53B84F1D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Analyze </a:t>
            </a:r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Wingdings" panose="05000000000000000000" pitchFamily="2" charset="2"/>
              </a:rPr>
              <a:t> Regression </a:t>
            </a:r>
            <a:endParaRPr lang="en-US" sz="52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FFEF24AC-A503-CDE4-6B63-9A2C354C5AB0}"/>
              </a:ext>
            </a:extLst>
          </p:cNvPr>
          <p:cNvCxnSpPr/>
          <p:nvPr/>
        </p:nvCxnSpPr>
        <p:spPr>
          <a:xfrm rot="5400000">
            <a:off x="1582324" y="3032450"/>
            <a:ext cx="2245712" cy="406822"/>
          </a:xfrm>
          <a:prstGeom prst="bentConnector3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EDAEE45-2D37-449F-491E-AD2B7968CAC3}"/>
              </a:ext>
            </a:extLst>
          </p:cNvPr>
          <p:cNvCxnSpPr>
            <a:cxnSpLocks/>
          </p:cNvCxnSpPr>
          <p:nvPr/>
        </p:nvCxnSpPr>
        <p:spPr>
          <a:xfrm>
            <a:off x="3100595" y="2273643"/>
            <a:ext cx="620786" cy="0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4952A07-65B9-55A4-4CA4-9774DDED4F51}"/>
              </a:ext>
            </a:extLst>
          </p:cNvPr>
          <p:cNvCxnSpPr>
            <a:cxnSpLocks/>
          </p:cNvCxnSpPr>
          <p:nvPr/>
        </p:nvCxnSpPr>
        <p:spPr>
          <a:xfrm>
            <a:off x="3149200" y="2018270"/>
            <a:ext cx="3982054" cy="0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75801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ABA4DB3-FD05-B723-06E3-474472958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5087" y="3284912"/>
            <a:ext cx="6899864" cy="34139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DC1360F-BCED-702C-221B-CBA9ADC5C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you already know…Descriptive Statistics &amp; Relationships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4FE0043-B083-B90C-0020-CDA8823C0F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15778" y="1690688"/>
            <a:ext cx="5656692" cy="1975621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1839507-B939-713D-E1E2-CE6BE1566A65}"/>
              </a:ext>
            </a:extLst>
          </p:cNvPr>
          <p:cNvSpPr/>
          <p:nvPr/>
        </p:nvSpPr>
        <p:spPr>
          <a:xfrm>
            <a:off x="9543011" y="4006734"/>
            <a:ext cx="732728" cy="27432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 w="6600">
                <a:solidFill>
                  <a:srgbClr val="ED7D31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rgbClr val="ED7D31"/>
                </a:outerShdw>
              </a:effectLs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416C2C-BA2E-CFE6-8353-EB75B4F499EE}"/>
              </a:ext>
            </a:extLst>
          </p:cNvPr>
          <p:cNvSpPr txBox="1"/>
          <p:nvPr/>
        </p:nvSpPr>
        <p:spPr>
          <a:xfrm>
            <a:off x="7980218" y="2119745"/>
            <a:ext cx="39635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the correlation between SAT math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and SAT verbal score is .450.</a:t>
            </a:r>
          </a:p>
        </p:txBody>
      </p:sp>
    </p:spTree>
    <p:extLst>
      <p:ext uri="{BB962C8B-B14F-4D97-AF65-F5344CB8AC3E}">
        <p14:creationId xmlns:p14="http://schemas.microsoft.com/office/powerpoint/2010/main" val="2522686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F5566-FE0C-AC6F-3C4C-AAB92A5AA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508" y="109761"/>
            <a:ext cx="10515600" cy="1116723"/>
          </a:xfrm>
        </p:spPr>
        <p:txBody>
          <a:bodyPr/>
          <a:lstStyle/>
          <a:p>
            <a:r>
              <a:rPr lang="en-US" dirty="0"/>
              <a:t>What you already know…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5040A5D-6020-F88B-6652-55B394C6E2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3961" y="1740160"/>
            <a:ext cx="8290226" cy="227939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FC3562C-57CC-F9F2-DE49-7226C5CC6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961" y="3911629"/>
            <a:ext cx="8191372" cy="270469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F6F0A9E-153A-0183-3DFA-7F76CFF99C0E}"/>
              </a:ext>
            </a:extLst>
          </p:cNvPr>
          <p:cNvSpPr/>
          <p:nvPr/>
        </p:nvSpPr>
        <p:spPr>
          <a:xfrm>
            <a:off x="6412901" y="4502392"/>
            <a:ext cx="2162432" cy="8155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128D8A-C608-7E74-94CA-551AB9A7EDAA}"/>
              </a:ext>
            </a:extLst>
          </p:cNvPr>
          <p:cNvSpPr txBox="1"/>
          <p:nvPr/>
        </p:nvSpPr>
        <p:spPr>
          <a:xfrm>
            <a:off x="8671377" y="4763940"/>
            <a:ext cx="29785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Small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p-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value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Wingdings" panose="05000000000000000000" pitchFamily="2" charset="2"/>
              </a:rPr>
              <a:t> the model is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Wingdings" panose="05000000000000000000" pitchFamily="2" charset="2"/>
              </a:rPr>
              <a:t>significant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40FA1C-CDC9-3995-53E5-F25CC67C57FB}"/>
              </a:ext>
            </a:extLst>
          </p:cNvPr>
          <p:cNvSpPr txBox="1"/>
          <p:nvPr/>
        </p:nvSpPr>
        <p:spPr>
          <a:xfrm>
            <a:off x="275967" y="1226484"/>
            <a:ext cx="360996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independent variables are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moderately to highly correlated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dependent variable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= .476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8E876C-FF54-44F6-3042-44FC74DCB807}"/>
              </a:ext>
            </a:extLst>
          </p:cNvPr>
          <p:cNvSpPr txBox="1"/>
          <p:nvPr/>
        </p:nvSpPr>
        <p:spPr>
          <a:xfrm>
            <a:off x="8674187" y="255075"/>
            <a:ext cx="267714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22.7% of the variation in MATH SAT scores is explained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by the independent variables (Class size and Verbal SAT)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This means about 87% remains unexplained (an indication that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there are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variables omitted from the model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that are important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to explain MATH SAT scores)</a:t>
            </a:r>
          </a:p>
        </p:txBody>
      </p:sp>
    </p:spTree>
    <p:extLst>
      <p:ext uri="{BB962C8B-B14F-4D97-AF65-F5344CB8AC3E}">
        <p14:creationId xmlns:p14="http://schemas.microsoft.com/office/powerpoint/2010/main" val="2356823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F5566-FE0C-AC6F-3C4C-AAB92A5AA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508" y="109761"/>
            <a:ext cx="10515600" cy="1116723"/>
          </a:xfrm>
        </p:spPr>
        <p:txBody>
          <a:bodyPr/>
          <a:lstStyle/>
          <a:p>
            <a:r>
              <a:rPr lang="en-US" dirty="0"/>
              <a:t>What’s new …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5040A5D-6020-F88B-6652-55B394C6E2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83961" y="1740160"/>
            <a:ext cx="8290226" cy="227939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FC3562C-57CC-F9F2-DE49-7226C5CC6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961" y="3911629"/>
            <a:ext cx="8191372" cy="270469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F6F0A9E-153A-0183-3DFA-7F76CFF99C0E}"/>
              </a:ext>
            </a:extLst>
          </p:cNvPr>
          <p:cNvSpPr/>
          <p:nvPr/>
        </p:nvSpPr>
        <p:spPr>
          <a:xfrm>
            <a:off x="6412901" y="4502392"/>
            <a:ext cx="2162432" cy="8155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128D8A-C608-7E74-94CA-551AB9A7EDAA}"/>
              </a:ext>
            </a:extLst>
          </p:cNvPr>
          <p:cNvSpPr txBox="1"/>
          <p:nvPr/>
        </p:nvSpPr>
        <p:spPr>
          <a:xfrm>
            <a:off x="8671377" y="4763940"/>
            <a:ext cx="29785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Small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p-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value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Wingdings" panose="05000000000000000000" pitchFamily="2" charset="2"/>
              </a:rPr>
              <a:t> the model is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Wingdings" panose="05000000000000000000" pitchFamily="2" charset="2"/>
              </a:rPr>
              <a:t>significant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FAE217B-1CEF-5584-05E7-811921B5165A}"/>
                  </a:ext>
                </a:extLst>
              </p:cNvPr>
              <p:cNvSpPr txBox="1"/>
              <p:nvPr/>
            </p:nvSpPr>
            <p:spPr>
              <a:xfrm>
                <a:off x="8215337" y="5348653"/>
                <a:ext cx="2421771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𝐻</m:t>
                        </m:r>
                      </m:e>
                      <m:sub>
                        <m: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𝑜</m:t>
                        </m:r>
                      </m:sub>
                    </m:sSub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: </m:t>
                    </m:r>
                    <m:sSub>
                      <m:sSubPr>
                        <m:ctrlP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𝛽</m:t>
                        </m:r>
                      </m:e>
                      <m:sub>
                        <m: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</a:t>
                </a:r>
                <a:r>
                  <a:rPr kumimoji="0" lang="en-US" sz="1800" b="0" i="0" u="sng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and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𝛽</m:t>
                        </m:r>
                      </m:e>
                      <m:sub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= 0</a:t>
                </a:r>
              </a:p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𝐻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:</m:t>
                      </m:r>
                      <m:r>
                        <m:rPr>
                          <m:sty m:val="p"/>
                        </m:rPr>
                        <a:rPr kumimoji="0" lang="en-US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at</m:t>
                      </m:r>
                      <m:r>
                        <a:rPr kumimoji="0" lang="en-US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</m:t>
                      </m:r>
                      <m:r>
                        <m:rPr>
                          <m:sty m:val="p"/>
                        </m:rPr>
                        <a:rPr kumimoji="0" lang="en-US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least</m:t>
                      </m:r>
                      <m:r>
                        <a:rPr kumimoji="0" lang="en-US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</m:t>
                      </m:r>
                      <m:r>
                        <m:rPr>
                          <m:sty m:val="p"/>
                        </m:rPr>
                        <a:rPr kumimoji="0" lang="en-US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one</m:t>
                      </m:r>
                      <m:r>
                        <a:rPr kumimoji="0" lang="en-US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𝛽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m:rPr>
                          <m:sty m:val="p"/>
                        </m:rPr>
                        <a:rPr kumimoji="0" lang="en-US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is</m:t>
                      </m:r>
                      <m:r>
                        <a:rPr kumimoji="0" lang="en-US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m:rPr>
                          <m:sty m:val="p"/>
                        </m:rPr>
                        <a:rPr kumimoji="0" lang="en-US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not</m:t>
                      </m:r>
                      <m:r>
                        <a:rPr kumimoji="0" lang="en-US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0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FAE217B-1CEF-5584-05E7-811921B516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5337" y="5348653"/>
                <a:ext cx="2421771" cy="646331"/>
              </a:xfrm>
              <a:prstGeom prst="rect">
                <a:avLst/>
              </a:prstGeom>
              <a:blipFill>
                <a:blip r:embed="rId5"/>
                <a:stretch>
                  <a:fillRect t="-4717" r="-26196" b="-7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9EA953A5-1556-FB31-A008-9441B5BD9D52}"/>
              </a:ext>
            </a:extLst>
          </p:cNvPr>
          <p:cNvSpPr txBox="1"/>
          <p:nvPr/>
        </p:nvSpPr>
        <p:spPr>
          <a:xfrm>
            <a:off x="8671377" y="6025699"/>
            <a:ext cx="32265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We conclude that at least one of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slopes is not equal to 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EF2B34-788C-2BFC-3077-B34D0C089A83}"/>
              </a:ext>
            </a:extLst>
          </p:cNvPr>
          <p:cNvSpPr txBox="1"/>
          <p:nvPr/>
        </p:nvSpPr>
        <p:spPr>
          <a:xfrm>
            <a:off x="8990852" y="215680"/>
            <a:ext cx="267714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more predictors you have in the model the lower the sum of squared residuals, the higher R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indicating the better prediction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Adjusted R2 accounts for the number of parameters in the model (incurs a penalty for each additional variable)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C87E99-9F52-3F25-A695-CA7D16467C3F}"/>
              </a:ext>
            </a:extLst>
          </p:cNvPr>
          <p:cNvSpPr/>
          <p:nvPr/>
        </p:nvSpPr>
        <p:spPr>
          <a:xfrm>
            <a:off x="3558746" y="2252729"/>
            <a:ext cx="1754659" cy="100945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E06244-1C88-2488-4751-6E603AABB4F0}"/>
              </a:ext>
            </a:extLst>
          </p:cNvPr>
          <p:cNvSpPr/>
          <p:nvPr/>
        </p:nvSpPr>
        <p:spPr>
          <a:xfrm>
            <a:off x="6916718" y="2280831"/>
            <a:ext cx="1754659" cy="100945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32ECDE-E519-44B1-BD93-1E107EDE8729}"/>
              </a:ext>
            </a:extLst>
          </p:cNvPr>
          <p:cNvSpPr txBox="1"/>
          <p:nvPr/>
        </p:nvSpPr>
        <p:spPr>
          <a:xfrm>
            <a:off x="4264235" y="595510"/>
            <a:ext cx="35298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Durbin-Watson = 2 meaning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error term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may be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independent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5557851-E767-CA72-1A57-01EF5F164020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6029141" y="1241841"/>
            <a:ext cx="1764907" cy="10389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963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4" grpId="0"/>
      <p:bldP spid="17" grpId="0"/>
      <p:bldP spid="3" grpId="0"/>
      <p:bldP spid="5" grpId="0" animBg="1"/>
      <p:bldP spid="6" grpId="0" animBg="1"/>
      <p:bldP spid="7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AC160-FF3D-AD64-E8F1-67D40EC48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new…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C3FBB4-FCF4-188B-4295-4FBD2828F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3343" y="2193604"/>
            <a:ext cx="10249464" cy="2353682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04E514-62D5-2CD8-1B08-BC01852A8AFB}"/>
                  </a:ext>
                </a:extLst>
              </p:cNvPr>
              <p:cNvSpPr txBox="1"/>
              <p:nvPr/>
            </p:nvSpPr>
            <p:spPr>
              <a:xfrm>
                <a:off x="2332337" y="4547286"/>
                <a:ext cx="325291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𝑦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 </m:t>
                      </m:r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0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+…+</m:t>
                      </m:r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+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𝜀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04E514-62D5-2CD8-1B08-BC01852A8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2337" y="4547286"/>
                <a:ext cx="3252916" cy="369332"/>
              </a:xfrm>
              <a:prstGeom prst="rect">
                <a:avLst/>
              </a:prstGeom>
              <a:blipFill>
                <a:blip r:embed="rId3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3A403BEF-721D-2470-B4E3-C2ED285E6E76}"/>
              </a:ext>
            </a:extLst>
          </p:cNvPr>
          <p:cNvSpPr txBox="1"/>
          <p:nvPr/>
        </p:nvSpPr>
        <p:spPr>
          <a:xfrm>
            <a:off x="420130" y="4547286"/>
            <a:ext cx="2007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Recall the model is: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971C13-3394-8A19-9AA2-3AFED733F571}"/>
              </a:ext>
            </a:extLst>
          </p:cNvPr>
          <p:cNvSpPr txBox="1"/>
          <p:nvPr/>
        </p:nvSpPr>
        <p:spPr>
          <a:xfrm>
            <a:off x="5542125" y="4547286"/>
            <a:ext cx="1468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Here,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k =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Wingdings" panose="05000000000000000000" pitchFamily="2" charset="2"/>
              </a:rPr>
              <a:t>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3FC75C8-D6E6-287F-1CF7-35E3C2DF0BE4}"/>
                  </a:ext>
                </a:extLst>
              </p:cNvPr>
              <p:cNvSpPr txBox="1"/>
              <p:nvPr/>
            </p:nvSpPr>
            <p:spPr>
              <a:xfrm>
                <a:off x="6657201" y="4522572"/>
                <a:ext cx="325291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𝑦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 </m:t>
                      </m:r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0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+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𝜀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3FC75C8-D6E6-287F-1CF7-35E3C2DF0B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7201" y="4522572"/>
                <a:ext cx="3252916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DC0E6B87-027F-C28F-B40C-5035410A9EA0}"/>
              </a:ext>
            </a:extLst>
          </p:cNvPr>
          <p:cNvSpPr txBox="1"/>
          <p:nvPr/>
        </p:nvSpPr>
        <p:spPr>
          <a:xfrm>
            <a:off x="454110" y="4916618"/>
            <a:ext cx="6913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 SAT Score = 314.147 + .449VERBAL_SAT(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+ .060CLASS_SIZE(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B0A8A0-14B1-EDBF-4EAF-3133317B7DFB}"/>
              </a:ext>
            </a:extLst>
          </p:cNvPr>
          <p:cNvSpPr/>
          <p:nvPr/>
        </p:nvSpPr>
        <p:spPr>
          <a:xfrm>
            <a:off x="6405432" y="3282995"/>
            <a:ext cx="1878227" cy="56841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CE4B3CA-63A6-1F4D-C77D-7AF95D5BA80D}"/>
              </a:ext>
            </a:extLst>
          </p:cNvPr>
          <p:cNvSpPr/>
          <p:nvPr/>
        </p:nvSpPr>
        <p:spPr>
          <a:xfrm>
            <a:off x="8315596" y="3647710"/>
            <a:ext cx="2587211" cy="56841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CA9E29B-D9F4-DE0B-D59B-FFD697ACA5A3}"/>
              </a:ext>
            </a:extLst>
          </p:cNvPr>
          <p:cNvCxnSpPr>
            <a:cxnSpLocks/>
            <a:stCxn id="15" idx="2"/>
            <a:endCxn id="18" idx="0"/>
          </p:cNvCxnSpPr>
          <p:nvPr/>
        </p:nvCxnSpPr>
        <p:spPr>
          <a:xfrm>
            <a:off x="9609202" y="4216121"/>
            <a:ext cx="1284339" cy="14309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99C8F56-4B8F-4C35-D509-B9B0A8B06465}"/>
              </a:ext>
            </a:extLst>
          </p:cNvPr>
          <p:cNvSpPr txBox="1"/>
          <p:nvPr/>
        </p:nvSpPr>
        <p:spPr>
          <a:xfrm>
            <a:off x="9844632" y="5647038"/>
            <a:ext cx="20978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Confidence intervals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 the coefficients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83775D8-93B5-1BE1-8D00-B1EE3DE54E9E}"/>
              </a:ext>
            </a:extLst>
          </p:cNvPr>
          <p:cNvSpPr/>
          <p:nvPr/>
        </p:nvSpPr>
        <p:spPr>
          <a:xfrm>
            <a:off x="5013752" y="3316545"/>
            <a:ext cx="1346887" cy="8810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D855672-4C87-FED2-321A-5073F1D0F3F3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579196" y="1197802"/>
            <a:ext cx="2249346" cy="950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B32319E-F395-EB36-B5C9-6CEC65EE152C}"/>
              </a:ext>
            </a:extLst>
          </p:cNvPr>
          <p:cNvSpPr txBox="1"/>
          <p:nvPr/>
        </p:nvSpPr>
        <p:spPr>
          <a:xfrm>
            <a:off x="7828542" y="43640"/>
            <a:ext cx="371011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This is the standardized beta coefficient. This statistic puts the coefficients on the same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“footing” and hence it can be used to compare the strength of the coefficients, indicating which variable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is more meaningfully related to the dependent variable.</a:t>
            </a:r>
          </a:p>
        </p:txBody>
      </p:sp>
    </p:spTree>
    <p:extLst>
      <p:ext uri="{BB962C8B-B14F-4D97-AF65-F5344CB8AC3E}">
        <p14:creationId xmlns:p14="http://schemas.microsoft.com/office/powerpoint/2010/main" val="2631895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 animBg="1"/>
      <p:bldP spid="15" grpId="0" animBg="1"/>
      <p:bldP spid="18" grpId="0"/>
      <p:bldP spid="20" grpId="0" animBg="1"/>
      <p:bldP spid="23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AC160-FF3D-AD64-E8F1-67D40EC48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new…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C3FBB4-FCF4-188B-4295-4FBD2828F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19363" y="3370445"/>
            <a:ext cx="10249464" cy="2353682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04E514-62D5-2CD8-1B08-BC01852A8AFB}"/>
                  </a:ext>
                </a:extLst>
              </p:cNvPr>
              <p:cNvSpPr txBox="1"/>
              <p:nvPr/>
            </p:nvSpPr>
            <p:spPr>
              <a:xfrm>
                <a:off x="2298357" y="5724127"/>
                <a:ext cx="325291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𝑦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 </m:t>
                      </m:r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0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+…+</m:t>
                      </m:r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+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𝜀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04E514-62D5-2CD8-1B08-BC01852A8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8357" y="5724127"/>
                <a:ext cx="325291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3A403BEF-721D-2470-B4E3-C2ED285E6E76}"/>
              </a:ext>
            </a:extLst>
          </p:cNvPr>
          <p:cNvSpPr txBox="1"/>
          <p:nvPr/>
        </p:nvSpPr>
        <p:spPr>
          <a:xfrm>
            <a:off x="393974" y="5724127"/>
            <a:ext cx="2007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Recall the model is: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971C13-3394-8A19-9AA2-3AFED733F571}"/>
              </a:ext>
            </a:extLst>
          </p:cNvPr>
          <p:cNvSpPr txBox="1"/>
          <p:nvPr/>
        </p:nvSpPr>
        <p:spPr>
          <a:xfrm>
            <a:off x="5508145" y="5724127"/>
            <a:ext cx="1468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Here,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k =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Wingdings" panose="05000000000000000000" pitchFamily="2" charset="2"/>
              </a:rPr>
              <a:t>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3FC75C8-D6E6-287F-1CF7-35E3C2DF0BE4}"/>
                  </a:ext>
                </a:extLst>
              </p:cNvPr>
              <p:cNvSpPr txBox="1"/>
              <p:nvPr/>
            </p:nvSpPr>
            <p:spPr>
              <a:xfrm>
                <a:off x="6623221" y="5699413"/>
                <a:ext cx="325291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𝑦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 </m:t>
                      </m:r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0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𝛽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+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𝜀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3FC75C8-D6E6-287F-1CF7-35E3C2DF0B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3221" y="5699413"/>
                <a:ext cx="3252916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DC0E6B87-027F-C28F-B40C-5035410A9EA0}"/>
              </a:ext>
            </a:extLst>
          </p:cNvPr>
          <p:cNvSpPr txBox="1"/>
          <p:nvPr/>
        </p:nvSpPr>
        <p:spPr>
          <a:xfrm>
            <a:off x="420130" y="6093459"/>
            <a:ext cx="6913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 SAT Score = 314.147 + .449VERBAL_SAT(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+ .060CLASS_SIZE(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B0A8A0-14B1-EDBF-4EAF-3133317B7DFB}"/>
              </a:ext>
            </a:extLst>
          </p:cNvPr>
          <p:cNvSpPr/>
          <p:nvPr/>
        </p:nvSpPr>
        <p:spPr>
          <a:xfrm>
            <a:off x="1068736" y="4522574"/>
            <a:ext cx="2856079" cy="8322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CA9E29B-D9F4-DE0B-D59B-FFD697ACA5A3}"/>
              </a:ext>
            </a:extLst>
          </p:cNvPr>
          <p:cNvCxnSpPr>
            <a:cxnSpLocks/>
            <a:stCxn id="14" idx="3"/>
            <a:endCxn id="18" idx="1"/>
          </p:cNvCxnSpPr>
          <p:nvPr/>
        </p:nvCxnSpPr>
        <p:spPr>
          <a:xfrm flipV="1">
            <a:off x="3924815" y="1952450"/>
            <a:ext cx="3408940" cy="29862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99C8F56-4B8F-4C35-D509-B9B0A8B06465}"/>
              </a:ext>
            </a:extLst>
          </p:cNvPr>
          <p:cNvSpPr txBox="1"/>
          <p:nvPr/>
        </p:nvSpPr>
        <p:spPr>
          <a:xfrm>
            <a:off x="7333755" y="382789"/>
            <a:ext cx="467701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Notice there are now multiple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independent variables in the model.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This means that the effect of one variable on Y needs to be interpreted slightly different. The slope of a variable now represents the effect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after all other variables in the model are controlled.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Every 1 unit increase in SAT verbal score increases the MATH verbal score by .449 </a:t>
            </a:r>
            <a:r>
              <a:rPr kumimoji="0" lang="en-US" sz="1800" b="0" i="1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holding class size constant at its mean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20B565-DC7B-E50D-BD7E-BD506CD3657E}"/>
              </a:ext>
            </a:extLst>
          </p:cNvPr>
          <p:cNvSpPr/>
          <p:nvPr/>
        </p:nvSpPr>
        <p:spPr>
          <a:xfrm>
            <a:off x="3192087" y="4804756"/>
            <a:ext cx="732728" cy="27432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 w="6600">
                <a:solidFill>
                  <a:srgbClr val="ED7D31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rgbClr val="ED7D31"/>
                </a:outerShdw>
              </a:effectLs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6DFDFE-F327-2288-3D7C-E865BACF8F25}"/>
              </a:ext>
            </a:extLst>
          </p:cNvPr>
          <p:cNvSpPr txBox="1"/>
          <p:nvPr/>
        </p:nvSpPr>
        <p:spPr>
          <a:xfrm>
            <a:off x="420130" y="1649704"/>
            <a:ext cx="524083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the relationship (i.e., correlation) between SAT math score and SAT verbal score is .449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after controlling for class size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 That is, after the effect of class size is removed from the relationship between SAT and MATH score.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2DC8037-19AC-909E-1B01-5A590EB4FA7E}"/>
              </a:ext>
            </a:extLst>
          </p:cNvPr>
          <p:cNvCxnSpPr>
            <a:cxnSpLocks/>
            <a:stCxn id="3" idx="3"/>
            <a:endCxn id="4" idx="2"/>
          </p:cNvCxnSpPr>
          <p:nvPr/>
        </p:nvCxnSpPr>
        <p:spPr>
          <a:xfrm flipH="1" flipV="1">
            <a:off x="3040549" y="3127032"/>
            <a:ext cx="884266" cy="18148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771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3" grpId="0" animBg="1"/>
      <p:bldP spid="4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F58F6-6541-DE84-3B0F-06D253231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217" y="265104"/>
            <a:ext cx="10515600" cy="646331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sz="5400" dirty="0"/>
              <a:t>What is new…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797939-C673-CA02-7419-7D54AA70E64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245" r="20332"/>
          <a:stretch/>
        </p:blipFill>
        <p:spPr>
          <a:xfrm>
            <a:off x="197945" y="1709283"/>
            <a:ext cx="3797536" cy="3315866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614FC5A-B640-7639-5AB7-8412D6D417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r="12946"/>
          <a:stretch/>
        </p:blipFill>
        <p:spPr>
          <a:xfrm>
            <a:off x="4197232" y="1832850"/>
            <a:ext cx="3797536" cy="31922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7350946-8693-0138-9581-8B7C9D7B119F}"/>
              </a:ext>
            </a:extLst>
          </p:cNvPr>
          <p:cNvSpPr txBox="1"/>
          <p:nvPr/>
        </p:nvSpPr>
        <p:spPr>
          <a:xfrm>
            <a:off x="8342545" y="5341410"/>
            <a:ext cx="37975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 funnel shape (increasing variance)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 much of a curvilinear pattern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Wingdings" panose="05000000000000000000" pitchFamily="2" charset="2"/>
              </a:rPr>
              <a:t> </a:t>
            </a:r>
            <a:r>
              <a:rPr kumimoji="0" lang="en-US" sz="1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Wingdings" panose="05000000000000000000" pitchFamily="2" charset="2"/>
              </a:rPr>
              <a:t>Linearity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Wingdings" panose="05000000000000000000" pitchFamily="2" charset="2"/>
              </a:rPr>
              <a:t> and </a:t>
            </a:r>
            <a:r>
              <a:rPr kumimoji="0" lang="en-US" sz="1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Wingdings" panose="05000000000000000000" pitchFamily="2" charset="2"/>
              </a:rPr>
              <a:t>Equal Variance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Wingdings" panose="05000000000000000000" pitchFamily="2" charset="2"/>
              </a:rPr>
              <a:t>assumptions are reasonably satisfied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541CAB-EF9E-0FDB-4311-F28C0B587F19}"/>
              </a:ext>
            </a:extLst>
          </p:cNvPr>
          <p:cNvSpPr txBox="1"/>
          <p:nvPr/>
        </p:nvSpPr>
        <p:spPr>
          <a:xfrm>
            <a:off x="8835080" y="1285757"/>
            <a:ext cx="33538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Linear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+ </a:t>
            </a:r>
            <a:r>
              <a:rPr kumimoji="0" lang="en-US" sz="1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Constant Variance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Check Residuals v Fitted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35B954C-327E-5F7A-7339-ED19E23A8B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119" y="2064638"/>
            <a:ext cx="3596074" cy="2960511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A7C84B4C-28E7-2F3E-D789-02536C6CFACB}"/>
              </a:ext>
            </a:extLst>
          </p:cNvPr>
          <p:cNvSpPr txBox="1"/>
          <p:nvPr/>
        </p:nvSpPr>
        <p:spPr>
          <a:xfrm>
            <a:off x="1165817" y="5244668"/>
            <a:ext cx="609805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Normality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of Errors –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qqplot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of residuals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is very close to line that represents a normal distribution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è"/>
              <a:tabLst/>
              <a:defRPr/>
            </a:pPr>
            <a:r>
              <a:rPr kumimoji="0" lang="en-US" sz="1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Wingdings" panose="05000000000000000000" pitchFamily="2" charset="2"/>
              </a:rPr>
              <a:t>Normality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Wingdings" panose="05000000000000000000" pitchFamily="2" charset="2"/>
              </a:rPr>
              <a:t> assumption satisfied</a:t>
            </a:r>
          </a:p>
        </p:txBody>
      </p:sp>
    </p:spTree>
    <p:extLst>
      <p:ext uri="{BB962C8B-B14F-4D97-AF65-F5344CB8AC3E}">
        <p14:creationId xmlns:p14="http://schemas.microsoft.com/office/powerpoint/2010/main" val="169319084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E9482-C1C2-FBEE-5C0A-F673E2D20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ended 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A5D78-7458-1805-9608-25B3CD7D6B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Intuition: create a plot of the standardized residuals by standardized predicted values on your own</a:t>
            </a:r>
          </a:p>
        </p:txBody>
      </p:sp>
    </p:spTree>
    <p:extLst>
      <p:ext uri="{BB962C8B-B14F-4D97-AF65-F5344CB8AC3E}">
        <p14:creationId xmlns:p14="http://schemas.microsoft.com/office/powerpoint/2010/main" val="135231594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0BCFC07-861A-DF9E-3D6B-5F6C01E2B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97" y="102740"/>
            <a:ext cx="4344006" cy="641122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3E93BF3-4279-0C81-B8E2-08C522A34CF0}"/>
              </a:ext>
            </a:extLst>
          </p:cNvPr>
          <p:cNvSpPr/>
          <p:nvPr/>
        </p:nvSpPr>
        <p:spPr>
          <a:xfrm>
            <a:off x="323850" y="431800"/>
            <a:ext cx="3797300" cy="7810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D53A640-BA7C-176A-91C1-03141C0ABD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5013"/>
          <a:stretch/>
        </p:blipFill>
        <p:spPr>
          <a:xfrm>
            <a:off x="6226548" y="412638"/>
            <a:ext cx="5641602" cy="800212"/>
          </a:xfrm>
          <a:prstGeom prst="rect">
            <a:avLst/>
          </a:prstGeom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D58F4FE5-0418-243B-6415-C34C0AD26898}"/>
              </a:ext>
            </a:extLst>
          </p:cNvPr>
          <p:cNvSpPr/>
          <p:nvPr/>
        </p:nvSpPr>
        <p:spPr>
          <a:xfrm>
            <a:off x="4369699" y="598811"/>
            <a:ext cx="1610315" cy="5097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4806B0D-5DCB-A7A7-5428-217B0D4117F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75" t="2308"/>
          <a:stretch/>
        </p:blipFill>
        <p:spPr>
          <a:xfrm>
            <a:off x="6537654" y="2459978"/>
            <a:ext cx="5019390" cy="2764007"/>
          </a:xfrm>
          <a:prstGeom prst="rect">
            <a:avLst/>
          </a:prstGeom>
        </p:spPr>
      </p:pic>
      <p:sp>
        <p:nvSpPr>
          <p:cNvPr id="14" name="Arrow: Down 13">
            <a:extLst>
              <a:ext uri="{FF2B5EF4-FFF2-40B4-BE49-F238E27FC236}">
                <a16:creationId xmlns:a16="http://schemas.microsoft.com/office/drawing/2014/main" id="{EDBE6DB9-8C2B-F7FE-28A1-E003459EE151}"/>
              </a:ext>
            </a:extLst>
          </p:cNvPr>
          <p:cNvSpPr/>
          <p:nvPr/>
        </p:nvSpPr>
        <p:spPr>
          <a:xfrm>
            <a:off x="8917423" y="1367554"/>
            <a:ext cx="517890" cy="8002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662CA0-22B0-7656-6C5F-01854D739D98}"/>
              </a:ext>
            </a:extLst>
          </p:cNvPr>
          <p:cNvSpPr txBox="1"/>
          <p:nvPr/>
        </p:nvSpPr>
        <p:spPr>
          <a:xfrm>
            <a:off x="6842387" y="5490446"/>
            <a:ext cx="2847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620 = 582.33131 + 37.6686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D1C595F-6A25-431D-241A-44AC8E7DC63D}"/>
              </a:ext>
            </a:extLst>
          </p:cNvPr>
          <p:cNvSpPr/>
          <p:nvPr/>
        </p:nvSpPr>
        <p:spPr>
          <a:xfrm>
            <a:off x="6740665" y="2759384"/>
            <a:ext cx="3050698" cy="38841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E9317B7-8C67-3B01-96D3-AB4F7C4BF7A7}"/>
              </a:ext>
            </a:extLst>
          </p:cNvPr>
          <p:cNvCxnSpPr>
            <a:stCxn id="16" idx="4"/>
            <a:endCxn id="15" idx="0"/>
          </p:cNvCxnSpPr>
          <p:nvPr/>
        </p:nvCxnSpPr>
        <p:spPr>
          <a:xfrm>
            <a:off x="8266014" y="3147802"/>
            <a:ext cx="0" cy="23426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097330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C1150D8-87C3-C997-623A-22C3BEDE6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416" y="322571"/>
            <a:ext cx="6283765" cy="344831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0A41307-B9E2-4411-65B5-18C591EDA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880" y="4496237"/>
            <a:ext cx="5820587" cy="1371791"/>
          </a:xfrm>
          <a:prstGeom prst="rect">
            <a:avLst/>
          </a:prstGeom>
        </p:spPr>
      </p:pic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E9C4DE71-0C65-9B6B-4621-737218ECAFF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9888784"/>
              </p:ext>
            </p:extLst>
          </p:nvPr>
        </p:nvGraphicFramePr>
        <p:xfrm>
          <a:off x="6918691" y="226478"/>
          <a:ext cx="4928049" cy="330974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9EE412DC-2ED3-DD39-7A71-60790A9355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1172" y="3679853"/>
            <a:ext cx="4062412" cy="2395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97587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E2213-512B-D5A6-E69A-8BD48DC6B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(aside): part and partial correlation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B5D4D5-8834-E011-345D-DD30E12337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95512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lang="en-US" dirty="0"/>
              <a:t>Partial correlation: the correlation between an independent variable and a dependent variable after controlling for the influence of other variables on </a:t>
            </a:r>
            <a:r>
              <a:rPr lang="en-US" b="1" u="sng" dirty="0"/>
              <a:t>both</a:t>
            </a:r>
            <a:r>
              <a:rPr lang="en-US" dirty="0"/>
              <a:t> the independent and dependent variable</a:t>
            </a:r>
          </a:p>
          <a:p>
            <a:pPr lvl="1">
              <a:lnSpc>
                <a:spcPct val="120000"/>
              </a:lnSpc>
            </a:pPr>
            <a:r>
              <a:rPr lang="en-US" b="1" dirty="0"/>
              <a:t>Example</a:t>
            </a:r>
            <a:r>
              <a:rPr lang="en-US" dirty="0"/>
              <a:t>: regress MATH SAT score on VERBAL SAT score and class size – for partial correlation, the influence of class size on both MATH and VERBAL SAT score is taken into consideration. 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This means that the partial correlation between VERBAL SAT score and MATH SAT score considers the impact of class size on both VERBAL and MATH SAT score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This is the idea of ‘partialing’ out in regression</a:t>
            </a:r>
          </a:p>
          <a:p>
            <a:pPr>
              <a:lnSpc>
                <a:spcPct val="120000"/>
              </a:lnSpc>
            </a:pPr>
            <a:r>
              <a:rPr lang="en-US" dirty="0"/>
              <a:t>Part (semi-partial) correlation: the correlation between an independent and dependent variable after controlling for the influence of other variables </a:t>
            </a:r>
            <a:r>
              <a:rPr lang="en-US" b="1" u="sng" dirty="0"/>
              <a:t>only on the independent variable</a:t>
            </a:r>
          </a:p>
          <a:p>
            <a:pPr lvl="1">
              <a:lnSpc>
                <a:spcPct val="120000"/>
              </a:lnSpc>
            </a:pPr>
            <a:r>
              <a:rPr lang="en-US" b="1" dirty="0"/>
              <a:t>Example</a:t>
            </a:r>
            <a:r>
              <a:rPr lang="en-US" dirty="0"/>
              <a:t>: the part correlation above only considers the impact of class size on VERBAL SAT score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This is nice if you want to assess how much unique variance CLASS SIZE explains in relation to the total variance in MATH SAT score</a:t>
            </a:r>
          </a:p>
        </p:txBody>
      </p:sp>
    </p:spTree>
    <p:extLst>
      <p:ext uri="{BB962C8B-B14F-4D97-AF65-F5344CB8AC3E}">
        <p14:creationId xmlns:p14="http://schemas.microsoft.com/office/powerpoint/2010/main" val="2905518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57A2E-43B6-8C8F-025B-8B96A61D9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Partial Correlation, i.e. ‘</a:t>
            </a:r>
            <a:r>
              <a:rPr lang="en-US" dirty="0" err="1"/>
              <a:t>partialling</a:t>
            </a:r>
            <a:r>
              <a:rPr lang="en-US" dirty="0"/>
              <a:t> out’ AKA ‘controlling for’… (this is the relationship that holds for all values of class size)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FC37B28-2CEE-1ABA-0C5C-A1F96277F7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0901" y="1789746"/>
            <a:ext cx="7675123" cy="4954660"/>
          </a:xfrm>
        </p:spPr>
      </p:pic>
    </p:spTree>
    <p:extLst>
      <p:ext uri="{BB962C8B-B14F-4D97-AF65-F5344CB8AC3E}">
        <p14:creationId xmlns:p14="http://schemas.microsoft.com/office/powerpoint/2010/main" val="398588162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" y="190196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What is MLR and how does it work?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5807" y="1515759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Two or more predictor variables and one criterion variable</a:t>
            </a:r>
          </a:p>
          <a:p>
            <a:r>
              <a:rPr lang="en-US" dirty="0"/>
              <a:t>Additional variables are incorporated via partial and semipartial correlations</a:t>
            </a:r>
          </a:p>
          <a:p>
            <a:r>
              <a:rPr lang="en-US" dirty="0"/>
              <a:t>Partial correlation</a:t>
            </a:r>
          </a:p>
          <a:p>
            <a:pPr lvl="1"/>
            <a:r>
              <a:rPr lang="en-US" dirty="0"/>
              <a:t>As a three-variable example, represents the linear relationship between </a:t>
            </a:r>
            <a:r>
              <a:rPr lang="en-US" i="1" dirty="0"/>
              <a:t>X</a:t>
            </a:r>
            <a:r>
              <a:rPr lang="en-US" baseline="-25000" dirty="0"/>
              <a:t>1</a:t>
            </a:r>
            <a:r>
              <a:rPr lang="en-US" dirty="0"/>
              <a:t> and </a:t>
            </a:r>
            <a:r>
              <a:rPr lang="en-US" i="1" dirty="0"/>
              <a:t>X</a:t>
            </a:r>
            <a:r>
              <a:rPr lang="en-US" baseline="-25000" dirty="0"/>
              <a:t>2</a:t>
            </a:r>
            <a:r>
              <a:rPr lang="en-US" dirty="0"/>
              <a:t> independent of the linear influence of </a:t>
            </a:r>
            <a:r>
              <a:rPr lang="en-US" i="1" dirty="0"/>
              <a:t>X</a:t>
            </a:r>
            <a:r>
              <a:rPr lang="en-US" baseline="-25000" dirty="0"/>
              <a:t>3</a:t>
            </a:r>
          </a:p>
          <a:p>
            <a:r>
              <a:rPr lang="en-US" dirty="0"/>
              <a:t>Semipartial (part) correlation</a:t>
            </a:r>
          </a:p>
          <a:p>
            <a:pPr lvl="1"/>
            <a:r>
              <a:rPr lang="en-US" dirty="0"/>
              <a:t>Linear relationship between </a:t>
            </a:r>
            <a:r>
              <a:rPr lang="en-US" i="1" dirty="0"/>
              <a:t>X</a:t>
            </a:r>
            <a:r>
              <a:rPr lang="en-US" baseline="-25000" dirty="0"/>
              <a:t>1</a:t>
            </a:r>
            <a:r>
              <a:rPr lang="en-US" dirty="0"/>
              <a:t> and</a:t>
            </a:r>
            <a:r>
              <a:rPr lang="en-US" i="1" dirty="0"/>
              <a:t> X</a:t>
            </a:r>
            <a:r>
              <a:rPr lang="en-US" baseline="-25000" dirty="0"/>
              <a:t>2</a:t>
            </a:r>
            <a:r>
              <a:rPr lang="en-US" dirty="0"/>
              <a:t> after that portion of </a:t>
            </a:r>
            <a:r>
              <a:rPr lang="en-US" i="1" dirty="0"/>
              <a:t>X</a:t>
            </a:r>
            <a:r>
              <a:rPr lang="en-US" baseline="-25000" dirty="0"/>
              <a:t>2</a:t>
            </a:r>
            <a:r>
              <a:rPr lang="en-US" dirty="0"/>
              <a:t> that can be linearly predicted from </a:t>
            </a:r>
            <a:r>
              <a:rPr lang="en-US" i="1" dirty="0"/>
              <a:t>X</a:t>
            </a:r>
            <a:r>
              <a:rPr lang="en-US" baseline="-25000" dirty="0"/>
              <a:t>3</a:t>
            </a:r>
            <a:r>
              <a:rPr lang="en-US" dirty="0"/>
              <a:t> has been removed from </a:t>
            </a:r>
            <a:r>
              <a:rPr lang="en-US" i="1" dirty="0"/>
              <a:t>X</a:t>
            </a:r>
            <a:r>
              <a:rPr lang="en-US" baseline="-25000" dirty="0"/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469276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2CFC8-70E3-5D12-C32E-32E669C9B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Partial correlation</a:t>
            </a:r>
            <a:br>
              <a:rPr lang="en-US" dirty="0"/>
            </a:br>
            <a:r>
              <a:rPr lang="en-US" sz="3200" dirty="0"/>
              <a:t>Intuition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A8727-7FF4-203A-0C6F-FACD9B61E9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Think</a:t>
            </a:r>
            <a:r>
              <a:rPr lang="en-US" dirty="0"/>
              <a:t> of partial correlation as measuring the direct relationship between two variables (</a:t>
            </a:r>
            <a:r>
              <a:rPr lang="en-US" i="1" dirty="0"/>
              <a:t>X</a:t>
            </a:r>
            <a:r>
              <a:rPr lang="en-US" dirty="0"/>
              <a:t>₁ and </a:t>
            </a:r>
            <a:r>
              <a:rPr lang="en-US" i="1" dirty="0"/>
              <a:t>X</a:t>
            </a:r>
            <a:r>
              <a:rPr lang="en-US" dirty="0"/>
              <a:t>₂) while removing the influence of a third variable (</a:t>
            </a:r>
            <a:r>
              <a:rPr lang="en-US" i="1" dirty="0"/>
              <a:t>X</a:t>
            </a:r>
            <a:r>
              <a:rPr lang="en-US" dirty="0"/>
              <a:t>₃) from both</a:t>
            </a:r>
          </a:p>
          <a:p>
            <a:r>
              <a:rPr lang="en-US" b="1" dirty="0"/>
              <a:t>Example</a:t>
            </a:r>
            <a:r>
              <a:rPr lang="en-US" dirty="0"/>
              <a:t>: What is the relationship between study time and exam scores?</a:t>
            </a:r>
          </a:p>
          <a:p>
            <a:pPr lvl="1"/>
            <a:r>
              <a:rPr lang="en-US" dirty="0"/>
              <a:t>You find a positive correlation between them using Pearson’s </a:t>
            </a:r>
            <a:r>
              <a:rPr lang="en-US" i="1" dirty="0"/>
              <a:t>r.</a:t>
            </a:r>
          </a:p>
          <a:p>
            <a:pPr lvl="1"/>
            <a:r>
              <a:rPr lang="en-US" i="1" dirty="0"/>
              <a:t>Another variable, X</a:t>
            </a:r>
            <a:r>
              <a:rPr lang="en-US" dirty="0"/>
              <a:t>₃ may affect </a:t>
            </a:r>
            <a:r>
              <a:rPr lang="en-US" u="sng" dirty="0"/>
              <a:t>both</a:t>
            </a:r>
            <a:r>
              <a:rPr lang="en-US" dirty="0"/>
              <a:t> variables, i.e., say IQ score (?)</a:t>
            </a:r>
          </a:p>
        </p:txBody>
      </p:sp>
    </p:spTree>
    <p:extLst>
      <p:ext uri="{BB962C8B-B14F-4D97-AF65-F5344CB8AC3E}">
        <p14:creationId xmlns:p14="http://schemas.microsoft.com/office/powerpoint/2010/main" val="265772245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B948D-AB9B-9E9E-C1B9-7F11085FA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5A959-F855-48EA-FC94-330BCCB3D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Semipartial</a:t>
            </a:r>
            <a:r>
              <a:rPr lang="en-US" dirty="0"/>
              <a:t> correlation</a:t>
            </a:r>
            <a:br>
              <a:rPr lang="en-US" dirty="0"/>
            </a:br>
            <a:r>
              <a:rPr lang="en-US" sz="3200" dirty="0"/>
              <a:t>Intuition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86CB0-7693-0089-F080-17A344E982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Think</a:t>
            </a:r>
            <a:r>
              <a:rPr lang="en-US" dirty="0"/>
              <a:t> of </a:t>
            </a:r>
            <a:r>
              <a:rPr lang="en-US" dirty="0" err="1"/>
              <a:t>semipartial</a:t>
            </a:r>
            <a:r>
              <a:rPr lang="en-US" dirty="0"/>
              <a:t> correlation as measuring the relationship between two variables after removing the effect of a third variable from only one of them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Example: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We still want to see how study time (X₁) and exam scores (X₂) are related, but we only remove the effect of IQ (X₃) from exam scores (X₂)</a:t>
            </a:r>
          </a:p>
          <a:p>
            <a:pPr marL="1200150" lvl="2" indent="-285750"/>
            <a:r>
              <a:rPr lang="en-US" dirty="0"/>
              <a:t>Study time (X₁) remains unchanged.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This tells us how much study time predicts exam scores after “controlling for” the portion of exam scores that can be explained by IQ</a:t>
            </a:r>
          </a:p>
        </p:txBody>
      </p:sp>
    </p:spTree>
    <p:extLst>
      <p:ext uri="{BB962C8B-B14F-4D97-AF65-F5344CB8AC3E}">
        <p14:creationId xmlns:p14="http://schemas.microsoft.com/office/powerpoint/2010/main" val="29516101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CBFCA-06D6-BE48-92FF-BD1443763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MLR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F0B613-0945-9EEA-E7B4-348C3A83AC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6407"/>
            <a:ext cx="10515600" cy="4610556"/>
          </a:xfrm>
        </p:spPr>
        <p:txBody>
          <a:bodyPr>
            <a:normAutofit/>
          </a:bodyPr>
          <a:lstStyle/>
          <a:p>
            <a:r>
              <a:rPr lang="en-US" b="1" dirty="0"/>
              <a:t>Connection to Multiple Regression</a:t>
            </a:r>
          </a:p>
          <a:p>
            <a:pPr lvl="1"/>
            <a:r>
              <a:rPr lang="en-US" dirty="0"/>
              <a:t>In multiple linear regression, you often include multiple predictors to isolate the unique contribution of each predictor to the outcome</a:t>
            </a:r>
          </a:p>
          <a:p>
            <a:pPr lvl="2"/>
            <a:r>
              <a:rPr lang="en-US" dirty="0"/>
              <a:t>Partial correlation (What is the true relationship between X₁ and X₂)</a:t>
            </a:r>
          </a:p>
          <a:p>
            <a:pPr lvl="3"/>
            <a:r>
              <a:rPr lang="en-US" dirty="0"/>
              <a:t>Partial correlation examines the relationship between two variables while statistically holding others constant—just like controlling for confounders in a regression model</a:t>
            </a:r>
          </a:p>
          <a:p>
            <a:pPr lvl="3"/>
            <a:r>
              <a:rPr lang="en-US" dirty="0"/>
              <a:t>"What is the relationship between X₁ and X₂ once the influence of X₃ has been removed from both?"</a:t>
            </a:r>
          </a:p>
          <a:p>
            <a:pPr lvl="2"/>
            <a:r>
              <a:rPr lang="en-US" dirty="0" err="1"/>
              <a:t>Semipartial</a:t>
            </a:r>
            <a:r>
              <a:rPr lang="en-US" dirty="0"/>
              <a:t> (How much additional variance in X₂ does X₁ explain beyond X₃?)</a:t>
            </a:r>
          </a:p>
          <a:p>
            <a:pPr lvl="3"/>
            <a:r>
              <a:rPr lang="en-US" dirty="0"/>
              <a:t>In multiple regression, the </a:t>
            </a:r>
            <a:r>
              <a:rPr lang="en-US" dirty="0" err="1"/>
              <a:t>semipartial</a:t>
            </a:r>
            <a:r>
              <a:rPr lang="en-US" dirty="0"/>
              <a:t> correlation squared (sr²) represents the unique contribution of a predictor (X₁) to the outcome (X₂) over and above other predictors.</a:t>
            </a:r>
          </a:p>
          <a:p>
            <a:pPr lvl="3"/>
            <a:r>
              <a:rPr lang="en-US" dirty="0"/>
              <a:t>It answers: “If I add this predictor to the model, how much additional variance does it explain?”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771880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F5398F-CB43-A2AF-B167-A909315AA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6D1AE25E-5796-CF73-2264-576C0AB51AC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62683285"/>
              </p:ext>
            </p:extLst>
          </p:nvPr>
        </p:nvGraphicFramePr>
        <p:xfrm>
          <a:off x="838200" y="2517388"/>
          <a:ext cx="10515596" cy="302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899">
                  <a:extLst>
                    <a:ext uri="{9D8B030D-6E8A-4147-A177-3AD203B41FA5}">
                      <a16:colId xmlns:a16="http://schemas.microsoft.com/office/drawing/2014/main" val="193119856"/>
                    </a:ext>
                  </a:extLst>
                </a:gridCol>
                <a:gridCol w="2628899">
                  <a:extLst>
                    <a:ext uri="{9D8B030D-6E8A-4147-A177-3AD203B41FA5}">
                      <a16:colId xmlns:a16="http://schemas.microsoft.com/office/drawing/2014/main" val="3137986518"/>
                    </a:ext>
                  </a:extLst>
                </a:gridCol>
                <a:gridCol w="2628899">
                  <a:extLst>
                    <a:ext uri="{9D8B030D-6E8A-4147-A177-3AD203B41FA5}">
                      <a16:colId xmlns:a16="http://schemas.microsoft.com/office/drawing/2014/main" val="4018148523"/>
                    </a:ext>
                  </a:extLst>
                </a:gridCol>
                <a:gridCol w="2628899">
                  <a:extLst>
                    <a:ext uri="{9D8B030D-6E8A-4147-A177-3AD203B41FA5}">
                      <a16:colId xmlns:a16="http://schemas.microsoft.com/office/drawing/2014/main" val="27653451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What It Controls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046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Partial Correlation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Removes the effect of X₃ from both X₁ and X₂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Examines the "pure" relationship between X₁ and X₂ with X₃’s influence removed from both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Similar to the standardized beta coefficient (β) in multiple regression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5919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Semipartial</a:t>
                      </a:r>
                      <a:r>
                        <a:rPr lang="en-US" dirty="0"/>
                        <a:t> (Part) Correlation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Removes the effect of X₃ from only X₂ (or X₁)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Examines how much X₁ contributes to X₂ after adjusting X₂ for X₃, but not adjusting X₁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Similar to the unique R² contribution of a predictor in multiple regression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118088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21C7007-A472-FDF2-2C02-3C9BCCA6ED11}"/>
              </a:ext>
            </a:extLst>
          </p:cNvPr>
          <p:cNvSpPr txBox="1"/>
          <p:nvPr/>
        </p:nvSpPr>
        <p:spPr>
          <a:xfrm>
            <a:off x="838199" y="1545391"/>
            <a:ext cx="105155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key difference between partial and </a:t>
            </a:r>
            <a:r>
              <a:rPr lang="en-US" dirty="0" err="1"/>
              <a:t>semipartial</a:t>
            </a:r>
            <a:r>
              <a:rPr lang="en-US" dirty="0"/>
              <a:t> correlation is in how they adjust for the third variable (</a:t>
            </a:r>
            <a:r>
              <a:rPr lang="en-US" i="1" dirty="0"/>
              <a:t>X₃</a:t>
            </a:r>
            <a:r>
              <a:rPr lang="en-US" dirty="0"/>
              <a:t>) and what they tell us about prediction</a:t>
            </a:r>
          </a:p>
        </p:txBody>
      </p:sp>
    </p:spTree>
    <p:extLst>
      <p:ext uri="{BB962C8B-B14F-4D97-AF65-F5344CB8AC3E}">
        <p14:creationId xmlns:p14="http://schemas.microsoft.com/office/powerpoint/2010/main" val="173105681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Multiple Linear Regression Is and How It Works: Characteristics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Unstandardized regression model</a:t>
            </a:r>
          </a:p>
          <a:p>
            <a:pPr>
              <a:lnSpc>
                <a:spcPct val="120000"/>
              </a:lnSpc>
            </a:pPr>
            <a:r>
              <a:rPr lang="en-US" dirty="0"/>
              <a:t>Sample multiple linear regression model</a:t>
            </a:r>
          </a:p>
          <a:p>
            <a:pPr lvl="1">
              <a:lnSpc>
                <a:spcPct val="120000"/>
              </a:lnSpc>
            </a:pPr>
            <a:r>
              <a:rPr lang="en-US" i="1" dirty="0"/>
              <a:t>Y</a:t>
            </a:r>
            <a:r>
              <a:rPr lang="en-US" i="1" baseline="-25000" dirty="0"/>
              <a:t>i</a:t>
            </a:r>
            <a:r>
              <a:rPr lang="en-US" dirty="0"/>
              <a:t> = </a:t>
            </a:r>
            <a:r>
              <a:rPr lang="en-US" i="1" dirty="0"/>
              <a:t>b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i="1" dirty="0"/>
              <a:t>X</a:t>
            </a:r>
            <a:r>
              <a:rPr lang="en-US" baseline="-25000" dirty="0"/>
              <a:t>1</a:t>
            </a:r>
            <a:r>
              <a:rPr lang="en-US" i="1" baseline="-25000" dirty="0"/>
              <a:t>i</a:t>
            </a:r>
            <a:r>
              <a:rPr lang="en-US" dirty="0"/>
              <a:t> + </a:t>
            </a:r>
            <a:r>
              <a:rPr lang="en-US" i="1" dirty="0"/>
              <a:t>b</a:t>
            </a:r>
            <a:r>
              <a:rPr lang="en-US" baseline="-25000" dirty="0"/>
              <a:t>2</a:t>
            </a:r>
            <a:r>
              <a:rPr lang="en-US" dirty="0"/>
              <a:t> </a:t>
            </a:r>
            <a:r>
              <a:rPr lang="en-US" i="1" dirty="0"/>
              <a:t>X</a:t>
            </a:r>
            <a:r>
              <a:rPr lang="en-US" baseline="-25000" dirty="0"/>
              <a:t>2</a:t>
            </a:r>
            <a:r>
              <a:rPr lang="en-US" i="1" baseline="-25000" dirty="0"/>
              <a:t>i</a:t>
            </a:r>
            <a:r>
              <a:rPr lang="en-US" dirty="0"/>
              <a:t> + ... + </a:t>
            </a:r>
            <a:r>
              <a:rPr lang="en-US" i="1" dirty="0"/>
              <a:t>b</a:t>
            </a:r>
            <a:r>
              <a:rPr lang="en-US" i="1" baseline="-25000" dirty="0"/>
              <a:t>m</a:t>
            </a:r>
            <a:r>
              <a:rPr lang="en-US" i="1" dirty="0"/>
              <a:t> X</a:t>
            </a:r>
            <a:r>
              <a:rPr lang="en-US" i="1" baseline="-25000" dirty="0"/>
              <a:t>mi</a:t>
            </a:r>
            <a:r>
              <a:rPr lang="en-US" dirty="0"/>
              <a:t> + </a:t>
            </a:r>
            <a:r>
              <a:rPr lang="en-US" i="1" dirty="0"/>
              <a:t>a</a:t>
            </a:r>
            <a:r>
              <a:rPr lang="en-US" dirty="0"/>
              <a:t> +</a:t>
            </a:r>
            <a:r>
              <a:rPr lang="en-US" i="1" dirty="0"/>
              <a:t> e</a:t>
            </a:r>
            <a:r>
              <a:rPr lang="en-US" i="1" baseline="-25000" dirty="0"/>
              <a:t>i</a:t>
            </a:r>
          </a:p>
          <a:p>
            <a:pPr lvl="1">
              <a:lnSpc>
                <a:spcPct val="120000"/>
              </a:lnSpc>
            </a:pPr>
            <a:r>
              <a:rPr lang="en-US" i="1" dirty="0"/>
              <a:t>Y</a:t>
            </a:r>
            <a:r>
              <a:rPr lang="en-US" dirty="0"/>
              <a:t> is the criterion variable </a:t>
            </a:r>
          </a:p>
          <a:p>
            <a:pPr lvl="1">
              <a:lnSpc>
                <a:spcPct val="120000"/>
              </a:lnSpc>
            </a:pPr>
            <a:r>
              <a:rPr lang="en-US" i="1" dirty="0"/>
              <a:t>X</a:t>
            </a:r>
            <a:r>
              <a:rPr lang="en-US" i="1" baseline="-25000" dirty="0"/>
              <a:t>k</a:t>
            </a:r>
            <a:r>
              <a:rPr lang="en-US" dirty="0"/>
              <a:t>’s are the predictor (or independent) variables where </a:t>
            </a:r>
            <a:r>
              <a:rPr lang="en-US" i="1" dirty="0"/>
              <a:t>k</a:t>
            </a:r>
            <a:r>
              <a:rPr lang="en-US" dirty="0"/>
              <a:t> = 1, ..., </a:t>
            </a:r>
            <a:r>
              <a:rPr lang="en-US" i="1" dirty="0"/>
              <a:t>m</a:t>
            </a:r>
            <a:endParaRPr lang="en-US" dirty="0"/>
          </a:p>
          <a:p>
            <a:pPr lvl="1">
              <a:lnSpc>
                <a:spcPct val="120000"/>
              </a:lnSpc>
            </a:pPr>
            <a:r>
              <a:rPr lang="en-US" i="1" dirty="0"/>
              <a:t>b</a:t>
            </a:r>
            <a:r>
              <a:rPr lang="en-US" i="1" baseline="-25000" dirty="0"/>
              <a:t>k</a:t>
            </a:r>
            <a:r>
              <a:rPr lang="en-US" dirty="0"/>
              <a:t> is the sample partial slope of the regression line for </a:t>
            </a:r>
            <a:r>
              <a:rPr lang="en-US" i="1" dirty="0"/>
              <a:t>Y</a:t>
            </a:r>
            <a:r>
              <a:rPr lang="en-US" dirty="0"/>
              <a:t> as predicted by </a:t>
            </a:r>
            <a:r>
              <a:rPr lang="en-US" i="1" dirty="0"/>
              <a:t>X</a:t>
            </a:r>
            <a:r>
              <a:rPr lang="en-US" i="1" baseline="-25000" dirty="0"/>
              <a:t>k</a:t>
            </a:r>
            <a:endParaRPr lang="en-US" dirty="0"/>
          </a:p>
          <a:p>
            <a:pPr lvl="1">
              <a:lnSpc>
                <a:spcPct val="120000"/>
              </a:lnSpc>
            </a:pPr>
            <a:r>
              <a:rPr lang="en-US" i="1" dirty="0"/>
              <a:t>a</a:t>
            </a:r>
            <a:r>
              <a:rPr lang="en-US" dirty="0"/>
              <a:t> is the sample intercept of the regression line for </a:t>
            </a:r>
            <a:r>
              <a:rPr lang="en-US" i="1" dirty="0"/>
              <a:t>Y</a:t>
            </a:r>
            <a:r>
              <a:rPr lang="en-US" dirty="0"/>
              <a:t> as predicted by the set of </a:t>
            </a:r>
            <a:r>
              <a:rPr lang="en-US" i="1" dirty="0"/>
              <a:t>X</a:t>
            </a:r>
            <a:r>
              <a:rPr lang="en-US" i="1" baseline="-25000" dirty="0"/>
              <a:t>k</a:t>
            </a:r>
            <a:r>
              <a:rPr lang="en-US" dirty="0"/>
              <a:t>’s</a:t>
            </a:r>
          </a:p>
          <a:p>
            <a:pPr lvl="1">
              <a:lnSpc>
                <a:spcPct val="120000"/>
              </a:lnSpc>
            </a:pPr>
            <a:r>
              <a:rPr lang="en-US" i="1" dirty="0"/>
              <a:t>e</a:t>
            </a:r>
            <a:r>
              <a:rPr lang="en-US" i="1" baseline="-25000" dirty="0"/>
              <a:t>i</a:t>
            </a:r>
            <a:r>
              <a:rPr lang="en-US" i="1" dirty="0"/>
              <a:t> </a:t>
            </a:r>
            <a:r>
              <a:rPr lang="en-US" dirty="0"/>
              <a:t>are the residuals or errors of prediction (the part of </a:t>
            </a:r>
            <a:r>
              <a:rPr lang="en-US" i="1" dirty="0"/>
              <a:t>Y</a:t>
            </a:r>
            <a:r>
              <a:rPr lang="en-US" dirty="0"/>
              <a:t> not predictable from the </a:t>
            </a:r>
            <a:r>
              <a:rPr lang="en-US" i="1" dirty="0"/>
              <a:t>X</a:t>
            </a:r>
            <a:r>
              <a:rPr lang="en-US" i="1" baseline="-25000" dirty="0"/>
              <a:t>k</a:t>
            </a:r>
            <a:r>
              <a:rPr lang="en-US" dirty="0"/>
              <a:t>’s)</a:t>
            </a:r>
          </a:p>
          <a:p>
            <a:pPr lvl="1">
              <a:lnSpc>
                <a:spcPct val="120000"/>
              </a:lnSpc>
            </a:pPr>
            <a:r>
              <a:rPr lang="en-US" i="1" dirty="0" err="1"/>
              <a:t>i</a:t>
            </a:r>
            <a:r>
              <a:rPr lang="en-US" i="1" dirty="0"/>
              <a:t> </a:t>
            </a:r>
            <a:r>
              <a:rPr lang="en-US" dirty="0"/>
              <a:t>represents an index for an individual or object</a:t>
            </a:r>
          </a:p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DB3AF2F-38B6-40EB-AC66-63E9A9AA205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lang="en-US" dirty="0"/>
              <a:t>Sample prediction model is</a:t>
            </a:r>
          </a:p>
          <a:p>
            <a:pPr lvl="1">
              <a:lnSpc>
                <a:spcPct val="120000"/>
              </a:lnSpc>
            </a:pPr>
            <a:r>
              <a:rPr lang="en-US" i="1" dirty="0" err="1"/>
              <a:t>Y</a:t>
            </a:r>
            <a:r>
              <a:rPr lang="en-US" dirty="0" err="1"/>
              <a:t>'</a:t>
            </a:r>
            <a:r>
              <a:rPr lang="en-US" i="1" baseline="-25000" dirty="0" err="1"/>
              <a:t>i</a:t>
            </a:r>
            <a:r>
              <a:rPr lang="en-US" dirty="0"/>
              <a:t> = </a:t>
            </a:r>
            <a:r>
              <a:rPr lang="en-US" i="1" dirty="0"/>
              <a:t>b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i="1" dirty="0"/>
              <a:t>X</a:t>
            </a:r>
            <a:r>
              <a:rPr lang="en-US" baseline="-25000" dirty="0"/>
              <a:t>1</a:t>
            </a:r>
            <a:r>
              <a:rPr lang="en-US" i="1" baseline="-25000" dirty="0"/>
              <a:t>i</a:t>
            </a:r>
            <a:r>
              <a:rPr lang="en-US" dirty="0"/>
              <a:t> + </a:t>
            </a:r>
            <a:r>
              <a:rPr lang="en-US" i="1" dirty="0"/>
              <a:t>b</a:t>
            </a:r>
            <a:r>
              <a:rPr lang="en-US" baseline="-25000" dirty="0"/>
              <a:t>2</a:t>
            </a:r>
            <a:r>
              <a:rPr lang="en-US" dirty="0"/>
              <a:t> </a:t>
            </a:r>
            <a:r>
              <a:rPr lang="en-US" i="1" dirty="0"/>
              <a:t>X</a:t>
            </a:r>
            <a:r>
              <a:rPr lang="en-US" baseline="-25000" dirty="0"/>
              <a:t>2</a:t>
            </a:r>
            <a:r>
              <a:rPr lang="en-US" i="1" baseline="-25000" dirty="0"/>
              <a:t>i</a:t>
            </a:r>
            <a:r>
              <a:rPr lang="en-US" dirty="0"/>
              <a:t> + ... + </a:t>
            </a:r>
            <a:r>
              <a:rPr lang="en-US" i="1" dirty="0"/>
              <a:t>b</a:t>
            </a:r>
            <a:r>
              <a:rPr lang="en-US" i="1" baseline="-25000" dirty="0"/>
              <a:t>m</a:t>
            </a:r>
            <a:r>
              <a:rPr lang="en-US" i="1" dirty="0"/>
              <a:t> </a:t>
            </a:r>
            <a:r>
              <a:rPr lang="en-US" i="1" dirty="0" err="1"/>
              <a:t>X</a:t>
            </a:r>
            <a:r>
              <a:rPr lang="en-US" i="1" baseline="-25000" dirty="0" err="1"/>
              <a:t>mi</a:t>
            </a:r>
            <a:r>
              <a:rPr lang="en-US" dirty="0"/>
              <a:t> + </a:t>
            </a:r>
            <a:r>
              <a:rPr lang="en-US" i="1" dirty="0"/>
              <a:t>a</a:t>
            </a:r>
          </a:p>
          <a:p>
            <a:pPr>
              <a:lnSpc>
                <a:spcPct val="120000"/>
              </a:lnSpc>
            </a:pPr>
            <a:r>
              <a:rPr lang="en-US" dirty="0"/>
              <a:t>Difference in the models:  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Regression model explicitly includes prediction error as </a:t>
            </a:r>
            <a:r>
              <a:rPr lang="en-US" i="1" dirty="0" err="1"/>
              <a:t>e</a:t>
            </a:r>
            <a:r>
              <a:rPr lang="en-US" i="1" baseline="-25000" dirty="0" err="1"/>
              <a:t>i</a:t>
            </a:r>
            <a:r>
              <a:rPr lang="en-US" dirty="0"/>
              <a:t> 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Prediction model includes prediction error implicitly as part of the predicted score </a:t>
            </a:r>
            <a:r>
              <a:rPr lang="en-US" i="1" dirty="0" err="1"/>
              <a:t>Y'</a:t>
            </a:r>
            <a:r>
              <a:rPr lang="en-US" i="1" baseline="-25000" dirty="0" err="1"/>
              <a:t>i</a:t>
            </a:r>
            <a:r>
              <a:rPr lang="en-US" dirty="0"/>
              <a:t> (i.e., there is some error in the predicted values)</a:t>
            </a:r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6BA892F0-A136-4F8B-978C-0EDD778A1D63}"/>
                  </a:ext>
                </a:extLst>
              </p14:cNvPr>
              <p14:cNvContentPartPr/>
              <p14:nvPr/>
            </p14:nvContentPartPr>
            <p14:xfrm>
              <a:off x="2309004" y="3010575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6BA892F0-A136-4F8B-978C-0EDD778A1D6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00004" y="300193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85F1003-4600-4B50-9589-C03C89E2B90F}"/>
                  </a:ext>
                </a:extLst>
              </p14:cNvPr>
              <p14:cNvContentPartPr/>
              <p14:nvPr/>
            </p14:nvContentPartPr>
            <p14:xfrm>
              <a:off x="2474964" y="4765575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85F1003-4600-4B50-9589-C03C89E2B90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66324" y="475657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3841C5BD-3DF0-42E8-A6FC-85D54939A658}"/>
                  </a:ext>
                </a:extLst>
              </p14:cNvPr>
              <p14:cNvContentPartPr/>
              <p14:nvPr/>
            </p14:nvContentPartPr>
            <p14:xfrm>
              <a:off x="1588284" y="5218095"/>
              <a:ext cx="360" cy="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3841C5BD-3DF0-42E8-A6FC-85D54939A65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79644" y="520945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ACD37E6A-0E6A-4577-8954-8986EDAFFDE8}"/>
                  </a:ext>
                </a:extLst>
              </p14:cNvPr>
              <p14:cNvContentPartPr/>
              <p14:nvPr/>
            </p14:nvContentPartPr>
            <p14:xfrm>
              <a:off x="3453804" y="4285335"/>
              <a:ext cx="360" cy="3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ACD37E6A-0E6A-4577-8954-8986EDAFFDE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45164" y="42766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4DF07710-1573-42D8-B860-55CB2253C2CE}"/>
                  </a:ext>
                </a:extLst>
              </p14:cNvPr>
              <p14:cNvContentPartPr/>
              <p14:nvPr/>
            </p14:nvContentPartPr>
            <p14:xfrm>
              <a:off x="4894884" y="5957175"/>
              <a:ext cx="360" cy="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4DF07710-1573-42D8-B860-55CB2253C2C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86244" y="594853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D80B649-E023-4F58-8EA8-4B312DD0E8D5}"/>
                  </a:ext>
                </a:extLst>
              </p14:cNvPr>
              <p14:cNvContentPartPr/>
              <p14:nvPr/>
            </p14:nvContentPartPr>
            <p14:xfrm>
              <a:off x="4488804" y="5892375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D80B649-E023-4F58-8EA8-4B312DD0E8D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79804" y="588337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0A10BE2-1657-4A8C-A89A-95FCB3EE7D61}"/>
                  </a:ext>
                </a:extLst>
              </p14:cNvPr>
              <p14:cNvContentPartPr/>
              <p14:nvPr/>
            </p14:nvContentPartPr>
            <p14:xfrm>
              <a:off x="4488804" y="5772135"/>
              <a:ext cx="360" cy="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0A10BE2-1657-4A8C-A89A-95FCB3EE7D6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79804" y="5763495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5206405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Multiple Linear Regression Is and How It Works: Characteristics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Standardized regression model</a:t>
            </a:r>
          </a:p>
          <a:p>
            <a:r>
              <a:rPr lang="en-US" dirty="0"/>
              <a:t>Sample standardized linear prediction model</a:t>
            </a:r>
          </a:p>
          <a:p>
            <a:endParaRPr lang="en-US" dirty="0"/>
          </a:p>
          <a:p>
            <a:endParaRPr lang="en-US" dirty="0"/>
          </a:p>
          <a:p>
            <a:pPr lvl="1"/>
            <a:r>
              <a:rPr lang="en-US" dirty="0"/>
              <a:t>     = sample standardized partial slope  </a:t>
            </a:r>
          </a:p>
          <a:p>
            <a:pPr lvl="1"/>
            <a:r>
              <a:rPr lang="en-US" dirty="0"/>
              <a:t>no intercept term is necessary as the mean of the </a:t>
            </a:r>
            <a:r>
              <a:rPr lang="en-US" i="1" dirty="0"/>
              <a:t>z </a:t>
            </a:r>
            <a:r>
              <a:rPr lang="en-US" dirty="0"/>
              <a:t>scores for all variables is 0</a:t>
            </a:r>
          </a:p>
          <a:p>
            <a:r>
              <a:rPr lang="en-US" dirty="0"/>
              <a:t>Unstandardized or standardized model?  </a:t>
            </a:r>
          </a:p>
          <a:p>
            <a:pPr lvl="1"/>
            <a:r>
              <a:rPr lang="en-US" dirty="0"/>
              <a:t>Standardized model is not stable from sample to sample</a:t>
            </a:r>
          </a:p>
          <a:p>
            <a:pPr lvl="1"/>
            <a:endParaRPr lang="en-US" dirty="0"/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6"/>
              <p:cNvSpPr txBox="1"/>
              <p:nvPr/>
            </p:nvSpPr>
            <p:spPr bwMode="auto">
              <a:xfrm>
                <a:off x="3095625" y="3341688"/>
                <a:ext cx="4043363" cy="474662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+...+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𝑚𝑖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Objec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95625" y="3341688"/>
                <a:ext cx="4043363" cy="47466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7" name="Object 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26403669"/>
              </p:ext>
            </p:extLst>
          </p:nvPr>
        </p:nvGraphicFramePr>
        <p:xfrm>
          <a:off x="1496995" y="3764756"/>
          <a:ext cx="409575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03040" imgH="241200" progId="Equation.3">
                  <p:embed/>
                </p:oleObj>
              </mc:Choice>
              <mc:Fallback>
                <p:oleObj name="Equation" r:id="rId3" imgW="203040" imgH="241200" progId="Equation.3">
                  <p:embed/>
                  <p:pic>
                    <p:nvPicPr>
                      <p:cNvPr id="17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96995" y="3764756"/>
                        <a:ext cx="409575" cy="473075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Object 6">
                <a:extLst>
                  <a:ext uri="{FF2B5EF4-FFF2-40B4-BE49-F238E27FC236}">
                    <a16:creationId xmlns:a16="http://schemas.microsoft.com/office/drawing/2014/main" id="{7371D8BB-A79C-958D-E7B9-FB5767F1D3A6}"/>
                  </a:ext>
                </a:extLst>
              </p:cNvPr>
              <p:cNvSpPr txBox="1"/>
              <p:nvPr/>
            </p:nvSpPr>
            <p:spPr bwMode="auto">
              <a:xfrm>
                <a:off x="3095624" y="2954338"/>
                <a:ext cx="4043363" cy="474662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+...+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𝑚𝑖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bject 6">
                <a:extLst>
                  <a:ext uri="{FF2B5EF4-FFF2-40B4-BE49-F238E27FC236}">
                    <a16:creationId xmlns:a16="http://schemas.microsoft.com/office/drawing/2014/main" id="{7371D8BB-A79C-958D-E7B9-FB5767F1D3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95624" y="2954338"/>
                <a:ext cx="4043363" cy="47466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56784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Multiple Linear Regression Is and How It Works: Characteristics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Coefficient of multiple determination and multiple correlation</a:t>
            </a:r>
          </a:p>
          <a:p>
            <a:pPr lvl="1"/>
            <a:r>
              <a:rPr lang="en-US" dirty="0"/>
              <a:t>Tells the proportion of total variation in the dependent variable </a:t>
            </a:r>
            <a:r>
              <a:rPr lang="en-US" i="1" dirty="0"/>
              <a:t>Y</a:t>
            </a:r>
            <a:r>
              <a:rPr lang="en-US" dirty="0"/>
              <a:t> that is </a:t>
            </a:r>
            <a:r>
              <a:rPr lang="en-US" i="1" dirty="0"/>
              <a:t>explained by </a:t>
            </a:r>
            <a:r>
              <a:rPr lang="en-US" dirty="0"/>
              <a:t>the set of predictor variables </a:t>
            </a:r>
          </a:p>
          <a:p>
            <a:pPr lvl="1"/>
            <a:r>
              <a:rPr lang="en-US" dirty="0"/>
              <a:t>R-squared = .45 </a:t>
            </a:r>
            <a:r>
              <a:rPr lang="en-US" dirty="0">
                <a:sym typeface="Wingdings" panose="05000000000000000000" pitchFamily="2" charset="2"/>
              </a:rPr>
              <a:t> 45% of the variation in Y is explained by </a:t>
            </a:r>
            <a:r>
              <a:rPr lang="en-US" dirty="0" err="1">
                <a:sym typeface="Wingdings" panose="05000000000000000000" pitchFamily="2" charset="2"/>
              </a:rPr>
              <a:t>Xs</a:t>
            </a:r>
            <a:endParaRPr lang="en-US" dirty="0">
              <a:sym typeface="Wingdings" panose="05000000000000000000" pitchFamily="2" charset="2"/>
            </a:endParaRPr>
          </a:p>
          <a:p>
            <a:pPr lvl="2"/>
            <a:r>
              <a:rPr lang="en-US" dirty="0">
                <a:sym typeface="Wingdings" panose="05000000000000000000" pitchFamily="2" charset="2"/>
              </a:rPr>
              <a:t>Example: if we predict GGPA from UGPA and our R-squared is .45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1 – R-squared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363191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Multiple Linear Regression Is and How It Works: Characteristics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Significance tests</a:t>
            </a:r>
          </a:p>
          <a:p>
            <a:pPr lvl="1"/>
            <a:r>
              <a:rPr lang="en-US" b="1" dirty="0"/>
              <a:t>Overall</a:t>
            </a:r>
            <a:r>
              <a:rPr lang="en-US" dirty="0"/>
              <a:t>: Test of significance of the overall regression model, or alternatively the test of significance of the coefficient of multiple determination</a:t>
            </a:r>
          </a:p>
          <a:p>
            <a:pPr lvl="2"/>
            <a:r>
              <a:rPr lang="en-US" dirty="0"/>
              <a:t>If </a:t>
            </a:r>
            <a:r>
              <a:rPr lang="en-US" i="1" dirty="0"/>
              <a:t>H</a:t>
            </a:r>
            <a:r>
              <a:rPr lang="en-US" baseline="-25000" dirty="0"/>
              <a:t>0</a:t>
            </a:r>
            <a:r>
              <a:rPr lang="en-US" dirty="0"/>
              <a:t> is rejected, then </a:t>
            </a:r>
            <a:r>
              <a:rPr lang="en-US" i="1" dirty="0"/>
              <a:t>one or more of the individual regression coefficients is statistically significantly different from zero </a:t>
            </a:r>
          </a:p>
          <a:p>
            <a:pPr lvl="1"/>
            <a:r>
              <a:rPr lang="en-US" b="1" dirty="0"/>
              <a:t>Ceteris paribus</a:t>
            </a:r>
            <a:r>
              <a:rPr lang="en-US" dirty="0"/>
              <a:t>: Test of the statistical significance of each individual partial slope or regression coefficient, </a:t>
            </a:r>
            <a:r>
              <a:rPr lang="en-US" i="1" dirty="0"/>
              <a:t>b</a:t>
            </a:r>
            <a:r>
              <a:rPr lang="en-US" i="1" baseline="-25000" dirty="0"/>
              <a:t>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62253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Multiple Linear Regression Is and How It Works: Characteristics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Methods of entering predictors</a:t>
            </a:r>
          </a:p>
          <a:p>
            <a:pPr lvl="1"/>
            <a:r>
              <a:rPr lang="en-US" dirty="0"/>
              <a:t>Simultaneous</a:t>
            </a:r>
          </a:p>
          <a:p>
            <a:pPr lvl="1"/>
            <a:r>
              <a:rPr lang="en-US" dirty="0"/>
              <a:t>Backward elimination</a:t>
            </a:r>
          </a:p>
          <a:p>
            <a:pPr lvl="2"/>
            <a:r>
              <a:rPr lang="en-US" dirty="0"/>
              <a:t>Forward selection</a:t>
            </a:r>
          </a:p>
          <a:p>
            <a:pPr lvl="2"/>
            <a:r>
              <a:rPr lang="en-US" dirty="0"/>
              <a:t>Stepwise selection</a:t>
            </a:r>
          </a:p>
          <a:p>
            <a:pPr lvl="2"/>
            <a:r>
              <a:rPr lang="en-US" dirty="0"/>
              <a:t>All possible subsets regression</a:t>
            </a:r>
          </a:p>
          <a:p>
            <a:pPr lvl="2"/>
            <a:r>
              <a:rPr lang="en-US" dirty="0"/>
              <a:t>Hierarchical regression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7F95452-67F1-4523-A53D-ACC41E271147}"/>
              </a:ext>
            </a:extLst>
          </p:cNvPr>
          <p:cNvCxnSpPr/>
          <p:nvPr/>
        </p:nvCxnSpPr>
        <p:spPr>
          <a:xfrm>
            <a:off x="838200" y="2013527"/>
            <a:ext cx="5091545" cy="3980873"/>
          </a:xfrm>
          <a:prstGeom prst="line">
            <a:avLst/>
          </a:prstGeom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902672B-4CB4-486F-9C8B-4A34C0AD5745}"/>
              </a:ext>
            </a:extLst>
          </p:cNvPr>
          <p:cNvCxnSpPr>
            <a:cxnSpLocks/>
          </p:cNvCxnSpPr>
          <p:nvPr/>
        </p:nvCxnSpPr>
        <p:spPr>
          <a:xfrm flipV="1">
            <a:off x="988291" y="2013527"/>
            <a:ext cx="4461164" cy="4045528"/>
          </a:xfrm>
          <a:prstGeom prst="line">
            <a:avLst/>
          </a:prstGeom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0891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Multiple Linear Regression Is and How It Works: Characteristics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Nonlinear relationships</a:t>
            </a:r>
          </a:p>
          <a:p>
            <a:pPr lvl="1"/>
            <a:r>
              <a:rPr lang="en-US" dirty="0"/>
              <a:t>Polynomial models</a:t>
            </a:r>
          </a:p>
          <a:p>
            <a:pPr lvl="2"/>
            <a:r>
              <a:rPr lang="en-US" dirty="0"/>
              <a:t>First degree polynomial (simple linear regression)</a:t>
            </a:r>
          </a:p>
          <a:p>
            <a:pPr lvl="2"/>
            <a:r>
              <a:rPr lang="en-US" dirty="0"/>
              <a:t>Second degree polynomial (quadratic)</a:t>
            </a:r>
          </a:p>
          <a:p>
            <a:pPr lvl="2"/>
            <a:r>
              <a:rPr lang="en-US" dirty="0"/>
              <a:t>Third degree polynomial (cubic)</a:t>
            </a:r>
          </a:p>
          <a:p>
            <a:pPr lvl="2"/>
            <a:endParaRPr lang="en-US" dirty="0"/>
          </a:p>
          <a:p>
            <a:pPr lvl="2"/>
            <a:r>
              <a:rPr lang="en-US" u="sng" dirty="0"/>
              <a:t>Example</a:t>
            </a:r>
            <a:r>
              <a:rPr lang="en-US" dirty="0"/>
              <a:t>: entering age (first degree), age-squared (quadratic) or age-cubed (3</a:t>
            </a:r>
            <a:r>
              <a:rPr lang="en-US" baseline="30000" dirty="0"/>
              <a:t>rd</a:t>
            </a:r>
            <a:r>
              <a:rPr lang="en-US" dirty="0"/>
              <a:t> degree)</a:t>
            </a:r>
          </a:p>
        </p:txBody>
      </p:sp>
    </p:spTree>
    <p:extLst>
      <p:ext uri="{BB962C8B-B14F-4D97-AF65-F5344CB8AC3E}">
        <p14:creationId xmlns:p14="http://schemas.microsoft.com/office/powerpoint/2010/main" val="50022845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Multiple Linear Regression Is and How It Works: Characteristics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Interactions </a:t>
            </a:r>
          </a:p>
          <a:p>
            <a:pPr lvl="1"/>
            <a:r>
              <a:rPr lang="en-US" dirty="0"/>
              <a:t>An interaction can be defined as occurring when the relationship between </a:t>
            </a:r>
            <a:r>
              <a:rPr lang="en-US" i="1" dirty="0"/>
              <a:t>Y</a:t>
            </a:r>
            <a:r>
              <a:rPr lang="en-US" dirty="0"/>
              <a:t> and </a:t>
            </a:r>
            <a:r>
              <a:rPr lang="en-US" i="1" dirty="0"/>
              <a:t>X</a:t>
            </a:r>
            <a:r>
              <a:rPr lang="en-US" baseline="-25000" dirty="0"/>
              <a:t>1</a:t>
            </a:r>
            <a:r>
              <a:rPr lang="en-US" dirty="0"/>
              <a:t> depends on the level of </a:t>
            </a:r>
            <a:r>
              <a:rPr lang="en-US" i="1" dirty="0"/>
              <a:t>X</a:t>
            </a:r>
            <a:r>
              <a:rPr lang="en-US" baseline="-25000" dirty="0"/>
              <a:t>2</a:t>
            </a:r>
            <a:endParaRPr lang="en-US" dirty="0"/>
          </a:p>
          <a:p>
            <a:pPr lvl="2"/>
            <a:r>
              <a:rPr lang="en-US" dirty="0"/>
              <a:t>In other words, </a:t>
            </a:r>
            <a:r>
              <a:rPr lang="en-US" i="1" dirty="0"/>
              <a:t>X</a:t>
            </a:r>
            <a:r>
              <a:rPr lang="en-US" baseline="-25000" dirty="0"/>
              <a:t>2</a:t>
            </a:r>
            <a:r>
              <a:rPr lang="en-US" dirty="0"/>
              <a:t> is a </a:t>
            </a:r>
            <a:r>
              <a:rPr lang="en-US" b="1" dirty="0"/>
              <a:t>moderator variable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174468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Multiple Linear Regression Is and How It Works: Characteristics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Categorical predictors</a:t>
            </a:r>
          </a:p>
          <a:p>
            <a:pPr lvl="1"/>
            <a:r>
              <a:rPr lang="en-US" dirty="0"/>
              <a:t>Dummy coding</a:t>
            </a:r>
          </a:p>
          <a:p>
            <a:pPr lvl="1"/>
            <a:r>
              <a:rPr lang="en-US" dirty="0"/>
              <a:t>When there are more than two categories to the categorical predictor, multiple dummy coded variables must be created—</a:t>
            </a:r>
            <a:r>
              <a:rPr lang="en-US" i="1" dirty="0"/>
              <a:t>specifically one minus the number of levels or categories of the categorical variable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586204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Multiple Linear Regression Is and How It Works: Sample Size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Sample size considerations differ depending on the research goal—testing a hypothesis test estimating a parameter (</a:t>
            </a:r>
            <a:r>
              <a:rPr lang="en-US" dirty="0" err="1"/>
              <a:t>Algina</a:t>
            </a:r>
            <a:r>
              <a:rPr lang="en-US" dirty="0"/>
              <a:t> &amp; </a:t>
            </a:r>
            <a:r>
              <a:rPr lang="en-US" dirty="0" err="1"/>
              <a:t>Olejnik</a:t>
            </a:r>
            <a:r>
              <a:rPr lang="en-US" dirty="0"/>
              <a:t>, 2000; Maxwell, 2000)</a:t>
            </a:r>
          </a:p>
          <a:p>
            <a:pPr lvl="1"/>
            <a:r>
              <a:rPr lang="en-US" dirty="0"/>
              <a:t>Larger sample sizes needed for estimation (e.g., </a:t>
            </a:r>
            <a:r>
              <a:rPr lang="en-US" dirty="0" err="1"/>
              <a:t>Pedhazur</a:t>
            </a:r>
            <a:r>
              <a:rPr lang="en-US" dirty="0"/>
              <a:t>, 1997)</a:t>
            </a:r>
          </a:p>
          <a:p>
            <a:r>
              <a:rPr lang="en-US" dirty="0"/>
              <a:t>Sample size increases as the squared multiple correlation coefficient diminishes (Knofszynski, 2008)</a:t>
            </a:r>
          </a:p>
          <a:p>
            <a:r>
              <a:rPr lang="en-US" dirty="0"/>
              <a:t>Recommendation:  estimate power using power software and to consult current advances based on simulation research such as Knofszynski (2008)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83269588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Multiple Linear Regression Is and How It Works: Power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multiple regression, power is a function</a:t>
            </a:r>
          </a:p>
          <a:p>
            <a:pPr lvl="1"/>
            <a:r>
              <a:rPr lang="en-US" dirty="0"/>
              <a:t>sample size</a:t>
            </a:r>
          </a:p>
          <a:p>
            <a:pPr lvl="1"/>
            <a:r>
              <a:rPr lang="en-US" dirty="0"/>
              <a:t>number of predictors</a:t>
            </a:r>
          </a:p>
          <a:p>
            <a:pPr lvl="1"/>
            <a:r>
              <a:rPr lang="en-US" dirty="0"/>
              <a:t>level of significance</a:t>
            </a:r>
          </a:p>
          <a:p>
            <a:pPr lvl="1"/>
            <a:r>
              <a:rPr lang="en-US" dirty="0"/>
              <a:t>size of the population effect</a:t>
            </a:r>
          </a:p>
          <a:p>
            <a:r>
              <a:rPr lang="en-US" dirty="0"/>
              <a:t>Recommendation: consult power table or power software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40173264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Multiple Linear Regression Is and How It Works: Effect Size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Coefficient of multiple determination or multiple correlation coefficient</a:t>
            </a:r>
          </a:p>
          <a:p>
            <a:r>
              <a:rPr lang="en-US" dirty="0"/>
              <a:t>Squared multiple correlation coefficient which can be used to compute a globalized </a:t>
            </a:r>
            <a:r>
              <a:rPr lang="en-US" i="1" dirty="0"/>
              <a:t>f</a:t>
            </a:r>
            <a:r>
              <a:rPr lang="en-US" i="1" baseline="30000" dirty="0"/>
              <a:t>2</a:t>
            </a:r>
            <a:r>
              <a:rPr lang="en-US" i="1" dirty="0"/>
              <a:t> </a:t>
            </a:r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2289184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77240" y="1033272"/>
            <a:ext cx="9601200" cy="782638"/>
          </a:xfrm>
        </p:spPr>
        <p:txBody>
          <a:bodyPr>
            <a:normAutofit fontScale="90000"/>
          </a:bodyPr>
          <a:lstStyle/>
          <a:p>
            <a:r>
              <a:rPr lang="en-US" dirty="0"/>
              <a:t>Mathematical Introduction Snapshot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777240" y="2225392"/>
            <a:ext cx="10186768" cy="2416946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chemeClr val="tx1"/>
                </a:solidFill>
              </a:rPr>
              <a:t>Example: Can I predict your graduate GPA based on your undergraduate GPA &amp; score on the GRE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Note: Be very </a:t>
            </a:r>
            <a:r>
              <a:rPr lang="en-US" dirty="0" err="1">
                <a:solidFill>
                  <a:schemeClr val="tx1"/>
                </a:solidFill>
              </a:rPr>
              <a:t>very</a:t>
            </a:r>
            <a:r>
              <a:rPr lang="en-US" dirty="0">
                <a:solidFill>
                  <a:schemeClr val="tx1"/>
                </a:solidFill>
              </a:rPr>
              <a:t> careful about what you CLAIM after the analysis. Your conclusions and policy recommendations can be very detrimental particularly to historically marginalized populations!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You should also ask yourself: Who Cares?</a:t>
            </a:r>
          </a:p>
        </p:txBody>
      </p:sp>
    </p:spTree>
    <p:extLst>
      <p:ext uri="{BB962C8B-B14F-4D97-AF65-F5344CB8AC3E}">
        <p14:creationId xmlns:p14="http://schemas.microsoft.com/office/powerpoint/2010/main" val="3686206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7ADB2-F10B-CCE0-2130-152B3510A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turn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81A03B-3D93-958C-2FC1-826516F10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I predict your graduate GPA based on your undergraduate GPA &amp; score on the GRE</a:t>
            </a:r>
          </a:p>
          <a:p>
            <a:r>
              <a:rPr lang="en-US" b="1" dirty="0" err="1"/>
              <a:t>gre_example.sav</a:t>
            </a:r>
            <a:endParaRPr lang="en-US" b="1" dirty="0"/>
          </a:p>
          <a:p>
            <a:r>
              <a:rPr lang="en-US" dirty="0"/>
              <a:t>Process</a:t>
            </a:r>
          </a:p>
          <a:p>
            <a:pPr lvl="1"/>
            <a:r>
              <a:rPr lang="en-US" dirty="0"/>
              <a:t>Look at descriptive statistics</a:t>
            </a:r>
          </a:p>
          <a:p>
            <a:pPr lvl="1"/>
            <a:r>
              <a:rPr lang="en-US" dirty="0"/>
              <a:t>Calculate the zero order and partial correlations between the variables</a:t>
            </a:r>
          </a:p>
          <a:p>
            <a:pPr lvl="1"/>
            <a:r>
              <a:rPr lang="en-US" dirty="0"/>
              <a:t>Run regression analysis</a:t>
            </a:r>
          </a:p>
          <a:p>
            <a:pPr lvl="1"/>
            <a:r>
              <a:rPr lang="en-US" dirty="0"/>
              <a:t>Interpret coefficients</a:t>
            </a:r>
          </a:p>
          <a:p>
            <a:pPr lvl="1"/>
            <a:r>
              <a:rPr lang="en-US" dirty="0"/>
              <a:t>Evaluate overall model for assumptions and fit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60877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A7F09-327D-DEBB-4BFF-BF68A7084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GRE-GPA Example Data</a:t>
            </a:r>
            <a:endParaRPr lang="en-US" dirty="0"/>
          </a:p>
        </p:txBody>
      </p:sp>
      <p:graphicFrame>
        <p:nvGraphicFramePr>
          <p:cNvPr id="4" name="Content Placeholder 5">
            <a:extLst>
              <a:ext uri="{FF2B5EF4-FFF2-40B4-BE49-F238E27FC236}">
                <a16:creationId xmlns:a16="http://schemas.microsoft.com/office/drawing/2014/main" id="{43A655EA-A580-27E8-331C-00165997576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9213566" cy="4215384"/>
        </p:xfrm>
        <a:graphic>
          <a:graphicData uri="http://schemas.openxmlformats.org/drawingml/2006/table">
            <a:tbl>
              <a:tblPr firstRow="1" firstCol="1" bandRow="1">
                <a:tableStyleId>{8EC20E35-A176-4012-BC5E-935CFFF8708E}</a:tableStyleId>
              </a:tblPr>
              <a:tblGrid>
                <a:gridCol w="12106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507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9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1282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Student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GRE-Total (X</a:t>
                      </a:r>
                      <a:r>
                        <a:rPr lang="en-US" sz="2000" baseline="-25000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)   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Undergraduate GPA (X</a:t>
                      </a:r>
                      <a:r>
                        <a:rPr lang="en-US" sz="2000" baseline="-25000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)     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Graduate GPA(Y)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282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145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3.2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4.0</a:t>
                      </a:r>
                      <a:endParaRPr lang="en-US" sz="2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1282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120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3.7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3.9</a:t>
                      </a:r>
                      <a:endParaRPr lang="en-US" sz="2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1282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US" sz="2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125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3.6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3.8</a:t>
                      </a:r>
                      <a:endParaRPr lang="en-US" sz="2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1282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4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130</a:t>
                      </a:r>
                      <a:endParaRPr lang="en-US" sz="2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2.9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3.7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282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5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110</a:t>
                      </a:r>
                      <a:endParaRPr lang="en-US" sz="2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3.5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3.6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1282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100</a:t>
                      </a:r>
                      <a:endParaRPr lang="en-US" sz="2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3.3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3.5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1282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7</a:t>
                      </a:r>
                      <a:endParaRPr lang="en-US" sz="2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  95</a:t>
                      </a:r>
                      <a:endParaRPr lang="en-US" sz="2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3.0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3.4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1282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8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115</a:t>
                      </a:r>
                      <a:endParaRPr lang="en-US" sz="2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2.7</a:t>
                      </a:r>
                      <a:endParaRPr lang="en-US" sz="2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3.3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1282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9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105</a:t>
                      </a:r>
                      <a:endParaRPr lang="en-US" sz="2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3.1</a:t>
                      </a:r>
                      <a:endParaRPr lang="en-US" sz="2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3.2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1282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  90</a:t>
                      </a:r>
                      <a:endParaRPr lang="en-US" sz="2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2.8</a:t>
                      </a:r>
                      <a:endParaRPr lang="en-US" sz="2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3.1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1282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11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105</a:t>
                      </a:r>
                      <a:endParaRPr lang="en-US" sz="2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chemeClr val="tx1"/>
                          </a:solidFill>
                          <a:effectLst/>
                        </a:rPr>
                        <a:t>2.4</a:t>
                      </a:r>
                      <a:endParaRPr lang="en-US" sz="2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</a:rPr>
                        <a:t>3.0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96388" marR="96388" marT="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0973145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6B835-954D-B6C7-5CC0-334BB52AED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15" y="362585"/>
            <a:ext cx="4333875" cy="39147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A66B28-B773-D4FE-D25D-F6C3AFDE8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4855" y="117243"/>
            <a:ext cx="5306213" cy="320784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7F1595-8F89-E0F3-7BE0-2F4E8A582136}"/>
                  </a:ext>
                </a:extLst>
              </p:cNvPr>
              <p:cNvSpPr txBox="1"/>
              <p:nvPr/>
            </p:nvSpPr>
            <p:spPr>
              <a:xfrm>
                <a:off x="5569614" y="3325090"/>
                <a:ext cx="3303008" cy="6865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𝑏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𝑌</m:t>
                              </m:r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−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𝑌</m:t>
                              </m:r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12</m:t>
                              </m:r>
                            </m:sub>
                          </m:s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𝑠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𝑌</m:t>
                              </m:r>
                            </m:sub>
                          </m:sSub>
                        </m:num>
                        <m:den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(1−</m:t>
                          </m:r>
                          <m:sSubSup>
                            <m:sSub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12</m:t>
                              </m:r>
                            </m:sub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b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𝑠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7F1595-8F89-E0F3-7BE0-2F4E8A582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9614" y="3325090"/>
                <a:ext cx="3303008" cy="6865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3293D607-D607-CA0F-21C3-A7DC365833A0}"/>
              </a:ext>
            </a:extLst>
          </p:cNvPr>
          <p:cNvSpPr txBox="1"/>
          <p:nvPr/>
        </p:nvSpPr>
        <p:spPr>
          <a:xfrm>
            <a:off x="5883604" y="4164677"/>
            <a:ext cx="267502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= GPA in graduate school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= GRE score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= Undergraduate GPA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3CAF81D-FAE5-43AE-52E3-F9F0877CB816}"/>
              </a:ext>
            </a:extLst>
          </p:cNvPr>
          <p:cNvCxnSpPr>
            <a:cxnSpLocks/>
          </p:cNvCxnSpPr>
          <p:nvPr/>
        </p:nvCxnSpPr>
        <p:spPr>
          <a:xfrm flipV="1">
            <a:off x="8146473" y="1953491"/>
            <a:ext cx="889462" cy="28595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35BB664-2022-C37A-187C-24855371DF14}"/>
                  </a:ext>
                </a:extLst>
              </p:cNvPr>
              <p:cNvSpPr txBox="1"/>
              <p:nvPr/>
            </p:nvSpPr>
            <p:spPr>
              <a:xfrm>
                <a:off x="5604854" y="5408163"/>
                <a:ext cx="5708767" cy="6964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𝑏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𝑌</m:t>
                              </m:r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−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𝑌</m:t>
                              </m:r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12</m:t>
                              </m:r>
                            </m:sub>
                          </m:s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𝑠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𝑌</m:t>
                              </m:r>
                            </m:sub>
                          </m:sSub>
                        </m:num>
                        <m:den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(1−</m:t>
                          </m:r>
                          <m:sSubSup>
                            <m:sSub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12</m:t>
                              </m:r>
                            </m:sub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b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𝑠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𝑌</m:t>
                                  </m:r>
                                  <m: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.</m:t>
                                  </m:r>
                                  <m: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𝑋</m:t>
                                  </m:r>
                                  <m: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𝑌</m:t>
                                  </m:r>
                                  <m: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.</m:t>
                                  </m:r>
                                  <m: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𝑋</m:t>
                                  </m:r>
                                  <m: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</m:d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.3312</m:t>
                          </m:r>
                        </m:num>
                        <m:den>
                          <m:d>
                            <m:d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1−</m:t>
                              </m:r>
                              <m:sSubSup>
                                <m:sSubSupPr>
                                  <m:ctrlP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SupPr>
                                <m:e>
                                  <m: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12</m:t>
                                  </m:r>
                                </m:sub>
                                <m:sup>
                                  <m:r>
                                    <a:rPr kumimoji="0" lang="en-US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.4011</m:t>
                          </m:r>
                        </m:den>
                      </m:f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35BB664-2022-C37A-187C-24855371DF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4854" y="5408163"/>
                <a:ext cx="5708767" cy="69647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09EEF7B-421A-68BF-F2ED-D975AA882B9E}"/>
              </a:ext>
            </a:extLst>
          </p:cNvPr>
          <p:cNvCxnSpPr>
            <a:cxnSpLocks/>
          </p:cNvCxnSpPr>
          <p:nvPr/>
        </p:nvCxnSpPr>
        <p:spPr>
          <a:xfrm flipV="1">
            <a:off x="8454044" y="1953491"/>
            <a:ext cx="1720734" cy="24190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533615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0644631-19BC-BEFC-33D0-2324257E2C88}"/>
                  </a:ext>
                </a:extLst>
              </p:cNvPr>
              <p:cNvSpPr txBox="1"/>
              <p:nvPr/>
            </p:nvSpPr>
            <p:spPr>
              <a:xfrm>
                <a:off x="6096000" y="6187181"/>
                <a:ext cx="6312215" cy="6964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𝑏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𝑌</m:t>
                              </m:r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−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𝑌</m:t>
                              </m:r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12</m:t>
                              </m:r>
                            </m:sub>
                          </m:s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𝑠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𝑌</m:t>
                              </m:r>
                            </m:sub>
                          </m:sSub>
                        </m:num>
                        <m:den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(1−</m:t>
                          </m:r>
                          <m:sSubSup>
                            <m:sSub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12</m:t>
                              </m:r>
                            </m:sub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b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𝑠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[.7516−(.784)(.301)].33</m:t>
                          </m:r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num>
                        <m:den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(1−.30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).401</m:t>
                          </m:r>
                        </m:den>
                      </m:f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0644631-19BC-BEFC-33D0-2324257E2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6187181"/>
                <a:ext cx="6312215" cy="69647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69D93EA-66A0-0FB3-CBFF-106511510856}"/>
                  </a:ext>
                </a:extLst>
              </p:cNvPr>
              <p:cNvSpPr txBox="1"/>
              <p:nvPr/>
            </p:nvSpPr>
            <p:spPr>
              <a:xfrm>
                <a:off x="-5767" y="6009553"/>
                <a:ext cx="139030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𝑌</m:t>
                          </m:r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.</m:t>
                          </m:r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𝑋</m:t>
                          </m:r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=.752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69D93EA-66A0-0FB3-CBFF-1065115108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767" y="6009553"/>
                <a:ext cx="1390301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2C8B318D-FC28-D191-D583-8C0750D76CF6}"/>
              </a:ext>
            </a:extLst>
          </p:cNvPr>
          <p:cNvSpPr txBox="1"/>
          <p:nvPr/>
        </p:nvSpPr>
        <p:spPr>
          <a:xfrm>
            <a:off x="1326345" y="6017904"/>
            <a:ext cx="51215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correlation between Graduate GPA and Undergrad GPA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D689F5F-21CF-43EF-CF87-323A7CE36FBC}"/>
                  </a:ext>
                </a:extLst>
              </p:cNvPr>
              <p:cNvSpPr txBox="1"/>
              <p:nvPr/>
            </p:nvSpPr>
            <p:spPr>
              <a:xfrm>
                <a:off x="3934" y="5640221"/>
                <a:ext cx="139030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𝑌</m:t>
                          </m:r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.</m:t>
                          </m:r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𝑋</m:t>
                          </m:r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=.784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D689F5F-21CF-43EF-CF87-323A7CE36F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4" y="5640221"/>
                <a:ext cx="1390301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E0B8B5DD-AE32-BD1D-8042-6BB4E0E4E142}"/>
              </a:ext>
            </a:extLst>
          </p:cNvPr>
          <p:cNvSpPr txBox="1"/>
          <p:nvPr/>
        </p:nvSpPr>
        <p:spPr>
          <a:xfrm>
            <a:off x="1326345" y="5650387"/>
            <a:ext cx="41915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correlation between GRE and Graduate GPA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BA02F6-EA4D-76EE-E5F0-D730A1B30AE7}"/>
                  </a:ext>
                </a:extLst>
              </p:cNvPr>
              <p:cNvSpPr txBox="1"/>
              <p:nvPr/>
            </p:nvSpPr>
            <p:spPr>
              <a:xfrm>
                <a:off x="-63956" y="6389051"/>
                <a:ext cx="139030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12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=.301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BA02F6-EA4D-76EE-E5F0-D730A1B30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3956" y="6389051"/>
                <a:ext cx="139030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38C1B4FE-8B7F-9E14-6DC1-D7D7FB1D950B}"/>
              </a:ext>
            </a:extLst>
          </p:cNvPr>
          <p:cNvSpPr txBox="1"/>
          <p:nvPr/>
        </p:nvSpPr>
        <p:spPr>
          <a:xfrm>
            <a:off x="1326345" y="6385421"/>
            <a:ext cx="46760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correlation between GRE and Undergraduate GPA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1E7137E-8CFA-FD33-5603-4FDED82C8D3F}"/>
                  </a:ext>
                </a:extLst>
              </p:cNvPr>
              <p:cNvSpPr txBox="1"/>
              <p:nvPr/>
            </p:nvSpPr>
            <p:spPr>
              <a:xfrm>
                <a:off x="6256960" y="5477771"/>
                <a:ext cx="6097384" cy="686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𝑏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𝑌</m:t>
                              </m:r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1.</m:t>
                              </m:r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−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𝑌</m:t>
                              </m:r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12</m:t>
                              </m:r>
                            </m:sub>
                          </m:s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𝑠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𝑌</m:t>
                              </m:r>
                            </m:sub>
                          </m:sSub>
                        </m:num>
                        <m:den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(1−</m:t>
                          </m:r>
                          <m:sSubSup>
                            <m:sSub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12</m:t>
                              </m:r>
                            </m:sub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b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𝑠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[.784−(.75</m:t>
                          </m:r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)(.301)].33</m:t>
                          </m:r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num>
                        <m:den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(1−.30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)16.33</m:t>
                          </m:r>
                        </m:den>
                      </m:f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1E7137E-8CFA-FD33-5603-4FDED82C8D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6960" y="5477771"/>
                <a:ext cx="6097384" cy="68698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Left Brace 17">
            <a:extLst>
              <a:ext uri="{FF2B5EF4-FFF2-40B4-BE49-F238E27FC236}">
                <a16:creationId xmlns:a16="http://schemas.microsoft.com/office/drawing/2014/main" id="{09EA7DC4-5323-88CA-9D10-F014EF0112DF}"/>
              </a:ext>
            </a:extLst>
          </p:cNvPr>
          <p:cNvSpPr/>
          <p:nvPr/>
        </p:nvSpPr>
        <p:spPr>
          <a:xfrm>
            <a:off x="1394235" y="707783"/>
            <a:ext cx="573578" cy="175999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179394-BB93-CA05-A034-F605F0C7C971}"/>
              </a:ext>
            </a:extLst>
          </p:cNvPr>
          <p:cNvSpPr txBox="1"/>
          <p:nvPr/>
        </p:nvSpPr>
        <p:spPr>
          <a:xfrm>
            <a:off x="105762" y="937638"/>
            <a:ext cx="18620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Zero order (the Pearson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you already know)</a:t>
            </a:r>
          </a:p>
        </p:txBody>
      </p:sp>
      <p:sp>
        <p:nvSpPr>
          <p:cNvPr id="20" name="Left Brace 19">
            <a:extLst>
              <a:ext uri="{FF2B5EF4-FFF2-40B4-BE49-F238E27FC236}">
                <a16:creationId xmlns:a16="http://schemas.microsoft.com/office/drawing/2014/main" id="{6CAFEFA1-7C21-58AF-3507-1EF19A3E7A2D}"/>
              </a:ext>
            </a:extLst>
          </p:cNvPr>
          <p:cNvSpPr/>
          <p:nvPr/>
        </p:nvSpPr>
        <p:spPr>
          <a:xfrm>
            <a:off x="6699787" y="3009603"/>
            <a:ext cx="573578" cy="1011642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8679BF-ECE9-8C08-1FED-3DBA82183816}"/>
              </a:ext>
            </a:extLst>
          </p:cNvPr>
          <p:cNvSpPr txBox="1"/>
          <p:nvPr/>
        </p:nvSpPr>
        <p:spPr>
          <a:xfrm>
            <a:off x="4837735" y="2777539"/>
            <a:ext cx="186205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Partial correlation (the correlation after one variable has been partialed out)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090D52-230E-263E-81B8-7C376AEEFA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54266" y="1923971"/>
            <a:ext cx="4724400" cy="2590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4EFEC0-C1E6-1EFD-03E1-C9EC52A90A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40039" y="99617"/>
            <a:ext cx="4943728" cy="254065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EA1A2B7-40DA-CC98-9FFF-12B488566CA9}"/>
              </a:ext>
            </a:extLst>
          </p:cNvPr>
          <p:cNvSpPr txBox="1"/>
          <p:nvPr/>
        </p:nvSpPr>
        <p:spPr>
          <a:xfrm>
            <a:off x="689383" y="3597417"/>
            <a:ext cx="267502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= GPA in graduate school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= GRE score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= Undergraduate GPA</a:t>
            </a:r>
          </a:p>
        </p:txBody>
      </p:sp>
    </p:spTree>
    <p:extLst>
      <p:ext uri="{BB962C8B-B14F-4D97-AF65-F5344CB8AC3E}">
        <p14:creationId xmlns:p14="http://schemas.microsoft.com/office/powerpoint/2010/main" val="1905867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9" grpId="0"/>
      <p:bldP spid="10" grpId="0"/>
      <p:bldP spid="11" grpId="0"/>
      <p:bldP spid="12" grpId="0"/>
      <p:bldP spid="13" grpId="0"/>
      <p:bldP spid="17" grpId="0"/>
      <p:bldP spid="18" grpId="0" animBg="1"/>
      <p:bldP spid="19" grpId="0"/>
      <p:bldP spid="20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Partial Slope and Intercept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bject 3"/>
              <p:cNvSpPr txBox="1"/>
              <p:nvPr/>
            </p:nvSpPr>
            <p:spPr bwMode="auto">
              <a:xfrm>
                <a:off x="2592388" y="2355850"/>
                <a:ext cx="6872287" cy="858838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𝑏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𝑌</m:t>
                              </m:r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−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𝑌</m:t>
                              </m:r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12</m:t>
                              </m:r>
                            </m:sub>
                          </m:s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𝑠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𝑌</m:t>
                              </m:r>
                            </m:sub>
                          </m:sSub>
                        </m:num>
                        <m:den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(1−</m:t>
                          </m:r>
                          <m:sSubSup>
                            <m:sSub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12</m:t>
                              </m:r>
                            </m:sub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b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𝑠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[.7845−(.7516)(.3011)].3317</m:t>
                          </m:r>
                        </m:num>
                        <m:den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(1−.301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)16.3346</m:t>
                          </m:r>
                        </m:den>
                      </m:f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=.0125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Objec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92388" y="2355850"/>
                <a:ext cx="6872287" cy="8588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4"/>
              <p:cNvSpPr txBox="1"/>
              <p:nvPr/>
            </p:nvSpPr>
            <p:spPr bwMode="auto">
              <a:xfrm>
                <a:off x="2341376" y="3536950"/>
                <a:ext cx="6807200" cy="850900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𝑏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𝑌</m:t>
                              </m:r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−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𝑌</m:t>
                              </m:r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12</m:t>
                              </m:r>
                            </m:sub>
                          </m:s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𝑠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𝑌</m:t>
                              </m:r>
                            </m:sub>
                          </m:sSub>
                        </m:num>
                        <m:den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(1−</m:t>
                          </m:r>
                          <m:sSubSup>
                            <m:sSub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12</m:t>
                              </m:r>
                            </m:sub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b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𝑠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[.7516−(.7845)(.3011)].3317</m:t>
                          </m:r>
                        </m:num>
                        <m:den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(1−.301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).4011</m:t>
                          </m:r>
                        </m:den>
                      </m:f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=.4687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" name="Objec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41376" y="3536950"/>
                <a:ext cx="6807200" cy="8509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2592925" y="304800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8"/>
              <p:cNvSpPr txBox="1"/>
              <p:nvPr/>
            </p:nvSpPr>
            <p:spPr bwMode="auto">
              <a:xfrm>
                <a:off x="2142331" y="4935471"/>
                <a:ext cx="7907337" cy="449263"/>
              </a:xfrm>
              <a:prstGeom prst="rect">
                <a:avLst/>
              </a:prstGeom>
              <a:noFill/>
            </p:spPr>
            <p:txBody>
              <a:bodyPr>
                <a:normAutofit fontScale="92500"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𝑏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0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acc>
                        <m:accPr>
                          <m:chr m:val="̄"/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acc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𝑌</m:t>
                          </m:r>
                        </m:e>
                      </m:acc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𝑏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acc>
                            <m:accPr>
                              <m:chr m:val="̄"/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𝑏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acc>
                            <m:accPr>
                              <m:chr m:val="̄"/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=3.5000−(.0125)(112.7273)−(.4687)(3.1091)=.6337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9" name="Object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42331" y="4935471"/>
                <a:ext cx="7907337" cy="4492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772865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Multiple Linear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i="1" dirty="0"/>
                  <a:t>Y</a:t>
                </a:r>
                <a:r>
                  <a:rPr lang="en-US" i="1" baseline="-25000" dirty="0"/>
                  <a:t>i</a:t>
                </a:r>
                <a:r>
                  <a:rPr lang="en-US" dirty="0"/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/>
                  <a:t>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+</a:t>
                </a:r>
                <a:r>
                  <a:rPr lang="en-US" i="1" dirty="0"/>
                  <a:t> </a:t>
                </a:r>
                <a:r>
                  <a:rPr lang="en-US" i="1" dirty="0" err="1"/>
                  <a:t>e</a:t>
                </a:r>
                <a:r>
                  <a:rPr lang="en-US" i="1" baseline="-25000" dirty="0" err="1"/>
                  <a:t>i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m:rPr>
                            <m:nor/>
                          </m:rPr>
                          <a:rPr lang="en-US" i="1" baseline="-25000" dirty="0"/>
                          <m:t>i</m:t>
                        </m:r>
                      </m:e>
                    </m:acc>
                  </m:oMath>
                </a14:m>
                <a:r>
                  <a:rPr lang="en-US" dirty="0"/>
                  <a:t>= .6337 +</a:t>
                </a:r>
                <a:r>
                  <a:rPr lang="en-US" i="1" dirty="0"/>
                  <a:t> </a:t>
                </a:r>
                <a:r>
                  <a:rPr lang="en-US" dirty="0"/>
                  <a:t>.0125 </a:t>
                </a:r>
                <a:r>
                  <a:rPr lang="en-US" i="1" dirty="0"/>
                  <a:t>X</a:t>
                </a:r>
                <a:r>
                  <a:rPr lang="en-US" baseline="-25000" dirty="0"/>
                  <a:t>1</a:t>
                </a:r>
                <a:r>
                  <a:rPr lang="en-US" dirty="0"/>
                  <a:t> + .4687 </a:t>
                </a:r>
                <a:r>
                  <a:rPr lang="en-US" i="1" dirty="0"/>
                  <a:t>X</a:t>
                </a:r>
                <a:r>
                  <a:rPr lang="en-US" baseline="-25000" dirty="0"/>
                  <a:t>2</a:t>
                </a:r>
                <a:r>
                  <a:rPr lang="en-US" dirty="0"/>
                  <a:t> + </a:t>
                </a:r>
                <a:r>
                  <a:rPr lang="en-US" i="1" dirty="0" err="1"/>
                  <a:t>e</a:t>
                </a:r>
                <a:r>
                  <a:rPr lang="en-US" i="1" baseline="-25000" dirty="0" err="1"/>
                  <a:t>i</a:t>
                </a:r>
                <a:endParaRPr lang="en-US" i="1" baseline="-25000" dirty="0"/>
              </a:p>
              <a:p>
                <a:r>
                  <a:rPr lang="en-US" dirty="0"/>
                  <a:t>If your score on the GRETOT was 130 and your UGPA was 3.5, then your predicted score on the GGPA would be computed as: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m:rPr>
                            <m:nor/>
                          </m:rPr>
                          <a:rPr lang="en-US" i="1" baseline="-25000" dirty="0"/>
                          <m:t>i</m:t>
                        </m:r>
                      </m:e>
                    </m:acc>
                  </m:oMath>
                </a14:m>
                <a:r>
                  <a:rPr lang="en-US" dirty="0"/>
                  <a:t> = .0125 (130) + .4687 (3.5000) + .6337 = 3.8992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65AA303-35CC-6F9A-B0AA-F69860F9E428}"/>
              </a:ext>
            </a:extLst>
          </p:cNvPr>
          <p:cNvSpPr txBox="1"/>
          <p:nvPr/>
        </p:nvSpPr>
        <p:spPr>
          <a:xfrm>
            <a:off x="228600" y="6235348"/>
            <a:ext cx="93552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Run the MLR of grad school GPA on undergraduate GPA and GRE using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gre_example.SAV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8087374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</a:t>
            </a:r>
            <a:r>
              <a:rPr lang="en-US" i="1" dirty="0"/>
              <a:t>F </a:t>
            </a:r>
            <a:r>
              <a:rPr lang="en-US" dirty="0"/>
              <a:t>Test Statistic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48507" y="2133600"/>
            <a:ext cx="10289557" cy="4002203"/>
          </a:xfrm>
        </p:spPr>
        <p:txBody>
          <a:bodyPr>
            <a:normAutofit/>
          </a:bodyPr>
          <a:lstStyle/>
          <a:p>
            <a:endParaRPr lang="en-US" dirty="0"/>
          </a:p>
          <a:p>
            <a:pPr>
              <a:lnSpc>
                <a:spcPct val="120000"/>
              </a:lnSpc>
            </a:pPr>
            <a:r>
              <a:rPr lang="en-US" dirty="0"/>
              <a:t>The null: all slopes equal 0</a:t>
            </a:r>
          </a:p>
          <a:p>
            <a:pPr>
              <a:lnSpc>
                <a:spcPct val="120000"/>
              </a:lnSpc>
            </a:pPr>
            <a:r>
              <a:rPr lang="en-US" dirty="0"/>
              <a:t>The critical value, at the .05 level of significance, is </a:t>
            </a:r>
            <a:r>
              <a:rPr lang="en-US" baseline="-25000" dirty="0"/>
              <a:t>.05</a:t>
            </a:r>
            <a:r>
              <a:rPr lang="en-US" dirty="0"/>
              <a:t> </a:t>
            </a:r>
            <a:r>
              <a:rPr lang="en-US" i="1" dirty="0"/>
              <a:t>F</a:t>
            </a:r>
            <a:r>
              <a:rPr lang="en-US" dirty="0"/>
              <a:t> </a:t>
            </a:r>
            <a:r>
              <a:rPr lang="en-US" baseline="-25000" dirty="0"/>
              <a:t>2,8</a:t>
            </a:r>
            <a:r>
              <a:rPr lang="en-US" dirty="0"/>
              <a:t> = 4.46</a:t>
            </a:r>
          </a:p>
          <a:p>
            <a:pPr>
              <a:lnSpc>
                <a:spcPct val="120000"/>
              </a:lnSpc>
            </a:pPr>
            <a:r>
              <a:rPr lang="en-US" dirty="0"/>
              <a:t>Test statistic exceeds the critical value, so we reject </a:t>
            </a:r>
            <a:r>
              <a:rPr lang="en-US" i="1" dirty="0"/>
              <a:t>H</a:t>
            </a:r>
            <a:r>
              <a:rPr lang="en-US" baseline="-25000" dirty="0"/>
              <a:t>0 </a:t>
            </a:r>
            <a:r>
              <a:rPr lang="en-US" dirty="0"/>
              <a:t>and conclude that not all the partial slopes are equal to zero at the .05 level of significance, i.e., at least one is significant </a:t>
            </a:r>
          </a:p>
          <a:p>
            <a:endParaRPr lang="en-US" dirty="0"/>
          </a:p>
        </p:txBody>
      </p:sp>
      <p:sp>
        <p:nvSpPr>
          <p:cNvPr id="8" name="Rectangle 6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8"/>
          <p:cNvSpPr>
            <a:spLocks noChangeArrowheads="1"/>
          </p:cNvSpPr>
          <p:nvPr/>
        </p:nvSpPr>
        <p:spPr bwMode="auto">
          <a:xfrm>
            <a:off x="1690255" y="2680854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0"/>
              <p:cNvSpPr txBox="1"/>
              <p:nvPr/>
            </p:nvSpPr>
            <p:spPr bwMode="auto">
              <a:xfrm>
                <a:off x="3336320" y="1749425"/>
                <a:ext cx="4065587" cy="768350"/>
              </a:xfrm>
              <a:prstGeom prst="rect">
                <a:avLst/>
              </a:prstGeom>
              <a:noFill/>
            </p:spPr>
            <p:txBody>
              <a:bodyPr>
                <a:normAutofit fontScale="92500"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𝐹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𝑆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𝑆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𝑟𝑒𝑔</m:t>
                              </m:r>
                            </m:sub>
                          </m:s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/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𝑓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𝑟𝑒𝑔</m:t>
                              </m:r>
                            </m:sub>
                          </m:sSub>
                        </m:num>
                        <m:den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𝑆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𝑆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𝑟𝑒𝑠</m:t>
                              </m:r>
                            </m:sub>
                          </m:s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/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  <m:sSub>
                            <m:sSub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𝑓</m:t>
                              </m:r>
                            </m:e>
                            <m:sub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𝑟𝑒𝑠</m:t>
                              </m:r>
                            </m:sub>
                          </m:sSub>
                        </m:den>
                      </m:f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0.9998/2</m:t>
                          </m:r>
                        </m:num>
                        <m:den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.1002/8</m:t>
                          </m:r>
                        </m:den>
                      </m:f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=39.9122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1" name="Objec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36320" y="1749425"/>
                <a:ext cx="4065587" cy="7683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247495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A7850-659A-A702-FC7D-50CADDB6F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629266"/>
            <a:ext cx="4944152" cy="1622321"/>
          </a:xfrm>
        </p:spPr>
        <p:txBody>
          <a:bodyPr>
            <a:normAutofit/>
          </a:bodyPr>
          <a:lstStyle/>
          <a:p>
            <a:r>
              <a:rPr lang="en-US" altLang="en-US" sz="3700" dirty="0"/>
              <a:t>Example - Pharmacodynamics of LSD</a:t>
            </a:r>
            <a:endParaRPr lang="en-US" sz="37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7D8B5-C391-8978-9CB7-F06E9FB66A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0" y="2438400"/>
            <a:ext cx="4944151" cy="3785419"/>
          </a:xfrm>
        </p:spPr>
        <p:txBody>
          <a:bodyPr>
            <a:normAutofit/>
          </a:bodyPr>
          <a:lstStyle/>
          <a:p>
            <a:pPr>
              <a:spcBef>
                <a:spcPct val="50000"/>
              </a:spcBef>
              <a:buFontTx/>
              <a:buChar char="•"/>
            </a:pPr>
            <a:r>
              <a:rPr lang="en-US" altLang="en-US" sz="2400" dirty="0"/>
              <a:t>Response (</a:t>
            </a:r>
            <a:r>
              <a:rPr lang="en-US" altLang="en-US" sz="2400" i="1" dirty="0"/>
              <a:t>Y</a:t>
            </a:r>
            <a:r>
              <a:rPr lang="en-US" altLang="en-US" sz="2400" dirty="0"/>
              <a:t>) - Math score (mean among 5 volunteers)</a:t>
            </a:r>
          </a:p>
          <a:p>
            <a:pPr>
              <a:spcBef>
                <a:spcPct val="50000"/>
              </a:spcBef>
              <a:buFontTx/>
              <a:buChar char="•"/>
            </a:pPr>
            <a:r>
              <a:rPr lang="en-US" altLang="en-US" sz="2400" dirty="0"/>
              <a:t>Predictor (</a:t>
            </a:r>
            <a:r>
              <a:rPr lang="en-US" altLang="en-US" sz="2400" i="1" dirty="0"/>
              <a:t>X</a:t>
            </a:r>
            <a:r>
              <a:rPr lang="en-US" altLang="en-US" sz="2400" dirty="0"/>
              <a:t>) - LSD tissue concentration (mean of 5 volunteers)</a:t>
            </a:r>
          </a:p>
          <a:p>
            <a:pPr>
              <a:spcBef>
                <a:spcPct val="50000"/>
              </a:spcBef>
              <a:buFontTx/>
              <a:buChar char="•"/>
            </a:pPr>
            <a:r>
              <a:rPr lang="en-US" altLang="en-US" sz="2400" dirty="0"/>
              <a:t>Make scatterplot of data in SPSS</a:t>
            </a:r>
          </a:p>
          <a:p>
            <a:pPr>
              <a:spcBef>
                <a:spcPct val="50000"/>
              </a:spcBef>
              <a:buFontTx/>
              <a:buChar char="•"/>
            </a:pPr>
            <a:r>
              <a:rPr lang="en-US" altLang="en-US" sz="2400" dirty="0"/>
              <a:t>USE LSD.SAV – a made up example of LSD concentration in blood and math score on a test</a:t>
            </a:r>
          </a:p>
          <a:p>
            <a:endParaRPr lang="en-US" sz="24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B72CA38-28E1-BE66-5A1B-BD6AB9638BF6}"/>
              </a:ext>
            </a:extLst>
          </p:cNvPr>
          <p:cNvGraphicFramePr>
            <a:graphicFrameLocks noGrp="1"/>
          </p:cNvGraphicFramePr>
          <p:nvPr/>
        </p:nvGraphicFramePr>
        <p:xfrm>
          <a:off x="6904709" y="1019871"/>
          <a:ext cx="4475532" cy="4815017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2316348">
                  <a:extLst>
                    <a:ext uri="{9D8B030D-6E8A-4147-A177-3AD203B41FA5}">
                      <a16:colId xmlns:a16="http://schemas.microsoft.com/office/drawing/2014/main" val="1453637771"/>
                    </a:ext>
                  </a:extLst>
                </a:gridCol>
                <a:gridCol w="2159184">
                  <a:extLst>
                    <a:ext uri="{9D8B030D-6E8A-4147-A177-3AD203B41FA5}">
                      <a16:colId xmlns:a16="http://schemas.microsoft.com/office/drawing/2014/main" val="4081714369"/>
                    </a:ext>
                  </a:extLst>
                </a:gridCol>
              </a:tblGrid>
              <a:tr h="613617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Math Score (y)</a:t>
                      </a:r>
                      <a:endParaRPr lang="en-US" sz="2200" b="1" i="0" u="none" strike="noStrike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94802" marR="116881" marT="116881" marB="116881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8F9A9D">
                          <a:alpha val="60000"/>
                        </a:srgb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LSD Conc (x)</a:t>
                      </a:r>
                      <a:endParaRPr lang="en-US" sz="2200" b="1" i="0" u="none" strike="noStrike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94802" marR="116881" marT="116881" marB="116881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8F9A9D">
                          <a:alpha val="60000"/>
                        </a:srgb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3933667"/>
                  </a:ext>
                </a:extLst>
              </a:tr>
              <a:tr h="6002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78.93</a:t>
                      </a:r>
                      <a:endParaRPr lang="en-US" sz="2300" b="0" i="0" u="none" strike="noStrike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94802" marR="101297" marT="101297" marB="101297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1.17</a:t>
                      </a:r>
                      <a:endParaRPr lang="en-US" sz="2300" b="0" i="0" u="none" strike="noStrike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94802" marR="101297" marT="101297" marB="101297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4463077"/>
                  </a:ext>
                </a:extLst>
              </a:tr>
              <a:tr h="6002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58.20</a:t>
                      </a:r>
                      <a:endParaRPr lang="en-US" sz="2300" b="0" i="0" u="none" strike="noStrike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94802" marR="101297" marT="101297" marB="101297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2.97</a:t>
                      </a:r>
                      <a:endParaRPr lang="en-US" sz="2300" b="0" i="0" u="none" strike="noStrike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94802" marR="101297" marT="101297" marB="101297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300262"/>
                  </a:ext>
                </a:extLst>
              </a:tr>
              <a:tr h="6002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67.47</a:t>
                      </a:r>
                      <a:endParaRPr lang="en-US" sz="2300" b="0" i="0" u="none" strike="noStrike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94802" marR="101297" marT="101297" marB="101297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3.26</a:t>
                      </a:r>
                      <a:endParaRPr lang="en-US" sz="2300" b="0" i="0" u="none" strike="noStrike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94802" marR="101297" marT="101297" marB="101297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3957047"/>
                  </a:ext>
                </a:extLst>
              </a:tr>
              <a:tr h="6002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37.47</a:t>
                      </a:r>
                      <a:endParaRPr lang="en-US" sz="2300" b="0" i="0" u="none" strike="noStrike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94802" marR="101297" marT="101297" marB="101297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4.69</a:t>
                      </a:r>
                      <a:endParaRPr lang="en-US" sz="2300" b="0" i="0" u="none" strike="noStrike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94802" marR="101297" marT="101297" marB="101297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6888240"/>
                  </a:ext>
                </a:extLst>
              </a:tr>
              <a:tr h="6002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45.65</a:t>
                      </a:r>
                      <a:endParaRPr lang="en-US" sz="2300" b="0" i="0" u="none" strike="noStrike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94802" marR="101297" marT="101297" marB="101297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5.83</a:t>
                      </a:r>
                      <a:endParaRPr lang="en-US" sz="2300" b="0" i="0" u="none" strike="noStrike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94802" marR="101297" marT="101297" marB="101297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3704533"/>
                  </a:ext>
                </a:extLst>
              </a:tr>
              <a:tr h="6002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32.92</a:t>
                      </a:r>
                      <a:endParaRPr lang="en-US" sz="2300" b="0" i="0" u="none" strike="noStrike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94802" marR="101297" marT="101297" marB="101297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6.00</a:t>
                      </a:r>
                      <a:endParaRPr lang="en-US" sz="2300" b="0" i="0" u="none" strike="noStrike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94802" marR="101297" marT="101297" marB="101297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8489751"/>
                  </a:ext>
                </a:extLst>
              </a:tr>
              <a:tr h="6002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29.97</a:t>
                      </a:r>
                      <a:endParaRPr lang="en-US" sz="2300" b="0" i="0" u="none" strike="noStrike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94802" marR="101297" marT="101297" marB="101297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6.41</a:t>
                      </a:r>
                      <a:endParaRPr lang="en-US" sz="2300" b="0" i="0" u="none" strike="noStrike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94802" marR="101297" marT="101297" marB="101297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97669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07790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36FAB6-61A6-E872-031F-2C676EDF7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5C306-B9AD-2FBA-ED44-144C0C082D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practice problems in folder for this week and submit to me by next Friday on canvas</a:t>
            </a:r>
          </a:p>
          <a:p>
            <a:r>
              <a:rPr lang="en-US" dirty="0"/>
              <a:t>Run through the next example yourself and make sure you can replicate the results (</a:t>
            </a:r>
            <a:r>
              <a:rPr lang="en-US" dirty="0" err="1"/>
              <a:t>LSD.sav</a:t>
            </a:r>
            <a:r>
              <a:rPr lang="en-US" dirty="0"/>
              <a:t>, </a:t>
            </a:r>
            <a:r>
              <a:rPr lang="en-US" dirty="0" err="1"/>
              <a:t>LSD.jasp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2853915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B5571-6176-70BE-A5FF-BAA918421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From SPSS</a:t>
            </a:r>
          </a:p>
        </p:txBody>
      </p:sp>
      <p:pic>
        <p:nvPicPr>
          <p:cNvPr id="5" name="Content Placeholder 4" descr="Graphical user interface, application, table, Excel&#10;&#10;Description automatically generated">
            <a:extLst>
              <a:ext uri="{FF2B5EF4-FFF2-40B4-BE49-F238E27FC236}">
                <a16:creationId xmlns:a16="http://schemas.microsoft.com/office/drawing/2014/main" id="{C177F137-1E3C-0F61-C670-0435FFF26A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16088" b="-3"/>
          <a:stretch/>
        </p:blipFill>
        <p:spPr>
          <a:xfrm>
            <a:off x="198741" y="2410448"/>
            <a:ext cx="5803323" cy="3890357"/>
          </a:xfrm>
          <a:prstGeom prst="rect">
            <a:avLst/>
          </a:prstGeom>
        </p:spPr>
      </p:pic>
      <p:pic>
        <p:nvPicPr>
          <p:cNvPr id="7" name="Picture 6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D8769567-4DCB-ADBD-123D-E2C591CCBCC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-2" b="5246"/>
          <a:stretch/>
        </p:blipFill>
        <p:spPr>
          <a:xfrm>
            <a:off x="6189934" y="2410448"/>
            <a:ext cx="5803323" cy="3890357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69B29B4-159D-28E7-E1FA-C92B337F91C3}"/>
              </a:ext>
            </a:extLst>
          </p:cNvPr>
          <p:cNvCxnSpPr>
            <a:cxnSpLocks/>
          </p:cNvCxnSpPr>
          <p:nvPr/>
        </p:nvCxnSpPr>
        <p:spPr>
          <a:xfrm>
            <a:off x="5857103" y="2038865"/>
            <a:ext cx="1161535" cy="30150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8E0CAF5-AAD9-AEE5-41A3-1DDC8DFF1858}"/>
              </a:ext>
            </a:extLst>
          </p:cNvPr>
          <p:cNvCxnSpPr>
            <a:cxnSpLocks/>
          </p:cNvCxnSpPr>
          <p:nvPr/>
        </p:nvCxnSpPr>
        <p:spPr>
          <a:xfrm>
            <a:off x="685632" y="1223319"/>
            <a:ext cx="1391338" cy="16310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EF3EC96-24E3-38DF-2151-958A1EFC5842}"/>
              </a:ext>
            </a:extLst>
          </p:cNvPr>
          <p:cNvCxnSpPr/>
          <p:nvPr/>
        </p:nvCxnSpPr>
        <p:spPr>
          <a:xfrm>
            <a:off x="6899189" y="1931773"/>
            <a:ext cx="271849" cy="32745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83464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43C51-166B-1677-9F42-EAB66EF39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547815"/>
            <a:ext cx="5167185" cy="1680519"/>
          </a:xfrm>
        </p:spPr>
        <p:txBody>
          <a:bodyPr>
            <a:normAutofit/>
          </a:bodyPr>
          <a:lstStyle/>
          <a:p>
            <a:r>
              <a:rPr lang="en-US" sz="4000" dirty="0"/>
              <a:t>From SPSS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95E5F4B-64FA-2A27-CC92-6F56B8BD4D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86619" y="547815"/>
            <a:ext cx="5178960" cy="1680519"/>
          </a:xfrm>
        </p:spPr>
        <p:txBody>
          <a:bodyPr anchor="ctr">
            <a:normAutofit lnSpcReduction="10000"/>
          </a:bodyPr>
          <a:lstStyle/>
          <a:p>
            <a:r>
              <a:rPr lang="en-US" sz="2000" dirty="0"/>
              <a:t>Put score on Y axis and LSD on X axis</a:t>
            </a:r>
          </a:p>
          <a:p>
            <a:r>
              <a:rPr lang="en-US" sz="2000" dirty="0"/>
              <a:t>Before we customize the plot it will look like this</a:t>
            </a:r>
          </a:p>
          <a:p>
            <a:r>
              <a:rPr lang="en-US" sz="2000" dirty="0"/>
              <a:t>Let’s take some time making the chart look prettier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5AC5CE5-E4AE-8E4F-70AB-35D0BED5E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8" y="2449606"/>
            <a:ext cx="5167185" cy="36557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AD63E17-6146-B778-69E7-970B6836C1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394" y="2753177"/>
            <a:ext cx="5167185" cy="3048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22818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8220B-5CC9-A476-9333-FB3BE9B05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629266"/>
            <a:ext cx="3505495" cy="1622321"/>
          </a:xfrm>
        </p:spPr>
        <p:txBody>
          <a:bodyPr>
            <a:normAutofit/>
          </a:bodyPr>
          <a:lstStyle/>
          <a:p>
            <a:r>
              <a:rPr lang="en-US" dirty="0"/>
              <a:t>Revised Scatterplot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1A284C7-C4D1-67F2-7C0B-08686608ED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1" y="2438400"/>
            <a:ext cx="3505494" cy="3785419"/>
          </a:xfrm>
        </p:spPr>
        <p:txBody>
          <a:bodyPr>
            <a:normAutofit/>
          </a:bodyPr>
          <a:lstStyle/>
          <a:p>
            <a:r>
              <a:rPr lang="en-US" sz="2000" dirty="0"/>
              <a:t>As LSD concentration increases, math score decreases</a:t>
            </a:r>
          </a:p>
          <a:p>
            <a:r>
              <a:rPr lang="en-US" sz="2000" dirty="0"/>
              <a:t>Looks like a strong, linear relationship</a:t>
            </a:r>
          </a:p>
          <a:p>
            <a:r>
              <a:rPr lang="en-US" sz="2000" dirty="0"/>
              <a:t>Let’s do a SLR to get the nature of the relationship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C58127-D399-B3B2-1C6D-CE1F551C7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5862" y="1651674"/>
            <a:ext cx="6019331" cy="3551405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28400553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F2F5B-B309-2634-14E2-966F2ED44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8064" y="1284731"/>
            <a:ext cx="9637776" cy="1430696"/>
          </a:xfrm>
        </p:spPr>
        <p:txBody>
          <a:bodyPr>
            <a:normAutofit/>
          </a:bodyPr>
          <a:lstStyle/>
          <a:p>
            <a:r>
              <a:rPr lang="en-US"/>
              <a:t>Least Squares Computations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791BF0-E3EA-F6CB-4484-799D44B1E0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88064" y="2853879"/>
                <a:ext cx="9637776" cy="2714771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b="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900" b="0" i="1">
                            <a:latin typeface="Cambria Math" panose="02040503050406030204" pitchFamily="18" charset="0"/>
                          </a:rPr>
                          <m:t>𝑥𝑥</m:t>
                        </m:r>
                      </m:sub>
                    </m:sSub>
                    <m:r>
                      <a:rPr lang="en-US" sz="1900" b="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sz="1900" b="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sz="1900" b="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900" b="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1900" b="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sz="1900" b="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̅"/>
                                <m:ctrlP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acc>
                            <m:r>
                              <a:rPr lang="en-US" sz="1900" b="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1900" b="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sz="19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b="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900" b="0" i="1">
                            <a:latin typeface="Cambria Math" panose="02040503050406030204" pitchFamily="18" charset="0"/>
                          </a:rPr>
                          <m:t>𝑦𝑦</m:t>
                        </m:r>
                      </m:sub>
                    </m:sSub>
                    <m:r>
                      <a:rPr lang="en-US" sz="1900" b="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sz="1900" b="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sz="1900" b="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900" b="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1900" b="0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  <m:r>
                              <a:rPr lang="en-US" sz="1900" b="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̅"/>
                                <m:ctrlP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</m:acc>
                            <m:r>
                              <a:rPr lang="en-US" sz="1900" b="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1900" b="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sz="1900" b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b="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900" b="0" i="1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sz="1900" b="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sz="1900" b="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sz="1900" b="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900" b="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1900" b="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sz="1900" b="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̅"/>
                                <m:ctrlP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acc>
                            <m:r>
                              <a:rPr lang="en-US" sz="1900" b="0" i="1">
                                <a:latin typeface="Cambria Math" panose="02040503050406030204" pitchFamily="18" charset="0"/>
                              </a:rPr>
                              <m:t>)(</m:t>
                            </m:r>
                            <m:r>
                              <a:rPr lang="en-US" sz="1900" b="0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  <m:r>
                              <a:rPr lang="en-US" sz="1900" b="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̅"/>
                                <m:ctrlP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</m:acc>
                            <m:r>
                              <a:rPr lang="en-US" sz="1900" b="0" i="1">
                                <a:latin typeface="Cambria Math" panose="02040503050406030204" pitchFamily="18" charset="0"/>
                              </a:rPr>
                              <m:t>) </m:t>
                            </m:r>
                          </m:e>
                          <m:sup>
                            <m:r>
                              <a:rPr lang="en-US" sz="1900" b="0" i="1">
                                <a:latin typeface="Cambria Math" panose="02040503050406030204" pitchFamily="18" charset="0"/>
                              </a:rPr>
                              <m:t>  </m:t>
                            </m:r>
                          </m:sup>
                        </m:sSup>
                      </m:e>
                    </m:nary>
                  </m:oMath>
                </a14:m>
                <a:endParaRPr lang="en-US" sz="1900" b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b="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19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9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n-US" sz="1900" b="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p>
                              <m:sSupPr>
                                <m:ctrlP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9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900" b="0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acc>
                                <m: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  <m:t>)(</m:t>
                                </m:r>
                                <m: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9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900" b="0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</m:acc>
                                <m: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  <m:t>) </m:t>
                                </m:r>
                              </m:e>
                              <m:sup>
                                <m: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  <m:t>  </m:t>
                                </m:r>
                              </m:sup>
                            </m:sSup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n-US" sz="1900" b="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p>
                              <m:sSupPr>
                                <m:ctrlP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9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900" b="0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acc>
                                <m: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den>
                    </m:f>
                  </m:oMath>
                </a14:m>
                <a:r>
                  <a:rPr lang="en-US" sz="1900"/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900" b="0" i="1">
                                <a:latin typeface="Cambria Math" panose="02040503050406030204" pitchFamily="18" charset="0"/>
                              </a:rPr>
                              <m:t>𝑥𝑦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900" b="0" i="1">
                                <a:latin typeface="Cambria Math" panose="02040503050406030204" pitchFamily="18" charset="0"/>
                              </a:rPr>
                              <m:t>𝑥𝑥</m:t>
                            </m:r>
                          </m:sub>
                        </m:sSub>
                      </m:den>
                    </m:f>
                  </m:oMath>
                </a14:m>
                <a:endParaRPr lang="en-US" sz="19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b="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1900" b="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9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900" b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900" b="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900" b="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acc>
                  </m:oMath>
                </a14:m>
                <a:r>
                  <a:rPr lang="en-US" sz="190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b="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900" b="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19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acc>
                      <m:accPr>
                        <m:chr m:val="̅"/>
                        <m:ctrlPr>
                          <a:rPr lang="en-US" sz="1900" b="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900" b="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endParaRPr lang="en-US" sz="190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900" b="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900" b="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900"/>
                  <a:t> =</a:t>
                </a:r>
                <a14:m>
                  <m:oMath xmlns:m="http://schemas.openxmlformats.org/officeDocument/2006/math">
                    <m:r>
                      <a:rPr lang="en-US" sz="1900" b="0" i="0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n-US" sz="1900" b="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p>
                              <m:sSupPr>
                                <m:ctrlP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sz="19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900" b="0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</m:acc>
                                <m: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sz="1900" b="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num>
                      <m:den>
                        <m:r>
                          <a:rPr lang="en-US" sz="1900" b="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900" b="0" i="1">
                            <a:latin typeface="Cambria Math" panose="02040503050406030204" pitchFamily="18" charset="0"/>
                          </a:rPr>
                          <m:t>−2</m:t>
                        </m:r>
                      </m:den>
                    </m:f>
                  </m:oMath>
                </a14:m>
                <a:r>
                  <a:rPr lang="en-US" sz="190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900" b="0" i="1">
                            <a:latin typeface="Cambria Math" panose="02040503050406030204" pitchFamily="18" charset="0"/>
                          </a:rPr>
                          <m:t>𝑆𝑆𝐸</m:t>
                        </m:r>
                      </m:num>
                      <m:den>
                        <m:r>
                          <a:rPr lang="en-US" sz="1900" b="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900" b="0" i="1">
                            <a:latin typeface="Cambria Math" panose="02040503050406030204" pitchFamily="18" charset="0"/>
                          </a:rPr>
                          <m:t>−2</m:t>
                        </m:r>
                      </m:den>
                    </m:f>
                  </m:oMath>
                </a14:m>
                <a:endParaRPr lang="en-US" sz="190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791BF0-E3EA-F6CB-4484-799D44B1E0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88064" y="2853879"/>
                <a:ext cx="9637776" cy="2714771"/>
              </a:xfrm>
              <a:blipFill>
                <a:blip r:embed="rId2"/>
                <a:stretch>
                  <a:fillRect l="-443" t="-177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124895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924BA-EADE-96B8-58F8-18A0A77A2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629266"/>
            <a:ext cx="3505495" cy="1622321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  -</a:t>
            </a:r>
            <a:r>
              <a:rPr lang="en-US" sz="3600" dirty="0"/>
              <a:t>Pharmacodynamics of LSD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22">
                <a:extLst>
                  <a:ext uri="{FF2B5EF4-FFF2-40B4-BE49-F238E27FC236}">
                    <a16:creationId xmlns:a16="http://schemas.microsoft.com/office/drawing/2014/main" id="{811D6A4B-D9E9-EBE7-2E84-D2E724CFE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3436" y="2443315"/>
                <a:ext cx="4565620" cy="3785419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/>
                  <a:t>Column totals are in red</a:t>
                </a:r>
              </a:p>
              <a:p>
                <a:r>
                  <a:rPr lang="en-US" sz="2000" dirty="0"/>
                  <a:t>Verify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acc>
                  </m:oMath>
                </a14:m>
                <a:r>
                  <a:rPr lang="en-US" sz="2000" dirty="0"/>
                  <a:t> = 50.087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sz="2000" dirty="0"/>
                  <a:t> = 4.333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/>
                  <a:t>=</a:t>
                </a:r>
                <a:r>
                  <a:rPr lang="en-US" sz="2000" b="1" u="none" strike="noStrike" cap="none" spc="0" dirty="0">
                    <a:solidFill>
                      <a:srgbClr val="FF0000"/>
                    </a:solidFill>
                    <a:effectLst/>
                  </a:rPr>
                  <a:t> </a:t>
                </a:r>
                <a:r>
                  <a:rPr lang="en-US" sz="2000" u="none" strike="noStrike" cap="none" spc="0" dirty="0">
                    <a:effectLst/>
                  </a:rPr>
                  <a:t>-202.49/ 22.47=-9.01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000" i="0" u="none" strike="noStrike" cap="none" spc="0" dirty="0">
                    <a:effectLst/>
                  </a:rPr>
                  <a:t> 50.09 – (-9.01 x 4.33) = 89.10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acc>
                  </m:oMath>
                </a14:m>
                <a:r>
                  <a:rPr lang="en-US" sz="2000" i="0" u="none" strike="noStrike" cap="none" spc="0" dirty="0">
                    <a:effectLst/>
                  </a:rPr>
                  <a:t>=  89.10-9.01</a:t>
                </a:r>
                <a:r>
                  <a:rPr lang="en-US" sz="2000" i="1" u="none" strike="noStrike" cap="none" spc="0" dirty="0">
                    <a:effectLst/>
                  </a:rPr>
                  <a:t>X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i="0" u="none" strike="noStrike" cap="none" spc="0" dirty="0">
                    <a:effectLst/>
                  </a:rPr>
                  <a:t> = 50.72</a:t>
                </a:r>
              </a:p>
              <a:p>
                <a:r>
                  <a:rPr lang="en-US" sz="2000" i="0" u="none" strike="noStrike" cap="none" spc="0" dirty="0">
                    <a:effectLst/>
                    <a:latin typeface="Arial" panose="020B0604020202020204" pitchFamily="34" charset="0"/>
                  </a:rPr>
                  <a:t>Let’s do it in SPSS</a:t>
                </a:r>
              </a:p>
              <a:p>
                <a:endParaRPr lang="en-US" sz="2000" dirty="0"/>
              </a:p>
            </p:txBody>
          </p:sp>
        </mc:Choice>
        <mc:Fallback xmlns="">
          <p:sp>
            <p:nvSpPr>
              <p:cNvPr id="23" name="Content Placeholder 22">
                <a:extLst>
                  <a:ext uri="{FF2B5EF4-FFF2-40B4-BE49-F238E27FC236}">
                    <a16:creationId xmlns:a16="http://schemas.microsoft.com/office/drawing/2014/main" id="{811D6A4B-D9E9-EBE7-2E84-D2E724CFE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3436" y="2443315"/>
                <a:ext cx="4565620" cy="3785419"/>
              </a:xfrm>
              <a:blipFill>
                <a:blip r:embed="rId3"/>
                <a:stretch>
                  <a:fillRect l="-1202" t="-17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1" name="Content Placeholder 4">
                <a:extLst>
                  <a:ext uri="{FF2B5EF4-FFF2-40B4-BE49-F238E27FC236}">
                    <a16:creationId xmlns:a16="http://schemas.microsoft.com/office/drawing/2014/main" id="{D75D6190-CB40-19C9-06F3-399D56EAA341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581276"/>
                  </p:ext>
                </p:extLst>
              </p:nvPr>
            </p:nvGraphicFramePr>
            <p:xfrm>
              <a:off x="5378745" y="1264227"/>
              <a:ext cx="6406855" cy="432630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1088640">
                      <a:extLst>
                        <a:ext uri="{9D8B030D-6E8A-4147-A177-3AD203B41FA5}">
                          <a16:colId xmlns:a16="http://schemas.microsoft.com/office/drawing/2014/main" val="1973653981"/>
                        </a:ext>
                      </a:extLst>
                    </a:gridCol>
                    <a:gridCol w="1446867">
                      <a:extLst>
                        <a:ext uri="{9D8B030D-6E8A-4147-A177-3AD203B41FA5}">
                          <a16:colId xmlns:a16="http://schemas.microsoft.com/office/drawing/2014/main" val="4202569024"/>
                        </a:ext>
                      </a:extLst>
                    </a:gridCol>
                    <a:gridCol w="782091">
                      <a:extLst>
                        <a:ext uri="{9D8B030D-6E8A-4147-A177-3AD203B41FA5}">
                          <a16:colId xmlns:a16="http://schemas.microsoft.com/office/drawing/2014/main" val="1635345391"/>
                        </a:ext>
                      </a:extLst>
                    </a:gridCol>
                    <a:gridCol w="742986">
                      <a:extLst>
                        <a:ext uri="{9D8B030D-6E8A-4147-A177-3AD203B41FA5}">
                          <a16:colId xmlns:a16="http://schemas.microsoft.com/office/drawing/2014/main" val="1181250817"/>
                        </a:ext>
                      </a:extLst>
                    </a:gridCol>
                    <a:gridCol w="716916">
                      <a:extLst>
                        <a:ext uri="{9D8B030D-6E8A-4147-A177-3AD203B41FA5}">
                          <a16:colId xmlns:a16="http://schemas.microsoft.com/office/drawing/2014/main" val="3196961853"/>
                        </a:ext>
                      </a:extLst>
                    </a:gridCol>
                    <a:gridCol w="795126">
                      <a:extLst>
                        <a:ext uri="{9D8B030D-6E8A-4147-A177-3AD203B41FA5}">
                          <a16:colId xmlns:a16="http://schemas.microsoft.com/office/drawing/2014/main" val="1922987024"/>
                        </a:ext>
                      </a:extLst>
                    </a:gridCol>
                    <a:gridCol w="834229">
                      <a:extLst>
                        <a:ext uri="{9D8B030D-6E8A-4147-A177-3AD203B41FA5}">
                          <a16:colId xmlns:a16="http://schemas.microsoft.com/office/drawing/2014/main" val="3117685452"/>
                        </a:ext>
                      </a:extLst>
                    </a:gridCol>
                  </a:tblGrid>
                  <a:tr h="799308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u="none" strike="noStrike" cap="none" spc="0" dirty="0">
                              <a:solidFill>
                                <a:schemeClr val="bg1"/>
                              </a:solidFill>
                              <a:effectLst/>
                            </a:rPr>
                            <a:t>Score (Y)</a:t>
                          </a:r>
                          <a:endParaRPr lang="en-US" sz="1800" b="0" i="0" u="none" strike="noStrike" cap="none" spc="0" dirty="0">
                            <a:solidFill>
                              <a:schemeClr val="bg1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u="none" strike="noStrike" cap="none" spc="0" dirty="0">
                              <a:solidFill>
                                <a:schemeClr val="bg1"/>
                              </a:solidFill>
                              <a:effectLst/>
                            </a:rPr>
                            <a:t>LSD Conc (X)</a:t>
                          </a:r>
                          <a:endParaRPr lang="en-US" sz="1800" b="0" i="0" u="none" strike="noStrike" cap="none" spc="0" dirty="0">
                            <a:solidFill>
                              <a:schemeClr val="bg1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0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800" b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800" b="0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sz="1800" b="1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0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en-US" sz="1800" b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800" b="0" smtClean="0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sz="1800" b="1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sz="1800" b="0" smtClean="0">
                                        <a:latin typeface="Cambria Math" panose="02040503050406030204" pitchFamily="18" charset="0"/>
                                      </a:rPr>
                                      <m:t>𝑥𝑥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b="1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sz="1800" b="0" smtClean="0">
                                        <a:latin typeface="Cambria Math" panose="02040503050406030204" pitchFamily="18" charset="0"/>
                                      </a:rPr>
                                      <m:t>𝑥𝑦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b="1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sz="1800" b="0" smtClean="0">
                                        <a:latin typeface="Cambria Math" panose="02040503050406030204" pitchFamily="18" charset="0"/>
                                      </a:rPr>
                                      <m:t>𝑦𝑦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b="1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extLst>
                      <a:ext uri="{0D108BD9-81ED-4DB2-BD59-A6C34878D82A}">
                        <a16:rowId xmlns:a16="http://schemas.microsoft.com/office/drawing/2014/main" val="3444776418"/>
                      </a:ext>
                    </a:extLst>
                  </a:tr>
                  <a:tr h="440874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78.93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1.17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-3.16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28.84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10.00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-91.23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831.92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extLst>
                      <a:ext uri="{0D108BD9-81ED-4DB2-BD59-A6C34878D82A}">
                        <a16:rowId xmlns:a16="http://schemas.microsoft.com/office/drawing/2014/main" val="3275196686"/>
                      </a:ext>
                    </a:extLst>
                  </a:tr>
                  <a:tr h="440874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58.20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2.97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-1.36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8.11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1.86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-11.06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65.82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extLst>
                      <a:ext uri="{0D108BD9-81ED-4DB2-BD59-A6C34878D82A}">
                        <a16:rowId xmlns:a16="http://schemas.microsoft.com/office/drawing/2014/main" val="783300400"/>
                      </a:ext>
                    </a:extLst>
                  </a:tr>
                  <a:tr h="440874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67.47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3.26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-1.07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17.38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1.15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-18.65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302.17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extLst>
                      <a:ext uri="{0D108BD9-81ED-4DB2-BD59-A6C34878D82A}">
                        <a16:rowId xmlns:a16="http://schemas.microsoft.com/office/drawing/2014/main" val="317267171"/>
                      </a:ext>
                    </a:extLst>
                  </a:tr>
                  <a:tr h="440874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37.47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4.69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0.36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-12.62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0.13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-4.50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159.19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extLst>
                      <a:ext uri="{0D108BD9-81ED-4DB2-BD59-A6C34878D82A}">
                        <a16:rowId xmlns:a16="http://schemas.microsoft.com/office/drawing/2014/main" val="336317147"/>
                      </a:ext>
                    </a:extLst>
                  </a:tr>
                  <a:tr h="440874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45.65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5.83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1.50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-4.44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2.24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-6.64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19.69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extLst>
                      <a:ext uri="{0D108BD9-81ED-4DB2-BD59-A6C34878D82A}">
                        <a16:rowId xmlns:a16="http://schemas.microsoft.com/office/drawing/2014/main" val="2016694623"/>
                      </a:ext>
                    </a:extLst>
                  </a:tr>
                  <a:tr h="440874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32.92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6.00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1.67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-17.17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2.78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-28.62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294.71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extLst>
                      <a:ext uri="{0D108BD9-81ED-4DB2-BD59-A6C34878D82A}">
                        <a16:rowId xmlns:a16="http://schemas.microsoft.com/office/drawing/2014/main" val="519487015"/>
                      </a:ext>
                    </a:extLst>
                  </a:tr>
                  <a:tr h="440874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29.97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6.41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2.08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-20.12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4.31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-41.78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404.69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extLst>
                      <a:ext uri="{0D108BD9-81ED-4DB2-BD59-A6C34878D82A}">
                        <a16:rowId xmlns:a16="http://schemas.microsoft.com/office/drawing/2014/main" val="3591637351"/>
                      </a:ext>
                    </a:extLst>
                  </a:tr>
                  <a:tr h="440874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1" u="none" strike="noStrike" cap="none" spc="0" dirty="0">
                              <a:solidFill>
                                <a:srgbClr val="FF0000"/>
                              </a:solidFill>
                              <a:effectLst/>
                            </a:rPr>
                            <a:t>350.61</a:t>
                          </a:r>
                          <a:endParaRPr lang="en-US" sz="1600" b="1" i="0" u="none" strike="noStrike" cap="none" spc="0" dirty="0">
                            <a:solidFill>
                              <a:srgbClr val="FF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1" u="none" strike="noStrike" cap="none" spc="0" dirty="0">
                              <a:solidFill>
                                <a:srgbClr val="FF0000"/>
                              </a:solidFill>
                              <a:effectLst/>
                            </a:rPr>
                            <a:t>30.33</a:t>
                          </a:r>
                          <a:endParaRPr lang="en-US" sz="1600" b="1" i="0" u="none" strike="noStrike" cap="none" spc="0" dirty="0">
                            <a:solidFill>
                              <a:srgbClr val="FF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1" u="none" strike="noStrike" cap="none" spc="0" dirty="0">
                              <a:solidFill>
                                <a:srgbClr val="FF0000"/>
                              </a:solidFill>
                              <a:effectLst/>
                            </a:rPr>
                            <a:t>0.00</a:t>
                          </a:r>
                          <a:endParaRPr lang="en-US" sz="1600" b="1" i="0" u="none" strike="noStrike" cap="none" spc="0" dirty="0">
                            <a:solidFill>
                              <a:srgbClr val="FF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1" u="none" strike="noStrike" cap="none" spc="0" dirty="0">
                              <a:solidFill>
                                <a:srgbClr val="FF0000"/>
                              </a:solidFill>
                              <a:effectLst/>
                            </a:rPr>
                            <a:t>0.00</a:t>
                          </a:r>
                          <a:endParaRPr lang="en-US" sz="1600" b="1" i="0" u="none" strike="noStrike" cap="none" spc="0" dirty="0">
                            <a:solidFill>
                              <a:srgbClr val="FF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1" u="none" strike="noStrike" cap="none" spc="0" dirty="0">
                              <a:solidFill>
                                <a:srgbClr val="FF0000"/>
                              </a:solidFill>
                              <a:effectLst/>
                            </a:rPr>
                            <a:t>22.47</a:t>
                          </a:r>
                          <a:endParaRPr lang="en-US" sz="1600" b="1" i="0" u="none" strike="noStrike" cap="none" spc="0" dirty="0">
                            <a:solidFill>
                              <a:srgbClr val="FF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1" u="none" strike="noStrike" cap="none" spc="0" dirty="0">
                              <a:solidFill>
                                <a:srgbClr val="FF0000"/>
                              </a:solidFill>
                              <a:effectLst/>
                            </a:rPr>
                            <a:t>-202.49</a:t>
                          </a:r>
                          <a:endParaRPr lang="en-US" sz="1600" b="1" i="0" u="none" strike="noStrike" cap="none" spc="0" dirty="0">
                            <a:solidFill>
                              <a:srgbClr val="FF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1" u="none" strike="noStrike" cap="none" spc="0" dirty="0">
                              <a:solidFill>
                                <a:srgbClr val="FF0000"/>
                              </a:solidFill>
                              <a:effectLst/>
                            </a:rPr>
                            <a:t>2078.18</a:t>
                          </a:r>
                          <a:endParaRPr lang="en-US" sz="1600" b="1" i="0" u="none" strike="noStrike" cap="none" spc="0" dirty="0">
                            <a:solidFill>
                              <a:srgbClr val="FF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extLst>
                      <a:ext uri="{0D108BD9-81ED-4DB2-BD59-A6C34878D82A}">
                        <a16:rowId xmlns:a16="http://schemas.microsoft.com/office/drawing/2014/main" val="181649946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1" name="Content Placeholder 4">
                <a:extLst>
                  <a:ext uri="{FF2B5EF4-FFF2-40B4-BE49-F238E27FC236}">
                    <a16:creationId xmlns:a16="http://schemas.microsoft.com/office/drawing/2014/main" id="{D75D6190-CB40-19C9-06F3-399D56EAA341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581276"/>
                  </p:ext>
                </p:extLst>
              </p:nvPr>
            </p:nvGraphicFramePr>
            <p:xfrm>
              <a:off x="5378745" y="1264227"/>
              <a:ext cx="6406855" cy="432630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1088640">
                      <a:extLst>
                        <a:ext uri="{9D8B030D-6E8A-4147-A177-3AD203B41FA5}">
                          <a16:colId xmlns:a16="http://schemas.microsoft.com/office/drawing/2014/main" val="1973653981"/>
                        </a:ext>
                      </a:extLst>
                    </a:gridCol>
                    <a:gridCol w="1446867">
                      <a:extLst>
                        <a:ext uri="{9D8B030D-6E8A-4147-A177-3AD203B41FA5}">
                          <a16:colId xmlns:a16="http://schemas.microsoft.com/office/drawing/2014/main" val="4202569024"/>
                        </a:ext>
                      </a:extLst>
                    </a:gridCol>
                    <a:gridCol w="782091">
                      <a:extLst>
                        <a:ext uri="{9D8B030D-6E8A-4147-A177-3AD203B41FA5}">
                          <a16:colId xmlns:a16="http://schemas.microsoft.com/office/drawing/2014/main" val="1635345391"/>
                        </a:ext>
                      </a:extLst>
                    </a:gridCol>
                    <a:gridCol w="742986">
                      <a:extLst>
                        <a:ext uri="{9D8B030D-6E8A-4147-A177-3AD203B41FA5}">
                          <a16:colId xmlns:a16="http://schemas.microsoft.com/office/drawing/2014/main" val="1181250817"/>
                        </a:ext>
                      </a:extLst>
                    </a:gridCol>
                    <a:gridCol w="716916">
                      <a:extLst>
                        <a:ext uri="{9D8B030D-6E8A-4147-A177-3AD203B41FA5}">
                          <a16:colId xmlns:a16="http://schemas.microsoft.com/office/drawing/2014/main" val="3196961853"/>
                        </a:ext>
                      </a:extLst>
                    </a:gridCol>
                    <a:gridCol w="795126">
                      <a:extLst>
                        <a:ext uri="{9D8B030D-6E8A-4147-A177-3AD203B41FA5}">
                          <a16:colId xmlns:a16="http://schemas.microsoft.com/office/drawing/2014/main" val="1922987024"/>
                        </a:ext>
                      </a:extLst>
                    </a:gridCol>
                    <a:gridCol w="834229">
                      <a:extLst>
                        <a:ext uri="{9D8B030D-6E8A-4147-A177-3AD203B41FA5}">
                          <a16:colId xmlns:a16="http://schemas.microsoft.com/office/drawing/2014/main" val="3117685452"/>
                        </a:ext>
                      </a:extLst>
                    </a:gridCol>
                  </a:tblGrid>
                  <a:tr h="799308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u="none" strike="noStrike" cap="none" spc="0" dirty="0">
                              <a:solidFill>
                                <a:schemeClr val="bg1"/>
                              </a:solidFill>
                              <a:effectLst/>
                            </a:rPr>
                            <a:t>Score (Y)</a:t>
                          </a:r>
                          <a:endParaRPr lang="en-US" sz="1800" b="0" i="0" u="none" strike="noStrike" cap="none" spc="0" dirty="0">
                            <a:solidFill>
                              <a:schemeClr val="bg1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u="none" strike="noStrike" cap="none" spc="0" dirty="0">
                              <a:solidFill>
                                <a:schemeClr val="bg1"/>
                              </a:solidFill>
                              <a:effectLst/>
                            </a:rPr>
                            <a:t>LSD Conc (X)</a:t>
                          </a:r>
                          <a:endParaRPr lang="en-US" sz="1800" b="0" i="0" u="none" strike="noStrike" cap="none" spc="0" dirty="0">
                            <a:solidFill>
                              <a:schemeClr val="bg1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5271" marR="8987" marT="21506" marB="161295" anchor="b">
                        <a:blipFill>
                          <a:blip r:embed="rId4"/>
                          <a:stretch>
                            <a:fillRect l="-323256" t="-763" r="-394574" b="-4442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5271" marR="8987" marT="21506" marB="161295" anchor="b">
                        <a:blipFill>
                          <a:blip r:embed="rId4"/>
                          <a:stretch>
                            <a:fillRect l="-447541" t="-763" r="-317213" b="-4442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5271" marR="8987" marT="21506" marB="161295" anchor="b">
                        <a:blipFill>
                          <a:blip r:embed="rId4"/>
                          <a:stretch>
                            <a:fillRect l="-570940" t="-763" r="-230769" b="-4442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5271" marR="8987" marT="21506" marB="161295" anchor="b">
                        <a:blipFill>
                          <a:blip r:embed="rId4"/>
                          <a:stretch>
                            <a:fillRect l="-599237" t="-763" r="-106107" b="-4442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75271" marR="8987" marT="21506" marB="161295" anchor="b">
                        <a:blipFill>
                          <a:blip r:embed="rId4"/>
                          <a:stretch>
                            <a:fillRect l="-668613" t="-763" r="-1460" b="-4442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44776418"/>
                      </a:ext>
                    </a:extLst>
                  </a:tr>
                  <a:tr h="440874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78.93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1.17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-3.16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28.84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10.00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-91.23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831.92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extLst>
                      <a:ext uri="{0D108BD9-81ED-4DB2-BD59-A6C34878D82A}">
                        <a16:rowId xmlns:a16="http://schemas.microsoft.com/office/drawing/2014/main" val="3275196686"/>
                      </a:ext>
                    </a:extLst>
                  </a:tr>
                  <a:tr h="440874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58.20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2.97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-1.36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8.11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1.86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-11.06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65.82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extLst>
                      <a:ext uri="{0D108BD9-81ED-4DB2-BD59-A6C34878D82A}">
                        <a16:rowId xmlns:a16="http://schemas.microsoft.com/office/drawing/2014/main" val="783300400"/>
                      </a:ext>
                    </a:extLst>
                  </a:tr>
                  <a:tr h="440874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67.47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3.26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-1.07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17.38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1.15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-18.65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302.17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extLst>
                      <a:ext uri="{0D108BD9-81ED-4DB2-BD59-A6C34878D82A}">
                        <a16:rowId xmlns:a16="http://schemas.microsoft.com/office/drawing/2014/main" val="317267171"/>
                      </a:ext>
                    </a:extLst>
                  </a:tr>
                  <a:tr h="440874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37.47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4.69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0.36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-12.62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0.13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-4.50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159.19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extLst>
                      <a:ext uri="{0D108BD9-81ED-4DB2-BD59-A6C34878D82A}">
                        <a16:rowId xmlns:a16="http://schemas.microsoft.com/office/drawing/2014/main" val="336317147"/>
                      </a:ext>
                    </a:extLst>
                  </a:tr>
                  <a:tr h="440874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45.65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5.83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1.50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-4.44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2.24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-6.64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19.69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extLst>
                      <a:ext uri="{0D108BD9-81ED-4DB2-BD59-A6C34878D82A}">
                        <a16:rowId xmlns:a16="http://schemas.microsoft.com/office/drawing/2014/main" val="2016694623"/>
                      </a:ext>
                    </a:extLst>
                  </a:tr>
                  <a:tr h="440874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32.92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6.00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1.67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-17.17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2.78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-28.62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294.71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extLst>
                      <a:ext uri="{0D108BD9-81ED-4DB2-BD59-A6C34878D82A}">
                        <a16:rowId xmlns:a16="http://schemas.microsoft.com/office/drawing/2014/main" val="519487015"/>
                      </a:ext>
                    </a:extLst>
                  </a:tr>
                  <a:tr h="440874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29.97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6.41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2.08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-20.12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4.31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>
                              <a:solidFill>
                                <a:schemeClr val="tx1"/>
                              </a:solidFill>
                              <a:effectLst/>
                            </a:rPr>
                            <a:t>-41.78</a:t>
                          </a:r>
                          <a:endParaRPr lang="en-US" sz="1600" b="0" i="0" u="none" strike="noStrike" cap="none" spc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0" u="none" strike="noStrike" cap="none" spc="0" dirty="0">
                              <a:solidFill>
                                <a:schemeClr val="tx1"/>
                              </a:solidFill>
                              <a:effectLst/>
                            </a:rPr>
                            <a:t>404.69</a:t>
                          </a:r>
                          <a:endParaRPr lang="en-US" sz="1600" b="0" i="0" u="none" strike="noStrike" cap="none" spc="0" dirty="0">
                            <a:solidFill>
                              <a:schemeClr val="tx1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extLst>
                      <a:ext uri="{0D108BD9-81ED-4DB2-BD59-A6C34878D82A}">
                        <a16:rowId xmlns:a16="http://schemas.microsoft.com/office/drawing/2014/main" val="3591637351"/>
                      </a:ext>
                    </a:extLst>
                  </a:tr>
                  <a:tr h="440874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1" u="none" strike="noStrike" cap="none" spc="0" dirty="0">
                              <a:solidFill>
                                <a:srgbClr val="FF0000"/>
                              </a:solidFill>
                              <a:effectLst/>
                            </a:rPr>
                            <a:t>350.61</a:t>
                          </a:r>
                          <a:endParaRPr lang="en-US" sz="1600" b="1" i="0" u="none" strike="noStrike" cap="none" spc="0" dirty="0">
                            <a:solidFill>
                              <a:srgbClr val="FF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1" u="none" strike="noStrike" cap="none" spc="0" dirty="0">
                              <a:solidFill>
                                <a:srgbClr val="FF0000"/>
                              </a:solidFill>
                              <a:effectLst/>
                            </a:rPr>
                            <a:t>30.33</a:t>
                          </a:r>
                          <a:endParaRPr lang="en-US" sz="1600" b="1" i="0" u="none" strike="noStrike" cap="none" spc="0" dirty="0">
                            <a:solidFill>
                              <a:srgbClr val="FF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1" u="none" strike="noStrike" cap="none" spc="0" dirty="0">
                              <a:solidFill>
                                <a:srgbClr val="FF0000"/>
                              </a:solidFill>
                              <a:effectLst/>
                            </a:rPr>
                            <a:t>0.00</a:t>
                          </a:r>
                          <a:endParaRPr lang="en-US" sz="1600" b="1" i="0" u="none" strike="noStrike" cap="none" spc="0" dirty="0">
                            <a:solidFill>
                              <a:srgbClr val="FF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1" u="none" strike="noStrike" cap="none" spc="0" dirty="0">
                              <a:solidFill>
                                <a:srgbClr val="FF0000"/>
                              </a:solidFill>
                              <a:effectLst/>
                            </a:rPr>
                            <a:t>0.00</a:t>
                          </a:r>
                          <a:endParaRPr lang="en-US" sz="1600" b="1" i="0" u="none" strike="noStrike" cap="none" spc="0" dirty="0">
                            <a:solidFill>
                              <a:srgbClr val="FF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1" u="none" strike="noStrike" cap="none" spc="0" dirty="0">
                              <a:solidFill>
                                <a:srgbClr val="FF0000"/>
                              </a:solidFill>
                              <a:effectLst/>
                            </a:rPr>
                            <a:t>22.47</a:t>
                          </a:r>
                          <a:endParaRPr lang="en-US" sz="1600" b="1" i="0" u="none" strike="noStrike" cap="none" spc="0" dirty="0">
                            <a:solidFill>
                              <a:srgbClr val="FF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1" u="none" strike="noStrike" cap="none" spc="0" dirty="0">
                              <a:solidFill>
                                <a:srgbClr val="FF0000"/>
                              </a:solidFill>
                              <a:effectLst/>
                            </a:rPr>
                            <a:t>-202.49</a:t>
                          </a:r>
                          <a:endParaRPr lang="en-US" sz="1600" b="1" i="0" u="none" strike="noStrike" cap="none" spc="0" dirty="0">
                            <a:solidFill>
                              <a:srgbClr val="FF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600" b="1" u="none" strike="noStrike" cap="none" spc="0" dirty="0">
                              <a:solidFill>
                                <a:srgbClr val="FF0000"/>
                              </a:solidFill>
                              <a:effectLst/>
                            </a:rPr>
                            <a:t>2078.18</a:t>
                          </a:r>
                          <a:endParaRPr lang="en-US" sz="1600" b="1" i="0" u="none" strike="noStrike" cap="none" spc="0" dirty="0">
                            <a:solidFill>
                              <a:srgbClr val="FF0000"/>
                            </a:solidFill>
                            <a:effectLst/>
                            <a:latin typeface="Arial" panose="020B0604020202020204" pitchFamily="34" charset="0"/>
                          </a:endParaRPr>
                        </a:p>
                      </a:txBody>
                      <a:tcPr marL="75271" marR="8987" marT="21506" marB="161295" anchor="b"/>
                    </a:tc>
                    <a:extLst>
                      <a:ext uri="{0D108BD9-81ED-4DB2-BD59-A6C34878D82A}">
                        <a16:rowId xmlns:a16="http://schemas.microsoft.com/office/drawing/2014/main" val="181649946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5912496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0142DC2-BF6E-F9D3-E667-C95AA8EEBA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167" y="650497"/>
            <a:ext cx="5876109" cy="55710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DDF7745-ACBA-6AD2-5169-EF062D6A0D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9666" y="643467"/>
            <a:ext cx="2887358" cy="247565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33B46A-33ED-77AC-D0D9-44A2F75382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5873" y="3899806"/>
            <a:ext cx="3854945" cy="2168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594082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F91E025-EC1D-91EF-DA13-99ED68C21C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110" y="407128"/>
            <a:ext cx="3752850" cy="10763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09F7CFC-C119-5D35-8D40-E40E98ADF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610" y="1736767"/>
            <a:ext cx="5048250" cy="16668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9356F9B-9D8E-EB00-EDF2-8C28B21BB3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410" y="3656956"/>
            <a:ext cx="5124450" cy="14478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C619F4C-4039-281D-213B-A0941358B869}"/>
                  </a:ext>
                </a:extLst>
              </p:cNvPr>
              <p:cNvSpPr txBox="1"/>
              <p:nvPr/>
            </p:nvSpPr>
            <p:spPr>
              <a:xfrm>
                <a:off x="1313955" y="5358070"/>
                <a:ext cx="324800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𝑆𝑐𝑜𝑟𝑒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=89.125 −9.009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𝐿𝑆𝐷</m:t>
                      </m:r>
                    </m:oMath>
                  </m:oMathPara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C619F4C-4039-281D-213B-A0941358B8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3955" y="5358070"/>
                <a:ext cx="3248005" cy="307777"/>
              </a:xfrm>
              <a:prstGeom prst="rect">
                <a:avLst/>
              </a:prstGeom>
              <a:blipFill>
                <a:blip r:embed="rId5"/>
                <a:stretch>
                  <a:fillRect l="-1504" r="-1128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128996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D354C8D-C80E-91D8-516E-EFC0A61DC4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1864" y="2728996"/>
            <a:ext cx="6564386" cy="21674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7315C4-AF6A-EB81-2EFC-7D0DF61EA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967" y="39134"/>
            <a:ext cx="10515600" cy="1043545"/>
          </a:xfrm>
        </p:spPr>
        <p:txBody>
          <a:bodyPr/>
          <a:lstStyle/>
          <a:p>
            <a:r>
              <a:rPr lang="en-US" dirty="0"/>
              <a:t>Example  -</a:t>
            </a:r>
            <a:r>
              <a:rPr lang="en-US" sz="4400" dirty="0"/>
              <a:t>Pharmacodynamics of LSD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2BEE83-94B6-69B6-2BE8-EB0B721F12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2624" y="4951320"/>
                <a:ext cx="11386752" cy="1970430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n = 7;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= -9.01;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50.72</m:t>
                        </m:r>
                      </m:e>
                    </m:rad>
                    <m:r>
                      <a:rPr lang="en-US" b="0" i="1" smtClean="0">
                        <a:latin typeface="Cambria Math" panose="02040503050406030204" pitchFamily="18" charset="0"/>
                      </a:rPr>
                      <m:t>=7.12; </m:t>
                    </m:r>
                  </m:oMath>
                </a14:m>
                <a:r>
                  <a:rPr lang="en-US" dirty="0"/>
                  <a:t>  S</a:t>
                </a:r>
                <a:r>
                  <a:rPr lang="en-US" i="1" dirty="0"/>
                  <a:t>xx</a:t>
                </a:r>
                <a:r>
                  <a:rPr lang="en-US" dirty="0"/>
                  <a:t> – 22.475;   </a:t>
                </a:r>
                <a:r>
                  <a:rPr lang="en-US" b="0" dirty="0"/>
                  <a:t>s</a:t>
                </a:r>
                <a:r>
                  <a:rPr lang="en-US" dirty="0"/>
                  <a:t>e(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) = 7.12/22.475 = 1.50</a:t>
                </a:r>
              </a:p>
              <a:p>
                <a:pPr marL="0" indent="0">
                  <a:buNone/>
                </a:pPr>
                <a:r>
                  <a:rPr lang="en-US" b="0" dirty="0"/>
                  <a:t>Testing</a:t>
                </a:r>
              </a:p>
              <a:p>
                <a:pPr marL="457200" lvl="1" indent="0">
                  <a:buNone/>
                </a:pPr>
                <a:r>
                  <a:rPr lang="en-US" b="0" dirty="0"/>
                  <a:t>t* = -9.01 / 1.50 = -6.01 </a:t>
                </a:r>
                <a:r>
                  <a:rPr lang="en-US" b="0" dirty="0">
                    <a:sym typeface="Wingdings" panose="05000000000000000000" pitchFamily="2" charset="2"/>
                  </a:rPr>
                  <a:t> p = .002  reject Null </a:t>
                </a:r>
              </a:p>
              <a:p>
                <a:pPr marL="457200" lvl="1" indent="0">
                  <a:buNone/>
                </a:pPr>
                <a:r>
                  <a:rPr lang="en-US" dirty="0">
                    <a:sym typeface="Wingdings" panose="05000000000000000000" pitchFamily="2" charset="2"/>
                  </a:rPr>
                  <a:t>Note, the </a:t>
                </a:r>
                <a:r>
                  <a:rPr lang="en-US" i="1" dirty="0">
                    <a:sym typeface="Wingdings" panose="05000000000000000000" pitchFamily="2" charset="2"/>
                  </a:rPr>
                  <a:t>t</a:t>
                </a:r>
                <a:r>
                  <a:rPr lang="en-US" dirty="0">
                    <a:sym typeface="Wingdings" panose="05000000000000000000" pitchFamily="2" charset="2"/>
                  </a:rPr>
                  <a:t> equals the </a:t>
                </a:r>
                <a:r>
                  <a:rPr lang="en-US" i="1" dirty="0">
                    <a:sym typeface="Wingdings" panose="05000000000000000000" pitchFamily="2" charset="2"/>
                  </a:rPr>
                  <a:t>Z</a:t>
                </a:r>
                <a:r>
                  <a:rPr lang="en-US" dirty="0">
                    <a:sym typeface="Wingdings" panose="05000000000000000000" pitchFamily="2" charset="2"/>
                  </a:rPr>
                  <a:t> only when N is large</a:t>
                </a:r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2BEE83-94B6-69B6-2BE8-EB0B721F12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2624" y="4951320"/>
                <a:ext cx="11386752" cy="1970430"/>
              </a:xfrm>
              <a:blipFill>
                <a:blip r:embed="rId4"/>
                <a:stretch>
                  <a:fillRect l="-964" t="-4954" b="-18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2105DA1-B1D5-1C7D-A86D-4DE5489287ED}"/>
                  </a:ext>
                </a:extLst>
              </p:cNvPr>
              <p:cNvSpPr txBox="1"/>
              <p:nvPr/>
            </p:nvSpPr>
            <p:spPr>
              <a:xfrm>
                <a:off x="223967" y="3719513"/>
                <a:ext cx="412715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𝐻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𝑜</m:t>
                        </m:r>
                      </m:sub>
                    </m:sSub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: </m:t>
                    </m:r>
                    <m:sSub>
                      <m:sSub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𝛽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= 0  vs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𝐻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: </m:t>
                    </m:r>
                    <m:sSub>
                      <m:sSub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𝛽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≠ 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0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2105DA1-B1D5-1C7D-A86D-4DE5489287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967" y="3719513"/>
                <a:ext cx="4127156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E924A7CE-A1F5-7088-820F-1692DBC2D9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36353" y="800789"/>
            <a:ext cx="4753270" cy="673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94116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315C4-AF6A-EB81-2EFC-7D0DF61EA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</a:t>
            </a:r>
            <a:r>
              <a:rPr lang="en-US" sz="4400" dirty="0"/>
              <a:t>Pharmacodynamics of LSD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2BEE83-94B6-69B6-2BE8-EB0B721F12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n = 7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=-9.01</a:t>
                </a:r>
              </a:p>
              <a:p>
                <a:r>
                  <a:rPr lang="en-US" b="0" dirty="0"/>
                  <a:t>s</a:t>
                </a:r>
                <a:r>
                  <a:rPr lang="en-US" dirty="0"/>
                  <a:t>e(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) = 7.12/22.475 = 1.50</a:t>
                </a:r>
              </a:p>
              <a:p>
                <a:endParaRPr lang="en-US" b="0" dirty="0"/>
              </a:p>
              <a:p>
                <a:r>
                  <a:rPr lang="en-US" b="0" dirty="0"/>
                  <a:t>95% CI</a:t>
                </a:r>
              </a:p>
              <a:p>
                <a:pPr lvl="1"/>
                <a:r>
                  <a:rPr lang="en-US" b="0" dirty="0"/>
                  <a:t>-9.01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±</m:t>
                    </m:r>
                  </m:oMath>
                </a14:m>
                <a:r>
                  <a:rPr lang="en-US" b="0" dirty="0"/>
                  <a:t> 2.57(1.50) </a:t>
                </a:r>
                <a:r>
                  <a:rPr lang="en-US" b="0" dirty="0">
                    <a:sym typeface="Wingdings" panose="05000000000000000000" pitchFamily="2" charset="2"/>
                  </a:rPr>
                  <a:t> -9.01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±3.86</m:t>
                    </m:r>
                  </m:oMath>
                </a14:m>
                <a:r>
                  <a:rPr lang="en-US" b="0" dirty="0"/>
                  <a:t> </a:t>
                </a:r>
                <a:r>
                  <a:rPr lang="en-US" b="0" dirty="0">
                    <a:sym typeface="Wingdings" panose="05000000000000000000" pitchFamily="2" charset="2"/>
                  </a:rPr>
                  <a:t> (-12.87, -5.15)</a:t>
                </a:r>
              </a:p>
              <a:p>
                <a:pPr lvl="1"/>
                <a:r>
                  <a:rPr lang="en-US" dirty="0">
                    <a:sym typeface="Wingdings" panose="05000000000000000000" pitchFamily="2" charset="2"/>
                  </a:rPr>
                  <a:t>From this confidence interval, do you reject the Null?</a:t>
                </a:r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2BEE83-94B6-69B6-2BE8-EB0B721F12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D66B749D-3ED4-9033-288C-E9AE502EF9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5734" y="1259360"/>
            <a:ext cx="6896100" cy="1447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B5744-9653-79BF-B5B0-FA3A6E72B4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5684" y="2789474"/>
            <a:ext cx="3486150" cy="330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92769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2C656-379E-6E42-04D5-732482D1C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bject 3">
                <a:extLst>
                  <a:ext uri="{FF2B5EF4-FFF2-40B4-BE49-F238E27FC236}">
                    <a16:creationId xmlns:a16="http://schemas.microsoft.com/office/drawing/2014/main" id="{D7437BBA-FD8A-7E31-4335-28E080D46E5D}"/>
                  </a:ext>
                </a:extLst>
              </p:cNvPr>
              <p:cNvSpPr txBox="1"/>
              <p:nvPr/>
            </p:nvSpPr>
            <p:spPr bwMode="auto">
              <a:xfrm>
                <a:off x="1363105" y="1491607"/>
                <a:ext cx="8001000" cy="19812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𝑆</m:t>
                          </m:r>
                        </m:e>
                        <m:sub>
                          <m: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𝑥𝑥</m:t>
                          </m:r>
                        </m:sub>
                      </m:sSub>
                      <m:r>
                        <a:rPr kumimoji="0" lang="en-US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=22.475 </m:t>
                      </m:r>
                      <m:sSub>
                        <m:sSubPr>
                          <m:ctrlP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𝑆</m:t>
                          </m:r>
                        </m:e>
                        <m:sub>
                          <m: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𝑥𝑦</m:t>
                          </m:r>
                        </m:sub>
                      </m:sSub>
                      <m:r>
                        <a:rPr kumimoji="0" lang="en-US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=−202.487 </m:t>
                      </m:r>
                      <m:sSub>
                        <m:sSubPr>
                          <m:ctrlP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𝑆</m:t>
                          </m:r>
                        </m:e>
                        <m:sub>
                          <m: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𝑦𝑦</m:t>
                          </m:r>
                        </m:sub>
                      </m:sSub>
                      <m:r>
                        <a:rPr kumimoji="0" lang="en-US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=2078.183 </m:t>
                      </m:r>
                      <m:r>
                        <a:rPr kumimoji="0" lang="en-US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𝑆𝑆𝐸</m:t>
                      </m:r>
                      <m:r>
                        <a:rPr kumimoji="0" lang="en-US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=253.89</m:t>
                      </m:r>
                    </m:oMath>
                  </m:oMathPara>
                </a14:m>
                <a:br>
                  <a:rPr kumimoji="0" lang="en-US" sz="20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+mn-ea"/>
                    <a:cs typeface="+mn-cs"/>
                  </a:rPr>
                </a:br>
                <a:endParaRPr kumimoji="0" 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𝑟</m:t>
                      </m:r>
                      <m:r>
                        <a:rPr kumimoji="0" lang="en-US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−202.487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radPr>
                            <m:deg/>
                            <m:e>
                              <m: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(22.475)(2078.183)</m:t>
                              </m:r>
                            </m:e>
                          </m:rad>
                        </m:den>
                      </m:f>
                      <m:r>
                        <a:rPr kumimoji="0" lang="en-US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=−0.94</m:t>
                      </m:r>
                    </m:oMath>
                  </m:oMathPara>
                </a14:m>
                <a:br>
                  <a:rPr kumimoji="0" lang="en-US" sz="20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+mn-ea"/>
                    <a:cs typeface="+mn-cs"/>
                  </a:rPr>
                </a:br>
                <a:endParaRPr kumimoji="0" 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</m:e>
                        <m:sup>
                          <m: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  <m:r>
                        <a:rPr kumimoji="0" lang="en-US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2078.183−253.89</m:t>
                          </m:r>
                        </m:num>
                        <m:den>
                          <m: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2078.183</m:t>
                          </m:r>
                        </m:den>
                      </m:f>
                      <m:r>
                        <a:rPr kumimoji="0" lang="en-US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=0.88=(−0.94</m:t>
                      </m:r>
                      <m:sSup>
                        <m:sSupPr>
                          <m:ctrlP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</m:t>
                          </m:r>
                        </m:e>
                        <m:sup>
                          <m: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Object 3">
                <a:extLst>
                  <a:ext uri="{FF2B5EF4-FFF2-40B4-BE49-F238E27FC236}">
                    <a16:creationId xmlns:a16="http://schemas.microsoft.com/office/drawing/2014/main" id="{D7437BBA-FD8A-7E31-4335-28E080D46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63105" y="1491607"/>
                <a:ext cx="8001000" cy="1981200"/>
              </a:xfrm>
              <a:prstGeom prst="rect">
                <a:avLst/>
              </a:prstGeom>
              <a:blipFill>
                <a:blip r:embed="rId2"/>
                <a:stretch>
                  <a:fillRect b="-16615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D6DF88F-0B65-450B-F453-E875BD223E18}"/>
                  </a:ext>
                </a:extLst>
              </p:cNvPr>
              <p:cNvSpPr txBox="1"/>
              <p:nvPr/>
            </p:nvSpPr>
            <p:spPr>
              <a:xfrm>
                <a:off x="1264509" y="4332288"/>
                <a:ext cx="26031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p>
                      <m:sSupPr>
                        <m:ctrlP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𝑅</m:t>
                        </m:r>
                      </m:e>
                      <m:sup>
                        <m: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p>
                    </m:sSup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×100</m:t>
                    </m:r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=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D6DF88F-0B65-450B-F453-E875BD223E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4509" y="4332288"/>
                <a:ext cx="2603156" cy="369332"/>
              </a:xfrm>
              <a:prstGeom prst="rect">
                <a:avLst/>
              </a:prstGeom>
              <a:blipFill>
                <a:blip r:embed="rId3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390DC724-62FA-8E94-8A3F-335B02781F3A}"/>
              </a:ext>
            </a:extLst>
          </p:cNvPr>
          <p:cNvSpPr txBox="1"/>
          <p:nvPr/>
        </p:nvSpPr>
        <p:spPr>
          <a:xfrm>
            <a:off x="2566087" y="4332288"/>
            <a:ext cx="90345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% of variation in the dependent variable explained by the independent variable(s) in the mode</a:t>
            </a:r>
          </a:p>
        </p:txBody>
      </p:sp>
    </p:spTree>
    <p:extLst>
      <p:ext uri="{BB962C8B-B14F-4D97-AF65-F5344CB8AC3E}">
        <p14:creationId xmlns:p14="http://schemas.microsoft.com/office/powerpoint/2010/main" val="3662785267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FC027-4FBA-DCC5-3473-1F07A0FA1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11EF113-AFA4-9B11-1F14-FFC48FD830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1607" y="2319488"/>
            <a:ext cx="6048375" cy="3981450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795F49B-3A6F-2CF1-982C-B0125F98D9C8}"/>
              </a:ext>
            </a:extLst>
          </p:cNvPr>
          <p:cNvSpPr/>
          <p:nvPr/>
        </p:nvSpPr>
        <p:spPr>
          <a:xfrm>
            <a:off x="2323070" y="4646141"/>
            <a:ext cx="852616" cy="35834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DCF9AF-5D3B-5DA6-0530-391D16A9F5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9247" y="4310213"/>
            <a:ext cx="4152900" cy="19145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899070D-DC4F-D634-EDD6-F5B1FA83B8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7409" y="2153164"/>
            <a:ext cx="3076575" cy="205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49677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FA9A2A7-CD96-DAFA-74FF-3B464A86A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37883"/>
            <a:ext cx="4783697" cy="194281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ANOVA F-test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BAB62A-0383-44EC-4771-A56DE95FDA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199" y="2686323"/>
            <a:ext cx="4783697" cy="343358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000" dirty="0"/>
              <a:t>Analysis of Variance </a:t>
            </a:r>
            <a:r>
              <a:rPr lang="en-US" sz="2000" i="1" dirty="0"/>
              <a:t>F-test</a:t>
            </a:r>
          </a:p>
          <a:p>
            <a:r>
              <a:rPr lang="en-US" sz="2000" dirty="0"/>
              <a:t>Tests the significance of the overall model including ALL independent variables</a:t>
            </a:r>
          </a:p>
          <a:p>
            <a:r>
              <a:rPr lang="en-US" sz="2000" dirty="0"/>
              <a:t>For SLR, the F-test is the same as the t-test for b1</a:t>
            </a:r>
          </a:p>
          <a:p>
            <a:r>
              <a:rPr lang="en-US" sz="2000" i="1" dirty="0"/>
              <a:t>F</a:t>
            </a:r>
            <a:r>
              <a:rPr lang="en-US" sz="2000" dirty="0"/>
              <a:t> = </a:t>
            </a:r>
            <a:r>
              <a:rPr lang="en-US" sz="2000" i="1" dirty="0"/>
              <a:t>t</a:t>
            </a:r>
            <a:r>
              <a:rPr lang="en-US" sz="2000" baseline="30000" dirty="0"/>
              <a:t>2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B03DD43-1DAB-54E3-8272-98794DEC12B3}"/>
              </a:ext>
            </a:extLst>
          </p:cNvPr>
          <p:cNvGraphicFramePr>
            <a:graphicFrameLocks/>
          </p:cNvGraphicFramePr>
          <p:nvPr/>
        </p:nvGraphicFramePr>
        <p:xfrm>
          <a:off x="5844318" y="2686323"/>
          <a:ext cx="5731907" cy="3415564"/>
        </p:xfrm>
        <a:graphic>
          <a:graphicData uri="http://schemas.openxmlformats.org/drawingml/2006/table">
            <a:tbl>
              <a:tblPr firstRow="1" firstCol="1" lastRow="1" bandRow="1" bandCol="1">
                <a:tableStyleId>{7E9639D4-E3E2-4D34-9284-5A2195B3D0D7}</a:tableStyleId>
              </a:tblPr>
              <a:tblGrid>
                <a:gridCol w="1297888">
                  <a:extLst>
                    <a:ext uri="{9D8B030D-6E8A-4147-A177-3AD203B41FA5}">
                      <a16:colId xmlns:a16="http://schemas.microsoft.com/office/drawing/2014/main" val="597893154"/>
                    </a:ext>
                  </a:extLst>
                </a:gridCol>
                <a:gridCol w="1149178">
                  <a:extLst>
                    <a:ext uri="{9D8B030D-6E8A-4147-A177-3AD203B41FA5}">
                      <a16:colId xmlns:a16="http://schemas.microsoft.com/office/drawing/2014/main" val="4258442687"/>
                    </a:ext>
                  </a:extLst>
                </a:gridCol>
                <a:gridCol w="1210962">
                  <a:extLst>
                    <a:ext uri="{9D8B030D-6E8A-4147-A177-3AD203B41FA5}">
                      <a16:colId xmlns:a16="http://schemas.microsoft.com/office/drawing/2014/main" val="3972253625"/>
                    </a:ext>
                  </a:extLst>
                </a:gridCol>
                <a:gridCol w="1235676">
                  <a:extLst>
                    <a:ext uri="{9D8B030D-6E8A-4147-A177-3AD203B41FA5}">
                      <a16:colId xmlns:a16="http://schemas.microsoft.com/office/drawing/2014/main" val="603782495"/>
                    </a:ext>
                  </a:extLst>
                </a:gridCol>
                <a:gridCol w="838203">
                  <a:extLst>
                    <a:ext uri="{9D8B030D-6E8A-4147-A177-3AD203B41FA5}">
                      <a16:colId xmlns:a16="http://schemas.microsoft.com/office/drawing/2014/main" val="237255136"/>
                    </a:ext>
                  </a:extLst>
                </a:gridCol>
              </a:tblGrid>
              <a:tr h="643732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u="none" strike="noStrike" dirty="0">
                          <a:effectLst/>
                        </a:rPr>
                        <a:t>Source of Variation</a:t>
                      </a:r>
                      <a:endParaRPr lang="en-US" sz="2000" b="1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u="none" strike="noStrike" dirty="0">
                          <a:effectLst/>
                        </a:rPr>
                        <a:t>Sum of</a:t>
                      </a: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u="none" strike="noStrike" dirty="0">
                          <a:effectLst/>
                        </a:rPr>
                        <a:t>Squares</a:t>
                      </a:r>
                      <a:endParaRPr lang="en-US" sz="2000" b="1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u="none" strike="noStrike" dirty="0">
                          <a:effectLst/>
                        </a:rPr>
                        <a:t>Degrees of Freedom</a:t>
                      </a:r>
                      <a:endParaRPr lang="en-US" sz="2000" b="1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u="none" strike="noStrike">
                          <a:effectLst/>
                        </a:rPr>
                        <a:t>Mean</a:t>
                      </a: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u="none" strike="noStrike">
                          <a:effectLst/>
                        </a:rPr>
                        <a:t>Square</a:t>
                      </a:r>
                      <a:endParaRPr lang="en-US" sz="20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u="none" strike="noStrike">
                          <a:effectLst/>
                        </a:rPr>
                        <a:t> </a:t>
                      </a: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u="none" strike="noStrike">
                          <a:effectLst/>
                        </a:rPr>
                        <a:t>F</a:t>
                      </a:r>
                      <a:endParaRPr lang="en-US" sz="20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extLst>
                  <a:ext uri="{0D108BD9-81ED-4DB2-BD59-A6C34878D82A}">
                    <a16:rowId xmlns:a16="http://schemas.microsoft.com/office/drawing/2014/main" val="3526528897"/>
                  </a:ext>
                </a:extLst>
              </a:tr>
              <a:tr h="441138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u="none" strike="noStrike">
                          <a:effectLst/>
                        </a:rPr>
                        <a:t>Model</a:t>
                      </a:r>
                      <a:endParaRPr lang="en-US" sz="20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u="none" strike="noStrike">
                          <a:effectLst/>
                        </a:rPr>
                        <a:t>SSR</a:t>
                      </a:r>
                      <a:endParaRPr lang="en-US" sz="20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u="none" strike="noStrike" dirty="0">
                          <a:effectLst/>
                        </a:rPr>
                        <a:t>1</a:t>
                      </a:r>
                      <a:endParaRPr lang="en-US" sz="2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u="none" strike="noStrike" dirty="0">
                          <a:effectLst/>
                        </a:rPr>
                        <a:t>MSR = SSR/1</a:t>
                      </a:r>
                      <a:endParaRPr lang="en-US" sz="2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i="1" u="none" strike="noStrike" dirty="0">
                          <a:effectLst/>
                        </a:rPr>
                        <a:t>F</a:t>
                      </a:r>
                      <a:r>
                        <a:rPr lang="en-US" sz="2000" b="0" u="none" strike="noStrike" dirty="0">
                          <a:effectLst/>
                        </a:rPr>
                        <a:t> = MSR/MSE</a:t>
                      </a:r>
                      <a:endParaRPr lang="en-US" sz="2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extLst>
                  <a:ext uri="{0D108BD9-81ED-4DB2-BD59-A6C34878D82A}">
                    <a16:rowId xmlns:a16="http://schemas.microsoft.com/office/drawing/2014/main" val="2532026986"/>
                  </a:ext>
                </a:extLst>
              </a:tr>
              <a:tr h="643732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u="none" strike="noStrike">
                          <a:effectLst/>
                        </a:rPr>
                        <a:t>Error</a:t>
                      </a:r>
                      <a:endParaRPr lang="en-US" sz="20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u="none" strike="noStrike">
                          <a:effectLst/>
                        </a:rPr>
                        <a:t>SSE</a:t>
                      </a:r>
                      <a:endParaRPr lang="en-US" sz="20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i="1" u="none" strike="noStrike" dirty="0">
                          <a:effectLst/>
                        </a:rPr>
                        <a:t>n</a:t>
                      </a:r>
                      <a:r>
                        <a:rPr lang="en-US" sz="2000" b="0" u="none" strike="noStrike" dirty="0">
                          <a:effectLst/>
                        </a:rPr>
                        <a:t>-2</a:t>
                      </a:r>
                      <a:endParaRPr lang="en-US" sz="2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u="none" strike="noStrike" dirty="0">
                          <a:effectLst/>
                        </a:rPr>
                        <a:t>MSE = SSE/(n-2)</a:t>
                      </a:r>
                      <a:endParaRPr lang="en-US" sz="2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u="none" strike="noStrike" dirty="0">
                          <a:effectLst/>
                        </a:rPr>
                        <a:t> </a:t>
                      </a:r>
                      <a:endParaRPr lang="en-US" sz="2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extLst>
                  <a:ext uri="{0D108BD9-81ED-4DB2-BD59-A6C34878D82A}">
                    <a16:rowId xmlns:a16="http://schemas.microsoft.com/office/drawing/2014/main" val="1690401292"/>
                  </a:ext>
                </a:extLst>
              </a:tr>
              <a:tr h="238545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u="none" strike="noStrike">
                          <a:effectLst/>
                        </a:rPr>
                        <a:t>Total</a:t>
                      </a:r>
                      <a:endParaRPr lang="en-US" sz="20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u="none" strike="noStrike">
                          <a:effectLst/>
                        </a:rPr>
                        <a:t>S</a:t>
                      </a:r>
                      <a:r>
                        <a:rPr lang="en-US" sz="2000" b="0" u="none" strike="noStrike" baseline="-25000">
                          <a:effectLst/>
                        </a:rPr>
                        <a:t>yy</a:t>
                      </a:r>
                      <a:endParaRPr lang="en-US" sz="20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i="1" u="none" strike="noStrike" dirty="0">
                          <a:effectLst/>
                        </a:rPr>
                        <a:t>n</a:t>
                      </a:r>
                      <a:r>
                        <a:rPr lang="en-US" sz="2000" b="0" u="none" strike="noStrike" dirty="0">
                          <a:effectLst/>
                        </a:rPr>
                        <a:t>-1</a:t>
                      </a:r>
                      <a:endParaRPr lang="en-US" sz="2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u="none" strike="noStrike">
                          <a:effectLst/>
                        </a:rPr>
                        <a:t> </a:t>
                      </a:r>
                      <a:endParaRPr lang="en-US" sz="20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u="none" strike="noStrike" dirty="0">
                          <a:effectLst/>
                        </a:rPr>
                        <a:t> </a:t>
                      </a:r>
                      <a:endParaRPr lang="en-US" sz="2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extLst>
                  <a:ext uri="{0D108BD9-81ED-4DB2-BD59-A6C34878D82A}">
                    <a16:rowId xmlns:a16="http://schemas.microsoft.com/office/drawing/2014/main" val="24332977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278937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FA9A2A7-CD96-DAFA-74FF-3B464A86A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37883"/>
            <a:ext cx="4783697" cy="194281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ANOVA F-test for SLR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3BAB62A-0383-44EC-4771-A56DE95FDADD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8199" y="2686323"/>
                <a:ext cx="4783697" cy="3433583"/>
              </a:xfrm>
            </p:spPr>
            <p:txBody>
              <a:bodyPr vert="horz" lIns="91440" tIns="45720" rIns="91440" bIns="45720" rtlCol="0">
                <a:normAutofit/>
              </a:bodyPr>
              <a:lstStyle/>
              <a:p>
                <a:r>
                  <a:rPr lang="en-US" dirty="0"/>
                  <a:t>Analysis of Variance </a:t>
                </a:r>
                <a:r>
                  <a:rPr lang="en-US" i="1" dirty="0"/>
                  <a:t>F-test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800" b="0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  <m:r>
                      <a:rPr lang="en-US" sz="2800" b="0" i="1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en-US" sz="28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8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800" dirty="0"/>
                  <a:t>= 0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8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b="0" i="1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en-US" sz="28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8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800" b="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/>
                  <a:t>0</a:t>
                </a:r>
              </a:p>
              <a:p>
                <a:r>
                  <a:rPr lang="en-US" i="1" dirty="0"/>
                  <a:t>F*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𝑀𝑆𝑅</m:t>
                        </m:r>
                      </m:num>
                      <m:den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𝑀𝑆𝐸</m:t>
                        </m:r>
                      </m:den>
                    </m:f>
                  </m:oMath>
                </a14:m>
                <a:r>
                  <a:rPr lang="en-US" i="1" dirty="0"/>
                  <a:t> &gt;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𝑑𝑓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=1, 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</m:sSub>
                  </m:oMath>
                </a14:m>
                <a:r>
                  <a:rPr lang="en-US" i="1" dirty="0">
                    <a:sym typeface="Wingdings" panose="05000000000000000000" pitchFamily="2" charset="2"/>
                  </a:rPr>
                  <a:t> reject null</a:t>
                </a:r>
                <a:endParaRPr lang="en-US" i="1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3BAB62A-0383-44EC-4771-A56DE95FDA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8199" y="2686323"/>
                <a:ext cx="4783697" cy="3433583"/>
              </a:xfrm>
              <a:blipFill>
                <a:blip r:embed="rId3"/>
                <a:stretch>
                  <a:fillRect l="-2166" t="-3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6DC09B5-3C40-C32E-96F0-CC4F50512C3A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5768545" y="2686323"/>
          <a:ext cx="5731907" cy="3415564"/>
        </p:xfrm>
        <a:graphic>
          <a:graphicData uri="http://schemas.openxmlformats.org/drawingml/2006/table">
            <a:tbl>
              <a:tblPr firstRow="1" firstCol="1" lastRow="1" bandRow="1" bandCol="1">
                <a:tableStyleId>{7E9639D4-E3E2-4D34-9284-5A2195B3D0D7}</a:tableStyleId>
              </a:tblPr>
              <a:tblGrid>
                <a:gridCol w="1297888">
                  <a:extLst>
                    <a:ext uri="{9D8B030D-6E8A-4147-A177-3AD203B41FA5}">
                      <a16:colId xmlns:a16="http://schemas.microsoft.com/office/drawing/2014/main" val="1947153674"/>
                    </a:ext>
                  </a:extLst>
                </a:gridCol>
                <a:gridCol w="1149178">
                  <a:extLst>
                    <a:ext uri="{9D8B030D-6E8A-4147-A177-3AD203B41FA5}">
                      <a16:colId xmlns:a16="http://schemas.microsoft.com/office/drawing/2014/main" val="2885770332"/>
                    </a:ext>
                  </a:extLst>
                </a:gridCol>
                <a:gridCol w="1210962">
                  <a:extLst>
                    <a:ext uri="{9D8B030D-6E8A-4147-A177-3AD203B41FA5}">
                      <a16:colId xmlns:a16="http://schemas.microsoft.com/office/drawing/2014/main" val="662166293"/>
                    </a:ext>
                  </a:extLst>
                </a:gridCol>
                <a:gridCol w="1235676">
                  <a:extLst>
                    <a:ext uri="{9D8B030D-6E8A-4147-A177-3AD203B41FA5}">
                      <a16:colId xmlns:a16="http://schemas.microsoft.com/office/drawing/2014/main" val="1116241551"/>
                    </a:ext>
                  </a:extLst>
                </a:gridCol>
                <a:gridCol w="838203">
                  <a:extLst>
                    <a:ext uri="{9D8B030D-6E8A-4147-A177-3AD203B41FA5}">
                      <a16:colId xmlns:a16="http://schemas.microsoft.com/office/drawing/2014/main" val="414783862"/>
                    </a:ext>
                  </a:extLst>
                </a:gridCol>
              </a:tblGrid>
              <a:tr h="643732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u="none" strike="noStrike" dirty="0">
                          <a:effectLst/>
                        </a:rPr>
                        <a:t>Source of Variation</a:t>
                      </a:r>
                      <a:endParaRPr lang="en-US" sz="2000" b="1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u="none" strike="noStrike" dirty="0">
                          <a:effectLst/>
                        </a:rPr>
                        <a:t>Sum of</a:t>
                      </a: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u="none" strike="noStrike" dirty="0">
                          <a:effectLst/>
                        </a:rPr>
                        <a:t>Squares</a:t>
                      </a:r>
                      <a:endParaRPr lang="en-US" sz="2000" b="1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u="none" strike="noStrike" dirty="0">
                          <a:effectLst/>
                        </a:rPr>
                        <a:t>Degrees of Freedom</a:t>
                      </a:r>
                      <a:endParaRPr lang="en-US" sz="2000" b="1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u="none" strike="noStrike">
                          <a:effectLst/>
                        </a:rPr>
                        <a:t>Mean</a:t>
                      </a: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u="none" strike="noStrike">
                          <a:effectLst/>
                        </a:rPr>
                        <a:t>Square</a:t>
                      </a:r>
                      <a:endParaRPr lang="en-US" sz="20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u="none" strike="noStrike">
                          <a:effectLst/>
                        </a:rPr>
                        <a:t> </a:t>
                      </a: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u="none" strike="noStrike">
                          <a:effectLst/>
                        </a:rPr>
                        <a:t>F</a:t>
                      </a:r>
                      <a:endParaRPr lang="en-US" sz="2000" b="1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extLst>
                  <a:ext uri="{0D108BD9-81ED-4DB2-BD59-A6C34878D82A}">
                    <a16:rowId xmlns:a16="http://schemas.microsoft.com/office/drawing/2014/main" val="3053048303"/>
                  </a:ext>
                </a:extLst>
              </a:tr>
              <a:tr h="441138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u="none" strike="noStrike">
                          <a:effectLst/>
                        </a:rPr>
                        <a:t>Model</a:t>
                      </a:r>
                      <a:endParaRPr lang="en-US" sz="20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u="none" strike="noStrike">
                          <a:effectLst/>
                        </a:rPr>
                        <a:t>SSR</a:t>
                      </a:r>
                      <a:endParaRPr lang="en-US" sz="20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u="none" strike="noStrike" dirty="0">
                          <a:effectLst/>
                        </a:rPr>
                        <a:t>1</a:t>
                      </a:r>
                      <a:endParaRPr lang="en-US" sz="2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u="none" strike="noStrike" dirty="0">
                          <a:effectLst/>
                        </a:rPr>
                        <a:t>MSR = SSR/1</a:t>
                      </a:r>
                      <a:endParaRPr lang="en-US" sz="2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i="1" u="none" strike="noStrike" dirty="0">
                          <a:effectLst/>
                        </a:rPr>
                        <a:t>F</a:t>
                      </a:r>
                      <a:r>
                        <a:rPr lang="en-US" sz="2000" b="0" u="none" strike="noStrike" dirty="0">
                          <a:effectLst/>
                        </a:rPr>
                        <a:t> = MSR/MSE</a:t>
                      </a:r>
                      <a:endParaRPr lang="en-US" sz="2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extLst>
                  <a:ext uri="{0D108BD9-81ED-4DB2-BD59-A6C34878D82A}">
                    <a16:rowId xmlns:a16="http://schemas.microsoft.com/office/drawing/2014/main" val="1820340392"/>
                  </a:ext>
                </a:extLst>
              </a:tr>
              <a:tr h="643732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u="none" strike="noStrike">
                          <a:effectLst/>
                        </a:rPr>
                        <a:t>Error</a:t>
                      </a:r>
                      <a:endParaRPr lang="en-US" sz="20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u="none" strike="noStrike">
                          <a:effectLst/>
                        </a:rPr>
                        <a:t>SSE</a:t>
                      </a:r>
                      <a:endParaRPr lang="en-US" sz="20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i="1" u="none" strike="noStrike" dirty="0">
                          <a:effectLst/>
                        </a:rPr>
                        <a:t>n</a:t>
                      </a:r>
                      <a:r>
                        <a:rPr lang="en-US" sz="2000" b="0" u="none" strike="noStrike" dirty="0">
                          <a:effectLst/>
                        </a:rPr>
                        <a:t>-2</a:t>
                      </a:r>
                      <a:endParaRPr lang="en-US" sz="2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u="none" strike="noStrike" dirty="0">
                          <a:effectLst/>
                        </a:rPr>
                        <a:t>MSE = SSE/(n-2)</a:t>
                      </a:r>
                      <a:endParaRPr lang="en-US" sz="2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u="none" strike="noStrike" dirty="0">
                          <a:effectLst/>
                        </a:rPr>
                        <a:t> </a:t>
                      </a:r>
                      <a:endParaRPr lang="en-US" sz="2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extLst>
                  <a:ext uri="{0D108BD9-81ED-4DB2-BD59-A6C34878D82A}">
                    <a16:rowId xmlns:a16="http://schemas.microsoft.com/office/drawing/2014/main" val="1517431020"/>
                  </a:ext>
                </a:extLst>
              </a:tr>
              <a:tr h="238545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u="none" strike="noStrike">
                          <a:effectLst/>
                        </a:rPr>
                        <a:t>Total</a:t>
                      </a:r>
                      <a:endParaRPr lang="en-US" sz="20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u="none" strike="noStrike">
                          <a:effectLst/>
                        </a:rPr>
                        <a:t>S</a:t>
                      </a:r>
                      <a:r>
                        <a:rPr lang="en-US" sz="2000" b="0" u="none" strike="noStrike" baseline="-25000">
                          <a:effectLst/>
                        </a:rPr>
                        <a:t>yy</a:t>
                      </a:r>
                      <a:endParaRPr lang="en-US" sz="20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i="1" u="none" strike="noStrike" dirty="0">
                          <a:effectLst/>
                        </a:rPr>
                        <a:t>n</a:t>
                      </a:r>
                      <a:r>
                        <a:rPr lang="en-US" sz="2000" b="0" u="none" strike="noStrike" dirty="0">
                          <a:effectLst/>
                        </a:rPr>
                        <a:t>-1</a:t>
                      </a:r>
                      <a:endParaRPr lang="en-US" sz="2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u="none" strike="noStrike">
                          <a:effectLst/>
                        </a:rPr>
                        <a:t> </a:t>
                      </a:r>
                      <a:endParaRPr lang="en-US" sz="20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u="none" strike="noStrike" dirty="0">
                          <a:effectLst/>
                        </a:rPr>
                        <a:t> </a:t>
                      </a:r>
                      <a:endParaRPr lang="en-US" sz="20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2972" marR="112972" marT="15691" marB="0"/>
                </a:tc>
                <a:extLst>
                  <a:ext uri="{0D108BD9-81ED-4DB2-BD59-A6C34878D82A}">
                    <a16:rowId xmlns:a16="http://schemas.microsoft.com/office/drawing/2014/main" val="37429112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035355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FB665-4DE0-2DD9-06C4-7BBFDE9F0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4400" dirty="0"/>
              <a:t>Example - Pharmacodynamics of LSD</a:t>
            </a:r>
            <a:endParaRPr lang="en-US" dirty="0"/>
          </a:p>
        </p:txBody>
      </p:sp>
      <p:sp>
        <p:nvSpPr>
          <p:cNvPr id="6" name="Text Box 3">
            <a:extLst>
              <a:ext uri="{FF2B5EF4-FFF2-40B4-BE49-F238E27FC236}">
                <a16:creationId xmlns:a16="http://schemas.microsoft.com/office/drawing/2014/main" id="{317EC93E-04F8-2E82-5AF9-B9E215A40D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2146" y="1665755"/>
            <a:ext cx="662940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Total Sum of squares:</a:t>
            </a:r>
          </a:p>
        </p:txBody>
      </p:sp>
      <p:graphicFrame>
        <p:nvGraphicFramePr>
          <p:cNvPr id="7" name="Object 4">
            <a:extLst>
              <a:ext uri="{FF2B5EF4-FFF2-40B4-BE49-F238E27FC236}">
                <a16:creationId xmlns:a16="http://schemas.microsoft.com/office/drawing/2014/main" id="{4AD5625D-C4FB-6C14-88B6-AE2C1FA4672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39775" y="2354263"/>
          <a:ext cx="6858000" cy="5889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085920" imgH="266400" progId="Equation.3">
                  <p:embed/>
                </p:oleObj>
              </mc:Choice>
              <mc:Fallback>
                <p:oleObj name="Equation" r:id="rId2" imgW="3085920" imgH="266400" progId="Equation.3">
                  <p:embed/>
                  <p:pic>
                    <p:nvPicPr>
                      <p:cNvPr id="7" name="Object 4">
                        <a:extLst>
                          <a:ext uri="{FF2B5EF4-FFF2-40B4-BE49-F238E27FC236}">
                            <a16:creationId xmlns:a16="http://schemas.microsoft.com/office/drawing/2014/main" id="{4AD5625D-C4FB-6C14-88B6-AE2C1FA4672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9775" y="2354263"/>
                        <a:ext cx="6858000" cy="5889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 Box 5">
            <a:extLst>
              <a:ext uri="{FF2B5EF4-FFF2-40B4-BE49-F238E27FC236}">
                <a16:creationId xmlns:a16="http://schemas.microsoft.com/office/drawing/2014/main" id="{849CB589-447D-67B8-6371-90C198AA43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2146" y="3263389"/>
            <a:ext cx="388620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Error Sum of squares:</a:t>
            </a:r>
          </a:p>
        </p:txBody>
      </p:sp>
      <p:graphicFrame>
        <p:nvGraphicFramePr>
          <p:cNvPr id="9" name="Object 6">
            <a:extLst>
              <a:ext uri="{FF2B5EF4-FFF2-40B4-BE49-F238E27FC236}">
                <a16:creationId xmlns:a16="http://schemas.microsoft.com/office/drawing/2014/main" id="{9D4A98B2-A11A-6A9F-4AF9-55700E5DB27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28663" y="3975100"/>
          <a:ext cx="6705600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162240" imgH="342720" progId="Equation.3">
                  <p:embed/>
                </p:oleObj>
              </mc:Choice>
              <mc:Fallback>
                <p:oleObj name="Equation" r:id="rId4" imgW="3162240" imgH="342720" progId="Equation.3">
                  <p:embed/>
                  <p:pic>
                    <p:nvPicPr>
                      <p:cNvPr id="9" name="Object 6">
                        <a:extLst>
                          <a:ext uri="{FF2B5EF4-FFF2-40B4-BE49-F238E27FC236}">
                            <a16:creationId xmlns:a16="http://schemas.microsoft.com/office/drawing/2014/main" id="{9D4A98B2-A11A-6A9F-4AF9-55700E5DB27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8663" y="3975100"/>
                        <a:ext cx="6705600" cy="723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 Box 7">
            <a:extLst>
              <a:ext uri="{FF2B5EF4-FFF2-40B4-BE49-F238E27FC236}">
                <a16:creationId xmlns:a16="http://schemas.microsoft.com/office/drawing/2014/main" id="{29CF888D-8BD4-815E-6EE3-536EA44F84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2146" y="5106240"/>
            <a:ext cx="478824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Model Sum of Squares:</a:t>
            </a:r>
          </a:p>
        </p:txBody>
      </p:sp>
      <p:graphicFrame>
        <p:nvGraphicFramePr>
          <p:cNvPr id="11" name="Object 8">
            <a:extLst>
              <a:ext uri="{FF2B5EF4-FFF2-40B4-BE49-F238E27FC236}">
                <a16:creationId xmlns:a16="http://schemas.microsoft.com/office/drawing/2014/main" id="{A351DA19-DDEC-F4EA-CEB5-9E1C80B4EAF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28019" y="5759539"/>
          <a:ext cx="8670925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089240" imgH="342720" progId="Equation.3">
                  <p:embed/>
                </p:oleObj>
              </mc:Choice>
              <mc:Fallback>
                <p:oleObj name="Equation" r:id="rId6" imgW="4089240" imgH="342720" progId="Equation.3">
                  <p:embed/>
                  <p:pic>
                    <p:nvPicPr>
                      <p:cNvPr id="11" name="Object 8">
                        <a:extLst>
                          <a:ext uri="{FF2B5EF4-FFF2-40B4-BE49-F238E27FC236}">
                            <a16:creationId xmlns:a16="http://schemas.microsoft.com/office/drawing/2014/main" id="{A351DA19-DDEC-F4EA-CEB5-9E1C80B4EAF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8019" y="5759539"/>
                        <a:ext cx="8670925" cy="723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2678169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962DA-BB80-7B4E-3703-8CBD13E81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Pharmacodynamics of LSD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9227BE2-65D2-2BAA-E620-E0B89CC892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05550" y="2092818"/>
            <a:ext cx="5048250" cy="1666875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C122060-1E4D-32B8-2CD5-D87FB9846B45}"/>
              </a:ext>
            </a:extLst>
          </p:cNvPr>
          <p:cNvGraphicFramePr>
            <a:graphicFrameLocks noGrp="1"/>
          </p:cNvGraphicFramePr>
          <p:nvPr/>
        </p:nvGraphicFramePr>
        <p:xfrm>
          <a:off x="473075" y="2494006"/>
          <a:ext cx="5622925" cy="1066800"/>
        </p:xfrm>
        <a:graphic>
          <a:graphicData uri="http://schemas.openxmlformats.org/drawingml/2006/table">
            <a:tbl>
              <a:tblPr firstRow="1" firstCol="1" lastRow="1" bandRow="1" bandCol="1">
                <a:tableStyleId>{7E9639D4-E3E2-4D34-9284-5A2195B3D0D7}</a:tableStyleId>
              </a:tblPr>
              <a:tblGrid>
                <a:gridCol w="1124585">
                  <a:extLst>
                    <a:ext uri="{9D8B030D-6E8A-4147-A177-3AD203B41FA5}">
                      <a16:colId xmlns:a16="http://schemas.microsoft.com/office/drawing/2014/main" val="4111072504"/>
                    </a:ext>
                  </a:extLst>
                </a:gridCol>
                <a:gridCol w="1124585">
                  <a:extLst>
                    <a:ext uri="{9D8B030D-6E8A-4147-A177-3AD203B41FA5}">
                      <a16:colId xmlns:a16="http://schemas.microsoft.com/office/drawing/2014/main" val="1430437208"/>
                    </a:ext>
                  </a:extLst>
                </a:gridCol>
                <a:gridCol w="1124585">
                  <a:extLst>
                    <a:ext uri="{9D8B030D-6E8A-4147-A177-3AD203B41FA5}">
                      <a16:colId xmlns:a16="http://schemas.microsoft.com/office/drawing/2014/main" val="965435729"/>
                    </a:ext>
                  </a:extLst>
                </a:gridCol>
                <a:gridCol w="1124585">
                  <a:extLst>
                    <a:ext uri="{9D8B030D-6E8A-4147-A177-3AD203B41FA5}">
                      <a16:colId xmlns:a16="http://schemas.microsoft.com/office/drawing/2014/main" val="3686704217"/>
                    </a:ext>
                  </a:extLst>
                </a:gridCol>
                <a:gridCol w="1124585">
                  <a:extLst>
                    <a:ext uri="{9D8B030D-6E8A-4147-A177-3AD203B41FA5}">
                      <a16:colId xmlns:a16="http://schemas.microsoft.com/office/drawing/2014/main" val="37535612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Source of Variation</a:t>
                      </a:r>
                      <a:endParaRPr lang="en-US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Sum of</a:t>
                      </a:r>
                    </a:p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Squares</a:t>
                      </a:r>
                      <a:endParaRPr lang="en-US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Degrees of Freedom</a:t>
                      </a:r>
                      <a:endParaRPr lang="en-US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Mean</a:t>
                      </a:r>
                    </a:p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Square</a:t>
                      </a:r>
                      <a:endParaRPr lang="en-US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 </a:t>
                      </a:r>
                    </a:p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kern="0">
                          <a:effectLst/>
                        </a:rPr>
                        <a:t>F</a:t>
                      </a:r>
                      <a:endParaRPr lang="en-US" sz="1400" b="1" i="1" kern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149358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Model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1824.293</a:t>
                      </a:r>
                      <a:endParaRPr lang="en-US" sz="1400" b="1" i="1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1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1824.293</a:t>
                      </a:r>
                      <a:endParaRPr lang="en-US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35.93</a:t>
                      </a:r>
                      <a:endParaRPr lang="en-US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84650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Error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253.890</a:t>
                      </a:r>
                      <a:endParaRPr lang="en-US" sz="1400" b="1" i="1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5</a:t>
                      </a:r>
                      <a:endParaRPr lang="en-US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50.778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 </a:t>
                      </a:r>
                      <a:endParaRPr lang="en-US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50236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Total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2078.183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6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 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 </a:t>
                      </a:r>
                      <a:endParaRPr lang="en-US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3722190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445B1BF-48F4-59FF-007D-5402FA7F6642}"/>
              </a:ext>
            </a:extLst>
          </p:cNvPr>
          <p:cNvSpPr txBox="1"/>
          <p:nvPr/>
        </p:nvSpPr>
        <p:spPr>
          <a:xfrm>
            <a:off x="473075" y="3693426"/>
            <a:ext cx="6394622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Analysis of Variance - </a:t>
            </a:r>
            <a:r>
              <a:rPr kumimoji="0" lang="en-US" altLang="en-US" sz="20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</a:t>
            </a:r>
            <a:r>
              <a:rPr kumimoji="0" lang="en-US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-test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</a:t>
            </a:r>
            <a:r>
              <a:rPr kumimoji="0" lang="en-US" alt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all betas equal 0   	vs  	</a:t>
            </a:r>
            <a:r>
              <a:rPr kumimoji="0" lang="en-US" alt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</a:t>
            </a:r>
            <a:r>
              <a:rPr kumimoji="0" lang="en-US" alt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at least one beta is 0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</a:t>
            </a:r>
            <a:r>
              <a:rPr kumimoji="0" lang="en-US" alt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</a:t>
            </a:r>
            <a:r>
              <a:rPr kumimoji="0" lang="en-US" alt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ymbol" panose="05050102010706020507" pitchFamily="18" charset="2"/>
                <a:ea typeface="+mn-ea"/>
                <a:cs typeface="+mn-cs"/>
              </a:rPr>
              <a:t>b</a:t>
            </a:r>
            <a:r>
              <a:rPr kumimoji="0" lang="en-US" alt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= 0           		 vs 	</a:t>
            </a:r>
            <a:r>
              <a:rPr kumimoji="0" lang="en-US" alt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</a:t>
            </a:r>
            <a:r>
              <a:rPr kumimoji="0" lang="en-US" alt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</a:t>
            </a:r>
            <a:r>
              <a:rPr kumimoji="0" lang="en-US" alt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ymbol" panose="05050102010706020507" pitchFamily="18" charset="2"/>
                <a:ea typeface="+mn-ea"/>
                <a:cs typeface="+mn-cs"/>
              </a:rPr>
              <a:t>b</a:t>
            </a:r>
            <a:r>
              <a:rPr kumimoji="0" lang="en-US" alt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Symbol" panose="05050102010706020507" pitchFamily="18" charset="2"/>
              </a:rPr>
              <a:t>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0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F02FB65-95D9-ABE5-F18C-C11C8357A998}"/>
                  </a:ext>
                </a:extLst>
              </p:cNvPr>
              <p:cNvSpPr txBox="1"/>
              <p:nvPr/>
            </p:nvSpPr>
            <p:spPr>
              <a:xfrm>
                <a:off x="673443" y="5550592"/>
                <a:ext cx="5362109" cy="5270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𝐹</m:t>
                    </m:r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𝑀𝑆𝑅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𝑀𝑆𝐸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=35.928&gt;</m:t>
                    </m:r>
                    <m:sSub>
                      <m:sSub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𝐹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𝛼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, 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𝑑𝑓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=1, 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𝑛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−2</m:t>
                        </m:r>
                      </m:sub>
                    </m:sSub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= 6.61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  <a:sym typeface="Wingdings" panose="05000000000000000000" pitchFamily="2" charset="2"/>
                  </a:rPr>
                  <a:t></a:t>
                </a:r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F02FB65-95D9-ABE5-F18C-C11C8357A9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443" y="5550592"/>
                <a:ext cx="5362109" cy="527004"/>
              </a:xfrm>
              <a:prstGeom prst="rect">
                <a:avLst/>
              </a:prstGeom>
              <a:blipFill>
                <a:blip r:embed="rId3"/>
                <a:stretch>
                  <a:fillRect t="-4651" r="-2386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C934CB64-CFD2-2DD6-C757-8118721AB868}"/>
              </a:ext>
            </a:extLst>
          </p:cNvPr>
          <p:cNvSpPr txBox="1"/>
          <p:nvPr/>
        </p:nvSpPr>
        <p:spPr>
          <a:xfrm>
            <a:off x="5935277" y="5583261"/>
            <a:ext cx="15306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Reject Null</a:t>
            </a:r>
          </a:p>
        </p:txBody>
      </p:sp>
    </p:spTree>
    <p:extLst>
      <p:ext uri="{BB962C8B-B14F-4D97-AF65-F5344CB8AC3E}">
        <p14:creationId xmlns:p14="http://schemas.microsoft.com/office/powerpoint/2010/main" val="114301604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35A83-61EC-2D8D-642D-BB36CF266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Fitted Values &amp; Residuals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18933F-B2B8-24AB-8033-F5CC0A8134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392297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Fitted values for the sample cases are obtained by substituting the appropriate </a:t>
                </a:r>
                <a:r>
                  <a:rPr lang="en-US" i="1" dirty="0"/>
                  <a:t>X</a:t>
                </a:r>
                <a:r>
                  <a:rPr lang="en-US" dirty="0"/>
                  <a:t> values into the estimated regression function. </a:t>
                </a:r>
              </a:p>
              <a:p>
                <a:endParaRPr lang="en-US" dirty="0"/>
              </a:p>
              <a:p>
                <a:r>
                  <a:rPr lang="en-US" dirty="0"/>
                  <a:t>The residual is the difference between the observed value Yi and the fitted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. The residual is denoted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and is defined as</a:t>
                </a:r>
              </a:p>
              <a:p>
                <a:endParaRPr lang="en-US" dirty="0"/>
              </a:p>
              <a:p>
                <a:r>
                  <a:rPr lang="en-US" dirty="0"/>
                  <a:t>For the case above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18933F-B2B8-24AB-8033-F5CC0A8134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392297" cy="4351338"/>
              </a:xfrm>
              <a:blipFill>
                <a:blip r:embed="rId2"/>
                <a:stretch>
                  <a:fillRect l="-1308" t="-2241" r="-1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BAC1368-0258-D4DC-3DCE-B60B7BBEEFCC}"/>
                  </a:ext>
                </a:extLst>
              </p:cNvPr>
              <p:cNvSpPr txBox="1"/>
              <p:nvPr/>
            </p:nvSpPr>
            <p:spPr>
              <a:xfrm>
                <a:off x="974470" y="4969779"/>
                <a:ext cx="1292352" cy="4084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𝑒</m:t>
                        </m:r>
                      </m:e>
                      <m:sub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𝑌</m:t>
                        </m:r>
                      </m:e>
                      <m:sub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kumimoji="0" lang="en-US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kumimoji="0" lang="en-US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 </m:t>
                            </m:r>
                            <m:r>
                              <a:rPr kumimoji="0" lang="en-US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BAC1368-0258-D4DC-3DCE-B60B7BBEEF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470" y="4969779"/>
                <a:ext cx="1292352" cy="408445"/>
              </a:xfrm>
              <a:prstGeom prst="rect">
                <a:avLst/>
              </a:prstGeom>
              <a:blipFill>
                <a:blip r:embed="rId3"/>
                <a:stretch>
                  <a:fillRect t="-8955" r="-25472" b="-268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9BB4B7A-AA1A-EDC3-84A2-20ED157A1F5C}"/>
                  </a:ext>
                </a:extLst>
              </p:cNvPr>
              <p:cNvSpPr txBox="1"/>
              <p:nvPr/>
            </p:nvSpPr>
            <p:spPr>
              <a:xfrm>
                <a:off x="974470" y="5988578"/>
                <a:ext cx="3905538" cy="4084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𝑒</m:t>
                        </m:r>
                      </m:e>
                      <m:sub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𝑌</m:t>
                        </m:r>
                      </m:e>
                      <m:sub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  <m:sSub>
                      <m:sSubPr>
                        <m:ctrlP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kumimoji="0" lang="en-US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kumimoji="0" lang="en-US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 </m:t>
                            </m:r>
                            <m:r>
                              <a:rPr kumimoji="0" lang="en-US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=37.47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- 46.87 = -9.4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9BB4B7A-AA1A-EDC3-84A2-20ED157A1F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470" y="5988578"/>
                <a:ext cx="3905538" cy="408445"/>
              </a:xfrm>
              <a:prstGeom prst="rect">
                <a:avLst/>
              </a:prstGeom>
              <a:blipFill>
                <a:blip r:embed="rId4"/>
                <a:stretch>
                  <a:fillRect t="-8955" b="-268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8FB361F-D5F2-61CA-D93E-071A63147000}"/>
                  </a:ext>
                </a:extLst>
              </p:cNvPr>
              <p:cNvSpPr txBox="1"/>
              <p:nvPr/>
            </p:nvSpPr>
            <p:spPr>
              <a:xfrm>
                <a:off x="1089973" y="3166926"/>
                <a:ext cx="537358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𝑆𝑐𝑜𝑟𝑒</m:t>
                    </m:r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=89.125 −9.009(4.69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)=46.87279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8FB361F-D5F2-61CA-D93E-071A63147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973" y="3166926"/>
                <a:ext cx="5373587" cy="369332"/>
              </a:xfrm>
              <a:prstGeom prst="rect">
                <a:avLst/>
              </a:prstGeom>
              <a:blipFill>
                <a:blip r:embed="rId5"/>
                <a:stretch>
                  <a:fillRect l="-2043" t="-26667" r="-2384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2" name="Content Placeholder 4">
            <a:extLst>
              <a:ext uri="{FF2B5EF4-FFF2-40B4-BE49-F238E27FC236}">
                <a16:creationId xmlns:a16="http://schemas.microsoft.com/office/drawing/2014/main" id="{598C0CCB-3B41-26B2-B55C-AE3C4255B58A}"/>
              </a:ext>
            </a:extLst>
          </p:cNvPr>
          <p:cNvGraphicFramePr>
            <a:graphicFrameLocks/>
          </p:cNvGraphicFramePr>
          <p:nvPr/>
        </p:nvGraphicFramePr>
        <p:xfrm>
          <a:off x="9444118" y="1731535"/>
          <a:ext cx="2403608" cy="43263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2008">
                  <a:extLst>
                    <a:ext uri="{9D8B030D-6E8A-4147-A177-3AD203B41FA5}">
                      <a16:colId xmlns:a16="http://schemas.microsoft.com/office/drawing/2014/main" val="197365398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4202569024"/>
                    </a:ext>
                  </a:extLst>
                </a:gridCol>
              </a:tblGrid>
              <a:tr h="79930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cap="none" spc="0" dirty="0">
                          <a:solidFill>
                            <a:schemeClr val="bg1"/>
                          </a:solidFill>
                          <a:effectLst/>
                        </a:rPr>
                        <a:t>Score (Y)</a:t>
                      </a:r>
                      <a:endParaRPr lang="en-US" sz="1800" b="0" i="0" u="none" strike="noStrike" cap="none" spc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271" marR="8987" marT="21506" marB="161295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cap="none" spc="0" dirty="0">
                          <a:solidFill>
                            <a:schemeClr val="bg1"/>
                          </a:solidFill>
                          <a:effectLst/>
                        </a:rPr>
                        <a:t>LSD Conc (X)</a:t>
                      </a:r>
                      <a:endParaRPr lang="en-US" sz="1800" b="0" i="0" u="none" strike="noStrike" cap="none" spc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271" marR="8987" marT="21506" marB="161295" anchor="b"/>
                </a:tc>
                <a:extLst>
                  <a:ext uri="{0D108BD9-81ED-4DB2-BD59-A6C34878D82A}">
                    <a16:rowId xmlns:a16="http://schemas.microsoft.com/office/drawing/2014/main" val="3444776418"/>
                  </a:ext>
                </a:extLst>
              </a:tr>
              <a:tr h="440874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78.93</a:t>
                      </a:r>
                      <a:endParaRPr lang="en-US" sz="16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271" marR="8987" marT="21506" marB="161295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1.17</a:t>
                      </a:r>
                      <a:endParaRPr lang="en-US" sz="16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271" marR="8987" marT="21506" marB="161295" anchor="b"/>
                </a:tc>
                <a:extLst>
                  <a:ext uri="{0D108BD9-81ED-4DB2-BD59-A6C34878D82A}">
                    <a16:rowId xmlns:a16="http://schemas.microsoft.com/office/drawing/2014/main" val="3275196686"/>
                  </a:ext>
                </a:extLst>
              </a:tr>
              <a:tr h="440874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58.20</a:t>
                      </a:r>
                      <a:endParaRPr lang="en-US" sz="16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271" marR="8987" marT="21506" marB="161295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2.97</a:t>
                      </a:r>
                      <a:endParaRPr lang="en-US" sz="16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271" marR="8987" marT="21506" marB="161295" anchor="b"/>
                </a:tc>
                <a:extLst>
                  <a:ext uri="{0D108BD9-81ED-4DB2-BD59-A6C34878D82A}">
                    <a16:rowId xmlns:a16="http://schemas.microsoft.com/office/drawing/2014/main" val="783300400"/>
                  </a:ext>
                </a:extLst>
              </a:tr>
              <a:tr h="440874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67.47</a:t>
                      </a:r>
                      <a:endParaRPr lang="en-US" sz="16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271" marR="8987" marT="21506" marB="161295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3.26</a:t>
                      </a:r>
                      <a:endParaRPr lang="en-US" sz="16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271" marR="8987" marT="21506" marB="161295" anchor="b"/>
                </a:tc>
                <a:extLst>
                  <a:ext uri="{0D108BD9-81ED-4DB2-BD59-A6C34878D82A}">
                    <a16:rowId xmlns:a16="http://schemas.microsoft.com/office/drawing/2014/main" val="317267171"/>
                  </a:ext>
                </a:extLst>
              </a:tr>
              <a:tr h="440874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37.47</a:t>
                      </a:r>
                      <a:endParaRPr lang="en-US" sz="16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271" marR="8987" marT="21506" marB="161295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4.69</a:t>
                      </a:r>
                      <a:endParaRPr lang="en-US" sz="16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271" marR="8987" marT="21506" marB="161295" anchor="b"/>
                </a:tc>
                <a:extLst>
                  <a:ext uri="{0D108BD9-81ED-4DB2-BD59-A6C34878D82A}">
                    <a16:rowId xmlns:a16="http://schemas.microsoft.com/office/drawing/2014/main" val="336317147"/>
                  </a:ext>
                </a:extLst>
              </a:tr>
              <a:tr h="440874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45.65</a:t>
                      </a:r>
                      <a:endParaRPr lang="en-US" sz="16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271" marR="8987" marT="21506" marB="161295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5.83</a:t>
                      </a:r>
                      <a:endParaRPr lang="en-US" sz="16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271" marR="8987" marT="21506" marB="161295" anchor="b"/>
                </a:tc>
                <a:extLst>
                  <a:ext uri="{0D108BD9-81ED-4DB2-BD59-A6C34878D82A}">
                    <a16:rowId xmlns:a16="http://schemas.microsoft.com/office/drawing/2014/main" val="2016694623"/>
                  </a:ext>
                </a:extLst>
              </a:tr>
              <a:tr h="440874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32.92</a:t>
                      </a:r>
                      <a:endParaRPr lang="en-US" sz="16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271" marR="8987" marT="21506" marB="161295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6.00</a:t>
                      </a:r>
                      <a:endParaRPr lang="en-US" sz="16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271" marR="8987" marT="21506" marB="161295" anchor="b"/>
                </a:tc>
                <a:extLst>
                  <a:ext uri="{0D108BD9-81ED-4DB2-BD59-A6C34878D82A}">
                    <a16:rowId xmlns:a16="http://schemas.microsoft.com/office/drawing/2014/main" val="519487015"/>
                  </a:ext>
                </a:extLst>
              </a:tr>
              <a:tr h="440874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29.97</a:t>
                      </a:r>
                      <a:endParaRPr lang="en-US" sz="16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271" marR="8987" marT="21506" marB="161295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6.41</a:t>
                      </a:r>
                      <a:endParaRPr lang="en-US" sz="16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271" marR="8987" marT="21506" marB="161295" anchor="b"/>
                </a:tc>
                <a:extLst>
                  <a:ext uri="{0D108BD9-81ED-4DB2-BD59-A6C34878D82A}">
                    <a16:rowId xmlns:a16="http://schemas.microsoft.com/office/drawing/2014/main" val="3591637351"/>
                  </a:ext>
                </a:extLst>
              </a:tr>
              <a:tr h="440874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cap="none" spc="0" dirty="0">
                          <a:solidFill>
                            <a:srgbClr val="FF0000"/>
                          </a:solidFill>
                          <a:effectLst/>
                        </a:rPr>
                        <a:t>350.61</a:t>
                      </a:r>
                      <a:endParaRPr lang="en-US" sz="1600" b="1" i="0" u="none" strike="noStrike" cap="none" spc="0" dirty="0">
                        <a:solidFill>
                          <a:srgbClr val="FF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271" marR="8987" marT="21506" marB="161295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cap="none" spc="0" dirty="0">
                          <a:solidFill>
                            <a:srgbClr val="FF0000"/>
                          </a:solidFill>
                          <a:effectLst/>
                        </a:rPr>
                        <a:t>30.33</a:t>
                      </a:r>
                      <a:endParaRPr lang="en-US" sz="1600" b="1" i="0" u="none" strike="noStrike" cap="none" spc="0" dirty="0">
                        <a:solidFill>
                          <a:srgbClr val="FF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271" marR="8987" marT="21506" marB="161295" anchor="b"/>
                </a:tc>
                <a:extLst>
                  <a:ext uri="{0D108BD9-81ED-4DB2-BD59-A6C34878D82A}">
                    <a16:rowId xmlns:a16="http://schemas.microsoft.com/office/drawing/2014/main" val="18164994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937415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BF5DC-EF30-57AF-9188-270E6723E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6" y="321734"/>
            <a:ext cx="6891187" cy="1135737"/>
          </a:xfrm>
        </p:spPr>
        <p:txBody>
          <a:bodyPr>
            <a:normAutofit/>
          </a:bodyPr>
          <a:lstStyle/>
          <a:p>
            <a:r>
              <a:rPr lang="en-US" sz="3600" dirty="0"/>
              <a:t>Factors affecting the width of the CI:</a:t>
            </a:r>
            <a:br>
              <a:rPr lang="en-US" sz="3600" dirty="0"/>
            </a:br>
            <a:r>
              <a:rPr lang="en-US" sz="2800" dirty="0"/>
              <a:t>Making the interval as narrow as possible</a:t>
            </a:r>
            <a:endParaRPr 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070D1-A898-C8A3-6112-CA81173A0D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3467" y="1782981"/>
                <a:ext cx="10742990" cy="4393982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/>
                  <a:t>As the confidence level decreases, the width of the interval decreases</a:t>
                </a:r>
              </a:p>
              <a:p>
                <a:pPr lvl="1"/>
                <a:r>
                  <a:rPr lang="en-US" sz="1600" dirty="0"/>
                  <a:t>Compare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16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6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±1.96×</m:t>
                    </m:r>
                    <m:r>
                      <a:rPr lang="en-US" sz="16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𝑠𝑒</m:t>
                    </m:r>
                  </m:oMath>
                </a14:m>
                <a:r>
                  <a:rPr lang="en-US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16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600" dirty="0"/>
                  <a:t>)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±1.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6×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𝑠𝑒</m:t>
                    </m:r>
                  </m:oMath>
                </a14:m>
                <a:r>
                  <a:rPr lang="en-US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600" dirty="0"/>
                  <a:t>)</a:t>
                </a:r>
              </a:p>
              <a:p>
                <a:pPr lvl="1"/>
                <a:r>
                  <a:rPr lang="en-US" sz="1600" dirty="0"/>
                  <a:t>Note: the wider interval makes it less likely we reject the null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600" b="0" dirty="0"/>
                  <a:t>= 0, i.e. that 0 will be contained in the CI</a:t>
                </a:r>
                <a:endParaRPr lang="en-US" sz="1600" dirty="0"/>
              </a:p>
              <a:p>
                <a:r>
                  <a:rPr lang="en-US" sz="2000" dirty="0"/>
                  <a:t>As the regression error (MSE) decreases, the width of the interval decreases</a:t>
                </a:r>
              </a:p>
              <a:p>
                <a:pPr lvl="1"/>
                <a:r>
                  <a:rPr lang="en-US" sz="1600" dirty="0"/>
                  <a:t>Less error means we are more confident about rejecting the null</a:t>
                </a:r>
              </a:p>
              <a:p>
                <a:pPr lvl="1"/>
                <a:r>
                  <a:rPr lang="en-US" sz="1600" dirty="0"/>
                  <a:t>Look at formula as MSE increases, </a:t>
                </a:r>
                <a:r>
                  <a:rPr lang="en-US" sz="1600" i="1" dirty="0"/>
                  <a:t>t-</a:t>
                </a:r>
                <a:r>
                  <a:rPr lang="en-US" sz="1600" dirty="0"/>
                  <a:t>statistic</a:t>
                </a:r>
                <a:r>
                  <a:rPr lang="en-US" sz="1600" i="1" dirty="0"/>
                  <a:t> decreases</a:t>
                </a:r>
              </a:p>
              <a:p>
                <a:r>
                  <a:rPr lang="en-US" sz="2000" dirty="0"/>
                  <a:t>The more spread out the predictor x values, the narrower the interval</a:t>
                </a:r>
              </a:p>
              <a:p>
                <a:pPr lvl="1"/>
                <a:r>
                  <a:rPr lang="en-US" sz="1600" dirty="0"/>
                  <a:t>Look at formula, more variation means </a:t>
                </a:r>
                <a:r>
                  <a:rPr lang="en-US" sz="1600" i="1" dirty="0"/>
                  <a:t>t-</a:t>
                </a:r>
                <a:r>
                  <a:rPr lang="en-US" sz="1600" dirty="0"/>
                  <a:t>statistic</a:t>
                </a:r>
                <a:r>
                  <a:rPr lang="en-US" sz="1600" i="1" dirty="0"/>
                  <a:t> increases </a:t>
                </a:r>
                <a:r>
                  <a:rPr lang="en-US" sz="1600" dirty="0"/>
                  <a:t>because the denominator will be smaller</a:t>
                </a:r>
              </a:p>
              <a:p>
                <a:r>
                  <a:rPr lang="en-US" sz="2000" dirty="0"/>
                  <a:t>As the sample size increases, the width of the interval decreases, i.e. it will be more narrow</a:t>
                </a:r>
              </a:p>
              <a:p>
                <a:pPr lvl="1"/>
                <a:r>
                  <a:rPr lang="en-US" sz="1600" dirty="0"/>
                  <a:t>Larger </a:t>
                </a:r>
                <a:r>
                  <a:rPr lang="en-US" sz="1600" i="1" dirty="0"/>
                  <a:t>n </a:t>
                </a:r>
                <a:r>
                  <a:rPr lang="en-US" sz="1600" dirty="0"/>
                  <a:t>means more variation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070D1-A898-C8A3-6112-CA81173A0D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3467" y="1782981"/>
                <a:ext cx="10742990" cy="4393982"/>
              </a:xfrm>
              <a:blipFill>
                <a:blip r:embed="rId2"/>
                <a:stretch>
                  <a:fillRect l="-511" t="-12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2247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ambria Math"/>
        <a:ea typeface=""/>
        <a:cs typeface=""/>
      </a:majorFont>
      <a:minorFont>
        <a:latin typeface="Cambria Math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3624</TotalTime>
  <Words>7804</Words>
  <Application>Microsoft Office PowerPoint</Application>
  <PresentationFormat>Widescreen</PresentationFormat>
  <Paragraphs>1099</Paragraphs>
  <Slides>103</Slides>
  <Notes>20</Notes>
  <HiddenSlides>0</HiddenSlides>
  <MMClips>0</MMClips>
  <ScaleCrop>false</ScaleCrop>
  <HeadingPairs>
    <vt:vector size="8" baseType="variant">
      <vt:variant>
        <vt:lpstr>Fonts Used</vt:lpstr>
      </vt:variant>
      <vt:variant>
        <vt:i4>16</vt:i4>
      </vt:variant>
      <vt:variant>
        <vt:lpstr>Theme</vt:lpstr>
      </vt:variant>
      <vt:variant>
        <vt:i4>3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103</vt:i4>
      </vt:variant>
    </vt:vector>
  </HeadingPairs>
  <TitlesOfParts>
    <vt:vector size="123" baseType="lpstr">
      <vt:lpstr>MS PGothic</vt:lpstr>
      <vt:lpstr>Aptos</vt:lpstr>
      <vt:lpstr>Aptos Display</vt:lpstr>
      <vt:lpstr>Arial</vt:lpstr>
      <vt:lpstr>Calibri</vt:lpstr>
      <vt:lpstr>Calibri Light</vt:lpstr>
      <vt:lpstr>Calibri Light (Headings)</vt:lpstr>
      <vt:lpstr>Cambria Math</vt:lpstr>
      <vt:lpstr>Lucida Grande</vt:lpstr>
      <vt:lpstr>Open Sans</vt:lpstr>
      <vt:lpstr>open-sans</vt:lpstr>
      <vt:lpstr>Symbol</vt:lpstr>
      <vt:lpstr>Tahoma</vt:lpstr>
      <vt:lpstr>Times New Roman</vt:lpstr>
      <vt:lpstr>Verdana</vt:lpstr>
      <vt:lpstr>Wingdings</vt:lpstr>
      <vt:lpstr>Office Theme</vt:lpstr>
      <vt:lpstr>1_Office Theme</vt:lpstr>
      <vt:lpstr>2_Office Theme</vt:lpstr>
      <vt:lpstr>Equation</vt:lpstr>
      <vt:lpstr>Week 5</vt:lpstr>
      <vt:lpstr>Data application</vt:lpstr>
      <vt:lpstr>What model do I choose? Basic Statistical Analysis</vt:lpstr>
      <vt:lpstr>Linear regression –Terminology</vt:lpstr>
      <vt:lpstr>Introduction Linear Regression</vt:lpstr>
      <vt:lpstr>Deterministic Relationship between 2 variables</vt:lpstr>
      <vt:lpstr>Statistical Relationship between 2 Variables</vt:lpstr>
      <vt:lpstr>PowerPoint Presentation</vt:lpstr>
      <vt:lpstr>Estimating the Coefficients</vt:lpstr>
      <vt:lpstr>The Least Squares Regression Slope Where should we draw the line</vt:lpstr>
      <vt:lpstr>PowerPoint Presentation</vt:lpstr>
      <vt:lpstr>Simple Linear Regression</vt:lpstr>
      <vt:lpstr>Notation</vt:lpstr>
      <vt:lpstr>Inference from Regression</vt:lpstr>
      <vt:lpstr>The full model</vt:lpstr>
      <vt:lpstr>Interpretation of Regression Equation</vt:lpstr>
      <vt:lpstr>BLUE: Best Linear Unbiased Estimators**</vt:lpstr>
      <vt:lpstr>The Estimated Coefficients</vt:lpstr>
      <vt:lpstr>What do the regression parameters estimate?</vt:lpstr>
      <vt:lpstr>The Intercept</vt:lpstr>
      <vt:lpstr>Sampling Distributions &amp; Inference</vt:lpstr>
      <vt:lpstr>More about the best fitting line: minimizing the sum of squared errors</vt:lpstr>
      <vt:lpstr>Residuals of Linear Model</vt:lpstr>
      <vt:lpstr>More about the best fitting line</vt:lpstr>
      <vt:lpstr>Least Squares Estimation of b0, b1</vt:lpstr>
      <vt:lpstr>Intuition</vt:lpstr>
      <vt:lpstr>Method of least -Squares</vt:lpstr>
      <vt:lpstr>Regression Model</vt:lpstr>
      <vt:lpstr>Summary</vt:lpstr>
      <vt:lpstr>PowerPoint Presentation</vt:lpstr>
      <vt:lpstr>Estimation of Error Terms Variance, σ^2</vt:lpstr>
      <vt:lpstr>The variance of deviations</vt:lpstr>
      <vt:lpstr>Analysis of Variance for SLR</vt:lpstr>
      <vt:lpstr>Analysis of Variance in Regression</vt:lpstr>
      <vt:lpstr>The Coefficient of Determination R^2</vt:lpstr>
      <vt:lpstr>Interpretation R^2</vt:lpstr>
      <vt:lpstr>Pearson Correlation, r &amp; R^2!!</vt:lpstr>
      <vt:lpstr>PowerPoint Presentation</vt:lpstr>
      <vt:lpstr>Inferences for point estimates</vt:lpstr>
      <vt:lpstr>Hypothesis testing of coefficients</vt:lpstr>
      <vt:lpstr>Confidence intervals as hypothesis testing</vt:lpstr>
      <vt:lpstr>Critical: Inference, Error and Associations</vt:lpstr>
      <vt:lpstr>Introduction to Multiple Linear Regression</vt:lpstr>
      <vt:lpstr>Key Questions</vt:lpstr>
      <vt:lpstr>Multiple Linear Regression</vt:lpstr>
      <vt:lpstr>Similarities/Differences between MLR and SLR</vt:lpstr>
      <vt:lpstr>Example: Regression with two independent/explanatory variables</vt:lpstr>
      <vt:lpstr>Variable definitions in the school admissions dataset: admissions.sav</vt:lpstr>
      <vt:lpstr>Analyze  Regression </vt:lpstr>
      <vt:lpstr>What you already know…Descriptive Statistics &amp; Relationships</vt:lpstr>
      <vt:lpstr>What you already know…</vt:lpstr>
      <vt:lpstr>What’s new …</vt:lpstr>
      <vt:lpstr>What is new…</vt:lpstr>
      <vt:lpstr>What is new…</vt:lpstr>
      <vt:lpstr>What is new…</vt:lpstr>
      <vt:lpstr>We ended here</vt:lpstr>
      <vt:lpstr>PowerPoint Presentation</vt:lpstr>
      <vt:lpstr>PowerPoint Presentation</vt:lpstr>
      <vt:lpstr>(aside): part and partial correlation</vt:lpstr>
      <vt:lpstr>Partial Correlation, i.e. ‘partialling out’ AKA ‘controlling for’… (this is the relationship that holds for all values of class size)</vt:lpstr>
      <vt:lpstr>What is MLR and how does it work? </vt:lpstr>
      <vt:lpstr>Partial correlation Intuition</vt:lpstr>
      <vt:lpstr>Semipartial correlation Intuition</vt:lpstr>
      <vt:lpstr>Connection to MLR</vt:lpstr>
      <vt:lpstr>Summary</vt:lpstr>
      <vt:lpstr>What Multiple Linear Regression Is and How It Works: Characteristics</vt:lpstr>
      <vt:lpstr>What Multiple Linear Regression Is and How It Works: Characteristics </vt:lpstr>
      <vt:lpstr>What Multiple Linear Regression Is and How It Works: Characteristics </vt:lpstr>
      <vt:lpstr>What Multiple Linear Regression Is and How It Works: Characteristics </vt:lpstr>
      <vt:lpstr>What Multiple Linear Regression Is and How It Works: Characteristics</vt:lpstr>
      <vt:lpstr>What Multiple Linear Regression Is and How It Works: Characteristics</vt:lpstr>
      <vt:lpstr>What Multiple Linear Regression Is and How It Works: Characteristics</vt:lpstr>
      <vt:lpstr>What Multiple Linear Regression Is and How It Works: Characteristics</vt:lpstr>
      <vt:lpstr>What Multiple Linear Regression Is and How It Works: Sample Size</vt:lpstr>
      <vt:lpstr>What Multiple Linear Regression Is and How It Works: Power</vt:lpstr>
      <vt:lpstr>What Multiple Linear Regression Is and How It Works: Effect Size</vt:lpstr>
      <vt:lpstr>Mathematical Introduction Snapshot</vt:lpstr>
      <vt:lpstr>Your turn</vt:lpstr>
      <vt:lpstr>GRE-GPA Example Data</vt:lpstr>
      <vt:lpstr>PowerPoint Presentation</vt:lpstr>
      <vt:lpstr>PowerPoint Presentation</vt:lpstr>
      <vt:lpstr>Sample Partial Slope and Intercept</vt:lpstr>
      <vt:lpstr>Sample Multiple Linear Regression Model</vt:lpstr>
      <vt:lpstr>Overall F Test Statistic </vt:lpstr>
      <vt:lpstr>Example - Pharmacodynamics of LSD</vt:lpstr>
      <vt:lpstr>Homework</vt:lpstr>
      <vt:lpstr>From SPSS</vt:lpstr>
      <vt:lpstr>From SPSS</vt:lpstr>
      <vt:lpstr>Revised Scatterplot</vt:lpstr>
      <vt:lpstr>Least Squares Computations</vt:lpstr>
      <vt:lpstr>Example  -Pharmacodynamics of LSD</vt:lpstr>
      <vt:lpstr>PowerPoint Presentation</vt:lpstr>
      <vt:lpstr>PowerPoint Presentation</vt:lpstr>
      <vt:lpstr>Example  -Pharmacodynamics of LSD</vt:lpstr>
      <vt:lpstr>Example  -Pharmacodynamics of LSD</vt:lpstr>
      <vt:lpstr>Example</vt:lpstr>
      <vt:lpstr>Example</vt:lpstr>
      <vt:lpstr>ANOVA F-test</vt:lpstr>
      <vt:lpstr>ANOVA F-test for SLR</vt:lpstr>
      <vt:lpstr>Example - Pharmacodynamics of LSD</vt:lpstr>
      <vt:lpstr>Example - Pharmacodynamics of LSD</vt:lpstr>
      <vt:lpstr>Fitted Values &amp; Residuals</vt:lpstr>
      <vt:lpstr>Factors affecting the width of the CI: Making the interval as narrow as possible</vt:lpstr>
    </vt:vector>
  </TitlesOfParts>
  <Company>The Ohio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Barboza-Salerno, Gia</dc:creator>
  <cp:lastModifiedBy>Barboza-Salerno, Gia</cp:lastModifiedBy>
  <cp:revision>37</cp:revision>
  <dcterms:created xsi:type="dcterms:W3CDTF">2025-02-02T10:23:10Z</dcterms:created>
  <dcterms:modified xsi:type="dcterms:W3CDTF">2025-02-09T16:40:39Z</dcterms:modified>
</cp:coreProperties>
</file>