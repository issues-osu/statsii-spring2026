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4" r:id="rId3"/>
    <p:sldMasterId id="2147483687" r:id="rId4"/>
    <p:sldMasterId id="2147483694" r:id="rId5"/>
  </p:sldMasterIdLst>
  <p:notesMasterIdLst>
    <p:notesMasterId r:id="rId80"/>
  </p:notesMasterIdLst>
  <p:sldIdLst>
    <p:sldId id="256" r:id="rId6"/>
    <p:sldId id="808" r:id="rId7"/>
    <p:sldId id="1325" r:id="rId8"/>
    <p:sldId id="732" r:id="rId9"/>
    <p:sldId id="740" r:id="rId10"/>
    <p:sldId id="739" r:id="rId11"/>
    <p:sldId id="257" r:id="rId12"/>
    <p:sldId id="1327" r:id="rId13"/>
    <p:sldId id="1317" r:id="rId14"/>
    <p:sldId id="884" r:id="rId15"/>
    <p:sldId id="259" r:id="rId16"/>
    <p:sldId id="322" r:id="rId17"/>
    <p:sldId id="266" r:id="rId18"/>
    <p:sldId id="885" r:id="rId19"/>
    <p:sldId id="343" r:id="rId20"/>
    <p:sldId id="887" r:id="rId21"/>
    <p:sldId id="1326" r:id="rId22"/>
    <p:sldId id="888" r:id="rId23"/>
    <p:sldId id="1318" r:id="rId24"/>
    <p:sldId id="317" r:id="rId25"/>
    <p:sldId id="1319" r:id="rId26"/>
    <p:sldId id="323" r:id="rId27"/>
    <p:sldId id="1313" r:id="rId28"/>
    <p:sldId id="318" r:id="rId29"/>
    <p:sldId id="314" r:id="rId30"/>
    <p:sldId id="892" r:id="rId31"/>
    <p:sldId id="891" r:id="rId32"/>
    <p:sldId id="1311" r:id="rId33"/>
    <p:sldId id="878" r:id="rId34"/>
    <p:sldId id="315" r:id="rId35"/>
    <p:sldId id="261" r:id="rId36"/>
    <p:sldId id="1297" r:id="rId37"/>
    <p:sldId id="890" r:id="rId38"/>
    <p:sldId id="756" r:id="rId39"/>
    <p:sldId id="265" r:id="rId40"/>
    <p:sldId id="893" r:id="rId41"/>
    <p:sldId id="264" r:id="rId42"/>
    <p:sldId id="895" r:id="rId43"/>
    <p:sldId id="896" r:id="rId44"/>
    <p:sldId id="794" r:id="rId45"/>
    <p:sldId id="772" r:id="rId46"/>
    <p:sldId id="773" r:id="rId47"/>
    <p:sldId id="774" r:id="rId48"/>
    <p:sldId id="804" r:id="rId49"/>
    <p:sldId id="332" r:id="rId50"/>
    <p:sldId id="333" r:id="rId51"/>
    <p:sldId id="764" r:id="rId52"/>
    <p:sldId id="742" r:id="rId53"/>
    <p:sldId id="889" r:id="rId54"/>
    <p:sldId id="886" r:id="rId55"/>
    <p:sldId id="267" r:id="rId56"/>
    <p:sldId id="775" r:id="rId57"/>
    <p:sldId id="776" r:id="rId58"/>
    <p:sldId id="778" r:id="rId59"/>
    <p:sldId id="823" r:id="rId60"/>
    <p:sldId id="825" r:id="rId61"/>
    <p:sldId id="1304" r:id="rId62"/>
    <p:sldId id="824" r:id="rId63"/>
    <p:sldId id="826" r:id="rId64"/>
    <p:sldId id="831" r:id="rId65"/>
    <p:sldId id="1301" r:id="rId66"/>
    <p:sldId id="1302" r:id="rId67"/>
    <p:sldId id="1305" r:id="rId68"/>
    <p:sldId id="1306" r:id="rId69"/>
    <p:sldId id="1307" r:id="rId70"/>
    <p:sldId id="1303" r:id="rId71"/>
    <p:sldId id="1308" r:id="rId72"/>
    <p:sldId id="1309" r:id="rId73"/>
    <p:sldId id="324" r:id="rId74"/>
    <p:sldId id="325" r:id="rId75"/>
    <p:sldId id="326" r:id="rId76"/>
    <p:sldId id="327" r:id="rId77"/>
    <p:sldId id="1324" r:id="rId78"/>
    <p:sldId id="1316"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DE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522" autoAdjust="0"/>
    <p:restoredTop sz="77061" autoAdjust="0"/>
  </p:normalViewPr>
  <p:slideViewPr>
    <p:cSldViewPr snapToGrid="0">
      <p:cViewPr varScale="1">
        <p:scale>
          <a:sx n="79" d="100"/>
          <a:sy n="79" d="100"/>
        </p:scale>
        <p:origin x="894" y="84"/>
      </p:cViewPr>
      <p:guideLst/>
    </p:cSldViewPr>
  </p:slideViewPr>
  <p:notesTextViewPr>
    <p:cViewPr>
      <p:scale>
        <a:sx n="1" d="1"/>
        <a:sy n="1" d="1"/>
      </p:scale>
      <p:origin x="0" y="0"/>
    </p:cViewPr>
  </p:notesTextViewPr>
  <p:sorterViewPr>
    <p:cViewPr>
      <p:scale>
        <a:sx n="100" d="100"/>
        <a:sy n="100" d="100"/>
      </p:scale>
      <p:origin x="0" y="-1249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1T16:10:39.138"/>
    </inkml:context>
    <inkml:brush xml:id="br0">
      <inkml:brushProperty name="width" value="0.05" units="cm"/>
      <inkml:brushProperty name="height" value="0.05" units="cm"/>
      <inkml:brushProperty name="color" value="#E71224"/>
    </inkml:brush>
  </inkml:definitions>
  <inkml:trace contextRef="#ctx0" brushRef="#br0">1 0 24575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1T16:08:26.923"/>
    </inkml:context>
    <inkml:brush xml:id="br0">
      <inkml:brushProperty name="width" value="0.05" units="cm"/>
      <inkml:brushProperty name="height" value="0.05" units="cm"/>
      <inkml:brushProperty name="color" value="#E71224"/>
    </inkml:brush>
  </inkml:definitions>
  <inkml:trace contextRef="#ctx0" brushRef="#br0">1856 108 24575,'-5'-3'0,"0"0"0,0 0 0,-1 1 0,1 0 0,0 0 0,-1 0 0,1 0 0,-1 1 0,0 0 0,0 0 0,1 1 0,-1-1 0,-7 2 0,-11-3 0,-142-17 0,-303-31 0,0 36 0,448 15 0,-1 0 0,1 2 0,-1 1 0,1 0 0,0 1 0,1 2 0,-1 0 0,1 1 0,1 1 0,-1 1 0,2 1 0,-1 0 0,2 1 0,-1 1 0,-15 16 0,-5 4 0,1 1 0,1 3 0,2 0 0,-49 72 0,71-91 0,2 1 0,0 1 0,1-1 0,1 2 0,0-1 0,2 1 0,0 0 0,2 0 0,0 1 0,1-1 0,2 1 0,0 0 0,3 34 0,4-17 0,2-1 0,1 1 0,2-2 0,1 1 0,2-2 0,2 0 0,1 0 0,2-2 0,1 0 0,2-2 0,1 0 0,1-1 0,40 38 0,89 93 0,95 93 0,-92-99 0,33 31 0,-188-186 0,80 73 0,4-4 0,126 82 0,-97-86 0,2-5 0,3-5 0,192 63 0,20-26 0,-267-80 0,0-2 0,0-3 0,86 0 0,-133-8 0,22 0 0,77-10 0,-103 7 0,0 0 0,1-1 0,-1 0 0,-1-1 0,1 0 0,-1-1 0,0 0 0,0-1 0,16-13 0,16-13 0,-2-3 0,75-80 0,-106 102 0,0-1 0,0-1 0,-1 1 0,-1-2 0,-1 1 0,0-1 0,-1 0 0,-1-1 0,-1 0 0,0 0 0,-1 0 0,2-35 0,-11-262 0,3 291 0,-2 1 0,0 0 0,-2 0 0,-1 0 0,0 1 0,-2 0 0,-22-41 0,-8-4 0,-53-65 0,50 74 0,-19-27 0,-91-139 0,110 157 0,-3 3 0,-69-75 0,-34-49 0,101 123 0,-2 2 0,-2 2 0,-4 3 0,-2 2 0,-2 3 0,-119-83 0,99 98-1365,57 29-5461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1T16:08:29.877"/>
    </inkml:context>
    <inkml:brush xml:id="br0">
      <inkml:brushProperty name="width" value="0.05" units="cm"/>
      <inkml:brushProperty name="height" value="0.05" units="cm"/>
      <inkml:brushProperty name="color" value="#E71224"/>
    </inkml:brush>
  </inkml:definitions>
  <inkml:trace contextRef="#ctx0" brushRef="#br0">1226 346 24575,'-1'-1'0,"1"0"0,-1 0 0,1 0 0,-1 0 0,1 0 0,-1 0 0,0 0 0,1 0 0,-1 0 0,0 0 0,0 0 0,0 0 0,0 1 0,0-1 0,0 0 0,0 1 0,0-1 0,0 1 0,0-1 0,0 1 0,0-1 0,0 1 0,0 0 0,-1 0 0,1-1 0,0 1 0,-1 0 0,-41-5 0,37 5 0,-36 0 0,-1 2 0,1 2 0,0 2 0,0 2 0,-42 13 0,7-3 0,-13 1 0,-110 8 0,141-21 0,-113 25 0,146-24 0,0 1 0,1 1 0,0 1 0,0 1 0,1 1 0,-37 25 0,57-33 0,0-1 0,0 1 0,1 0 0,-1 1 0,1-1 0,0 1 0,0-1 0,0 1 0,1 0 0,-1 0 0,1 0 0,0 0 0,1 0 0,0 1 0,-1-1 0,1 1 0,1-1 0,-1 1 0,1-1 0,0 1 0,1-1 0,-1 0 0,1 1 0,0-1 0,0 1 0,1-1 0,3 9 0,0 1 0,1-1 0,0 1 0,1-1 0,1 0 0,0 0 0,1-1 0,1 0 0,15 16 0,7 0 0,0-1 0,2-1 0,2-3 0,0 0 0,1-2 0,1-2 0,1-2 0,1-1 0,78 21 0,-18-14 0,1-4 0,205 11 0,-169-22 0,230 7 0,-240-16 0,375-17 0,74 3 0,-356 17 0,-120-2 0,-1-5 0,174-28 0,-48-30 0,24-5 0,-125 39 0,-1-6 0,202-84 0,-319 116 0,0-1 0,0 0 0,0 0 0,-1-1 0,1 0 0,-1 0 0,0 0 0,0 0 0,-1-1 0,1 0 0,-1 0 0,0 0 0,0 0 0,-1-1 0,1 1 0,-1-1 0,-1 0 0,1 0 0,-1 0 0,0 0 0,2-9 0,-1-6 0,-1 0 0,-1 0 0,0 0 0,-2 0 0,-4-28 0,4 41 0,-1 0 0,0 0 0,-1 0 0,0 0 0,0 1 0,0-1 0,-1 1 0,0 0 0,-1 0 0,0 0 0,-9-11 0,-10-7 0,-41-34 0,34 32 0,-4-4 0,-1 1 0,-2 1 0,-1 2 0,-1 2 0,-1 2 0,-1 2 0,-1 1 0,-89-27 0,20 20 0,-1 5 0,-208-12 0,-231 26 0,449 9 0,-5 5 0,-158 29 0,56-4 0,-65 5 0,56 8 0,142-25 0,-21 1 0,43-10 0,-90 29 0,123-32 7,-1-1 0,0 0 0,-1-2 0,-39 2 0,-96-7-165,63-1-1084,73 2-5584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3AE12D-26D0-444D-BBA7-78E95FB31145}"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5D3A84-54A3-49ED-9B5C-2CC97FEEEB70}" type="slidenum">
              <a:rPr lang="en-US" smtClean="0"/>
              <a:t>‹#›</a:t>
            </a:fld>
            <a:endParaRPr lang="en-US"/>
          </a:p>
        </p:txBody>
      </p:sp>
    </p:spTree>
    <p:extLst>
      <p:ext uri="{BB962C8B-B14F-4D97-AF65-F5344CB8AC3E}">
        <p14:creationId xmlns:p14="http://schemas.microsoft.com/office/powerpoint/2010/main" val="2234063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5D3A84-54A3-49ED-9B5C-2CC97FEEEB70}" type="slidenum">
              <a:rPr lang="en-US" smtClean="0"/>
              <a:t>6</a:t>
            </a:fld>
            <a:endParaRPr lang="en-US"/>
          </a:p>
        </p:txBody>
      </p:sp>
    </p:spTree>
    <p:extLst>
      <p:ext uri="{BB962C8B-B14F-4D97-AF65-F5344CB8AC3E}">
        <p14:creationId xmlns:p14="http://schemas.microsoft.com/office/powerpoint/2010/main" val="1670154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slope is known not estimated</a:t>
            </a:r>
          </a:p>
          <a:p>
            <a:r>
              <a:rPr lang="en-US" dirty="0"/>
              <a:t>-- there is no variability around the line, there is no probability distribution for the mean of Y</a:t>
            </a:r>
          </a:p>
          <a:p>
            <a:r>
              <a:rPr lang="en-US" dirty="0"/>
              <a:t>-- all points fall on the line with no error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279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most of the points do not fall directly on the line of statistical relationship. </a:t>
            </a:r>
          </a:p>
          <a:p>
            <a:r>
              <a:rPr lang="en-US" dirty="0"/>
              <a:t>This scattering of points around the line represents variation in test scores that is </a:t>
            </a:r>
            <a:r>
              <a:rPr lang="en-US" b="1" dirty="0"/>
              <a:t>not associated with ACEs </a:t>
            </a:r>
            <a:r>
              <a:rPr lang="en-US" dirty="0"/>
              <a:t>and that is usually considered to be of a random nature.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1150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means the outcome of any one trial has no effect on the error term for any other trial</a:t>
            </a:r>
          </a:p>
          <a:p>
            <a:r>
              <a:rPr lang="en-US" dirty="0"/>
              <a:t>The regression is simple, linear in the parameters and linear in the predictor</a:t>
            </a:r>
          </a:p>
          <a:p>
            <a:r>
              <a:rPr lang="en-US" altLang="en-US" dirty="0"/>
              <a:t>Explanatory and Response Variables are Numeric</a:t>
            </a:r>
          </a:p>
          <a:p>
            <a:r>
              <a:rPr lang="en-US" altLang="en-US" dirty="0"/>
              <a:t>Relationship between the mean of the response variable and the level of the explanatory variable assumed to be approximately linear (straight line)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4320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5D3A84-54A3-49ED-9B5C-2CC97FEEEB70}" type="slidenum">
              <a:rPr lang="en-US" smtClean="0"/>
              <a:t>15</a:t>
            </a:fld>
            <a:endParaRPr lang="en-US"/>
          </a:p>
        </p:txBody>
      </p:sp>
    </p:spTree>
    <p:extLst>
      <p:ext uri="{BB962C8B-B14F-4D97-AF65-F5344CB8AC3E}">
        <p14:creationId xmlns:p14="http://schemas.microsoft.com/office/powerpoint/2010/main" val="1801617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ratio compares how much X and Y move together (covariance) versus how much X moves on its own (variance)—telling us how steep the slope needs to be.</a:t>
            </a:r>
          </a:p>
          <a:p>
            <a:r>
              <a:rPr lang="en-US" sz="1200" b="0" i="0" kern="1200" dirty="0">
                <a:solidFill>
                  <a:schemeClr val="tx1"/>
                </a:solidFill>
                <a:effectLst/>
                <a:latin typeface="+mn-lt"/>
                <a:ea typeface="+mn-ea"/>
                <a:cs typeface="+mn-cs"/>
              </a:rPr>
              <a:t>The slope is just the correlation coefficient standardized by the spread of Y relative to the spread of X.“</a:t>
            </a:r>
          </a:p>
          <a:p>
            <a:r>
              <a:rPr lang="en-US" sz="1200" b="0" i="0" kern="1200" dirty="0">
                <a:solidFill>
                  <a:schemeClr val="tx1"/>
                </a:solidFill>
                <a:effectLst/>
                <a:latin typeface="+mn-lt"/>
                <a:ea typeface="+mn-ea"/>
                <a:cs typeface="+mn-cs"/>
              </a:rPr>
              <a:t>The line must pass through the average of the data ($\bar{x}, \bar{y}$), so the intercept is just where the line lands if we start back at zero</a:t>
            </a:r>
          </a:p>
          <a:p>
            <a:r>
              <a:rPr lang="en-US" sz="1200" b="0" i="0" kern="1200" dirty="0">
                <a:solidFill>
                  <a:schemeClr val="tx1"/>
                </a:solidFill>
                <a:effectLst/>
                <a:latin typeface="+mn-lt"/>
                <a:ea typeface="+mn-ea"/>
                <a:cs typeface="+mn-cs"/>
              </a:rPr>
              <a:t>Final prediction</a:t>
            </a:r>
            <a:endParaRPr lang="en-US" dirty="0"/>
          </a:p>
        </p:txBody>
      </p:sp>
      <p:sp>
        <p:nvSpPr>
          <p:cNvPr id="4" name="Slide Number Placeholder 3"/>
          <p:cNvSpPr>
            <a:spLocks noGrp="1"/>
          </p:cNvSpPr>
          <p:nvPr>
            <p:ph type="sldNum" sz="quarter" idx="5"/>
          </p:nvPr>
        </p:nvSpPr>
        <p:spPr/>
        <p:txBody>
          <a:bodyPr/>
          <a:lstStyle/>
          <a:p>
            <a:fld id="{225D3A84-54A3-49ED-9B5C-2CC97FEEEB70}" type="slidenum">
              <a:rPr lang="en-US" smtClean="0"/>
              <a:t>17</a:t>
            </a:fld>
            <a:endParaRPr lang="en-US"/>
          </a:p>
        </p:txBody>
      </p:sp>
    </p:spTree>
    <p:extLst>
      <p:ext uri="{BB962C8B-B14F-4D97-AF65-F5344CB8AC3E}">
        <p14:creationId xmlns:p14="http://schemas.microsoft.com/office/powerpoint/2010/main" val="2018872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C0713C-B11C-4BFA-8C15-41693D75BFE0}"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lIns="91785" tIns="45892" rIns="91785" bIns="45892" numCol="1" anchor="t" anchorCtr="0" compatLnSpc="1">
            <a:prstTxWarp prst="textNoShape">
              <a:avLst/>
            </a:prstTxWarp>
          </a:bodyPr>
          <a:lstStyle/>
          <a:p>
            <a:pPr eaLnBrk="1" hangingPunct="1">
              <a:spcBef>
                <a:spcPct val="0"/>
              </a:spcBef>
            </a:pPr>
            <a:endParaRPr lang="en-US" dirty="0"/>
          </a:p>
        </p:txBody>
      </p:sp>
      <p:sp>
        <p:nvSpPr>
          <p:cNvPr id="33796" name="灯片编号占位符 3"/>
          <p:cNvSpPr txBox="1">
            <a:spLocks noGrp="1"/>
          </p:cNvSpPr>
          <p:nvPr/>
        </p:nvSpPr>
        <p:spPr bwMode="auto">
          <a:xfrm>
            <a:off x="3978132" y="8842029"/>
            <a:ext cx="3043343" cy="465455"/>
          </a:xfrm>
          <a:prstGeom prst="rect">
            <a:avLst/>
          </a:prstGeom>
          <a:noFill/>
          <a:ln w="9525">
            <a:noFill/>
            <a:miter lim="800000"/>
            <a:headEnd/>
            <a:tailEnd/>
          </a:ln>
        </p:spPr>
        <p:txBody>
          <a:bodyPr lIns="91785" tIns="45892" rIns="91785" bIns="45892" anchor="b"/>
          <a:lstStyle/>
          <a:p>
            <a:pPr marL="0" marR="0" lvl="0" indent="0" algn="r" defTabSz="917035" rtl="0" eaLnBrk="1" fontAlgn="auto" latinLnBrk="0" hangingPunct="1">
              <a:lnSpc>
                <a:spcPct val="100000"/>
              </a:lnSpc>
              <a:spcBef>
                <a:spcPts val="0"/>
              </a:spcBef>
              <a:spcAft>
                <a:spcPts val="0"/>
              </a:spcAft>
              <a:buClrTx/>
              <a:buSzTx/>
              <a:buFontTx/>
              <a:buNone/>
              <a:tabLst/>
              <a:defRPr/>
            </a:pPr>
            <a:fld id="{B5F6CCC5-25EC-4E6A-824A-7E2726FF0236}" type="slidenum">
              <a:rPr kumimoji="0" lang="en-US" sz="1200" b="0" i="0" u="none" strike="noStrike" kern="1200" cap="none" spc="0" normalizeH="0" baseline="0" noProof="0">
                <a:ln>
                  <a:noFill/>
                </a:ln>
                <a:solidFill>
                  <a:prstClr val="black"/>
                </a:solidFill>
                <a:effectLst/>
                <a:uLnTx/>
                <a:uFillTx/>
                <a:latin typeface="Calibri" pitchFamily="34" charset="0"/>
                <a:ea typeface="+mn-ea"/>
                <a:cs typeface="Arial" charset="0"/>
              </a:rPr>
              <a:pPr marL="0" marR="0" lvl="0" indent="0" algn="r" defTabSz="917035"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3412752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marL="0" marR="0" lvl="0" indent="0" algn="r" defTabSz="933237" rtl="0" eaLnBrk="1" fontAlgn="base" latinLnBrk="0" hangingPunct="1">
              <a:lnSpc>
                <a:spcPct val="100000"/>
              </a:lnSpc>
              <a:spcBef>
                <a:spcPct val="0"/>
              </a:spcBef>
              <a:spcAft>
                <a:spcPct val="0"/>
              </a:spcAft>
              <a:buClrTx/>
              <a:buSzTx/>
              <a:buFontTx/>
              <a:buNone/>
              <a:tabLst/>
              <a:defRPr/>
            </a:pPr>
            <a:fld id="{49C0713C-B11C-4BFA-8C15-41693D75BFE0}"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lIns="91785" tIns="45892" rIns="91785" bIns="45892" numCol="1" anchor="t" anchorCtr="0" compatLnSpc="1">
            <a:prstTxWarp prst="textNoShape">
              <a:avLst/>
            </a:prstTxWarp>
          </a:bodyPr>
          <a:lstStyle/>
          <a:p>
            <a:pPr eaLnBrk="1" hangingPunct="1">
              <a:spcBef>
                <a:spcPct val="0"/>
              </a:spcBef>
            </a:pPr>
            <a:endParaRPr lang="en-US" dirty="0"/>
          </a:p>
        </p:txBody>
      </p:sp>
      <p:sp>
        <p:nvSpPr>
          <p:cNvPr id="33796" name="灯片编号占位符 3"/>
          <p:cNvSpPr txBox="1">
            <a:spLocks noGrp="1"/>
          </p:cNvSpPr>
          <p:nvPr/>
        </p:nvSpPr>
        <p:spPr bwMode="auto">
          <a:xfrm>
            <a:off x="3978132" y="8842029"/>
            <a:ext cx="3043343" cy="465455"/>
          </a:xfrm>
          <a:prstGeom prst="rect">
            <a:avLst/>
          </a:prstGeom>
          <a:noFill/>
          <a:ln w="9525">
            <a:noFill/>
            <a:miter lim="800000"/>
            <a:headEnd/>
            <a:tailEnd/>
          </a:ln>
        </p:spPr>
        <p:txBody>
          <a:bodyPr lIns="91785" tIns="45892" rIns="91785" bIns="45892" anchor="b"/>
          <a:lstStyle/>
          <a:p>
            <a:pPr marL="0" marR="0" lvl="0" indent="0" algn="r" defTabSz="917035" rtl="0" eaLnBrk="1" fontAlgn="auto" latinLnBrk="0" hangingPunct="1">
              <a:lnSpc>
                <a:spcPct val="100000"/>
              </a:lnSpc>
              <a:spcBef>
                <a:spcPts val="0"/>
              </a:spcBef>
              <a:spcAft>
                <a:spcPts val="0"/>
              </a:spcAft>
              <a:buClrTx/>
              <a:buSzTx/>
              <a:buFontTx/>
              <a:buNone/>
              <a:tabLst/>
              <a:defRPr/>
            </a:pPr>
            <a:fld id="{B5F6CCC5-25EC-4E6A-824A-7E2726FF0236}" type="slidenum">
              <a:rPr kumimoji="0" lang="en-US" sz="1200" b="0" i="0" u="none" strike="noStrike" kern="1200" cap="none" spc="0" normalizeH="0" baseline="0" noProof="0">
                <a:ln>
                  <a:noFill/>
                </a:ln>
                <a:solidFill>
                  <a:prstClr val="black"/>
                </a:solidFill>
                <a:effectLst/>
                <a:uLnTx/>
                <a:uFillTx/>
                <a:latin typeface="Calibri" pitchFamily="34" charset="0"/>
                <a:ea typeface="+mn-ea"/>
                <a:cs typeface="Arial" charset="0"/>
              </a:rPr>
              <a:pPr marL="0" marR="0" lvl="0" indent="0" algn="r" defTabSz="917035"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1004352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562AF-7D5C-760E-12D5-046A8186B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D4E75-F0CE-EA3C-0F23-38665A0FE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B6E16-9CE8-8CC5-D6CA-A3855D55EFBD}"/>
              </a:ext>
            </a:extLst>
          </p:cNvPr>
          <p:cNvSpPr>
            <a:spLocks noGrp="1"/>
          </p:cNvSpPr>
          <p:nvPr>
            <p:ph type="body" idx="1"/>
          </p:nvPr>
        </p:nvSpPr>
        <p:spPr/>
        <p:txBody>
          <a:bodyPr/>
          <a:lstStyle/>
          <a:p>
            <a:r>
              <a:rPr lang="en-US" dirty="0"/>
              <a:t>We want a line that fits the data well, meaning the residuals—the vertical distances between the observed points and the line—are small overall. There are different reasonable ways to define “small.” One option is to minimize the </a:t>
            </a:r>
            <a:r>
              <a:rPr lang="en-US" b="1" dirty="0"/>
              <a:t>sum of absolute residuals</a:t>
            </a:r>
            <a:r>
              <a:rPr lang="en-US" dirty="0"/>
              <a:t>, which treats all errors proportionally. Another option is to minimize the </a:t>
            </a:r>
            <a:r>
              <a:rPr lang="en-US" b="1" dirty="0"/>
              <a:t>sum of squared residuals</a:t>
            </a:r>
            <a:r>
              <a:rPr lang="en-US" dirty="0"/>
              <a:t>, which is what least squares does.</a:t>
            </a:r>
          </a:p>
          <a:p>
            <a:r>
              <a:rPr lang="en-US" dirty="0"/>
              <a:t>BLUE = smallest possible variance among estimators</a:t>
            </a:r>
          </a:p>
          <a:p>
            <a:endParaRPr lang="en-US" dirty="0"/>
          </a:p>
        </p:txBody>
      </p:sp>
      <p:sp>
        <p:nvSpPr>
          <p:cNvPr id="4" name="Slide Number Placeholder 3">
            <a:extLst>
              <a:ext uri="{FF2B5EF4-FFF2-40B4-BE49-F238E27FC236}">
                <a16:creationId xmlns:a16="http://schemas.microsoft.com/office/drawing/2014/main" id="{7C30D3F3-5ED3-EA1C-4580-8D37E9ED0A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5D3A84-54A3-49ED-9B5C-2CC97FEEEB7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6543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6576D-2270-8969-37F9-1AB066890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9C105-9907-FD45-8382-48F0D6111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48706-4924-E058-94A6-22546922ACD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"If you look at the chart, we have four data points (the pink diamonds). We are trying to find a model—a line—that explains where these points are.</a:t>
            </a:r>
          </a:p>
          <a:p>
            <a:r>
              <a:rPr lang="en-US" sz="1200" b="0" i="0" kern="1200" dirty="0">
                <a:solidFill>
                  <a:schemeClr val="tx1"/>
                </a:solidFill>
                <a:effectLst/>
                <a:latin typeface="+mn-lt"/>
                <a:ea typeface="+mn-ea"/>
                <a:cs typeface="+mn-cs"/>
              </a:rPr>
              <a:t>We technically have two contestants here:</a:t>
            </a:r>
          </a:p>
          <a:p>
            <a:r>
              <a:rPr lang="en-US" sz="1200" b="0" i="0" kern="1200" dirty="0">
                <a:solidFill>
                  <a:schemeClr val="tx1"/>
                </a:solidFill>
                <a:effectLst/>
                <a:latin typeface="+mn-lt"/>
                <a:ea typeface="+mn-ea"/>
                <a:cs typeface="+mn-cs"/>
              </a:rPr>
              <a:t>** The Black Line:** This is a sloped trend line. When we calculate the distance from each point to this line, square those distances, and add them up, we get a total error 'score' of </a:t>
            </a:r>
            <a:r>
              <a:rPr lang="en-US" sz="1200" b="1" i="0" kern="1200" dirty="0">
                <a:solidFill>
                  <a:schemeClr val="tx1"/>
                </a:solidFill>
                <a:effectLst/>
                <a:latin typeface="+mn-lt"/>
                <a:ea typeface="+mn-ea"/>
                <a:cs typeface="+mn-cs"/>
              </a:rPr>
              <a:t>6.89</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The Orange Line:</a:t>
            </a:r>
            <a:r>
              <a:rPr lang="en-US" sz="1200" b="0" i="0" kern="1200" dirty="0">
                <a:solidFill>
                  <a:schemeClr val="tx1"/>
                </a:solidFill>
                <a:effectLst/>
                <a:latin typeface="+mn-lt"/>
                <a:ea typeface="+mn-ea"/>
                <a:cs typeface="+mn-cs"/>
              </a:rPr>
              <a:t> This represents the average (or mean) of the Y values. It's a flat line. When we do the same calculation for this line, the score is only </a:t>
            </a:r>
            <a:r>
              <a:rPr lang="en-US" sz="1200" b="1" i="0" kern="1200" dirty="0">
                <a:solidFill>
                  <a:schemeClr val="tx1"/>
                </a:solidFill>
                <a:effectLst/>
                <a:latin typeface="+mn-lt"/>
                <a:ea typeface="+mn-ea"/>
                <a:cs typeface="+mn-cs"/>
              </a:rPr>
              <a:t>3.99</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 this specific comparison, the flat orange line actually 'wins' because it has a smaller sum of squared errors. It is 'closer' to the data points overall than the black line is.</a:t>
            </a:r>
          </a:p>
          <a:p>
            <a:r>
              <a:rPr lang="en-US" sz="1200" b="0" i="0" kern="1200" dirty="0">
                <a:solidFill>
                  <a:schemeClr val="tx1"/>
                </a:solidFill>
                <a:effectLst/>
                <a:latin typeface="+mn-lt"/>
                <a:ea typeface="+mn-ea"/>
                <a:cs typeface="+mn-cs"/>
              </a:rPr>
              <a:t>In Linear Regression, our computer's job is to minimize this number. It adjusts the slope and intercept continuously until it finds the mathematical minimum for the Sum of Squared Errors. The line with the lowest possible score is what we call the 'Best Fit Line.'"</a:t>
            </a:r>
          </a:p>
          <a:p>
            <a:endParaRPr lang="en-US" dirty="0"/>
          </a:p>
        </p:txBody>
      </p:sp>
      <p:sp>
        <p:nvSpPr>
          <p:cNvPr id="4" name="Slide Number Placeholder 3">
            <a:extLst>
              <a:ext uri="{FF2B5EF4-FFF2-40B4-BE49-F238E27FC236}">
                <a16:creationId xmlns:a16="http://schemas.microsoft.com/office/drawing/2014/main" id="{40BE8E35-AB73-FB9F-8C92-E2963A484F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5D3A84-54A3-49ED-9B5C-2CC97FEEEB7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7977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0C25-9D7B-5170-ECA8-2F08114FD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96C0B-430B-2121-932A-5491F81F4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ACA81-7A85-A59E-C33D-4737E187FF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24EA1-DCED-4425-EE57-FF9FA9AAFF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0647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599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2566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92095C-E0B3-4597-BA71-7FEF5DC3BC15}" type="slidenum">
              <a:rPr lang="en-US" smtClean="0"/>
              <a:t>41</a:t>
            </a:fld>
            <a:endParaRPr lang="en-US"/>
          </a:p>
        </p:txBody>
      </p:sp>
    </p:spTree>
    <p:extLst>
      <p:ext uri="{BB962C8B-B14F-4D97-AF65-F5344CB8AC3E}">
        <p14:creationId xmlns:p14="http://schemas.microsoft.com/office/powerpoint/2010/main" val="2858514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a sample of children because we cannot collect data on the population</a:t>
            </a:r>
          </a:p>
          <a:p>
            <a:r>
              <a:rPr lang="en-US" dirty="0"/>
              <a:t>Every time we take a sample we will get a different line, different estimates</a:t>
            </a:r>
          </a:p>
          <a:p>
            <a:r>
              <a:rPr lang="en-US" dirty="0"/>
              <a:t>Ultimately we want to learn about the population parameters and we will do so by looking at the sample estimates for the intercept and slope</a:t>
            </a:r>
          </a:p>
          <a:p>
            <a:r>
              <a:rPr lang="en-US" dirty="0"/>
              <a:t>Of course, this is where our error comes in</a:t>
            </a:r>
          </a:p>
        </p:txBody>
      </p:sp>
      <p:sp>
        <p:nvSpPr>
          <p:cNvPr id="4" name="Slide Number Placeholder 3"/>
          <p:cNvSpPr>
            <a:spLocks noGrp="1"/>
          </p:cNvSpPr>
          <p:nvPr>
            <p:ph type="sldNum" sz="quarter" idx="5"/>
          </p:nvPr>
        </p:nvSpPr>
        <p:spPr/>
        <p:txBody>
          <a:bodyPr/>
          <a:lstStyle/>
          <a:p>
            <a:fld id="{F892095C-E0B3-4597-BA71-7FEF5DC3BC15}" type="slidenum">
              <a:rPr lang="en-US" smtClean="0"/>
              <a:t>47</a:t>
            </a:fld>
            <a:endParaRPr lang="en-US"/>
          </a:p>
        </p:txBody>
      </p:sp>
    </p:spTree>
    <p:extLst>
      <p:ext uri="{BB962C8B-B14F-4D97-AF65-F5344CB8AC3E}">
        <p14:creationId xmlns:p14="http://schemas.microsoft.com/office/powerpoint/2010/main" val="998748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5D3A84-54A3-49ED-9B5C-2CC97FEEEB70}" type="slidenum">
              <a:rPr lang="en-US" smtClean="0"/>
              <a:t>48</a:t>
            </a:fld>
            <a:endParaRPr lang="en-US"/>
          </a:p>
        </p:txBody>
      </p:sp>
    </p:spTree>
    <p:extLst>
      <p:ext uri="{BB962C8B-B14F-4D97-AF65-F5344CB8AC3E}">
        <p14:creationId xmlns:p14="http://schemas.microsoft.com/office/powerpoint/2010/main" val="2962879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probability distributions of Y are identical when the slope is 0 </a:t>
            </a:r>
            <a:r>
              <a:rPr lang="en-US" dirty="0">
                <a:sym typeface="Wingdings" panose="05000000000000000000" pitchFamily="2" charset="2"/>
              </a:rPr>
              <a:t> there is no relationship between X and Y</a:t>
            </a:r>
            <a:endParaRPr lang="en-US" dirty="0"/>
          </a:p>
        </p:txBody>
      </p:sp>
      <p:sp>
        <p:nvSpPr>
          <p:cNvPr id="4" name="Slide Number Placeholder 3"/>
          <p:cNvSpPr>
            <a:spLocks noGrp="1"/>
          </p:cNvSpPr>
          <p:nvPr>
            <p:ph type="sldNum" sz="quarter" idx="5"/>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0713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92095C-E0B3-4597-BA71-7FEF5DC3BC15}" type="slidenum">
              <a:rPr lang="en-US" smtClean="0"/>
              <a:t>52</a:t>
            </a:fld>
            <a:endParaRPr lang="en-US"/>
          </a:p>
        </p:txBody>
      </p:sp>
    </p:spTree>
    <p:extLst>
      <p:ext uri="{BB962C8B-B14F-4D97-AF65-F5344CB8AC3E}">
        <p14:creationId xmlns:p14="http://schemas.microsoft.com/office/powerpoint/2010/main" val="2992221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5D3A84-54A3-49ED-9B5C-2CC97FEEEB70}" type="slidenum">
              <a:rPr lang="en-US" smtClean="0"/>
              <a:t>54</a:t>
            </a:fld>
            <a:endParaRPr lang="en-US"/>
          </a:p>
        </p:txBody>
      </p:sp>
    </p:spTree>
    <p:extLst>
      <p:ext uri="{BB962C8B-B14F-4D97-AF65-F5344CB8AC3E}">
        <p14:creationId xmlns:p14="http://schemas.microsoft.com/office/powerpoint/2010/main" val="2752236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Open Sans" panose="020B0606030504020204" pitchFamily="34" charset="0"/>
              </a:rPr>
              <a:t>Use the Durbin-Watson statistic to test for the presence of autocorrelation in the errors of a regression model. Autocorrelation means that the errors of adjacent observations are correlated. If the errors are correlated, then least-squares regression can underestimate the standard error of the coefficients. Underestimated standard errors can make your predictors seem to be significant when they are not.</a:t>
            </a:r>
          </a:p>
          <a:p>
            <a:endParaRPr lang="en-US" b="0" i="0" dirty="0">
              <a:solidFill>
                <a:srgbClr val="333333"/>
              </a:solidFill>
              <a:effectLst/>
              <a:latin typeface="Open Sans" panose="020B0606030504020204" pitchFamily="34" charset="0"/>
            </a:endParaRPr>
          </a:p>
          <a:p>
            <a:r>
              <a:rPr lang="en-US" b="0" i="0" dirty="0">
                <a:solidFill>
                  <a:srgbClr val="333333"/>
                </a:solidFill>
                <a:effectLst/>
                <a:latin typeface="Open Sans" panose="020B0606030504020204" pitchFamily="34" charset="0"/>
              </a:rPr>
              <a:t>Durbin Watson ranges from 0-4, a statistic around 2 is what you are looing for…</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8412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5D3A84-54A3-49ED-9B5C-2CC97FEEEB70}" type="slidenum">
              <a:rPr lang="en-US" smtClean="0"/>
              <a:t>61</a:t>
            </a:fld>
            <a:endParaRPr lang="en-US"/>
          </a:p>
        </p:txBody>
      </p:sp>
    </p:spTree>
    <p:extLst>
      <p:ext uri="{BB962C8B-B14F-4D97-AF65-F5344CB8AC3E}">
        <p14:creationId xmlns:p14="http://schemas.microsoft.com/office/powerpoint/2010/main" val="1355281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3E0B-818E-D205-CB51-4EE8B07F54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42920E-E447-F106-6671-B5BE65D506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C7D93E-3BC1-D967-5CB1-0507ECA4A7D2}"/>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5" name="Footer Placeholder 4">
            <a:extLst>
              <a:ext uri="{FF2B5EF4-FFF2-40B4-BE49-F238E27FC236}">
                <a16:creationId xmlns:a16="http://schemas.microsoft.com/office/drawing/2014/main" id="{99544914-1ED0-ABCC-3F37-6C6940DA1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72E34-AB01-0EE8-4624-BC26FBE12E28}"/>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1384740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09A4B-C0EE-44F4-1B89-D83538EF93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FB4E22-F66A-17A2-DB9A-D04446EFB2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E718E-C98B-BD34-AA33-269B47B9C5E9}"/>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5" name="Footer Placeholder 4">
            <a:extLst>
              <a:ext uri="{FF2B5EF4-FFF2-40B4-BE49-F238E27FC236}">
                <a16:creationId xmlns:a16="http://schemas.microsoft.com/office/drawing/2014/main" id="{47138E1D-BD73-F390-BB71-3878EEF7B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8FDAE-8485-8BC4-30B7-89604CF26150}"/>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2144735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F2018-E5D5-99C2-DA22-E67C62EA92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FA0838-2693-6C70-1B6C-D51F76AA62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31017F-B0E3-AF50-8A3D-71D240FB8D32}"/>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5" name="Footer Placeholder 4">
            <a:extLst>
              <a:ext uri="{FF2B5EF4-FFF2-40B4-BE49-F238E27FC236}">
                <a16:creationId xmlns:a16="http://schemas.microsoft.com/office/drawing/2014/main" id="{3933BB7F-2423-99B5-6002-28E97778F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C456D5-F4D1-9222-BD8D-9537CF6FE24C}"/>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3041576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A184-BF22-B2B0-48AF-B1F4DE1192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DC7D85-D8D8-21FF-ED43-4B31534BDC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691929-2CDB-7288-F076-623B08E18D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C76F9-660A-91FE-4ED0-EAAD0CCE3977}"/>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6" name="Footer Placeholder 5">
            <a:extLst>
              <a:ext uri="{FF2B5EF4-FFF2-40B4-BE49-F238E27FC236}">
                <a16:creationId xmlns:a16="http://schemas.microsoft.com/office/drawing/2014/main" id="{78CFC925-669D-B717-E084-94116D558F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B720A-CCD0-805A-D0F0-04A5363A2021}"/>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4234656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D7B0-1410-A57F-BEB8-24EB3C62E9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001DFB-F33A-9FD3-8D7E-D9959799E0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97CAFE-756A-DA1C-5BF8-4C2482DBFD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850268-19CD-C1BF-8C40-276BD8AC3F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B23D70-3BEA-B30F-1015-5166B7FC92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FA1D8F-775E-EEF6-48AA-D8823753F746}"/>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8" name="Footer Placeholder 7">
            <a:extLst>
              <a:ext uri="{FF2B5EF4-FFF2-40B4-BE49-F238E27FC236}">
                <a16:creationId xmlns:a16="http://schemas.microsoft.com/office/drawing/2014/main" id="{D70F0BE6-6962-9C58-902E-B8E6E70CA2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C26CAC-122C-D1A5-840A-7F9F23327431}"/>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1933495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7517-9A51-E866-A621-8ADFC86F78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14CC2B-69F2-FC44-CAD6-8D7A00780F87}"/>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4" name="Footer Placeholder 3">
            <a:extLst>
              <a:ext uri="{FF2B5EF4-FFF2-40B4-BE49-F238E27FC236}">
                <a16:creationId xmlns:a16="http://schemas.microsoft.com/office/drawing/2014/main" id="{29D9066D-4643-83EA-69EC-777BB74918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B9343F-0A35-8F7D-B1AA-2C076F521F8C}"/>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1139873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911AF-D78B-64B0-9AD7-A96F0399DDF5}"/>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3" name="Footer Placeholder 2">
            <a:extLst>
              <a:ext uri="{FF2B5EF4-FFF2-40B4-BE49-F238E27FC236}">
                <a16:creationId xmlns:a16="http://schemas.microsoft.com/office/drawing/2014/main" id="{CB414DDC-D87E-17E0-0D5F-BE860FF9D5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9B3E6A-105C-6955-72A2-2CEA26369FF0}"/>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2858944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EA98-286B-1830-5D6D-BA65F5B5D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74885-1F47-ED83-73BF-AC20F8C272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11F979-6B9A-96F6-93D6-779795B8B7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A9FC5C-63F4-C7DC-E393-1939C80930F0}"/>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6" name="Footer Placeholder 5">
            <a:extLst>
              <a:ext uri="{FF2B5EF4-FFF2-40B4-BE49-F238E27FC236}">
                <a16:creationId xmlns:a16="http://schemas.microsoft.com/office/drawing/2014/main" id="{8716654F-587C-D888-35BB-01FE78862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390298-2EF2-5564-EEDB-6190E6FB9178}"/>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501776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7ABF-31E5-464C-C803-3C08FEFC27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93440D-A92D-7576-06E0-3D1BCC60D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A07FAD-73E1-046E-6147-7E049F03F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4C63DE-F452-A596-E9FB-A6BDCC709690}"/>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6" name="Footer Placeholder 5">
            <a:extLst>
              <a:ext uri="{FF2B5EF4-FFF2-40B4-BE49-F238E27FC236}">
                <a16:creationId xmlns:a16="http://schemas.microsoft.com/office/drawing/2014/main" id="{1635D95A-B3C0-5EFE-8969-17FBD9FEA9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F6E0A-57E5-5275-58FC-C9FD96615AB2}"/>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2892354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A402E-08AB-4BE3-BD0F-30C64C53C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4FC4F9-BED1-4C9D-8974-9B7C5262A9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CB1D7B-0EA7-8E6E-85A7-D0C69197F766}"/>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5" name="Footer Placeholder 4">
            <a:extLst>
              <a:ext uri="{FF2B5EF4-FFF2-40B4-BE49-F238E27FC236}">
                <a16:creationId xmlns:a16="http://schemas.microsoft.com/office/drawing/2014/main" id="{05C92A87-5450-8EA4-3481-406A8FE89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C574D6-4E79-08A5-D307-F48A0E811F5D}"/>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734847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5416F-3977-A778-9386-4EB254C245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8AC633-91D8-30F1-93E3-25434E9B1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E419AF-6909-03A5-7118-D78602890548}"/>
              </a:ext>
            </a:extLst>
          </p:cNvPr>
          <p:cNvSpPr>
            <a:spLocks noGrp="1"/>
          </p:cNvSpPr>
          <p:nvPr>
            <p:ph type="dt" sz="half" idx="10"/>
          </p:nvPr>
        </p:nvSpPr>
        <p:spPr/>
        <p:txBody>
          <a:bodyPr/>
          <a:lstStyle/>
          <a:p>
            <a:fld id="{04413103-A497-4B78-B408-3347A04A32EC}" type="datetimeFigureOut">
              <a:rPr lang="en-US" smtClean="0"/>
              <a:t>2/8/2026</a:t>
            </a:fld>
            <a:endParaRPr lang="en-US"/>
          </a:p>
        </p:txBody>
      </p:sp>
      <p:sp>
        <p:nvSpPr>
          <p:cNvPr id="5" name="Footer Placeholder 4">
            <a:extLst>
              <a:ext uri="{FF2B5EF4-FFF2-40B4-BE49-F238E27FC236}">
                <a16:creationId xmlns:a16="http://schemas.microsoft.com/office/drawing/2014/main" id="{CED82464-853D-2912-91C6-61CEC30FC8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3B001-7799-C66E-3696-BF4B53ACC6C8}"/>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2089507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12192000" cy="6858000"/>
          </a:xfrm>
          <a:prstGeom prst="rect">
            <a:avLst/>
          </a:prstGeom>
          <a:solidFill>
            <a:schemeClr val="accent6"/>
          </a:soli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2445759"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156579"/>
            <a:ext cx="10515600" cy="1325563"/>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395984" y="1497770"/>
            <a:ext cx="9400032" cy="4215384"/>
          </a:xfrm>
        </p:spPr>
        <p:txBody>
          <a:bodyPr anchor="ctr" anchorCtr="0">
            <a:normAutofit/>
          </a:bodyPr>
          <a:lstStyle>
            <a:lvl1pPr marL="0" indent="0" algn="ctr">
              <a:buNone/>
              <a:defRPr sz="1400">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938085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24682" y="164531"/>
            <a:ext cx="10124734" cy="335476"/>
          </a:xfrm>
        </p:spPr>
        <p:txBody>
          <a:bodyPr lIns="0" tIns="0" rIns="0" bIns="0"/>
          <a:lstStyle>
            <a:lvl1pPr>
              <a:defRPr sz="2180" b="1" i="0">
                <a:solidFill>
                  <a:srgbClr val="F9F9F9"/>
                </a:solidFill>
                <a:latin typeface="Arial"/>
                <a:cs typeface="Arial"/>
              </a:defRPr>
            </a:lvl1pPr>
          </a:lstStyle>
          <a:p>
            <a:endParaRPr/>
          </a:p>
        </p:txBody>
      </p:sp>
      <p:sp>
        <p:nvSpPr>
          <p:cNvPr id="3" name="Holder 3"/>
          <p:cNvSpPr>
            <a:spLocks noGrp="1"/>
          </p:cNvSpPr>
          <p:nvPr>
            <p:ph sz="half" idx="2"/>
          </p:nvPr>
        </p:nvSpPr>
        <p:spPr>
          <a:xfrm>
            <a:off x="609601" y="1577340"/>
            <a:ext cx="5303519" cy="1538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19" cy="1538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7" name="Holder 7"/>
          <p:cNvSpPr>
            <a:spLocks noGrp="1"/>
          </p:cNvSpPr>
          <p:nvPr>
            <p:ph type="sldNum" sz="quarter" idx="7"/>
          </p:nvPr>
        </p:nvSpPr>
        <p:spPr/>
        <p:txBody>
          <a:bodyPr lIns="0" tIns="0" rIns="0" bIns="0"/>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2006814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1367-AC30-8923-643E-4E34909D6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4CD009-766E-FD05-B372-A8DBED4BC6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0E63FB-88CE-6DF8-EA5D-9751DDBE2D33}"/>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5" name="Footer Placeholder 4">
            <a:extLst>
              <a:ext uri="{FF2B5EF4-FFF2-40B4-BE49-F238E27FC236}">
                <a16:creationId xmlns:a16="http://schemas.microsoft.com/office/drawing/2014/main" id="{12C3577E-7013-66D2-70FA-0FD819C03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207110-2737-3E78-9E9A-9211586904AC}"/>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69974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1AD3E-402B-9043-47A1-A62B591F8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F32D2F-734B-F73E-AD1B-DFDF18ECA3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4D9E8-F7E6-0546-DFB6-0116B3D822C2}"/>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5" name="Footer Placeholder 4">
            <a:extLst>
              <a:ext uri="{FF2B5EF4-FFF2-40B4-BE49-F238E27FC236}">
                <a16:creationId xmlns:a16="http://schemas.microsoft.com/office/drawing/2014/main" id="{0DF7A4CB-87FC-9594-DA39-C6ACB86CE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AFDB9-9D2E-CB1B-7F30-5E9B43B042F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533715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04C9-B123-4631-8E98-AAAF1440C7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7C745E-BFB1-4D9E-DADB-92EF4743E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5C6E59-9F5C-053F-2CE7-1A07D072877C}"/>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5" name="Footer Placeholder 4">
            <a:extLst>
              <a:ext uri="{FF2B5EF4-FFF2-40B4-BE49-F238E27FC236}">
                <a16:creationId xmlns:a16="http://schemas.microsoft.com/office/drawing/2014/main" id="{FB83B669-C958-2A0D-7112-4DB474DA6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3E386-23C5-11CF-3F85-1D32B2DB3C5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812826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F852-493D-014D-B738-74554A14C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BCFC13-2131-F56F-DF27-EC4A4B5ADB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0AF006-779A-72B2-E0D2-CFFFEB0ACD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6674FC-57A6-2163-AE59-60A776F852C5}"/>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6" name="Footer Placeholder 5">
            <a:extLst>
              <a:ext uri="{FF2B5EF4-FFF2-40B4-BE49-F238E27FC236}">
                <a16:creationId xmlns:a16="http://schemas.microsoft.com/office/drawing/2014/main" id="{1CBE850D-617C-5120-2BC1-05BC6E507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4334B6-5001-678A-A998-D0BC2D3DF92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758899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1F91-869A-9DEB-6FD1-AC6767C12A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5559E-E9A4-B707-39E3-01E2705B76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F18645-8EE4-1345-41A5-8CCE7AF7F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C6973E-28A8-3E62-FC08-493D2A345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A088FF-3941-D4A3-E8F9-D559CD9B6D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9B4CF2-38E0-8F9E-AD6F-F2DDA595D3B1}"/>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8" name="Footer Placeholder 7">
            <a:extLst>
              <a:ext uri="{FF2B5EF4-FFF2-40B4-BE49-F238E27FC236}">
                <a16:creationId xmlns:a16="http://schemas.microsoft.com/office/drawing/2014/main" id="{95A14555-DEDD-09F7-BAFD-660C40EDA4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BC312C-1E49-129C-FE32-4CD99D6F086B}"/>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975740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9396-51BB-2BBD-2B2F-ED862DF9AA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5B2B1D-1B33-5FBA-BF0A-21CC9C29DB9A}"/>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4" name="Footer Placeholder 3">
            <a:extLst>
              <a:ext uri="{FF2B5EF4-FFF2-40B4-BE49-F238E27FC236}">
                <a16:creationId xmlns:a16="http://schemas.microsoft.com/office/drawing/2014/main" id="{76CD90FC-71D6-E5EB-36AE-82BF606B01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A1D42B-215D-4418-2886-C1C4396DE3FE}"/>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7251610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7E1C7-46F4-F762-EB48-44EB0BF3959E}"/>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3" name="Footer Placeholder 2">
            <a:extLst>
              <a:ext uri="{FF2B5EF4-FFF2-40B4-BE49-F238E27FC236}">
                <a16:creationId xmlns:a16="http://schemas.microsoft.com/office/drawing/2014/main" id="{359A2228-04CF-09F5-E92E-120859DAE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334FF2-17D0-25EC-D7B9-6E65459BE596}"/>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569807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2B82-714E-2E66-20A7-D34A1F291F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4B85E5-6AD4-6F42-642B-0F41AB34D7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CEED12-6AEA-3180-2D0D-07FCB9F5C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4011E-210E-331F-EA13-890E2F72F8D9}"/>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6" name="Footer Placeholder 5">
            <a:extLst>
              <a:ext uri="{FF2B5EF4-FFF2-40B4-BE49-F238E27FC236}">
                <a16:creationId xmlns:a16="http://schemas.microsoft.com/office/drawing/2014/main" id="{110A5923-ECE8-5108-0C85-9A1C6A7E6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5014E-6A59-E9AF-FDC8-4251F5D65BB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4926855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4526-549C-0712-7B12-9449221769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D0A4B2-8D1B-8A80-D613-5498159F8A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7419D6-BB69-6ACA-2445-FB6651D49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9A5A3-98B7-609C-1C96-06425F931963}"/>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6" name="Footer Placeholder 5">
            <a:extLst>
              <a:ext uri="{FF2B5EF4-FFF2-40B4-BE49-F238E27FC236}">
                <a16:creationId xmlns:a16="http://schemas.microsoft.com/office/drawing/2014/main" id="{F3A45D33-F972-B36A-FF47-F2F9EF005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1D54C-F49A-AA3F-8317-71E405BA0304}"/>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564379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B342-A99A-80F7-6C9F-0A41B660E0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3D2747-8B7D-6EE3-73EF-F777E3FCF8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A2B7A-912A-BB22-B0B1-DBC325BB760C}"/>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5" name="Footer Placeholder 4">
            <a:extLst>
              <a:ext uri="{FF2B5EF4-FFF2-40B4-BE49-F238E27FC236}">
                <a16:creationId xmlns:a16="http://schemas.microsoft.com/office/drawing/2014/main" id="{321897C4-4A8D-A870-FC61-A89EA87CB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9AEEF-5E04-E818-F53D-FE7D67D5F0F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1066167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39F7A7-7C14-4909-7B55-F2259714EF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48069A-2E55-1D4F-5D10-F58FE599A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B692EB-443A-4A88-ACB5-2069E7AFF647}"/>
              </a:ext>
            </a:extLst>
          </p:cNvPr>
          <p:cNvSpPr>
            <a:spLocks noGrp="1"/>
          </p:cNvSpPr>
          <p:nvPr>
            <p:ph type="dt" sz="half" idx="10"/>
          </p:nvPr>
        </p:nvSpPr>
        <p:spPr/>
        <p:txBody>
          <a:bodyPr/>
          <a:lstStyle/>
          <a:p>
            <a:fld id="{7DDE87E3-4C50-4627-A3CB-F1F224F266E6}" type="datetimeFigureOut">
              <a:rPr lang="en-US" smtClean="0"/>
              <a:t>2/8/2026</a:t>
            </a:fld>
            <a:endParaRPr lang="en-US"/>
          </a:p>
        </p:txBody>
      </p:sp>
      <p:sp>
        <p:nvSpPr>
          <p:cNvPr id="5" name="Footer Placeholder 4">
            <a:extLst>
              <a:ext uri="{FF2B5EF4-FFF2-40B4-BE49-F238E27FC236}">
                <a16:creationId xmlns:a16="http://schemas.microsoft.com/office/drawing/2014/main" id="{74626EE5-DC82-69FB-5272-59BB00AAB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3137D-105C-E9C9-4A00-4AF7DF3C051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598874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4714F1-95EB-1F40-9805-DFCE867847B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Lecture 9 - Simple Linear Regression</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C357E0-7941-49F0-B6EC-21213A8B8148}"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32158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0E931B9-691F-FF49-8EF3-B687E94B8A0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Lecture 9 - Simple Linear Regression</a:t>
            </a:r>
            <a:endParaRPr lang="en-US" dirty="0"/>
          </a:p>
        </p:txBody>
      </p:sp>
      <p:sp>
        <p:nvSpPr>
          <p:cNvPr id="6" name="Slide Number Placeholder 5"/>
          <p:cNvSpPr>
            <a:spLocks noGrp="1"/>
          </p:cNvSpPr>
          <p:nvPr>
            <p:ph type="sldNum" sz="quarter" idx="12"/>
          </p:nvPr>
        </p:nvSpPr>
        <p:spPr/>
        <p:txBody>
          <a:bodyPr/>
          <a:lstStyle/>
          <a:p>
            <a:fld id="{FAF2B675-3BAF-420B-B2FC-1C2A1E07683B}" type="slidenum">
              <a:rPr lang="en-US" smtClean="0"/>
              <a:t>‹#›</a:t>
            </a:fld>
            <a:endParaRPr lang="en-US" dirty="0"/>
          </a:p>
        </p:txBody>
      </p:sp>
      <p:pic>
        <p:nvPicPr>
          <p:cNvPr id="7" name="Picture 6" descr="A screenshot of a cell phone&#10;&#10;Description automatically generated">
            <a:extLst>
              <a:ext uri="{FF2B5EF4-FFF2-40B4-BE49-F238E27FC236}">
                <a16:creationId xmlns:a16="http://schemas.microsoft.com/office/drawing/2014/main" id="{23714734-47E8-DD41-ACED-824DEB7B3FD4}"/>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5704764"/>
            <a:ext cx="1967908" cy="1153236"/>
          </a:xfrm>
          <a:prstGeom prst="rect">
            <a:avLst/>
          </a:prstGeom>
        </p:spPr>
      </p:pic>
    </p:spTree>
    <p:extLst>
      <p:ext uri="{BB962C8B-B14F-4D97-AF65-F5344CB8AC3E}">
        <p14:creationId xmlns:p14="http://schemas.microsoft.com/office/powerpoint/2010/main" val="115528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8192"/>
            <a:ext cx="10515600" cy="1325563"/>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7E7E6C-F68A-794A-B125-A29E11B90236}"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Lecture 9 - Simple Linear Regression</a:t>
            </a:r>
            <a:endParaRPr lang="en-US" dirty="0"/>
          </a:p>
        </p:txBody>
      </p:sp>
      <p:sp>
        <p:nvSpPr>
          <p:cNvPr id="6" name="Slide Number Placeholder 5"/>
          <p:cNvSpPr>
            <a:spLocks noGrp="1"/>
          </p:cNvSpPr>
          <p:nvPr>
            <p:ph type="sldNum" sz="quarter" idx="12"/>
          </p:nvPr>
        </p:nvSpPr>
        <p:spPr/>
        <p:txBody>
          <a:bodyPr/>
          <a:lstStyle/>
          <a:p>
            <a:fld id="{FAF2B675-3BAF-420B-B2FC-1C2A1E07683B}" type="slidenum">
              <a:rPr lang="en-US" smtClean="0"/>
              <a:t>‹#›</a:t>
            </a:fld>
            <a:endParaRPr lang="en-US" dirty="0"/>
          </a:p>
        </p:txBody>
      </p:sp>
      <p:pic>
        <p:nvPicPr>
          <p:cNvPr id="7" name="Picture 6" descr="A screenshot of a cell phone&#10;&#10;Description automatically generated">
            <a:extLst>
              <a:ext uri="{FF2B5EF4-FFF2-40B4-BE49-F238E27FC236}">
                <a16:creationId xmlns:a16="http://schemas.microsoft.com/office/drawing/2014/main" id="{AAB0FC02-3086-E746-B1AB-24084911A220}"/>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5704764"/>
            <a:ext cx="1967908" cy="1153236"/>
          </a:xfrm>
          <a:prstGeom prst="rect">
            <a:avLst/>
          </a:prstGeom>
        </p:spPr>
      </p:pic>
    </p:spTree>
    <p:extLst>
      <p:ext uri="{BB962C8B-B14F-4D97-AF65-F5344CB8AC3E}">
        <p14:creationId xmlns:p14="http://schemas.microsoft.com/office/powerpoint/2010/main" val="22375482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79A0D1-DD00-8045-8CAB-105DB30771DC}"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Lecture 9 - Simple Linear Regression</a:t>
            </a:r>
            <a:endParaRPr lang="en-US" dirty="0"/>
          </a:p>
        </p:txBody>
      </p:sp>
      <p:sp>
        <p:nvSpPr>
          <p:cNvPr id="6" name="Slide Number Placeholder 5"/>
          <p:cNvSpPr>
            <a:spLocks noGrp="1"/>
          </p:cNvSpPr>
          <p:nvPr>
            <p:ph type="sldNum" sz="quarter" idx="12"/>
          </p:nvPr>
        </p:nvSpPr>
        <p:spPr/>
        <p:txBody>
          <a:bodyPr/>
          <a:lstStyle/>
          <a:p>
            <a:fld id="{FAF2B675-3BAF-420B-B2FC-1C2A1E07683B}" type="slidenum">
              <a:rPr lang="en-US" smtClean="0"/>
              <a:t>‹#›</a:t>
            </a:fld>
            <a:endParaRPr lang="en-US" dirty="0"/>
          </a:p>
        </p:txBody>
      </p:sp>
      <p:pic>
        <p:nvPicPr>
          <p:cNvPr id="7" name="Picture 6" descr="A screenshot of a cell phone&#10;&#10;Description automatically generated">
            <a:extLst>
              <a:ext uri="{FF2B5EF4-FFF2-40B4-BE49-F238E27FC236}">
                <a16:creationId xmlns:a16="http://schemas.microsoft.com/office/drawing/2014/main" id="{A0AED61D-4E5B-E340-B453-21EBC27EAD17}"/>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5704764"/>
            <a:ext cx="1967908" cy="1153236"/>
          </a:xfrm>
          <a:prstGeom prst="rect">
            <a:avLst/>
          </a:prstGeom>
        </p:spPr>
      </p:pic>
    </p:spTree>
    <p:extLst>
      <p:ext uri="{BB962C8B-B14F-4D97-AF65-F5344CB8AC3E}">
        <p14:creationId xmlns:p14="http://schemas.microsoft.com/office/powerpoint/2010/main" val="22956500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2FBDA4E-A86E-5C4C-A91B-2639F67C3430}" type="datetime1">
              <a:rPr lang="en-US" smtClean="0"/>
              <a:t>2/8/2026</a:t>
            </a:fld>
            <a:endParaRPr lang="en-US" dirty="0"/>
          </a:p>
        </p:txBody>
      </p:sp>
      <p:sp>
        <p:nvSpPr>
          <p:cNvPr id="6" name="Footer Placeholder 5"/>
          <p:cNvSpPr>
            <a:spLocks noGrp="1"/>
          </p:cNvSpPr>
          <p:nvPr>
            <p:ph type="ftr" sz="quarter" idx="11"/>
          </p:nvPr>
        </p:nvSpPr>
        <p:spPr/>
        <p:txBody>
          <a:bodyPr/>
          <a:lstStyle/>
          <a:p>
            <a:r>
              <a:rPr lang="en-US"/>
              <a:t>Lecture 9 - Simple Linear Regression</a:t>
            </a:r>
            <a:endParaRPr lang="en-US" dirty="0"/>
          </a:p>
        </p:txBody>
      </p:sp>
      <p:sp>
        <p:nvSpPr>
          <p:cNvPr id="7" name="Slide Number Placeholder 6"/>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10201659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28440A-EFED-1440-9E87-6484AB1EAA68}" type="datetime1">
              <a:rPr lang="en-US" smtClean="0"/>
              <a:t>2/8/2026</a:t>
            </a:fld>
            <a:endParaRPr lang="en-US" dirty="0"/>
          </a:p>
        </p:txBody>
      </p:sp>
      <p:sp>
        <p:nvSpPr>
          <p:cNvPr id="8" name="Footer Placeholder 7"/>
          <p:cNvSpPr>
            <a:spLocks noGrp="1"/>
          </p:cNvSpPr>
          <p:nvPr>
            <p:ph type="ftr" sz="quarter" idx="11"/>
          </p:nvPr>
        </p:nvSpPr>
        <p:spPr/>
        <p:txBody>
          <a:bodyPr/>
          <a:lstStyle/>
          <a:p>
            <a:r>
              <a:rPr lang="en-US"/>
              <a:t>Lecture 9 - Simple Linear Regression</a:t>
            </a:r>
            <a:endParaRPr lang="en-US" dirty="0"/>
          </a:p>
        </p:txBody>
      </p:sp>
      <p:sp>
        <p:nvSpPr>
          <p:cNvPr id="9" name="Slide Number Placeholder 8"/>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12866847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625959-59CE-E245-B03F-1A1EA4F7E585}" type="datetime1">
              <a:rPr lang="en-US" smtClean="0"/>
              <a:t>2/8/2026</a:t>
            </a:fld>
            <a:endParaRPr lang="en-US" dirty="0"/>
          </a:p>
        </p:txBody>
      </p:sp>
      <p:sp>
        <p:nvSpPr>
          <p:cNvPr id="4" name="Footer Placeholder 3"/>
          <p:cNvSpPr>
            <a:spLocks noGrp="1"/>
          </p:cNvSpPr>
          <p:nvPr>
            <p:ph type="ftr" sz="quarter" idx="11"/>
          </p:nvPr>
        </p:nvSpPr>
        <p:spPr/>
        <p:txBody>
          <a:bodyPr/>
          <a:lstStyle/>
          <a:p>
            <a:r>
              <a:rPr lang="en-US"/>
              <a:t>Lecture 9 - Simple Linear Regression</a:t>
            </a:r>
            <a:endParaRPr lang="en-US" dirty="0"/>
          </a:p>
        </p:txBody>
      </p:sp>
      <p:sp>
        <p:nvSpPr>
          <p:cNvPr id="5" name="Slide Number Placeholder 4"/>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2794111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F44314-65CA-2C4C-B82F-87EB2A3CD062}" type="datetime1">
              <a:rPr lang="en-US" smtClean="0"/>
              <a:t>2/8/2026</a:t>
            </a:fld>
            <a:endParaRPr lang="en-US" dirty="0"/>
          </a:p>
        </p:txBody>
      </p:sp>
      <p:sp>
        <p:nvSpPr>
          <p:cNvPr id="3" name="Footer Placeholder 2"/>
          <p:cNvSpPr>
            <a:spLocks noGrp="1"/>
          </p:cNvSpPr>
          <p:nvPr>
            <p:ph type="ftr" sz="quarter" idx="11"/>
          </p:nvPr>
        </p:nvSpPr>
        <p:spPr/>
        <p:txBody>
          <a:bodyPr/>
          <a:lstStyle/>
          <a:p>
            <a:r>
              <a:rPr lang="en-US"/>
              <a:t>Lecture 9 - Simple Linear Regression</a:t>
            </a:r>
            <a:endParaRPr lang="en-US" dirty="0"/>
          </a:p>
        </p:txBody>
      </p:sp>
      <p:sp>
        <p:nvSpPr>
          <p:cNvPr id="4" name="Slide Number Placeholder 3"/>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4706106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D3B58E-1DD5-934B-8B67-B289212F9EF9}" type="datetime1">
              <a:rPr lang="en-US" smtClean="0"/>
              <a:t>2/8/2026</a:t>
            </a:fld>
            <a:endParaRPr lang="en-US" dirty="0"/>
          </a:p>
        </p:txBody>
      </p:sp>
      <p:sp>
        <p:nvSpPr>
          <p:cNvPr id="6" name="Footer Placeholder 5"/>
          <p:cNvSpPr>
            <a:spLocks noGrp="1"/>
          </p:cNvSpPr>
          <p:nvPr>
            <p:ph type="ftr" sz="quarter" idx="11"/>
          </p:nvPr>
        </p:nvSpPr>
        <p:spPr/>
        <p:txBody>
          <a:bodyPr/>
          <a:lstStyle/>
          <a:p>
            <a:r>
              <a:rPr lang="en-US"/>
              <a:t>Lecture 9 - Simple Linear Regression</a:t>
            </a:r>
            <a:endParaRPr lang="en-US" dirty="0"/>
          </a:p>
        </p:txBody>
      </p:sp>
      <p:sp>
        <p:nvSpPr>
          <p:cNvPr id="7" name="Slide Number Placeholder 6"/>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10199642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342F48-8500-424F-9E8B-F9E4305981E2}" type="datetime1">
              <a:rPr lang="en-US" smtClean="0"/>
              <a:t>2/8/2026</a:t>
            </a:fld>
            <a:endParaRPr lang="en-US" dirty="0"/>
          </a:p>
        </p:txBody>
      </p:sp>
      <p:sp>
        <p:nvSpPr>
          <p:cNvPr id="6" name="Footer Placeholder 5"/>
          <p:cNvSpPr>
            <a:spLocks noGrp="1"/>
          </p:cNvSpPr>
          <p:nvPr>
            <p:ph type="ftr" sz="quarter" idx="11"/>
          </p:nvPr>
        </p:nvSpPr>
        <p:spPr/>
        <p:txBody>
          <a:bodyPr/>
          <a:lstStyle/>
          <a:p>
            <a:r>
              <a:rPr lang="en-US"/>
              <a:t>Lecture 9 - Simple Linear Regression</a:t>
            </a:r>
            <a:endParaRPr lang="en-US" dirty="0"/>
          </a:p>
        </p:txBody>
      </p:sp>
      <p:sp>
        <p:nvSpPr>
          <p:cNvPr id="7" name="Slide Number Placeholder 6"/>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878944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85E23F-E577-B044-8AD0-27597BE6A209}"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Lecture 9 - Simple Linear Regression</a:t>
            </a:r>
            <a:endParaRPr lang="en-US" dirty="0"/>
          </a:p>
        </p:txBody>
      </p:sp>
      <p:sp>
        <p:nvSpPr>
          <p:cNvPr id="6" name="Slide Number Placeholder 5"/>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22940476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6BF481-829F-014F-8725-0255AAEC2AEC}"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Lecture 9 - Simple Linear Regression</a:t>
            </a:r>
            <a:endParaRPr lang="en-US" dirty="0"/>
          </a:p>
        </p:txBody>
      </p:sp>
      <p:sp>
        <p:nvSpPr>
          <p:cNvPr id="6" name="Slide Number Placeholder 5"/>
          <p:cNvSpPr>
            <a:spLocks noGrp="1"/>
          </p:cNvSpPr>
          <p:nvPr>
            <p:ph type="sldNum" sz="quarter" idx="12"/>
          </p:nvPr>
        </p:nvSpPr>
        <p:spPr/>
        <p:txBody>
          <a:bodyPr/>
          <a:lstStyle/>
          <a:p>
            <a:fld id="{FAF2B675-3BAF-420B-B2FC-1C2A1E07683B}" type="slidenum">
              <a:rPr lang="en-US" smtClean="0"/>
              <a:t>‹#›</a:t>
            </a:fld>
            <a:endParaRPr lang="en-US" dirty="0"/>
          </a:p>
        </p:txBody>
      </p:sp>
    </p:spTree>
    <p:extLst>
      <p:ext uri="{BB962C8B-B14F-4D97-AF65-F5344CB8AC3E}">
        <p14:creationId xmlns:p14="http://schemas.microsoft.com/office/powerpoint/2010/main" val="3642164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pPr>
              <a:defRPr/>
            </a:pPr>
            <a:fld id="{A64714F1-95EB-1F40-9805-DFCE867847BA}" type="datetime1">
              <a:rPr lang="en-US" smtClean="0"/>
              <a:t>2/8/2026</a:t>
            </a:fld>
            <a:endParaRPr lang="en-US" dirty="0"/>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pPr>
              <a:defRPr/>
            </a:pPr>
            <a:r>
              <a:rPr lang="en-US"/>
              <a:t>Lecture 9 - Simple Linear Regression</a:t>
            </a:r>
            <a:endParaRPr lang="en-US" dirty="0"/>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pPr>
              <a:defRPr/>
            </a:pPr>
            <a:fld id="{64C357E0-7941-49F0-B6EC-21213A8B8148}" type="slidenum">
              <a:rPr lang="en-US"/>
              <a:pPr>
                <a:defRPr/>
              </a:pPr>
              <a:t>‹#›</a:t>
            </a:fld>
            <a:endParaRPr lang="en-US" dirty="0"/>
          </a:p>
        </p:txBody>
      </p:sp>
    </p:spTree>
    <p:extLst>
      <p:ext uri="{BB962C8B-B14F-4D97-AF65-F5344CB8AC3E}">
        <p14:creationId xmlns:p14="http://schemas.microsoft.com/office/powerpoint/2010/main" val="7711443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918465" y="169693"/>
            <a:ext cx="10355070" cy="335476"/>
          </a:xfrm>
          <a:prstGeom prst="rect">
            <a:avLst/>
          </a:prstGeom>
        </p:spPr>
        <p:txBody>
          <a:bodyPr wrap="square" lIns="0" tIns="0" rIns="0" bIns="0">
            <a:spAutoFit/>
          </a:bodyPr>
          <a:lstStyle>
            <a:lvl1pPr>
              <a:defRPr sz="2180" b="1" i="0">
                <a:solidFill>
                  <a:srgbClr val="F9F9F9"/>
                </a:solidFill>
                <a:latin typeface="Arial"/>
                <a:cs typeface="Arial"/>
              </a:defRPr>
            </a:lvl1pPr>
          </a:lstStyle>
          <a:p>
            <a:endParaRPr/>
          </a:p>
        </p:txBody>
      </p:sp>
      <p:sp>
        <p:nvSpPr>
          <p:cNvPr id="3" name="Holder 3"/>
          <p:cNvSpPr>
            <a:spLocks noGrp="1"/>
          </p:cNvSpPr>
          <p:nvPr>
            <p:ph type="subTitle" idx="4"/>
          </p:nvPr>
        </p:nvSpPr>
        <p:spPr>
          <a:xfrm>
            <a:off x="1828800" y="3840481"/>
            <a:ext cx="8534400" cy="305020"/>
          </a:xfrm>
          <a:prstGeom prst="rect">
            <a:avLst/>
          </a:prstGeom>
        </p:spPr>
        <p:txBody>
          <a:bodyPr wrap="square" lIns="0" tIns="0" rIns="0" bIns="0">
            <a:spAutoFit/>
          </a:bodyPr>
          <a:lstStyle>
            <a:lvl1pPr>
              <a:defRPr sz="1982"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6" name="Holder 6"/>
          <p:cNvSpPr>
            <a:spLocks noGrp="1"/>
          </p:cNvSpPr>
          <p:nvPr>
            <p:ph type="sldNum" sz="quarter" idx="7"/>
          </p:nvPr>
        </p:nvSpPr>
        <p:spPr/>
        <p:txBody>
          <a:bodyPr lIns="0" tIns="0" rIns="0" bIns="0"/>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42713746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24682" y="164531"/>
            <a:ext cx="10124734" cy="335476"/>
          </a:xfrm>
        </p:spPr>
        <p:txBody>
          <a:bodyPr lIns="0" tIns="0" rIns="0" bIns="0"/>
          <a:lstStyle>
            <a:lvl1pPr>
              <a:defRPr sz="2180" b="1" i="0">
                <a:solidFill>
                  <a:srgbClr val="F9F9F9"/>
                </a:solidFill>
                <a:latin typeface="Arial"/>
                <a:cs typeface="Arial"/>
              </a:defRPr>
            </a:lvl1pPr>
          </a:lstStyle>
          <a:p>
            <a:endParaRPr/>
          </a:p>
        </p:txBody>
      </p:sp>
      <p:sp>
        <p:nvSpPr>
          <p:cNvPr id="3" name="Holder 3"/>
          <p:cNvSpPr>
            <a:spLocks noGrp="1"/>
          </p:cNvSpPr>
          <p:nvPr>
            <p:ph type="body" idx="1"/>
          </p:nvPr>
        </p:nvSpPr>
        <p:spPr>
          <a:xfrm>
            <a:off x="725373" y="1451271"/>
            <a:ext cx="6326069" cy="305020"/>
          </a:xfrm>
        </p:spPr>
        <p:txBody>
          <a:bodyPr lIns="0" tIns="0" rIns="0" bIns="0"/>
          <a:lstStyle>
            <a:lvl1pPr>
              <a:defRPr sz="1982"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6" name="Holder 6"/>
          <p:cNvSpPr>
            <a:spLocks noGrp="1"/>
          </p:cNvSpPr>
          <p:nvPr>
            <p:ph type="sldNum" sz="quarter" idx="7"/>
          </p:nvPr>
        </p:nvSpPr>
        <p:spPr/>
        <p:txBody>
          <a:bodyPr lIns="0" tIns="0" rIns="0" bIns="0"/>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3274746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24682" y="164531"/>
            <a:ext cx="10124734" cy="335476"/>
          </a:xfrm>
        </p:spPr>
        <p:txBody>
          <a:bodyPr lIns="0" tIns="0" rIns="0" bIns="0"/>
          <a:lstStyle>
            <a:lvl1pPr>
              <a:defRPr sz="2180" b="1" i="0">
                <a:solidFill>
                  <a:srgbClr val="F9F9F9"/>
                </a:solidFill>
                <a:latin typeface="Arial"/>
                <a:cs typeface="Arial"/>
              </a:defRPr>
            </a:lvl1pPr>
          </a:lstStyle>
          <a:p>
            <a:endParaRPr/>
          </a:p>
        </p:txBody>
      </p:sp>
      <p:sp>
        <p:nvSpPr>
          <p:cNvPr id="3" name="Holder 3"/>
          <p:cNvSpPr>
            <a:spLocks noGrp="1"/>
          </p:cNvSpPr>
          <p:nvPr>
            <p:ph sz="half" idx="2"/>
          </p:nvPr>
        </p:nvSpPr>
        <p:spPr>
          <a:xfrm>
            <a:off x="609601" y="1577340"/>
            <a:ext cx="5303519" cy="1538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19" cy="1538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7" name="Holder 7"/>
          <p:cNvSpPr>
            <a:spLocks noGrp="1"/>
          </p:cNvSpPr>
          <p:nvPr>
            <p:ph type="sldNum" sz="quarter" idx="7"/>
          </p:nvPr>
        </p:nvSpPr>
        <p:spPr/>
        <p:txBody>
          <a:bodyPr lIns="0" tIns="0" rIns="0" bIns="0"/>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24570032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24682" y="164531"/>
            <a:ext cx="10124734" cy="335476"/>
          </a:xfrm>
        </p:spPr>
        <p:txBody>
          <a:bodyPr lIns="0" tIns="0" rIns="0" bIns="0"/>
          <a:lstStyle>
            <a:lvl1pPr>
              <a:defRPr sz="2180" b="1" i="0">
                <a:solidFill>
                  <a:srgbClr val="F9F9F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5" name="Holder 5"/>
          <p:cNvSpPr>
            <a:spLocks noGrp="1"/>
          </p:cNvSpPr>
          <p:nvPr>
            <p:ph type="sldNum" sz="quarter" idx="7"/>
          </p:nvPr>
        </p:nvSpPr>
        <p:spPr/>
        <p:txBody>
          <a:bodyPr lIns="0" tIns="0" rIns="0" bIns="0"/>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31117843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4" name="Holder 4"/>
          <p:cNvSpPr>
            <a:spLocks noGrp="1"/>
          </p:cNvSpPr>
          <p:nvPr>
            <p:ph type="sldNum" sz="quarter" idx="7"/>
          </p:nvPr>
        </p:nvSpPr>
        <p:spPr/>
        <p:txBody>
          <a:bodyPr lIns="0" tIns="0" rIns="0" bIns="0"/>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4069394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839790" y="1319413"/>
            <a:ext cx="3932237" cy="737987"/>
          </a:xfrm>
        </p:spPr>
        <p:txBody>
          <a:bodyPr anchor="b"/>
          <a:lstStyle>
            <a:lvl1pPr>
              <a:defRPr sz="2398"/>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5183189" y="987425"/>
            <a:ext cx="6172200" cy="1429595"/>
          </a:xfrm>
        </p:spPr>
        <p:txBody>
          <a:bodyPr/>
          <a:lstStyle>
            <a:lvl1pPr>
              <a:defRPr sz="2398"/>
            </a:lvl1pPr>
            <a:lvl2pPr>
              <a:defRPr sz="2099"/>
            </a:lvl2pPr>
            <a:lvl3pPr>
              <a:defRPr sz="1797"/>
            </a:lvl3pPr>
            <a:lvl4pPr>
              <a:defRPr sz="1498"/>
            </a:lvl4pPr>
            <a:lvl5pPr>
              <a:defRPr sz="1498"/>
            </a:lvl5pPr>
            <a:lvl6pPr>
              <a:defRPr sz="1498"/>
            </a:lvl6pPr>
            <a:lvl7pPr>
              <a:defRPr sz="1498"/>
            </a:lvl7pPr>
            <a:lvl8pPr>
              <a:defRPr sz="1498"/>
            </a:lvl8pPr>
            <a:lvl9pPr>
              <a:defRPr sz="14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839790" y="2057400"/>
            <a:ext cx="3932237" cy="184496"/>
          </a:xfrm>
        </p:spPr>
        <p:txBody>
          <a:bodyPr/>
          <a:lstStyle>
            <a:lvl1pPr marL="0" indent="0">
              <a:buNone/>
              <a:defRPr sz="1199"/>
            </a:lvl1pPr>
            <a:lvl2pPr marL="342571" indent="0">
              <a:buNone/>
              <a:defRPr sz="1048"/>
            </a:lvl2pPr>
            <a:lvl3pPr marL="685143" indent="0">
              <a:buNone/>
              <a:defRPr sz="900"/>
            </a:lvl3pPr>
            <a:lvl4pPr marL="1027714" indent="0">
              <a:buNone/>
              <a:defRPr sz="749"/>
            </a:lvl4pPr>
            <a:lvl5pPr marL="1370284" indent="0">
              <a:buNone/>
              <a:defRPr sz="749"/>
            </a:lvl5pPr>
            <a:lvl6pPr marL="1712857" indent="0">
              <a:buNone/>
              <a:defRPr sz="749"/>
            </a:lvl6pPr>
            <a:lvl7pPr marL="2055427" indent="0">
              <a:buNone/>
              <a:defRPr sz="749"/>
            </a:lvl7pPr>
            <a:lvl8pPr marL="2397998" indent="0">
              <a:buNone/>
              <a:defRPr sz="749"/>
            </a:lvl8pPr>
            <a:lvl9pPr marL="2740570" indent="0">
              <a:buNone/>
              <a:defRPr sz="749"/>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a:xfrm>
            <a:off x="609601" y="6377940"/>
            <a:ext cx="2804160" cy="276999"/>
          </a:xfrm>
        </p:spPr>
        <p:txBody>
          <a:bodyPr/>
          <a:lstStyle/>
          <a:p>
            <a:fld id="{B9EAF301-0D02-440D-8BAB-7507B1BE5B26}" type="datetimeFigureOut">
              <a:rPr lang="en-US" smtClean="0"/>
              <a:t>2/8/2026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a:xfrm>
            <a:off x="4145280" y="6377940"/>
            <a:ext cx="3901440" cy="276999"/>
          </a:xfrm>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a:xfrm>
            <a:off x="11503639" y="6338936"/>
            <a:ext cx="519249" cy="228714"/>
          </a:xfrm>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6017838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4A2A-263B-AE0F-6450-BAF676EFBFFA}"/>
              </a:ext>
            </a:extLst>
          </p:cNvPr>
          <p:cNvSpPr>
            <a:spLocks noGrp="1"/>
          </p:cNvSpPr>
          <p:nvPr>
            <p:ph type="ctrTitle"/>
          </p:nvPr>
        </p:nvSpPr>
        <p:spPr>
          <a:xfrm>
            <a:off x="1524003" y="1122362"/>
            <a:ext cx="9144000" cy="2387601"/>
          </a:xfrm>
        </p:spPr>
        <p:txBody>
          <a:bodyPr anchor="b"/>
          <a:lstStyle>
            <a:lvl1pPr algn="ctr">
              <a:defRPr sz="4496"/>
            </a:lvl1pPr>
          </a:lstStyle>
          <a:p>
            <a:r>
              <a:rPr lang="en-US"/>
              <a:t>Click to edit Master title style</a:t>
            </a:r>
          </a:p>
        </p:txBody>
      </p:sp>
      <p:sp>
        <p:nvSpPr>
          <p:cNvPr id="3" name="Subtitle 2">
            <a:extLst>
              <a:ext uri="{FF2B5EF4-FFF2-40B4-BE49-F238E27FC236}">
                <a16:creationId xmlns:a16="http://schemas.microsoft.com/office/drawing/2014/main" id="{38BC4274-0C0C-C8C7-210C-8C79C761828A}"/>
              </a:ext>
            </a:extLst>
          </p:cNvPr>
          <p:cNvSpPr>
            <a:spLocks noGrp="1"/>
          </p:cNvSpPr>
          <p:nvPr>
            <p:ph type="subTitle" idx="1"/>
          </p:nvPr>
        </p:nvSpPr>
        <p:spPr>
          <a:xfrm>
            <a:off x="1524003" y="3602039"/>
            <a:ext cx="9144000" cy="1655763"/>
          </a:xfrm>
        </p:spPr>
        <p:txBody>
          <a:bodyPr/>
          <a:lstStyle>
            <a:lvl1pPr marL="0" indent="0" algn="ctr">
              <a:buNone/>
              <a:defRPr sz="1797"/>
            </a:lvl1pPr>
            <a:lvl2pPr marL="342571" indent="0" algn="ctr">
              <a:buNone/>
              <a:defRPr sz="1498"/>
            </a:lvl2pPr>
            <a:lvl3pPr marL="685143" indent="0" algn="ctr">
              <a:buNone/>
              <a:defRPr sz="1350"/>
            </a:lvl3pPr>
            <a:lvl4pPr marL="1027714" indent="0" algn="ctr">
              <a:buNone/>
              <a:defRPr sz="1199"/>
            </a:lvl4pPr>
            <a:lvl5pPr marL="1370284" indent="0" algn="ctr">
              <a:buNone/>
              <a:defRPr sz="1199"/>
            </a:lvl5pPr>
            <a:lvl6pPr marL="1712857" indent="0" algn="ctr">
              <a:buNone/>
              <a:defRPr sz="1199"/>
            </a:lvl6pPr>
            <a:lvl7pPr marL="2055427" indent="0" algn="ctr">
              <a:buNone/>
              <a:defRPr sz="1199"/>
            </a:lvl7pPr>
            <a:lvl8pPr marL="2397998" indent="0" algn="ctr">
              <a:buNone/>
              <a:defRPr sz="1199"/>
            </a:lvl8pPr>
            <a:lvl9pPr marL="2740570" indent="0" algn="ctr">
              <a:buNone/>
              <a:defRPr sz="1199"/>
            </a:lvl9pPr>
          </a:lstStyle>
          <a:p>
            <a:r>
              <a:rPr lang="en-US"/>
              <a:t>Click to edit Master subtitle style</a:t>
            </a:r>
          </a:p>
        </p:txBody>
      </p:sp>
      <p:sp>
        <p:nvSpPr>
          <p:cNvPr id="4" name="Date Placeholder 3">
            <a:extLst>
              <a:ext uri="{FF2B5EF4-FFF2-40B4-BE49-F238E27FC236}">
                <a16:creationId xmlns:a16="http://schemas.microsoft.com/office/drawing/2014/main" id="{4D94A290-DE13-817B-A33C-56CA6F9CFAD8}"/>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5" name="Footer Placeholder 4">
            <a:extLst>
              <a:ext uri="{FF2B5EF4-FFF2-40B4-BE49-F238E27FC236}">
                <a16:creationId xmlns:a16="http://schemas.microsoft.com/office/drawing/2014/main" id="{6F0D5F97-44F9-BDD9-AC3D-6C72E0168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AFBFB3-B345-1B0C-FCAF-5EC2EEEADDCA}"/>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9568481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AEC4-2464-FD3A-8116-9C3CDC1F05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F143AA-D9B9-B6B2-C04D-01168FC6BE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2AD8C-7036-2600-73EF-01326908899A}"/>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5" name="Footer Placeholder 4">
            <a:extLst>
              <a:ext uri="{FF2B5EF4-FFF2-40B4-BE49-F238E27FC236}">
                <a16:creationId xmlns:a16="http://schemas.microsoft.com/office/drawing/2014/main" id="{DB0967D2-1FD8-CED0-6A98-DE8BAC4593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4B0BE-6429-1483-FCDB-A347294D75A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1212958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A790-D63F-665B-332A-A73FC62F3034}"/>
              </a:ext>
            </a:extLst>
          </p:cNvPr>
          <p:cNvSpPr>
            <a:spLocks noGrp="1"/>
          </p:cNvSpPr>
          <p:nvPr>
            <p:ph type="title"/>
          </p:nvPr>
        </p:nvSpPr>
        <p:spPr>
          <a:xfrm>
            <a:off x="831851" y="1709739"/>
            <a:ext cx="10515599" cy="2852738"/>
          </a:xfrm>
        </p:spPr>
        <p:txBody>
          <a:bodyPr anchor="b"/>
          <a:lstStyle>
            <a:lvl1pPr>
              <a:defRPr sz="4496"/>
            </a:lvl1pPr>
          </a:lstStyle>
          <a:p>
            <a:r>
              <a:rPr lang="en-US"/>
              <a:t>Click to edit Master title style</a:t>
            </a:r>
          </a:p>
        </p:txBody>
      </p:sp>
      <p:sp>
        <p:nvSpPr>
          <p:cNvPr id="3" name="Text Placeholder 2">
            <a:extLst>
              <a:ext uri="{FF2B5EF4-FFF2-40B4-BE49-F238E27FC236}">
                <a16:creationId xmlns:a16="http://schemas.microsoft.com/office/drawing/2014/main" id="{54644AE9-8E33-F886-5979-1EE8142ACA18}"/>
              </a:ext>
            </a:extLst>
          </p:cNvPr>
          <p:cNvSpPr>
            <a:spLocks noGrp="1"/>
          </p:cNvSpPr>
          <p:nvPr>
            <p:ph type="body" idx="1"/>
          </p:nvPr>
        </p:nvSpPr>
        <p:spPr>
          <a:xfrm>
            <a:off x="831851" y="4589464"/>
            <a:ext cx="10515599" cy="1500187"/>
          </a:xfrm>
        </p:spPr>
        <p:txBody>
          <a:bodyPr/>
          <a:lstStyle>
            <a:lvl1pPr marL="0" indent="0">
              <a:buNone/>
              <a:defRPr sz="1797">
                <a:solidFill>
                  <a:schemeClr val="tx1">
                    <a:tint val="82000"/>
                  </a:schemeClr>
                </a:solidFill>
              </a:defRPr>
            </a:lvl1pPr>
            <a:lvl2pPr marL="342571" indent="0">
              <a:buNone/>
              <a:defRPr sz="1498">
                <a:solidFill>
                  <a:schemeClr val="tx1">
                    <a:tint val="82000"/>
                  </a:schemeClr>
                </a:solidFill>
              </a:defRPr>
            </a:lvl2pPr>
            <a:lvl3pPr marL="685143" indent="0">
              <a:buNone/>
              <a:defRPr sz="1350">
                <a:solidFill>
                  <a:schemeClr val="tx1">
                    <a:tint val="82000"/>
                  </a:schemeClr>
                </a:solidFill>
              </a:defRPr>
            </a:lvl3pPr>
            <a:lvl4pPr marL="1027714" indent="0">
              <a:buNone/>
              <a:defRPr sz="1199">
                <a:solidFill>
                  <a:schemeClr val="tx1">
                    <a:tint val="82000"/>
                  </a:schemeClr>
                </a:solidFill>
              </a:defRPr>
            </a:lvl4pPr>
            <a:lvl5pPr marL="1370284" indent="0">
              <a:buNone/>
              <a:defRPr sz="1199">
                <a:solidFill>
                  <a:schemeClr val="tx1">
                    <a:tint val="82000"/>
                  </a:schemeClr>
                </a:solidFill>
              </a:defRPr>
            </a:lvl5pPr>
            <a:lvl6pPr marL="1712857" indent="0">
              <a:buNone/>
              <a:defRPr sz="1199">
                <a:solidFill>
                  <a:schemeClr val="tx1">
                    <a:tint val="82000"/>
                  </a:schemeClr>
                </a:solidFill>
              </a:defRPr>
            </a:lvl6pPr>
            <a:lvl7pPr marL="2055427" indent="0">
              <a:buNone/>
              <a:defRPr sz="1199">
                <a:solidFill>
                  <a:schemeClr val="tx1">
                    <a:tint val="82000"/>
                  </a:schemeClr>
                </a:solidFill>
              </a:defRPr>
            </a:lvl7pPr>
            <a:lvl8pPr marL="2397998" indent="0">
              <a:buNone/>
              <a:defRPr sz="1199">
                <a:solidFill>
                  <a:schemeClr val="tx1">
                    <a:tint val="82000"/>
                  </a:schemeClr>
                </a:solidFill>
              </a:defRPr>
            </a:lvl8pPr>
            <a:lvl9pPr marL="2740570" indent="0">
              <a:buNone/>
              <a:defRPr sz="1199">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0905E-946C-9846-CA8D-B4971BDB6E81}"/>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5" name="Footer Placeholder 4">
            <a:extLst>
              <a:ext uri="{FF2B5EF4-FFF2-40B4-BE49-F238E27FC236}">
                <a16:creationId xmlns:a16="http://schemas.microsoft.com/office/drawing/2014/main" id="{60F12F5C-763A-8589-8BEE-B92B47BF1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96218-E479-7F09-8654-A3CEE30DC93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0913074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28FB-2BC6-4DE6-2E8E-FB5281167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26613-A6EE-6B01-A4CF-5CC5CA084968}"/>
              </a:ext>
            </a:extLst>
          </p:cNvPr>
          <p:cNvSpPr>
            <a:spLocks noGrp="1"/>
          </p:cNvSpPr>
          <p:nvPr>
            <p:ph sz="half" idx="1"/>
          </p:nvPr>
        </p:nvSpPr>
        <p:spPr>
          <a:xfrm>
            <a:off x="838200" y="1825626"/>
            <a:ext cx="518160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A05404-5F99-88D7-6B61-28DCD771A31D}"/>
              </a:ext>
            </a:extLst>
          </p:cNvPr>
          <p:cNvSpPr>
            <a:spLocks noGrp="1"/>
          </p:cNvSpPr>
          <p:nvPr>
            <p:ph sz="half" idx="2"/>
          </p:nvPr>
        </p:nvSpPr>
        <p:spPr>
          <a:xfrm>
            <a:off x="6172201" y="1825626"/>
            <a:ext cx="518160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23FCA8-3C03-B8FF-4945-7DFF4CED08CD}"/>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6" name="Footer Placeholder 5">
            <a:extLst>
              <a:ext uri="{FF2B5EF4-FFF2-40B4-BE49-F238E27FC236}">
                <a16:creationId xmlns:a16="http://schemas.microsoft.com/office/drawing/2014/main" id="{299EC9EC-DAF5-F48D-063A-7F5F5128C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542DA-9819-1F9B-1D5A-023D3D315E4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8343877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A4E00-338C-F52B-0ED7-EA71FA327154}"/>
              </a:ext>
            </a:extLst>
          </p:cNvPr>
          <p:cNvSpPr>
            <a:spLocks noGrp="1"/>
          </p:cNvSpPr>
          <p:nvPr>
            <p:ph type="title"/>
          </p:nvPr>
        </p:nvSpPr>
        <p:spPr>
          <a:xfrm>
            <a:off x="839790" y="365125"/>
            <a:ext cx="10515599" cy="1325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C67FD-29B0-AB66-F5E7-BE3523FF8FE6}"/>
              </a:ext>
            </a:extLst>
          </p:cNvPr>
          <p:cNvSpPr>
            <a:spLocks noGrp="1"/>
          </p:cNvSpPr>
          <p:nvPr>
            <p:ph type="body" idx="1"/>
          </p:nvPr>
        </p:nvSpPr>
        <p:spPr>
          <a:xfrm>
            <a:off x="839789" y="1681164"/>
            <a:ext cx="5157786" cy="823911"/>
          </a:xfrm>
        </p:spPr>
        <p:txBody>
          <a:bodyPr anchor="b"/>
          <a:lstStyle>
            <a:lvl1pPr marL="0" indent="0">
              <a:buNone/>
              <a:defRPr sz="1797" b="1"/>
            </a:lvl1pPr>
            <a:lvl2pPr marL="342571" indent="0">
              <a:buNone/>
              <a:defRPr sz="1498" b="1"/>
            </a:lvl2pPr>
            <a:lvl3pPr marL="685143" indent="0">
              <a:buNone/>
              <a:defRPr sz="1350" b="1"/>
            </a:lvl3pPr>
            <a:lvl4pPr marL="1027714" indent="0">
              <a:buNone/>
              <a:defRPr sz="1199" b="1"/>
            </a:lvl4pPr>
            <a:lvl5pPr marL="1370284" indent="0">
              <a:buNone/>
              <a:defRPr sz="1199" b="1"/>
            </a:lvl5pPr>
            <a:lvl6pPr marL="1712857" indent="0">
              <a:buNone/>
              <a:defRPr sz="1199" b="1"/>
            </a:lvl6pPr>
            <a:lvl7pPr marL="2055427" indent="0">
              <a:buNone/>
              <a:defRPr sz="1199" b="1"/>
            </a:lvl7pPr>
            <a:lvl8pPr marL="2397998" indent="0">
              <a:buNone/>
              <a:defRPr sz="1199" b="1"/>
            </a:lvl8pPr>
            <a:lvl9pPr marL="2740570" indent="0">
              <a:buNone/>
              <a:defRPr sz="1199" b="1"/>
            </a:lvl9pPr>
          </a:lstStyle>
          <a:p>
            <a:pPr lvl="0"/>
            <a:r>
              <a:rPr lang="en-US"/>
              <a:t>Click to edit Master text styles</a:t>
            </a:r>
          </a:p>
        </p:txBody>
      </p:sp>
      <p:sp>
        <p:nvSpPr>
          <p:cNvPr id="4" name="Content Placeholder 3">
            <a:extLst>
              <a:ext uri="{FF2B5EF4-FFF2-40B4-BE49-F238E27FC236}">
                <a16:creationId xmlns:a16="http://schemas.microsoft.com/office/drawing/2014/main" id="{CA22C1F2-33BE-42BD-CBE9-6BF5CD1370B5}"/>
              </a:ext>
            </a:extLst>
          </p:cNvPr>
          <p:cNvSpPr>
            <a:spLocks noGrp="1"/>
          </p:cNvSpPr>
          <p:nvPr>
            <p:ph sz="half" idx="2"/>
          </p:nvPr>
        </p:nvSpPr>
        <p:spPr>
          <a:xfrm>
            <a:off x="839789" y="2505075"/>
            <a:ext cx="5157786" cy="3684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F8D876-C6D9-6B46-6F58-8AA848E51636}"/>
              </a:ext>
            </a:extLst>
          </p:cNvPr>
          <p:cNvSpPr>
            <a:spLocks noGrp="1"/>
          </p:cNvSpPr>
          <p:nvPr>
            <p:ph type="body" sz="quarter" idx="3"/>
          </p:nvPr>
        </p:nvSpPr>
        <p:spPr>
          <a:xfrm>
            <a:off x="6172201" y="1681164"/>
            <a:ext cx="5183188" cy="823911"/>
          </a:xfrm>
        </p:spPr>
        <p:txBody>
          <a:bodyPr anchor="b"/>
          <a:lstStyle>
            <a:lvl1pPr marL="0" indent="0">
              <a:buNone/>
              <a:defRPr sz="1797" b="1"/>
            </a:lvl1pPr>
            <a:lvl2pPr marL="342571" indent="0">
              <a:buNone/>
              <a:defRPr sz="1498" b="1"/>
            </a:lvl2pPr>
            <a:lvl3pPr marL="685143" indent="0">
              <a:buNone/>
              <a:defRPr sz="1350" b="1"/>
            </a:lvl3pPr>
            <a:lvl4pPr marL="1027714" indent="0">
              <a:buNone/>
              <a:defRPr sz="1199" b="1"/>
            </a:lvl4pPr>
            <a:lvl5pPr marL="1370284" indent="0">
              <a:buNone/>
              <a:defRPr sz="1199" b="1"/>
            </a:lvl5pPr>
            <a:lvl6pPr marL="1712857" indent="0">
              <a:buNone/>
              <a:defRPr sz="1199" b="1"/>
            </a:lvl6pPr>
            <a:lvl7pPr marL="2055427" indent="0">
              <a:buNone/>
              <a:defRPr sz="1199" b="1"/>
            </a:lvl7pPr>
            <a:lvl8pPr marL="2397998" indent="0">
              <a:buNone/>
              <a:defRPr sz="1199" b="1"/>
            </a:lvl8pPr>
            <a:lvl9pPr marL="2740570" indent="0">
              <a:buNone/>
              <a:defRPr sz="1199" b="1"/>
            </a:lvl9pPr>
          </a:lstStyle>
          <a:p>
            <a:pPr lvl="0"/>
            <a:r>
              <a:rPr lang="en-US"/>
              <a:t>Click to edit Master text styles</a:t>
            </a:r>
          </a:p>
        </p:txBody>
      </p:sp>
      <p:sp>
        <p:nvSpPr>
          <p:cNvPr id="6" name="Content Placeholder 5">
            <a:extLst>
              <a:ext uri="{FF2B5EF4-FFF2-40B4-BE49-F238E27FC236}">
                <a16:creationId xmlns:a16="http://schemas.microsoft.com/office/drawing/2014/main" id="{1C160C0C-2A07-FDED-DF68-854E76481756}"/>
              </a:ext>
            </a:extLst>
          </p:cNvPr>
          <p:cNvSpPr>
            <a:spLocks noGrp="1"/>
          </p:cNvSpPr>
          <p:nvPr>
            <p:ph sz="quarter" idx="4"/>
          </p:nvPr>
        </p:nvSpPr>
        <p:spPr>
          <a:xfrm>
            <a:off x="6172201" y="2505075"/>
            <a:ext cx="5183188" cy="3684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A450-199D-0E95-AC91-597F88AA621B}"/>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8" name="Footer Placeholder 7">
            <a:extLst>
              <a:ext uri="{FF2B5EF4-FFF2-40B4-BE49-F238E27FC236}">
                <a16:creationId xmlns:a16="http://schemas.microsoft.com/office/drawing/2014/main" id="{899F4C1C-DDA3-6373-7574-9583EF3E52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C84775-046C-888C-33C3-40CFA63399BF}"/>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9572963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C9ABA-87FD-F208-A3C1-91E7D21B12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4942C3-1E27-9E5C-D266-F83FA0D7CBB7}"/>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4" name="Footer Placeholder 3">
            <a:extLst>
              <a:ext uri="{FF2B5EF4-FFF2-40B4-BE49-F238E27FC236}">
                <a16:creationId xmlns:a16="http://schemas.microsoft.com/office/drawing/2014/main" id="{05DDEAB2-624E-2213-D019-6310B0CCE6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446F8C-81BD-B7ED-FBEF-A0CDC914FE1D}"/>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55222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5AE98E-FF86-04F5-FE65-0CEBAFF47D8F}"/>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3" name="Footer Placeholder 2">
            <a:extLst>
              <a:ext uri="{FF2B5EF4-FFF2-40B4-BE49-F238E27FC236}">
                <a16:creationId xmlns:a16="http://schemas.microsoft.com/office/drawing/2014/main" id="{218C8B99-5F61-2DD5-D8BD-1F26DB6F3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82B595-2F9A-CD4B-5143-A83B7FD06DD5}"/>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7357449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839790" y="457201"/>
            <a:ext cx="3932237" cy="1600199"/>
          </a:xfrm>
        </p:spPr>
        <p:txBody>
          <a:bodyPr anchor="b"/>
          <a:lstStyle>
            <a:lvl1pPr>
              <a:defRPr sz="2398"/>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5183189" y="987425"/>
            <a:ext cx="6172200" cy="4873626"/>
          </a:xfrm>
        </p:spPr>
        <p:txBody>
          <a:bodyPr/>
          <a:lstStyle>
            <a:lvl1pPr>
              <a:defRPr sz="2398"/>
            </a:lvl1pPr>
            <a:lvl2pPr>
              <a:defRPr sz="2099"/>
            </a:lvl2pPr>
            <a:lvl3pPr>
              <a:defRPr sz="1797"/>
            </a:lvl3pPr>
            <a:lvl4pPr>
              <a:defRPr sz="1498"/>
            </a:lvl4pPr>
            <a:lvl5pPr>
              <a:defRPr sz="1498"/>
            </a:lvl5pPr>
            <a:lvl6pPr>
              <a:defRPr sz="1498"/>
            </a:lvl6pPr>
            <a:lvl7pPr>
              <a:defRPr sz="1498"/>
            </a:lvl7pPr>
            <a:lvl8pPr>
              <a:defRPr sz="1498"/>
            </a:lvl8pPr>
            <a:lvl9pPr>
              <a:defRPr sz="14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839790" y="2057400"/>
            <a:ext cx="3932237" cy="3811588"/>
          </a:xfrm>
        </p:spPr>
        <p:txBody>
          <a:bodyPr/>
          <a:lstStyle>
            <a:lvl1pPr marL="0" indent="0">
              <a:buNone/>
              <a:defRPr sz="1199"/>
            </a:lvl1pPr>
            <a:lvl2pPr marL="342571" indent="0">
              <a:buNone/>
              <a:defRPr sz="1048"/>
            </a:lvl2pPr>
            <a:lvl3pPr marL="685143" indent="0">
              <a:buNone/>
              <a:defRPr sz="900"/>
            </a:lvl3pPr>
            <a:lvl4pPr marL="1027714" indent="0">
              <a:buNone/>
              <a:defRPr sz="749"/>
            </a:lvl4pPr>
            <a:lvl5pPr marL="1370284" indent="0">
              <a:buNone/>
              <a:defRPr sz="749"/>
            </a:lvl5pPr>
            <a:lvl6pPr marL="1712857" indent="0">
              <a:buNone/>
              <a:defRPr sz="749"/>
            </a:lvl6pPr>
            <a:lvl7pPr marL="2055427" indent="0">
              <a:buNone/>
              <a:defRPr sz="749"/>
            </a:lvl7pPr>
            <a:lvl8pPr marL="2397998" indent="0">
              <a:buNone/>
              <a:defRPr sz="749"/>
            </a:lvl8pPr>
            <a:lvl9pPr marL="2740570" indent="0">
              <a:buNone/>
              <a:defRPr sz="749"/>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912410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AE8F-DC50-FD98-FFAE-9C0D191985F2}"/>
              </a:ext>
            </a:extLst>
          </p:cNvPr>
          <p:cNvSpPr>
            <a:spLocks noGrp="1"/>
          </p:cNvSpPr>
          <p:nvPr>
            <p:ph type="title"/>
          </p:nvPr>
        </p:nvSpPr>
        <p:spPr>
          <a:xfrm>
            <a:off x="839790" y="457201"/>
            <a:ext cx="3932237" cy="1600199"/>
          </a:xfrm>
        </p:spPr>
        <p:txBody>
          <a:bodyPr anchor="b"/>
          <a:lstStyle>
            <a:lvl1pPr>
              <a:defRPr sz="2398"/>
            </a:lvl1pPr>
          </a:lstStyle>
          <a:p>
            <a:r>
              <a:rPr lang="en-US"/>
              <a:t>Click to edit Master title style</a:t>
            </a:r>
          </a:p>
        </p:txBody>
      </p:sp>
      <p:sp>
        <p:nvSpPr>
          <p:cNvPr id="3" name="Picture Placeholder 2">
            <a:extLst>
              <a:ext uri="{FF2B5EF4-FFF2-40B4-BE49-F238E27FC236}">
                <a16:creationId xmlns:a16="http://schemas.microsoft.com/office/drawing/2014/main" id="{B20B2C57-2F40-1264-EE09-3BF055BE27C2}"/>
              </a:ext>
            </a:extLst>
          </p:cNvPr>
          <p:cNvSpPr>
            <a:spLocks noGrp="1"/>
          </p:cNvSpPr>
          <p:nvPr>
            <p:ph type="pic" idx="1"/>
          </p:nvPr>
        </p:nvSpPr>
        <p:spPr>
          <a:xfrm>
            <a:off x="5183189" y="987425"/>
            <a:ext cx="6172200" cy="4873626"/>
          </a:xfrm>
        </p:spPr>
        <p:txBody>
          <a:bodyPr/>
          <a:lstStyle>
            <a:lvl1pPr marL="0" indent="0">
              <a:buNone/>
              <a:defRPr sz="2398"/>
            </a:lvl1pPr>
            <a:lvl2pPr marL="342571" indent="0">
              <a:buNone/>
              <a:defRPr sz="2099"/>
            </a:lvl2pPr>
            <a:lvl3pPr marL="685143" indent="0">
              <a:buNone/>
              <a:defRPr sz="1797"/>
            </a:lvl3pPr>
            <a:lvl4pPr marL="1027714" indent="0">
              <a:buNone/>
              <a:defRPr sz="1498"/>
            </a:lvl4pPr>
            <a:lvl5pPr marL="1370284" indent="0">
              <a:buNone/>
              <a:defRPr sz="1498"/>
            </a:lvl5pPr>
            <a:lvl6pPr marL="1712857" indent="0">
              <a:buNone/>
              <a:defRPr sz="1498"/>
            </a:lvl6pPr>
            <a:lvl7pPr marL="2055427" indent="0">
              <a:buNone/>
              <a:defRPr sz="1498"/>
            </a:lvl7pPr>
            <a:lvl8pPr marL="2397998" indent="0">
              <a:buNone/>
              <a:defRPr sz="1498"/>
            </a:lvl8pPr>
            <a:lvl9pPr marL="2740570" indent="0">
              <a:buNone/>
              <a:defRPr sz="1498"/>
            </a:lvl9pPr>
          </a:lstStyle>
          <a:p>
            <a:endParaRPr lang="en-US"/>
          </a:p>
        </p:txBody>
      </p:sp>
      <p:sp>
        <p:nvSpPr>
          <p:cNvPr id="4" name="Text Placeholder 3">
            <a:extLst>
              <a:ext uri="{FF2B5EF4-FFF2-40B4-BE49-F238E27FC236}">
                <a16:creationId xmlns:a16="http://schemas.microsoft.com/office/drawing/2014/main" id="{C2325671-F457-FF62-FEE9-1F757C77AD7E}"/>
              </a:ext>
            </a:extLst>
          </p:cNvPr>
          <p:cNvSpPr>
            <a:spLocks noGrp="1"/>
          </p:cNvSpPr>
          <p:nvPr>
            <p:ph type="body" sz="half" idx="2"/>
          </p:nvPr>
        </p:nvSpPr>
        <p:spPr>
          <a:xfrm>
            <a:off x="839790" y="2057400"/>
            <a:ext cx="3932237" cy="3811588"/>
          </a:xfrm>
        </p:spPr>
        <p:txBody>
          <a:bodyPr/>
          <a:lstStyle>
            <a:lvl1pPr marL="0" indent="0">
              <a:buNone/>
              <a:defRPr sz="1199"/>
            </a:lvl1pPr>
            <a:lvl2pPr marL="342571" indent="0">
              <a:buNone/>
              <a:defRPr sz="1048"/>
            </a:lvl2pPr>
            <a:lvl3pPr marL="685143" indent="0">
              <a:buNone/>
              <a:defRPr sz="900"/>
            </a:lvl3pPr>
            <a:lvl4pPr marL="1027714" indent="0">
              <a:buNone/>
              <a:defRPr sz="749"/>
            </a:lvl4pPr>
            <a:lvl5pPr marL="1370284" indent="0">
              <a:buNone/>
              <a:defRPr sz="749"/>
            </a:lvl5pPr>
            <a:lvl6pPr marL="1712857" indent="0">
              <a:buNone/>
              <a:defRPr sz="749"/>
            </a:lvl6pPr>
            <a:lvl7pPr marL="2055427" indent="0">
              <a:buNone/>
              <a:defRPr sz="749"/>
            </a:lvl7pPr>
            <a:lvl8pPr marL="2397998" indent="0">
              <a:buNone/>
              <a:defRPr sz="749"/>
            </a:lvl8pPr>
            <a:lvl9pPr marL="2740570" indent="0">
              <a:buNone/>
              <a:defRPr sz="749"/>
            </a:lvl9pPr>
          </a:lstStyle>
          <a:p>
            <a:pPr lvl="0"/>
            <a:r>
              <a:rPr lang="en-US"/>
              <a:t>Click to edit Master text styles</a:t>
            </a:r>
          </a:p>
        </p:txBody>
      </p:sp>
      <p:sp>
        <p:nvSpPr>
          <p:cNvPr id="5" name="Date Placeholder 4">
            <a:extLst>
              <a:ext uri="{FF2B5EF4-FFF2-40B4-BE49-F238E27FC236}">
                <a16:creationId xmlns:a16="http://schemas.microsoft.com/office/drawing/2014/main" id="{78367808-B131-7A3E-E88C-FAE2BE17D509}"/>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6" name="Footer Placeholder 5">
            <a:extLst>
              <a:ext uri="{FF2B5EF4-FFF2-40B4-BE49-F238E27FC236}">
                <a16:creationId xmlns:a16="http://schemas.microsoft.com/office/drawing/2014/main" id="{FCE64A3B-021B-278E-D72A-DB240005F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29C4A1-9AB9-2491-26BF-42E34ABE2B8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1313852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CD66-9D65-F2CF-632E-46561E049A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890A87-1C37-1B7E-1DA1-AEB7A1B335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E56C3-8F9A-26EC-BECA-B6D7E24AFF03}"/>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5" name="Footer Placeholder 4">
            <a:extLst>
              <a:ext uri="{FF2B5EF4-FFF2-40B4-BE49-F238E27FC236}">
                <a16:creationId xmlns:a16="http://schemas.microsoft.com/office/drawing/2014/main" id="{B8978444-04AE-9EB2-3D87-05B2D6E85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22D95-4838-BBA3-D612-AFC2E7E00317}"/>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955641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8734E0-AA1E-A108-BBA9-872490BA2190}"/>
              </a:ext>
            </a:extLst>
          </p:cNvPr>
          <p:cNvSpPr>
            <a:spLocks noGrp="1"/>
          </p:cNvSpPr>
          <p:nvPr>
            <p:ph type="title" orient="vert"/>
          </p:nvPr>
        </p:nvSpPr>
        <p:spPr>
          <a:xfrm>
            <a:off x="8724902" y="365125"/>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6F89A9-C7F1-E173-1837-DA53F7DB5264}"/>
              </a:ext>
            </a:extLst>
          </p:cNvPr>
          <p:cNvSpPr>
            <a:spLocks noGrp="1"/>
          </p:cNvSpPr>
          <p:nvPr>
            <p:ph type="body" orient="vert" idx="1"/>
          </p:nvPr>
        </p:nvSpPr>
        <p:spPr>
          <a:xfrm>
            <a:off x="838199" y="365125"/>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56675-9D53-85F0-E8B9-F153C459E945}"/>
              </a:ext>
            </a:extLst>
          </p:cNvPr>
          <p:cNvSpPr>
            <a:spLocks noGrp="1"/>
          </p:cNvSpPr>
          <p:nvPr>
            <p:ph type="dt" sz="half" idx="10"/>
          </p:nvPr>
        </p:nvSpPr>
        <p:spPr/>
        <p:txBody>
          <a:bodyPr/>
          <a:lstStyle/>
          <a:p>
            <a:fld id="{B9EAF301-0D02-440D-8BAB-7507B1BE5B26}" type="datetimeFigureOut">
              <a:rPr lang="en-US" smtClean="0"/>
              <a:t>2/8/2026</a:t>
            </a:fld>
            <a:endParaRPr lang="en-US"/>
          </a:p>
        </p:txBody>
      </p:sp>
      <p:sp>
        <p:nvSpPr>
          <p:cNvPr id="5" name="Footer Placeholder 4">
            <a:extLst>
              <a:ext uri="{FF2B5EF4-FFF2-40B4-BE49-F238E27FC236}">
                <a16:creationId xmlns:a16="http://schemas.microsoft.com/office/drawing/2014/main" id="{A9C5A0BE-223C-1858-D12E-AAF8C53EE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F1BF2-522D-AC25-9358-19B08D3AD29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2607693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12192000" cy="6858000"/>
          </a:xfrm>
          <a:prstGeom prst="rect">
            <a:avLst/>
          </a:prstGeom>
          <a:solidFill>
            <a:schemeClr val="accent6"/>
          </a:solidFill>
          <a:ln w="12700" cap="flat">
            <a:noFill/>
            <a:prstDash val="solid"/>
            <a:miter/>
          </a:ln>
        </p:spPr>
        <p:txBody>
          <a:bodyPr rot="0" spcFirstLastPara="0" vertOverflow="overflow" horzOverflow="overflow" vert="horz" wrap="square" lIns="68518" tIns="34259" rIns="68518" bIns="34259" numCol="1" spcCol="0" rtlCol="0" fromWordArt="0" anchor="ctr" anchorCtr="0" forceAA="0" compatLnSpc="1">
            <a:prstTxWarp prst="textNoShape">
              <a:avLst/>
            </a:prstTxWarp>
            <a:noAutofit/>
          </a:bodyPr>
          <a:lstStyle/>
          <a:p>
            <a:pPr algn="l"/>
            <a:endParaRPr lang="ru-RU" sz="3567"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2445757" y="-12701"/>
            <a:ext cx="7289801" cy="6883401"/>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sz="3567"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3" y="156580"/>
            <a:ext cx="10515599" cy="1325562"/>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395987" y="1497770"/>
            <a:ext cx="9400032" cy="4215385"/>
          </a:xfrm>
        </p:spPr>
        <p:txBody>
          <a:bodyPr anchor="ctr" anchorCtr="0">
            <a:normAutofit/>
          </a:bodyPr>
          <a:lstStyle>
            <a:lvl1pPr marL="0" indent="0" algn="ctr">
              <a:buNone/>
              <a:defRPr sz="1048">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11292631" y="6103004"/>
            <a:ext cx="910799" cy="144001"/>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sz="3567" dirty="0"/>
          </a:p>
        </p:txBody>
      </p:sp>
    </p:spTree>
    <p:extLst>
      <p:ext uri="{BB962C8B-B14F-4D97-AF65-F5344CB8AC3E}">
        <p14:creationId xmlns:p14="http://schemas.microsoft.com/office/powerpoint/2010/main" val="4184995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7"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theme" Target="../theme/theme5.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90708-7E1C-C91C-1E30-B6C2866084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16B1F7-E788-0815-29B4-E85BD4188D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E6054-C872-1706-20A4-924F5DAC19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413103-A497-4B78-B408-3347A04A32EC}" type="datetimeFigureOut">
              <a:rPr lang="en-US" smtClean="0"/>
              <a:t>2/8/2026</a:t>
            </a:fld>
            <a:endParaRPr lang="en-US"/>
          </a:p>
        </p:txBody>
      </p:sp>
      <p:sp>
        <p:nvSpPr>
          <p:cNvPr id="5" name="Footer Placeholder 4">
            <a:extLst>
              <a:ext uri="{FF2B5EF4-FFF2-40B4-BE49-F238E27FC236}">
                <a16:creationId xmlns:a16="http://schemas.microsoft.com/office/drawing/2014/main" id="{8AC50A7B-3B2F-CFEF-335A-F4E33E783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C4F69D-C085-DA0B-4600-580666048D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1CC639-2214-43CF-A479-25F9123388A9}" type="slidenum">
              <a:rPr lang="en-US" smtClean="0"/>
              <a:t>‹#›</a:t>
            </a:fld>
            <a:endParaRPr lang="en-US"/>
          </a:p>
        </p:txBody>
      </p:sp>
    </p:spTree>
    <p:extLst>
      <p:ext uri="{BB962C8B-B14F-4D97-AF65-F5344CB8AC3E}">
        <p14:creationId xmlns:p14="http://schemas.microsoft.com/office/powerpoint/2010/main" val="4216693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70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69F9CD-71EF-C7CF-9FFD-C67D5F8CC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AD5F6-EF19-5690-A2D1-C37383365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EA7DE-25B4-3040-A3AB-FDD005982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E87E3-4C50-4627-A3CB-F1F224F266E6}" type="datetimeFigureOut">
              <a:rPr lang="en-US" smtClean="0"/>
              <a:t>2/8/2026</a:t>
            </a:fld>
            <a:endParaRPr lang="en-US"/>
          </a:p>
        </p:txBody>
      </p:sp>
      <p:sp>
        <p:nvSpPr>
          <p:cNvPr id="5" name="Footer Placeholder 4">
            <a:extLst>
              <a:ext uri="{FF2B5EF4-FFF2-40B4-BE49-F238E27FC236}">
                <a16:creationId xmlns:a16="http://schemas.microsoft.com/office/drawing/2014/main" id="{0A3F48F5-9191-40ED-E6E1-D00B7A41A7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2EE1AF-7D31-8376-B63A-F9696EBF4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C9452-3E6F-4A4A-B4AE-160A1194828A}" type="slidenum">
              <a:rPr lang="en-US" smtClean="0"/>
              <a:t>‹#›</a:t>
            </a:fld>
            <a:endParaRPr lang="en-US"/>
          </a:p>
        </p:txBody>
      </p:sp>
    </p:spTree>
    <p:extLst>
      <p:ext uri="{BB962C8B-B14F-4D97-AF65-F5344CB8AC3E}">
        <p14:creationId xmlns:p14="http://schemas.microsoft.com/office/powerpoint/2010/main" val="174856199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0BE8F1-25A8-1B4B-BE82-7C70A88FE4C4}" type="datetime1">
              <a:rPr lang="en-US" smtClean="0"/>
              <a:t>2/8/2026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Lecture 9 - Simple Linear Regression</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F2B675-3BAF-420B-B2FC-1C2A1E07683B}" type="slidenum">
              <a:rPr lang="en-US" smtClean="0"/>
              <a:t>‹#›</a:t>
            </a:fld>
            <a:endParaRPr lang="en-US" dirty="0"/>
          </a:p>
        </p:txBody>
      </p:sp>
    </p:spTree>
    <p:extLst>
      <p:ext uri="{BB962C8B-B14F-4D97-AF65-F5344CB8AC3E}">
        <p14:creationId xmlns:p14="http://schemas.microsoft.com/office/powerpoint/2010/main" val="269095256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743959"/>
            <a:ext cx="12186962" cy="6105508"/>
          </a:xfrm>
          <a:custGeom>
            <a:avLst/>
            <a:gdLst/>
            <a:ahLst/>
            <a:cxnLst/>
            <a:rect l="l" t="t" r="r" b="b"/>
            <a:pathLst>
              <a:path w="4608195" h="3081020">
                <a:moveTo>
                  <a:pt x="0" y="3080575"/>
                </a:moveTo>
                <a:lnTo>
                  <a:pt x="4608004" y="3080575"/>
                </a:lnTo>
                <a:lnTo>
                  <a:pt x="4608004" y="0"/>
                </a:lnTo>
                <a:lnTo>
                  <a:pt x="0" y="0"/>
                </a:lnTo>
                <a:lnTo>
                  <a:pt x="0" y="3080575"/>
                </a:lnTo>
                <a:close/>
              </a:path>
            </a:pathLst>
          </a:custGeom>
          <a:solidFill>
            <a:srgbClr val="F9F9F9"/>
          </a:solidFill>
        </p:spPr>
        <p:txBody>
          <a:bodyPr wrap="square" lIns="0" tIns="0" rIns="0" bIns="0" rtlCol="0"/>
          <a:lstStyle/>
          <a:p>
            <a:endParaRPr sz="3567"/>
          </a:p>
        </p:txBody>
      </p:sp>
      <p:sp>
        <p:nvSpPr>
          <p:cNvPr id="17" name="bg object 17"/>
          <p:cNvSpPr/>
          <p:nvPr/>
        </p:nvSpPr>
        <p:spPr>
          <a:xfrm>
            <a:off x="1" y="-24"/>
            <a:ext cx="12186962" cy="744942"/>
          </a:xfrm>
          <a:custGeom>
            <a:avLst/>
            <a:gdLst/>
            <a:ahLst/>
            <a:cxnLst/>
            <a:rect l="l" t="t" r="r" b="b"/>
            <a:pathLst>
              <a:path w="4608195" h="375920">
                <a:moveTo>
                  <a:pt x="4608004" y="0"/>
                </a:moveTo>
                <a:lnTo>
                  <a:pt x="0" y="0"/>
                </a:lnTo>
                <a:lnTo>
                  <a:pt x="0" y="375437"/>
                </a:lnTo>
                <a:lnTo>
                  <a:pt x="4608004" y="375437"/>
                </a:lnTo>
                <a:lnTo>
                  <a:pt x="4608004" y="0"/>
                </a:lnTo>
                <a:close/>
              </a:path>
            </a:pathLst>
          </a:custGeom>
          <a:solidFill>
            <a:srgbClr val="22373A"/>
          </a:solidFill>
        </p:spPr>
        <p:txBody>
          <a:bodyPr wrap="square" lIns="0" tIns="0" rIns="0" bIns="0" rtlCol="0"/>
          <a:lstStyle/>
          <a:p>
            <a:endParaRPr sz="3567"/>
          </a:p>
        </p:txBody>
      </p:sp>
      <p:sp>
        <p:nvSpPr>
          <p:cNvPr id="2" name="Holder 2"/>
          <p:cNvSpPr>
            <a:spLocks noGrp="1"/>
          </p:cNvSpPr>
          <p:nvPr>
            <p:ph type="title"/>
          </p:nvPr>
        </p:nvSpPr>
        <p:spPr>
          <a:xfrm>
            <a:off x="324682" y="164531"/>
            <a:ext cx="10124734" cy="169277"/>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a:xfrm>
            <a:off x="725373" y="1451271"/>
            <a:ext cx="6326069" cy="153888"/>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1"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2/8/2026</a:t>
            </a:fld>
            <a:endParaRPr lang="en-US"/>
          </a:p>
        </p:txBody>
      </p:sp>
      <p:sp>
        <p:nvSpPr>
          <p:cNvPr id="6" name="Holder 6"/>
          <p:cNvSpPr>
            <a:spLocks noGrp="1"/>
          </p:cNvSpPr>
          <p:nvPr>
            <p:ph type="sldNum" sz="quarter" idx="7"/>
          </p:nvPr>
        </p:nvSpPr>
        <p:spPr>
          <a:xfrm>
            <a:off x="11503639" y="6338937"/>
            <a:ext cx="519249" cy="228652"/>
          </a:xfrm>
          <a:prstGeom prst="rect">
            <a:avLst/>
          </a:prstGeom>
        </p:spPr>
        <p:txBody>
          <a:bodyPr wrap="square" lIns="0" tIns="0" rIns="0" bIns="0">
            <a:spAutoFit/>
          </a:bodyPr>
          <a:lstStyle>
            <a:lvl1pPr>
              <a:defRPr sz="1486" b="0" i="0">
                <a:solidFill>
                  <a:srgbClr val="22373A"/>
                </a:solidFill>
                <a:latin typeface="Arial"/>
                <a:cs typeface="Arial"/>
              </a:defRPr>
            </a:lvl1pPr>
          </a:lstStyle>
          <a:p>
            <a:pPr marL="181207">
              <a:spcBef>
                <a:spcPts val="139"/>
              </a:spcBef>
            </a:pPr>
            <a:fld id="{81D60167-4931-47E6-BA6A-407CBD079E47}" type="slidenum">
              <a:rPr lang="en-US" spc="-99" smtClean="0"/>
              <a:pPr marL="181207">
                <a:spcBef>
                  <a:spcPts val="139"/>
                </a:spcBef>
              </a:pPr>
              <a:t>‹#›</a:t>
            </a:fld>
            <a:endParaRPr lang="en-US" spc="-99" dirty="0"/>
          </a:p>
        </p:txBody>
      </p:sp>
    </p:spTree>
    <p:extLst>
      <p:ext uri="{BB962C8B-B14F-4D97-AF65-F5344CB8AC3E}">
        <p14:creationId xmlns:p14="http://schemas.microsoft.com/office/powerpoint/2010/main" val="382519441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Lst>
  <p:txStyles>
    <p:titleStyle>
      <a:lvl1pPr>
        <a:defRPr>
          <a:latin typeface="+mj-lt"/>
          <a:ea typeface="+mj-ea"/>
          <a:cs typeface="+mj-cs"/>
        </a:defRPr>
      </a:lvl1pPr>
    </p:titleStyle>
    <p:bodyStyle>
      <a:lvl1pPr marL="0">
        <a:defRPr>
          <a:latin typeface="+mn-lt"/>
          <a:ea typeface="+mn-ea"/>
          <a:cs typeface="+mn-cs"/>
        </a:defRPr>
      </a:lvl1pPr>
      <a:lvl2pPr marL="906033">
        <a:defRPr>
          <a:latin typeface="+mn-lt"/>
          <a:ea typeface="+mn-ea"/>
          <a:cs typeface="+mn-cs"/>
        </a:defRPr>
      </a:lvl2pPr>
      <a:lvl3pPr marL="1812066">
        <a:defRPr>
          <a:latin typeface="+mn-lt"/>
          <a:ea typeface="+mn-ea"/>
          <a:cs typeface="+mn-cs"/>
        </a:defRPr>
      </a:lvl3pPr>
      <a:lvl4pPr marL="2718100">
        <a:defRPr>
          <a:latin typeface="+mn-lt"/>
          <a:ea typeface="+mn-ea"/>
          <a:cs typeface="+mn-cs"/>
        </a:defRPr>
      </a:lvl4pPr>
      <a:lvl5pPr marL="3624133">
        <a:defRPr>
          <a:latin typeface="+mn-lt"/>
          <a:ea typeface="+mn-ea"/>
          <a:cs typeface="+mn-cs"/>
        </a:defRPr>
      </a:lvl5pPr>
      <a:lvl6pPr marL="4530166">
        <a:defRPr>
          <a:latin typeface="+mn-lt"/>
          <a:ea typeface="+mn-ea"/>
          <a:cs typeface="+mn-cs"/>
        </a:defRPr>
      </a:lvl6pPr>
      <a:lvl7pPr marL="5436199">
        <a:defRPr>
          <a:latin typeface="+mn-lt"/>
          <a:ea typeface="+mn-ea"/>
          <a:cs typeface="+mn-cs"/>
        </a:defRPr>
      </a:lvl7pPr>
      <a:lvl8pPr marL="6342233">
        <a:defRPr>
          <a:latin typeface="+mn-lt"/>
          <a:ea typeface="+mn-ea"/>
          <a:cs typeface="+mn-cs"/>
        </a:defRPr>
      </a:lvl8pPr>
      <a:lvl9pPr marL="7248266">
        <a:defRPr>
          <a:latin typeface="+mn-lt"/>
          <a:ea typeface="+mn-ea"/>
          <a:cs typeface="+mn-cs"/>
        </a:defRPr>
      </a:lvl9pPr>
    </p:bodyStyle>
    <p:otherStyle>
      <a:lvl1pPr marL="0">
        <a:defRPr>
          <a:latin typeface="+mn-lt"/>
          <a:ea typeface="+mn-ea"/>
          <a:cs typeface="+mn-cs"/>
        </a:defRPr>
      </a:lvl1pPr>
      <a:lvl2pPr marL="906033">
        <a:defRPr>
          <a:latin typeface="+mn-lt"/>
          <a:ea typeface="+mn-ea"/>
          <a:cs typeface="+mn-cs"/>
        </a:defRPr>
      </a:lvl2pPr>
      <a:lvl3pPr marL="1812066">
        <a:defRPr>
          <a:latin typeface="+mn-lt"/>
          <a:ea typeface="+mn-ea"/>
          <a:cs typeface="+mn-cs"/>
        </a:defRPr>
      </a:lvl3pPr>
      <a:lvl4pPr marL="2718100">
        <a:defRPr>
          <a:latin typeface="+mn-lt"/>
          <a:ea typeface="+mn-ea"/>
          <a:cs typeface="+mn-cs"/>
        </a:defRPr>
      </a:lvl4pPr>
      <a:lvl5pPr marL="3624133">
        <a:defRPr>
          <a:latin typeface="+mn-lt"/>
          <a:ea typeface="+mn-ea"/>
          <a:cs typeface="+mn-cs"/>
        </a:defRPr>
      </a:lvl5pPr>
      <a:lvl6pPr marL="4530166">
        <a:defRPr>
          <a:latin typeface="+mn-lt"/>
          <a:ea typeface="+mn-ea"/>
          <a:cs typeface="+mn-cs"/>
        </a:defRPr>
      </a:lvl6pPr>
      <a:lvl7pPr marL="5436199">
        <a:defRPr>
          <a:latin typeface="+mn-lt"/>
          <a:ea typeface="+mn-ea"/>
          <a:cs typeface="+mn-cs"/>
        </a:defRPr>
      </a:lvl7pPr>
      <a:lvl8pPr marL="6342233">
        <a:defRPr>
          <a:latin typeface="+mn-lt"/>
          <a:ea typeface="+mn-ea"/>
          <a:cs typeface="+mn-cs"/>
        </a:defRPr>
      </a:lvl8pPr>
      <a:lvl9pPr marL="7248266">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454B59-47F4-8222-A636-737CFC6E7A8E}"/>
              </a:ext>
            </a:extLst>
          </p:cNvPr>
          <p:cNvSpPr>
            <a:spLocks noGrp="1"/>
          </p:cNvSpPr>
          <p:nvPr>
            <p:ph type="title"/>
          </p:nvPr>
        </p:nvSpPr>
        <p:spPr>
          <a:xfrm>
            <a:off x="838203" y="365125"/>
            <a:ext cx="10515599" cy="13255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B033A4-1C04-D531-AC84-5012F7945857}"/>
              </a:ext>
            </a:extLst>
          </p:cNvPr>
          <p:cNvSpPr>
            <a:spLocks noGrp="1"/>
          </p:cNvSpPr>
          <p:nvPr>
            <p:ph type="body" idx="1"/>
          </p:nvPr>
        </p:nvSpPr>
        <p:spPr>
          <a:xfrm>
            <a:off x="838203" y="1825626"/>
            <a:ext cx="1051559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4A4CC-045F-0BE4-B63E-44A1C86F9DFC}"/>
              </a:ext>
            </a:extLst>
          </p:cNvPr>
          <p:cNvSpPr>
            <a:spLocks noGrp="1"/>
          </p:cNvSpPr>
          <p:nvPr>
            <p:ph type="dt" sz="half" idx="2"/>
          </p:nvPr>
        </p:nvSpPr>
        <p:spPr>
          <a:xfrm>
            <a:off x="838200" y="6356352"/>
            <a:ext cx="2743201"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B9EAF301-0D02-440D-8BAB-7507B1BE5B26}" type="datetimeFigureOut">
              <a:rPr lang="en-US" smtClean="0"/>
              <a:t>2/8/2026</a:t>
            </a:fld>
            <a:endParaRPr lang="en-US"/>
          </a:p>
        </p:txBody>
      </p:sp>
      <p:sp>
        <p:nvSpPr>
          <p:cNvPr id="5" name="Footer Placeholder 4">
            <a:extLst>
              <a:ext uri="{FF2B5EF4-FFF2-40B4-BE49-F238E27FC236}">
                <a16:creationId xmlns:a16="http://schemas.microsoft.com/office/drawing/2014/main" id="{B7F47A00-0C50-92D5-E4A2-DFC6D3777008}"/>
              </a:ext>
            </a:extLst>
          </p:cNvPr>
          <p:cNvSpPr>
            <a:spLocks noGrp="1"/>
          </p:cNvSpPr>
          <p:nvPr>
            <p:ph type="ftr" sz="quarter" idx="3"/>
          </p:nvPr>
        </p:nvSpPr>
        <p:spPr>
          <a:xfrm>
            <a:off x="4038602" y="6356352"/>
            <a:ext cx="4114801"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68390F-09B2-5F68-F4FC-A894CCFFCD79}"/>
              </a:ext>
            </a:extLst>
          </p:cNvPr>
          <p:cNvSpPr>
            <a:spLocks noGrp="1"/>
          </p:cNvSpPr>
          <p:nvPr>
            <p:ph type="sldNum" sz="quarter" idx="4"/>
          </p:nvPr>
        </p:nvSpPr>
        <p:spPr>
          <a:xfrm>
            <a:off x="8610601" y="6356352"/>
            <a:ext cx="2743201"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736D9D1-13E3-432F-B20E-C00DD3263056}" type="slidenum">
              <a:rPr lang="en-US" smtClean="0"/>
              <a:t>‹#›</a:t>
            </a:fld>
            <a:endParaRPr lang="en-US"/>
          </a:p>
        </p:txBody>
      </p:sp>
    </p:spTree>
    <p:extLst>
      <p:ext uri="{BB962C8B-B14F-4D97-AF65-F5344CB8AC3E}">
        <p14:creationId xmlns:p14="http://schemas.microsoft.com/office/powerpoint/2010/main" val="387686718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Lst>
  <p:txStyles>
    <p:titleStyle>
      <a:lvl1pPr algn="l" defTabSz="685143" rtl="0" eaLnBrk="1" latinLnBrk="0" hangingPunct="1">
        <a:lnSpc>
          <a:spcPct val="90000"/>
        </a:lnSpc>
        <a:spcBef>
          <a:spcPct val="0"/>
        </a:spcBef>
        <a:buNone/>
        <a:defRPr sz="3298" kern="1200">
          <a:solidFill>
            <a:schemeClr val="tx1"/>
          </a:solidFill>
          <a:latin typeface="+mj-lt"/>
          <a:ea typeface="+mj-ea"/>
          <a:cs typeface="+mj-cs"/>
        </a:defRPr>
      </a:lvl1pPr>
    </p:titleStyle>
    <p:bodyStyle>
      <a:lvl1pPr marL="171286" indent="-171286" algn="l" defTabSz="685143" rtl="0" eaLnBrk="1" latinLnBrk="0" hangingPunct="1">
        <a:lnSpc>
          <a:spcPct val="90000"/>
        </a:lnSpc>
        <a:spcBef>
          <a:spcPts val="749"/>
        </a:spcBef>
        <a:buFont typeface="Arial" panose="020B0604020202020204" pitchFamily="34" charset="0"/>
        <a:buChar char="•"/>
        <a:defRPr sz="2099" kern="1200">
          <a:solidFill>
            <a:schemeClr val="tx1"/>
          </a:solidFill>
          <a:latin typeface="+mn-lt"/>
          <a:ea typeface="+mn-ea"/>
          <a:cs typeface="+mn-cs"/>
        </a:defRPr>
      </a:lvl1pPr>
      <a:lvl2pPr marL="513857" indent="-171286" algn="l" defTabSz="685143" rtl="0" eaLnBrk="1" latinLnBrk="0" hangingPunct="1">
        <a:lnSpc>
          <a:spcPct val="90000"/>
        </a:lnSpc>
        <a:spcBef>
          <a:spcPts val="375"/>
        </a:spcBef>
        <a:buFont typeface="Arial" panose="020B0604020202020204" pitchFamily="34" charset="0"/>
        <a:buChar char="•"/>
        <a:defRPr sz="1797" kern="1200">
          <a:solidFill>
            <a:schemeClr val="tx1"/>
          </a:solidFill>
          <a:latin typeface="+mn-lt"/>
          <a:ea typeface="+mn-ea"/>
          <a:cs typeface="+mn-cs"/>
        </a:defRPr>
      </a:lvl2pPr>
      <a:lvl3pPr marL="856427" indent="-171286" algn="l" defTabSz="685143" rtl="0" eaLnBrk="1" latinLnBrk="0" hangingPunct="1">
        <a:lnSpc>
          <a:spcPct val="90000"/>
        </a:lnSpc>
        <a:spcBef>
          <a:spcPts val="375"/>
        </a:spcBef>
        <a:buFont typeface="Arial" panose="020B0604020202020204" pitchFamily="34" charset="0"/>
        <a:buChar char="•"/>
        <a:defRPr sz="1498" kern="1200">
          <a:solidFill>
            <a:schemeClr val="tx1"/>
          </a:solidFill>
          <a:latin typeface="+mn-lt"/>
          <a:ea typeface="+mn-ea"/>
          <a:cs typeface="+mn-cs"/>
        </a:defRPr>
      </a:lvl3pPr>
      <a:lvl4pPr marL="1199000" indent="-171286" algn="l" defTabSz="68514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1570" indent="-171286" algn="l" defTabSz="68514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4141" indent="-171286" algn="l" defTabSz="68514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6713" indent="-171286" algn="l" defTabSz="68514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69284" indent="-171286" algn="l" defTabSz="68514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1854" indent="-171286" algn="l" defTabSz="68514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143" rtl="0" eaLnBrk="1" latinLnBrk="0" hangingPunct="1">
        <a:defRPr sz="1350" kern="1200">
          <a:solidFill>
            <a:schemeClr val="tx1"/>
          </a:solidFill>
          <a:latin typeface="+mn-lt"/>
          <a:ea typeface="+mn-ea"/>
          <a:cs typeface="+mn-cs"/>
        </a:defRPr>
      </a:lvl1pPr>
      <a:lvl2pPr marL="342571" algn="l" defTabSz="685143" rtl="0" eaLnBrk="1" latinLnBrk="0" hangingPunct="1">
        <a:defRPr sz="1350" kern="1200">
          <a:solidFill>
            <a:schemeClr val="tx1"/>
          </a:solidFill>
          <a:latin typeface="+mn-lt"/>
          <a:ea typeface="+mn-ea"/>
          <a:cs typeface="+mn-cs"/>
        </a:defRPr>
      </a:lvl2pPr>
      <a:lvl3pPr marL="685143" algn="l" defTabSz="685143" rtl="0" eaLnBrk="1" latinLnBrk="0" hangingPunct="1">
        <a:defRPr sz="1350" kern="1200">
          <a:solidFill>
            <a:schemeClr val="tx1"/>
          </a:solidFill>
          <a:latin typeface="+mn-lt"/>
          <a:ea typeface="+mn-ea"/>
          <a:cs typeface="+mn-cs"/>
        </a:defRPr>
      </a:lvl3pPr>
      <a:lvl4pPr marL="1027714" algn="l" defTabSz="685143" rtl="0" eaLnBrk="1" latinLnBrk="0" hangingPunct="1">
        <a:defRPr sz="1350" kern="1200">
          <a:solidFill>
            <a:schemeClr val="tx1"/>
          </a:solidFill>
          <a:latin typeface="+mn-lt"/>
          <a:ea typeface="+mn-ea"/>
          <a:cs typeface="+mn-cs"/>
        </a:defRPr>
      </a:lvl4pPr>
      <a:lvl5pPr marL="1370284" algn="l" defTabSz="685143" rtl="0" eaLnBrk="1" latinLnBrk="0" hangingPunct="1">
        <a:defRPr sz="1350" kern="1200">
          <a:solidFill>
            <a:schemeClr val="tx1"/>
          </a:solidFill>
          <a:latin typeface="+mn-lt"/>
          <a:ea typeface="+mn-ea"/>
          <a:cs typeface="+mn-cs"/>
        </a:defRPr>
      </a:lvl5pPr>
      <a:lvl6pPr marL="1712857" algn="l" defTabSz="685143" rtl="0" eaLnBrk="1" latinLnBrk="0" hangingPunct="1">
        <a:defRPr sz="1350" kern="1200">
          <a:solidFill>
            <a:schemeClr val="tx1"/>
          </a:solidFill>
          <a:latin typeface="+mn-lt"/>
          <a:ea typeface="+mn-ea"/>
          <a:cs typeface="+mn-cs"/>
        </a:defRPr>
      </a:lvl6pPr>
      <a:lvl7pPr marL="2055427" algn="l" defTabSz="685143" rtl="0" eaLnBrk="1" latinLnBrk="0" hangingPunct="1">
        <a:defRPr sz="1350" kern="1200">
          <a:solidFill>
            <a:schemeClr val="tx1"/>
          </a:solidFill>
          <a:latin typeface="+mn-lt"/>
          <a:ea typeface="+mn-ea"/>
          <a:cs typeface="+mn-cs"/>
        </a:defRPr>
      </a:lvl7pPr>
      <a:lvl8pPr marL="2397998" algn="l" defTabSz="685143" rtl="0" eaLnBrk="1" latinLnBrk="0" hangingPunct="1">
        <a:defRPr sz="1350" kern="1200">
          <a:solidFill>
            <a:schemeClr val="tx1"/>
          </a:solidFill>
          <a:latin typeface="+mn-lt"/>
          <a:ea typeface="+mn-ea"/>
          <a:cs typeface="+mn-cs"/>
        </a:defRPr>
      </a:lvl8pPr>
      <a:lvl9pPr marL="2740570" algn="l" defTabSz="68514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png"/><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0.png"/><Relationship Id="rId4" Type="http://schemas.openxmlformats.org/officeDocument/2006/relationships/image" Target="../media/image111.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7.xml"/><Relationship Id="rId6" Type="http://schemas.openxmlformats.org/officeDocument/2006/relationships/image" Target="../media/image26.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32.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39.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5.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49.png"/><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4.png"/><Relationship Id="rId1" Type="http://schemas.openxmlformats.org/officeDocument/2006/relationships/slideLayout" Target="../slideLayouts/slideLayout15.xml"/><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9.xml"/><Relationship Id="rId5" Type="http://schemas.openxmlformats.org/officeDocument/2006/relationships/image" Target="../media/image310.png"/><Relationship Id="rId4" Type="http://schemas.openxmlformats.org/officeDocument/2006/relationships/image" Target="../media/image28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7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64.png"/><Relationship Id="rId4" Type="http://schemas.openxmlformats.org/officeDocument/2006/relationships/image" Target="../media/image62.png"/></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86.png"/></Relationships>
</file>

<file path=ppt/slides/_rels/slide55.xml.rels><?xml version="1.0" encoding="UTF-8" standalone="yes"?>
<Relationships xmlns="http://schemas.openxmlformats.org/package/2006/relationships"><Relationship Id="rId3" Type="http://schemas.openxmlformats.org/officeDocument/2006/relationships/hyperlink" Target="https://issues-osu.github.io/statsii-spring2026/slides/SLR_files/admissions.jasp" TargetMode="External"/><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customXml" Target="../ink/ink3.xml"/><Relationship Id="rId4" Type="http://schemas.openxmlformats.org/officeDocument/2006/relationships/image" Target="../media/image9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issues-osu.github.io/statsii-spring2026/gapminder-dv-example.html" TargetMode="External"/><Relationship Id="rId2" Type="http://schemas.openxmlformats.org/officeDocument/2006/relationships/hyperlink" Target="https://issues-osu.github.io/statsii-spring2026/admissions_SLR_example.html"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39.xml"/></Relationships>
</file>

<file path=ppt/slides/_rels/slide7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42.xml"/></Relationships>
</file>

<file path=ppt/slides/_rels/slide72.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42.xml"/></Relationships>
</file>

<file path=ppt/slides/_rels/slide73.xml.rels><?xml version="1.0" encoding="UTF-8" standalone="yes"?>
<Relationships xmlns="http://schemas.openxmlformats.org/package/2006/relationships"><Relationship Id="rId3" Type="http://schemas.openxmlformats.org/officeDocument/2006/relationships/hyperlink" Target="https://issues-osu.github.io/statsii-spring2026/slides/SLR_files/brfss_aces_subset.jasp" TargetMode="External"/><Relationship Id="rId2" Type="http://schemas.openxmlformats.org/officeDocument/2006/relationships/hyperlink" Target="https://issues-osu.github.io/statsii-spring2026/slides/inclass.html"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FE2FC-558E-307E-EF79-18C5A02BE862}"/>
              </a:ext>
            </a:extLst>
          </p:cNvPr>
          <p:cNvSpPr>
            <a:spLocks noGrp="1"/>
          </p:cNvSpPr>
          <p:nvPr>
            <p:ph type="ctrTitle"/>
          </p:nvPr>
        </p:nvSpPr>
        <p:spPr/>
        <p:txBody>
          <a:bodyPr/>
          <a:lstStyle/>
          <a:p>
            <a:r>
              <a:rPr lang="en-US" dirty="0"/>
              <a:t>Week 4: February 3, 2026</a:t>
            </a:r>
          </a:p>
        </p:txBody>
      </p:sp>
      <p:sp>
        <p:nvSpPr>
          <p:cNvPr id="3" name="Subtitle 2">
            <a:extLst>
              <a:ext uri="{FF2B5EF4-FFF2-40B4-BE49-F238E27FC236}">
                <a16:creationId xmlns:a16="http://schemas.microsoft.com/office/drawing/2014/main" id="{0EB21D8F-79BC-A1A1-2159-585576B242B8}"/>
              </a:ext>
            </a:extLst>
          </p:cNvPr>
          <p:cNvSpPr>
            <a:spLocks noGrp="1"/>
          </p:cNvSpPr>
          <p:nvPr>
            <p:ph type="subTitle" idx="1"/>
          </p:nvPr>
        </p:nvSpPr>
        <p:spPr/>
        <p:txBody>
          <a:bodyPr/>
          <a:lstStyle/>
          <a:p>
            <a:r>
              <a:rPr lang="en-US" dirty="0"/>
              <a:t>Simple Linear Regression</a:t>
            </a:r>
          </a:p>
          <a:p>
            <a:r>
              <a:rPr lang="en-US" dirty="0"/>
              <a:t>Introduction to Multiple Linear Regression</a:t>
            </a:r>
          </a:p>
          <a:p>
            <a:r>
              <a:rPr lang="en-US" dirty="0"/>
              <a:t>Hypothesis Testing and Decomposition of Effects</a:t>
            </a:r>
          </a:p>
        </p:txBody>
      </p:sp>
    </p:spTree>
    <p:extLst>
      <p:ext uri="{BB962C8B-B14F-4D97-AF65-F5344CB8AC3E}">
        <p14:creationId xmlns:p14="http://schemas.microsoft.com/office/powerpoint/2010/main" val="95093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2E5FF-7D7D-33F2-7A98-0719BA9D2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13D23-5C50-BB70-AD1F-5C6BED9A337D}"/>
              </a:ext>
            </a:extLst>
          </p:cNvPr>
          <p:cNvSpPr>
            <a:spLocks noGrp="1"/>
          </p:cNvSpPr>
          <p:nvPr>
            <p:ph type="title"/>
          </p:nvPr>
        </p:nvSpPr>
        <p:spPr/>
        <p:txBody>
          <a:bodyPr/>
          <a:lstStyle/>
          <a:p>
            <a:r>
              <a:rPr lang="en-US" dirty="0"/>
              <a:t>Data application</a:t>
            </a:r>
          </a:p>
        </p:txBody>
      </p:sp>
      <p:sp>
        <p:nvSpPr>
          <p:cNvPr id="3" name="Content Placeholder 2">
            <a:extLst>
              <a:ext uri="{FF2B5EF4-FFF2-40B4-BE49-F238E27FC236}">
                <a16:creationId xmlns:a16="http://schemas.microsoft.com/office/drawing/2014/main" id="{E77651E1-27FE-A338-2054-9F7B9CD67F17}"/>
              </a:ext>
            </a:extLst>
          </p:cNvPr>
          <p:cNvSpPr>
            <a:spLocks noGrp="1"/>
          </p:cNvSpPr>
          <p:nvPr>
            <p:ph idx="1"/>
          </p:nvPr>
        </p:nvSpPr>
        <p:spPr/>
        <p:txBody>
          <a:bodyPr/>
          <a:lstStyle/>
          <a:p>
            <a:r>
              <a:rPr lang="en-US" dirty="0"/>
              <a:t>Reimagine data using effective storytelling </a:t>
            </a:r>
          </a:p>
          <a:p>
            <a:r>
              <a:rPr lang="en-US" dirty="0"/>
              <a:t>Are there differences in infant mortality by race?</a:t>
            </a:r>
          </a:p>
          <a:p>
            <a:r>
              <a:rPr lang="en-US" dirty="0"/>
              <a:t>ATUS + CPS data</a:t>
            </a:r>
          </a:p>
        </p:txBody>
      </p:sp>
    </p:spTree>
    <p:extLst>
      <p:ext uri="{BB962C8B-B14F-4D97-AF65-F5344CB8AC3E}">
        <p14:creationId xmlns:p14="http://schemas.microsoft.com/office/powerpoint/2010/main" val="1151542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08B6029-8796-E34F-0579-626550A29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74401"/>
            <a:ext cx="5294716" cy="3309196"/>
          </a:xfrm>
          <a:prstGeom prst="rect">
            <a:avLst/>
          </a:prstGeom>
        </p:spPr>
      </p:pic>
      <p:cxnSp>
        <p:nvCxnSpPr>
          <p:cNvPr id="22" name="Straight Connector 21">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34BA868-18F0-1761-D862-536998C321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3817" y="1774402"/>
            <a:ext cx="5294715" cy="3309196"/>
          </a:xfrm>
          <a:prstGeom prst="rect">
            <a:avLst/>
          </a:prstGeom>
        </p:spPr>
      </p:pic>
    </p:spTree>
    <p:extLst>
      <p:ext uri="{BB962C8B-B14F-4D97-AF65-F5344CB8AC3E}">
        <p14:creationId xmlns:p14="http://schemas.microsoft.com/office/powerpoint/2010/main" val="3960442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D7FBBE-A20C-4B1D-90B6-5532C7C6904E}"/>
              </a:ext>
            </a:extLst>
          </p:cNvPr>
          <p:cNvSpPr>
            <a:spLocks noGrp="1"/>
          </p:cNvSpPr>
          <p:nvPr>
            <p:ph type="sldNum" sz="quarter" idx="10"/>
          </p:nvPr>
        </p:nvSpPr>
        <p:spPr>
          <a:xfrm>
            <a:off x="10730162" y="6002372"/>
            <a:ext cx="549442" cy="365125"/>
          </a:xfrm>
        </p:spPr>
        <p:txBody>
          <a:bodyPr anchor="ctr">
            <a:normAutofit/>
          </a:bodyPr>
          <a:lstStyle/>
          <a:p>
            <a:pPr>
              <a:spcAft>
                <a:spcPts val="600"/>
              </a:spcAft>
            </a:pPr>
            <a:fld id="{D495E168-DA5E-4888-8D8A-92B118324C14}" type="slidenum">
              <a:rPr lang="ru-RU" smtClean="0"/>
              <a:pPr>
                <a:spcAft>
                  <a:spcPts val="600"/>
                </a:spcAft>
              </a:pPr>
              <a:t>4</a:t>
            </a:fld>
            <a:endParaRPr lang="ru-RU"/>
          </a:p>
        </p:txBody>
      </p:sp>
      <p:sp>
        <p:nvSpPr>
          <p:cNvPr id="10" name="Title 2">
            <a:extLst>
              <a:ext uri="{FF2B5EF4-FFF2-40B4-BE49-F238E27FC236}">
                <a16:creationId xmlns:a16="http://schemas.microsoft.com/office/drawing/2014/main" id="{3C249D8E-1B1B-4C20-A54F-B66E633DC791}"/>
              </a:ext>
            </a:extLst>
          </p:cNvPr>
          <p:cNvSpPr>
            <a:spLocks noGrp="1"/>
          </p:cNvSpPr>
          <p:nvPr>
            <p:ph type="title"/>
          </p:nvPr>
        </p:nvSpPr>
        <p:spPr>
          <a:xfrm>
            <a:off x="838200" y="156579"/>
            <a:ext cx="10515600" cy="1325563"/>
          </a:xfrm>
        </p:spPr>
        <p:txBody>
          <a:bodyPr/>
          <a:lstStyle/>
          <a:p>
            <a:pPr algn="l"/>
            <a:r>
              <a:rPr lang="en-US" dirty="0">
                <a:solidFill>
                  <a:schemeClr val="tx1"/>
                </a:solidFill>
              </a:rPr>
              <a:t>What model do I choose?</a:t>
            </a:r>
            <a:br>
              <a:rPr lang="en-US" dirty="0">
                <a:solidFill>
                  <a:schemeClr val="tx1"/>
                </a:solidFill>
              </a:rPr>
            </a:br>
            <a:r>
              <a:rPr lang="en-US" sz="3200" dirty="0">
                <a:solidFill>
                  <a:schemeClr val="tx1"/>
                </a:solidFill>
              </a:rPr>
              <a:t>Basic Statistical Analysis</a:t>
            </a:r>
            <a:endParaRPr lang="en-US" dirty="0">
              <a:solidFill>
                <a:schemeClr val="tx1"/>
              </a:solidFill>
            </a:endParaRPr>
          </a:p>
        </p:txBody>
      </p:sp>
      <p:graphicFrame>
        <p:nvGraphicFramePr>
          <p:cNvPr id="5" name="Group 3">
            <a:extLst>
              <a:ext uri="{FF2B5EF4-FFF2-40B4-BE49-F238E27FC236}">
                <a16:creationId xmlns:a16="http://schemas.microsoft.com/office/drawing/2014/main" id="{6B88C205-B8AB-46D7-9FF7-6073B30B4B4F}"/>
              </a:ext>
            </a:extLst>
          </p:cNvPr>
          <p:cNvGraphicFramePr>
            <a:graphicFrameLocks/>
          </p:cNvGraphicFramePr>
          <p:nvPr/>
        </p:nvGraphicFramePr>
        <p:xfrm>
          <a:off x="1395984" y="1924531"/>
          <a:ext cx="9400033" cy="3409336"/>
        </p:xfrm>
        <a:graphic>
          <a:graphicData uri="http://schemas.openxmlformats.org/drawingml/2006/table">
            <a:tbl>
              <a:tblPr>
                <a:solidFill>
                  <a:schemeClr val="bg1"/>
                </a:solidFill>
              </a:tblPr>
              <a:tblGrid>
                <a:gridCol w="1366001">
                  <a:extLst>
                    <a:ext uri="{9D8B030D-6E8A-4147-A177-3AD203B41FA5}">
                      <a16:colId xmlns:a16="http://schemas.microsoft.com/office/drawing/2014/main" val="2200425388"/>
                    </a:ext>
                  </a:extLst>
                </a:gridCol>
                <a:gridCol w="2571580">
                  <a:extLst>
                    <a:ext uri="{9D8B030D-6E8A-4147-A177-3AD203B41FA5}">
                      <a16:colId xmlns:a16="http://schemas.microsoft.com/office/drawing/2014/main" val="3306377049"/>
                    </a:ext>
                  </a:extLst>
                </a:gridCol>
                <a:gridCol w="2711793">
                  <a:extLst>
                    <a:ext uri="{9D8B030D-6E8A-4147-A177-3AD203B41FA5}">
                      <a16:colId xmlns:a16="http://schemas.microsoft.com/office/drawing/2014/main" val="1335301271"/>
                    </a:ext>
                  </a:extLst>
                </a:gridCol>
                <a:gridCol w="2750659">
                  <a:extLst>
                    <a:ext uri="{9D8B030D-6E8A-4147-A177-3AD203B41FA5}">
                      <a16:colId xmlns:a16="http://schemas.microsoft.com/office/drawing/2014/main" val="3742422588"/>
                    </a:ext>
                  </a:extLst>
                </a:gridCol>
              </a:tblGrid>
              <a:tr h="344092">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Outcome Variable</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Are the observations independent or correlated?</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Alternatives if the normality assumption is violated (and small sample size):</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344092">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independent</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correlated </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2673681">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none" strike="noStrike" cap="none" spc="0" normalizeH="0" baseline="0">
                          <a:ln>
                            <a:noFill/>
                          </a:ln>
                          <a:solidFill>
                            <a:schemeClr val="tx1"/>
                          </a:solidFill>
                          <a:effectLst/>
                          <a:latin typeface="Tahoma" panose="020B0604030504040204" pitchFamily="34" charset="0"/>
                        </a:rPr>
                        <a:t>(e.g. pain scale, cognitive function)</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1100" b="1" i="0" u="none" strike="noStrike" cap="none" spc="0" normalizeH="0" baseline="0" dirty="0">
                          <a:ln>
                            <a:noFill/>
                          </a:ln>
                          <a:solidFill>
                            <a:schemeClr val="tx1"/>
                          </a:solidFill>
                          <a:effectLst/>
                          <a:latin typeface="Tahoma" panose="020B0604030504040204" pitchFamily="34" charset="0"/>
                        </a:rPr>
                        <a:t>T-test:</a:t>
                      </a:r>
                      <a:r>
                        <a:rPr kumimoji="0" lang="en-GB" altLang="en-US" sz="11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11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1100" b="1" i="0" u="none" strike="noStrike" cap="none" spc="0" normalizeH="0" baseline="0" dirty="0">
                          <a:ln>
                            <a:noFill/>
                          </a:ln>
                          <a:solidFill>
                            <a:schemeClr val="tx1"/>
                          </a:solidFill>
                          <a:effectLst/>
                          <a:latin typeface="Tahoma" panose="020B0604030504040204" pitchFamily="34" charset="0"/>
                        </a:rPr>
                        <a:t>ANOVA:</a:t>
                      </a:r>
                      <a:r>
                        <a:rPr kumimoji="0" lang="en-GB" altLang="en-US" sz="11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11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11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11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11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11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11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1100" b="0" i="0" u="none" strike="noStrike" cap="none" spc="0" normalizeH="0" baseline="0" dirty="0">
                        <a:ln>
                          <a:noFill/>
                        </a:ln>
                        <a:solidFill>
                          <a:schemeClr val="tx1"/>
                        </a:solidFill>
                        <a:effectLst/>
                        <a:latin typeface="Tahoma" panose="020B0604030504040204" pitchFamily="34" charset="0"/>
                      </a:endParaRP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a:ln>
                            <a:noFill/>
                          </a:ln>
                          <a:solidFill>
                            <a:schemeClr val="tx1"/>
                          </a:solidFill>
                          <a:effectLst/>
                          <a:latin typeface="Tahoma" panose="020B0604030504040204" pitchFamily="34" charset="0"/>
                        </a:rPr>
                        <a:t>Paired </a:t>
                      </a:r>
                      <a:r>
                        <a:rPr kumimoji="0" lang="en-US" altLang="en-US" sz="1100" b="1" i="0" u="none" strike="noStrike" cap="none" spc="0" normalizeH="0" baseline="0" err="1">
                          <a:ln>
                            <a:noFill/>
                          </a:ln>
                          <a:solidFill>
                            <a:schemeClr val="tx1"/>
                          </a:solidFill>
                          <a:effectLst/>
                          <a:latin typeface="Tahoma" panose="020B0604030504040204" pitchFamily="34" charset="0"/>
                        </a:rPr>
                        <a:t>ttest</a:t>
                      </a:r>
                      <a:r>
                        <a:rPr kumimoji="0" lang="en-US" altLang="en-US" sz="1100" b="1" i="0" u="none" strike="noStrike" cap="none" spc="0" normalizeH="0" baseline="0">
                          <a:ln>
                            <a:noFill/>
                          </a:ln>
                          <a:solidFill>
                            <a:schemeClr val="tx1"/>
                          </a:solidFill>
                          <a:effectLst/>
                          <a:latin typeface="Tahoma" panose="020B0604030504040204" pitchFamily="34" charset="0"/>
                        </a:rPr>
                        <a:t>:</a:t>
                      </a:r>
                      <a:r>
                        <a:rPr kumimoji="0" lang="en-US" altLang="en-US" sz="1100" b="0" i="0" u="none" strike="noStrike" cap="none" spc="0" normalizeH="0" baseline="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a:ln>
                            <a:noFill/>
                          </a:ln>
                          <a:solidFill>
                            <a:schemeClr val="tx1"/>
                          </a:solidFill>
                          <a:effectLst/>
                          <a:latin typeface="Tahoma" panose="020B0604030504040204" pitchFamily="34" charset="0"/>
                        </a:rPr>
                        <a:t>Repeated-measures ANOVA:</a:t>
                      </a:r>
                      <a:r>
                        <a:rPr kumimoji="0" lang="en-US" altLang="en-US" sz="1100" b="0" i="0" u="none" strike="noStrike" cap="none" spc="0" normalizeH="0" baseline="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a:ln>
                            <a:noFill/>
                          </a:ln>
                          <a:solidFill>
                            <a:schemeClr val="tx1"/>
                          </a:solidFill>
                          <a:effectLst/>
                          <a:latin typeface="Tahoma" panose="020B0604030504040204" pitchFamily="34" charset="0"/>
                        </a:rPr>
                        <a:t>Mixed models/GEE modeling</a:t>
                      </a:r>
                      <a:r>
                        <a:rPr kumimoji="0" lang="en-US" altLang="en-US" sz="1100" b="0" i="0" u="none" strike="noStrike" cap="none" spc="0" normalizeH="0" baseline="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1100" b="0" i="0" u="none" strike="noStrike" cap="none" spc="0" normalizeH="0" baseline="0" dirty="0">
                          <a:ln>
                            <a:noFill/>
                          </a:ln>
                          <a:solidFill>
                            <a:schemeClr val="tx1"/>
                          </a:solidFill>
                          <a:effectLst/>
                          <a:latin typeface="Tahoma" panose="020B0604030504040204" pitchFamily="34" charset="0"/>
                        </a:rPr>
                        <a:t>: non-parametric alternative to the paired </a:t>
                      </a:r>
                      <a:r>
                        <a:rPr kumimoji="0" lang="en-US" altLang="en-US" sz="1100" b="0" i="0" u="none" strike="noStrike" cap="none" spc="0" normalizeH="0" baseline="0" dirty="0" err="1">
                          <a:ln>
                            <a:noFill/>
                          </a:ln>
                          <a:solidFill>
                            <a:schemeClr val="tx1"/>
                          </a:solidFill>
                          <a:effectLst/>
                          <a:latin typeface="Tahoma" panose="020B0604030504040204" pitchFamily="34" charset="0"/>
                        </a:rPr>
                        <a:t>ttest</a:t>
                      </a:r>
                      <a:endParaRPr kumimoji="0" lang="en-US" altLang="en-US" sz="11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1100" b="0" i="0" u="none" strike="noStrike" cap="none" spc="0" normalizeH="0" baseline="0" dirty="0">
                          <a:ln>
                            <a:noFill/>
                          </a:ln>
                          <a:solidFill>
                            <a:schemeClr val="tx1"/>
                          </a:solidFill>
                          <a:effectLst/>
                          <a:latin typeface="Tahoma" panose="020B0604030504040204" pitchFamily="34" charset="0"/>
                        </a:rPr>
                        <a:t> (=Mann-Whitney U test): non-parametric alternative to the </a:t>
                      </a:r>
                      <a:r>
                        <a:rPr kumimoji="0" lang="en-US" altLang="en-US" sz="1100" b="0" i="0" u="none" strike="noStrike" cap="none" spc="0" normalizeH="0" baseline="0" dirty="0" err="1">
                          <a:ln>
                            <a:noFill/>
                          </a:ln>
                          <a:solidFill>
                            <a:schemeClr val="tx1"/>
                          </a:solidFill>
                          <a:effectLst/>
                          <a:latin typeface="Tahoma" panose="020B0604030504040204" pitchFamily="34" charset="0"/>
                        </a:rPr>
                        <a:t>ttest</a:t>
                      </a:r>
                      <a:endParaRPr kumimoji="0" lang="en-US" altLang="en-US" sz="11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11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1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1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11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1100" b="1" i="0" u="none" strike="noStrike" cap="none" spc="0" normalizeH="0" baseline="0" dirty="0">
                        <a:ln>
                          <a:noFill/>
                        </a:ln>
                        <a:solidFill>
                          <a:schemeClr val="tx1"/>
                        </a:solidFill>
                        <a:effectLst/>
                        <a:latin typeface="Tahoma" panose="020B0604030504040204" pitchFamily="34" charset="0"/>
                      </a:endParaRPr>
                    </a:p>
                  </a:txBody>
                  <a:tcPr marL="90673" marR="69748" marT="69748" marB="69748"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E9666A15-4B6E-4872-ABFD-077460EEFFA7}"/>
              </a:ext>
            </a:extLst>
          </p:cNvPr>
          <p:cNvSpPr>
            <a:spLocks noChangeArrowheads="1"/>
          </p:cNvSpPr>
          <p:nvPr/>
        </p:nvSpPr>
        <p:spPr bwMode="auto">
          <a:xfrm>
            <a:off x="2487370" y="4338312"/>
            <a:ext cx="2971800" cy="1219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37453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8F9E8-9C66-496D-B37E-83065854B13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495E168-DA5E-4888-8D8A-92B118324C14}" type="slidenum">
              <a:rPr kumimoji="0" lang="ru-RU"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ru-RU"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3" name="Title 2">
            <a:extLst>
              <a:ext uri="{FF2B5EF4-FFF2-40B4-BE49-F238E27FC236}">
                <a16:creationId xmlns:a16="http://schemas.microsoft.com/office/drawing/2014/main" id="{17523E8C-F049-4B08-BEAA-E3C6C7BC7099}"/>
              </a:ext>
            </a:extLst>
          </p:cNvPr>
          <p:cNvSpPr>
            <a:spLocks noGrp="1"/>
          </p:cNvSpPr>
          <p:nvPr>
            <p:ph type="title"/>
          </p:nvPr>
        </p:nvSpPr>
        <p:spPr>
          <a:xfrm>
            <a:off x="145181" y="136525"/>
            <a:ext cx="10515600" cy="635902"/>
          </a:xfrm>
        </p:spPr>
        <p:txBody>
          <a:bodyPr>
            <a:normAutofit/>
          </a:bodyPr>
          <a:lstStyle/>
          <a:p>
            <a:r>
              <a:rPr lang="en-US" altLang="en-US" sz="3600" dirty="0">
                <a:latin typeface="Arial" panose="020B0604020202020204" pitchFamily="34" charset="0"/>
                <a:ea typeface="ＭＳ Ｐゴシック" panose="020B0600070205080204" pitchFamily="34" charset="-128"/>
                <a:cs typeface="Arial" panose="020B0604020202020204" pitchFamily="34" charset="0"/>
              </a:rPr>
              <a:t>Linear regression –Terminology</a:t>
            </a:r>
            <a:endParaRPr 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ABEF4A57-9583-44FE-A333-D825FEAABA11}"/>
              </a:ext>
            </a:extLst>
          </p:cNvPr>
          <p:cNvSpPr>
            <a:spLocks noGrp="1"/>
          </p:cNvSpPr>
          <p:nvPr>
            <p:ph idx="1"/>
          </p:nvPr>
        </p:nvSpPr>
        <p:spPr>
          <a:xfrm>
            <a:off x="318436" y="772427"/>
            <a:ext cx="10515600" cy="4351338"/>
          </a:xfrm>
        </p:spPr>
        <p:txBody>
          <a:bodyPr>
            <a:normAutofit/>
          </a:bodyPr>
          <a:lstStyle/>
          <a:p>
            <a:r>
              <a:rPr lang="en-US" sz="2000" dirty="0">
                <a:latin typeface="Arial" panose="020B0604020202020204" pitchFamily="34" charset="0"/>
                <a:cs typeface="Arial" panose="020B0604020202020204" pitchFamily="34" charset="0"/>
              </a:rPr>
              <a:t>Outcome, </a:t>
            </a:r>
            <a:r>
              <a:rPr lang="en-US" sz="2000" i="1" dirty="0">
                <a:latin typeface="Arial" panose="020B0604020202020204" pitchFamily="34" charset="0"/>
                <a:cs typeface="Arial" panose="020B0604020202020204" pitchFamily="34" charset="0"/>
              </a:rPr>
              <a:t>Y</a:t>
            </a:r>
          </a:p>
          <a:p>
            <a:pPr lvl="1"/>
            <a:r>
              <a:rPr lang="en-US" sz="2000" dirty="0">
                <a:latin typeface="Arial" panose="020B0604020202020204" pitchFamily="34" charset="0"/>
                <a:cs typeface="Arial" panose="020B0604020202020204" pitchFamily="34" charset="0"/>
              </a:rPr>
              <a:t>Dependent variable</a:t>
            </a:r>
          </a:p>
          <a:p>
            <a:pPr lvl="1"/>
            <a:r>
              <a:rPr lang="en-US" sz="2000" dirty="0">
                <a:latin typeface="Arial" panose="020B0604020202020204" pitchFamily="34" charset="0"/>
                <a:cs typeface="Arial" panose="020B0604020202020204" pitchFamily="34" charset="0"/>
              </a:rPr>
              <a:t>Response variable</a:t>
            </a:r>
          </a:p>
          <a:p>
            <a:pPr lvl="1"/>
            <a:r>
              <a:rPr lang="en-US" sz="2000" dirty="0">
                <a:latin typeface="Arial" panose="020B0604020202020204" pitchFamily="34" charset="0"/>
                <a:cs typeface="Arial" panose="020B0604020202020204" pitchFamily="34" charset="0"/>
              </a:rPr>
              <a:t>Consequent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Explanatory variable, </a:t>
            </a:r>
            <a:r>
              <a:rPr lang="en-US" sz="2000" i="1" dirty="0">
                <a:latin typeface="Arial" panose="020B0604020202020204" pitchFamily="34" charset="0"/>
                <a:cs typeface="Arial" panose="020B0604020202020204" pitchFamily="34" charset="0"/>
              </a:rPr>
              <a:t>X</a:t>
            </a:r>
          </a:p>
          <a:p>
            <a:pPr lvl="1"/>
            <a:r>
              <a:rPr lang="en-US" sz="2000" dirty="0">
                <a:latin typeface="Arial" panose="020B0604020202020204" pitchFamily="34" charset="0"/>
                <a:cs typeface="Arial" panose="020B0604020202020204" pitchFamily="34" charset="0"/>
              </a:rPr>
              <a:t>Independent variable</a:t>
            </a:r>
          </a:p>
          <a:p>
            <a:pPr lvl="1"/>
            <a:r>
              <a:rPr lang="en-US" sz="2000" dirty="0">
                <a:latin typeface="Arial" panose="020B0604020202020204" pitchFamily="34" charset="0"/>
                <a:cs typeface="Arial" panose="020B0604020202020204" pitchFamily="34" charset="0"/>
              </a:rPr>
              <a:t>Predictor</a:t>
            </a:r>
          </a:p>
          <a:p>
            <a:pPr lvl="1"/>
            <a:r>
              <a:rPr lang="en-US" sz="2000" dirty="0">
                <a:latin typeface="Arial" panose="020B0604020202020204" pitchFamily="34" charset="0"/>
                <a:cs typeface="Arial" panose="020B0604020202020204" pitchFamily="34" charset="0"/>
              </a:rPr>
              <a:t>Covariate</a:t>
            </a:r>
          </a:p>
          <a:p>
            <a:pPr lvl="1"/>
            <a:r>
              <a:rPr lang="en-US" sz="2000" dirty="0">
                <a:latin typeface="Arial" panose="020B0604020202020204" pitchFamily="34" charset="0"/>
                <a:cs typeface="Arial" panose="020B0604020202020204" pitchFamily="34" charset="0"/>
              </a:rPr>
              <a:t>Control</a:t>
            </a:r>
          </a:p>
          <a:p>
            <a:pPr lvl="1"/>
            <a:r>
              <a:rPr lang="en-US" sz="2000" dirty="0">
                <a:latin typeface="Arial" panose="020B0604020202020204" pitchFamily="34" charset="0"/>
                <a:cs typeface="Arial" panose="020B0604020202020204" pitchFamily="34" charset="0"/>
              </a:rPr>
              <a:t>Exposure</a:t>
            </a:r>
          </a:p>
          <a:p>
            <a:pPr lvl="1"/>
            <a:r>
              <a:rPr lang="en-US" sz="2000" dirty="0">
                <a:latin typeface="Arial" panose="020B0604020202020204" pitchFamily="34" charset="0"/>
                <a:cs typeface="Arial" panose="020B0604020202020204" pitchFamily="34" charset="0"/>
              </a:rPr>
              <a:t>Antecedent</a:t>
            </a:r>
          </a:p>
          <a:p>
            <a:endParaRPr lang="en-US" dirty="0"/>
          </a:p>
        </p:txBody>
      </p:sp>
    </p:spTree>
    <p:extLst>
      <p:ext uri="{BB962C8B-B14F-4D97-AF65-F5344CB8AC3E}">
        <p14:creationId xmlns:p14="http://schemas.microsoft.com/office/powerpoint/2010/main" val="3729277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CB6580-7287-4513-9175-76E38676F98F}"/>
              </a:ext>
            </a:extLst>
          </p:cNvPr>
          <p:cNvSpPr>
            <a:spLocks noGrp="1"/>
          </p:cNvSpPr>
          <p:nvPr>
            <p:ph type="title"/>
          </p:nvPr>
        </p:nvSpPr>
        <p:spPr>
          <a:xfrm>
            <a:off x="116305" y="134118"/>
            <a:ext cx="10515600" cy="1325563"/>
          </a:xfrm>
        </p:spPr>
        <p:txBody>
          <a:bodyPr/>
          <a:lstStyle/>
          <a:p>
            <a:r>
              <a:rPr lang="en-US" dirty="0">
                <a:latin typeface="Arial" panose="020B0604020202020204" pitchFamily="34" charset="0"/>
                <a:cs typeface="Arial" panose="020B0604020202020204" pitchFamily="34" charset="0"/>
              </a:rPr>
              <a:t>Introduction</a:t>
            </a:r>
            <a:br>
              <a:rPr lang="en-US" dirty="0">
                <a:latin typeface="Arial" panose="020B0604020202020204" pitchFamily="34" charset="0"/>
                <a:cs typeface="Arial" panose="020B0604020202020204" pitchFamily="34" charset="0"/>
              </a:rPr>
            </a:br>
            <a:r>
              <a:rPr lang="en-US" sz="3200" i="1" dirty="0">
                <a:latin typeface="Arial" panose="020B0604020202020204" pitchFamily="34" charset="0"/>
                <a:cs typeface="Arial" panose="020B0604020202020204" pitchFamily="34" charset="0"/>
              </a:rPr>
              <a:t>Simple Linear Regression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245968FD-F5FB-4A28-843F-9E4EE7202D2C}"/>
                  </a:ext>
                </a:extLst>
              </p:cNvPr>
              <p:cNvSpPr>
                <a:spLocks noGrp="1"/>
              </p:cNvSpPr>
              <p:nvPr>
                <p:ph idx="1"/>
              </p:nvPr>
            </p:nvSpPr>
            <p:spPr>
              <a:xfrm>
                <a:off x="193308" y="1353987"/>
                <a:ext cx="10515600" cy="4351338"/>
              </a:xfrm>
            </p:spPr>
            <p:txBody>
              <a:bodyPr>
                <a:normAutofit/>
              </a:bodyPr>
              <a:lstStyle/>
              <a:p>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Aims to predict the value of an outcome </a:t>
                </a:r>
                <a:r>
                  <a:rPr lang="en-US" altLang="en-US" sz="2000"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based on the value of one or more explanatory variables, </a:t>
                </a:r>
                <a14:m>
                  <m:oMath xmlns:m="http://schemas.openxmlformats.org/officeDocument/2006/math">
                    <m:sSub>
                      <m:sSubPr>
                        <m:ctrlPr>
                          <a:rPr lang="en-US" altLang="en-US" sz="2000" i="1" smtClean="0">
                            <a:solidFill>
                              <a:schemeClr val="tx1"/>
                            </a:solidFill>
                            <a:latin typeface="Cambria Math" panose="02040503050406030204" pitchFamily="18" charset="0"/>
                            <a:ea typeface="ＭＳ Ｐゴシック" panose="020B0600070205080204" pitchFamily="34" charset="-128"/>
                          </a:rPr>
                        </m:ctrlPr>
                      </m:sSubPr>
                      <m:e>
                        <m:r>
                          <a:rPr lang="en-US" altLang="en-US" sz="2000" b="0" i="1" smtClean="0">
                            <a:solidFill>
                              <a:schemeClr val="tx1"/>
                            </a:solidFill>
                            <a:latin typeface="Cambria Math" panose="02040503050406030204" pitchFamily="18" charset="0"/>
                            <a:ea typeface="ＭＳ Ｐゴシック" panose="020B0600070205080204" pitchFamily="34" charset="-128"/>
                          </a:rPr>
                          <m:t>𝑋</m:t>
                        </m:r>
                      </m:e>
                      <m:sub>
                        <m:r>
                          <a:rPr lang="en-US" altLang="en-US" sz="2000" b="0" i="1" smtClean="0">
                            <a:solidFill>
                              <a:schemeClr val="tx1"/>
                            </a:solidFill>
                            <a:latin typeface="Cambria Math" panose="02040503050406030204" pitchFamily="18" charset="0"/>
                            <a:ea typeface="ＭＳ Ｐゴシック" panose="020B0600070205080204" pitchFamily="34" charset="-128"/>
                          </a:rPr>
                          <m:t>1</m:t>
                        </m:r>
                      </m:sub>
                    </m:sSub>
                    <m:r>
                      <a:rPr lang="en-US" altLang="en-US" sz="2000" b="0" i="1" smtClean="0">
                        <a:solidFill>
                          <a:schemeClr val="tx1"/>
                        </a:solidFill>
                        <a:latin typeface="Cambria Math" panose="02040503050406030204" pitchFamily="18" charset="0"/>
                        <a:ea typeface="ＭＳ Ｐゴシック" panose="020B0600070205080204" pitchFamily="34" charset="-128"/>
                      </a:rPr>
                      <m:t>, …</m:t>
                    </m:r>
                    <m:sSub>
                      <m:sSubPr>
                        <m:ctrlPr>
                          <a:rPr lang="en-US" altLang="en-US" sz="2000" i="1">
                            <a:solidFill>
                              <a:schemeClr val="tx1"/>
                            </a:solidFill>
                            <a:latin typeface="Cambria Math" panose="02040503050406030204" pitchFamily="18" charset="0"/>
                            <a:ea typeface="ＭＳ Ｐゴシック" panose="020B0600070205080204" pitchFamily="34" charset="-128"/>
                          </a:rPr>
                        </m:ctrlPr>
                      </m:sSubPr>
                      <m:e>
                        <m:r>
                          <a:rPr lang="en-US" altLang="en-US" sz="2000" i="1">
                            <a:solidFill>
                              <a:schemeClr val="tx1"/>
                            </a:solidFill>
                            <a:latin typeface="Cambria Math" panose="02040503050406030204" pitchFamily="18" charset="0"/>
                            <a:ea typeface="ＭＳ Ｐゴシック" panose="020B0600070205080204" pitchFamily="34" charset="-128"/>
                          </a:rPr>
                          <m:t>𝑋</m:t>
                        </m:r>
                      </m:e>
                      <m:sub>
                        <m:r>
                          <a:rPr lang="en-US" altLang="en-US" sz="2000" b="0" i="1" smtClean="0">
                            <a:solidFill>
                              <a:schemeClr val="tx1"/>
                            </a:solidFill>
                            <a:latin typeface="Cambria Math" panose="02040503050406030204" pitchFamily="18" charset="0"/>
                            <a:ea typeface="ＭＳ Ｐゴシック" panose="020B0600070205080204" pitchFamily="34" charset="-128"/>
                          </a:rPr>
                          <m:t>𝑛</m:t>
                        </m:r>
                      </m:sub>
                    </m:sSub>
                  </m:oMath>
                </a14:m>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p>
              <a:p>
                <a:pPr lvl="1" eaLnBrk="1" hangingPunct="1">
                  <a:lnSpc>
                    <a:spcPct val="90000"/>
                  </a:lnSpc>
                </a:pP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What is the relationship between </a:t>
                </a:r>
                <a:r>
                  <a:rPr lang="en-US" altLang="en-US" sz="2000"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sz="2000"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X’</a:t>
                </a: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s </a:t>
                </a:r>
                <a:r>
                  <a:rPr lang="en-US" altLang="en-US" sz="2000"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on average</a:t>
                </a: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a:t>
                </a:r>
              </a:p>
              <a:p>
                <a:pPr lvl="2"/>
                <a:r>
                  <a:rPr lang="en-US" altLang="en-US"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Regression draws a single line of best fit through a set of data points. This line represents what usually happens in the average case.</a:t>
                </a:r>
              </a:p>
              <a:p>
                <a:pPr lvl="2" eaLnBrk="1" hangingPunct="1">
                  <a:lnSpc>
                    <a:spcPct val="90000"/>
                  </a:lnSpc>
                </a:pPr>
                <a:r>
                  <a:rPr lang="en-US" altLang="en-US"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Regression “models” this as a line using two parameters</a:t>
                </a:r>
              </a:p>
              <a:p>
                <a:pPr lvl="3"/>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“Slope”—size, direction (slope=0 corresponds to “no association”)</a:t>
                </a:r>
              </a:p>
              <a:p>
                <a:pPr lvl="3"/>
                <a:r>
                  <a:rPr lang="en-US" altLang="en-US" sz="2000" dirty="0">
                    <a:latin typeface="Arial" panose="020B0604020202020204" pitchFamily="34" charset="0"/>
                    <a:ea typeface="ＭＳ Ｐゴシック" panose="020B0600070205080204" pitchFamily="34" charset="-128"/>
                    <a:cs typeface="Arial" panose="020B0604020202020204" pitchFamily="34" charset="0"/>
                  </a:rPr>
                  <a:t>Intercept</a:t>
                </a:r>
                <a:endPar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a:p>
                <a:pPr lvl="1" eaLnBrk="1" hangingPunct="1">
                  <a:lnSpc>
                    <a:spcPct val="90000"/>
                  </a:lnSpc>
                </a:pP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How precisely can we predict a </a:t>
                </a:r>
                <a:r>
                  <a:rPr lang="en-US" altLang="en-US" sz="2000"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Y, or model the relationship between X and Y,</a:t>
                </a:r>
                <a:r>
                  <a:rPr lang="en-US" altLang="en-US"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conditional on certain values of the independent variables?</a:t>
                </a:r>
                <a:endParaRPr lang="en-US" sz="2000" dirty="0">
                  <a:solidFill>
                    <a:schemeClr val="tx1"/>
                  </a:solidFill>
                  <a:latin typeface="Arial" panose="020B0604020202020204" pitchFamily="34" charset="0"/>
                  <a:cs typeface="Arial" panose="020B0604020202020204" pitchFamily="34" charset="0"/>
                </a:endParaRPr>
              </a:p>
            </p:txBody>
          </p:sp>
        </mc:Choice>
        <mc:Fallback xmlns="">
          <p:sp>
            <p:nvSpPr>
              <p:cNvPr id="10" name="Content Placeholder 9">
                <a:extLst>
                  <a:ext uri="{FF2B5EF4-FFF2-40B4-BE49-F238E27FC236}">
                    <a16:creationId xmlns:a16="http://schemas.microsoft.com/office/drawing/2014/main" id="{245968FD-F5FB-4A28-843F-9E4EE7202D2C}"/>
                  </a:ext>
                </a:extLst>
              </p:cNvPr>
              <p:cNvSpPr>
                <a:spLocks noGrp="1" noRot="1" noChangeAspect="1" noMove="1" noResize="1" noEditPoints="1" noAdjustHandles="1" noChangeArrowheads="1" noChangeShapeType="1" noTextEdit="1"/>
              </p:cNvSpPr>
              <p:nvPr>
                <p:ph idx="1"/>
              </p:nvPr>
            </p:nvSpPr>
            <p:spPr>
              <a:xfrm>
                <a:off x="193308" y="1353987"/>
                <a:ext cx="10515600" cy="4351338"/>
              </a:xfrm>
              <a:blipFill>
                <a:blip r:embed="rId3"/>
                <a:stretch>
                  <a:fillRect l="-522" t="-1261" r="-1043"/>
                </a:stretch>
              </a:blipFill>
            </p:spPr>
            <p:txBody>
              <a:bodyPr/>
              <a:lstStyle/>
              <a:p>
                <a:r>
                  <a:rPr lang="en-US">
                    <a:noFill/>
                  </a:rPr>
                  <a:t> </a:t>
                </a:r>
              </a:p>
            </p:txBody>
          </p:sp>
        </mc:Fallback>
      </mc:AlternateContent>
    </p:spTree>
    <p:extLst>
      <p:ext uri="{BB962C8B-B14F-4D97-AF65-F5344CB8AC3E}">
        <p14:creationId xmlns:p14="http://schemas.microsoft.com/office/powerpoint/2010/main" val="316536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 calcmode="lin" valueType="num">
                                      <p:cBhvr additive="base">
                                        <p:cTn id="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 calcmode="lin" valueType="num">
                                      <p:cBhvr additive="base">
                                        <p:cTn id="31"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 calcmode="lin" valueType="num">
                                      <p:cBhvr additive="base">
                                        <p:cTn id="37"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D45F-FDBD-1DC1-00D6-8B9407166D3E}"/>
              </a:ext>
            </a:extLst>
          </p:cNvPr>
          <p:cNvSpPr>
            <a:spLocks noGrp="1"/>
          </p:cNvSpPr>
          <p:nvPr>
            <p:ph type="title" idx="4294967295"/>
          </p:nvPr>
        </p:nvSpPr>
        <p:spPr>
          <a:xfrm>
            <a:off x="258655" y="86628"/>
            <a:ext cx="10944225" cy="693019"/>
          </a:xfrm>
        </p:spPr>
        <p:txBody>
          <a:bodyPr>
            <a:normAutofit/>
          </a:bodyPr>
          <a:lstStyle/>
          <a:p>
            <a:r>
              <a:rPr lang="en-US" sz="3600" dirty="0">
                <a:latin typeface="Arial" panose="020B0604020202020204" pitchFamily="34" charset="0"/>
                <a:cs typeface="Arial" panose="020B0604020202020204" pitchFamily="34" charset="0"/>
              </a:rPr>
              <a:t>The functional form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A5AFB-48C0-DDE8-6162-C54194EDD7CE}"/>
                  </a:ext>
                </a:extLst>
              </p:cNvPr>
              <p:cNvSpPr>
                <a:spLocks noGrp="1"/>
              </p:cNvSpPr>
              <p:nvPr>
                <p:ph idx="4294967295"/>
              </p:nvPr>
            </p:nvSpPr>
            <p:spPr>
              <a:xfrm>
                <a:off x="258655" y="789272"/>
                <a:ext cx="11504821" cy="2319688"/>
              </a:xfrm>
            </p:spPr>
            <p:txBody>
              <a:bodyPr anchor="ctr">
                <a:normAutofit/>
              </a:bodyPr>
              <a:lstStyle/>
              <a:p>
                <a:pPr marL="0" indent="0">
                  <a:buNone/>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functional</a:t>
                </a:r>
                <a:r>
                  <a:rPr lang="en-US" sz="2000" dirty="0">
                    <a:latin typeface="Arial" panose="020B0604020202020204" pitchFamily="34" charset="0"/>
                    <a:cs typeface="Arial" panose="020B0604020202020204" pitchFamily="34" charset="0"/>
                  </a:rPr>
                  <a:t> relation between two variables is expressed by a mathematical formula.</a:t>
                </a:r>
              </a:p>
              <a:p>
                <a:pPr marL="0" indent="0">
                  <a:buNone/>
                </a:pPr>
                <a:r>
                  <a:rPr lang="en-US" sz="2000" dirty="0">
                    <a:latin typeface="Arial" panose="020B0604020202020204" pitchFamily="34" charset="0"/>
                    <a:cs typeface="Arial" panose="020B0604020202020204" pitchFamily="34" charset="0"/>
                  </a:rPr>
                  <a:t>The mathematical formula defines the functional form of the model (e.g., linear)</a:t>
                </a:r>
              </a:p>
              <a:p>
                <a:pPr marL="0" indent="0">
                  <a:buNone/>
                </a:pPr>
                <a:r>
                  <a:rPr lang="en-US" sz="2000" dirty="0">
                    <a:latin typeface="Arial" panose="020B0604020202020204" pitchFamily="34" charset="0"/>
                    <a:cs typeface="Arial" panose="020B0604020202020204" pitchFamily="34" charset="0"/>
                  </a:rPr>
                  <a:t>If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denotes the independent variable and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the dependent variable, a functional relation might be:</a:t>
                </a:r>
              </a:p>
              <a:p>
                <a:pPr marL="0" indent="0">
                  <a:buNone/>
                </a:pPr>
                <a:endParaRPr lang="en-US" sz="2000" b="0" i="1"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oMath>
                  </m:oMathPara>
                </a14:m>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rPr>
                  <a:t>given a value of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the function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defines the value of Y</a:t>
                </a:r>
              </a:p>
            </p:txBody>
          </p:sp>
        </mc:Choice>
        <mc:Fallback xmlns="">
          <p:sp>
            <p:nvSpPr>
              <p:cNvPr id="3" name="Content Placeholder 2">
                <a:extLst>
                  <a:ext uri="{FF2B5EF4-FFF2-40B4-BE49-F238E27FC236}">
                    <a16:creationId xmlns:a16="http://schemas.microsoft.com/office/drawing/2014/main" id="{D74A5AFB-48C0-DDE8-6162-C54194EDD7CE}"/>
                  </a:ext>
                </a:extLst>
              </p:cNvPr>
              <p:cNvSpPr>
                <a:spLocks noGrp="1" noRot="1" noChangeAspect="1" noMove="1" noResize="1" noEditPoints="1" noAdjustHandles="1" noChangeArrowheads="1" noChangeShapeType="1" noTextEdit="1"/>
              </p:cNvSpPr>
              <p:nvPr>
                <p:ph idx="4294967295"/>
              </p:nvPr>
            </p:nvSpPr>
            <p:spPr>
              <a:xfrm>
                <a:off x="258655" y="789272"/>
                <a:ext cx="11504821" cy="2319688"/>
              </a:xfrm>
              <a:blipFill>
                <a:blip r:embed="rId3"/>
                <a:stretch>
                  <a:fillRect l="-530" t="-787" b="-3412"/>
                </a:stretch>
              </a:blipFill>
            </p:spPr>
            <p:txBody>
              <a:bodyPr/>
              <a:lstStyle/>
              <a:p>
                <a:r>
                  <a:rPr lang="en-US">
                    <a:noFill/>
                  </a:rPr>
                  <a:t> </a:t>
                </a:r>
              </a:p>
            </p:txBody>
          </p:sp>
        </mc:Fallback>
      </mc:AlternateContent>
    </p:spTree>
    <p:extLst>
      <p:ext uri="{BB962C8B-B14F-4D97-AF65-F5344CB8AC3E}">
        <p14:creationId xmlns:p14="http://schemas.microsoft.com/office/powerpoint/2010/main" val="1801169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E81E55-DA43-E8EC-5578-C76DD4A5A20E}"/>
              </a:ext>
            </a:extLst>
          </p:cNvPr>
          <p:cNvSpPr txBox="1"/>
          <p:nvPr/>
        </p:nvSpPr>
        <p:spPr>
          <a:xfrm>
            <a:off x="492498" y="292784"/>
            <a:ext cx="11024907" cy="2554545"/>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Let's look at a pure functional relation. The rule is simple f(</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 X</a:t>
            </a:r>
            <a:r>
              <a:rPr lang="en-US" sz="2000" baseline="30000" dirty="0">
                <a:latin typeface="Arial" panose="020B0604020202020204" pitchFamily="34" charset="0"/>
                <a:cs typeface="Arial" panose="020B0604020202020204" pitchFamily="34" charset="0"/>
              </a:rPr>
              <a:t>2</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X = 2, Y = ?</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Is there any debate? Is there any uncertainty?</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 In a pure functional relationship, if you know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you know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perfectly, 100% of the time. It is Deterministic.</a:t>
            </a:r>
          </a:p>
        </p:txBody>
      </p:sp>
    </p:spTree>
    <p:extLst>
      <p:ext uri="{BB962C8B-B14F-4D97-AF65-F5344CB8AC3E}">
        <p14:creationId xmlns:p14="http://schemas.microsoft.com/office/powerpoint/2010/main" val="42167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anim calcmode="lin" valueType="num">
                                      <p:cBhvr additive="base">
                                        <p:cTn id="1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47AE4E-B337-AC11-E188-F74018FA079C}"/>
              </a:ext>
            </a:extLst>
          </p:cNvPr>
          <p:cNvSpPr txBox="1"/>
          <p:nvPr/>
        </p:nvSpPr>
        <p:spPr>
          <a:xfrm>
            <a:off x="295274" y="97671"/>
            <a:ext cx="10523245" cy="4247317"/>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deterministic</a:t>
            </a:r>
            <a:r>
              <a:rPr lang="en-US" dirty="0">
                <a:latin typeface="Arial" panose="020B0604020202020204" pitchFamily="34" charset="0"/>
                <a:cs typeface="Arial" panose="020B0604020202020204" pitchFamily="34" charset="0"/>
              </a:rPr>
              <a:t> relation means there is no random error (or "noise"), if you know the input, you can calculate the output with 100% accuracy, every single time.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Based on the data above, there is a perfectly deterministic relation between ACEs and Test Score. In the table, we see that Test Score is determined entirely by the ACEs variable.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Test Score = 200 X ACEs</a:t>
            </a:r>
          </a:p>
        </p:txBody>
      </p:sp>
      <p:graphicFrame>
        <p:nvGraphicFramePr>
          <p:cNvPr id="6" name="Table 4">
            <a:extLst>
              <a:ext uri="{FF2B5EF4-FFF2-40B4-BE49-F238E27FC236}">
                <a16:creationId xmlns:a16="http://schemas.microsoft.com/office/drawing/2014/main" id="{3C72AE42-0D1F-40FA-166C-5A0305EAC69C}"/>
              </a:ext>
            </a:extLst>
          </p:cNvPr>
          <p:cNvGraphicFramePr>
            <a:graphicFrameLocks noGrp="1"/>
          </p:cNvGraphicFramePr>
          <p:nvPr>
            <p:extLst>
              <p:ext uri="{D42A27DB-BD31-4B8C-83A1-F6EECF244321}">
                <p14:modId xmlns:p14="http://schemas.microsoft.com/office/powerpoint/2010/main" val="3244289667"/>
              </p:ext>
            </p:extLst>
          </p:nvPr>
        </p:nvGraphicFramePr>
        <p:xfrm>
          <a:off x="382479" y="777165"/>
          <a:ext cx="6192252" cy="2212439"/>
        </p:xfrm>
        <a:graphic>
          <a:graphicData uri="http://schemas.openxmlformats.org/drawingml/2006/table">
            <a:tbl>
              <a:tblPr firstRow="1" bandRow="1">
                <a:tableStyleId>{8EC20E35-A176-4012-BC5E-935CFFF8708E}</a:tableStyleId>
              </a:tblPr>
              <a:tblGrid>
                <a:gridCol w="2145948">
                  <a:extLst>
                    <a:ext uri="{9D8B030D-6E8A-4147-A177-3AD203B41FA5}">
                      <a16:colId xmlns:a16="http://schemas.microsoft.com/office/drawing/2014/main" val="923121989"/>
                    </a:ext>
                  </a:extLst>
                </a:gridCol>
                <a:gridCol w="2442701">
                  <a:extLst>
                    <a:ext uri="{9D8B030D-6E8A-4147-A177-3AD203B41FA5}">
                      <a16:colId xmlns:a16="http://schemas.microsoft.com/office/drawing/2014/main" val="2655415840"/>
                    </a:ext>
                  </a:extLst>
                </a:gridCol>
                <a:gridCol w="1603603">
                  <a:extLst>
                    <a:ext uri="{9D8B030D-6E8A-4147-A177-3AD203B41FA5}">
                      <a16:colId xmlns:a16="http://schemas.microsoft.com/office/drawing/2014/main" val="1785986915"/>
                    </a:ext>
                  </a:extLst>
                </a:gridCol>
              </a:tblGrid>
              <a:tr h="359732">
                <a:tc>
                  <a:txBody>
                    <a:bodyPr/>
                    <a:lstStyle/>
                    <a:p>
                      <a:pPr algn="ctr"/>
                      <a:r>
                        <a:rPr lang="en-US" sz="2000" dirty="0">
                          <a:latin typeface="Arial" panose="020B0604020202020204" pitchFamily="34" charset="0"/>
                          <a:cs typeface="Arial" panose="020B0604020202020204" pitchFamily="34" charset="0"/>
                        </a:rPr>
                        <a:t>Age</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ACEs</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Test Score</a:t>
                      </a:r>
                    </a:p>
                  </a:txBody>
                  <a:tcPr marL="167640" marR="167640" marT="83820" marB="83820" anchor="ctr"/>
                </a:tc>
                <a:extLst>
                  <a:ext uri="{0D108BD9-81ED-4DB2-BD59-A6C34878D82A}">
                    <a16:rowId xmlns:a16="http://schemas.microsoft.com/office/drawing/2014/main" val="4037410758"/>
                  </a:ext>
                </a:extLst>
              </a:tr>
              <a:tr h="435074">
                <a:tc>
                  <a:txBody>
                    <a:bodyPr/>
                    <a:lstStyle/>
                    <a:p>
                      <a:pPr algn="ctr"/>
                      <a:r>
                        <a:rPr lang="en-US" sz="2000" dirty="0">
                          <a:latin typeface="Arial" panose="020B0604020202020204" pitchFamily="34" charset="0"/>
                          <a:cs typeface="Arial" panose="020B0604020202020204" pitchFamily="34" charset="0"/>
                        </a:rPr>
                        <a:t>5</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7</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1400</a:t>
                      </a:r>
                    </a:p>
                  </a:txBody>
                  <a:tcPr marL="167640" marR="167640" marT="83820" marB="83820" anchor="ctr"/>
                </a:tc>
                <a:extLst>
                  <a:ext uri="{0D108BD9-81ED-4DB2-BD59-A6C34878D82A}">
                    <a16:rowId xmlns:a16="http://schemas.microsoft.com/office/drawing/2014/main" val="3989448968"/>
                  </a:ext>
                </a:extLst>
              </a:tr>
              <a:tr h="334109">
                <a:tc>
                  <a:txBody>
                    <a:bodyPr/>
                    <a:lstStyle/>
                    <a:p>
                      <a:pPr algn="ctr"/>
                      <a:r>
                        <a:rPr lang="en-US" sz="2000" dirty="0">
                          <a:latin typeface="Arial" panose="020B0604020202020204" pitchFamily="34" charset="0"/>
                          <a:cs typeface="Arial" panose="020B0604020202020204" pitchFamily="34" charset="0"/>
                        </a:rPr>
                        <a:t>10</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1</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200</a:t>
                      </a:r>
                    </a:p>
                  </a:txBody>
                  <a:tcPr marL="167640" marR="167640" marT="83820" marB="83820" anchor="ctr"/>
                </a:tc>
                <a:extLst>
                  <a:ext uri="{0D108BD9-81ED-4DB2-BD59-A6C34878D82A}">
                    <a16:rowId xmlns:a16="http://schemas.microsoft.com/office/drawing/2014/main" val="3282544168"/>
                  </a:ext>
                </a:extLst>
              </a:tr>
              <a:tr h="490319">
                <a:tc>
                  <a:txBody>
                    <a:bodyPr/>
                    <a:lstStyle/>
                    <a:p>
                      <a:pPr algn="ctr"/>
                      <a:r>
                        <a:rPr lang="en-US" sz="2000" dirty="0">
                          <a:latin typeface="Arial" panose="020B0604020202020204" pitchFamily="34" charset="0"/>
                          <a:cs typeface="Arial" panose="020B0604020202020204" pitchFamily="34" charset="0"/>
                        </a:rPr>
                        <a:t>20</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3</a:t>
                      </a:r>
                    </a:p>
                  </a:txBody>
                  <a:tcPr marL="167640" marR="167640" marT="83820" marB="83820" anchor="ctr"/>
                </a:tc>
                <a:tc>
                  <a:txBody>
                    <a:bodyPr/>
                    <a:lstStyle/>
                    <a:p>
                      <a:pPr algn="ctr"/>
                      <a:r>
                        <a:rPr lang="en-US" sz="2000" dirty="0">
                          <a:latin typeface="Arial" panose="020B0604020202020204" pitchFamily="34" charset="0"/>
                          <a:cs typeface="Arial" panose="020B0604020202020204" pitchFamily="34" charset="0"/>
                        </a:rPr>
                        <a:t>600</a:t>
                      </a:r>
                    </a:p>
                  </a:txBody>
                  <a:tcPr marL="167640" marR="167640" marT="83820" marB="83820" anchor="ctr"/>
                </a:tc>
                <a:extLst>
                  <a:ext uri="{0D108BD9-81ED-4DB2-BD59-A6C34878D82A}">
                    <a16:rowId xmlns:a16="http://schemas.microsoft.com/office/drawing/2014/main" val="2437323368"/>
                  </a:ext>
                </a:extLst>
              </a:tr>
            </a:tbl>
          </a:graphicData>
        </a:graphic>
      </p:graphicFrame>
      <p:sp>
        <p:nvSpPr>
          <p:cNvPr id="10" name="TextBox 9">
            <a:extLst>
              <a:ext uri="{FF2B5EF4-FFF2-40B4-BE49-F238E27FC236}">
                <a16:creationId xmlns:a16="http://schemas.microsoft.com/office/drawing/2014/main" id="{9CEEA395-4784-F44C-FECA-7955FDFFA4B1}"/>
              </a:ext>
            </a:extLst>
          </p:cNvPr>
          <p:cNvSpPr txBox="1"/>
          <p:nvPr/>
        </p:nvSpPr>
        <p:spPr>
          <a:xfrm>
            <a:off x="208647" y="4520820"/>
            <a:ext cx="10906125"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Why is this "Deterministic" vs. "Stochastic"?</a:t>
            </a:r>
          </a:p>
          <a:p>
            <a:r>
              <a:rPr lang="en-US" dirty="0">
                <a:latin typeface="Arial" panose="020B0604020202020204" pitchFamily="34" charset="0"/>
                <a:cs typeface="Arial" panose="020B0604020202020204" pitchFamily="34" charset="0"/>
              </a:rPr>
              <a:t>In a standard regression (stochastic), we include an error term to represent the "messiness" of real life.</a:t>
            </a:r>
          </a:p>
        </p:txBody>
      </p:sp>
    </p:spTree>
    <p:extLst>
      <p:ext uri="{BB962C8B-B14F-4D97-AF65-F5344CB8AC3E}">
        <p14:creationId xmlns:p14="http://schemas.microsoft.com/office/powerpoint/2010/main" val="853691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C5AB-EB0B-6198-C1B0-0EC3C71CDDDB}"/>
              </a:ext>
            </a:extLst>
          </p:cNvPr>
          <p:cNvSpPr>
            <a:spLocks noGrp="1"/>
          </p:cNvSpPr>
          <p:nvPr>
            <p:ph type="title" idx="4294967295"/>
          </p:nvPr>
        </p:nvSpPr>
        <p:spPr>
          <a:xfrm>
            <a:off x="131232" y="144642"/>
            <a:ext cx="10808231" cy="742950"/>
          </a:xfrm>
        </p:spPr>
        <p:txBody>
          <a:bodyPr>
            <a:normAutofit/>
          </a:bodyPr>
          <a:lstStyle/>
          <a:p>
            <a:r>
              <a:rPr lang="en-US" sz="3600" dirty="0">
                <a:latin typeface="Arial" panose="020B0604020202020204" pitchFamily="34" charset="0"/>
                <a:cs typeface="Arial" panose="020B0604020202020204" pitchFamily="34" charset="0"/>
              </a:rPr>
              <a:t>Statistical relationship between 2 Variables</a:t>
            </a:r>
          </a:p>
        </p:txBody>
      </p:sp>
      <p:sp>
        <p:nvSpPr>
          <p:cNvPr id="3" name="Content Placeholder 2">
            <a:extLst>
              <a:ext uri="{FF2B5EF4-FFF2-40B4-BE49-F238E27FC236}">
                <a16:creationId xmlns:a16="http://schemas.microsoft.com/office/drawing/2014/main" id="{35A0BD62-A8AA-9E6B-B7B1-BA9F46240480}"/>
              </a:ext>
            </a:extLst>
          </p:cNvPr>
          <p:cNvSpPr>
            <a:spLocks noGrp="1"/>
          </p:cNvSpPr>
          <p:nvPr>
            <p:ph idx="4294967295"/>
          </p:nvPr>
        </p:nvSpPr>
        <p:spPr>
          <a:xfrm>
            <a:off x="7950994" y="969963"/>
            <a:ext cx="3852599" cy="2344737"/>
          </a:xfrm>
        </p:spPr>
        <p:txBody>
          <a:bodyPr anchor="ctr">
            <a:normAutofit lnSpcReduction="10000"/>
          </a:bodyPr>
          <a:lstStyle/>
          <a:p>
            <a:r>
              <a:rPr lang="en-US" sz="2000" dirty="0">
                <a:latin typeface="Arial" panose="020B0604020202020204" pitchFamily="34" charset="0"/>
                <a:cs typeface="Arial" panose="020B0604020202020204" pitchFamily="34" charset="0"/>
              </a:rPr>
              <a:t>A stochastic relation, unlike a deterministic relation, is not a perfect one</a:t>
            </a:r>
          </a:p>
          <a:p>
            <a:r>
              <a:rPr lang="en-US" sz="2000" dirty="0">
                <a:latin typeface="Arial" panose="020B0604020202020204" pitchFamily="34" charset="0"/>
                <a:cs typeface="Arial" panose="020B0604020202020204" pitchFamily="34" charset="0"/>
              </a:rPr>
              <a:t>The observations for a statistical relation do not fall directly on the curve of the relationship</a:t>
            </a:r>
          </a:p>
          <a:p>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X) + error</a:t>
            </a:r>
          </a:p>
        </p:txBody>
      </p:sp>
      <p:pic>
        <p:nvPicPr>
          <p:cNvPr id="4" name="Content Placeholder 11" descr="Chart, line chart, scatter chart&#10;&#10;Description automatically generated">
            <a:extLst>
              <a:ext uri="{FF2B5EF4-FFF2-40B4-BE49-F238E27FC236}">
                <a16:creationId xmlns:a16="http://schemas.microsoft.com/office/drawing/2014/main" id="{E7E7EDA6-B8A0-8BBB-6C77-F07441F80C4F}"/>
              </a:ext>
            </a:extLst>
          </p:cNvPr>
          <p:cNvPicPr>
            <a:picLocks noChangeAspect="1"/>
          </p:cNvPicPr>
          <p:nvPr/>
        </p:nvPicPr>
        <p:blipFill rotWithShape="1">
          <a:blip r:embed="rId3"/>
          <a:srcRect b="9672"/>
          <a:stretch/>
        </p:blipFill>
        <p:spPr>
          <a:xfrm>
            <a:off x="131232" y="887592"/>
            <a:ext cx="7056669" cy="4143194"/>
          </a:xfrm>
          <a:prstGeom prst="rect">
            <a:avLst/>
          </a:prstGeom>
          <a:noFill/>
          <a:effectLst/>
        </p:spPr>
      </p:pic>
    </p:spTree>
    <p:extLst>
      <p:ext uri="{BB962C8B-B14F-4D97-AF65-F5344CB8AC3E}">
        <p14:creationId xmlns:p14="http://schemas.microsoft.com/office/powerpoint/2010/main" val="522085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6968436" y="3182692"/>
                <a:ext cx="3388993" cy="2052239"/>
              </a:xfrm>
              <a:ln>
                <a:noFill/>
              </a:ln>
            </p:spPr>
            <p:txBody>
              <a:bodyPr>
                <a:normAutofit/>
              </a:bodyPr>
              <a:lstStyle/>
              <a:p>
                <a:pPr marL="0" indent="0">
                  <a:lnSpc>
                    <a:spcPct val="90000"/>
                  </a:lnSpc>
                  <a:buNone/>
                </a:pPr>
                <a:r>
                  <a:rPr lang="en-US" altLang="en-US" sz="1800" dirty="0">
                    <a:latin typeface="Arial" panose="020B0604020202020204" pitchFamily="34" charset="0"/>
                    <a:cs typeface="Arial" panose="020B0604020202020204" pitchFamily="34" charset="0"/>
                  </a:rPr>
                  <a:t>The first-order linear model</a:t>
                </a:r>
              </a:p>
              <a:p>
                <a:pPr lvl="1">
                  <a:lnSpc>
                    <a:spcPct val="90000"/>
                  </a:lnSpc>
                  <a:buFontTx/>
                  <a:buNone/>
                </a:pPr>
                <a:r>
                  <a:rPr lang="en-US" altLang="en-US" sz="1800" i="1" dirty="0">
                    <a:latin typeface="Arial" panose="020B0604020202020204" pitchFamily="34" charset="0"/>
                    <a:cs typeface="Arial" panose="020B0604020202020204" pitchFamily="34" charset="0"/>
                  </a:rPr>
                  <a:t>Y</a:t>
                </a:r>
                <a:r>
                  <a:rPr lang="en-US" altLang="en-US" sz="1800" dirty="0">
                    <a:latin typeface="Arial" panose="020B0604020202020204" pitchFamily="34" charset="0"/>
                    <a:cs typeface="Arial" panose="020B0604020202020204" pitchFamily="34" charset="0"/>
                  </a:rPr>
                  <a:t> = dependent variable</a:t>
                </a:r>
              </a:p>
              <a:p>
                <a:pPr lvl="1">
                  <a:lnSpc>
                    <a:spcPct val="90000"/>
                  </a:lnSpc>
                  <a:buFontTx/>
                  <a:buNone/>
                </a:pPr>
                <a:r>
                  <a:rPr lang="en-US" altLang="en-US" sz="1800" i="1" dirty="0">
                    <a:latin typeface="Arial" panose="020B0604020202020204" pitchFamily="34" charset="0"/>
                    <a:cs typeface="Arial" panose="020B0604020202020204" pitchFamily="34" charset="0"/>
                  </a:rPr>
                  <a:t>X</a:t>
                </a:r>
                <a:r>
                  <a:rPr lang="en-US" altLang="en-US" sz="1800" dirty="0">
                    <a:latin typeface="Arial" panose="020B0604020202020204" pitchFamily="34" charset="0"/>
                    <a:cs typeface="Arial" panose="020B0604020202020204" pitchFamily="34" charset="0"/>
                  </a:rPr>
                  <a:t> = independent variable</a:t>
                </a:r>
              </a:p>
              <a:p>
                <a:pPr lvl="1">
                  <a:buNone/>
                </a:pPr>
                <a14:m>
                  <m:oMath xmlns:m="http://schemas.openxmlformats.org/officeDocument/2006/math">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𝛽</m:t>
                        </m:r>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 </m:t>
                    </m:r>
                  </m:oMath>
                </a14:m>
                <a:r>
                  <a:rPr lang="en-US" altLang="en-US" sz="1800" dirty="0">
                    <a:latin typeface="Arial" panose="020B0604020202020204" pitchFamily="34" charset="0"/>
                    <a:cs typeface="Arial" panose="020B0604020202020204" pitchFamily="34" charset="0"/>
                  </a:rPr>
                  <a:t>= Y-intercept</a:t>
                </a:r>
              </a:p>
              <a:p>
                <a:pPr lvl="1">
                  <a:buNone/>
                </a:pPr>
                <a14:m>
                  <m:oMath xmlns:m="http://schemas.openxmlformats.org/officeDocument/2006/math">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𝛽</m:t>
                        </m:r>
                      </m:e>
                      <m:sub>
                        <m:r>
                          <a:rPr lang="en-US" sz="1800" i="1">
                            <a:solidFill>
                              <a:srgbClr val="000000"/>
                            </a:solidFill>
                            <a:latin typeface="Cambria Math" panose="02040503050406030204" pitchFamily="18" charset="0"/>
                          </a:rPr>
                          <m:t>1</m:t>
                        </m:r>
                      </m:sub>
                    </m:sSub>
                  </m:oMath>
                </a14:m>
                <a:r>
                  <a:rPr lang="en-US" altLang="en-US" sz="1800" dirty="0">
                    <a:latin typeface="Arial" panose="020B0604020202020204" pitchFamily="34" charset="0"/>
                    <a:cs typeface="Arial" panose="020B0604020202020204" pitchFamily="34" charset="0"/>
                  </a:rPr>
                  <a:t> = slope of the line</a:t>
                </a:r>
              </a:p>
              <a:p>
                <a:pPr lvl="1">
                  <a:buNone/>
                </a:pPr>
                <a14:m>
                  <m:oMath xmlns:m="http://schemas.openxmlformats.org/officeDocument/2006/math">
                    <m:r>
                      <a:rPr lang="en-US" sz="1800" i="1">
                        <a:solidFill>
                          <a:srgbClr val="000000"/>
                        </a:solidFill>
                        <a:latin typeface="Cambria Math" panose="02040503050406030204" pitchFamily="18" charset="0"/>
                      </a:rPr>
                      <m:t>𝜀</m:t>
                    </m:r>
                  </m:oMath>
                </a14:m>
                <a:r>
                  <a:rPr lang="en-US" altLang="en-US" sz="1800" dirty="0">
                    <a:latin typeface="Arial" panose="020B0604020202020204" pitchFamily="34" charset="0"/>
                    <a:cs typeface="Arial" panose="020B0604020202020204" pitchFamily="34" charset="0"/>
                  </a:rPr>
                  <a:t>/e = error variable</a:t>
                </a:r>
              </a:p>
            </p:txBody>
          </p:sp>
        </mc:Choice>
        <mc:Fallback xmlns="">
          <p:sp>
            <p:nvSpPr>
              <p:cNvPr id="5123" name="Rectangle 3">
                <a:extLst>
                  <a:ext uri="{FF2B5EF4-FFF2-40B4-BE49-F238E27FC236}">
                    <a16:creationId xmlns:a16="http://schemas.microsoft.com/office/drawing/2014/main" id="{3AB8544D-C554-42E4-9EFA-0D06D3EFB969}"/>
                  </a:ext>
                </a:extLst>
              </p:cNvPr>
              <p:cNvSpPr>
                <a:spLocks noGrp="1" noRot="1" noChangeAspect="1" noMove="1" noResize="1" noEditPoints="1" noAdjustHandles="1" noChangeArrowheads="1" noChangeShapeType="1" noTextEdit="1"/>
              </p:cNvSpPr>
              <p:nvPr>
                <p:ph type="body" idx="1"/>
              </p:nvPr>
            </p:nvSpPr>
            <p:spPr>
              <a:xfrm>
                <a:off x="6968436" y="3182692"/>
                <a:ext cx="3388993" cy="2052239"/>
              </a:xfrm>
              <a:blipFill>
                <a:blip r:embed="rId2"/>
                <a:stretch>
                  <a:fillRect l="-1439" t="-2671"/>
                </a:stretch>
              </a:blipFill>
              <a:ln>
                <a:noFill/>
              </a:ln>
            </p:spPr>
            <p:txBody>
              <a:bodyPr/>
              <a:lstStyle/>
              <a:p>
                <a:r>
                  <a:rPr lang="en-US">
                    <a:noFill/>
                  </a:rPr>
                  <a:t> </a:t>
                </a:r>
              </a:p>
            </p:txBody>
          </p:sp>
        </mc:Fallback>
      </mc:AlternateContent>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3850043" y="1899751"/>
            <a:ext cx="4964723" cy="4022061"/>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8918509" y="5690979"/>
            <a:ext cx="36580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prstClr val="black"/>
                </a:solidFill>
                <a:effectLst/>
                <a:uLnTx/>
                <a:uFillTx/>
                <a:latin typeface="Aptos" panose="02110004020202020204"/>
                <a:ea typeface="+mn-ea"/>
                <a:cs typeface="+mn-cs"/>
              </a:rPr>
              <a:t>X</a:t>
            </a:r>
          </a:p>
        </p:txBody>
      </p:sp>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3496544" y="3288010"/>
            <a:ext cx="35458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prstClr val="black"/>
                </a:solidFill>
                <a:effectLst/>
                <a:uLnTx/>
                <a:uFillTx/>
                <a:latin typeface="Aptos" panose="02110004020202020204"/>
                <a:ea typeface="+mn-ea"/>
                <a:cs typeface="+mn-cs"/>
              </a:rPr>
              <a:t>Y</a:t>
            </a: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3850043" y="2024262"/>
            <a:ext cx="4507519" cy="29792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3539679" y="4738484"/>
            <a:ext cx="385763"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Symbol" panose="05050102010706020507" pitchFamily="18" charset="2"/>
                <a:ea typeface="+mn-ea"/>
                <a:cs typeface="+mn-cs"/>
              </a:rPr>
              <a:t>b</a:t>
            </a:r>
            <a:r>
              <a:rPr kumimoji="0" lang="en-US" altLang="en-US" sz="1800" b="0" i="0" u="none" strike="noStrike" kern="1200" cap="none" spc="0" normalizeH="0" baseline="-25000" noProof="0" dirty="0">
                <a:ln>
                  <a:noFill/>
                </a:ln>
                <a:solidFill>
                  <a:prstClr val="black"/>
                </a:solidFill>
                <a:effectLst/>
                <a:uLnTx/>
                <a:uFillTx/>
                <a:latin typeface="Times New Roman" panose="02020603050405020304" pitchFamily="18" charset="0"/>
                <a:ea typeface="+mn-ea"/>
                <a:cs typeface="+mn-cs"/>
              </a:rPr>
              <a:t>0</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4251165" y="4330224"/>
            <a:ext cx="685800" cy="457200"/>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4290968" y="4774127"/>
            <a:ext cx="582211"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ptos" panose="02110004020202020204"/>
                <a:ea typeface="+mn-ea"/>
                <a:cs typeface="+mn-cs"/>
              </a:rPr>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4889799" y="4404795"/>
            <a:ext cx="612668"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ptos" panose="02110004020202020204"/>
                <a:ea typeface="+mn-ea"/>
                <a:cs typeface="+mn-cs"/>
              </a:rPr>
              <a:t>Rise</a:t>
            </a:r>
          </a:p>
        </p:txBody>
      </p:sp>
      <p:sp>
        <p:nvSpPr>
          <p:cNvPr id="5136" name="Text Box 16">
            <a:extLst>
              <a:ext uri="{FF2B5EF4-FFF2-40B4-BE49-F238E27FC236}">
                <a16:creationId xmlns:a16="http://schemas.microsoft.com/office/drawing/2014/main" id="{45030B29-F80D-4506-8FDF-6BFFF304252A}"/>
              </a:ext>
            </a:extLst>
          </p:cNvPr>
          <p:cNvSpPr txBox="1">
            <a:spLocks noChangeArrowheads="1"/>
          </p:cNvSpPr>
          <p:nvPr/>
        </p:nvSpPr>
        <p:spPr bwMode="auto">
          <a:xfrm rot="19766849">
            <a:off x="3935136" y="4047714"/>
            <a:ext cx="1505797"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Symbol" panose="05050102010706020507" pitchFamily="18" charset="2"/>
                <a:ea typeface="+mn-ea"/>
                <a:cs typeface="+mn-cs"/>
              </a:rPr>
              <a:t>b</a:t>
            </a:r>
            <a:r>
              <a:rPr kumimoji="0" lang="en-US" altLang="en-US" sz="1800" b="0" i="0" u="none" strike="noStrike" kern="1200" cap="none" spc="0" normalizeH="0" baseline="-25000" noProof="0" dirty="0">
                <a:ln>
                  <a:noFill/>
                </a:ln>
                <a:solidFill>
                  <a:prstClr val="black"/>
                </a:solidFill>
                <a:effectLst/>
                <a:uLnTx/>
                <a:uFillTx/>
                <a:latin typeface="Symbol" panose="05050102010706020507" pitchFamily="18" charset="2"/>
                <a:ea typeface="+mn-ea"/>
                <a:cs typeface="+mn-cs"/>
              </a:rPr>
              <a:t>1</a:t>
            </a:r>
            <a:r>
              <a:rPr kumimoji="0" lang="en-US" altLang="en-US" sz="1800" b="0" i="0" u="none" strike="noStrike" kern="1200" cap="none" spc="0" normalizeH="0" baseline="0" noProof="0" dirty="0">
                <a:ln>
                  <a:noFill/>
                </a:ln>
                <a:solidFill>
                  <a:prstClr val="black"/>
                </a:solidFill>
                <a:effectLst/>
                <a:uLnTx/>
                <a:uFillTx/>
                <a:latin typeface="Aptos" panose="02110004020202020204"/>
                <a:ea typeface="+mn-ea"/>
                <a:cs typeface="+mn-cs"/>
              </a:rPr>
              <a:t> = Rise/Run</a:t>
            </a:r>
          </a:p>
        </p:txBody>
      </p:sp>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E334A014-6370-478B-BED6-B83DFB7BE8BC}"/>
                  </a:ext>
                </a:extLst>
              </p:cNvPr>
              <p:cNvSpPr txBox="1">
                <a:spLocks noChangeArrowheads="1"/>
              </p:cNvSpPr>
              <p:nvPr/>
            </p:nvSpPr>
            <p:spPr bwMode="auto">
              <a:xfrm>
                <a:off x="3509858" y="705356"/>
                <a:ext cx="5774457" cy="1015663"/>
              </a:xfrm>
              <a:prstGeom prst="rect">
                <a:avLst/>
              </a:prstGeom>
              <a:noFill/>
              <a:ln w="9525">
                <a:solidFill>
                  <a:schemeClr val="tx1"/>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pPr lvl="0">
                  <a:defRPr/>
                </a:pPr>
                <a14:m>
                  <m:oMath xmlns:m="http://schemas.openxmlformats.org/officeDocument/2006/math">
                    <m:r>
                      <m:rPr>
                        <m:nor/>
                      </m:rPr>
                      <a:rPr lang="en-US" altLang="en-US" sz="2000" dirty="0">
                        <a:solidFill>
                          <a:prstClr val="black"/>
                        </a:solidFill>
                        <a:latin typeface="Arial" panose="020B0604020202020204" pitchFamily="34" charset="0"/>
                        <a:cs typeface="Arial" panose="020B0604020202020204" pitchFamily="34" charset="0"/>
                      </a:rPr>
                      <m:t>In</m:t>
                    </m:r>
                    <m:r>
                      <m:rPr>
                        <m:nor/>
                      </m:rPr>
                      <a:rPr lang="en-US" altLang="en-US" sz="2000" dirty="0">
                        <a:solidFill>
                          <a:prstClr val="black"/>
                        </a:solidFill>
                        <a:latin typeface="Arial" panose="020B0604020202020204" pitchFamily="34" charset="0"/>
                        <a:cs typeface="Arial" panose="020B0604020202020204" pitchFamily="34" charset="0"/>
                      </a:rPr>
                      <m:t> </m:t>
                    </m:r>
                    <m:r>
                      <m:rPr>
                        <m:nor/>
                      </m:rPr>
                      <a:rPr lang="en-US" altLang="en-US" sz="2000" dirty="0">
                        <a:solidFill>
                          <a:prstClr val="black"/>
                        </a:solidFill>
                        <a:latin typeface="Arial" panose="020B0604020202020204" pitchFamily="34" charset="0"/>
                        <a:cs typeface="Arial" panose="020B0604020202020204" pitchFamily="34" charset="0"/>
                      </a:rPr>
                      <m:t>a</m:t>
                    </m:r>
                    <m:r>
                      <m:rPr>
                        <m:nor/>
                      </m:rPr>
                      <a:rPr lang="en-US" altLang="en-US" sz="2000" dirty="0">
                        <a:solidFill>
                          <a:prstClr val="black"/>
                        </a:solidFill>
                        <a:latin typeface="Arial" panose="020B0604020202020204" pitchFamily="34" charset="0"/>
                        <a:cs typeface="Arial" panose="020B0604020202020204" pitchFamily="34" charset="0"/>
                      </a:rPr>
                      <m:t> </m:t>
                    </m:r>
                    <m:r>
                      <m:rPr>
                        <m:nor/>
                      </m:rPr>
                      <a:rPr lang="en-US" altLang="en-US" sz="2000" dirty="0">
                        <a:solidFill>
                          <a:prstClr val="black"/>
                        </a:solidFill>
                        <a:latin typeface="Arial" panose="020B0604020202020204" pitchFamily="34" charset="0"/>
                        <a:cs typeface="Arial" panose="020B0604020202020204" pitchFamily="34" charset="0"/>
                      </a:rPr>
                      <m:t>stochastic</m:t>
                    </m:r>
                    <m:r>
                      <m:rPr>
                        <m:nor/>
                      </m:rPr>
                      <a:rPr lang="en-US" altLang="en-US" sz="2000" dirty="0">
                        <a:solidFill>
                          <a:prstClr val="black"/>
                        </a:solidFill>
                        <a:latin typeface="Arial" panose="020B0604020202020204" pitchFamily="34" charset="0"/>
                        <a:cs typeface="Arial" panose="020B0604020202020204" pitchFamily="34" charset="0"/>
                      </a:rPr>
                      <m:t> </m:t>
                    </m:r>
                    <m:r>
                      <m:rPr>
                        <m:nor/>
                      </m:rPr>
                      <a:rPr lang="en-US" altLang="en-US" sz="2000" dirty="0">
                        <a:solidFill>
                          <a:prstClr val="black"/>
                        </a:solidFill>
                        <a:latin typeface="Arial" panose="020B0604020202020204" pitchFamily="34" charset="0"/>
                        <a:cs typeface="Arial" panose="020B0604020202020204" pitchFamily="34" charset="0"/>
                      </a:rPr>
                      <m:t>model</m:t>
                    </m:r>
                    <m:r>
                      <m:rPr>
                        <m:nor/>
                      </m:rPr>
                      <a:rPr lang="en-US" altLang="en-US" sz="2000" dirty="0">
                        <a:solidFill>
                          <a:prstClr val="black"/>
                        </a:solidFill>
                        <a:latin typeface="Arial" panose="020B0604020202020204" pitchFamily="34" charset="0"/>
                        <a:cs typeface="Arial" panose="020B0604020202020204" pitchFamily="34" charset="0"/>
                      </a:rPr>
                      <m:t>, </m:t>
                    </m:r>
                    <m:sSub>
                      <m:sSubPr>
                        <m:ctrlPr>
                          <a:rPr lang="en-US" sz="2000" i="1" smtClean="0">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𝛽</m:t>
                        </m:r>
                      </m:e>
                      <m:sub>
                        <m:r>
                          <a:rPr lang="en-US" sz="2000" i="1">
                            <a:solidFill>
                              <a:srgbClr val="000000"/>
                            </a:solidFill>
                            <a:latin typeface="Cambria Math" panose="02040503050406030204" pitchFamily="18" charset="0"/>
                          </a:rPr>
                          <m:t>0</m:t>
                        </m:r>
                      </m:sub>
                    </m:sSub>
                  </m:oMath>
                </a14:m>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and </a:t>
                </a:r>
                <a14:m>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𝛽</m:t>
                        </m:r>
                      </m:e>
                      <m:sub>
                        <m:r>
                          <a:rPr lang="en-US" sz="2000" i="1">
                            <a:solidFill>
                              <a:srgbClr val="000000"/>
                            </a:solidFill>
                            <a:latin typeface="Cambria Math" panose="02040503050406030204" pitchFamily="18" charset="0"/>
                          </a:rPr>
                          <m:t>1</m:t>
                        </m:r>
                      </m:sub>
                    </m:sSub>
                  </m:oMath>
                </a14:m>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are unknown population parameters, therefore are estimated from the data.</a:t>
                </a:r>
              </a:p>
            </p:txBody>
          </p:sp>
        </mc:Choice>
        <mc:Fallback xmlns="">
          <p:sp>
            <p:nvSpPr>
              <p:cNvPr id="5138" name="Text Box 18">
                <a:extLst>
                  <a:ext uri="{FF2B5EF4-FFF2-40B4-BE49-F238E27FC236}">
                    <a16:creationId xmlns:a16="http://schemas.microsoft.com/office/drawing/2014/main" id="{E334A014-6370-478B-BED6-B83DFB7BE8BC}"/>
                  </a:ext>
                </a:extLst>
              </p:cNvPr>
              <p:cNvSpPr txBox="1">
                <a:spLocks noRot="1" noChangeAspect="1" noMove="1" noResize="1" noEditPoints="1" noAdjustHandles="1" noChangeArrowheads="1" noChangeShapeType="1" noTextEdit="1"/>
              </p:cNvSpPr>
              <p:nvPr/>
            </p:nvSpPr>
            <p:spPr bwMode="auto">
              <a:xfrm>
                <a:off x="3509858" y="705356"/>
                <a:ext cx="5774457" cy="1015663"/>
              </a:xfrm>
              <a:prstGeom prst="rect">
                <a:avLst/>
              </a:prstGeom>
              <a:blipFill>
                <a:blip r:embed="rId3"/>
                <a:stretch>
                  <a:fillRect l="-1054" t="-2381" b="-10119"/>
                </a:stretch>
              </a:blip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6C5AB07-5705-43EA-58BE-C7C6B50A7F1F}"/>
                  </a:ext>
                </a:extLst>
              </p:cNvPr>
              <p:cNvSpPr txBox="1"/>
              <p:nvPr/>
            </p:nvSpPr>
            <p:spPr>
              <a:xfrm>
                <a:off x="4836267" y="181435"/>
                <a:ext cx="251946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𝑌</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𝜀</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 name="TextBox 2">
                <a:extLst>
                  <a:ext uri="{FF2B5EF4-FFF2-40B4-BE49-F238E27FC236}">
                    <a16:creationId xmlns:a16="http://schemas.microsoft.com/office/drawing/2014/main" id="{16C5AB07-5705-43EA-58BE-C7C6B50A7F1F}"/>
                  </a:ext>
                </a:extLst>
              </p:cNvPr>
              <p:cNvSpPr txBox="1">
                <a:spLocks noRot="1" noChangeAspect="1" noMove="1" noResize="1" noEditPoints="1" noAdjustHandles="1" noChangeArrowheads="1" noChangeShapeType="1" noTextEdit="1"/>
              </p:cNvSpPr>
              <p:nvPr/>
            </p:nvSpPr>
            <p:spPr>
              <a:xfrm>
                <a:off x="4836267" y="181435"/>
                <a:ext cx="2519466" cy="461665"/>
              </a:xfrm>
              <a:prstGeom prst="rect">
                <a:avLst/>
              </a:prstGeom>
              <a:blipFill>
                <a:blip r:embed="rId4"/>
                <a:stretch>
                  <a:fillRect l="-483"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8BBAA98-E403-F20C-DC82-832E44959AB8}"/>
                  </a:ext>
                </a:extLst>
              </p:cNvPr>
              <p:cNvSpPr txBox="1"/>
              <p:nvPr/>
            </p:nvSpPr>
            <p:spPr>
              <a:xfrm rot="19640171">
                <a:off x="5501994" y="2644626"/>
                <a:ext cx="251946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𝑌</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 name="TextBox 1">
                <a:extLst>
                  <a:ext uri="{FF2B5EF4-FFF2-40B4-BE49-F238E27FC236}">
                    <a16:creationId xmlns:a16="http://schemas.microsoft.com/office/drawing/2014/main" id="{18BBAA98-E403-F20C-DC82-832E44959AB8}"/>
                  </a:ext>
                </a:extLst>
              </p:cNvPr>
              <p:cNvSpPr txBox="1">
                <a:spLocks noRot="1" noChangeAspect="1" noMove="1" noResize="1" noEditPoints="1" noAdjustHandles="1" noChangeArrowheads="1" noChangeShapeType="1" noTextEdit="1"/>
              </p:cNvSpPr>
              <p:nvPr/>
            </p:nvSpPr>
            <p:spPr>
              <a:xfrm rot="19640171">
                <a:off x="5501994" y="2644626"/>
                <a:ext cx="2519466" cy="46166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1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38"/>
                                        </p:tgtEl>
                                        <p:attrNameLst>
                                          <p:attrName>style.visibility</p:attrName>
                                        </p:attrNameLst>
                                      </p:cBhvr>
                                      <p:to>
                                        <p:strVal val="visible"/>
                                      </p:to>
                                    </p:set>
                                    <p:anim calcmode="lin" valueType="num">
                                      <p:cBhvr additive="base">
                                        <p:cTn id="7" dur="500" fill="hold"/>
                                        <p:tgtEl>
                                          <p:spTgt spid="5138"/>
                                        </p:tgtEl>
                                        <p:attrNameLst>
                                          <p:attrName>ppt_x</p:attrName>
                                        </p:attrNameLst>
                                      </p:cBhvr>
                                      <p:tavLst>
                                        <p:tav tm="0">
                                          <p:val>
                                            <p:strVal val="#ppt_x"/>
                                          </p:val>
                                        </p:tav>
                                        <p:tav tm="100000">
                                          <p:val>
                                            <p:strVal val="#ppt_x"/>
                                          </p:val>
                                        </p:tav>
                                      </p:tavLst>
                                    </p:anim>
                                    <p:anim calcmode="lin" valueType="num">
                                      <p:cBhvr additive="base">
                                        <p:cTn id="8" dur="500" fill="hold"/>
                                        <p:tgtEl>
                                          <p:spTgt spid="513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36"/>
                                        </p:tgtEl>
                                        <p:attrNameLst>
                                          <p:attrName>style.visibility</p:attrName>
                                        </p:attrNameLst>
                                      </p:cBhvr>
                                      <p:to>
                                        <p:strVal val="visible"/>
                                      </p:to>
                                    </p:set>
                                    <p:anim calcmode="lin" valueType="num">
                                      <p:cBhvr additive="base">
                                        <p:cTn id="11" dur="500" fill="hold"/>
                                        <p:tgtEl>
                                          <p:spTgt spid="5136"/>
                                        </p:tgtEl>
                                        <p:attrNameLst>
                                          <p:attrName>ppt_x</p:attrName>
                                        </p:attrNameLst>
                                      </p:cBhvr>
                                      <p:tavLst>
                                        <p:tav tm="0">
                                          <p:val>
                                            <p:strVal val="#ppt_x"/>
                                          </p:val>
                                        </p:tav>
                                        <p:tav tm="100000">
                                          <p:val>
                                            <p:strVal val="#ppt_x"/>
                                          </p:val>
                                        </p:tav>
                                      </p:tavLst>
                                    </p:anim>
                                    <p:anim calcmode="lin" valueType="num">
                                      <p:cBhvr additive="base">
                                        <p:cTn id="12" dur="500" fill="hold"/>
                                        <p:tgtEl>
                                          <p:spTgt spid="513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32"/>
                                        </p:tgtEl>
                                        <p:attrNameLst>
                                          <p:attrName>style.visibility</p:attrName>
                                        </p:attrNameLst>
                                      </p:cBhvr>
                                      <p:to>
                                        <p:strVal val="visible"/>
                                      </p:to>
                                    </p:set>
                                    <p:anim calcmode="lin" valueType="num">
                                      <p:cBhvr additive="base">
                                        <p:cTn id="15" dur="500" fill="hold"/>
                                        <p:tgtEl>
                                          <p:spTgt spid="5132"/>
                                        </p:tgtEl>
                                        <p:attrNameLst>
                                          <p:attrName>ppt_x</p:attrName>
                                        </p:attrNameLst>
                                      </p:cBhvr>
                                      <p:tavLst>
                                        <p:tav tm="0">
                                          <p:val>
                                            <p:strVal val="#ppt_x"/>
                                          </p:val>
                                        </p:tav>
                                        <p:tav tm="100000">
                                          <p:val>
                                            <p:strVal val="#ppt_x"/>
                                          </p:val>
                                        </p:tav>
                                      </p:tavLst>
                                    </p:anim>
                                    <p:anim calcmode="lin" valueType="num">
                                      <p:cBhvr additive="base">
                                        <p:cTn id="16" dur="500" fill="hold"/>
                                        <p:tgtEl>
                                          <p:spTgt spid="513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123">
                                            <p:txEl>
                                              <p:pRg st="0" end="0"/>
                                            </p:txEl>
                                          </p:spTgt>
                                        </p:tgtEl>
                                        <p:attrNameLst>
                                          <p:attrName>style.visibility</p:attrName>
                                        </p:attrNameLst>
                                      </p:cBhvr>
                                      <p:to>
                                        <p:strVal val="visible"/>
                                      </p:to>
                                    </p:set>
                                    <p:anim calcmode="lin" valueType="num">
                                      <p:cBhvr additive="base">
                                        <p:cTn id="23"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123">
                                            <p:txEl>
                                              <p:pRg st="1" end="1"/>
                                            </p:txEl>
                                          </p:spTgt>
                                        </p:tgtEl>
                                        <p:attrNameLst>
                                          <p:attrName>style.visibility</p:attrName>
                                        </p:attrNameLst>
                                      </p:cBhvr>
                                      <p:to>
                                        <p:strVal val="visible"/>
                                      </p:to>
                                    </p:set>
                                    <p:anim calcmode="lin" valueType="num">
                                      <p:cBhvr additive="base">
                                        <p:cTn id="27"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123">
                                            <p:txEl>
                                              <p:pRg st="2" end="2"/>
                                            </p:txEl>
                                          </p:spTgt>
                                        </p:tgtEl>
                                        <p:attrNameLst>
                                          <p:attrName>style.visibility</p:attrName>
                                        </p:attrNameLst>
                                      </p:cBhvr>
                                      <p:to>
                                        <p:strVal val="visible"/>
                                      </p:to>
                                    </p:set>
                                    <p:anim calcmode="lin" valueType="num">
                                      <p:cBhvr additive="base">
                                        <p:cTn id="31"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3">
                                            <p:txEl>
                                              <p:pRg st="2" end="2"/>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123">
                                            <p:txEl>
                                              <p:pRg st="3" end="3"/>
                                            </p:txEl>
                                          </p:spTgt>
                                        </p:tgtEl>
                                        <p:attrNameLst>
                                          <p:attrName>style.visibility</p:attrName>
                                        </p:attrNameLst>
                                      </p:cBhvr>
                                      <p:to>
                                        <p:strVal val="visible"/>
                                      </p:to>
                                    </p:set>
                                    <p:anim calcmode="lin" valueType="num">
                                      <p:cBhvr additive="base">
                                        <p:cTn id="35"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123">
                                            <p:txEl>
                                              <p:pRg st="4" end="4"/>
                                            </p:txEl>
                                          </p:spTgt>
                                        </p:tgtEl>
                                        <p:attrNameLst>
                                          <p:attrName>style.visibility</p:attrName>
                                        </p:attrNameLst>
                                      </p:cBhvr>
                                      <p:to>
                                        <p:strVal val="visible"/>
                                      </p:to>
                                    </p:set>
                                    <p:anim calcmode="lin" valueType="num">
                                      <p:cBhvr additive="base">
                                        <p:cTn id="39"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123">
                                            <p:txEl>
                                              <p:pRg st="5" end="5"/>
                                            </p:txEl>
                                          </p:spTgt>
                                        </p:tgtEl>
                                        <p:attrNameLst>
                                          <p:attrName>style.visibility</p:attrName>
                                        </p:attrNameLst>
                                      </p:cBhvr>
                                      <p:to>
                                        <p:strVal val="visible"/>
                                      </p:to>
                                    </p:set>
                                    <p:anim calcmode="lin" valueType="num">
                                      <p:cBhvr additive="base">
                                        <p:cTn id="43"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5132" grpId="0"/>
      <p:bldP spid="5136" grpId="0"/>
      <p:bldP spid="5138" grpId="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12"/>
          </p:nvPr>
        </p:nvSpPr>
        <p:spPr>
          <a:xfrm>
            <a:off x="8610600" y="6435779"/>
            <a:ext cx="2743200" cy="206267"/>
          </a:xfrm>
          <a:prstGeom prst="rect">
            <a:avLst/>
          </a:prstGeom>
        </p:spPr>
        <p:txBody>
          <a:bodyPr vert="horz" wrap="square" lIns="0" tIns="21392" rIns="0" bIns="0" rtlCol="0">
            <a:spAutoFit/>
          </a:bodyPr>
          <a:lstStyle/>
          <a:p>
            <a:pPr marL="74244" defTabSz="1812066">
              <a:spcBef>
                <a:spcPts val="168"/>
              </a:spcBef>
            </a:pPr>
            <a:r>
              <a:rPr kern="0" spc="-50" dirty="0">
                <a:solidFill>
                  <a:schemeClr val="tx1"/>
                </a:solidFill>
              </a:rPr>
              <a:t>27</a:t>
            </a:r>
          </a:p>
        </p:txBody>
      </p:sp>
      <p:sp>
        <p:nvSpPr>
          <p:cNvPr id="2" name="object 2"/>
          <p:cNvSpPr txBox="1">
            <a:spLocks noGrp="1"/>
          </p:cNvSpPr>
          <p:nvPr>
            <p:ph type="title" idx="4294967295"/>
          </p:nvPr>
        </p:nvSpPr>
        <p:spPr>
          <a:xfrm>
            <a:off x="228600" y="162727"/>
            <a:ext cx="8116503" cy="532905"/>
          </a:xfrm>
          <a:prstGeom prst="rect">
            <a:avLst/>
          </a:prstGeom>
        </p:spPr>
        <p:txBody>
          <a:bodyPr vert="horz" wrap="square" lIns="0" tIns="33975" rIns="0" bIns="0" rtlCol="0">
            <a:spAutoFit/>
          </a:bodyPr>
          <a:lstStyle/>
          <a:p>
            <a:pPr marL="25168">
              <a:spcBef>
                <a:spcPts val="268"/>
              </a:spcBef>
            </a:pPr>
            <a:r>
              <a:rPr sz="3600" dirty="0">
                <a:latin typeface="Arial" panose="020B0604020202020204" pitchFamily="34" charset="0"/>
                <a:cs typeface="Arial" panose="020B0604020202020204" pitchFamily="34" charset="0"/>
              </a:rPr>
              <a:t>Interpretation</a:t>
            </a:r>
            <a:r>
              <a:rPr sz="3600" spc="198"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of</a:t>
            </a:r>
            <a:r>
              <a:rPr sz="3600" spc="198"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slope</a:t>
            </a:r>
            <a:r>
              <a:rPr sz="3600" spc="208"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and</a:t>
            </a:r>
            <a:r>
              <a:rPr sz="3600" spc="198" dirty="0">
                <a:latin typeface="Arial" panose="020B0604020202020204" pitchFamily="34" charset="0"/>
                <a:cs typeface="Arial" panose="020B0604020202020204" pitchFamily="34" charset="0"/>
              </a:rPr>
              <a:t> </a:t>
            </a:r>
            <a:r>
              <a:rPr sz="3600" spc="-20" dirty="0">
                <a:latin typeface="Arial" panose="020B0604020202020204" pitchFamily="34" charset="0"/>
                <a:cs typeface="Arial" panose="020B0604020202020204" pitchFamily="34" charset="0"/>
              </a:rPr>
              <a:t>intercept</a:t>
            </a:r>
          </a:p>
        </p:txBody>
      </p:sp>
      <p:sp>
        <p:nvSpPr>
          <p:cNvPr id="3" name="object 3"/>
          <p:cNvSpPr txBox="1"/>
          <p:nvPr/>
        </p:nvSpPr>
        <p:spPr>
          <a:xfrm>
            <a:off x="430444" y="938692"/>
            <a:ext cx="4654920" cy="2512505"/>
          </a:xfrm>
          <a:prstGeom prst="rect">
            <a:avLst/>
          </a:prstGeom>
        </p:spPr>
        <p:txBody>
          <a:bodyPr vert="horz" wrap="square" lIns="0" tIns="11325" rIns="0" bIns="0" rtlCol="0">
            <a:spAutoFit/>
          </a:bodyPr>
          <a:lstStyle/>
          <a:p>
            <a:pPr marL="363672" marR="177432" indent="-339762" defTabSz="1812066">
              <a:spcBef>
                <a:spcPts val="89"/>
              </a:spcBef>
              <a:buClr>
                <a:srgbClr val="22373A"/>
              </a:buClr>
              <a:buFont typeface="Arial" panose="020B0604020202020204" pitchFamily="34" charset="0"/>
              <a:buChar char="•"/>
              <a:tabLst>
                <a:tab pos="296978" algn="l"/>
              </a:tabLst>
            </a:pPr>
            <a:r>
              <a:rPr sz="2000" b="1" i="1" kern="0" dirty="0">
                <a:latin typeface="Arial" panose="020B0604020202020204" pitchFamily="34" charset="0"/>
                <a:cs typeface="Arial" panose="020B0604020202020204" pitchFamily="34" charset="0"/>
              </a:rPr>
              <a:t>Intercept:</a:t>
            </a:r>
            <a:r>
              <a:rPr sz="2000" b="1" i="1" kern="0" spc="238" dirty="0">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When</a:t>
            </a:r>
            <a:r>
              <a:rPr sz="2000" kern="0" spc="109" dirty="0">
                <a:solidFill>
                  <a:srgbClr val="22373A"/>
                </a:solidFill>
                <a:latin typeface="Arial" panose="020B0604020202020204" pitchFamily="34" charset="0"/>
                <a:cs typeface="Arial" panose="020B0604020202020204" pitchFamily="34" charset="0"/>
              </a:rPr>
              <a:t> </a:t>
            </a:r>
            <a:r>
              <a:rPr lang="en-US" sz="2000" i="1" kern="0" dirty="0">
                <a:solidFill>
                  <a:srgbClr val="22373A"/>
                </a:solidFill>
                <a:latin typeface="Arial" panose="020B0604020202020204" pitchFamily="34" charset="0"/>
                <a:cs typeface="Arial" panose="020B0604020202020204" pitchFamily="34" charset="0"/>
              </a:rPr>
              <a:t>X</a:t>
            </a:r>
            <a:r>
              <a:rPr sz="2000" i="1" kern="0" spc="13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a:t>
            </a:r>
            <a:r>
              <a:rPr sz="2000" kern="0" spc="-10"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0,</a:t>
            </a:r>
            <a:r>
              <a:rPr sz="2000" kern="0" spc="99" dirty="0">
                <a:solidFill>
                  <a:srgbClr val="22373A"/>
                </a:solidFill>
                <a:latin typeface="Arial" panose="020B0604020202020204" pitchFamily="34" charset="0"/>
                <a:cs typeface="Arial" panose="020B0604020202020204" pitchFamily="34" charset="0"/>
              </a:rPr>
              <a:t> </a:t>
            </a:r>
            <a:r>
              <a:rPr lang="en-US" sz="2000" i="1" kern="0" dirty="0">
                <a:solidFill>
                  <a:srgbClr val="22373A"/>
                </a:solidFill>
                <a:latin typeface="Arial" panose="020B0604020202020204" pitchFamily="34" charset="0"/>
                <a:cs typeface="Arial" panose="020B0604020202020204" pitchFamily="34" charset="0"/>
              </a:rPr>
              <a:t>Y</a:t>
            </a:r>
            <a:r>
              <a:rPr sz="2000" i="1" kern="0" spc="99" dirty="0">
                <a:solidFill>
                  <a:srgbClr val="22373A"/>
                </a:solidFill>
                <a:latin typeface="Arial" panose="020B0604020202020204" pitchFamily="34" charset="0"/>
                <a:cs typeface="Arial" panose="020B0604020202020204" pitchFamily="34" charset="0"/>
              </a:rPr>
              <a:t> </a:t>
            </a:r>
            <a:r>
              <a:rPr sz="2000" kern="0" spc="-50" dirty="0">
                <a:solidFill>
                  <a:srgbClr val="22373A"/>
                </a:solidFill>
                <a:latin typeface="Arial" panose="020B0604020202020204" pitchFamily="34" charset="0"/>
                <a:cs typeface="Arial" panose="020B0604020202020204" pitchFamily="34" charset="0"/>
              </a:rPr>
              <a:t>is</a:t>
            </a:r>
            <a:r>
              <a:rPr lang="en-US" sz="2000" kern="0" spc="-50"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expected</a:t>
            </a:r>
            <a:r>
              <a:rPr sz="2000" kern="0" spc="188"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to</a:t>
            </a:r>
            <a:r>
              <a:rPr sz="2000" kern="0" spc="188"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equal</a:t>
            </a:r>
            <a:r>
              <a:rPr sz="2000" kern="0" spc="188" dirty="0">
                <a:solidFill>
                  <a:srgbClr val="22373A"/>
                </a:solidFill>
                <a:latin typeface="Arial" panose="020B0604020202020204" pitchFamily="34" charset="0"/>
                <a:cs typeface="Arial" panose="020B0604020202020204" pitchFamily="34" charset="0"/>
              </a:rPr>
              <a:t> </a:t>
            </a:r>
            <a:r>
              <a:rPr sz="2000" kern="0" spc="-50" dirty="0">
                <a:solidFill>
                  <a:srgbClr val="22373A"/>
                </a:solidFill>
                <a:latin typeface="Arial" panose="020B0604020202020204" pitchFamily="34" charset="0"/>
                <a:cs typeface="Arial" panose="020B0604020202020204" pitchFamily="34" charset="0"/>
              </a:rPr>
              <a:t>the</a:t>
            </a:r>
            <a:r>
              <a:rPr lang="en-US" sz="2000" kern="0" spc="-50" dirty="0">
                <a:solidFill>
                  <a:srgbClr val="22373A"/>
                </a:solidFill>
                <a:latin typeface="Arial" panose="020B0604020202020204" pitchFamily="34" charset="0"/>
                <a:cs typeface="Arial" panose="020B0604020202020204" pitchFamily="34" charset="0"/>
              </a:rPr>
              <a:t> </a:t>
            </a:r>
            <a:r>
              <a:rPr sz="2000" kern="0" spc="-20" dirty="0">
                <a:solidFill>
                  <a:srgbClr val="22373A"/>
                </a:solidFill>
                <a:latin typeface="Arial" panose="020B0604020202020204" pitchFamily="34" charset="0"/>
                <a:cs typeface="Arial" panose="020B0604020202020204" pitchFamily="34" charset="0"/>
              </a:rPr>
              <a:t>intercept.</a:t>
            </a:r>
            <a:endParaRPr sz="2000" kern="0" dirty="0">
              <a:solidFill>
                <a:sysClr val="windowText" lastClr="000000"/>
              </a:solidFill>
              <a:latin typeface="Arial" panose="020B0604020202020204" pitchFamily="34" charset="0"/>
              <a:cs typeface="Arial" panose="020B0604020202020204" pitchFamily="34" charset="0"/>
            </a:endParaRPr>
          </a:p>
          <a:p>
            <a:pPr marL="363672" marR="10067" indent="-339762" defTabSz="1812066">
              <a:buClr>
                <a:srgbClr val="22373A"/>
              </a:buClr>
              <a:buFont typeface="Arial" panose="020B0604020202020204" pitchFamily="34" charset="0"/>
              <a:buChar char="•"/>
              <a:tabLst>
                <a:tab pos="296978" algn="l"/>
              </a:tabLst>
            </a:pPr>
            <a:r>
              <a:rPr sz="2000" b="1" i="1" kern="0" dirty="0">
                <a:latin typeface="Arial" panose="020B0604020202020204" pitchFamily="34" charset="0"/>
                <a:cs typeface="Arial" panose="020B0604020202020204" pitchFamily="34" charset="0"/>
              </a:rPr>
              <a:t>Slope:</a:t>
            </a:r>
            <a:r>
              <a:rPr sz="2000" b="1" i="1" kern="0" spc="268" dirty="0">
                <a:latin typeface="Arial" panose="020B0604020202020204" pitchFamily="34" charset="0"/>
                <a:cs typeface="Arial" panose="020B0604020202020204" pitchFamily="34" charset="0"/>
              </a:rPr>
              <a:t> </a:t>
            </a:r>
            <a:endParaRPr lang="en-US" sz="2000" b="1" i="1" kern="0" spc="268" dirty="0">
              <a:latin typeface="Arial" panose="020B0604020202020204" pitchFamily="34" charset="0"/>
              <a:cs typeface="Arial" panose="020B0604020202020204" pitchFamily="34" charset="0"/>
            </a:endParaRPr>
          </a:p>
          <a:p>
            <a:pPr marL="679525" marR="10067" lvl="3" indent="-339762" defTabSz="1812066">
              <a:buClr>
                <a:srgbClr val="22373A"/>
              </a:buClr>
              <a:buFont typeface="Arial" panose="020B0604020202020204" pitchFamily="34" charset="0"/>
              <a:buChar char="•"/>
            </a:pPr>
            <a:r>
              <a:rPr sz="2000" kern="0" dirty="0">
                <a:solidFill>
                  <a:srgbClr val="22373A"/>
                </a:solidFill>
                <a:latin typeface="Arial" panose="020B0604020202020204" pitchFamily="34" charset="0"/>
                <a:cs typeface="Arial" panose="020B0604020202020204" pitchFamily="34" charset="0"/>
              </a:rPr>
              <a:t>For</a:t>
            </a:r>
            <a:r>
              <a:rPr sz="2000" kern="0" spc="11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each</a:t>
            </a:r>
            <a:r>
              <a:rPr sz="2000" kern="0" spc="11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unit</a:t>
            </a:r>
            <a:r>
              <a:rPr sz="2000" kern="0" spc="11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in</a:t>
            </a:r>
            <a:r>
              <a:rPr sz="2000" kern="0" spc="109" dirty="0">
                <a:solidFill>
                  <a:srgbClr val="22373A"/>
                </a:solidFill>
                <a:latin typeface="Arial" panose="020B0604020202020204" pitchFamily="34" charset="0"/>
                <a:cs typeface="Arial" panose="020B0604020202020204" pitchFamily="34" charset="0"/>
              </a:rPr>
              <a:t> </a:t>
            </a:r>
            <a:r>
              <a:rPr lang="en-US" sz="2000" i="1" kern="0" dirty="0">
                <a:solidFill>
                  <a:srgbClr val="22373A"/>
                </a:solidFill>
                <a:latin typeface="Arial" panose="020B0604020202020204" pitchFamily="34" charset="0"/>
                <a:cs typeface="Arial" panose="020B0604020202020204" pitchFamily="34" charset="0"/>
              </a:rPr>
              <a:t>X</a:t>
            </a:r>
            <a:r>
              <a:rPr sz="2000" kern="0" dirty="0">
                <a:solidFill>
                  <a:srgbClr val="22373A"/>
                </a:solidFill>
                <a:latin typeface="Arial" panose="020B0604020202020204" pitchFamily="34" charset="0"/>
                <a:cs typeface="Arial" panose="020B0604020202020204" pitchFamily="34" charset="0"/>
              </a:rPr>
              <a:t>,</a:t>
            </a:r>
            <a:r>
              <a:rPr sz="2000" kern="0" spc="119" dirty="0">
                <a:solidFill>
                  <a:srgbClr val="22373A"/>
                </a:solidFill>
                <a:latin typeface="Arial" panose="020B0604020202020204" pitchFamily="34" charset="0"/>
                <a:cs typeface="Arial" panose="020B0604020202020204" pitchFamily="34" charset="0"/>
              </a:rPr>
              <a:t> </a:t>
            </a:r>
            <a:r>
              <a:rPr lang="en-US" sz="2000" i="1" kern="0" spc="119" dirty="0">
                <a:solidFill>
                  <a:srgbClr val="22373A"/>
                </a:solidFill>
                <a:latin typeface="Arial" panose="020B0604020202020204" pitchFamily="34" charset="0"/>
                <a:cs typeface="Arial" panose="020B0604020202020204" pitchFamily="34" charset="0"/>
              </a:rPr>
              <a:t>Y</a:t>
            </a:r>
            <a:r>
              <a:rPr sz="2000" i="1" kern="0" spc="-9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is</a:t>
            </a:r>
            <a:r>
              <a:rPr sz="2000" kern="0" spc="178"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expected</a:t>
            </a:r>
            <a:r>
              <a:rPr sz="2000" kern="0" spc="188"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to</a:t>
            </a:r>
            <a:r>
              <a:rPr sz="2000" kern="0" spc="178" dirty="0">
                <a:solidFill>
                  <a:srgbClr val="22373A"/>
                </a:solidFill>
                <a:latin typeface="Arial" panose="020B0604020202020204" pitchFamily="34" charset="0"/>
                <a:cs typeface="Arial" panose="020B0604020202020204" pitchFamily="34" charset="0"/>
              </a:rPr>
              <a:t> </a:t>
            </a:r>
            <a:r>
              <a:rPr lang="en-US" sz="2000" kern="0" dirty="0">
                <a:solidFill>
                  <a:srgbClr val="22373A"/>
                </a:solidFill>
                <a:latin typeface="Arial" panose="020B0604020202020204" pitchFamily="34" charset="0"/>
                <a:cs typeface="Arial" panose="020B0604020202020204" pitchFamily="34" charset="0"/>
              </a:rPr>
              <a:t>increase/decrease</a:t>
            </a:r>
            <a:r>
              <a:rPr sz="2000" kern="0" spc="14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on</a:t>
            </a:r>
            <a:r>
              <a:rPr sz="2000" kern="0" spc="15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average</a:t>
            </a:r>
            <a:r>
              <a:rPr sz="2000" kern="0" spc="159"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by</a:t>
            </a:r>
            <a:r>
              <a:rPr sz="2000" kern="0" spc="159" dirty="0">
                <a:solidFill>
                  <a:srgbClr val="22373A"/>
                </a:solidFill>
                <a:latin typeface="Arial" panose="020B0604020202020204" pitchFamily="34" charset="0"/>
                <a:cs typeface="Arial" panose="020B0604020202020204" pitchFamily="34" charset="0"/>
              </a:rPr>
              <a:t> </a:t>
            </a:r>
            <a:r>
              <a:rPr sz="2000" kern="0" spc="-50" dirty="0">
                <a:solidFill>
                  <a:srgbClr val="22373A"/>
                </a:solidFill>
                <a:latin typeface="Arial" panose="020B0604020202020204" pitchFamily="34" charset="0"/>
                <a:cs typeface="Arial" panose="020B0604020202020204" pitchFamily="34" charset="0"/>
              </a:rPr>
              <a:t>the </a:t>
            </a:r>
            <a:r>
              <a:rPr sz="2000" kern="0" spc="-20" dirty="0">
                <a:solidFill>
                  <a:srgbClr val="22373A"/>
                </a:solidFill>
                <a:latin typeface="Arial" panose="020B0604020202020204" pitchFamily="34" charset="0"/>
                <a:cs typeface="Arial" panose="020B0604020202020204" pitchFamily="34" charset="0"/>
              </a:rPr>
              <a:t>slope.</a:t>
            </a:r>
            <a:endParaRPr lang="en-US" sz="2000" kern="0" spc="-20" dirty="0">
              <a:solidFill>
                <a:srgbClr val="22373A"/>
              </a:solidFill>
              <a:latin typeface="Arial" panose="020B0604020202020204" pitchFamily="34" charset="0"/>
              <a:cs typeface="Arial" panose="020B0604020202020204" pitchFamily="34" charset="0"/>
            </a:endParaRPr>
          </a:p>
          <a:p>
            <a:pPr marL="679525" marR="10067" lvl="3" indent="-339762" defTabSz="1812066">
              <a:buClr>
                <a:srgbClr val="22373A"/>
              </a:buClr>
              <a:buFont typeface="Arial" panose="020B0604020202020204" pitchFamily="34" charset="0"/>
              <a:buChar char="•"/>
            </a:pPr>
            <a:r>
              <a:rPr lang="en-US" sz="2000" kern="0" spc="-20" dirty="0">
                <a:solidFill>
                  <a:srgbClr val="22373A"/>
                </a:solidFill>
                <a:latin typeface="Arial" panose="020B0604020202020204" pitchFamily="34" charset="0"/>
                <a:cs typeface="Arial" panose="020B0604020202020204" pitchFamily="34" charset="0"/>
              </a:rPr>
              <a:t>When the slope is 0, there is no relationship between X and Y</a:t>
            </a:r>
            <a:endParaRPr sz="2000" kern="0" dirty="0">
              <a:solidFill>
                <a:sysClr val="windowText" lastClr="000000"/>
              </a:solidFill>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5581906" y="830189"/>
            <a:ext cx="3852190" cy="2598811"/>
          </a:xfrm>
          <a:prstGeom prst="rect">
            <a:avLst/>
          </a:prstGeom>
        </p:spPr>
      </p:pic>
      <p:sp>
        <p:nvSpPr>
          <p:cNvPr id="5" name="object 5"/>
          <p:cNvSpPr/>
          <p:nvPr/>
        </p:nvSpPr>
        <p:spPr>
          <a:xfrm>
            <a:off x="5983190" y="2149646"/>
            <a:ext cx="3421866" cy="90599"/>
          </a:xfrm>
          <a:custGeom>
            <a:avLst/>
            <a:gdLst/>
            <a:ahLst/>
            <a:cxnLst/>
            <a:rect l="l" t="t" r="r" b="b"/>
            <a:pathLst>
              <a:path w="900430">
                <a:moveTo>
                  <a:pt x="0" y="0"/>
                </a:moveTo>
                <a:lnTo>
                  <a:pt x="899998" y="0"/>
                </a:lnTo>
              </a:path>
            </a:pathLst>
          </a:custGeom>
          <a:ln/>
        </p:spPr>
        <p:style>
          <a:lnRef idx="1">
            <a:schemeClr val="accent2"/>
          </a:lnRef>
          <a:fillRef idx="0">
            <a:schemeClr val="accent2"/>
          </a:fillRef>
          <a:effectRef idx="0">
            <a:schemeClr val="accent2"/>
          </a:effectRef>
          <a:fontRef idx="minor">
            <a:schemeClr val="tx1"/>
          </a:fontRef>
        </p:style>
        <p:txBody>
          <a:bodyPr wrap="square" lIns="0" tIns="0" rIns="0" bIns="0" rtlCol="0"/>
          <a:lstStyle/>
          <a:p>
            <a:pPr defTabSz="1812066"/>
            <a:endParaRPr sz="3567" kern="0" dirty="0">
              <a:solidFill>
                <a:prstClr val="black"/>
              </a:solidFill>
              <a:latin typeface="Calibri"/>
            </a:endParaRPr>
          </a:p>
        </p:txBody>
      </p:sp>
      <p:sp>
        <p:nvSpPr>
          <p:cNvPr id="6" name="object 6"/>
          <p:cNvSpPr txBox="1"/>
          <p:nvPr/>
        </p:nvSpPr>
        <p:spPr>
          <a:xfrm>
            <a:off x="168208" y="6269184"/>
            <a:ext cx="11270158" cy="333189"/>
          </a:xfrm>
          <a:prstGeom prst="rect">
            <a:avLst/>
          </a:prstGeom>
        </p:spPr>
        <p:txBody>
          <a:bodyPr vert="horz" wrap="square" lIns="0" tIns="25167" rIns="0" bIns="0" rtlCol="0">
            <a:spAutoFit/>
          </a:bodyPr>
          <a:lstStyle/>
          <a:p>
            <a:pPr marL="25168" marR="10067" defTabSz="1812066">
              <a:spcBef>
                <a:spcPts val="198"/>
              </a:spcBef>
            </a:pPr>
            <a:r>
              <a:rPr sz="2000" kern="0" dirty="0">
                <a:solidFill>
                  <a:srgbClr val="E2004C"/>
                </a:solidFill>
                <a:latin typeface="Arial"/>
                <a:cs typeface="Arial"/>
              </a:rPr>
              <a:t>Note</a:t>
            </a:r>
            <a:r>
              <a:rPr sz="2000" i="1" kern="0" dirty="0">
                <a:solidFill>
                  <a:srgbClr val="E2004C"/>
                </a:solidFill>
                <a:latin typeface="Arial"/>
                <a:cs typeface="Arial"/>
              </a:rPr>
              <a:t>:</a:t>
            </a:r>
            <a:r>
              <a:rPr sz="2000" i="1" kern="0" spc="59" dirty="0">
                <a:solidFill>
                  <a:srgbClr val="E2004C"/>
                </a:solidFill>
                <a:latin typeface="Arial"/>
                <a:cs typeface="Arial"/>
              </a:rPr>
              <a:t> </a:t>
            </a:r>
            <a:r>
              <a:rPr sz="2000" kern="0" dirty="0">
                <a:solidFill>
                  <a:srgbClr val="333333"/>
                </a:solidFill>
                <a:latin typeface="Arial"/>
                <a:cs typeface="Arial"/>
              </a:rPr>
              <a:t>These</a:t>
            </a:r>
            <a:r>
              <a:rPr sz="2000" kern="0" spc="-30" dirty="0">
                <a:solidFill>
                  <a:srgbClr val="333333"/>
                </a:solidFill>
                <a:latin typeface="Arial"/>
                <a:cs typeface="Arial"/>
              </a:rPr>
              <a:t> </a:t>
            </a:r>
            <a:r>
              <a:rPr sz="2000" kern="0" dirty="0">
                <a:solidFill>
                  <a:srgbClr val="333333"/>
                </a:solidFill>
                <a:latin typeface="Arial"/>
                <a:cs typeface="Arial"/>
              </a:rPr>
              <a:t>statements</a:t>
            </a:r>
            <a:r>
              <a:rPr sz="2000" kern="0" spc="-40" dirty="0">
                <a:solidFill>
                  <a:srgbClr val="333333"/>
                </a:solidFill>
                <a:latin typeface="Arial"/>
                <a:cs typeface="Arial"/>
              </a:rPr>
              <a:t> </a:t>
            </a:r>
            <a:r>
              <a:rPr sz="2000" kern="0" dirty="0">
                <a:solidFill>
                  <a:srgbClr val="333333"/>
                </a:solidFill>
                <a:latin typeface="Arial"/>
                <a:cs typeface="Arial"/>
              </a:rPr>
              <a:t>are</a:t>
            </a:r>
            <a:r>
              <a:rPr sz="2000" kern="0" spc="-30" dirty="0">
                <a:solidFill>
                  <a:srgbClr val="333333"/>
                </a:solidFill>
                <a:latin typeface="Arial"/>
                <a:cs typeface="Arial"/>
              </a:rPr>
              <a:t> </a:t>
            </a:r>
            <a:r>
              <a:rPr sz="2000" kern="0" dirty="0">
                <a:solidFill>
                  <a:srgbClr val="333333"/>
                </a:solidFill>
                <a:latin typeface="Arial"/>
                <a:cs typeface="Arial"/>
              </a:rPr>
              <a:t>not</a:t>
            </a:r>
            <a:r>
              <a:rPr sz="2000" kern="0" spc="-40" dirty="0">
                <a:solidFill>
                  <a:srgbClr val="333333"/>
                </a:solidFill>
                <a:latin typeface="Arial"/>
                <a:cs typeface="Arial"/>
              </a:rPr>
              <a:t> </a:t>
            </a:r>
            <a:r>
              <a:rPr sz="2000" kern="0" dirty="0">
                <a:solidFill>
                  <a:srgbClr val="333333"/>
                </a:solidFill>
                <a:latin typeface="Arial"/>
                <a:cs typeface="Arial"/>
              </a:rPr>
              <a:t>causal,</a:t>
            </a:r>
            <a:r>
              <a:rPr sz="2000" kern="0" spc="-40" dirty="0">
                <a:solidFill>
                  <a:srgbClr val="333333"/>
                </a:solidFill>
                <a:latin typeface="Arial"/>
                <a:cs typeface="Arial"/>
              </a:rPr>
              <a:t> </a:t>
            </a:r>
            <a:r>
              <a:rPr sz="2000" kern="0" dirty="0">
                <a:solidFill>
                  <a:srgbClr val="333333"/>
                </a:solidFill>
                <a:latin typeface="Arial"/>
                <a:cs typeface="Arial"/>
              </a:rPr>
              <a:t>unless</a:t>
            </a:r>
            <a:r>
              <a:rPr sz="2000" kern="0" spc="-30" dirty="0">
                <a:solidFill>
                  <a:srgbClr val="333333"/>
                </a:solidFill>
                <a:latin typeface="Arial"/>
                <a:cs typeface="Arial"/>
              </a:rPr>
              <a:t> </a:t>
            </a:r>
            <a:r>
              <a:rPr sz="2000" kern="0" dirty="0">
                <a:solidFill>
                  <a:srgbClr val="333333"/>
                </a:solidFill>
                <a:latin typeface="Arial"/>
                <a:cs typeface="Arial"/>
              </a:rPr>
              <a:t>the</a:t>
            </a:r>
            <a:r>
              <a:rPr sz="2000" kern="0" spc="-40" dirty="0">
                <a:solidFill>
                  <a:srgbClr val="333333"/>
                </a:solidFill>
                <a:latin typeface="Arial"/>
                <a:cs typeface="Arial"/>
              </a:rPr>
              <a:t> </a:t>
            </a:r>
            <a:r>
              <a:rPr sz="2000" kern="0" dirty="0">
                <a:solidFill>
                  <a:srgbClr val="333333"/>
                </a:solidFill>
                <a:latin typeface="Arial"/>
                <a:cs typeface="Arial"/>
              </a:rPr>
              <a:t>study</a:t>
            </a:r>
            <a:r>
              <a:rPr sz="2000" kern="0" spc="-30" dirty="0">
                <a:solidFill>
                  <a:srgbClr val="333333"/>
                </a:solidFill>
                <a:latin typeface="Arial"/>
                <a:cs typeface="Arial"/>
              </a:rPr>
              <a:t> </a:t>
            </a:r>
            <a:r>
              <a:rPr sz="2000" kern="0" dirty="0">
                <a:solidFill>
                  <a:srgbClr val="333333"/>
                </a:solidFill>
                <a:latin typeface="Arial"/>
                <a:cs typeface="Arial"/>
              </a:rPr>
              <a:t>is</a:t>
            </a:r>
            <a:r>
              <a:rPr sz="2000" kern="0" spc="-40" dirty="0">
                <a:solidFill>
                  <a:srgbClr val="333333"/>
                </a:solidFill>
                <a:latin typeface="Arial"/>
                <a:cs typeface="Arial"/>
              </a:rPr>
              <a:t> </a:t>
            </a:r>
            <a:r>
              <a:rPr sz="2000" kern="0" dirty="0">
                <a:solidFill>
                  <a:srgbClr val="333333"/>
                </a:solidFill>
                <a:latin typeface="Arial"/>
                <a:cs typeface="Arial"/>
              </a:rPr>
              <a:t>a</a:t>
            </a:r>
            <a:r>
              <a:rPr sz="2000" kern="0" spc="-30" dirty="0">
                <a:solidFill>
                  <a:srgbClr val="333333"/>
                </a:solidFill>
                <a:latin typeface="Arial"/>
                <a:cs typeface="Arial"/>
              </a:rPr>
              <a:t> </a:t>
            </a:r>
            <a:r>
              <a:rPr sz="2000" kern="0" spc="-20" dirty="0">
                <a:solidFill>
                  <a:srgbClr val="333333"/>
                </a:solidFill>
                <a:latin typeface="Arial"/>
                <a:cs typeface="Arial"/>
              </a:rPr>
              <a:t>randomized </a:t>
            </a:r>
            <a:r>
              <a:rPr sz="2000" kern="0" dirty="0">
                <a:solidFill>
                  <a:srgbClr val="333333"/>
                </a:solidFill>
                <a:latin typeface="Arial"/>
                <a:cs typeface="Arial"/>
              </a:rPr>
              <a:t>controlled</a:t>
            </a:r>
            <a:r>
              <a:rPr sz="2000" kern="0" spc="-79" dirty="0">
                <a:solidFill>
                  <a:srgbClr val="333333"/>
                </a:solidFill>
                <a:latin typeface="Arial"/>
                <a:cs typeface="Arial"/>
              </a:rPr>
              <a:t> </a:t>
            </a:r>
            <a:r>
              <a:rPr sz="2000" kern="0" spc="-20" dirty="0">
                <a:solidFill>
                  <a:srgbClr val="333333"/>
                </a:solidFill>
                <a:latin typeface="Arial"/>
                <a:cs typeface="Arial"/>
              </a:rPr>
              <a:t>experiment.</a:t>
            </a:r>
            <a:endParaRPr sz="2000" kern="0" dirty="0">
              <a:solidFill>
                <a:sysClr val="windowText" lastClr="000000"/>
              </a:solidFill>
              <a:latin typeface="Arial"/>
              <a:cs typeface="Arial"/>
            </a:endParaRPr>
          </a:p>
        </p:txBody>
      </p:sp>
      <p:sp>
        <p:nvSpPr>
          <p:cNvPr id="8" name="TextBox 7">
            <a:extLst>
              <a:ext uri="{FF2B5EF4-FFF2-40B4-BE49-F238E27FC236}">
                <a16:creationId xmlns:a16="http://schemas.microsoft.com/office/drawing/2014/main" id="{87C6EC70-A41B-AB38-2DB4-34CD3A316FA0}"/>
              </a:ext>
            </a:extLst>
          </p:cNvPr>
          <p:cNvSpPr txBox="1"/>
          <p:nvPr/>
        </p:nvSpPr>
        <p:spPr>
          <a:xfrm>
            <a:off x="8632538" y="2124768"/>
            <a:ext cx="744114" cy="244811"/>
          </a:xfrm>
          <a:prstGeom prst="rect">
            <a:avLst/>
          </a:prstGeom>
          <a:noFill/>
        </p:spPr>
        <p:txBody>
          <a:bodyPr wrap="none" rtlCol="0">
            <a:spAutoFit/>
          </a:bodyPr>
          <a:lstStyle/>
          <a:p>
            <a:pPr defTabSz="1812066"/>
            <a:r>
              <a:rPr lang="en-US" sz="991" b="1" kern="0" dirty="0">
                <a:solidFill>
                  <a:srgbClr val="FF0000"/>
                </a:solidFill>
                <a:latin typeface="Arial" panose="020B0604020202020204" pitchFamily="34" charset="0"/>
                <a:cs typeface="Arial" panose="020B0604020202020204" pitchFamily="34" charset="0"/>
              </a:rPr>
              <a:t>Slope = 0</a:t>
            </a:r>
          </a:p>
        </p:txBody>
      </p:sp>
      <p:sp>
        <p:nvSpPr>
          <p:cNvPr id="12" name="TextBox 11">
            <a:extLst>
              <a:ext uri="{FF2B5EF4-FFF2-40B4-BE49-F238E27FC236}">
                <a16:creationId xmlns:a16="http://schemas.microsoft.com/office/drawing/2014/main" id="{F9782DC9-CCBA-22BA-2798-58AFB6BF6C21}"/>
              </a:ext>
            </a:extLst>
          </p:cNvPr>
          <p:cNvSpPr txBox="1"/>
          <p:nvPr/>
        </p:nvSpPr>
        <p:spPr>
          <a:xfrm>
            <a:off x="5803287" y="3559702"/>
            <a:ext cx="3988081" cy="1617430"/>
          </a:xfrm>
          <a:prstGeom prst="rect">
            <a:avLst/>
          </a:prstGeom>
          <a:noFill/>
        </p:spPr>
        <p:txBody>
          <a:bodyPr wrap="square">
            <a:spAutoFit/>
          </a:bodyPr>
          <a:lstStyle/>
          <a:p>
            <a:pPr defTabSz="1812066"/>
            <a:r>
              <a:rPr lang="en-US" sz="2000" kern="0" dirty="0">
                <a:solidFill>
                  <a:sysClr val="windowText" lastClr="000000"/>
                </a:solidFill>
                <a:latin typeface="Arial" panose="020B0604020202020204" pitchFamily="34" charset="0"/>
                <a:cs typeface="Arial" panose="020B0604020202020204" pitchFamily="34" charset="0"/>
              </a:rPr>
              <a:t>When the slope = 0, every X value gives the same Y value. I.e., no matter what value </a:t>
            </a:r>
            <a:r>
              <a:rPr lang="en-US" sz="2000" i="1" kern="0" dirty="0">
                <a:solidFill>
                  <a:sysClr val="windowText" lastClr="000000"/>
                </a:solidFill>
                <a:latin typeface="Arial" panose="020B0604020202020204" pitchFamily="34" charset="0"/>
                <a:cs typeface="Arial" panose="020B0604020202020204" pitchFamily="34" charset="0"/>
              </a:rPr>
              <a:t>X</a:t>
            </a:r>
            <a:r>
              <a:rPr lang="en-US" sz="2000" kern="0" dirty="0">
                <a:solidFill>
                  <a:sysClr val="windowText" lastClr="000000"/>
                </a:solidFill>
                <a:latin typeface="Arial" panose="020B0604020202020204" pitchFamily="34" charset="0"/>
                <a:cs typeface="Arial" panose="020B0604020202020204" pitchFamily="34" charset="0"/>
              </a:rPr>
              <a:t> takes, the predicted value of </a:t>
            </a:r>
            <a:r>
              <a:rPr lang="en-US" sz="2000" i="1" kern="0" dirty="0">
                <a:solidFill>
                  <a:sysClr val="windowText" lastClr="000000"/>
                </a:solidFill>
                <a:latin typeface="Arial" panose="020B0604020202020204" pitchFamily="34" charset="0"/>
                <a:cs typeface="Arial" panose="020B0604020202020204" pitchFamily="34" charset="0"/>
              </a:rPr>
              <a:t>Y</a:t>
            </a:r>
            <a:r>
              <a:rPr lang="en-US" sz="2000" kern="0" dirty="0">
                <a:solidFill>
                  <a:sysClr val="windowText" lastClr="000000"/>
                </a:solidFill>
                <a:latin typeface="Arial" panose="020B0604020202020204" pitchFamily="34" charset="0"/>
                <a:cs typeface="Arial" panose="020B0604020202020204" pitchFamily="34" charset="0"/>
              </a:rPr>
              <a:t> stays the same</a:t>
            </a:r>
          </a:p>
        </p:txBody>
      </p:sp>
    </p:spTree>
    <p:extLst>
      <p:ext uri="{BB962C8B-B14F-4D97-AF65-F5344CB8AC3E}">
        <p14:creationId xmlns:p14="http://schemas.microsoft.com/office/powerpoint/2010/main" val="29114031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34A4-1996-3AAC-EF11-C904A2306825}"/>
              </a:ext>
            </a:extLst>
          </p:cNvPr>
          <p:cNvSpPr>
            <a:spLocks noGrp="1"/>
          </p:cNvSpPr>
          <p:nvPr>
            <p:ph type="title"/>
          </p:nvPr>
        </p:nvSpPr>
        <p:spPr>
          <a:xfrm>
            <a:off x="192964" y="186115"/>
            <a:ext cx="10515600" cy="609905"/>
          </a:xfrm>
        </p:spPr>
        <p:txBody>
          <a:bodyPr>
            <a:noAutofit/>
          </a:bodyPr>
          <a:lstStyle/>
          <a:p>
            <a:r>
              <a:rPr lang="en-US" sz="3600" dirty="0">
                <a:latin typeface="Arial" panose="020B0604020202020204" pitchFamily="34" charset="0"/>
                <a:cs typeface="Arial" panose="020B0604020202020204" pitchFamily="34" charset="0"/>
              </a:rPr>
              <a:t>The full model</a:t>
            </a:r>
          </a:p>
        </p:txBody>
      </p:sp>
      <p:sp>
        <p:nvSpPr>
          <p:cNvPr id="3" name="Content Placeholder 2">
            <a:extLst>
              <a:ext uri="{FF2B5EF4-FFF2-40B4-BE49-F238E27FC236}">
                <a16:creationId xmlns:a16="http://schemas.microsoft.com/office/drawing/2014/main" id="{D734974D-F770-31CC-DBD8-7A899801C93E}"/>
              </a:ext>
            </a:extLst>
          </p:cNvPr>
          <p:cNvSpPr>
            <a:spLocks noGrp="1"/>
          </p:cNvSpPr>
          <p:nvPr>
            <p:ph idx="1"/>
          </p:nvPr>
        </p:nvSpPr>
        <p:spPr>
          <a:xfrm>
            <a:off x="213738" y="874538"/>
            <a:ext cx="10832123" cy="2173462"/>
          </a:xfrm>
        </p:spPr>
        <p:txBody>
          <a:bodyPr>
            <a:normAutofit/>
          </a:bodyPr>
          <a:lstStyle/>
          <a:p>
            <a:r>
              <a:rPr lang="en-US" sz="200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model you are to use for SLR (which will be extended to the multivariate case) is: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46EF26C-04D4-9DCD-A814-5697EBCAB083}"/>
                  </a:ext>
                </a:extLst>
              </p:cNvPr>
              <p:cNvSpPr txBox="1"/>
              <p:nvPr/>
            </p:nvSpPr>
            <p:spPr>
              <a:xfrm>
                <a:off x="568395" y="2147423"/>
                <a:ext cx="2995244"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𝜀</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646EF26C-04D4-9DCD-A814-5697EBCAB083}"/>
                  </a:ext>
                </a:extLst>
              </p:cNvPr>
              <p:cNvSpPr txBox="1">
                <a:spLocks noRot="1" noChangeAspect="1" noMove="1" noResize="1" noEditPoints="1" noAdjustHandles="1" noChangeArrowheads="1" noChangeShapeType="1" noTextEdit="1"/>
              </p:cNvSpPr>
              <p:nvPr/>
            </p:nvSpPr>
            <p:spPr>
              <a:xfrm>
                <a:off x="568395" y="2147423"/>
                <a:ext cx="2995244"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B66F88A-17E5-118B-C89B-B6DAF96FC1FD}"/>
                  </a:ext>
                </a:extLst>
              </p:cNvPr>
              <p:cNvSpPr txBox="1"/>
              <p:nvPr/>
            </p:nvSpPr>
            <p:spPr>
              <a:xfrm>
                <a:off x="370710" y="3093165"/>
                <a:ext cx="66829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AB66F88A-17E5-118B-C89B-B6DAF96FC1FD}"/>
                  </a:ext>
                </a:extLst>
              </p:cNvPr>
              <p:cNvSpPr txBox="1">
                <a:spLocks noRot="1" noChangeAspect="1" noMove="1" noResize="1" noEditPoints="1" noAdjustHandles="1" noChangeArrowheads="1" noChangeShapeType="1" noTextEdit="1"/>
              </p:cNvSpPr>
              <p:nvPr/>
            </p:nvSpPr>
            <p:spPr>
              <a:xfrm>
                <a:off x="370710" y="3093165"/>
                <a:ext cx="668295" cy="369332"/>
              </a:xfrm>
              <a:prstGeom prst="rect">
                <a:avLst/>
              </a:prstGeom>
              <a:blipFill>
                <a:blip r:embed="rId4"/>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71F47D7-A1BA-BEE5-AE32-57704F5B575B}"/>
              </a:ext>
            </a:extLst>
          </p:cNvPr>
          <p:cNvSpPr txBox="1"/>
          <p:nvPr/>
        </p:nvSpPr>
        <p:spPr>
          <a:xfrm>
            <a:off x="964502" y="3093165"/>
            <a:ext cx="5698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observed response for the </a:t>
            </a:r>
            <a:r>
              <a:rPr kumimoji="0" lang="en-US" sz="1800" b="0" i="1"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i</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th</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trial (or row of data)</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86955A-A772-F71D-07BB-B80486C0DA7C}"/>
                  </a:ext>
                </a:extLst>
              </p:cNvPr>
              <p:cNvSpPr txBox="1"/>
              <p:nvPr/>
            </p:nvSpPr>
            <p:spPr>
              <a:xfrm>
                <a:off x="430073" y="3511439"/>
                <a:ext cx="5344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DD86955A-A772-F71D-07BB-B80486C0DA7C}"/>
                  </a:ext>
                </a:extLst>
              </p:cNvPr>
              <p:cNvSpPr txBox="1">
                <a:spLocks noRot="1" noChangeAspect="1" noMove="1" noResize="1" noEditPoints="1" noAdjustHandles="1" noChangeArrowheads="1" noChangeShapeType="1" noTextEdit="1"/>
              </p:cNvSpPr>
              <p:nvPr/>
            </p:nvSpPr>
            <p:spPr>
              <a:xfrm>
                <a:off x="430073" y="3511439"/>
                <a:ext cx="534429" cy="369332"/>
              </a:xfrm>
              <a:prstGeom prst="rect">
                <a:avLst/>
              </a:prstGeom>
              <a:blipFill>
                <a:blip r:embed="rId5"/>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0495016-F945-268D-BB24-6057A8F255E7}"/>
              </a:ext>
            </a:extLst>
          </p:cNvPr>
          <p:cNvSpPr txBox="1"/>
          <p:nvPr/>
        </p:nvSpPr>
        <p:spPr>
          <a:xfrm>
            <a:off x="964502" y="3511439"/>
            <a:ext cx="59555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 </a:t>
            </a:r>
            <a:r>
              <a:rPr kumimoji="0" lang="en-US" sz="1800" b="0"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known</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constant, the level of the predictor in the </a:t>
            </a:r>
            <a:r>
              <a:rPr kumimoji="0" lang="en-US" sz="1800" b="0" i="1"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i</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th</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trial</a:t>
            </a:r>
          </a:p>
        </p:txBody>
      </p:sp>
      <p:sp>
        <p:nvSpPr>
          <p:cNvPr id="11" name="TextBox 10">
            <a:extLst>
              <a:ext uri="{FF2B5EF4-FFF2-40B4-BE49-F238E27FC236}">
                <a16:creationId xmlns:a16="http://schemas.microsoft.com/office/drawing/2014/main" id="{FD82A558-2D62-E41A-5AE6-93C90104F43F}"/>
              </a:ext>
            </a:extLst>
          </p:cNvPr>
          <p:cNvSpPr txBox="1"/>
          <p:nvPr/>
        </p:nvSpPr>
        <p:spPr>
          <a:xfrm>
            <a:off x="1037496" y="3929713"/>
            <a:ext cx="35189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Unknown regression parameters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BCCCCF7-70CF-9B22-0E00-93EA78C61BFD}"/>
                  </a:ext>
                </a:extLst>
              </p:cNvPr>
              <p:cNvSpPr txBox="1"/>
              <p:nvPr/>
            </p:nvSpPr>
            <p:spPr>
              <a:xfrm>
                <a:off x="146907" y="3929713"/>
                <a:ext cx="8429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3" name="TextBox 12">
                <a:extLst>
                  <a:ext uri="{FF2B5EF4-FFF2-40B4-BE49-F238E27FC236}">
                    <a16:creationId xmlns:a16="http://schemas.microsoft.com/office/drawing/2014/main" id="{9BCCCCF7-70CF-9B22-0E00-93EA78C61BFD}"/>
                  </a:ext>
                </a:extLst>
              </p:cNvPr>
              <p:cNvSpPr txBox="1">
                <a:spLocks noRot="1" noChangeAspect="1" noMove="1" noResize="1" noEditPoints="1" noAdjustHandles="1" noChangeArrowheads="1" noChangeShapeType="1" noTextEdit="1"/>
              </p:cNvSpPr>
              <p:nvPr/>
            </p:nvSpPr>
            <p:spPr>
              <a:xfrm>
                <a:off x="146907" y="3929713"/>
                <a:ext cx="842976" cy="369332"/>
              </a:xfrm>
              <a:prstGeom prst="rect">
                <a:avLst/>
              </a:prstGeom>
              <a:blipFill>
                <a:blip r:embed="rId6"/>
                <a:stretch>
                  <a:fillRect l="-1493"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D42B5BC-AFDB-327B-67F7-B0E6BC337561}"/>
                  </a:ext>
                </a:extLst>
              </p:cNvPr>
              <p:cNvSpPr txBox="1"/>
              <p:nvPr/>
            </p:nvSpPr>
            <p:spPr>
              <a:xfrm>
                <a:off x="499426" y="4317967"/>
                <a:ext cx="4108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5" name="TextBox 14">
                <a:extLst>
                  <a:ext uri="{FF2B5EF4-FFF2-40B4-BE49-F238E27FC236}">
                    <a16:creationId xmlns:a16="http://schemas.microsoft.com/office/drawing/2014/main" id="{3D42B5BC-AFDB-327B-67F7-B0E6BC337561}"/>
                  </a:ext>
                </a:extLst>
              </p:cNvPr>
              <p:cNvSpPr txBox="1">
                <a:spLocks noRot="1" noChangeAspect="1" noMove="1" noResize="1" noEditPoints="1" noAdjustHandles="1" noChangeArrowheads="1" noChangeShapeType="1" noTextEdit="1"/>
              </p:cNvSpPr>
              <p:nvPr/>
            </p:nvSpPr>
            <p:spPr>
              <a:xfrm>
                <a:off x="499426" y="4317967"/>
                <a:ext cx="41086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79F20C-F30E-00FB-EA8E-DDCE17D29B91}"/>
                  </a:ext>
                </a:extLst>
              </p:cNvPr>
              <p:cNvSpPr txBox="1"/>
              <p:nvPr/>
            </p:nvSpPr>
            <p:spPr>
              <a:xfrm>
                <a:off x="1037496" y="4347987"/>
                <a:ext cx="62622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Error term, </a:t>
                </a:r>
                <a:r>
                  <a:rPr kumimoji="0" lang="en-US" sz="1800" b="0"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independently</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and normally distributed, N(0, </a:t>
                </a:r>
                <a14:m>
                  <m:oMath xmlns:m="http://schemas.openxmlformats.org/officeDocument/2006/math">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𝜎</m:t>
                        </m:r>
                      </m:e>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2</m:t>
                        </m:r>
                      </m:sup>
                    </m:sSup>
                  </m:oMath>
                </a14:m>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p>
            </p:txBody>
          </p:sp>
        </mc:Choice>
        <mc:Fallback xmlns="">
          <p:sp>
            <p:nvSpPr>
              <p:cNvPr id="16" name="TextBox 15">
                <a:extLst>
                  <a:ext uri="{FF2B5EF4-FFF2-40B4-BE49-F238E27FC236}">
                    <a16:creationId xmlns:a16="http://schemas.microsoft.com/office/drawing/2014/main" id="{F279F20C-F30E-00FB-EA8E-DDCE17D29B91}"/>
                  </a:ext>
                </a:extLst>
              </p:cNvPr>
              <p:cNvSpPr txBox="1">
                <a:spLocks noRot="1" noChangeAspect="1" noMove="1" noResize="1" noEditPoints="1" noAdjustHandles="1" noChangeArrowheads="1" noChangeShapeType="1" noTextEdit="1"/>
              </p:cNvSpPr>
              <p:nvPr/>
            </p:nvSpPr>
            <p:spPr>
              <a:xfrm>
                <a:off x="1037496" y="4347987"/>
                <a:ext cx="6262292" cy="369332"/>
              </a:xfrm>
              <a:prstGeom prst="rect">
                <a:avLst/>
              </a:prstGeom>
              <a:blipFill>
                <a:blip r:embed="rId8"/>
                <a:stretch>
                  <a:fillRect l="-810"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667955E-F14D-4193-23F8-72D5CE0D3CD2}"/>
                  </a:ext>
                </a:extLst>
              </p:cNvPr>
              <p:cNvSpPr txBox="1"/>
              <p:nvPr/>
            </p:nvSpPr>
            <p:spPr>
              <a:xfrm>
                <a:off x="499426" y="4687299"/>
                <a:ext cx="37379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8" name="TextBox 17">
                <a:extLst>
                  <a:ext uri="{FF2B5EF4-FFF2-40B4-BE49-F238E27FC236}">
                    <a16:creationId xmlns:a16="http://schemas.microsoft.com/office/drawing/2014/main" id="{3667955E-F14D-4193-23F8-72D5CE0D3CD2}"/>
                  </a:ext>
                </a:extLst>
              </p:cNvPr>
              <p:cNvSpPr txBox="1">
                <a:spLocks noRot="1" noChangeAspect="1" noMove="1" noResize="1" noEditPoints="1" noAdjustHandles="1" noChangeArrowheads="1" noChangeShapeType="1" noTextEdit="1"/>
              </p:cNvSpPr>
              <p:nvPr/>
            </p:nvSpPr>
            <p:spPr>
              <a:xfrm>
                <a:off x="499426" y="4687299"/>
                <a:ext cx="373791" cy="369332"/>
              </a:xfrm>
              <a:prstGeom prst="rect">
                <a:avLst/>
              </a:prstGeom>
              <a:blipFill>
                <a:blip r:embed="rId9"/>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5CD751B2-BDAD-516E-7705-8A706836EB93}"/>
              </a:ext>
            </a:extLst>
          </p:cNvPr>
          <p:cNvSpPr txBox="1"/>
          <p:nvPr/>
        </p:nvSpPr>
        <p:spPr>
          <a:xfrm>
            <a:off x="1021867" y="4687299"/>
            <a:ext cx="66159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index for the total number of cases in your data, </a:t>
            </a:r>
            <a:r>
              <a:rPr kumimoji="0" lang="en-US" sz="1800" b="0" i="1"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i</a:t>
            </a:r>
            <a:r>
              <a:rPr kumimoji="0" 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1</a:t>
            </a:r>
            <a:r>
              <a:rPr kumimoji="0" 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N</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 name="Text Box 5">
            <a:extLst>
              <a:ext uri="{FF2B5EF4-FFF2-40B4-BE49-F238E27FC236}">
                <a16:creationId xmlns:a16="http://schemas.microsoft.com/office/drawing/2014/main" id="{F23B6A1A-9C0A-7BD3-60CC-D4870C9EB2CB}"/>
              </a:ext>
            </a:extLst>
          </p:cNvPr>
          <p:cNvSpPr txBox="1">
            <a:spLocks noChangeArrowheads="1"/>
          </p:cNvSpPr>
          <p:nvPr/>
        </p:nvSpPr>
        <p:spPr bwMode="auto">
          <a:xfrm>
            <a:off x="3717815" y="1698709"/>
            <a:ext cx="38239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ptos Display" panose="020B0004020202020204" pitchFamily="34" charset="0"/>
              </a:rPr>
              <a:t> </a:t>
            </a:r>
            <a:r>
              <a:rPr kumimoji="0" lang="en-US" alt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cs typeface="Arial" panose="020B0604020202020204" pitchFamily="34" charset="0"/>
              </a:rPr>
              <a:t>1</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&gt; 0  </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Positive Association</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a:t>
            </a:r>
            <a:r>
              <a:rPr kumimoji="0" lang="en-US" alt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cs typeface="Arial" panose="020B0604020202020204" pitchFamily="34" charset="0"/>
              </a:rPr>
              <a:t>1</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&lt; 0  </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Negative Association</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a:t>
            </a:r>
            <a:r>
              <a:rPr kumimoji="0" lang="en-US" alt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cs typeface="Arial" panose="020B0604020202020204" pitchFamily="34" charset="0"/>
              </a:rPr>
              <a:t>1</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0  </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No Association</a:t>
            </a:r>
          </a:p>
        </p:txBody>
      </p:sp>
    </p:spTree>
    <p:extLst>
      <p:ext uri="{BB962C8B-B14F-4D97-AF65-F5344CB8AC3E}">
        <p14:creationId xmlns:p14="http://schemas.microsoft.com/office/powerpoint/2010/main" val="426680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4C60-FBE0-3AA2-2151-9763B8038F9B}"/>
              </a:ext>
            </a:extLst>
          </p:cNvPr>
          <p:cNvSpPr>
            <a:spLocks noGrp="1"/>
          </p:cNvSpPr>
          <p:nvPr>
            <p:ph type="title" idx="4294967295"/>
          </p:nvPr>
        </p:nvSpPr>
        <p:spPr>
          <a:xfrm>
            <a:off x="137786" y="122082"/>
            <a:ext cx="10515600" cy="570937"/>
          </a:xfrm>
        </p:spPr>
        <p:txBody>
          <a:bodyPr>
            <a:normAutofit fontScale="90000"/>
          </a:bodyPr>
          <a:lstStyle/>
          <a:p>
            <a:r>
              <a:rPr lang="en-US" sz="4000" dirty="0">
                <a:latin typeface="Arial" panose="020B0604020202020204" pitchFamily="34" charset="0"/>
                <a:cs typeface="Arial" panose="020B0604020202020204" pitchFamily="34" charset="0"/>
              </a:rPr>
              <a:t>Notation</a:t>
            </a:r>
            <a:endParaRPr lang="en-US" sz="3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1AD792-7A19-3D2A-0C82-A7ED2CDAD6B1}"/>
                  </a:ext>
                </a:extLst>
              </p:cNvPr>
              <p:cNvSpPr>
                <a:spLocks noGrp="1"/>
              </p:cNvSpPr>
              <p:nvPr>
                <p:ph idx="4294967295"/>
              </p:nvPr>
            </p:nvSpPr>
            <p:spPr>
              <a:xfrm>
                <a:off x="258169" y="801855"/>
                <a:ext cx="10515600" cy="3871912"/>
              </a:xfrm>
            </p:spPr>
            <p:txBody>
              <a:bodyPr>
                <a:no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a:latin typeface="Cambria Math" panose="02040503050406030204" pitchFamily="18" charset="0"/>
                          </a:rPr>
                          <m:t>𝑖</m:t>
                        </m:r>
                      </m:sub>
                    </m:sSub>
                  </m:oMath>
                </a14:m>
                <a:r>
                  <a:rPr lang="en-US" sz="2000" dirty="0">
                    <a:latin typeface="Arial" panose="020B0604020202020204" pitchFamily="34" charset="0"/>
                    <a:cs typeface="Arial" panose="020B0604020202020204" pitchFamily="34" charset="0"/>
                  </a:rPr>
                  <a:t> is value of the dependent variable for observation </a:t>
                </a:r>
                <a:r>
                  <a:rPr lang="en-US" sz="2000" i="1" dirty="0" err="1">
                    <a:latin typeface="Arial" panose="020B0604020202020204" pitchFamily="34" charset="0"/>
                    <a:cs typeface="Arial" panose="020B0604020202020204" pitchFamily="34" charset="0"/>
                  </a:rPr>
                  <a:t>i</a:t>
                </a:r>
                <a:endParaRPr lang="en-US" sz="2000" dirty="0">
                  <a:latin typeface="Arial" panose="020B0604020202020204" pitchFamily="34" charset="0"/>
                  <a:cs typeface="Arial" panose="020B0604020202020204" pitchFamily="34" charset="0"/>
                </a:endParaRPr>
              </a:p>
              <a:p>
                <a:pPr lvl="1"/>
                <a:r>
                  <a:rPr lang="en-US" sz="1800" b="1" dirty="0">
                    <a:latin typeface="Arial" panose="020B0604020202020204" pitchFamily="34" charset="0"/>
                    <a:cs typeface="Arial" panose="020B0604020202020204" pitchFamily="34" charset="0"/>
                  </a:rPr>
                  <a:t>Note: </a:t>
                </a:r>
                <a:r>
                  <a:rPr lang="en-US" sz="1800" dirty="0">
                    <a:latin typeface="Arial" panose="020B0604020202020204" pitchFamily="34" charset="0"/>
                    <a:cs typeface="Arial" panose="020B0604020202020204" pitchFamily="34" charset="0"/>
                  </a:rPr>
                  <a:t>again,</a:t>
                </a:r>
                <a:r>
                  <a:rPr lang="en-US" sz="1800" b="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i</a:t>
                </a:r>
                <a:r>
                  <a:rPr lang="en-US" sz="1800" i="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refers to the line number of the data, so for example if I have 10 rows of data, the number of observations range from </a:t>
                </a:r>
                <a:r>
                  <a:rPr lang="en-US" sz="1800" i="1" dirty="0" err="1">
                    <a:latin typeface="Arial" panose="020B0604020202020204" pitchFamily="34" charset="0"/>
                    <a:cs typeface="Arial" panose="020B0604020202020204" pitchFamily="34" charset="0"/>
                  </a:rPr>
                  <a:t>i</a:t>
                </a:r>
                <a:r>
                  <a:rPr lang="en-US" sz="1800" i="1" dirty="0">
                    <a:latin typeface="Arial" panose="020B0604020202020204" pitchFamily="34" charset="0"/>
                    <a:cs typeface="Arial" panose="020B0604020202020204" pitchFamily="34" charset="0"/>
                  </a:rPr>
                  <a:t> = </a:t>
                </a:r>
                <a:r>
                  <a:rPr lang="en-US" sz="1800" dirty="0">
                    <a:latin typeface="Arial" panose="020B0604020202020204" pitchFamily="34" charset="0"/>
                    <a:cs typeface="Arial" panose="020B0604020202020204" pitchFamily="34" charset="0"/>
                  </a:rPr>
                  <a:t>1 to 10. With </a:t>
                </a:r>
                <a:r>
                  <a:rPr lang="en-US" sz="1800" i="1" dirty="0">
                    <a:latin typeface="Arial" panose="020B0604020202020204" pitchFamily="34" charset="0"/>
                    <a:cs typeface="Arial" panose="020B0604020202020204" pitchFamily="34" charset="0"/>
                  </a:rPr>
                  <a:t>n </a:t>
                </a:r>
                <a:r>
                  <a:rPr lang="en-US" sz="1800" dirty="0">
                    <a:latin typeface="Arial" panose="020B0604020202020204" pitchFamily="34" charset="0"/>
                    <a:cs typeface="Arial" panose="020B0604020202020204" pitchFamily="34" charset="0"/>
                  </a:rPr>
                  <a:t>rows of data, the number of observations ranges from </a:t>
                </a:r>
                <a:r>
                  <a:rPr lang="en-US" sz="1800" i="1" dirty="0" err="1">
                    <a:latin typeface="Arial" panose="020B0604020202020204" pitchFamily="34" charset="0"/>
                    <a:cs typeface="Arial" panose="020B0604020202020204" pitchFamily="34" charset="0"/>
                  </a:rPr>
                  <a:t>i</a:t>
                </a:r>
                <a:r>
                  <a:rPr lang="en-US" sz="1800" i="1" dirty="0">
                    <a:latin typeface="Arial" panose="020B0604020202020204" pitchFamily="34" charset="0"/>
                    <a:cs typeface="Arial" panose="020B0604020202020204" pitchFamily="34" charset="0"/>
                  </a:rPr>
                  <a:t> = </a:t>
                </a:r>
                <a:r>
                  <a:rPr lang="en-US" sz="1800" dirty="0">
                    <a:latin typeface="Arial" panose="020B0604020202020204" pitchFamily="34" charset="0"/>
                    <a:cs typeface="Arial" panose="020B0604020202020204" pitchFamily="34" charset="0"/>
                  </a:rPr>
                  <a:t>1 … n.</a:t>
                </a:r>
              </a:p>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a:latin typeface="Cambria Math" panose="02040503050406030204" pitchFamily="18" charset="0"/>
                          </a:rPr>
                          <m:t>𝑖</m:t>
                        </m:r>
                      </m:sub>
                    </m:sSub>
                  </m:oMath>
                </a14:m>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denotes the value of the independent or predictor variable for experimental unit </a:t>
                </a:r>
                <a:r>
                  <a:rPr lang="en-US" sz="2000" i="1" dirty="0" err="1">
                    <a:latin typeface="Arial" panose="020B0604020202020204" pitchFamily="34" charset="0"/>
                    <a:cs typeface="Arial" panose="020B0604020202020204" pitchFamily="34" charset="0"/>
                  </a:rPr>
                  <a:t>i</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one corresponding to the dependent variable)</a:t>
                </a:r>
              </a:p>
              <a:p>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oMath>
                </a14:m>
                <a:r>
                  <a:rPr lang="en-US" sz="2000" dirty="0">
                    <a:latin typeface="Arial" panose="020B0604020202020204" pitchFamily="34" charset="0"/>
                    <a:cs typeface="Arial" panose="020B0604020202020204" pitchFamily="34" charset="0"/>
                  </a:rPr>
                  <a:t> is the predicted value (also called fitted value) for experimental unit </a:t>
                </a:r>
                <a:r>
                  <a:rPr lang="en-US" sz="2000" i="1" dirty="0" err="1">
                    <a:latin typeface="Arial" panose="020B0604020202020204" pitchFamily="34" charset="0"/>
                    <a:cs typeface="Arial" panose="020B0604020202020204" pitchFamily="34" charset="0"/>
                  </a:rPr>
                  <a:t>i</a:t>
                </a:r>
                <a:r>
                  <a:rPr lang="en-US" sz="2000" i="1"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The equation for the best fitting line is given by</a:t>
                </a:r>
                <a:r>
                  <a:rPr lang="en-US" sz="2000" i="1" dirty="0">
                    <a:latin typeface="Arial" panose="020B0604020202020204" pitchFamily="34" charset="0"/>
                    <a:cs typeface="Arial" panose="020B0604020202020204" pitchFamily="34" charset="0"/>
                  </a:rPr>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oMath>
                </a14:m>
                <a:endParaRPr lang="en-US" sz="2000" dirty="0">
                  <a:latin typeface="Arial" panose="020B0604020202020204" pitchFamily="34" charset="0"/>
                  <a:cs typeface="Arial" panose="020B0604020202020204" pitchFamily="34" charset="0"/>
                </a:endParaRPr>
              </a:p>
              <a:p>
                <a:pPr lvl="1"/>
                <a:r>
                  <a:rPr lang="en-US" sz="1800" b="1" dirty="0">
                    <a:latin typeface="Arial" panose="020B0604020202020204" pitchFamily="34" charset="0"/>
                    <a:cs typeface="Arial" panose="020B0604020202020204" pitchFamily="34" charset="0"/>
                  </a:rPr>
                  <a:t>Note</a:t>
                </a:r>
                <a:r>
                  <a:rPr lang="en-US" sz="1800" dirty="0">
                    <a:latin typeface="Arial" panose="020B0604020202020204" pitchFamily="34" charset="0"/>
                    <a:cs typeface="Arial" panose="020B0604020202020204" pitchFamily="34" charset="0"/>
                  </a:rPr>
                  <a:t>: the observation = unit of analysis</a:t>
                </a:r>
              </a:p>
            </p:txBody>
          </p:sp>
        </mc:Choice>
        <mc:Fallback xmlns="">
          <p:sp>
            <p:nvSpPr>
              <p:cNvPr id="3" name="Content Placeholder 2">
                <a:extLst>
                  <a:ext uri="{FF2B5EF4-FFF2-40B4-BE49-F238E27FC236}">
                    <a16:creationId xmlns:a16="http://schemas.microsoft.com/office/drawing/2014/main" id="{4D1AD792-7A19-3D2A-0C82-A7ED2CDAD6B1}"/>
                  </a:ext>
                </a:extLst>
              </p:cNvPr>
              <p:cNvSpPr>
                <a:spLocks noGrp="1" noRot="1" noChangeAspect="1" noMove="1" noResize="1" noEditPoints="1" noAdjustHandles="1" noChangeArrowheads="1" noChangeShapeType="1" noTextEdit="1"/>
              </p:cNvSpPr>
              <p:nvPr>
                <p:ph idx="4294967295"/>
              </p:nvPr>
            </p:nvSpPr>
            <p:spPr>
              <a:xfrm>
                <a:off x="258169" y="801855"/>
                <a:ext cx="10515600" cy="3871912"/>
              </a:xfrm>
              <a:blipFill>
                <a:blip r:embed="rId2"/>
                <a:stretch>
                  <a:fillRect l="-483" t="-1634" r="-844"/>
                </a:stretch>
              </a:blipFill>
            </p:spPr>
            <p:txBody>
              <a:bodyPr/>
              <a:lstStyle/>
              <a:p>
                <a:r>
                  <a:rPr lang="en-US">
                    <a:noFill/>
                  </a:rPr>
                  <a:t> </a:t>
                </a:r>
              </a:p>
            </p:txBody>
          </p:sp>
        </mc:Fallback>
      </mc:AlternateContent>
    </p:spTree>
    <p:extLst>
      <p:ext uri="{BB962C8B-B14F-4D97-AF65-F5344CB8AC3E}">
        <p14:creationId xmlns:p14="http://schemas.microsoft.com/office/powerpoint/2010/main" val="179961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7DBD0-C4AE-42BC-B69A-0370D0B06790}"/>
              </a:ext>
            </a:extLst>
          </p:cNvPr>
          <p:cNvSpPr>
            <a:spLocks noGrp="1"/>
          </p:cNvSpPr>
          <p:nvPr>
            <p:ph type="title"/>
          </p:nvPr>
        </p:nvSpPr>
        <p:spPr>
          <a:xfrm>
            <a:off x="161424" y="118666"/>
            <a:ext cx="10515600" cy="680361"/>
          </a:xfrm>
        </p:spPr>
        <p:txBody>
          <a:bodyPr>
            <a:normAutofit/>
          </a:bodyPr>
          <a:lstStyle/>
          <a:p>
            <a:r>
              <a:rPr lang="en-US" sz="3600" dirty="0">
                <a:latin typeface="Arial" panose="020B0604020202020204" pitchFamily="34" charset="0"/>
                <a:cs typeface="Arial" panose="020B0604020202020204" pitchFamily="34" charset="0"/>
              </a:rPr>
              <a:t>Simple Linear Regression</a:t>
            </a:r>
          </a:p>
        </p:txBody>
      </p:sp>
      <p:sp>
        <p:nvSpPr>
          <p:cNvPr id="3" name="Content Placeholder 2">
            <a:extLst>
              <a:ext uri="{FF2B5EF4-FFF2-40B4-BE49-F238E27FC236}">
                <a16:creationId xmlns:a16="http://schemas.microsoft.com/office/drawing/2014/main" id="{17231721-9DB5-4948-87F5-C62E444943F0}"/>
              </a:ext>
            </a:extLst>
          </p:cNvPr>
          <p:cNvSpPr>
            <a:spLocks noGrp="1"/>
          </p:cNvSpPr>
          <p:nvPr>
            <p:ph idx="1"/>
          </p:nvPr>
        </p:nvSpPr>
        <p:spPr>
          <a:xfrm>
            <a:off x="283388" y="792454"/>
            <a:ext cx="10515600" cy="4486275"/>
          </a:xfrm>
        </p:spPr>
        <p:txBody>
          <a:bodyPr>
            <a:normAutofit/>
          </a:bodyPr>
          <a:lstStyle/>
          <a:p>
            <a:r>
              <a:rPr lang="en-US" sz="2000" dirty="0">
                <a:latin typeface="Arial" panose="020B0604020202020204" pitchFamily="34" charset="0"/>
                <a:cs typeface="Arial" panose="020B0604020202020204" pitchFamily="34" charset="0"/>
              </a:rPr>
              <a:t>Assumption: a linear relationship between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&amp;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exists</a:t>
            </a:r>
          </a:p>
          <a:p>
            <a:r>
              <a:rPr lang="en-US" sz="2000" dirty="0">
                <a:latin typeface="Arial" panose="020B0604020202020204" pitchFamily="34" charset="0"/>
                <a:cs typeface="Arial" panose="020B0604020202020204" pitchFamily="34" charset="0"/>
              </a:rPr>
              <a:t>Observed Y values can be expressed as:</a:t>
            </a: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Use data to estimate that linear relationship with a straight line:</a:t>
            </a:r>
          </a:p>
          <a:p>
            <a:pPr lvl="1"/>
            <a:endParaRPr lang="en-US" sz="18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010C1F6F-2687-4117-A696-EE72EFA65C3F}"/>
                  </a:ext>
                </a:extLst>
              </p:cNvPr>
              <p:cNvSpPr txBox="1"/>
              <p:nvPr/>
            </p:nvSpPr>
            <p:spPr bwMode="auto">
              <a:xfrm>
                <a:off x="500169" y="1710285"/>
                <a:ext cx="3683000" cy="828675"/>
              </a:xfrm>
              <a:prstGeom prst="rect">
                <a:avLst/>
              </a:prstGeom>
              <a:noFill/>
            </p:spPr>
            <p:txBody>
              <a:bodyPr>
                <a:normAutofit/>
              </a:bodyPr>
              <a:lstStyle/>
              <a:p>
                <a:pPr lvl="0">
                  <a:defRPr/>
                </a:pPr>
                <a14:m>
                  <m:oMathPara xmlns:m="http://schemas.openxmlformats.org/officeDocument/2006/math">
                    <m:oMathParaPr>
                      <m:jc m:val="left"/>
                    </m:oMathParaPr>
                    <m:oMath xmlns:m="http://schemas.openxmlformats.org/officeDocument/2006/math">
                      <m:sSub>
                        <m:sSubPr>
                          <m:ctrlPr>
                            <a:rPr lang="en-U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rPr>
                            <m:t>𝑌</m:t>
                          </m:r>
                        </m:e>
                        <m:sub>
                          <m:r>
                            <a:rPr lang="en-US" sz="3200" i="1">
                              <a:solidFill>
                                <a:prstClr val="black"/>
                              </a:solidFill>
                              <a:latin typeface="Cambria Math" panose="02040503050406030204" pitchFamily="18" charset="0"/>
                            </a:rPr>
                            <m:t>𝑖</m:t>
                          </m:r>
                        </m:sub>
                      </m:sSub>
                      <m:r>
                        <a:rPr lang="en-US" sz="3200" i="1">
                          <a:solidFill>
                            <a:prstClr val="black"/>
                          </a:solidFill>
                          <a:latin typeface="Cambria Math" panose="02040503050406030204" pitchFamily="18" charset="0"/>
                        </a:rPr>
                        <m:t>=</m:t>
                      </m:r>
                      <m:sSub>
                        <m:sSubPr>
                          <m:ctrlPr>
                            <a:rPr lang="en-U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ea typeface="Cambria Math" panose="02040503050406030204" pitchFamily="18" charset="0"/>
                            </a:rPr>
                            <m:t>𝛽</m:t>
                          </m:r>
                        </m:e>
                        <m:sub>
                          <m:r>
                            <a:rPr lang="en-US" sz="3200" i="1">
                              <a:solidFill>
                                <a:prstClr val="black"/>
                              </a:solidFill>
                              <a:latin typeface="Cambria Math" panose="02040503050406030204" pitchFamily="18" charset="0"/>
                            </a:rPr>
                            <m:t>0</m:t>
                          </m:r>
                        </m:sub>
                      </m:sSub>
                      <m:r>
                        <a:rPr lang="en-US" sz="3200" i="1">
                          <a:solidFill>
                            <a:prstClr val="black"/>
                          </a:solidFill>
                          <a:latin typeface="Cambria Math" panose="02040503050406030204" pitchFamily="18" charset="0"/>
                        </a:rPr>
                        <m:t>+</m:t>
                      </m:r>
                      <m:sSub>
                        <m:sSubPr>
                          <m:ctrlPr>
                            <a:rPr lang="en-U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ea typeface="Cambria Math" panose="02040503050406030204" pitchFamily="18" charset="0"/>
                            </a:rPr>
                            <m:t>𝛽</m:t>
                          </m:r>
                        </m:e>
                        <m:sub>
                          <m:r>
                            <a:rPr lang="en-US" sz="3200" i="1">
                              <a:solidFill>
                                <a:prstClr val="black"/>
                              </a:solidFill>
                              <a:latin typeface="Cambria Math" panose="02040503050406030204" pitchFamily="18" charset="0"/>
                            </a:rPr>
                            <m:t>1</m:t>
                          </m:r>
                        </m:sub>
                      </m:sSub>
                      <m:sSub>
                        <m:sSubPr>
                          <m:ctrlPr>
                            <a:rPr lang="en-U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rPr>
                            <m:t>𝑋</m:t>
                          </m:r>
                        </m:e>
                        <m:sub>
                          <m:r>
                            <a:rPr lang="en-US" sz="3200" i="1">
                              <a:solidFill>
                                <a:prstClr val="black"/>
                              </a:solidFill>
                              <a:latin typeface="Cambria Math" panose="02040503050406030204" pitchFamily="18" charset="0"/>
                            </a:rPr>
                            <m:t>𝑖</m:t>
                          </m:r>
                        </m:sub>
                      </m:sSub>
                      <m:r>
                        <a:rPr lang="en-US" sz="3200" i="1">
                          <a:solidFill>
                            <a:prstClr val="black"/>
                          </a:solidFill>
                          <a:latin typeface="Cambria Math" panose="02040503050406030204" pitchFamily="18" charset="0"/>
                        </a:rPr>
                        <m:t>+</m:t>
                      </m:r>
                      <m:sSub>
                        <m:sSubPr>
                          <m:ctrlPr>
                            <a:rPr lang="en-U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ea typeface="Cambria Math" panose="02040503050406030204" pitchFamily="18" charset="0"/>
                            </a:rPr>
                            <m:t>𝜀</m:t>
                          </m:r>
                        </m:e>
                        <m:sub>
                          <m:r>
                            <a:rPr lang="en-US" sz="3200" i="1">
                              <a:solidFill>
                                <a:prstClr val="black"/>
                              </a:solidFill>
                              <a:latin typeface="Cambria Math" panose="02040503050406030204" pitchFamily="18" charset="0"/>
                            </a:rPr>
                            <m:t>𝑖</m:t>
                          </m:r>
                        </m:sub>
                      </m:sSub>
                    </m:oMath>
                  </m:oMathPara>
                </a14:m>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Object 3">
                <a:extLst>
                  <a:ext uri="{FF2B5EF4-FFF2-40B4-BE49-F238E27FC236}">
                    <a16:creationId xmlns:a16="http://schemas.microsoft.com/office/drawing/2014/main" id="{010C1F6F-2687-4117-A696-EE72EFA65C3F}"/>
                  </a:ext>
                </a:extLst>
              </p:cNvPr>
              <p:cNvSpPr txBox="1">
                <a:spLocks noRot="1" noChangeAspect="1" noMove="1" noResize="1" noEditPoints="1" noAdjustHandles="1" noChangeArrowheads="1" noChangeShapeType="1" noTextEdit="1"/>
              </p:cNvSpPr>
              <p:nvPr/>
            </p:nvSpPr>
            <p:spPr bwMode="auto">
              <a:xfrm>
                <a:off x="500169" y="1710285"/>
                <a:ext cx="3683000" cy="8286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6">
                <a:extLst>
                  <a:ext uri="{FF2B5EF4-FFF2-40B4-BE49-F238E27FC236}">
                    <a16:creationId xmlns:a16="http://schemas.microsoft.com/office/drawing/2014/main" id="{1D022014-4CE9-4DE3-B413-D601A9FA426A}"/>
                  </a:ext>
                </a:extLst>
              </p:cNvPr>
              <p:cNvSpPr txBox="1"/>
              <p:nvPr/>
            </p:nvSpPr>
            <p:spPr bwMode="auto">
              <a:xfrm>
                <a:off x="787826" y="3329168"/>
                <a:ext cx="2852737" cy="925513"/>
              </a:xfrm>
              <a:prstGeom prst="rect">
                <a:avLst/>
              </a:prstGeom>
              <a:noFill/>
            </p:spPr>
            <p:txBody>
              <a:bodyPr>
                <a:normAutofit fontScale="92500"/>
              </a:bodyPr>
              <a:lstStyle/>
              <a:p>
                <a:pPr lvl="0">
                  <a:defRPr/>
                </a:pPr>
                <a14:m>
                  <m:oMathPara xmlns:m="http://schemas.openxmlformats.org/officeDocument/2006/math">
                    <m:oMathParaPr>
                      <m:jc m:val="left"/>
                    </m:oMathParaPr>
                    <m:oMath xmlns:m="http://schemas.openxmlformats.org/officeDocument/2006/math">
                      <m:sSub>
                        <m:sSubPr>
                          <m:ctrlP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lang="en-US" sz="3600" i="1">
                                  <a:solidFill>
                                    <a:srgbClr val="000000"/>
                                  </a:solidFill>
                                  <a:latin typeface="Cambria Math" panose="02040503050406030204" pitchFamily="18" charset="0"/>
                                </a:rPr>
                              </m:ctrlPr>
                            </m:accPr>
                            <m:e>
                              <m:r>
                                <a:rPr lang="en-US" sz="3600" i="1">
                                  <a:solidFill>
                                    <a:srgbClr val="000000"/>
                                  </a:solidFill>
                                  <a:latin typeface="Cambria Math" panose="02040503050406030204" pitchFamily="18" charset="0"/>
                                </a:rPr>
                                <m:t>𝑦</m:t>
                              </m:r>
                            </m:e>
                          </m:acc>
                        </m:e>
                        <m:sub>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accPr>
                            <m:e>
                              <m:r>
                                <a:rPr lang="en-US" sz="3600" i="1">
                                  <a:solidFill>
                                    <a:srgbClr val="000000"/>
                                  </a:solidFill>
                                  <a:latin typeface="Cambria Math" panose="02040503050406030204" pitchFamily="18" charset="0"/>
                                </a:rPr>
                                <m:t>𝑏</m:t>
                              </m:r>
                            </m:e>
                          </m:acc>
                        </m:e>
                        <m: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lang="en-US" sz="3600" i="1">
                                  <a:solidFill>
                                    <a:srgbClr val="000000"/>
                                  </a:solidFill>
                                  <a:latin typeface="Cambria Math" panose="02040503050406030204" pitchFamily="18" charset="0"/>
                                </a:rPr>
                              </m:ctrlPr>
                            </m:accPr>
                            <m:e>
                              <m:r>
                                <a:rPr lang="en-US" sz="3600" i="1">
                                  <a:solidFill>
                                    <a:srgbClr val="000000"/>
                                  </a:solidFill>
                                  <a:latin typeface="Cambria Math" panose="02040503050406030204" pitchFamily="18" charset="0"/>
                                </a:rPr>
                                <m:t>𝑏</m:t>
                              </m:r>
                            </m:e>
                          </m:acc>
                        </m:e>
                        <m: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sSub>
                        <m:sSubPr>
                          <m:ctrlP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𝑥</m:t>
                          </m:r>
                        </m:e>
                        <m:sub>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oMath>
                  </m:oMathPara>
                </a14:m>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 name="Object 6">
                <a:extLst>
                  <a:ext uri="{FF2B5EF4-FFF2-40B4-BE49-F238E27FC236}">
                    <a16:creationId xmlns:a16="http://schemas.microsoft.com/office/drawing/2014/main" id="{1D022014-4CE9-4DE3-B413-D601A9FA426A}"/>
                  </a:ext>
                </a:extLst>
              </p:cNvPr>
              <p:cNvSpPr txBox="1">
                <a:spLocks noRot="1" noChangeAspect="1" noMove="1" noResize="1" noEditPoints="1" noAdjustHandles="1" noChangeArrowheads="1" noChangeShapeType="1" noTextEdit="1"/>
              </p:cNvSpPr>
              <p:nvPr/>
            </p:nvSpPr>
            <p:spPr bwMode="auto">
              <a:xfrm>
                <a:off x="787826" y="3329168"/>
                <a:ext cx="2852737" cy="925513"/>
              </a:xfrm>
              <a:prstGeom prst="rect">
                <a:avLst/>
              </a:prstGeom>
              <a:blipFill>
                <a:blip r:embed="rId4"/>
                <a:stretch>
                  <a:fillRect/>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8A7FA552-040D-402B-B33D-6CCC56215C1F}"/>
              </a:ext>
            </a:extLst>
          </p:cNvPr>
          <p:cNvSpPr/>
          <p:nvPr/>
        </p:nvSpPr>
        <p:spPr>
          <a:xfrm>
            <a:off x="1391070" y="1674678"/>
            <a:ext cx="1718790" cy="64113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6136F3A-7BED-4711-AD83-08578660B1A2}"/>
              </a:ext>
            </a:extLst>
          </p:cNvPr>
          <p:cNvSpPr txBox="1"/>
          <p:nvPr/>
        </p:nvSpPr>
        <p:spPr>
          <a:xfrm>
            <a:off x="909589" y="2340932"/>
            <a:ext cx="2618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The straight line (average)</a:t>
            </a:r>
          </a:p>
        </p:txBody>
      </p:sp>
      <p:sp>
        <p:nvSpPr>
          <p:cNvPr id="13" name="Rectangle: Rounded Corners 12">
            <a:extLst>
              <a:ext uri="{FF2B5EF4-FFF2-40B4-BE49-F238E27FC236}">
                <a16:creationId xmlns:a16="http://schemas.microsoft.com/office/drawing/2014/main" id="{F437A8D7-1A47-4207-9887-F037C3724987}"/>
              </a:ext>
            </a:extLst>
          </p:cNvPr>
          <p:cNvSpPr/>
          <p:nvPr/>
        </p:nvSpPr>
        <p:spPr>
          <a:xfrm>
            <a:off x="3505327" y="1740711"/>
            <a:ext cx="459730" cy="64113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1909ED54-489F-4650-AA38-F12044EB0D27}"/>
              </a:ext>
            </a:extLst>
          </p:cNvPr>
          <p:cNvSpPr txBox="1"/>
          <p:nvPr/>
        </p:nvSpPr>
        <p:spPr>
          <a:xfrm>
            <a:off x="3873563" y="1863395"/>
            <a:ext cx="23497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Deviation from the line</a:t>
            </a:r>
          </a:p>
        </p:txBody>
      </p:sp>
    </p:spTree>
    <p:extLst>
      <p:ext uri="{BB962C8B-B14F-4D97-AF65-F5344CB8AC3E}">
        <p14:creationId xmlns:p14="http://schemas.microsoft.com/office/powerpoint/2010/main" val="21822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3" grpId="0" animBg="1"/>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25931" y="141166"/>
            <a:ext cx="10515600" cy="643060"/>
          </a:xfrm>
        </p:spPr>
        <p:txBody>
          <a:bodyPr>
            <a:normAutofit/>
          </a:bodyPr>
          <a:lstStyle/>
          <a:p>
            <a:r>
              <a:rPr lang="en-US" sz="3600" dirty="0">
                <a:latin typeface="Arial" panose="020B0604020202020204" pitchFamily="34" charset="0"/>
                <a:cs typeface="Arial" panose="020B0604020202020204" pitchFamily="34" charset="0"/>
              </a:rPr>
              <a:t>Interpretation of Regression Equation</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type="body" idx="1"/>
              </p:nvPr>
            </p:nvSpPr>
            <p:spPr>
              <a:xfrm>
                <a:off x="680386" y="1862993"/>
                <a:ext cx="10515600" cy="3414590"/>
              </a:xfrm>
            </p:spPr>
            <p:txBody>
              <a:bodyPr/>
              <a:lstStyle/>
              <a:p>
                <a:r>
                  <a:rPr lang="en-US" sz="2000" dirty="0">
                    <a:latin typeface="Arial" panose="020B0604020202020204" pitchFamily="34" charset="0"/>
                    <a:cs typeface="Arial" panose="020B0604020202020204" pitchFamily="34" charset="0"/>
                  </a:rPr>
                  <a:t>The magnitude of the slope </a:t>
                </a:r>
                <a14:m>
                  <m:oMath xmlns:m="http://schemas.openxmlformats.org/officeDocument/2006/math">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𝑏</m:t>
                        </m:r>
                      </m:e>
                      <m:sub>
                        <m:r>
                          <a:rPr lang="en-US" sz="2000" i="1" dirty="0">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tells how much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is expected to increase per unit increase in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r>
                  <a:rPr lang="en-US" sz="2000" u="sng"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𝑦</m:t>
                        </m:r>
                      </m:e>
                    </m:acc>
                  </m:oMath>
                </a14:m>
                <a:r>
                  <a:rPr lang="en-US" sz="2000" dirty="0">
                    <a:latin typeface="Arial" panose="020B0604020202020204" pitchFamily="34" charset="0"/>
                    <a:cs typeface="Arial" panose="020B0604020202020204" pitchFamily="34" charset="0"/>
                  </a:rPr>
                  <a:t> = 3 + 2</a:t>
                </a:r>
                <a:r>
                  <a:rPr lang="en-US" sz="2000" i="1" dirty="0">
                    <a:latin typeface="Arial" panose="020B0604020202020204" pitchFamily="34" charset="0"/>
                    <a:cs typeface="Arial" panose="020B0604020202020204" pitchFamily="34" charset="0"/>
                  </a:rPr>
                  <a:t>x</a:t>
                </a:r>
              </a:p>
              <a:p>
                <a:pPr lvl="1"/>
                <a14:m>
                  <m:oMath xmlns:m="http://schemas.openxmlformats.org/officeDocument/2006/math">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𝑏</m:t>
                        </m:r>
                      </m:e>
                      <m:sub>
                        <m:r>
                          <a:rPr lang="en-US" sz="2000" i="1" dirty="0">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 3, </a:t>
                </a:r>
                <a14:m>
                  <m:oMath xmlns:m="http://schemas.openxmlformats.org/officeDocument/2006/math">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𝑏</m:t>
                        </m:r>
                      </m:e>
                      <m:sub>
                        <m:r>
                          <a:rPr lang="en-US" sz="2000" i="1" dirty="0">
                            <a:latin typeface="Cambria Math" panose="02040503050406030204" pitchFamily="18" charset="0"/>
                          </a:rPr>
                          <m:t>1</m:t>
                        </m:r>
                      </m:sub>
                    </m:sSub>
                    <m:r>
                      <a:rPr lang="en-US" sz="2000" b="0" i="1" dirty="0" smtClean="0">
                        <a:latin typeface="Cambria Math" panose="02040503050406030204" pitchFamily="18" charset="0"/>
                      </a:rPr>
                      <m:t>=2</m:t>
                    </m:r>
                  </m:oMath>
                </a14:m>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If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increases by 1,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is expected to increase by 2</a:t>
                </a:r>
              </a:p>
              <a:p>
                <a:pPr lvl="1"/>
                <a:r>
                  <a:rPr lang="en-US" sz="2000" dirty="0">
                    <a:latin typeface="Arial" panose="020B0604020202020204" pitchFamily="34" charset="0"/>
                    <a:cs typeface="Arial" panose="020B0604020202020204" pitchFamily="34" charset="0"/>
                  </a:rPr>
                  <a:t>If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increases by 1, then the predicted value of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increases by 2</a:t>
                </a:r>
              </a:p>
              <a:p>
                <a:pPr lvl="1"/>
                <a:endParaRPr lang="en-US" dirty="0"/>
              </a:p>
              <a:p>
                <a:endParaRPr lang="en-US" dirty="0"/>
              </a:p>
            </p:txBody>
          </p:sp>
        </mc:Choice>
        <mc:Fallback xmlns="">
          <p:sp>
            <p:nvSpPr>
              <p:cNvPr id="37890" name="Rectangle 3"/>
              <p:cNvSpPr>
                <a:spLocks noGrp="1" noRot="1" noChangeAspect="1" noMove="1" noResize="1" noEditPoints="1" noAdjustHandles="1" noChangeArrowheads="1" noChangeShapeType="1" noTextEdit="1"/>
              </p:cNvSpPr>
              <p:nvPr>
                <p:ph type="body" idx="1"/>
              </p:nvPr>
            </p:nvSpPr>
            <p:spPr>
              <a:xfrm>
                <a:off x="680386" y="1862993"/>
                <a:ext cx="10515600" cy="3414590"/>
              </a:xfrm>
              <a:blipFill>
                <a:blip r:embed="rId2"/>
                <a:stretch>
                  <a:fillRect l="-522" t="-178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0A950AE-A27A-497F-89BC-715A7F8E1D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F2B675-3BAF-420B-B2FC-1C2A1E07683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70DF4E2A-7629-DC4D-B412-2764846E0FD1}"/>
                  </a:ext>
                </a:extLst>
              </p:cNvPr>
              <p:cNvSpPr txBox="1"/>
              <p:nvPr/>
            </p:nvSpPr>
            <p:spPr bwMode="auto">
              <a:xfrm>
                <a:off x="4418798" y="827943"/>
                <a:ext cx="3200400" cy="419100"/>
              </a:xfrm>
              <a:prstGeom prst="rect">
                <a:avLst/>
              </a:prstGeom>
              <a:noFill/>
            </p:spPr>
            <p:txBody>
              <a:bodyPr>
                <a:noAutofit/>
              </a:bodyPr>
              <a:lstStyle/>
              <a:p>
                <a:pPr>
                  <a:defRPr/>
                </a:pPr>
                <a14:m>
                  <m:oMathPara xmlns:m="http://schemas.openxmlformats.org/officeDocument/2006/math">
                    <m:oMathParaPr>
                      <m:jc m:val="left"/>
                    </m:oMathParaPr>
                    <m:oMath xmlns:m="http://schemas.openxmlformats.org/officeDocument/2006/math">
                      <m:acc>
                        <m:accPr>
                          <m:chr m:val="̂"/>
                          <m:ctrlPr>
                            <a:rPr lang="en-US" sz="3200" i="1" smtClean="0">
                              <a:solidFill>
                                <a:srgbClr val="000000"/>
                              </a:solidFill>
                              <a:latin typeface="Cambria Math" panose="02040503050406030204" pitchFamily="18" charset="0"/>
                            </a:rPr>
                          </m:ctrlPr>
                        </m:accPr>
                        <m:e>
                          <m:r>
                            <a:rPr lang="en-US" sz="3200" i="1" smtClean="0">
                              <a:solidFill>
                                <a:srgbClr val="000000"/>
                              </a:solidFill>
                              <a:latin typeface="Cambria Math" panose="02040503050406030204" pitchFamily="18" charset="0"/>
                            </a:rPr>
                            <m:t>𝑦</m:t>
                          </m:r>
                        </m:e>
                      </m:acc>
                      <m:r>
                        <a:rPr lang="en-US" sz="3200" i="1">
                          <a:solidFill>
                            <a:srgbClr val="000000"/>
                          </a:solidFill>
                          <a:latin typeface="Cambria Math" panose="02040503050406030204" pitchFamily="18" charset="0"/>
                        </a:rPr>
                        <m:t>=</m:t>
                      </m:r>
                      <m:sSub>
                        <m:sSubPr>
                          <m:ctrlPr>
                            <a:rPr lang="en-US" sz="3200" i="1">
                              <a:solidFill>
                                <a:srgbClr val="000000"/>
                              </a:solidFill>
                              <a:latin typeface="Cambria Math" panose="02040503050406030204" pitchFamily="18" charset="0"/>
                            </a:rPr>
                          </m:ctrlPr>
                        </m:sSubPr>
                        <m:e>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𝑏</m:t>
                              </m:r>
                            </m:e>
                          </m:acc>
                        </m:e>
                        <m:sub>
                          <m:r>
                            <a:rPr lang="en-US" sz="3200" i="1">
                              <a:solidFill>
                                <a:srgbClr val="000000"/>
                              </a:solidFill>
                              <a:latin typeface="Cambria Math" panose="02040503050406030204" pitchFamily="18" charset="0"/>
                            </a:rPr>
                            <m:t>0</m:t>
                          </m:r>
                        </m:sub>
                      </m:sSub>
                      <m:r>
                        <a:rPr lang="en-US" sz="3200" i="1">
                          <a:solidFill>
                            <a:srgbClr val="000000"/>
                          </a:solidFill>
                          <a:latin typeface="Cambria Math" panose="02040503050406030204" pitchFamily="18" charset="0"/>
                        </a:rPr>
                        <m:t>+</m:t>
                      </m:r>
                      <m:sSub>
                        <m:sSubPr>
                          <m:ctrlPr>
                            <a:rPr lang="en-US" sz="3200" i="1">
                              <a:solidFill>
                                <a:srgbClr val="000000"/>
                              </a:solidFill>
                              <a:latin typeface="Cambria Math" panose="02040503050406030204" pitchFamily="18" charset="0"/>
                            </a:rPr>
                          </m:ctrlPr>
                        </m:sSubPr>
                        <m:e>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𝑏</m:t>
                              </m:r>
                            </m:e>
                          </m:acc>
                        </m:e>
                        <m:sub>
                          <m:r>
                            <a:rPr lang="en-US" sz="3200" i="1">
                              <a:solidFill>
                                <a:srgbClr val="000000"/>
                              </a:solidFill>
                              <a:latin typeface="Cambria Math" panose="02040503050406030204" pitchFamily="18" charset="0"/>
                            </a:rPr>
                            <m:t>1</m:t>
                          </m:r>
                        </m:sub>
                      </m:sSub>
                      <m:r>
                        <a:rPr lang="en-US" sz="3200" i="1">
                          <a:solidFill>
                            <a:srgbClr val="000000"/>
                          </a:solidFill>
                          <a:latin typeface="Cambria Math" panose="02040503050406030204" pitchFamily="18" charset="0"/>
                        </a:rPr>
                        <m:t>𝑥</m:t>
                      </m:r>
                    </m:oMath>
                  </m:oMathPara>
                </a14:m>
                <a:endParaRPr lang="en-US" sz="3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Object 3">
                <a:extLst>
                  <a:ext uri="{FF2B5EF4-FFF2-40B4-BE49-F238E27FC236}">
                    <a16:creationId xmlns:a16="http://schemas.microsoft.com/office/drawing/2014/main" id="{70DF4E2A-7629-DC4D-B412-2764846E0FD1}"/>
                  </a:ext>
                </a:extLst>
              </p:cNvPr>
              <p:cNvSpPr txBox="1">
                <a:spLocks noRot="1" noChangeAspect="1" noMove="1" noResize="1" noEditPoints="1" noAdjustHandles="1" noChangeArrowheads="1" noChangeShapeType="1" noTextEdit="1"/>
              </p:cNvSpPr>
              <p:nvPr/>
            </p:nvSpPr>
            <p:spPr bwMode="auto">
              <a:xfrm>
                <a:off x="4418798" y="827943"/>
                <a:ext cx="3200400" cy="419100"/>
              </a:xfrm>
              <a:prstGeom prst="rect">
                <a:avLst/>
              </a:prstGeom>
              <a:blipFill>
                <a:blip r:embed="rId3"/>
                <a:stretch>
                  <a:fillRect b="-28986"/>
                </a:stretch>
              </a:blipFill>
            </p:spPr>
            <p:txBody>
              <a:bodyPr/>
              <a:lstStyle/>
              <a:p>
                <a:r>
                  <a:rPr lang="en-US">
                    <a:noFill/>
                  </a:rPr>
                  <a:t> </a:t>
                </a:r>
              </a:p>
            </p:txBody>
          </p:sp>
        </mc:Fallback>
      </mc:AlternateContent>
    </p:spTree>
    <p:extLst>
      <p:ext uri="{BB962C8B-B14F-4D97-AF65-F5344CB8AC3E}">
        <p14:creationId xmlns:p14="http://schemas.microsoft.com/office/powerpoint/2010/main" val="105698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89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8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251712" y="124011"/>
            <a:ext cx="10515600" cy="1325563"/>
          </a:xfrm>
        </p:spPr>
        <p:txBody>
          <a:bodyPr/>
          <a:lstStyle/>
          <a:p>
            <a:r>
              <a:rPr lang="en-US" b="1" dirty="0"/>
              <a:t>BLUE</a:t>
            </a:r>
            <a:r>
              <a:rPr lang="en-US" dirty="0"/>
              <a:t>: Best Linear Unbiased Estimators**</a:t>
            </a:r>
          </a:p>
        </p:txBody>
      </p:sp>
      <p:sp>
        <p:nvSpPr>
          <p:cNvPr id="11" name="Rectangle 3">
            <a:extLst>
              <a:ext uri="{FF2B5EF4-FFF2-40B4-BE49-F238E27FC236}">
                <a16:creationId xmlns:a16="http://schemas.microsoft.com/office/drawing/2014/main" id="{EBCD6DDE-7ED2-9B16-E204-2D0DC9EF2507}"/>
              </a:ext>
            </a:extLst>
          </p:cNvPr>
          <p:cNvSpPr txBox="1">
            <a:spLocks noChangeArrowheads="1"/>
          </p:cNvSpPr>
          <p:nvPr/>
        </p:nvSpPr>
        <p:spPr>
          <a:xfrm>
            <a:off x="251712" y="1249362"/>
            <a:ext cx="10822405" cy="4359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Mathematically, we obtain estimating formulas:</a:t>
            </a: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lang="en-US" altLang="ar-SA" sz="2000" dirty="0">
              <a:solidFill>
                <a:schemeClr val="tx1"/>
              </a:solidFill>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or</a:t>
            </a: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endParaRPr kumimoji="0" lang="en-US" altLang="ar-SA" sz="20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A8612BA7-E92A-4AD3-7A1C-AC95B52BA717}"/>
                  </a:ext>
                </a:extLst>
              </p:cNvPr>
              <p:cNvSpPr txBox="1"/>
              <p:nvPr/>
            </p:nvSpPr>
            <p:spPr bwMode="auto">
              <a:xfrm>
                <a:off x="548384" y="1841707"/>
                <a:ext cx="8971153" cy="1270000"/>
              </a:xfrm>
              <a:prstGeom prst="rect">
                <a:avLst/>
              </a:prstGeom>
              <a:noFill/>
              <a:ln>
                <a:noFill/>
              </a:ln>
              <a:effectLst/>
            </p:spPr>
            <p:txBody>
              <a:bodyPr>
                <a:noAutofit/>
              </a:bodyPr>
              <a:lstStyle/>
              <a:p>
                <a:pPr lvl="0">
                  <a:defRPr/>
                </a:pPr>
                <a14:m>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fPr>
                      <m:num>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acc>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e>
                        </m:nary>
                      </m:num>
                      <m:den>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acc>
                            <m:sSup>
                              <m:sSup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e>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2</m:t>
                                </m:r>
                              </m:sup>
                            </m:sSup>
                          </m:e>
                        </m:nary>
                      </m:den>
                    </m:f>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e>
                                </m:nary>
                              </m:e>
                            </m:nary>
                          </m:e>
                        </m:nary>
                      </m:num>
                      <m:den>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sSubSup>
                              <m:sSubSup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Sup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2</m:t>
                                </m:r>
                              </m:sup>
                            </m:sSub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naryPr>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𝑛</m:t>
                                </m:r>
                              </m:sup>
                              <m:e>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𝑖</m:t>
                                    </m:r>
                                  </m:sub>
                                </m:sSub>
                                <m:sSup>
                                  <m:sSup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e>
                                  <m:sup>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2</m:t>
                                    </m:r>
                                  </m:sup>
                                </m:sSup>
                              </m:e>
                            </m:nary>
                          </m:e>
                        </m:nary>
                      </m:den>
                    </m:f>
                  </m:oMath>
                </a14:m>
                <a:r>
                  <a:rPr kumimoji="0" lang="en-US" sz="2400" b="0" i="0" u="none" strike="noStrike" kern="1200" cap="none" spc="0" normalizeH="0" baseline="0" noProof="0" dirty="0">
                    <a:ln>
                      <a:noFill/>
                    </a:ln>
                    <a:solidFill>
                      <a:schemeClr val="tx1"/>
                    </a:solidFill>
                    <a:effectLst/>
                    <a:uLnTx/>
                    <a:uFillTx/>
                    <a:latin typeface="Lucida Grande"/>
                    <a:ea typeface="+mn-ea"/>
                    <a:cs typeface="+mn-cs"/>
                  </a:rPr>
                  <a:t> = </a:t>
                </a:r>
                <a14:m>
                  <m:oMath xmlns:m="http://schemas.openxmlformats.org/officeDocument/2006/math">
                    <m:f>
                      <m:f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𝐶𝑂𝑉</m:t>
                        </m:r>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𝑋</m:t>
                        </m:r>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𝑌</m:t>
                        </m:r>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m:t>
                        </m:r>
                      </m:num>
                      <m:den>
                        <m:sSubSup>
                          <m:sSubSup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ctrlPr>
                          </m:sSubSupPr>
                          <m:e>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𝑆𝑆</m:t>
                            </m:r>
                          </m:e>
                          <m:sub>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𝑋</m:t>
                            </m:r>
                          </m:sub>
                          <m:sup>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2</m:t>
                            </m:r>
                          </m:sup>
                        </m:sSubSup>
                      </m:den>
                    </m:f>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m:t>
                    </m:r>
                    <m:f>
                      <m:fPr>
                        <m:ctrlPr>
                          <a:rPr lang="en-US" sz="2400" i="1" dirty="0">
                            <a:solidFill>
                              <a:schemeClr val="tx1"/>
                            </a:solidFill>
                            <a:latin typeface="Cambria Math" panose="02040503050406030204" pitchFamily="18" charset="0"/>
                          </a:rPr>
                        </m:ctrlPr>
                      </m:fPr>
                      <m:num>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𝑆</m:t>
                            </m:r>
                          </m:e>
                          <m:sub>
                            <m:r>
                              <a:rPr lang="en-US" sz="2400" b="0" i="1" dirty="0" smtClean="0">
                                <a:solidFill>
                                  <a:schemeClr val="tx1"/>
                                </a:solidFill>
                                <a:latin typeface="Cambria Math" panose="02040503050406030204" pitchFamily="18" charset="0"/>
                              </a:rPr>
                              <m:t>𝑋𝑌</m:t>
                            </m:r>
                          </m:sub>
                        </m:sSub>
                      </m:num>
                      <m:den>
                        <m:sSubSup>
                          <m:sSubSupPr>
                            <m:ctrlPr>
                              <a:rPr lang="en-US" sz="2400" i="1" dirty="0">
                                <a:solidFill>
                                  <a:schemeClr val="tx1"/>
                                </a:solidFill>
                                <a:latin typeface="Cambria Math" panose="02040503050406030204" pitchFamily="18" charset="0"/>
                              </a:rPr>
                            </m:ctrlPr>
                          </m:sSubSupPr>
                          <m:e>
                            <m:r>
                              <a:rPr lang="en-US" sz="2400" b="0" i="1" dirty="0" smtClean="0">
                                <a:solidFill>
                                  <a:schemeClr val="tx1"/>
                                </a:solidFill>
                                <a:latin typeface="Cambria Math" panose="02040503050406030204" pitchFamily="18" charset="0"/>
                              </a:rPr>
                              <m:t>𝑆𝑆</m:t>
                            </m:r>
                          </m:e>
                          <m:sub>
                            <m:r>
                              <a:rPr lang="en-US" sz="2400" i="1" dirty="0">
                                <a:solidFill>
                                  <a:schemeClr val="tx1"/>
                                </a:solidFill>
                                <a:latin typeface="Cambria Math" panose="02040503050406030204" pitchFamily="18" charset="0"/>
                              </a:rPr>
                              <m:t>𝑋</m:t>
                            </m:r>
                          </m:sub>
                          <m:sup>
                            <m:r>
                              <a:rPr lang="en-US" sz="2400" i="1" dirty="0">
                                <a:solidFill>
                                  <a:schemeClr val="tx1"/>
                                </a:solidFill>
                                <a:latin typeface="Cambria Math" panose="02040503050406030204" pitchFamily="18" charset="0"/>
                              </a:rPr>
                              <m:t>2</m:t>
                            </m:r>
                          </m:sup>
                        </m:sSubSup>
                      </m:den>
                    </m:f>
                  </m:oMath>
                </a14:m>
                <a:endParaRPr kumimoji="0" lang="en-US" sz="2400" b="0" i="0" u="none" strike="noStrike" kern="1200" cap="none" spc="0" normalizeH="0" baseline="0" noProof="0" dirty="0">
                  <a:ln>
                    <a:noFill/>
                  </a:ln>
                  <a:solidFill>
                    <a:schemeClr val="tx1"/>
                  </a:solidFill>
                  <a:effectLst/>
                  <a:uLnTx/>
                  <a:uFillTx/>
                  <a:latin typeface="Lucida Grande"/>
                  <a:ea typeface="+mn-ea"/>
                  <a:cs typeface="+mn-cs"/>
                </a:endParaRPr>
              </a:p>
            </p:txBody>
          </p:sp>
        </mc:Choice>
        <mc:Fallback xmlns="">
          <p:sp>
            <p:nvSpPr>
              <p:cNvPr id="12" name="Object 4">
                <a:extLst>
                  <a:ext uri="{FF2B5EF4-FFF2-40B4-BE49-F238E27FC236}">
                    <a16:creationId xmlns:a16="http://schemas.microsoft.com/office/drawing/2014/main" id="{A8612BA7-E92A-4AD3-7A1C-AC95B52BA717}"/>
                  </a:ext>
                </a:extLst>
              </p:cNvPr>
              <p:cNvSpPr txBox="1">
                <a:spLocks noRot="1" noChangeAspect="1" noMove="1" noResize="1" noEditPoints="1" noAdjustHandles="1" noChangeArrowheads="1" noChangeShapeType="1" noTextEdit="1"/>
              </p:cNvSpPr>
              <p:nvPr/>
            </p:nvSpPr>
            <p:spPr bwMode="auto">
              <a:xfrm>
                <a:off x="548384" y="1841707"/>
                <a:ext cx="8971153" cy="127000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2D9C941B-9791-DDE1-73B8-139BB3307313}"/>
                  </a:ext>
                </a:extLst>
              </p:cNvPr>
              <p:cNvSpPr txBox="1"/>
              <p:nvPr/>
            </p:nvSpPr>
            <p:spPr bwMode="auto">
              <a:xfrm>
                <a:off x="2605784" y="3615650"/>
                <a:ext cx="2651760" cy="552450"/>
              </a:xfrm>
              <a:prstGeom prst="rect">
                <a:avLst/>
              </a:prstGeom>
              <a:noFill/>
              <a:ln>
                <a:noFill/>
              </a:ln>
              <a:effectLst/>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Sub>
                      <m:acc>
                        <m:accPr>
                          <m:chr m:val="̄"/>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e>
                      </m:acc>
                    </m:oMath>
                  </m:oMathPara>
                </a14:m>
                <a:endParaRPr kumimoji="0" lang="en-US" sz="2400" b="0" i="0" u="none" strike="noStrike" kern="1200" cap="none" spc="0" normalizeH="0" baseline="0" noProof="0" dirty="0">
                  <a:ln>
                    <a:noFill/>
                  </a:ln>
                  <a:solidFill>
                    <a:schemeClr val="tx1"/>
                  </a:solidFill>
                  <a:effectLst/>
                  <a:uLnTx/>
                  <a:uFillTx/>
                  <a:latin typeface="Lucida Grande"/>
                  <a:ea typeface="+mn-ea"/>
                  <a:cs typeface="+mn-cs"/>
                </a:endParaRPr>
              </a:p>
            </p:txBody>
          </p:sp>
        </mc:Choice>
        <mc:Fallback xmlns="">
          <p:sp>
            <p:nvSpPr>
              <p:cNvPr id="13" name="Object 5">
                <a:extLst>
                  <a:ext uri="{FF2B5EF4-FFF2-40B4-BE49-F238E27FC236}">
                    <a16:creationId xmlns:a16="http://schemas.microsoft.com/office/drawing/2014/main" id="{2D9C941B-9791-DDE1-73B8-139BB3307313}"/>
                  </a:ext>
                </a:extLst>
              </p:cNvPr>
              <p:cNvSpPr txBox="1">
                <a:spLocks noRot="1" noChangeAspect="1" noMove="1" noResize="1" noEditPoints="1" noAdjustHandles="1" noChangeArrowheads="1" noChangeShapeType="1" noTextEdit="1"/>
              </p:cNvSpPr>
              <p:nvPr/>
            </p:nvSpPr>
            <p:spPr bwMode="auto">
              <a:xfrm>
                <a:off x="2605784" y="3615650"/>
                <a:ext cx="2651760" cy="552450"/>
              </a:xfrm>
              <a:prstGeom prst="rect">
                <a:avLst/>
              </a:prstGeom>
              <a:blipFill>
                <a:blip r:embed="rId4"/>
                <a:stretch>
                  <a:fillRect l="-6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6">
                <a:extLst>
                  <a:ext uri="{FF2B5EF4-FFF2-40B4-BE49-F238E27FC236}">
                    <a16:creationId xmlns:a16="http://schemas.microsoft.com/office/drawing/2014/main" id="{A0B2762D-7EF0-83B1-3854-05BB832ED90C}"/>
                  </a:ext>
                </a:extLst>
              </p:cNvPr>
              <p:cNvSpPr txBox="1"/>
              <p:nvPr/>
            </p:nvSpPr>
            <p:spPr bwMode="auto">
              <a:xfrm>
                <a:off x="891284" y="3489097"/>
                <a:ext cx="2057400" cy="703262"/>
              </a:xfrm>
              <a:prstGeom prst="rect">
                <a:avLst/>
              </a:prstGeom>
              <a:noFill/>
              <a:ln>
                <a:noFill/>
              </a:ln>
              <a:effectLst/>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𝑟</m:t>
                      </m:r>
                      <m:f>
                        <m:f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𝑆</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𝑦</m:t>
                              </m:r>
                            </m:sub>
                          </m:sSub>
                        </m:num>
                        <m:den>
                          <m:sSub>
                            <m:sSubPr>
                              <m:ctrlP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𝑆</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𝑥</m:t>
                              </m:r>
                            </m:sub>
                          </m:sSub>
                        </m:den>
                      </m:f>
                    </m:oMath>
                  </m:oMathPara>
                </a14:m>
                <a:endParaRPr kumimoji="0" lang="en-US" sz="2400" b="0" i="0" u="none" strike="noStrike" kern="1200" cap="none" spc="0" normalizeH="0" baseline="0" noProof="0" dirty="0">
                  <a:ln>
                    <a:noFill/>
                  </a:ln>
                  <a:solidFill>
                    <a:schemeClr val="tx1"/>
                  </a:solidFill>
                  <a:effectLst/>
                  <a:uLnTx/>
                  <a:uFillTx/>
                  <a:latin typeface="Lucida Grande"/>
                  <a:ea typeface="+mn-ea"/>
                  <a:cs typeface="+mn-cs"/>
                </a:endParaRPr>
              </a:p>
            </p:txBody>
          </p:sp>
        </mc:Choice>
        <mc:Fallback xmlns="">
          <p:sp>
            <p:nvSpPr>
              <p:cNvPr id="14" name="Object 6">
                <a:extLst>
                  <a:ext uri="{FF2B5EF4-FFF2-40B4-BE49-F238E27FC236}">
                    <a16:creationId xmlns:a16="http://schemas.microsoft.com/office/drawing/2014/main" id="{A0B2762D-7EF0-83B1-3854-05BB832ED90C}"/>
                  </a:ext>
                </a:extLst>
              </p:cNvPr>
              <p:cNvSpPr txBox="1">
                <a:spLocks noRot="1" noChangeAspect="1" noMove="1" noResize="1" noEditPoints="1" noAdjustHandles="1" noChangeArrowheads="1" noChangeShapeType="1" noTextEdit="1"/>
              </p:cNvSpPr>
              <p:nvPr/>
            </p:nvSpPr>
            <p:spPr bwMode="auto">
              <a:xfrm>
                <a:off x="891284" y="3489097"/>
                <a:ext cx="2057400" cy="703262"/>
              </a:xfrm>
              <a:prstGeom prst="rect">
                <a:avLst/>
              </a:prstGeom>
              <a:blipFill>
                <a:blip r:embed="rId5"/>
                <a:stretch>
                  <a:fillRect b="-1465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CE70886-1268-A7DC-3CE6-15C6E4511D9C}"/>
                  </a:ext>
                </a:extLst>
              </p:cNvPr>
              <p:cNvSpPr txBox="1"/>
              <p:nvPr/>
            </p:nvSpPr>
            <p:spPr>
              <a:xfrm>
                <a:off x="629552" y="5224493"/>
                <a:ext cx="2469783" cy="481350"/>
              </a:xfrm>
              <a:prstGeom prst="rect">
                <a:avLst/>
              </a:prstGeom>
              <a:noFill/>
            </p:spPr>
            <p:txBody>
              <a:bodyPr wrap="square">
                <a:spAutoFit/>
              </a:bodyPr>
              <a:lstStyle/>
              <a:p>
                <a:pPr>
                  <a:defRPr/>
                </a:pPr>
                <a14:m>
                  <m:oMathPara xmlns:m="http://schemas.openxmlformats.org/officeDocument/2006/math">
                    <m:oMathParaPr>
                      <m:jc m:val="left"/>
                    </m:oMathParaPr>
                    <m:oMath xmlns:m="http://schemas.openxmlformats.org/officeDocument/2006/math">
                      <m:acc>
                        <m:accPr>
                          <m:chr m:val="̂"/>
                          <m:ctrlPr>
                            <a:rPr lang="en-US" sz="2400" i="1" smtClean="0">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𝑦</m:t>
                          </m:r>
                        </m:e>
                      </m:acc>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𝑏</m:t>
                              </m:r>
                            </m:e>
                          </m:acc>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𝑏</m:t>
                              </m:r>
                            </m:e>
                          </m:acc>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𝑥</m:t>
                      </m:r>
                    </m:oMath>
                  </m:oMathPara>
                </a14:m>
                <a:endParaRPr lang="en-US" sz="2400" dirty="0"/>
              </a:p>
            </p:txBody>
          </p:sp>
        </mc:Choice>
        <mc:Fallback xmlns="">
          <p:sp>
            <p:nvSpPr>
              <p:cNvPr id="2" name="TextBox 1">
                <a:extLst>
                  <a:ext uri="{FF2B5EF4-FFF2-40B4-BE49-F238E27FC236}">
                    <a16:creationId xmlns:a16="http://schemas.microsoft.com/office/drawing/2014/main" id="{1CE70886-1268-A7DC-3CE6-15C6E4511D9C}"/>
                  </a:ext>
                </a:extLst>
              </p:cNvPr>
              <p:cNvSpPr txBox="1">
                <a:spLocks noRot="1" noChangeAspect="1" noMove="1" noResize="1" noEditPoints="1" noAdjustHandles="1" noChangeArrowheads="1" noChangeShapeType="1" noTextEdit="1"/>
              </p:cNvSpPr>
              <p:nvPr/>
            </p:nvSpPr>
            <p:spPr>
              <a:xfrm>
                <a:off x="629552" y="5224493"/>
                <a:ext cx="2469783" cy="481350"/>
              </a:xfrm>
              <a:prstGeom prst="rect">
                <a:avLst/>
              </a:prstGeom>
              <a:blipFill>
                <a:blip r:embed="rId6"/>
                <a:stretch>
                  <a:fillRect l="-513" t="-10256" b="-7692"/>
                </a:stretch>
              </a:blipFill>
            </p:spPr>
            <p:txBody>
              <a:bodyPr/>
              <a:lstStyle/>
              <a:p>
                <a:r>
                  <a:rPr lang="en-US">
                    <a:noFill/>
                  </a:rPr>
                  <a:t> </a:t>
                </a:r>
              </a:p>
            </p:txBody>
          </p:sp>
        </mc:Fallback>
      </mc:AlternateContent>
      <p:sp>
        <p:nvSpPr>
          <p:cNvPr id="4" name="Text Box 8">
            <a:extLst>
              <a:ext uri="{FF2B5EF4-FFF2-40B4-BE49-F238E27FC236}">
                <a16:creationId xmlns:a16="http://schemas.microsoft.com/office/drawing/2014/main" id="{09551DBD-6854-A49D-BA5D-D06A35F14E8E}"/>
              </a:ext>
            </a:extLst>
          </p:cNvPr>
          <p:cNvSpPr txBox="1">
            <a:spLocks noChangeArrowheads="1"/>
          </p:cNvSpPr>
          <p:nvPr/>
        </p:nvSpPr>
        <p:spPr bwMode="auto">
          <a:xfrm>
            <a:off x="548384" y="4871749"/>
            <a:ext cx="9182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regression equation that estimates the first order linear model is: </a:t>
            </a:r>
          </a:p>
        </p:txBody>
      </p:sp>
    </p:spTree>
    <p:extLst>
      <p:ext uri="{BB962C8B-B14F-4D97-AF65-F5344CB8AC3E}">
        <p14:creationId xmlns:p14="http://schemas.microsoft.com/office/powerpoint/2010/main" val="23670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678BDC0-6929-452D-9F76-6AA571F89493}"/>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AF2B675-3BAF-420B-B2FC-1C2A1E07683B}"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2769" name="Rectangle 2"/>
          <p:cNvSpPr>
            <a:spLocks noGrp="1" noChangeArrowheads="1"/>
          </p:cNvSpPr>
          <p:nvPr>
            <p:ph type="title" idx="4294967295"/>
          </p:nvPr>
        </p:nvSpPr>
        <p:spPr>
          <a:xfrm>
            <a:off x="138281" y="136525"/>
            <a:ext cx="9637712" cy="691248"/>
          </a:xfrm>
        </p:spPr>
        <p:txBody>
          <a:bodyPr vert="horz" lIns="91440" tIns="45720" rIns="91440" bIns="45720" rtlCol="0" anchor="ctr">
            <a:normAutofit/>
          </a:bodyPr>
          <a:lstStyle/>
          <a:p>
            <a:r>
              <a:rPr lang="en-US" sz="3600" kern="1200" dirty="0">
                <a:solidFill>
                  <a:schemeClr val="tx1"/>
                </a:solidFill>
                <a:latin typeface="Arial" panose="020B0604020202020204" pitchFamily="34" charset="0"/>
                <a:cs typeface="Arial" panose="020B0604020202020204" pitchFamily="34" charset="0"/>
              </a:rPr>
              <a:t>The Intercept</a:t>
            </a:r>
          </a:p>
        </p:txBody>
      </p:sp>
      <mc:AlternateContent xmlns:mc="http://schemas.openxmlformats.org/markup-compatibility/2006" xmlns:a14="http://schemas.microsoft.com/office/drawing/2010/main">
        <mc:Choice Requires="a14">
          <p:sp>
            <p:nvSpPr>
              <p:cNvPr id="32770" name="Rectangle 3"/>
              <p:cNvSpPr>
                <a:spLocks noGrp="1" noChangeArrowheads="1"/>
              </p:cNvSpPr>
              <p:nvPr>
                <p:ph type="body" idx="4294967295"/>
              </p:nvPr>
            </p:nvSpPr>
            <p:spPr>
              <a:xfrm>
                <a:off x="310272" y="827773"/>
                <a:ext cx="11417452" cy="3410852"/>
              </a:xfrm>
            </p:spPr>
            <p:txBody>
              <a:bodyPr vert="horz" lIns="91440" tIns="45720" rIns="91440" bIns="45720" rtlCol="0">
                <a:noAutofit/>
              </a:bodyPr>
              <a:lstStyle/>
              <a:p>
                <a:r>
                  <a:rPr lang="en-US" sz="2000" dirty="0">
                    <a:latin typeface="Arial" panose="020B0604020202020204" pitchFamily="34" charset="0"/>
                    <a:cs typeface="Arial" panose="020B0604020202020204" pitchFamily="34" charset="0"/>
                  </a:rPr>
                  <a:t>The intercept is where the regression line intersects the y-axis. </a:t>
                </a:r>
              </a:p>
              <a:p>
                <a:r>
                  <a:rPr lang="en-US" sz="2000" dirty="0">
                    <a:latin typeface="Arial" panose="020B0604020202020204" pitchFamily="34" charset="0"/>
                    <a:cs typeface="Arial" panose="020B0604020202020204" pitchFamily="34" charset="0"/>
                  </a:rPr>
                  <a:t>The intercept,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𝑏</m:t>
                        </m:r>
                      </m:e>
                      <m:sub>
                        <m:r>
                          <a:rPr lang="en-US" sz="2000" b="0" i="1">
                            <a:latin typeface="Cambria Math" panose="02040503050406030204" pitchFamily="18" charset="0"/>
                          </a:rPr>
                          <m:t>0</m:t>
                        </m:r>
                      </m:sub>
                    </m:sSub>
                    <m:r>
                      <a:rPr lang="en-US" sz="2000" b="0" i="1" smtClean="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tells the predicted value </a:t>
                </a:r>
                <a14:m>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𝑦</m:t>
                        </m:r>
                      </m:e>
                    </m:acc>
                  </m:oMath>
                </a14:m>
                <a:r>
                  <a:rPr lang="en-US" sz="2000" dirty="0">
                    <a:latin typeface="Arial" panose="020B0604020202020204" pitchFamily="34" charset="0"/>
                    <a:cs typeface="Arial" panose="020B0604020202020204" pitchFamily="34" charset="0"/>
                  </a:rPr>
                  <a:t> when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 0.</a:t>
                </a:r>
              </a:p>
              <a:p>
                <a:r>
                  <a:rPr lang="en-US" sz="2000" u="sng" dirty="0">
                    <a:latin typeface="Arial" panose="020B0604020202020204" pitchFamily="34" charset="0"/>
                    <a:cs typeface="Arial" panose="020B0604020202020204" pitchFamily="34" charset="0"/>
                  </a:rPr>
                  <a:t>Note</a:t>
                </a:r>
                <a:r>
                  <a:rPr lang="en-US" sz="2000" dirty="0">
                    <a:latin typeface="Arial" panose="020B0604020202020204" pitchFamily="34" charset="0"/>
                    <a:cs typeface="Arial" panose="020B0604020202020204" pitchFamily="34" charset="0"/>
                  </a:rPr>
                  <a:t>: If zero is not in or near the range of values observed for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then the intercept has no interpretation (i.e., it represents an </a:t>
                </a:r>
                <a:r>
                  <a:rPr lang="en-US" sz="2000" b="1" dirty="0">
                    <a:latin typeface="Arial" panose="020B0604020202020204" pitchFamily="34" charset="0"/>
                    <a:cs typeface="Arial" panose="020B0604020202020204" pitchFamily="34" charset="0"/>
                  </a:rPr>
                  <a:t>extrapolation</a:t>
                </a:r>
                <a:r>
                  <a:rPr lang="en-US" sz="2000" dirty="0">
                    <a:latin typeface="Arial" panose="020B0604020202020204" pitchFamily="34" charset="0"/>
                    <a:cs typeface="Arial" panose="020B0604020202020204" pitchFamily="34" charset="0"/>
                  </a:rPr>
                  <a:t>).</a:t>
                </a:r>
              </a:p>
              <a:p>
                <a:r>
                  <a:rPr lang="en-US" sz="2000" u="sng"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Predicting poverty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from the percent who graduated high school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It would not make sense to have 0% high school graduates; in this case, the intercept would not have an interpretation.</a:t>
                </a:r>
              </a:p>
              <a:p>
                <a:r>
                  <a:rPr lang="en-US" sz="2000" dirty="0">
                    <a:latin typeface="Arial" panose="020B0604020202020204" pitchFamily="34" charset="0"/>
                    <a:cs typeface="Arial" panose="020B0604020202020204" pitchFamily="34" charset="0"/>
                  </a:rPr>
                  <a:t>The calculation of the intercept uses the fact that a regression line always passes through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r>
                          <a:rPr lang="en-US" sz="2000" i="1">
                            <a:latin typeface="Cambria Math" panose="02040503050406030204" pitchFamily="18" charset="0"/>
                          </a:rPr>
                          <m:t>,</m:t>
                        </m:r>
                      </m:e>
                    </m:acc>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𝑦</m:t>
                        </m:r>
                      </m:e>
                    </m:acc>
                  </m:oMath>
                </a14:m>
                <a:endParaRPr lang="en-US" sz="20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p:txBody>
          </p:sp>
        </mc:Choice>
        <mc:Fallback xmlns="">
          <p:sp>
            <p:nvSpPr>
              <p:cNvPr id="32770" name="Rectangle 3"/>
              <p:cNvSpPr>
                <a:spLocks noGrp="1" noRot="1" noChangeAspect="1" noMove="1" noResize="1" noEditPoints="1" noAdjustHandles="1" noChangeArrowheads="1" noChangeShapeType="1" noTextEdit="1"/>
              </p:cNvSpPr>
              <p:nvPr>
                <p:ph type="body" idx="4294967295"/>
              </p:nvPr>
            </p:nvSpPr>
            <p:spPr>
              <a:xfrm>
                <a:off x="310272" y="827773"/>
                <a:ext cx="11417452" cy="3410852"/>
              </a:xfrm>
              <a:blipFill>
                <a:blip r:embed="rId3"/>
                <a:stretch>
                  <a:fillRect l="-481" t="-1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023AD0-4087-C12A-26CD-EC6C47174EB7}"/>
                  </a:ext>
                </a:extLst>
              </p:cNvPr>
              <p:cNvSpPr txBox="1"/>
              <p:nvPr/>
            </p:nvSpPr>
            <p:spPr>
              <a:xfrm>
                <a:off x="646697" y="3668814"/>
                <a:ext cx="1826910" cy="3890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𝑏</m:t>
                              </m:r>
                            </m:e>
                          </m:acc>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𝑦</m:t>
                          </m:r>
                        </m:e>
                      </m:acc>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𝑏</m:t>
                              </m:r>
                            </m:e>
                          </m:acc>
                        </m:e>
                        <m:sub>
                          <m:r>
                            <a:rPr lang="en-US" sz="2400" b="0" i="1" smtClean="0">
                              <a:latin typeface="Cambria Math" panose="02040503050406030204" pitchFamily="18" charset="0"/>
                            </a:rPr>
                            <m:t>1</m:t>
                          </m:r>
                        </m:sub>
                      </m:sSub>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𝑥</m:t>
                          </m:r>
                        </m:e>
                      </m:acc>
                    </m:oMath>
                  </m:oMathPara>
                </a14:m>
                <a:endParaRPr lang="en-US" sz="2400" dirty="0"/>
              </a:p>
            </p:txBody>
          </p:sp>
        </mc:Choice>
        <mc:Fallback xmlns="">
          <p:sp>
            <p:nvSpPr>
              <p:cNvPr id="5" name="TextBox 4">
                <a:extLst>
                  <a:ext uri="{FF2B5EF4-FFF2-40B4-BE49-F238E27FC236}">
                    <a16:creationId xmlns:a16="http://schemas.microsoft.com/office/drawing/2014/main" id="{97023AD0-4087-C12A-26CD-EC6C47174EB7}"/>
                  </a:ext>
                </a:extLst>
              </p:cNvPr>
              <p:cNvSpPr txBox="1">
                <a:spLocks noRot="1" noChangeAspect="1" noMove="1" noResize="1" noEditPoints="1" noAdjustHandles="1" noChangeArrowheads="1" noChangeShapeType="1" noTextEdit="1"/>
              </p:cNvSpPr>
              <p:nvPr/>
            </p:nvSpPr>
            <p:spPr>
              <a:xfrm>
                <a:off x="646697" y="3668814"/>
                <a:ext cx="1826910" cy="38901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97862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203" y="215342"/>
            <a:ext cx="7879464" cy="588305"/>
          </a:xfrm>
          <a:prstGeom prst="rect">
            <a:avLst/>
          </a:prstGeom>
        </p:spPr>
        <p:txBody>
          <a:bodyPr vert="horz" wrap="square" lIns="0" tIns="33975" rIns="0" bIns="0" rtlCol="0" anchor="ctr">
            <a:spAutoFit/>
          </a:bodyPr>
          <a:lstStyle/>
          <a:p>
            <a:pPr marL="25168">
              <a:lnSpc>
                <a:spcPct val="100000"/>
              </a:lnSpc>
              <a:spcBef>
                <a:spcPts val="268"/>
              </a:spcBef>
            </a:pPr>
            <a:r>
              <a:rPr sz="3600" spc="-20" dirty="0">
                <a:latin typeface="Arial" panose="020B0604020202020204" pitchFamily="34" charset="0"/>
                <a:cs typeface="Arial" panose="020B0604020202020204" pitchFamily="34" charset="0"/>
              </a:rPr>
              <a:t>Given...</a:t>
            </a:r>
          </a:p>
        </p:txBody>
      </p:sp>
      <p:pic>
        <p:nvPicPr>
          <p:cNvPr id="3" name="object 3"/>
          <p:cNvPicPr/>
          <p:nvPr/>
        </p:nvPicPr>
        <p:blipFill>
          <a:blip r:embed="rId2" cstate="print"/>
          <a:stretch>
            <a:fillRect/>
          </a:stretch>
        </p:blipFill>
        <p:spPr>
          <a:xfrm>
            <a:off x="659086" y="1043867"/>
            <a:ext cx="3225659" cy="2385133"/>
          </a:xfrm>
          <a:prstGeom prst="rect">
            <a:avLst/>
          </a:prstGeom>
        </p:spPr>
      </p:pic>
      <p:sp>
        <p:nvSpPr>
          <p:cNvPr id="4" name="object 4"/>
          <p:cNvSpPr txBox="1"/>
          <p:nvPr/>
        </p:nvSpPr>
        <p:spPr>
          <a:xfrm>
            <a:off x="1271803" y="3368813"/>
            <a:ext cx="245378" cy="237599"/>
          </a:xfrm>
          <a:prstGeom prst="rect">
            <a:avLst/>
          </a:prstGeom>
        </p:spPr>
        <p:txBody>
          <a:bodyPr vert="horz" wrap="square" lIns="0" tIns="23909" rIns="0" bIns="0" rtlCol="0">
            <a:spAutoFit/>
          </a:bodyPr>
          <a:lstStyle/>
          <a:p>
            <a:pPr marL="25168">
              <a:spcBef>
                <a:spcPts val="188"/>
              </a:spcBef>
            </a:pPr>
            <a:r>
              <a:rPr sz="1387" spc="-50" dirty="0">
                <a:latin typeface="Arial" panose="020B0604020202020204" pitchFamily="34" charset="0"/>
                <a:cs typeface="Arial" panose="020B0604020202020204" pitchFamily="34" charset="0"/>
              </a:rPr>
              <a:t>80</a:t>
            </a:r>
            <a:endParaRPr sz="1387">
              <a:latin typeface="Arial" panose="020B0604020202020204" pitchFamily="34" charset="0"/>
              <a:cs typeface="Arial" panose="020B0604020202020204" pitchFamily="34" charset="0"/>
            </a:endParaRPr>
          </a:p>
        </p:txBody>
      </p:sp>
      <p:sp>
        <p:nvSpPr>
          <p:cNvPr id="5" name="object 5"/>
          <p:cNvSpPr txBox="1"/>
          <p:nvPr/>
        </p:nvSpPr>
        <p:spPr>
          <a:xfrm>
            <a:off x="3230498" y="3368813"/>
            <a:ext cx="245378" cy="237599"/>
          </a:xfrm>
          <a:prstGeom prst="rect">
            <a:avLst/>
          </a:prstGeom>
        </p:spPr>
        <p:txBody>
          <a:bodyPr vert="horz" wrap="square" lIns="0" tIns="23909" rIns="0" bIns="0" rtlCol="0">
            <a:spAutoFit/>
          </a:bodyPr>
          <a:lstStyle/>
          <a:p>
            <a:pPr marL="25168">
              <a:spcBef>
                <a:spcPts val="188"/>
              </a:spcBef>
            </a:pPr>
            <a:r>
              <a:rPr sz="1387" spc="-50" dirty="0">
                <a:latin typeface="Arial" panose="020B0604020202020204" pitchFamily="34" charset="0"/>
                <a:cs typeface="Arial" panose="020B0604020202020204" pitchFamily="34" charset="0"/>
              </a:rPr>
              <a:t>90</a:t>
            </a:r>
            <a:endParaRPr sz="1387">
              <a:latin typeface="Arial" panose="020B0604020202020204" pitchFamily="34" charset="0"/>
              <a:cs typeface="Arial" panose="020B0604020202020204" pitchFamily="34" charset="0"/>
            </a:endParaRPr>
          </a:p>
        </p:txBody>
      </p:sp>
      <p:sp>
        <p:nvSpPr>
          <p:cNvPr id="6" name="object 6"/>
          <p:cNvSpPr txBox="1"/>
          <p:nvPr/>
        </p:nvSpPr>
        <p:spPr>
          <a:xfrm>
            <a:off x="411142" y="2031270"/>
            <a:ext cx="245378" cy="1301159"/>
          </a:xfrm>
          <a:prstGeom prst="rect">
            <a:avLst/>
          </a:prstGeom>
        </p:spPr>
        <p:txBody>
          <a:bodyPr vert="horz" wrap="square" lIns="0" tIns="23909" rIns="0" bIns="0" rtlCol="0">
            <a:spAutoFit/>
          </a:bodyPr>
          <a:lstStyle/>
          <a:p>
            <a:pPr marL="25168">
              <a:spcBef>
                <a:spcPts val="188"/>
              </a:spcBef>
            </a:pPr>
            <a:r>
              <a:rPr sz="1387" spc="-50" dirty="0">
                <a:latin typeface="Arial" panose="020B0604020202020204" pitchFamily="34" charset="0"/>
                <a:cs typeface="Arial" panose="020B0604020202020204" pitchFamily="34" charset="0"/>
              </a:rPr>
              <a:t>12</a:t>
            </a:r>
            <a:endParaRPr sz="1387">
              <a:latin typeface="Arial" panose="020B0604020202020204" pitchFamily="34" charset="0"/>
              <a:cs typeface="Arial" panose="020B0604020202020204" pitchFamily="34" charset="0"/>
            </a:endParaRPr>
          </a:p>
          <a:p>
            <a:pPr marL="25168">
              <a:spcBef>
                <a:spcPts val="1050"/>
              </a:spcBef>
            </a:pPr>
            <a:r>
              <a:rPr sz="1387" spc="-50" dirty="0">
                <a:latin typeface="Arial" panose="020B0604020202020204" pitchFamily="34" charset="0"/>
                <a:cs typeface="Arial" panose="020B0604020202020204" pitchFamily="34" charset="0"/>
              </a:rPr>
              <a:t>10</a:t>
            </a:r>
            <a:endParaRPr sz="1387">
              <a:latin typeface="Arial" panose="020B0604020202020204" pitchFamily="34" charset="0"/>
              <a:cs typeface="Arial" panose="020B0604020202020204" pitchFamily="34" charset="0"/>
            </a:endParaRPr>
          </a:p>
          <a:p>
            <a:pPr marL="122061">
              <a:spcBef>
                <a:spcPts val="1060"/>
              </a:spcBef>
            </a:pPr>
            <a:r>
              <a:rPr sz="1387" spc="-99" dirty="0">
                <a:latin typeface="Arial" panose="020B0604020202020204" pitchFamily="34" charset="0"/>
                <a:cs typeface="Arial" panose="020B0604020202020204" pitchFamily="34" charset="0"/>
              </a:rPr>
              <a:t>8</a:t>
            </a:r>
            <a:endParaRPr sz="1387">
              <a:latin typeface="Arial" panose="020B0604020202020204" pitchFamily="34" charset="0"/>
              <a:cs typeface="Arial" panose="020B0604020202020204" pitchFamily="34" charset="0"/>
            </a:endParaRPr>
          </a:p>
          <a:p>
            <a:pPr marL="122061">
              <a:spcBef>
                <a:spcPts val="1050"/>
              </a:spcBef>
            </a:pPr>
            <a:r>
              <a:rPr sz="1387" spc="-99" dirty="0">
                <a:latin typeface="Arial" panose="020B0604020202020204" pitchFamily="34" charset="0"/>
                <a:cs typeface="Arial" panose="020B0604020202020204" pitchFamily="34" charset="0"/>
              </a:rPr>
              <a:t>6</a:t>
            </a:r>
            <a:endParaRPr sz="1387">
              <a:latin typeface="Arial" panose="020B0604020202020204" pitchFamily="34" charset="0"/>
              <a:cs typeface="Arial" panose="020B0604020202020204" pitchFamily="34" charset="0"/>
            </a:endParaRPr>
          </a:p>
        </p:txBody>
      </p:sp>
      <p:sp>
        <p:nvSpPr>
          <p:cNvPr id="7" name="object 7"/>
          <p:cNvSpPr txBox="1"/>
          <p:nvPr/>
        </p:nvSpPr>
        <p:spPr>
          <a:xfrm>
            <a:off x="411142" y="995693"/>
            <a:ext cx="245378" cy="946639"/>
          </a:xfrm>
          <a:prstGeom prst="rect">
            <a:avLst/>
          </a:prstGeom>
        </p:spPr>
        <p:txBody>
          <a:bodyPr vert="horz" wrap="square" lIns="0" tIns="23909" rIns="0" bIns="0" rtlCol="0">
            <a:spAutoFit/>
          </a:bodyPr>
          <a:lstStyle/>
          <a:p>
            <a:pPr marL="25168">
              <a:spcBef>
                <a:spcPts val="188"/>
              </a:spcBef>
            </a:pPr>
            <a:r>
              <a:rPr sz="1387" spc="-50" dirty="0">
                <a:latin typeface="Arial" panose="020B0604020202020204" pitchFamily="34" charset="0"/>
                <a:cs typeface="Arial" panose="020B0604020202020204" pitchFamily="34" charset="0"/>
              </a:rPr>
              <a:t>18</a:t>
            </a:r>
            <a:endParaRPr sz="1387">
              <a:latin typeface="Arial" panose="020B0604020202020204" pitchFamily="34" charset="0"/>
              <a:cs typeface="Arial" panose="020B0604020202020204" pitchFamily="34" charset="0"/>
            </a:endParaRPr>
          </a:p>
          <a:p>
            <a:pPr marL="25168">
              <a:spcBef>
                <a:spcPts val="1050"/>
              </a:spcBef>
            </a:pPr>
            <a:r>
              <a:rPr sz="1387" spc="-50" dirty="0">
                <a:latin typeface="Arial" panose="020B0604020202020204" pitchFamily="34" charset="0"/>
                <a:cs typeface="Arial" panose="020B0604020202020204" pitchFamily="34" charset="0"/>
              </a:rPr>
              <a:t>16</a:t>
            </a:r>
            <a:endParaRPr sz="1387">
              <a:latin typeface="Arial" panose="020B0604020202020204" pitchFamily="34" charset="0"/>
              <a:cs typeface="Arial" panose="020B0604020202020204" pitchFamily="34" charset="0"/>
            </a:endParaRPr>
          </a:p>
          <a:p>
            <a:pPr marL="25168">
              <a:spcBef>
                <a:spcPts val="1060"/>
              </a:spcBef>
            </a:pPr>
            <a:r>
              <a:rPr sz="1387" spc="-50" dirty="0">
                <a:latin typeface="Arial" panose="020B0604020202020204" pitchFamily="34" charset="0"/>
                <a:cs typeface="Arial" panose="020B0604020202020204" pitchFamily="34" charset="0"/>
              </a:rPr>
              <a:t>14</a:t>
            </a:r>
            <a:endParaRPr sz="1387">
              <a:latin typeface="Arial" panose="020B0604020202020204" pitchFamily="34" charset="0"/>
              <a:cs typeface="Arial" panose="020B0604020202020204" pitchFamily="34" charset="0"/>
            </a:endParaRPr>
          </a:p>
        </p:txBody>
      </p:sp>
      <p:sp>
        <p:nvSpPr>
          <p:cNvPr id="8" name="object 8"/>
          <p:cNvSpPr txBox="1"/>
          <p:nvPr/>
        </p:nvSpPr>
        <p:spPr>
          <a:xfrm>
            <a:off x="1857445" y="3326786"/>
            <a:ext cx="895944" cy="531457"/>
          </a:xfrm>
          <a:prstGeom prst="rect">
            <a:avLst/>
          </a:prstGeom>
        </p:spPr>
        <p:txBody>
          <a:bodyPr vert="horz" wrap="square" lIns="0" tIns="65434" rIns="0" bIns="0" rtlCol="0">
            <a:spAutoFit/>
          </a:bodyPr>
          <a:lstStyle/>
          <a:p>
            <a:pPr marL="417782">
              <a:spcBef>
                <a:spcPts val="515"/>
              </a:spcBef>
            </a:pPr>
            <a:r>
              <a:rPr sz="1387" spc="-50" dirty="0">
                <a:latin typeface="Arial" panose="020B0604020202020204" pitchFamily="34" charset="0"/>
                <a:cs typeface="Arial" panose="020B0604020202020204" pitchFamily="34" charset="0"/>
              </a:rPr>
              <a:t>85</a:t>
            </a:r>
            <a:endParaRPr sz="1387">
              <a:latin typeface="Arial" panose="020B0604020202020204" pitchFamily="34" charset="0"/>
              <a:cs typeface="Arial" panose="020B0604020202020204" pitchFamily="34" charset="0"/>
            </a:endParaRPr>
          </a:p>
          <a:p>
            <a:pPr marL="25168">
              <a:spcBef>
                <a:spcPts val="327"/>
              </a:spcBef>
            </a:pPr>
            <a:r>
              <a:rPr sz="1387" dirty="0">
                <a:latin typeface="Arial" panose="020B0604020202020204" pitchFamily="34" charset="0"/>
                <a:cs typeface="Arial" panose="020B0604020202020204" pitchFamily="34" charset="0"/>
              </a:rPr>
              <a:t>%</a:t>
            </a:r>
            <a:r>
              <a:rPr sz="1387" spc="-30" dirty="0">
                <a:latin typeface="Arial" panose="020B0604020202020204" pitchFamily="34" charset="0"/>
                <a:cs typeface="Arial" panose="020B0604020202020204" pitchFamily="34" charset="0"/>
              </a:rPr>
              <a:t> </a:t>
            </a:r>
            <a:r>
              <a:rPr sz="1387" dirty="0">
                <a:latin typeface="Arial" panose="020B0604020202020204" pitchFamily="34" charset="0"/>
                <a:cs typeface="Arial" panose="020B0604020202020204" pitchFamily="34" charset="0"/>
              </a:rPr>
              <a:t>HS</a:t>
            </a:r>
            <a:r>
              <a:rPr sz="1387" spc="-20" dirty="0">
                <a:latin typeface="Arial" panose="020B0604020202020204" pitchFamily="34" charset="0"/>
                <a:cs typeface="Arial" panose="020B0604020202020204" pitchFamily="34" charset="0"/>
              </a:rPr>
              <a:t> </a:t>
            </a:r>
            <a:r>
              <a:rPr sz="1387" spc="-40" dirty="0">
                <a:latin typeface="Arial" panose="020B0604020202020204" pitchFamily="34" charset="0"/>
                <a:cs typeface="Arial" panose="020B0604020202020204" pitchFamily="34" charset="0"/>
              </a:rPr>
              <a:t>grad</a:t>
            </a:r>
            <a:endParaRPr sz="1387">
              <a:latin typeface="Arial" panose="020B0604020202020204" pitchFamily="34" charset="0"/>
              <a:cs typeface="Arial" panose="020B0604020202020204" pitchFamily="34" charset="0"/>
            </a:endParaRPr>
          </a:p>
        </p:txBody>
      </p:sp>
      <p:sp>
        <p:nvSpPr>
          <p:cNvPr id="9" name="object 9"/>
          <p:cNvSpPr txBox="1"/>
          <p:nvPr/>
        </p:nvSpPr>
        <p:spPr>
          <a:xfrm>
            <a:off x="167203" y="1696286"/>
            <a:ext cx="213456" cy="1014227"/>
          </a:xfrm>
          <a:prstGeom prst="rect">
            <a:avLst/>
          </a:prstGeom>
        </p:spPr>
        <p:txBody>
          <a:bodyPr vert="vert270" wrap="square" lIns="0" tIns="7550" rIns="0" bIns="0" rtlCol="0">
            <a:spAutoFit/>
          </a:bodyPr>
          <a:lstStyle/>
          <a:p>
            <a:pPr marL="25168">
              <a:spcBef>
                <a:spcPts val="59"/>
              </a:spcBef>
            </a:pPr>
            <a:r>
              <a:rPr sz="1387" dirty="0">
                <a:latin typeface="Arial" panose="020B0604020202020204" pitchFamily="34" charset="0"/>
                <a:cs typeface="Arial" panose="020B0604020202020204" pitchFamily="34" charset="0"/>
              </a:rPr>
              <a:t>%</a:t>
            </a:r>
            <a:r>
              <a:rPr sz="1387" spc="-30" dirty="0">
                <a:latin typeface="Arial" panose="020B0604020202020204" pitchFamily="34" charset="0"/>
                <a:cs typeface="Arial" panose="020B0604020202020204" pitchFamily="34" charset="0"/>
              </a:rPr>
              <a:t> </a:t>
            </a:r>
            <a:r>
              <a:rPr sz="1387" dirty="0">
                <a:latin typeface="Arial" panose="020B0604020202020204" pitchFamily="34" charset="0"/>
                <a:cs typeface="Arial" panose="020B0604020202020204" pitchFamily="34" charset="0"/>
              </a:rPr>
              <a:t>in</a:t>
            </a:r>
            <a:r>
              <a:rPr sz="1387" spc="-20" dirty="0">
                <a:latin typeface="Arial" panose="020B0604020202020204" pitchFamily="34" charset="0"/>
                <a:cs typeface="Arial" panose="020B0604020202020204" pitchFamily="34" charset="0"/>
              </a:rPr>
              <a:t> poverty</a:t>
            </a:r>
            <a:endParaRPr sz="1387">
              <a:latin typeface="Arial" panose="020B0604020202020204" pitchFamily="34" charset="0"/>
              <a:cs typeface="Arial" panose="020B0604020202020204" pitchFamily="34" charset="0"/>
            </a:endParaRPr>
          </a:p>
        </p:txBody>
      </p:sp>
      <p:sp>
        <p:nvSpPr>
          <p:cNvPr id="10" name="object 10"/>
          <p:cNvSpPr/>
          <p:nvPr/>
        </p:nvSpPr>
        <p:spPr>
          <a:xfrm>
            <a:off x="4216221" y="1288855"/>
            <a:ext cx="4246927"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sz="3567">
              <a:latin typeface="Arial" panose="020B0604020202020204" pitchFamily="34" charset="0"/>
              <a:cs typeface="Arial" panose="020B0604020202020204" pitchFamily="34" charset="0"/>
            </a:endParaRPr>
          </a:p>
        </p:txBody>
      </p:sp>
      <p:sp>
        <p:nvSpPr>
          <p:cNvPr id="11" name="object 11"/>
          <p:cNvSpPr txBox="1"/>
          <p:nvPr/>
        </p:nvSpPr>
        <p:spPr>
          <a:xfrm>
            <a:off x="5294676" y="1220208"/>
            <a:ext cx="1307424" cy="837796"/>
          </a:xfrm>
          <a:prstGeom prst="rect">
            <a:avLst/>
          </a:prstGeom>
        </p:spPr>
        <p:txBody>
          <a:bodyPr vert="horz" wrap="square" lIns="0" tIns="95634" rIns="0" bIns="0" rtlCol="0">
            <a:spAutoFit/>
          </a:bodyPr>
          <a:lstStyle/>
          <a:p>
            <a:pPr marL="25168">
              <a:spcBef>
                <a:spcPts val="753"/>
              </a:spcBef>
            </a:pPr>
            <a:r>
              <a:rPr sz="2000" dirty="0">
                <a:latin typeface="Arial" panose="020B0604020202020204" pitchFamily="34" charset="0"/>
                <a:cs typeface="Arial" panose="020B0604020202020204" pitchFamily="34" charset="0"/>
              </a:rPr>
              <a:t>%</a:t>
            </a:r>
            <a:r>
              <a:rPr sz="2000" spc="79"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HS</a:t>
            </a:r>
            <a:r>
              <a:rPr sz="2000" spc="89" dirty="0">
                <a:latin typeface="Arial" panose="020B0604020202020204" pitchFamily="34" charset="0"/>
                <a:cs typeface="Arial" panose="020B0604020202020204" pitchFamily="34" charset="0"/>
              </a:rPr>
              <a:t> </a:t>
            </a:r>
            <a:r>
              <a:rPr sz="2000" spc="-40" dirty="0">
                <a:latin typeface="Arial" panose="020B0604020202020204" pitchFamily="34" charset="0"/>
                <a:cs typeface="Arial" panose="020B0604020202020204" pitchFamily="34" charset="0"/>
              </a:rPr>
              <a:t>grad</a:t>
            </a:r>
            <a:endParaRPr sz="2000" dirty="0">
              <a:latin typeface="Arial" panose="020B0604020202020204" pitchFamily="34" charset="0"/>
              <a:cs typeface="Arial" panose="020B0604020202020204" pitchFamily="34" charset="0"/>
            </a:endParaRPr>
          </a:p>
          <a:p>
            <a:pPr marR="10067" algn="r">
              <a:spcBef>
                <a:spcPts val="515"/>
              </a:spcBef>
            </a:pPr>
            <a:r>
              <a:rPr sz="2400" spc="-50" dirty="0">
                <a:latin typeface="Arial" panose="020B0604020202020204" pitchFamily="34" charset="0"/>
                <a:cs typeface="Arial" panose="020B0604020202020204" pitchFamily="34" charset="0"/>
              </a:rPr>
              <a:t>(</a:t>
            </a:r>
            <a:r>
              <a:rPr sz="2400" i="1" spc="-50" dirty="0">
                <a:latin typeface="Arial" panose="020B0604020202020204" pitchFamily="34" charset="0"/>
                <a:cs typeface="Arial" panose="020B0604020202020204" pitchFamily="34" charset="0"/>
              </a:rPr>
              <a:t>x</a:t>
            </a:r>
            <a:r>
              <a:rPr sz="2400" spc="-50" dirty="0">
                <a:latin typeface="Arial" panose="020B0604020202020204" pitchFamily="34" charset="0"/>
                <a:cs typeface="Arial" panose="020B0604020202020204" pitchFamily="34" charset="0"/>
              </a:rPr>
              <a:t>)</a:t>
            </a:r>
            <a:endParaRPr sz="2400" dirty="0">
              <a:latin typeface="Arial" panose="020B0604020202020204" pitchFamily="34" charset="0"/>
              <a:cs typeface="Arial" panose="020B0604020202020204" pitchFamily="34" charset="0"/>
            </a:endParaRPr>
          </a:p>
        </p:txBody>
      </p:sp>
      <p:sp>
        <p:nvSpPr>
          <p:cNvPr id="12" name="object 12"/>
          <p:cNvSpPr txBox="1"/>
          <p:nvPr/>
        </p:nvSpPr>
        <p:spPr>
          <a:xfrm>
            <a:off x="6851512" y="1220208"/>
            <a:ext cx="1486110" cy="837796"/>
          </a:xfrm>
          <a:prstGeom prst="rect">
            <a:avLst/>
          </a:prstGeom>
        </p:spPr>
        <p:txBody>
          <a:bodyPr vert="horz" wrap="square" lIns="0" tIns="95634" rIns="0" bIns="0" rtlCol="0">
            <a:spAutoFit/>
          </a:bodyPr>
          <a:lstStyle/>
          <a:p>
            <a:pPr marL="25168">
              <a:spcBef>
                <a:spcPts val="753"/>
              </a:spcBef>
            </a:pPr>
            <a:r>
              <a:rPr sz="2000" dirty="0">
                <a:latin typeface="Arial" panose="020B0604020202020204" pitchFamily="34" charset="0"/>
                <a:cs typeface="Arial" panose="020B0604020202020204" pitchFamily="34" charset="0"/>
              </a:rPr>
              <a:t>%</a:t>
            </a:r>
            <a:r>
              <a:rPr sz="2000" spc="69"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in</a:t>
            </a:r>
            <a:r>
              <a:rPr sz="2000" spc="79" dirty="0">
                <a:latin typeface="Arial" panose="020B0604020202020204" pitchFamily="34" charset="0"/>
                <a:cs typeface="Arial" panose="020B0604020202020204" pitchFamily="34" charset="0"/>
              </a:rPr>
              <a:t> </a:t>
            </a:r>
            <a:r>
              <a:rPr sz="2000" spc="-20" dirty="0">
                <a:latin typeface="Arial" panose="020B0604020202020204" pitchFamily="34" charset="0"/>
                <a:cs typeface="Arial" panose="020B0604020202020204" pitchFamily="34" charset="0"/>
              </a:rPr>
              <a:t>poverty</a:t>
            </a:r>
            <a:endParaRPr sz="2000" dirty="0">
              <a:latin typeface="Arial" panose="020B0604020202020204" pitchFamily="34" charset="0"/>
              <a:cs typeface="Arial" panose="020B0604020202020204" pitchFamily="34" charset="0"/>
            </a:endParaRPr>
          </a:p>
          <a:p>
            <a:pPr marR="10067" algn="r">
              <a:spcBef>
                <a:spcPts val="515"/>
              </a:spcBef>
            </a:pPr>
            <a:r>
              <a:rPr sz="2400" spc="-50" dirty="0">
                <a:latin typeface="Arial" panose="020B0604020202020204" pitchFamily="34" charset="0"/>
                <a:cs typeface="Arial" panose="020B0604020202020204" pitchFamily="34" charset="0"/>
              </a:rPr>
              <a:t>(</a:t>
            </a:r>
            <a:r>
              <a:rPr sz="2400" i="1" spc="-50" dirty="0">
                <a:latin typeface="Arial" panose="020B0604020202020204" pitchFamily="34" charset="0"/>
                <a:cs typeface="Arial" panose="020B0604020202020204" pitchFamily="34" charset="0"/>
              </a:rPr>
              <a:t>y</a:t>
            </a:r>
            <a:r>
              <a:rPr sz="2400" spc="-50" dirty="0">
                <a:latin typeface="Arial" panose="020B0604020202020204" pitchFamily="34" charset="0"/>
                <a:cs typeface="Arial" panose="020B0604020202020204" pitchFamily="34" charset="0"/>
              </a:rPr>
              <a:t>)</a:t>
            </a:r>
            <a:endParaRPr sz="2400" dirty="0">
              <a:latin typeface="Arial" panose="020B0604020202020204" pitchFamily="34" charset="0"/>
              <a:cs typeface="Arial" panose="020B0604020202020204" pitchFamily="34" charset="0"/>
            </a:endParaRPr>
          </a:p>
        </p:txBody>
      </p:sp>
      <p:sp>
        <p:nvSpPr>
          <p:cNvPr id="13" name="object 13"/>
          <p:cNvSpPr/>
          <p:nvPr/>
        </p:nvSpPr>
        <p:spPr>
          <a:xfrm>
            <a:off x="4216221" y="2083151"/>
            <a:ext cx="4246927"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sz="3567">
              <a:latin typeface="Arial" panose="020B0604020202020204" pitchFamily="34" charset="0"/>
              <a:cs typeface="Arial" panose="020B0604020202020204" pitchFamily="34" charset="0"/>
            </a:endParaRPr>
          </a:p>
        </p:txBody>
      </p:sp>
      <p:sp>
        <p:nvSpPr>
          <p:cNvPr id="14" name="object 14"/>
          <p:cNvSpPr txBox="1"/>
          <p:nvPr/>
        </p:nvSpPr>
        <p:spPr>
          <a:xfrm>
            <a:off x="4402138" y="2058004"/>
            <a:ext cx="2719777" cy="766077"/>
          </a:xfrm>
          <a:prstGeom prst="rect">
            <a:avLst/>
          </a:prstGeom>
        </p:spPr>
        <p:txBody>
          <a:bodyPr vert="horz" wrap="square" lIns="0" tIns="85568" rIns="0" bIns="0" rtlCol="0">
            <a:spAutoFit/>
          </a:bodyPr>
          <a:lstStyle/>
          <a:p>
            <a:pPr marL="75503">
              <a:spcBef>
                <a:spcPts val="674"/>
              </a:spcBef>
              <a:tabLst>
                <a:tab pos="1215595" algn="l"/>
              </a:tabLst>
            </a:pPr>
            <a:r>
              <a:rPr sz="2000" spc="-40" dirty="0">
                <a:latin typeface="Arial" panose="020B0604020202020204" pitchFamily="34" charset="0"/>
                <a:cs typeface="Arial" panose="020B0604020202020204" pitchFamily="34" charset="0"/>
              </a:rPr>
              <a:t>mean</a:t>
            </a:r>
            <a:r>
              <a:rPr sz="2000" dirty="0">
                <a:latin typeface="Arial" panose="020B0604020202020204" pitchFamily="34" charset="0"/>
                <a:cs typeface="Arial" panose="020B0604020202020204" pitchFamily="34" charset="0"/>
              </a:rPr>
              <a:t>	</a:t>
            </a:r>
            <a:r>
              <a:rPr sz="2000" i="1" spc="-436" dirty="0">
                <a:latin typeface="Arial" panose="020B0604020202020204" pitchFamily="34" charset="0"/>
                <a:cs typeface="Arial" panose="020B0604020202020204" pitchFamily="34" charset="0"/>
              </a:rPr>
              <a:t>x</a:t>
            </a:r>
            <a:r>
              <a:rPr sz="2000" spc="-436" dirty="0">
                <a:latin typeface="Arial" panose="020B0604020202020204" pitchFamily="34" charset="0"/>
                <a:cs typeface="Arial" panose="020B0604020202020204" pitchFamily="34" charset="0"/>
              </a:rPr>
              <a:t>¯</a:t>
            </a:r>
            <a:r>
              <a:rPr sz="2000" spc="178"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99" dirty="0">
                <a:latin typeface="Arial" panose="020B0604020202020204" pitchFamily="34" charset="0"/>
                <a:cs typeface="Arial" panose="020B0604020202020204" pitchFamily="34" charset="0"/>
              </a:rPr>
              <a:t> </a:t>
            </a:r>
            <a:r>
              <a:rPr sz="2000" spc="-40" dirty="0">
                <a:latin typeface="Arial" panose="020B0604020202020204" pitchFamily="34" charset="0"/>
                <a:cs typeface="Arial" panose="020B0604020202020204" pitchFamily="34" charset="0"/>
              </a:rPr>
              <a:t>86.01</a:t>
            </a:r>
            <a:endParaRPr sz="2000" dirty="0">
              <a:latin typeface="Arial" panose="020B0604020202020204" pitchFamily="34" charset="0"/>
              <a:cs typeface="Arial" panose="020B0604020202020204" pitchFamily="34" charset="0"/>
            </a:endParaRPr>
          </a:p>
          <a:p>
            <a:pPr marL="75503">
              <a:spcBef>
                <a:spcPts val="466"/>
              </a:spcBef>
              <a:tabLst>
                <a:tab pos="1267188" algn="l"/>
              </a:tabLst>
            </a:pPr>
            <a:r>
              <a:rPr sz="2000" spc="-50" dirty="0">
                <a:latin typeface="Arial" panose="020B0604020202020204" pitchFamily="34" charset="0"/>
                <a:cs typeface="Arial" panose="020B0604020202020204" pitchFamily="34" charset="0"/>
              </a:rPr>
              <a:t>sd</a:t>
            </a:r>
            <a:r>
              <a:rPr sz="2000" dirty="0">
                <a:latin typeface="Arial" panose="020B0604020202020204" pitchFamily="34" charset="0"/>
                <a:cs typeface="Arial" panose="020B0604020202020204" pitchFamily="34" charset="0"/>
              </a:rPr>
              <a:t>	</a:t>
            </a:r>
            <a:r>
              <a:rPr sz="2000" i="1" dirty="0">
                <a:latin typeface="Arial" panose="020B0604020202020204" pitchFamily="34" charset="0"/>
                <a:cs typeface="Arial" panose="020B0604020202020204" pitchFamily="34" charset="0"/>
              </a:rPr>
              <a:t>s</a:t>
            </a:r>
            <a:r>
              <a:rPr sz="2000" i="1" baseline="-10416" dirty="0">
                <a:latin typeface="Arial" panose="020B0604020202020204" pitchFamily="34" charset="0"/>
                <a:cs typeface="Arial" panose="020B0604020202020204" pitchFamily="34" charset="0"/>
              </a:rPr>
              <a:t>x</a:t>
            </a:r>
            <a:r>
              <a:rPr sz="2000" i="1" spc="446" baseline="-10416"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109" dirty="0">
                <a:latin typeface="Arial" panose="020B0604020202020204" pitchFamily="34" charset="0"/>
                <a:cs typeface="Arial" panose="020B0604020202020204" pitchFamily="34" charset="0"/>
              </a:rPr>
              <a:t> </a:t>
            </a:r>
            <a:r>
              <a:rPr sz="2000" spc="-40" dirty="0">
                <a:latin typeface="Arial" panose="020B0604020202020204" pitchFamily="34" charset="0"/>
                <a:cs typeface="Arial" panose="020B0604020202020204" pitchFamily="34" charset="0"/>
              </a:rPr>
              <a:t>3.73</a:t>
            </a:r>
            <a:endParaRPr sz="2000" dirty="0">
              <a:latin typeface="Arial" panose="020B0604020202020204" pitchFamily="34" charset="0"/>
              <a:cs typeface="Arial" panose="020B0604020202020204" pitchFamily="34" charset="0"/>
            </a:endParaRPr>
          </a:p>
        </p:txBody>
      </p:sp>
      <p:sp>
        <p:nvSpPr>
          <p:cNvPr id="15" name="object 15"/>
          <p:cNvSpPr txBox="1"/>
          <p:nvPr/>
        </p:nvSpPr>
        <p:spPr>
          <a:xfrm>
            <a:off x="6749645" y="2058004"/>
            <a:ext cx="1625287" cy="766077"/>
          </a:xfrm>
          <a:prstGeom prst="rect">
            <a:avLst/>
          </a:prstGeom>
        </p:spPr>
        <p:txBody>
          <a:bodyPr vert="horz" wrap="square" lIns="0" tIns="85568" rIns="0" bIns="0" rtlCol="0">
            <a:spAutoFit/>
          </a:bodyPr>
          <a:lstStyle/>
          <a:p>
            <a:pPr marR="60402" algn="r">
              <a:spcBef>
                <a:spcPts val="674"/>
              </a:spcBef>
            </a:pPr>
            <a:r>
              <a:rPr sz="2000" i="1" spc="-436" dirty="0">
                <a:latin typeface="Arial" panose="020B0604020202020204" pitchFamily="34" charset="0"/>
                <a:cs typeface="Arial" panose="020B0604020202020204" pitchFamily="34" charset="0"/>
              </a:rPr>
              <a:t>y</a:t>
            </a:r>
            <a:r>
              <a:rPr sz="2000" spc="-436" dirty="0">
                <a:latin typeface="Arial" panose="020B0604020202020204" pitchFamily="34" charset="0"/>
                <a:cs typeface="Arial" panose="020B0604020202020204" pitchFamily="34" charset="0"/>
              </a:rPr>
              <a:t>¯</a:t>
            </a:r>
            <a:r>
              <a:rPr sz="2000" spc="168"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99" dirty="0">
                <a:latin typeface="Arial" panose="020B0604020202020204" pitchFamily="34" charset="0"/>
                <a:cs typeface="Arial" panose="020B0604020202020204" pitchFamily="34" charset="0"/>
              </a:rPr>
              <a:t> </a:t>
            </a:r>
            <a:r>
              <a:rPr sz="2000" spc="-20" dirty="0">
                <a:latin typeface="Arial" panose="020B0604020202020204" pitchFamily="34" charset="0"/>
                <a:cs typeface="Arial" panose="020B0604020202020204" pitchFamily="34" charset="0"/>
              </a:rPr>
              <a:t>11.35</a:t>
            </a:r>
            <a:endParaRPr sz="2000" dirty="0">
              <a:latin typeface="Arial" panose="020B0604020202020204" pitchFamily="34" charset="0"/>
              <a:cs typeface="Arial" panose="020B0604020202020204" pitchFamily="34" charset="0"/>
            </a:endParaRPr>
          </a:p>
          <a:p>
            <a:pPr marR="60402" algn="r">
              <a:spcBef>
                <a:spcPts val="466"/>
              </a:spcBef>
            </a:pPr>
            <a:r>
              <a:rPr sz="2000" i="1" dirty="0">
                <a:latin typeface="Arial" panose="020B0604020202020204" pitchFamily="34" charset="0"/>
                <a:cs typeface="Arial" panose="020B0604020202020204" pitchFamily="34" charset="0"/>
              </a:rPr>
              <a:t>s</a:t>
            </a:r>
            <a:r>
              <a:rPr sz="2000" i="1" baseline="-10416" dirty="0">
                <a:latin typeface="Arial" panose="020B0604020202020204" pitchFamily="34" charset="0"/>
                <a:cs typeface="Arial" panose="020B0604020202020204" pitchFamily="34" charset="0"/>
              </a:rPr>
              <a:t>y</a:t>
            </a:r>
            <a:r>
              <a:rPr sz="2000" i="1" spc="430" baseline="-10416"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109" dirty="0">
                <a:latin typeface="Arial" panose="020B0604020202020204" pitchFamily="34" charset="0"/>
                <a:cs typeface="Arial" panose="020B0604020202020204" pitchFamily="34" charset="0"/>
              </a:rPr>
              <a:t> </a:t>
            </a:r>
            <a:r>
              <a:rPr sz="2000" spc="-50" dirty="0">
                <a:latin typeface="Arial" panose="020B0604020202020204" pitchFamily="34" charset="0"/>
                <a:cs typeface="Arial" panose="020B0604020202020204" pitchFamily="34" charset="0"/>
              </a:rPr>
              <a:t>3.1</a:t>
            </a:r>
            <a:endParaRPr sz="2000" dirty="0">
              <a:latin typeface="Arial" panose="020B0604020202020204" pitchFamily="34" charset="0"/>
              <a:cs typeface="Arial" panose="020B0604020202020204" pitchFamily="34" charset="0"/>
            </a:endParaRPr>
          </a:p>
        </p:txBody>
      </p:sp>
      <p:sp>
        <p:nvSpPr>
          <p:cNvPr id="16" name="object 16"/>
          <p:cNvSpPr/>
          <p:nvPr/>
        </p:nvSpPr>
        <p:spPr>
          <a:xfrm>
            <a:off x="4216221" y="2877472"/>
            <a:ext cx="4246927"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sz="3567">
              <a:latin typeface="Arial" panose="020B0604020202020204" pitchFamily="34" charset="0"/>
              <a:cs typeface="Arial" panose="020B0604020202020204" pitchFamily="34" charset="0"/>
            </a:endParaRPr>
          </a:p>
        </p:txBody>
      </p:sp>
      <p:sp>
        <p:nvSpPr>
          <p:cNvPr id="17" name="object 17"/>
          <p:cNvSpPr txBox="1"/>
          <p:nvPr/>
        </p:nvSpPr>
        <p:spPr>
          <a:xfrm>
            <a:off x="5333030" y="2870989"/>
            <a:ext cx="1268415" cy="339327"/>
          </a:xfrm>
          <a:prstGeom prst="rect">
            <a:avLst/>
          </a:prstGeom>
        </p:spPr>
        <p:txBody>
          <a:bodyPr vert="horz" wrap="square" lIns="0" tIns="33975" rIns="0" bIns="0" rtlCol="0">
            <a:spAutoFit/>
          </a:bodyPr>
          <a:lstStyle/>
          <a:p>
            <a:pPr marL="25168">
              <a:spcBef>
                <a:spcPts val="268"/>
              </a:spcBef>
            </a:pPr>
            <a:r>
              <a:rPr sz="2000" spc="-20" dirty="0">
                <a:latin typeface="Arial" panose="020B0604020202020204" pitchFamily="34" charset="0"/>
                <a:cs typeface="Arial" panose="020B0604020202020204" pitchFamily="34" charset="0"/>
              </a:rPr>
              <a:t>correlation</a:t>
            </a:r>
            <a:endParaRPr sz="2000" dirty="0">
              <a:latin typeface="Arial" panose="020B0604020202020204" pitchFamily="34" charset="0"/>
              <a:cs typeface="Arial" panose="020B0604020202020204" pitchFamily="34" charset="0"/>
            </a:endParaRPr>
          </a:p>
        </p:txBody>
      </p:sp>
      <p:sp>
        <p:nvSpPr>
          <p:cNvPr id="18" name="object 18"/>
          <p:cNvSpPr txBox="1"/>
          <p:nvPr/>
        </p:nvSpPr>
        <p:spPr>
          <a:xfrm>
            <a:off x="7136469" y="2857260"/>
            <a:ext cx="1200465" cy="330648"/>
          </a:xfrm>
          <a:prstGeom prst="rect">
            <a:avLst/>
          </a:prstGeom>
        </p:spPr>
        <p:txBody>
          <a:bodyPr vert="horz" wrap="square" lIns="0" tIns="22650" rIns="0" bIns="0" rtlCol="0">
            <a:spAutoFit/>
          </a:bodyPr>
          <a:lstStyle/>
          <a:p>
            <a:pPr marL="25168">
              <a:spcBef>
                <a:spcPts val="178"/>
              </a:spcBef>
            </a:pPr>
            <a:r>
              <a:rPr sz="2000" i="1" dirty="0">
                <a:latin typeface="Arial" panose="020B0604020202020204" pitchFamily="34" charset="0"/>
                <a:cs typeface="Arial" panose="020B0604020202020204" pitchFamily="34" charset="0"/>
              </a:rPr>
              <a:t>R</a:t>
            </a:r>
            <a:r>
              <a:rPr sz="2000" i="1"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119" dirty="0">
                <a:latin typeface="Arial" panose="020B0604020202020204" pitchFamily="34" charset="0"/>
                <a:cs typeface="Arial" panose="020B0604020202020204" pitchFamily="34" charset="0"/>
              </a:rPr>
              <a:t> </a:t>
            </a:r>
            <a:r>
              <a:rPr sz="2000" spc="-99" dirty="0">
                <a:latin typeface="Arial" panose="020B0604020202020204" pitchFamily="34" charset="0"/>
                <a:cs typeface="Arial" panose="020B0604020202020204" pitchFamily="34" charset="0"/>
              </a:rPr>
              <a:t>−0.75</a:t>
            </a:r>
            <a:endParaRPr sz="2000" dirty="0">
              <a:latin typeface="Arial" panose="020B0604020202020204" pitchFamily="34" charset="0"/>
              <a:cs typeface="Arial" panose="020B0604020202020204" pitchFamily="34" charset="0"/>
            </a:endParaRPr>
          </a:p>
        </p:txBody>
      </p:sp>
      <p:sp>
        <p:nvSpPr>
          <p:cNvPr id="19" name="object 19"/>
          <p:cNvSpPr/>
          <p:nvPr/>
        </p:nvSpPr>
        <p:spPr>
          <a:xfrm>
            <a:off x="4216221" y="3279640"/>
            <a:ext cx="4246927"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sz="3567">
              <a:latin typeface="Arial" panose="020B0604020202020204" pitchFamily="34" charset="0"/>
              <a:cs typeface="Arial" panose="020B0604020202020204" pitchFamily="34" charset="0"/>
            </a:endParaRPr>
          </a:p>
        </p:txBody>
      </p:sp>
      <p:sp>
        <p:nvSpPr>
          <p:cNvPr id="20" name="object 20"/>
          <p:cNvSpPr txBox="1">
            <a:spLocks noGrp="1"/>
          </p:cNvSpPr>
          <p:nvPr>
            <p:ph type="sldNum" sz="quarter" idx="7"/>
          </p:nvPr>
        </p:nvSpPr>
        <p:spPr>
          <a:xfrm>
            <a:off x="9867536" y="6344803"/>
            <a:ext cx="389079" cy="228652"/>
          </a:xfrm>
          <a:prstGeom prst="rect">
            <a:avLst/>
          </a:prstGeom>
        </p:spPr>
        <p:txBody>
          <a:bodyPr vert="horz" wrap="square" lIns="0" tIns="0" rIns="0" bIns="0" rtlCol="0">
            <a:spAutoFit/>
          </a:bodyPr>
          <a:lstStyle>
            <a:defPPr>
              <a:defRPr kern="0"/>
            </a:defPPr>
            <a:lvl1pPr>
              <a:defRPr sz="1486" b="0" i="0">
                <a:solidFill>
                  <a:srgbClr val="22373A"/>
                </a:solidFill>
                <a:latin typeface="Arial"/>
                <a:cs typeface="Arial"/>
              </a:defRPr>
            </a:lvl1pPr>
          </a:lstStyle>
          <a:p>
            <a:pPr marL="181207">
              <a:spcBef>
                <a:spcPts val="139"/>
              </a:spcBef>
            </a:pPr>
            <a:fld id="{81D60167-4931-47E6-BA6A-407CBD079E47}" type="slidenum">
              <a:rPr lang="en-US" spc="-99">
                <a:solidFill>
                  <a:schemeClr val="tx1"/>
                </a:solidFill>
                <a:latin typeface="Arial" panose="020B0604020202020204" pitchFamily="34" charset="0"/>
                <a:cs typeface="Arial" panose="020B0604020202020204" pitchFamily="34" charset="0"/>
              </a:rPr>
              <a:pPr marL="181207">
                <a:spcBef>
                  <a:spcPts val="139"/>
                </a:spcBef>
              </a:pPr>
              <a:t>19</a:t>
            </a:fld>
            <a:endParaRPr spc="-5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6830364"/>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61925" y="124836"/>
            <a:ext cx="11877597" cy="536111"/>
          </a:xfrm>
          <a:prstGeom prst="rect">
            <a:avLst/>
          </a:prstGeom>
        </p:spPr>
        <p:txBody>
          <a:bodyPr vert="horz" wrap="square" lIns="0" tIns="33975" rIns="0" bIns="0" rtlCol="0">
            <a:spAutoFit/>
          </a:bodyPr>
          <a:lstStyle/>
          <a:p>
            <a:pPr marL="25168">
              <a:spcBef>
                <a:spcPts val="268"/>
              </a:spcBef>
            </a:pPr>
            <a:r>
              <a:rPr sz="3600" spc="-20" dirty="0">
                <a:latin typeface="Arial" panose="020B0604020202020204" pitchFamily="34" charset="0"/>
                <a:cs typeface="Arial" panose="020B0604020202020204" pitchFamily="34" charset="0"/>
              </a:rPr>
              <a:t>Intercept</a:t>
            </a:r>
          </a:p>
        </p:txBody>
      </p:sp>
      <p:grpSp>
        <p:nvGrpSpPr>
          <p:cNvPr id="5" name="object 5"/>
          <p:cNvGrpSpPr/>
          <p:nvPr/>
        </p:nvGrpSpPr>
        <p:grpSpPr>
          <a:xfrm>
            <a:off x="760045" y="2742285"/>
            <a:ext cx="4372761" cy="553673"/>
            <a:chOff x="407113" y="2655352"/>
            <a:chExt cx="2206625" cy="279400"/>
          </a:xfrm>
        </p:grpSpPr>
        <p:pic>
          <p:nvPicPr>
            <p:cNvPr id="6" name="object 6"/>
            <p:cNvPicPr/>
            <p:nvPr/>
          </p:nvPicPr>
          <p:blipFill>
            <a:blip r:embed="rId2"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pPr defTabSz="1812066"/>
              <a:endParaRPr sz="3567" kern="0">
                <a:solidFill>
                  <a:sysClr val="windowText" lastClr="000000"/>
                </a:solidFill>
              </a:endParaRPr>
            </a:p>
          </p:txBody>
        </p:sp>
      </p:grpSp>
      <p:sp>
        <p:nvSpPr>
          <p:cNvPr id="8" name="object 8"/>
          <p:cNvSpPr txBox="1"/>
          <p:nvPr/>
        </p:nvSpPr>
        <p:spPr>
          <a:xfrm>
            <a:off x="701643" y="3241338"/>
            <a:ext cx="123318" cy="182973"/>
          </a:xfrm>
          <a:prstGeom prst="rect">
            <a:avLst/>
          </a:prstGeom>
        </p:spPr>
        <p:txBody>
          <a:bodyPr vert="horz" wrap="square" lIns="0" tIns="30200" rIns="0" bIns="0" rtlCol="0">
            <a:spAutoFit/>
          </a:bodyPr>
          <a:lstStyle/>
          <a:p>
            <a:pPr marL="25168" defTabSz="1812066">
              <a:spcBef>
                <a:spcPts val="238"/>
              </a:spcBef>
            </a:pPr>
            <a:r>
              <a:rPr sz="991" kern="0" spc="-99" dirty="0">
                <a:solidFill>
                  <a:sysClr val="windowText" lastClr="000000"/>
                </a:solidFill>
                <a:latin typeface="Arial"/>
                <a:cs typeface="Arial"/>
              </a:rPr>
              <a:t>0</a:t>
            </a:r>
            <a:endParaRPr sz="991" kern="0">
              <a:solidFill>
                <a:sysClr val="windowText" lastClr="000000"/>
              </a:solidFill>
              <a:latin typeface="Arial"/>
              <a:cs typeface="Arial"/>
            </a:endParaRPr>
          </a:p>
        </p:txBody>
      </p:sp>
      <p:sp>
        <p:nvSpPr>
          <p:cNvPr id="9" name="object 9"/>
          <p:cNvSpPr txBox="1"/>
          <p:nvPr/>
        </p:nvSpPr>
        <p:spPr>
          <a:xfrm>
            <a:off x="1538342" y="3241338"/>
            <a:ext cx="196302" cy="182973"/>
          </a:xfrm>
          <a:prstGeom prst="rect">
            <a:avLst/>
          </a:prstGeom>
        </p:spPr>
        <p:txBody>
          <a:bodyPr vert="horz" wrap="square" lIns="0" tIns="30200" rIns="0" bIns="0" rtlCol="0">
            <a:spAutoFit/>
          </a:bodyPr>
          <a:lstStyle/>
          <a:p>
            <a:pPr marL="25168" defTabSz="1812066">
              <a:spcBef>
                <a:spcPts val="238"/>
              </a:spcBef>
            </a:pPr>
            <a:r>
              <a:rPr sz="991" kern="0" spc="-50" dirty="0">
                <a:solidFill>
                  <a:sysClr val="windowText" lastClr="000000"/>
                </a:solidFill>
                <a:latin typeface="Arial"/>
                <a:cs typeface="Arial"/>
              </a:rPr>
              <a:t>20</a:t>
            </a:r>
            <a:endParaRPr sz="991" kern="0">
              <a:solidFill>
                <a:sysClr val="windowText" lastClr="000000"/>
              </a:solidFill>
              <a:latin typeface="Arial"/>
              <a:cs typeface="Arial"/>
            </a:endParaRPr>
          </a:p>
        </p:txBody>
      </p:sp>
      <p:sp>
        <p:nvSpPr>
          <p:cNvPr id="10" name="object 10"/>
          <p:cNvSpPr txBox="1"/>
          <p:nvPr/>
        </p:nvSpPr>
        <p:spPr>
          <a:xfrm>
            <a:off x="2411493" y="3241338"/>
            <a:ext cx="196302" cy="182973"/>
          </a:xfrm>
          <a:prstGeom prst="rect">
            <a:avLst/>
          </a:prstGeom>
        </p:spPr>
        <p:txBody>
          <a:bodyPr vert="horz" wrap="square" lIns="0" tIns="30200" rIns="0" bIns="0" rtlCol="0">
            <a:spAutoFit/>
          </a:bodyPr>
          <a:lstStyle/>
          <a:p>
            <a:pPr marL="25168" defTabSz="1812066">
              <a:spcBef>
                <a:spcPts val="238"/>
              </a:spcBef>
            </a:pPr>
            <a:r>
              <a:rPr sz="991" kern="0" spc="-50" dirty="0">
                <a:solidFill>
                  <a:sysClr val="windowText" lastClr="000000"/>
                </a:solidFill>
                <a:latin typeface="Arial"/>
                <a:cs typeface="Arial"/>
              </a:rPr>
              <a:t>40</a:t>
            </a:r>
            <a:endParaRPr sz="991" kern="0">
              <a:solidFill>
                <a:sysClr val="windowText" lastClr="000000"/>
              </a:solidFill>
              <a:latin typeface="Arial"/>
              <a:cs typeface="Arial"/>
            </a:endParaRPr>
          </a:p>
        </p:txBody>
      </p:sp>
      <p:sp>
        <p:nvSpPr>
          <p:cNvPr id="11" name="object 11"/>
          <p:cNvSpPr txBox="1"/>
          <p:nvPr/>
        </p:nvSpPr>
        <p:spPr>
          <a:xfrm>
            <a:off x="3284646" y="3241338"/>
            <a:ext cx="196302" cy="182973"/>
          </a:xfrm>
          <a:prstGeom prst="rect">
            <a:avLst/>
          </a:prstGeom>
        </p:spPr>
        <p:txBody>
          <a:bodyPr vert="horz" wrap="square" lIns="0" tIns="30200" rIns="0" bIns="0" rtlCol="0">
            <a:spAutoFit/>
          </a:bodyPr>
          <a:lstStyle/>
          <a:p>
            <a:pPr marL="25168" defTabSz="1812066">
              <a:spcBef>
                <a:spcPts val="238"/>
              </a:spcBef>
            </a:pPr>
            <a:r>
              <a:rPr sz="991" kern="0" spc="-50" dirty="0">
                <a:solidFill>
                  <a:sysClr val="windowText" lastClr="000000"/>
                </a:solidFill>
                <a:latin typeface="Arial"/>
                <a:cs typeface="Arial"/>
              </a:rPr>
              <a:t>60</a:t>
            </a:r>
            <a:endParaRPr sz="991" kern="0">
              <a:solidFill>
                <a:sysClr val="windowText" lastClr="000000"/>
              </a:solidFill>
              <a:latin typeface="Arial"/>
              <a:cs typeface="Arial"/>
            </a:endParaRPr>
          </a:p>
        </p:txBody>
      </p:sp>
      <p:sp>
        <p:nvSpPr>
          <p:cNvPr id="12" name="object 12"/>
          <p:cNvSpPr txBox="1"/>
          <p:nvPr/>
        </p:nvSpPr>
        <p:spPr>
          <a:xfrm>
            <a:off x="4157799" y="3241338"/>
            <a:ext cx="196302" cy="182973"/>
          </a:xfrm>
          <a:prstGeom prst="rect">
            <a:avLst/>
          </a:prstGeom>
        </p:spPr>
        <p:txBody>
          <a:bodyPr vert="horz" wrap="square" lIns="0" tIns="30200" rIns="0" bIns="0" rtlCol="0">
            <a:spAutoFit/>
          </a:bodyPr>
          <a:lstStyle/>
          <a:p>
            <a:pPr marL="25168" defTabSz="1812066">
              <a:spcBef>
                <a:spcPts val="238"/>
              </a:spcBef>
            </a:pPr>
            <a:r>
              <a:rPr sz="991" kern="0" spc="-50" dirty="0">
                <a:solidFill>
                  <a:sysClr val="windowText" lastClr="000000"/>
                </a:solidFill>
                <a:latin typeface="Arial"/>
                <a:cs typeface="Arial"/>
              </a:rPr>
              <a:t>80</a:t>
            </a:r>
            <a:endParaRPr sz="991" kern="0">
              <a:solidFill>
                <a:sysClr val="windowText" lastClr="000000"/>
              </a:solidFill>
              <a:latin typeface="Arial"/>
              <a:cs typeface="Arial"/>
            </a:endParaRPr>
          </a:p>
        </p:txBody>
      </p:sp>
      <p:sp>
        <p:nvSpPr>
          <p:cNvPr id="13" name="object 13"/>
          <p:cNvSpPr txBox="1"/>
          <p:nvPr/>
        </p:nvSpPr>
        <p:spPr>
          <a:xfrm>
            <a:off x="4994571" y="3241338"/>
            <a:ext cx="269287" cy="182973"/>
          </a:xfrm>
          <a:prstGeom prst="rect">
            <a:avLst/>
          </a:prstGeom>
        </p:spPr>
        <p:txBody>
          <a:bodyPr vert="horz" wrap="square" lIns="0" tIns="30200" rIns="0" bIns="0" rtlCol="0">
            <a:spAutoFit/>
          </a:bodyPr>
          <a:lstStyle/>
          <a:p>
            <a:pPr marL="25168" defTabSz="1812066">
              <a:spcBef>
                <a:spcPts val="238"/>
              </a:spcBef>
            </a:pPr>
            <a:r>
              <a:rPr sz="991" kern="0" spc="-50" dirty="0">
                <a:solidFill>
                  <a:sysClr val="windowText" lastClr="000000"/>
                </a:solidFill>
                <a:latin typeface="Arial"/>
                <a:cs typeface="Arial"/>
              </a:rPr>
              <a:t>100</a:t>
            </a:r>
            <a:endParaRPr sz="991" kern="0">
              <a:solidFill>
                <a:sysClr val="windowText" lastClr="000000"/>
              </a:solidFill>
              <a:latin typeface="Arial"/>
              <a:cs typeface="Arial"/>
            </a:endParaRPr>
          </a:p>
        </p:txBody>
      </p:sp>
      <p:sp>
        <p:nvSpPr>
          <p:cNvPr id="14" name="object 14"/>
          <p:cNvSpPr/>
          <p:nvPr/>
        </p:nvSpPr>
        <p:spPr>
          <a:xfrm>
            <a:off x="536171" y="1575499"/>
            <a:ext cx="52851" cy="1601878"/>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pPr defTabSz="1812066"/>
            <a:endParaRPr sz="3567" kern="0">
              <a:solidFill>
                <a:sysClr val="windowText" lastClr="000000"/>
              </a:solidFill>
            </a:endParaRPr>
          </a:p>
        </p:txBody>
      </p:sp>
      <p:sp>
        <p:nvSpPr>
          <p:cNvPr id="15" name="object 15"/>
          <p:cNvSpPr txBox="1"/>
          <p:nvPr/>
        </p:nvSpPr>
        <p:spPr>
          <a:xfrm>
            <a:off x="344377" y="1394838"/>
            <a:ext cx="196302" cy="1861351"/>
          </a:xfrm>
          <a:prstGeom prst="rect">
            <a:avLst/>
          </a:prstGeom>
        </p:spPr>
        <p:txBody>
          <a:bodyPr vert="horz" wrap="square" lIns="0" tIns="101926" rIns="0" bIns="0" rtlCol="0">
            <a:spAutoFit/>
          </a:bodyPr>
          <a:lstStyle/>
          <a:p>
            <a:pPr marL="25168" defTabSz="1812066">
              <a:spcBef>
                <a:spcPts val="803"/>
              </a:spcBef>
            </a:pPr>
            <a:r>
              <a:rPr sz="991" kern="0" spc="-50" dirty="0">
                <a:solidFill>
                  <a:sysClr val="windowText" lastClr="000000"/>
                </a:solidFill>
                <a:latin typeface="Arial"/>
                <a:cs typeface="Arial"/>
              </a:rPr>
              <a:t>70</a:t>
            </a:r>
            <a:endParaRPr sz="991" kern="0">
              <a:solidFill>
                <a:sysClr val="windowText" lastClr="000000"/>
              </a:solidFill>
              <a:latin typeface="Arial"/>
              <a:cs typeface="Arial"/>
            </a:endParaRPr>
          </a:p>
          <a:p>
            <a:pPr marL="25168" defTabSz="1812066">
              <a:spcBef>
                <a:spcPts val="604"/>
              </a:spcBef>
            </a:pPr>
            <a:r>
              <a:rPr sz="991" kern="0" spc="-50" dirty="0">
                <a:solidFill>
                  <a:sysClr val="windowText" lastClr="000000"/>
                </a:solidFill>
                <a:latin typeface="Arial"/>
                <a:cs typeface="Arial"/>
              </a:rPr>
              <a:t>60</a:t>
            </a:r>
            <a:endParaRPr sz="991" kern="0">
              <a:solidFill>
                <a:sysClr val="windowText" lastClr="000000"/>
              </a:solidFill>
              <a:latin typeface="Arial"/>
              <a:cs typeface="Arial"/>
            </a:endParaRPr>
          </a:p>
          <a:p>
            <a:pPr marL="25168" defTabSz="1812066">
              <a:spcBef>
                <a:spcPts val="614"/>
              </a:spcBef>
            </a:pPr>
            <a:r>
              <a:rPr sz="991" kern="0" spc="-50" dirty="0">
                <a:solidFill>
                  <a:sysClr val="windowText" lastClr="000000"/>
                </a:solidFill>
                <a:latin typeface="Arial"/>
                <a:cs typeface="Arial"/>
              </a:rPr>
              <a:t>50</a:t>
            </a:r>
            <a:endParaRPr sz="991" kern="0">
              <a:solidFill>
                <a:sysClr val="windowText" lastClr="000000"/>
              </a:solidFill>
              <a:latin typeface="Arial"/>
              <a:cs typeface="Arial"/>
            </a:endParaRPr>
          </a:p>
          <a:p>
            <a:pPr marL="25168" defTabSz="1812066">
              <a:spcBef>
                <a:spcPts val="614"/>
              </a:spcBef>
            </a:pPr>
            <a:r>
              <a:rPr sz="991" kern="0" spc="-50" dirty="0">
                <a:solidFill>
                  <a:sysClr val="windowText" lastClr="000000"/>
                </a:solidFill>
                <a:latin typeface="Arial"/>
                <a:cs typeface="Arial"/>
              </a:rPr>
              <a:t>40</a:t>
            </a:r>
            <a:endParaRPr sz="991" kern="0">
              <a:solidFill>
                <a:sysClr val="windowText" lastClr="000000"/>
              </a:solidFill>
              <a:latin typeface="Arial"/>
              <a:cs typeface="Arial"/>
            </a:endParaRPr>
          </a:p>
          <a:p>
            <a:pPr marL="25168" defTabSz="1812066">
              <a:spcBef>
                <a:spcPts val="612"/>
              </a:spcBef>
            </a:pPr>
            <a:r>
              <a:rPr sz="991" kern="0" spc="-50" dirty="0">
                <a:solidFill>
                  <a:sysClr val="windowText" lastClr="000000"/>
                </a:solidFill>
                <a:latin typeface="Arial"/>
                <a:cs typeface="Arial"/>
              </a:rPr>
              <a:t>30</a:t>
            </a:r>
            <a:endParaRPr sz="991" kern="0">
              <a:solidFill>
                <a:sysClr val="windowText" lastClr="000000"/>
              </a:solidFill>
              <a:latin typeface="Arial"/>
              <a:cs typeface="Arial"/>
            </a:endParaRPr>
          </a:p>
          <a:p>
            <a:pPr marL="25168" defTabSz="1812066">
              <a:spcBef>
                <a:spcPts val="604"/>
              </a:spcBef>
            </a:pPr>
            <a:r>
              <a:rPr sz="991" kern="0" spc="-50" dirty="0">
                <a:solidFill>
                  <a:sysClr val="windowText" lastClr="000000"/>
                </a:solidFill>
                <a:latin typeface="Arial"/>
                <a:cs typeface="Arial"/>
              </a:rPr>
              <a:t>20</a:t>
            </a:r>
            <a:endParaRPr sz="991" kern="0">
              <a:solidFill>
                <a:sysClr val="windowText" lastClr="000000"/>
              </a:solidFill>
              <a:latin typeface="Arial"/>
              <a:cs typeface="Arial"/>
            </a:endParaRPr>
          </a:p>
          <a:p>
            <a:pPr marL="25168" defTabSz="1812066">
              <a:spcBef>
                <a:spcPts val="614"/>
              </a:spcBef>
            </a:pPr>
            <a:r>
              <a:rPr sz="991" kern="0" spc="-50" dirty="0">
                <a:solidFill>
                  <a:sysClr val="windowText" lastClr="000000"/>
                </a:solidFill>
                <a:latin typeface="Arial"/>
                <a:cs typeface="Arial"/>
              </a:rPr>
              <a:t>10</a:t>
            </a:r>
            <a:endParaRPr sz="991" kern="0">
              <a:solidFill>
                <a:sysClr val="windowText" lastClr="000000"/>
              </a:solidFill>
              <a:latin typeface="Arial"/>
              <a:cs typeface="Arial"/>
            </a:endParaRPr>
          </a:p>
          <a:p>
            <a:pPr marL="96895" defTabSz="1812066">
              <a:spcBef>
                <a:spcPts val="614"/>
              </a:spcBef>
            </a:pPr>
            <a:r>
              <a:rPr sz="991" kern="0" spc="-99" dirty="0">
                <a:solidFill>
                  <a:sysClr val="windowText" lastClr="000000"/>
                </a:solidFill>
                <a:latin typeface="Arial"/>
                <a:cs typeface="Arial"/>
              </a:rPr>
              <a:t>0</a:t>
            </a:r>
            <a:endParaRPr sz="991" kern="0">
              <a:solidFill>
                <a:sysClr val="windowText" lastClr="000000"/>
              </a:solidFill>
              <a:latin typeface="Arial"/>
              <a:cs typeface="Arial"/>
            </a:endParaRPr>
          </a:p>
        </p:txBody>
      </p:sp>
      <p:grpSp>
        <p:nvGrpSpPr>
          <p:cNvPr id="16" name="object 16"/>
          <p:cNvGrpSpPr/>
          <p:nvPr/>
        </p:nvGrpSpPr>
        <p:grpSpPr>
          <a:xfrm>
            <a:off x="580373" y="1508739"/>
            <a:ext cx="4731391" cy="1735263"/>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pPr defTabSz="1812066"/>
              <a:endParaRPr sz="3567" kern="0">
                <a:solidFill>
                  <a:sysClr val="windowText" lastClr="000000"/>
                </a:solidFill>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pPr defTabSz="1812066"/>
              <a:endParaRPr sz="3567" kern="0">
                <a:solidFill>
                  <a:sysClr val="windowText" lastClr="000000"/>
                </a:solidFill>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pPr defTabSz="1812066"/>
              <a:endParaRPr sz="3567" kern="0">
                <a:solidFill>
                  <a:sysClr val="windowText" lastClr="000000"/>
                </a:solidFill>
              </a:endParaRPr>
            </a:p>
          </p:txBody>
        </p:sp>
      </p:grpSp>
      <p:sp>
        <p:nvSpPr>
          <p:cNvPr id="20" name="object 20"/>
          <p:cNvSpPr txBox="1"/>
          <p:nvPr/>
        </p:nvSpPr>
        <p:spPr>
          <a:xfrm>
            <a:off x="2604899" y="3429938"/>
            <a:ext cx="683283" cy="182973"/>
          </a:xfrm>
          <a:prstGeom prst="rect">
            <a:avLst/>
          </a:prstGeom>
        </p:spPr>
        <p:txBody>
          <a:bodyPr vert="horz" wrap="square" lIns="0" tIns="30200" rIns="0" bIns="0" rtlCol="0">
            <a:spAutoFit/>
          </a:bodyPr>
          <a:lstStyle/>
          <a:p>
            <a:pPr marL="25168" defTabSz="1812066">
              <a:spcBef>
                <a:spcPts val="238"/>
              </a:spcBef>
            </a:pPr>
            <a:r>
              <a:rPr sz="991" kern="0" dirty="0">
                <a:solidFill>
                  <a:sysClr val="windowText" lastClr="000000"/>
                </a:solidFill>
                <a:latin typeface="Arial"/>
                <a:cs typeface="Arial"/>
              </a:rPr>
              <a:t>%</a:t>
            </a:r>
            <a:r>
              <a:rPr sz="991" kern="0" spc="40" dirty="0">
                <a:solidFill>
                  <a:sysClr val="windowText" lastClr="000000"/>
                </a:solidFill>
                <a:latin typeface="Arial"/>
                <a:cs typeface="Arial"/>
              </a:rPr>
              <a:t> </a:t>
            </a:r>
            <a:r>
              <a:rPr sz="991" kern="0" dirty="0">
                <a:solidFill>
                  <a:sysClr val="windowText" lastClr="000000"/>
                </a:solidFill>
                <a:latin typeface="Arial"/>
                <a:cs typeface="Arial"/>
              </a:rPr>
              <a:t>HS</a:t>
            </a:r>
            <a:r>
              <a:rPr sz="991" kern="0" spc="40" dirty="0">
                <a:solidFill>
                  <a:sysClr val="windowText" lastClr="000000"/>
                </a:solidFill>
                <a:latin typeface="Arial"/>
                <a:cs typeface="Arial"/>
              </a:rPr>
              <a:t> </a:t>
            </a:r>
            <a:r>
              <a:rPr sz="991" kern="0" spc="-40" dirty="0">
                <a:solidFill>
                  <a:sysClr val="windowText" lastClr="000000"/>
                </a:solidFill>
                <a:latin typeface="Arial"/>
                <a:cs typeface="Arial"/>
              </a:rPr>
              <a:t>grad</a:t>
            </a:r>
            <a:endParaRPr sz="991" kern="0">
              <a:solidFill>
                <a:sysClr val="windowText" lastClr="000000"/>
              </a:solidFill>
              <a:latin typeface="Arial"/>
              <a:cs typeface="Arial"/>
            </a:endParaRPr>
          </a:p>
        </p:txBody>
      </p:sp>
      <p:sp>
        <p:nvSpPr>
          <p:cNvPr id="21" name="object 21"/>
          <p:cNvSpPr txBox="1"/>
          <p:nvPr/>
        </p:nvSpPr>
        <p:spPr>
          <a:xfrm>
            <a:off x="161925" y="1990372"/>
            <a:ext cx="152478" cy="771368"/>
          </a:xfrm>
          <a:prstGeom prst="rect">
            <a:avLst/>
          </a:prstGeom>
        </p:spPr>
        <p:txBody>
          <a:bodyPr vert="vert270" wrap="square" lIns="0" tIns="17617" rIns="0" bIns="0" rtlCol="0">
            <a:spAutoFit/>
          </a:bodyPr>
          <a:lstStyle/>
          <a:p>
            <a:pPr marL="25168" defTabSz="1812066">
              <a:spcBef>
                <a:spcPts val="139"/>
              </a:spcBef>
            </a:pPr>
            <a:r>
              <a:rPr sz="991" kern="0" dirty="0">
                <a:solidFill>
                  <a:sysClr val="windowText" lastClr="000000"/>
                </a:solidFill>
                <a:latin typeface="Arial"/>
                <a:cs typeface="Arial"/>
              </a:rPr>
              <a:t>%</a:t>
            </a:r>
            <a:r>
              <a:rPr sz="991" kern="0" spc="30" dirty="0">
                <a:solidFill>
                  <a:sysClr val="windowText" lastClr="000000"/>
                </a:solidFill>
                <a:latin typeface="Arial"/>
                <a:cs typeface="Arial"/>
              </a:rPr>
              <a:t> </a:t>
            </a:r>
            <a:r>
              <a:rPr sz="991" kern="0" dirty="0">
                <a:solidFill>
                  <a:sysClr val="windowText" lastClr="000000"/>
                </a:solidFill>
                <a:latin typeface="Arial"/>
                <a:cs typeface="Arial"/>
              </a:rPr>
              <a:t>in</a:t>
            </a:r>
            <a:r>
              <a:rPr sz="991" kern="0" spc="30" dirty="0">
                <a:solidFill>
                  <a:sysClr val="windowText" lastClr="000000"/>
                </a:solidFill>
                <a:latin typeface="Arial"/>
                <a:cs typeface="Arial"/>
              </a:rPr>
              <a:t> </a:t>
            </a:r>
            <a:r>
              <a:rPr sz="991" kern="0" spc="-20" dirty="0">
                <a:solidFill>
                  <a:sysClr val="windowText" lastClr="000000"/>
                </a:solidFill>
                <a:latin typeface="Arial"/>
                <a:cs typeface="Arial"/>
              </a:rPr>
              <a:t>poverty</a:t>
            </a:r>
            <a:endParaRPr sz="991" kern="0">
              <a:solidFill>
                <a:sysClr val="windowText" lastClr="000000"/>
              </a:solidFill>
              <a:latin typeface="Arial"/>
              <a:cs typeface="Arial"/>
            </a:endParaRPr>
          </a:p>
        </p:txBody>
      </p:sp>
      <p:sp>
        <p:nvSpPr>
          <p:cNvPr id="22" name="object 22"/>
          <p:cNvSpPr txBox="1"/>
          <p:nvPr/>
        </p:nvSpPr>
        <p:spPr>
          <a:xfrm>
            <a:off x="792450" y="1503545"/>
            <a:ext cx="553673" cy="182973"/>
          </a:xfrm>
          <a:prstGeom prst="rect">
            <a:avLst/>
          </a:prstGeom>
        </p:spPr>
        <p:txBody>
          <a:bodyPr vert="horz" wrap="square" lIns="0" tIns="30200" rIns="0" bIns="0" rtlCol="0">
            <a:spAutoFit/>
          </a:bodyPr>
          <a:lstStyle/>
          <a:p>
            <a:pPr marL="25168" defTabSz="1812066">
              <a:spcBef>
                <a:spcPts val="238"/>
              </a:spcBef>
            </a:pPr>
            <a:r>
              <a:rPr sz="991" kern="0" spc="-20" dirty="0">
                <a:solidFill>
                  <a:srgbClr val="569BBD"/>
                </a:solidFill>
                <a:latin typeface="Arial"/>
                <a:cs typeface="Arial"/>
              </a:rPr>
              <a:t>intercept</a:t>
            </a:r>
            <a:endParaRPr sz="991" kern="0">
              <a:solidFill>
                <a:sysClr val="windowText" lastClr="000000"/>
              </a:solidFill>
              <a:latin typeface="Arial"/>
              <a:cs typeface="Arial"/>
            </a:endParaRPr>
          </a:p>
        </p:txBody>
      </p:sp>
      <p:sp>
        <p:nvSpPr>
          <p:cNvPr id="23" name="object 23"/>
          <p:cNvSpPr txBox="1"/>
          <p:nvPr/>
        </p:nvSpPr>
        <p:spPr>
          <a:xfrm>
            <a:off x="324846" y="782460"/>
            <a:ext cx="7906202" cy="469147"/>
          </a:xfrm>
          <a:prstGeom prst="rect">
            <a:avLst/>
          </a:prstGeom>
        </p:spPr>
        <p:txBody>
          <a:bodyPr vert="horz" wrap="square" lIns="0" tIns="159810" rIns="0" bIns="0" rtlCol="0">
            <a:spAutoFit/>
          </a:bodyPr>
          <a:lstStyle/>
          <a:p>
            <a:pPr marL="75503" defTabSz="1812066">
              <a:spcBef>
                <a:spcPts val="1258"/>
              </a:spcBef>
            </a:pPr>
            <a:r>
              <a:rPr sz="2000" i="1" kern="0" dirty="0">
                <a:solidFill>
                  <a:srgbClr val="22373A"/>
                </a:solidFill>
                <a:latin typeface="Arial" panose="020B0604020202020204" pitchFamily="34" charset="0"/>
                <a:cs typeface="Arial" panose="020B0604020202020204" pitchFamily="34" charset="0"/>
              </a:rPr>
              <a:t>b</a:t>
            </a:r>
            <a:r>
              <a:rPr sz="2000" kern="0" baseline="-10416" dirty="0">
                <a:solidFill>
                  <a:srgbClr val="22373A"/>
                </a:solidFill>
                <a:latin typeface="Arial" panose="020B0604020202020204" pitchFamily="34" charset="0"/>
                <a:cs typeface="Arial" panose="020B0604020202020204" pitchFamily="34" charset="0"/>
              </a:rPr>
              <a:t>0</a:t>
            </a:r>
            <a:r>
              <a:rPr sz="2000" kern="0" spc="446" baseline="-10416"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a:t>
            </a:r>
            <a:r>
              <a:rPr sz="2000" kern="0" spc="-79" dirty="0">
                <a:solidFill>
                  <a:srgbClr val="22373A"/>
                </a:solidFill>
                <a:latin typeface="Arial" panose="020B0604020202020204" pitchFamily="34" charset="0"/>
                <a:cs typeface="Arial" panose="020B0604020202020204" pitchFamily="34" charset="0"/>
              </a:rPr>
              <a:t> </a:t>
            </a:r>
            <a:r>
              <a:rPr sz="2000" kern="0" spc="-40" dirty="0">
                <a:solidFill>
                  <a:srgbClr val="22373A"/>
                </a:solidFill>
                <a:latin typeface="Arial" panose="020B0604020202020204" pitchFamily="34" charset="0"/>
                <a:cs typeface="Arial" panose="020B0604020202020204" pitchFamily="34" charset="0"/>
              </a:rPr>
              <a:t>11.35</a:t>
            </a:r>
            <a:r>
              <a:rPr sz="2000" kern="0" spc="-69" dirty="0">
                <a:solidFill>
                  <a:srgbClr val="22373A"/>
                </a:solidFill>
                <a:latin typeface="Arial" panose="020B0604020202020204" pitchFamily="34" charset="0"/>
                <a:cs typeface="Arial" panose="020B0604020202020204" pitchFamily="34" charset="0"/>
              </a:rPr>
              <a:t> </a:t>
            </a:r>
            <a:r>
              <a:rPr sz="2000" kern="0" spc="-377" dirty="0">
                <a:solidFill>
                  <a:srgbClr val="22373A"/>
                </a:solidFill>
                <a:latin typeface="Arial" panose="020B0604020202020204" pitchFamily="34" charset="0"/>
                <a:cs typeface="Arial" panose="020B0604020202020204" pitchFamily="34" charset="0"/>
              </a:rPr>
              <a:t>−</a:t>
            </a:r>
            <a:r>
              <a:rPr sz="2000" kern="0" spc="-218" dirty="0">
                <a:solidFill>
                  <a:srgbClr val="22373A"/>
                </a:solidFill>
                <a:latin typeface="Arial" panose="020B0604020202020204" pitchFamily="34" charset="0"/>
                <a:cs typeface="Arial" panose="020B0604020202020204" pitchFamily="34" charset="0"/>
              </a:rPr>
              <a:t> </a:t>
            </a:r>
            <a:r>
              <a:rPr sz="2000" kern="0" spc="-89" dirty="0">
                <a:solidFill>
                  <a:srgbClr val="22373A"/>
                </a:solidFill>
                <a:latin typeface="Arial" panose="020B0604020202020204" pitchFamily="34" charset="0"/>
                <a:cs typeface="Arial" panose="020B0604020202020204" pitchFamily="34" charset="0"/>
              </a:rPr>
              <a:t>(−0.62)</a:t>
            </a:r>
            <a:r>
              <a:rPr sz="2000" kern="0" spc="-59" dirty="0">
                <a:solidFill>
                  <a:srgbClr val="22373A"/>
                </a:solidFill>
                <a:latin typeface="Arial" panose="020B0604020202020204" pitchFamily="34" charset="0"/>
                <a:cs typeface="Arial" panose="020B0604020202020204" pitchFamily="34" charset="0"/>
              </a:rPr>
              <a:t> </a:t>
            </a:r>
            <a:r>
              <a:rPr sz="2000" kern="0" spc="-377" dirty="0">
                <a:solidFill>
                  <a:srgbClr val="22373A"/>
                </a:solidFill>
                <a:latin typeface="Arial" panose="020B0604020202020204" pitchFamily="34" charset="0"/>
                <a:cs typeface="Arial" panose="020B0604020202020204" pitchFamily="34" charset="0"/>
              </a:rPr>
              <a:t>×</a:t>
            </a:r>
            <a:r>
              <a:rPr sz="2000" kern="0" spc="-218" dirty="0">
                <a:solidFill>
                  <a:srgbClr val="22373A"/>
                </a:solidFill>
                <a:latin typeface="Arial" panose="020B0604020202020204" pitchFamily="34" charset="0"/>
                <a:cs typeface="Arial" panose="020B0604020202020204" pitchFamily="34" charset="0"/>
              </a:rPr>
              <a:t> </a:t>
            </a:r>
            <a:r>
              <a:rPr sz="2000" kern="0" spc="-20" dirty="0">
                <a:solidFill>
                  <a:srgbClr val="22373A"/>
                </a:solidFill>
                <a:latin typeface="Arial" panose="020B0604020202020204" pitchFamily="34" charset="0"/>
                <a:cs typeface="Arial" panose="020B0604020202020204" pitchFamily="34" charset="0"/>
              </a:rPr>
              <a:t>86.01</a:t>
            </a:r>
            <a:r>
              <a:rPr lang="en-US" sz="2000" kern="0" spc="-20" dirty="0">
                <a:solidFill>
                  <a:srgbClr val="22373A"/>
                </a:solidFill>
                <a:latin typeface="Arial" panose="020B0604020202020204" pitchFamily="34" charset="0"/>
                <a:cs typeface="Arial" panose="020B0604020202020204" pitchFamily="34" charset="0"/>
              </a:rPr>
              <a:t> </a:t>
            </a:r>
            <a:r>
              <a:rPr sz="2000" kern="0" dirty="0">
                <a:solidFill>
                  <a:srgbClr val="22373A"/>
                </a:solidFill>
                <a:latin typeface="Arial" panose="020B0604020202020204" pitchFamily="34" charset="0"/>
                <a:cs typeface="Arial" panose="020B0604020202020204" pitchFamily="34" charset="0"/>
              </a:rPr>
              <a:t>=</a:t>
            </a:r>
            <a:r>
              <a:rPr sz="2000" kern="0" spc="-109" dirty="0">
                <a:solidFill>
                  <a:srgbClr val="22373A"/>
                </a:solidFill>
                <a:latin typeface="Arial" panose="020B0604020202020204" pitchFamily="34" charset="0"/>
                <a:cs typeface="Arial" panose="020B0604020202020204" pitchFamily="34" charset="0"/>
              </a:rPr>
              <a:t> </a:t>
            </a:r>
            <a:r>
              <a:rPr sz="2000" kern="0" spc="-20" dirty="0">
                <a:solidFill>
                  <a:srgbClr val="22373A"/>
                </a:solidFill>
                <a:latin typeface="Arial" panose="020B0604020202020204" pitchFamily="34" charset="0"/>
                <a:cs typeface="Arial" panose="020B0604020202020204" pitchFamily="34" charset="0"/>
              </a:rPr>
              <a:t>64.68</a:t>
            </a:r>
            <a:endParaRPr sz="2000" kern="0" dirty="0">
              <a:solidFill>
                <a:sysClr val="windowText" lastClr="000000"/>
              </a:solidFill>
              <a:latin typeface="Arial" panose="020B0604020202020204" pitchFamily="34" charset="0"/>
              <a:cs typeface="Arial" panose="020B0604020202020204" pitchFamily="34" charset="0"/>
            </a:endParaRPr>
          </a:p>
        </p:txBody>
      </p:sp>
      <p:sp>
        <p:nvSpPr>
          <p:cNvPr id="26" name="object 3">
            <a:extLst>
              <a:ext uri="{FF2B5EF4-FFF2-40B4-BE49-F238E27FC236}">
                <a16:creationId xmlns:a16="http://schemas.microsoft.com/office/drawing/2014/main" id="{C9EA93B1-8162-AA4C-24DD-A5C9283EFECB}"/>
              </a:ext>
            </a:extLst>
          </p:cNvPr>
          <p:cNvSpPr txBox="1">
            <a:spLocks/>
          </p:cNvSpPr>
          <p:nvPr/>
        </p:nvSpPr>
        <p:spPr>
          <a:xfrm>
            <a:off x="299121" y="3922354"/>
            <a:ext cx="9672501" cy="382669"/>
          </a:xfrm>
          <a:prstGeom prst="rect">
            <a:avLst/>
          </a:prstGeom>
        </p:spPr>
        <p:txBody>
          <a:bodyPr vert="horz" wrap="square" lIns="0" tIns="11430" rIns="0" bIns="0" rtlCol="0">
            <a:spAutoFit/>
          </a:bodyPr>
          <a:lstStyle>
            <a:lvl1pPr>
              <a:defRPr sz="1100" b="1" i="0">
                <a:solidFill>
                  <a:srgbClr val="F9F9F9"/>
                </a:solidFill>
                <a:latin typeface="Arial"/>
                <a:ea typeface="+mj-ea"/>
                <a:cs typeface="Arial"/>
              </a:defRPr>
            </a:lvl1pPr>
          </a:lstStyle>
          <a:p>
            <a:pPr marL="12700" marR="5080">
              <a:lnSpc>
                <a:spcPct val="129800"/>
              </a:lnSpc>
              <a:spcBef>
                <a:spcPts val="90"/>
              </a:spcBef>
            </a:pPr>
            <a:r>
              <a:rPr lang="en-US" sz="2000" b="0" dirty="0">
                <a:solidFill>
                  <a:schemeClr val="tx1"/>
                </a:solidFill>
                <a:latin typeface="Arial" panose="020B0604020202020204" pitchFamily="34" charset="0"/>
                <a:cs typeface="Arial" panose="020B0604020202020204" pitchFamily="34" charset="0"/>
              </a:rPr>
              <a:t>The</a:t>
            </a:r>
            <a:r>
              <a:rPr lang="en-US" sz="2000" b="0" spc="80"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linear</a:t>
            </a:r>
            <a:r>
              <a:rPr lang="en-US" sz="2000" b="0" spc="80"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model</a:t>
            </a:r>
            <a:r>
              <a:rPr lang="en-US" sz="2000" b="0" spc="85"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for</a:t>
            </a:r>
            <a:r>
              <a:rPr lang="en-US" sz="2000" b="0" spc="85"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predicting</a:t>
            </a:r>
            <a:r>
              <a:rPr lang="en-US" sz="2000" b="0" spc="85"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poverty</a:t>
            </a:r>
            <a:r>
              <a:rPr lang="en-US" sz="2000" b="0" spc="80"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from</a:t>
            </a:r>
            <a:r>
              <a:rPr lang="en-US" sz="2000" b="0" spc="80"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high</a:t>
            </a:r>
            <a:r>
              <a:rPr lang="en-US" sz="2000" b="0" spc="85"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school</a:t>
            </a:r>
            <a:r>
              <a:rPr lang="en-US" sz="2000" b="0" spc="80" dirty="0">
                <a:solidFill>
                  <a:schemeClr val="tx1"/>
                </a:solidFill>
                <a:latin typeface="Arial" panose="020B0604020202020204" pitchFamily="34" charset="0"/>
                <a:cs typeface="Arial" panose="020B0604020202020204" pitchFamily="34" charset="0"/>
              </a:rPr>
              <a:t> </a:t>
            </a:r>
            <a:r>
              <a:rPr lang="en-US" sz="2000" b="0" spc="-10" dirty="0">
                <a:solidFill>
                  <a:schemeClr val="tx1"/>
                </a:solidFill>
                <a:latin typeface="Arial" panose="020B0604020202020204" pitchFamily="34" charset="0"/>
                <a:cs typeface="Arial" panose="020B0604020202020204" pitchFamily="34" charset="0"/>
              </a:rPr>
              <a:t>graduation </a:t>
            </a:r>
            <a:r>
              <a:rPr lang="en-US" sz="2000" b="0" dirty="0">
                <a:solidFill>
                  <a:schemeClr val="tx1"/>
                </a:solidFill>
                <a:latin typeface="Arial" panose="020B0604020202020204" pitchFamily="34" charset="0"/>
                <a:cs typeface="Arial" panose="020B0604020202020204" pitchFamily="34" charset="0"/>
              </a:rPr>
              <a:t>rate</a:t>
            </a:r>
            <a:r>
              <a:rPr lang="en-US" sz="2000" b="0" spc="50"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in</a:t>
            </a:r>
            <a:r>
              <a:rPr lang="en-US" sz="2000" b="0" spc="55"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the</a:t>
            </a:r>
            <a:r>
              <a:rPr lang="en-US" sz="2000" b="0" spc="55"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US</a:t>
            </a:r>
            <a:r>
              <a:rPr lang="en-US" sz="2000" b="0" spc="50" dirty="0">
                <a:solidFill>
                  <a:schemeClr val="tx1"/>
                </a:solidFill>
                <a:latin typeface="Arial" panose="020B0604020202020204" pitchFamily="34" charset="0"/>
                <a:cs typeface="Arial" panose="020B0604020202020204" pitchFamily="34" charset="0"/>
              </a:rPr>
              <a:t> </a:t>
            </a:r>
            <a:r>
              <a:rPr lang="en-US" sz="2000" b="0" spc="-25" dirty="0">
                <a:solidFill>
                  <a:schemeClr val="tx1"/>
                </a:solidFill>
                <a:latin typeface="Arial" panose="020B0604020202020204" pitchFamily="34" charset="0"/>
                <a:cs typeface="Arial" panose="020B0604020202020204" pitchFamily="34" charset="0"/>
              </a:rPr>
              <a:t>is</a:t>
            </a:r>
            <a:endParaRPr lang="en-US" sz="2000" dirty="0">
              <a:solidFill>
                <a:schemeClr val="tx1"/>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1D5404A9-7D80-9E07-FD6E-E54EB76250C1}"/>
              </a:ext>
            </a:extLst>
          </p:cNvPr>
          <p:cNvSpPr txBox="1"/>
          <p:nvPr/>
        </p:nvSpPr>
        <p:spPr>
          <a:xfrm>
            <a:off x="5677834" y="1522030"/>
            <a:ext cx="5925607" cy="1651158"/>
          </a:xfrm>
          <a:prstGeom prst="rect">
            <a:avLst/>
          </a:prstGeom>
          <a:noFill/>
        </p:spPr>
        <p:txBody>
          <a:bodyPr wrap="square">
            <a:spAutoFit/>
          </a:bodyPr>
          <a:lstStyle/>
          <a:p>
            <a:pPr marL="25168" marR="10067" defTabSz="1812066">
              <a:lnSpc>
                <a:spcPct val="129800"/>
              </a:lnSpc>
              <a:spcBef>
                <a:spcPts val="178"/>
              </a:spcBef>
            </a:pPr>
            <a:r>
              <a:rPr lang="en-US" sz="2000" kern="0" dirty="0">
                <a:latin typeface="Arial" panose="020B0604020202020204" pitchFamily="34" charset="0"/>
                <a:cs typeface="Arial" panose="020B0604020202020204" pitchFamily="34" charset="0"/>
              </a:rPr>
              <a:t>Since</a:t>
            </a:r>
            <a:r>
              <a:rPr lang="en-US" sz="2000" kern="0" spc="15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the dataset contains no states with</a:t>
            </a:r>
            <a:r>
              <a:rPr lang="en-US" sz="2000" kern="0" spc="168"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no</a:t>
            </a:r>
            <a:r>
              <a:rPr lang="en-US" sz="2000" kern="0" spc="168"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HS</a:t>
            </a:r>
            <a:r>
              <a:rPr lang="en-US" sz="2000" kern="0" spc="15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graduates,</a:t>
            </a:r>
            <a:r>
              <a:rPr lang="en-US" sz="2000" kern="0" spc="168" dirty="0">
                <a:latin typeface="Arial" panose="020B0604020202020204" pitchFamily="34" charset="0"/>
                <a:cs typeface="Arial" panose="020B0604020202020204" pitchFamily="34" charset="0"/>
              </a:rPr>
              <a:t> </a:t>
            </a:r>
            <a:r>
              <a:rPr lang="en-US" sz="2000" kern="0" spc="-50" dirty="0">
                <a:latin typeface="Arial" panose="020B0604020202020204" pitchFamily="34" charset="0"/>
                <a:cs typeface="Arial" panose="020B0604020202020204" pitchFamily="34" charset="0"/>
              </a:rPr>
              <a:t>the </a:t>
            </a:r>
            <a:r>
              <a:rPr lang="en-US" sz="2000" kern="0" dirty="0">
                <a:latin typeface="Arial" panose="020B0604020202020204" pitchFamily="34" charset="0"/>
                <a:cs typeface="Arial" panose="020B0604020202020204" pitchFamily="34" charset="0"/>
              </a:rPr>
              <a:t>intercept</a:t>
            </a:r>
            <a:r>
              <a:rPr lang="en-US" sz="2000" kern="0" spc="15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is</a:t>
            </a:r>
            <a:r>
              <a:rPr lang="en-US" sz="2000" kern="0" spc="168"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not informative, not very useful, and not reliable, as its predicted value is far</a:t>
            </a:r>
            <a:r>
              <a:rPr lang="en-US" sz="2000" kern="0" spc="14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from</a:t>
            </a:r>
            <a:r>
              <a:rPr lang="en-US" sz="2000" kern="0" spc="14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the</a:t>
            </a:r>
            <a:r>
              <a:rPr lang="en-US" sz="2000" kern="0" spc="13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bulk</a:t>
            </a:r>
            <a:r>
              <a:rPr lang="en-US" sz="2000" kern="0" spc="149" dirty="0">
                <a:latin typeface="Arial" panose="020B0604020202020204" pitchFamily="34" charset="0"/>
                <a:cs typeface="Arial" panose="020B0604020202020204" pitchFamily="34" charset="0"/>
              </a:rPr>
              <a:t> </a:t>
            </a:r>
            <a:r>
              <a:rPr lang="en-US" sz="2000" kern="0" spc="-50" dirty="0">
                <a:latin typeface="Arial" panose="020B0604020202020204" pitchFamily="34" charset="0"/>
                <a:cs typeface="Arial" panose="020B0604020202020204" pitchFamily="34" charset="0"/>
              </a:rPr>
              <a:t>of </a:t>
            </a:r>
            <a:r>
              <a:rPr lang="en-US" sz="2000" kern="0" dirty="0">
                <a:latin typeface="Arial" panose="020B0604020202020204" pitchFamily="34" charset="0"/>
                <a:cs typeface="Arial" panose="020B0604020202020204" pitchFamily="34" charset="0"/>
              </a:rPr>
              <a:t>the</a:t>
            </a:r>
            <a:r>
              <a:rPr lang="en-US" sz="2000" kern="0" spc="129" dirty="0">
                <a:latin typeface="Arial" panose="020B0604020202020204" pitchFamily="34" charset="0"/>
                <a:cs typeface="Arial" panose="020B0604020202020204" pitchFamily="34" charset="0"/>
              </a:rPr>
              <a:t> </a:t>
            </a:r>
            <a:r>
              <a:rPr lang="en-US" sz="2000" kern="0" spc="-20" dirty="0">
                <a:latin typeface="Arial" panose="020B0604020202020204" pitchFamily="34" charset="0"/>
                <a:cs typeface="Arial" panose="020B0604020202020204" pitchFamily="34" charset="0"/>
              </a:rPr>
              <a:t>data.</a:t>
            </a:r>
            <a:endParaRPr lang="en-US" sz="2000" kern="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7FBDA580-5B5F-E7DA-6E2F-AC741E76BB24}"/>
              </a:ext>
            </a:extLst>
          </p:cNvPr>
          <p:cNvSpPr txBox="1"/>
          <p:nvPr/>
        </p:nvSpPr>
        <p:spPr>
          <a:xfrm>
            <a:off x="161925" y="4762111"/>
            <a:ext cx="10482262" cy="369332"/>
          </a:xfrm>
          <a:prstGeom prst="rect">
            <a:avLst/>
          </a:prstGeom>
          <a:noFill/>
        </p:spPr>
        <p:txBody>
          <a:bodyPr wrap="square">
            <a:spAutoFit/>
          </a:bodyPr>
          <a:lstStyle/>
          <a:p>
            <a:pPr marL="25400">
              <a:lnSpc>
                <a:spcPct val="100000"/>
              </a:lnSpc>
            </a:pPr>
            <a:r>
              <a:rPr lang="en-US" sz="1800" dirty="0">
                <a:latin typeface="Arial" panose="020B0604020202020204" pitchFamily="34" charset="0"/>
                <a:cs typeface="Arial" panose="020B0604020202020204" pitchFamily="34" charset="0"/>
              </a:rPr>
              <a:t>The</a:t>
            </a:r>
            <a:r>
              <a:rPr lang="en-US" sz="1800" spc="6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“hat”</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is</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used</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to</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signify</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that</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this</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is</a:t>
            </a:r>
            <a:r>
              <a:rPr lang="en-US" sz="1800" spc="65"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a:t>
            </a:r>
            <a:r>
              <a:rPr lang="en-US" sz="1800" spc="65" dirty="0">
                <a:latin typeface="Arial" panose="020B0604020202020204" pitchFamily="34" charset="0"/>
                <a:cs typeface="Arial" panose="020B0604020202020204" pitchFamily="34" charset="0"/>
              </a:rPr>
              <a:t> </a:t>
            </a:r>
            <a:r>
              <a:rPr lang="en-US" sz="1800" spc="-10" dirty="0">
                <a:latin typeface="Arial" panose="020B0604020202020204" pitchFamily="34" charset="0"/>
                <a:cs typeface="Arial" panose="020B0604020202020204" pitchFamily="34" charset="0"/>
              </a:rPr>
              <a:t>estimate.</a:t>
            </a:r>
            <a:endParaRPr lang="en-US" sz="18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361C755-7A68-A4A3-1FE6-AED60320DBD6}"/>
                  </a:ext>
                </a:extLst>
              </p:cNvPr>
              <p:cNvSpPr txBox="1"/>
              <p:nvPr/>
            </p:nvSpPr>
            <p:spPr>
              <a:xfrm>
                <a:off x="238164" y="4383359"/>
                <a:ext cx="33599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𝑝𝑜𝑣𝑒𝑟𝑡𝑦</m:t>
                          </m:r>
                        </m:e>
                      </m:acc>
                      <m:r>
                        <a:rPr lang="en-US" b="0" i="1" smtClean="0">
                          <a:latin typeface="Cambria Math" panose="02040503050406030204" pitchFamily="18" charset="0"/>
                        </a:rPr>
                        <m:t>=64.68 −0.62 </m:t>
                      </m:r>
                      <m:r>
                        <a:rPr lang="en-US" b="0" i="1" smtClean="0">
                          <a:latin typeface="Cambria Math" panose="02040503050406030204" pitchFamily="18" charset="0"/>
                        </a:rPr>
                        <m:t>𝐻𝑆𝑔𝑟𝑎𝑑</m:t>
                      </m:r>
                    </m:oMath>
                  </m:oMathPara>
                </a14:m>
                <a:endParaRPr lang="en-US" dirty="0"/>
              </a:p>
            </p:txBody>
          </p:sp>
        </mc:Choice>
        <mc:Fallback xmlns="">
          <p:sp>
            <p:nvSpPr>
              <p:cNvPr id="36" name="TextBox 35">
                <a:extLst>
                  <a:ext uri="{FF2B5EF4-FFF2-40B4-BE49-F238E27FC236}">
                    <a16:creationId xmlns:a16="http://schemas.microsoft.com/office/drawing/2014/main" id="{3361C755-7A68-A4A3-1FE6-AED60320DBD6}"/>
                  </a:ext>
                </a:extLst>
              </p:cNvPr>
              <p:cNvSpPr txBox="1">
                <a:spLocks noRot="1" noChangeAspect="1" noMove="1" noResize="1" noEditPoints="1" noAdjustHandles="1" noChangeArrowheads="1" noChangeShapeType="1" noTextEdit="1"/>
              </p:cNvSpPr>
              <p:nvPr/>
            </p:nvSpPr>
            <p:spPr>
              <a:xfrm>
                <a:off x="238164" y="4383359"/>
                <a:ext cx="3359959" cy="276999"/>
              </a:xfrm>
              <a:prstGeom prst="rect">
                <a:avLst/>
              </a:prstGeom>
              <a:blipFill>
                <a:blip r:embed="rId3"/>
                <a:stretch>
                  <a:fillRect l="-1633" t="-33333" r="-1996" b="-35556"/>
                </a:stretch>
              </a:blipFill>
            </p:spPr>
            <p:txBody>
              <a:bodyPr/>
              <a:lstStyle/>
              <a:p>
                <a:r>
                  <a:rPr lang="en-US">
                    <a:noFill/>
                  </a:rPr>
                  <a:t> </a:t>
                </a:r>
              </a:p>
            </p:txBody>
          </p:sp>
        </mc:Fallback>
      </mc:AlternateContent>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942" y="88614"/>
            <a:ext cx="2419506" cy="588305"/>
          </a:xfrm>
          <a:prstGeom prst="rect">
            <a:avLst/>
          </a:prstGeom>
        </p:spPr>
        <p:txBody>
          <a:bodyPr vert="horz" wrap="square" lIns="0" tIns="33975" rIns="0" bIns="0" rtlCol="0" anchor="ctr">
            <a:spAutoFit/>
          </a:bodyPr>
          <a:lstStyle/>
          <a:p>
            <a:pPr marL="25168">
              <a:lnSpc>
                <a:spcPct val="100000"/>
              </a:lnSpc>
              <a:spcBef>
                <a:spcPts val="268"/>
              </a:spcBef>
            </a:pPr>
            <a:r>
              <a:rPr sz="3600" spc="-20" dirty="0">
                <a:latin typeface="Arial" panose="020B0604020202020204" pitchFamily="34" charset="0"/>
                <a:cs typeface="Arial" panose="020B0604020202020204" pitchFamily="34" charset="0"/>
              </a:rPr>
              <a:t>Slope</a:t>
            </a:r>
            <a:endParaRPr spc="-20" dirty="0">
              <a:latin typeface="Arial" panose="020B0604020202020204" pitchFamily="34" charset="0"/>
              <a:cs typeface="Arial" panose="020B0604020202020204" pitchFamily="34" charset="0"/>
            </a:endParaRPr>
          </a:p>
        </p:txBody>
      </p:sp>
      <p:sp>
        <p:nvSpPr>
          <p:cNvPr id="4" name="object 4"/>
          <p:cNvSpPr txBox="1"/>
          <p:nvPr/>
        </p:nvSpPr>
        <p:spPr>
          <a:xfrm>
            <a:off x="188942" y="911868"/>
            <a:ext cx="7252114" cy="342083"/>
          </a:xfrm>
          <a:prstGeom prst="rect">
            <a:avLst/>
          </a:prstGeom>
        </p:spPr>
        <p:txBody>
          <a:bodyPr vert="horz" wrap="square" lIns="0" tIns="33975" rIns="0" bIns="0" rtlCol="0">
            <a:spAutoFit/>
          </a:bodyPr>
          <a:lstStyle/>
          <a:p>
            <a:pPr marL="25168"/>
            <a:r>
              <a:rPr sz="2000" dirty="0">
                <a:latin typeface="Arial"/>
                <a:cs typeface="Arial"/>
              </a:rPr>
              <a:t>The</a:t>
            </a:r>
            <a:r>
              <a:rPr sz="2000" spc="178" dirty="0">
                <a:latin typeface="Arial"/>
                <a:cs typeface="Arial"/>
              </a:rPr>
              <a:t> </a:t>
            </a:r>
            <a:r>
              <a:rPr sz="2000" dirty="0">
                <a:latin typeface="Arial"/>
                <a:cs typeface="Arial"/>
              </a:rPr>
              <a:t>slope</a:t>
            </a:r>
            <a:r>
              <a:rPr sz="2000" spc="188" dirty="0">
                <a:latin typeface="Arial"/>
                <a:cs typeface="Arial"/>
              </a:rPr>
              <a:t> </a:t>
            </a:r>
            <a:r>
              <a:rPr sz="2000" dirty="0">
                <a:latin typeface="Arial"/>
                <a:cs typeface="Arial"/>
              </a:rPr>
              <a:t>of</a:t>
            </a:r>
            <a:r>
              <a:rPr sz="2000" spc="188" dirty="0">
                <a:latin typeface="Arial"/>
                <a:cs typeface="Arial"/>
              </a:rPr>
              <a:t> </a:t>
            </a:r>
            <a:r>
              <a:rPr sz="2000" dirty="0">
                <a:latin typeface="Arial"/>
                <a:cs typeface="Arial"/>
              </a:rPr>
              <a:t>the</a:t>
            </a:r>
            <a:r>
              <a:rPr sz="2000" spc="188" dirty="0">
                <a:latin typeface="Arial"/>
                <a:cs typeface="Arial"/>
              </a:rPr>
              <a:t> </a:t>
            </a:r>
            <a:r>
              <a:rPr sz="2000" dirty="0">
                <a:latin typeface="Arial"/>
                <a:cs typeface="Arial"/>
              </a:rPr>
              <a:t>regression</a:t>
            </a:r>
            <a:r>
              <a:rPr sz="2000" spc="188" dirty="0">
                <a:latin typeface="Arial"/>
                <a:cs typeface="Arial"/>
              </a:rPr>
              <a:t> </a:t>
            </a:r>
            <a:r>
              <a:rPr sz="2000" dirty="0">
                <a:latin typeface="Arial"/>
                <a:cs typeface="Arial"/>
              </a:rPr>
              <a:t>can</a:t>
            </a:r>
            <a:r>
              <a:rPr sz="2000" spc="188" dirty="0">
                <a:latin typeface="Arial"/>
                <a:cs typeface="Arial"/>
              </a:rPr>
              <a:t> </a:t>
            </a:r>
            <a:r>
              <a:rPr sz="2000" dirty="0">
                <a:latin typeface="Arial"/>
                <a:cs typeface="Arial"/>
              </a:rPr>
              <a:t>be</a:t>
            </a:r>
            <a:r>
              <a:rPr sz="2000" spc="188" dirty="0">
                <a:latin typeface="Arial"/>
                <a:cs typeface="Arial"/>
              </a:rPr>
              <a:t> </a:t>
            </a:r>
            <a:r>
              <a:rPr sz="2000" dirty="0">
                <a:latin typeface="Arial"/>
                <a:cs typeface="Arial"/>
              </a:rPr>
              <a:t>calculated</a:t>
            </a:r>
            <a:r>
              <a:rPr sz="2000" spc="188" dirty="0">
                <a:latin typeface="Arial"/>
                <a:cs typeface="Arial"/>
              </a:rPr>
              <a:t> </a:t>
            </a:r>
            <a:r>
              <a:rPr sz="2000" spc="-50" dirty="0">
                <a:latin typeface="Arial"/>
                <a:cs typeface="Arial"/>
              </a:rPr>
              <a:t>as</a:t>
            </a:r>
            <a:endParaRPr sz="2000" dirty="0">
              <a:latin typeface="Arial"/>
              <a:cs typeface="Arial"/>
            </a:endParaRPr>
          </a:p>
        </p:txBody>
      </p:sp>
      <p:sp>
        <p:nvSpPr>
          <p:cNvPr id="11" name="object 11"/>
          <p:cNvSpPr txBox="1"/>
          <p:nvPr/>
        </p:nvSpPr>
        <p:spPr>
          <a:xfrm>
            <a:off x="8170874" y="5553568"/>
            <a:ext cx="262995" cy="246441"/>
          </a:xfrm>
          <a:prstGeom prst="rect">
            <a:avLst/>
          </a:prstGeom>
        </p:spPr>
        <p:txBody>
          <a:bodyPr vert="horz" wrap="square" lIns="0" tIns="17617" rIns="0" bIns="0" rtlCol="0">
            <a:spAutoFit/>
          </a:bodyPr>
          <a:lstStyle/>
          <a:p>
            <a:pPr marL="25168">
              <a:spcBef>
                <a:spcPts val="139"/>
              </a:spcBef>
            </a:pPr>
            <a:r>
              <a:rPr sz="1486" spc="-50" dirty="0">
                <a:solidFill>
                  <a:srgbClr val="22373A"/>
                </a:solidFill>
                <a:latin typeface="Arial"/>
                <a:cs typeface="Arial"/>
              </a:rPr>
              <a:t>22</a:t>
            </a:r>
            <a:endParaRPr sz="1486">
              <a:latin typeface="Arial"/>
              <a:cs typeface="Arial"/>
            </a:endParaRPr>
          </a:p>
        </p:txBody>
      </p:sp>
      <p:sp>
        <p:nvSpPr>
          <p:cNvPr id="5" name="object 5"/>
          <p:cNvSpPr txBox="1"/>
          <p:nvPr/>
        </p:nvSpPr>
        <p:spPr>
          <a:xfrm>
            <a:off x="3095827" y="1799079"/>
            <a:ext cx="347304" cy="358348"/>
          </a:xfrm>
          <a:prstGeom prst="rect">
            <a:avLst/>
          </a:prstGeom>
        </p:spPr>
        <p:txBody>
          <a:bodyPr vert="horz" wrap="square" lIns="0" tIns="22650" rIns="0" bIns="0" rtlCol="0">
            <a:spAutoFit/>
          </a:bodyPr>
          <a:lstStyle/>
          <a:p>
            <a:pPr marL="75503">
              <a:spcBef>
                <a:spcPts val="178"/>
              </a:spcBef>
            </a:pPr>
            <a:r>
              <a:rPr sz="2180" i="1" spc="-50" dirty="0">
                <a:solidFill>
                  <a:srgbClr val="22373A"/>
                </a:solidFill>
                <a:latin typeface="Times New Roman"/>
                <a:cs typeface="Times New Roman"/>
              </a:rPr>
              <a:t>s</a:t>
            </a:r>
            <a:r>
              <a:rPr sz="2378" i="1" spc="-73" baseline="-10416" dirty="0">
                <a:solidFill>
                  <a:srgbClr val="22373A"/>
                </a:solidFill>
                <a:latin typeface="Times New Roman"/>
                <a:cs typeface="Times New Roman"/>
              </a:rPr>
              <a:t>x</a:t>
            </a:r>
            <a:endParaRPr sz="2378" baseline="-10416" dirty="0">
              <a:latin typeface="Times New Roman"/>
              <a:cs typeface="Times New Roman"/>
            </a:endParaRPr>
          </a:p>
        </p:txBody>
      </p:sp>
      <p:sp>
        <p:nvSpPr>
          <p:cNvPr id="6" name="object 6"/>
          <p:cNvSpPr txBox="1"/>
          <p:nvPr/>
        </p:nvSpPr>
        <p:spPr>
          <a:xfrm>
            <a:off x="2488498" y="1610756"/>
            <a:ext cx="1165231" cy="358348"/>
          </a:xfrm>
          <a:prstGeom prst="rect">
            <a:avLst/>
          </a:prstGeom>
        </p:spPr>
        <p:txBody>
          <a:bodyPr vert="horz" wrap="square" lIns="0" tIns="22650" rIns="0" bIns="0" rtlCol="0">
            <a:spAutoFit/>
          </a:bodyPr>
          <a:lstStyle/>
          <a:p>
            <a:pPr marL="75503">
              <a:spcBef>
                <a:spcPts val="178"/>
              </a:spcBef>
            </a:pPr>
            <a:r>
              <a:rPr sz="2180" i="1" dirty="0">
                <a:latin typeface="Times New Roman"/>
                <a:cs typeface="Times New Roman"/>
              </a:rPr>
              <a:t>b</a:t>
            </a:r>
            <a:r>
              <a:rPr sz="2378" baseline="-10416" dirty="0">
                <a:latin typeface="Palatino Linotype"/>
                <a:cs typeface="Palatino Linotype"/>
              </a:rPr>
              <a:t>1</a:t>
            </a:r>
            <a:r>
              <a:rPr sz="2378" spc="400" baseline="-10416" dirty="0">
                <a:latin typeface="Palatino Linotype"/>
                <a:cs typeface="Palatino Linotype"/>
              </a:rPr>
              <a:t> </a:t>
            </a:r>
            <a:r>
              <a:rPr sz="2180" dirty="0">
                <a:latin typeface="Lucida Sans"/>
                <a:cs typeface="Lucida Sans"/>
              </a:rPr>
              <a:t>=</a:t>
            </a:r>
            <a:r>
              <a:rPr sz="2180" spc="129" dirty="0">
                <a:latin typeface="Lucida Sans"/>
                <a:cs typeface="Lucida Sans"/>
              </a:rPr>
              <a:t> </a:t>
            </a:r>
            <a:r>
              <a:rPr sz="3270" i="1" u="sng" baseline="40404" dirty="0">
                <a:uFill>
                  <a:solidFill>
                    <a:srgbClr val="22373A"/>
                  </a:solidFill>
                </a:uFill>
                <a:latin typeface="Times New Roman"/>
                <a:cs typeface="Times New Roman"/>
              </a:rPr>
              <a:t>s</a:t>
            </a:r>
            <a:r>
              <a:rPr sz="2378" i="1" u="sng" baseline="45138" dirty="0">
                <a:uFill>
                  <a:solidFill>
                    <a:srgbClr val="22373A"/>
                  </a:solidFill>
                </a:uFill>
                <a:latin typeface="Times New Roman"/>
                <a:cs typeface="Times New Roman"/>
              </a:rPr>
              <a:t>y</a:t>
            </a:r>
            <a:r>
              <a:rPr sz="2378" i="1" spc="-103" baseline="45138" dirty="0">
                <a:latin typeface="Times New Roman"/>
                <a:cs typeface="Times New Roman"/>
              </a:rPr>
              <a:t> </a:t>
            </a:r>
            <a:r>
              <a:rPr sz="2180" i="1" spc="-99" dirty="0">
                <a:latin typeface="Times New Roman"/>
                <a:cs typeface="Times New Roman"/>
              </a:rPr>
              <a:t>R</a:t>
            </a:r>
            <a:endParaRPr sz="2180" dirty="0">
              <a:latin typeface="Times New Roman"/>
              <a:cs typeface="Times New Roman"/>
            </a:endParaRPr>
          </a:p>
        </p:txBody>
      </p:sp>
      <p:sp>
        <p:nvSpPr>
          <p:cNvPr id="7" name="object 7"/>
          <p:cNvSpPr txBox="1"/>
          <p:nvPr/>
        </p:nvSpPr>
        <p:spPr>
          <a:xfrm>
            <a:off x="188942" y="2625670"/>
            <a:ext cx="1391734" cy="339327"/>
          </a:xfrm>
          <a:prstGeom prst="rect">
            <a:avLst/>
          </a:prstGeom>
        </p:spPr>
        <p:txBody>
          <a:bodyPr vert="horz" wrap="square" lIns="0" tIns="33975" rIns="0" bIns="0" rtlCol="0">
            <a:spAutoFit/>
          </a:bodyPr>
          <a:lstStyle/>
          <a:p>
            <a:pPr marL="25168">
              <a:spcBef>
                <a:spcPts val="268"/>
              </a:spcBef>
            </a:pPr>
            <a:r>
              <a:rPr sz="1982" i="1" dirty="0">
                <a:latin typeface="Arial"/>
                <a:cs typeface="Arial"/>
              </a:rPr>
              <a:t>In</a:t>
            </a:r>
            <a:r>
              <a:rPr sz="1982" i="1" spc="79" dirty="0">
                <a:latin typeface="Arial"/>
                <a:cs typeface="Arial"/>
              </a:rPr>
              <a:t> </a:t>
            </a:r>
            <a:r>
              <a:rPr sz="1982" i="1" spc="-20" dirty="0">
                <a:latin typeface="Arial"/>
                <a:cs typeface="Arial"/>
              </a:rPr>
              <a:t>context...</a:t>
            </a:r>
            <a:endParaRPr sz="1982" dirty="0">
              <a:latin typeface="Arial"/>
              <a:cs typeface="Arial"/>
            </a:endParaRPr>
          </a:p>
        </p:txBody>
      </p:sp>
      <p:sp>
        <p:nvSpPr>
          <p:cNvPr id="8" name="object 8"/>
          <p:cNvSpPr txBox="1"/>
          <p:nvPr/>
        </p:nvSpPr>
        <p:spPr>
          <a:xfrm>
            <a:off x="3122706" y="2818211"/>
            <a:ext cx="531023" cy="358348"/>
          </a:xfrm>
          <a:prstGeom prst="rect">
            <a:avLst/>
          </a:prstGeom>
        </p:spPr>
        <p:txBody>
          <a:bodyPr vert="horz" wrap="square" lIns="0" tIns="22650" rIns="0" bIns="0" rtlCol="0">
            <a:spAutoFit/>
          </a:bodyPr>
          <a:lstStyle/>
          <a:p>
            <a:pPr marL="25168">
              <a:spcBef>
                <a:spcPts val="178"/>
              </a:spcBef>
            </a:pPr>
            <a:r>
              <a:rPr sz="2180" u="sng" spc="-10" dirty="0">
                <a:solidFill>
                  <a:srgbClr val="22373A"/>
                </a:solidFill>
                <a:uFill>
                  <a:solidFill>
                    <a:srgbClr val="22373A"/>
                  </a:solidFill>
                </a:uFill>
                <a:latin typeface="Palatino Linotype"/>
                <a:cs typeface="Palatino Linotype"/>
              </a:rPr>
              <a:t> </a:t>
            </a:r>
            <a:r>
              <a:rPr sz="2180" u="sng" spc="-50" dirty="0">
                <a:solidFill>
                  <a:srgbClr val="22373A"/>
                </a:solidFill>
                <a:uFill>
                  <a:solidFill>
                    <a:srgbClr val="22373A"/>
                  </a:solidFill>
                </a:uFill>
                <a:latin typeface="Palatino Linotype"/>
                <a:cs typeface="Palatino Linotype"/>
              </a:rPr>
              <a:t>3</a:t>
            </a:r>
            <a:r>
              <a:rPr sz="2180" u="sng" spc="-50" dirty="0">
                <a:solidFill>
                  <a:srgbClr val="22373A"/>
                </a:solidFill>
                <a:uFill>
                  <a:solidFill>
                    <a:srgbClr val="22373A"/>
                  </a:solidFill>
                </a:uFill>
                <a:latin typeface="Bookman Old Style"/>
                <a:cs typeface="Bookman Old Style"/>
              </a:rPr>
              <a:t>.</a:t>
            </a:r>
            <a:r>
              <a:rPr sz="2180" u="sng" spc="-50" dirty="0">
                <a:solidFill>
                  <a:srgbClr val="22373A"/>
                </a:solidFill>
                <a:uFill>
                  <a:solidFill>
                    <a:srgbClr val="22373A"/>
                  </a:solidFill>
                </a:uFill>
                <a:latin typeface="Palatino Linotype"/>
                <a:cs typeface="Palatino Linotype"/>
              </a:rPr>
              <a:t>1</a:t>
            </a:r>
            <a:r>
              <a:rPr sz="2180" u="sng" spc="991" dirty="0">
                <a:solidFill>
                  <a:srgbClr val="22373A"/>
                </a:solidFill>
                <a:uFill>
                  <a:solidFill>
                    <a:srgbClr val="22373A"/>
                  </a:solidFill>
                </a:uFill>
                <a:latin typeface="Palatino Linotype"/>
                <a:cs typeface="Palatino Linotype"/>
              </a:rPr>
              <a:t> </a:t>
            </a:r>
            <a:endParaRPr sz="2180">
              <a:latin typeface="Palatino Linotype"/>
              <a:cs typeface="Palatino Linotype"/>
            </a:endParaRPr>
          </a:p>
        </p:txBody>
      </p:sp>
      <p:sp>
        <p:nvSpPr>
          <p:cNvPr id="9" name="object 9"/>
          <p:cNvSpPr txBox="1"/>
          <p:nvPr/>
        </p:nvSpPr>
        <p:spPr>
          <a:xfrm>
            <a:off x="2465067" y="3004068"/>
            <a:ext cx="3203756" cy="358348"/>
          </a:xfrm>
          <a:prstGeom prst="rect">
            <a:avLst/>
          </a:prstGeom>
        </p:spPr>
        <p:txBody>
          <a:bodyPr vert="horz" wrap="square" lIns="0" tIns="22650" rIns="0" bIns="0" rtlCol="0">
            <a:spAutoFit/>
          </a:bodyPr>
          <a:lstStyle/>
          <a:p>
            <a:pPr marL="75503">
              <a:spcBef>
                <a:spcPts val="178"/>
              </a:spcBef>
            </a:pPr>
            <a:r>
              <a:rPr sz="2180" i="1" dirty="0">
                <a:latin typeface="Times New Roman"/>
                <a:cs typeface="Times New Roman"/>
              </a:rPr>
              <a:t>b</a:t>
            </a:r>
            <a:r>
              <a:rPr sz="2378" baseline="-10416" dirty="0">
                <a:latin typeface="Palatino Linotype"/>
                <a:cs typeface="Palatino Linotype"/>
              </a:rPr>
              <a:t>1</a:t>
            </a:r>
            <a:r>
              <a:rPr sz="2378" spc="327" baseline="-10416" dirty="0">
                <a:latin typeface="Palatino Linotype"/>
                <a:cs typeface="Palatino Linotype"/>
              </a:rPr>
              <a:t> </a:t>
            </a:r>
            <a:r>
              <a:rPr sz="2180" dirty="0">
                <a:latin typeface="Lucida Sans"/>
                <a:cs typeface="Lucida Sans"/>
              </a:rPr>
              <a:t>=</a:t>
            </a:r>
            <a:r>
              <a:rPr sz="2180" spc="79" dirty="0">
                <a:latin typeface="Lucida Sans"/>
                <a:cs typeface="Lucida Sans"/>
              </a:rPr>
              <a:t> </a:t>
            </a:r>
            <a:r>
              <a:rPr sz="3270" baseline="-37878" dirty="0">
                <a:latin typeface="Palatino Linotype"/>
                <a:cs typeface="Palatino Linotype"/>
              </a:rPr>
              <a:t>3</a:t>
            </a:r>
            <a:r>
              <a:rPr sz="3270" baseline="-37878" dirty="0">
                <a:latin typeface="Bookman Old Style"/>
                <a:cs typeface="Bookman Old Style"/>
              </a:rPr>
              <a:t>.</a:t>
            </a:r>
            <a:r>
              <a:rPr sz="3270" baseline="-37878" dirty="0">
                <a:latin typeface="Palatino Linotype"/>
                <a:cs typeface="Palatino Linotype"/>
              </a:rPr>
              <a:t>73</a:t>
            </a:r>
            <a:r>
              <a:rPr sz="3270" spc="176" baseline="-37878" dirty="0">
                <a:latin typeface="Palatino Linotype"/>
                <a:cs typeface="Palatino Linotype"/>
              </a:rPr>
              <a:t> </a:t>
            </a:r>
            <a:r>
              <a:rPr sz="2180" spc="-377" dirty="0">
                <a:latin typeface="Lucida Sans Unicode"/>
                <a:cs typeface="Lucida Sans Unicode"/>
              </a:rPr>
              <a:t>×</a:t>
            </a:r>
            <a:r>
              <a:rPr sz="2180" spc="-218" dirty="0">
                <a:latin typeface="Lucida Sans Unicode"/>
                <a:cs typeface="Lucida Sans Unicode"/>
              </a:rPr>
              <a:t> </a:t>
            </a:r>
            <a:r>
              <a:rPr sz="2180" spc="-109" dirty="0">
                <a:latin typeface="Lucida Sans Unicode"/>
                <a:cs typeface="Lucida Sans Unicode"/>
              </a:rPr>
              <a:t>−</a:t>
            </a:r>
            <a:r>
              <a:rPr sz="2180" spc="-109" dirty="0">
                <a:latin typeface="Palatino Linotype"/>
                <a:cs typeface="Palatino Linotype"/>
              </a:rPr>
              <a:t>0</a:t>
            </a:r>
            <a:r>
              <a:rPr sz="2180" spc="-109" dirty="0">
                <a:latin typeface="Bookman Old Style"/>
                <a:cs typeface="Bookman Old Style"/>
              </a:rPr>
              <a:t>.</a:t>
            </a:r>
            <a:r>
              <a:rPr sz="2180" spc="-109" dirty="0">
                <a:latin typeface="Palatino Linotype"/>
                <a:cs typeface="Palatino Linotype"/>
              </a:rPr>
              <a:t>75</a:t>
            </a:r>
            <a:r>
              <a:rPr sz="2180" spc="10" dirty="0">
                <a:latin typeface="Palatino Linotype"/>
                <a:cs typeface="Palatino Linotype"/>
              </a:rPr>
              <a:t> </a:t>
            </a:r>
            <a:r>
              <a:rPr sz="2180" dirty="0">
                <a:latin typeface="Lucida Sans"/>
                <a:cs typeface="Lucida Sans"/>
              </a:rPr>
              <a:t>=</a:t>
            </a:r>
            <a:r>
              <a:rPr sz="2180" spc="-129" dirty="0">
                <a:latin typeface="Lucida Sans"/>
                <a:cs typeface="Lucida Sans"/>
              </a:rPr>
              <a:t> </a:t>
            </a:r>
            <a:r>
              <a:rPr sz="2180" spc="-40" dirty="0">
                <a:latin typeface="Lucida Sans Unicode"/>
                <a:cs typeface="Lucida Sans Unicode"/>
              </a:rPr>
              <a:t>−</a:t>
            </a:r>
            <a:r>
              <a:rPr sz="2180" spc="-40" dirty="0">
                <a:latin typeface="Palatino Linotype"/>
                <a:cs typeface="Palatino Linotype"/>
              </a:rPr>
              <a:t>0</a:t>
            </a:r>
            <a:r>
              <a:rPr sz="2180" spc="-40" dirty="0">
                <a:latin typeface="Bookman Old Style"/>
                <a:cs typeface="Bookman Old Style"/>
              </a:rPr>
              <a:t>.</a:t>
            </a:r>
            <a:r>
              <a:rPr sz="2180" spc="-40" dirty="0">
                <a:latin typeface="Palatino Linotype"/>
                <a:cs typeface="Palatino Linotype"/>
              </a:rPr>
              <a:t>62</a:t>
            </a:r>
            <a:endParaRPr sz="2180" dirty="0">
              <a:latin typeface="Palatino Linotype"/>
              <a:cs typeface="Palatino Linotype"/>
            </a:endParaRPr>
          </a:p>
        </p:txBody>
      </p:sp>
      <p:sp>
        <p:nvSpPr>
          <p:cNvPr id="10" name="object 10"/>
          <p:cNvSpPr txBox="1"/>
          <p:nvPr/>
        </p:nvSpPr>
        <p:spPr>
          <a:xfrm>
            <a:off x="188943" y="4023200"/>
            <a:ext cx="11624298" cy="1180739"/>
          </a:xfrm>
          <a:prstGeom prst="rect">
            <a:avLst/>
          </a:prstGeom>
        </p:spPr>
        <p:txBody>
          <a:bodyPr vert="horz" wrap="square" lIns="0" tIns="113251" rIns="0" bIns="0" rtlCol="0">
            <a:spAutoFit/>
          </a:bodyPr>
          <a:lstStyle/>
          <a:p>
            <a:pPr marL="25168">
              <a:spcBef>
                <a:spcPts val="892"/>
              </a:spcBef>
            </a:pPr>
            <a:r>
              <a:rPr sz="2000" b="1" i="1" spc="-20" dirty="0">
                <a:latin typeface="Arial"/>
                <a:cs typeface="Arial"/>
              </a:rPr>
              <a:t>Interpretation</a:t>
            </a:r>
            <a:endParaRPr sz="2000" b="1" i="1" dirty="0">
              <a:latin typeface="Arial"/>
              <a:cs typeface="Arial"/>
            </a:endParaRPr>
          </a:p>
          <a:p>
            <a:pPr marL="25168" marR="10067">
              <a:lnSpc>
                <a:spcPct val="129800"/>
              </a:lnSpc>
            </a:pPr>
            <a:r>
              <a:rPr sz="2000" dirty="0">
                <a:latin typeface="Arial"/>
                <a:cs typeface="Arial"/>
              </a:rPr>
              <a:t>For</a:t>
            </a:r>
            <a:r>
              <a:rPr sz="2000" spc="149" dirty="0">
                <a:latin typeface="Arial"/>
                <a:cs typeface="Arial"/>
              </a:rPr>
              <a:t> </a:t>
            </a:r>
            <a:r>
              <a:rPr sz="2000" dirty="0">
                <a:latin typeface="Arial"/>
                <a:cs typeface="Arial"/>
              </a:rPr>
              <a:t>each</a:t>
            </a:r>
            <a:r>
              <a:rPr sz="2000" spc="149" dirty="0">
                <a:latin typeface="Arial"/>
                <a:cs typeface="Arial"/>
              </a:rPr>
              <a:t> </a:t>
            </a:r>
            <a:r>
              <a:rPr sz="2000" dirty="0">
                <a:latin typeface="Arial"/>
                <a:cs typeface="Arial"/>
              </a:rPr>
              <a:t>additional</a:t>
            </a:r>
            <a:r>
              <a:rPr sz="2000" spc="149" dirty="0">
                <a:latin typeface="Arial"/>
                <a:cs typeface="Arial"/>
              </a:rPr>
              <a:t> </a:t>
            </a:r>
            <a:r>
              <a:rPr sz="2000" dirty="0">
                <a:latin typeface="Arial"/>
                <a:cs typeface="Arial"/>
              </a:rPr>
              <a:t>%</a:t>
            </a:r>
            <a:r>
              <a:rPr sz="2000" spc="149" dirty="0">
                <a:latin typeface="Arial"/>
                <a:cs typeface="Arial"/>
              </a:rPr>
              <a:t> </a:t>
            </a:r>
            <a:r>
              <a:rPr sz="2000" dirty="0">
                <a:latin typeface="Arial"/>
                <a:cs typeface="Arial"/>
              </a:rPr>
              <a:t>point</a:t>
            </a:r>
            <a:r>
              <a:rPr sz="2000" spc="149" dirty="0">
                <a:latin typeface="Arial"/>
                <a:cs typeface="Arial"/>
              </a:rPr>
              <a:t> </a:t>
            </a:r>
            <a:r>
              <a:rPr sz="2000" dirty="0">
                <a:latin typeface="Arial"/>
                <a:cs typeface="Arial"/>
              </a:rPr>
              <a:t>in</a:t>
            </a:r>
            <a:r>
              <a:rPr sz="2000" spc="149" dirty="0">
                <a:latin typeface="Arial"/>
                <a:cs typeface="Arial"/>
              </a:rPr>
              <a:t> </a:t>
            </a:r>
            <a:r>
              <a:rPr sz="2000" dirty="0">
                <a:latin typeface="Arial"/>
                <a:cs typeface="Arial"/>
              </a:rPr>
              <a:t>HS</a:t>
            </a:r>
            <a:r>
              <a:rPr sz="2000" spc="149" dirty="0">
                <a:latin typeface="Arial"/>
                <a:cs typeface="Arial"/>
              </a:rPr>
              <a:t> </a:t>
            </a:r>
            <a:r>
              <a:rPr sz="2000" dirty="0">
                <a:latin typeface="Arial"/>
                <a:cs typeface="Arial"/>
              </a:rPr>
              <a:t>graduate</a:t>
            </a:r>
            <a:r>
              <a:rPr sz="2000" spc="149" dirty="0">
                <a:latin typeface="Arial"/>
                <a:cs typeface="Arial"/>
              </a:rPr>
              <a:t> </a:t>
            </a:r>
            <a:r>
              <a:rPr sz="2000" dirty="0">
                <a:latin typeface="Arial"/>
                <a:cs typeface="Arial"/>
              </a:rPr>
              <a:t>rate,</a:t>
            </a:r>
            <a:r>
              <a:rPr sz="2000" spc="149" dirty="0">
                <a:latin typeface="Arial"/>
                <a:cs typeface="Arial"/>
              </a:rPr>
              <a:t> </a:t>
            </a:r>
            <a:r>
              <a:rPr sz="2000" dirty="0">
                <a:latin typeface="Arial"/>
                <a:cs typeface="Arial"/>
              </a:rPr>
              <a:t>we</a:t>
            </a:r>
            <a:r>
              <a:rPr sz="2000" spc="149" dirty="0">
                <a:latin typeface="Arial"/>
                <a:cs typeface="Arial"/>
              </a:rPr>
              <a:t> </a:t>
            </a:r>
            <a:r>
              <a:rPr sz="2000" dirty="0">
                <a:latin typeface="Arial"/>
                <a:cs typeface="Arial"/>
              </a:rPr>
              <a:t>would</a:t>
            </a:r>
            <a:r>
              <a:rPr sz="2000" spc="149" dirty="0">
                <a:latin typeface="Arial"/>
                <a:cs typeface="Arial"/>
              </a:rPr>
              <a:t> </a:t>
            </a:r>
            <a:r>
              <a:rPr sz="2000" spc="-20" dirty="0">
                <a:latin typeface="Arial"/>
                <a:cs typeface="Arial"/>
              </a:rPr>
              <a:t>expect </a:t>
            </a:r>
            <a:r>
              <a:rPr sz="2000" dirty="0">
                <a:latin typeface="Arial"/>
                <a:cs typeface="Arial"/>
              </a:rPr>
              <a:t>the</a:t>
            </a:r>
            <a:r>
              <a:rPr sz="2000" spc="119" dirty="0">
                <a:latin typeface="Arial"/>
                <a:cs typeface="Arial"/>
              </a:rPr>
              <a:t> </a:t>
            </a:r>
            <a:r>
              <a:rPr sz="2000" dirty="0">
                <a:latin typeface="Arial"/>
                <a:cs typeface="Arial"/>
              </a:rPr>
              <a:t>%</a:t>
            </a:r>
            <a:r>
              <a:rPr sz="2000" spc="129" dirty="0">
                <a:latin typeface="Arial"/>
                <a:cs typeface="Arial"/>
              </a:rPr>
              <a:t> </a:t>
            </a:r>
            <a:r>
              <a:rPr sz="2000" dirty="0">
                <a:latin typeface="Arial"/>
                <a:cs typeface="Arial"/>
              </a:rPr>
              <a:t>living</a:t>
            </a:r>
            <a:r>
              <a:rPr sz="2000" spc="119" dirty="0">
                <a:latin typeface="Arial"/>
                <a:cs typeface="Arial"/>
              </a:rPr>
              <a:t> </a:t>
            </a:r>
            <a:r>
              <a:rPr sz="2000" dirty="0">
                <a:latin typeface="Arial"/>
                <a:cs typeface="Arial"/>
              </a:rPr>
              <a:t>in</a:t>
            </a:r>
            <a:r>
              <a:rPr sz="2000" spc="129" dirty="0">
                <a:latin typeface="Arial"/>
                <a:cs typeface="Arial"/>
              </a:rPr>
              <a:t> </a:t>
            </a:r>
            <a:r>
              <a:rPr sz="2000" dirty="0">
                <a:latin typeface="Arial"/>
                <a:cs typeface="Arial"/>
              </a:rPr>
              <a:t>poverty</a:t>
            </a:r>
            <a:r>
              <a:rPr sz="2000" spc="129" dirty="0">
                <a:latin typeface="Arial"/>
                <a:cs typeface="Arial"/>
              </a:rPr>
              <a:t> </a:t>
            </a:r>
            <a:r>
              <a:rPr sz="2000" dirty="0">
                <a:latin typeface="Arial"/>
                <a:cs typeface="Arial"/>
              </a:rPr>
              <a:t>to</a:t>
            </a:r>
            <a:r>
              <a:rPr sz="2000" spc="119" dirty="0">
                <a:latin typeface="Arial"/>
                <a:cs typeface="Arial"/>
              </a:rPr>
              <a:t> </a:t>
            </a:r>
            <a:r>
              <a:rPr sz="2000" dirty="0">
                <a:latin typeface="Arial"/>
                <a:cs typeface="Arial"/>
              </a:rPr>
              <a:t>be</a:t>
            </a:r>
            <a:r>
              <a:rPr sz="2000" spc="129" dirty="0">
                <a:latin typeface="Arial"/>
                <a:cs typeface="Arial"/>
              </a:rPr>
              <a:t> </a:t>
            </a:r>
            <a:r>
              <a:rPr sz="2000" dirty="0">
                <a:latin typeface="Arial"/>
                <a:cs typeface="Arial"/>
              </a:rPr>
              <a:t>lower</a:t>
            </a:r>
            <a:r>
              <a:rPr sz="2000" spc="119" dirty="0">
                <a:latin typeface="Arial"/>
                <a:cs typeface="Arial"/>
              </a:rPr>
              <a:t> </a:t>
            </a:r>
            <a:r>
              <a:rPr sz="2000" dirty="0">
                <a:latin typeface="Arial"/>
                <a:cs typeface="Arial"/>
              </a:rPr>
              <a:t>on</a:t>
            </a:r>
            <a:r>
              <a:rPr sz="2000" spc="129" dirty="0">
                <a:latin typeface="Arial"/>
                <a:cs typeface="Arial"/>
              </a:rPr>
              <a:t> </a:t>
            </a:r>
            <a:r>
              <a:rPr sz="2000" dirty="0">
                <a:latin typeface="Arial"/>
                <a:cs typeface="Arial"/>
              </a:rPr>
              <a:t>average</a:t>
            </a:r>
            <a:r>
              <a:rPr sz="2000" spc="129" dirty="0">
                <a:latin typeface="Arial"/>
                <a:cs typeface="Arial"/>
              </a:rPr>
              <a:t> </a:t>
            </a:r>
            <a:r>
              <a:rPr sz="2000" dirty="0">
                <a:latin typeface="Arial"/>
                <a:cs typeface="Arial"/>
              </a:rPr>
              <a:t>by</a:t>
            </a:r>
            <a:r>
              <a:rPr sz="2000" spc="119" dirty="0">
                <a:latin typeface="Arial"/>
                <a:cs typeface="Arial"/>
              </a:rPr>
              <a:t> </a:t>
            </a:r>
            <a:r>
              <a:rPr sz="2000" dirty="0">
                <a:latin typeface="Arial"/>
                <a:cs typeface="Arial"/>
              </a:rPr>
              <a:t>0.62%</a:t>
            </a:r>
            <a:r>
              <a:rPr sz="2000" spc="129" dirty="0">
                <a:latin typeface="Arial"/>
                <a:cs typeface="Arial"/>
              </a:rPr>
              <a:t> </a:t>
            </a:r>
            <a:r>
              <a:rPr sz="2000" spc="-20" dirty="0">
                <a:latin typeface="Arial"/>
                <a:cs typeface="Arial"/>
              </a:rPr>
              <a:t>points.</a:t>
            </a:r>
            <a:endParaRPr sz="2000" dirty="0">
              <a:latin typeface="Arial"/>
              <a:cs typeface="Arial"/>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96" y="213132"/>
            <a:ext cx="11441572" cy="369783"/>
          </a:xfrm>
          <a:prstGeom prst="rect">
            <a:avLst/>
          </a:prstGeom>
        </p:spPr>
        <p:txBody>
          <a:bodyPr vert="horz" wrap="square" lIns="0" tIns="33975" rIns="0" bIns="0" rtlCol="0">
            <a:spAutoFit/>
          </a:bodyPr>
          <a:lstStyle/>
          <a:p>
            <a:pPr marL="25168">
              <a:spcBef>
                <a:spcPts val="268"/>
              </a:spcBef>
            </a:pPr>
            <a:r>
              <a:rPr spc="-20" dirty="0"/>
              <a:t>Prediction</a:t>
            </a:r>
          </a:p>
        </p:txBody>
      </p:sp>
      <p:sp>
        <p:nvSpPr>
          <p:cNvPr id="3" name="object 3"/>
          <p:cNvSpPr txBox="1"/>
          <p:nvPr/>
        </p:nvSpPr>
        <p:spPr>
          <a:xfrm>
            <a:off x="166496" y="981745"/>
            <a:ext cx="11441572" cy="1557470"/>
          </a:xfrm>
          <a:prstGeom prst="rect">
            <a:avLst/>
          </a:prstGeom>
        </p:spPr>
        <p:txBody>
          <a:bodyPr vert="horz" wrap="square" lIns="0" tIns="35234" rIns="0" bIns="0" rtlCol="0">
            <a:spAutoFit/>
          </a:bodyPr>
          <a:lstStyle/>
          <a:p>
            <a:pPr marL="293202" marR="10067" indent="-269293" defTabSz="1812066">
              <a:lnSpc>
                <a:spcPct val="125699"/>
              </a:lnSpc>
              <a:spcBef>
                <a:spcPts val="277"/>
              </a:spcBef>
              <a:buFont typeface="Lucida Sans"/>
              <a:buChar char="•"/>
              <a:tabLst>
                <a:tab pos="296978" algn="l"/>
              </a:tabLst>
            </a:pPr>
            <a:r>
              <a:rPr sz="2000" kern="0" dirty="0">
                <a:latin typeface="Arial" panose="020B0604020202020204" pitchFamily="34" charset="0"/>
                <a:cs typeface="Arial" panose="020B0604020202020204" pitchFamily="34" charset="0"/>
              </a:rPr>
              <a:t>Using</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linear</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model</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to</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predict</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value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4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response </a:t>
            </a:r>
            <a:r>
              <a:rPr sz="2000" kern="0" dirty="0">
                <a:latin typeface="Arial" panose="020B0604020202020204" pitchFamily="34" charset="0"/>
                <a:cs typeface="Arial" panose="020B0604020202020204" pitchFamily="34" charset="0"/>
              </a:rPr>
              <a:t>variable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for</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given</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value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explanatory</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variable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3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called </a:t>
            </a:r>
            <a:r>
              <a:rPr sz="2000" i="1" kern="0" dirty="0">
                <a:latin typeface="Arial" panose="020B0604020202020204" pitchFamily="34" charset="0"/>
                <a:cs typeface="Arial" panose="020B0604020202020204" pitchFamily="34" charset="0"/>
              </a:rPr>
              <a:t>prediction</a:t>
            </a:r>
            <a:r>
              <a:rPr sz="2000" kern="0" dirty="0">
                <a:latin typeface="Arial" panose="020B0604020202020204" pitchFamily="34" charset="0"/>
                <a:cs typeface="Arial" panose="020B0604020202020204" pitchFamily="34" charset="0"/>
              </a:rPr>
              <a:t>,</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simply</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plugging</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value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49" dirty="0">
                <a:latin typeface="Arial" panose="020B0604020202020204" pitchFamily="34" charset="0"/>
                <a:cs typeface="Arial" panose="020B0604020202020204" pitchFamily="34" charset="0"/>
              </a:rPr>
              <a:t> </a:t>
            </a:r>
            <a:r>
              <a:rPr sz="2000" i="1" kern="0" dirty="0">
                <a:latin typeface="Arial" panose="020B0604020202020204" pitchFamily="34" charset="0"/>
                <a:cs typeface="Arial" panose="020B0604020202020204" pitchFamily="34" charset="0"/>
              </a:rPr>
              <a:t>x</a:t>
            </a:r>
            <a:r>
              <a:rPr sz="2000" i="1"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4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linear	</a:t>
            </a:r>
            <a:r>
              <a:rPr sz="2000" kern="0" dirty="0">
                <a:latin typeface="Arial" panose="020B0604020202020204" pitchFamily="34" charset="0"/>
                <a:cs typeface="Arial" panose="020B0604020202020204" pitchFamily="34" charset="0"/>
              </a:rPr>
              <a:t>model</a:t>
            </a:r>
            <a:r>
              <a:rPr sz="2000" kern="0" spc="226"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equation.</a:t>
            </a:r>
            <a:endParaRPr sz="2000" kern="0" dirty="0">
              <a:latin typeface="Arial" panose="020B0604020202020204" pitchFamily="34" charset="0"/>
              <a:cs typeface="Arial" panose="020B0604020202020204" pitchFamily="34" charset="0"/>
            </a:endParaRPr>
          </a:p>
          <a:p>
            <a:pPr marL="293202" marR="35235" indent="-269293" defTabSz="1812066">
              <a:lnSpc>
                <a:spcPct val="129900"/>
              </a:lnSpc>
              <a:buFont typeface="Lucida Sans"/>
              <a:buChar char="•"/>
              <a:tabLst>
                <a:tab pos="296978" algn="l"/>
              </a:tabLst>
            </a:pPr>
            <a:r>
              <a:rPr sz="2000" kern="0" dirty="0">
                <a:latin typeface="Arial" panose="020B0604020202020204" pitchFamily="34" charset="0"/>
                <a:cs typeface="Arial" panose="020B0604020202020204" pitchFamily="34" charset="0"/>
              </a:rPr>
              <a:t>There</a:t>
            </a:r>
            <a:r>
              <a:rPr sz="2000" kern="0" spc="20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will</a:t>
            </a:r>
            <a:r>
              <a:rPr sz="2000" kern="0" spc="21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be</a:t>
            </a:r>
            <a:r>
              <a:rPr sz="2000" kern="0" spc="20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some</a:t>
            </a:r>
            <a:r>
              <a:rPr sz="2000" kern="0" spc="21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uncertainty</a:t>
            </a:r>
            <a:r>
              <a:rPr sz="2000" kern="0" spc="20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associated</a:t>
            </a:r>
            <a:r>
              <a:rPr sz="2000" kern="0" spc="21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with</a:t>
            </a:r>
            <a:r>
              <a:rPr sz="2000" kern="0" spc="20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218"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predicted value.</a:t>
            </a:r>
            <a:endParaRPr sz="2000" kern="0" dirty="0">
              <a:latin typeface="Arial" panose="020B0604020202020204" pitchFamily="34" charset="0"/>
              <a:cs typeface="Arial" panose="020B0604020202020204" pitchFamily="34" charset="0"/>
            </a:endParaRPr>
          </a:p>
        </p:txBody>
      </p:sp>
      <p:grpSp>
        <p:nvGrpSpPr>
          <p:cNvPr id="4" name="object 4"/>
          <p:cNvGrpSpPr/>
          <p:nvPr/>
        </p:nvGrpSpPr>
        <p:grpSpPr>
          <a:xfrm>
            <a:off x="1056032" y="3762105"/>
            <a:ext cx="5838738" cy="2306553"/>
            <a:chOff x="935957" y="1903326"/>
            <a:chExt cx="2946400" cy="1163955"/>
          </a:xfrm>
        </p:grpSpPr>
        <p:sp>
          <p:nvSpPr>
            <p:cNvPr id="5" name="object 5"/>
            <p:cNvSpPr/>
            <p:nvPr/>
          </p:nvSpPr>
          <p:spPr>
            <a:xfrm>
              <a:off x="1466245" y="2198388"/>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6" name="object 6"/>
            <p:cNvSpPr/>
            <p:nvPr/>
          </p:nvSpPr>
          <p:spPr>
            <a:xfrm>
              <a:off x="1466245" y="2198388"/>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7" name="object 7"/>
            <p:cNvSpPr/>
            <p:nvPr/>
          </p:nvSpPr>
          <p:spPr>
            <a:xfrm>
              <a:off x="3560338"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8" name="object 8"/>
            <p:cNvSpPr/>
            <p:nvPr/>
          </p:nvSpPr>
          <p:spPr>
            <a:xfrm>
              <a:off x="3560338"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9" name="object 9"/>
            <p:cNvSpPr/>
            <p:nvPr/>
          </p:nvSpPr>
          <p:spPr>
            <a:xfrm>
              <a:off x="2229514" y="2310509"/>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0" name="object 10"/>
            <p:cNvSpPr/>
            <p:nvPr/>
          </p:nvSpPr>
          <p:spPr>
            <a:xfrm>
              <a:off x="2229514" y="2310509"/>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1" name="object 11"/>
            <p:cNvSpPr/>
            <p:nvPr/>
          </p:nvSpPr>
          <p:spPr>
            <a:xfrm>
              <a:off x="1661959" y="190523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2" name="object 12"/>
            <p:cNvSpPr/>
            <p:nvPr/>
          </p:nvSpPr>
          <p:spPr>
            <a:xfrm>
              <a:off x="1661959" y="190523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3" name="object 13"/>
            <p:cNvSpPr/>
            <p:nvPr/>
          </p:nvSpPr>
          <p:spPr>
            <a:xfrm>
              <a:off x="1701131" y="235361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4" name="object 14"/>
            <p:cNvSpPr/>
            <p:nvPr/>
          </p:nvSpPr>
          <p:spPr>
            <a:xfrm>
              <a:off x="1701131" y="235361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5" name="object 15"/>
            <p:cNvSpPr/>
            <p:nvPr/>
          </p:nvSpPr>
          <p:spPr>
            <a:xfrm>
              <a:off x="3188496" y="2646775"/>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6" name="object 16"/>
            <p:cNvSpPr/>
            <p:nvPr/>
          </p:nvSpPr>
          <p:spPr>
            <a:xfrm>
              <a:off x="3188496" y="2646775"/>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7" name="object 17"/>
            <p:cNvSpPr/>
            <p:nvPr/>
          </p:nvSpPr>
          <p:spPr>
            <a:xfrm>
              <a:off x="2953659"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8" name="object 18"/>
            <p:cNvSpPr/>
            <p:nvPr/>
          </p:nvSpPr>
          <p:spPr>
            <a:xfrm>
              <a:off x="2953659"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9" name="object 19"/>
            <p:cNvSpPr/>
            <p:nvPr/>
          </p:nvSpPr>
          <p:spPr>
            <a:xfrm>
              <a:off x="3188496" y="275889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20" name="object 20"/>
            <p:cNvSpPr/>
            <p:nvPr/>
          </p:nvSpPr>
          <p:spPr>
            <a:xfrm>
              <a:off x="3188496" y="275889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21" name="object 21"/>
            <p:cNvSpPr/>
            <p:nvPr/>
          </p:nvSpPr>
          <p:spPr>
            <a:xfrm>
              <a:off x="2660064" y="200870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22" name="object 22"/>
            <p:cNvSpPr/>
            <p:nvPr/>
          </p:nvSpPr>
          <p:spPr>
            <a:xfrm>
              <a:off x="2660064" y="200870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23" name="object 23"/>
            <p:cNvSpPr/>
            <p:nvPr/>
          </p:nvSpPr>
          <p:spPr>
            <a:xfrm>
              <a:off x="2405642"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24" name="object 24"/>
            <p:cNvSpPr/>
            <p:nvPr/>
          </p:nvSpPr>
          <p:spPr>
            <a:xfrm>
              <a:off x="2405642"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25" name="object 25"/>
            <p:cNvSpPr/>
            <p:nvPr/>
          </p:nvSpPr>
          <p:spPr>
            <a:xfrm>
              <a:off x="2483937"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26" name="object 26"/>
            <p:cNvSpPr/>
            <p:nvPr/>
          </p:nvSpPr>
          <p:spPr>
            <a:xfrm>
              <a:off x="2483937"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27" name="object 27"/>
            <p:cNvSpPr/>
            <p:nvPr/>
          </p:nvSpPr>
          <p:spPr>
            <a:xfrm>
              <a:off x="3149324" y="254330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28" name="object 28"/>
            <p:cNvSpPr/>
            <p:nvPr/>
          </p:nvSpPr>
          <p:spPr>
            <a:xfrm>
              <a:off x="3149324" y="254330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29" name="object 29"/>
            <p:cNvSpPr/>
            <p:nvPr/>
          </p:nvSpPr>
          <p:spPr>
            <a:xfrm>
              <a:off x="3090615" y="2439835"/>
              <a:ext cx="26670" cy="26670"/>
            </a:xfrm>
            <a:custGeom>
              <a:avLst/>
              <a:gdLst/>
              <a:ahLst/>
              <a:cxnLst/>
              <a:rect l="l" t="t" r="r" b="b"/>
              <a:pathLst>
                <a:path w="26669" h="26669">
                  <a:moveTo>
                    <a:pt x="20363" y="0"/>
                  </a:moveTo>
                  <a:lnTo>
                    <a:pt x="5929" y="0"/>
                  </a:lnTo>
                  <a:lnTo>
                    <a:pt x="0" y="5880"/>
                  </a:lnTo>
                  <a:lnTo>
                    <a:pt x="0" y="13122"/>
                  </a:lnTo>
                  <a:lnTo>
                    <a:pt x="0" y="20363"/>
                  </a:lnTo>
                  <a:lnTo>
                    <a:pt x="5929" y="26244"/>
                  </a:lnTo>
                  <a:lnTo>
                    <a:pt x="20363" y="26244"/>
                  </a:lnTo>
                  <a:lnTo>
                    <a:pt x="26244" y="20363"/>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30" name="object 30"/>
            <p:cNvSpPr/>
            <p:nvPr/>
          </p:nvSpPr>
          <p:spPr>
            <a:xfrm>
              <a:off x="3090615" y="243983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31" name="object 31"/>
            <p:cNvSpPr/>
            <p:nvPr/>
          </p:nvSpPr>
          <p:spPr>
            <a:xfrm>
              <a:off x="2640527" y="249159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32" name="object 32"/>
            <p:cNvSpPr/>
            <p:nvPr/>
          </p:nvSpPr>
          <p:spPr>
            <a:xfrm>
              <a:off x="2640527" y="249159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33" name="object 33"/>
            <p:cNvSpPr/>
            <p:nvPr/>
          </p:nvSpPr>
          <p:spPr>
            <a:xfrm>
              <a:off x="2738360"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34" name="object 34"/>
            <p:cNvSpPr/>
            <p:nvPr/>
          </p:nvSpPr>
          <p:spPr>
            <a:xfrm>
              <a:off x="2738360"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35" name="object 35"/>
            <p:cNvSpPr/>
            <p:nvPr/>
          </p:nvSpPr>
          <p:spPr>
            <a:xfrm>
              <a:off x="3384210"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36" name="object 36"/>
            <p:cNvSpPr/>
            <p:nvPr/>
          </p:nvSpPr>
          <p:spPr>
            <a:xfrm>
              <a:off x="3384210"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37" name="object 37"/>
            <p:cNvSpPr/>
            <p:nvPr/>
          </p:nvSpPr>
          <p:spPr>
            <a:xfrm>
              <a:off x="3168910" y="264677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38" name="object 38"/>
            <p:cNvSpPr/>
            <p:nvPr/>
          </p:nvSpPr>
          <p:spPr>
            <a:xfrm>
              <a:off x="3168910" y="264677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39" name="object 39"/>
            <p:cNvSpPr/>
            <p:nvPr/>
          </p:nvSpPr>
          <p:spPr>
            <a:xfrm>
              <a:off x="2033800" y="2327763"/>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40" name="object 40"/>
            <p:cNvSpPr/>
            <p:nvPr/>
          </p:nvSpPr>
          <p:spPr>
            <a:xfrm>
              <a:off x="2033800" y="2327763"/>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41" name="object 41"/>
            <p:cNvSpPr/>
            <p:nvPr/>
          </p:nvSpPr>
          <p:spPr>
            <a:xfrm>
              <a:off x="1446708" y="1991448"/>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42" name="object 42"/>
            <p:cNvSpPr/>
            <p:nvPr/>
          </p:nvSpPr>
          <p:spPr>
            <a:xfrm>
              <a:off x="1446708" y="1991448"/>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43" name="object 43"/>
            <p:cNvSpPr/>
            <p:nvPr/>
          </p:nvSpPr>
          <p:spPr>
            <a:xfrm>
              <a:off x="2777483" y="2482943"/>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44" name="object 44"/>
            <p:cNvSpPr/>
            <p:nvPr/>
          </p:nvSpPr>
          <p:spPr>
            <a:xfrm>
              <a:off x="2777483" y="2482943"/>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45" name="object 45"/>
            <p:cNvSpPr/>
            <p:nvPr/>
          </p:nvSpPr>
          <p:spPr>
            <a:xfrm>
              <a:off x="2973197" y="282786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46" name="object 46"/>
            <p:cNvSpPr/>
            <p:nvPr/>
          </p:nvSpPr>
          <p:spPr>
            <a:xfrm>
              <a:off x="2973197" y="282786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47" name="object 47"/>
            <p:cNvSpPr/>
            <p:nvPr/>
          </p:nvSpPr>
          <p:spPr>
            <a:xfrm>
              <a:off x="2875364"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48" name="object 48"/>
            <p:cNvSpPr/>
            <p:nvPr/>
          </p:nvSpPr>
          <p:spPr>
            <a:xfrm>
              <a:off x="2875364"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49" name="object 49"/>
            <p:cNvSpPr/>
            <p:nvPr/>
          </p:nvSpPr>
          <p:spPr>
            <a:xfrm>
              <a:off x="2973197"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50" name="object 50"/>
            <p:cNvSpPr/>
            <p:nvPr/>
          </p:nvSpPr>
          <p:spPr>
            <a:xfrm>
              <a:off x="2973197"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51" name="object 51"/>
            <p:cNvSpPr/>
            <p:nvPr/>
          </p:nvSpPr>
          <p:spPr>
            <a:xfrm>
              <a:off x="3756051" y="2896824"/>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52" name="object 52"/>
            <p:cNvSpPr/>
            <p:nvPr/>
          </p:nvSpPr>
          <p:spPr>
            <a:xfrm>
              <a:off x="3756051" y="2896824"/>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53" name="object 53"/>
            <p:cNvSpPr/>
            <p:nvPr/>
          </p:nvSpPr>
          <p:spPr>
            <a:xfrm>
              <a:off x="1720668" y="1939737"/>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54" name="object 54"/>
            <p:cNvSpPr/>
            <p:nvPr/>
          </p:nvSpPr>
          <p:spPr>
            <a:xfrm>
              <a:off x="1720668" y="1939737"/>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55" name="object 55"/>
            <p:cNvSpPr/>
            <p:nvPr/>
          </p:nvSpPr>
          <p:spPr>
            <a:xfrm>
              <a:off x="3110201"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56" name="object 56"/>
            <p:cNvSpPr/>
            <p:nvPr/>
          </p:nvSpPr>
          <p:spPr>
            <a:xfrm>
              <a:off x="3110201"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57" name="object 57"/>
            <p:cNvSpPr/>
            <p:nvPr/>
          </p:nvSpPr>
          <p:spPr>
            <a:xfrm>
              <a:off x="3462456" y="2276003"/>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58" name="object 58"/>
            <p:cNvSpPr/>
            <p:nvPr/>
          </p:nvSpPr>
          <p:spPr>
            <a:xfrm>
              <a:off x="3462456" y="2276003"/>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59" name="object 59"/>
            <p:cNvSpPr/>
            <p:nvPr/>
          </p:nvSpPr>
          <p:spPr>
            <a:xfrm>
              <a:off x="3599461" y="2638173"/>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60" name="object 60"/>
            <p:cNvSpPr/>
            <p:nvPr/>
          </p:nvSpPr>
          <p:spPr>
            <a:xfrm>
              <a:off x="3599461" y="2638173"/>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61" name="object 61"/>
            <p:cNvSpPr/>
            <p:nvPr/>
          </p:nvSpPr>
          <p:spPr>
            <a:xfrm>
              <a:off x="2581818" y="274164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62" name="object 62"/>
            <p:cNvSpPr/>
            <p:nvPr/>
          </p:nvSpPr>
          <p:spPr>
            <a:xfrm>
              <a:off x="2581818" y="274164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63" name="object 63"/>
            <p:cNvSpPr/>
            <p:nvPr/>
          </p:nvSpPr>
          <p:spPr>
            <a:xfrm>
              <a:off x="3853884" y="2974439"/>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64" name="object 64"/>
            <p:cNvSpPr/>
            <p:nvPr/>
          </p:nvSpPr>
          <p:spPr>
            <a:xfrm>
              <a:off x="3853884" y="2974439"/>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65" name="object 65"/>
            <p:cNvSpPr/>
            <p:nvPr/>
          </p:nvSpPr>
          <p:spPr>
            <a:xfrm>
              <a:off x="2699236"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66" name="object 66"/>
            <p:cNvSpPr/>
            <p:nvPr/>
          </p:nvSpPr>
          <p:spPr>
            <a:xfrm>
              <a:off x="2699236"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67" name="object 67"/>
            <p:cNvSpPr/>
            <p:nvPr/>
          </p:nvSpPr>
          <p:spPr>
            <a:xfrm>
              <a:off x="1818549" y="192248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68" name="object 68"/>
            <p:cNvSpPr/>
            <p:nvPr/>
          </p:nvSpPr>
          <p:spPr>
            <a:xfrm>
              <a:off x="1818549" y="192248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69" name="object 69"/>
            <p:cNvSpPr/>
            <p:nvPr/>
          </p:nvSpPr>
          <p:spPr>
            <a:xfrm>
              <a:off x="2307809" y="225014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70" name="object 70"/>
            <p:cNvSpPr/>
            <p:nvPr/>
          </p:nvSpPr>
          <p:spPr>
            <a:xfrm>
              <a:off x="2307809" y="225014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71" name="object 71"/>
            <p:cNvSpPr/>
            <p:nvPr/>
          </p:nvSpPr>
          <p:spPr>
            <a:xfrm>
              <a:off x="1759840" y="232776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72" name="object 72"/>
            <p:cNvSpPr/>
            <p:nvPr/>
          </p:nvSpPr>
          <p:spPr>
            <a:xfrm>
              <a:off x="1759840" y="232776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73" name="object 73"/>
            <p:cNvSpPr/>
            <p:nvPr/>
          </p:nvSpPr>
          <p:spPr>
            <a:xfrm>
              <a:off x="3384210" y="243123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74" name="object 74"/>
            <p:cNvSpPr/>
            <p:nvPr/>
          </p:nvSpPr>
          <p:spPr>
            <a:xfrm>
              <a:off x="3384210" y="243123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75" name="object 75"/>
            <p:cNvSpPr/>
            <p:nvPr/>
          </p:nvSpPr>
          <p:spPr>
            <a:xfrm>
              <a:off x="2894901" y="2586414"/>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76" name="object 76"/>
            <p:cNvSpPr/>
            <p:nvPr/>
          </p:nvSpPr>
          <p:spPr>
            <a:xfrm>
              <a:off x="2894901" y="2586414"/>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77" name="object 77"/>
            <p:cNvSpPr/>
            <p:nvPr/>
          </p:nvSpPr>
          <p:spPr>
            <a:xfrm>
              <a:off x="2601355" y="2189786"/>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78" name="object 78"/>
            <p:cNvSpPr/>
            <p:nvPr/>
          </p:nvSpPr>
          <p:spPr>
            <a:xfrm>
              <a:off x="2601355" y="2189786"/>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79" name="object 79"/>
            <p:cNvSpPr/>
            <p:nvPr/>
          </p:nvSpPr>
          <p:spPr>
            <a:xfrm>
              <a:off x="2836192" y="2491594"/>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80" name="object 80"/>
            <p:cNvSpPr/>
            <p:nvPr/>
          </p:nvSpPr>
          <p:spPr>
            <a:xfrm>
              <a:off x="2836192" y="2491594"/>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81" name="object 81"/>
            <p:cNvSpPr/>
            <p:nvPr/>
          </p:nvSpPr>
          <p:spPr>
            <a:xfrm>
              <a:off x="2660064" y="2664028"/>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82" name="object 82"/>
            <p:cNvSpPr/>
            <p:nvPr/>
          </p:nvSpPr>
          <p:spPr>
            <a:xfrm>
              <a:off x="2660064" y="2664028"/>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83" name="object 83"/>
            <p:cNvSpPr/>
            <p:nvPr/>
          </p:nvSpPr>
          <p:spPr>
            <a:xfrm>
              <a:off x="1681545"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84" name="object 84"/>
            <p:cNvSpPr/>
            <p:nvPr/>
          </p:nvSpPr>
          <p:spPr>
            <a:xfrm>
              <a:off x="1681545"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85" name="object 85"/>
            <p:cNvSpPr/>
            <p:nvPr/>
          </p:nvSpPr>
          <p:spPr>
            <a:xfrm>
              <a:off x="1642422" y="229325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86" name="object 86"/>
            <p:cNvSpPr/>
            <p:nvPr/>
          </p:nvSpPr>
          <p:spPr>
            <a:xfrm>
              <a:off x="1642422" y="229325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87" name="object 87"/>
            <p:cNvSpPr/>
            <p:nvPr/>
          </p:nvSpPr>
          <p:spPr>
            <a:xfrm>
              <a:off x="3188496" y="2577811"/>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88" name="object 88"/>
            <p:cNvSpPr/>
            <p:nvPr/>
          </p:nvSpPr>
          <p:spPr>
            <a:xfrm>
              <a:off x="3188496" y="2577811"/>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89" name="object 89"/>
            <p:cNvSpPr/>
            <p:nvPr/>
          </p:nvSpPr>
          <p:spPr>
            <a:xfrm>
              <a:off x="1681545" y="2232895"/>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90" name="object 90"/>
            <p:cNvSpPr/>
            <p:nvPr/>
          </p:nvSpPr>
          <p:spPr>
            <a:xfrm>
              <a:off x="1681545" y="223289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91" name="object 91"/>
            <p:cNvSpPr/>
            <p:nvPr/>
          </p:nvSpPr>
          <p:spPr>
            <a:xfrm>
              <a:off x="937862" y="213802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92" name="object 92"/>
            <p:cNvSpPr/>
            <p:nvPr/>
          </p:nvSpPr>
          <p:spPr>
            <a:xfrm>
              <a:off x="937862" y="213802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93" name="object 93"/>
            <p:cNvSpPr/>
            <p:nvPr/>
          </p:nvSpPr>
          <p:spPr>
            <a:xfrm>
              <a:off x="3325501" y="2655378"/>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94" name="object 94"/>
            <p:cNvSpPr/>
            <p:nvPr/>
          </p:nvSpPr>
          <p:spPr>
            <a:xfrm>
              <a:off x="3325501" y="2655378"/>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95" name="object 95"/>
            <p:cNvSpPr/>
            <p:nvPr/>
          </p:nvSpPr>
          <p:spPr>
            <a:xfrm>
              <a:off x="3227620" y="2603667"/>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96" name="object 96"/>
            <p:cNvSpPr/>
            <p:nvPr/>
          </p:nvSpPr>
          <p:spPr>
            <a:xfrm>
              <a:off x="3227620" y="2603667"/>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97" name="object 97"/>
            <p:cNvSpPr/>
            <p:nvPr/>
          </p:nvSpPr>
          <p:spPr>
            <a:xfrm>
              <a:off x="3012369"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98" name="object 98"/>
            <p:cNvSpPr/>
            <p:nvPr/>
          </p:nvSpPr>
          <p:spPr>
            <a:xfrm>
              <a:off x="3012369"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99" name="object 99"/>
            <p:cNvSpPr/>
            <p:nvPr/>
          </p:nvSpPr>
          <p:spPr>
            <a:xfrm>
              <a:off x="3266743" y="2526052"/>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00" name="object 100"/>
            <p:cNvSpPr/>
            <p:nvPr/>
          </p:nvSpPr>
          <p:spPr>
            <a:xfrm>
              <a:off x="3266743" y="2526052"/>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01" name="object 101"/>
            <p:cNvSpPr/>
            <p:nvPr/>
          </p:nvSpPr>
          <p:spPr>
            <a:xfrm>
              <a:off x="1231408" y="207766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02" name="object 102"/>
            <p:cNvSpPr/>
            <p:nvPr/>
          </p:nvSpPr>
          <p:spPr>
            <a:xfrm>
              <a:off x="1231408" y="207766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03" name="object 103"/>
            <p:cNvSpPr/>
            <p:nvPr/>
          </p:nvSpPr>
          <p:spPr>
            <a:xfrm>
              <a:off x="3168910" y="2715739"/>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04" name="object 104"/>
            <p:cNvSpPr/>
            <p:nvPr/>
          </p:nvSpPr>
          <p:spPr>
            <a:xfrm>
              <a:off x="3168910" y="2715739"/>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05" name="object 105"/>
            <p:cNvSpPr/>
            <p:nvPr/>
          </p:nvSpPr>
          <p:spPr>
            <a:xfrm>
              <a:off x="3619047" y="263817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pPr defTabSz="1812066"/>
              <a:endParaRPr sz="3567" kern="0">
                <a:solidFill>
                  <a:sysClr val="windowText" lastClr="000000"/>
                </a:solidFill>
              </a:endParaRPr>
            </a:p>
          </p:txBody>
        </p:sp>
        <p:sp>
          <p:nvSpPr>
            <p:cNvPr id="106" name="object 106"/>
            <p:cNvSpPr/>
            <p:nvPr/>
          </p:nvSpPr>
          <p:spPr>
            <a:xfrm>
              <a:off x="3619047" y="263817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pPr defTabSz="1812066"/>
              <a:endParaRPr sz="3567" kern="0">
                <a:solidFill>
                  <a:sysClr val="windowText" lastClr="000000"/>
                </a:solidFill>
              </a:endParaRPr>
            </a:p>
          </p:txBody>
        </p:sp>
        <p:sp>
          <p:nvSpPr>
            <p:cNvPr id="107" name="object 107"/>
            <p:cNvSpPr/>
            <p:nvPr/>
          </p:nvSpPr>
          <p:spPr>
            <a:xfrm>
              <a:off x="1498953" y="3030329"/>
              <a:ext cx="1957705" cy="35560"/>
            </a:xfrm>
            <a:custGeom>
              <a:avLst/>
              <a:gdLst/>
              <a:ahLst/>
              <a:cxnLst/>
              <a:rect l="l" t="t" r="r" b="b"/>
              <a:pathLst>
                <a:path w="1957704" h="35560">
                  <a:moveTo>
                    <a:pt x="0" y="0"/>
                  </a:moveTo>
                  <a:lnTo>
                    <a:pt x="1957087" y="0"/>
                  </a:lnTo>
                </a:path>
                <a:path w="1957704" h="35560">
                  <a:moveTo>
                    <a:pt x="0" y="0"/>
                  </a:moveTo>
                  <a:lnTo>
                    <a:pt x="0" y="34992"/>
                  </a:lnTo>
                </a:path>
                <a:path w="1957704" h="35560">
                  <a:moveTo>
                    <a:pt x="978519" y="0"/>
                  </a:moveTo>
                  <a:lnTo>
                    <a:pt x="978519" y="34992"/>
                  </a:lnTo>
                </a:path>
                <a:path w="1957704" h="35560">
                  <a:moveTo>
                    <a:pt x="1957087" y="0"/>
                  </a:moveTo>
                  <a:lnTo>
                    <a:pt x="1957087" y="34992"/>
                  </a:lnTo>
                </a:path>
              </a:pathLst>
            </a:custGeom>
            <a:ln w="3645">
              <a:solidFill>
                <a:srgbClr val="000000"/>
              </a:solidFill>
            </a:ln>
          </p:spPr>
          <p:txBody>
            <a:bodyPr wrap="square" lIns="0" tIns="0" rIns="0" bIns="0" rtlCol="0"/>
            <a:lstStyle/>
            <a:p>
              <a:pPr defTabSz="1812066"/>
              <a:endParaRPr sz="3567" kern="0">
                <a:solidFill>
                  <a:sysClr val="windowText" lastClr="000000"/>
                </a:solidFill>
              </a:endParaRPr>
            </a:p>
          </p:txBody>
        </p:sp>
      </p:grpSp>
      <p:sp>
        <p:nvSpPr>
          <p:cNvPr id="108" name="object 108"/>
          <p:cNvSpPr txBox="1"/>
          <p:nvPr/>
        </p:nvSpPr>
        <p:spPr>
          <a:xfrm>
            <a:off x="2050122" y="6004936"/>
            <a:ext cx="244118" cy="232503"/>
          </a:xfrm>
          <a:prstGeom prst="rect">
            <a:avLst/>
          </a:prstGeom>
        </p:spPr>
        <p:txBody>
          <a:bodyPr vert="horz" wrap="square" lIns="0" tIns="33975" rIns="0" bIns="0" rtlCol="0">
            <a:spAutoFit/>
          </a:bodyPr>
          <a:lstStyle/>
          <a:p>
            <a:pPr marL="25168" defTabSz="1812066">
              <a:spcBef>
                <a:spcPts val="268"/>
              </a:spcBef>
            </a:pPr>
            <a:r>
              <a:rPr sz="1288" kern="0" spc="-50" dirty="0">
                <a:solidFill>
                  <a:sysClr val="windowText" lastClr="000000"/>
                </a:solidFill>
                <a:latin typeface="Arial"/>
                <a:cs typeface="Arial"/>
              </a:rPr>
              <a:t>80</a:t>
            </a:r>
            <a:endParaRPr sz="1288" kern="0">
              <a:solidFill>
                <a:sysClr val="windowText" lastClr="000000"/>
              </a:solidFill>
              <a:latin typeface="Arial"/>
              <a:cs typeface="Arial"/>
            </a:endParaRPr>
          </a:p>
        </p:txBody>
      </p:sp>
      <p:sp>
        <p:nvSpPr>
          <p:cNvPr id="109" name="object 109"/>
          <p:cNvSpPr txBox="1"/>
          <p:nvPr/>
        </p:nvSpPr>
        <p:spPr>
          <a:xfrm>
            <a:off x="5928388" y="6004936"/>
            <a:ext cx="244118" cy="232503"/>
          </a:xfrm>
          <a:prstGeom prst="rect">
            <a:avLst/>
          </a:prstGeom>
        </p:spPr>
        <p:txBody>
          <a:bodyPr vert="horz" wrap="square" lIns="0" tIns="33975" rIns="0" bIns="0" rtlCol="0">
            <a:spAutoFit/>
          </a:bodyPr>
          <a:lstStyle/>
          <a:p>
            <a:pPr marL="25168" defTabSz="1812066">
              <a:spcBef>
                <a:spcPts val="268"/>
              </a:spcBef>
            </a:pPr>
            <a:r>
              <a:rPr sz="1288" kern="0" spc="-50" dirty="0">
                <a:solidFill>
                  <a:sysClr val="windowText" lastClr="000000"/>
                </a:solidFill>
                <a:latin typeface="Arial"/>
                <a:cs typeface="Arial"/>
              </a:rPr>
              <a:t>90</a:t>
            </a:r>
            <a:endParaRPr sz="1288" kern="0">
              <a:solidFill>
                <a:sysClr val="windowText" lastClr="000000"/>
              </a:solidFill>
              <a:latin typeface="Arial"/>
              <a:cs typeface="Arial"/>
            </a:endParaRPr>
          </a:p>
        </p:txBody>
      </p:sp>
      <p:sp>
        <p:nvSpPr>
          <p:cNvPr id="110" name="object 110"/>
          <p:cNvSpPr/>
          <p:nvPr/>
        </p:nvSpPr>
        <p:spPr>
          <a:xfrm>
            <a:off x="785326" y="3791882"/>
            <a:ext cx="70468" cy="2051108"/>
          </a:xfrm>
          <a:custGeom>
            <a:avLst/>
            <a:gdLst/>
            <a:ahLst/>
            <a:cxnLst/>
            <a:rect l="l" t="t" r="r" b="b"/>
            <a:pathLst>
              <a:path w="35559" h="1035050">
                <a:moveTo>
                  <a:pt x="34992" y="1034701"/>
                </a:moveTo>
                <a:lnTo>
                  <a:pt x="34992" y="0"/>
                </a:lnTo>
              </a:path>
              <a:path w="35559" h="1035050">
                <a:moveTo>
                  <a:pt x="34992" y="1034701"/>
                </a:moveTo>
                <a:lnTo>
                  <a:pt x="0" y="1034701"/>
                </a:lnTo>
              </a:path>
              <a:path w="35559" h="1035050">
                <a:moveTo>
                  <a:pt x="34992" y="862267"/>
                </a:moveTo>
                <a:lnTo>
                  <a:pt x="0" y="862267"/>
                </a:lnTo>
              </a:path>
              <a:path w="35559" h="1035050">
                <a:moveTo>
                  <a:pt x="34992" y="689833"/>
                </a:moveTo>
                <a:lnTo>
                  <a:pt x="0" y="689833"/>
                </a:lnTo>
              </a:path>
              <a:path w="35559" h="1035050">
                <a:moveTo>
                  <a:pt x="34992" y="517350"/>
                </a:moveTo>
                <a:lnTo>
                  <a:pt x="0" y="517350"/>
                </a:lnTo>
              </a:path>
              <a:path w="35559" h="1035050">
                <a:moveTo>
                  <a:pt x="34992" y="344916"/>
                </a:moveTo>
                <a:lnTo>
                  <a:pt x="0" y="344916"/>
                </a:lnTo>
              </a:path>
              <a:path w="35559" h="1035050">
                <a:moveTo>
                  <a:pt x="34992" y="172434"/>
                </a:moveTo>
                <a:lnTo>
                  <a:pt x="0" y="172434"/>
                </a:lnTo>
              </a:path>
              <a:path w="35559" h="1035050">
                <a:moveTo>
                  <a:pt x="34992" y="0"/>
                </a:moveTo>
                <a:lnTo>
                  <a:pt x="0" y="0"/>
                </a:lnTo>
              </a:path>
            </a:pathLst>
          </a:custGeom>
          <a:ln w="3645">
            <a:solidFill>
              <a:srgbClr val="000000"/>
            </a:solidFill>
          </a:ln>
        </p:spPr>
        <p:txBody>
          <a:bodyPr wrap="square" lIns="0" tIns="0" rIns="0" bIns="0" rtlCol="0"/>
          <a:lstStyle/>
          <a:p>
            <a:pPr defTabSz="1812066"/>
            <a:endParaRPr sz="3567" kern="0">
              <a:solidFill>
                <a:sysClr val="windowText" lastClr="000000"/>
              </a:solidFill>
            </a:endParaRPr>
          </a:p>
        </p:txBody>
      </p:sp>
      <p:sp>
        <p:nvSpPr>
          <p:cNvPr id="111" name="object 111"/>
          <p:cNvSpPr txBox="1"/>
          <p:nvPr/>
        </p:nvSpPr>
        <p:spPr>
          <a:xfrm>
            <a:off x="539612" y="3655575"/>
            <a:ext cx="244118" cy="2268060"/>
          </a:xfrm>
          <a:prstGeom prst="rect">
            <a:avLst/>
          </a:prstGeom>
        </p:spPr>
        <p:txBody>
          <a:bodyPr vert="horz" wrap="square" lIns="0" tIns="33975" rIns="0" bIns="0" rtlCol="0">
            <a:spAutoFit/>
          </a:bodyPr>
          <a:lstStyle/>
          <a:p>
            <a:pPr marL="25168" defTabSz="1812066">
              <a:spcBef>
                <a:spcPts val="268"/>
              </a:spcBef>
            </a:pPr>
            <a:r>
              <a:rPr sz="1288" kern="0" spc="-50" dirty="0">
                <a:solidFill>
                  <a:sysClr val="windowText" lastClr="000000"/>
                </a:solidFill>
                <a:latin typeface="Arial"/>
                <a:cs typeface="Arial"/>
              </a:rPr>
              <a:t>18</a:t>
            </a:r>
            <a:endParaRPr sz="1288" kern="0">
              <a:solidFill>
                <a:sysClr val="windowText" lastClr="000000"/>
              </a:solidFill>
              <a:latin typeface="Arial"/>
              <a:cs typeface="Arial"/>
            </a:endParaRPr>
          </a:p>
          <a:p>
            <a:pPr marL="25168" defTabSz="1812066">
              <a:spcBef>
                <a:spcPts val="1149"/>
              </a:spcBef>
            </a:pPr>
            <a:r>
              <a:rPr sz="1288" kern="0" spc="-50" dirty="0">
                <a:solidFill>
                  <a:sysClr val="windowText" lastClr="000000"/>
                </a:solidFill>
                <a:latin typeface="Arial"/>
                <a:cs typeface="Arial"/>
              </a:rPr>
              <a:t>16</a:t>
            </a:r>
            <a:endParaRPr sz="1288" kern="0">
              <a:solidFill>
                <a:sysClr val="windowText" lastClr="000000"/>
              </a:solidFill>
              <a:latin typeface="Arial"/>
              <a:cs typeface="Arial"/>
            </a:endParaRPr>
          </a:p>
          <a:p>
            <a:pPr marL="25168" defTabSz="1812066">
              <a:spcBef>
                <a:spcPts val="1149"/>
              </a:spcBef>
            </a:pPr>
            <a:r>
              <a:rPr sz="1288" kern="0" spc="-50" dirty="0">
                <a:solidFill>
                  <a:sysClr val="windowText" lastClr="000000"/>
                </a:solidFill>
                <a:latin typeface="Arial"/>
                <a:cs typeface="Arial"/>
              </a:rPr>
              <a:t>14</a:t>
            </a:r>
            <a:endParaRPr sz="1288" kern="0">
              <a:solidFill>
                <a:sysClr val="windowText" lastClr="000000"/>
              </a:solidFill>
              <a:latin typeface="Arial"/>
              <a:cs typeface="Arial"/>
            </a:endParaRPr>
          </a:p>
          <a:p>
            <a:pPr marL="25168" defTabSz="1812066">
              <a:spcBef>
                <a:spcPts val="1139"/>
              </a:spcBef>
            </a:pPr>
            <a:r>
              <a:rPr sz="1288" kern="0" spc="-50" dirty="0">
                <a:solidFill>
                  <a:sysClr val="windowText" lastClr="000000"/>
                </a:solidFill>
                <a:latin typeface="Arial"/>
                <a:cs typeface="Arial"/>
              </a:rPr>
              <a:t>12</a:t>
            </a:r>
            <a:endParaRPr sz="1288" kern="0">
              <a:solidFill>
                <a:sysClr val="windowText" lastClr="000000"/>
              </a:solidFill>
              <a:latin typeface="Arial"/>
              <a:cs typeface="Arial"/>
            </a:endParaRPr>
          </a:p>
          <a:p>
            <a:pPr marL="25168" defTabSz="1812066">
              <a:spcBef>
                <a:spcPts val="1149"/>
              </a:spcBef>
            </a:pPr>
            <a:r>
              <a:rPr sz="1288" kern="0" spc="-50" dirty="0">
                <a:solidFill>
                  <a:sysClr val="windowText" lastClr="000000"/>
                </a:solidFill>
                <a:latin typeface="Arial"/>
                <a:cs typeface="Arial"/>
              </a:rPr>
              <a:t>10</a:t>
            </a:r>
            <a:endParaRPr sz="1288" kern="0">
              <a:solidFill>
                <a:sysClr val="windowText" lastClr="000000"/>
              </a:solidFill>
              <a:latin typeface="Arial"/>
              <a:cs typeface="Arial"/>
            </a:endParaRPr>
          </a:p>
          <a:p>
            <a:pPr marL="120804" defTabSz="1812066">
              <a:spcBef>
                <a:spcPts val="1139"/>
              </a:spcBef>
            </a:pPr>
            <a:r>
              <a:rPr sz="1288" kern="0" spc="-99" dirty="0">
                <a:solidFill>
                  <a:sysClr val="windowText" lastClr="000000"/>
                </a:solidFill>
                <a:latin typeface="Arial"/>
                <a:cs typeface="Arial"/>
              </a:rPr>
              <a:t>8</a:t>
            </a:r>
            <a:endParaRPr sz="1288" kern="0">
              <a:solidFill>
                <a:sysClr val="windowText" lastClr="000000"/>
              </a:solidFill>
              <a:latin typeface="Arial"/>
              <a:cs typeface="Arial"/>
            </a:endParaRPr>
          </a:p>
          <a:p>
            <a:pPr marL="120804" defTabSz="1812066">
              <a:spcBef>
                <a:spcPts val="1149"/>
              </a:spcBef>
            </a:pPr>
            <a:r>
              <a:rPr sz="1288" kern="0" spc="-99" dirty="0">
                <a:solidFill>
                  <a:sysClr val="windowText" lastClr="000000"/>
                </a:solidFill>
                <a:latin typeface="Arial"/>
                <a:cs typeface="Arial"/>
              </a:rPr>
              <a:t>6</a:t>
            </a:r>
            <a:endParaRPr sz="1288" kern="0">
              <a:solidFill>
                <a:sysClr val="windowText" lastClr="000000"/>
              </a:solidFill>
              <a:latin typeface="Arial"/>
              <a:cs typeface="Arial"/>
            </a:endParaRPr>
          </a:p>
        </p:txBody>
      </p:sp>
      <p:sp>
        <p:nvSpPr>
          <p:cNvPr id="112" name="object 112"/>
          <p:cNvSpPr/>
          <p:nvPr/>
        </p:nvSpPr>
        <p:spPr>
          <a:xfrm>
            <a:off x="854669" y="3707132"/>
            <a:ext cx="6241409" cy="2288936"/>
          </a:xfrm>
          <a:custGeom>
            <a:avLst/>
            <a:gdLst/>
            <a:ahLst/>
            <a:cxnLst/>
            <a:rect l="l" t="t" r="r" b="b"/>
            <a:pathLst>
              <a:path w="3149600" h="1155064">
                <a:moveTo>
                  <a:pt x="0" y="1154744"/>
                </a:moveTo>
                <a:lnTo>
                  <a:pt x="3149303" y="1154744"/>
                </a:lnTo>
                <a:lnTo>
                  <a:pt x="3149303" y="0"/>
                </a:lnTo>
                <a:lnTo>
                  <a:pt x="0" y="0"/>
                </a:lnTo>
                <a:lnTo>
                  <a:pt x="0" y="1154744"/>
                </a:lnTo>
              </a:path>
            </a:pathLst>
          </a:custGeom>
          <a:ln w="3645">
            <a:solidFill>
              <a:srgbClr val="000000"/>
            </a:solidFill>
          </a:ln>
        </p:spPr>
        <p:txBody>
          <a:bodyPr wrap="square" lIns="0" tIns="0" rIns="0" bIns="0" rtlCol="0"/>
          <a:lstStyle/>
          <a:p>
            <a:pPr defTabSz="1812066"/>
            <a:endParaRPr sz="3567" kern="0">
              <a:solidFill>
                <a:sysClr val="windowText" lastClr="000000"/>
              </a:solidFill>
            </a:endParaRPr>
          </a:p>
        </p:txBody>
      </p:sp>
      <p:sp>
        <p:nvSpPr>
          <p:cNvPr id="113" name="object 113"/>
          <p:cNvSpPr txBox="1"/>
          <p:nvPr/>
        </p:nvSpPr>
        <p:spPr>
          <a:xfrm>
            <a:off x="3531740" y="5963330"/>
            <a:ext cx="887136" cy="525195"/>
          </a:xfrm>
          <a:prstGeom prst="rect">
            <a:avLst/>
          </a:prstGeom>
        </p:spPr>
        <p:txBody>
          <a:bodyPr vert="horz" wrap="square" lIns="0" tIns="76759" rIns="0" bIns="0" rtlCol="0">
            <a:spAutoFit/>
          </a:bodyPr>
          <a:lstStyle/>
          <a:p>
            <a:pPr marL="481957" defTabSz="1812066">
              <a:spcBef>
                <a:spcPts val="604"/>
              </a:spcBef>
            </a:pPr>
            <a:r>
              <a:rPr sz="1288" kern="0" spc="-50" dirty="0">
                <a:solidFill>
                  <a:sysClr val="windowText" lastClr="000000"/>
                </a:solidFill>
                <a:latin typeface="Arial"/>
                <a:cs typeface="Arial"/>
              </a:rPr>
              <a:t>85</a:t>
            </a:r>
            <a:endParaRPr sz="1288" kern="0">
              <a:solidFill>
                <a:sysClr val="windowText" lastClr="000000"/>
              </a:solidFill>
              <a:latin typeface="Arial"/>
              <a:cs typeface="Arial"/>
            </a:endParaRPr>
          </a:p>
          <a:p>
            <a:pPr marL="25168" defTabSz="1812066">
              <a:spcBef>
                <a:spcPts val="416"/>
              </a:spcBef>
            </a:pPr>
            <a:r>
              <a:rPr sz="1288" kern="0" dirty="0">
                <a:solidFill>
                  <a:sysClr val="windowText" lastClr="000000"/>
                </a:solidFill>
                <a:latin typeface="Arial"/>
                <a:cs typeface="Arial"/>
              </a:rPr>
              <a:t>%</a:t>
            </a:r>
            <a:r>
              <a:rPr sz="1288" kern="0" spc="89" dirty="0">
                <a:solidFill>
                  <a:sysClr val="windowText" lastClr="000000"/>
                </a:solidFill>
                <a:latin typeface="Arial"/>
                <a:cs typeface="Arial"/>
              </a:rPr>
              <a:t> </a:t>
            </a:r>
            <a:r>
              <a:rPr sz="1288" kern="0" dirty="0">
                <a:solidFill>
                  <a:sysClr val="windowText" lastClr="000000"/>
                </a:solidFill>
                <a:latin typeface="Arial"/>
                <a:cs typeface="Arial"/>
              </a:rPr>
              <a:t>HS</a:t>
            </a:r>
            <a:r>
              <a:rPr sz="1288" kern="0" spc="89" dirty="0">
                <a:solidFill>
                  <a:sysClr val="windowText" lastClr="000000"/>
                </a:solidFill>
                <a:latin typeface="Arial"/>
                <a:cs typeface="Arial"/>
              </a:rPr>
              <a:t> </a:t>
            </a:r>
            <a:r>
              <a:rPr sz="1288" kern="0" spc="-40" dirty="0">
                <a:solidFill>
                  <a:sysClr val="windowText" lastClr="000000"/>
                </a:solidFill>
                <a:latin typeface="Arial"/>
                <a:cs typeface="Arial"/>
              </a:rPr>
              <a:t>grad</a:t>
            </a:r>
            <a:endParaRPr sz="1288" kern="0">
              <a:solidFill>
                <a:sysClr val="windowText" lastClr="000000"/>
              </a:solidFill>
              <a:latin typeface="Arial"/>
              <a:cs typeface="Arial"/>
            </a:endParaRPr>
          </a:p>
        </p:txBody>
      </p:sp>
      <p:sp>
        <p:nvSpPr>
          <p:cNvPr id="114" name="object 114"/>
          <p:cNvSpPr txBox="1"/>
          <p:nvPr/>
        </p:nvSpPr>
        <p:spPr>
          <a:xfrm>
            <a:off x="298118" y="4349155"/>
            <a:ext cx="198196" cy="1005421"/>
          </a:xfrm>
          <a:prstGeom prst="rect">
            <a:avLst/>
          </a:prstGeom>
        </p:spPr>
        <p:txBody>
          <a:bodyPr vert="vert270" wrap="square" lIns="0" tIns="17617" rIns="0" bIns="0" rtlCol="0">
            <a:spAutoFit/>
          </a:bodyPr>
          <a:lstStyle/>
          <a:p>
            <a:pPr marL="25168" defTabSz="1812066">
              <a:spcBef>
                <a:spcPts val="139"/>
              </a:spcBef>
            </a:pPr>
            <a:r>
              <a:rPr sz="1288" kern="0" dirty="0">
                <a:solidFill>
                  <a:sysClr val="windowText" lastClr="000000"/>
                </a:solidFill>
                <a:latin typeface="Arial"/>
                <a:cs typeface="Arial"/>
              </a:rPr>
              <a:t>%</a:t>
            </a:r>
            <a:r>
              <a:rPr sz="1288" kern="0" spc="50" dirty="0">
                <a:solidFill>
                  <a:sysClr val="windowText" lastClr="000000"/>
                </a:solidFill>
                <a:latin typeface="Arial"/>
                <a:cs typeface="Arial"/>
              </a:rPr>
              <a:t> </a:t>
            </a:r>
            <a:r>
              <a:rPr sz="1288" kern="0" dirty="0">
                <a:solidFill>
                  <a:sysClr val="windowText" lastClr="000000"/>
                </a:solidFill>
                <a:latin typeface="Arial"/>
                <a:cs typeface="Arial"/>
              </a:rPr>
              <a:t>in</a:t>
            </a:r>
            <a:r>
              <a:rPr sz="1288" kern="0" spc="79" dirty="0">
                <a:solidFill>
                  <a:sysClr val="windowText" lastClr="000000"/>
                </a:solidFill>
                <a:latin typeface="Arial"/>
                <a:cs typeface="Arial"/>
              </a:rPr>
              <a:t> </a:t>
            </a:r>
            <a:r>
              <a:rPr sz="1288" kern="0" spc="-20" dirty="0">
                <a:solidFill>
                  <a:sysClr val="windowText" lastClr="000000"/>
                </a:solidFill>
                <a:latin typeface="Arial"/>
                <a:cs typeface="Arial"/>
              </a:rPr>
              <a:t>poverty</a:t>
            </a:r>
            <a:endParaRPr sz="1288" kern="0">
              <a:solidFill>
                <a:sysClr val="windowText" lastClr="000000"/>
              </a:solidFill>
              <a:latin typeface="Arial"/>
              <a:cs typeface="Arial"/>
            </a:endParaRPr>
          </a:p>
        </p:txBody>
      </p:sp>
      <p:grpSp>
        <p:nvGrpSpPr>
          <p:cNvPr id="115" name="object 115"/>
          <p:cNvGrpSpPr/>
          <p:nvPr/>
        </p:nvGrpSpPr>
        <p:grpSpPr>
          <a:xfrm>
            <a:off x="843836" y="3918867"/>
            <a:ext cx="6262801" cy="2077534"/>
            <a:chOff x="828876" y="1982433"/>
            <a:chExt cx="3160395" cy="1048385"/>
          </a:xfrm>
        </p:grpSpPr>
        <p:sp>
          <p:nvSpPr>
            <p:cNvPr id="116" name="object 116"/>
            <p:cNvSpPr/>
            <p:nvPr/>
          </p:nvSpPr>
          <p:spPr>
            <a:xfrm>
              <a:off x="834343" y="1987900"/>
              <a:ext cx="3149600" cy="862330"/>
            </a:xfrm>
            <a:custGeom>
              <a:avLst/>
              <a:gdLst/>
              <a:ahLst/>
              <a:cxnLst/>
              <a:rect l="l" t="t" r="r" b="b"/>
              <a:pathLst>
                <a:path w="3149600" h="862330">
                  <a:moveTo>
                    <a:pt x="0" y="0"/>
                  </a:moveTo>
                  <a:lnTo>
                    <a:pt x="3149303" y="861975"/>
                  </a:lnTo>
                </a:path>
              </a:pathLst>
            </a:custGeom>
            <a:ln w="10935">
              <a:solidFill>
                <a:srgbClr val="F05133"/>
              </a:solidFill>
            </a:ln>
          </p:spPr>
          <p:txBody>
            <a:bodyPr wrap="square" lIns="0" tIns="0" rIns="0" bIns="0" rtlCol="0"/>
            <a:lstStyle/>
            <a:p>
              <a:pPr defTabSz="1812066"/>
              <a:endParaRPr sz="3567" kern="0">
                <a:solidFill>
                  <a:sysClr val="windowText" lastClr="000000"/>
                </a:solidFill>
              </a:endParaRPr>
            </a:p>
          </p:txBody>
        </p:sp>
        <p:sp>
          <p:nvSpPr>
            <p:cNvPr id="117" name="object 117"/>
            <p:cNvSpPr/>
            <p:nvPr/>
          </p:nvSpPr>
          <p:spPr>
            <a:xfrm>
              <a:off x="834343" y="2276829"/>
              <a:ext cx="1056640" cy="753745"/>
            </a:xfrm>
            <a:custGeom>
              <a:avLst/>
              <a:gdLst/>
              <a:ahLst/>
              <a:cxnLst/>
              <a:rect l="l" t="t" r="r" b="b"/>
              <a:pathLst>
                <a:path w="1056639" h="753744">
                  <a:moveTo>
                    <a:pt x="1056037" y="753499"/>
                  </a:moveTo>
                  <a:lnTo>
                    <a:pt x="1056037" y="0"/>
                  </a:lnTo>
                </a:path>
                <a:path w="1056639" h="753744">
                  <a:moveTo>
                    <a:pt x="0" y="0"/>
                  </a:moveTo>
                  <a:lnTo>
                    <a:pt x="1056037" y="0"/>
                  </a:lnTo>
                </a:path>
              </a:pathLst>
            </a:custGeom>
            <a:ln w="3645">
              <a:solidFill>
                <a:srgbClr val="000000"/>
              </a:solidFill>
              <a:prstDash val="dot"/>
            </a:ln>
          </p:spPr>
          <p:txBody>
            <a:bodyPr wrap="square" lIns="0" tIns="0" rIns="0" bIns="0" rtlCol="0"/>
            <a:lstStyle/>
            <a:p>
              <a:pPr defTabSz="1812066"/>
              <a:endParaRPr sz="3567" kern="0">
                <a:solidFill>
                  <a:sysClr val="windowText" lastClr="000000"/>
                </a:solidFill>
              </a:endParaRPr>
            </a:p>
          </p:txBody>
        </p:sp>
      </p:grpSp>
      <p:sp>
        <p:nvSpPr>
          <p:cNvPr id="120" name="TextBox 119">
            <a:extLst>
              <a:ext uri="{FF2B5EF4-FFF2-40B4-BE49-F238E27FC236}">
                <a16:creationId xmlns:a16="http://schemas.microsoft.com/office/drawing/2014/main" id="{2F223FBE-7730-3CF0-6758-0B77367A2AB1}"/>
              </a:ext>
            </a:extLst>
          </p:cNvPr>
          <p:cNvSpPr txBox="1"/>
          <p:nvPr/>
        </p:nvSpPr>
        <p:spPr>
          <a:xfrm>
            <a:off x="763748" y="3218090"/>
            <a:ext cx="6097604" cy="369332"/>
          </a:xfrm>
          <a:prstGeom prst="rect">
            <a:avLst/>
          </a:prstGeom>
          <a:noFill/>
        </p:spPr>
        <p:txBody>
          <a:bodyPr wrap="square">
            <a:spAutoFit/>
          </a:bodyPr>
          <a:lstStyle/>
          <a:p>
            <a:pPr marL="153522" defTabSz="1812066">
              <a:spcBef>
                <a:spcPts val="178"/>
              </a:spcBef>
            </a:pPr>
            <a:r>
              <a:rPr lang="de-DE" sz="1800" kern="0" dirty="0">
                <a:solidFill>
                  <a:srgbClr val="22373A"/>
                </a:solidFill>
                <a:latin typeface="Palatino Linotype"/>
                <a:cs typeface="Palatino Linotype"/>
              </a:rPr>
              <a:t>%</a:t>
            </a:r>
            <a:r>
              <a:rPr lang="de-DE" sz="1800" kern="0" spc="-69" dirty="0">
                <a:solidFill>
                  <a:srgbClr val="22373A"/>
                </a:solidFill>
                <a:latin typeface="Palatino Linotype"/>
                <a:cs typeface="Palatino Linotype"/>
              </a:rPr>
              <a:t> </a:t>
            </a:r>
            <a:r>
              <a:rPr lang="de-DE" sz="1800" i="1" kern="0" spc="-69" dirty="0">
                <a:solidFill>
                  <a:srgbClr val="22373A"/>
                </a:solidFill>
                <a:latin typeface="Times New Roman"/>
                <a:cs typeface="Times New Roman"/>
              </a:rPr>
              <a:t>in </a:t>
            </a:r>
            <a:r>
              <a:rPr lang="de-DE" sz="1800" i="1" kern="0" dirty="0">
                <a:solidFill>
                  <a:srgbClr val="22373A"/>
                </a:solidFill>
                <a:latin typeface="Times New Roman"/>
                <a:cs typeface="Times New Roman"/>
              </a:rPr>
              <a:t>poverty</a:t>
            </a:r>
            <a:r>
              <a:rPr lang="de-DE" sz="1800" i="1" kern="0" spc="10" dirty="0">
                <a:solidFill>
                  <a:srgbClr val="22373A"/>
                </a:solidFill>
                <a:latin typeface="Times New Roman"/>
                <a:cs typeface="Times New Roman"/>
              </a:rPr>
              <a:t> </a:t>
            </a:r>
            <a:r>
              <a:rPr lang="de-DE" sz="1800" kern="0" dirty="0">
                <a:solidFill>
                  <a:srgbClr val="22373A"/>
                </a:solidFill>
                <a:latin typeface="Lucida Sans"/>
                <a:cs typeface="Lucida Sans"/>
              </a:rPr>
              <a:t>=</a:t>
            </a:r>
            <a:r>
              <a:rPr lang="de-DE" sz="1800" kern="0" spc="-129" dirty="0">
                <a:solidFill>
                  <a:srgbClr val="22373A"/>
                </a:solidFill>
                <a:latin typeface="Lucida Sans"/>
                <a:cs typeface="Lucida Sans"/>
              </a:rPr>
              <a:t> </a:t>
            </a:r>
            <a:r>
              <a:rPr lang="de-DE" sz="1800" kern="0" spc="-40" dirty="0">
                <a:solidFill>
                  <a:srgbClr val="22373A"/>
                </a:solidFill>
                <a:latin typeface="Palatino Linotype"/>
                <a:cs typeface="Palatino Linotype"/>
              </a:rPr>
              <a:t>64</a:t>
            </a:r>
            <a:r>
              <a:rPr lang="de-DE" sz="1800" kern="0" spc="-40" dirty="0">
                <a:solidFill>
                  <a:srgbClr val="22373A"/>
                </a:solidFill>
                <a:latin typeface="Bookman Old Style"/>
                <a:cs typeface="Bookman Old Style"/>
              </a:rPr>
              <a:t>.</a:t>
            </a:r>
            <a:r>
              <a:rPr lang="de-DE" sz="1800" kern="0" spc="-40" dirty="0">
                <a:solidFill>
                  <a:srgbClr val="22373A"/>
                </a:solidFill>
                <a:latin typeface="Palatino Linotype"/>
                <a:cs typeface="Palatino Linotype"/>
              </a:rPr>
              <a:t>68</a:t>
            </a:r>
            <a:r>
              <a:rPr lang="de-DE" sz="1800" kern="0" spc="-99" dirty="0">
                <a:solidFill>
                  <a:srgbClr val="22373A"/>
                </a:solidFill>
                <a:latin typeface="Palatino Linotype"/>
                <a:cs typeface="Palatino Linotype"/>
              </a:rPr>
              <a:t> </a:t>
            </a:r>
            <a:r>
              <a:rPr lang="de-DE" sz="1800" kern="0" spc="-377" dirty="0">
                <a:solidFill>
                  <a:srgbClr val="22373A"/>
                </a:solidFill>
                <a:latin typeface="Lucida Sans Unicode"/>
                <a:cs typeface="Lucida Sans Unicode"/>
              </a:rPr>
              <a:t>−</a:t>
            </a:r>
            <a:r>
              <a:rPr lang="de-DE" sz="1800" kern="0" spc="-218" dirty="0">
                <a:solidFill>
                  <a:srgbClr val="22373A"/>
                </a:solidFill>
                <a:latin typeface="Lucida Sans Unicode"/>
                <a:cs typeface="Lucida Sans Unicode"/>
              </a:rPr>
              <a:t> </a:t>
            </a:r>
            <a:r>
              <a:rPr lang="de-DE" sz="1800" kern="0" spc="-20" dirty="0">
                <a:solidFill>
                  <a:srgbClr val="22373A"/>
                </a:solidFill>
                <a:latin typeface="Palatino Linotype"/>
                <a:cs typeface="Palatino Linotype"/>
              </a:rPr>
              <a:t>0</a:t>
            </a:r>
            <a:r>
              <a:rPr lang="de-DE" sz="1800" kern="0" spc="-20" dirty="0">
                <a:solidFill>
                  <a:srgbClr val="22373A"/>
                </a:solidFill>
                <a:latin typeface="Bookman Old Style"/>
                <a:cs typeface="Bookman Old Style"/>
              </a:rPr>
              <a:t>.</a:t>
            </a:r>
            <a:r>
              <a:rPr lang="de-DE" sz="1800" kern="0" spc="-20" dirty="0">
                <a:solidFill>
                  <a:srgbClr val="22373A"/>
                </a:solidFill>
                <a:latin typeface="Palatino Linotype"/>
                <a:cs typeface="Palatino Linotype"/>
              </a:rPr>
              <a:t>62 </a:t>
            </a:r>
            <a:r>
              <a:rPr lang="de-DE" sz="1800" kern="0" dirty="0">
                <a:solidFill>
                  <a:srgbClr val="22373A"/>
                </a:solidFill>
                <a:latin typeface="Palatino Linotype"/>
                <a:cs typeface="Palatino Linotype"/>
              </a:rPr>
              <a:t>%</a:t>
            </a:r>
            <a:r>
              <a:rPr lang="de-DE" sz="1800" kern="0" spc="-20" dirty="0">
                <a:solidFill>
                  <a:srgbClr val="22373A"/>
                </a:solidFill>
                <a:latin typeface="Palatino Linotype"/>
                <a:cs typeface="Palatino Linotype"/>
              </a:rPr>
              <a:t> </a:t>
            </a:r>
            <a:r>
              <a:rPr lang="de-DE" sz="1800" i="1" kern="0" dirty="0">
                <a:solidFill>
                  <a:srgbClr val="22373A"/>
                </a:solidFill>
                <a:latin typeface="Times New Roman"/>
                <a:cs typeface="Times New Roman"/>
              </a:rPr>
              <a:t>HS </a:t>
            </a:r>
            <a:r>
              <a:rPr lang="de-DE" sz="1800" i="1" kern="0" spc="-40" dirty="0">
                <a:solidFill>
                  <a:srgbClr val="22373A"/>
                </a:solidFill>
                <a:latin typeface="Times New Roman"/>
                <a:cs typeface="Times New Roman"/>
              </a:rPr>
              <a:t>grad</a:t>
            </a:r>
            <a:endParaRPr lang="de-DE" sz="1800" kern="0" dirty="0">
              <a:solidFill>
                <a:sysClr val="windowText" lastClr="000000"/>
              </a:solidFill>
              <a:latin typeface="Times New Roman"/>
              <a:cs typeface="Times New Roman"/>
            </a:endParaRP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7416DCA-FDDC-4FEB-B8E9-130E606DBE17}"/>
              </a:ext>
            </a:extLst>
          </p:cNvPr>
          <p:cNvSpPr>
            <a:spLocks noGrp="1" noChangeArrowheads="1"/>
          </p:cNvSpPr>
          <p:nvPr>
            <p:ph type="title"/>
          </p:nvPr>
        </p:nvSpPr>
        <p:spPr>
          <a:xfrm>
            <a:off x="148029" y="153546"/>
            <a:ext cx="8899718" cy="586440"/>
          </a:xfrm>
        </p:spPr>
        <p:txBody>
          <a:bodyPr>
            <a:noAutofit/>
          </a:bodyPr>
          <a:lstStyle/>
          <a:p>
            <a:r>
              <a:rPr lang="en-US" altLang="en-US" sz="3600" dirty="0">
                <a:latin typeface="Arial" panose="020B0604020202020204" pitchFamily="34" charset="0"/>
                <a:cs typeface="Arial" panose="020B0604020202020204" pitchFamily="34" charset="0"/>
              </a:rPr>
              <a:t>The Estimated Coefficients (Intuition)</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3096337220"/>
                  </p:ext>
                </p:extLst>
              </p:nvPr>
            </p:nvGraphicFramePr>
            <p:xfrm>
              <a:off x="247058" y="739986"/>
              <a:ext cx="10020892" cy="4929372"/>
            </p:xfrm>
            <a:graphic>
              <a:graphicData uri="http://schemas.openxmlformats.org/drawingml/2006/table">
                <a:tbl>
                  <a:tblPr firstRow="1" bandRow="1">
                    <a:tableStyleId>{5C22544A-7EE6-4342-B048-85BDC9FD1C3A}</a:tableStyleId>
                  </a:tblPr>
                  <a:tblGrid>
                    <a:gridCol w="2627532">
                      <a:extLst>
                        <a:ext uri="{9D8B030D-6E8A-4147-A177-3AD203B41FA5}">
                          <a16:colId xmlns:a16="http://schemas.microsoft.com/office/drawing/2014/main" val="346734906"/>
                        </a:ext>
                      </a:extLst>
                    </a:gridCol>
                    <a:gridCol w="2573710">
                      <a:extLst>
                        <a:ext uri="{9D8B030D-6E8A-4147-A177-3AD203B41FA5}">
                          <a16:colId xmlns:a16="http://schemas.microsoft.com/office/drawing/2014/main" val="2377679053"/>
                        </a:ext>
                      </a:extLst>
                    </a:gridCol>
                    <a:gridCol w="4819650">
                      <a:extLst>
                        <a:ext uri="{9D8B030D-6E8A-4147-A177-3AD203B41FA5}">
                          <a16:colId xmlns:a16="http://schemas.microsoft.com/office/drawing/2014/main" val="2224699206"/>
                        </a:ext>
                      </a:extLst>
                    </a:gridCol>
                  </a:tblGrid>
                  <a:tr h="906011">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1600" dirty="0">
                              <a:latin typeface="Arial" panose="020B0604020202020204" pitchFamily="34" charset="0"/>
                              <a:cs typeface="Arial" panose="020B0604020202020204" pitchFamily="34" charset="0"/>
                            </a:rPr>
                            <a:t>b₁ = </a:t>
                          </a:r>
                          <a:r>
                            <a:rPr lang="es-ES" sz="1600" dirty="0" err="1">
                              <a:latin typeface="Arial" panose="020B0604020202020204" pitchFamily="34" charset="0"/>
                              <a:cs typeface="Arial" panose="020B0604020202020204" pitchFamily="34" charset="0"/>
                            </a:rPr>
                            <a:t>cov</a:t>
                          </a:r>
                          <a:r>
                            <a:rPr lang="es-ES" sz="1600" dirty="0">
                              <a:latin typeface="Arial" panose="020B0604020202020204" pitchFamily="34" charset="0"/>
                              <a:cs typeface="Arial" panose="020B0604020202020204" pitchFamily="34" charset="0"/>
                            </a:rPr>
                            <a:t>(X,Y) / sₓ²</a:t>
                          </a:r>
                        </a:p>
                      </a:txBody>
                      <a:tcPr marL="181202" marR="181202" marT="90601" marB="90601" anchor="ctr">
                        <a:solidFill>
                          <a:schemeClr val="accent1">
                            <a:lumMod val="75000"/>
                          </a:schemeClr>
                        </a:solidFill>
                      </a:tcPr>
                    </a:tc>
                    <a:tc>
                      <a:txBody>
                        <a:bodyPr/>
                        <a:lstStyle/>
                        <a:p>
                          <a:pPr algn="l"/>
                          <a:r>
                            <a:rPr lang="en-US" sz="1600" dirty="0">
                              <a:latin typeface="Arial" panose="020B0604020202020204" pitchFamily="34" charset="0"/>
                              <a:cs typeface="Arial" panose="020B0604020202020204" pitchFamily="34" charset="0"/>
                            </a:rPr>
                            <a:t>The slope of the least squares regression line </a:t>
                          </a:r>
                        </a:p>
                      </a:txBody>
                      <a:tcPr marL="181202" marR="181202" marT="90601" marB="90601" anchor="ctr">
                        <a:solidFill>
                          <a:schemeClr val="accent1">
                            <a:lumMod val="75000"/>
                          </a:schemeClr>
                        </a:solidFill>
                      </a:tcPr>
                    </a:tc>
                    <a:tc>
                      <a:txBody>
                        <a:bodyPr/>
                        <a:lstStyle/>
                        <a:p>
                          <a:pPr algn="l"/>
                          <a:r>
                            <a:rPr lang="en-US" sz="1600" dirty="0">
                              <a:latin typeface="Arial" panose="020B0604020202020204" pitchFamily="34" charset="0"/>
                              <a:cs typeface="Arial" panose="020B0604020202020204" pitchFamily="34" charset="0"/>
                            </a:rPr>
                            <a:t>How do we get here?</a:t>
                          </a:r>
                        </a:p>
                      </a:txBody>
                      <a:tcPr marL="181202" marR="181202" marT="90601" marB="90601" anchor="ctr">
                        <a:solidFill>
                          <a:schemeClr val="accent1">
                            <a:lumMod val="75000"/>
                          </a:schemeClr>
                        </a:solidFill>
                      </a:tcPr>
                    </a:tc>
                    <a:extLst>
                      <a:ext uri="{0D108BD9-81ED-4DB2-BD59-A6C34878D82A}">
                        <a16:rowId xmlns:a16="http://schemas.microsoft.com/office/drawing/2014/main" val="2136934639"/>
                      </a:ext>
                    </a:extLst>
                  </a:tr>
                  <a:tr h="734876">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1600" dirty="0">
                              <a:latin typeface="Arial" panose="020B0604020202020204" pitchFamily="34" charset="0"/>
                              <a:cs typeface="Arial" panose="020B0604020202020204" pitchFamily="34" charset="0"/>
                            </a:rPr>
                            <a:t>R = cov(X,Y) / (sₓ sᵧ)</a:t>
                          </a:r>
                        </a:p>
                        <a:p>
                          <a:pPr algn="l"/>
                          <a:endParaRPr lang="en-US" sz="1600" dirty="0">
                            <a:latin typeface="Arial" panose="020B0604020202020204" pitchFamily="34" charset="0"/>
                            <a:cs typeface="Arial" panose="020B0604020202020204" pitchFamily="34" charset="0"/>
                          </a:endParaRP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Pearson correlation coefficient </a:t>
                          </a:r>
                        </a:p>
                      </a:txBody>
                      <a:tcPr marL="181202" marR="181202" marT="90601" marB="90601" anchor="ctr"/>
                    </a:tc>
                    <a:tc>
                      <a:txBody>
                        <a:bodyPr/>
                        <a:lstStyle/>
                        <a:p>
                          <a:pPr algn="l">
                            <a:buNone/>
                          </a:pPr>
                          <a:r>
                            <a:rPr lang="en-US" sz="1600" dirty="0">
                              <a:latin typeface="Arial" panose="020B0604020202020204" pitchFamily="34" charset="0"/>
                              <a:cs typeface="Arial" panose="020B0604020202020204" pitchFamily="34" charset="0"/>
                            </a:rPr>
                            <a:t>Standardizes the covariance so it is unitless and lies between −1 and 1</a:t>
                          </a:r>
                        </a:p>
                      </a:txBody>
                      <a:tcPr marL="181202" marR="181202" marT="90601" marB="90601" anchor="ctr"/>
                    </a:tc>
                    <a:extLst>
                      <a:ext uri="{0D108BD9-81ED-4DB2-BD59-A6C34878D82A}">
                        <a16:rowId xmlns:a16="http://schemas.microsoft.com/office/drawing/2014/main" val="473035210"/>
                      </a:ext>
                    </a:extLst>
                  </a:tr>
                  <a:tr h="734876">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1600" dirty="0">
                              <a:latin typeface="Arial" panose="020B0604020202020204" pitchFamily="34" charset="0"/>
                              <a:cs typeface="Arial" panose="020B0604020202020204" pitchFamily="34" charset="0"/>
                            </a:rPr>
                            <a:t>cov(X,Y) = R · sₓ · sᵧ</a:t>
                          </a:r>
                        </a:p>
                        <a:p>
                          <a:pPr algn="l"/>
                          <a:endParaRPr lang="en-US" sz="1600" dirty="0">
                            <a:latin typeface="Arial" panose="020B0604020202020204" pitchFamily="34" charset="0"/>
                            <a:cs typeface="Arial" panose="020B0604020202020204" pitchFamily="34" charset="0"/>
                          </a:endParaRP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Solve for Covariance</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Re-expresses joint variability in terms of correlation and the spreads of 𝑋X and 𝑌Y</a:t>
                          </a:r>
                        </a:p>
                      </a:txBody>
                      <a:tcPr marL="181202" marR="181202" marT="90601" marB="90601" anchor="ctr"/>
                    </a:tc>
                    <a:extLst>
                      <a:ext uri="{0D108BD9-81ED-4DB2-BD59-A6C34878D82A}">
                        <a16:rowId xmlns:a16="http://schemas.microsoft.com/office/drawing/2014/main" val="1769026416"/>
                      </a:ext>
                    </a:extLst>
                  </a:tr>
                  <a:tr h="906011">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1600" dirty="0">
                              <a:latin typeface="Arial" panose="020B0604020202020204" pitchFamily="34" charset="0"/>
                              <a:cs typeface="Arial" panose="020B0604020202020204" pitchFamily="34" charset="0"/>
                            </a:rPr>
                            <a:t>b₁ = (R · sₓ · sᵧ) / sₓ²</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Substitute into b₁</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Shows that the regression slope depends on correlation and variability in both variables</a:t>
                          </a:r>
                        </a:p>
                      </a:txBody>
                      <a:tcPr marL="181202" marR="181202" marT="90601" marB="90601" anchor="ctr"/>
                    </a:tc>
                    <a:extLst>
                      <a:ext uri="{0D108BD9-81ED-4DB2-BD59-A6C34878D82A}">
                        <a16:rowId xmlns:a16="http://schemas.microsoft.com/office/drawing/2014/main" val="1227567106"/>
                      </a:ext>
                    </a:extLst>
                  </a:tr>
                  <a:tr h="734876">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b₁ = R · (s</a:t>
                          </a:r>
                          <a:r>
                            <a:rPr lang="el-GR" sz="1600" dirty="0">
                              <a:latin typeface="Arial" panose="020B0604020202020204" pitchFamily="34" charset="0"/>
                              <a:cs typeface="Arial" panose="020B0604020202020204" pitchFamily="34" charset="0"/>
                            </a:rPr>
                            <a:t>ᵧ / </a:t>
                          </a:r>
                          <a:r>
                            <a:rPr lang="en-US" sz="1600" dirty="0">
                              <a:latin typeface="Arial" panose="020B0604020202020204" pitchFamily="34" charset="0"/>
                              <a:cs typeface="Arial" panose="020B0604020202020204" pitchFamily="34" charset="0"/>
                            </a:rPr>
                            <a:t>sₓ)</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Cancel one sₓ</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Correlation scaled into units of </a:t>
                          </a:r>
                          <a14:m>
                            <m:oMath xmlns:m="http://schemas.openxmlformats.org/officeDocument/2006/math">
                              <m:r>
                                <a:rPr lang="en-US" sz="1600" i="1" kern="1200">
                                  <a:solidFill>
                                    <a:schemeClr val="dk1"/>
                                  </a:solidFill>
                                  <a:latin typeface="Cambria Math" panose="02040503050406030204" pitchFamily="18" charset="0"/>
                                  <a:ea typeface="+mn-ea"/>
                                  <a:cs typeface="+mn-cs"/>
                                </a:rPr>
                                <m:t>𝑌</m:t>
                              </m:r>
                            </m:oMath>
                          </a14:m>
                          <a:r>
                            <a:rPr lang="en-US" sz="1600" dirty="0">
                              <a:latin typeface="Arial" panose="020B0604020202020204" pitchFamily="34" charset="0"/>
                              <a:cs typeface="Arial" panose="020B0604020202020204" pitchFamily="34" charset="0"/>
                            </a:rPr>
                            <a:t>per unit of </a:t>
                          </a:r>
                          <a14:m>
                            <m:oMath xmlns:m="http://schemas.openxmlformats.org/officeDocument/2006/math">
                              <m:r>
                                <a:rPr lang="en-US" sz="1600" i="1" kern="1200">
                                  <a:solidFill>
                                    <a:schemeClr val="dk1"/>
                                  </a:solidFill>
                                  <a:latin typeface="Cambria Math" panose="02040503050406030204" pitchFamily="18" charset="0"/>
                                  <a:ea typeface="+mn-ea"/>
                                  <a:cs typeface="+mn-cs"/>
                                </a:rPr>
                                <m:t>𝑋</m:t>
                              </m:r>
                            </m:oMath>
                          </a14:m>
                          <a:endParaRPr lang="en-US" sz="1600" dirty="0">
                            <a:latin typeface="Arial" panose="020B0604020202020204" pitchFamily="34" charset="0"/>
                            <a:cs typeface="Arial" panose="020B0604020202020204" pitchFamily="34" charset="0"/>
                          </a:endParaRPr>
                        </a:p>
                      </a:txBody>
                      <a:tcPr marL="181202" marR="181202" marT="90601" marB="90601" anchor="ctr"/>
                    </a:tc>
                    <a:extLst>
                      <a:ext uri="{0D108BD9-81ED-4DB2-BD59-A6C34878D82A}">
                        <a16:rowId xmlns:a16="http://schemas.microsoft.com/office/drawing/2014/main" val="122052095"/>
                      </a:ext>
                    </a:extLst>
                  </a:tr>
                  <a:tr h="906011">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1600" dirty="0">
                              <a:solidFill>
                                <a:schemeClr val="bg1"/>
                              </a:solidFill>
                              <a:latin typeface="Arial" panose="020B0604020202020204" pitchFamily="34" charset="0"/>
                              <a:cs typeface="Arial" panose="020B0604020202020204" pitchFamily="34" charset="0"/>
                            </a:rPr>
                            <a:t>b₁ = </a:t>
                          </a:r>
                          <a:r>
                            <a:rPr lang="es-ES" sz="1600" dirty="0" err="1">
                              <a:solidFill>
                                <a:schemeClr val="bg1"/>
                              </a:solidFill>
                              <a:latin typeface="Arial" panose="020B0604020202020204" pitchFamily="34" charset="0"/>
                              <a:cs typeface="Arial" panose="020B0604020202020204" pitchFamily="34" charset="0"/>
                            </a:rPr>
                            <a:t>cov</a:t>
                          </a:r>
                          <a:r>
                            <a:rPr lang="es-ES" sz="1600" dirty="0">
                              <a:solidFill>
                                <a:schemeClr val="bg1"/>
                              </a:solidFill>
                              <a:latin typeface="Arial" panose="020B0604020202020204" pitchFamily="34" charset="0"/>
                              <a:cs typeface="Arial" panose="020B0604020202020204" pitchFamily="34" charset="0"/>
                            </a:rPr>
                            <a:t>(X,Y) / sₓ²</a:t>
                          </a:r>
                        </a:p>
                      </a:txBody>
                      <a:tcPr marL="181202" marR="181202" marT="90601" marB="90601" anchor="ctr">
                        <a:solidFill>
                          <a:schemeClr val="accent1">
                            <a:lumMod val="75000"/>
                          </a:schemeClr>
                        </a:solidFill>
                      </a:tcPr>
                    </a:tc>
                    <a:tc>
                      <a:txBody>
                        <a:bodyPr/>
                        <a:lstStyle/>
                        <a:p>
                          <a:pPr algn="l"/>
                          <a:r>
                            <a:rPr lang="en-US" sz="1600" dirty="0">
                              <a:solidFill>
                                <a:schemeClr val="bg1"/>
                              </a:solidFill>
                              <a:latin typeface="Arial" panose="020B0604020202020204" pitchFamily="34" charset="0"/>
                              <a:cs typeface="Arial" panose="020B0604020202020204" pitchFamily="34" charset="0"/>
                            </a:rPr>
                            <a:t>The slope of the least squares regression line </a:t>
                          </a:r>
                        </a:p>
                      </a:txBody>
                      <a:tcPr marL="181202" marR="181202" marT="90601" marB="90601" anchor="ctr">
                        <a:solidFill>
                          <a:schemeClr val="accent1">
                            <a:lumMod val="75000"/>
                          </a:schemeClr>
                        </a:solidFill>
                      </a:tcPr>
                    </a:tc>
                    <a:tc>
                      <a:txBody>
                        <a:bodyPr/>
                        <a:lstStyle/>
                        <a:p>
                          <a:pPr algn="l"/>
                          <a:r>
                            <a:rPr lang="en-US" sz="1600" dirty="0">
                              <a:solidFill>
                                <a:schemeClr val="bg1"/>
                              </a:solidFill>
                              <a:latin typeface="Arial" panose="020B0604020202020204" pitchFamily="34" charset="0"/>
                              <a:cs typeface="Arial" panose="020B0604020202020204" pitchFamily="34" charset="0"/>
                            </a:rPr>
                            <a:t>Measures how much </a:t>
                          </a:r>
                          <a14:m>
                            <m:oMath xmlns:m="http://schemas.openxmlformats.org/officeDocument/2006/math">
                              <m:r>
                                <a:rPr lang="en-US" sz="1600" i="1" kern="1200">
                                  <a:solidFill>
                                    <a:schemeClr val="bg1"/>
                                  </a:solidFill>
                                  <a:latin typeface="Cambria Math" panose="02040503050406030204" pitchFamily="18" charset="0"/>
                                  <a:ea typeface="+mn-ea"/>
                                  <a:cs typeface="+mn-cs"/>
                                </a:rPr>
                                <m:t>𝑌</m:t>
                              </m:r>
                            </m:oMath>
                          </a14:m>
                          <a:r>
                            <a:rPr lang="en-US" sz="1600" dirty="0">
                              <a:solidFill>
                                <a:schemeClr val="bg1"/>
                              </a:solidFill>
                              <a:latin typeface="Arial" panose="020B0604020202020204" pitchFamily="34" charset="0"/>
                              <a:cs typeface="Arial" panose="020B0604020202020204" pitchFamily="34" charset="0"/>
                            </a:rPr>
                            <a:t>changes, on average, for a one-unit increase in </a:t>
                          </a:r>
                          <a14:m>
                            <m:oMath xmlns:m="http://schemas.openxmlformats.org/officeDocument/2006/math">
                              <m:r>
                                <a:rPr lang="en-US" sz="1600" i="1" kern="1200">
                                  <a:solidFill>
                                    <a:schemeClr val="bg1"/>
                                  </a:solidFill>
                                  <a:latin typeface="Cambria Math" panose="02040503050406030204" pitchFamily="18" charset="0"/>
                                  <a:ea typeface="+mn-ea"/>
                                  <a:cs typeface="+mn-cs"/>
                                </a:rPr>
                                <m:t>𝑋</m:t>
                              </m:r>
                            </m:oMath>
                          </a14:m>
                          <a:endParaRPr lang="en-US" sz="1600" dirty="0">
                            <a:solidFill>
                              <a:schemeClr val="bg1"/>
                            </a:solidFill>
                            <a:latin typeface="Arial" panose="020B0604020202020204" pitchFamily="34" charset="0"/>
                            <a:cs typeface="Arial" panose="020B0604020202020204" pitchFamily="34" charset="0"/>
                          </a:endParaRPr>
                        </a:p>
                      </a:txBody>
                      <a:tcPr marL="181202" marR="181202" marT="90601" marB="90601" anchor="ctr">
                        <a:solidFill>
                          <a:schemeClr val="accent1">
                            <a:lumMod val="75000"/>
                          </a:schemeClr>
                        </a:solidFill>
                      </a:tcPr>
                    </a:tc>
                    <a:extLst>
                      <a:ext uri="{0D108BD9-81ED-4DB2-BD59-A6C34878D82A}">
                        <a16:rowId xmlns:a16="http://schemas.microsoft.com/office/drawing/2014/main" val="2994568982"/>
                      </a:ext>
                    </a:extLst>
                  </a:tr>
                </a:tbl>
              </a:graphicData>
            </a:graphic>
          </p:graphicFrame>
        </mc:Choice>
        <mc:Fallback xmlns="">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3096337220"/>
                  </p:ext>
                </p:extLst>
              </p:nvPr>
            </p:nvGraphicFramePr>
            <p:xfrm>
              <a:off x="247058" y="739986"/>
              <a:ext cx="10020892" cy="4929372"/>
            </p:xfrm>
            <a:graphic>
              <a:graphicData uri="http://schemas.openxmlformats.org/drawingml/2006/table">
                <a:tbl>
                  <a:tblPr firstRow="1" bandRow="1">
                    <a:tableStyleId>{5C22544A-7EE6-4342-B048-85BDC9FD1C3A}</a:tableStyleId>
                  </a:tblPr>
                  <a:tblGrid>
                    <a:gridCol w="2627532">
                      <a:extLst>
                        <a:ext uri="{9D8B030D-6E8A-4147-A177-3AD203B41FA5}">
                          <a16:colId xmlns:a16="http://schemas.microsoft.com/office/drawing/2014/main" val="346734906"/>
                        </a:ext>
                      </a:extLst>
                    </a:gridCol>
                    <a:gridCol w="2573710">
                      <a:extLst>
                        <a:ext uri="{9D8B030D-6E8A-4147-A177-3AD203B41FA5}">
                          <a16:colId xmlns:a16="http://schemas.microsoft.com/office/drawing/2014/main" val="2377679053"/>
                        </a:ext>
                      </a:extLst>
                    </a:gridCol>
                    <a:gridCol w="4819650">
                      <a:extLst>
                        <a:ext uri="{9D8B030D-6E8A-4147-A177-3AD203B41FA5}">
                          <a16:colId xmlns:a16="http://schemas.microsoft.com/office/drawing/2014/main" val="2224699206"/>
                        </a:ext>
                      </a:extLst>
                    </a:gridCol>
                  </a:tblGrid>
                  <a:tr h="912722">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1600" dirty="0">
                              <a:latin typeface="Arial" panose="020B0604020202020204" pitchFamily="34" charset="0"/>
                              <a:cs typeface="Arial" panose="020B0604020202020204" pitchFamily="34" charset="0"/>
                            </a:rPr>
                            <a:t>b₁ = </a:t>
                          </a:r>
                          <a:r>
                            <a:rPr lang="es-ES" sz="1600" dirty="0" err="1">
                              <a:latin typeface="Arial" panose="020B0604020202020204" pitchFamily="34" charset="0"/>
                              <a:cs typeface="Arial" panose="020B0604020202020204" pitchFamily="34" charset="0"/>
                            </a:rPr>
                            <a:t>cov</a:t>
                          </a:r>
                          <a:r>
                            <a:rPr lang="es-ES" sz="1600" dirty="0">
                              <a:latin typeface="Arial" panose="020B0604020202020204" pitchFamily="34" charset="0"/>
                              <a:cs typeface="Arial" panose="020B0604020202020204" pitchFamily="34" charset="0"/>
                            </a:rPr>
                            <a:t>(X,Y) / sₓ²</a:t>
                          </a:r>
                        </a:p>
                      </a:txBody>
                      <a:tcPr marL="181202" marR="181202" marT="90601" marB="90601" anchor="ctr">
                        <a:solidFill>
                          <a:schemeClr val="accent1">
                            <a:lumMod val="75000"/>
                          </a:schemeClr>
                        </a:solidFill>
                      </a:tcPr>
                    </a:tc>
                    <a:tc>
                      <a:txBody>
                        <a:bodyPr/>
                        <a:lstStyle/>
                        <a:p>
                          <a:pPr algn="l"/>
                          <a:r>
                            <a:rPr lang="en-US" sz="1600" dirty="0">
                              <a:latin typeface="Arial" panose="020B0604020202020204" pitchFamily="34" charset="0"/>
                              <a:cs typeface="Arial" panose="020B0604020202020204" pitchFamily="34" charset="0"/>
                            </a:rPr>
                            <a:t>The slope of the least squares regression line </a:t>
                          </a:r>
                        </a:p>
                      </a:txBody>
                      <a:tcPr marL="181202" marR="181202" marT="90601" marB="90601" anchor="ctr">
                        <a:solidFill>
                          <a:schemeClr val="accent1">
                            <a:lumMod val="75000"/>
                          </a:schemeClr>
                        </a:solidFill>
                      </a:tcPr>
                    </a:tc>
                    <a:tc>
                      <a:txBody>
                        <a:bodyPr/>
                        <a:lstStyle/>
                        <a:p>
                          <a:pPr algn="l"/>
                          <a:r>
                            <a:rPr lang="en-US" sz="1600" dirty="0">
                              <a:latin typeface="Arial" panose="020B0604020202020204" pitchFamily="34" charset="0"/>
                              <a:cs typeface="Arial" panose="020B0604020202020204" pitchFamily="34" charset="0"/>
                            </a:rPr>
                            <a:t>How do we get here?</a:t>
                          </a:r>
                        </a:p>
                      </a:txBody>
                      <a:tcPr marL="181202" marR="181202" marT="90601" marB="90601" anchor="ctr">
                        <a:solidFill>
                          <a:schemeClr val="accent1">
                            <a:lumMod val="75000"/>
                          </a:schemeClr>
                        </a:solidFill>
                      </a:tcPr>
                    </a:tc>
                    <a:extLst>
                      <a:ext uri="{0D108BD9-81ED-4DB2-BD59-A6C34878D82A}">
                        <a16:rowId xmlns:a16="http://schemas.microsoft.com/office/drawing/2014/main" val="2136934639"/>
                      </a:ext>
                    </a:extLst>
                  </a:tr>
                  <a:tr h="734876">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1600" dirty="0">
                              <a:latin typeface="Arial" panose="020B0604020202020204" pitchFamily="34" charset="0"/>
                              <a:cs typeface="Arial" panose="020B0604020202020204" pitchFamily="34" charset="0"/>
                            </a:rPr>
                            <a:t>R = cov(X,Y) / (sₓ sᵧ)</a:t>
                          </a:r>
                        </a:p>
                        <a:p>
                          <a:pPr algn="l"/>
                          <a:endParaRPr lang="en-US" sz="1600" dirty="0">
                            <a:latin typeface="Arial" panose="020B0604020202020204" pitchFamily="34" charset="0"/>
                            <a:cs typeface="Arial" panose="020B0604020202020204" pitchFamily="34" charset="0"/>
                          </a:endParaRP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Pearson correlation coefficient </a:t>
                          </a:r>
                        </a:p>
                      </a:txBody>
                      <a:tcPr marL="181202" marR="181202" marT="90601" marB="90601" anchor="ctr"/>
                    </a:tc>
                    <a:tc>
                      <a:txBody>
                        <a:bodyPr/>
                        <a:lstStyle/>
                        <a:p>
                          <a:pPr algn="l">
                            <a:buNone/>
                          </a:pPr>
                          <a:r>
                            <a:rPr lang="en-US" sz="1600" dirty="0">
                              <a:latin typeface="Arial" panose="020B0604020202020204" pitchFamily="34" charset="0"/>
                              <a:cs typeface="Arial" panose="020B0604020202020204" pitchFamily="34" charset="0"/>
                            </a:rPr>
                            <a:t>Standardizes the covariance so it is unitless and lies between −1 and 1</a:t>
                          </a:r>
                        </a:p>
                      </a:txBody>
                      <a:tcPr marL="181202" marR="181202" marT="90601" marB="90601" anchor="ctr"/>
                    </a:tc>
                    <a:extLst>
                      <a:ext uri="{0D108BD9-81ED-4DB2-BD59-A6C34878D82A}">
                        <a16:rowId xmlns:a16="http://schemas.microsoft.com/office/drawing/2014/main" val="473035210"/>
                      </a:ext>
                    </a:extLst>
                  </a:tr>
                  <a:tr h="734876">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1600" dirty="0">
                              <a:latin typeface="Arial" panose="020B0604020202020204" pitchFamily="34" charset="0"/>
                              <a:cs typeface="Arial" panose="020B0604020202020204" pitchFamily="34" charset="0"/>
                            </a:rPr>
                            <a:t>cov(X,Y) = R · sₓ · sᵧ</a:t>
                          </a:r>
                        </a:p>
                        <a:p>
                          <a:pPr algn="l"/>
                          <a:endParaRPr lang="en-US" sz="1600" dirty="0">
                            <a:latin typeface="Arial" panose="020B0604020202020204" pitchFamily="34" charset="0"/>
                            <a:cs typeface="Arial" panose="020B0604020202020204" pitchFamily="34" charset="0"/>
                          </a:endParaRP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Solve for Covariance</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Re-expresses joint variability in terms of correlation and the spreads of 𝑋X and 𝑌Y</a:t>
                          </a:r>
                        </a:p>
                      </a:txBody>
                      <a:tcPr marL="181202" marR="181202" marT="90601" marB="90601" anchor="ctr"/>
                    </a:tc>
                    <a:extLst>
                      <a:ext uri="{0D108BD9-81ED-4DB2-BD59-A6C34878D82A}">
                        <a16:rowId xmlns:a16="http://schemas.microsoft.com/office/drawing/2014/main" val="1769026416"/>
                      </a:ext>
                    </a:extLst>
                  </a:tr>
                  <a:tr h="906011">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1600" dirty="0">
                              <a:latin typeface="Arial" panose="020B0604020202020204" pitchFamily="34" charset="0"/>
                              <a:cs typeface="Arial" panose="020B0604020202020204" pitchFamily="34" charset="0"/>
                            </a:rPr>
                            <a:t>b₁ = (R · sₓ · sᵧ) / sₓ²</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Substitute into b₁</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Shows that the regression slope depends on correlation and variability in both variables</a:t>
                          </a:r>
                        </a:p>
                      </a:txBody>
                      <a:tcPr marL="181202" marR="181202" marT="90601" marB="90601" anchor="ctr"/>
                    </a:tc>
                    <a:extLst>
                      <a:ext uri="{0D108BD9-81ED-4DB2-BD59-A6C34878D82A}">
                        <a16:rowId xmlns:a16="http://schemas.microsoft.com/office/drawing/2014/main" val="1227567106"/>
                      </a:ext>
                    </a:extLst>
                  </a:tr>
                  <a:tr h="734876">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b₁ = R · (s</a:t>
                          </a:r>
                          <a:r>
                            <a:rPr lang="el-GR" sz="1600" dirty="0">
                              <a:latin typeface="Arial" panose="020B0604020202020204" pitchFamily="34" charset="0"/>
                              <a:cs typeface="Arial" panose="020B0604020202020204" pitchFamily="34" charset="0"/>
                            </a:rPr>
                            <a:t>ᵧ / </a:t>
                          </a:r>
                          <a:r>
                            <a:rPr lang="en-US" sz="1600" dirty="0">
                              <a:latin typeface="Arial" panose="020B0604020202020204" pitchFamily="34" charset="0"/>
                              <a:cs typeface="Arial" panose="020B0604020202020204" pitchFamily="34" charset="0"/>
                            </a:rPr>
                            <a:t>sₓ)</a:t>
                          </a:r>
                        </a:p>
                      </a:txBody>
                      <a:tcPr marL="181202" marR="181202" marT="90601" marB="90601" anchor="ctr"/>
                    </a:tc>
                    <a:tc>
                      <a:txBody>
                        <a:bodyPr/>
                        <a:lstStyle/>
                        <a:p>
                          <a:pPr algn="l"/>
                          <a:r>
                            <a:rPr lang="en-US" sz="1600" dirty="0">
                              <a:latin typeface="Arial" panose="020B0604020202020204" pitchFamily="34" charset="0"/>
                              <a:cs typeface="Arial" panose="020B0604020202020204" pitchFamily="34" charset="0"/>
                            </a:rPr>
                            <a:t>Cancel one sₓ</a:t>
                          </a:r>
                        </a:p>
                      </a:txBody>
                      <a:tcPr marL="181202" marR="181202" marT="90601" marB="90601" anchor="ctr"/>
                    </a:tc>
                    <a:tc>
                      <a:txBody>
                        <a:bodyPr/>
                        <a:lstStyle/>
                        <a:p>
                          <a:endParaRPr lang="en-US"/>
                        </a:p>
                      </a:txBody>
                      <a:tcPr marL="181202" marR="181202" marT="90601" marB="90601" anchor="ctr">
                        <a:blipFill>
                          <a:blip r:embed="rId2"/>
                          <a:stretch>
                            <a:fillRect l="-108091" t="-447107" r="-506" b="-124793"/>
                          </a:stretch>
                        </a:blipFill>
                      </a:tcPr>
                    </a:tc>
                    <a:extLst>
                      <a:ext uri="{0D108BD9-81ED-4DB2-BD59-A6C34878D82A}">
                        <a16:rowId xmlns:a16="http://schemas.microsoft.com/office/drawing/2014/main" val="122052095"/>
                      </a:ext>
                    </a:extLst>
                  </a:tr>
                  <a:tr h="906011">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1600" dirty="0">
                              <a:solidFill>
                                <a:schemeClr val="bg1"/>
                              </a:solidFill>
                              <a:latin typeface="Arial" panose="020B0604020202020204" pitchFamily="34" charset="0"/>
                              <a:cs typeface="Arial" panose="020B0604020202020204" pitchFamily="34" charset="0"/>
                            </a:rPr>
                            <a:t>b₁ = </a:t>
                          </a:r>
                          <a:r>
                            <a:rPr lang="es-ES" sz="1600" dirty="0" err="1">
                              <a:solidFill>
                                <a:schemeClr val="bg1"/>
                              </a:solidFill>
                              <a:latin typeface="Arial" panose="020B0604020202020204" pitchFamily="34" charset="0"/>
                              <a:cs typeface="Arial" panose="020B0604020202020204" pitchFamily="34" charset="0"/>
                            </a:rPr>
                            <a:t>cov</a:t>
                          </a:r>
                          <a:r>
                            <a:rPr lang="es-ES" sz="1600" dirty="0">
                              <a:solidFill>
                                <a:schemeClr val="bg1"/>
                              </a:solidFill>
                              <a:latin typeface="Arial" panose="020B0604020202020204" pitchFamily="34" charset="0"/>
                              <a:cs typeface="Arial" panose="020B0604020202020204" pitchFamily="34" charset="0"/>
                            </a:rPr>
                            <a:t>(X,Y) / sₓ²</a:t>
                          </a:r>
                        </a:p>
                      </a:txBody>
                      <a:tcPr marL="181202" marR="181202" marT="90601" marB="90601" anchor="ctr">
                        <a:solidFill>
                          <a:schemeClr val="accent1">
                            <a:lumMod val="75000"/>
                          </a:schemeClr>
                        </a:solidFill>
                      </a:tcPr>
                    </a:tc>
                    <a:tc>
                      <a:txBody>
                        <a:bodyPr/>
                        <a:lstStyle/>
                        <a:p>
                          <a:pPr algn="l"/>
                          <a:r>
                            <a:rPr lang="en-US" sz="1600" dirty="0">
                              <a:solidFill>
                                <a:schemeClr val="bg1"/>
                              </a:solidFill>
                              <a:latin typeface="Arial" panose="020B0604020202020204" pitchFamily="34" charset="0"/>
                              <a:cs typeface="Arial" panose="020B0604020202020204" pitchFamily="34" charset="0"/>
                            </a:rPr>
                            <a:t>The slope of the least squares regression line </a:t>
                          </a:r>
                        </a:p>
                      </a:txBody>
                      <a:tcPr marL="181202" marR="181202" marT="90601" marB="90601" anchor="ctr">
                        <a:solidFill>
                          <a:schemeClr val="accent1">
                            <a:lumMod val="75000"/>
                          </a:schemeClr>
                        </a:solidFill>
                      </a:tcPr>
                    </a:tc>
                    <a:tc>
                      <a:txBody>
                        <a:bodyPr/>
                        <a:lstStyle/>
                        <a:p>
                          <a:endParaRPr lang="en-US"/>
                        </a:p>
                      </a:txBody>
                      <a:tcPr marL="181202" marR="181202" marT="90601" marB="90601" anchor="ctr">
                        <a:blipFill>
                          <a:blip r:embed="rId2"/>
                          <a:stretch>
                            <a:fillRect l="-108091" t="-444295" r="-506" b="-1342"/>
                          </a:stretch>
                        </a:blipFill>
                      </a:tcPr>
                    </a:tc>
                    <a:extLst>
                      <a:ext uri="{0D108BD9-81ED-4DB2-BD59-A6C34878D82A}">
                        <a16:rowId xmlns:a16="http://schemas.microsoft.com/office/drawing/2014/main" val="2994568982"/>
                      </a:ext>
                    </a:extLst>
                  </a:tr>
                </a:tbl>
              </a:graphicData>
            </a:graphic>
          </p:graphicFrame>
        </mc:Fallback>
      </mc:AlternateContent>
      <p:sp>
        <p:nvSpPr>
          <p:cNvPr id="15" name="TextBox 14">
            <a:extLst>
              <a:ext uri="{FF2B5EF4-FFF2-40B4-BE49-F238E27FC236}">
                <a16:creationId xmlns:a16="http://schemas.microsoft.com/office/drawing/2014/main" id="{50F53E6A-1FD3-0A8C-BADC-8C136EB459AA}"/>
              </a:ext>
            </a:extLst>
          </p:cNvPr>
          <p:cNvSpPr txBox="1"/>
          <p:nvPr/>
        </p:nvSpPr>
        <p:spPr>
          <a:xfrm>
            <a:off x="344906" y="6118014"/>
            <a:ext cx="11513418" cy="400110"/>
          </a:xfrm>
          <a:prstGeom prst="rect">
            <a:avLst/>
          </a:prstGeom>
          <a:noFill/>
        </p:spPr>
        <p:txBody>
          <a:bodyPr wrap="square">
            <a:spAutoFit/>
          </a:bodyPr>
          <a:lstStyle/>
          <a:p>
            <a:pPr defTabSz="1812066"/>
            <a:r>
              <a:rPr lang="en-US" sz="2000" b="1" kern="0" dirty="0">
                <a:solidFill>
                  <a:sysClr val="windowText" lastClr="000000"/>
                </a:solidFill>
                <a:latin typeface="Arial" panose="020B0604020202020204" pitchFamily="34" charset="0"/>
                <a:cs typeface="Arial" panose="020B0604020202020204" pitchFamily="34" charset="0"/>
              </a:rPr>
              <a:t>Intuition</a:t>
            </a:r>
            <a:r>
              <a:rPr lang="en-US" sz="2000" kern="0" dirty="0">
                <a:solidFill>
                  <a:sysClr val="windowText" lastClr="000000"/>
                </a:solidFill>
                <a:latin typeface="Arial" panose="020B0604020202020204" pitchFamily="34" charset="0"/>
                <a:cs typeface="Arial" panose="020B0604020202020204" pitchFamily="34" charset="0"/>
              </a:rPr>
              <a:t>: the slope is equal to the (correlation between X and Y) × (spread of Y / spread of X)</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8195" y="0"/>
            <a:ext cx="9131836" cy="6849190"/>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pPr defTabSz="1812066"/>
            <a:endParaRPr sz="3567" kern="0">
              <a:solidFill>
                <a:sysClr val="windowText" lastClr="000000"/>
              </a:solidFill>
            </a:endParaRPr>
          </a:p>
        </p:txBody>
      </p:sp>
      <p:sp>
        <p:nvSpPr>
          <p:cNvPr id="3" name="object 3"/>
          <p:cNvSpPr/>
          <p:nvPr/>
        </p:nvSpPr>
        <p:spPr>
          <a:xfrm>
            <a:off x="2140884" y="55644"/>
            <a:ext cx="7906202" cy="474397"/>
          </a:xfrm>
          <a:custGeom>
            <a:avLst/>
            <a:gdLst/>
            <a:ahLst/>
            <a:cxnLst/>
            <a:rect l="l" t="t" r="r" b="b"/>
            <a:pathLst>
              <a:path w="3989704" h="23939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88328"/>
                </a:lnTo>
                <a:lnTo>
                  <a:pt x="4013" y="208064"/>
                </a:lnTo>
                <a:lnTo>
                  <a:pt x="14922" y="224218"/>
                </a:lnTo>
                <a:lnTo>
                  <a:pt x="31076" y="235127"/>
                </a:lnTo>
                <a:lnTo>
                  <a:pt x="50812" y="239141"/>
                </a:lnTo>
                <a:lnTo>
                  <a:pt x="3938854" y="239141"/>
                </a:lnTo>
                <a:lnTo>
                  <a:pt x="3958577" y="235127"/>
                </a:lnTo>
                <a:lnTo>
                  <a:pt x="3974731" y="224218"/>
                </a:lnTo>
                <a:lnTo>
                  <a:pt x="3985653" y="208064"/>
                </a:lnTo>
                <a:lnTo>
                  <a:pt x="3989654" y="188328"/>
                </a:lnTo>
                <a:lnTo>
                  <a:pt x="3989654" y="82384"/>
                </a:lnTo>
                <a:lnTo>
                  <a:pt x="3989654" y="50800"/>
                </a:lnTo>
                <a:lnTo>
                  <a:pt x="3989654" y="44424"/>
                </a:lnTo>
                <a:close/>
              </a:path>
            </a:pathLst>
          </a:custGeom>
          <a:solidFill>
            <a:srgbClr val="F9F9F9"/>
          </a:solidFill>
        </p:spPr>
        <p:txBody>
          <a:bodyPr wrap="square" lIns="0" tIns="0" rIns="0" bIns="0" rtlCol="0"/>
          <a:lstStyle/>
          <a:p>
            <a:pPr defTabSz="1812066"/>
            <a:endParaRPr sz="3567" kern="0">
              <a:solidFill>
                <a:sysClr val="windowText" lastClr="000000"/>
              </a:solidFill>
            </a:endParaRPr>
          </a:p>
        </p:txBody>
      </p:sp>
      <p:sp>
        <p:nvSpPr>
          <p:cNvPr id="4" name="object 4"/>
          <p:cNvSpPr txBox="1"/>
          <p:nvPr/>
        </p:nvSpPr>
        <p:spPr>
          <a:xfrm>
            <a:off x="526923" y="736285"/>
            <a:ext cx="11141202" cy="4606777"/>
          </a:xfrm>
          <a:prstGeom prst="rect">
            <a:avLst/>
          </a:prstGeom>
        </p:spPr>
        <p:txBody>
          <a:bodyPr vert="horz" wrap="square" lIns="0" tIns="33975" rIns="0" bIns="0" rtlCol="0">
            <a:spAutoFit/>
          </a:bodyPr>
          <a:lstStyle/>
          <a:p>
            <a:pPr marL="25168" defTabSz="1812066">
              <a:spcBef>
                <a:spcPts val="268"/>
              </a:spcBef>
            </a:pPr>
            <a:r>
              <a:rPr sz="2000" kern="0" dirty="0">
                <a:latin typeface="Arial" panose="020B0604020202020204" pitchFamily="34" charset="0"/>
                <a:cs typeface="Arial" panose="020B0604020202020204" pitchFamily="34" charset="0"/>
              </a:rPr>
              <a:t>Which</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following</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correct</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interpretation</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68"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intercept?</a:t>
            </a:r>
            <a:endParaRPr sz="2000" kern="0" dirty="0">
              <a:latin typeface="Arial" panose="020B0604020202020204" pitchFamily="34" charset="0"/>
              <a:cs typeface="Arial" panose="020B0604020202020204" pitchFamily="34" charset="0"/>
            </a:endParaRPr>
          </a:p>
          <a:p>
            <a:pPr defTabSz="1812066">
              <a:spcBef>
                <a:spcPts val="337"/>
              </a:spcBef>
            </a:pPr>
            <a:endParaRPr sz="2000" kern="0" dirty="0">
              <a:latin typeface="Arial" panose="020B0604020202020204" pitchFamily="34" charset="0"/>
              <a:cs typeface="Arial" panose="020B0604020202020204" pitchFamily="34" charset="0"/>
            </a:endParaRPr>
          </a:p>
          <a:p>
            <a:pPr marL="570046" marR="498318" indent="-453017" defTabSz="1812066">
              <a:lnSpc>
                <a:spcPct val="129800"/>
              </a:lnSpc>
              <a:spcBef>
                <a:spcPts val="10"/>
              </a:spcBef>
              <a:buFontTx/>
              <a:buAutoNum type="alphaLcParenBoth"/>
              <a:tabLst>
                <a:tab pos="573821" algn="l"/>
              </a:tabLst>
            </a:pPr>
            <a:r>
              <a:rPr sz="2000" kern="0" dirty="0">
                <a:latin typeface="Arial" panose="020B0604020202020204" pitchFamily="34" charset="0"/>
                <a:cs typeface="Arial" panose="020B0604020202020204" pitchFamily="34" charset="0"/>
              </a:rPr>
              <a:t>For</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each</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point</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increase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HS</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graduate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rate,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living</a:t>
            </a:r>
            <a:r>
              <a:rPr sz="2000" kern="0" spc="139" dirty="0">
                <a:latin typeface="Arial" panose="020B0604020202020204" pitchFamily="34" charset="0"/>
                <a:cs typeface="Arial" panose="020B0604020202020204" pitchFamily="34" charset="0"/>
              </a:rPr>
              <a:t> </a:t>
            </a:r>
            <a:r>
              <a:rPr sz="2000" kern="0" spc="-50" dirty="0">
                <a:latin typeface="Arial" panose="020B0604020202020204" pitchFamily="34" charset="0"/>
                <a:cs typeface="Arial" panose="020B0604020202020204" pitchFamily="34" charset="0"/>
              </a:rPr>
              <a:t>in </a:t>
            </a:r>
            <a:r>
              <a:rPr sz="2000" kern="0" dirty="0">
                <a:latin typeface="Arial" panose="020B0604020202020204" pitchFamily="34" charset="0"/>
                <a:cs typeface="Arial" panose="020B0604020202020204" pitchFamily="34" charset="0"/>
              </a:rPr>
              <a:t>poverty</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expected</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to</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increase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on</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average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5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64.68%.</a:t>
            </a:r>
            <a:endParaRPr sz="2000" kern="0" dirty="0">
              <a:latin typeface="Arial" panose="020B0604020202020204" pitchFamily="34" charset="0"/>
              <a:cs typeface="Arial" panose="020B0604020202020204" pitchFamily="34" charset="0"/>
            </a:endParaRPr>
          </a:p>
          <a:p>
            <a:pPr marL="570046" marR="411490" indent="-453017" defTabSz="1812066">
              <a:lnSpc>
                <a:spcPct val="129900"/>
              </a:lnSpc>
              <a:spcBef>
                <a:spcPts val="585"/>
              </a:spcBef>
              <a:buFontTx/>
              <a:buAutoNum type="alphaLcParenBoth"/>
              <a:tabLst>
                <a:tab pos="573821" algn="l"/>
              </a:tabLst>
            </a:pPr>
            <a:r>
              <a:rPr sz="2000" kern="0" dirty="0">
                <a:latin typeface="Arial" panose="020B0604020202020204" pitchFamily="34" charset="0"/>
                <a:cs typeface="Arial" panose="020B0604020202020204" pitchFamily="34" charset="0"/>
              </a:rPr>
              <a:t>For</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each</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point</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decrease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HS</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graduate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rate,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living</a:t>
            </a:r>
            <a:r>
              <a:rPr sz="2000" kern="0" spc="149" dirty="0">
                <a:latin typeface="Arial" panose="020B0604020202020204" pitchFamily="34" charset="0"/>
                <a:cs typeface="Arial" panose="020B0604020202020204" pitchFamily="34" charset="0"/>
              </a:rPr>
              <a:t> </a:t>
            </a:r>
            <a:r>
              <a:rPr sz="2000" kern="0" spc="-50" dirty="0">
                <a:latin typeface="Arial" panose="020B0604020202020204" pitchFamily="34" charset="0"/>
                <a:cs typeface="Arial" panose="020B0604020202020204" pitchFamily="34" charset="0"/>
              </a:rPr>
              <a:t>in</a:t>
            </a:r>
            <a:r>
              <a:rPr lang="en-US" sz="2000" kern="0" spc="-5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poverty</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expected</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to</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increase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on</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average</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5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64.68%.</a:t>
            </a:r>
            <a:endParaRPr sz="2000" kern="0" dirty="0">
              <a:latin typeface="Arial" panose="020B0604020202020204" pitchFamily="34" charset="0"/>
              <a:cs typeface="Arial" panose="020B0604020202020204" pitchFamily="34" charset="0"/>
            </a:endParaRPr>
          </a:p>
          <a:p>
            <a:pPr marL="570046" marR="300753" indent="-437914" defTabSz="1812066">
              <a:lnSpc>
                <a:spcPct val="129900"/>
              </a:lnSpc>
              <a:spcBef>
                <a:spcPts val="595"/>
              </a:spcBef>
              <a:buFontTx/>
              <a:buAutoNum type="alphaLcParenBoth"/>
              <a:tabLst>
                <a:tab pos="573821" algn="l"/>
              </a:tabLst>
            </a:pPr>
            <a:r>
              <a:rPr sz="2000" kern="0" dirty="0">
                <a:latin typeface="Arial" panose="020B0604020202020204" pitchFamily="34" charset="0"/>
                <a:cs typeface="Arial" panose="020B0604020202020204" pitchFamily="34" charset="0"/>
              </a:rPr>
              <a:t>Having</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no</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HS</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graduates</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leads</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to</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64.68%</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residents</a:t>
            </a:r>
            <a:r>
              <a:rPr sz="2000" kern="0" spc="188"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living </a:t>
            </a:r>
            <a:r>
              <a:rPr sz="2000" kern="0" dirty="0">
                <a:latin typeface="Arial" panose="020B0604020202020204" pitchFamily="34" charset="0"/>
                <a:cs typeface="Arial" panose="020B0604020202020204" pitchFamily="34" charset="0"/>
              </a:rPr>
              <a:t>below</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poverty</a:t>
            </a:r>
            <a:r>
              <a:rPr sz="2000" kern="0" spc="178" dirty="0">
                <a:latin typeface="Arial" panose="020B0604020202020204" pitchFamily="34" charset="0"/>
                <a:cs typeface="Arial" panose="020B0604020202020204" pitchFamily="34" charset="0"/>
              </a:rPr>
              <a:t> </a:t>
            </a:r>
            <a:r>
              <a:rPr sz="2000" kern="0" spc="-40" dirty="0">
                <a:latin typeface="Arial" panose="020B0604020202020204" pitchFamily="34" charset="0"/>
                <a:cs typeface="Arial" panose="020B0604020202020204" pitchFamily="34" charset="0"/>
              </a:rPr>
              <a:t>line.</a:t>
            </a:r>
            <a:endParaRPr sz="2000" kern="0" dirty="0">
              <a:latin typeface="Arial" panose="020B0604020202020204" pitchFamily="34" charset="0"/>
              <a:cs typeface="Arial" panose="020B0604020202020204" pitchFamily="34" charset="0"/>
            </a:endParaRPr>
          </a:p>
          <a:p>
            <a:pPr marL="570046" marR="10067" indent="-453017" defTabSz="1812066">
              <a:lnSpc>
                <a:spcPct val="129800"/>
              </a:lnSpc>
              <a:spcBef>
                <a:spcPts val="959"/>
              </a:spcBef>
              <a:buFontTx/>
              <a:buAutoNum type="alphaLcParenBoth"/>
              <a:tabLst>
                <a:tab pos="573821" algn="l"/>
              </a:tabLst>
            </a:pPr>
            <a:r>
              <a:rPr sz="2000" kern="0" dirty="0">
                <a:latin typeface="Arial" panose="020B0604020202020204" pitchFamily="34" charset="0"/>
                <a:cs typeface="Arial" panose="020B0604020202020204" pitchFamily="34" charset="0"/>
              </a:rPr>
              <a:t>States</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with</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no</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HS</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graduates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are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expected</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on</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average</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to</a:t>
            </a:r>
            <a:r>
              <a:rPr sz="2000" kern="0" spc="159" dirty="0">
                <a:latin typeface="Arial" panose="020B0604020202020204" pitchFamily="34" charset="0"/>
                <a:cs typeface="Arial" panose="020B0604020202020204" pitchFamily="34" charset="0"/>
              </a:rPr>
              <a:t> </a:t>
            </a:r>
            <a:r>
              <a:rPr sz="2000" kern="0" spc="-40" dirty="0">
                <a:latin typeface="Arial" panose="020B0604020202020204" pitchFamily="34" charset="0"/>
                <a:cs typeface="Arial" panose="020B0604020202020204" pitchFamily="34" charset="0"/>
              </a:rPr>
              <a:t>have </a:t>
            </a:r>
            <a:r>
              <a:rPr sz="2000" kern="0" dirty="0">
                <a:latin typeface="Arial" panose="020B0604020202020204" pitchFamily="34" charset="0"/>
                <a:cs typeface="Arial" panose="020B0604020202020204" pitchFamily="34" charset="0"/>
              </a:rPr>
              <a:t>64.68%</a:t>
            </a:r>
            <a:r>
              <a:rPr sz="2000" kern="0" spc="19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9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residents</a:t>
            </a:r>
            <a:r>
              <a:rPr sz="2000" kern="0" spc="19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living</a:t>
            </a:r>
            <a:r>
              <a:rPr sz="2000" kern="0" spc="19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below</a:t>
            </a:r>
            <a:r>
              <a:rPr sz="2000" kern="0" spc="19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9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poverty</a:t>
            </a:r>
            <a:r>
              <a:rPr sz="2000" kern="0" spc="208"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line.</a:t>
            </a:r>
            <a:endParaRPr sz="2000" kern="0" dirty="0">
              <a:latin typeface="Arial" panose="020B0604020202020204" pitchFamily="34" charset="0"/>
              <a:cs typeface="Arial" panose="020B0604020202020204" pitchFamily="34" charset="0"/>
            </a:endParaRPr>
          </a:p>
          <a:p>
            <a:pPr marL="570046" marR="56627" indent="-453017" defTabSz="1812066">
              <a:lnSpc>
                <a:spcPct val="129800"/>
              </a:lnSpc>
              <a:spcBef>
                <a:spcPts val="595"/>
              </a:spcBef>
              <a:buFontTx/>
              <a:buAutoNum type="alphaLcParenBoth"/>
              <a:tabLst>
                <a:tab pos="573821" algn="l"/>
              </a:tabLst>
            </a:pPr>
            <a:r>
              <a:rPr sz="2000" kern="0" dirty="0">
                <a:latin typeface="Arial" panose="020B0604020202020204" pitchFamily="34" charset="0"/>
                <a:cs typeface="Arial" panose="020B0604020202020204" pitchFamily="34" charset="0"/>
              </a:rPr>
              <a:t>In</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states</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with</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no</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HS</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graduates</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living</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poverty</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3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expected </a:t>
            </a:r>
            <a:r>
              <a:rPr sz="2000" kern="0" dirty="0">
                <a:latin typeface="Arial" panose="020B0604020202020204" pitchFamily="34" charset="0"/>
                <a:cs typeface="Arial" panose="020B0604020202020204" pitchFamily="34" charset="0"/>
              </a:rPr>
              <a:t>to</a:t>
            </a:r>
            <a:r>
              <a:rPr sz="2000" kern="0" spc="12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increase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on</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average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3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64.68%.</a:t>
            </a:r>
            <a:endParaRPr sz="2000" kern="0" dirty="0">
              <a:latin typeface="Arial" panose="020B0604020202020204" pitchFamily="34" charset="0"/>
              <a:cs typeface="Arial" panose="020B0604020202020204" pitchFamily="34" charset="0"/>
            </a:endParaRPr>
          </a:p>
        </p:txBody>
      </p:sp>
      <p:sp>
        <p:nvSpPr>
          <p:cNvPr id="5" name="object 5"/>
          <p:cNvSpPr txBox="1"/>
          <p:nvPr/>
        </p:nvSpPr>
        <p:spPr>
          <a:xfrm>
            <a:off x="10198342" y="6342839"/>
            <a:ext cx="262995" cy="246441"/>
          </a:xfrm>
          <a:prstGeom prst="rect">
            <a:avLst/>
          </a:prstGeom>
        </p:spPr>
        <p:txBody>
          <a:bodyPr vert="horz" wrap="square" lIns="0" tIns="17617" rIns="0" bIns="0" rtlCol="0">
            <a:spAutoFit/>
          </a:bodyPr>
          <a:lstStyle/>
          <a:p>
            <a:pPr marL="25168" defTabSz="1812066">
              <a:spcBef>
                <a:spcPts val="139"/>
              </a:spcBef>
            </a:pPr>
            <a:r>
              <a:rPr sz="1486" kern="0" spc="-50" dirty="0">
                <a:solidFill>
                  <a:srgbClr val="22373A"/>
                </a:solidFill>
                <a:latin typeface="Arial"/>
                <a:cs typeface="Arial"/>
              </a:rPr>
              <a:t>24</a:t>
            </a:r>
            <a:endParaRPr sz="1486" kern="0">
              <a:solidFill>
                <a:sysClr val="windowText" lastClr="000000"/>
              </a:solidFill>
              <a:latin typeface="Arial"/>
              <a:cs typeface="Arial"/>
            </a:endParaRP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C589ADD-B4D9-4709-B8DC-0BF19E645694}"/>
              </a:ext>
            </a:extLst>
          </p:cNvPr>
          <p:cNvSpPr>
            <a:spLocks noGrp="1" noChangeArrowheads="1"/>
          </p:cNvSpPr>
          <p:nvPr>
            <p:ph type="title"/>
          </p:nvPr>
        </p:nvSpPr>
        <p:spPr>
          <a:xfrm>
            <a:off x="161781" y="301752"/>
            <a:ext cx="10005337" cy="782638"/>
          </a:xfrm>
        </p:spPr>
        <p:txBody>
          <a:bodyPr>
            <a:normAutofit fontScale="90000"/>
          </a:bodyPr>
          <a:lstStyle/>
          <a:p>
            <a:r>
              <a:rPr lang="en-US" altLang="en-US" sz="4000" dirty="0">
                <a:latin typeface="Arial" panose="020B0604020202020204" pitchFamily="34" charset="0"/>
                <a:cs typeface="Arial" panose="020B0604020202020204" pitchFamily="34" charset="0"/>
              </a:rPr>
              <a:t>The Least Squares Regression Slope</a:t>
            </a:r>
            <a:br>
              <a:rPr lang="en-US" altLang="en-US" dirty="0">
                <a:latin typeface="Arial" panose="020B0604020202020204" pitchFamily="34" charset="0"/>
                <a:cs typeface="Arial" panose="020B0604020202020204" pitchFamily="34" charset="0"/>
              </a:rPr>
            </a:br>
            <a:r>
              <a:rPr lang="en-US" altLang="en-US" sz="3600" i="1" dirty="0">
                <a:latin typeface="Arial" panose="020B0604020202020204" pitchFamily="34" charset="0"/>
                <a:cs typeface="Arial" panose="020B0604020202020204" pitchFamily="34" charset="0"/>
              </a:rPr>
              <a:t>Where should we draw the line</a:t>
            </a:r>
            <a:endParaRPr lang="en-US" altLang="en-US" sz="4000" i="1" dirty="0">
              <a:latin typeface="Arial" panose="020B0604020202020204" pitchFamily="34" charset="0"/>
              <a:cs typeface="Arial" panose="020B0604020202020204" pitchFamily="34" charset="0"/>
            </a:endParaRPr>
          </a:p>
        </p:txBody>
      </p:sp>
      <p:sp>
        <p:nvSpPr>
          <p:cNvPr id="70663" name="Text Box 7">
            <a:extLst>
              <a:ext uri="{FF2B5EF4-FFF2-40B4-BE49-F238E27FC236}">
                <a16:creationId xmlns:a16="http://schemas.microsoft.com/office/drawing/2014/main" id="{ADA6FF94-A1BF-4E68-B685-A2E63D15B309}"/>
              </a:ext>
            </a:extLst>
          </p:cNvPr>
          <p:cNvSpPr txBox="1">
            <a:spLocks noChangeArrowheads="1"/>
          </p:cNvSpPr>
          <p:nvPr/>
        </p:nvSpPr>
        <p:spPr bwMode="auto">
          <a:xfrm>
            <a:off x="313696" y="1299485"/>
            <a:ext cx="10148047" cy="156966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 good line is one that minimizes the sum of squared differences between the points and the 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7038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77A7-DC78-B0CD-D35F-800E908932C6}"/>
              </a:ext>
            </a:extLst>
          </p:cNvPr>
          <p:cNvSpPr>
            <a:spLocks noGrp="1"/>
          </p:cNvSpPr>
          <p:nvPr>
            <p:ph type="title"/>
          </p:nvPr>
        </p:nvSpPr>
        <p:spPr>
          <a:xfrm>
            <a:off x="228600" y="113545"/>
            <a:ext cx="11277600" cy="1325563"/>
          </a:xfrm>
        </p:spPr>
        <p:txBody>
          <a:bodyPr>
            <a:normAutofit/>
          </a:bodyPr>
          <a:lstStyle/>
          <a:p>
            <a:r>
              <a:rPr lang="en-US" sz="3600" dirty="0">
                <a:latin typeface="Arial" panose="020B0604020202020204" pitchFamily="34" charset="0"/>
                <a:cs typeface="Arial" panose="020B0604020202020204" pitchFamily="34" charset="0"/>
              </a:rPr>
              <a:t>More about the best fitting line: minimizing the sum of squared errors</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7658F4C8-9F1A-D221-7E50-148AB9205925}"/>
                  </a:ext>
                </a:extLst>
              </p:cNvPr>
              <p:cNvGraphicFramePr>
                <a:graphicFrameLocks noGrp="1"/>
              </p:cNvGraphicFramePr>
              <p:nvPr>
                <p:ph idx="1"/>
                <p:extLst>
                  <p:ext uri="{D42A27DB-BD31-4B8C-83A1-F6EECF244321}">
                    <p14:modId xmlns:p14="http://schemas.microsoft.com/office/powerpoint/2010/main" val="2826458565"/>
                  </p:ext>
                </p:extLst>
              </p:nvPr>
            </p:nvGraphicFramePr>
            <p:xfrm>
              <a:off x="552450" y="1986070"/>
              <a:ext cx="3307466" cy="4079240"/>
            </p:xfrm>
            <a:graphic>
              <a:graphicData uri="http://schemas.openxmlformats.org/drawingml/2006/table">
                <a:tbl>
                  <a:tblPr firstRow="1" bandRow="1">
                    <a:tableStyleId>{5C22544A-7EE6-4342-B048-85BDC9FD1C3A}</a:tableStyleId>
                  </a:tblPr>
                  <a:tblGrid>
                    <a:gridCol w="946230">
                      <a:extLst>
                        <a:ext uri="{9D8B030D-6E8A-4147-A177-3AD203B41FA5}">
                          <a16:colId xmlns:a16="http://schemas.microsoft.com/office/drawing/2014/main" val="2337070626"/>
                        </a:ext>
                      </a:extLst>
                    </a:gridCol>
                    <a:gridCol w="844952">
                      <a:extLst>
                        <a:ext uri="{9D8B030D-6E8A-4147-A177-3AD203B41FA5}">
                          <a16:colId xmlns:a16="http://schemas.microsoft.com/office/drawing/2014/main" val="1000169567"/>
                        </a:ext>
                      </a:extLst>
                    </a:gridCol>
                    <a:gridCol w="601884">
                      <a:extLst>
                        <a:ext uri="{9D8B030D-6E8A-4147-A177-3AD203B41FA5}">
                          <a16:colId xmlns:a16="http://schemas.microsoft.com/office/drawing/2014/main" val="3906104682"/>
                        </a:ext>
                      </a:extLst>
                    </a:gridCol>
                    <a:gridCol w="914400">
                      <a:extLst>
                        <a:ext uri="{9D8B030D-6E8A-4147-A177-3AD203B41FA5}">
                          <a16:colId xmlns:a16="http://schemas.microsoft.com/office/drawing/2014/main" val="1131818146"/>
                        </a:ext>
                      </a:extLst>
                    </a:gridCol>
                  </a:tblGrid>
                  <a:tr h="370840">
                    <a:tc>
                      <a:txBody>
                        <a:bodyPr/>
                        <a:lstStyle/>
                        <a:p>
                          <a:pPr algn="ctr"/>
                          <a:r>
                            <a:rPr lang="en-US" dirty="0" err="1"/>
                            <a:t>i</a:t>
                          </a:r>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m:oMathPara>
                          </a14:m>
                          <a:endParaRPr lang="en-US" dirty="0"/>
                        </a:p>
                      </a:txBody>
                      <a:tcPr/>
                    </a:tc>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r>
                            <a:rPr lang="en-US" dirty="0"/>
                            <a:t> </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oMath>
                            </m:oMathPara>
                          </a14:m>
                          <a:endParaRPr lang="en-US" dirty="0"/>
                        </a:p>
                      </a:txBody>
                      <a:tcPr/>
                    </a:tc>
                    <a:extLst>
                      <a:ext uri="{0D108BD9-81ED-4DB2-BD59-A6C34878D82A}">
                        <a16:rowId xmlns:a16="http://schemas.microsoft.com/office/drawing/2014/main" val="841500957"/>
                      </a:ext>
                    </a:extLst>
                  </a:tr>
                  <a:tr h="370840">
                    <a:tc>
                      <a:txBody>
                        <a:bodyPr/>
                        <a:lstStyle/>
                        <a:p>
                          <a:pPr algn="ctr" fontAlgn="t"/>
                          <a:r>
                            <a:rPr lang="en-US" dirty="0">
                              <a:effectLst/>
                              <a:latin typeface="Arial" panose="020B0604020202020204" pitchFamily="34" charset="0"/>
                              <a:cs typeface="Arial" panose="020B0604020202020204" pitchFamily="34" charset="0"/>
                            </a:rPr>
                            <a:t>1</a:t>
                          </a:r>
                        </a:p>
                      </a:txBody>
                      <a:tcPr/>
                    </a:tc>
                    <a:tc>
                      <a:txBody>
                        <a:bodyPr/>
                        <a:lstStyle/>
                        <a:p>
                          <a:pPr algn="ctr" fontAlgn="t"/>
                          <a:r>
                            <a:rPr lang="en-US" dirty="0">
                              <a:effectLst/>
                              <a:latin typeface="Arial" panose="020B0604020202020204" pitchFamily="34" charset="0"/>
                              <a:cs typeface="Arial" panose="020B0604020202020204" pitchFamily="34" charset="0"/>
                            </a:rPr>
                            <a:t>63</a:t>
                          </a:r>
                        </a:p>
                      </a:txBody>
                      <a:tcPr/>
                    </a:tc>
                    <a:tc>
                      <a:txBody>
                        <a:bodyPr/>
                        <a:lstStyle/>
                        <a:p>
                          <a:pPr algn="ctr" fontAlgn="t"/>
                          <a:r>
                            <a:rPr lang="en-US" dirty="0">
                              <a:effectLst/>
                              <a:latin typeface="Arial" panose="020B0604020202020204" pitchFamily="34" charset="0"/>
                              <a:cs typeface="Arial" panose="020B0604020202020204" pitchFamily="34" charset="0"/>
                            </a:rPr>
                            <a:t>127</a:t>
                          </a:r>
                        </a:p>
                      </a:txBody>
                      <a:tcPr/>
                    </a:tc>
                    <a:tc>
                      <a:txBody>
                        <a:bodyPr/>
                        <a:lstStyle/>
                        <a:p>
                          <a:pPr algn="ctr" fontAlgn="t"/>
                          <a:r>
                            <a:rPr lang="en-US" dirty="0">
                              <a:effectLst/>
                              <a:latin typeface="Arial" panose="020B0604020202020204" pitchFamily="34" charset="0"/>
                              <a:cs typeface="Arial" panose="020B0604020202020204" pitchFamily="34" charset="0"/>
                            </a:rPr>
                            <a:t>120.1</a:t>
                          </a:r>
                        </a:p>
                      </a:txBody>
                      <a:tcPr/>
                    </a:tc>
                    <a:extLst>
                      <a:ext uri="{0D108BD9-81ED-4DB2-BD59-A6C34878D82A}">
                        <a16:rowId xmlns:a16="http://schemas.microsoft.com/office/drawing/2014/main" val="1829978196"/>
                      </a:ext>
                    </a:extLst>
                  </a:tr>
                  <a:tr h="370840">
                    <a:tc>
                      <a:txBody>
                        <a:bodyPr/>
                        <a:lstStyle/>
                        <a:p>
                          <a:pPr algn="ctr" fontAlgn="t"/>
                          <a:r>
                            <a:rPr lang="en-US" dirty="0">
                              <a:effectLst/>
                              <a:latin typeface="Arial" panose="020B0604020202020204" pitchFamily="34" charset="0"/>
                              <a:cs typeface="Arial" panose="020B0604020202020204" pitchFamily="34" charset="0"/>
                            </a:rPr>
                            <a:t>2</a:t>
                          </a:r>
                        </a:p>
                      </a:txBody>
                      <a:tcPr/>
                    </a:tc>
                    <a:tc>
                      <a:txBody>
                        <a:bodyPr/>
                        <a:lstStyle/>
                        <a:p>
                          <a:pPr algn="ctr" fontAlgn="t"/>
                          <a:r>
                            <a:rPr lang="en-US" dirty="0">
                              <a:effectLst/>
                              <a:latin typeface="Arial" panose="020B0604020202020204" pitchFamily="34" charset="0"/>
                              <a:cs typeface="Arial" panose="020B0604020202020204" pitchFamily="34" charset="0"/>
                            </a:rPr>
                            <a:t>64</a:t>
                          </a:r>
                        </a:p>
                      </a:txBody>
                      <a:tcPr/>
                    </a:tc>
                    <a:tc>
                      <a:txBody>
                        <a:bodyPr/>
                        <a:lstStyle/>
                        <a:p>
                          <a:pPr algn="ctr" fontAlgn="t"/>
                          <a:r>
                            <a:rPr lang="en-US" dirty="0">
                              <a:effectLst/>
                              <a:latin typeface="Arial" panose="020B0604020202020204" pitchFamily="34" charset="0"/>
                              <a:cs typeface="Arial" panose="020B0604020202020204" pitchFamily="34" charset="0"/>
                            </a:rPr>
                            <a:t>121</a:t>
                          </a:r>
                        </a:p>
                      </a:txBody>
                      <a:tcPr/>
                    </a:tc>
                    <a:tc>
                      <a:txBody>
                        <a:bodyPr/>
                        <a:lstStyle/>
                        <a:p>
                          <a:pPr algn="ctr" fontAlgn="t"/>
                          <a:r>
                            <a:rPr lang="en-US" dirty="0">
                              <a:effectLst/>
                              <a:latin typeface="Arial" panose="020B0604020202020204" pitchFamily="34" charset="0"/>
                              <a:cs typeface="Arial" panose="020B0604020202020204" pitchFamily="34" charset="0"/>
                            </a:rPr>
                            <a:t>126.3</a:t>
                          </a:r>
                        </a:p>
                      </a:txBody>
                      <a:tcPr/>
                    </a:tc>
                    <a:extLst>
                      <a:ext uri="{0D108BD9-81ED-4DB2-BD59-A6C34878D82A}">
                        <a16:rowId xmlns:a16="http://schemas.microsoft.com/office/drawing/2014/main" val="65995249"/>
                      </a:ext>
                    </a:extLst>
                  </a:tr>
                  <a:tr h="370840">
                    <a:tc>
                      <a:txBody>
                        <a:bodyPr/>
                        <a:lstStyle/>
                        <a:p>
                          <a:pPr algn="ctr" fontAlgn="t"/>
                          <a:r>
                            <a:rPr lang="en-US">
                              <a:effectLst/>
                              <a:latin typeface="Arial" panose="020B0604020202020204" pitchFamily="34" charset="0"/>
                              <a:cs typeface="Arial" panose="020B0604020202020204" pitchFamily="34" charset="0"/>
                            </a:rPr>
                            <a:t>3</a:t>
                          </a:r>
                        </a:p>
                      </a:txBody>
                      <a:tcPr/>
                    </a:tc>
                    <a:tc>
                      <a:txBody>
                        <a:bodyPr/>
                        <a:lstStyle/>
                        <a:p>
                          <a:pPr algn="ctr" fontAlgn="t"/>
                          <a:r>
                            <a:rPr lang="en-US" dirty="0">
                              <a:effectLst/>
                              <a:latin typeface="Arial" panose="020B0604020202020204" pitchFamily="34" charset="0"/>
                              <a:cs typeface="Arial" panose="020B0604020202020204" pitchFamily="34" charset="0"/>
                            </a:rPr>
                            <a:t>66</a:t>
                          </a:r>
                        </a:p>
                      </a:txBody>
                      <a:tcPr/>
                    </a:tc>
                    <a:tc>
                      <a:txBody>
                        <a:bodyPr/>
                        <a:lstStyle/>
                        <a:p>
                          <a:pPr algn="ctr" fontAlgn="t"/>
                          <a:r>
                            <a:rPr lang="en-US" dirty="0">
                              <a:effectLst/>
                              <a:latin typeface="Arial" panose="020B0604020202020204" pitchFamily="34" charset="0"/>
                              <a:cs typeface="Arial" panose="020B0604020202020204" pitchFamily="34" charset="0"/>
                            </a:rPr>
                            <a:t>142</a:t>
                          </a:r>
                        </a:p>
                      </a:txBody>
                      <a:tcPr/>
                    </a:tc>
                    <a:tc>
                      <a:txBody>
                        <a:bodyPr/>
                        <a:lstStyle/>
                        <a:p>
                          <a:pPr algn="ctr" fontAlgn="t"/>
                          <a:r>
                            <a:rPr lang="en-US" dirty="0">
                              <a:effectLst/>
                              <a:latin typeface="Arial" panose="020B0604020202020204" pitchFamily="34" charset="0"/>
                              <a:cs typeface="Arial" panose="020B0604020202020204" pitchFamily="34" charset="0"/>
                            </a:rPr>
                            <a:t>138.5</a:t>
                          </a:r>
                        </a:p>
                      </a:txBody>
                      <a:tcPr/>
                    </a:tc>
                    <a:extLst>
                      <a:ext uri="{0D108BD9-81ED-4DB2-BD59-A6C34878D82A}">
                        <a16:rowId xmlns:a16="http://schemas.microsoft.com/office/drawing/2014/main" val="777660031"/>
                      </a:ext>
                    </a:extLst>
                  </a:tr>
                  <a:tr h="370840">
                    <a:tc>
                      <a:txBody>
                        <a:bodyPr/>
                        <a:lstStyle/>
                        <a:p>
                          <a:pPr algn="ctr" fontAlgn="t"/>
                          <a:r>
                            <a:rPr lang="en-US">
                              <a:effectLst/>
                              <a:latin typeface="Arial" panose="020B0604020202020204" pitchFamily="34" charset="0"/>
                              <a:cs typeface="Arial" panose="020B0604020202020204" pitchFamily="34" charset="0"/>
                            </a:rPr>
                            <a:t>4</a:t>
                          </a:r>
                        </a:p>
                      </a:txBody>
                      <a:tcPr/>
                    </a:tc>
                    <a:tc>
                      <a:txBody>
                        <a:bodyPr/>
                        <a:lstStyle/>
                        <a:p>
                          <a:pPr algn="ctr" fontAlgn="t"/>
                          <a:r>
                            <a:rPr lang="en-US">
                              <a:effectLst/>
                              <a:latin typeface="Arial" panose="020B0604020202020204" pitchFamily="34" charset="0"/>
                              <a:cs typeface="Arial" panose="020B0604020202020204" pitchFamily="34" charset="0"/>
                            </a:rPr>
                            <a:t>69</a:t>
                          </a:r>
                        </a:p>
                      </a:txBody>
                      <a:tcPr/>
                    </a:tc>
                    <a:tc>
                      <a:txBody>
                        <a:bodyPr/>
                        <a:lstStyle/>
                        <a:p>
                          <a:pPr algn="ctr" fontAlgn="t"/>
                          <a:r>
                            <a:rPr lang="en-US" dirty="0">
                              <a:effectLst/>
                              <a:latin typeface="Arial" panose="020B0604020202020204" pitchFamily="34" charset="0"/>
                              <a:cs typeface="Arial" panose="020B0604020202020204" pitchFamily="34" charset="0"/>
                            </a:rPr>
                            <a:t>157</a:t>
                          </a:r>
                        </a:p>
                      </a:txBody>
                      <a:tcPr/>
                    </a:tc>
                    <a:tc>
                      <a:txBody>
                        <a:bodyPr/>
                        <a:lstStyle/>
                        <a:p>
                          <a:pPr algn="ctr" fontAlgn="t"/>
                          <a:r>
                            <a:rPr lang="en-US" dirty="0">
                              <a:effectLst/>
                              <a:latin typeface="Arial" panose="020B0604020202020204" pitchFamily="34" charset="0"/>
                              <a:cs typeface="Arial" panose="020B0604020202020204" pitchFamily="34" charset="0"/>
                            </a:rPr>
                            <a:t>157.0</a:t>
                          </a:r>
                        </a:p>
                      </a:txBody>
                      <a:tcPr/>
                    </a:tc>
                    <a:extLst>
                      <a:ext uri="{0D108BD9-81ED-4DB2-BD59-A6C34878D82A}">
                        <a16:rowId xmlns:a16="http://schemas.microsoft.com/office/drawing/2014/main" val="3802541046"/>
                      </a:ext>
                    </a:extLst>
                  </a:tr>
                  <a:tr h="370840">
                    <a:tc>
                      <a:txBody>
                        <a:bodyPr/>
                        <a:lstStyle/>
                        <a:p>
                          <a:pPr algn="ctr" fontAlgn="t"/>
                          <a:r>
                            <a:rPr lang="en-US" dirty="0">
                              <a:solidFill>
                                <a:schemeClr val="bg1"/>
                              </a:solidFill>
                              <a:effectLst/>
                              <a:latin typeface="Arial" panose="020B0604020202020204" pitchFamily="34" charset="0"/>
                              <a:cs typeface="Arial" panose="020B0604020202020204" pitchFamily="34" charset="0"/>
                            </a:rPr>
                            <a:t>5</a:t>
                          </a:r>
                        </a:p>
                      </a:txBody>
                      <a:tcPr>
                        <a:solidFill>
                          <a:srgbClr val="FF0000">
                            <a:alpha val="62000"/>
                          </a:srgbClr>
                        </a:solidFill>
                      </a:tcPr>
                    </a:tc>
                    <a:tc>
                      <a:txBody>
                        <a:bodyPr/>
                        <a:lstStyle/>
                        <a:p>
                          <a:pPr algn="ctr" fontAlgn="t"/>
                          <a:r>
                            <a:rPr lang="en-US" dirty="0">
                              <a:solidFill>
                                <a:schemeClr val="bg1"/>
                              </a:solidFill>
                              <a:effectLst/>
                              <a:latin typeface="Arial" panose="020B0604020202020204" pitchFamily="34" charset="0"/>
                              <a:cs typeface="Arial" panose="020B0604020202020204" pitchFamily="34" charset="0"/>
                            </a:rPr>
                            <a:t>69</a:t>
                          </a:r>
                        </a:p>
                      </a:txBody>
                      <a:tcPr>
                        <a:solidFill>
                          <a:srgbClr val="FF0000">
                            <a:alpha val="62000"/>
                          </a:srgbClr>
                        </a:solidFill>
                      </a:tcPr>
                    </a:tc>
                    <a:tc>
                      <a:txBody>
                        <a:bodyPr/>
                        <a:lstStyle/>
                        <a:p>
                          <a:pPr algn="ctr" fontAlgn="t"/>
                          <a:r>
                            <a:rPr lang="en-US" dirty="0">
                              <a:solidFill>
                                <a:schemeClr val="bg1"/>
                              </a:solidFill>
                              <a:effectLst/>
                              <a:latin typeface="Arial" panose="020B0604020202020204" pitchFamily="34" charset="0"/>
                              <a:cs typeface="Arial" panose="020B0604020202020204" pitchFamily="34" charset="0"/>
                            </a:rPr>
                            <a:t>162</a:t>
                          </a:r>
                        </a:p>
                      </a:txBody>
                      <a:tcPr>
                        <a:solidFill>
                          <a:srgbClr val="FF0000">
                            <a:alpha val="62000"/>
                          </a:srgbClr>
                        </a:solidFill>
                      </a:tcPr>
                    </a:tc>
                    <a:tc>
                      <a:txBody>
                        <a:bodyPr/>
                        <a:lstStyle/>
                        <a:p>
                          <a:pPr algn="ctr" fontAlgn="t"/>
                          <a:r>
                            <a:rPr lang="en-US" dirty="0">
                              <a:solidFill>
                                <a:schemeClr val="bg1"/>
                              </a:solidFill>
                              <a:effectLst/>
                              <a:latin typeface="Arial" panose="020B0604020202020204" pitchFamily="34" charset="0"/>
                              <a:cs typeface="Arial" panose="020B0604020202020204" pitchFamily="34" charset="0"/>
                            </a:rPr>
                            <a:t>157.0</a:t>
                          </a:r>
                        </a:p>
                      </a:txBody>
                      <a:tcPr>
                        <a:solidFill>
                          <a:srgbClr val="FF0000">
                            <a:alpha val="62000"/>
                          </a:srgbClr>
                        </a:solidFill>
                      </a:tcPr>
                    </a:tc>
                    <a:extLst>
                      <a:ext uri="{0D108BD9-81ED-4DB2-BD59-A6C34878D82A}">
                        <a16:rowId xmlns:a16="http://schemas.microsoft.com/office/drawing/2014/main" val="2138734268"/>
                      </a:ext>
                    </a:extLst>
                  </a:tr>
                  <a:tr h="370840">
                    <a:tc>
                      <a:txBody>
                        <a:bodyPr/>
                        <a:lstStyle/>
                        <a:p>
                          <a:pPr algn="ctr" fontAlgn="t"/>
                          <a:r>
                            <a:rPr lang="en-US">
                              <a:effectLst/>
                              <a:latin typeface="Arial" panose="020B0604020202020204" pitchFamily="34" charset="0"/>
                              <a:cs typeface="Arial" panose="020B0604020202020204" pitchFamily="34" charset="0"/>
                            </a:rPr>
                            <a:t>6</a:t>
                          </a:r>
                        </a:p>
                      </a:txBody>
                      <a:tcPr/>
                    </a:tc>
                    <a:tc>
                      <a:txBody>
                        <a:bodyPr/>
                        <a:lstStyle/>
                        <a:p>
                          <a:pPr algn="ctr" fontAlgn="t"/>
                          <a:r>
                            <a:rPr lang="en-US">
                              <a:effectLst/>
                              <a:latin typeface="Arial" panose="020B0604020202020204" pitchFamily="34" charset="0"/>
                              <a:cs typeface="Arial" panose="020B0604020202020204" pitchFamily="34" charset="0"/>
                            </a:rPr>
                            <a:t>71</a:t>
                          </a:r>
                        </a:p>
                      </a:txBody>
                      <a:tcPr/>
                    </a:tc>
                    <a:tc>
                      <a:txBody>
                        <a:bodyPr/>
                        <a:lstStyle/>
                        <a:p>
                          <a:pPr algn="ctr" fontAlgn="t"/>
                          <a:r>
                            <a:rPr lang="en-US" dirty="0">
                              <a:effectLst/>
                              <a:latin typeface="Arial" panose="020B0604020202020204" pitchFamily="34" charset="0"/>
                              <a:cs typeface="Arial" panose="020B0604020202020204" pitchFamily="34" charset="0"/>
                            </a:rPr>
                            <a:t>156</a:t>
                          </a:r>
                        </a:p>
                      </a:txBody>
                      <a:tcPr/>
                    </a:tc>
                    <a:tc>
                      <a:txBody>
                        <a:bodyPr/>
                        <a:lstStyle/>
                        <a:p>
                          <a:pPr algn="ctr" fontAlgn="t"/>
                          <a:r>
                            <a:rPr lang="en-US" dirty="0">
                              <a:effectLst/>
                              <a:latin typeface="Arial" panose="020B0604020202020204" pitchFamily="34" charset="0"/>
                              <a:cs typeface="Arial" panose="020B0604020202020204" pitchFamily="34" charset="0"/>
                            </a:rPr>
                            <a:t>169.2</a:t>
                          </a:r>
                        </a:p>
                      </a:txBody>
                      <a:tcPr/>
                    </a:tc>
                    <a:extLst>
                      <a:ext uri="{0D108BD9-81ED-4DB2-BD59-A6C34878D82A}">
                        <a16:rowId xmlns:a16="http://schemas.microsoft.com/office/drawing/2014/main" val="2430723952"/>
                      </a:ext>
                    </a:extLst>
                  </a:tr>
                  <a:tr h="370840">
                    <a:tc>
                      <a:txBody>
                        <a:bodyPr/>
                        <a:lstStyle/>
                        <a:p>
                          <a:pPr algn="ctr" fontAlgn="t"/>
                          <a:r>
                            <a:rPr lang="en-US">
                              <a:effectLst/>
                              <a:latin typeface="Arial" panose="020B0604020202020204" pitchFamily="34" charset="0"/>
                              <a:cs typeface="Arial" panose="020B0604020202020204" pitchFamily="34" charset="0"/>
                            </a:rPr>
                            <a:t>7</a:t>
                          </a:r>
                        </a:p>
                      </a:txBody>
                      <a:tcPr/>
                    </a:tc>
                    <a:tc>
                      <a:txBody>
                        <a:bodyPr/>
                        <a:lstStyle/>
                        <a:p>
                          <a:pPr algn="ctr" fontAlgn="t"/>
                          <a:r>
                            <a:rPr lang="en-US">
                              <a:effectLst/>
                              <a:latin typeface="Arial" panose="020B0604020202020204" pitchFamily="34" charset="0"/>
                              <a:cs typeface="Arial" panose="020B0604020202020204" pitchFamily="34" charset="0"/>
                            </a:rPr>
                            <a:t>71</a:t>
                          </a:r>
                        </a:p>
                      </a:txBody>
                      <a:tcPr/>
                    </a:tc>
                    <a:tc>
                      <a:txBody>
                        <a:bodyPr/>
                        <a:lstStyle/>
                        <a:p>
                          <a:pPr algn="ctr" fontAlgn="t"/>
                          <a:r>
                            <a:rPr lang="en-US" dirty="0">
                              <a:effectLst/>
                              <a:latin typeface="Arial" panose="020B0604020202020204" pitchFamily="34" charset="0"/>
                              <a:cs typeface="Arial" panose="020B0604020202020204" pitchFamily="34" charset="0"/>
                            </a:rPr>
                            <a:t>169</a:t>
                          </a:r>
                        </a:p>
                      </a:txBody>
                      <a:tcPr/>
                    </a:tc>
                    <a:tc>
                      <a:txBody>
                        <a:bodyPr/>
                        <a:lstStyle/>
                        <a:p>
                          <a:pPr algn="ctr" fontAlgn="t"/>
                          <a:r>
                            <a:rPr lang="en-US" dirty="0">
                              <a:effectLst/>
                              <a:latin typeface="Arial" panose="020B0604020202020204" pitchFamily="34" charset="0"/>
                              <a:cs typeface="Arial" panose="020B0604020202020204" pitchFamily="34" charset="0"/>
                            </a:rPr>
                            <a:t>169.2</a:t>
                          </a:r>
                        </a:p>
                      </a:txBody>
                      <a:tcPr/>
                    </a:tc>
                    <a:extLst>
                      <a:ext uri="{0D108BD9-81ED-4DB2-BD59-A6C34878D82A}">
                        <a16:rowId xmlns:a16="http://schemas.microsoft.com/office/drawing/2014/main" val="1302317777"/>
                      </a:ext>
                    </a:extLst>
                  </a:tr>
                  <a:tr h="370840">
                    <a:tc>
                      <a:txBody>
                        <a:bodyPr/>
                        <a:lstStyle/>
                        <a:p>
                          <a:pPr algn="ctr" fontAlgn="t"/>
                          <a:r>
                            <a:rPr lang="en-US">
                              <a:effectLst/>
                              <a:latin typeface="Arial" panose="020B0604020202020204" pitchFamily="34" charset="0"/>
                              <a:cs typeface="Arial" panose="020B0604020202020204" pitchFamily="34" charset="0"/>
                            </a:rPr>
                            <a:t>8</a:t>
                          </a:r>
                        </a:p>
                      </a:txBody>
                      <a:tcPr/>
                    </a:tc>
                    <a:tc>
                      <a:txBody>
                        <a:bodyPr/>
                        <a:lstStyle/>
                        <a:p>
                          <a:pPr algn="ctr" fontAlgn="t"/>
                          <a:r>
                            <a:rPr lang="en-US">
                              <a:effectLst/>
                              <a:latin typeface="Arial" panose="020B0604020202020204" pitchFamily="34" charset="0"/>
                              <a:cs typeface="Arial" panose="020B0604020202020204" pitchFamily="34" charset="0"/>
                            </a:rPr>
                            <a:t>72</a:t>
                          </a:r>
                        </a:p>
                      </a:txBody>
                      <a:tcPr/>
                    </a:tc>
                    <a:tc>
                      <a:txBody>
                        <a:bodyPr/>
                        <a:lstStyle/>
                        <a:p>
                          <a:pPr algn="ctr" fontAlgn="t"/>
                          <a:r>
                            <a:rPr lang="en-US" dirty="0">
                              <a:effectLst/>
                              <a:latin typeface="Arial" panose="020B0604020202020204" pitchFamily="34" charset="0"/>
                              <a:cs typeface="Arial" panose="020B0604020202020204" pitchFamily="34" charset="0"/>
                            </a:rPr>
                            <a:t>165</a:t>
                          </a:r>
                        </a:p>
                      </a:txBody>
                      <a:tcPr/>
                    </a:tc>
                    <a:tc>
                      <a:txBody>
                        <a:bodyPr/>
                        <a:lstStyle/>
                        <a:p>
                          <a:pPr algn="ctr" fontAlgn="t"/>
                          <a:r>
                            <a:rPr lang="en-US" dirty="0">
                              <a:effectLst/>
                              <a:latin typeface="Arial" panose="020B0604020202020204" pitchFamily="34" charset="0"/>
                              <a:cs typeface="Arial" panose="020B0604020202020204" pitchFamily="34" charset="0"/>
                            </a:rPr>
                            <a:t>175.4</a:t>
                          </a:r>
                        </a:p>
                      </a:txBody>
                      <a:tcPr/>
                    </a:tc>
                    <a:extLst>
                      <a:ext uri="{0D108BD9-81ED-4DB2-BD59-A6C34878D82A}">
                        <a16:rowId xmlns:a16="http://schemas.microsoft.com/office/drawing/2014/main" val="3924683112"/>
                      </a:ext>
                    </a:extLst>
                  </a:tr>
                  <a:tr h="370840">
                    <a:tc>
                      <a:txBody>
                        <a:bodyPr/>
                        <a:lstStyle/>
                        <a:p>
                          <a:pPr algn="ctr" fontAlgn="t"/>
                          <a:r>
                            <a:rPr lang="en-US">
                              <a:effectLst/>
                              <a:latin typeface="Arial" panose="020B0604020202020204" pitchFamily="34" charset="0"/>
                              <a:cs typeface="Arial" panose="020B0604020202020204" pitchFamily="34" charset="0"/>
                            </a:rPr>
                            <a:t>9</a:t>
                          </a:r>
                        </a:p>
                      </a:txBody>
                      <a:tcPr/>
                    </a:tc>
                    <a:tc>
                      <a:txBody>
                        <a:bodyPr/>
                        <a:lstStyle/>
                        <a:p>
                          <a:pPr algn="ctr" fontAlgn="t"/>
                          <a:r>
                            <a:rPr lang="en-US">
                              <a:effectLst/>
                              <a:latin typeface="Arial" panose="020B0604020202020204" pitchFamily="34" charset="0"/>
                              <a:cs typeface="Arial" panose="020B0604020202020204" pitchFamily="34" charset="0"/>
                            </a:rPr>
                            <a:t>73</a:t>
                          </a:r>
                        </a:p>
                      </a:txBody>
                      <a:tcPr/>
                    </a:tc>
                    <a:tc>
                      <a:txBody>
                        <a:bodyPr/>
                        <a:lstStyle/>
                        <a:p>
                          <a:pPr algn="ctr" fontAlgn="t"/>
                          <a:r>
                            <a:rPr lang="en-US" dirty="0">
                              <a:effectLst/>
                              <a:latin typeface="Arial" panose="020B0604020202020204" pitchFamily="34" charset="0"/>
                              <a:cs typeface="Arial" panose="020B0604020202020204" pitchFamily="34" charset="0"/>
                            </a:rPr>
                            <a:t>181</a:t>
                          </a:r>
                        </a:p>
                      </a:txBody>
                      <a:tcPr/>
                    </a:tc>
                    <a:tc>
                      <a:txBody>
                        <a:bodyPr/>
                        <a:lstStyle/>
                        <a:p>
                          <a:pPr algn="ctr" fontAlgn="t"/>
                          <a:r>
                            <a:rPr lang="en-US" dirty="0">
                              <a:effectLst/>
                              <a:latin typeface="Arial" panose="020B0604020202020204" pitchFamily="34" charset="0"/>
                              <a:cs typeface="Arial" panose="020B0604020202020204" pitchFamily="34" charset="0"/>
                            </a:rPr>
                            <a:t>181.5</a:t>
                          </a:r>
                        </a:p>
                      </a:txBody>
                      <a:tcPr/>
                    </a:tc>
                    <a:extLst>
                      <a:ext uri="{0D108BD9-81ED-4DB2-BD59-A6C34878D82A}">
                        <a16:rowId xmlns:a16="http://schemas.microsoft.com/office/drawing/2014/main" val="1089823633"/>
                      </a:ext>
                    </a:extLst>
                  </a:tr>
                  <a:tr h="370840">
                    <a:tc>
                      <a:txBody>
                        <a:bodyPr/>
                        <a:lstStyle/>
                        <a:p>
                          <a:pPr algn="ctr" fontAlgn="t"/>
                          <a:r>
                            <a:rPr lang="en-US">
                              <a:effectLst/>
                              <a:latin typeface="Arial" panose="020B0604020202020204" pitchFamily="34" charset="0"/>
                              <a:cs typeface="Arial" panose="020B0604020202020204" pitchFamily="34" charset="0"/>
                            </a:rPr>
                            <a:t>10</a:t>
                          </a:r>
                        </a:p>
                      </a:txBody>
                      <a:tcPr/>
                    </a:tc>
                    <a:tc>
                      <a:txBody>
                        <a:bodyPr/>
                        <a:lstStyle/>
                        <a:p>
                          <a:pPr algn="ctr" fontAlgn="t"/>
                          <a:r>
                            <a:rPr lang="en-US">
                              <a:effectLst/>
                              <a:latin typeface="Arial" panose="020B0604020202020204" pitchFamily="34" charset="0"/>
                              <a:cs typeface="Arial" panose="020B0604020202020204" pitchFamily="34" charset="0"/>
                            </a:rPr>
                            <a:t>75</a:t>
                          </a:r>
                        </a:p>
                      </a:txBody>
                      <a:tcPr/>
                    </a:tc>
                    <a:tc>
                      <a:txBody>
                        <a:bodyPr/>
                        <a:lstStyle/>
                        <a:p>
                          <a:pPr algn="ctr" fontAlgn="t"/>
                          <a:r>
                            <a:rPr lang="en-US" dirty="0">
                              <a:effectLst/>
                              <a:latin typeface="Arial" panose="020B0604020202020204" pitchFamily="34" charset="0"/>
                              <a:cs typeface="Arial" panose="020B0604020202020204" pitchFamily="34" charset="0"/>
                            </a:rPr>
                            <a:t>208</a:t>
                          </a:r>
                        </a:p>
                      </a:txBody>
                      <a:tcPr/>
                    </a:tc>
                    <a:tc>
                      <a:txBody>
                        <a:bodyPr/>
                        <a:lstStyle/>
                        <a:p>
                          <a:pPr algn="ctr" fontAlgn="t"/>
                          <a:r>
                            <a:rPr lang="en-US" dirty="0">
                              <a:effectLst/>
                              <a:latin typeface="Arial" panose="020B0604020202020204" pitchFamily="34" charset="0"/>
                              <a:cs typeface="Arial" panose="020B0604020202020204" pitchFamily="34" charset="0"/>
                            </a:rPr>
                            <a:t>193.8</a:t>
                          </a:r>
                        </a:p>
                      </a:txBody>
                      <a:tcPr/>
                    </a:tc>
                    <a:extLst>
                      <a:ext uri="{0D108BD9-81ED-4DB2-BD59-A6C34878D82A}">
                        <a16:rowId xmlns:a16="http://schemas.microsoft.com/office/drawing/2014/main" val="641762827"/>
                      </a:ext>
                    </a:extLst>
                  </a:tr>
                </a:tbl>
              </a:graphicData>
            </a:graphic>
          </p:graphicFrame>
        </mc:Choice>
        <mc:Fallback xmlns="">
          <p:graphicFrame>
            <p:nvGraphicFramePr>
              <p:cNvPr id="4" name="Table 4">
                <a:extLst>
                  <a:ext uri="{FF2B5EF4-FFF2-40B4-BE49-F238E27FC236}">
                    <a16:creationId xmlns:a16="http://schemas.microsoft.com/office/drawing/2014/main" id="{7658F4C8-9F1A-D221-7E50-148AB9205925}"/>
                  </a:ext>
                </a:extLst>
              </p:cNvPr>
              <p:cNvGraphicFramePr>
                <a:graphicFrameLocks noGrp="1"/>
              </p:cNvGraphicFramePr>
              <p:nvPr>
                <p:ph idx="1"/>
                <p:extLst>
                  <p:ext uri="{D42A27DB-BD31-4B8C-83A1-F6EECF244321}">
                    <p14:modId xmlns:p14="http://schemas.microsoft.com/office/powerpoint/2010/main" val="2826458565"/>
                  </p:ext>
                </p:extLst>
              </p:nvPr>
            </p:nvGraphicFramePr>
            <p:xfrm>
              <a:off x="552450" y="1986070"/>
              <a:ext cx="3307466" cy="4079240"/>
            </p:xfrm>
            <a:graphic>
              <a:graphicData uri="http://schemas.openxmlformats.org/drawingml/2006/table">
                <a:tbl>
                  <a:tblPr firstRow="1" bandRow="1">
                    <a:tableStyleId>{5C22544A-7EE6-4342-B048-85BDC9FD1C3A}</a:tableStyleId>
                  </a:tblPr>
                  <a:tblGrid>
                    <a:gridCol w="946230">
                      <a:extLst>
                        <a:ext uri="{9D8B030D-6E8A-4147-A177-3AD203B41FA5}">
                          <a16:colId xmlns:a16="http://schemas.microsoft.com/office/drawing/2014/main" val="2337070626"/>
                        </a:ext>
                      </a:extLst>
                    </a:gridCol>
                    <a:gridCol w="844952">
                      <a:extLst>
                        <a:ext uri="{9D8B030D-6E8A-4147-A177-3AD203B41FA5}">
                          <a16:colId xmlns:a16="http://schemas.microsoft.com/office/drawing/2014/main" val="1000169567"/>
                        </a:ext>
                      </a:extLst>
                    </a:gridCol>
                    <a:gridCol w="601884">
                      <a:extLst>
                        <a:ext uri="{9D8B030D-6E8A-4147-A177-3AD203B41FA5}">
                          <a16:colId xmlns:a16="http://schemas.microsoft.com/office/drawing/2014/main" val="3906104682"/>
                        </a:ext>
                      </a:extLst>
                    </a:gridCol>
                    <a:gridCol w="914400">
                      <a:extLst>
                        <a:ext uri="{9D8B030D-6E8A-4147-A177-3AD203B41FA5}">
                          <a16:colId xmlns:a16="http://schemas.microsoft.com/office/drawing/2014/main" val="1131818146"/>
                        </a:ext>
                      </a:extLst>
                    </a:gridCol>
                  </a:tblGrid>
                  <a:tr h="370840">
                    <a:tc>
                      <a:txBody>
                        <a:bodyPr/>
                        <a:lstStyle/>
                        <a:p>
                          <a:pPr algn="ctr"/>
                          <a:r>
                            <a:rPr lang="en-US" dirty="0" err="1"/>
                            <a:t>i</a:t>
                          </a:r>
                          <a:endParaRPr lang="en-US" dirty="0"/>
                        </a:p>
                      </a:txBody>
                      <a:tcPr/>
                    </a:tc>
                    <a:tc>
                      <a:txBody>
                        <a:bodyPr/>
                        <a:lstStyle/>
                        <a:p>
                          <a:endParaRPr lang="en-US"/>
                        </a:p>
                      </a:txBody>
                      <a:tcPr>
                        <a:blipFill>
                          <a:blip r:embed="rId2"/>
                          <a:stretch>
                            <a:fillRect l="-112950" t="-8197" r="-182014" b="-1024590"/>
                          </a:stretch>
                        </a:blipFill>
                      </a:tcPr>
                    </a:tc>
                    <a:tc>
                      <a:txBody>
                        <a:bodyPr/>
                        <a:lstStyle/>
                        <a:p>
                          <a:endParaRPr lang="en-US"/>
                        </a:p>
                      </a:txBody>
                      <a:tcPr>
                        <a:blipFill>
                          <a:blip r:embed="rId2"/>
                          <a:stretch>
                            <a:fillRect l="-298990" t="-8197" r="-155556" b="-1024590"/>
                          </a:stretch>
                        </a:blipFill>
                      </a:tcPr>
                    </a:tc>
                    <a:tc>
                      <a:txBody>
                        <a:bodyPr/>
                        <a:lstStyle/>
                        <a:p>
                          <a:endParaRPr lang="en-US"/>
                        </a:p>
                      </a:txBody>
                      <a:tcPr>
                        <a:blipFill>
                          <a:blip r:embed="rId2"/>
                          <a:stretch>
                            <a:fillRect l="-263333" t="-8197" r="-2667" b="-1024590"/>
                          </a:stretch>
                        </a:blipFill>
                      </a:tcPr>
                    </a:tc>
                    <a:extLst>
                      <a:ext uri="{0D108BD9-81ED-4DB2-BD59-A6C34878D82A}">
                        <a16:rowId xmlns:a16="http://schemas.microsoft.com/office/drawing/2014/main" val="841500957"/>
                      </a:ext>
                    </a:extLst>
                  </a:tr>
                  <a:tr h="370840">
                    <a:tc>
                      <a:txBody>
                        <a:bodyPr/>
                        <a:lstStyle/>
                        <a:p>
                          <a:pPr algn="ctr" fontAlgn="t"/>
                          <a:r>
                            <a:rPr lang="en-US" dirty="0">
                              <a:effectLst/>
                              <a:latin typeface="Arial" panose="020B0604020202020204" pitchFamily="34" charset="0"/>
                              <a:cs typeface="Arial" panose="020B0604020202020204" pitchFamily="34" charset="0"/>
                            </a:rPr>
                            <a:t>1</a:t>
                          </a:r>
                        </a:p>
                      </a:txBody>
                      <a:tcPr/>
                    </a:tc>
                    <a:tc>
                      <a:txBody>
                        <a:bodyPr/>
                        <a:lstStyle/>
                        <a:p>
                          <a:pPr algn="ctr" fontAlgn="t"/>
                          <a:r>
                            <a:rPr lang="en-US" dirty="0">
                              <a:effectLst/>
                              <a:latin typeface="Arial" panose="020B0604020202020204" pitchFamily="34" charset="0"/>
                              <a:cs typeface="Arial" panose="020B0604020202020204" pitchFamily="34" charset="0"/>
                            </a:rPr>
                            <a:t>63</a:t>
                          </a:r>
                        </a:p>
                      </a:txBody>
                      <a:tcPr/>
                    </a:tc>
                    <a:tc>
                      <a:txBody>
                        <a:bodyPr/>
                        <a:lstStyle/>
                        <a:p>
                          <a:pPr algn="ctr" fontAlgn="t"/>
                          <a:r>
                            <a:rPr lang="en-US" dirty="0">
                              <a:effectLst/>
                              <a:latin typeface="Arial" panose="020B0604020202020204" pitchFamily="34" charset="0"/>
                              <a:cs typeface="Arial" panose="020B0604020202020204" pitchFamily="34" charset="0"/>
                            </a:rPr>
                            <a:t>127</a:t>
                          </a:r>
                        </a:p>
                      </a:txBody>
                      <a:tcPr/>
                    </a:tc>
                    <a:tc>
                      <a:txBody>
                        <a:bodyPr/>
                        <a:lstStyle/>
                        <a:p>
                          <a:pPr algn="ctr" fontAlgn="t"/>
                          <a:r>
                            <a:rPr lang="en-US" dirty="0">
                              <a:effectLst/>
                              <a:latin typeface="Arial" panose="020B0604020202020204" pitchFamily="34" charset="0"/>
                              <a:cs typeface="Arial" panose="020B0604020202020204" pitchFamily="34" charset="0"/>
                            </a:rPr>
                            <a:t>120.1</a:t>
                          </a:r>
                        </a:p>
                      </a:txBody>
                      <a:tcPr/>
                    </a:tc>
                    <a:extLst>
                      <a:ext uri="{0D108BD9-81ED-4DB2-BD59-A6C34878D82A}">
                        <a16:rowId xmlns:a16="http://schemas.microsoft.com/office/drawing/2014/main" val="1829978196"/>
                      </a:ext>
                    </a:extLst>
                  </a:tr>
                  <a:tr h="370840">
                    <a:tc>
                      <a:txBody>
                        <a:bodyPr/>
                        <a:lstStyle/>
                        <a:p>
                          <a:pPr algn="ctr" fontAlgn="t"/>
                          <a:r>
                            <a:rPr lang="en-US" dirty="0">
                              <a:effectLst/>
                              <a:latin typeface="Arial" panose="020B0604020202020204" pitchFamily="34" charset="0"/>
                              <a:cs typeface="Arial" panose="020B0604020202020204" pitchFamily="34" charset="0"/>
                            </a:rPr>
                            <a:t>2</a:t>
                          </a:r>
                        </a:p>
                      </a:txBody>
                      <a:tcPr/>
                    </a:tc>
                    <a:tc>
                      <a:txBody>
                        <a:bodyPr/>
                        <a:lstStyle/>
                        <a:p>
                          <a:pPr algn="ctr" fontAlgn="t"/>
                          <a:r>
                            <a:rPr lang="en-US" dirty="0">
                              <a:effectLst/>
                              <a:latin typeface="Arial" panose="020B0604020202020204" pitchFamily="34" charset="0"/>
                              <a:cs typeface="Arial" panose="020B0604020202020204" pitchFamily="34" charset="0"/>
                            </a:rPr>
                            <a:t>64</a:t>
                          </a:r>
                        </a:p>
                      </a:txBody>
                      <a:tcPr/>
                    </a:tc>
                    <a:tc>
                      <a:txBody>
                        <a:bodyPr/>
                        <a:lstStyle/>
                        <a:p>
                          <a:pPr algn="ctr" fontAlgn="t"/>
                          <a:r>
                            <a:rPr lang="en-US" dirty="0">
                              <a:effectLst/>
                              <a:latin typeface="Arial" panose="020B0604020202020204" pitchFamily="34" charset="0"/>
                              <a:cs typeface="Arial" panose="020B0604020202020204" pitchFamily="34" charset="0"/>
                            </a:rPr>
                            <a:t>121</a:t>
                          </a:r>
                        </a:p>
                      </a:txBody>
                      <a:tcPr/>
                    </a:tc>
                    <a:tc>
                      <a:txBody>
                        <a:bodyPr/>
                        <a:lstStyle/>
                        <a:p>
                          <a:pPr algn="ctr" fontAlgn="t"/>
                          <a:r>
                            <a:rPr lang="en-US" dirty="0">
                              <a:effectLst/>
                              <a:latin typeface="Arial" panose="020B0604020202020204" pitchFamily="34" charset="0"/>
                              <a:cs typeface="Arial" panose="020B0604020202020204" pitchFamily="34" charset="0"/>
                            </a:rPr>
                            <a:t>126.3</a:t>
                          </a:r>
                        </a:p>
                      </a:txBody>
                      <a:tcPr/>
                    </a:tc>
                    <a:extLst>
                      <a:ext uri="{0D108BD9-81ED-4DB2-BD59-A6C34878D82A}">
                        <a16:rowId xmlns:a16="http://schemas.microsoft.com/office/drawing/2014/main" val="65995249"/>
                      </a:ext>
                    </a:extLst>
                  </a:tr>
                  <a:tr h="370840">
                    <a:tc>
                      <a:txBody>
                        <a:bodyPr/>
                        <a:lstStyle/>
                        <a:p>
                          <a:pPr algn="ctr" fontAlgn="t"/>
                          <a:r>
                            <a:rPr lang="en-US">
                              <a:effectLst/>
                              <a:latin typeface="Arial" panose="020B0604020202020204" pitchFamily="34" charset="0"/>
                              <a:cs typeface="Arial" panose="020B0604020202020204" pitchFamily="34" charset="0"/>
                            </a:rPr>
                            <a:t>3</a:t>
                          </a:r>
                        </a:p>
                      </a:txBody>
                      <a:tcPr/>
                    </a:tc>
                    <a:tc>
                      <a:txBody>
                        <a:bodyPr/>
                        <a:lstStyle/>
                        <a:p>
                          <a:pPr algn="ctr" fontAlgn="t"/>
                          <a:r>
                            <a:rPr lang="en-US" dirty="0">
                              <a:effectLst/>
                              <a:latin typeface="Arial" panose="020B0604020202020204" pitchFamily="34" charset="0"/>
                              <a:cs typeface="Arial" panose="020B0604020202020204" pitchFamily="34" charset="0"/>
                            </a:rPr>
                            <a:t>66</a:t>
                          </a:r>
                        </a:p>
                      </a:txBody>
                      <a:tcPr/>
                    </a:tc>
                    <a:tc>
                      <a:txBody>
                        <a:bodyPr/>
                        <a:lstStyle/>
                        <a:p>
                          <a:pPr algn="ctr" fontAlgn="t"/>
                          <a:r>
                            <a:rPr lang="en-US" dirty="0">
                              <a:effectLst/>
                              <a:latin typeface="Arial" panose="020B0604020202020204" pitchFamily="34" charset="0"/>
                              <a:cs typeface="Arial" panose="020B0604020202020204" pitchFamily="34" charset="0"/>
                            </a:rPr>
                            <a:t>142</a:t>
                          </a:r>
                        </a:p>
                      </a:txBody>
                      <a:tcPr/>
                    </a:tc>
                    <a:tc>
                      <a:txBody>
                        <a:bodyPr/>
                        <a:lstStyle/>
                        <a:p>
                          <a:pPr algn="ctr" fontAlgn="t"/>
                          <a:r>
                            <a:rPr lang="en-US" dirty="0">
                              <a:effectLst/>
                              <a:latin typeface="Arial" panose="020B0604020202020204" pitchFamily="34" charset="0"/>
                              <a:cs typeface="Arial" panose="020B0604020202020204" pitchFamily="34" charset="0"/>
                            </a:rPr>
                            <a:t>138.5</a:t>
                          </a:r>
                        </a:p>
                      </a:txBody>
                      <a:tcPr/>
                    </a:tc>
                    <a:extLst>
                      <a:ext uri="{0D108BD9-81ED-4DB2-BD59-A6C34878D82A}">
                        <a16:rowId xmlns:a16="http://schemas.microsoft.com/office/drawing/2014/main" val="777660031"/>
                      </a:ext>
                    </a:extLst>
                  </a:tr>
                  <a:tr h="370840">
                    <a:tc>
                      <a:txBody>
                        <a:bodyPr/>
                        <a:lstStyle/>
                        <a:p>
                          <a:pPr algn="ctr" fontAlgn="t"/>
                          <a:r>
                            <a:rPr lang="en-US">
                              <a:effectLst/>
                              <a:latin typeface="Arial" panose="020B0604020202020204" pitchFamily="34" charset="0"/>
                              <a:cs typeface="Arial" panose="020B0604020202020204" pitchFamily="34" charset="0"/>
                            </a:rPr>
                            <a:t>4</a:t>
                          </a:r>
                        </a:p>
                      </a:txBody>
                      <a:tcPr/>
                    </a:tc>
                    <a:tc>
                      <a:txBody>
                        <a:bodyPr/>
                        <a:lstStyle/>
                        <a:p>
                          <a:pPr algn="ctr" fontAlgn="t"/>
                          <a:r>
                            <a:rPr lang="en-US">
                              <a:effectLst/>
                              <a:latin typeface="Arial" panose="020B0604020202020204" pitchFamily="34" charset="0"/>
                              <a:cs typeface="Arial" panose="020B0604020202020204" pitchFamily="34" charset="0"/>
                            </a:rPr>
                            <a:t>69</a:t>
                          </a:r>
                        </a:p>
                      </a:txBody>
                      <a:tcPr/>
                    </a:tc>
                    <a:tc>
                      <a:txBody>
                        <a:bodyPr/>
                        <a:lstStyle/>
                        <a:p>
                          <a:pPr algn="ctr" fontAlgn="t"/>
                          <a:r>
                            <a:rPr lang="en-US" dirty="0">
                              <a:effectLst/>
                              <a:latin typeface="Arial" panose="020B0604020202020204" pitchFamily="34" charset="0"/>
                              <a:cs typeface="Arial" panose="020B0604020202020204" pitchFamily="34" charset="0"/>
                            </a:rPr>
                            <a:t>157</a:t>
                          </a:r>
                        </a:p>
                      </a:txBody>
                      <a:tcPr/>
                    </a:tc>
                    <a:tc>
                      <a:txBody>
                        <a:bodyPr/>
                        <a:lstStyle/>
                        <a:p>
                          <a:pPr algn="ctr" fontAlgn="t"/>
                          <a:r>
                            <a:rPr lang="en-US" dirty="0">
                              <a:effectLst/>
                              <a:latin typeface="Arial" panose="020B0604020202020204" pitchFamily="34" charset="0"/>
                              <a:cs typeface="Arial" panose="020B0604020202020204" pitchFamily="34" charset="0"/>
                            </a:rPr>
                            <a:t>157.0</a:t>
                          </a:r>
                        </a:p>
                      </a:txBody>
                      <a:tcPr/>
                    </a:tc>
                    <a:extLst>
                      <a:ext uri="{0D108BD9-81ED-4DB2-BD59-A6C34878D82A}">
                        <a16:rowId xmlns:a16="http://schemas.microsoft.com/office/drawing/2014/main" val="3802541046"/>
                      </a:ext>
                    </a:extLst>
                  </a:tr>
                  <a:tr h="370840">
                    <a:tc>
                      <a:txBody>
                        <a:bodyPr/>
                        <a:lstStyle/>
                        <a:p>
                          <a:pPr algn="ctr" fontAlgn="t"/>
                          <a:r>
                            <a:rPr lang="en-US" dirty="0">
                              <a:solidFill>
                                <a:schemeClr val="bg1"/>
                              </a:solidFill>
                              <a:effectLst/>
                              <a:latin typeface="Arial" panose="020B0604020202020204" pitchFamily="34" charset="0"/>
                              <a:cs typeface="Arial" panose="020B0604020202020204" pitchFamily="34" charset="0"/>
                            </a:rPr>
                            <a:t>5</a:t>
                          </a:r>
                        </a:p>
                      </a:txBody>
                      <a:tcPr>
                        <a:solidFill>
                          <a:srgbClr val="FF0000">
                            <a:alpha val="62000"/>
                          </a:srgbClr>
                        </a:solidFill>
                      </a:tcPr>
                    </a:tc>
                    <a:tc>
                      <a:txBody>
                        <a:bodyPr/>
                        <a:lstStyle/>
                        <a:p>
                          <a:pPr algn="ctr" fontAlgn="t"/>
                          <a:r>
                            <a:rPr lang="en-US" dirty="0">
                              <a:solidFill>
                                <a:schemeClr val="bg1"/>
                              </a:solidFill>
                              <a:effectLst/>
                              <a:latin typeface="Arial" panose="020B0604020202020204" pitchFamily="34" charset="0"/>
                              <a:cs typeface="Arial" panose="020B0604020202020204" pitchFamily="34" charset="0"/>
                            </a:rPr>
                            <a:t>69</a:t>
                          </a:r>
                        </a:p>
                      </a:txBody>
                      <a:tcPr>
                        <a:solidFill>
                          <a:srgbClr val="FF0000">
                            <a:alpha val="62000"/>
                          </a:srgbClr>
                        </a:solidFill>
                      </a:tcPr>
                    </a:tc>
                    <a:tc>
                      <a:txBody>
                        <a:bodyPr/>
                        <a:lstStyle/>
                        <a:p>
                          <a:pPr algn="ctr" fontAlgn="t"/>
                          <a:r>
                            <a:rPr lang="en-US" dirty="0">
                              <a:solidFill>
                                <a:schemeClr val="bg1"/>
                              </a:solidFill>
                              <a:effectLst/>
                              <a:latin typeface="Arial" panose="020B0604020202020204" pitchFamily="34" charset="0"/>
                              <a:cs typeface="Arial" panose="020B0604020202020204" pitchFamily="34" charset="0"/>
                            </a:rPr>
                            <a:t>162</a:t>
                          </a:r>
                        </a:p>
                      </a:txBody>
                      <a:tcPr>
                        <a:solidFill>
                          <a:srgbClr val="FF0000">
                            <a:alpha val="62000"/>
                          </a:srgbClr>
                        </a:solidFill>
                      </a:tcPr>
                    </a:tc>
                    <a:tc>
                      <a:txBody>
                        <a:bodyPr/>
                        <a:lstStyle/>
                        <a:p>
                          <a:pPr algn="ctr" fontAlgn="t"/>
                          <a:r>
                            <a:rPr lang="en-US" dirty="0">
                              <a:solidFill>
                                <a:schemeClr val="bg1"/>
                              </a:solidFill>
                              <a:effectLst/>
                              <a:latin typeface="Arial" panose="020B0604020202020204" pitchFamily="34" charset="0"/>
                              <a:cs typeface="Arial" panose="020B0604020202020204" pitchFamily="34" charset="0"/>
                            </a:rPr>
                            <a:t>157.0</a:t>
                          </a:r>
                        </a:p>
                      </a:txBody>
                      <a:tcPr>
                        <a:solidFill>
                          <a:srgbClr val="FF0000">
                            <a:alpha val="62000"/>
                          </a:srgbClr>
                        </a:solidFill>
                      </a:tcPr>
                    </a:tc>
                    <a:extLst>
                      <a:ext uri="{0D108BD9-81ED-4DB2-BD59-A6C34878D82A}">
                        <a16:rowId xmlns:a16="http://schemas.microsoft.com/office/drawing/2014/main" val="2138734268"/>
                      </a:ext>
                    </a:extLst>
                  </a:tr>
                  <a:tr h="370840">
                    <a:tc>
                      <a:txBody>
                        <a:bodyPr/>
                        <a:lstStyle/>
                        <a:p>
                          <a:pPr algn="ctr" fontAlgn="t"/>
                          <a:r>
                            <a:rPr lang="en-US">
                              <a:effectLst/>
                              <a:latin typeface="Arial" panose="020B0604020202020204" pitchFamily="34" charset="0"/>
                              <a:cs typeface="Arial" panose="020B0604020202020204" pitchFamily="34" charset="0"/>
                            </a:rPr>
                            <a:t>6</a:t>
                          </a:r>
                        </a:p>
                      </a:txBody>
                      <a:tcPr/>
                    </a:tc>
                    <a:tc>
                      <a:txBody>
                        <a:bodyPr/>
                        <a:lstStyle/>
                        <a:p>
                          <a:pPr algn="ctr" fontAlgn="t"/>
                          <a:r>
                            <a:rPr lang="en-US">
                              <a:effectLst/>
                              <a:latin typeface="Arial" panose="020B0604020202020204" pitchFamily="34" charset="0"/>
                              <a:cs typeface="Arial" panose="020B0604020202020204" pitchFamily="34" charset="0"/>
                            </a:rPr>
                            <a:t>71</a:t>
                          </a:r>
                        </a:p>
                      </a:txBody>
                      <a:tcPr/>
                    </a:tc>
                    <a:tc>
                      <a:txBody>
                        <a:bodyPr/>
                        <a:lstStyle/>
                        <a:p>
                          <a:pPr algn="ctr" fontAlgn="t"/>
                          <a:r>
                            <a:rPr lang="en-US" dirty="0">
                              <a:effectLst/>
                              <a:latin typeface="Arial" panose="020B0604020202020204" pitchFamily="34" charset="0"/>
                              <a:cs typeface="Arial" panose="020B0604020202020204" pitchFamily="34" charset="0"/>
                            </a:rPr>
                            <a:t>156</a:t>
                          </a:r>
                        </a:p>
                      </a:txBody>
                      <a:tcPr/>
                    </a:tc>
                    <a:tc>
                      <a:txBody>
                        <a:bodyPr/>
                        <a:lstStyle/>
                        <a:p>
                          <a:pPr algn="ctr" fontAlgn="t"/>
                          <a:r>
                            <a:rPr lang="en-US" dirty="0">
                              <a:effectLst/>
                              <a:latin typeface="Arial" panose="020B0604020202020204" pitchFamily="34" charset="0"/>
                              <a:cs typeface="Arial" panose="020B0604020202020204" pitchFamily="34" charset="0"/>
                            </a:rPr>
                            <a:t>169.2</a:t>
                          </a:r>
                        </a:p>
                      </a:txBody>
                      <a:tcPr/>
                    </a:tc>
                    <a:extLst>
                      <a:ext uri="{0D108BD9-81ED-4DB2-BD59-A6C34878D82A}">
                        <a16:rowId xmlns:a16="http://schemas.microsoft.com/office/drawing/2014/main" val="2430723952"/>
                      </a:ext>
                    </a:extLst>
                  </a:tr>
                  <a:tr h="370840">
                    <a:tc>
                      <a:txBody>
                        <a:bodyPr/>
                        <a:lstStyle/>
                        <a:p>
                          <a:pPr algn="ctr" fontAlgn="t"/>
                          <a:r>
                            <a:rPr lang="en-US">
                              <a:effectLst/>
                              <a:latin typeface="Arial" panose="020B0604020202020204" pitchFamily="34" charset="0"/>
                              <a:cs typeface="Arial" panose="020B0604020202020204" pitchFamily="34" charset="0"/>
                            </a:rPr>
                            <a:t>7</a:t>
                          </a:r>
                        </a:p>
                      </a:txBody>
                      <a:tcPr/>
                    </a:tc>
                    <a:tc>
                      <a:txBody>
                        <a:bodyPr/>
                        <a:lstStyle/>
                        <a:p>
                          <a:pPr algn="ctr" fontAlgn="t"/>
                          <a:r>
                            <a:rPr lang="en-US">
                              <a:effectLst/>
                              <a:latin typeface="Arial" panose="020B0604020202020204" pitchFamily="34" charset="0"/>
                              <a:cs typeface="Arial" panose="020B0604020202020204" pitchFamily="34" charset="0"/>
                            </a:rPr>
                            <a:t>71</a:t>
                          </a:r>
                        </a:p>
                      </a:txBody>
                      <a:tcPr/>
                    </a:tc>
                    <a:tc>
                      <a:txBody>
                        <a:bodyPr/>
                        <a:lstStyle/>
                        <a:p>
                          <a:pPr algn="ctr" fontAlgn="t"/>
                          <a:r>
                            <a:rPr lang="en-US" dirty="0">
                              <a:effectLst/>
                              <a:latin typeface="Arial" panose="020B0604020202020204" pitchFamily="34" charset="0"/>
                              <a:cs typeface="Arial" panose="020B0604020202020204" pitchFamily="34" charset="0"/>
                            </a:rPr>
                            <a:t>169</a:t>
                          </a:r>
                        </a:p>
                      </a:txBody>
                      <a:tcPr/>
                    </a:tc>
                    <a:tc>
                      <a:txBody>
                        <a:bodyPr/>
                        <a:lstStyle/>
                        <a:p>
                          <a:pPr algn="ctr" fontAlgn="t"/>
                          <a:r>
                            <a:rPr lang="en-US" dirty="0">
                              <a:effectLst/>
                              <a:latin typeface="Arial" panose="020B0604020202020204" pitchFamily="34" charset="0"/>
                              <a:cs typeface="Arial" panose="020B0604020202020204" pitchFamily="34" charset="0"/>
                            </a:rPr>
                            <a:t>169.2</a:t>
                          </a:r>
                        </a:p>
                      </a:txBody>
                      <a:tcPr/>
                    </a:tc>
                    <a:extLst>
                      <a:ext uri="{0D108BD9-81ED-4DB2-BD59-A6C34878D82A}">
                        <a16:rowId xmlns:a16="http://schemas.microsoft.com/office/drawing/2014/main" val="1302317777"/>
                      </a:ext>
                    </a:extLst>
                  </a:tr>
                  <a:tr h="370840">
                    <a:tc>
                      <a:txBody>
                        <a:bodyPr/>
                        <a:lstStyle/>
                        <a:p>
                          <a:pPr algn="ctr" fontAlgn="t"/>
                          <a:r>
                            <a:rPr lang="en-US">
                              <a:effectLst/>
                              <a:latin typeface="Arial" panose="020B0604020202020204" pitchFamily="34" charset="0"/>
                              <a:cs typeface="Arial" panose="020B0604020202020204" pitchFamily="34" charset="0"/>
                            </a:rPr>
                            <a:t>8</a:t>
                          </a:r>
                        </a:p>
                      </a:txBody>
                      <a:tcPr/>
                    </a:tc>
                    <a:tc>
                      <a:txBody>
                        <a:bodyPr/>
                        <a:lstStyle/>
                        <a:p>
                          <a:pPr algn="ctr" fontAlgn="t"/>
                          <a:r>
                            <a:rPr lang="en-US">
                              <a:effectLst/>
                              <a:latin typeface="Arial" panose="020B0604020202020204" pitchFamily="34" charset="0"/>
                              <a:cs typeface="Arial" panose="020B0604020202020204" pitchFamily="34" charset="0"/>
                            </a:rPr>
                            <a:t>72</a:t>
                          </a:r>
                        </a:p>
                      </a:txBody>
                      <a:tcPr/>
                    </a:tc>
                    <a:tc>
                      <a:txBody>
                        <a:bodyPr/>
                        <a:lstStyle/>
                        <a:p>
                          <a:pPr algn="ctr" fontAlgn="t"/>
                          <a:r>
                            <a:rPr lang="en-US" dirty="0">
                              <a:effectLst/>
                              <a:latin typeface="Arial" panose="020B0604020202020204" pitchFamily="34" charset="0"/>
                              <a:cs typeface="Arial" panose="020B0604020202020204" pitchFamily="34" charset="0"/>
                            </a:rPr>
                            <a:t>165</a:t>
                          </a:r>
                        </a:p>
                      </a:txBody>
                      <a:tcPr/>
                    </a:tc>
                    <a:tc>
                      <a:txBody>
                        <a:bodyPr/>
                        <a:lstStyle/>
                        <a:p>
                          <a:pPr algn="ctr" fontAlgn="t"/>
                          <a:r>
                            <a:rPr lang="en-US" dirty="0">
                              <a:effectLst/>
                              <a:latin typeface="Arial" panose="020B0604020202020204" pitchFamily="34" charset="0"/>
                              <a:cs typeface="Arial" panose="020B0604020202020204" pitchFamily="34" charset="0"/>
                            </a:rPr>
                            <a:t>175.4</a:t>
                          </a:r>
                        </a:p>
                      </a:txBody>
                      <a:tcPr/>
                    </a:tc>
                    <a:extLst>
                      <a:ext uri="{0D108BD9-81ED-4DB2-BD59-A6C34878D82A}">
                        <a16:rowId xmlns:a16="http://schemas.microsoft.com/office/drawing/2014/main" val="3924683112"/>
                      </a:ext>
                    </a:extLst>
                  </a:tr>
                  <a:tr h="370840">
                    <a:tc>
                      <a:txBody>
                        <a:bodyPr/>
                        <a:lstStyle/>
                        <a:p>
                          <a:pPr algn="ctr" fontAlgn="t"/>
                          <a:r>
                            <a:rPr lang="en-US">
                              <a:effectLst/>
                              <a:latin typeface="Arial" panose="020B0604020202020204" pitchFamily="34" charset="0"/>
                              <a:cs typeface="Arial" panose="020B0604020202020204" pitchFamily="34" charset="0"/>
                            </a:rPr>
                            <a:t>9</a:t>
                          </a:r>
                        </a:p>
                      </a:txBody>
                      <a:tcPr/>
                    </a:tc>
                    <a:tc>
                      <a:txBody>
                        <a:bodyPr/>
                        <a:lstStyle/>
                        <a:p>
                          <a:pPr algn="ctr" fontAlgn="t"/>
                          <a:r>
                            <a:rPr lang="en-US">
                              <a:effectLst/>
                              <a:latin typeface="Arial" panose="020B0604020202020204" pitchFamily="34" charset="0"/>
                              <a:cs typeface="Arial" panose="020B0604020202020204" pitchFamily="34" charset="0"/>
                            </a:rPr>
                            <a:t>73</a:t>
                          </a:r>
                        </a:p>
                      </a:txBody>
                      <a:tcPr/>
                    </a:tc>
                    <a:tc>
                      <a:txBody>
                        <a:bodyPr/>
                        <a:lstStyle/>
                        <a:p>
                          <a:pPr algn="ctr" fontAlgn="t"/>
                          <a:r>
                            <a:rPr lang="en-US" dirty="0">
                              <a:effectLst/>
                              <a:latin typeface="Arial" panose="020B0604020202020204" pitchFamily="34" charset="0"/>
                              <a:cs typeface="Arial" panose="020B0604020202020204" pitchFamily="34" charset="0"/>
                            </a:rPr>
                            <a:t>181</a:t>
                          </a:r>
                        </a:p>
                      </a:txBody>
                      <a:tcPr/>
                    </a:tc>
                    <a:tc>
                      <a:txBody>
                        <a:bodyPr/>
                        <a:lstStyle/>
                        <a:p>
                          <a:pPr algn="ctr" fontAlgn="t"/>
                          <a:r>
                            <a:rPr lang="en-US" dirty="0">
                              <a:effectLst/>
                              <a:latin typeface="Arial" panose="020B0604020202020204" pitchFamily="34" charset="0"/>
                              <a:cs typeface="Arial" panose="020B0604020202020204" pitchFamily="34" charset="0"/>
                            </a:rPr>
                            <a:t>181.5</a:t>
                          </a:r>
                        </a:p>
                      </a:txBody>
                      <a:tcPr/>
                    </a:tc>
                    <a:extLst>
                      <a:ext uri="{0D108BD9-81ED-4DB2-BD59-A6C34878D82A}">
                        <a16:rowId xmlns:a16="http://schemas.microsoft.com/office/drawing/2014/main" val="1089823633"/>
                      </a:ext>
                    </a:extLst>
                  </a:tr>
                  <a:tr h="370840">
                    <a:tc>
                      <a:txBody>
                        <a:bodyPr/>
                        <a:lstStyle/>
                        <a:p>
                          <a:pPr algn="ctr" fontAlgn="t"/>
                          <a:r>
                            <a:rPr lang="en-US">
                              <a:effectLst/>
                              <a:latin typeface="Arial" panose="020B0604020202020204" pitchFamily="34" charset="0"/>
                              <a:cs typeface="Arial" panose="020B0604020202020204" pitchFamily="34" charset="0"/>
                            </a:rPr>
                            <a:t>10</a:t>
                          </a:r>
                        </a:p>
                      </a:txBody>
                      <a:tcPr/>
                    </a:tc>
                    <a:tc>
                      <a:txBody>
                        <a:bodyPr/>
                        <a:lstStyle/>
                        <a:p>
                          <a:pPr algn="ctr" fontAlgn="t"/>
                          <a:r>
                            <a:rPr lang="en-US">
                              <a:effectLst/>
                              <a:latin typeface="Arial" panose="020B0604020202020204" pitchFamily="34" charset="0"/>
                              <a:cs typeface="Arial" panose="020B0604020202020204" pitchFamily="34" charset="0"/>
                            </a:rPr>
                            <a:t>75</a:t>
                          </a:r>
                        </a:p>
                      </a:txBody>
                      <a:tcPr/>
                    </a:tc>
                    <a:tc>
                      <a:txBody>
                        <a:bodyPr/>
                        <a:lstStyle/>
                        <a:p>
                          <a:pPr algn="ctr" fontAlgn="t"/>
                          <a:r>
                            <a:rPr lang="en-US" dirty="0">
                              <a:effectLst/>
                              <a:latin typeface="Arial" panose="020B0604020202020204" pitchFamily="34" charset="0"/>
                              <a:cs typeface="Arial" panose="020B0604020202020204" pitchFamily="34" charset="0"/>
                            </a:rPr>
                            <a:t>208</a:t>
                          </a:r>
                        </a:p>
                      </a:txBody>
                      <a:tcPr/>
                    </a:tc>
                    <a:tc>
                      <a:txBody>
                        <a:bodyPr/>
                        <a:lstStyle/>
                        <a:p>
                          <a:pPr algn="ctr" fontAlgn="t"/>
                          <a:r>
                            <a:rPr lang="en-US" dirty="0">
                              <a:effectLst/>
                              <a:latin typeface="Arial" panose="020B0604020202020204" pitchFamily="34" charset="0"/>
                              <a:cs typeface="Arial" panose="020B0604020202020204" pitchFamily="34" charset="0"/>
                            </a:rPr>
                            <a:t>193.8</a:t>
                          </a:r>
                        </a:p>
                      </a:txBody>
                      <a:tcPr/>
                    </a:tc>
                    <a:extLst>
                      <a:ext uri="{0D108BD9-81ED-4DB2-BD59-A6C34878D82A}">
                        <a16:rowId xmlns:a16="http://schemas.microsoft.com/office/drawing/2014/main" val="641762827"/>
                      </a:ext>
                    </a:extLst>
                  </a:tr>
                </a:tbl>
              </a:graphicData>
            </a:graphic>
          </p:graphicFrame>
        </mc:Fallback>
      </mc:AlternateContent>
      <p:pic>
        <p:nvPicPr>
          <p:cNvPr id="12" name="Picture 11">
            <a:extLst>
              <a:ext uri="{FF2B5EF4-FFF2-40B4-BE49-F238E27FC236}">
                <a16:creationId xmlns:a16="http://schemas.microsoft.com/office/drawing/2014/main" id="{85D40F79-AD4E-2D3A-3BF6-2EBF8637165F}"/>
              </a:ext>
            </a:extLst>
          </p:cNvPr>
          <p:cNvPicPr>
            <a:picLocks noChangeAspect="1"/>
          </p:cNvPicPr>
          <p:nvPr/>
        </p:nvPicPr>
        <p:blipFill>
          <a:blip r:embed="rId3"/>
          <a:stretch>
            <a:fillRect/>
          </a:stretch>
        </p:blipFill>
        <p:spPr>
          <a:xfrm>
            <a:off x="4230265" y="2210742"/>
            <a:ext cx="7275935" cy="3771748"/>
          </a:xfrm>
          <a:prstGeom prst="rect">
            <a:avLst/>
          </a:prstGeom>
        </p:spPr>
      </p:pic>
      <p:sp>
        <p:nvSpPr>
          <p:cNvPr id="13" name="TextBox 12">
            <a:extLst>
              <a:ext uri="{FF2B5EF4-FFF2-40B4-BE49-F238E27FC236}">
                <a16:creationId xmlns:a16="http://schemas.microsoft.com/office/drawing/2014/main" id="{63CF5AB8-7008-C3BB-DFA6-AA911A0BCA9C}"/>
              </a:ext>
            </a:extLst>
          </p:cNvPr>
          <p:cNvSpPr txBox="1"/>
          <p:nvPr/>
        </p:nvSpPr>
        <p:spPr>
          <a:xfrm>
            <a:off x="685800" y="6305470"/>
            <a:ext cx="103156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Note</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begin to practice visualizing data, you should be able to make this chart in excel,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jasp</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or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spss</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683DFC3-0E44-5A23-0CEB-32C63CFFF538}"/>
              </a:ext>
            </a:extLst>
          </p:cNvPr>
          <p:cNvSpPr txBox="1"/>
          <p:nvPr/>
        </p:nvSpPr>
        <p:spPr>
          <a:xfrm>
            <a:off x="409832" y="1339739"/>
            <a:ext cx="1151469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If we did know the value for observation 5 the equation line would predict it to be 157. The actual value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observation 5 is 162, hence the prediction error is 162 – 157 = 5. </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What is the general equation for the error?</a:t>
            </a:r>
          </a:p>
        </p:txBody>
      </p:sp>
    </p:spTree>
    <p:extLst>
      <p:ext uri="{BB962C8B-B14F-4D97-AF65-F5344CB8AC3E}">
        <p14:creationId xmlns:p14="http://schemas.microsoft.com/office/powerpoint/2010/main" val="1719825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a:xfrm>
            <a:off x="92184" y="136526"/>
            <a:ext cx="10515600" cy="633496"/>
          </a:xfrm>
        </p:spPr>
        <p:txBody>
          <a:bodyPr>
            <a:normAutofit/>
          </a:bodyPr>
          <a:lstStyle/>
          <a:p>
            <a:pPr eaLnBrk="1" hangingPunct="1"/>
            <a:r>
              <a:rPr lang="en-US" sz="3600" dirty="0">
                <a:latin typeface="Arial" panose="020B0604020202020204" pitchFamily="34" charset="0"/>
                <a:cs typeface="Arial" panose="020B0604020202020204" pitchFamily="34" charset="0"/>
              </a:rPr>
              <a:t>Residuals of Linear Model</a:t>
            </a:r>
          </a:p>
        </p:txBody>
      </p:sp>
      <mc:AlternateContent xmlns:mc="http://schemas.openxmlformats.org/markup-compatibility/2006" xmlns:a14="http://schemas.microsoft.com/office/drawing/2010/main">
        <mc:Choice Requires="a14">
          <p:sp>
            <p:nvSpPr>
              <p:cNvPr id="32770" name="Rectangle 3"/>
              <p:cNvSpPr>
                <a:spLocks noGrp="1" noChangeArrowheads="1"/>
              </p:cNvSpPr>
              <p:nvPr>
                <p:ph type="body" idx="4294967295"/>
              </p:nvPr>
            </p:nvSpPr>
            <p:spPr>
              <a:xfrm>
                <a:off x="299185" y="770022"/>
                <a:ext cx="11443635" cy="4794983"/>
              </a:xfrm>
            </p:spPr>
            <p:txBody>
              <a:bodyPr>
                <a:noAutofit/>
              </a:bodyPr>
              <a:lstStyle/>
              <a:p>
                <a:pPr>
                  <a:lnSpc>
                    <a:spcPct val="110000"/>
                  </a:lnSpc>
                </a:pPr>
                <a:r>
                  <a:rPr lang="en-US" sz="2400" dirty="0">
                    <a:latin typeface="Arial" panose="020B0604020202020204" pitchFamily="34" charset="0"/>
                    <a:cs typeface="Arial" panose="020B0604020202020204" pitchFamily="34" charset="0"/>
                  </a:rPr>
                  <a:t>A residual (AKA prediction error) is the difference between the </a:t>
                </a:r>
                <a:r>
                  <a:rPr lang="en-US" sz="2400" u="sng" dirty="0">
                    <a:latin typeface="Arial" panose="020B0604020202020204" pitchFamily="34" charset="0"/>
                    <a:cs typeface="Arial" panose="020B0604020202020204" pitchFamily="34" charset="0"/>
                  </a:rPr>
                  <a:t>observed value</a:t>
                </a:r>
                <a:r>
                  <a:rPr lang="en-US" sz="2400" dirty="0">
                    <a:latin typeface="Arial" panose="020B0604020202020204" pitchFamily="34" charset="0"/>
                    <a:cs typeface="Arial" panose="020B0604020202020204" pitchFamily="34" charset="0"/>
                  </a:rPr>
                  <a:t> </a:t>
                </a:r>
                <a14:m>
                  <m:oMath xmlns:m="http://schemas.openxmlformats.org/officeDocument/2006/math">
                    <m:r>
                      <a:rPr lang="en-US" sz="2400" b="0" i="0" dirty="0" smtClean="0">
                        <a:latin typeface="Cambria Math" panose="02040503050406030204" pitchFamily="18" charset="0"/>
                      </a:rPr>
                      <m:t>(</m:t>
                    </m:r>
                    <m:r>
                      <a:rPr lang="en-US" sz="2400" b="0" i="1" dirty="0" smtClean="0">
                        <a:latin typeface="Cambria Math" panose="02040503050406030204" pitchFamily="18" charset="0"/>
                      </a:rPr>
                      <m:t>𝑦</m:t>
                    </m:r>
                    <m:r>
                      <a:rPr lang="en-US" sz="2400" b="0" i="1" dirty="0" smtClean="0">
                        <a:latin typeface="Cambria Math" panose="02040503050406030204" pitchFamily="18" charset="0"/>
                      </a:rPr>
                      <m:t>)</m:t>
                    </m:r>
                  </m:oMath>
                </a14:m>
                <a:r>
                  <a:rPr lang="en-US" sz="2400" dirty="0">
                    <a:latin typeface="Arial" panose="020B0604020202020204" pitchFamily="34" charset="0"/>
                    <a:cs typeface="Arial" panose="020B0604020202020204" pitchFamily="34" charset="0"/>
                  </a:rPr>
                  <a:t> and the </a:t>
                </a:r>
                <a:r>
                  <a:rPr lang="en-US" sz="2400" u="sng" dirty="0">
                    <a:latin typeface="Arial" panose="020B0604020202020204" pitchFamily="34" charset="0"/>
                    <a:cs typeface="Arial" panose="020B0604020202020204" pitchFamily="34" charset="0"/>
                  </a:rPr>
                  <a:t>predicted value</a:t>
                </a:r>
                <a:r>
                  <a:rPr lang="en-US" sz="2400" dirty="0">
                    <a:latin typeface="Arial" panose="020B0604020202020204" pitchFamily="34" charset="0"/>
                    <a:cs typeface="Arial" panose="020B0604020202020204" pitchFamily="34" charset="0"/>
                  </a:rPr>
                  <a:t> </a:t>
                </a:r>
                <a14:m>
                  <m:oMath xmlns:m="http://schemas.openxmlformats.org/officeDocument/2006/math">
                    <m:r>
                      <a:rPr lang="en-US" sz="2400" b="0" i="0" smtClean="0">
                        <a:latin typeface="Cambria Math" panose="02040503050406030204" pitchFamily="18" charset="0"/>
                      </a:rPr>
                      <m:t>(</m:t>
                    </m:r>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𝑦</m:t>
                        </m:r>
                      </m:e>
                    </m:acc>
                    <m:r>
                      <a:rPr lang="en-US" sz="2400" b="0" i="1" smtClean="0">
                        <a:latin typeface="Cambria Math" panose="02040503050406030204" pitchFamily="18" charset="0"/>
                      </a:rPr>
                      <m:t>)</m:t>
                    </m:r>
                  </m:oMath>
                </a14:m>
                <a:r>
                  <a:rPr lang="en-US" sz="2400" dirty="0">
                    <a:latin typeface="Arial" panose="020B0604020202020204" pitchFamily="34" charset="0"/>
                    <a:cs typeface="Arial" panose="020B0604020202020204" pitchFamily="34" charset="0"/>
                  </a:rPr>
                  <a:t> for each obs.  </a:t>
                </a:r>
              </a:p>
              <a:p>
                <a:pPr>
                  <a:lnSpc>
                    <a:spcPct val="110000"/>
                  </a:lnSpc>
                </a:pPr>
                <a:endParaRPr lang="en-US" sz="2400" dirty="0">
                  <a:latin typeface="Arial" panose="020B0604020202020204" pitchFamily="34" charset="0"/>
                  <a:cs typeface="Arial" panose="020B0604020202020204" pitchFamily="34" charset="0"/>
                </a:endParaRPr>
              </a:p>
              <a:p>
                <a:pPr>
                  <a:lnSpc>
                    <a:spcPct val="110000"/>
                  </a:lnSpc>
                </a:pPr>
                <a:r>
                  <a:rPr lang="en-US" sz="2400" dirty="0">
                    <a:latin typeface="Arial" panose="020B0604020202020204" pitchFamily="34" charset="0"/>
                    <a:cs typeface="Arial" panose="020B0604020202020204" pitchFamily="34" charset="0"/>
                  </a:rPr>
                  <a:t>A small residual means that the response variable is close to what it was predicted to be under the fitted regression model</a:t>
                </a:r>
              </a:p>
              <a:p>
                <a:pPr lvl="1">
                  <a:lnSpc>
                    <a:spcPct val="110000"/>
                  </a:lnSpc>
                </a:pPr>
                <a:r>
                  <a:rPr lang="en-US" sz="2000" dirty="0">
                    <a:latin typeface="Arial" panose="020B0604020202020204" pitchFamily="34" charset="0"/>
                    <a:cs typeface="Arial" panose="020B0604020202020204" pitchFamily="34" charset="0"/>
                  </a:rPr>
                  <a:t>The point on the scatterplot is close to the fitted line </a:t>
                </a:r>
              </a:p>
              <a:p>
                <a:pPr>
                  <a:lnSpc>
                    <a:spcPct val="110000"/>
                  </a:lnSpc>
                </a:pPr>
                <a:r>
                  <a:rPr lang="en-US" sz="2400" dirty="0">
                    <a:latin typeface="Arial" panose="020B0604020202020204" pitchFamily="34" charset="0"/>
                    <a:cs typeface="Arial" panose="020B0604020202020204" pitchFamily="34" charset="0"/>
                  </a:rPr>
                  <a:t>A large residual means that the response variable was unexpectedly high or low when compared to the fitted regression model</a:t>
                </a:r>
              </a:p>
              <a:p>
                <a:pPr>
                  <a:lnSpc>
                    <a:spcPct val="110000"/>
                  </a:lnSpc>
                </a:pPr>
                <a:r>
                  <a:rPr lang="en-US" sz="2400" dirty="0">
                    <a:latin typeface="Arial" panose="020B0604020202020204" pitchFamily="34" charset="0"/>
                    <a:cs typeface="Arial" panose="020B0604020202020204" pitchFamily="34" charset="0"/>
                  </a:rPr>
                  <a:t>Intuitively we would like our model to generate residuals that are as small as possible. </a:t>
                </a:r>
              </a:p>
            </p:txBody>
          </p:sp>
        </mc:Choice>
        <mc:Fallback xmlns="">
          <p:sp>
            <p:nvSpPr>
              <p:cNvPr id="32770" name="Rectangle 3"/>
              <p:cNvSpPr>
                <a:spLocks noGrp="1" noRot="1" noChangeAspect="1" noMove="1" noResize="1" noEditPoints="1" noAdjustHandles="1" noChangeArrowheads="1" noChangeShapeType="1" noTextEdit="1"/>
              </p:cNvSpPr>
              <p:nvPr>
                <p:ph type="body" idx="4294967295"/>
              </p:nvPr>
            </p:nvSpPr>
            <p:spPr>
              <a:xfrm>
                <a:off x="299185" y="770022"/>
                <a:ext cx="11443635" cy="4794983"/>
              </a:xfrm>
              <a:blipFill>
                <a:blip r:embed="rId3"/>
                <a:stretch>
                  <a:fillRect l="-693" t="-762" r="-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962" name="Object 2"/>
              <p:cNvSpPr txBox="1"/>
              <p:nvPr/>
            </p:nvSpPr>
            <p:spPr bwMode="auto">
              <a:xfrm>
                <a:off x="761502" y="1683670"/>
                <a:ext cx="2226232" cy="632897"/>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𝑒</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oMath>
                  </m:oMathPara>
                </a14:m>
                <a:endParaRPr kumimoji="0" lang="en-US" sz="1600" b="0" i="0" u="none" strike="noStrike" kern="1200" cap="none" spc="0" normalizeH="0" baseline="0" noProof="0" dirty="0">
                  <a:ln>
                    <a:noFill/>
                  </a:ln>
                  <a:solidFill>
                    <a:prstClr val="black"/>
                  </a:solidFill>
                  <a:effectLst/>
                  <a:uLnTx/>
                  <a:uFillTx/>
                  <a:latin typeface="Cambria Math"/>
                  <a:ea typeface="+mn-ea"/>
                  <a:cs typeface="+mn-cs"/>
                </a:endParaRPr>
              </a:p>
            </p:txBody>
          </p:sp>
        </mc:Choice>
        <mc:Fallback xmlns="">
          <p:sp>
            <p:nvSpPr>
              <p:cNvPr id="168962" name="Object 2"/>
              <p:cNvSpPr txBox="1">
                <a:spLocks noRot="1" noChangeAspect="1" noMove="1" noResize="1" noEditPoints="1" noAdjustHandles="1" noChangeArrowheads="1" noChangeShapeType="1" noTextEdit="1"/>
              </p:cNvSpPr>
              <p:nvPr/>
            </p:nvSpPr>
            <p:spPr bwMode="auto">
              <a:xfrm>
                <a:off x="761502" y="1683670"/>
                <a:ext cx="2226232" cy="63289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4397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F43DF5-B99B-B5AB-D6F5-AE8B751026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7C8249-50ED-9AAD-0E23-6F8A3F01BE7D}"/>
              </a:ext>
            </a:extLst>
          </p:cNvPr>
          <p:cNvSpPr txBox="1">
            <a:spLocks noGrp="1"/>
          </p:cNvSpPr>
          <p:nvPr>
            <p:ph type="title"/>
          </p:nvPr>
        </p:nvSpPr>
        <p:spPr>
          <a:xfrm>
            <a:off x="233963" y="192586"/>
            <a:ext cx="10643587" cy="588305"/>
          </a:xfrm>
          <a:prstGeom prst="rect">
            <a:avLst/>
          </a:prstGeom>
        </p:spPr>
        <p:txBody>
          <a:bodyPr vert="horz" wrap="square" lIns="0" tIns="33975" rIns="0" bIns="0" rtlCol="0">
            <a:spAutoFit/>
          </a:bodyPr>
          <a:lstStyle/>
          <a:p>
            <a:pPr marL="25168">
              <a:spcBef>
                <a:spcPts val="268"/>
              </a:spcBef>
            </a:pPr>
            <a:r>
              <a:rPr sz="3600" b="0" dirty="0">
                <a:solidFill>
                  <a:schemeClr val="tx1"/>
                </a:solidFill>
              </a:rPr>
              <a:t>An</a:t>
            </a:r>
            <a:r>
              <a:rPr sz="3600" b="0" spc="168" dirty="0">
                <a:solidFill>
                  <a:schemeClr val="tx1"/>
                </a:solidFill>
              </a:rPr>
              <a:t> </a:t>
            </a:r>
            <a:r>
              <a:rPr sz="3600" b="0" dirty="0">
                <a:solidFill>
                  <a:schemeClr val="tx1"/>
                </a:solidFill>
              </a:rPr>
              <a:t>objective</a:t>
            </a:r>
            <a:r>
              <a:rPr sz="3600" b="0" spc="178" dirty="0">
                <a:solidFill>
                  <a:schemeClr val="tx1"/>
                </a:solidFill>
              </a:rPr>
              <a:t> </a:t>
            </a:r>
            <a:r>
              <a:rPr sz="3600" b="0" dirty="0">
                <a:solidFill>
                  <a:schemeClr val="tx1"/>
                </a:solidFill>
              </a:rPr>
              <a:t>measure</a:t>
            </a:r>
            <a:r>
              <a:rPr sz="3600" b="0" spc="178" dirty="0">
                <a:solidFill>
                  <a:schemeClr val="tx1"/>
                </a:solidFill>
              </a:rPr>
              <a:t> </a:t>
            </a:r>
            <a:r>
              <a:rPr sz="3600" b="0" dirty="0">
                <a:solidFill>
                  <a:schemeClr val="tx1"/>
                </a:solidFill>
              </a:rPr>
              <a:t>for</a:t>
            </a:r>
            <a:r>
              <a:rPr sz="3600" b="0" spc="178" dirty="0">
                <a:solidFill>
                  <a:schemeClr val="tx1"/>
                </a:solidFill>
              </a:rPr>
              <a:t> </a:t>
            </a:r>
            <a:r>
              <a:rPr sz="3600" b="0" dirty="0">
                <a:solidFill>
                  <a:schemeClr val="tx1"/>
                </a:solidFill>
              </a:rPr>
              <a:t>finding</a:t>
            </a:r>
            <a:r>
              <a:rPr sz="3600" b="0" spc="178" dirty="0">
                <a:solidFill>
                  <a:schemeClr val="tx1"/>
                </a:solidFill>
              </a:rPr>
              <a:t> </a:t>
            </a:r>
            <a:r>
              <a:rPr sz="3600" b="0" dirty="0">
                <a:solidFill>
                  <a:schemeClr val="tx1"/>
                </a:solidFill>
              </a:rPr>
              <a:t>the</a:t>
            </a:r>
            <a:r>
              <a:rPr sz="3600" b="0" spc="178" dirty="0">
                <a:solidFill>
                  <a:schemeClr val="tx1"/>
                </a:solidFill>
              </a:rPr>
              <a:t> </a:t>
            </a:r>
            <a:r>
              <a:rPr sz="3600" b="0" dirty="0">
                <a:solidFill>
                  <a:schemeClr val="tx1"/>
                </a:solidFill>
              </a:rPr>
              <a:t>best</a:t>
            </a:r>
            <a:r>
              <a:rPr sz="3600" b="0" spc="178" dirty="0">
                <a:solidFill>
                  <a:schemeClr val="tx1"/>
                </a:solidFill>
              </a:rPr>
              <a:t> </a:t>
            </a:r>
            <a:r>
              <a:rPr sz="3600" b="0" spc="-40" dirty="0">
                <a:solidFill>
                  <a:schemeClr val="tx1"/>
                </a:solidFill>
              </a:rPr>
              <a:t>line</a:t>
            </a:r>
          </a:p>
        </p:txBody>
      </p:sp>
      <p:sp>
        <p:nvSpPr>
          <p:cNvPr id="4" name="object 4">
            <a:extLst>
              <a:ext uri="{FF2B5EF4-FFF2-40B4-BE49-F238E27FC236}">
                <a16:creationId xmlns:a16="http://schemas.microsoft.com/office/drawing/2014/main" id="{1ABDA82A-E0B5-17F9-9605-8CBC161A4432}"/>
              </a:ext>
            </a:extLst>
          </p:cNvPr>
          <p:cNvSpPr txBox="1"/>
          <p:nvPr/>
        </p:nvSpPr>
        <p:spPr>
          <a:xfrm>
            <a:off x="10198342" y="6342839"/>
            <a:ext cx="262995" cy="246441"/>
          </a:xfrm>
          <a:prstGeom prst="rect">
            <a:avLst/>
          </a:prstGeom>
        </p:spPr>
        <p:txBody>
          <a:bodyPr vert="horz" wrap="square" lIns="0" tIns="17617" rIns="0" bIns="0" rtlCol="0">
            <a:spAutoFit/>
          </a:bodyPr>
          <a:lstStyle/>
          <a:p>
            <a:pPr marL="25168" marR="0" lvl="0" indent="0" algn="l" defTabSz="1812066" rtl="0" eaLnBrk="1" fontAlgn="auto" latinLnBrk="0" hangingPunct="1">
              <a:lnSpc>
                <a:spcPct val="100000"/>
              </a:lnSpc>
              <a:spcBef>
                <a:spcPts val="139"/>
              </a:spcBef>
              <a:spcAft>
                <a:spcPts val="0"/>
              </a:spcAft>
              <a:buClrTx/>
              <a:buSzTx/>
              <a:buFontTx/>
              <a:buNone/>
              <a:tabLst/>
              <a:defRPr/>
            </a:pPr>
            <a:r>
              <a:rPr kumimoji="0" sz="1486" b="0" i="0" u="none" strike="noStrike" kern="0" cap="none" spc="-50" normalizeH="0" baseline="0" noProof="0" dirty="0">
                <a:ln>
                  <a:noFill/>
                </a:ln>
                <a:solidFill>
                  <a:srgbClr val="22373A"/>
                </a:solidFill>
                <a:effectLst/>
                <a:uLnTx/>
                <a:uFillTx/>
                <a:latin typeface="Arial"/>
                <a:ea typeface="+mn-ea"/>
                <a:cs typeface="Arial"/>
              </a:rPr>
              <a:t>12</a:t>
            </a:r>
            <a:endParaRPr kumimoji="0" sz="1486"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3" name="object 3">
            <a:extLst>
              <a:ext uri="{FF2B5EF4-FFF2-40B4-BE49-F238E27FC236}">
                <a16:creationId xmlns:a16="http://schemas.microsoft.com/office/drawing/2014/main" id="{7E7622D8-DAF6-DA55-2A2E-6449048871F7}"/>
              </a:ext>
            </a:extLst>
          </p:cNvPr>
          <p:cNvSpPr txBox="1"/>
          <p:nvPr/>
        </p:nvSpPr>
        <p:spPr>
          <a:xfrm>
            <a:off x="233963" y="850451"/>
            <a:ext cx="10786462" cy="4651733"/>
          </a:xfrm>
          <a:prstGeom prst="rect">
            <a:avLst/>
          </a:prstGeom>
        </p:spPr>
        <p:txBody>
          <a:bodyPr vert="horz" wrap="square" lIns="0" tIns="149743" rIns="0" bIns="0" rtlCol="0">
            <a:spAutoFit/>
          </a:bodyPr>
          <a:lstStyle/>
          <a:p>
            <a:pPr marL="420299" marR="0" lvl="0" indent="-269293" algn="l" defTabSz="1812066" rtl="0" eaLnBrk="1" fontAlgn="auto" latinLnBrk="0" hangingPunct="1">
              <a:lnSpc>
                <a:spcPct val="100000"/>
              </a:lnSpc>
              <a:spcBef>
                <a:spcPts val="1179"/>
              </a:spcBef>
              <a:spcAft>
                <a:spcPts val="0"/>
              </a:spcAft>
              <a:buClrTx/>
              <a:buSzTx/>
              <a:buFont typeface="Lucida Sans"/>
              <a:buChar char="•"/>
              <a:tabLst>
                <a:tab pos="420299" algn="l"/>
              </a:tabLst>
              <a:defRPr/>
            </a:pP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a:t>
            </a:r>
            <a:r>
              <a:rPr kumimoji="0" sz="2000" b="0" i="0" u="none" strike="noStrike" kern="0" cap="none" spc="10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want</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line</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that</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has</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small</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residuals:</a:t>
            </a:r>
            <a:endPar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968952" marR="135905" lvl="1" indent="-333471" algn="l" defTabSz="1812066" rtl="0" eaLnBrk="1" fontAlgn="auto" latinLnBrk="0" hangingPunct="1">
              <a:lnSpc>
                <a:spcPct val="120600"/>
              </a:lnSpc>
              <a:spcBef>
                <a:spcPts val="377"/>
              </a:spcBef>
              <a:spcAft>
                <a:spcPts val="0"/>
              </a:spcAft>
              <a:buClrTx/>
              <a:buSzTx/>
              <a:buFontTx/>
              <a:buAutoNum type="arabicPeriod"/>
              <a:tabLst>
                <a:tab pos="971469" algn="l"/>
              </a:tabLst>
              <a:defRPr/>
            </a:pP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Option</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sz="2000" b="0" i="0" u="none" strike="noStrike" kern="0" cap="none" spc="9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Minimize</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sum</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magnitudes</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(absolute</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values)</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5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a:t>
            </a:r>
            <a:r>
              <a:rPr kumimoji="0" lang="en-US" sz="2000" b="0" i="0" u="none" strike="noStrike" kern="0" cap="none" spc="-5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residuals</a:t>
            </a:r>
            <a:endPar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1812066" rtl="0" eaLnBrk="1" fontAlgn="auto" latinLnBrk="0" hangingPunct="1">
              <a:lnSpc>
                <a:spcPct val="100000"/>
              </a:lnSpc>
              <a:spcBef>
                <a:spcPts val="842"/>
              </a:spcBef>
              <a:spcAft>
                <a:spcPts val="0"/>
              </a:spcAft>
              <a:buClrTx/>
              <a:buSzTx/>
              <a:buFontTx/>
              <a:buNone/>
              <a:tabLst/>
              <a:defRPr/>
            </a:pPr>
            <a:endPar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968952" marR="856954" lvl="1" indent="-333471" algn="l" defTabSz="1812066" rtl="0" eaLnBrk="1" fontAlgn="auto" latinLnBrk="0" hangingPunct="1">
              <a:lnSpc>
                <a:spcPct val="120600"/>
              </a:lnSpc>
              <a:spcBef>
                <a:spcPts val="0"/>
              </a:spcBef>
              <a:spcAft>
                <a:spcPts val="0"/>
              </a:spcAft>
              <a:buClrTx/>
              <a:buSzTx/>
              <a:buFontTx/>
              <a:buAutoNum type="arabicPeriod" startAt="2"/>
              <a:tabLst>
                <a:tab pos="971469" algn="l"/>
              </a:tabLst>
              <a:defRPr/>
            </a:pP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Option</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sz="2000" b="0" i="0" u="none" strike="noStrike" kern="0" cap="none" spc="8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Minimize</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sum</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squared</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residuals</a:t>
            </a:r>
            <a:r>
              <a:rPr kumimoji="0" sz="2000" b="0" i="0" u="none" strike="noStrike" kern="0" cap="none" spc="-3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1"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least squares</a:t>
            </a:r>
            <a:endParaRPr kumimoji="0" lang="en-US" sz="2000" b="0" i="1"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635481" marR="856954" lvl="1" indent="0" algn="l" defTabSz="1812066" rtl="0" eaLnBrk="1" fontAlgn="auto" latinLnBrk="0" hangingPunct="1">
              <a:lnSpc>
                <a:spcPct val="120600"/>
              </a:lnSpc>
              <a:spcBef>
                <a:spcPts val="0"/>
              </a:spcBef>
              <a:spcAft>
                <a:spcPts val="0"/>
              </a:spcAft>
              <a:buClrTx/>
              <a:buSzTx/>
              <a:buFontTx/>
              <a:buNone/>
              <a:tabLst>
                <a:tab pos="971469" algn="l"/>
              </a:tabLst>
              <a:defRPr/>
            </a:pPr>
            <a:r>
              <a:rPr kumimoji="0" lang="en-US" sz="2000" b="0" i="1"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635481" marR="856954" lvl="1" indent="0" algn="l" defTabSz="1812066" rtl="0" eaLnBrk="1" fontAlgn="auto" latinLnBrk="0" hangingPunct="1">
              <a:lnSpc>
                <a:spcPct val="120600"/>
              </a:lnSpc>
              <a:spcBef>
                <a:spcPts val="0"/>
              </a:spcBef>
              <a:spcAft>
                <a:spcPts val="0"/>
              </a:spcAft>
              <a:buClrTx/>
              <a:buSzTx/>
              <a:buFontTx/>
              <a:buNone/>
              <a:tabLst>
                <a:tab pos="971469" algn="l"/>
              </a:tabLst>
              <a:defRPr/>
            </a:pP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Why</a:t>
            </a:r>
            <a:r>
              <a:rPr kumimoji="0" sz="2000" b="0" i="0" u="none" strike="noStrike" kern="0" cap="none" spc="11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least</a:t>
            </a:r>
            <a:r>
              <a:rPr kumimoji="0" sz="2000" b="0" i="0" u="none" strike="noStrike" kern="0" cap="none" spc="129"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squares?</a:t>
            </a:r>
            <a:endParaRPr kumimoji="0" lang="en-US" sz="2000" b="0" i="0" u="none" strike="noStrike" kern="0" cap="none" spc="-2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065406" marR="0" lvl="1" indent="-457200" algn="l" defTabSz="1812066" rtl="0" eaLnBrk="1" fontAlgn="auto" latinLnBrk="0" hangingPunct="1">
              <a:lnSpc>
                <a:spcPct val="100000"/>
              </a:lnSpc>
              <a:spcBef>
                <a:spcPts val="1100"/>
              </a:spcBef>
              <a:spcAft>
                <a:spcPts val="0"/>
              </a:spcAft>
              <a:buClrTx/>
              <a:buSzTx/>
              <a:buFont typeface="+mj-lt"/>
              <a:buAutoNum type="arabicPeriod"/>
              <a:tabLst>
                <a:tab pos="420299" algn="l"/>
              </a:tabLst>
              <a:defRPr/>
            </a:pPr>
            <a:r>
              <a:rPr kumimoji="0" lang="en-US"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objective function is smooth and differentiable</a:t>
            </a:r>
          </a:p>
          <a:p>
            <a:pPr marL="1065406" marR="0" lvl="1" indent="-457200" algn="l" defTabSz="1812066" rtl="0" eaLnBrk="1" fontAlgn="auto" latinLnBrk="0" hangingPunct="1">
              <a:lnSpc>
                <a:spcPct val="100000"/>
              </a:lnSpc>
              <a:spcBef>
                <a:spcPts val="1100"/>
              </a:spcBef>
              <a:spcAft>
                <a:spcPts val="0"/>
              </a:spcAft>
              <a:buClrTx/>
              <a:buSzTx/>
              <a:buFont typeface="+mj-lt"/>
              <a:buAutoNum type="arabicPeriod"/>
              <a:tabLst>
                <a:tab pos="420299" algn="l"/>
              </a:tabLst>
              <a:defRPr/>
            </a:pPr>
            <a:r>
              <a:rPr kumimoji="0" lang="en-US"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 the errors are normally distributed, the least squares estimators are BLUE</a:t>
            </a:r>
          </a:p>
          <a:p>
            <a:pPr marL="1065406" marR="0" lvl="1" indent="-457200" algn="l" defTabSz="1812066" rtl="0" eaLnBrk="1" fontAlgn="auto" latinLnBrk="0" hangingPunct="1">
              <a:lnSpc>
                <a:spcPct val="100000"/>
              </a:lnSpc>
              <a:spcBef>
                <a:spcPts val="1100"/>
              </a:spcBef>
              <a:spcAft>
                <a:spcPts val="0"/>
              </a:spcAft>
              <a:buClrTx/>
              <a:buSzTx/>
              <a:buFont typeface="+mj-lt"/>
              <a:buAutoNum type="arabicPeriod"/>
              <a:tabLst>
                <a:tab pos="420299" algn="l"/>
              </a:tabLst>
              <a:defRPr/>
            </a:pPr>
            <a:r>
              <a:rPr kumimoji="0" lang="en-US" sz="2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Squaring errors means larger errors are more heavily penalized</a:t>
            </a:r>
          </a:p>
          <a:p>
            <a:pPr marL="420299" marR="0" lvl="0" indent="-269293" algn="l" defTabSz="1812066" rtl="0" eaLnBrk="1" fontAlgn="auto" latinLnBrk="0" hangingPunct="1">
              <a:lnSpc>
                <a:spcPct val="100000"/>
              </a:lnSpc>
              <a:spcBef>
                <a:spcPts val="1100"/>
              </a:spcBef>
              <a:spcAft>
                <a:spcPts val="0"/>
              </a:spcAft>
              <a:buClrTx/>
              <a:buSzTx/>
              <a:buFont typeface="Lucida Sans"/>
              <a:buChar char="•"/>
              <a:tabLst>
                <a:tab pos="420299" algn="l"/>
              </a:tabLst>
              <a:defRPr/>
            </a:pPr>
            <a:endParaRPr kumimoji="0" lang="en-US" sz="2000" b="0" i="0" u="none" strike="noStrike" kern="0" cap="none" spc="0" normalizeH="0" baseline="0" noProof="0" dirty="0">
              <a:ln>
                <a:noFill/>
              </a:ln>
              <a:solidFill>
                <a:sysClr val="windowText" lastClr="000000"/>
              </a:solidFill>
              <a:effectLst/>
              <a:uLnTx/>
              <a:uFillTx/>
              <a:latin typeface="Arial"/>
              <a:ea typeface="+mn-ea"/>
              <a:cs typeface="Arial"/>
            </a:endParaRPr>
          </a:p>
          <a:p>
            <a:pPr marL="420299" marR="0" lvl="0" indent="-269293" algn="l" defTabSz="1812066" rtl="0" eaLnBrk="1" fontAlgn="auto" latinLnBrk="0" hangingPunct="1">
              <a:lnSpc>
                <a:spcPct val="100000"/>
              </a:lnSpc>
              <a:spcBef>
                <a:spcPts val="1100"/>
              </a:spcBef>
              <a:spcAft>
                <a:spcPts val="0"/>
              </a:spcAft>
              <a:buClrTx/>
              <a:buSzTx/>
              <a:buFont typeface="Lucida Sans"/>
              <a:buChar char="•"/>
              <a:tabLst>
                <a:tab pos="420299" algn="l"/>
              </a:tabLst>
              <a:defRPr/>
            </a:pPr>
            <a:endParaRPr kumimoji="0" sz="1982" b="0" i="0" u="none" strike="noStrike" kern="0" cap="none" spc="0" normalizeH="0" baseline="0" noProof="0" dirty="0">
              <a:ln>
                <a:noFill/>
              </a:ln>
              <a:solidFill>
                <a:sysClr val="windowText" lastClr="000000"/>
              </a:solidFill>
              <a:effectLst/>
              <a:uLnTx/>
              <a:uFillTx/>
              <a:latin typeface="Arial"/>
              <a:ea typeface="+mn-ea"/>
              <a:cs typeface="Arial"/>
            </a:endParaRPr>
          </a:p>
        </p:txBody>
      </p:sp>
      <p:sp>
        <p:nvSpPr>
          <p:cNvPr id="6" name="TextBox 5">
            <a:extLst>
              <a:ext uri="{FF2B5EF4-FFF2-40B4-BE49-F238E27FC236}">
                <a16:creationId xmlns:a16="http://schemas.microsoft.com/office/drawing/2014/main" id="{5CFF22A3-67C5-CC83-24A4-67509EBE953A}"/>
              </a:ext>
            </a:extLst>
          </p:cNvPr>
          <p:cNvSpPr txBox="1"/>
          <p:nvPr/>
        </p:nvSpPr>
        <p:spPr>
          <a:xfrm>
            <a:off x="233963" y="6267382"/>
            <a:ext cx="4567223" cy="397353"/>
          </a:xfrm>
          <a:prstGeom prst="rect">
            <a:avLst/>
          </a:prstGeom>
          <a:noFill/>
        </p:spPr>
        <p:txBody>
          <a:bodyPr wrap="square">
            <a:spAutoFit/>
          </a:bodyPr>
          <a:lstStyle/>
          <a:p>
            <a:pPr marL="0" marR="0" lvl="0" indent="0" algn="l" defTabSz="1812066" rtl="0" eaLnBrk="1" fontAlgn="auto" latinLnBrk="0" hangingPunct="1">
              <a:lnSpc>
                <a:spcPct val="100000"/>
              </a:lnSpc>
              <a:spcBef>
                <a:spcPts val="0"/>
              </a:spcBef>
              <a:spcAft>
                <a:spcPts val="0"/>
              </a:spcAft>
              <a:buClrTx/>
              <a:buSzTx/>
              <a:buFontTx/>
              <a:buNone/>
              <a:tabLst/>
              <a:defRPr/>
            </a:pPr>
            <a:r>
              <a:rPr kumimoji="0" lang="en-US" sz="1982"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Handout SSE.docx</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5DD6EF4-F14F-4A33-BC07-DFF9D0698DCD}"/>
                  </a:ext>
                </a:extLst>
              </p:cNvPr>
              <p:cNvSpPr txBox="1"/>
              <p:nvPr/>
            </p:nvSpPr>
            <p:spPr>
              <a:xfrm>
                <a:off x="4303778" y="2895600"/>
                <a:ext cx="1792222" cy="28071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b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 name="TextBox 4">
                <a:extLst>
                  <a:ext uri="{FF2B5EF4-FFF2-40B4-BE49-F238E27FC236}">
                    <a16:creationId xmlns:a16="http://schemas.microsoft.com/office/drawing/2014/main" id="{C5DD6EF4-F14F-4A33-BC07-DFF9D0698DCD}"/>
                  </a:ext>
                </a:extLst>
              </p:cNvPr>
              <p:cNvSpPr txBox="1">
                <a:spLocks noRot="1" noChangeAspect="1" noMove="1" noResize="1" noEditPoints="1" noAdjustHandles="1" noChangeArrowheads="1" noChangeShapeType="1" noTextEdit="1"/>
              </p:cNvSpPr>
              <p:nvPr/>
            </p:nvSpPr>
            <p:spPr>
              <a:xfrm>
                <a:off x="4303778" y="2895600"/>
                <a:ext cx="1792222" cy="280718"/>
              </a:xfrm>
              <a:prstGeom prst="rect">
                <a:avLst/>
              </a:prstGeom>
              <a:blipFill>
                <a:blip r:embed="rId3"/>
                <a:stretch>
                  <a:fillRect l="-1361" r="-680"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42E5072-4CE2-74BD-D6AC-42C26B98B913}"/>
                  </a:ext>
                </a:extLst>
              </p:cNvPr>
              <p:cNvSpPr txBox="1"/>
              <p:nvPr/>
            </p:nvSpPr>
            <p:spPr>
              <a:xfrm>
                <a:off x="4140304" y="1844366"/>
                <a:ext cx="211917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r>
                  <a:rPr kumimoji="0" lang="en-US" sz="18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d>
                      <m:dPr>
                        <m:begChr m:val="|"/>
                        <m:end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d>
                      <m:dPr>
                        <m:begChr m:val="|"/>
                        <m:end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e>
                    </m:d>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7" name="TextBox 6">
                <a:extLst>
                  <a:ext uri="{FF2B5EF4-FFF2-40B4-BE49-F238E27FC236}">
                    <a16:creationId xmlns:a16="http://schemas.microsoft.com/office/drawing/2014/main" id="{142E5072-4CE2-74BD-D6AC-42C26B98B913}"/>
                  </a:ext>
                </a:extLst>
              </p:cNvPr>
              <p:cNvSpPr txBox="1">
                <a:spLocks noRot="1" noChangeAspect="1" noMove="1" noResize="1" noEditPoints="1" noAdjustHandles="1" noChangeArrowheads="1" noChangeShapeType="1" noTextEdit="1"/>
              </p:cNvSpPr>
              <p:nvPr/>
            </p:nvSpPr>
            <p:spPr>
              <a:xfrm>
                <a:off x="4140304" y="1844366"/>
                <a:ext cx="2119170" cy="276999"/>
              </a:xfrm>
              <a:prstGeom prst="rect">
                <a:avLst/>
              </a:prstGeom>
              <a:blipFill>
                <a:blip r:embed="rId4"/>
                <a:stretch>
                  <a:fillRect b="-15556"/>
                </a:stretch>
              </a:blipFill>
            </p:spPr>
            <p:txBody>
              <a:bodyPr/>
              <a:lstStyle/>
              <a:p>
                <a:r>
                  <a:rPr lang="en-US">
                    <a:noFill/>
                  </a:rPr>
                  <a:t> </a:t>
                </a:r>
              </a:p>
            </p:txBody>
          </p:sp>
        </mc:Fallback>
      </mc:AlternateContent>
    </p:spTree>
    <p:extLst>
      <p:ext uri="{BB962C8B-B14F-4D97-AF65-F5344CB8AC3E}">
        <p14:creationId xmlns:p14="http://schemas.microsoft.com/office/powerpoint/2010/main" val="3925105590"/>
      </p:ext>
    </p:extLst>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34925B2C-00AB-899E-0420-D4D4804F20AA}"/>
                  </a:ext>
                </a:extLst>
              </p:cNvPr>
              <p:cNvGraphicFramePr>
                <a:graphicFrameLocks noGrp="1"/>
              </p:cNvGraphicFramePr>
              <p:nvPr>
                <p:ph idx="1"/>
                <p:extLst>
                  <p:ext uri="{D42A27DB-BD31-4B8C-83A1-F6EECF244321}">
                    <p14:modId xmlns:p14="http://schemas.microsoft.com/office/powerpoint/2010/main" val="4095317271"/>
                  </p:ext>
                </p:extLst>
              </p:nvPr>
            </p:nvGraphicFramePr>
            <p:xfrm>
              <a:off x="295275" y="482600"/>
              <a:ext cx="7811911" cy="5892800"/>
            </p:xfrm>
            <a:graphic>
              <a:graphicData uri="http://schemas.openxmlformats.org/drawingml/2006/table">
                <a:tbl>
                  <a:tblPr firstRow="1" bandRow="1">
                    <a:tableStyleId>{5C22544A-7EE6-4342-B048-85BDC9FD1C3A}</a:tableStyleId>
                  </a:tblPr>
                  <a:tblGrid>
                    <a:gridCol w="2935111">
                      <a:extLst>
                        <a:ext uri="{9D8B030D-6E8A-4147-A177-3AD203B41FA5}">
                          <a16:colId xmlns:a16="http://schemas.microsoft.com/office/drawing/2014/main" val="1181227326"/>
                        </a:ext>
                      </a:extLst>
                    </a:gridCol>
                    <a:gridCol w="2370667">
                      <a:extLst>
                        <a:ext uri="{9D8B030D-6E8A-4147-A177-3AD203B41FA5}">
                          <a16:colId xmlns:a16="http://schemas.microsoft.com/office/drawing/2014/main" val="459271482"/>
                        </a:ext>
                      </a:extLst>
                    </a:gridCol>
                    <a:gridCol w="2506133">
                      <a:extLst>
                        <a:ext uri="{9D8B030D-6E8A-4147-A177-3AD203B41FA5}">
                          <a16:colId xmlns:a16="http://schemas.microsoft.com/office/drawing/2014/main" val="291118171"/>
                        </a:ext>
                      </a:extLst>
                    </a:gridCol>
                  </a:tblGrid>
                  <a:tr h="822489">
                    <a:tc>
                      <a:txBody>
                        <a:bodyPr/>
                        <a:lstStyle/>
                        <a:p>
                          <a:pPr algn="ct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oMath>
                          </a14:m>
                          <a:r>
                            <a:rPr lang="en-US" sz="2000" dirty="0">
                              <a:latin typeface="Arial" panose="020B0604020202020204" pitchFamily="34" charset="0"/>
                              <a:cs typeface="Arial" panose="020B0604020202020204" pitchFamily="34" charset="0"/>
                            </a:rPr>
                            <a:t> </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𝑖</m:t>
                                    </m:r>
                                  </m:sub>
                                </m:sSub>
                              </m:oMath>
                            </m:oMathPara>
                          </a14:m>
                          <a:endParaRPr lang="en-US" sz="2000" dirty="0">
                            <a:latin typeface="Arial" panose="020B0604020202020204" pitchFamily="34" charset="0"/>
                            <a:cs typeface="Arial" panose="020B0604020202020204" pitchFamily="34" charset="0"/>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sSub>
                                  <m:sSubPr>
                                    <m:ctrlPr>
                                      <a:rPr kumimoji="0" lang="en-US" sz="20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𝑦</m:t>
                                    </m:r>
                                  </m:e>
                                  <m:sub>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𝑖</m:t>
                                    </m:r>
                                  </m:sub>
                                </m:sSub>
                              </m:oMath>
                            </m:oMathPara>
                          </a14:m>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72508841"/>
                      </a:ext>
                    </a:extLst>
                  </a:tr>
                  <a:tr h="462514">
                    <a:tc>
                      <a:txBody>
                        <a:bodyPr/>
                        <a:lstStyle/>
                        <a:p>
                          <a:pPr algn="ctr" rtl="0" fontAlgn="t"/>
                          <a:r>
                            <a:rPr lang="en-US" sz="2000" u="none" strike="noStrike" dirty="0">
                              <a:effectLst/>
                              <a:latin typeface="Arial" panose="020B0604020202020204" pitchFamily="34" charset="0"/>
                              <a:cs typeface="Arial" panose="020B0604020202020204" pitchFamily="34" charset="0"/>
                            </a:rPr>
                            <a:t>127</a:t>
                          </a:r>
                          <a:endParaRPr lang="en-US" sz="2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120</a:t>
                          </a:r>
                          <a:endParaRPr lang="en-US" sz="2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6.9</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239557310"/>
                      </a:ext>
                    </a:extLst>
                  </a:tr>
                  <a:tr h="476968">
                    <a:tc>
                      <a:txBody>
                        <a:bodyPr/>
                        <a:lstStyle/>
                        <a:p>
                          <a:pPr algn="ctr" rtl="0" fontAlgn="t"/>
                          <a:r>
                            <a:rPr lang="en-US" sz="2000" u="none" strike="noStrike">
                              <a:effectLst/>
                              <a:latin typeface="Arial" panose="020B0604020202020204" pitchFamily="34" charset="0"/>
                              <a:cs typeface="Arial" panose="020B0604020202020204" pitchFamily="34" charset="0"/>
                            </a:rPr>
                            <a:t>121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126</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-5.3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686629407"/>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142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139</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3.5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253379322"/>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157</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157</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0</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779355466"/>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162</a:t>
                          </a:r>
                          <a:endParaRPr lang="en-US" sz="2000" b="0" i="0" u="none" strike="noStrike">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157</a:t>
                          </a:r>
                          <a:endParaRPr lang="en-US" sz="2000" b="0" i="0" u="none" strike="noStrike">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5135866"/>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156</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169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-13.2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147795918"/>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169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169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-0.2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805896791"/>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165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175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-10.4</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1194989"/>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181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182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-0.5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84464241"/>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208</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194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14.2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213782291"/>
                      </a:ext>
                    </a:extLst>
                  </a:tr>
                  <a:tr h="430717">
                    <a:tc>
                      <a:txBody>
                        <a:bodyPr/>
                        <a:lstStyle/>
                        <a:p>
                          <a:pPr algn="l" fontAlgn="b"/>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2000" b="0"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2000" u="none" strike="noStrike" dirty="0">
                              <a:solidFill>
                                <a:srgbClr val="FF0000"/>
                              </a:solidFill>
                              <a:effectLst/>
                              <a:latin typeface="Arial" panose="020B0604020202020204" pitchFamily="34" charset="0"/>
                              <a:cs typeface="Arial" panose="020B0604020202020204" pitchFamily="34" charset="0"/>
                            </a:rPr>
                            <a:t>Sum </a:t>
                          </a:r>
                          <a:r>
                            <a:rPr lang="en-US" sz="2000" u="none" strike="noStrike" dirty="0">
                              <a:effectLst/>
                              <a:latin typeface="Arial" panose="020B0604020202020204" pitchFamily="34" charset="0"/>
                              <a:cs typeface="Arial" panose="020B0604020202020204" pitchFamily="34" charset="0"/>
                            </a:rPr>
                            <a:t>= 0</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925877443"/>
                      </a:ext>
                    </a:extLst>
                  </a:tr>
                </a:tbl>
              </a:graphicData>
            </a:graphic>
          </p:graphicFrame>
        </mc:Choice>
        <mc:Fallback xmlns="">
          <p:graphicFrame>
            <p:nvGraphicFramePr>
              <p:cNvPr id="4" name="Content Placeholder 3">
                <a:extLst>
                  <a:ext uri="{FF2B5EF4-FFF2-40B4-BE49-F238E27FC236}">
                    <a16:creationId xmlns:a16="http://schemas.microsoft.com/office/drawing/2014/main" id="{34925B2C-00AB-899E-0420-D4D4804F20AA}"/>
                  </a:ext>
                </a:extLst>
              </p:cNvPr>
              <p:cNvGraphicFramePr>
                <a:graphicFrameLocks noGrp="1"/>
              </p:cNvGraphicFramePr>
              <p:nvPr>
                <p:ph idx="1"/>
                <p:extLst>
                  <p:ext uri="{D42A27DB-BD31-4B8C-83A1-F6EECF244321}">
                    <p14:modId xmlns:p14="http://schemas.microsoft.com/office/powerpoint/2010/main" val="4095317271"/>
                  </p:ext>
                </p:extLst>
              </p:nvPr>
            </p:nvGraphicFramePr>
            <p:xfrm>
              <a:off x="295275" y="482600"/>
              <a:ext cx="7811911" cy="5892800"/>
            </p:xfrm>
            <a:graphic>
              <a:graphicData uri="http://schemas.openxmlformats.org/drawingml/2006/table">
                <a:tbl>
                  <a:tblPr firstRow="1" bandRow="1">
                    <a:tableStyleId>{5C22544A-7EE6-4342-B048-85BDC9FD1C3A}</a:tableStyleId>
                  </a:tblPr>
                  <a:tblGrid>
                    <a:gridCol w="2935111">
                      <a:extLst>
                        <a:ext uri="{9D8B030D-6E8A-4147-A177-3AD203B41FA5}">
                          <a16:colId xmlns:a16="http://schemas.microsoft.com/office/drawing/2014/main" val="1181227326"/>
                        </a:ext>
                      </a:extLst>
                    </a:gridCol>
                    <a:gridCol w="2370667">
                      <a:extLst>
                        <a:ext uri="{9D8B030D-6E8A-4147-A177-3AD203B41FA5}">
                          <a16:colId xmlns:a16="http://schemas.microsoft.com/office/drawing/2014/main" val="459271482"/>
                        </a:ext>
                      </a:extLst>
                    </a:gridCol>
                    <a:gridCol w="2506133">
                      <a:extLst>
                        <a:ext uri="{9D8B030D-6E8A-4147-A177-3AD203B41FA5}">
                          <a16:colId xmlns:a16="http://schemas.microsoft.com/office/drawing/2014/main" val="291118171"/>
                        </a:ext>
                      </a:extLst>
                    </a:gridCol>
                  </a:tblGrid>
                  <a:tr h="822489">
                    <a:tc>
                      <a:txBody>
                        <a:bodyPr/>
                        <a:lstStyle/>
                        <a:p>
                          <a:endParaRPr lang="en-US"/>
                        </a:p>
                      </a:txBody>
                      <a:tcPr anchor="ctr">
                        <a:blipFill>
                          <a:blip r:embed="rId2"/>
                          <a:stretch>
                            <a:fillRect l="-207" t="-741" r="-167012" b="-634815"/>
                          </a:stretch>
                        </a:blipFill>
                      </a:tcPr>
                    </a:tc>
                    <a:tc>
                      <a:txBody>
                        <a:bodyPr/>
                        <a:lstStyle/>
                        <a:p>
                          <a:endParaRPr lang="en-US"/>
                        </a:p>
                      </a:txBody>
                      <a:tcPr anchor="ctr">
                        <a:blipFill>
                          <a:blip r:embed="rId2"/>
                          <a:stretch>
                            <a:fillRect l="-124165" t="-741" r="-106941" b="-634815"/>
                          </a:stretch>
                        </a:blipFill>
                      </a:tcPr>
                    </a:tc>
                    <a:tc>
                      <a:txBody>
                        <a:bodyPr/>
                        <a:lstStyle/>
                        <a:p>
                          <a:endParaRPr lang="en-US"/>
                        </a:p>
                      </a:txBody>
                      <a:tcPr marL="9525" marR="9525" marT="9525" marB="0" anchor="ctr">
                        <a:blipFill>
                          <a:blip r:embed="rId2"/>
                          <a:stretch>
                            <a:fillRect l="-212165" t="-741" r="-1217" b="-634815"/>
                          </a:stretch>
                        </a:blipFill>
                      </a:tcPr>
                    </a:tc>
                    <a:extLst>
                      <a:ext uri="{0D108BD9-81ED-4DB2-BD59-A6C34878D82A}">
                        <a16:rowId xmlns:a16="http://schemas.microsoft.com/office/drawing/2014/main" val="72508841"/>
                      </a:ext>
                    </a:extLst>
                  </a:tr>
                  <a:tr h="462514">
                    <a:tc>
                      <a:txBody>
                        <a:bodyPr/>
                        <a:lstStyle/>
                        <a:p>
                          <a:pPr algn="ctr" rtl="0" fontAlgn="t"/>
                          <a:r>
                            <a:rPr lang="en-US" sz="2000" u="none" strike="noStrike" dirty="0">
                              <a:effectLst/>
                              <a:latin typeface="Arial" panose="020B0604020202020204" pitchFamily="34" charset="0"/>
                              <a:cs typeface="Arial" panose="020B0604020202020204" pitchFamily="34" charset="0"/>
                            </a:rPr>
                            <a:t>127</a:t>
                          </a:r>
                          <a:endParaRPr lang="en-US" sz="2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120</a:t>
                          </a:r>
                          <a:endParaRPr lang="en-US" sz="2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6.9</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239557310"/>
                      </a:ext>
                    </a:extLst>
                  </a:tr>
                  <a:tr h="476968">
                    <a:tc>
                      <a:txBody>
                        <a:bodyPr/>
                        <a:lstStyle/>
                        <a:p>
                          <a:pPr algn="ctr" rtl="0" fontAlgn="t"/>
                          <a:r>
                            <a:rPr lang="en-US" sz="2000" u="none" strike="noStrike">
                              <a:effectLst/>
                              <a:latin typeface="Arial" panose="020B0604020202020204" pitchFamily="34" charset="0"/>
                              <a:cs typeface="Arial" panose="020B0604020202020204" pitchFamily="34" charset="0"/>
                            </a:rPr>
                            <a:t>121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126</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-5.3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686629407"/>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142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139</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3.5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253379322"/>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157</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dirty="0">
                              <a:effectLst/>
                              <a:latin typeface="Arial" panose="020B0604020202020204" pitchFamily="34" charset="0"/>
                              <a:cs typeface="Arial" panose="020B0604020202020204" pitchFamily="34" charset="0"/>
                            </a:rPr>
                            <a:t>157</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0</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779355466"/>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162</a:t>
                          </a:r>
                          <a:endParaRPr lang="en-US" sz="2000" b="0" i="0" u="none" strike="noStrike">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157</a:t>
                          </a:r>
                          <a:endParaRPr lang="en-US" sz="2000" b="0" i="0" u="none" strike="noStrike">
                            <a:solidFill>
                              <a:srgbClr val="FFFFFF"/>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5135866"/>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156</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169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-13.2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147795918"/>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169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169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-0.2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805896791"/>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165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175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-10.4</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1194989"/>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181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182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-0.5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84464241"/>
                      </a:ext>
                    </a:extLst>
                  </a:tr>
                  <a:tr h="462514">
                    <a:tc>
                      <a:txBody>
                        <a:bodyPr/>
                        <a:lstStyle/>
                        <a:p>
                          <a:pPr algn="ctr" rtl="0" fontAlgn="t"/>
                          <a:r>
                            <a:rPr lang="en-US" sz="2000" u="none" strike="noStrike">
                              <a:effectLst/>
                              <a:latin typeface="Arial" panose="020B0604020202020204" pitchFamily="34" charset="0"/>
                              <a:cs typeface="Arial" panose="020B0604020202020204" pitchFamily="34" charset="0"/>
                            </a:rPr>
                            <a:t>208</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rtl="0" fontAlgn="t"/>
                          <a:r>
                            <a:rPr lang="en-US" sz="2000" u="none" strike="noStrike">
                              <a:effectLst/>
                              <a:latin typeface="Arial" panose="020B0604020202020204" pitchFamily="34" charset="0"/>
                              <a:cs typeface="Arial" panose="020B0604020202020204" pitchFamily="34" charset="0"/>
                            </a:rPr>
                            <a:t>194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tc>
                    <a:tc>
                      <a:txBody>
                        <a:bodyPr/>
                        <a:lstStyle/>
                        <a:p>
                          <a:pPr algn="ctr" fontAlgn="b"/>
                          <a:r>
                            <a:rPr lang="en-US" sz="2000" u="none" strike="noStrike" dirty="0">
                              <a:effectLst/>
                              <a:latin typeface="Arial" panose="020B0604020202020204" pitchFamily="34" charset="0"/>
                              <a:cs typeface="Arial" panose="020B0604020202020204" pitchFamily="34" charset="0"/>
                            </a:rPr>
                            <a:t>14.2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213782291"/>
                      </a:ext>
                    </a:extLst>
                  </a:tr>
                  <a:tr h="430717">
                    <a:tc>
                      <a:txBody>
                        <a:bodyPr/>
                        <a:lstStyle/>
                        <a:p>
                          <a:pPr algn="l" fontAlgn="b"/>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2000" b="0"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2000" u="none" strike="noStrike" dirty="0">
                              <a:solidFill>
                                <a:srgbClr val="FF0000"/>
                              </a:solidFill>
                              <a:effectLst/>
                              <a:latin typeface="Arial" panose="020B0604020202020204" pitchFamily="34" charset="0"/>
                              <a:cs typeface="Arial" panose="020B0604020202020204" pitchFamily="34" charset="0"/>
                            </a:rPr>
                            <a:t>Sum </a:t>
                          </a:r>
                          <a:r>
                            <a:rPr lang="en-US" sz="2000" u="none" strike="noStrike" dirty="0">
                              <a:effectLst/>
                              <a:latin typeface="Arial" panose="020B0604020202020204" pitchFamily="34" charset="0"/>
                              <a:cs typeface="Arial" panose="020B0604020202020204" pitchFamily="34" charset="0"/>
                            </a:rPr>
                            <a:t>= 0</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925877443"/>
                      </a:ext>
                    </a:extLst>
                  </a:tr>
                </a:tbl>
              </a:graphicData>
            </a:graphic>
          </p:graphicFrame>
        </mc:Fallback>
      </mc:AlternateContent>
    </p:spTree>
    <p:extLst>
      <p:ext uri="{BB962C8B-B14F-4D97-AF65-F5344CB8AC3E}">
        <p14:creationId xmlns:p14="http://schemas.microsoft.com/office/powerpoint/2010/main" val="3778248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A929-FF07-77B5-C0C7-E53B3B3B8DB2}"/>
            </a:ext>
          </a:extLst>
        </p:cNvPr>
        <p:cNvGrpSpPr/>
        <p:nvPr/>
      </p:nvGrpSpPr>
      <p:grpSpPr>
        <a:xfrm>
          <a:off x="0" y="0"/>
          <a:ext cx="0" cy="0"/>
          <a:chOff x="0" y="0"/>
          <a:chExt cx="0" cy="0"/>
        </a:xfrm>
      </p:grpSpPr>
      <p:sp>
        <p:nvSpPr>
          <p:cNvPr id="71683" name="Text Box 3">
            <a:extLst>
              <a:ext uri="{FF2B5EF4-FFF2-40B4-BE49-F238E27FC236}">
                <a16:creationId xmlns:a16="http://schemas.microsoft.com/office/drawing/2014/main" id="{16D004F5-220D-97CC-5AC2-B32327598D66}"/>
              </a:ext>
            </a:extLst>
          </p:cNvPr>
          <p:cNvSpPr txBox="1">
            <a:spLocks noChangeArrowheads="1"/>
          </p:cNvSpPr>
          <p:nvPr/>
        </p:nvSpPr>
        <p:spPr bwMode="auto">
          <a:xfrm>
            <a:off x="3252993" y="4310393"/>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3</a:t>
            </a:r>
          </a:p>
        </p:txBody>
      </p:sp>
      <p:sp>
        <p:nvSpPr>
          <p:cNvPr id="71684" name="Text Box 4">
            <a:extLst>
              <a:ext uri="{FF2B5EF4-FFF2-40B4-BE49-F238E27FC236}">
                <a16:creationId xmlns:a16="http://schemas.microsoft.com/office/drawing/2014/main" id="{15F5814B-881F-A4BF-745E-11794CA68F98}"/>
              </a:ext>
            </a:extLst>
          </p:cNvPr>
          <p:cNvSpPr txBox="1">
            <a:spLocks noChangeArrowheads="1"/>
          </p:cNvSpPr>
          <p:nvPr/>
        </p:nvSpPr>
        <p:spPr bwMode="auto">
          <a:xfrm>
            <a:off x="373268" y="2141868"/>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3</a:t>
            </a:r>
          </a:p>
        </p:txBody>
      </p:sp>
      <p:sp>
        <p:nvSpPr>
          <p:cNvPr id="71685" name="Line 5">
            <a:extLst>
              <a:ext uri="{FF2B5EF4-FFF2-40B4-BE49-F238E27FC236}">
                <a16:creationId xmlns:a16="http://schemas.microsoft.com/office/drawing/2014/main" id="{09A3CF55-25BE-93F9-5BCD-4DDFCEBCB1C1}"/>
              </a:ext>
            </a:extLst>
          </p:cNvPr>
          <p:cNvSpPr>
            <a:spLocks noChangeShapeType="1"/>
          </p:cNvSpPr>
          <p:nvPr/>
        </p:nvSpPr>
        <p:spPr bwMode="auto">
          <a:xfrm flipH="1">
            <a:off x="601868" y="2384756"/>
            <a:ext cx="2819400"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86" name="Line 6">
            <a:extLst>
              <a:ext uri="{FF2B5EF4-FFF2-40B4-BE49-F238E27FC236}">
                <a16:creationId xmlns:a16="http://schemas.microsoft.com/office/drawing/2014/main" id="{FBD8DDB5-4B16-9FE6-3B0E-5DAB414D73F0}"/>
              </a:ext>
            </a:extLst>
          </p:cNvPr>
          <p:cNvSpPr>
            <a:spLocks noChangeShapeType="1"/>
          </p:cNvSpPr>
          <p:nvPr/>
        </p:nvSpPr>
        <p:spPr bwMode="auto">
          <a:xfrm>
            <a:off x="3395868" y="2391106"/>
            <a:ext cx="0" cy="9144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88" name="Freeform 8">
            <a:extLst>
              <a:ext uri="{FF2B5EF4-FFF2-40B4-BE49-F238E27FC236}">
                <a16:creationId xmlns:a16="http://schemas.microsoft.com/office/drawing/2014/main" id="{CAAA8954-7B61-2CB7-63F1-D1D827D960F1}"/>
              </a:ext>
            </a:extLst>
          </p:cNvPr>
          <p:cNvSpPr>
            <a:spLocks/>
          </p:cNvSpPr>
          <p:nvPr/>
        </p:nvSpPr>
        <p:spPr bwMode="auto">
          <a:xfrm>
            <a:off x="601868" y="998868"/>
            <a:ext cx="4724400" cy="3352800"/>
          </a:xfrm>
          <a:custGeom>
            <a:avLst/>
            <a:gdLst>
              <a:gd name="T0" fmla="*/ 0 w 3744"/>
              <a:gd name="T1" fmla="*/ 0 h 2112"/>
              <a:gd name="T2" fmla="*/ 0 w 3744"/>
              <a:gd name="T3" fmla="*/ 2112 h 2112"/>
              <a:gd name="T4" fmla="*/ 3744 w 3744"/>
              <a:gd name="T5" fmla="*/ 2112 h 2112"/>
            </a:gdLst>
            <a:ahLst/>
            <a:cxnLst>
              <a:cxn ang="0">
                <a:pos x="T0" y="T1"/>
              </a:cxn>
              <a:cxn ang="0">
                <a:pos x="T2" y="T3"/>
              </a:cxn>
              <a:cxn ang="0">
                <a:pos x="T4" y="T5"/>
              </a:cxn>
            </a:cxnLst>
            <a:rect l="0" t="0" r="r" b="b"/>
            <a:pathLst>
              <a:path w="3744" h="2112">
                <a:moveTo>
                  <a:pt x="0" y="0"/>
                </a:moveTo>
                <a:lnTo>
                  <a:pt x="0" y="2112"/>
                </a:lnTo>
                <a:lnTo>
                  <a:pt x="3744" y="211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89" name="Text Box 9">
            <a:extLst>
              <a:ext uri="{FF2B5EF4-FFF2-40B4-BE49-F238E27FC236}">
                <a16:creationId xmlns:a16="http://schemas.microsoft.com/office/drawing/2014/main" id="{EA96DDDE-43A3-A230-63F1-40DF84260D28}"/>
              </a:ext>
            </a:extLst>
          </p:cNvPr>
          <p:cNvSpPr txBox="1">
            <a:spLocks noChangeArrowheads="1"/>
          </p:cNvSpPr>
          <p:nvPr/>
        </p:nvSpPr>
        <p:spPr bwMode="auto">
          <a:xfrm>
            <a:off x="1200356" y="2903869"/>
            <a:ext cx="3159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66"/>
                </a:solidFill>
                <a:effectLst/>
                <a:uLnTx/>
                <a:uFillTx/>
                <a:latin typeface="Wingdings" panose="05000000000000000000" pitchFamily="2" charset="2"/>
                <a:ea typeface="+mn-ea"/>
                <a:cs typeface="+mn-cs"/>
              </a:rPr>
              <a:t>w</a:t>
            </a:r>
          </a:p>
        </p:txBody>
      </p:sp>
      <p:sp>
        <p:nvSpPr>
          <p:cNvPr id="71690" name="Text Box 10">
            <a:extLst>
              <a:ext uri="{FF2B5EF4-FFF2-40B4-BE49-F238E27FC236}">
                <a16:creationId xmlns:a16="http://schemas.microsoft.com/office/drawing/2014/main" id="{821D0EF8-DBBE-C329-E3C0-9A8CBBD8FB55}"/>
              </a:ext>
            </a:extLst>
          </p:cNvPr>
          <p:cNvSpPr txBox="1">
            <a:spLocks noChangeArrowheads="1"/>
          </p:cNvSpPr>
          <p:nvPr/>
        </p:nvSpPr>
        <p:spPr bwMode="auto">
          <a:xfrm>
            <a:off x="3233944" y="3167394"/>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66"/>
                </a:solidFill>
                <a:effectLst/>
                <a:uLnTx/>
                <a:uFillTx/>
                <a:latin typeface="Wingdings" panose="05000000000000000000" pitchFamily="2" charset="2"/>
                <a:ea typeface="+mn-ea"/>
                <a:cs typeface="+mn-cs"/>
              </a:rPr>
              <a:t>w</a:t>
            </a:r>
          </a:p>
        </p:txBody>
      </p:sp>
      <p:sp>
        <p:nvSpPr>
          <p:cNvPr id="71691" name="Text Box 11">
            <a:extLst>
              <a:ext uri="{FF2B5EF4-FFF2-40B4-BE49-F238E27FC236}">
                <a16:creationId xmlns:a16="http://schemas.microsoft.com/office/drawing/2014/main" id="{BEDA6780-2870-C3A7-AF45-0D69F8495940}"/>
              </a:ext>
            </a:extLst>
          </p:cNvPr>
          <p:cNvSpPr txBox="1">
            <a:spLocks noChangeArrowheads="1"/>
          </p:cNvSpPr>
          <p:nvPr/>
        </p:nvSpPr>
        <p:spPr bwMode="auto">
          <a:xfrm>
            <a:off x="2160794" y="1608469"/>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66"/>
                </a:solidFill>
                <a:effectLst/>
                <a:uLnTx/>
                <a:uFillTx/>
                <a:latin typeface="Wingdings" panose="05000000000000000000" pitchFamily="2" charset="2"/>
                <a:ea typeface="+mn-ea"/>
                <a:cs typeface="+mn-cs"/>
              </a:rPr>
              <a:t>w</a:t>
            </a:r>
          </a:p>
        </p:txBody>
      </p:sp>
      <p:sp>
        <p:nvSpPr>
          <p:cNvPr id="71692" name="Text Box 12">
            <a:extLst>
              <a:ext uri="{FF2B5EF4-FFF2-40B4-BE49-F238E27FC236}">
                <a16:creationId xmlns:a16="http://schemas.microsoft.com/office/drawing/2014/main" id="{60B2A75B-D1F4-BB44-9FA1-8D15DF6FF8F3}"/>
              </a:ext>
            </a:extLst>
          </p:cNvPr>
          <p:cNvSpPr txBox="1">
            <a:spLocks noChangeArrowheads="1"/>
          </p:cNvSpPr>
          <p:nvPr/>
        </p:nvSpPr>
        <p:spPr bwMode="auto">
          <a:xfrm>
            <a:off x="4259469" y="2065669"/>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66"/>
                </a:solidFill>
                <a:effectLst/>
                <a:uLnTx/>
                <a:uFillTx/>
                <a:latin typeface="Wingdings" panose="05000000000000000000" pitchFamily="2" charset="2"/>
                <a:ea typeface="+mn-ea"/>
                <a:cs typeface="+mn-cs"/>
              </a:rPr>
              <a:t>w</a:t>
            </a:r>
          </a:p>
        </p:txBody>
      </p:sp>
      <p:sp>
        <p:nvSpPr>
          <p:cNvPr id="71693" name="Line 13">
            <a:extLst>
              <a:ext uri="{FF2B5EF4-FFF2-40B4-BE49-F238E27FC236}">
                <a16:creationId xmlns:a16="http://schemas.microsoft.com/office/drawing/2014/main" id="{39F022D3-E8A3-67CC-51B2-47AFAF66AE59}"/>
              </a:ext>
            </a:extLst>
          </p:cNvPr>
          <p:cNvSpPr>
            <a:spLocks noChangeShapeType="1"/>
          </p:cNvSpPr>
          <p:nvPr/>
        </p:nvSpPr>
        <p:spPr bwMode="auto">
          <a:xfrm flipV="1">
            <a:off x="601868" y="1754518"/>
            <a:ext cx="3803650" cy="2368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94" name="Line 14">
            <a:extLst>
              <a:ext uri="{FF2B5EF4-FFF2-40B4-BE49-F238E27FC236}">
                <a16:creationId xmlns:a16="http://schemas.microsoft.com/office/drawing/2014/main" id="{D688843F-138B-175A-8BCD-2A20E2CAE806}"/>
              </a:ext>
            </a:extLst>
          </p:cNvPr>
          <p:cNvSpPr>
            <a:spLocks noChangeShapeType="1"/>
          </p:cNvSpPr>
          <p:nvPr/>
        </p:nvSpPr>
        <p:spPr bwMode="auto">
          <a:xfrm>
            <a:off x="1363868" y="3056268"/>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95" name="Line 15">
            <a:extLst>
              <a:ext uri="{FF2B5EF4-FFF2-40B4-BE49-F238E27FC236}">
                <a16:creationId xmlns:a16="http://schemas.microsoft.com/office/drawing/2014/main" id="{251BBFAF-F720-BE60-E123-A339A17E716C}"/>
              </a:ext>
            </a:extLst>
          </p:cNvPr>
          <p:cNvSpPr>
            <a:spLocks noChangeShapeType="1"/>
          </p:cNvSpPr>
          <p:nvPr/>
        </p:nvSpPr>
        <p:spPr bwMode="auto">
          <a:xfrm flipV="1">
            <a:off x="2313193" y="1837068"/>
            <a:ext cx="0" cy="1219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96" name="Line 16">
            <a:extLst>
              <a:ext uri="{FF2B5EF4-FFF2-40B4-BE49-F238E27FC236}">
                <a16:creationId xmlns:a16="http://schemas.microsoft.com/office/drawing/2014/main" id="{FFDB6276-569B-32B7-CF1C-AA47C3E625DE}"/>
              </a:ext>
            </a:extLst>
          </p:cNvPr>
          <p:cNvSpPr>
            <a:spLocks noChangeShapeType="1"/>
          </p:cNvSpPr>
          <p:nvPr/>
        </p:nvSpPr>
        <p:spPr bwMode="auto">
          <a:xfrm flipH="1">
            <a:off x="4416632" y="1741818"/>
            <a:ext cx="14287" cy="457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697" name="Text Box 17">
            <a:extLst>
              <a:ext uri="{FF2B5EF4-FFF2-40B4-BE49-F238E27FC236}">
                <a16:creationId xmlns:a16="http://schemas.microsoft.com/office/drawing/2014/main" id="{B9A22B28-2DE4-C50B-8084-2249DE803EA0}"/>
              </a:ext>
            </a:extLst>
          </p:cNvPr>
          <p:cNvSpPr txBox="1">
            <a:spLocks noChangeArrowheads="1"/>
          </p:cNvSpPr>
          <p:nvPr/>
        </p:nvSpPr>
        <p:spPr bwMode="auto">
          <a:xfrm>
            <a:off x="4259468" y="4310393"/>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4</a:t>
            </a:r>
          </a:p>
        </p:txBody>
      </p:sp>
      <p:grpSp>
        <p:nvGrpSpPr>
          <p:cNvPr id="71698" name="Group 18">
            <a:extLst>
              <a:ext uri="{FF2B5EF4-FFF2-40B4-BE49-F238E27FC236}">
                <a16:creationId xmlns:a16="http://schemas.microsoft.com/office/drawing/2014/main" id="{70737B2E-1C09-FDD6-E314-53CB2BE90F83}"/>
              </a:ext>
            </a:extLst>
          </p:cNvPr>
          <p:cNvGrpSpPr>
            <a:grpSpLocks/>
          </p:cNvGrpSpPr>
          <p:nvPr/>
        </p:nvGrpSpPr>
        <p:grpSpPr bwMode="auto">
          <a:xfrm>
            <a:off x="357394" y="3395993"/>
            <a:ext cx="1163638" cy="1284288"/>
            <a:chOff x="854" y="3382"/>
            <a:chExt cx="733" cy="809"/>
          </a:xfrm>
        </p:grpSpPr>
        <p:sp>
          <p:nvSpPr>
            <p:cNvPr id="71699" name="Text Box 19">
              <a:extLst>
                <a:ext uri="{FF2B5EF4-FFF2-40B4-BE49-F238E27FC236}">
                  <a16:creationId xmlns:a16="http://schemas.microsoft.com/office/drawing/2014/main" id="{E091CE56-AB86-9E3F-7AAA-00650B53E3FB}"/>
                </a:ext>
              </a:extLst>
            </p:cNvPr>
            <p:cNvSpPr txBox="1">
              <a:spLocks noChangeArrowheads="1"/>
            </p:cNvSpPr>
            <p:nvPr/>
          </p:nvSpPr>
          <p:spPr bwMode="auto">
            <a:xfrm>
              <a:off x="1392" y="3958"/>
              <a:ext cx="1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1</a:t>
              </a:r>
            </a:p>
          </p:txBody>
        </p:sp>
        <p:sp>
          <p:nvSpPr>
            <p:cNvPr id="71700" name="Text Box 20">
              <a:extLst>
                <a:ext uri="{FF2B5EF4-FFF2-40B4-BE49-F238E27FC236}">
                  <a16:creationId xmlns:a16="http://schemas.microsoft.com/office/drawing/2014/main" id="{61FD42B7-C1E0-4CB1-4B23-803967CBF2E1}"/>
                </a:ext>
              </a:extLst>
            </p:cNvPr>
            <p:cNvSpPr txBox="1">
              <a:spLocks noChangeArrowheads="1"/>
            </p:cNvSpPr>
            <p:nvPr/>
          </p:nvSpPr>
          <p:spPr bwMode="auto">
            <a:xfrm>
              <a:off x="854" y="3382"/>
              <a:ext cx="1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1</a:t>
              </a:r>
            </a:p>
          </p:txBody>
        </p:sp>
      </p:grpSp>
      <p:sp>
        <p:nvSpPr>
          <p:cNvPr id="71701" name="Text Box 21">
            <a:extLst>
              <a:ext uri="{FF2B5EF4-FFF2-40B4-BE49-F238E27FC236}">
                <a16:creationId xmlns:a16="http://schemas.microsoft.com/office/drawing/2014/main" id="{08AC0BE6-AECB-4F1A-51AA-A5D4E75260DE}"/>
              </a:ext>
            </a:extLst>
          </p:cNvPr>
          <p:cNvSpPr txBox="1">
            <a:spLocks noChangeArrowheads="1"/>
          </p:cNvSpPr>
          <p:nvPr/>
        </p:nvSpPr>
        <p:spPr bwMode="auto">
          <a:xfrm>
            <a:off x="357393" y="1414793"/>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4</a:t>
            </a:r>
          </a:p>
        </p:txBody>
      </p:sp>
      <p:sp>
        <p:nvSpPr>
          <p:cNvPr id="71702" name="Text Box 22">
            <a:extLst>
              <a:ext uri="{FF2B5EF4-FFF2-40B4-BE49-F238E27FC236}">
                <a16:creationId xmlns:a16="http://schemas.microsoft.com/office/drawing/2014/main" id="{70D78EFA-C249-5B60-1B19-8950ACA88B00}"/>
              </a:ext>
            </a:extLst>
          </p:cNvPr>
          <p:cNvSpPr txBox="1">
            <a:spLocks noChangeArrowheads="1"/>
          </p:cNvSpPr>
          <p:nvPr/>
        </p:nvSpPr>
        <p:spPr bwMode="auto">
          <a:xfrm>
            <a:off x="793956" y="2980068"/>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(1,2)</a:t>
            </a:r>
          </a:p>
        </p:txBody>
      </p:sp>
      <p:sp>
        <p:nvSpPr>
          <p:cNvPr id="71703" name="Line 23">
            <a:extLst>
              <a:ext uri="{FF2B5EF4-FFF2-40B4-BE49-F238E27FC236}">
                <a16:creationId xmlns:a16="http://schemas.microsoft.com/office/drawing/2014/main" id="{5DFC4E12-E2C7-16B6-DDB3-D0286746B93E}"/>
              </a:ext>
            </a:extLst>
          </p:cNvPr>
          <p:cNvSpPr>
            <a:spLocks noChangeShapeType="1"/>
          </p:cNvSpPr>
          <p:nvPr/>
        </p:nvSpPr>
        <p:spPr bwMode="auto">
          <a:xfrm flipH="1">
            <a:off x="601868" y="3665868"/>
            <a:ext cx="762000"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704" name="Text Box 24">
            <a:extLst>
              <a:ext uri="{FF2B5EF4-FFF2-40B4-BE49-F238E27FC236}">
                <a16:creationId xmlns:a16="http://schemas.microsoft.com/office/drawing/2014/main" id="{6946521E-E330-A25E-812F-1D5FE48E7390}"/>
              </a:ext>
            </a:extLst>
          </p:cNvPr>
          <p:cNvSpPr txBox="1">
            <a:spLocks noChangeArrowheads="1"/>
          </p:cNvSpPr>
          <p:nvPr/>
        </p:nvSpPr>
        <p:spPr bwMode="auto">
          <a:xfrm>
            <a:off x="2162381" y="4310393"/>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2</a:t>
            </a:r>
          </a:p>
        </p:txBody>
      </p:sp>
      <p:sp>
        <p:nvSpPr>
          <p:cNvPr id="71705" name="Text Box 25">
            <a:extLst>
              <a:ext uri="{FF2B5EF4-FFF2-40B4-BE49-F238E27FC236}">
                <a16:creationId xmlns:a16="http://schemas.microsoft.com/office/drawing/2014/main" id="{C4A88F1B-3D12-D227-63A4-7E61383DF84D}"/>
              </a:ext>
            </a:extLst>
          </p:cNvPr>
          <p:cNvSpPr txBox="1">
            <a:spLocks noChangeArrowheads="1"/>
          </p:cNvSpPr>
          <p:nvPr/>
        </p:nvSpPr>
        <p:spPr bwMode="auto">
          <a:xfrm>
            <a:off x="352631" y="2786393"/>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2</a:t>
            </a:r>
          </a:p>
        </p:txBody>
      </p:sp>
      <p:sp>
        <p:nvSpPr>
          <p:cNvPr id="71706" name="Line 26">
            <a:extLst>
              <a:ext uri="{FF2B5EF4-FFF2-40B4-BE49-F238E27FC236}">
                <a16:creationId xmlns:a16="http://schemas.microsoft.com/office/drawing/2014/main" id="{2810B1B7-385B-DD1E-7485-20F275D5A6EB}"/>
              </a:ext>
            </a:extLst>
          </p:cNvPr>
          <p:cNvSpPr>
            <a:spLocks noChangeShapeType="1"/>
          </p:cNvSpPr>
          <p:nvPr/>
        </p:nvSpPr>
        <p:spPr bwMode="auto">
          <a:xfrm flipH="1">
            <a:off x="592344" y="3056268"/>
            <a:ext cx="1719263"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707" name="Text Box 27">
            <a:extLst>
              <a:ext uri="{FF2B5EF4-FFF2-40B4-BE49-F238E27FC236}">
                <a16:creationId xmlns:a16="http://schemas.microsoft.com/office/drawing/2014/main" id="{D28BC218-5302-20F6-AABF-8B3B1D1F2BE7}"/>
              </a:ext>
            </a:extLst>
          </p:cNvPr>
          <p:cNvSpPr txBox="1">
            <a:spLocks noChangeArrowheads="1"/>
          </p:cNvSpPr>
          <p:nvPr/>
        </p:nvSpPr>
        <p:spPr bwMode="auto">
          <a:xfrm>
            <a:off x="2125868" y="1379868"/>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(2,4)</a:t>
            </a:r>
          </a:p>
        </p:txBody>
      </p:sp>
      <p:sp>
        <p:nvSpPr>
          <p:cNvPr id="71708" name="Text Box 28">
            <a:extLst>
              <a:ext uri="{FF2B5EF4-FFF2-40B4-BE49-F238E27FC236}">
                <a16:creationId xmlns:a16="http://schemas.microsoft.com/office/drawing/2014/main" id="{791CD5DA-83A5-E633-3423-BFD4A40C9FA1}"/>
              </a:ext>
            </a:extLst>
          </p:cNvPr>
          <p:cNvSpPr txBox="1">
            <a:spLocks noChangeArrowheads="1"/>
          </p:cNvSpPr>
          <p:nvPr/>
        </p:nvSpPr>
        <p:spPr bwMode="auto">
          <a:xfrm>
            <a:off x="3405394" y="3056268"/>
            <a:ext cx="797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(3,1.5)</a:t>
            </a:r>
          </a:p>
        </p:txBody>
      </p:sp>
      <p:sp>
        <p:nvSpPr>
          <p:cNvPr id="71709" name="Line 29">
            <a:extLst>
              <a:ext uri="{FF2B5EF4-FFF2-40B4-BE49-F238E27FC236}">
                <a16:creationId xmlns:a16="http://schemas.microsoft.com/office/drawing/2014/main" id="{2296069A-5501-AA89-F692-0FA842596099}"/>
              </a:ext>
            </a:extLst>
          </p:cNvPr>
          <p:cNvSpPr>
            <a:spLocks noChangeShapeType="1"/>
          </p:cNvSpPr>
          <p:nvPr/>
        </p:nvSpPr>
        <p:spPr bwMode="auto">
          <a:xfrm flipH="1">
            <a:off x="601868" y="1760868"/>
            <a:ext cx="3810000"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710" name="Text Box 30">
            <a:extLst>
              <a:ext uri="{FF2B5EF4-FFF2-40B4-BE49-F238E27FC236}">
                <a16:creationId xmlns:a16="http://schemas.microsoft.com/office/drawing/2014/main" id="{7E965DA4-A451-4F80-D2DF-8CDC2EDAF986}"/>
              </a:ext>
            </a:extLst>
          </p:cNvPr>
          <p:cNvSpPr txBox="1">
            <a:spLocks noChangeArrowheads="1"/>
          </p:cNvSpPr>
          <p:nvPr/>
        </p:nvSpPr>
        <p:spPr bwMode="auto">
          <a:xfrm>
            <a:off x="296497" y="272441"/>
            <a:ext cx="33773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Sum of squared differences =</a:t>
            </a:r>
          </a:p>
        </p:txBody>
      </p:sp>
      <p:sp>
        <p:nvSpPr>
          <p:cNvPr id="71711" name="Text Box 31">
            <a:extLst>
              <a:ext uri="{FF2B5EF4-FFF2-40B4-BE49-F238E27FC236}">
                <a16:creationId xmlns:a16="http://schemas.microsoft.com/office/drawing/2014/main" id="{A7E1A05F-F11D-3BAC-9D68-B2CA7C96E068}"/>
              </a:ext>
            </a:extLst>
          </p:cNvPr>
          <p:cNvSpPr txBox="1">
            <a:spLocks noChangeArrowheads="1"/>
          </p:cNvSpPr>
          <p:nvPr/>
        </p:nvSpPr>
        <p:spPr bwMode="auto">
          <a:xfrm>
            <a:off x="3559370" y="267803"/>
            <a:ext cx="11576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(2 - 1)</a:t>
            </a:r>
            <a:r>
              <a:rPr kumimoji="0" lang="en-US" altLang="en-US" sz="1800" b="1" i="0" u="none" strike="noStrike" kern="1200" cap="none" spc="0" normalizeH="0" baseline="30000" noProof="0" dirty="0">
                <a:ln>
                  <a:noFill/>
                </a:ln>
                <a:solidFill>
                  <a:prstClr val="black"/>
                </a:solidFill>
                <a:effectLst/>
                <a:uLnTx/>
                <a:uFillTx/>
                <a:latin typeface="Aptos" panose="02110004020202020204"/>
                <a:ea typeface="+mn-ea"/>
                <a:cs typeface="+mn-cs"/>
              </a:rPr>
              <a:t>2</a:t>
            </a: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71712" name="Text Box 32">
            <a:extLst>
              <a:ext uri="{FF2B5EF4-FFF2-40B4-BE49-F238E27FC236}">
                <a16:creationId xmlns:a16="http://schemas.microsoft.com/office/drawing/2014/main" id="{7124F4EF-FEAE-83CB-13CE-77DEF6EC6240}"/>
              </a:ext>
            </a:extLst>
          </p:cNvPr>
          <p:cNvSpPr txBox="1">
            <a:spLocks noChangeArrowheads="1"/>
          </p:cNvSpPr>
          <p:nvPr/>
        </p:nvSpPr>
        <p:spPr bwMode="auto">
          <a:xfrm>
            <a:off x="4642551" y="278885"/>
            <a:ext cx="11352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(4 - 2)</a:t>
            </a:r>
            <a:r>
              <a:rPr kumimoji="0" lang="en-US" altLang="en-US" sz="1800" b="1" i="0" u="none" strike="noStrike" kern="1200" cap="none" spc="0" normalizeH="0" baseline="30000" noProof="0" dirty="0">
                <a:ln>
                  <a:noFill/>
                </a:ln>
                <a:solidFill>
                  <a:prstClr val="black"/>
                </a:solidFill>
                <a:effectLst/>
                <a:uLnTx/>
                <a:uFillTx/>
                <a:latin typeface="Aptos" panose="02110004020202020204"/>
                <a:ea typeface="+mn-ea"/>
                <a:cs typeface="+mn-cs"/>
              </a:rPr>
              <a:t>2 </a:t>
            </a: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71713" name="Text Box 33">
            <a:extLst>
              <a:ext uri="{FF2B5EF4-FFF2-40B4-BE49-F238E27FC236}">
                <a16:creationId xmlns:a16="http://schemas.microsoft.com/office/drawing/2014/main" id="{283DFE18-4085-8948-CD8B-0E0A040B4754}"/>
              </a:ext>
            </a:extLst>
          </p:cNvPr>
          <p:cNvSpPr txBox="1">
            <a:spLocks noChangeArrowheads="1"/>
          </p:cNvSpPr>
          <p:nvPr/>
        </p:nvSpPr>
        <p:spPr bwMode="auto">
          <a:xfrm>
            <a:off x="5673372" y="289441"/>
            <a:ext cx="13532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(1.5 - 3)</a:t>
            </a:r>
            <a:r>
              <a:rPr kumimoji="0" lang="en-US" altLang="en-US" sz="1800" b="1" i="0" u="none" strike="noStrike" kern="1200" cap="none" spc="0" normalizeH="0" baseline="30000" noProof="0" dirty="0">
                <a:ln>
                  <a:noFill/>
                </a:ln>
                <a:solidFill>
                  <a:prstClr val="black"/>
                </a:solidFill>
                <a:effectLst/>
                <a:uLnTx/>
                <a:uFillTx/>
                <a:latin typeface="Aptos" panose="02110004020202020204"/>
                <a:ea typeface="+mn-ea"/>
                <a:cs typeface="+mn-cs"/>
              </a:rPr>
              <a:t>2</a:t>
            </a: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71714" name="Text Box 34">
            <a:extLst>
              <a:ext uri="{FF2B5EF4-FFF2-40B4-BE49-F238E27FC236}">
                <a16:creationId xmlns:a16="http://schemas.microsoft.com/office/drawing/2014/main" id="{97C24043-8D01-F451-502E-03ADE3C85BB9}"/>
              </a:ext>
            </a:extLst>
          </p:cNvPr>
          <p:cNvSpPr txBox="1">
            <a:spLocks noChangeArrowheads="1"/>
          </p:cNvSpPr>
          <p:nvPr/>
        </p:nvSpPr>
        <p:spPr bwMode="auto">
          <a:xfrm>
            <a:off x="4472194" y="2024393"/>
            <a:ext cx="797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(4,3.2)</a:t>
            </a:r>
          </a:p>
        </p:txBody>
      </p:sp>
      <p:sp>
        <p:nvSpPr>
          <p:cNvPr id="71715" name="Text Box 35">
            <a:extLst>
              <a:ext uri="{FF2B5EF4-FFF2-40B4-BE49-F238E27FC236}">
                <a16:creationId xmlns:a16="http://schemas.microsoft.com/office/drawing/2014/main" id="{9B4FC0AE-127C-1A7A-AF53-DD85774BDE1F}"/>
              </a:ext>
            </a:extLst>
          </p:cNvPr>
          <p:cNvSpPr txBox="1">
            <a:spLocks noChangeArrowheads="1"/>
          </p:cNvSpPr>
          <p:nvPr/>
        </p:nvSpPr>
        <p:spPr bwMode="auto">
          <a:xfrm>
            <a:off x="6904942" y="312443"/>
            <a:ext cx="1879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(3.2 - 4)</a:t>
            </a:r>
            <a:r>
              <a:rPr kumimoji="0" lang="en-US" altLang="en-US" sz="1800" b="1" i="0" u="none" strike="noStrike" kern="1200" cap="none" spc="0" normalizeH="0" baseline="30000" noProof="0" dirty="0">
                <a:ln>
                  <a:noFill/>
                </a:ln>
                <a:solidFill>
                  <a:prstClr val="black"/>
                </a:solidFill>
                <a:effectLst/>
                <a:uLnTx/>
                <a:uFillTx/>
                <a:latin typeface="Aptos" panose="02110004020202020204"/>
                <a:ea typeface="+mn-ea"/>
                <a:cs typeface="+mn-cs"/>
              </a:rPr>
              <a:t>2</a:t>
            </a:r>
            <a:r>
              <a:rPr kumimoji="0" lang="en-US" altLang="en-US" sz="1800" b="1" i="0" u="none" strike="noStrike" kern="1200" cap="none" spc="0" normalizeH="0" baseline="0" noProof="0" dirty="0">
                <a:ln>
                  <a:noFill/>
                </a:ln>
                <a:solidFill>
                  <a:prstClr val="black"/>
                </a:solidFill>
                <a:effectLst/>
                <a:uLnTx/>
                <a:uFillTx/>
                <a:latin typeface="Aptos" panose="02110004020202020204"/>
                <a:ea typeface="+mn-ea"/>
                <a:cs typeface="+mn-cs"/>
              </a:rPr>
              <a:t> = 6.89</a:t>
            </a:r>
          </a:p>
        </p:txBody>
      </p:sp>
      <p:sp>
        <p:nvSpPr>
          <p:cNvPr id="71716" name="Line 36">
            <a:extLst>
              <a:ext uri="{FF2B5EF4-FFF2-40B4-BE49-F238E27FC236}">
                <a16:creationId xmlns:a16="http://schemas.microsoft.com/office/drawing/2014/main" id="{E7939B61-6F21-2FB3-1E13-34B98FA9BDAA}"/>
              </a:ext>
            </a:extLst>
          </p:cNvPr>
          <p:cNvSpPr>
            <a:spLocks noChangeShapeType="1"/>
          </p:cNvSpPr>
          <p:nvPr/>
        </p:nvSpPr>
        <p:spPr bwMode="auto">
          <a:xfrm>
            <a:off x="601868" y="2716543"/>
            <a:ext cx="381000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71717" name="Group 37">
            <a:extLst>
              <a:ext uri="{FF2B5EF4-FFF2-40B4-BE49-F238E27FC236}">
                <a16:creationId xmlns:a16="http://schemas.microsoft.com/office/drawing/2014/main" id="{81D6E73F-52DA-EEB3-3DC1-C9EDE67C03FB}"/>
              </a:ext>
            </a:extLst>
          </p:cNvPr>
          <p:cNvGrpSpPr>
            <a:grpSpLocks/>
          </p:cNvGrpSpPr>
          <p:nvPr/>
        </p:nvGrpSpPr>
        <p:grpSpPr bwMode="auto">
          <a:xfrm>
            <a:off x="1344818" y="1837069"/>
            <a:ext cx="3048000" cy="1489075"/>
            <a:chOff x="1488" y="2400"/>
            <a:chExt cx="1920" cy="938"/>
          </a:xfrm>
        </p:grpSpPr>
        <p:sp>
          <p:nvSpPr>
            <p:cNvPr id="71718" name="Line 38">
              <a:extLst>
                <a:ext uri="{FF2B5EF4-FFF2-40B4-BE49-F238E27FC236}">
                  <a16:creationId xmlns:a16="http://schemas.microsoft.com/office/drawing/2014/main" id="{8632E4C8-4D0B-512B-0088-B8028366F278}"/>
                </a:ext>
              </a:extLst>
            </p:cNvPr>
            <p:cNvSpPr>
              <a:spLocks noChangeShapeType="1"/>
            </p:cNvSpPr>
            <p:nvPr/>
          </p:nvSpPr>
          <p:spPr bwMode="auto">
            <a:xfrm>
              <a:off x="1488" y="2950"/>
              <a:ext cx="0" cy="240"/>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719" name="Line 39">
              <a:extLst>
                <a:ext uri="{FF2B5EF4-FFF2-40B4-BE49-F238E27FC236}">
                  <a16:creationId xmlns:a16="http://schemas.microsoft.com/office/drawing/2014/main" id="{89F81666-17C2-F445-0E58-741C28CCCD7B}"/>
                </a:ext>
              </a:extLst>
            </p:cNvPr>
            <p:cNvSpPr>
              <a:spLocks noChangeShapeType="1"/>
            </p:cNvSpPr>
            <p:nvPr/>
          </p:nvSpPr>
          <p:spPr bwMode="auto">
            <a:xfrm flipV="1">
              <a:off x="2050" y="2400"/>
              <a:ext cx="0" cy="554"/>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720" name="Line 40">
              <a:extLst>
                <a:ext uri="{FF2B5EF4-FFF2-40B4-BE49-F238E27FC236}">
                  <a16:creationId xmlns:a16="http://schemas.microsoft.com/office/drawing/2014/main" id="{321950B6-EC99-3622-0F40-E8E7D4448B21}"/>
                </a:ext>
              </a:extLst>
            </p:cNvPr>
            <p:cNvSpPr>
              <a:spLocks noChangeShapeType="1"/>
            </p:cNvSpPr>
            <p:nvPr/>
          </p:nvSpPr>
          <p:spPr bwMode="auto">
            <a:xfrm flipV="1">
              <a:off x="3408" y="2666"/>
              <a:ext cx="0" cy="288"/>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1721" name="Line 41">
              <a:extLst>
                <a:ext uri="{FF2B5EF4-FFF2-40B4-BE49-F238E27FC236}">
                  <a16:creationId xmlns:a16="http://schemas.microsoft.com/office/drawing/2014/main" id="{56A779A9-9E4F-807C-1585-5F971C6978F0}"/>
                </a:ext>
              </a:extLst>
            </p:cNvPr>
            <p:cNvSpPr>
              <a:spLocks noChangeShapeType="1"/>
            </p:cNvSpPr>
            <p:nvPr/>
          </p:nvSpPr>
          <p:spPr bwMode="auto">
            <a:xfrm>
              <a:off x="2732" y="2954"/>
              <a:ext cx="0" cy="384"/>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71722" name="Group 42">
            <a:extLst>
              <a:ext uri="{FF2B5EF4-FFF2-40B4-BE49-F238E27FC236}">
                <a16:creationId xmlns:a16="http://schemas.microsoft.com/office/drawing/2014/main" id="{7FDFB824-EA9C-161F-5F99-A48778950B65}"/>
              </a:ext>
            </a:extLst>
          </p:cNvPr>
          <p:cNvGrpSpPr>
            <a:grpSpLocks/>
          </p:cNvGrpSpPr>
          <p:nvPr/>
        </p:nvGrpSpPr>
        <p:grpSpPr bwMode="auto">
          <a:xfrm>
            <a:off x="296497" y="586606"/>
            <a:ext cx="9452647" cy="528705"/>
            <a:chOff x="1056" y="1785"/>
            <a:chExt cx="4831" cy="233"/>
          </a:xfrm>
        </p:grpSpPr>
        <p:sp>
          <p:nvSpPr>
            <p:cNvPr id="71723" name="Text Box 43">
              <a:extLst>
                <a:ext uri="{FF2B5EF4-FFF2-40B4-BE49-F238E27FC236}">
                  <a16:creationId xmlns:a16="http://schemas.microsoft.com/office/drawing/2014/main" id="{F5018C69-C662-13B4-8E3C-8AACBD07CDE6}"/>
                </a:ext>
              </a:extLst>
            </p:cNvPr>
            <p:cNvSpPr txBox="1">
              <a:spLocks noChangeArrowheads="1"/>
            </p:cNvSpPr>
            <p:nvPr/>
          </p:nvSpPr>
          <p:spPr bwMode="auto">
            <a:xfrm>
              <a:off x="1056" y="1785"/>
              <a:ext cx="21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Sum of squared differences =</a:t>
              </a:r>
            </a:p>
          </p:txBody>
        </p:sp>
        <p:sp>
          <p:nvSpPr>
            <p:cNvPr id="71724" name="Text Box 44">
              <a:extLst>
                <a:ext uri="{FF2B5EF4-FFF2-40B4-BE49-F238E27FC236}">
                  <a16:creationId xmlns:a16="http://schemas.microsoft.com/office/drawing/2014/main" id="{7C634FEA-1B62-6FD0-32E1-FCD69CDA57A7}"/>
                </a:ext>
              </a:extLst>
            </p:cNvPr>
            <p:cNvSpPr txBox="1">
              <a:spLocks noChangeArrowheads="1"/>
            </p:cNvSpPr>
            <p:nvPr/>
          </p:nvSpPr>
          <p:spPr bwMode="auto">
            <a:xfrm>
              <a:off x="2756" y="1785"/>
              <a:ext cx="8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(2 -2.5)</a:t>
              </a:r>
              <a:r>
                <a:rPr kumimoji="0" lang="en-US" altLang="en-US" sz="1800" b="1" i="0" u="none" strike="noStrike" kern="1200" cap="none" spc="0" normalizeH="0" baseline="30000" noProof="0">
                  <a:ln>
                    <a:noFill/>
                  </a:ln>
                  <a:solidFill>
                    <a:srgbClr val="E97132"/>
                  </a:solidFill>
                  <a:effectLst/>
                  <a:uLnTx/>
                  <a:uFillTx/>
                  <a:latin typeface="Aptos" panose="02110004020202020204"/>
                  <a:ea typeface="+mn-ea"/>
                  <a:cs typeface="+mn-cs"/>
                </a:rPr>
                <a:t>2</a:t>
              </a: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 +</a:t>
              </a:r>
            </a:p>
          </p:txBody>
        </p:sp>
        <p:sp>
          <p:nvSpPr>
            <p:cNvPr id="71725" name="Text Box 45">
              <a:extLst>
                <a:ext uri="{FF2B5EF4-FFF2-40B4-BE49-F238E27FC236}">
                  <a16:creationId xmlns:a16="http://schemas.microsoft.com/office/drawing/2014/main" id="{F99353E5-AAD1-EC3C-463C-F61866F32B22}"/>
                </a:ext>
              </a:extLst>
            </p:cNvPr>
            <p:cNvSpPr txBox="1">
              <a:spLocks noChangeArrowheads="1"/>
            </p:cNvSpPr>
            <p:nvPr/>
          </p:nvSpPr>
          <p:spPr bwMode="auto">
            <a:xfrm>
              <a:off x="3319" y="1785"/>
              <a:ext cx="83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(4 - 2.5)</a:t>
              </a:r>
              <a:r>
                <a:rPr kumimoji="0" lang="en-US" altLang="en-US" sz="1800" b="1" i="0" u="none" strike="noStrike" kern="1200" cap="none" spc="0" normalizeH="0" baseline="30000" noProof="0">
                  <a:ln>
                    <a:noFill/>
                  </a:ln>
                  <a:solidFill>
                    <a:srgbClr val="E97132"/>
                  </a:solidFill>
                  <a:effectLst/>
                  <a:uLnTx/>
                  <a:uFillTx/>
                  <a:latin typeface="Aptos" panose="02110004020202020204"/>
                  <a:ea typeface="+mn-ea"/>
                  <a:cs typeface="+mn-cs"/>
                </a:rPr>
                <a:t>2 </a:t>
              </a: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a:t>
              </a:r>
            </a:p>
          </p:txBody>
        </p:sp>
        <p:sp>
          <p:nvSpPr>
            <p:cNvPr id="71726" name="Text Box 46">
              <a:extLst>
                <a:ext uri="{FF2B5EF4-FFF2-40B4-BE49-F238E27FC236}">
                  <a16:creationId xmlns:a16="http://schemas.microsoft.com/office/drawing/2014/main" id="{D303FEFB-DC96-861C-B193-70AA20A3C575}"/>
                </a:ext>
              </a:extLst>
            </p:cNvPr>
            <p:cNvSpPr txBox="1">
              <a:spLocks noChangeArrowheads="1"/>
            </p:cNvSpPr>
            <p:nvPr/>
          </p:nvSpPr>
          <p:spPr bwMode="auto">
            <a:xfrm>
              <a:off x="3888" y="1785"/>
              <a:ext cx="9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(1.5 - 2.5)</a:t>
              </a:r>
              <a:r>
                <a:rPr kumimoji="0" lang="en-US" altLang="en-US" sz="1800" b="1" i="0" u="none" strike="noStrike" kern="1200" cap="none" spc="0" normalizeH="0" baseline="30000" noProof="0">
                  <a:ln>
                    <a:noFill/>
                  </a:ln>
                  <a:solidFill>
                    <a:srgbClr val="E97132"/>
                  </a:solidFill>
                  <a:effectLst/>
                  <a:uLnTx/>
                  <a:uFillTx/>
                  <a:latin typeface="Aptos" panose="02110004020202020204"/>
                  <a:ea typeface="+mn-ea"/>
                  <a:cs typeface="+mn-cs"/>
                </a:rPr>
                <a:t>2</a:t>
              </a: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 +</a:t>
              </a:r>
            </a:p>
          </p:txBody>
        </p:sp>
        <p:sp>
          <p:nvSpPr>
            <p:cNvPr id="71727" name="Text Box 47">
              <a:extLst>
                <a:ext uri="{FF2B5EF4-FFF2-40B4-BE49-F238E27FC236}">
                  <a16:creationId xmlns:a16="http://schemas.microsoft.com/office/drawing/2014/main" id="{48E134FC-B1A6-63E6-A94A-45AD03A76DCA}"/>
                </a:ext>
              </a:extLst>
            </p:cNvPr>
            <p:cNvSpPr txBox="1">
              <a:spLocks noChangeArrowheads="1"/>
            </p:cNvSpPr>
            <p:nvPr/>
          </p:nvSpPr>
          <p:spPr bwMode="auto">
            <a:xfrm>
              <a:off x="4580" y="1785"/>
              <a:ext cx="130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(3.2 - 2.5)</a:t>
              </a:r>
              <a:r>
                <a:rPr kumimoji="0" lang="en-US" altLang="en-US" sz="1800" b="1" i="0" u="none" strike="noStrike" kern="1200" cap="none" spc="0" normalizeH="0" baseline="30000" noProof="0">
                  <a:ln>
                    <a:noFill/>
                  </a:ln>
                  <a:solidFill>
                    <a:srgbClr val="E97132"/>
                  </a:solidFill>
                  <a:effectLst/>
                  <a:uLnTx/>
                  <a:uFillTx/>
                  <a:latin typeface="Aptos" panose="02110004020202020204"/>
                  <a:ea typeface="+mn-ea"/>
                  <a:cs typeface="+mn-cs"/>
                </a:rPr>
                <a:t>2</a:t>
              </a:r>
              <a:r>
                <a:rPr kumimoji="0" lang="en-US" altLang="en-US" sz="1800" b="1" i="0" u="none" strike="noStrike" kern="1200" cap="none" spc="0" normalizeH="0" baseline="0" noProof="0">
                  <a:ln>
                    <a:noFill/>
                  </a:ln>
                  <a:solidFill>
                    <a:srgbClr val="E97132"/>
                  </a:solidFill>
                  <a:effectLst/>
                  <a:uLnTx/>
                  <a:uFillTx/>
                  <a:latin typeface="Aptos" panose="02110004020202020204"/>
                  <a:ea typeface="+mn-ea"/>
                  <a:cs typeface="+mn-cs"/>
                </a:rPr>
                <a:t> = 3.99</a:t>
              </a:r>
            </a:p>
          </p:txBody>
        </p:sp>
      </p:grpSp>
      <p:sp>
        <p:nvSpPr>
          <p:cNvPr id="71728" name="Text Box 48">
            <a:extLst>
              <a:ext uri="{FF2B5EF4-FFF2-40B4-BE49-F238E27FC236}">
                <a16:creationId xmlns:a16="http://schemas.microsoft.com/office/drawing/2014/main" id="{F265408A-56D9-FDBB-9191-F220739407F7}"/>
              </a:ext>
            </a:extLst>
          </p:cNvPr>
          <p:cNvSpPr txBox="1">
            <a:spLocks noChangeArrowheads="1"/>
          </p:cNvSpPr>
          <p:nvPr/>
        </p:nvSpPr>
        <p:spPr bwMode="auto">
          <a:xfrm>
            <a:off x="204993" y="2481593"/>
            <a:ext cx="4844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ptos" panose="02110004020202020204"/>
                <a:ea typeface="+mn-ea"/>
                <a:cs typeface="+mn-cs"/>
              </a:rPr>
              <a:t>2.5</a:t>
            </a:r>
          </a:p>
        </p:txBody>
      </p:sp>
      <p:sp>
        <p:nvSpPr>
          <p:cNvPr id="71731" name="Text Box 51">
            <a:extLst>
              <a:ext uri="{FF2B5EF4-FFF2-40B4-BE49-F238E27FC236}">
                <a16:creationId xmlns:a16="http://schemas.microsoft.com/office/drawing/2014/main" id="{5CBC0E9D-BF74-AB28-98E5-259DC1B83DB0}"/>
              </a:ext>
            </a:extLst>
          </p:cNvPr>
          <p:cNvSpPr txBox="1">
            <a:spLocks noChangeArrowheads="1"/>
          </p:cNvSpPr>
          <p:nvPr/>
        </p:nvSpPr>
        <p:spPr bwMode="auto">
          <a:xfrm>
            <a:off x="5494542" y="2115864"/>
            <a:ext cx="3418628" cy="1569660"/>
          </a:xfrm>
          <a:prstGeom prst="rect">
            <a:avLst/>
          </a:prstGeom>
          <a:solidFill>
            <a:srgbClr val="D1D1D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ptos" panose="02110004020202020204"/>
                <a:ea typeface="+mn-ea"/>
                <a:cs typeface="+mn-cs"/>
              </a:rPr>
              <a:t>The smaller the sum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ptos" panose="02110004020202020204"/>
                <a:ea typeface="+mn-ea"/>
                <a:cs typeface="+mn-cs"/>
              </a:rPr>
              <a:t>squared differences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ptos" panose="02110004020202020204"/>
                <a:ea typeface="+mn-ea"/>
                <a:cs typeface="+mn-cs"/>
              </a:rPr>
              <a:t>the better the “fit” of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ptos" panose="02110004020202020204"/>
                <a:ea typeface="+mn-ea"/>
                <a:cs typeface="+mn-cs"/>
              </a:rPr>
              <a:t>line to the data (?)</a:t>
            </a:r>
          </a:p>
        </p:txBody>
      </p:sp>
      <p:sp>
        <p:nvSpPr>
          <p:cNvPr id="5" name="TextBox 4">
            <a:extLst>
              <a:ext uri="{FF2B5EF4-FFF2-40B4-BE49-F238E27FC236}">
                <a16:creationId xmlns:a16="http://schemas.microsoft.com/office/drawing/2014/main" id="{02CC21B1-A554-E9B8-C3F9-2A9568F77CC3}"/>
              </a:ext>
            </a:extLst>
          </p:cNvPr>
          <p:cNvSpPr txBox="1"/>
          <p:nvPr/>
        </p:nvSpPr>
        <p:spPr>
          <a:xfrm>
            <a:off x="402899" y="5029066"/>
            <a:ext cx="60976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We want to draw a line that represents the data trend.</a:t>
            </a:r>
          </a:p>
        </p:txBody>
      </p:sp>
      <p:sp>
        <p:nvSpPr>
          <p:cNvPr id="7" name="TextBox 6">
            <a:extLst>
              <a:ext uri="{FF2B5EF4-FFF2-40B4-BE49-F238E27FC236}">
                <a16:creationId xmlns:a16="http://schemas.microsoft.com/office/drawing/2014/main" id="{9EE965FA-7603-887B-9735-0EF8ADFB8314}"/>
              </a:ext>
            </a:extLst>
          </p:cNvPr>
          <p:cNvSpPr txBox="1"/>
          <p:nvPr/>
        </p:nvSpPr>
        <p:spPr>
          <a:xfrm>
            <a:off x="402899" y="5300436"/>
            <a:ext cx="10540945"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Segoe WPC"/>
                <a:ea typeface="+mn-ea"/>
                <a:cs typeface="+mn-cs"/>
              </a:rPr>
              <a:t> Squared Error:</a:t>
            </a:r>
            <a:r>
              <a:rPr kumimoji="0" lang="en-US" sz="1800" b="0" i="0" u="none" strike="noStrike" kern="1200" cap="none" spc="0" normalizeH="0" baseline="0" noProof="0" dirty="0">
                <a:ln>
                  <a:noFill/>
                </a:ln>
                <a:solidFill>
                  <a:prstClr val="black"/>
                </a:solidFill>
                <a:effectLst/>
                <a:uLnTx/>
                <a:uFillTx/>
                <a:latin typeface="Segoe WPC"/>
                <a:ea typeface="+mn-ea"/>
                <a:cs typeface="+mn-cs"/>
              </a:rPr>
              <a:t> We square the errors so negative and positive values don't cancel each other out.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Segoe WPC"/>
                <a:ea typeface="+mn-ea"/>
                <a:cs typeface="+mn-cs"/>
              </a:rPr>
              <a:t> Sum of Squared Errors (SSE):</a:t>
            </a:r>
            <a:r>
              <a:rPr kumimoji="0" lang="en-US" sz="1800" b="0" i="0" u="none" strike="noStrike" kern="1200" cap="none" spc="0" normalizeH="0" baseline="0" noProof="0" dirty="0">
                <a:ln>
                  <a:noFill/>
                </a:ln>
                <a:solidFill>
                  <a:prstClr val="black"/>
                </a:solidFill>
                <a:effectLst/>
                <a:uLnTx/>
                <a:uFillTx/>
                <a:latin typeface="Segoe WPC"/>
                <a:ea typeface="+mn-ea"/>
                <a:cs typeface="+mn-cs"/>
              </a:rPr>
              <a:t> We add them all up to get a single "score" for the line.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Segoe WPC"/>
                <a:ea typeface="+mn-ea"/>
                <a:cs typeface="+mn-cs"/>
              </a:rPr>
              <a:t>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Regression algorithms mathematically test "every possible line.“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The "Best Fit Line" is the one line in the universe that produces the smallest possible SSE.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Segoe WPC"/>
              <a:ea typeface="+mn-ea"/>
              <a:cs typeface="+mn-cs"/>
            </a:endParaRPr>
          </a:p>
        </p:txBody>
      </p:sp>
    </p:spTree>
    <p:extLst>
      <p:ext uri="{BB962C8B-B14F-4D97-AF65-F5344CB8AC3E}">
        <p14:creationId xmlns:p14="http://schemas.microsoft.com/office/powerpoint/2010/main" val="1880367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93"/>
                                        </p:tgtEl>
                                        <p:attrNameLst>
                                          <p:attrName>style.visibility</p:attrName>
                                        </p:attrNameLst>
                                      </p:cBhvr>
                                      <p:to>
                                        <p:strVal val="visible"/>
                                      </p:to>
                                    </p:set>
                                    <p:animEffect transition="in" filter="wipe(left)">
                                      <p:cBhvr>
                                        <p:cTn id="7" dur="500"/>
                                        <p:tgtEl>
                                          <p:spTgt spid="71693"/>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71698"/>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1" fill="hold" nodeType="afterEffect">
                                  <p:stCondLst>
                                    <p:cond delay="0"/>
                                  </p:stCondLst>
                                  <p:childTnLst>
                                    <p:set>
                                      <p:cBhvr>
                                        <p:cTn id="13" dur="1" fill="hold">
                                          <p:stCondLst>
                                            <p:cond delay="0"/>
                                          </p:stCondLst>
                                        </p:cTn>
                                        <p:tgtEl>
                                          <p:spTgt spid="71694"/>
                                        </p:tgtEl>
                                        <p:attrNameLst>
                                          <p:attrName>style.visibility</p:attrName>
                                        </p:attrNameLst>
                                      </p:cBhvr>
                                      <p:to>
                                        <p:strVal val="visible"/>
                                      </p:to>
                                    </p:set>
                                    <p:animEffect transition="in" filter="wipe(up)">
                                      <p:cBhvr>
                                        <p:cTn id="14" dur="500"/>
                                        <p:tgtEl>
                                          <p:spTgt spid="71694"/>
                                        </p:tgtEl>
                                      </p:cBhvr>
                                    </p:animEffect>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71703"/>
                                        </p:tgtEl>
                                        <p:attrNameLst>
                                          <p:attrName>style.visibility</p:attrName>
                                        </p:attrNameLst>
                                      </p:cBhvr>
                                      <p:to>
                                        <p:strVal val="visible"/>
                                      </p:to>
                                    </p:set>
                                    <p:animEffect transition="in" filter="wipe(right)">
                                      <p:cBhvr>
                                        <p:cTn id="18" dur="500"/>
                                        <p:tgtEl>
                                          <p:spTgt spid="71703"/>
                                        </p:tgtEl>
                                      </p:cBhvr>
                                    </p:animEffect>
                                  </p:childTnLst>
                                </p:cTn>
                              </p:par>
                            </p:childTnLst>
                          </p:cTn>
                        </p:par>
                        <p:par>
                          <p:cTn id="19" fill="hold" nodeType="afterGroup">
                            <p:stCondLst>
                              <p:cond delay="2000"/>
                            </p:stCondLst>
                            <p:childTnLst>
                              <p:par>
                                <p:cTn id="20" presetID="4" presetClass="entr" presetSubtype="32" fill="hold" grpId="0" nodeType="afterEffect">
                                  <p:stCondLst>
                                    <p:cond delay="0"/>
                                  </p:stCondLst>
                                  <p:childTnLst>
                                    <p:set>
                                      <p:cBhvr>
                                        <p:cTn id="21" dur="1" fill="hold">
                                          <p:stCondLst>
                                            <p:cond delay="0"/>
                                          </p:stCondLst>
                                        </p:cTn>
                                        <p:tgtEl>
                                          <p:spTgt spid="71710"/>
                                        </p:tgtEl>
                                        <p:attrNameLst>
                                          <p:attrName>style.visibility</p:attrName>
                                        </p:attrNameLst>
                                      </p:cBhvr>
                                      <p:to>
                                        <p:strVal val="visible"/>
                                      </p:to>
                                    </p:set>
                                    <p:animEffect transition="in" filter="box(out)">
                                      <p:cBhvr>
                                        <p:cTn id="22" dur="500"/>
                                        <p:tgtEl>
                                          <p:spTgt spid="71710"/>
                                        </p:tgtEl>
                                      </p:cBhvr>
                                    </p:animEffect>
                                  </p:childTnLst>
                                </p:cTn>
                              </p:par>
                            </p:childTnLst>
                          </p:cTn>
                        </p:par>
                        <p:par>
                          <p:cTn id="23" fill="hold" nodeType="afterGroup">
                            <p:stCondLst>
                              <p:cond delay="2500"/>
                            </p:stCondLst>
                            <p:childTnLst>
                              <p:par>
                                <p:cTn id="24" presetID="1" presetClass="entr" presetSubtype="0" fill="hold" grpId="0" nodeType="afterEffect">
                                  <p:stCondLst>
                                    <p:cond delay="0"/>
                                  </p:stCondLst>
                                  <p:childTnLst>
                                    <p:set>
                                      <p:cBhvr>
                                        <p:cTn id="25" dur="1" fill="hold">
                                          <p:stCondLst>
                                            <p:cond delay="499"/>
                                          </p:stCondLst>
                                        </p:cTn>
                                        <p:tgtEl>
                                          <p:spTgt spid="7171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1695"/>
                                        </p:tgtEl>
                                        <p:attrNameLst>
                                          <p:attrName>style.visibility</p:attrName>
                                        </p:attrNameLst>
                                      </p:cBhvr>
                                      <p:to>
                                        <p:strVal val="visible"/>
                                      </p:to>
                                    </p:set>
                                    <p:animEffect transition="in" filter="wipe(up)">
                                      <p:cBhvr>
                                        <p:cTn id="30" dur="500"/>
                                        <p:tgtEl>
                                          <p:spTgt spid="71695"/>
                                        </p:tgtEl>
                                      </p:cBhvr>
                                    </p:animEffect>
                                  </p:childTnLst>
                                </p:cTn>
                              </p:par>
                            </p:childTnLst>
                          </p:cTn>
                        </p:par>
                        <p:par>
                          <p:cTn id="31" fill="hold" nodeType="afterGroup">
                            <p:stCondLst>
                              <p:cond delay="500"/>
                            </p:stCondLst>
                            <p:childTnLst>
                              <p:par>
                                <p:cTn id="32" presetID="22" presetClass="entr" presetSubtype="2" fill="hold" nodeType="afterEffect">
                                  <p:stCondLst>
                                    <p:cond delay="0"/>
                                  </p:stCondLst>
                                  <p:childTnLst>
                                    <p:set>
                                      <p:cBhvr>
                                        <p:cTn id="33" dur="1" fill="hold">
                                          <p:stCondLst>
                                            <p:cond delay="0"/>
                                          </p:stCondLst>
                                        </p:cTn>
                                        <p:tgtEl>
                                          <p:spTgt spid="71706"/>
                                        </p:tgtEl>
                                        <p:attrNameLst>
                                          <p:attrName>style.visibility</p:attrName>
                                        </p:attrNameLst>
                                      </p:cBhvr>
                                      <p:to>
                                        <p:strVal val="visible"/>
                                      </p:to>
                                    </p:set>
                                    <p:animEffect transition="in" filter="wipe(right)">
                                      <p:cBhvr>
                                        <p:cTn id="34" dur="500"/>
                                        <p:tgtEl>
                                          <p:spTgt spid="71706"/>
                                        </p:tgtEl>
                                      </p:cBhvr>
                                    </p:animEffect>
                                  </p:childTnLst>
                                </p:cTn>
                              </p:par>
                            </p:childTnLst>
                          </p:cTn>
                        </p:par>
                        <p:par>
                          <p:cTn id="35" fill="hold" nodeType="afterGroup">
                            <p:stCondLst>
                              <p:cond delay="1000"/>
                            </p:stCondLst>
                            <p:childTnLst>
                              <p:par>
                                <p:cTn id="36" presetID="1" presetClass="entr" presetSubtype="0" fill="hold" grpId="0" nodeType="afterEffect">
                                  <p:stCondLst>
                                    <p:cond delay="0"/>
                                  </p:stCondLst>
                                  <p:childTnLst>
                                    <p:set>
                                      <p:cBhvr>
                                        <p:cTn id="37" dur="1" fill="hold">
                                          <p:stCondLst>
                                            <p:cond delay="499"/>
                                          </p:stCondLst>
                                        </p:cTn>
                                        <p:tgtEl>
                                          <p:spTgt spid="71712"/>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71686"/>
                                        </p:tgtEl>
                                        <p:attrNameLst>
                                          <p:attrName>style.visibility</p:attrName>
                                        </p:attrNameLst>
                                      </p:cBhvr>
                                      <p:to>
                                        <p:strVal val="visible"/>
                                      </p:to>
                                    </p:set>
                                    <p:animEffect transition="in" filter="wipe(down)">
                                      <p:cBhvr>
                                        <p:cTn id="42" dur="500"/>
                                        <p:tgtEl>
                                          <p:spTgt spid="71686"/>
                                        </p:tgtEl>
                                      </p:cBhvr>
                                    </p:animEffect>
                                  </p:childTnLst>
                                </p:cTn>
                              </p:par>
                            </p:childTnLst>
                          </p:cTn>
                        </p:par>
                        <p:par>
                          <p:cTn id="43" fill="hold" nodeType="afterGroup">
                            <p:stCondLst>
                              <p:cond delay="500"/>
                            </p:stCondLst>
                            <p:childTnLst>
                              <p:par>
                                <p:cTn id="44" presetID="22" presetClass="entr" presetSubtype="2" fill="hold" nodeType="afterEffect">
                                  <p:stCondLst>
                                    <p:cond delay="0"/>
                                  </p:stCondLst>
                                  <p:childTnLst>
                                    <p:set>
                                      <p:cBhvr>
                                        <p:cTn id="45" dur="1" fill="hold">
                                          <p:stCondLst>
                                            <p:cond delay="0"/>
                                          </p:stCondLst>
                                        </p:cTn>
                                        <p:tgtEl>
                                          <p:spTgt spid="71685"/>
                                        </p:tgtEl>
                                        <p:attrNameLst>
                                          <p:attrName>style.visibility</p:attrName>
                                        </p:attrNameLst>
                                      </p:cBhvr>
                                      <p:to>
                                        <p:strVal val="visible"/>
                                      </p:to>
                                    </p:set>
                                    <p:animEffect transition="in" filter="wipe(right)">
                                      <p:cBhvr>
                                        <p:cTn id="46" dur="500"/>
                                        <p:tgtEl>
                                          <p:spTgt spid="71685"/>
                                        </p:tgtEl>
                                      </p:cBhvr>
                                    </p:animEffect>
                                  </p:childTnLst>
                                </p:cTn>
                              </p:par>
                            </p:childTnLst>
                          </p:cTn>
                        </p:par>
                        <p:par>
                          <p:cTn id="47" fill="hold" nodeType="afterGroup">
                            <p:stCondLst>
                              <p:cond delay="1000"/>
                            </p:stCondLst>
                            <p:childTnLst>
                              <p:par>
                                <p:cTn id="48" presetID="1" presetClass="entr" presetSubtype="0" fill="hold" grpId="0" nodeType="afterEffect">
                                  <p:stCondLst>
                                    <p:cond delay="0"/>
                                  </p:stCondLst>
                                  <p:childTnLst>
                                    <p:set>
                                      <p:cBhvr>
                                        <p:cTn id="49" dur="1" fill="hold">
                                          <p:stCondLst>
                                            <p:cond delay="499"/>
                                          </p:stCondLst>
                                        </p:cTn>
                                        <p:tgtEl>
                                          <p:spTgt spid="7171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nodeType="clickEffect">
                                  <p:stCondLst>
                                    <p:cond delay="0"/>
                                  </p:stCondLst>
                                  <p:childTnLst>
                                    <p:set>
                                      <p:cBhvr>
                                        <p:cTn id="53" dur="1" fill="hold">
                                          <p:stCondLst>
                                            <p:cond delay="0"/>
                                          </p:stCondLst>
                                        </p:cTn>
                                        <p:tgtEl>
                                          <p:spTgt spid="71696"/>
                                        </p:tgtEl>
                                        <p:attrNameLst>
                                          <p:attrName>style.visibility</p:attrName>
                                        </p:attrNameLst>
                                      </p:cBhvr>
                                      <p:to>
                                        <p:strVal val="visible"/>
                                      </p:to>
                                    </p:set>
                                    <p:animEffect transition="in" filter="wipe(down)">
                                      <p:cBhvr>
                                        <p:cTn id="54" dur="500"/>
                                        <p:tgtEl>
                                          <p:spTgt spid="71696"/>
                                        </p:tgtEl>
                                      </p:cBhvr>
                                    </p:animEffect>
                                  </p:childTnLst>
                                </p:cTn>
                              </p:par>
                            </p:childTnLst>
                          </p:cTn>
                        </p:par>
                        <p:par>
                          <p:cTn id="55" fill="hold" nodeType="afterGroup">
                            <p:stCondLst>
                              <p:cond delay="500"/>
                            </p:stCondLst>
                            <p:childTnLst>
                              <p:par>
                                <p:cTn id="56" presetID="22" presetClass="entr" presetSubtype="2" fill="hold" nodeType="afterEffect">
                                  <p:stCondLst>
                                    <p:cond delay="0"/>
                                  </p:stCondLst>
                                  <p:childTnLst>
                                    <p:set>
                                      <p:cBhvr>
                                        <p:cTn id="57" dur="1" fill="hold">
                                          <p:stCondLst>
                                            <p:cond delay="0"/>
                                          </p:stCondLst>
                                        </p:cTn>
                                        <p:tgtEl>
                                          <p:spTgt spid="71709"/>
                                        </p:tgtEl>
                                        <p:attrNameLst>
                                          <p:attrName>style.visibility</p:attrName>
                                        </p:attrNameLst>
                                      </p:cBhvr>
                                      <p:to>
                                        <p:strVal val="visible"/>
                                      </p:to>
                                    </p:set>
                                    <p:animEffect transition="in" filter="wipe(right)">
                                      <p:cBhvr>
                                        <p:cTn id="58" dur="500"/>
                                        <p:tgtEl>
                                          <p:spTgt spid="71709"/>
                                        </p:tgtEl>
                                      </p:cBhvr>
                                    </p:animEffect>
                                  </p:childTnLst>
                                </p:cTn>
                              </p:par>
                            </p:childTnLst>
                          </p:cTn>
                        </p:par>
                        <p:par>
                          <p:cTn id="59" fill="hold" nodeType="afterGroup">
                            <p:stCondLst>
                              <p:cond delay="1000"/>
                            </p:stCondLst>
                            <p:childTnLst>
                              <p:par>
                                <p:cTn id="60" presetID="1" presetClass="entr" presetSubtype="0" fill="hold" grpId="0" nodeType="afterEffect">
                                  <p:stCondLst>
                                    <p:cond delay="0"/>
                                  </p:stCondLst>
                                  <p:childTnLst>
                                    <p:set>
                                      <p:cBhvr>
                                        <p:cTn id="61" dur="1" fill="hold">
                                          <p:stCondLst>
                                            <p:cond delay="499"/>
                                          </p:stCondLst>
                                        </p:cTn>
                                        <p:tgtEl>
                                          <p:spTgt spid="71715"/>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1716"/>
                                        </p:tgtEl>
                                        <p:attrNameLst>
                                          <p:attrName>style.visibility</p:attrName>
                                        </p:attrNameLst>
                                      </p:cBhvr>
                                      <p:to>
                                        <p:strVal val="visible"/>
                                      </p:to>
                                    </p:set>
                                    <p:animEffect transition="in" filter="wipe(left)">
                                      <p:cBhvr>
                                        <p:cTn id="66" dur="500"/>
                                        <p:tgtEl>
                                          <p:spTgt spid="71716"/>
                                        </p:tgtEl>
                                      </p:cBhvr>
                                    </p:animEffect>
                                  </p:childTnLst>
                                </p:cTn>
                              </p:par>
                            </p:childTnLst>
                          </p:cTn>
                        </p:par>
                        <p:par>
                          <p:cTn id="67" fill="hold" nodeType="afterGroup">
                            <p:stCondLst>
                              <p:cond delay="500"/>
                            </p:stCondLst>
                            <p:childTnLst>
                              <p:par>
                                <p:cTn id="68" presetID="17" presetClass="entr" presetSubtype="10" fill="hold" nodeType="afterEffect">
                                  <p:stCondLst>
                                    <p:cond delay="0"/>
                                  </p:stCondLst>
                                  <p:childTnLst>
                                    <p:set>
                                      <p:cBhvr>
                                        <p:cTn id="69" dur="1" fill="hold">
                                          <p:stCondLst>
                                            <p:cond delay="0"/>
                                          </p:stCondLst>
                                        </p:cTn>
                                        <p:tgtEl>
                                          <p:spTgt spid="71717"/>
                                        </p:tgtEl>
                                        <p:attrNameLst>
                                          <p:attrName>style.visibility</p:attrName>
                                        </p:attrNameLst>
                                      </p:cBhvr>
                                      <p:to>
                                        <p:strVal val="visible"/>
                                      </p:to>
                                    </p:set>
                                    <p:anim calcmode="lin" valueType="num">
                                      <p:cBhvr>
                                        <p:cTn id="70" dur="500" fill="hold"/>
                                        <p:tgtEl>
                                          <p:spTgt spid="71717"/>
                                        </p:tgtEl>
                                        <p:attrNameLst>
                                          <p:attrName>ppt_w</p:attrName>
                                        </p:attrNameLst>
                                      </p:cBhvr>
                                      <p:tavLst>
                                        <p:tav tm="0">
                                          <p:val>
                                            <p:fltVal val="0"/>
                                          </p:val>
                                        </p:tav>
                                        <p:tav tm="100000">
                                          <p:val>
                                            <p:strVal val="#ppt_w"/>
                                          </p:val>
                                        </p:tav>
                                      </p:tavLst>
                                    </p:anim>
                                    <p:anim calcmode="lin" valueType="num">
                                      <p:cBhvr>
                                        <p:cTn id="71" dur="500" fill="hold"/>
                                        <p:tgtEl>
                                          <p:spTgt spid="71717"/>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71722"/>
                                        </p:tgtEl>
                                        <p:attrNameLst>
                                          <p:attrName>style.visibility</p:attrName>
                                        </p:attrNameLst>
                                      </p:cBhvr>
                                      <p:to>
                                        <p:strVal val="visible"/>
                                      </p:to>
                                    </p:set>
                                    <p:animEffect transition="in" filter="wipe(left)">
                                      <p:cBhvr>
                                        <p:cTn id="76" dur="500"/>
                                        <p:tgtEl>
                                          <p:spTgt spid="71722"/>
                                        </p:tgtEl>
                                      </p:cBhvr>
                                    </p:animEffect>
                                  </p:childTnLst>
                                </p:cTn>
                              </p:par>
                            </p:childTnLst>
                          </p:cTn>
                        </p:par>
                        <p:par>
                          <p:cTn id="77" fill="hold" nodeType="afterGroup">
                            <p:stCondLst>
                              <p:cond delay="500"/>
                            </p:stCondLst>
                            <p:childTnLst>
                              <p:par>
                                <p:cTn id="78" presetID="1" presetClass="entr" presetSubtype="0" fill="hold" grpId="0" nodeType="afterEffect">
                                  <p:stCondLst>
                                    <p:cond delay="0"/>
                                  </p:stCondLst>
                                  <p:childTnLst>
                                    <p:set>
                                      <p:cBhvr>
                                        <p:cTn id="79" dur="1" fill="hold">
                                          <p:stCondLst>
                                            <p:cond delay="499"/>
                                          </p:stCondLst>
                                        </p:cTn>
                                        <p:tgtEl>
                                          <p:spTgt spid="71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0" grpId="0" autoUpdateAnimBg="0"/>
      <p:bldP spid="71711" grpId="0" autoUpdateAnimBg="0"/>
      <p:bldP spid="71712" grpId="0" autoUpdateAnimBg="0"/>
      <p:bldP spid="71713" grpId="0" autoUpdateAnimBg="0"/>
      <p:bldP spid="71715" grpId="0" autoUpdateAnimBg="0"/>
      <p:bldP spid="71731"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3E2B-1BEC-04EB-ED40-F772BD44FA42}"/>
              </a:ext>
            </a:extLst>
          </p:cNvPr>
          <p:cNvSpPr>
            <a:spLocks noGrp="1"/>
          </p:cNvSpPr>
          <p:nvPr>
            <p:ph type="title"/>
          </p:nvPr>
        </p:nvSpPr>
        <p:spPr>
          <a:xfrm>
            <a:off x="202933" y="100586"/>
            <a:ext cx="10515600" cy="715130"/>
          </a:xfrm>
        </p:spPr>
        <p:txBody>
          <a:bodyPr>
            <a:normAutofit/>
          </a:bodyPr>
          <a:lstStyle/>
          <a:p>
            <a:r>
              <a:rPr lang="en-US" sz="3600" dirty="0">
                <a:latin typeface="Arial" panose="020B0604020202020204" pitchFamily="34" charset="0"/>
                <a:cs typeface="Arial" panose="020B0604020202020204" pitchFamily="34" charset="0"/>
              </a:rPr>
              <a:t>Method of Least Squares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ACAFDE-2D11-D9E2-DECD-AAEB968C814D}"/>
                  </a:ext>
                </a:extLst>
              </p:cNvPr>
              <p:cNvSpPr>
                <a:spLocks noGrp="1"/>
              </p:cNvSpPr>
              <p:nvPr>
                <p:ph idx="1"/>
              </p:nvPr>
            </p:nvSpPr>
            <p:spPr>
              <a:xfrm>
                <a:off x="308810" y="993310"/>
                <a:ext cx="10515600" cy="4351338"/>
              </a:xfrm>
            </p:spPr>
            <p:txBody>
              <a:bodyPr>
                <a:normAutofit/>
              </a:bodyPr>
              <a:lstStyle/>
              <a:p>
                <a:r>
                  <a:rPr lang="en-US" sz="2000" dirty="0">
                    <a:latin typeface="Arial" panose="020B0604020202020204" pitchFamily="34" charset="0"/>
                    <a:cs typeface="Arial" panose="020B0604020202020204" pitchFamily="34" charset="0"/>
                  </a:rPr>
                  <a:t>To find "good" estimators of the regression parameters </a:t>
                </a:r>
                <a14:m>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𝛽</m:t>
                        </m:r>
                      </m:e>
                      <m:sub>
                        <m:r>
                          <a:rPr lang="en-US" sz="2000" i="1">
                            <a:solidFill>
                              <a:srgbClr val="000000"/>
                            </a:solidFill>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𝛽</m:t>
                        </m:r>
                      </m:e>
                      <m:sub>
                        <m:r>
                          <a:rPr lang="en-US" sz="2000" b="0" i="1" smtClean="0">
                            <a:solidFill>
                              <a:srgbClr val="000000"/>
                            </a:solidFill>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we employ the method of least squares. </a:t>
                </a:r>
              </a:p>
              <a:p>
                <a:r>
                  <a:rPr lang="en-US" sz="2000" dirty="0">
                    <a:latin typeface="Arial" panose="020B0604020202020204" pitchFamily="34" charset="0"/>
                    <a:cs typeface="Arial" panose="020B0604020202020204" pitchFamily="34" charset="0"/>
                  </a:rPr>
                  <a:t>The method of least squares considers the deviation of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i from its expected value</a:t>
                </a:r>
              </a:p>
              <a:p>
                <a:r>
                  <a:rPr lang="en-US" sz="2000" dirty="0">
                    <a:latin typeface="Arial" panose="020B0604020202020204" pitchFamily="34" charset="0"/>
                    <a:cs typeface="Arial" panose="020B0604020202020204" pitchFamily="34" charset="0"/>
                  </a:rPr>
                  <a:t>In particular, the method of least squares requires that we consider the sum of the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squared deviations. </a:t>
                </a:r>
              </a:p>
              <a:p>
                <a:r>
                  <a:rPr lang="en-US" sz="2000" dirty="0">
                    <a:latin typeface="Arial" panose="020B0604020202020204" pitchFamily="34" charset="0"/>
                    <a:cs typeface="Arial" panose="020B0604020202020204" pitchFamily="34" charset="0"/>
                  </a:rPr>
                  <a:t>This criterion is denoted by Q:</a:t>
                </a:r>
              </a:p>
            </p:txBody>
          </p:sp>
        </mc:Choice>
        <mc:Fallback xmlns="">
          <p:sp>
            <p:nvSpPr>
              <p:cNvPr id="3" name="Content Placeholder 2">
                <a:extLst>
                  <a:ext uri="{FF2B5EF4-FFF2-40B4-BE49-F238E27FC236}">
                    <a16:creationId xmlns:a16="http://schemas.microsoft.com/office/drawing/2014/main" id="{3BACAFDE-2D11-D9E2-DECD-AAEB968C814D}"/>
                  </a:ext>
                </a:extLst>
              </p:cNvPr>
              <p:cNvSpPr>
                <a:spLocks noGrp="1" noRot="1" noChangeAspect="1" noMove="1" noResize="1" noEditPoints="1" noAdjustHandles="1" noChangeArrowheads="1" noChangeShapeType="1" noTextEdit="1"/>
              </p:cNvSpPr>
              <p:nvPr>
                <p:ph idx="1"/>
              </p:nvPr>
            </p:nvSpPr>
            <p:spPr>
              <a:xfrm>
                <a:off x="308810" y="993310"/>
                <a:ext cx="10515600" cy="4351338"/>
              </a:xfrm>
              <a:blipFill>
                <a:blip r:embed="rId2"/>
                <a:stretch>
                  <a:fillRect l="-522" t="-1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1F9A91-1A76-BC2D-DB0E-D4D55EF535FC}"/>
                  </a:ext>
                </a:extLst>
              </p:cNvPr>
              <p:cNvSpPr txBox="1"/>
              <p:nvPr/>
            </p:nvSpPr>
            <p:spPr>
              <a:xfrm>
                <a:off x="1988404" y="4244090"/>
                <a:ext cx="2682433" cy="11005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𝑄</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 − </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e>
                      </m:nary>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A91F9A91-1A76-BC2D-DB0E-D4D55EF535FC}"/>
                  </a:ext>
                </a:extLst>
              </p:cNvPr>
              <p:cNvSpPr txBox="1">
                <a:spLocks noRot="1" noChangeAspect="1" noMove="1" noResize="1" noEditPoints="1" noAdjustHandles="1" noChangeArrowheads="1" noChangeShapeType="1" noTextEdit="1"/>
              </p:cNvSpPr>
              <p:nvPr/>
            </p:nvSpPr>
            <p:spPr>
              <a:xfrm>
                <a:off x="1988404" y="4244090"/>
                <a:ext cx="2682433" cy="110055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B0A87C2-9EE0-CD8E-F49D-D0A7B1492D48}"/>
                  </a:ext>
                </a:extLst>
              </p:cNvPr>
              <p:cNvSpPr txBox="1"/>
              <p:nvPr/>
            </p:nvSpPr>
            <p:spPr>
              <a:xfrm>
                <a:off x="5174819" y="4201174"/>
                <a:ext cx="4643860" cy="11005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𝑄</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 − </m:t>
                                  </m:r>
                                  <m:r>
                                    <a:rPr kumimoji="0" 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 </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e>
                              </m:d>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e>
                      </m:nary>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TextBox 6">
                <a:extLst>
                  <a:ext uri="{FF2B5EF4-FFF2-40B4-BE49-F238E27FC236}">
                    <a16:creationId xmlns:a16="http://schemas.microsoft.com/office/drawing/2014/main" id="{EB0A87C2-9EE0-CD8E-F49D-D0A7B1492D48}"/>
                  </a:ext>
                </a:extLst>
              </p:cNvPr>
              <p:cNvSpPr txBox="1">
                <a:spLocks noRot="1" noChangeAspect="1" noMove="1" noResize="1" noEditPoints="1" noAdjustHandles="1" noChangeArrowheads="1" noChangeShapeType="1" noTextEdit="1"/>
              </p:cNvSpPr>
              <p:nvPr/>
            </p:nvSpPr>
            <p:spPr>
              <a:xfrm>
                <a:off x="5174819" y="4201174"/>
                <a:ext cx="4643860" cy="1100558"/>
              </a:xfrm>
              <a:prstGeom prst="rect">
                <a:avLst/>
              </a:prstGeom>
              <a:blipFill>
                <a:blip r:embed="rId4"/>
                <a:stretch>
                  <a:fillRect/>
                </a:stretch>
              </a:blipFill>
            </p:spPr>
            <p:txBody>
              <a:bodyPr/>
              <a:lstStyle/>
              <a:p>
                <a:r>
                  <a:rPr lang="en-US">
                    <a:noFill/>
                  </a:rPr>
                  <a:t> </a:t>
                </a:r>
              </a:p>
            </p:txBody>
          </p:sp>
        </mc:Fallback>
      </mc:AlternateContent>
      <p:sp>
        <p:nvSpPr>
          <p:cNvPr id="8" name="Arrow: Right 7">
            <a:extLst>
              <a:ext uri="{FF2B5EF4-FFF2-40B4-BE49-F238E27FC236}">
                <a16:creationId xmlns:a16="http://schemas.microsoft.com/office/drawing/2014/main" id="{397A5B48-14A0-AFD0-FA5C-304FAD72AA00}"/>
              </a:ext>
            </a:extLst>
          </p:cNvPr>
          <p:cNvSpPr/>
          <p:nvPr/>
        </p:nvSpPr>
        <p:spPr>
          <a:xfrm>
            <a:off x="4752343" y="4556362"/>
            <a:ext cx="844952" cy="47601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9A563DB6-5435-5B31-90C2-21A179A315D9}"/>
              </a:ext>
            </a:extLst>
          </p:cNvPr>
          <p:cNvCxnSpPr/>
          <p:nvPr/>
        </p:nvCxnSpPr>
        <p:spPr>
          <a:xfrm>
            <a:off x="2844005" y="2491653"/>
            <a:ext cx="4880919" cy="2064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5B0BB5C-0933-50F4-AF9D-2F2C753FECF2}"/>
              </a:ext>
            </a:extLst>
          </p:cNvPr>
          <p:cNvCxnSpPr>
            <a:cxnSpLocks/>
          </p:cNvCxnSpPr>
          <p:nvPr/>
        </p:nvCxnSpPr>
        <p:spPr>
          <a:xfrm>
            <a:off x="2844005" y="2491653"/>
            <a:ext cx="1124464" cy="2162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767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7DB0F-19F7-112D-480C-09C28F056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9870B-442E-0C4F-18FD-23617D15097C}"/>
              </a:ext>
            </a:extLst>
          </p:cNvPr>
          <p:cNvSpPr>
            <a:spLocks noGrp="1"/>
          </p:cNvSpPr>
          <p:nvPr>
            <p:ph type="title"/>
          </p:nvPr>
        </p:nvSpPr>
        <p:spPr>
          <a:xfrm>
            <a:off x="174057" y="111933"/>
            <a:ext cx="10515600" cy="682059"/>
          </a:xfrm>
        </p:spPr>
        <p:txBody>
          <a:bodyPr>
            <a:normAutofit/>
          </a:bodyPr>
          <a:lstStyle/>
          <a:p>
            <a:r>
              <a:rPr lang="en-US" sz="3600" dirty="0">
                <a:latin typeface="Arial" panose="020B0604020202020204" pitchFamily="34" charset="0"/>
                <a:cs typeface="Arial" panose="020B0604020202020204" pitchFamily="34" charset="0"/>
              </a:rPr>
              <a:t>More about the best-fitting line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E3344C-58C3-84E8-5F5B-2B6F471A19C4}"/>
                  </a:ext>
                </a:extLst>
              </p:cNvPr>
              <p:cNvSpPr>
                <a:spLocks noGrp="1"/>
              </p:cNvSpPr>
              <p:nvPr>
                <p:ph idx="1"/>
              </p:nvPr>
            </p:nvSpPr>
            <p:spPr>
              <a:xfrm>
                <a:off x="365860" y="976801"/>
                <a:ext cx="10515600" cy="4351338"/>
              </a:xfrm>
            </p:spPr>
            <p:txBody>
              <a:bodyPr>
                <a:normAutofit/>
              </a:bodyPr>
              <a:lstStyle/>
              <a:p>
                <a:r>
                  <a:rPr lang="en-US" sz="2000" dirty="0">
                    <a:latin typeface="Arial" panose="020B0604020202020204" pitchFamily="34" charset="0"/>
                    <a:cs typeface="Arial" panose="020B0604020202020204" pitchFamily="34" charset="0"/>
                    <a:sym typeface="Wingdings" panose="05000000000000000000" pitchFamily="2" charset="2"/>
                  </a:rPr>
                  <a:t>To minimize the SSE, we find the values for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0</m:t>
                        </m:r>
                      </m:sub>
                    </m:sSub>
                  </m:oMath>
                </a14:m>
                <a:r>
                  <a:rPr lang="en-US" sz="2000" b="0" dirty="0">
                    <a:latin typeface="Arial" panose="020B0604020202020204" pitchFamily="34" charset="0"/>
                    <a:cs typeface="Arial" panose="020B0604020202020204" pitchFamily="34" charset="0"/>
                  </a:rPr>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which make the sum of the squared prediction errors the smallest they can be. So, we find these values so that the following equation is minimized</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Since</a:t>
                </a:r>
              </a:p>
              <a:p>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CFE3344C-58C3-84E8-5F5B-2B6F471A19C4}"/>
                  </a:ext>
                </a:extLst>
              </p:cNvPr>
              <p:cNvSpPr>
                <a:spLocks noGrp="1" noRot="1" noChangeAspect="1" noMove="1" noResize="1" noEditPoints="1" noAdjustHandles="1" noChangeArrowheads="1" noChangeShapeType="1" noTextEdit="1"/>
              </p:cNvSpPr>
              <p:nvPr>
                <p:ph idx="1"/>
              </p:nvPr>
            </p:nvSpPr>
            <p:spPr>
              <a:xfrm>
                <a:off x="365860" y="976801"/>
                <a:ext cx="10515600" cy="4351338"/>
              </a:xfrm>
              <a:blipFill>
                <a:blip r:embed="rId3"/>
                <a:stretch>
                  <a:fillRect l="-522" t="-1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F9C628-DB8C-E42A-BE34-6A57F4847AE4}"/>
                  </a:ext>
                </a:extLst>
              </p:cNvPr>
              <p:cNvSpPr txBox="1"/>
              <p:nvPr/>
            </p:nvSpPr>
            <p:spPr>
              <a:xfrm>
                <a:off x="1031409" y="2004009"/>
                <a:ext cx="2682433" cy="11005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𝑄</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 − </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e>
                      </m:nary>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35F9C628-DB8C-E42A-BE34-6A57F4847AE4}"/>
                  </a:ext>
                </a:extLst>
              </p:cNvPr>
              <p:cNvSpPr txBox="1">
                <a:spLocks noRot="1" noChangeAspect="1" noMove="1" noResize="1" noEditPoints="1" noAdjustHandles="1" noChangeArrowheads="1" noChangeShapeType="1" noTextEdit="1"/>
              </p:cNvSpPr>
              <p:nvPr/>
            </p:nvSpPr>
            <p:spPr>
              <a:xfrm>
                <a:off x="1031409" y="2004009"/>
                <a:ext cx="2682433" cy="11005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FF1A3D-34C2-6212-E34F-C0E3BB025FA9}"/>
                  </a:ext>
                </a:extLst>
              </p:cNvPr>
              <p:cNvSpPr txBox="1"/>
              <p:nvPr/>
            </p:nvSpPr>
            <p:spPr>
              <a:xfrm>
                <a:off x="5503563" y="1929348"/>
                <a:ext cx="4643860" cy="11005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𝑄</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 − </m:t>
                                  </m:r>
                                  <m:r>
                                    <a:rPr kumimoji="0" 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 </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e>
                              </m:d>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e>
                      </m:nary>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A9FF1A3D-34C2-6212-E34F-C0E3BB025FA9}"/>
                  </a:ext>
                </a:extLst>
              </p:cNvPr>
              <p:cNvSpPr txBox="1">
                <a:spLocks noRot="1" noChangeAspect="1" noMove="1" noResize="1" noEditPoints="1" noAdjustHandles="1" noChangeArrowheads="1" noChangeShapeType="1" noTextEdit="1"/>
              </p:cNvSpPr>
              <p:nvPr/>
            </p:nvSpPr>
            <p:spPr>
              <a:xfrm>
                <a:off x="5503563" y="1929348"/>
                <a:ext cx="4643860" cy="110055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7FA440-A118-41B6-42B9-A009BD994524}"/>
                  </a:ext>
                </a:extLst>
              </p:cNvPr>
              <p:cNvSpPr txBox="1"/>
              <p:nvPr/>
            </p:nvSpPr>
            <p:spPr>
              <a:xfrm>
                <a:off x="3835132" y="1938829"/>
                <a:ext cx="203425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TextBox 6">
                <a:extLst>
                  <a:ext uri="{FF2B5EF4-FFF2-40B4-BE49-F238E27FC236}">
                    <a16:creationId xmlns:a16="http://schemas.microsoft.com/office/drawing/2014/main" id="{957FA440-A118-41B6-42B9-A009BD994524}"/>
                  </a:ext>
                </a:extLst>
              </p:cNvPr>
              <p:cNvSpPr txBox="1">
                <a:spLocks noRot="1" noChangeAspect="1" noMove="1" noResize="1" noEditPoints="1" noAdjustHandles="1" noChangeArrowheads="1" noChangeShapeType="1" noTextEdit="1"/>
              </p:cNvSpPr>
              <p:nvPr/>
            </p:nvSpPr>
            <p:spPr>
              <a:xfrm>
                <a:off x="3835132" y="1938829"/>
                <a:ext cx="2034250" cy="461665"/>
              </a:xfrm>
              <a:prstGeom prst="rect">
                <a:avLst/>
              </a:prstGeom>
              <a:blipFill>
                <a:blip r:embed="rId6"/>
                <a:stretch>
                  <a:fillRect l="-898" t="-10526" b="-28947"/>
                </a:stretch>
              </a:blipFill>
            </p:spPr>
            <p:txBody>
              <a:bodyPr/>
              <a:lstStyle/>
              <a:p>
                <a:r>
                  <a:rPr lang="en-US">
                    <a:noFill/>
                  </a:rPr>
                  <a:t> </a:t>
                </a:r>
              </a:p>
            </p:txBody>
          </p:sp>
        </mc:Fallback>
      </mc:AlternateContent>
      <p:sp>
        <p:nvSpPr>
          <p:cNvPr id="8" name="Arrow: Right 7">
            <a:extLst>
              <a:ext uri="{FF2B5EF4-FFF2-40B4-BE49-F238E27FC236}">
                <a16:creationId xmlns:a16="http://schemas.microsoft.com/office/drawing/2014/main" id="{DA42EA27-495B-37C7-F8E2-C5585913ACA4}"/>
              </a:ext>
            </a:extLst>
          </p:cNvPr>
          <p:cNvSpPr/>
          <p:nvPr/>
        </p:nvSpPr>
        <p:spPr>
          <a:xfrm>
            <a:off x="3835132" y="2371084"/>
            <a:ext cx="2034249" cy="47601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2EFE82A2-36B3-CA96-165C-931EB8747EC0}"/>
              </a:ext>
            </a:extLst>
          </p:cNvPr>
          <p:cNvCxnSpPr>
            <a:cxnSpLocks/>
            <a:endCxn id="11" idx="0"/>
          </p:cNvCxnSpPr>
          <p:nvPr/>
        </p:nvCxnSpPr>
        <p:spPr>
          <a:xfrm>
            <a:off x="2821130" y="3029906"/>
            <a:ext cx="2539387" cy="147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59550C6-761A-5CEA-B0D6-D0DEDF8FA9C2}"/>
                  </a:ext>
                </a:extLst>
              </p:cNvPr>
              <p:cNvSpPr txBox="1"/>
              <p:nvPr/>
            </p:nvSpPr>
            <p:spPr>
              <a:xfrm>
                <a:off x="2311599" y="4509154"/>
                <a:ext cx="609783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𝑒</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m:rPr>
                          <m:nor/>
                        </m:rP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m:t> − </m:t>
                      </m:r>
                      <m:sSub>
                        <m:sSub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359550C6-761A-5CEA-B0D6-D0DEDF8FA9C2}"/>
                  </a:ext>
                </a:extLst>
              </p:cNvPr>
              <p:cNvSpPr txBox="1">
                <a:spLocks noRot="1" noChangeAspect="1" noMove="1" noResize="1" noEditPoints="1" noAdjustHandles="1" noChangeArrowheads="1" noChangeShapeType="1" noTextEdit="1"/>
              </p:cNvSpPr>
              <p:nvPr/>
            </p:nvSpPr>
            <p:spPr>
              <a:xfrm>
                <a:off x="2311599" y="4509154"/>
                <a:ext cx="6097836"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8226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43F1-D12A-F6C2-FC88-38C4F8E92A82}"/>
              </a:ext>
            </a:extLst>
          </p:cNvPr>
          <p:cNvSpPr>
            <a:spLocks noGrp="1"/>
          </p:cNvSpPr>
          <p:nvPr>
            <p:ph type="title"/>
          </p:nvPr>
        </p:nvSpPr>
        <p:spPr>
          <a:xfrm>
            <a:off x="183682" y="153371"/>
            <a:ext cx="10515600" cy="722530"/>
          </a:xfrm>
        </p:spPr>
        <p:txBody>
          <a:bodyPr>
            <a:normAutofit/>
          </a:bodyPr>
          <a:lstStyle/>
          <a:p>
            <a:r>
              <a:rPr lang="en-US" altLang="en-US" sz="3600" dirty="0">
                <a:latin typeface="Arial" panose="020B0604020202020204" pitchFamily="34" charset="0"/>
                <a:cs typeface="Arial" panose="020B0604020202020204" pitchFamily="34" charset="0"/>
              </a:rPr>
              <a:t>Least Squares Estimation of </a:t>
            </a:r>
            <a:r>
              <a:rPr lang="en-US" altLang="en-US" sz="3600" i="1" dirty="0">
                <a:latin typeface="Arial" panose="020B0604020202020204" pitchFamily="34" charset="0"/>
                <a:cs typeface="Arial" panose="020B0604020202020204" pitchFamily="34" charset="0"/>
              </a:rPr>
              <a:t>b</a:t>
            </a:r>
            <a:r>
              <a:rPr lang="en-US" altLang="en-US" sz="3600" baseline="-25000" dirty="0">
                <a:latin typeface="Arial" panose="020B0604020202020204" pitchFamily="34" charset="0"/>
                <a:cs typeface="Arial" panose="020B0604020202020204" pitchFamily="34" charset="0"/>
              </a:rPr>
              <a:t>0</a:t>
            </a:r>
            <a:r>
              <a:rPr lang="en-US" altLang="en-US" sz="3600" dirty="0">
                <a:latin typeface="Arial" panose="020B0604020202020204" pitchFamily="34" charset="0"/>
                <a:cs typeface="Arial" panose="020B0604020202020204" pitchFamily="34" charset="0"/>
              </a:rPr>
              <a:t>, </a:t>
            </a:r>
            <a:r>
              <a:rPr lang="en-US" altLang="en-US" sz="3600" i="1" dirty="0">
                <a:latin typeface="Arial" panose="020B0604020202020204" pitchFamily="34" charset="0"/>
                <a:cs typeface="Arial" panose="020B0604020202020204" pitchFamily="34" charset="0"/>
              </a:rPr>
              <a:t>b</a:t>
            </a:r>
            <a:r>
              <a:rPr lang="en-US" altLang="en-US" sz="3600" baseline="-25000" dirty="0">
                <a:latin typeface="Arial" panose="020B0604020202020204" pitchFamily="34" charset="0"/>
                <a:cs typeface="Arial" panose="020B0604020202020204" pitchFamily="34" charset="0"/>
              </a:rPr>
              <a:t>1</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AA9CAF8-37D7-50F9-18AC-2F55B53A765C}"/>
              </a:ext>
            </a:extLst>
          </p:cNvPr>
          <p:cNvSpPr>
            <a:spLocks noGrp="1"/>
          </p:cNvSpPr>
          <p:nvPr>
            <p:ph idx="1"/>
          </p:nvPr>
        </p:nvSpPr>
        <p:spPr>
          <a:xfrm>
            <a:off x="299185" y="1017103"/>
            <a:ext cx="10515600" cy="4351338"/>
          </a:xfrm>
        </p:spPr>
        <p:txBody>
          <a:bodyPr>
            <a:normAutofit/>
          </a:bodyPr>
          <a:lstStyle/>
          <a:p>
            <a:r>
              <a:rPr lang="en-US" altLang="en-US" sz="2000" i="1" dirty="0">
                <a:latin typeface="Arial" panose="020B0604020202020204" pitchFamily="34" charset="0"/>
                <a:cs typeface="Arial" panose="020B0604020202020204" pitchFamily="34" charset="0"/>
              </a:rPr>
              <a:t>b</a:t>
            </a:r>
            <a:r>
              <a:rPr lang="en-US" altLang="en-US" sz="2000" baseline="-25000" dirty="0">
                <a:latin typeface="Arial" panose="020B0604020202020204" pitchFamily="34" charset="0"/>
                <a:cs typeface="Arial" panose="020B0604020202020204" pitchFamily="34" charset="0"/>
              </a:rPr>
              <a:t>0</a:t>
            </a:r>
            <a:r>
              <a:rPr lang="en-US" altLang="en-US" sz="20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sym typeface="Wingdings" panose="05000000000000000000" pitchFamily="2" charset="2"/>
              </a:rPr>
              <a:t></a:t>
            </a:r>
            <a:r>
              <a:rPr lang="en-US" altLang="en-US" sz="2000" dirty="0">
                <a:latin typeface="Arial" panose="020B0604020202020204" pitchFamily="34" charset="0"/>
                <a:cs typeface="Arial" panose="020B0604020202020204" pitchFamily="34" charset="0"/>
                <a:sym typeface="Symbol" panose="05050102010706020507" pitchFamily="18" charset="2"/>
              </a:rPr>
              <a:t> Mean response when</a:t>
            </a:r>
            <a:r>
              <a:rPr lang="en-US" altLang="en-US" sz="2000" i="1" dirty="0">
                <a:latin typeface="Arial" panose="020B0604020202020204" pitchFamily="34" charset="0"/>
                <a:cs typeface="Arial" panose="020B0604020202020204" pitchFamily="34" charset="0"/>
                <a:sym typeface="Symbol" panose="05050102010706020507" pitchFamily="18" charset="2"/>
              </a:rPr>
              <a:t> X </a:t>
            </a:r>
            <a:r>
              <a:rPr lang="en-US" altLang="en-US" sz="2000" dirty="0">
                <a:latin typeface="Arial" panose="020B0604020202020204" pitchFamily="34" charset="0"/>
                <a:cs typeface="Arial" panose="020B0604020202020204" pitchFamily="34" charset="0"/>
                <a:sym typeface="Symbol" panose="05050102010706020507" pitchFamily="18" charset="2"/>
              </a:rPr>
              <a:t>= 0 (</a:t>
            </a:r>
            <a:r>
              <a:rPr lang="en-US" altLang="en-US" sz="2000" i="1" dirty="0">
                <a:latin typeface="Arial" panose="020B0604020202020204" pitchFamily="34" charset="0"/>
                <a:cs typeface="Arial" panose="020B0604020202020204" pitchFamily="34" charset="0"/>
                <a:sym typeface="Symbol" panose="05050102010706020507" pitchFamily="18" charset="2"/>
              </a:rPr>
              <a:t>y</a:t>
            </a:r>
            <a:r>
              <a:rPr lang="en-US" altLang="en-US" sz="2000" dirty="0">
                <a:latin typeface="Arial" panose="020B0604020202020204" pitchFamily="34" charset="0"/>
                <a:cs typeface="Arial" panose="020B0604020202020204" pitchFamily="34" charset="0"/>
                <a:sym typeface="Symbol" panose="05050102010706020507" pitchFamily="18" charset="2"/>
              </a:rPr>
              <a:t>-intercept)</a:t>
            </a:r>
          </a:p>
          <a:p>
            <a:r>
              <a:rPr lang="en-US" altLang="en-US" sz="2000" i="1" dirty="0">
                <a:latin typeface="Arial" panose="020B0604020202020204" pitchFamily="34" charset="0"/>
                <a:cs typeface="Arial" panose="020B0604020202020204" pitchFamily="34" charset="0"/>
              </a:rPr>
              <a:t> b</a:t>
            </a:r>
            <a:r>
              <a:rPr lang="en-US" altLang="en-US" sz="2000" baseline="-25000" dirty="0">
                <a:latin typeface="Arial" panose="020B0604020202020204" pitchFamily="34" charset="0"/>
                <a:cs typeface="Arial" panose="020B0604020202020204" pitchFamily="34" charset="0"/>
              </a:rPr>
              <a:t>1</a:t>
            </a:r>
            <a:r>
              <a:rPr lang="en-US" altLang="en-US" sz="20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sym typeface="Wingdings" panose="05000000000000000000" pitchFamily="2" charset="2"/>
              </a:rPr>
              <a:t></a:t>
            </a:r>
            <a:r>
              <a:rPr lang="en-US" altLang="en-US" sz="2000" dirty="0">
                <a:latin typeface="Arial" panose="020B0604020202020204" pitchFamily="34" charset="0"/>
                <a:cs typeface="Arial" panose="020B0604020202020204" pitchFamily="34" charset="0"/>
                <a:sym typeface="Symbol" panose="05050102010706020507" pitchFamily="18" charset="2"/>
              </a:rPr>
              <a:t> Change in mean response when </a:t>
            </a:r>
            <a:r>
              <a:rPr lang="en-US" altLang="en-US" sz="2000" i="1" dirty="0">
                <a:latin typeface="Arial" panose="020B0604020202020204" pitchFamily="34" charset="0"/>
                <a:cs typeface="Arial" panose="020B0604020202020204" pitchFamily="34" charset="0"/>
                <a:sym typeface="Symbol" panose="05050102010706020507" pitchFamily="18" charset="2"/>
              </a:rPr>
              <a:t>X</a:t>
            </a:r>
            <a:r>
              <a:rPr lang="en-US" altLang="en-US" sz="2000" dirty="0">
                <a:latin typeface="Arial" panose="020B0604020202020204" pitchFamily="34" charset="0"/>
                <a:cs typeface="Arial" panose="020B0604020202020204" pitchFamily="34" charset="0"/>
                <a:sym typeface="Symbol" panose="05050102010706020507" pitchFamily="18" charset="2"/>
              </a:rPr>
              <a:t> increases by 1 unit (slope)</a:t>
            </a:r>
          </a:p>
          <a:p>
            <a:r>
              <a:rPr lang="en-US" altLang="en-US" sz="2000" dirty="0">
                <a:latin typeface="Arial" panose="020B0604020202020204" pitchFamily="34" charset="0"/>
                <a:cs typeface="Arial" panose="020B0604020202020204" pitchFamily="34" charset="0"/>
                <a:sym typeface="Symbol" panose="05050102010706020507" pitchFamily="18" charset="2"/>
              </a:rPr>
              <a:t> </a:t>
            </a:r>
            <a:r>
              <a:rPr lang="en-US" altLang="en-US" sz="2000" i="1" dirty="0">
                <a:latin typeface="Arial" panose="020B0604020202020204" pitchFamily="34" charset="0"/>
                <a:cs typeface="Arial" panose="020B0604020202020204" pitchFamily="34" charset="0"/>
              </a:rPr>
              <a:t>b</a:t>
            </a:r>
            <a:r>
              <a:rPr lang="en-US" altLang="en-US" sz="2000" baseline="-25000" dirty="0">
                <a:latin typeface="Arial" panose="020B0604020202020204" pitchFamily="34" charset="0"/>
                <a:cs typeface="Arial" panose="020B0604020202020204" pitchFamily="34" charset="0"/>
              </a:rPr>
              <a:t>0</a:t>
            </a:r>
            <a:r>
              <a:rPr lang="en-US" altLang="en-US" sz="2000" dirty="0">
                <a:latin typeface="Arial" panose="020B0604020202020204" pitchFamily="34" charset="0"/>
                <a:cs typeface="Arial" panose="020B0604020202020204" pitchFamily="34" charset="0"/>
              </a:rPr>
              <a:t>,</a:t>
            </a:r>
            <a:r>
              <a:rPr lang="en-US" altLang="en-US" sz="2000" baseline="-25000" dirty="0">
                <a:latin typeface="Arial" panose="020B0604020202020204" pitchFamily="34" charset="0"/>
                <a:cs typeface="Arial" panose="020B0604020202020204" pitchFamily="34" charset="0"/>
              </a:rPr>
              <a:t> </a:t>
            </a:r>
            <a:r>
              <a:rPr lang="en-US" altLang="en-US" sz="2000" i="1" dirty="0">
                <a:latin typeface="Arial" panose="020B0604020202020204" pitchFamily="34" charset="0"/>
                <a:cs typeface="Arial" panose="020B0604020202020204" pitchFamily="34" charset="0"/>
              </a:rPr>
              <a:t>b</a:t>
            </a:r>
            <a:r>
              <a:rPr lang="en-US" altLang="en-US" sz="2000" baseline="-25000" dirty="0">
                <a:latin typeface="Arial" panose="020B0604020202020204" pitchFamily="34" charset="0"/>
                <a:cs typeface="Arial" panose="020B0604020202020204" pitchFamily="34" charset="0"/>
              </a:rPr>
              <a:t>1 </a:t>
            </a:r>
            <a:r>
              <a:rPr lang="en-US" altLang="en-US" sz="2000" dirty="0">
                <a:latin typeface="Arial" panose="020B0604020202020204" pitchFamily="34" charset="0"/>
                <a:cs typeface="Arial" panose="020B0604020202020204" pitchFamily="34" charset="0"/>
              </a:rPr>
              <a:t> are unknown parameters</a:t>
            </a:r>
          </a:p>
          <a:p>
            <a:r>
              <a:rPr lang="en-US" altLang="en-US" sz="2000" dirty="0">
                <a:latin typeface="Arial" panose="020B0604020202020204" pitchFamily="34" charset="0"/>
                <a:cs typeface="Arial" panose="020B0604020202020204" pitchFamily="34" charset="0"/>
              </a:rPr>
              <a:t> </a:t>
            </a:r>
            <a:r>
              <a:rPr lang="en-US" altLang="en-US" sz="2000" i="1" dirty="0">
                <a:latin typeface="Arial" panose="020B0604020202020204" pitchFamily="34" charset="0"/>
                <a:cs typeface="Arial" panose="020B0604020202020204" pitchFamily="34" charset="0"/>
              </a:rPr>
              <a:t>b</a:t>
            </a:r>
            <a:r>
              <a:rPr lang="en-US" altLang="en-US" sz="2000" baseline="-25000" dirty="0">
                <a:latin typeface="Arial" panose="020B0604020202020204" pitchFamily="34" charset="0"/>
                <a:cs typeface="Arial" panose="020B0604020202020204" pitchFamily="34" charset="0"/>
              </a:rPr>
              <a:t>0</a:t>
            </a:r>
            <a:r>
              <a:rPr lang="en-US" altLang="en-US" sz="2000" dirty="0">
                <a:latin typeface="Arial" panose="020B0604020202020204" pitchFamily="34" charset="0"/>
                <a:cs typeface="Arial" panose="020B0604020202020204" pitchFamily="34" charset="0"/>
              </a:rPr>
              <a:t>+</a:t>
            </a:r>
            <a:r>
              <a:rPr lang="en-US" altLang="en-US" sz="2000" i="1" dirty="0">
                <a:latin typeface="Arial" panose="020B0604020202020204" pitchFamily="34" charset="0"/>
                <a:cs typeface="Arial" panose="020B0604020202020204" pitchFamily="34" charset="0"/>
              </a:rPr>
              <a:t>b</a:t>
            </a:r>
            <a:r>
              <a:rPr lang="en-US" altLang="en-US" sz="2000" baseline="-25000" dirty="0">
                <a:latin typeface="Arial" panose="020B0604020202020204" pitchFamily="34" charset="0"/>
                <a:cs typeface="Arial" panose="020B0604020202020204" pitchFamily="34" charset="0"/>
              </a:rPr>
              <a:t>1</a:t>
            </a:r>
            <a:r>
              <a:rPr lang="en-US" altLang="en-US" sz="2000" i="1" dirty="0">
                <a:latin typeface="Arial" panose="020B0604020202020204" pitchFamily="34" charset="0"/>
                <a:cs typeface="Arial" panose="020B0604020202020204" pitchFamily="34" charset="0"/>
              </a:rPr>
              <a:t>X</a:t>
            </a:r>
            <a:r>
              <a:rPr lang="en-US" altLang="en-US" sz="20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sym typeface="Symbol" panose="05050102010706020507" pitchFamily="18" charset="2"/>
              </a:rPr>
              <a:t></a:t>
            </a:r>
            <a:r>
              <a:rPr lang="en-US" altLang="en-US" sz="2000" dirty="0">
                <a:latin typeface="Arial" panose="020B0604020202020204" pitchFamily="34" charset="0"/>
                <a:cs typeface="Arial" panose="020B0604020202020204" pitchFamily="34" charset="0"/>
                <a:sym typeface="Wingdings" panose="05000000000000000000" pitchFamily="2" charset="2"/>
              </a:rPr>
              <a:t></a:t>
            </a:r>
            <a:r>
              <a:rPr lang="en-US" altLang="en-US" sz="2000" dirty="0">
                <a:latin typeface="Arial" panose="020B0604020202020204" pitchFamily="34" charset="0"/>
                <a:cs typeface="Arial" panose="020B0604020202020204" pitchFamily="34" charset="0"/>
                <a:sym typeface="Symbol" panose="05050102010706020507" pitchFamily="18" charset="2"/>
              </a:rPr>
              <a:t> Mean response when explanatory variable takes on the value </a:t>
            </a:r>
            <a:r>
              <a:rPr lang="en-US" altLang="en-US" sz="2000" i="1" dirty="0">
                <a:latin typeface="Arial" panose="020B0604020202020204" pitchFamily="34" charset="0"/>
                <a:cs typeface="Arial" panose="020B0604020202020204" pitchFamily="34" charset="0"/>
                <a:sym typeface="Symbol" panose="05050102010706020507" pitchFamily="18" charset="2"/>
              </a:rPr>
              <a:t>X</a:t>
            </a:r>
            <a:endParaRPr lang="en-US" altLang="en-US" sz="2000" dirty="0">
              <a:latin typeface="Arial" panose="020B0604020202020204" pitchFamily="34" charset="0"/>
              <a:cs typeface="Arial" panose="020B0604020202020204" pitchFamily="34" charset="0"/>
            </a:endParaRPr>
          </a:p>
          <a:p>
            <a:r>
              <a:rPr lang="en-US" altLang="en-US" sz="2000" b="1" dirty="0">
                <a:latin typeface="Arial" panose="020B0604020202020204" pitchFamily="34" charset="0"/>
                <a:cs typeface="Arial" panose="020B0604020202020204" pitchFamily="34" charset="0"/>
              </a:rPr>
              <a:t>Goal</a:t>
            </a:r>
            <a:r>
              <a:rPr lang="en-US" altLang="en-US" sz="2000" dirty="0">
                <a:latin typeface="Arial" panose="020B0604020202020204" pitchFamily="34" charset="0"/>
                <a:cs typeface="Arial" panose="020B0604020202020204" pitchFamily="34" charset="0"/>
              </a:rPr>
              <a:t>: Choose values (estimates) that minimize the sum of squared errors (</a:t>
            </a:r>
            <a:r>
              <a:rPr lang="en-US" altLang="en-US" sz="2000" i="1" dirty="0">
                <a:latin typeface="Arial" panose="020B0604020202020204" pitchFamily="34" charset="0"/>
                <a:cs typeface="Arial" panose="020B0604020202020204" pitchFamily="34" charset="0"/>
              </a:rPr>
              <a:t>SSE</a:t>
            </a:r>
            <a:r>
              <a:rPr lang="en-US" altLang="en-US" sz="2000" dirty="0">
                <a:latin typeface="Arial" panose="020B0604020202020204" pitchFamily="34" charset="0"/>
                <a:cs typeface="Arial" panose="020B0604020202020204" pitchFamily="34" charset="0"/>
              </a:rPr>
              <a:t>) of observed values to the straight-line: </a:t>
            </a:r>
          </a:p>
          <a:p>
            <a:endParaRPr 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F2AECD66-6613-8EC5-E07F-4FD2531562B0}"/>
                  </a:ext>
                </a:extLst>
              </p:cNvPr>
              <p:cNvSpPr txBox="1"/>
              <p:nvPr/>
            </p:nvSpPr>
            <p:spPr bwMode="auto">
              <a:xfrm>
                <a:off x="452387" y="3326579"/>
                <a:ext cx="8534400" cy="990600"/>
              </a:xfrm>
              <a:prstGeom prst="rect">
                <a:avLst/>
              </a:prstGeom>
              <a:noFill/>
              <a:ln>
                <a:noFill/>
              </a:ln>
              <a:effectLst/>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𝑄</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𝑆𝑆𝐸</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nary>
                        <m:nary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naryPr>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𝑛</m:t>
                          </m:r>
                        </m:sup>
                        <m:e>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𝑦</m:t>
                                          </m:r>
                                        </m:e>
                                      </m:acc>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e>
                              </m:d>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e>
                      </m:nary>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nary>
                        <m:naryPr>
                          <m: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𝑏</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𝑏</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e>
                                  </m:d>
                                </m:e>
                              </m:d>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e>
                      </m:nary>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Object 4">
                <a:extLst>
                  <a:ext uri="{FF2B5EF4-FFF2-40B4-BE49-F238E27FC236}">
                    <a16:creationId xmlns:a16="http://schemas.microsoft.com/office/drawing/2014/main" id="{F2AECD66-6613-8EC5-E07F-4FD2531562B0}"/>
                  </a:ext>
                </a:extLst>
              </p:cNvPr>
              <p:cNvSpPr txBox="1">
                <a:spLocks noRot="1" noChangeAspect="1" noMove="1" noResize="1" noEditPoints="1" noAdjustHandles="1" noChangeArrowheads="1" noChangeShapeType="1" noTextEdit="1"/>
              </p:cNvSpPr>
              <p:nvPr/>
            </p:nvSpPr>
            <p:spPr bwMode="auto">
              <a:xfrm>
                <a:off x="452387" y="3326579"/>
                <a:ext cx="8534400" cy="990600"/>
              </a:xfrm>
              <a:prstGeom prst="rect">
                <a:avLst/>
              </a:prstGeom>
              <a:blipFill>
                <a:blip r:embed="rId2"/>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086463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168058" y="229284"/>
            <a:ext cx="10515600" cy="704368"/>
          </a:xfrm>
        </p:spPr>
        <p:txBody>
          <a:bodyPr/>
          <a:lstStyle/>
          <a:p>
            <a:r>
              <a:rPr lang="en-US" sz="3600" dirty="0">
                <a:latin typeface="Arial" panose="020B0604020202020204" pitchFamily="34" charset="0"/>
                <a:cs typeface="Arial" panose="020B0604020202020204" pitchFamily="34" charset="0"/>
              </a:rPr>
              <a:t>Intuition</a:t>
            </a: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317793" y="933652"/>
                <a:ext cx="10515600" cy="4351338"/>
              </a:xfrm>
            </p:spPr>
            <p:txBody>
              <a:bodyPr>
                <a:normAutofit/>
              </a:bodyPr>
              <a:lstStyle/>
              <a:p>
                <a:pPr algn="l" rtl="0" eaLnBrk="1" hangingPunct="1"/>
                <a:r>
                  <a:rPr lang="en-US" altLang="ar-SA" sz="2800" dirty="0">
                    <a:latin typeface="+mj-lt"/>
                  </a:rPr>
                  <a:t>We will write a population regression line based on sample data as</a:t>
                </a:r>
              </a:p>
              <a:p>
                <a:pPr algn="ctr" rtl="0" eaLnBrk="1" hangingPunct="1">
                  <a:buFont typeface="Wingdings" pitchFamily="2" charset="2"/>
                  <a:buNone/>
                </a:pPr>
                <a:r>
                  <a:rPr lang="en-US" altLang="ar-SA" dirty="0">
                    <a:latin typeface="Times New Roman" pitchFamily="18" charset="0"/>
                  </a:rPr>
                  <a:t>		</a:t>
                </a:r>
              </a:p>
              <a:p>
                <a:r>
                  <a:rPr lang="en-US" altLang="ar-SA" sz="2800" dirty="0">
                    <a:latin typeface="+mj-lt"/>
                  </a:rPr>
                  <a:t>The method of least squares chooses the values for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𝛽</m:t>
                        </m:r>
                      </m:e>
                      <m:sub>
                        <m:r>
                          <a:rPr lang="en-US" i="1">
                            <a:solidFill>
                              <a:prstClr val="black"/>
                            </a:solidFill>
                            <a:latin typeface="Cambria Math" panose="02040503050406030204" pitchFamily="18" charset="0"/>
                          </a:rPr>
                          <m:t>0</m:t>
                        </m:r>
                      </m:sub>
                    </m:sSub>
                  </m:oMath>
                </a14:m>
                <a:r>
                  <a:rPr lang="en-US" altLang="ar-SA" dirty="0">
                    <a:latin typeface="Times New Roman" pitchFamily="18" charset="0"/>
                  </a:rPr>
                  <a:t> </a:t>
                </a:r>
                <a:r>
                  <a:rPr lang="en-US" altLang="ar-SA" sz="2800" dirty="0">
                    <a:latin typeface="+mj-lt"/>
                  </a:rPr>
                  <a:t>and</a:t>
                </a:r>
                <a:r>
                  <a:rPr lang="en-US" altLang="ar-SA" dirty="0">
                    <a:latin typeface="Times New Roman" pitchFamily="18" charset="0"/>
                  </a:rPr>
                  <a:t>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𝛽</m:t>
                        </m:r>
                      </m:e>
                      <m:sub>
                        <m:r>
                          <a:rPr lang="en-US" i="1">
                            <a:solidFill>
                              <a:prstClr val="black"/>
                            </a:solidFill>
                            <a:latin typeface="Cambria Math" panose="02040503050406030204" pitchFamily="18" charset="0"/>
                          </a:rPr>
                          <m:t>1</m:t>
                        </m:r>
                      </m:sub>
                    </m:sSub>
                  </m:oMath>
                </a14:m>
                <a:r>
                  <a:rPr lang="en-US" altLang="ar-SA" dirty="0">
                    <a:latin typeface="Times New Roman" pitchFamily="18" charset="0"/>
                  </a:rPr>
                  <a:t> </a:t>
                </a:r>
                <a:r>
                  <a:rPr lang="en-US" altLang="ar-SA" sz="2800" dirty="0">
                    <a:latin typeface="+mj-lt"/>
                  </a:rPr>
                  <a:t>to minimize the sum of squared errors</a:t>
                </a:r>
              </a:p>
              <a:p>
                <a:pPr marL="457200" indent="-457200"/>
                <a:endParaRPr lang="en-US" altLang="en-US" sz="3600" dirty="0">
                  <a:latin typeface="Times New Roman" pitchFamily="18" charset="0"/>
                </a:endParaRPr>
              </a:p>
              <a:p>
                <a:endParaRPr lang="en-US" dirty="0"/>
              </a:p>
            </p:txBody>
          </p:sp>
        </mc:Choice>
        <mc:Fallback xmlns="">
          <p:sp>
            <p:nvSpPr>
              <p:cNvPr id="4" name="Content Placeholder 3">
                <a:extLst>
                  <a:ext uri="{FF2B5EF4-FFF2-40B4-BE49-F238E27FC236}">
                    <a16:creationId xmlns:a16="http://schemas.microsoft.com/office/drawing/2014/main" id="{DE053633-8E83-65B1-255F-08EF8AAE33C2}"/>
                  </a:ext>
                </a:extLst>
              </p:cNvPr>
              <p:cNvSpPr>
                <a:spLocks noGrp="1" noRot="1" noChangeAspect="1" noMove="1" noResize="1" noEditPoints="1" noAdjustHandles="1" noChangeArrowheads="1" noChangeShapeType="1" noTextEdit="1"/>
              </p:cNvSpPr>
              <p:nvPr>
                <p:ph idx="1"/>
              </p:nvPr>
            </p:nvSpPr>
            <p:spPr>
              <a:xfrm>
                <a:off x="317793" y="933652"/>
                <a:ext cx="10515600" cy="4351338"/>
              </a:xfrm>
              <a:blipFill>
                <a:blip r:embed="rId2"/>
                <a:stretch>
                  <a:fillRect l="-1043" t="-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62F4CF-7D9D-7A25-3541-6622780921C8}"/>
                  </a:ext>
                </a:extLst>
              </p:cNvPr>
              <p:cNvSpPr txBox="1"/>
              <p:nvPr/>
            </p:nvSpPr>
            <p:spPr>
              <a:xfrm>
                <a:off x="825966" y="1422576"/>
                <a:ext cx="2530565"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oMath>
                </a14:m>
                <a:r>
                  <a:rPr kumimoji="0" lang="en-US" sz="2800" b="0" i="1" u="none" strike="noStrike" kern="1200" cap="none" spc="0" normalizeH="0" baseline="0" noProof="0" dirty="0">
                    <a:ln>
                      <a:noFill/>
                    </a:ln>
                    <a:solidFill>
                      <a:prstClr val="black"/>
                    </a:solidFill>
                    <a:effectLst/>
                    <a:uLnTx/>
                    <a:uFillTx/>
                    <a:latin typeface="Lucida Grande"/>
                    <a:ea typeface="+mn-ea"/>
                    <a:cs typeface="+mn-cs"/>
                  </a:rPr>
                  <a:t>X</a:t>
                </a:r>
                <a:r>
                  <a:rPr kumimoji="0" lang="en-US" sz="2800" b="0" i="0" u="none" strike="noStrike" kern="1200" cap="none" spc="0" normalizeH="0" baseline="0" noProof="0" dirty="0">
                    <a:ln>
                      <a:noFill/>
                    </a:ln>
                    <a:solidFill>
                      <a:prstClr val="black"/>
                    </a:solidFill>
                    <a:effectLst/>
                    <a:uLnTx/>
                    <a:uFillTx/>
                    <a:latin typeface="Lucida Grande"/>
                    <a:ea typeface="+mn-ea"/>
                    <a:cs typeface="+mn-cs"/>
                  </a:rPr>
                  <a:t>+</a:t>
                </a:r>
                <a:r>
                  <a:rPr kumimoji="0" lang="el-GR" sz="2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ε</a:t>
                </a:r>
                <a:endParaRPr kumimoji="0" lang="en-US" sz="2800" b="0" i="1" u="none" strike="noStrike" kern="1200" cap="none" spc="0" normalizeH="0" baseline="0" noProof="0" dirty="0">
                  <a:ln>
                    <a:noFill/>
                  </a:ln>
                  <a:solidFill>
                    <a:prstClr val="black"/>
                  </a:solidFill>
                  <a:effectLst/>
                  <a:uLnTx/>
                  <a:uFillTx/>
                  <a:latin typeface="Lucida Grande"/>
                  <a:ea typeface="+mn-ea"/>
                  <a:cs typeface="+mn-cs"/>
                </a:endParaRPr>
              </a:p>
            </p:txBody>
          </p:sp>
        </mc:Choice>
        <mc:Fallback xmlns="">
          <p:sp>
            <p:nvSpPr>
              <p:cNvPr id="5" name="TextBox 4">
                <a:extLst>
                  <a:ext uri="{FF2B5EF4-FFF2-40B4-BE49-F238E27FC236}">
                    <a16:creationId xmlns:a16="http://schemas.microsoft.com/office/drawing/2014/main" id="{B162F4CF-7D9D-7A25-3541-6622780921C8}"/>
                  </a:ext>
                </a:extLst>
              </p:cNvPr>
              <p:cNvSpPr txBox="1">
                <a:spLocks noRot="1" noChangeAspect="1" noMove="1" noResize="1" noEditPoints="1" noAdjustHandles="1" noChangeArrowheads="1" noChangeShapeType="1" noTextEdit="1"/>
              </p:cNvSpPr>
              <p:nvPr/>
            </p:nvSpPr>
            <p:spPr>
              <a:xfrm>
                <a:off x="825966" y="1422576"/>
                <a:ext cx="2530565" cy="430887"/>
              </a:xfrm>
              <a:prstGeom prst="rect">
                <a:avLst/>
              </a:prstGeom>
              <a:blipFill>
                <a:blip r:embed="rId3"/>
                <a:stretch>
                  <a:fillRect t="-26761" r="-6731" b="-492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1025">
                <a:extLst>
                  <a:ext uri="{FF2B5EF4-FFF2-40B4-BE49-F238E27FC236}">
                    <a16:creationId xmlns:a16="http://schemas.microsoft.com/office/drawing/2014/main" id="{A4FA0365-943A-054D-2FF2-EFD45C49DE2B}"/>
                  </a:ext>
                </a:extLst>
              </p:cNvPr>
              <p:cNvSpPr txBox="1"/>
              <p:nvPr/>
            </p:nvSpPr>
            <p:spPr bwMode="auto">
              <a:xfrm>
                <a:off x="644015" y="2786677"/>
                <a:ext cx="4359570" cy="1149367"/>
              </a:xfrm>
              <a:prstGeom prst="rect">
                <a:avLst/>
              </a:prstGeom>
              <a:noFill/>
              <a:ln>
                <a:noFill/>
              </a:ln>
              <a:effectLst/>
            </p:spPr>
            <p:txBody>
              <a:bodyPr>
                <a:normAutofit/>
              </a:bodyPr>
              <a:lstStyle/>
              <a:p>
                <a:pPr lvl="0">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𝑆𝑆𝐸</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sup>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e>
                      </m:nary>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nary>
                            <m:naryPr>
                              <m: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sup>
                            <m:e>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𝛽</m:t>
                                      </m:r>
                                    </m:e>
                                    <m:sub>
                                      <m:r>
                                        <a:rPr lang="en-US" b="0" i="1" smtClean="0">
                                          <a:solidFill>
                                            <a:prstClr val="black"/>
                                          </a:solidFill>
                                          <a:latin typeface="Cambria Math" panose="02040503050406030204" pitchFamily="18" charset="0"/>
                                        </a:rPr>
                                        <m:t>0</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𝛽</m:t>
                                      </m:r>
                                    </m:e>
                                    <m:sub>
                                      <m:r>
                                        <a:rPr lang="en-US" i="1">
                                          <a:solidFill>
                                            <a:prstClr val="black"/>
                                          </a:solidFill>
                                          <a:latin typeface="Cambria Math" panose="02040503050406030204" pitchFamily="18" charset="0"/>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d>
                            </m:e>
                          </m:nary>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oMath>
                  </m:oMathPara>
                </a14:m>
                <a:endParaRPr kumimoji="0" lang="en-US" sz="1800" b="0" i="0" u="none" strike="noStrike" kern="1200" cap="none" spc="0" normalizeH="0" baseline="0" noProof="0" dirty="0">
                  <a:ln>
                    <a:noFill/>
                  </a:ln>
                  <a:solidFill>
                    <a:prstClr val="black"/>
                  </a:solidFill>
                  <a:effectLst/>
                  <a:uLnTx/>
                  <a:uFillTx/>
                  <a:latin typeface="Lucida Grande"/>
                  <a:ea typeface="+mn-ea"/>
                  <a:cs typeface="+mn-cs"/>
                </a:endParaRPr>
              </a:p>
            </p:txBody>
          </p:sp>
        </mc:Choice>
        <mc:Fallback xmlns="">
          <p:sp>
            <p:nvSpPr>
              <p:cNvPr id="10" name="Object 1025">
                <a:extLst>
                  <a:ext uri="{FF2B5EF4-FFF2-40B4-BE49-F238E27FC236}">
                    <a16:creationId xmlns:a16="http://schemas.microsoft.com/office/drawing/2014/main" id="{A4FA0365-943A-054D-2FF2-EFD45C49DE2B}"/>
                  </a:ext>
                </a:extLst>
              </p:cNvPr>
              <p:cNvSpPr txBox="1">
                <a:spLocks noRot="1" noChangeAspect="1" noMove="1" noResize="1" noEditPoints="1" noAdjustHandles="1" noChangeArrowheads="1" noChangeShapeType="1" noTextEdit="1"/>
              </p:cNvSpPr>
              <p:nvPr/>
            </p:nvSpPr>
            <p:spPr bwMode="auto">
              <a:xfrm>
                <a:off x="644015" y="2786677"/>
                <a:ext cx="4359570" cy="1149367"/>
              </a:xfrm>
              <a:prstGeom prst="rect">
                <a:avLst/>
              </a:prstGeom>
              <a:blipFill>
                <a:blip r:embed="rId4"/>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680608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821F7-0D62-5909-6972-53E3E66F85EB}"/>
              </a:ext>
            </a:extLst>
          </p:cNvPr>
          <p:cNvSpPr>
            <a:spLocks noGrp="1"/>
          </p:cNvSpPr>
          <p:nvPr>
            <p:ph type="title"/>
          </p:nvPr>
        </p:nvSpPr>
        <p:spPr>
          <a:xfrm>
            <a:off x="241433" y="191871"/>
            <a:ext cx="10515600" cy="666866"/>
          </a:xfrm>
        </p:spPr>
        <p:txBody>
          <a:bodyPr>
            <a:normAutofit/>
          </a:bodyPr>
          <a:lstStyle/>
          <a:p>
            <a:r>
              <a:rPr lang="en-US" sz="3600" dirty="0">
                <a:latin typeface="Arial" panose="020B0604020202020204" pitchFamily="34" charset="0"/>
                <a:cs typeface="Arial" panose="020B0604020202020204" pitchFamily="34" charset="0"/>
              </a:rPr>
              <a:t>Regression Model</a:t>
            </a:r>
          </a:p>
        </p:txBody>
      </p:sp>
      <p:sp>
        <p:nvSpPr>
          <p:cNvPr id="3" name="Content Placeholder 2">
            <a:extLst>
              <a:ext uri="{FF2B5EF4-FFF2-40B4-BE49-F238E27FC236}">
                <a16:creationId xmlns:a16="http://schemas.microsoft.com/office/drawing/2014/main" id="{3FC31032-CDB6-F580-20ED-1B62E03B809F}"/>
              </a:ext>
            </a:extLst>
          </p:cNvPr>
          <p:cNvSpPr>
            <a:spLocks noGrp="1"/>
          </p:cNvSpPr>
          <p:nvPr>
            <p:ph idx="1"/>
          </p:nvPr>
        </p:nvSpPr>
        <p:spPr>
          <a:xfrm>
            <a:off x="457773" y="858737"/>
            <a:ext cx="10515600" cy="4351338"/>
          </a:xfrm>
        </p:spPr>
        <p:txBody>
          <a:bodyPr>
            <a:normAutofit/>
          </a:bodyPr>
          <a:lstStyle/>
          <a:p>
            <a:r>
              <a:rPr lang="en-US" sz="2000" dirty="0">
                <a:latin typeface="Arial" panose="020B0604020202020204" pitchFamily="34" charset="0"/>
                <a:cs typeface="Arial" panose="020B0604020202020204" pitchFamily="34" charset="0"/>
              </a:rPr>
              <a:t>The deviation of an observation is calculated around its estimated mean, hence the deviations are the residuals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F649D8-3D64-C9E7-BD6A-E8781B5918DD}"/>
                  </a:ext>
                </a:extLst>
              </p:cNvPr>
              <p:cNvSpPr txBox="1"/>
              <p:nvPr/>
            </p:nvSpPr>
            <p:spPr>
              <a:xfrm>
                <a:off x="625078" y="1889364"/>
                <a:ext cx="4646140" cy="5347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acc>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4EF649D8-3D64-C9E7-BD6A-E8781B5918DD}"/>
                  </a:ext>
                </a:extLst>
              </p:cNvPr>
              <p:cNvSpPr txBox="1">
                <a:spLocks noRot="1" noChangeAspect="1" noMove="1" noResize="1" noEditPoints="1" noAdjustHandles="1" noChangeArrowheads="1" noChangeShapeType="1" noTextEdit="1"/>
              </p:cNvSpPr>
              <p:nvPr/>
            </p:nvSpPr>
            <p:spPr>
              <a:xfrm>
                <a:off x="625078" y="1889364"/>
                <a:ext cx="4646140" cy="534762"/>
              </a:xfrm>
              <a:prstGeom prst="rect">
                <a:avLst/>
              </a:prstGeom>
              <a:blipFill>
                <a:blip r:embed="rId2"/>
                <a:stretch>
                  <a:fillRect t="-11364" b="-29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6FF951C-B939-9DF5-9D6D-80714C07866D}"/>
                  </a:ext>
                </a:extLst>
              </p:cNvPr>
              <p:cNvSpPr txBox="1"/>
              <p:nvPr/>
            </p:nvSpPr>
            <p:spPr>
              <a:xfrm>
                <a:off x="625078" y="2606999"/>
                <a:ext cx="5349961" cy="5347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𝑆𝑆𝐸</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14:m>
                  <m:oMath xmlns:m="http://schemas.openxmlformats.org/officeDocument/2006/math">
                    <m:r>
                      <a:rPr kumimoji="0" lang="en-US" sz="2800" b="0" i="0"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nary>
                      <m:naryPr>
                        <m:chr m:val="∑"/>
                        <m:subHide m:val="on"/>
                        <m:supHide m:val="on"/>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naryPr>
                      <m:sub/>
                      <m:sup/>
                      <m:e>
                        <m:sSup>
                          <m:sSup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acc>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e>
                          <m:sup>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p>
                        </m:sSup>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nary>
                          <m:naryPr>
                            <m:chr m:val="∑"/>
                            <m:subHide m:val="on"/>
                            <m:supHide m:val="on"/>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naryPr>
                          <m:sub/>
                          <m:sup/>
                          <m:e>
                            <m:sSup>
                              <m:sSup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e>
                              <m:sup>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p>
                            </m:sSup>
                          </m:e>
                        </m:nary>
                      </m:e>
                    </m:nary>
                  </m:oMath>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D6FF951C-B939-9DF5-9D6D-80714C07866D}"/>
                  </a:ext>
                </a:extLst>
              </p:cNvPr>
              <p:cNvSpPr txBox="1">
                <a:spLocks noRot="1" noChangeAspect="1" noMove="1" noResize="1" noEditPoints="1" noAdjustHandles="1" noChangeArrowheads="1" noChangeShapeType="1" noTextEdit="1"/>
              </p:cNvSpPr>
              <p:nvPr/>
            </p:nvSpPr>
            <p:spPr>
              <a:xfrm>
                <a:off x="625078" y="2606999"/>
                <a:ext cx="5349961" cy="534762"/>
              </a:xfrm>
              <a:prstGeom prst="rect">
                <a:avLst/>
              </a:prstGeom>
              <a:blipFill>
                <a:blip r:embed="rId3"/>
                <a:stretch>
                  <a:fillRect t="-11494" b="-31034"/>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19696D3-41F5-ABE2-45F9-E88B5885223B}"/>
              </a:ext>
            </a:extLst>
          </p:cNvPr>
          <p:cNvSpPr txBox="1"/>
          <p:nvPr/>
        </p:nvSpPr>
        <p:spPr>
          <a:xfrm>
            <a:off x="6468229" y="2621980"/>
            <a:ext cx="300595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Residual sum of squares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51835F3-0469-4B14-F492-CD10750CBB02}"/>
                  </a:ext>
                </a:extLst>
              </p:cNvPr>
              <p:cNvSpPr txBox="1"/>
              <p:nvPr/>
            </p:nvSpPr>
            <p:spPr>
              <a:xfrm>
                <a:off x="625078" y="3354468"/>
                <a:ext cx="6215450" cy="7641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𝑠</m:t>
                        </m:r>
                      </m:e>
                      <m:sup>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𝑀𝑆𝐸</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f>
                      <m:f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𝑆𝑆𝐸</m:t>
                        </m:r>
                      </m:num>
                      <m:den>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𝑛</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den>
                    </m:f>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f>
                      <m:f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nary>
                          <m:naryPr>
                            <m:chr m:val="∑"/>
                            <m:subHide m:val="on"/>
                            <m:supHide m:val="on"/>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naryPr>
                          <m:sub/>
                          <m:sup/>
                          <m:e>
                            <m:sSup>
                              <m:sSup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acc>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e>
                              <m:sup>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p>
                            </m:sSup>
                          </m:e>
                        </m:nary>
                      </m:num>
                      <m:den>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𝑛</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den>
                    </m:f>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f>
                      <m:f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nary>
                          <m:naryPr>
                            <m:chr m:val="∑"/>
                            <m:subHide m:val="on"/>
                            <m:supHide m:val="on"/>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naryPr>
                          <m:sub/>
                          <m:sup/>
                          <m:e>
                            <m:sSup>
                              <m:sSupPr>
                                <m:ctrlP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e>
                              <m:sup>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p>
                            </m:sSup>
                          </m:e>
                        </m:nary>
                      </m:num>
                      <m:den>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𝑛</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den>
                    </m:f>
                  </m:oMath>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351835F3-0469-4B14-F492-CD10750CBB02}"/>
                  </a:ext>
                </a:extLst>
              </p:cNvPr>
              <p:cNvSpPr txBox="1">
                <a:spLocks noRot="1" noChangeAspect="1" noMove="1" noResize="1" noEditPoints="1" noAdjustHandles="1" noChangeArrowheads="1" noChangeShapeType="1" noTextEdit="1"/>
              </p:cNvSpPr>
              <p:nvPr/>
            </p:nvSpPr>
            <p:spPr>
              <a:xfrm>
                <a:off x="625078" y="3354468"/>
                <a:ext cx="6215450" cy="764184"/>
              </a:xfrm>
              <a:prstGeom prst="rect">
                <a:avLst/>
              </a:prstGeom>
              <a:blipFill>
                <a:blip r:embed="rId4"/>
                <a:stretch>
                  <a:fillRect b="-952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952C328-388E-A7CD-70EE-D3D11D617EBF}"/>
              </a:ext>
            </a:extLst>
          </p:cNvPr>
          <p:cNvSpPr txBox="1"/>
          <p:nvPr/>
        </p:nvSpPr>
        <p:spPr>
          <a:xfrm>
            <a:off x="6468229" y="3512814"/>
            <a:ext cx="22910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Mean square error</a:t>
            </a:r>
          </a:p>
        </p:txBody>
      </p:sp>
    </p:spTree>
    <p:extLst>
      <p:ext uri="{BB962C8B-B14F-4D97-AF65-F5344CB8AC3E}">
        <p14:creationId xmlns:p14="http://schemas.microsoft.com/office/powerpoint/2010/main" val="1166950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8D3D36-5CBC-3396-0EF7-2AA30F6F1FD1}"/>
              </a:ext>
            </a:extLst>
          </p:cNvPr>
          <p:cNvSpPr>
            <a:spLocks noGrp="1"/>
          </p:cNvSpPr>
          <p:nvPr>
            <p:ph type="title"/>
          </p:nvPr>
        </p:nvSpPr>
        <p:spPr>
          <a:xfrm>
            <a:off x="838200" y="631825"/>
            <a:ext cx="10515600" cy="1325563"/>
          </a:xfrm>
        </p:spPr>
        <p:txBody>
          <a:bodyPr>
            <a:normAutofit/>
          </a:bodyPr>
          <a:lstStyle/>
          <a:p>
            <a:r>
              <a:rPr lang="en-US" sz="3600" dirty="0">
                <a:latin typeface="Arial" panose="020B0604020202020204" pitchFamily="34" charset="0"/>
                <a:cs typeface="Arial" panose="020B0604020202020204" pitchFamily="34" charset="0"/>
              </a:rPr>
              <a:t>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83CF09-A7D9-B2A9-40F1-1A841676CC94}"/>
                  </a:ext>
                </a:extLst>
              </p:cNvPr>
              <p:cNvSpPr>
                <a:spLocks noGrp="1"/>
              </p:cNvSpPr>
              <p:nvPr>
                <p:ph idx="1"/>
              </p:nvPr>
            </p:nvSpPr>
            <p:spPr>
              <a:xfrm>
                <a:off x="838200" y="2057400"/>
                <a:ext cx="10515600" cy="3871762"/>
              </a:xfrm>
            </p:spPr>
            <p:txBody>
              <a:bodyPr>
                <a:normAutofit/>
              </a:bodyPr>
              <a:lstStyle/>
              <a:p>
                <a:r>
                  <a:rPr lang="en-US" sz="2400" dirty="0">
                    <a:latin typeface="Arial" panose="020B0604020202020204" pitchFamily="34" charset="0"/>
                    <a:cs typeface="Arial" panose="020B0604020202020204" pitchFamily="34" charset="0"/>
                  </a:rPr>
                  <a:t>In general, when we use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a:latin typeface="Cambria Math" panose="02040503050406030204" pitchFamily="18" charset="0"/>
                              </a:rPr>
                              <m:t>𝑦</m:t>
                            </m:r>
                          </m:e>
                        </m:acc>
                      </m:e>
                      <m:sub>
                        <m:r>
                          <a:rPr lang="en-US" sz="2400" b="0" i="1">
                            <a:latin typeface="Cambria Math" panose="02040503050406030204" pitchFamily="18" charset="0"/>
                          </a:rPr>
                          <m:t>𝑖</m:t>
                        </m:r>
                      </m:sub>
                    </m:sSub>
                    <m:r>
                      <a:rPr lang="en-US" sz="2400" b="0" i="1">
                        <a:latin typeface="Cambria Math" panose="02040503050406030204" pitchFamily="18" charset="0"/>
                      </a:rPr>
                      <m:t>=</m:t>
                    </m:r>
                    <m:sSub>
                      <m:sSubPr>
                        <m:ctrlPr>
                          <a:rPr lang="en-US" sz="2400" b="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a:t>
                </a:r>
                <a:r>
                  <a:rPr lang="en-US" sz="2400" b="0" dirty="0">
                    <a:latin typeface="Arial" panose="020B0604020202020204" pitchFamily="34" charset="0"/>
                    <a:cs typeface="Arial" panose="020B0604020202020204" pitchFamily="34" charset="0"/>
                  </a:rPr>
                  <a:t> </a:t>
                </a: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𝑥</m:t>
                        </m:r>
                      </m:e>
                      <m:sub>
                        <m:r>
                          <a:rPr lang="en-US" sz="2400" b="0" i="1">
                            <a:latin typeface="Cambria Math" panose="02040503050406030204" pitchFamily="18" charset="0"/>
                          </a:rPr>
                          <m:t>𝑖</m:t>
                        </m:r>
                      </m:sub>
                    </m:sSub>
                  </m:oMath>
                </a14:m>
                <a:r>
                  <a:rPr lang="en-US" sz="2400" dirty="0">
                    <a:latin typeface="Arial" panose="020B0604020202020204" pitchFamily="34" charset="0"/>
                    <a:cs typeface="Arial" panose="020B0604020202020204" pitchFamily="34" charset="0"/>
                  </a:rPr>
                  <a:t> to predict the actual response </a:t>
                </a:r>
                <a14:m>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𝑦</m:t>
                        </m:r>
                      </m:e>
                      <m:sub>
                        <m:r>
                          <a:rPr lang="en-US" sz="2400" b="0" i="1">
                            <a:latin typeface="Cambria Math" panose="02040503050406030204" pitchFamily="18" charset="0"/>
                          </a:rPr>
                          <m:t>𝑖</m:t>
                        </m:r>
                      </m:sub>
                    </m:sSub>
                  </m:oMath>
                </a14:m>
                <a:r>
                  <a:rPr lang="en-US" sz="2400" dirty="0">
                    <a:latin typeface="Arial" panose="020B0604020202020204" pitchFamily="34" charset="0"/>
                    <a:cs typeface="Arial" panose="020B0604020202020204" pitchFamily="34" charset="0"/>
                  </a:rPr>
                  <a:t> we make a prediction, or residual error, equal to</a:t>
                </a:r>
              </a:p>
              <a:p>
                <a:pPr marL="0" indent="0">
                  <a:buNone/>
                </a:pP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smtClean="0">
                            <a:latin typeface="Cambria Math" panose="02040503050406030204" pitchFamily="18" charset="0"/>
                          </a:rPr>
                        </m:ctrlPr>
                      </m:sSubPr>
                      <m:e>
                        <m:r>
                          <a:rPr lang="en-US" sz="2400" i="1">
                            <a:solidFill>
                              <a:prstClr val="black"/>
                            </a:solidFill>
                            <a:latin typeface="Cambria Math" panose="02040503050406030204" pitchFamily="18" charset="0"/>
                          </a:rPr>
                          <m:t>𝑒</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oMath>
                </a14:m>
                <a:r>
                  <a:rPr lang="en-US" sz="2400" dirty="0">
                    <a:latin typeface="Arial" panose="020B0604020202020204" pitchFamily="34" charset="0"/>
                    <a:cs typeface="Arial" panose="020B0604020202020204" pitchFamily="34" charset="0"/>
                  </a:rPr>
                  <a:t> - </a:t>
                </a: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𝑖</m:t>
                        </m:r>
                      </m:sub>
                    </m:sSub>
                  </m:oMath>
                </a14:m>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best fitting line makes all prediction errors as small as possible</a:t>
                </a:r>
              </a:p>
              <a:p>
                <a:r>
                  <a:rPr lang="en-US" sz="2400" dirty="0">
                    <a:latin typeface="Arial" panose="020B0604020202020204" pitchFamily="34" charset="0"/>
                    <a:cs typeface="Arial" panose="020B0604020202020204" pitchFamily="34" charset="0"/>
                  </a:rPr>
                  <a:t>The best fitting line minimizes </a:t>
                </a:r>
                <a:r>
                  <a:rPr lang="en-US" sz="2400" u="sng" dirty="0">
                    <a:latin typeface="Arial" panose="020B0604020202020204" pitchFamily="34" charset="0"/>
                    <a:cs typeface="Arial" panose="020B0604020202020204" pitchFamily="34" charset="0"/>
                  </a:rPr>
                  <a:t>the sum of the squared prediction errors </a:t>
                </a:r>
                <a:r>
                  <a:rPr lang="en-US" sz="2400" dirty="0">
                    <a:latin typeface="Arial" panose="020B0604020202020204" pitchFamily="34" charset="0"/>
                    <a:cs typeface="Arial" panose="020B0604020202020204" pitchFamily="34" charset="0"/>
                    <a:sym typeface="Wingdings" panose="05000000000000000000" pitchFamily="2" charset="2"/>
                  </a:rPr>
                  <a:t> the least squares criterion</a:t>
                </a:r>
              </a:p>
              <a:p>
                <a:pPr lvl="1"/>
                <a:r>
                  <a:rPr lang="en-US" b="1" dirty="0">
                    <a:latin typeface="Arial" panose="020B0604020202020204" pitchFamily="34" charset="0"/>
                    <a:cs typeface="Arial" panose="020B0604020202020204" pitchFamily="34" charset="0"/>
                    <a:sym typeface="Wingdings" panose="05000000000000000000" pitchFamily="2" charset="2"/>
                  </a:rPr>
                  <a:t>Note</a:t>
                </a:r>
                <a:r>
                  <a:rPr lang="en-US" dirty="0">
                    <a:latin typeface="Arial" panose="020B0604020202020204" pitchFamily="34" charset="0"/>
                    <a:cs typeface="Arial" panose="020B0604020202020204" pitchFamily="34" charset="0"/>
                    <a:sym typeface="Wingdings" panose="05000000000000000000" pitchFamily="2" charset="2"/>
                  </a:rPr>
                  <a:t>: why do we need to square the prediction errors?</a:t>
                </a:r>
              </a:p>
            </p:txBody>
          </p:sp>
        </mc:Choice>
        <mc:Fallback xmlns="">
          <p:sp>
            <p:nvSpPr>
              <p:cNvPr id="3" name="Content Placeholder 2">
                <a:extLst>
                  <a:ext uri="{FF2B5EF4-FFF2-40B4-BE49-F238E27FC236}">
                    <a16:creationId xmlns:a16="http://schemas.microsoft.com/office/drawing/2014/main" id="{3783CF09-A7D9-B2A9-40F1-1A841676CC94}"/>
                  </a:ext>
                </a:extLst>
              </p:cNvPr>
              <p:cNvSpPr>
                <a:spLocks noGrp="1" noRot="1" noChangeAspect="1" noMove="1" noResize="1" noEditPoints="1" noAdjustHandles="1" noChangeArrowheads="1" noChangeShapeType="1" noTextEdit="1"/>
              </p:cNvSpPr>
              <p:nvPr>
                <p:ph idx="1"/>
              </p:nvPr>
            </p:nvSpPr>
            <p:spPr>
              <a:xfrm>
                <a:off x="838200" y="2057400"/>
                <a:ext cx="10515600" cy="3871762"/>
              </a:xfrm>
              <a:blipFill>
                <a:blip r:embed="rId2"/>
                <a:stretch>
                  <a:fillRect l="-812" t="-2047" r="-121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A0955AE-1CA2-1EE4-1197-E9B878FD70FD}"/>
              </a:ext>
            </a:extLst>
          </p:cNvPr>
          <p:cNvSpPr txBox="1"/>
          <p:nvPr/>
        </p:nvSpPr>
        <p:spPr>
          <a:xfrm>
            <a:off x="4271522" y="2876934"/>
            <a:ext cx="3109121"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Prediction error for data point </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i</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0861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372202C-5772-F911-A753-EBB159F59F98}"/>
                  </a:ext>
                </a:extLst>
              </p:cNvPr>
              <p:cNvSpPr>
                <a:spLocks noGrp="1"/>
              </p:cNvSpPr>
              <p:nvPr>
                <p:ph type="title"/>
              </p:nvPr>
            </p:nvSpPr>
            <p:spPr>
              <a:xfrm>
                <a:off x="261728" y="150057"/>
                <a:ext cx="10515600" cy="693654"/>
              </a:xfrm>
            </p:spPr>
            <p:txBody>
              <a:bodyPr>
                <a:normAutofit/>
              </a:bodyPr>
              <a:lstStyle/>
              <a:p>
                <a:r>
                  <a:rPr lang="en-US" sz="3600" dirty="0">
                    <a:latin typeface="Arial" panose="020B0604020202020204" pitchFamily="34" charset="0"/>
                    <a:cs typeface="Arial" panose="020B0604020202020204" pitchFamily="34" charset="0"/>
                  </a:rPr>
                  <a:t>Estimation of Error Terms Variance, </a:t>
                </a:r>
                <a14:m>
                  <m:oMath xmlns:m="http://schemas.openxmlformats.org/officeDocument/2006/math">
                    <m:sSup>
                      <m:sSupPr>
                        <m:ctrlPr>
                          <a:rPr lang="en-US" sz="3600" i="1" smtClean="0">
                            <a:latin typeface="Cambria Math" panose="02040503050406030204" pitchFamily="18" charset="0"/>
                          </a:rPr>
                        </m:ctrlPr>
                      </m:sSupPr>
                      <m:e>
                        <m:r>
                          <a:rPr lang="en-US" sz="3600" i="1" smtClean="0">
                            <a:latin typeface="Cambria Math" panose="02040503050406030204" pitchFamily="18" charset="0"/>
                            <a:ea typeface="Cambria Math" panose="02040503050406030204" pitchFamily="18" charset="0"/>
                          </a:rPr>
                          <m:t>𝜎</m:t>
                        </m:r>
                      </m:e>
                      <m:sup>
                        <m:r>
                          <a:rPr lang="en-US" sz="3600" b="0" i="1" smtClean="0">
                            <a:latin typeface="Cambria Math" panose="02040503050406030204" pitchFamily="18" charset="0"/>
                          </a:rPr>
                          <m:t>2</m:t>
                        </m:r>
                      </m:sup>
                    </m:sSup>
                  </m:oMath>
                </a14:m>
                <a:endParaRPr lang="en-US" sz="3600" dirty="0">
                  <a:latin typeface="Arial" panose="020B0604020202020204" pitchFamily="34" charset="0"/>
                  <a:cs typeface="Arial" panose="020B0604020202020204" pitchFamily="34" charset="0"/>
                </a:endParaRPr>
              </a:p>
            </p:txBody>
          </p:sp>
        </mc:Choice>
        <mc:Fallback xmlns="">
          <p:sp>
            <p:nvSpPr>
              <p:cNvPr id="2" name="Title 1">
                <a:extLst>
                  <a:ext uri="{FF2B5EF4-FFF2-40B4-BE49-F238E27FC236}">
                    <a16:creationId xmlns:a16="http://schemas.microsoft.com/office/drawing/2014/main" id="{3372202C-5772-F911-A753-EBB159F59F98}"/>
                  </a:ext>
                </a:extLst>
              </p:cNvPr>
              <p:cNvSpPr>
                <a:spLocks noGrp="1" noRot="1" noChangeAspect="1" noMove="1" noResize="1" noEditPoints="1" noAdjustHandles="1" noChangeArrowheads="1" noChangeShapeType="1" noTextEdit="1"/>
              </p:cNvSpPr>
              <p:nvPr>
                <p:ph type="title"/>
              </p:nvPr>
            </p:nvSpPr>
            <p:spPr>
              <a:xfrm>
                <a:off x="261728" y="150057"/>
                <a:ext cx="10515600" cy="693654"/>
              </a:xfrm>
              <a:blipFill>
                <a:blip r:embed="rId3"/>
                <a:stretch>
                  <a:fillRect l="-1797" t="-14159" b="-265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7F8C51-48BD-9F0E-D962-11A7844A5E69}"/>
                  </a:ext>
                </a:extLst>
              </p:cNvPr>
              <p:cNvSpPr>
                <a:spLocks noGrp="1"/>
              </p:cNvSpPr>
              <p:nvPr>
                <p:ph idx="1"/>
              </p:nvPr>
            </p:nvSpPr>
            <p:spPr>
              <a:xfrm>
                <a:off x="261728" y="856650"/>
                <a:ext cx="10515600" cy="4351338"/>
              </a:xfrm>
            </p:spPr>
            <p:txBody>
              <a:bodyPr>
                <a:normAutofit/>
              </a:bodyPr>
              <a:lstStyle/>
              <a:p>
                <a:r>
                  <a:rPr lang="en-US" sz="2000" dirty="0">
                    <a:latin typeface="Arial" panose="020B0604020202020204" pitchFamily="34" charset="0"/>
                    <a:cs typeface="Arial" panose="020B0604020202020204" pitchFamily="34" charset="0"/>
                  </a:rPr>
                  <a:t>The variance of the error terms needs to be estimated to obtain an indication of the variability of the probability distributions of </a:t>
                </a:r>
                <a:r>
                  <a:rPr lang="en-US" sz="2000" i="1" dirty="0">
                    <a:latin typeface="Arial" panose="020B0604020202020204" pitchFamily="34" charset="0"/>
                    <a:cs typeface="Arial" panose="020B0604020202020204" pitchFamily="34" charset="0"/>
                  </a:rPr>
                  <a:t>Y</a:t>
                </a:r>
              </a:p>
              <a:p>
                <a:r>
                  <a:rPr lang="en-US" sz="2000" dirty="0">
                    <a:latin typeface="Arial" panose="020B0604020202020204" pitchFamily="34" charset="0"/>
                    <a:cs typeface="Arial" panose="020B0604020202020204" pitchFamily="34" charset="0"/>
                  </a:rPr>
                  <a:t>We know the variance of a </a:t>
                </a:r>
                <a:r>
                  <a:rPr lang="en-US" sz="2000" u="sng" dirty="0">
                    <a:latin typeface="Arial" panose="020B0604020202020204" pitchFamily="34" charset="0"/>
                    <a:cs typeface="Arial" panose="020B0604020202020204" pitchFamily="34" charset="0"/>
                  </a:rPr>
                  <a:t>population </a:t>
                </a:r>
                <a:r>
                  <a:rPr lang="en-US" sz="2000" dirty="0">
                    <a:latin typeface="Arial" panose="020B0604020202020204" pitchFamily="34" charset="0"/>
                    <a:cs typeface="Arial" panose="020B0604020202020204" pitchFamily="34" charset="0"/>
                  </a:rPr>
                  <a:t>is estimated by the sample variance, </a:t>
                </a:r>
                <a14:m>
                  <m:oMath xmlns:m="http://schemas.openxmlformats.org/officeDocument/2006/math">
                    <m:sSup>
                      <m:sSupPr>
                        <m:ctrlPr>
                          <a:rPr lang="en-US" sz="2000" i="1" smtClean="0">
                            <a:latin typeface="Cambria Math" panose="02040503050406030204" pitchFamily="18" charset="0"/>
                          </a:rPr>
                        </m:ctrlPr>
                      </m:sSupPr>
                      <m:e>
                        <m:r>
                          <m:rPr>
                            <m:sty m:val="p"/>
                          </m:rPr>
                          <a:rPr lang="en-US" sz="2000" b="0" i="0" smtClean="0">
                            <a:latin typeface="Cambria Math" panose="02040503050406030204" pitchFamily="18" charset="0"/>
                          </a:rPr>
                          <m:t>s</m:t>
                        </m:r>
                      </m:e>
                      <m:sup>
                        <m:r>
                          <a:rPr lang="en-US" sz="2000" b="0" i="0" smtClean="0">
                            <a:latin typeface="Cambria Math" panose="02040503050406030204" pitchFamily="18" charset="0"/>
                          </a:rPr>
                          <m:t>2</m:t>
                        </m:r>
                      </m:sup>
                    </m:sSup>
                  </m:oMath>
                </a14:m>
                <a:endParaRPr lang="en-US" sz="2000" b="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logic of developing an estimator of the variance for the regression model is the same as for sampling from a single population that we’ve seen previously (i.e., standard error)</a:t>
                </a:r>
              </a:p>
            </p:txBody>
          </p:sp>
        </mc:Choice>
        <mc:Fallback xmlns="">
          <p:sp>
            <p:nvSpPr>
              <p:cNvPr id="3" name="Content Placeholder 2">
                <a:extLst>
                  <a:ext uri="{FF2B5EF4-FFF2-40B4-BE49-F238E27FC236}">
                    <a16:creationId xmlns:a16="http://schemas.microsoft.com/office/drawing/2014/main" id="{357F8C51-48BD-9F0E-D962-11A7844A5E69}"/>
                  </a:ext>
                </a:extLst>
              </p:cNvPr>
              <p:cNvSpPr>
                <a:spLocks noGrp="1" noRot="1" noChangeAspect="1" noMove="1" noResize="1" noEditPoints="1" noAdjustHandles="1" noChangeArrowheads="1" noChangeShapeType="1" noTextEdit="1"/>
              </p:cNvSpPr>
              <p:nvPr>
                <p:ph idx="1"/>
              </p:nvPr>
            </p:nvSpPr>
            <p:spPr>
              <a:xfrm>
                <a:off x="261728" y="856650"/>
                <a:ext cx="10515600" cy="4351338"/>
              </a:xfrm>
              <a:blipFill>
                <a:blip r:embed="rId4"/>
                <a:stretch>
                  <a:fillRect l="-522" t="-1403" r="-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D9F9D03-7115-1D03-F172-7C9DF4BC6357}"/>
                  </a:ext>
                </a:extLst>
              </p:cNvPr>
              <p:cNvSpPr txBox="1"/>
              <p:nvPr/>
            </p:nvSpPr>
            <p:spPr>
              <a:xfrm>
                <a:off x="2950884" y="2291314"/>
                <a:ext cx="1713931" cy="55579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𝑠</m:t>
                          </m:r>
                        </m:e>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nary>
                            <m:naryPr>
                              <m:chr m:val="∑"/>
                              <m:subHide m:val="on"/>
                              <m:sup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sup/>
                            <m:e>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e>
                                  </m:acc>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e>
                          </m:nary>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8D9F9D03-7115-1D03-F172-7C9DF4BC6357}"/>
                  </a:ext>
                </a:extLst>
              </p:cNvPr>
              <p:cNvSpPr txBox="1">
                <a:spLocks noRot="1" noChangeAspect="1" noMove="1" noResize="1" noEditPoints="1" noAdjustHandles="1" noChangeArrowheads="1" noChangeShapeType="1" noTextEdit="1"/>
              </p:cNvSpPr>
              <p:nvPr/>
            </p:nvSpPr>
            <p:spPr>
              <a:xfrm>
                <a:off x="2950884" y="2291314"/>
                <a:ext cx="1713931" cy="555793"/>
              </a:xfrm>
              <a:prstGeom prst="rect">
                <a:avLst/>
              </a:prstGeom>
              <a:blipFill>
                <a:blip r:embed="rId5"/>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BE476A3-6F7C-6DA4-5C16-559E6C3655E9}"/>
              </a:ext>
            </a:extLst>
          </p:cNvPr>
          <p:cNvSpPr txBox="1"/>
          <p:nvPr/>
        </p:nvSpPr>
        <p:spPr>
          <a:xfrm>
            <a:off x="4792459" y="2148525"/>
            <a:ext cx="1621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Sum of squares</a:t>
            </a:r>
          </a:p>
        </p:txBody>
      </p:sp>
      <p:sp>
        <p:nvSpPr>
          <p:cNvPr id="6" name="TextBox 5">
            <a:extLst>
              <a:ext uri="{FF2B5EF4-FFF2-40B4-BE49-F238E27FC236}">
                <a16:creationId xmlns:a16="http://schemas.microsoft.com/office/drawing/2014/main" id="{D85F900F-B7D4-C48D-0C20-2B9209D11066}"/>
              </a:ext>
            </a:extLst>
          </p:cNvPr>
          <p:cNvSpPr txBox="1"/>
          <p:nvPr/>
        </p:nvSpPr>
        <p:spPr>
          <a:xfrm>
            <a:off x="4792459" y="2508291"/>
            <a:ext cx="3770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df</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ight Brace 6">
            <a:extLst>
              <a:ext uri="{FF2B5EF4-FFF2-40B4-BE49-F238E27FC236}">
                <a16:creationId xmlns:a16="http://schemas.microsoft.com/office/drawing/2014/main" id="{8E9450CD-907F-FBA0-72C3-70BB9485617D}"/>
              </a:ext>
            </a:extLst>
          </p:cNvPr>
          <p:cNvSpPr/>
          <p:nvPr/>
        </p:nvSpPr>
        <p:spPr>
          <a:xfrm>
            <a:off x="6368170" y="1918554"/>
            <a:ext cx="377026" cy="119860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C8DFD90-B906-5384-2311-01951A2E9E5D}"/>
              </a:ext>
            </a:extLst>
          </p:cNvPr>
          <p:cNvSpPr txBox="1"/>
          <p:nvPr/>
        </p:nvSpPr>
        <p:spPr>
          <a:xfrm>
            <a:off x="6801718" y="2291314"/>
            <a:ext cx="14191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Mean square</a:t>
            </a:r>
          </a:p>
        </p:txBody>
      </p:sp>
    </p:spTree>
    <p:extLst>
      <p:ext uri="{BB962C8B-B14F-4D97-AF65-F5344CB8AC3E}">
        <p14:creationId xmlns:p14="http://schemas.microsoft.com/office/powerpoint/2010/main" val="81851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A0F1B-8F82-B245-8DDE-12F90CD5D828}"/>
              </a:ext>
            </a:extLst>
          </p:cNvPr>
          <p:cNvSpPr>
            <a:spLocks noGrp="1"/>
          </p:cNvSpPr>
          <p:nvPr>
            <p:ph type="title"/>
          </p:nvPr>
        </p:nvSpPr>
        <p:spPr>
          <a:xfrm>
            <a:off x="162000" y="135286"/>
            <a:ext cx="10515600" cy="671926"/>
          </a:xfrm>
        </p:spPr>
        <p:txBody>
          <a:bodyPr>
            <a:normAutofit/>
          </a:bodyPr>
          <a:lstStyle/>
          <a:p>
            <a:r>
              <a:rPr lang="en-US" sz="3600" dirty="0">
                <a:latin typeface="Arial" panose="020B0604020202020204" pitchFamily="34" charset="0"/>
                <a:cs typeface="Arial" panose="020B0604020202020204" pitchFamily="34" charset="0"/>
              </a:rPr>
              <a:t>The variance of deviations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EAF801-6F5A-6E66-FEB3-F6FA0C43A83D}"/>
                  </a:ext>
                </a:extLst>
              </p:cNvPr>
              <p:cNvSpPr>
                <a:spLocks noGrp="1"/>
              </p:cNvSpPr>
              <p:nvPr>
                <p:ph idx="1"/>
              </p:nvPr>
            </p:nvSpPr>
            <p:spPr>
              <a:xfrm>
                <a:off x="260685" y="807212"/>
                <a:ext cx="10515600" cy="4351338"/>
              </a:xfrm>
            </p:spPr>
            <p:txBody>
              <a:bodyPr>
                <a:normAutofit/>
              </a:bodyPr>
              <a:lstStyle/>
              <a:p>
                <a:r>
                  <a:rPr lang="en-US" sz="2000" dirty="0">
                    <a:latin typeface="Arial" panose="020B0604020202020204" pitchFamily="34" charset="0"/>
                    <a:cs typeface="Arial" panose="020B0604020202020204" pitchFamily="34" charset="0"/>
                  </a:rPr>
                  <a:t>The variance of the deviation (</a:t>
                </a:r>
                <a14:m>
                  <m:oMath xmlns:m="http://schemas.openxmlformats.org/officeDocument/2006/math">
                    <m:sSub>
                      <m:sSubPr>
                        <m:ctrlPr>
                          <a:rPr lang="en-US" sz="2000" i="1">
                            <a:latin typeface="Cambria Math" panose="02040503050406030204" pitchFamily="18" charset="0"/>
                          </a:rPr>
                        </m:ctrlPr>
                      </m:sSubPr>
                      <m:e>
                        <m:r>
                          <a:rPr lang="en-US" sz="2000" i="1">
                            <a:solidFill>
                              <a:prstClr val="black"/>
                            </a:solidFill>
                            <a:latin typeface="Cambria Math" panose="02040503050406030204" pitchFamily="18" charset="0"/>
                          </a:rPr>
                          <m:t>𝑒</m:t>
                        </m:r>
                      </m:e>
                      <m:sub>
                        <m:r>
                          <a:rPr lang="en-US" sz="2000" i="1">
                            <a:latin typeface="Cambria Math" panose="02040503050406030204" pitchFamily="18" charset="0"/>
                          </a:rPr>
                          <m:t>𝑖</m:t>
                        </m:r>
                      </m:sub>
                    </m:sSub>
                  </m:oMath>
                </a14:m>
                <a:r>
                  <a:rPr lang="en-US" sz="2000" dirty="0">
                    <a:latin typeface="Arial" panose="020B0604020202020204" pitchFamily="34" charset="0"/>
                    <a:cs typeface="Arial" panose="020B0604020202020204" pitchFamily="34" charset="0"/>
                  </a:rPr>
                  <a:t>) is denoted </a:t>
                </a:r>
                <a14:m>
                  <m:oMath xmlns:m="http://schemas.openxmlformats.org/officeDocument/2006/math">
                    <m:sSup>
                      <m:sSupPr>
                        <m:ctrlPr>
                          <a:rPr lang="en-US" sz="2000" b="0" i="1" smtClean="0">
                            <a:latin typeface="Cambria Math" panose="02040503050406030204" pitchFamily="18" charset="0"/>
                            <a:ea typeface="Cambria Math" panose="02040503050406030204" pitchFamily="18" charset="0"/>
                          </a:rPr>
                        </m:ctrlPr>
                      </m:sSupPr>
                      <m:e>
                        <m:r>
                          <a:rPr lang="en-US" sz="2000" b="0" i="1">
                            <a:latin typeface="Cambria Math" panose="02040503050406030204" pitchFamily="18" charset="0"/>
                            <a:ea typeface="Cambria Math" panose="02040503050406030204" pitchFamily="18" charset="0"/>
                          </a:rPr>
                          <m:t>𝜎</m:t>
                        </m:r>
                      </m:e>
                      <m:sup>
                        <m:r>
                          <a:rPr lang="en-US" sz="2000" b="0" i="1">
                            <a:latin typeface="Cambria Math" panose="02040503050406030204" pitchFamily="18" charset="0"/>
                            <a:ea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and is estimated using the average squared residual! This should look VERY familiar to you.</a:t>
                </a:r>
              </a:p>
            </p:txBody>
          </p:sp>
        </mc:Choice>
        <mc:Fallback xmlns="">
          <p:sp>
            <p:nvSpPr>
              <p:cNvPr id="3" name="Content Placeholder 2">
                <a:extLst>
                  <a:ext uri="{FF2B5EF4-FFF2-40B4-BE49-F238E27FC236}">
                    <a16:creationId xmlns:a16="http://schemas.microsoft.com/office/drawing/2014/main" id="{0DEAF801-6F5A-6E66-FEB3-F6FA0C43A83D}"/>
                  </a:ext>
                </a:extLst>
              </p:cNvPr>
              <p:cNvSpPr>
                <a:spLocks noGrp="1" noRot="1" noChangeAspect="1" noMove="1" noResize="1" noEditPoints="1" noAdjustHandles="1" noChangeArrowheads="1" noChangeShapeType="1" noTextEdit="1"/>
              </p:cNvSpPr>
              <p:nvPr>
                <p:ph idx="1"/>
              </p:nvPr>
            </p:nvSpPr>
            <p:spPr>
              <a:xfrm>
                <a:off x="260685" y="807212"/>
                <a:ext cx="10515600" cy="4351338"/>
              </a:xfrm>
              <a:blipFill>
                <a:blip r:embed="rId2"/>
                <a:stretch>
                  <a:fillRect l="-522" t="-1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6205BDD-1719-F90D-0DF5-DE8C7007AECF}"/>
                  </a:ext>
                </a:extLst>
              </p:cNvPr>
              <p:cNvSpPr txBox="1"/>
              <p:nvPr/>
            </p:nvSpPr>
            <p:spPr>
              <a:xfrm>
                <a:off x="663400" y="1479138"/>
                <a:ext cx="4445319" cy="84029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m:t>
                          </m:r>
                        </m:e>
                        <m: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nary>
                        <m:nary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sSup>
                            <m:sSup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𝑆𝑆𝐸</m:t>
                              </m:r>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𝑀𝑆𝐸</m:t>
                          </m:r>
                        </m:e>
                      </m:nary>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46205BDD-1719-F90D-0DF5-DE8C7007AECF}"/>
                  </a:ext>
                </a:extLst>
              </p:cNvPr>
              <p:cNvSpPr txBox="1">
                <a:spLocks noRot="1" noChangeAspect="1" noMove="1" noResize="1" noEditPoints="1" noAdjustHandles="1" noChangeArrowheads="1" noChangeShapeType="1" noTextEdit="1"/>
              </p:cNvSpPr>
              <p:nvPr/>
            </p:nvSpPr>
            <p:spPr>
              <a:xfrm>
                <a:off x="663400" y="1479138"/>
                <a:ext cx="4445319" cy="84029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7B0950-CA98-902F-56BF-5A4BCF162073}"/>
                  </a:ext>
                </a:extLst>
              </p:cNvPr>
              <p:cNvSpPr txBox="1"/>
              <p:nvPr/>
            </p:nvSpPr>
            <p:spPr>
              <a:xfrm>
                <a:off x="162000" y="6101978"/>
                <a:ext cx="1180231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Note</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to make inferences about the model parameters (i.e., hypothesis test) we also need to assume that the deviations </a:t>
                </a: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𝑖</m:t>
                        </m:r>
                      </m:sub>
                    </m:sSub>
                  </m:oMath>
                </a14:m>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are normally distributed</a:t>
                </a:r>
              </a:p>
            </p:txBody>
          </p:sp>
        </mc:Choice>
        <mc:Fallback xmlns="">
          <p:sp>
            <p:nvSpPr>
              <p:cNvPr id="6" name="TextBox 5">
                <a:extLst>
                  <a:ext uri="{FF2B5EF4-FFF2-40B4-BE49-F238E27FC236}">
                    <a16:creationId xmlns:a16="http://schemas.microsoft.com/office/drawing/2014/main" id="{C17B0950-CA98-902F-56BF-5A4BCF162073}"/>
                  </a:ext>
                </a:extLst>
              </p:cNvPr>
              <p:cNvSpPr txBox="1">
                <a:spLocks noRot="1" noChangeAspect="1" noMove="1" noResize="1" noEditPoints="1" noAdjustHandles="1" noChangeArrowheads="1" noChangeShapeType="1" noTextEdit="1"/>
              </p:cNvSpPr>
              <p:nvPr/>
            </p:nvSpPr>
            <p:spPr>
              <a:xfrm>
                <a:off x="162000" y="6101978"/>
                <a:ext cx="11802317" cy="646331"/>
              </a:xfrm>
              <a:prstGeom prst="rect">
                <a:avLst/>
              </a:prstGeom>
              <a:blipFill>
                <a:blip r:embed="rId4"/>
                <a:stretch>
                  <a:fillRect l="-465"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136235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F3654-50A4-FDF7-CF13-6F3D69682FF5}"/>
              </a:ext>
            </a:extLst>
          </p:cNvPr>
          <p:cNvSpPr>
            <a:spLocks noGrp="1"/>
          </p:cNvSpPr>
          <p:nvPr>
            <p:ph type="title"/>
          </p:nvPr>
        </p:nvSpPr>
        <p:spPr>
          <a:xfrm>
            <a:off x="68179" y="182246"/>
            <a:ext cx="10515600" cy="645528"/>
          </a:xfrm>
        </p:spPr>
        <p:txBody>
          <a:bodyPr>
            <a:normAutofit/>
          </a:bodyPr>
          <a:lstStyle/>
          <a:p>
            <a:r>
              <a:rPr lang="en-US" sz="3600" dirty="0">
                <a:latin typeface="Arial" panose="020B0604020202020204" pitchFamily="34" charset="0"/>
                <a:cs typeface="Arial" panose="020B0604020202020204" pitchFamily="34" charset="0"/>
              </a:rPr>
              <a:t>Analysis of Variance for SLR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EEDE57-4007-22D1-DDD3-7300E22D2DFB}"/>
                  </a:ext>
                </a:extLst>
              </p:cNvPr>
              <p:cNvSpPr>
                <a:spLocks noGrp="1"/>
              </p:cNvSpPr>
              <p:nvPr>
                <p:ph idx="1"/>
              </p:nvPr>
            </p:nvSpPr>
            <p:spPr>
              <a:xfrm>
                <a:off x="270310" y="827773"/>
                <a:ext cx="11247096" cy="4988079"/>
              </a:xfrm>
            </p:spPr>
            <p:txBody>
              <a:bodyPr>
                <a:normAutofit/>
              </a:bodyPr>
              <a:lstStyle/>
              <a:p>
                <a:r>
                  <a:rPr lang="en-US" sz="2000" b="0" i="0" dirty="0">
                    <a:effectLst/>
                    <a:latin typeface="Arial" panose="020B0604020202020204" pitchFamily="34" charset="0"/>
                    <a:cs typeface="Arial" panose="020B0604020202020204" pitchFamily="34" charset="0"/>
                  </a:rPr>
                  <a:t>A measure of ‘goodness of fit’</a:t>
                </a:r>
              </a:p>
              <a:p>
                <a:r>
                  <a:rPr lang="en-US" sz="2000" b="0" i="0" dirty="0">
                    <a:effectLst/>
                    <a:latin typeface="Arial" panose="020B0604020202020204" pitchFamily="34" charset="0"/>
                    <a:cs typeface="Arial" panose="020B0604020202020204" pitchFamily="34" charset="0"/>
                  </a:rPr>
                  <a:t>SSE is the "error sum of squares" and quantifies how much the data points,</a:t>
                </a:r>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𝑦</m:t>
                        </m:r>
                      </m:e>
                      <m:sub>
                        <m:r>
                          <a:rPr lang="en-US" sz="2000" b="0" i="1">
                            <a:latin typeface="Cambria Math" panose="02040503050406030204" pitchFamily="18" charset="0"/>
                          </a:rPr>
                          <m:t>𝑖</m:t>
                        </m:r>
                      </m:sub>
                    </m:sSub>
                  </m:oMath>
                </a14:m>
                <a:r>
                  <a:rPr lang="en-US" sz="2000" b="0" i="0" dirty="0">
                    <a:effectLst/>
                    <a:latin typeface="Arial" panose="020B0604020202020204" pitchFamily="34" charset="0"/>
                    <a:cs typeface="Arial" panose="020B0604020202020204" pitchFamily="34" charset="0"/>
                  </a:rPr>
                  <a:t>, vary around the estimated regression line,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oMath>
                </a14:m>
                <a:r>
                  <a:rPr lang="en-US" sz="2000" b="0" i="0" dirty="0">
                    <a:effectLst/>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SSE = </a:t>
                </a:r>
                <a14:m>
                  <m:oMath xmlns:m="http://schemas.openxmlformats.org/officeDocument/2006/math">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1</m:t>
                        </m:r>
                      </m:sub>
                      <m:sup>
                        <m:r>
                          <a:rPr lang="en-US" sz="2000" i="1">
                            <a:latin typeface="Cambria Math" panose="02040503050406030204" pitchFamily="18" charset="0"/>
                          </a:rPr>
                          <m:t>𝑛</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r>
                                  <m:rPr>
                                    <m:nor/>
                                  </m:rPr>
                                  <a:rPr lang="en-US" sz="2000">
                                    <a:latin typeface="Arial" panose="020B0604020202020204" pitchFamily="34" charset="0"/>
                                    <a:cs typeface="Arial" panose="020B0604020202020204" pitchFamily="34" charset="0"/>
                                  </a:rPr>
                                  <m:t> −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𝑖</m:t>
                                    </m:r>
                                  </m:sub>
                                </m:sSub>
                              </m:e>
                            </m:d>
                          </m:e>
                          <m:sup>
                            <m:r>
                              <a:rPr lang="en-US" sz="2000" i="1">
                                <a:latin typeface="Cambria Math" panose="02040503050406030204" pitchFamily="18" charset="0"/>
                              </a:rPr>
                              <m:t>2</m:t>
                            </m:r>
                          </m:sup>
                        </m:sSup>
                      </m:e>
                    </m:nary>
                  </m:oMath>
                </a14:m>
                <a:endParaRPr lang="en-US" sz="2000" b="0" i="0" dirty="0">
                  <a:effectLst/>
                  <a:latin typeface="Arial" panose="020B0604020202020204" pitchFamily="34" charset="0"/>
                  <a:cs typeface="Arial" panose="020B0604020202020204" pitchFamily="34" charset="0"/>
                </a:endParaRPr>
              </a:p>
              <a:p>
                <a:pPr lvl="1"/>
                <a:r>
                  <a:rPr lang="en-US" sz="2000" b="0" i="0" dirty="0">
                    <a:effectLst/>
                    <a:latin typeface="Arial" panose="020B0604020202020204" pitchFamily="34" charset="0"/>
                    <a:cs typeface="Arial" panose="020B0604020202020204" pitchFamily="34" charset="0"/>
                  </a:rPr>
                  <a:t>How far off is our data from prediction?</a:t>
                </a:r>
              </a:p>
              <a:p>
                <a:r>
                  <a:rPr lang="en-US" sz="2000" b="0" i="0" dirty="0">
                    <a:effectLst/>
                    <a:latin typeface="Arial" panose="020B0604020202020204" pitchFamily="34" charset="0"/>
                    <a:cs typeface="Arial" panose="020B0604020202020204" pitchFamily="34" charset="0"/>
                  </a:rPr>
                  <a:t>SSR is the "regression sum of squares" and quantifies how far the estimated sloped regression line,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oMath>
                </a14:m>
                <a:r>
                  <a:rPr lang="en-US" sz="2000" b="0" i="0" dirty="0">
                    <a:effectLst/>
                    <a:latin typeface="Arial" panose="020B0604020202020204" pitchFamily="34" charset="0"/>
                    <a:cs typeface="Arial" panose="020B0604020202020204" pitchFamily="34" charset="0"/>
                  </a:rPr>
                  <a:t>, is from the horizontal "no relationship line," the sample </a:t>
                </a:r>
                <a:r>
                  <a:rPr lang="en-US" sz="2000" b="1" i="0" dirty="0">
                    <a:effectLst/>
                    <a:latin typeface="Arial" panose="020B0604020202020204" pitchFamily="34" charset="0"/>
                    <a:cs typeface="Arial" panose="020B0604020202020204" pitchFamily="34" charset="0"/>
                  </a:rPr>
                  <a:t>mean</a:t>
                </a:r>
                <a:r>
                  <a:rPr lang="en-US" sz="2000" b="0" i="0" dirty="0">
                    <a:effectLst/>
                    <a:latin typeface="Arial" panose="020B0604020202020204" pitchFamily="34" charset="0"/>
                    <a:cs typeface="Arial" panose="020B0604020202020204" pitchFamily="34" charset="0"/>
                  </a:rPr>
                  <a:t> of </a:t>
                </a:r>
                <a14:m>
                  <m:oMath xmlns:m="http://schemas.openxmlformats.org/officeDocument/2006/math">
                    <m:acc>
                      <m:accPr>
                        <m:chr m:val="̅"/>
                        <m:ctrlPr>
                          <a:rPr lang="en-US" sz="2000" b="0" i="1">
                            <a:effectLst/>
                            <a:latin typeface="Cambria Math" panose="02040503050406030204" pitchFamily="18" charset="0"/>
                          </a:rPr>
                        </m:ctrlPr>
                      </m:accPr>
                      <m:e>
                        <m:r>
                          <a:rPr lang="en-US" sz="2000" b="0" i="1">
                            <a:effectLst/>
                            <a:latin typeface="Cambria Math" panose="02040503050406030204" pitchFamily="18" charset="0"/>
                          </a:rPr>
                          <m:t>𝑦</m:t>
                        </m:r>
                      </m:e>
                    </m:acc>
                  </m:oMath>
                </a14:m>
                <a:r>
                  <a:rPr lang="en-US" sz="2000" b="0" i="0" dirty="0">
                    <a:effectLst/>
                    <a:latin typeface="Arial" panose="020B0604020202020204" pitchFamily="34" charset="0"/>
                    <a:cs typeface="Arial" panose="020B0604020202020204" pitchFamily="34" charset="0"/>
                  </a:rPr>
                  <a:t>.</a:t>
                </a:r>
              </a:p>
              <a:p>
                <a:pPr lvl="1"/>
                <a:r>
                  <a:rPr kumimoji="0" lang="en-US" sz="2000" b="0" u="none" strike="noStrike" kern="1200" cap="none" spc="0" normalizeH="0" baseline="0" noProof="0" dirty="0">
                    <a:ln>
                      <a:noFill/>
                    </a:ln>
                    <a:effectLst/>
                    <a:uLnTx/>
                    <a:uFillTx/>
                    <a:latin typeface="Arial" panose="020B0604020202020204" pitchFamily="34" charset="0"/>
                    <a:cs typeface="Arial" panose="020B0604020202020204" pitchFamily="34" charset="0"/>
                  </a:rPr>
                  <a:t>SSR = </a:t>
                </a:r>
                <a14:m>
                  <m:oMath xmlns:m="http://schemas.openxmlformats.org/officeDocument/2006/math">
                    <m:nary>
                      <m:naryPr>
                        <m:chr m:val="∑"/>
                        <m:ctrlPr>
                          <a:rPr kumimoji="0" lang="en-US" sz="2000" b="0" i="1" u="none" strike="noStrike" kern="1200" cap="none" spc="0" normalizeH="0" baseline="0" noProof="0">
                            <a:ln>
                              <a:noFill/>
                            </a:ln>
                            <a:effectLst/>
                            <a:uLnTx/>
                            <a:uFillTx/>
                            <a:latin typeface="Cambria Math" panose="02040503050406030204" pitchFamily="18" charset="0"/>
                          </a:rPr>
                        </m:ctrlPr>
                      </m:naryPr>
                      <m:sub>
                        <m:r>
                          <m:rPr>
                            <m:brk m:alnAt="23"/>
                          </m:rPr>
                          <a:rPr kumimoji="0" lang="en-US" sz="2000" b="0" i="1" u="none" strike="noStrike" kern="1200" cap="none" spc="0" normalizeH="0" baseline="0" noProof="0">
                            <a:ln>
                              <a:noFill/>
                            </a:ln>
                            <a:effectLst/>
                            <a:uLnTx/>
                            <a:uFillTx/>
                            <a:latin typeface="Cambria Math" panose="02040503050406030204" pitchFamily="18" charset="0"/>
                          </a:rPr>
                          <m:t>𝑖</m:t>
                        </m:r>
                        <m:r>
                          <a:rPr kumimoji="0" lang="en-US" sz="2000" b="0" i="1" u="none" strike="noStrike" kern="1200" cap="none" spc="0" normalizeH="0" baseline="0" noProof="0">
                            <a:ln>
                              <a:noFill/>
                            </a:ln>
                            <a:effectLst/>
                            <a:uLnTx/>
                            <a:uFillTx/>
                            <a:latin typeface="Cambria Math" panose="02040503050406030204" pitchFamily="18" charset="0"/>
                          </a:rPr>
                          <m:t>=</m:t>
                        </m:r>
                        <m:r>
                          <a:rPr kumimoji="0" lang="en-US" sz="2000" b="0" i="1" u="none" strike="noStrike" kern="1200" cap="none" spc="0" normalizeH="0" baseline="0" noProof="0">
                            <a:ln>
                              <a:noFill/>
                            </a:ln>
                            <a:effectLst/>
                            <a:uLnTx/>
                            <a:uFillTx/>
                            <a:latin typeface="Cambria Math" panose="02040503050406030204" pitchFamily="18" charset="0"/>
                          </a:rPr>
                          <m:t>1</m:t>
                        </m:r>
                      </m:sub>
                      <m:sup>
                        <m:r>
                          <a:rPr kumimoji="0" lang="en-US" sz="2000" b="0" i="1" u="none" strike="noStrike" kern="1200" cap="none" spc="0" normalizeH="0" baseline="0" noProof="0">
                            <a:ln>
                              <a:noFill/>
                            </a:ln>
                            <a:effectLst/>
                            <a:uLnTx/>
                            <a:uFillTx/>
                            <a:latin typeface="Cambria Math" panose="02040503050406030204" pitchFamily="18" charset="0"/>
                          </a:rPr>
                          <m:t>𝑛</m:t>
                        </m:r>
                      </m:sup>
                      <m:e>
                        <m:sSup>
                          <m:sSupPr>
                            <m:ctrlPr>
                              <a:rPr kumimoji="0" lang="en-US" sz="2000" b="0" i="1" u="none" strike="noStrike" kern="1200" cap="none" spc="0" normalizeH="0" baseline="0" noProof="0">
                                <a:ln>
                                  <a:noFill/>
                                </a:ln>
                                <a:effectLst/>
                                <a:uLnTx/>
                                <a:uFillTx/>
                                <a:latin typeface="Cambria Math" panose="02040503050406030204" pitchFamily="18" charset="0"/>
                              </a:rPr>
                            </m:ctrlPr>
                          </m:sSupPr>
                          <m:e>
                            <m:d>
                              <m:dPr>
                                <m:ctrlPr>
                                  <a:rPr kumimoji="0" lang="en-US" sz="2000" b="0" i="1" u="none" strike="noStrike" kern="1200" cap="none" spc="0" normalizeH="0" baseline="0" noProof="0">
                                    <a:ln>
                                      <a:noFill/>
                                    </a:ln>
                                    <a:effectLst/>
                                    <a:uLnTx/>
                                    <a:uFillTx/>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𝑖</m:t>
                                    </m:r>
                                  </m:sub>
                                </m:sSub>
                                <m:r>
                                  <a:rPr lang="en-US" sz="2000" b="0" i="1">
                                    <a:latin typeface="Cambria Math" panose="02040503050406030204" pitchFamily="18" charset="0"/>
                                  </a:rPr>
                                  <m:t>−</m:t>
                                </m:r>
                                <m:acc>
                                  <m:accPr>
                                    <m:chr m:val="̅"/>
                                    <m:ctrlPr>
                                      <a:rPr lang="en-US" sz="2000" b="0" i="1">
                                        <a:effectLst/>
                                        <a:latin typeface="Cambria Math" panose="02040503050406030204" pitchFamily="18" charset="0"/>
                                      </a:rPr>
                                    </m:ctrlPr>
                                  </m:accPr>
                                  <m:e>
                                    <m:r>
                                      <a:rPr lang="en-US" sz="2000" b="0" i="1">
                                        <a:effectLst/>
                                        <a:latin typeface="Cambria Math" panose="02040503050406030204" pitchFamily="18" charset="0"/>
                                      </a:rPr>
                                      <m:t>𝑦</m:t>
                                    </m:r>
                                  </m:e>
                                </m:acc>
                              </m:e>
                            </m:d>
                          </m:e>
                          <m:sup>
                            <m:r>
                              <a:rPr kumimoji="0" lang="en-US" sz="2000" b="0" i="1" u="none" strike="noStrike" kern="1200" cap="none" spc="0" normalizeH="0" baseline="0" noProof="0">
                                <a:ln>
                                  <a:noFill/>
                                </a:ln>
                                <a:effectLst/>
                                <a:uLnTx/>
                                <a:uFillTx/>
                                <a:latin typeface="Cambria Math" panose="02040503050406030204" pitchFamily="18" charset="0"/>
                              </a:rPr>
                              <m:t>2</m:t>
                            </m:r>
                          </m:sup>
                        </m:sSup>
                      </m:e>
                    </m:nary>
                  </m:oMath>
                </a14:m>
                <a:endParaRPr lang="en-US" sz="2000" b="0" i="0" dirty="0">
                  <a:effectLst/>
                  <a:latin typeface="Arial" panose="020B0604020202020204" pitchFamily="34" charset="0"/>
                  <a:cs typeface="Arial" panose="020B0604020202020204" pitchFamily="34" charset="0"/>
                </a:endParaRPr>
              </a:p>
              <a:p>
                <a:pPr lvl="1"/>
                <a:r>
                  <a:rPr lang="en-US" sz="2000" b="0" i="0" dirty="0">
                    <a:effectLst/>
                    <a:latin typeface="Arial" panose="020B0604020202020204" pitchFamily="34" charset="0"/>
                    <a:cs typeface="Arial" panose="020B0604020202020204" pitchFamily="34" charset="0"/>
                  </a:rPr>
                  <a:t>How far off is our prediction from the average of the data points?</a:t>
                </a:r>
              </a:p>
              <a:p>
                <a:r>
                  <a:rPr lang="en-US" sz="2000" b="0" i="0" dirty="0">
                    <a:effectLst/>
                    <a:latin typeface="Arial" panose="020B0604020202020204" pitchFamily="34" charset="0"/>
                    <a:cs typeface="Arial" panose="020B0604020202020204" pitchFamily="34" charset="0"/>
                  </a:rPr>
                  <a:t>SSTO is the "total sum of squares" and quantifies how much the data points,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𝑦</m:t>
                        </m:r>
                      </m:e>
                      <m:sub>
                        <m:r>
                          <a:rPr lang="en-US" sz="2000" b="0" i="1">
                            <a:latin typeface="Cambria Math" panose="02040503050406030204" pitchFamily="18" charset="0"/>
                          </a:rPr>
                          <m:t>𝑖</m:t>
                        </m:r>
                      </m:sub>
                    </m:sSub>
                  </m:oMath>
                </a14:m>
                <a:r>
                  <a:rPr lang="en-US" sz="2000" b="0" i="0" dirty="0">
                    <a:effectLst/>
                    <a:latin typeface="Arial" panose="020B0604020202020204" pitchFamily="34" charset="0"/>
                    <a:cs typeface="Arial" panose="020B0604020202020204" pitchFamily="34" charset="0"/>
                  </a:rPr>
                  <a:t>, vary around their mean, </a:t>
                </a:r>
                <a14:m>
                  <m:oMath xmlns:m="http://schemas.openxmlformats.org/officeDocument/2006/math">
                    <m:acc>
                      <m:accPr>
                        <m:chr m:val="̅"/>
                        <m:ctrlPr>
                          <a:rPr lang="en-US" sz="2000" b="0" i="1">
                            <a:effectLst/>
                            <a:latin typeface="Cambria Math" panose="02040503050406030204" pitchFamily="18" charset="0"/>
                          </a:rPr>
                        </m:ctrlPr>
                      </m:accPr>
                      <m:e>
                        <m:r>
                          <a:rPr lang="en-US" sz="2000" b="0" i="1">
                            <a:effectLst/>
                            <a:latin typeface="Cambria Math" panose="02040503050406030204" pitchFamily="18" charset="0"/>
                          </a:rPr>
                          <m:t>𝑦</m:t>
                        </m:r>
                      </m:e>
                    </m:acc>
                  </m:oMath>
                </a14:m>
                <a:r>
                  <a:rPr lang="en-US" sz="2000" b="0" i="0" dirty="0">
                    <a:effectLst/>
                    <a:latin typeface="Arial" panose="020B0604020202020204" pitchFamily="34" charset="0"/>
                    <a:cs typeface="Arial" panose="020B0604020202020204" pitchFamily="34" charset="0"/>
                  </a:rPr>
                  <a:t>.</a:t>
                </a:r>
              </a:p>
              <a:p>
                <a:pPr lvl="1"/>
                <a:r>
                  <a:rPr kumimoji="0" lang="en-US" sz="2000" b="0" u="none" strike="noStrike" kern="1200" cap="none" spc="0" normalizeH="0" baseline="0" noProof="0" dirty="0">
                    <a:ln>
                      <a:noFill/>
                    </a:ln>
                    <a:effectLst/>
                    <a:uLnTx/>
                    <a:uFillTx/>
                    <a:latin typeface="Arial" panose="020B0604020202020204" pitchFamily="34" charset="0"/>
                    <a:cs typeface="Arial" panose="020B0604020202020204" pitchFamily="34" charset="0"/>
                  </a:rPr>
                  <a:t>SSTO = </a:t>
                </a:r>
                <a14:m>
                  <m:oMath xmlns:m="http://schemas.openxmlformats.org/officeDocument/2006/math">
                    <m:nary>
                      <m:naryPr>
                        <m:chr m:val="∑"/>
                        <m:ctrlPr>
                          <a:rPr kumimoji="0" lang="en-US" sz="2000" b="0" i="1" u="none" strike="noStrike" kern="1200" cap="none" spc="0" normalizeH="0" baseline="0" noProof="0">
                            <a:ln>
                              <a:noFill/>
                            </a:ln>
                            <a:effectLst/>
                            <a:uLnTx/>
                            <a:uFillTx/>
                            <a:latin typeface="Cambria Math" panose="02040503050406030204" pitchFamily="18" charset="0"/>
                          </a:rPr>
                        </m:ctrlPr>
                      </m:naryPr>
                      <m:sub>
                        <m:r>
                          <m:rPr>
                            <m:brk m:alnAt="23"/>
                          </m:rPr>
                          <a:rPr kumimoji="0" lang="en-US" sz="2000" b="0" i="1" u="none" strike="noStrike" kern="1200" cap="none" spc="0" normalizeH="0" baseline="0" noProof="0">
                            <a:ln>
                              <a:noFill/>
                            </a:ln>
                            <a:effectLst/>
                            <a:uLnTx/>
                            <a:uFillTx/>
                            <a:latin typeface="Cambria Math" panose="02040503050406030204" pitchFamily="18" charset="0"/>
                          </a:rPr>
                          <m:t>𝑖</m:t>
                        </m:r>
                        <m:r>
                          <a:rPr kumimoji="0" lang="en-US" sz="2000" b="0" i="1" u="none" strike="noStrike" kern="1200" cap="none" spc="0" normalizeH="0" baseline="0" noProof="0">
                            <a:ln>
                              <a:noFill/>
                            </a:ln>
                            <a:effectLst/>
                            <a:uLnTx/>
                            <a:uFillTx/>
                            <a:latin typeface="Cambria Math" panose="02040503050406030204" pitchFamily="18" charset="0"/>
                          </a:rPr>
                          <m:t>=</m:t>
                        </m:r>
                        <m:r>
                          <a:rPr kumimoji="0" lang="en-US" sz="2000" b="0" i="1" u="none" strike="noStrike" kern="1200" cap="none" spc="0" normalizeH="0" baseline="0" noProof="0">
                            <a:ln>
                              <a:noFill/>
                            </a:ln>
                            <a:effectLst/>
                            <a:uLnTx/>
                            <a:uFillTx/>
                            <a:latin typeface="Cambria Math" panose="02040503050406030204" pitchFamily="18" charset="0"/>
                          </a:rPr>
                          <m:t>1</m:t>
                        </m:r>
                      </m:sub>
                      <m:sup>
                        <m:r>
                          <a:rPr kumimoji="0" lang="en-US" sz="2000" b="0" i="1" u="none" strike="noStrike" kern="1200" cap="none" spc="0" normalizeH="0" baseline="0" noProof="0">
                            <a:ln>
                              <a:noFill/>
                            </a:ln>
                            <a:effectLst/>
                            <a:uLnTx/>
                            <a:uFillTx/>
                            <a:latin typeface="Cambria Math" panose="02040503050406030204" pitchFamily="18" charset="0"/>
                          </a:rPr>
                          <m:t>𝑛</m:t>
                        </m:r>
                      </m:sup>
                      <m:e>
                        <m:sSup>
                          <m:sSupPr>
                            <m:ctrlPr>
                              <a:rPr kumimoji="0" lang="en-US" sz="2000" b="0" i="1" u="none" strike="noStrike" kern="1200" cap="none" spc="0" normalizeH="0" baseline="0" noProof="0">
                                <a:ln>
                                  <a:noFill/>
                                </a:ln>
                                <a:effectLst/>
                                <a:uLnTx/>
                                <a:uFillTx/>
                                <a:latin typeface="Cambria Math" panose="02040503050406030204" pitchFamily="18" charset="0"/>
                              </a:rPr>
                            </m:ctrlPr>
                          </m:sSupPr>
                          <m:e>
                            <m:d>
                              <m:dPr>
                                <m:ctrlPr>
                                  <a:rPr kumimoji="0" lang="en-US" sz="2000" b="0" i="1" u="none" strike="noStrike" kern="1200" cap="none" spc="0" normalizeH="0" baseline="0" noProof="0">
                                    <a:ln>
                                      <a:noFill/>
                                    </a:ln>
                                    <a:effectLst/>
                                    <a:uLnTx/>
                                    <a:uFillTx/>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r>
                                  <a:rPr lang="en-US" sz="2000" b="0" i="1">
                                    <a:latin typeface="Cambria Math" panose="02040503050406030204" pitchFamily="18" charset="0"/>
                                  </a:rPr>
                                  <m:t>−</m:t>
                                </m:r>
                                <m:acc>
                                  <m:accPr>
                                    <m:chr m:val="̅"/>
                                    <m:ctrlPr>
                                      <a:rPr lang="en-US" sz="2000" b="0" i="1">
                                        <a:effectLst/>
                                        <a:latin typeface="Cambria Math" panose="02040503050406030204" pitchFamily="18" charset="0"/>
                                      </a:rPr>
                                    </m:ctrlPr>
                                  </m:accPr>
                                  <m:e>
                                    <m:r>
                                      <a:rPr lang="en-US" sz="2000" b="0" i="1">
                                        <a:effectLst/>
                                        <a:latin typeface="Cambria Math" panose="02040503050406030204" pitchFamily="18" charset="0"/>
                                      </a:rPr>
                                      <m:t>𝑦</m:t>
                                    </m:r>
                                  </m:e>
                                </m:acc>
                              </m:e>
                            </m:d>
                          </m:e>
                          <m:sup>
                            <m:r>
                              <a:rPr kumimoji="0" lang="en-US" sz="2000" b="0" i="1" u="none" strike="noStrike" kern="1200" cap="none" spc="0" normalizeH="0" baseline="0" noProof="0">
                                <a:ln>
                                  <a:noFill/>
                                </a:ln>
                                <a:effectLst/>
                                <a:uLnTx/>
                                <a:uFillTx/>
                                <a:latin typeface="Cambria Math" panose="02040503050406030204" pitchFamily="18" charset="0"/>
                              </a:rPr>
                              <m:t>2</m:t>
                            </m:r>
                          </m:sup>
                        </m:sSup>
                      </m:e>
                    </m:nary>
                  </m:oMath>
                </a14:m>
                <a:endParaRPr lang="en-US" sz="2000" b="0" i="0" dirty="0">
                  <a:effectLst/>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How scattered is the data around the average?</a:t>
                </a:r>
                <a:endParaRPr lang="en-US" sz="2000" b="0" i="0" dirty="0">
                  <a:effectLst/>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Note: SST0 = SSR + SSE</a:t>
                </a:r>
              </a:p>
            </p:txBody>
          </p:sp>
        </mc:Choice>
        <mc:Fallback xmlns="">
          <p:sp>
            <p:nvSpPr>
              <p:cNvPr id="3" name="Content Placeholder 2">
                <a:extLst>
                  <a:ext uri="{FF2B5EF4-FFF2-40B4-BE49-F238E27FC236}">
                    <a16:creationId xmlns:a16="http://schemas.microsoft.com/office/drawing/2014/main" id="{81EEDE57-4007-22D1-DDD3-7300E22D2DFB}"/>
                  </a:ext>
                </a:extLst>
              </p:cNvPr>
              <p:cNvSpPr>
                <a:spLocks noGrp="1" noRot="1" noChangeAspect="1" noMove="1" noResize="1" noEditPoints="1" noAdjustHandles="1" noChangeArrowheads="1" noChangeShapeType="1" noTextEdit="1"/>
              </p:cNvSpPr>
              <p:nvPr>
                <p:ph idx="1"/>
              </p:nvPr>
            </p:nvSpPr>
            <p:spPr>
              <a:xfrm>
                <a:off x="270310" y="827773"/>
                <a:ext cx="11247096" cy="4988079"/>
              </a:xfrm>
              <a:blipFill>
                <a:blip r:embed="rId3"/>
                <a:stretch>
                  <a:fillRect l="-488" t="-1222"/>
                </a:stretch>
              </a:blipFill>
            </p:spPr>
            <p:txBody>
              <a:bodyPr/>
              <a:lstStyle/>
              <a:p>
                <a:r>
                  <a:rPr lang="en-US">
                    <a:noFill/>
                  </a:rPr>
                  <a:t> </a:t>
                </a:r>
              </a:p>
            </p:txBody>
          </p:sp>
        </mc:Fallback>
      </mc:AlternateContent>
    </p:spTree>
    <p:extLst>
      <p:ext uri="{BB962C8B-B14F-4D97-AF65-F5344CB8AC3E}">
        <p14:creationId xmlns:p14="http://schemas.microsoft.com/office/powerpoint/2010/main" val="219986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 calcmode="lin" valueType="num">
                                      <p:cBhvr additive="base">
                                        <p:cTn id="2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37A6-4EA1-4CFE-E827-1FCC5E2B886C}"/>
              </a:ext>
            </a:extLst>
          </p:cNvPr>
          <p:cNvSpPr>
            <a:spLocks noGrp="1"/>
          </p:cNvSpPr>
          <p:nvPr>
            <p:ph type="title"/>
          </p:nvPr>
        </p:nvSpPr>
        <p:spPr>
          <a:xfrm>
            <a:off x="279935" y="143745"/>
            <a:ext cx="10515600" cy="692704"/>
          </a:xfrm>
        </p:spPr>
        <p:txBody>
          <a:bodyPr>
            <a:normAutofit/>
          </a:bodyPr>
          <a:lstStyle/>
          <a:p>
            <a:r>
              <a:rPr lang="en-US" sz="3600" dirty="0">
                <a:latin typeface="Arial" panose="020B0604020202020204" pitchFamily="34" charset="0"/>
                <a:cs typeface="Arial" panose="020B0604020202020204" pitchFamily="34" charset="0"/>
              </a:rPr>
              <a:t>Analysis of Variance in Regression</a:t>
            </a:r>
          </a:p>
        </p:txBody>
      </p:sp>
      <p:sp>
        <p:nvSpPr>
          <p:cNvPr id="3" name="Content Placeholder 2">
            <a:extLst>
              <a:ext uri="{FF2B5EF4-FFF2-40B4-BE49-F238E27FC236}">
                <a16:creationId xmlns:a16="http://schemas.microsoft.com/office/drawing/2014/main" id="{4C4A2327-73FD-0532-CA38-15B61AD9E8AE}"/>
              </a:ext>
            </a:extLst>
          </p:cNvPr>
          <p:cNvSpPr>
            <a:spLocks noGrp="1"/>
          </p:cNvSpPr>
          <p:nvPr>
            <p:ph idx="1"/>
          </p:nvPr>
        </p:nvSpPr>
        <p:spPr>
          <a:xfrm>
            <a:off x="414689" y="826996"/>
            <a:ext cx="10515600" cy="4351338"/>
          </a:xfrm>
        </p:spPr>
        <p:txBody>
          <a:bodyPr/>
          <a:lstStyle/>
          <a:p>
            <a:r>
              <a:rPr lang="en-US" sz="2000" b="1" dirty="0">
                <a:latin typeface="Arial" panose="020B0604020202020204" pitchFamily="34" charset="0"/>
                <a:cs typeface="Arial" panose="020B0604020202020204" pitchFamily="34" charset="0"/>
              </a:rPr>
              <a:t>Goal</a:t>
            </a:r>
            <a:r>
              <a:rPr lang="en-US" sz="2000" dirty="0">
                <a:latin typeface="Arial" panose="020B0604020202020204" pitchFamily="34" charset="0"/>
                <a:cs typeface="Arial" panose="020B0604020202020204" pitchFamily="34" charset="0"/>
              </a:rPr>
              <a:t>: partition the total variation in </a:t>
            </a:r>
            <a:r>
              <a:rPr lang="en-US" sz="2000" i="1" dirty="0">
                <a:latin typeface="Arial" panose="020B0604020202020204" pitchFamily="34" charset="0"/>
                <a:cs typeface="Arial" panose="020B0604020202020204" pitchFamily="34" charset="0"/>
              </a:rPr>
              <a:t>Y </a:t>
            </a:r>
            <a:r>
              <a:rPr lang="en-US" sz="2000" dirty="0">
                <a:latin typeface="Arial" panose="020B0604020202020204" pitchFamily="34" charset="0"/>
                <a:cs typeface="Arial" panose="020B0604020202020204" pitchFamily="34" charset="0"/>
              </a:rPr>
              <a:t>into variation “explained” by X and random variation</a:t>
            </a:r>
          </a:p>
          <a:p>
            <a:r>
              <a:rPr lang="en-US" sz="2000" dirty="0">
                <a:latin typeface="Arial" panose="020B0604020202020204" pitchFamily="34" charset="0"/>
                <a:cs typeface="Arial" panose="020B0604020202020204" pitchFamily="34" charset="0"/>
              </a:rPr>
              <a:t>The total variation in an observed response about its mean can be written as a sum of two parts – (a) its </a:t>
            </a:r>
            <a:r>
              <a:rPr lang="en-US" sz="2000" i="1" dirty="0">
                <a:latin typeface="Arial" panose="020B0604020202020204" pitchFamily="34" charset="0"/>
                <a:cs typeface="Arial" panose="020B0604020202020204" pitchFamily="34" charset="0"/>
              </a:rPr>
              <a:t>deviation from the fitted value </a:t>
            </a:r>
            <a:r>
              <a:rPr lang="en-US" sz="2000" dirty="0">
                <a:latin typeface="Arial" panose="020B0604020202020204" pitchFamily="34" charset="0"/>
                <a:cs typeface="Arial" panose="020B0604020202020204" pitchFamily="34" charset="0"/>
              </a:rPr>
              <a:t>plus (b) the </a:t>
            </a:r>
            <a:r>
              <a:rPr lang="en-US" sz="2000" u="sng" dirty="0">
                <a:latin typeface="Arial" panose="020B0604020202020204" pitchFamily="34" charset="0"/>
                <a:cs typeface="Arial" panose="020B0604020202020204" pitchFamily="34" charset="0"/>
              </a:rPr>
              <a:t>deviation of the fitted value from the mean </a:t>
            </a:r>
            <a:r>
              <a:rPr lang="en-US" sz="2000" dirty="0">
                <a:latin typeface="Arial" panose="020B0604020202020204" pitchFamily="34" charset="0"/>
                <a:cs typeface="Arial" panose="020B0604020202020204" pitchFamily="34" charset="0"/>
              </a:rPr>
              <a:t>response</a:t>
            </a: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85CD1BF-D24D-19CF-6FDF-B8A121A4029A}"/>
                  </a:ext>
                </a:extLst>
              </p:cNvPr>
              <p:cNvSpPr txBox="1"/>
              <p:nvPr/>
            </p:nvSpPr>
            <p:spPr>
              <a:xfrm>
                <a:off x="682894" y="2299272"/>
                <a:ext cx="387202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mc:Choice>
        <mc:Fallback xmlns="">
          <p:sp>
            <p:nvSpPr>
              <p:cNvPr id="4" name="TextBox 3">
                <a:extLst>
                  <a:ext uri="{FF2B5EF4-FFF2-40B4-BE49-F238E27FC236}">
                    <a16:creationId xmlns:a16="http://schemas.microsoft.com/office/drawing/2014/main" id="{885CD1BF-D24D-19CF-6FDF-B8A121A4029A}"/>
                  </a:ext>
                </a:extLst>
              </p:cNvPr>
              <p:cNvSpPr txBox="1">
                <a:spLocks noRot="1" noChangeAspect="1" noMove="1" noResize="1" noEditPoints="1" noAdjustHandles="1" noChangeArrowheads="1" noChangeShapeType="1" noTextEdit="1"/>
              </p:cNvSpPr>
              <p:nvPr/>
            </p:nvSpPr>
            <p:spPr>
              <a:xfrm>
                <a:off x="682894" y="2299272"/>
                <a:ext cx="3872022" cy="369332"/>
              </a:xfrm>
              <a:prstGeom prst="rect">
                <a:avLst/>
              </a:prstGeom>
              <a:blipFill>
                <a:blip r:embed="rId2"/>
                <a:stretch>
                  <a:fillRect l="-2835" t="-24590" r="-10551"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12E9B0-0477-47F3-8DE1-0F0879A3D00D}"/>
                  </a:ext>
                </a:extLst>
              </p:cNvPr>
              <p:cNvSpPr txBox="1"/>
              <p:nvPr/>
            </p:nvSpPr>
            <p:spPr>
              <a:xfrm>
                <a:off x="414689" y="2802313"/>
                <a:ext cx="48548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 </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acc>
                            <m:acc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acc>
                          <m:r>
                            <m:rPr>
                              <m:nor/>
                            </m:rP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m:t>)</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D112E9B0-0477-47F3-8DE1-0F0879A3D00D}"/>
                  </a:ext>
                </a:extLst>
              </p:cNvPr>
              <p:cNvSpPr txBox="1">
                <a:spLocks noRot="1" noChangeAspect="1" noMove="1" noResize="1" noEditPoints="1" noAdjustHandles="1" noChangeArrowheads="1" noChangeShapeType="1" noTextEdit="1"/>
              </p:cNvSpPr>
              <p:nvPr/>
            </p:nvSpPr>
            <p:spPr>
              <a:xfrm>
                <a:off x="414689" y="2802313"/>
                <a:ext cx="4854841" cy="461665"/>
              </a:xfrm>
              <a:prstGeom prst="rect">
                <a:avLst/>
              </a:prstGeom>
              <a:blipFill>
                <a:blip r:embed="rId3"/>
                <a:stretch>
                  <a:fillRect t="-4000" r="-1884" b="-18667"/>
                </a:stretch>
              </a:blipFill>
            </p:spPr>
            <p:txBody>
              <a:bodyPr/>
              <a:lstStyle/>
              <a:p>
                <a:r>
                  <a:rPr lang="en-US">
                    <a:noFill/>
                  </a:rPr>
                  <a:t> </a:t>
                </a:r>
              </a:p>
            </p:txBody>
          </p:sp>
        </mc:Fallback>
      </mc:AlternateContent>
      <p:sp>
        <p:nvSpPr>
          <p:cNvPr id="6" name="Left Brace 5">
            <a:extLst>
              <a:ext uri="{FF2B5EF4-FFF2-40B4-BE49-F238E27FC236}">
                <a16:creationId xmlns:a16="http://schemas.microsoft.com/office/drawing/2014/main" id="{0FC6EF7A-4851-54C9-0043-7D9590CE45D9}"/>
              </a:ext>
            </a:extLst>
          </p:cNvPr>
          <p:cNvSpPr/>
          <p:nvPr/>
        </p:nvSpPr>
        <p:spPr>
          <a:xfrm rot="16200000">
            <a:off x="1018005" y="3154426"/>
            <a:ext cx="312300" cy="80127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Left Brace 6">
            <a:extLst>
              <a:ext uri="{FF2B5EF4-FFF2-40B4-BE49-F238E27FC236}">
                <a16:creationId xmlns:a16="http://schemas.microsoft.com/office/drawing/2014/main" id="{6313F2F1-6851-6A84-A2B2-818CADD04917}"/>
              </a:ext>
            </a:extLst>
          </p:cNvPr>
          <p:cNvSpPr/>
          <p:nvPr/>
        </p:nvSpPr>
        <p:spPr>
          <a:xfrm rot="16200000">
            <a:off x="2612706" y="3154426"/>
            <a:ext cx="312300" cy="80127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Left Brace 7">
            <a:extLst>
              <a:ext uri="{FF2B5EF4-FFF2-40B4-BE49-F238E27FC236}">
                <a16:creationId xmlns:a16="http://schemas.microsoft.com/office/drawing/2014/main" id="{E09640E1-233D-C6AE-AF3A-037612EC8482}"/>
              </a:ext>
            </a:extLst>
          </p:cNvPr>
          <p:cNvSpPr/>
          <p:nvPr/>
        </p:nvSpPr>
        <p:spPr>
          <a:xfrm rot="16200000">
            <a:off x="4221332" y="3160602"/>
            <a:ext cx="312300" cy="80127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BE2FA27-3627-812A-9FDE-C3169BD73093}"/>
              </a:ext>
            </a:extLst>
          </p:cNvPr>
          <p:cNvSpPr txBox="1"/>
          <p:nvPr/>
        </p:nvSpPr>
        <p:spPr>
          <a:xfrm>
            <a:off x="821258" y="3681131"/>
            <a:ext cx="68815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SST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B5BBABE2-0784-A6B1-72E3-47B23F606FFA}"/>
              </a:ext>
            </a:extLst>
          </p:cNvPr>
          <p:cNvSpPr txBox="1"/>
          <p:nvPr/>
        </p:nvSpPr>
        <p:spPr>
          <a:xfrm>
            <a:off x="2455611" y="3711215"/>
            <a:ext cx="68815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SSE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59172C95-6B2E-D068-26A0-1BC45EE4D387}"/>
              </a:ext>
            </a:extLst>
          </p:cNvPr>
          <p:cNvSpPr txBox="1"/>
          <p:nvPr/>
        </p:nvSpPr>
        <p:spPr>
          <a:xfrm>
            <a:off x="4089964" y="3721001"/>
            <a:ext cx="68815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SSR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4F9828B0-2620-F534-21FC-F90E4D7AE4E2}"/>
              </a:ext>
            </a:extLst>
          </p:cNvPr>
          <p:cNvSpPr txBox="1"/>
          <p:nvPr/>
        </p:nvSpPr>
        <p:spPr>
          <a:xfrm>
            <a:off x="210111" y="4537220"/>
            <a:ext cx="11092142" cy="707886"/>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We partition the total variability of the data into two components: the part our model accounts for (SSR) and the part it misses (SSE).</a:t>
            </a:r>
          </a:p>
        </p:txBody>
      </p:sp>
    </p:spTree>
    <p:extLst>
      <p:ext uri="{BB962C8B-B14F-4D97-AF65-F5344CB8AC3E}">
        <p14:creationId xmlns:p14="http://schemas.microsoft.com/office/powerpoint/2010/main" val="128819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anim calcmode="lin" valueType="num">
                                      <p:cBhvr>
                                        <p:cTn id="31" dur="1000" fill="hold"/>
                                        <p:tgtEl>
                                          <p:spTgt spid="7"/>
                                        </p:tgtEl>
                                        <p:attrNameLst>
                                          <p:attrName>ppt_x</p:attrName>
                                        </p:attrNameLst>
                                      </p:cBhvr>
                                      <p:tavLst>
                                        <p:tav tm="0">
                                          <p:val>
                                            <p:strVal val="#ppt_x"/>
                                          </p:val>
                                        </p:tav>
                                        <p:tav tm="100000">
                                          <p:val>
                                            <p:strVal val="#ppt_x"/>
                                          </p:val>
                                        </p:tav>
                                      </p:tavLst>
                                    </p:anim>
                                    <p:anim calcmode="lin" valueType="num">
                                      <p:cBhvr>
                                        <p:cTn id="3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9AAF865-72FC-9220-AD43-3ADF6BA1887E}"/>
                  </a:ext>
                </a:extLst>
              </p:cNvPr>
              <p:cNvSpPr>
                <a:spLocks noGrp="1"/>
              </p:cNvSpPr>
              <p:nvPr>
                <p:ph type="title"/>
              </p:nvPr>
            </p:nvSpPr>
            <p:spPr>
              <a:xfrm>
                <a:off x="218638" y="165820"/>
                <a:ext cx="9637776" cy="602831"/>
              </a:xfrm>
            </p:spPr>
            <p:txBody>
              <a:bodyPr>
                <a:normAutofit/>
              </a:bodyPr>
              <a:lstStyle/>
              <a:p>
                <a:r>
                  <a:rPr lang="en-US" sz="3600" dirty="0">
                    <a:latin typeface="Arial" panose="020B0604020202020204" pitchFamily="34" charset="0"/>
                    <a:ea typeface="Calibri" panose="020F0502020204030204" pitchFamily="34" charset="0"/>
                    <a:cs typeface="Arial" panose="020B0604020202020204" pitchFamily="34" charset="0"/>
                  </a:rPr>
                  <a:t>The Coefficient of Determination </a:t>
                </a:r>
                <a14:m>
                  <m:oMath xmlns:m="http://schemas.openxmlformats.org/officeDocument/2006/math">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𝑅</m:t>
                        </m:r>
                      </m:e>
                      <m:sup>
                        <m:r>
                          <a:rPr lang="en-US" sz="3600" b="0" i="1" smtClean="0">
                            <a:latin typeface="Cambria Math" panose="02040503050406030204" pitchFamily="18" charset="0"/>
                          </a:rPr>
                          <m:t>2</m:t>
                        </m:r>
                      </m:sup>
                    </m:sSup>
                  </m:oMath>
                </a14:m>
                <a:endParaRPr lang="en-US" sz="3600"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2" name="Title 1">
                <a:extLst>
                  <a:ext uri="{FF2B5EF4-FFF2-40B4-BE49-F238E27FC236}">
                    <a16:creationId xmlns:a16="http://schemas.microsoft.com/office/drawing/2014/main" id="{29AAF865-72FC-9220-AD43-3ADF6BA1887E}"/>
                  </a:ext>
                </a:extLst>
              </p:cNvPr>
              <p:cNvSpPr>
                <a:spLocks noGrp="1" noRot="1" noChangeAspect="1" noMove="1" noResize="1" noEditPoints="1" noAdjustHandles="1" noChangeArrowheads="1" noChangeShapeType="1" noTextEdit="1"/>
              </p:cNvSpPr>
              <p:nvPr>
                <p:ph type="title"/>
              </p:nvPr>
            </p:nvSpPr>
            <p:spPr>
              <a:xfrm>
                <a:off x="218638" y="165820"/>
                <a:ext cx="9637776" cy="602831"/>
              </a:xfrm>
              <a:blipFill>
                <a:blip r:embed="rId3"/>
                <a:stretch>
                  <a:fillRect l="-1961" t="-23232" b="-37374"/>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059F5B10-95B1-B7ED-EEFA-6B66C193F040}"/>
              </a:ext>
            </a:extLst>
          </p:cNvPr>
          <p:cNvSpPr>
            <a:spLocks noGrp="1"/>
          </p:cNvSpPr>
          <p:nvPr>
            <p:ph idx="1"/>
          </p:nvPr>
        </p:nvSpPr>
        <p:spPr>
          <a:xfrm>
            <a:off x="387873" y="833449"/>
            <a:ext cx="7671852" cy="2299291"/>
          </a:xfrm>
        </p:spPr>
        <p:txBody>
          <a:bodyPr>
            <a:normAutofit/>
          </a:bodyPr>
          <a:lstStyle/>
          <a:p>
            <a:pPr marL="0" indent="0">
              <a:buNone/>
            </a:pPr>
            <a:r>
              <a:rPr lang="en-US" sz="2000" dirty="0">
                <a:latin typeface="Arial" panose="020B0604020202020204" pitchFamily="34" charset="0"/>
                <a:cs typeface="Arial" panose="020B0604020202020204" pitchFamily="34" charset="0"/>
              </a:rPr>
              <a:t>Question: how much of the total variation in the response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is due to the regression of</a:t>
            </a:r>
            <a:r>
              <a:rPr lang="en-US" sz="2000" i="1" dirty="0">
                <a:latin typeface="Arial" panose="020B0604020202020204" pitchFamily="34" charset="0"/>
                <a:cs typeface="Arial" panose="020B0604020202020204" pitchFamily="34" charset="0"/>
              </a:rPr>
              <a:t> Y </a:t>
            </a:r>
            <a:r>
              <a:rPr lang="en-US" sz="2000" dirty="0">
                <a:latin typeface="Arial" panose="020B0604020202020204" pitchFamily="34" charset="0"/>
                <a:cs typeface="Arial" panose="020B0604020202020204" pitchFamily="34" charset="0"/>
              </a:rPr>
              <a:t>on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as opposed to random error?</a:t>
            </a:r>
          </a:p>
          <a:p>
            <a:pPr marL="0" indent="0">
              <a:buNone/>
            </a:pPr>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SSE = 1708.5; SSR = 6679.3; SSTO = 8487.8</a:t>
            </a:r>
          </a:p>
          <a:p>
            <a:pPr marL="0" indent="0">
              <a:buNone/>
            </a:pPr>
            <a:r>
              <a:rPr lang="en-US" sz="2000" dirty="0">
                <a:latin typeface="Arial" panose="020B0604020202020204" pitchFamily="34" charset="0"/>
                <a:cs typeface="Arial" panose="020B0604020202020204" pitchFamily="34" charset="0"/>
              </a:rPr>
              <a:t>We can see that most of the total variation (SSTO) is accounted for by the regression (SSR). That is,</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37EA93B-B193-9184-1613-635D600A621C}"/>
                  </a:ext>
                </a:extLst>
              </p:cNvPr>
              <p:cNvSpPr txBox="1"/>
              <p:nvPr/>
            </p:nvSpPr>
            <p:spPr>
              <a:xfrm>
                <a:off x="506674" y="2612740"/>
                <a:ext cx="2006809" cy="614784"/>
              </a:xfrm>
              <a:prstGeom prst="rect">
                <a:avLst/>
              </a:prstGeom>
              <a:noFill/>
            </p:spPr>
            <p:txBody>
              <a:bodyPr wrap="square" lIns="0" tIns="0" rIns="0" bIns="0" rtlCol="0">
                <a:spAutoFit/>
              </a:bodyPr>
              <a:lstStyle/>
              <a:p>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𝑆𝑆𝑅</m:t>
                        </m:r>
                      </m:num>
                      <m:den>
                        <m:r>
                          <a:rPr lang="en-US" sz="2800" b="0" i="1" smtClean="0">
                            <a:latin typeface="Cambria Math" panose="02040503050406030204" pitchFamily="18" charset="0"/>
                          </a:rPr>
                          <m:t>𝑆𝑆𝑇𝑂</m:t>
                        </m:r>
                      </m:den>
                    </m:f>
                    <m:r>
                      <a:rPr lang="en-US" sz="2800" b="0" i="1" smtClean="0">
                        <a:latin typeface="Cambria Math" panose="02040503050406030204" pitchFamily="18" charset="0"/>
                      </a:rPr>
                      <m:t>=</m:t>
                    </m:r>
                  </m:oMath>
                </a14:m>
                <a:r>
                  <a:rPr lang="en-US" sz="2800" dirty="0">
                    <a:latin typeface="Cambria Math" panose="02040503050406030204" pitchFamily="18" charset="0"/>
                    <a:ea typeface="Cambria Math" panose="02040503050406030204" pitchFamily="18" charset="0"/>
                  </a:rPr>
                  <a:t>.799</a:t>
                </a:r>
              </a:p>
            </p:txBody>
          </p:sp>
        </mc:Choice>
        <mc:Fallback xmlns="">
          <p:sp>
            <p:nvSpPr>
              <p:cNvPr id="7" name="TextBox 6">
                <a:extLst>
                  <a:ext uri="{FF2B5EF4-FFF2-40B4-BE49-F238E27FC236}">
                    <a16:creationId xmlns:a16="http://schemas.microsoft.com/office/drawing/2014/main" id="{437EA93B-B193-9184-1613-635D600A621C}"/>
                  </a:ext>
                </a:extLst>
              </p:cNvPr>
              <p:cNvSpPr txBox="1">
                <a:spLocks noRot="1" noChangeAspect="1" noMove="1" noResize="1" noEditPoints="1" noAdjustHandles="1" noChangeArrowheads="1" noChangeShapeType="1" noTextEdit="1"/>
              </p:cNvSpPr>
              <p:nvPr/>
            </p:nvSpPr>
            <p:spPr>
              <a:xfrm>
                <a:off x="506674" y="2612740"/>
                <a:ext cx="2006809" cy="614784"/>
              </a:xfrm>
              <a:prstGeom prst="rect">
                <a:avLst/>
              </a:prstGeom>
              <a:blipFill>
                <a:blip r:embed="rId4"/>
                <a:stretch>
                  <a:fillRect t="-5000" b="-1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CAAEF99-49A0-6D19-CACC-8011762A412C}"/>
                  </a:ext>
                </a:extLst>
              </p:cNvPr>
              <p:cNvSpPr txBox="1"/>
              <p:nvPr/>
            </p:nvSpPr>
            <p:spPr>
              <a:xfrm>
                <a:off x="8301004" y="914734"/>
                <a:ext cx="2298041" cy="395236"/>
              </a:xfrm>
              <a:prstGeom prst="rect">
                <a:avLst/>
              </a:prstGeom>
              <a:noFill/>
            </p:spPr>
            <p:txBody>
              <a:bodyPr wrap="square" lIns="0" tIns="0" rIns="0" bIns="0" rtlCol="0">
                <a:spAutoFit/>
              </a:bodyPr>
              <a:lstStyle/>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𝑆𝑆𝑅</m:t>
                        </m:r>
                      </m:num>
                      <m:den>
                        <m:r>
                          <a:rPr lang="en-US" b="0" i="1" smtClean="0">
                            <a:latin typeface="Cambria Math" panose="02040503050406030204" pitchFamily="18" charset="0"/>
                          </a:rPr>
                          <m:t>𝑆𝑆𝑇𝑂</m:t>
                        </m:r>
                      </m:den>
                    </m:f>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b="0" i="0" smtClean="0">
                        <a:latin typeface="Cambria Math" panose="02040503050406030204" pitchFamily="18" charset="0"/>
                      </a:rPr>
                      <m:t>1 − </m:t>
                    </m:r>
                    <m:f>
                      <m:fPr>
                        <m:ctrlPr>
                          <a:rPr lang="en-US" i="1" smtClean="0">
                            <a:latin typeface="Cambria Math" panose="02040503050406030204" pitchFamily="18" charset="0"/>
                          </a:rPr>
                        </m:ctrlPr>
                      </m:fPr>
                      <m:num>
                        <m:r>
                          <a:rPr lang="en-US" b="0" i="1" smtClean="0">
                            <a:latin typeface="Cambria Math" panose="02040503050406030204" pitchFamily="18" charset="0"/>
                          </a:rPr>
                          <m:t>𝑆𝑆𝐸</m:t>
                        </m:r>
                      </m:num>
                      <m:den>
                        <m:r>
                          <a:rPr lang="en-US" b="0" i="1" smtClean="0">
                            <a:latin typeface="Cambria Math" panose="02040503050406030204" pitchFamily="18" charset="0"/>
                          </a:rPr>
                          <m:t>𝑆𝑆𝑇𝑂</m:t>
                        </m:r>
                      </m:den>
                    </m:f>
                  </m:oMath>
                </a14:m>
                <a:endParaRPr lang="en-US"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0CAAEF99-49A0-6D19-CACC-8011762A412C}"/>
                  </a:ext>
                </a:extLst>
              </p:cNvPr>
              <p:cNvSpPr txBox="1">
                <a:spLocks noRot="1" noChangeAspect="1" noMove="1" noResize="1" noEditPoints="1" noAdjustHandles="1" noChangeArrowheads="1" noChangeShapeType="1" noTextEdit="1"/>
              </p:cNvSpPr>
              <p:nvPr/>
            </p:nvSpPr>
            <p:spPr>
              <a:xfrm>
                <a:off x="8301004" y="914734"/>
                <a:ext cx="2298041" cy="395236"/>
              </a:xfrm>
              <a:prstGeom prst="rect">
                <a:avLst/>
              </a:prstGeom>
              <a:blipFill>
                <a:blip r:embed="rId5"/>
                <a:stretch>
                  <a:fillRect l="-3714" b="-12308"/>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A0B64C2C-D7BE-5DEC-898D-719A773B99DB}"/>
              </a:ext>
            </a:extLst>
          </p:cNvPr>
          <p:cNvSpPr/>
          <p:nvPr/>
        </p:nvSpPr>
        <p:spPr>
          <a:xfrm>
            <a:off x="9556458" y="833450"/>
            <a:ext cx="965675" cy="60802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8F886-D338-634F-F16B-8C6AF4AF0807}"/>
              </a:ext>
            </a:extLst>
          </p:cNvPr>
          <p:cNvSpPr/>
          <p:nvPr/>
        </p:nvSpPr>
        <p:spPr>
          <a:xfrm>
            <a:off x="8805572" y="833449"/>
            <a:ext cx="518585" cy="641033"/>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eft Brace 13">
            <a:extLst>
              <a:ext uri="{FF2B5EF4-FFF2-40B4-BE49-F238E27FC236}">
                <a16:creationId xmlns:a16="http://schemas.microsoft.com/office/drawing/2014/main" id="{1102BBB8-EC24-20B5-AB1B-B3A36079ADE6}"/>
              </a:ext>
            </a:extLst>
          </p:cNvPr>
          <p:cNvSpPr/>
          <p:nvPr/>
        </p:nvSpPr>
        <p:spPr>
          <a:xfrm rot="16200000">
            <a:off x="8907073" y="1527449"/>
            <a:ext cx="315581" cy="41510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Left Brace 14">
            <a:extLst>
              <a:ext uri="{FF2B5EF4-FFF2-40B4-BE49-F238E27FC236}">
                <a16:creationId xmlns:a16="http://schemas.microsoft.com/office/drawing/2014/main" id="{DF4D5C7B-C06C-8F68-C594-47DC4E22CD56}"/>
              </a:ext>
            </a:extLst>
          </p:cNvPr>
          <p:cNvSpPr/>
          <p:nvPr/>
        </p:nvSpPr>
        <p:spPr>
          <a:xfrm rot="16200000">
            <a:off x="10227519" y="1548374"/>
            <a:ext cx="265782" cy="32344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92ACD00C-D762-D7F5-E95A-499FA182806E}"/>
              </a:ext>
            </a:extLst>
          </p:cNvPr>
          <p:cNvSpPr txBox="1"/>
          <p:nvPr/>
        </p:nvSpPr>
        <p:spPr>
          <a:xfrm>
            <a:off x="8630186" y="1842989"/>
            <a:ext cx="989373" cy="338554"/>
          </a:xfrm>
          <a:prstGeom prst="rect">
            <a:avLst/>
          </a:prstGeom>
          <a:noFill/>
        </p:spPr>
        <p:txBody>
          <a:bodyPr wrap="none" rtlCol="0">
            <a:spAutoFit/>
          </a:bodyPr>
          <a:lstStyle/>
          <a:p>
            <a:r>
              <a:rPr lang="en-US" sz="1600" dirty="0"/>
              <a:t>Explained</a:t>
            </a:r>
          </a:p>
        </p:txBody>
      </p:sp>
      <p:sp>
        <p:nvSpPr>
          <p:cNvPr id="17" name="TextBox 16">
            <a:extLst>
              <a:ext uri="{FF2B5EF4-FFF2-40B4-BE49-F238E27FC236}">
                <a16:creationId xmlns:a16="http://schemas.microsoft.com/office/drawing/2014/main" id="{E16551E0-1C29-F6A2-C6C5-34E1EC33412F}"/>
              </a:ext>
            </a:extLst>
          </p:cNvPr>
          <p:cNvSpPr txBox="1"/>
          <p:nvPr/>
        </p:nvSpPr>
        <p:spPr>
          <a:xfrm>
            <a:off x="9556458" y="1831256"/>
            <a:ext cx="1346844" cy="338554"/>
          </a:xfrm>
          <a:prstGeom prst="rect">
            <a:avLst/>
          </a:prstGeom>
          <a:noFill/>
        </p:spPr>
        <p:txBody>
          <a:bodyPr wrap="none" rtlCol="0">
            <a:spAutoFit/>
          </a:bodyPr>
          <a:lstStyle/>
          <a:p>
            <a:r>
              <a:rPr lang="en-US" sz="1600" dirty="0"/>
              <a:t>Not Explained</a:t>
            </a:r>
          </a:p>
        </p:txBody>
      </p:sp>
    </p:spTree>
    <p:extLst>
      <p:ext uri="{BB962C8B-B14F-4D97-AF65-F5344CB8AC3E}">
        <p14:creationId xmlns:p14="http://schemas.microsoft.com/office/powerpoint/2010/main" val="27816594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BF9C98F-B476-7EC5-A603-A9A298AED267}"/>
                  </a:ext>
                </a:extLst>
              </p:cNvPr>
              <p:cNvSpPr>
                <a:spLocks noGrp="1"/>
              </p:cNvSpPr>
              <p:nvPr>
                <p:ph type="title"/>
              </p:nvPr>
            </p:nvSpPr>
            <p:spPr>
              <a:xfrm>
                <a:off x="178999" y="175728"/>
                <a:ext cx="9637776" cy="700171"/>
              </a:xfrm>
            </p:spPr>
            <p:txBody>
              <a:bodyPr>
                <a:norm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Interpretation</a:t>
                </a:r>
                <a:r>
                  <a:rPr lang="en-US" sz="3600" dirty="0">
                    <a:latin typeface="Arial" panose="020B0604020202020204" pitchFamily="34" charset="0"/>
                    <a:cs typeface="Arial" panose="020B0604020202020204" pitchFamily="34" charset="0"/>
                  </a:rPr>
                  <a:t> </a:t>
                </a:r>
                <a14:m>
                  <m:oMath xmlns:m="http://schemas.openxmlformats.org/officeDocument/2006/math">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𝑅</m:t>
                        </m:r>
                      </m:e>
                      <m:sup>
                        <m:r>
                          <a:rPr lang="en-US" sz="3600" b="0" i="1" smtClean="0">
                            <a:latin typeface="Cambria Math" panose="02040503050406030204" pitchFamily="18" charset="0"/>
                          </a:rPr>
                          <m:t>2</m:t>
                        </m:r>
                      </m:sup>
                    </m:sSup>
                  </m:oMath>
                </a14:m>
                <a:endParaRPr lang="en-US" sz="3600" dirty="0">
                  <a:latin typeface="Arial" panose="020B0604020202020204" pitchFamily="34" charset="0"/>
                  <a:cs typeface="Arial" panose="020B0604020202020204" pitchFamily="34" charset="0"/>
                </a:endParaRPr>
              </a:p>
            </p:txBody>
          </p:sp>
        </mc:Choice>
        <mc:Fallback xmlns="">
          <p:sp>
            <p:nvSpPr>
              <p:cNvPr id="2" name="Title 1">
                <a:extLst>
                  <a:ext uri="{FF2B5EF4-FFF2-40B4-BE49-F238E27FC236}">
                    <a16:creationId xmlns:a16="http://schemas.microsoft.com/office/drawing/2014/main" id="{BBF9C98F-B476-7EC5-A603-A9A298AED267}"/>
                  </a:ext>
                </a:extLst>
              </p:cNvPr>
              <p:cNvSpPr>
                <a:spLocks noGrp="1" noRot="1" noChangeAspect="1" noMove="1" noResize="1" noEditPoints="1" noAdjustHandles="1" noChangeArrowheads="1" noChangeShapeType="1" noTextEdit="1"/>
              </p:cNvSpPr>
              <p:nvPr>
                <p:ph type="title"/>
              </p:nvPr>
            </p:nvSpPr>
            <p:spPr>
              <a:xfrm>
                <a:off x="178999" y="175728"/>
                <a:ext cx="9637776" cy="700171"/>
              </a:xfrm>
              <a:blipFill>
                <a:blip r:embed="rId2"/>
                <a:stretch>
                  <a:fillRect l="-1898" t="-13043" b="-2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A17D38-B92B-F376-7A9A-454FFF69EB0B}"/>
                  </a:ext>
                </a:extLst>
              </p:cNvPr>
              <p:cNvSpPr>
                <a:spLocks noGrp="1"/>
              </p:cNvSpPr>
              <p:nvPr>
                <p:ph idx="1"/>
              </p:nvPr>
            </p:nvSpPr>
            <p:spPr>
              <a:xfrm>
                <a:off x="333738" y="875899"/>
                <a:ext cx="11218985" cy="3974312"/>
              </a:xfrm>
            </p:spPr>
            <p:txBody>
              <a:bodyPr>
                <a:normAutofit/>
              </a:bodyPr>
              <a:lstStyle/>
              <a:p>
                <a:pPr>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Since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r>
                      <a:rPr lang="en-US" sz="2000" b="0" i="1">
                        <a:latin typeface="Cambria Math" panose="02040503050406030204" pitchFamily="18" charset="0"/>
                      </a:rPr>
                      <m:t> </m:t>
                    </m:r>
                  </m:oMath>
                </a14:m>
                <a:r>
                  <a:rPr lang="en-US" sz="2000" b="0" i="0" dirty="0">
                    <a:effectLst/>
                    <a:latin typeface="Arial" panose="020B0604020202020204" pitchFamily="34" charset="0"/>
                    <a:cs typeface="Arial" panose="020B0604020202020204" pitchFamily="34" charset="0"/>
                  </a:rPr>
                  <a:t> is a proportion, it is always a number between 0 and 1.</a:t>
                </a:r>
              </a:p>
              <a:p>
                <a:pPr lvl="1"/>
                <a:r>
                  <a:rPr lang="en-US" sz="2000" b="0" i="0" dirty="0">
                    <a:effectLst/>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oMath>
                </a14:m>
                <a:r>
                  <a:rPr lang="en-US" sz="2000" b="0" i="0" dirty="0">
                    <a:effectLst/>
                    <a:latin typeface="Arial" panose="020B0604020202020204" pitchFamily="34" charset="0"/>
                    <a:cs typeface="Arial" panose="020B0604020202020204" pitchFamily="34" charset="0"/>
                  </a:rPr>
                  <a:t> = 1, all of the data points fall perfectly on the regression line.</a:t>
                </a:r>
                <a:r>
                  <a:rPr lang="en-US" sz="2000" b="1" i="0" dirty="0">
                    <a:effectLst/>
                    <a:latin typeface="Arial" panose="020B0604020202020204" pitchFamily="34" charset="0"/>
                    <a:cs typeface="Arial" panose="020B0604020202020204" pitchFamily="34" charset="0"/>
                  </a:rPr>
                  <a:t> </a:t>
                </a:r>
                <a:r>
                  <a:rPr lang="en-US" sz="2000" b="0" i="0" dirty="0">
                    <a:effectLst/>
                    <a:latin typeface="Arial" panose="020B0604020202020204" pitchFamily="34" charset="0"/>
                    <a:cs typeface="Arial" panose="020B0604020202020204" pitchFamily="34" charset="0"/>
                  </a:rPr>
                  <a:t>The predictor </a:t>
                </a:r>
                <a:r>
                  <a:rPr lang="en-US" sz="2000" b="0" i="1" dirty="0">
                    <a:effectLst/>
                    <a:latin typeface="Arial" panose="020B0604020202020204" pitchFamily="34" charset="0"/>
                    <a:cs typeface="Arial" panose="020B0604020202020204" pitchFamily="34" charset="0"/>
                  </a:rPr>
                  <a:t>X</a:t>
                </a:r>
                <a:r>
                  <a:rPr lang="en-US" sz="2000" b="0" i="0" dirty="0">
                    <a:effectLst/>
                    <a:latin typeface="Arial" panose="020B0604020202020204" pitchFamily="34" charset="0"/>
                    <a:cs typeface="Arial" panose="020B0604020202020204" pitchFamily="34" charset="0"/>
                  </a:rPr>
                  <a:t> accounts for </a:t>
                </a:r>
                <a:r>
                  <a:rPr lang="en-US" sz="2000" b="0" i="1" dirty="0">
                    <a:effectLst/>
                    <a:latin typeface="Arial" panose="020B0604020202020204" pitchFamily="34" charset="0"/>
                    <a:cs typeface="Arial" panose="020B0604020202020204" pitchFamily="34" charset="0"/>
                  </a:rPr>
                  <a:t>all</a:t>
                </a:r>
                <a:r>
                  <a:rPr lang="en-US" sz="2000" b="0" i="0" dirty="0">
                    <a:effectLst/>
                    <a:latin typeface="Arial" panose="020B0604020202020204" pitchFamily="34" charset="0"/>
                    <a:cs typeface="Arial" panose="020B0604020202020204" pitchFamily="34" charset="0"/>
                  </a:rPr>
                  <a:t> of the variations in </a:t>
                </a:r>
                <a:r>
                  <a:rPr lang="en-US" sz="2000" b="0" i="1" dirty="0">
                    <a:effectLst/>
                    <a:latin typeface="Arial" panose="020B0604020202020204" pitchFamily="34" charset="0"/>
                    <a:cs typeface="Arial" panose="020B0604020202020204" pitchFamily="34" charset="0"/>
                  </a:rPr>
                  <a:t>Y</a:t>
                </a:r>
                <a:r>
                  <a:rPr lang="en-US" sz="2000" b="0" i="0" dirty="0">
                    <a:effectLst/>
                    <a:latin typeface="Arial" panose="020B0604020202020204" pitchFamily="34" charset="0"/>
                    <a:cs typeface="Arial" panose="020B0604020202020204" pitchFamily="34" charset="0"/>
                  </a:rPr>
                  <a:t>!</a:t>
                </a:r>
              </a:p>
              <a:p>
                <a:pPr lvl="1"/>
                <a:r>
                  <a:rPr lang="en-US" sz="2000" b="0" i="0" dirty="0">
                    <a:effectLst/>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r>
                      <a:rPr lang="en-US" sz="2000" b="0" i="1">
                        <a:latin typeface="Cambria Math" panose="02040503050406030204" pitchFamily="18" charset="0"/>
                      </a:rPr>
                      <m:t> </m:t>
                    </m:r>
                  </m:oMath>
                </a14:m>
                <a:r>
                  <a:rPr lang="en-US" sz="2000" b="0" i="0" dirty="0">
                    <a:effectLst/>
                    <a:latin typeface="Arial" panose="020B0604020202020204" pitchFamily="34" charset="0"/>
                    <a:cs typeface="Arial" panose="020B0604020202020204" pitchFamily="34" charset="0"/>
                  </a:rPr>
                  <a:t>= 0, the estimated regression line is perfectly horizontal. The predictor </a:t>
                </a:r>
                <a:r>
                  <a:rPr lang="en-US" sz="2000" b="0" i="1" dirty="0">
                    <a:effectLst/>
                    <a:latin typeface="Arial" panose="020B0604020202020204" pitchFamily="34" charset="0"/>
                    <a:cs typeface="Arial" panose="020B0604020202020204" pitchFamily="34" charset="0"/>
                  </a:rPr>
                  <a:t>X</a:t>
                </a:r>
                <a:r>
                  <a:rPr lang="en-US" sz="2000" b="0" i="0" dirty="0">
                    <a:effectLst/>
                    <a:latin typeface="Arial" panose="020B0604020202020204" pitchFamily="34" charset="0"/>
                    <a:cs typeface="Arial" panose="020B0604020202020204" pitchFamily="34" charset="0"/>
                  </a:rPr>
                  <a:t> accounts for </a:t>
                </a:r>
                <a:r>
                  <a:rPr lang="en-US" sz="2000" b="0" i="1" dirty="0">
                    <a:effectLst/>
                    <a:latin typeface="Arial" panose="020B0604020202020204" pitchFamily="34" charset="0"/>
                    <a:cs typeface="Arial" panose="020B0604020202020204" pitchFamily="34" charset="0"/>
                  </a:rPr>
                  <a:t>none</a:t>
                </a:r>
                <a:r>
                  <a:rPr lang="en-US" sz="2000" b="0" i="0" dirty="0">
                    <a:effectLst/>
                    <a:latin typeface="Arial" panose="020B0604020202020204" pitchFamily="34" charset="0"/>
                    <a:cs typeface="Arial" panose="020B0604020202020204" pitchFamily="34" charset="0"/>
                  </a:rPr>
                  <a:t> of the variations in </a:t>
                </a:r>
                <a:r>
                  <a:rPr lang="en-US" sz="2000" b="0" i="1" dirty="0">
                    <a:effectLst/>
                    <a:latin typeface="Arial" panose="020B0604020202020204" pitchFamily="34" charset="0"/>
                    <a:cs typeface="Arial" panose="020B0604020202020204" pitchFamily="34" charset="0"/>
                  </a:rPr>
                  <a:t>Y</a:t>
                </a:r>
                <a:r>
                  <a:rPr lang="en-US" sz="2000" b="0" i="0" dirty="0">
                    <a:effectLst/>
                    <a:latin typeface="Arial" panose="020B0604020202020204" pitchFamily="34" charset="0"/>
                    <a:cs typeface="Arial" panose="020B0604020202020204" pitchFamily="34" charset="0"/>
                  </a:rPr>
                  <a:t>!</a:t>
                </a:r>
              </a:p>
              <a:p>
                <a:pPr marL="0" indent="0">
                  <a:buNone/>
                </a:pPr>
                <a:endParaRPr lang="en-US" sz="2000" dirty="0">
                  <a:latin typeface="Arial" panose="020B0604020202020204" pitchFamily="34" charset="0"/>
                  <a:cs typeface="Arial" panose="020B0604020202020204" pitchFamily="34" charset="0"/>
                </a:endParaRPr>
              </a:p>
              <a:p>
                <a:pPr marL="0" indent="0">
                  <a:buNone/>
                </a:pP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oMath>
                </a14:m>
                <a:r>
                  <a:rPr lang="en-US" sz="2000" b="0" i="0" dirty="0">
                    <a:effectLst/>
                    <a:latin typeface="Arial" panose="020B0604020202020204" pitchFamily="34" charset="0"/>
                    <a:cs typeface="Arial" panose="020B0604020202020204" pitchFamily="34" charset="0"/>
                  </a:rPr>
                  <a:t> × 100 percent of the variation in </a:t>
                </a:r>
                <a:r>
                  <a:rPr lang="en-US" sz="2000" b="0" i="1" dirty="0">
                    <a:effectLst/>
                    <a:latin typeface="Arial" panose="020B0604020202020204" pitchFamily="34" charset="0"/>
                    <a:cs typeface="Arial" panose="020B0604020202020204" pitchFamily="34" charset="0"/>
                  </a:rPr>
                  <a:t>Y</a:t>
                </a:r>
                <a:r>
                  <a:rPr lang="en-US" sz="2000" b="0" i="0" dirty="0">
                    <a:effectLst/>
                    <a:latin typeface="Arial" panose="020B0604020202020204" pitchFamily="34" charset="0"/>
                    <a:cs typeface="Arial" panose="020B0604020202020204" pitchFamily="34" charset="0"/>
                  </a:rPr>
                  <a:t> is reduced by taking into account predictor </a:t>
                </a:r>
                <a:r>
                  <a:rPr lang="en-US" sz="2000" b="0" i="1" dirty="0">
                    <a:effectLst/>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a:t>
                </a:r>
              </a:p>
              <a:p>
                <a:pPr marL="0" indent="0">
                  <a:buNone/>
                </a:pPr>
                <a:r>
                  <a:rPr lang="en-US" sz="2000" i="1" dirty="0">
                    <a:latin typeface="Arial" panose="020B0604020202020204" pitchFamily="34" charset="0"/>
                    <a:cs typeface="Arial" panose="020B0604020202020204" pitchFamily="34" charset="0"/>
                  </a:rPr>
                  <a:t>or </a:t>
                </a:r>
              </a:p>
              <a:p>
                <a:pPr marL="0" indent="0">
                  <a:buNone/>
                </a:pP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𝑅</m:t>
                        </m:r>
                      </m:e>
                      <m:sup>
                        <m:r>
                          <a:rPr lang="en-US" sz="2000" i="1">
                            <a:latin typeface="Cambria Math" panose="02040503050406030204" pitchFamily="18" charset="0"/>
                          </a:rPr>
                          <m:t>2</m:t>
                        </m:r>
                      </m:sup>
                    </m:sSup>
                  </m:oMath>
                </a14:m>
                <a:r>
                  <a:rPr lang="en-US" sz="2000" b="0" i="0" dirty="0">
                    <a:effectLst/>
                    <a:latin typeface="Arial" panose="020B0604020202020204" pitchFamily="34" charset="0"/>
                    <a:cs typeface="Arial" panose="020B0604020202020204" pitchFamily="34" charset="0"/>
                  </a:rPr>
                  <a:t> × 100 percent </a:t>
                </a:r>
                <a:r>
                  <a:rPr lang="en-US" sz="2000" dirty="0">
                    <a:latin typeface="Arial" panose="020B0604020202020204" pitchFamily="34" charset="0"/>
                    <a:cs typeface="Arial" panose="020B0604020202020204" pitchFamily="34" charset="0"/>
                  </a:rPr>
                  <a:t>of the variation in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is explained by </a:t>
                </a:r>
                <a:r>
                  <a:rPr lang="en-US" sz="2000" i="1" dirty="0">
                    <a:latin typeface="Arial" panose="020B0604020202020204" pitchFamily="34" charset="0"/>
                    <a:cs typeface="Arial" panose="020B0604020202020204" pitchFamily="34" charset="0"/>
                  </a:rPr>
                  <a:t>X</a:t>
                </a:r>
              </a:p>
              <a:p>
                <a:endParaRPr lang="en-US" sz="14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7FA17D38-B92B-F376-7A9A-454FFF69EB0B}"/>
                  </a:ext>
                </a:extLst>
              </p:cNvPr>
              <p:cNvSpPr>
                <a:spLocks noGrp="1" noRot="1" noChangeAspect="1" noMove="1" noResize="1" noEditPoints="1" noAdjustHandles="1" noChangeArrowheads="1" noChangeShapeType="1" noTextEdit="1"/>
              </p:cNvSpPr>
              <p:nvPr>
                <p:ph idx="1"/>
              </p:nvPr>
            </p:nvSpPr>
            <p:spPr>
              <a:xfrm>
                <a:off x="333738" y="875899"/>
                <a:ext cx="11218985" cy="3974312"/>
              </a:xfrm>
              <a:blipFill>
                <a:blip r:embed="rId3"/>
                <a:stretch>
                  <a:fillRect l="-598" t="-1534" r="-652"/>
                </a:stretch>
              </a:blipFill>
            </p:spPr>
            <p:txBody>
              <a:bodyPr/>
              <a:lstStyle/>
              <a:p>
                <a:r>
                  <a:rPr lang="en-US">
                    <a:noFill/>
                  </a:rPr>
                  <a:t> </a:t>
                </a:r>
              </a:p>
            </p:txBody>
          </p:sp>
        </mc:Fallback>
      </mc:AlternateContent>
    </p:spTree>
    <p:extLst>
      <p:ext uri="{BB962C8B-B14F-4D97-AF65-F5344CB8AC3E}">
        <p14:creationId xmlns:p14="http://schemas.microsoft.com/office/powerpoint/2010/main" val="1601053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50F0ABB-2099-9A2C-8A34-62ADEEB10E4E}"/>
                  </a:ext>
                </a:extLst>
              </p:cNvPr>
              <p:cNvSpPr>
                <a:spLocks noGrp="1"/>
              </p:cNvSpPr>
              <p:nvPr>
                <p:ph type="title"/>
              </p:nvPr>
            </p:nvSpPr>
            <p:spPr>
              <a:xfrm>
                <a:off x="100139" y="166474"/>
                <a:ext cx="9637776" cy="584298"/>
              </a:xfrm>
            </p:spPr>
            <p:txBody>
              <a:bodyPr>
                <a:no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Pearson Correlation, </a:t>
                </a:r>
                <a:r>
                  <a:rPr lang="en-US" sz="3600" i="1" dirty="0">
                    <a:latin typeface="Arial" panose="020B0604020202020204" pitchFamily="34" charset="0"/>
                    <a:ea typeface="Calibri Light" panose="020F0302020204030204" pitchFamily="34" charset="0"/>
                    <a:cs typeface="Arial" panose="020B0604020202020204" pitchFamily="34" charset="0"/>
                  </a:rPr>
                  <a:t>r &amp; </a:t>
                </a:r>
                <a14:m>
                  <m:oMath xmlns:m="http://schemas.openxmlformats.org/officeDocument/2006/math">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𝑅</m:t>
                        </m:r>
                      </m:e>
                      <m:sup>
                        <m:r>
                          <a:rPr lang="en-US" sz="3600" b="0" i="1" smtClean="0">
                            <a:latin typeface="Cambria Math" panose="02040503050406030204" pitchFamily="18" charset="0"/>
                          </a:rPr>
                          <m:t>2</m:t>
                        </m:r>
                      </m:sup>
                    </m:sSup>
                  </m:oMath>
                </a14:m>
                <a:r>
                  <a:rPr lang="en-US" sz="3600" dirty="0">
                    <a:latin typeface="Arial" panose="020B0604020202020204" pitchFamily="34" charset="0"/>
                    <a:ea typeface="Calibri Light" panose="020F0302020204030204" pitchFamily="34" charset="0"/>
                    <a:cs typeface="Arial" panose="020B0604020202020204" pitchFamily="34" charset="0"/>
                  </a:rPr>
                  <a:t>!!</a:t>
                </a:r>
              </a:p>
            </p:txBody>
          </p:sp>
        </mc:Choice>
        <mc:Fallback xmlns="">
          <p:sp>
            <p:nvSpPr>
              <p:cNvPr id="2" name="Title 1">
                <a:extLst>
                  <a:ext uri="{FF2B5EF4-FFF2-40B4-BE49-F238E27FC236}">
                    <a16:creationId xmlns:a16="http://schemas.microsoft.com/office/drawing/2014/main" id="{550F0ABB-2099-9A2C-8A34-62ADEEB10E4E}"/>
                  </a:ext>
                </a:extLst>
              </p:cNvPr>
              <p:cNvSpPr>
                <a:spLocks noGrp="1" noRot="1" noChangeAspect="1" noMove="1" noResize="1" noEditPoints="1" noAdjustHandles="1" noChangeArrowheads="1" noChangeShapeType="1" noTextEdit="1"/>
              </p:cNvSpPr>
              <p:nvPr>
                <p:ph type="title"/>
              </p:nvPr>
            </p:nvSpPr>
            <p:spPr>
              <a:xfrm>
                <a:off x="100139" y="166474"/>
                <a:ext cx="9637776" cy="584298"/>
              </a:xfrm>
              <a:blipFill>
                <a:blip r:embed="rId2"/>
                <a:stretch>
                  <a:fillRect l="-1898" t="-25000" b="-395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DFFF62-A755-9117-BB57-EA463822BA33}"/>
                  </a:ext>
                </a:extLst>
              </p:cNvPr>
              <p:cNvSpPr>
                <a:spLocks noGrp="1"/>
              </p:cNvSpPr>
              <p:nvPr>
                <p:ph idx="1"/>
              </p:nvPr>
            </p:nvSpPr>
            <p:spPr>
              <a:xfrm>
                <a:off x="287708" y="750772"/>
                <a:ext cx="10474502" cy="4197050"/>
              </a:xfrm>
            </p:spPr>
            <p:txBody>
              <a:bodyPr>
                <a:normAutofit/>
              </a:bodyPr>
              <a:lstStyle/>
              <a:p>
                <a:r>
                  <a:rPr lang="en-US" sz="2000" b="0" i="0" dirty="0">
                    <a:effectLst/>
                    <a:latin typeface="Arial" panose="020B0604020202020204" pitchFamily="34" charset="0"/>
                    <a:cs typeface="Arial" panose="020B0604020202020204" pitchFamily="34" charset="0"/>
                  </a:rPr>
                  <a:t>So, we have another interpretation of </a:t>
                </a:r>
                <a:r>
                  <a:rPr lang="en-US" sz="2000" b="0" i="1" dirty="0">
                    <a:effectLst/>
                    <a:latin typeface="Arial" panose="020B0604020202020204" pitchFamily="34" charset="0"/>
                    <a:cs typeface="Arial" panose="020B0604020202020204" pitchFamily="34" charset="0"/>
                  </a:rPr>
                  <a:t>r – </a:t>
                </a:r>
                <a:r>
                  <a:rPr lang="en-US" sz="2000" b="0" dirty="0">
                    <a:effectLst/>
                    <a:latin typeface="Arial" panose="020B0604020202020204" pitchFamily="34" charset="0"/>
                    <a:cs typeface="Arial" panose="020B0604020202020204" pitchFamily="34" charset="0"/>
                  </a:rPr>
                  <a:t>the square of the coefficient of determination</a:t>
                </a:r>
              </a:p>
              <a:p>
                <a:r>
                  <a:rPr lang="en-US" sz="2000" b="0" i="0" dirty="0">
                    <a:effectLst/>
                    <a:latin typeface="Arial" panose="020B0604020202020204" pitchFamily="34" charset="0"/>
                    <a:cs typeface="Arial" panose="020B0604020202020204" pitchFamily="34" charset="0"/>
                  </a:rPr>
                  <a:t>The correlation coefficient,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is directly related to the coefficient of determination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r>
                      <a:rPr lang="en-US" sz="2000" b="0" i="1">
                        <a:latin typeface="Cambria Math" panose="02040503050406030204" pitchFamily="18" charset="0"/>
                      </a:rPr>
                      <m:t> </m:t>
                    </m:r>
                  </m:oMath>
                </a14:m>
                <a:endParaRPr lang="en-US" sz="2000" b="0" dirty="0">
                  <a:latin typeface="Arial" panose="020B0604020202020204" pitchFamily="34" charset="0"/>
                  <a:cs typeface="Arial" panose="020B0604020202020204" pitchFamily="34" charset="0"/>
                </a:endParaRPr>
              </a:p>
              <a:p>
                <a:pPr lvl="1"/>
                <a:r>
                  <a:rPr lang="en-US" sz="2000" b="0" i="0" dirty="0">
                    <a:effectLst/>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r>
                      <a:rPr lang="en-US" sz="2000" b="0" i="1">
                        <a:latin typeface="Cambria Math" panose="02040503050406030204" pitchFamily="18" charset="0"/>
                      </a:rPr>
                      <m:t> </m:t>
                    </m:r>
                  </m:oMath>
                </a14:m>
                <a:r>
                  <a:rPr lang="en-US" sz="2000" b="0" i="0" dirty="0">
                    <a:effectLst/>
                    <a:latin typeface="Arial" panose="020B0604020202020204" pitchFamily="34" charset="0"/>
                    <a:cs typeface="Arial" panose="020B0604020202020204" pitchFamily="34" charset="0"/>
                  </a:rPr>
                  <a:t>is represented in decimal form, </a:t>
                </a:r>
                <a:r>
                  <a:rPr lang="en-US" sz="2000" b="0" i="1" dirty="0">
                    <a:effectLst/>
                    <a:latin typeface="Arial" panose="020B0604020202020204" pitchFamily="34" charset="0"/>
                    <a:cs typeface="Arial" panose="020B0604020202020204" pitchFamily="34" charset="0"/>
                  </a:rPr>
                  <a:t>e.g.</a:t>
                </a:r>
                <a:r>
                  <a:rPr lang="en-US" sz="2000" b="0" i="0" dirty="0">
                    <a:effectLst/>
                    <a:latin typeface="Arial" panose="020B0604020202020204" pitchFamily="34" charset="0"/>
                    <a:cs typeface="Arial" panose="020B0604020202020204" pitchFamily="34" charset="0"/>
                  </a:rPr>
                  <a:t> 0.39 or 0.87, then all we have to do to obtain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is to take the square root of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r>
                      <a:rPr lang="en-US" sz="2000" b="0" i="1">
                        <a:latin typeface="Cambria Math" panose="02040503050406030204" pitchFamily="18" charset="0"/>
                      </a:rPr>
                      <m:t> </m:t>
                    </m:r>
                  </m:oMath>
                </a14:m>
                <a:r>
                  <a:rPr lang="en-US" sz="2000" b="0" i="0" dirty="0">
                    <a:effectLst/>
                    <a:latin typeface="Arial" panose="020B0604020202020204" pitchFamily="34" charset="0"/>
                    <a:cs typeface="Arial" panose="020B0604020202020204" pitchFamily="34" charset="0"/>
                  </a:rPr>
                  <a:t>: </a:t>
                </a:r>
                <a14:m>
                  <m:oMath xmlns:m="http://schemas.openxmlformats.org/officeDocument/2006/math">
                    <m:r>
                      <a:rPr lang="en-US" sz="2000" b="0" i="1">
                        <a:effectLst/>
                        <a:latin typeface="Cambria Math" panose="02040503050406030204" pitchFamily="18" charset="0"/>
                      </a:rPr>
                      <m:t>𝑟</m:t>
                    </m:r>
                    <m:r>
                      <a:rPr lang="en-US" sz="2000" b="0" i="1">
                        <a:effectLst/>
                        <a:latin typeface="Cambria Math" panose="02040503050406030204" pitchFamily="18" charset="0"/>
                      </a:rPr>
                      <m:t>=±</m:t>
                    </m:r>
                    <m:rad>
                      <m:radPr>
                        <m:degHide m:val="on"/>
                        <m:ctrlPr>
                          <a:rPr lang="en-US" sz="2000" b="0" i="1">
                            <a:effectLst/>
                            <a:latin typeface="Cambria Math" panose="02040503050406030204" pitchFamily="18" charset="0"/>
                            <a:ea typeface="Cambria Math" panose="02040503050406030204" pitchFamily="18" charset="0"/>
                          </a:rPr>
                        </m:ctrlPr>
                      </m:radPr>
                      <m:deg/>
                      <m:e>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e>
                    </m:rad>
                  </m:oMath>
                </a14:m>
                <a:endParaRPr lang="en-US" sz="2000" b="0" i="0" dirty="0">
                  <a:effectLst/>
                  <a:latin typeface="Arial" panose="020B0604020202020204" pitchFamily="34" charset="0"/>
                  <a:cs typeface="Arial" panose="020B0604020202020204" pitchFamily="34" charset="0"/>
                </a:endParaRPr>
              </a:p>
              <a:p>
                <a:r>
                  <a:rPr lang="en-US" sz="2000" b="0" i="0" dirty="0">
                    <a:effectLst/>
                    <a:latin typeface="Arial" panose="020B0604020202020204" pitchFamily="34" charset="0"/>
                    <a:cs typeface="Arial" panose="020B0604020202020204" pitchFamily="34" charset="0"/>
                  </a:rPr>
                  <a:t>The sign of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depends on the sign of the estimated slope coefficient </a:t>
                </a:r>
                <a14:m>
                  <m:oMath xmlns:m="http://schemas.openxmlformats.org/officeDocument/2006/math">
                    <m:sSub>
                      <m:sSubPr>
                        <m:ctrlPr>
                          <a:rPr lang="en-US" sz="2000" b="0" i="1">
                            <a:effectLst/>
                            <a:latin typeface="Cambria Math" panose="02040503050406030204" pitchFamily="18" charset="0"/>
                          </a:rPr>
                        </m:ctrlPr>
                      </m:sSubPr>
                      <m:e>
                        <m:r>
                          <a:rPr lang="en-US" sz="2000" b="0" i="1">
                            <a:effectLst/>
                            <a:latin typeface="Cambria Math" panose="02040503050406030204" pitchFamily="18" charset="0"/>
                          </a:rPr>
                          <m:t>𝑏</m:t>
                        </m:r>
                      </m:e>
                      <m:sub>
                        <m:r>
                          <a:rPr lang="en-US" sz="2000" b="0" i="1">
                            <a:effectLst/>
                            <a:latin typeface="Cambria Math" panose="02040503050406030204" pitchFamily="18" charset="0"/>
                          </a:rPr>
                          <m:t>1</m:t>
                        </m:r>
                      </m:sub>
                    </m:sSub>
                  </m:oMath>
                </a14:m>
                <a:r>
                  <a:rPr lang="en-US" sz="2000" b="0" i="0" dirty="0">
                    <a:effectLst/>
                    <a:latin typeface="Arial" panose="020B0604020202020204" pitchFamily="34" charset="0"/>
                    <a:cs typeface="Arial" panose="020B0604020202020204" pitchFamily="34" charset="0"/>
                  </a:rPr>
                  <a:t> :</a:t>
                </a:r>
              </a:p>
              <a:p>
                <a:pPr lvl="1"/>
                <a:r>
                  <a:rPr lang="en-US" sz="2000" b="0" i="0" dirty="0">
                    <a:effectLst/>
                    <a:latin typeface="Arial" panose="020B0604020202020204" pitchFamily="34" charset="0"/>
                    <a:cs typeface="Arial" panose="020B0604020202020204" pitchFamily="34" charset="0"/>
                  </a:rPr>
                  <a:t>If </a:t>
                </a:r>
                <a:r>
                  <a:rPr lang="en-US" sz="2000" b="0" dirty="0">
                    <a:effectLst/>
                    <a:latin typeface="Arial" panose="020B0604020202020204" pitchFamily="34" charset="0"/>
                    <a:cs typeface="Arial" panose="020B0604020202020204" pitchFamily="34" charset="0"/>
                  </a:rPr>
                  <a:t> </a:t>
                </a:r>
                <a14:m>
                  <m:oMath xmlns:m="http://schemas.openxmlformats.org/officeDocument/2006/math">
                    <m:sSub>
                      <m:sSubPr>
                        <m:ctrlPr>
                          <a:rPr lang="en-US" sz="2000" b="0" i="1">
                            <a:effectLst/>
                            <a:latin typeface="Cambria Math" panose="02040503050406030204" pitchFamily="18" charset="0"/>
                          </a:rPr>
                        </m:ctrlPr>
                      </m:sSubPr>
                      <m:e>
                        <m:r>
                          <a:rPr lang="en-US" sz="2000" b="0" i="1">
                            <a:effectLst/>
                            <a:latin typeface="Cambria Math" panose="02040503050406030204" pitchFamily="18" charset="0"/>
                          </a:rPr>
                          <m:t>𝑏</m:t>
                        </m:r>
                      </m:e>
                      <m:sub>
                        <m:r>
                          <a:rPr lang="en-US" sz="2000" b="0" i="1">
                            <a:effectLst/>
                            <a:latin typeface="Cambria Math" panose="02040503050406030204" pitchFamily="18" charset="0"/>
                          </a:rPr>
                          <m:t>1</m:t>
                        </m:r>
                      </m:sub>
                    </m:sSub>
                  </m:oMath>
                </a14:m>
                <a:r>
                  <a:rPr lang="en-US" sz="2000" b="0" i="0" dirty="0">
                    <a:effectLst/>
                    <a:latin typeface="Arial" panose="020B0604020202020204" pitchFamily="34" charset="0"/>
                    <a:cs typeface="Arial" panose="020B0604020202020204" pitchFamily="34" charset="0"/>
                  </a:rPr>
                  <a:t>  is negative, then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takes a negative sign.</a:t>
                </a:r>
              </a:p>
              <a:p>
                <a:pPr lvl="1"/>
                <a:r>
                  <a:rPr lang="en-US" sz="2000" b="0" i="0" dirty="0">
                    <a:effectLst/>
                    <a:latin typeface="Arial" panose="020B0604020202020204" pitchFamily="34" charset="0"/>
                    <a:cs typeface="Arial" panose="020B0604020202020204" pitchFamily="34" charset="0"/>
                  </a:rPr>
                  <a:t>If </a:t>
                </a:r>
                <a:r>
                  <a:rPr lang="en-US" sz="2000" b="0" dirty="0">
                    <a:effectLst/>
                    <a:latin typeface="Arial" panose="020B0604020202020204" pitchFamily="34" charset="0"/>
                    <a:cs typeface="Arial" panose="020B0604020202020204" pitchFamily="34" charset="0"/>
                  </a:rPr>
                  <a:t> </a:t>
                </a:r>
                <a14:m>
                  <m:oMath xmlns:m="http://schemas.openxmlformats.org/officeDocument/2006/math">
                    <m:sSub>
                      <m:sSubPr>
                        <m:ctrlPr>
                          <a:rPr lang="en-US" sz="2000" b="0" i="1">
                            <a:effectLst/>
                            <a:latin typeface="Cambria Math" panose="02040503050406030204" pitchFamily="18" charset="0"/>
                          </a:rPr>
                        </m:ctrlPr>
                      </m:sSubPr>
                      <m:e>
                        <m:r>
                          <a:rPr lang="en-US" sz="2000" b="0" i="1">
                            <a:effectLst/>
                            <a:latin typeface="Cambria Math" panose="02040503050406030204" pitchFamily="18" charset="0"/>
                          </a:rPr>
                          <m:t>𝑏</m:t>
                        </m:r>
                      </m:e>
                      <m:sub>
                        <m:r>
                          <a:rPr lang="en-US" sz="2000" b="0" i="1">
                            <a:effectLst/>
                            <a:latin typeface="Cambria Math" panose="02040503050406030204" pitchFamily="18" charset="0"/>
                          </a:rPr>
                          <m:t>1</m:t>
                        </m:r>
                      </m:sub>
                    </m:sSub>
                  </m:oMath>
                </a14:m>
                <a:r>
                  <a:rPr lang="en-US" sz="2000" b="0" i="0" dirty="0">
                    <a:effectLst/>
                    <a:latin typeface="Arial" panose="020B0604020202020204" pitchFamily="34" charset="0"/>
                    <a:cs typeface="Arial" panose="020B0604020202020204" pitchFamily="34" charset="0"/>
                  </a:rPr>
                  <a:t>  is positive, then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takes a positive sign.</a:t>
                </a:r>
              </a:p>
              <a:p>
                <a:r>
                  <a:rPr lang="en-US" sz="2000" b="0" i="0" dirty="0">
                    <a:effectLst/>
                    <a:latin typeface="Arial" panose="020B0604020202020204" pitchFamily="34" charset="0"/>
                    <a:cs typeface="Arial" panose="020B0604020202020204" pitchFamily="34" charset="0"/>
                  </a:rPr>
                  <a:t>That is, the estimated slope and the correlation coefficient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always share the same sign. </a:t>
                </a:r>
              </a:p>
              <a:p>
                <a:r>
                  <a:rPr lang="en-US" sz="2000" b="0" i="0" dirty="0">
                    <a:effectLst/>
                    <a:latin typeface="Arial" panose="020B0604020202020204" pitchFamily="34" charset="0"/>
                    <a:cs typeface="Arial" panose="020B0604020202020204" pitchFamily="34" charset="0"/>
                  </a:rPr>
                  <a:t>Because </a:t>
                </a:r>
                <a:r>
                  <a:rPr lang="en-US"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𝑅</m:t>
                        </m:r>
                      </m:e>
                      <m:sup>
                        <m:r>
                          <a:rPr lang="en-US" sz="2000" b="0" i="1">
                            <a:latin typeface="Cambria Math" panose="02040503050406030204" pitchFamily="18" charset="0"/>
                          </a:rPr>
                          <m:t>2</m:t>
                        </m:r>
                      </m:sup>
                    </m:sSup>
                    <m:r>
                      <a:rPr lang="en-US" sz="2000" b="0" i="1">
                        <a:latin typeface="Cambria Math" panose="02040503050406030204" pitchFamily="18" charset="0"/>
                      </a:rPr>
                      <m:t> </m:t>
                    </m:r>
                  </m:oMath>
                </a14:m>
                <a:r>
                  <a:rPr lang="en-US" sz="2000" b="0" i="0" dirty="0">
                    <a:effectLst/>
                    <a:latin typeface="Arial" panose="020B0604020202020204" pitchFamily="34" charset="0"/>
                    <a:cs typeface="Arial" panose="020B0604020202020204" pitchFamily="34" charset="0"/>
                  </a:rPr>
                  <a:t> is always a number between 0 and 1, the correlation coefficient </a:t>
                </a:r>
                <a:r>
                  <a:rPr lang="en-US" sz="2000" b="0" i="1" dirty="0">
                    <a:effectLst/>
                    <a:latin typeface="Arial" panose="020B0604020202020204" pitchFamily="34" charset="0"/>
                    <a:cs typeface="Arial" panose="020B0604020202020204" pitchFamily="34" charset="0"/>
                  </a:rPr>
                  <a:t>r</a:t>
                </a:r>
                <a:r>
                  <a:rPr lang="en-US" sz="2000" b="0" i="0" dirty="0">
                    <a:effectLst/>
                    <a:latin typeface="Arial" panose="020B0604020202020204" pitchFamily="34" charset="0"/>
                    <a:cs typeface="Arial" panose="020B0604020202020204" pitchFamily="34" charset="0"/>
                  </a:rPr>
                  <a:t> is always a number between -1 and 1.</a:t>
                </a:r>
              </a:p>
              <a:p>
                <a:endParaRPr lang="en-US" sz="1700" dirty="0"/>
              </a:p>
            </p:txBody>
          </p:sp>
        </mc:Choice>
        <mc:Fallback xmlns="">
          <p:sp>
            <p:nvSpPr>
              <p:cNvPr id="3" name="Content Placeholder 2">
                <a:extLst>
                  <a:ext uri="{FF2B5EF4-FFF2-40B4-BE49-F238E27FC236}">
                    <a16:creationId xmlns:a16="http://schemas.microsoft.com/office/drawing/2014/main" id="{88DFFF62-A755-9117-BB57-EA463822BA33}"/>
                  </a:ext>
                </a:extLst>
              </p:cNvPr>
              <p:cNvSpPr>
                <a:spLocks noGrp="1" noRot="1" noChangeAspect="1" noMove="1" noResize="1" noEditPoints="1" noAdjustHandles="1" noChangeArrowheads="1" noChangeShapeType="1" noTextEdit="1"/>
              </p:cNvSpPr>
              <p:nvPr>
                <p:ph idx="1"/>
              </p:nvPr>
            </p:nvSpPr>
            <p:spPr>
              <a:xfrm>
                <a:off x="287708" y="750772"/>
                <a:ext cx="10474502" cy="4197050"/>
              </a:xfrm>
              <a:blipFill>
                <a:blip r:embed="rId3"/>
                <a:stretch>
                  <a:fillRect l="-524" t="-1306"/>
                </a:stretch>
              </a:blipFill>
            </p:spPr>
            <p:txBody>
              <a:bodyPr/>
              <a:lstStyle/>
              <a:p>
                <a:r>
                  <a:rPr lang="en-US">
                    <a:noFill/>
                  </a:rPr>
                  <a:t> </a:t>
                </a:r>
              </a:p>
            </p:txBody>
          </p:sp>
        </mc:Fallback>
      </mc:AlternateContent>
    </p:spTree>
    <p:extLst>
      <p:ext uri="{BB962C8B-B14F-4D97-AF65-F5344CB8AC3E}">
        <p14:creationId xmlns:p14="http://schemas.microsoft.com/office/powerpoint/2010/main" val="473217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B1AD-C49C-6B79-64A2-013D80DD030A}"/>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D99B61-46E9-F5BE-B30D-3A2A44EEE38C}"/>
                  </a:ext>
                </a:extLst>
              </p:cNvPr>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Note: with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and SST we can calculate</a:t>
                </a:r>
              </a:p>
              <a:p>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and</a:t>
                </a:r>
              </a:p>
              <a:p>
                <a:endParaRPr lang="en-US" sz="2000" dirty="0">
                  <a:latin typeface="Arial" panose="020B0604020202020204" pitchFamily="34" charset="0"/>
                  <a:cs typeface="Arial" panose="020B0604020202020204" pitchFamily="34" charset="0"/>
                </a:endParaRPr>
              </a:p>
              <a:p>
                <a:pPr lvl="1"/>
                <a:endParaRPr lang="en-US" sz="18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88D99B61-46E9-F5BE-B30D-3A2A44EEE38C}"/>
                  </a:ext>
                </a:extLst>
              </p:cNvPr>
              <p:cNvSpPr>
                <a:spLocks noGrp="1" noRot="1" noChangeAspect="1" noMove="1" noResize="1" noEditPoints="1" noAdjustHandles="1" noChangeArrowheads="1" noChangeShapeType="1" noTextEdit="1"/>
              </p:cNvSpPr>
              <p:nvPr>
                <p:ph idx="1"/>
              </p:nvPr>
            </p:nvSpPr>
            <p:spPr>
              <a:blipFill>
                <a:blip r:embed="rId2"/>
                <a:stretch>
                  <a:fillRect l="-522" t="-1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6902C43-8178-5567-20D3-630585F44C70}"/>
                  </a:ext>
                </a:extLst>
              </p:cNvPr>
              <p:cNvSpPr txBox="1"/>
              <p:nvPr/>
            </p:nvSpPr>
            <p:spPr>
              <a:xfrm>
                <a:off x="980562" y="2147289"/>
                <a:ext cx="223179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𝑆𝑆𝑅</m:t>
                      </m:r>
                      <m:r>
                        <a:rPr lang="en-US" sz="2400" b="0" i="1" smtClean="0">
                          <a:latin typeface="Cambria Math" panose="02040503050406030204" pitchFamily="18" charset="0"/>
                        </a:rPr>
                        <m:t>= </m:t>
                      </m:r>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𝑅</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𝑆𝑆𝑇</m:t>
                      </m:r>
                    </m:oMath>
                  </m:oMathPara>
                </a14:m>
                <a:endParaRPr lang="en-US" sz="2400" dirty="0"/>
              </a:p>
            </p:txBody>
          </p:sp>
        </mc:Choice>
        <mc:Fallback xmlns="">
          <p:sp>
            <p:nvSpPr>
              <p:cNvPr id="5" name="TextBox 4">
                <a:extLst>
                  <a:ext uri="{FF2B5EF4-FFF2-40B4-BE49-F238E27FC236}">
                    <a16:creationId xmlns:a16="http://schemas.microsoft.com/office/drawing/2014/main" id="{36902C43-8178-5567-20D3-630585F44C70}"/>
                  </a:ext>
                </a:extLst>
              </p:cNvPr>
              <p:cNvSpPr txBox="1">
                <a:spLocks noRot="1" noChangeAspect="1" noMove="1" noResize="1" noEditPoints="1" noAdjustHandles="1" noChangeArrowheads="1" noChangeShapeType="1" noTextEdit="1"/>
              </p:cNvSpPr>
              <p:nvPr/>
            </p:nvSpPr>
            <p:spPr>
              <a:xfrm>
                <a:off x="980562" y="2147289"/>
                <a:ext cx="223179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380D22-8F69-A0AA-AFC3-30E4B92EA6F0}"/>
                  </a:ext>
                </a:extLst>
              </p:cNvPr>
              <p:cNvSpPr txBox="1"/>
              <p:nvPr/>
            </p:nvSpPr>
            <p:spPr>
              <a:xfrm>
                <a:off x="838200" y="3013027"/>
                <a:ext cx="34572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𝑆𝑆𝐸</m:t>
                      </m:r>
                      <m:r>
                        <a:rPr lang="en-US" sz="2400" b="0" i="1" smtClean="0">
                          <a:latin typeface="Cambria Math" panose="02040503050406030204" pitchFamily="18" charset="0"/>
                        </a:rPr>
                        <m:t>= </m:t>
                      </m:r>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(1 −</m:t>
                          </m:r>
                          <m:r>
                            <a:rPr lang="en-US" sz="2400" b="0" i="1" smtClean="0">
                              <a:latin typeface="Cambria Math" panose="02040503050406030204" pitchFamily="18" charset="0"/>
                            </a:rPr>
                            <m:t>𝑅</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rPr>
                        <m:t>𝑆𝑆𝑇</m:t>
                      </m:r>
                    </m:oMath>
                  </m:oMathPara>
                </a14:m>
                <a:endParaRPr lang="en-US" sz="2400" dirty="0"/>
              </a:p>
            </p:txBody>
          </p:sp>
        </mc:Choice>
        <mc:Fallback xmlns="">
          <p:sp>
            <p:nvSpPr>
              <p:cNvPr id="6" name="TextBox 5">
                <a:extLst>
                  <a:ext uri="{FF2B5EF4-FFF2-40B4-BE49-F238E27FC236}">
                    <a16:creationId xmlns:a16="http://schemas.microsoft.com/office/drawing/2014/main" id="{51380D22-8F69-A0AA-AFC3-30E4B92EA6F0}"/>
                  </a:ext>
                </a:extLst>
              </p:cNvPr>
              <p:cNvSpPr txBox="1">
                <a:spLocks noRot="1" noChangeAspect="1" noMove="1" noResize="1" noEditPoints="1" noAdjustHandles="1" noChangeArrowheads="1" noChangeShapeType="1" noTextEdit="1"/>
              </p:cNvSpPr>
              <p:nvPr/>
            </p:nvSpPr>
            <p:spPr>
              <a:xfrm>
                <a:off x="838200" y="3013027"/>
                <a:ext cx="3457280" cy="461665"/>
              </a:xfrm>
              <a:prstGeom prst="rect">
                <a:avLst/>
              </a:prstGeom>
              <a:blipFill>
                <a:blip r:embed="rId4"/>
                <a:stretch>
                  <a:fillRect b="-17105"/>
                </a:stretch>
              </a:blipFill>
            </p:spPr>
            <p:txBody>
              <a:bodyPr/>
              <a:lstStyle/>
              <a:p>
                <a:r>
                  <a:rPr lang="en-US">
                    <a:noFill/>
                  </a:rPr>
                  <a:t> </a:t>
                </a:r>
              </a:p>
            </p:txBody>
          </p:sp>
        </mc:Fallback>
      </mc:AlternateContent>
    </p:spTree>
    <p:extLst>
      <p:ext uri="{BB962C8B-B14F-4D97-AF65-F5344CB8AC3E}">
        <p14:creationId xmlns:p14="http://schemas.microsoft.com/office/powerpoint/2010/main" val="2383714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8014" y="0"/>
            <a:ext cx="5508327" cy="578140"/>
          </a:xfrm>
          <a:prstGeom prst="rect">
            <a:avLst/>
          </a:prstGeom>
        </p:spPr>
        <p:txBody>
          <a:bodyPr vert="horz" wrap="square" lIns="0" tIns="23909" rIns="0" bIns="0" rtlCol="0">
            <a:spAutoFit/>
          </a:bodyPr>
          <a:lstStyle/>
          <a:p>
            <a:pPr marL="75503" defTabSz="1812066">
              <a:spcBef>
                <a:spcPts val="188"/>
              </a:spcBef>
            </a:pPr>
            <a:r>
              <a:rPr lang="en-US" sz="3600" kern="0" spc="-73" baseline="-20833" dirty="0">
                <a:latin typeface="Arial" panose="020B0604020202020204" pitchFamily="34" charset="0"/>
                <a:cs typeface="Arial" panose="020B0604020202020204" pitchFamily="34" charset="0"/>
              </a:rPr>
              <a:t>The Coefficient of Variation</a:t>
            </a:r>
            <a:endParaRPr sz="3600" kern="0" dirty="0">
              <a:latin typeface="Arial" panose="020B0604020202020204" pitchFamily="34" charset="0"/>
              <a:cs typeface="Arial" panose="020B0604020202020204" pitchFamily="34" charset="0"/>
            </a:endParaRPr>
          </a:p>
        </p:txBody>
      </p:sp>
      <p:sp>
        <p:nvSpPr>
          <p:cNvPr id="4" name="object 4"/>
          <p:cNvSpPr txBox="1"/>
          <p:nvPr/>
        </p:nvSpPr>
        <p:spPr>
          <a:xfrm>
            <a:off x="10198342" y="6338937"/>
            <a:ext cx="262995" cy="246441"/>
          </a:xfrm>
          <a:prstGeom prst="rect">
            <a:avLst/>
          </a:prstGeom>
        </p:spPr>
        <p:txBody>
          <a:bodyPr vert="horz" wrap="square" lIns="0" tIns="17617" rIns="0" bIns="0" rtlCol="0">
            <a:spAutoFit/>
          </a:bodyPr>
          <a:lstStyle/>
          <a:p>
            <a:pPr marL="25168" defTabSz="1812066">
              <a:spcBef>
                <a:spcPts val="139"/>
              </a:spcBef>
            </a:pPr>
            <a:r>
              <a:rPr sz="1486" kern="0" spc="-50" dirty="0">
                <a:solidFill>
                  <a:srgbClr val="22373A"/>
                </a:solidFill>
                <a:latin typeface="Arial"/>
                <a:cs typeface="Arial"/>
              </a:rPr>
              <a:t>33</a:t>
            </a:r>
            <a:endParaRPr sz="1486" kern="0">
              <a:solidFill>
                <a:sysClr val="windowText" lastClr="000000"/>
              </a:solidFill>
              <a:latin typeface="Arial"/>
              <a:cs typeface="Arial"/>
            </a:endParaRPr>
          </a:p>
        </p:txBody>
      </p:sp>
      <p:sp>
        <p:nvSpPr>
          <p:cNvPr id="3" name="object 3"/>
          <p:cNvSpPr txBox="1"/>
          <p:nvPr/>
        </p:nvSpPr>
        <p:spPr>
          <a:xfrm>
            <a:off x="299939" y="680559"/>
            <a:ext cx="11181295" cy="2659152"/>
          </a:xfrm>
          <a:prstGeom prst="rect">
            <a:avLst/>
          </a:prstGeom>
        </p:spPr>
        <p:txBody>
          <a:bodyPr vert="horz" wrap="square" lIns="0" tIns="31459" rIns="0" bIns="0" rtlCol="0">
            <a:spAutoFit/>
          </a:bodyPr>
          <a:lstStyle/>
          <a:p>
            <a:pPr marL="417145" marR="571304" indent="-342900" defTabSz="1812066">
              <a:lnSpc>
                <a:spcPct val="121500"/>
              </a:lnSpc>
              <a:spcBef>
                <a:spcPts val="248"/>
              </a:spcBef>
              <a:buFont typeface="Arial" panose="020B0604020202020204" pitchFamily="34" charset="0"/>
              <a:buChar char="•"/>
              <a:tabLst>
                <a:tab pos="347313" algn="l"/>
              </a:tabLst>
            </a:pPr>
            <a:r>
              <a:rPr sz="2000" kern="0" dirty="0">
                <a:latin typeface="Arial" panose="020B0604020202020204" pitchFamily="34" charset="0"/>
                <a:cs typeface="Arial" panose="020B0604020202020204" pitchFamily="34" charset="0"/>
              </a:rPr>
              <a:t>The</a:t>
            </a:r>
            <a:r>
              <a:rPr sz="2000" kern="0" spc="12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strength</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fit</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linear</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model</a:t>
            </a:r>
            <a:r>
              <a:rPr sz="2000" kern="0" spc="13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2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most</a:t>
            </a:r>
            <a:r>
              <a:rPr sz="2000" kern="0" spc="13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commonly </a:t>
            </a:r>
            <a:r>
              <a:rPr sz="2000" kern="0" dirty="0">
                <a:latin typeface="Arial" panose="020B0604020202020204" pitchFamily="34" charset="0"/>
                <a:cs typeface="Arial" panose="020B0604020202020204" pitchFamily="34" charset="0"/>
              </a:rPr>
              <a:t>evaluated</a:t>
            </a:r>
            <a:r>
              <a:rPr sz="2000" kern="0" spc="20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using</a:t>
            </a:r>
            <a:r>
              <a:rPr sz="2000" kern="0" spc="218" dirty="0">
                <a:latin typeface="Arial" panose="020B0604020202020204" pitchFamily="34" charset="0"/>
                <a:cs typeface="Arial" panose="020B0604020202020204" pitchFamily="34" charset="0"/>
              </a:rPr>
              <a:t> </a:t>
            </a:r>
            <a:r>
              <a:rPr sz="2000" i="1" kern="0" spc="-50" dirty="0">
                <a:latin typeface="Arial" panose="020B0604020202020204" pitchFamily="34" charset="0"/>
                <a:cs typeface="Arial" panose="020B0604020202020204" pitchFamily="34" charset="0"/>
              </a:rPr>
              <a:t>R</a:t>
            </a:r>
            <a:r>
              <a:rPr sz="2000" kern="0" spc="-73" baseline="27777" dirty="0">
                <a:latin typeface="Arial" panose="020B0604020202020204" pitchFamily="34" charset="0"/>
                <a:cs typeface="Arial" panose="020B0604020202020204" pitchFamily="34" charset="0"/>
              </a:rPr>
              <a:t>2</a:t>
            </a:r>
            <a:r>
              <a:rPr sz="2000" kern="0" spc="-50" dirty="0">
                <a:latin typeface="Arial" panose="020B0604020202020204" pitchFamily="34" charset="0"/>
                <a:cs typeface="Arial" panose="020B0604020202020204" pitchFamily="34" charset="0"/>
              </a:rPr>
              <a:t>.</a:t>
            </a:r>
            <a:endParaRPr sz="2000" kern="0" dirty="0">
              <a:latin typeface="Arial" panose="020B0604020202020204" pitchFamily="34" charset="0"/>
              <a:cs typeface="Arial" panose="020B0604020202020204" pitchFamily="34" charset="0"/>
            </a:endParaRPr>
          </a:p>
          <a:p>
            <a:pPr marL="418403" indent="-342900" defTabSz="1812066">
              <a:spcBef>
                <a:spcPts val="1060"/>
              </a:spcBef>
              <a:buSzPct val="90909"/>
              <a:buFont typeface="Arial" panose="020B0604020202020204" pitchFamily="34" charset="0"/>
              <a:buChar char="•"/>
              <a:tabLst>
                <a:tab pos="344796" algn="l"/>
              </a:tabLst>
            </a:pPr>
            <a:r>
              <a:rPr sz="2000" i="1" kern="0" dirty="0">
                <a:latin typeface="Arial" panose="020B0604020202020204" pitchFamily="34" charset="0"/>
                <a:cs typeface="Arial" panose="020B0604020202020204" pitchFamily="34" charset="0"/>
              </a:rPr>
              <a:t>R</a:t>
            </a:r>
            <a:r>
              <a:rPr sz="2000" kern="0" baseline="27777" dirty="0">
                <a:latin typeface="Arial" panose="020B0604020202020204" pitchFamily="34" charset="0"/>
                <a:cs typeface="Arial" panose="020B0604020202020204" pitchFamily="34" charset="0"/>
              </a:rPr>
              <a:t>2</a:t>
            </a:r>
            <a:r>
              <a:rPr sz="2000" kern="0" spc="654" baseline="27777"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calculated</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square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correlation</a:t>
            </a:r>
            <a:r>
              <a:rPr sz="2000" kern="0" spc="168"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coefficient.</a:t>
            </a:r>
            <a:endParaRPr sz="2000" kern="0" dirty="0">
              <a:latin typeface="Arial" panose="020B0604020202020204" pitchFamily="34" charset="0"/>
              <a:cs typeface="Arial" panose="020B0604020202020204" pitchFamily="34" charset="0"/>
            </a:endParaRPr>
          </a:p>
          <a:p>
            <a:pPr marL="417145" marR="60402" indent="-342900" defTabSz="1812066">
              <a:lnSpc>
                <a:spcPct val="129800"/>
              </a:lnSpc>
              <a:spcBef>
                <a:spcPts val="555"/>
              </a:spcBef>
              <a:buFont typeface="Arial" panose="020B0604020202020204" pitchFamily="34" charset="0"/>
              <a:buChar char="•"/>
              <a:tabLst>
                <a:tab pos="347313" algn="l"/>
              </a:tabLst>
            </a:pPr>
            <a:r>
              <a:rPr sz="2000" kern="0" dirty="0">
                <a:latin typeface="Arial" panose="020B0604020202020204" pitchFamily="34" charset="0"/>
                <a:cs typeface="Arial" panose="020B0604020202020204" pitchFamily="34" charset="0"/>
              </a:rPr>
              <a:t>It</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tells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us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what</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percent</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variability</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response</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variable</a:t>
            </a:r>
            <a:r>
              <a:rPr sz="2000" kern="0" spc="168" dirty="0">
                <a:latin typeface="Arial" panose="020B0604020202020204" pitchFamily="34" charset="0"/>
                <a:cs typeface="Arial" panose="020B0604020202020204" pitchFamily="34" charset="0"/>
              </a:rPr>
              <a:t> </a:t>
            </a:r>
            <a:r>
              <a:rPr sz="2000" kern="0" spc="-50" dirty="0">
                <a:latin typeface="Arial" panose="020B0604020202020204" pitchFamily="34" charset="0"/>
                <a:cs typeface="Arial" panose="020B0604020202020204" pitchFamily="34" charset="0"/>
              </a:rPr>
              <a:t>is</a:t>
            </a:r>
            <a:r>
              <a:rPr lang="en-US" sz="2000" kern="0" spc="-5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explained</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4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5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model.</a:t>
            </a:r>
            <a:endParaRPr sz="2000" kern="0" dirty="0">
              <a:latin typeface="Arial" panose="020B0604020202020204" pitchFamily="34" charset="0"/>
              <a:cs typeface="Arial" panose="020B0604020202020204" pitchFamily="34" charset="0"/>
            </a:endParaRPr>
          </a:p>
          <a:p>
            <a:pPr marL="417145" marR="201341" indent="-342900" defTabSz="1812066">
              <a:lnSpc>
                <a:spcPct val="129800"/>
              </a:lnSpc>
              <a:spcBef>
                <a:spcPts val="595"/>
              </a:spcBef>
              <a:buFont typeface="Arial" panose="020B0604020202020204" pitchFamily="34" charset="0"/>
              <a:buChar char="•"/>
              <a:tabLst>
                <a:tab pos="347313" algn="l"/>
              </a:tabLst>
            </a:pPr>
            <a:r>
              <a:rPr sz="2000" kern="0" dirty="0">
                <a:latin typeface="Arial" panose="020B0604020202020204" pitchFamily="34" charset="0"/>
                <a:cs typeface="Arial" panose="020B0604020202020204" pitchFamily="34" charset="0"/>
              </a:rPr>
              <a:t>The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remainder</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variability</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explained</a:t>
            </a:r>
            <a:r>
              <a:rPr sz="2000" kern="0" spc="16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59"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variables</a:t>
            </a:r>
            <a:r>
              <a:rPr sz="2000" kern="0" spc="168" dirty="0">
                <a:latin typeface="Arial" panose="020B0604020202020204" pitchFamily="34" charset="0"/>
                <a:cs typeface="Arial" panose="020B0604020202020204" pitchFamily="34" charset="0"/>
              </a:rPr>
              <a:t> </a:t>
            </a:r>
            <a:r>
              <a:rPr sz="2000" kern="0" spc="-50" dirty="0">
                <a:latin typeface="Arial" panose="020B0604020202020204" pitchFamily="34" charset="0"/>
                <a:cs typeface="Arial" panose="020B0604020202020204" pitchFamily="34" charset="0"/>
              </a:rPr>
              <a:t>not </a:t>
            </a:r>
            <a:r>
              <a:rPr sz="2000" kern="0" dirty="0">
                <a:latin typeface="Arial" panose="020B0604020202020204" pitchFamily="34" charset="0"/>
                <a:cs typeface="Arial" panose="020B0604020202020204" pitchFamily="34" charset="0"/>
              </a:rPr>
              <a:t>included</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model</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or</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by</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inherent</a:t>
            </a:r>
            <a:r>
              <a:rPr sz="2000" kern="0" spc="18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randomness</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a:t>
            </a:r>
            <a:r>
              <a:rPr sz="2000" kern="0" spc="178"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178"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data.</a:t>
            </a:r>
            <a:endParaRPr sz="2000" kern="0" dirty="0">
              <a:latin typeface="Arial" panose="020B0604020202020204" pitchFamily="34" charset="0"/>
              <a:cs typeface="Arial" panose="020B0604020202020204" pitchFamily="34" charset="0"/>
            </a:endParaRPr>
          </a:p>
          <a:p>
            <a:pPr marL="418403" indent="-342900" defTabSz="1812066">
              <a:spcBef>
                <a:spcPts val="1100"/>
              </a:spcBef>
              <a:buFont typeface="Arial" panose="020B0604020202020204" pitchFamily="34" charset="0"/>
              <a:buChar char="•"/>
              <a:tabLst>
                <a:tab pos="344796" algn="l"/>
              </a:tabLst>
            </a:pPr>
            <a:r>
              <a:rPr sz="2000" kern="0" dirty="0">
                <a:latin typeface="Arial" panose="020B0604020202020204" pitchFamily="34" charset="0"/>
                <a:cs typeface="Arial" panose="020B0604020202020204" pitchFamily="34" charset="0"/>
              </a:rPr>
              <a:t>For</a:t>
            </a:r>
            <a:r>
              <a:rPr sz="2000" kern="0" spc="79" dirty="0">
                <a:latin typeface="Arial" panose="020B0604020202020204" pitchFamily="34" charset="0"/>
                <a:cs typeface="Arial" panose="020B0604020202020204" pitchFamily="34" charset="0"/>
              </a:rPr>
              <a:t> </a:t>
            </a:r>
            <a:r>
              <a:rPr lang="en-US" sz="2000" kern="0" dirty="0">
                <a:latin typeface="Arial" panose="020B0604020202020204" pitchFamily="34" charset="0"/>
                <a:cs typeface="Arial" panose="020B0604020202020204" pitchFamily="34" charset="0"/>
              </a:rPr>
              <a:t>example</a:t>
            </a:r>
            <a:r>
              <a:rPr sz="2000" kern="0" dirty="0">
                <a:latin typeface="Arial" panose="020B0604020202020204" pitchFamily="34" charset="0"/>
                <a:cs typeface="Arial" panose="020B0604020202020204" pitchFamily="34" charset="0"/>
              </a:rPr>
              <a:t>,</a:t>
            </a:r>
            <a:r>
              <a:rPr lang="en-US" sz="2000" kern="0" dirty="0">
                <a:latin typeface="Arial" panose="020B0604020202020204" pitchFamily="34" charset="0"/>
                <a:cs typeface="Arial" panose="020B0604020202020204" pitchFamily="34" charset="0"/>
              </a:rPr>
              <a:t> if</a:t>
            </a:r>
            <a:r>
              <a:rPr sz="2000" kern="0" spc="89" dirty="0">
                <a:latin typeface="Arial" panose="020B0604020202020204" pitchFamily="34" charset="0"/>
                <a:cs typeface="Arial" panose="020B0604020202020204" pitchFamily="34" charset="0"/>
              </a:rPr>
              <a:t> </a:t>
            </a:r>
            <a:r>
              <a:rPr sz="2000" i="1" kern="0" dirty="0">
                <a:latin typeface="Arial" panose="020B0604020202020204" pitchFamily="34" charset="0"/>
                <a:cs typeface="Arial" panose="020B0604020202020204" pitchFamily="34" charset="0"/>
              </a:rPr>
              <a:t>R</a:t>
            </a:r>
            <a:r>
              <a:rPr sz="2000" kern="0" baseline="27777" dirty="0">
                <a:latin typeface="Arial" panose="020B0604020202020204" pitchFamily="34" charset="0"/>
                <a:cs typeface="Arial" panose="020B0604020202020204" pitchFamily="34" charset="0"/>
              </a:rPr>
              <a:t>2</a:t>
            </a:r>
            <a:r>
              <a:rPr sz="2000" kern="0" spc="579" baseline="27777"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30" dirty="0">
                <a:latin typeface="Arial" panose="020B0604020202020204" pitchFamily="34" charset="0"/>
                <a:cs typeface="Arial" panose="020B0604020202020204" pitchFamily="34" charset="0"/>
              </a:rPr>
              <a:t> </a:t>
            </a:r>
            <a:r>
              <a:rPr sz="2000" kern="0" spc="-59" dirty="0">
                <a:latin typeface="Arial" panose="020B0604020202020204" pitchFamily="34" charset="0"/>
                <a:cs typeface="Arial" panose="020B0604020202020204" pitchFamily="34" charset="0"/>
              </a:rPr>
              <a:t>(−0.75)</a:t>
            </a:r>
            <a:r>
              <a:rPr sz="2000" kern="0" spc="-87" baseline="27777" dirty="0">
                <a:latin typeface="Arial" panose="020B0604020202020204" pitchFamily="34" charset="0"/>
                <a:cs typeface="Arial" panose="020B0604020202020204" pitchFamily="34" charset="0"/>
              </a:rPr>
              <a:t>2</a:t>
            </a:r>
            <a:r>
              <a:rPr sz="2000" kern="0" spc="563" baseline="27777" dirty="0">
                <a:latin typeface="Arial" panose="020B0604020202020204" pitchFamily="34" charset="0"/>
                <a:cs typeface="Arial" panose="020B0604020202020204" pitchFamily="34" charset="0"/>
              </a:rPr>
              <a:t> </a:t>
            </a:r>
            <a:r>
              <a:rPr sz="2000" kern="0" spc="-10" dirty="0">
                <a:latin typeface="Arial" panose="020B0604020202020204" pitchFamily="34" charset="0"/>
                <a:cs typeface="Arial" panose="020B0604020202020204" pitchFamily="34" charset="0"/>
              </a:rPr>
              <a:t> </a:t>
            </a:r>
            <a:r>
              <a:rPr lang="en-US" sz="2000" kern="0" spc="-10" dirty="0">
                <a:latin typeface="Arial" panose="020B0604020202020204" pitchFamily="34" charset="0"/>
                <a:cs typeface="Arial" panose="020B0604020202020204" pitchFamily="34" charset="0"/>
              </a:rPr>
              <a:t>then R = </a:t>
            </a:r>
            <a:r>
              <a:rPr sz="2000" kern="0" spc="-20" dirty="0">
                <a:latin typeface="Arial" panose="020B0604020202020204" pitchFamily="34" charset="0"/>
                <a:cs typeface="Arial" panose="020B0604020202020204" pitchFamily="34" charset="0"/>
              </a:rPr>
              <a:t>0.56.</a:t>
            </a:r>
            <a:endParaRPr sz="2000" kern="0" dirty="0">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95" y="191810"/>
            <a:ext cx="20063693" cy="390077"/>
          </a:xfrm>
          <a:prstGeom prst="rect">
            <a:avLst/>
          </a:prstGeom>
        </p:spPr>
        <p:txBody>
          <a:bodyPr vert="horz" wrap="square" lIns="0" tIns="23909" rIns="0" bIns="0" rtlCol="0">
            <a:spAutoFit/>
          </a:bodyPr>
          <a:lstStyle/>
          <a:p>
            <a:pPr marL="25168">
              <a:spcBef>
                <a:spcPts val="188"/>
              </a:spcBef>
            </a:pPr>
            <a:r>
              <a:rPr dirty="0"/>
              <a:t>Interpretation</a:t>
            </a:r>
            <a:r>
              <a:rPr spc="258" dirty="0"/>
              <a:t> </a:t>
            </a:r>
            <a:r>
              <a:rPr dirty="0"/>
              <a:t>of</a:t>
            </a:r>
            <a:r>
              <a:rPr spc="258" dirty="0"/>
              <a:t> </a:t>
            </a:r>
            <a:r>
              <a:rPr sz="2378" b="0" i="1" spc="-50" dirty="0">
                <a:latin typeface="Times New Roman"/>
                <a:cs typeface="Times New Roman"/>
              </a:rPr>
              <a:t>R</a:t>
            </a:r>
            <a:r>
              <a:rPr sz="2378" b="0" spc="-73" baseline="31250" dirty="0">
                <a:latin typeface="Palatino Linotype"/>
                <a:cs typeface="Palatino Linotype"/>
              </a:rPr>
              <a:t>2</a:t>
            </a:r>
            <a:endParaRPr sz="2378" baseline="31250" dirty="0">
              <a:latin typeface="Palatino Linotype"/>
              <a:cs typeface="Palatino Linotype"/>
            </a:endParaRPr>
          </a:p>
        </p:txBody>
      </p:sp>
      <p:sp>
        <p:nvSpPr>
          <p:cNvPr id="3" name="object 3"/>
          <p:cNvSpPr/>
          <p:nvPr/>
        </p:nvSpPr>
        <p:spPr>
          <a:xfrm>
            <a:off x="2140884" y="864814"/>
            <a:ext cx="7906202" cy="484464"/>
          </a:xfrm>
          <a:custGeom>
            <a:avLst/>
            <a:gdLst/>
            <a:ahLst/>
            <a:cxnLst/>
            <a:rect l="l" t="t" r="r" b="b"/>
            <a:pathLst>
              <a:path w="3989704" h="24447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93598"/>
                </a:lnTo>
                <a:lnTo>
                  <a:pt x="4013" y="213334"/>
                </a:lnTo>
                <a:lnTo>
                  <a:pt x="14922" y="229489"/>
                </a:lnTo>
                <a:lnTo>
                  <a:pt x="31076" y="240398"/>
                </a:lnTo>
                <a:lnTo>
                  <a:pt x="50812" y="244411"/>
                </a:lnTo>
                <a:lnTo>
                  <a:pt x="3938854" y="244411"/>
                </a:lnTo>
                <a:lnTo>
                  <a:pt x="3958577" y="240398"/>
                </a:lnTo>
                <a:lnTo>
                  <a:pt x="3974731" y="229489"/>
                </a:lnTo>
                <a:lnTo>
                  <a:pt x="3985653" y="213334"/>
                </a:lnTo>
                <a:lnTo>
                  <a:pt x="3989654" y="193598"/>
                </a:lnTo>
                <a:lnTo>
                  <a:pt x="3989654" y="82384"/>
                </a:lnTo>
                <a:lnTo>
                  <a:pt x="3989654" y="50800"/>
                </a:lnTo>
                <a:lnTo>
                  <a:pt x="3989654" y="44424"/>
                </a:lnTo>
                <a:close/>
              </a:path>
            </a:pathLst>
          </a:custGeom>
          <a:solidFill>
            <a:srgbClr val="F9F9F9"/>
          </a:solidFill>
        </p:spPr>
        <p:txBody>
          <a:bodyPr wrap="square" lIns="0" tIns="0" rIns="0" bIns="0" rtlCol="0"/>
          <a:lstStyle/>
          <a:p>
            <a:pPr defTabSz="1812066"/>
            <a:endParaRPr sz="3567" kern="0" dirty="0">
              <a:solidFill>
                <a:sysClr val="windowText" lastClr="000000"/>
              </a:solidFill>
            </a:endParaRPr>
          </a:p>
        </p:txBody>
      </p:sp>
      <p:sp>
        <p:nvSpPr>
          <p:cNvPr id="4" name="object 4"/>
          <p:cNvSpPr txBox="1"/>
          <p:nvPr/>
        </p:nvSpPr>
        <p:spPr>
          <a:xfrm>
            <a:off x="423961" y="1017359"/>
            <a:ext cx="8874043" cy="331919"/>
          </a:xfrm>
          <a:prstGeom prst="rect">
            <a:avLst/>
          </a:prstGeom>
        </p:spPr>
        <p:txBody>
          <a:bodyPr vert="horz" wrap="square" lIns="0" tIns="23909" rIns="0" bIns="0" rtlCol="0">
            <a:spAutoFit/>
          </a:bodyPr>
          <a:lstStyle/>
          <a:p>
            <a:pPr marL="75503" defTabSz="1812066">
              <a:spcBef>
                <a:spcPts val="188"/>
              </a:spcBef>
            </a:pPr>
            <a:r>
              <a:rPr sz="2000" kern="0" dirty="0">
                <a:latin typeface="Arial" panose="020B0604020202020204" pitchFamily="34" charset="0"/>
                <a:cs typeface="Arial" panose="020B0604020202020204" pitchFamily="34" charset="0"/>
              </a:rPr>
              <a:t>Which</a:t>
            </a:r>
            <a:r>
              <a:rPr sz="2000" kern="0" spc="-2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1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2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below</a:t>
            </a:r>
            <a:r>
              <a:rPr sz="2000" kern="0" spc="-1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is</a:t>
            </a:r>
            <a:r>
              <a:rPr sz="2000" kern="0" spc="-1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the</a:t>
            </a:r>
            <a:r>
              <a:rPr sz="2000" kern="0" spc="-2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correct</a:t>
            </a:r>
            <a:r>
              <a:rPr sz="2000" kern="0" spc="-1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interpretation</a:t>
            </a:r>
            <a:r>
              <a:rPr sz="2000" kern="0" spc="-1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of</a:t>
            </a:r>
            <a:r>
              <a:rPr sz="2000" kern="0" spc="-20" dirty="0">
                <a:latin typeface="Arial" panose="020B0604020202020204" pitchFamily="34" charset="0"/>
                <a:cs typeface="Arial" panose="020B0604020202020204" pitchFamily="34" charset="0"/>
              </a:rPr>
              <a:t> </a:t>
            </a:r>
            <a:r>
              <a:rPr sz="2000" i="1" kern="0" dirty="0">
                <a:latin typeface="Arial" panose="020B0604020202020204" pitchFamily="34" charset="0"/>
                <a:cs typeface="Arial" panose="020B0604020202020204" pitchFamily="34" charset="0"/>
              </a:rPr>
              <a:t>R</a:t>
            </a:r>
            <a:r>
              <a:rPr sz="2000" i="1" kern="0" spc="50"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79" dirty="0">
                <a:latin typeface="Arial" panose="020B0604020202020204" pitchFamily="34" charset="0"/>
                <a:cs typeface="Arial" panose="020B0604020202020204" pitchFamily="34" charset="0"/>
              </a:rPr>
              <a:t> </a:t>
            </a:r>
            <a:r>
              <a:rPr sz="2000" kern="0" spc="-99" dirty="0">
                <a:latin typeface="Arial" panose="020B0604020202020204" pitchFamily="34" charset="0"/>
                <a:cs typeface="Arial" panose="020B0604020202020204" pitchFamily="34" charset="0"/>
              </a:rPr>
              <a:t>−0.75,</a:t>
            </a:r>
            <a:r>
              <a:rPr sz="2000" kern="0" spc="-20" dirty="0">
                <a:latin typeface="Arial" panose="020B0604020202020204" pitchFamily="34" charset="0"/>
                <a:cs typeface="Arial" panose="020B0604020202020204" pitchFamily="34" charset="0"/>
              </a:rPr>
              <a:t> </a:t>
            </a:r>
            <a:r>
              <a:rPr sz="2000" i="1" kern="0" dirty="0">
                <a:latin typeface="Arial" panose="020B0604020202020204" pitchFamily="34" charset="0"/>
                <a:cs typeface="Arial" panose="020B0604020202020204" pitchFamily="34" charset="0"/>
              </a:rPr>
              <a:t>R</a:t>
            </a:r>
            <a:r>
              <a:rPr sz="2000" kern="0" baseline="27777" dirty="0">
                <a:latin typeface="Arial" panose="020B0604020202020204" pitchFamily="34" charset="0"/>
                <a:cs typeface="Arial" panose="020B0604020202020204" pitchFamily="34" charset="0"/>
              </a:rPr>
              <a:t>2</a:t>
            </a:r>
            <a:r>
              <a:rPr sz="2000" kern="0" spc="446" baseline="27777" dirty="0">
                <a:latin typeface="Arial" panose="020B0604020202020204" pitchFamily="34" charset="0"/>
                <a:cs typeface="Arial" panose="020B0604020202020204" pitchFamily="34" charset="0"/>
              </a:rPr>
              <a:t> </a:t>
            </a:r>
            <a:r>
              <a:rPr sz="2000" kern="0" dirty="0">
                <a:latin typeface="Arial" panose="020B0604020202020204" pitchFamily="34" charset="0"/>
                <a:cs typeface="Arial" panose="020B0604020202020204" pitchFamily="34" charset="0"/>
              </a:rPr>
              <a:t>=</a:t>
            </a:r>
            <a:r>
              <a:rPr sz="2000" kern="0" spc="-79" dirty="0">
                <a:latin typeface="Arial" panose="020B0604020202020204" pitchFamily="34" charset="0"/>
                <a:cs typeface="Arial" panose="020B0604020202020204" pitchFamily="34" charset="0"/>
              </a:rPr>
              <a:t> </a:t>
            </a:r>
            <a:r>
              <a:rPr sz="2000" kern="0" spc="-20" dirty="0">
                <a:latin typeface="Arial" panose="020B0604020202020204" pitchFamily="34" charset="0"/>
                <a:cs typeface="Arial" panose="020B0604020202020204" pitchFamily="34" charset="0"/>
              </a:rPr>
              <a:t>0.56?</a:t>
            </a:r>
            <a:endParaRPr sz="2000" kern="0" dirty="0">
              <a:latin typeface="Arial" panose="020B0604020202020204" pitchFamily="34" charset="0"/>
              <a:cs typeface="Arial" panose="020B0604020202020204" pitchFamily="34" charset="0"/>
            </a:endParaRPr>
          </a:p>
        </p:txBody>
      </p:sp>
      <p:sp>
        <p:nvSpPr>
          <p:cNvPr id="5" name="object 5"/>
          <p:cNvSpPr txBox="1">
            <a:spLocks noGrp="1"/>
          </p:cNvSpPr>
          <p:nvPr>
            <p:ph type="body" idx="1"/>
          </p:nvPr>
        </p:nvSpPr>
        <p:spPr>
          <a:xfrm>
            <a:off x="279582" y="1624219"/>
            <a:ext cx="10769418" cy="3064153"/>
          </a:xfrm>
          <a:prstGeom prst="rect">
            <a:avLst/>
          </a:prstGeom>
        </p:spPr>
        <p:txBody>
          <a:bodyPr vert="horz" wrap="square" lIns="0" tIns="22650" rIns="0" bIns="0" rtlCol="0">
            <a:spAutoFit/>
          </a:bodyPr>
          <a:lstStyle/>
          <a:p>
            <a:pPr marL="476926" marR="70469" indent="-453017">
              <a:lnSpc>
                <a:spcPct val="129800"/>
              </a:lnSpc>
              <a:spcBef>
                <a:spcPts val="178"/>
              </a:spcBef>
              <a:buAutoNum type="alphaLcParenBoth"/>
              <a:tabLst>
                <a:tab pos="480701" algn="l"/>
              </a:tabLst>
            </a:pPr>
            <a:r>
              <a:rPr sz="2000" dirty="0">
                <a:solidFill>
                  <a:schemeClr val="tx1"/>
                </a:solidFill>
                <a:latin typeface="Arial" panose="020B0604020202020204" pitchFamily="34" charset="0"/>
                <a:cs typeface="Arial" panose="020B0604020202020204" pitchFamily="34" charset="0"/>
              </a:rPr>
              <a:t>56%</a:t>
            </a:r>
            <a:r>
              <a:rPr sz="2000" spc="11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of</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1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variability</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in</a:t>
            </a:r>
            <a:r>
              <a:rPr sz="2000" spc="11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of</a:t>
            </a:r>
            <a:r>
              <a:rPr sz="2000" spc="119" dirty="0">
                <a:solidFill>
                  <a:schemeClr val="tx1"/>
                </a:solidFill>
                <a:latin typeface="Arial" panose="020B0604020202020204" pitchFamily="34" charset="0"/>
                <a:cs typeface="Arial" panose="020B0604020202020204" pitchFamily="34" charset="0"/>
              </a:rPr>
              <a:t> </a:t>
            </a:r>
            <a:r>
              <a:rPr sz="2000" spc="-50" dirty="0">
                <a:solidFill>
                  <a:schemeClr val="tx1"/>
                </a:solidFill>
                <a:latin typeface="Arial" panose="020B0604020202020204" pitchFamily="34" charset="0"/>
                <a:cs typeface="Arial" panose="020B0604020202020204" pitchFamily="34" charset="0"/>
              </a:rPr>
              <a:t>HG</a:t>
            </a:r>
            <a:r>
              <a:rPr lang="en-US" sz="2000" spc="-50"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graduates</a:t>
            </a:r>
            <a:r>
              <a:rPr sz="2000" spc="19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among</a:t>
            </a:r>
            <a:r>
              <a:rPr sz="2000" spc="20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9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51</a:t>
            </a:r>
            <a:r>
              <a:rPr sz="2000" spc="20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states</a:t>
            </a:r>
            <a:r>
              <a:rPr sz="2000" spc="208" dirty="0">
                <a:solidFill>
                  <a:schemeClr val="tx1"/>
                </a:solidFill>
                <a:latin typeface="Arial" panose="020B0604020202020204" pitchFamily="34" charset="0"/>
                <a:cs typeface="Arial" panose="020B0604020202020204" pitchFamily="34" charset="0"/>
              </a:rPr>
              <a:t> </a:t>
            </a:r>
            <a:r>
              <a:rPr sz="2000" spc="-50" dirty="0">
                <a:solidFill>
                  <a:schemeClr val="tx1"/>
                </a:solidFill>
                <a:latin typeface="Arial" panose="020B0604020202020204" pitchFamily="34" charset="0"/>
                <a:cs typeface="Arial" panose="020B0604020202020204" pitchFamily="34" charset="0"/>
              </a:rPr>
              <a:t>is </a:t>
            </a:r>
            <a:r>
              <a:rPr sz="2000" dirty="0">
                <a:solidFill>
                  <a:schemeClr val="tx1"/>
                </a:solidFill>
                <a:latin typeface="Arial" panose="020B0604020202020204" pitchFamily="34" charset="0"/>
                <a:cs typeface="Arial" panose="020B0604020202020204" pitchFamily="34" charset="0"/>
              </a:rPr>
              <a:t>explained</a:t>
            </a:r>
            <a:r>
              <a:rPr sz="2000" spc="14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by</a:t>
            </a:r>
            <a:r>
              <a:rPr sz="2000" spc="14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59" dirty="0">
                <a:solidFill>
                  <a:schemeClr val="tx1"/>
                </a:solidFill>
                <a:latin typeface="Arial" panose="020B0604020202020204" pitchFamily="34" charset="0"/>
                <a:cs typeface="Arial" panose="020B0604020202020204" pitchFamily="34" charset="0"/>
              </a:rPr>
              <a:t> </a:t>
            </a:r>
            <a:r>
              <a:rPr sz="2000" spc="-20" dirty="0">
                <a:solidFill>
                  <a:schemeClr val="tx1"/>
                </a:solidFill>
                <a:latin typeface="Arial" panose="020B0604020202020204" pitchFamily="34" charset="0"/>
                <a:cs typeface="Arial" panose="020B0604020202020204" pitchFamily="34" charset="0"/>
              </a:rPr>
              <a:t>model.</a:t>
            </a:r>
          </a:p>
          <a:p>
            <a:pPr marL="476926" marR="10067" indent="-453017">
              <a:lnSpc>
                <a:spcPct val="129800"/>
              </a:lnSpc>
              <a:spcBef>
                <a:spcPts val="959"/>
              </a:spcBef>
              <a:buAutoNum type="alphaLcParenBoth"/>
              <a:tabLst>
                <a:tab pos="480701" algn="l"/>
              </a:tabLst>
            </a:pPr>
            <a:r>
              <a:rPr sz="2000" dirty="0">
                <a:solidFill>
                  <a:schemeClr val="tx1"/>
                </a:solidFill>
                <a:latin typeface="Arial" panose="020B0604020202020204" pitchFamily="34" charset="0"/>
                <a:cs typeface="Arial" panose="020B0604020202020204" pitchFamily="34" charset="0"/>
              </a:rPr>
              <a:t>56%</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of</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variability</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in</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t>
            </a:r>
            <a:r>
              <a:rPr sz="2000" spc="139" dirty="0">
                <a:solidFill>
                  <a:schemeClr val="tx1"/>
                </a:solidFill>
                <a:latin typeface="Arial" panose="020B0604020202020204" pitchFamily="34" charset="0"/>
                <a:cs typeface="Arial" panose="020B0604020202020204" pitchFamily="34" charset="0"/>
              </a:rPr>
              <a:t> </a:t>
            </a:r>
            <a:r>
              <a:rPr sz="2000" spc="-50" dirty="0">
                <a:solidFill>
                  <a:schemeClr val="tx1"/>
                </a:solidFill>
                <a:latin typeface="Arial" panose="020B0604020202020204" pitchFamily="34" charset="0"/>
                <a:cs typeface="Arial" panose="020B0604020202020204" pitchFamily="34" charset="0"/>
              </a:rPr>
              <a:t>of </a:t>
            </a:r>
            <a:r>
              <a:rPr sz="2000" dirty="0">
                <a:solidFill>
                  <a:schemeClr val="tx1"/>
                </a:solidFill>
                <a:latin typeface="Arial" panose="020B0604020202020204" pitchFamily="34" charset="0"/>
                <a:cs typeface="Arial" panose="020B0604020202020204" pitchFamily="34" charset="0"/>
              </a:rPr>
              <a:t>residents</a:t>
            </a:r>
            <a:r>
              <a:rPr sz="2000" spc="20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living</a:t>
            </a:r>
            <a:r>
              <a:rPr sz="2000" spc="21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in</a:t>
            </a:r>
            <a:r>
              <a:rPr sz="2000" spc="20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poverty</a:t>
            </a:r>
            <a:r>
              <a:rPr sz="2000" spc="21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among</a:t>
            </a:r>
            <a:r>
              <a:rPr sz="2000" spc="208" dirty="0">
                <a:solidFill>
                  <a:schemeClr val="tx1"/>
                </a:solidFill>
                <a:latin typeface="Arial" panose="020B0604020202020204" pitchFamily="34" charset="0"/>
                <a:cs typeface="Arial" panose="020B0604020202020204" pitchFamily="34" charset="0"/>
              </a:rPr>
              <a:t> </a:t>
            </a:r>
            <a:r>
              <a:rPr sz="2000" spc="-50" dirty="0">
                <a:solidFill>
                  <a:schemeClr val="tx1"/>
                </a:solidFill>
                <a:latin typeface="Arial" panose="020B0604020202020204" pitchFamily="34" charset="0"/>
                <a:cs typeface="Arial" panose="020B0604020202020204" pitchFamily="34" charset="0"/>
              </a:rPr>
              <a:t>the</a:t>
            </a:r>
            <a:r>
              <a:rPr lang="en-US" sz="2000" spc="-50"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51</a:t>
            </a:r>
            <a:r>
              <a:rPr sz="2000" spc="13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states</a:t>
            </a:r>
            <a:r>
              <a:rPr sz="2000" spc="13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is</a:t>
            </a:r>
            <a:r>
              <a:rPr sz="2000" spc="14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explained</a:t>
            </a:r>
            <a:r>
              <a:rPr sz="2000" spc="13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by</a:t>
            </a:r>
            <a:r>
              <a:rPr sz="2000" spc="14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39" dirty="0">
                <a:solidFill>
                  <a:schemeClr val="tx1"/>
                </a:solidFill>
                <a:latin typeface="Arial" panose="020B0604020202020204" pitchFamily="34" charset="0"/>
                <a:cs typeface="Arial" panose="020B0604020202020204" pitchFamily="34" charset="0"/>
              </a:rPr>
              <a:t> </a:t>
            </a:r>
            <a:r>
              <a:rPr sz="2000" spc="-20" dirty="0">
                <a:solidFill>
                  <a:schemeClr val="tx1"/>
                </a:solidFill>
                <a:latin typeface="Arial" panose="020B0604020202020204" pitchFamily="34" charset="0"/>
                <a:cs typeface="Arial" panose="020B0604020202020204" pitchFamily="34" charset="0"/>
              </a:rPr>
              <a:t>model.</a:t>
            </a:r>
          </a:p>
          <a:p>
            <a:pPr marL="476926" marR="181207" indent="-437914">
              <a:lnSpc>
                <a:spcPct val="129900"/>
              </a:lnSpc>
              <a:spcBef>
                <a:spcPts val="595"/>
              </a:spcBef>
              <a:buAutoNum type="alphaLcParenBoth"/>
              <a:tabLst>
                <a:tab pos="480701" algn="l"/>
              </a:tabLst>
            </a:pPr>
            <a:r>
              <a:rPr sz="2000" dirty="0">
                <a:solidFill>
                  <a:schemeClr val="tx1"/>
                </a:solidFill>
                <a:latin typeface="Arial" panose="020B0604020202020204" pitchFamily="34" charset="0"/>
                <a:cs typeface="Arial" panose="020B0604020202020204" pitchFamily="34" charset="0"/>
              </a:rPr>
              <a:t>56%</a:t>
            </a:r>
            <a:r>
              <a:rPr sz="2000" spc="10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of</a:t>
            </a:r>
            <a:r>
              <a:rPr sz="2000" spc="11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1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time</a:t>
            </a:r>
            <a:r>
              <a:rPr sz="2000" spc="10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t>
            </a:r>
            <a:r>
              <a:rPr sz="2000" spc="11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HS</a:t>
            </a:r>
            <a:r>
              <a:rPr sz="2000" spc="119" dirty="0">
                <a:solidFill>
                  <a:schemeClr val="tx1"/>
                </a:solidFill>
                <a:latin typeface="Arial" panose="020B0604020202020204" pitchFamily="34" charset="0"/>
                <a:cs typeface="Arial" panose="020B0604020202020204" pitchFamily="34" charset="0"/>
              </a:rPr>
              <a:t> </a:t>
            </a:r>
            <a:r>
              <a:rPr sz="2000" spc="-20" dirty="0">
                <a:solidFill>
                  <a:schemeClr val="tx1"/>
                </a:solidFill>
                <a:latin typeface="Arial" panose="020B0604020202020204" pitchFamily="34" charset="0"/>
                <a:cs typeface="Arial" panose="020B0604020202020204" pitchFamily="34" charset="0"/>
              </a:rPr>
              <a:t>graduates </a:t>
            </a:r>
            <a:r>
              <a:rPr sz="2000" dirty="0">
                <a:solidFill>
                  <a:schemeClr val="tx1"/>
                </a:solidFill>
                <a:latin typeface="Arial" panose="020B0604020202020204" pitchFamily="34" charset="0"/>
                <a:cs typeface="Arial" panose="020B0604020202020204" pitchFamily="34" charset="0"/>
              </a:rPr>
              <a:t>predict</a:t>
            </a:r>
            <a:r>
              <a:rPr sz="2000" spc="15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t>
            </a:r>
            <a:r>
              <a:rPr sz="2000" spc="15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living</a:t>
            </a:r>
            <a:r>
              <a:rPr sz="2000" spc="15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in</a:t>
            </a:r>
            <a:r>
              <a:rPr sz="2000" spc="15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poverty</a:t>
            </a:r>
            <a:r>
              <a:rPr sz="2000" spc="159" dirty="0">
                <a:solidFill>
                  <a:schemeClr val="tx1"/>
                </a:solidFill>
                <a:latin typeface="Arial" panose="020B0604020202020204" pitchFamily="34" charset="0"/>
                <a:cs typeface="Arial" panose="020B0604020202020204" pitchFamily="34" charset="0"/>
              </a:rPr>
              <a:t> </a:t>
            </a:r>
            <a:r>
              <a:rPr sz="2000" spc="-20" dirty="0">
                <a:solidFill>
                  <a:schemeClr val="tx1"/>
                </a:solidFill>
                <a:latin typeface="Arial" panose="020B0604020202020204" pitchFamily="34" charset="0"/>
                <a:cs typeface="Arial" panose="020B0604020202020204" pitchFamily="34" charset="0"/>
              </a:rPr>
              <a:t>correctly.</a:t>
            </a:r>
          </a:p>
          <a:p>
            <a:pPr marL="476926" marR="10067" indent="-453017">
              <a:lnSpc>
                <a:spcPct val="129800"/>
              </a:lnSpc>
              <a:spcBef>
                <a:spcPts val="595"/>
              </a:spcBef>
              <a:buAutoNum type="alphaLcParenBoth"/>
              <a:tabLst>
                <a:tab pos="480701" algn="l"/>
              </a:tabLst>
            </a:pPr>
            <a:r>
              <a:rPr sz="2000" dirty="0">
                <a:solidFill>
                  <a:schemeClr val="tx1"/>
                </a:solidFill>
                <a:latin typeface="Arial" panose="020B0604020202020204" pitchFamily="34" charset="0"/>
                <a:cs typeface="Arial" panose="020B0604020202020204" pitchFamily="34" charset="0"/>
              </a:rPr>
              <a:t>75%</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of</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variability</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in</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2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t>
            </a:r>
            <a:r>
              <a:rPr sz="2000" spc="139" dirty="0">
                <a:solidFill>
                  <a:schemeClr val="tx1"/>
                </a:solidFill>
                <a:latin typeface="Arial" panose="020B0604020202020204" pitchFamily="34" charset="0"/>
                <a:cs typeface="Arial" panose="020B0604020202020204" pitchFamily="34" charset="0"/>
              </a:rPr>
              <a:t> </a:t>
            </a:r>
            <a:r>
              <a:rPr sz="2000" spc="-50" dirty="0">
                <a:solidFill>
                  <a:schemeClr val="tx1"/>
                </a:solidFill>
                <a:latin typeface="Arial" panose="020B0604020202020204" pitchFamily="34" charset="0"/>
                <a:cs typeface="Arial" panose="020B0604020202020204" pitchFamily="34" charset="0"/>
              </a:rPr>
              <a:t>of </a:t>
            </a:r>
            <a:r>
              <a:rPr sz="2000" dirty="0">
                <a:solidFill>
                  <a:schemeClr val="tx1"/>
                </a:solidFill>
                <a:latin typeface="Arial" panose="020B0604020202020204" pitchFamily="34" charset="0"/>
                <a:cs typeface="Arial" panose="020B0604020202020204" pitchFamily="34" charset="0"/>
              </a:rPr>
              <a:t>residents</a:t>
            </a:r>
            <a:r>
              <a:rPr sz="2000" spc="20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living</a:t>
            </a:r>
            <a:r>
              <a:rPr sz="2000" spc="21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in</a:t>
            </a:r>
            <a:r>
              <a:rPr sz="2000" spc="20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poverty</a:t>
            </a:r>
            <a:r>
              <a:rPr sz="2000" spc="218"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among</a:t>
            </a:r>
            <a:r>
              <a:rPr sz="2000" spc="208" dirty="0">
                <a:solidFill>
                  <a:schemeClr val="tx1"/>
                </a:solidFill>
                <a:latin typeface="Arial" panose="020B0604020202020204" pitchFamily="34" charset="0"/>
                <a:cs typeface="Arial" panose="020B0604020202020204" pitchFamily="34" charset="0"/>
              </a:rPr>
              <a:t> </a:t>
            </a:r>
            <a:r>
              <a:rPr sz="2000" spc="-50" dirty="0">
                <a:solidFill>
                  <a:schemeClr val="tx1"/>
                </a:solidFill>
                <a:latin typeface="Arial" panose="020B0604020202020204" pitchFamily="34" charset="0"/>
                <a:cs typeface="Arial" panose="020B0604020202020204" pitchFamily="34" charset="0"/>
              </a:rPr>
              <a:t>the </a:t>
            </a:r>
            <a:r>
              <a:rPr sz="2000" dirty="0">
                <a:solidFill>
                  <a:schemeClr val="tx1"/>
                </a:solidFill>
                <a:latin typeface="Arial" panose="020B0604020202020204" pitchFamily="34" charset="0"/>
                <a:cs typeface="Arial" panose="020B0604020202020204" pitchFamily="34" charset="0"/>
              </a:rPr>
              <a:t>51</a:t>
            </a:r>
            <a:r>
              <a:rPr sz="2000" spc="13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states</a:t>
            </a:r>
            <a:r>
              <a:rPr sz="2000" spc="13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is</a:t>
            </a:r>
            <a:r>
              <a:rPr sz="2000" spc="14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explained</a:t>
            </a:r>
            <a:r>
              <a:rPr sz="2000" spc="13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by</a:t>
            </a:r>
            <a:r>
              <a:rPr sz="2000" spc="149" dirty="0">
                <a:solidFill>
                  <a:schemeClr val="tx1"/>
                </a:solidFill>
                <a:latin typeface="Arial" panose="020B0604020202020204" pitchFamily="34" charset="0"/>
                <a:cs typeface="Arial" panose="020B0604020202020204" pitchFamily="34" charset="0"/>
              </a:rPr>
              <a:t> </a:t>
            </a:r>
            <a:r>
              <a:rPr sz="2000" dirty="0">
                <a:solidFill>
                  <a:schemeClr val="tx1"/>
                </a:solidFill>
                <a:latin typeface="Arial" panose="020B0604020202020204" pitchFamily="34" charset="0"/>
                <a:cs typeface="Arial" panose="020B0604020202020204" pitchFamily="34" charset="0"/>
              </a:rPr>
              <a:t>the</a:t>
            </a:r>
            <a:r>
              <a:rPr sz="2000" spc="139" dirty="0">
                <a:solidFill>
                  <a:schemeClr val="tx1"/>
                </a:solidFill>
                <a:latin typeface="Arial" panose="020B0604020202020204" pitchFamily="34" charset="0"/>
                <a:cs typeface="Arial" panose="020B0604020202020204" pitchFamily="34" charset="0"/>
              </a:rPr>
              <a:t> </a:t>
            </a:r>
            <a:r>
              <a:rPr sz="2000" spc="-20" dirty="0">
                <a:solidFill>
                  <a:schemeClr val="tx1"/>
                </a:solidFill>
                <a:latin typeface="Arial" panose="020B0604020202020204" pitchFamily="34" charset="0"/>
                <a:cs typeface="Arial" panose="020B0604020202020204" pitchFamily="34" charset="0"/>
              </a:rPr>
              <a:t>model.</a:t>
            </a:r>
          </a:p>
        </p:txBody>
      </p:sp>
      <p:sp>
        <p:nvSpPr>
          <p:cNvPr id="11" name="object 11"/>
          <p:cNvSpPr txBox="1"/>
          <p:nvPr/>
        </p:nvSpPr>
        <p:spPr>
          <a:xfrm>
            <a:off x="10198342" y="6338937"/>
            <a:ext cx="262995" cy="246441"/>
          </a:xfrm>
          <a:prstGeom prst="rect">
            <a:avLst/>
          </a:prstGeom>
        </p:spPr>
        <p:txBody>
          <a:bodyPr vert="horz" wrap="square" lIns="0" tIns="17617" rIns="0" bIns="0" rtlCol="0">
            <a:spAutoFit/>
          </a:bodyPr>
          <a:lstStyle/>
          <a:p>
            <a:pPr marL="25168" defTabSz="1812066">
              <a:spcBef>
                <a:spcPts val="139"/>
              </a:spcBef>
            </a:pPr>
            <a:r>
              <a:rPr sz="1486" kern="0" spc="-50" dirty="0">
                <a:solidFill>
                  <a:srgbClr val="22373A"/>
                </a:solidFill>
                <a:latin typeface="Arial"/>
                <a:cs typeface="Arial"/>
              </a:rPr>
              <a:t>34</a:t>
            </a:r>
            <a:endParaRPr sz="1486" kern="0">
              <a:solidFill>
                <a:sysClr val="windowText" lastClr="000000"/>
              </a:solidFill>
              <a:latin typeface="Arial"/>
              <a:cs typeface="Arial"/>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1DC2-2032-A25B-3AFD-4AF946341474}"/>
              </a:ext>
            </a:extLst>
          </p:cNvPr>
          <p:cNvSpPr>
            <a:spLocks noGrp="1"/>
          </p:cNvSpPr>
          <p:nvPr>
            <p:ph type="title"/>
          </p:nvPr>
        </p:nvSpPr>
        <p:spPr>
          <a:xfrm>
            <a:off x="178566" y="156148"/>
            <a:ext cx="10515600" cy="558009"/>
          </a:xfrm>
        </p:spPr>
        <p:txBody>
          <a:bodyPr>
            <a:normAutofit/>
          </a:bodyPr>
          <a:lstStyle/>
          <a:p>
            <a:r>
              <a:rPr lang="en-US" sz="3600" dirty="0">
                <a:latin typeface="Arial" panose="020B0604020202020204" pitchFamily="34" charset="0"/>
                <a:cs typeface="Arial" panose="020B0604020202020204" pitchFamily="34" charset="0"/>
              </a:rPr>
              <a:t>What do the regression parameters estimate?</a:t>
            </a:r>
          </a:p>
        </p:txBody>
      </p:sp>
      <p:pic>
        <p:nvPicPr>
          <p:cNvPr id="4" name="Content Placeholder 11">
            <a:extLst>
              <a:ext uri="{FF2B5EF4-FFF2-40B4-BE49-F238E27FC236}">
                <a16:creationId xmlns:a16="http://schemas.microsoft.com/office/drawing/2014/main" id="{33D78F1E-D3E4-8E56-B11D-09A54B659BEB}"/>
              </a:ext>
            </a:extLst>
          </p:cNvPr>
          <p:cNvPicPr>
            <a:picLocks noGrp="1" noChangeAspect="1"/>
          </p:cNvPicPr>
          <p:nvPr>
            <p:ph idx="1"/>
          </p:nvPr>
        </p:nvPicPr>
        <p:blipFill>
          <a:blip r:embed="rId3"/>
          <a:stretch>
            <a:fillRect/>
          </a:stretch>
        </p:blipFill>
        <p:spPr>
          <a:xfrm>
            <a:off x="625486" y="1767750"/>
            <a:ext cx="7986079" cy="5182956"/>
          </a:xfrm>
          <a:noFill/>
        </p:spPr>
      </p:pic>
      <p:cxnSp>
        <p:nvCxnSpPr>
          <p:cNvPr id="6" name="Straight Connector 5">
            <a:extLst>
              <a:ext uri="{FF2B5EF4-FFF2-40B4-BE49-F238E27FC236}">
                <a16:creationId xmlns:a16="http://schemas.microsoft.com/office/drawing/2014/main" id="{0F10705F-47F6-6388-C3D3-EE9600B0359D}"/>
              </a:ext>
            </a:extLst>
          </p:cNvPr>
          <p:cNvCxnSpPr/>
          <p:nvPr/>
        </p:nvCxnSpPr>
        <p:spPr>
          <a:xfrm>
            <a:off x="1273216" y="2801073"/>
            <a:ext cx="6366076" cy="3009417"/>
          </a:xfrm>
          <a:prstGeom prst="line">
            <a:avLst/>
          </a:prstGeom>
          <a:ln cmpd="sng">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B42D71D-F33D-7F84-84D8-B9D7719AC84A}"/>
                  </a:ext>
                </a:extLst>
              </p:cNvPr>
              <p:cNvSpPr txBox="1"/>
              <p:nvPr/>
            </p:nvSpPr>
            <p:spPr>
              <a:xfrm>
                <a:off x="1923035" y="2662573"/>
                <a:ext cx="2120389" cy="276999"/>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𝑌</m:t>
                        </m:r>
                      </m:sub>
                    </m:sSub>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oMath>
                </a14:m>
                <a:r>
                  <a:rPr lang="en-US" dirty="0"/>
                  <a:t>+</a:t>
                </a: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rPr>
                      <m:t>𝑋</m:t>
                    </m:r>
                  </m:oMath>
                </a14:m>
                <a:endParaRPr lang="en-US" dirty="0"/>
              </a:p>
            </p:txBody>
          </p:sp>
        </mc:Choice>
        <mc:Fallback xmlns="">
          <p:sp>
            <p:nvSpPr>
              <p:cNvPr id="7" name="TextBox 6">
                <a:extLst>
                  <a:ext uri="{FF2B5EF4-FFF2-40B4-BE49-F238E27FC236}">
                    <a16:creationId xmlns:a16="http://schemas.microsoft.com/office/drawing/2014/main" id="{5B42D71D-F33D-7F84-84D8-B9D7719AC84A}"/>
                  </a:ext>
                </a:extLst>
              </p:cNvPr>
              <p:cNvSpPr txBox="1">
                <a:spLocks noRot="1" noChangeAspect="1" noMove="1" noResize="1" noEditPoints="1" noAdjustHandles="1" noChangeArrowheads="1" noChangeShapeType="1" noTextEdit="1"/>
              </p:cNvSpPr>
              <p:nvPr/>
            </p:nvSpPr>
            <p:spPr>
              <a:xfrm>
                <a:off x="1923035" y="2662573"/>
                <a:ext cx="2120389" cy="276999"/>
              </a:xfrm>
              <a:prstGeom prst="rect">
                <a:avLst/>
              </a:prstGeom>
              <a:blipFill>
                <a:blip r:embed="rId4"/>
                <a:stretch>
                  <a:fillRect l="-4167" t="-21739" r="-2381" b="-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1F03F90-41B1-AC89-A545-18A53D13C0B5}"/>
                  </a:ext>
                </a:extLst>
              </p:cNvPr>
              <p:cNvSpPr txBox="1"/>
              <p:nvPr/>
            </p:nvSpPr>
            <p:spPr>
              <a:xfrm>
                <a:off x="4158206" y="4821384"/>
                <a:ext cx="2809753" cy="384144"/>
              </a:xfrm>
              <a:prstGeom prst="rect">
                <a:avLst/>
              </a:prstGeom>
              <a:noFill/>
            </p:spPr>
            <p:txBody>
              <a:bodyPr wrap="square">
                <a:spAutoFit/>
              </a:bodyPr>
              <a:lstStyle/>
              <a:p>
                <a:pPr>
                  <a:defRPr/>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𝑏</m:t>
                              </m:r>
                            </m:e>
                          </m:acc>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𝑏</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𝑥</m:t>
                      </m:r>
                    </m:oMath>
                  </m:oMathPara>
                </a14:m>
                <a:endParaRPr lang="en-US" dirty="0"/>
              </a:p>
            </p:txBody>
          </p:sp>
        </mc:Choice>
        <mc:Fallback xmlns="">
          <p:sp>
            <p:nvSpPr>
              <p:cNvPr id="9" name="TextBox 8">
                <a:extLst>
                  <a:ext uri="{FF2B5EF4-FFF2-40B4-BE49-F238E27FC236}">
                    <a16:creationId xmlns:a16="http://schemas.microsoft.com/office/drawing/2014/main" id="{21F03F90-41B1-AC89-A545-18A53D13C0B5}"/>
                  </a:ext>
                </a:extLst>
              </p:cNvPr>
              <p:cNvSpPr txBox="1">
                <a:spLocks noRot="1" noChangeAspect="1" noMove="1" noResize="1" noEditPoints="1" noAdjustHandles="1" noChangeArrowheads="1" noChangeShapeType="1" noTextEdit="1"/>
              </p:cNvSpPr>
              <p:nvPr/>
            </p:nvSpPr>
            <p:spPr>
              <a:xfrm>
                <a:off x="4158206" y="4821384"/>
                <a:ext cx="2809753" cy="384144"/>
              </a:xfrm>
              <a:prstGeom prst="rect">
                <a:avLst/>
              </a:prstGeom>
              <a:blipFill>
                <a:blip r:embed="rId5"/>
                <a:stretch>
                  <a:fillRect t="-3226" b="-6452"/>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125BA0AA-712D-7992-CA0D-77DBFCCAFBBA}"/>
              </a:ext>
            </a:extLst>
          </p:cNvPr>
          <p:cNvSpPr txBox="1"/>
          <p:nvPr/>
        </p:nvSpPr>
        <p:spPr>
          <a:xfrm>
            <a:off x="3381584" y="962649"/>
            <a:ext cx="2473882" cy="646331"/>
          </a:xfrm>
          <a:prstGeom prst="rect">
            <a:avLst/>
          </a:prstGeom>
          <a:noFill/>
        </p:spPr>
        <p:txBody>
          <a:bodyPr wrap="none" rtlCol="0">
            <a:spAutoFit/>
          </a:bodyPr>
          <a:lstStyle/>
          <a:p>
            <a:r>
              <a:rPr lang="en-US" dirty="0"/>
              <a:t>Solid line = sample</a:t>
            </a:r>
          </a:p>
          <a:p>
            <a:r>
              <a:rPr lang="en-US" dirty="0"/>
              <a:t>Dotted line = population</a:t>
            </a:r>
          </a:p>
        </p:txBody>
      </p:sp>
    </p:spTree>
    <p:extLst>
      <p:ext uri="{BB962C8B-B14F-4D97-AF65-F5344CB8AC3E}">
        <p14:creationId xmlns:p14="http://schemas.microsoft.com/office/powerpoint/2010/main" val="2989999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8194" name="Rectangle 2">
            <a:extLst>
              <a:ext uri="{FF2B5EF4-FFF2-40B4-BE49-F238E27FC236}">
                <a16:creationId xmlns:a16="http://schemas.microsoft.com/office/drawing/2014/main" id="{898E72F4-F025-446E-84A3-F88D6ABA068C}"/>
              </a:ext>
            </a:extLst>
          </p:cNvPr>
          <p:cNvSpPr>
            <a:spLocks noGrp="1" noChangeArrowheads="1"/>
          </p:cNvSpPr>
          <p:nvPr>
            <p:ph type="title" idx="4294967295"/>
          </p:nvPr>
        </p:nvSpPr>
        <p:spPr>
          <a:xfrm>
            <a:off x="170764" y="93598"/>
            <a:ext cx="10515600" cy="672353"/>
          </a:xfrm>
          <a:ln>
            <a:noFill/>
          </a:ln>
        </p:spPr>
        <p:txBody>
          <a:bodyPr>
            <a:normAutofit/>
          </a:bodyPr>
          <a:lstStyle/>
          <a:p>
            <a:pPr algn="l"/>
            <a:r>
              <a:rPr lang="en-US" altLang="en-US" sz="3600" b="0" dirty="0">
                <a:solidFill>
                  <a:schemeClr val="tx1"/>
                </a:solidFill>
                <a:latin typeface="Arial" panose="020B0604020202020204" pitchFamily="34" charset="0"/>
                <a:cs typeface="Arial" panose="020B0604020202020204" pitchFamily="34" charset="0"/>
              </a:rPr>
              <a:t>Estimating the Coefficients</a:t>
            </a:r>
          </a:p>
        </p:txBody>
      </p:sp>
      <p:sp>
        <p:nvSpPr>
          <p:cNvPr id="8195" name="Rectangle 3">
            <a:extLst>
              <a:ext uri="{FF2B5EF4-FFF2-40B4-BE49-F238E27FC236}">
                <a16:creationId xmlns:a16="http://schemas.microsoft.com/office/drawing/2014/main" id="{3C7DAE65-B90A-4087-AD06-B7EFBCD11183}"/>
              </a:ext>
            </a:extLst>
          </p:cNvPr>
          <p:cNvSpPr>
            <a:spLocks noGrp="1" noChangeArrowheads="1"/>
          </p:cNvSpPr>
          <p:nvPr>
            <p:ph type="body" idx="4294967295"/>
          </p:nvPr>
        </p:nvSpPr>
        <p:spPr>
          <a:xfrm>
            <a:off x="200131" y="1078844"/>
            <a:ext cx="5053013" cy="1905000"/>
          </a:xfrm>
          <a:ln>
            <a:noFill/>
          </a:ln>
        </p:spPr>
        <p:txBody>
          <a:bodyPr>
            <a:normAutofit/>
          </a:bodyPr>
          <a:lstStyle/>
          <a:p>
            <a:r>
              <a:rPr lang="en-US" altLang="en-US" sz="2000" dirty="0">
                <a:solidFill>
                  <a:schemeClr val="tx1"/>
                </a:solidFill>
                <a:latin typeface="Arial" panose="020B0604020202020204" pitchFamily="34" charset="0"/>
                <a:cs typeface="Arial" panose="020B0604020202020204" pitchFamily="34" charset="0"/>
              </a:rPr>
              <a:t>The coefficients are determined by </a:t>
            </a:r>
          </a:p>
          <a:p>
            <a:pPr marL="571500" lvl="1" indent="-285750">
              <a:buFont typeface="Arial" panose="020B0604020202020204" pitchFamily="34" charset="0"/>
              <a:buChar char="•"/>
            </a:pPr>
            <a:r>
              <a:rPr lang="en-US" altLang="en-US" sz="1800" dirty="0">
                <a:solidFill>
                  <a:schemeClr val="tx1"/>
                </a:solidFill>
                <a:latin typeface="Arial" panose="020B0604020202020204" pitchFamily="34" charset="0"/>
                <a:cs typeface="Arial" panose="020B0604020202020204" pitchFamily="34" charset="0"/>
              </a:rPr>
              <a:t>Drawing a sample from the population of interest,</a:t>
            </a:r>
          </a:p>
          <a:p>
            <a:pPr marL="571500" lvl="1" indent="-285750">
              <a:buFont typeface="Arial" panose="020B0604020202020204" pitchFamily="34" charset="0"/>
              <a:buChar char="•"/>
            </a:pPr>
            <a:r>
              <a:rPr lang="en-US" altLang="en-US" sz="1800" dirty="0">
                <a:solidFill>
                  <a:schemeClr val="tx1"/>
                </a:solidFill>
                <a:latin typeface="Arial" panose="020B0604020202020204" pitchFamily="34" charset="0"/>
                <a:cs typeface="Arial" panose="020B0604020202020204" pitchFamily="34" charset="0"/>
              </a:rPr>
              <a:t>Calculating sample statistics.</a:t>
            </a:r>
          </a:p>
          <a:p>
            <a:pPr marL="571500" lvl="1" indent="-285750">
              <a:buFont typeface="Arial" panose="020B0604020202020204" pitchFamily="34" charset="0"/>
              <a:buChar char="•"/>
            </a:pPr>
            <a:r>
              <a:rPr lang="en-US" altLang="en-US" sz="1800" dirty="0">
                <a:solidFill>
                  <a:schemeClr val="tx1"/>
                </a:solidFill>
                <a:latin typeface="Arial" panose="020B0604020202020204" pitchFamily="34" charset="0"/>
                <a:cs typeface="Arial" panose="020B0604020202020204" pitchFamily="34" charset="0"/>
              </a:rPr>
              <a:t>Estimating a straight line that cuts into the data.</a:t>
            </a:r>
          </a:p>
        </p:txBody>
      </p:sp>
      <p:sp>
        <p:nvSpPr>
          <p:cNvPr id="8220" name="Text Box 28">
            <a:extLst>
              <a:ext uri="{FF2B5EF4-FFF2-40B4-BE49-F238E27FC236}">
                <a16:creationId xmlns:a16="http://schemas.microsoft.com/office/drawing/2014/main" id="{28E18FEA-2677-4911-B0DD-9AD084C03CCE}"/>
              </a:ext>
            </a:extLst>
          </p:cNvPr>
          <p:cNvSpPr txBox="1">
            <a:spLocks noChangeArrowheads="1"/>
          </p:cNvSpPr>
          <p:nvPr/>
        </p:nvSpPr>
        <p:spPr bwMode="auto">
          <a:xfrm>
            <a:off x="5820424" y="1009724"/>
            <a:ext cx="4714874" cy="707886"/>
          </a:xfrm>
          <a:prstGeom prst="rect">
            <a:avLst/>
          </a:prstGeom>
          <a:solidFill>
            <a:srgbClr val="D1D1D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Question: What should be </a:t>
            </a:r>
            <a:b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considered a good line?</a:t>
            </a:r>
          </a:p>
        </p:txBody>
      </p:sp>
      <p:sp>
        <p:nvSpPr>
          <p:cNvPr id="26" name="Freeform 4">
            <a:extLst>
              <a:ext uri="{FF2B5EF4-FFF2-40B4-BE49-F238E27FC236}">
                <a16:creationId xmlns:a16="http://schemas.microsoft.com/office/drawing/2014/main" id="{A371CDE9-80D0-45BD-9304-F4050E975A08}"/>
              </a:ext>
            </a:extLst>
          </p:cNvPr>
          <p:cNvSpPr>
            <a:spLocks/>
          </p:cNvSpPr>
          <p:nvPr/>
        </p:nvSpPr>
        <p:spPr bwMode="auto">
          <a:xfrm>
            <a:off x="5942593" y="1880533"/>
            <a:ext cx="4335141" cy="2224086"/>
          </a:xfrm>
          <a:custGeom>
            <a:avLst/>
            <a:gdLst>
              <a:gd name="T0" fmla="*/ 0 w 2112"/>
              <a:gd name="T1" fmla="*/ 0 h 1248"/>
              <a:gd name="T2" fmla="*/ 0 w 2112"/>
              <a:gd name="T3" fmla="*/ 1248 h 1248"/>
              <a:gd name="T4" fmla="*/ 2112 w 2112"/>
              <a:gd name="T5" fmla="*/ 1248 h 1248"/>
            </a:gdLst>
            <a:ahLst/>
            <a:cxnLst>
              <a:cxn ang="0">
                <a:pos x="T0" y="T1"/>
              </a:cxn>
              <a:cxn ang="0">
                <a:pos x="T2" y="T3"/>
              </a:cxn>
              <a:cxn ang="0">
                <a:pos x="T4" y="T5"/>
              </a:cxn>
            </a:cxnLst>
            <a:rect l="0" t="0" r="r" b="b"/>
            <a:pathLst>
              <a:path w="2112" h="1248">
                <a:moveTo>
                  <a:pt x="0" y="0"/>
                </a:moveTo>
                <a:lnTo>
                  <a:pt x="0" y="1248"/>
                </a:lnTo>
                <a:lnTo>
                  <a:pt x="2112" y="1248"/>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27" name="Text Box 7">
            <a:extLst>
              <a:ext uri="{FF2B5EF4-FFF2-40B4-BE49-F238E27FC236}">
                <a16:creationId xmlns:a16="http://schemas.microsoft.com/office/drawing/2014/main" id="{D4160A6A-9AC2-499A-8D01-28BEC12B83E9}"/>
              </a:ext>
            </a:extLst>
          </p:cNvPr>
          <p:cNvSpPr txBox="1">
            <a:spLocks noChangeArrowheads="1"/>
          </p:cNvSpPr>
          <p:nvPr/>
        </p:nvSpPr>
        <p:spPr bwMode="auto">
          <a:xfrm>
            <a:off x="6155318" y="2007532"/>
            <a:ext cx="315913"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B0F0"/>
                </a:solidFill>
                <a:effectLst/>
                <a:uLnTx/>
                <a:uFillTx/>
                <a:latin typeface="Wingdings" panose="05000000000000000000" pitchFamily="2" charset="2"/>
                <a:ea typeface="+mn-ea"/>
                <a:cs typeface="+mn-cs"/>
              </a:rPr>
              <a:t>w</a:t>
            </a:r>
          </a:p>
        </p:txBody>
      </p:sp>
      <p:sp>
        <p:nvSpPr>
          <p:cNvPr id="28" name="Text Box 8">
            <a:extLst>
              <a:ext uri="{FF2B5EF4-FFF2-40B4-BE49-F238E27FC236}">
                <a16:creationId xmlns:a16="http://schemas.microsoft.com/office/drawing/2014/main" id="{E7EE1DAE-8305-4624-919C-AAF6FE091E34}"/>
              </a:ext>
            </a:extLst>
          </p:cNvPr>
          <p:cNvSpPr txBox="1">
            <a:spLocks noChangeArrowheads="1"/>
          </p:cNvSpPr>
          <p:nvPr/>
        </p:nvSpPr>
        <p:spPr bwMode="auto">
          <a:xfrm>
            <a:off x="6612518" y="2312332"/>
            <a:ext cx="315913"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a:t>
            </a:r>
          </a:p>
        </p:txBody>
      </p:sp>
      <p:sp>
        <p:nvSpPr>
          <p:cNvPr id="29" name="Text Box 9">
            <a:extLst>
              <a:ext uri="{FF2B5EF4-FFF2-40B4-BE49-F238E27FC236}">
                <a16:creationId xmlns:a16="http://schemas.microsoft.com/office/drawing/2014/main" id="{5B65F67C-60B1-4F00-9938-2D40ABBCB5EC}"/>
              </a:ext>
            </a:extLst>
          </p:cNvPr>
          <p:cNvSpPr txBox="1">
            <a:spLocks noChangeArrowheads="1"/>
          </p:cNvSpPr>
          <p:nvPr/>
        </p:nvSpPr>
        <p:spPr bwMode="auto">
          <a:xfrm>
            <a:off x="6612518" y="2769532"/>
            <a:ext cx="315913"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a:t>
            </a:r>
          </a:p>
        </p:txBody>
      </p:sp>
      <p:sp>
        <p:nvSpPr>
          <p:cNvPr id="30" name="Text Box 10">
            <a:extLst>
              <a:ext uri="{FF2B5EF4-FFF2-40B4-BE49-F238E27FC236}">
                <a16:creationId xmlns:a16="http://schemas.microsoft.com/office/drawing/2014/main" id="{731C1A05-CB93-40D3-BE02-305E118F14B5}"/>
              </a:ext>
            </a:extLst>
          </p:cNvPr>
          <p:cNvSpPr txBox="1">
            <a:spLocks noChangeArrowheads="1"/>
          </p:cNvSpPr>
          <p:nvPr/>
        </p:nvSpPr>
        <p:spPr bwMode="auto">
          <a:xfrm>
            <a:off x="6612518" y="3114020"/>
            <a:ext cx="315913" cy="3667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a:t>
            </a:r>
          </a:p>
        </p:txBody>
      </p:sp>
      <p:sp>
        <p:nvSpPr>
          <p:cNvPr id="31" name="Text Box 11">
            <a:extLst>
              <a:ext uri="{FF2B5EF4-FFF2-40B4-BE49-F238E27FC236}">
                <a16:creationId xmlns:a16="http://schemas.microsoft.com/office/drawing/2014/main" id="{B2B6E184-EC38-4815-84E6-B8442EE2A6C7}"/>
              </a:ext>
            </a:extLst>
          </p:cNvPr>
          <p:cNvSpPr txBox="1">
            <a:spLocks noChangeArrowheads="1"/>
          </p:cNvSpPr>
          <p:nvPr/>
        </p:nvSpPr>
        <p:spPr bwMode="auto">
          <a:xfrm>
            <a:off x="7145917" y="2961620"/>
            <a:ext cx="2998788" cy="366713"/>
          </a:xfrm>
          <a:prstGeom prst="rect">
            <a:avLst/>
          </a:prstGeom>
          <a:solidFill>
            <a:schemeClr val="bg1">
              <a:alpha val="9000"/>
            </a:schemeClr>
          </a:solidFill>
          <a:ln>
            <a:noFill/>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B0F0"/>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rgbClr val="00B0F0"/>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rgbClr val="00B0F0"/>
                </a:solidFill>
                <a:effectLst/>
                <a:uLnTx/>
                <a:uFillTx/>
                <a:latin typeface="Wingdings" panose="05000000000000000000" pitchFamily="2" charset="2"/>
                <a:ea typeface="+mn-ea"/>
                <a:cs typeface="+mn-cs"/>
              </a:rPr>
              <a:t>  </a:t>
            </a:r>
            <a:r>
              <a:rPr kumimoji="0" lang="en-US" altLang="en-US" sz="1800" b="0" i="0" u="none" strike="noStrike" kern="1200" cap="none" spc="0" normalizeH="0" baseline="0" noProof="0" dirty="0" err="1">
                <a:ln>
                  <a:noFill/>
                </a:ln>
                <a:solidFill>
                  <a:srgbClr val="00B0F0"/>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rgbClr val="00B0F0"/>
                </a:solidFill>
                <a:effectLst/>
                <a:uLnTx/>
                <a:uFillTx/>
                <a:latin typeface="Wingdings" panose="05000000000000000000" pitchFamily="2" charset="2"/>
                <a:ea typeface="+mn-ea"/>
                <a:cs typeface="+mn-cs"/>
              </a:rPr>
              <a:t>      </a:t>
            </a:r>
            <a:r>
              <a:rPr kumimoji="0" lang="en-US" altLang="en-US" sz="1800" b="0" i="0" u="none" strike="noStrike" kern="1200" cap="none" spc="0" normalizeH="0" baseline="0" noProof="0" dirty="0" err="1">
                <a:ln>
                  <a:noFill/>
                </a:ln>
                <a:solidFill>
                  <a:srgbClr val="00B0F0"/>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rgbClr val="00B0F0"/>
              </a:solidFill>
              <a:effectLst/>
              <a:uLnTx/>
              <a:uFillTx/>
              <a:latin typeface="Wingdings" panose="05000000000000000000" pitchFamily="2" charset="2"/>
              <a:ea typeface="+mn-ea"/>
              <a:cs typeface="+mn-cs"/>
            </a:endParaRPr>
          </a:p>
        </p:txBody>
      </p:sp>
      <p:sp>
        <p:nvSpPr>
          <p:cNvPr id="32" name="Text Box 12">
            <a:extLst>
              <a:ext uri="{FF2B5EF4-FFF2-40B4-BE49-F238E27FC236}">
                <a16:creationId xmlns:a16="http://schemas.microsoft.com/office/drawing/2014/main" id="{0ED642C0-9B4C-42E6-8A76-527D64D48B42}"/>
              </a:ext>
            </a:extLst>
          </p:cNvPr>
          <p:cNvSpPr txBox="1">
            <a:spLocks noChangeArrowheads="1"/>
          </p:cNvSpPr>
          <p:nvPr/>
        </p:nvSpPr>
        <p:spPr bwMode="auto">
          <a:xfrm>
            <a:off x="7714243" y="2617132"/>
            <a:ext cx="315913"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a:t>
            </a:r>
          </a:p>
        </p:txBody>
      </p:sp>
      <p:sp>
        <p:nvSpPr>
          <p:cNvPr id="33" name="Text Box 13">
            <a:extLst>
              <a:ext uri="{FF2B5EF4-FFF2-40B4-BE49-F238E27FC236}">
                <a16:creationId xmlns:a16="http://schemas.microsoft.com/office/drawing/2014/main" id="{51B896FD-620F-4999-955B-C0940954E4E9}"/>
              </a:ext>
            </a:extLst>
          </p:cNvPr>
          <p:cNvSpPr txBox="1">
            <a:spLocks noChangeArrowheads="1"/>
          </p:cNvSpPr>
          <p:nvPr/>
        </p:nvSpPr>
        <p:spPr bwMode="auto">
          <a:xfrm>
            <a:off x="8325431" y="3231495"/>
            <a:ext cx="1133475" cy="3667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   w</a:t>
            </a:r>
          </a:p>
        </p:txBody>
      </p:sp>
      <p:sp>
        <p:nvSpPr>
          <p:cNvPr id="34" name="Text Box 14">
            <a:extLst>
              <a:ext uri="{FF2B5EF4-FFF2-40B4-BE49-F238E27FC236}">
                <a16:creationId xmlns:a16="http://schemas.microsoft.com/office/drawing/2014/main" id="{7092A3A7-349C-4EE1-99F4-35BF5D1E4EBB}"/>
              </a:ext>
            </a:extLst>
          </p:cNvPr>
          <p:cNvSpPr txBox="1">
            <a:spLocks noChangeArrowheads="1"/>
          </p:cNvSpPr>
          <p:nvPr/>
        </p:nvSpPr>
        <p:spPr bwMode="auto">
          <a:xfrm>
            <a:off x="9101718" y="2885420"/>
            <a:ext cx="315913" cy="3667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a:t>
            </a:r>
          </a:p>
        </p:txBody>
      </p:sp>
      <p:sp>
        <p:nvSpPr>
          <p:cNvPr id="35" name="Text Box 15">
            <a:extLst>
              <a:ext uri="{FF2B5EF4-FFF2-40B4-BE49-F238E27FC236}">
                <a16:creationId xmlns:a16="http://schemas.microsoft.com/office/drawing/2014/main" id="{C83BC05B-CE2A-4B46-8298-71C0ECE8E34C}"/>
              </a:ext>
            </a:extLst>
          </p:cNvPr>
          <p:cNvSpPr txBox="1">
            <a:spLocks noChangeArrowheads="1"/>
          </p:cNvSpPr>
          <p:nvPr/>
        </p:nvSpPr>
        <p:spPr bwMode="auto">
          <a:xfrm>
            <a:off x="7137981" y="3226732"/>
            <a:ext cx="904875"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  w</a:t>
            </a:r>
          </a:p>
        </p:txBody>
      </p:sp>
      <p:sp>
        <p:nvSpPr>
          <p:cNvPr id="36" name="Text Box 16">
            <a:extLst>
              <a:ext uri="{FF2B5EF4-FFF2-40B4-BE49-F238E27FC236}">
                <a16:creationId xmlns:a16="http://schemas.microsoft.com/office/drawing/2014/main" id="{3D7F7799-3353-49F8-8A37-23B7E65DB6DB}"/>
              </a:ext>
            </a:extLst>
          </p:cNvPr>
          <p:cNvSpPr txBox="1">
            <a:spLocks noChangeArrowheads="1"/>
          </p:cNvSpPr>
          <p:nvPr/>
        </p:nvSpPr>
        <p:spPr bwMode="auto">
          <a:xfrm>
            <a:off x="8323843" y="3531532"/>
            <a:ext cx="315913"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B0F0"/>
                </a:solidFill>
                <a:effectLst/>
                <a:uLnTx/>
                <a:uFillTx/>
                <a:latin typeface="Wingdings" panose="05000000000000000000" pitchFamily="2" charset="2"/>
                <a:ea typeface="+mn-ea"/>
                <a:cs typeface="+mn-cs"/>
              </a:rPr>
              <a:t>w</a:t>
            </a:r>
          </a:p>
        </p:txBody>
      </p:sp>
      <p:sp>
        <p:nvSpPr>
          <p:cNvPr id="37" name="Line 18">
            <a:extLst>
              <a:ext uri="{FF2B5EF4-FFF2-40B4-BE49-F238E27FC236}">
                <a16:creationId xmlns:a16="http://schemas.microsoft.com/office/drawing/2014/main" id="{ECD5F60E-3F94-4EA2-8794-8F8E116F096A}"/>
              </a:ext>
            </a:extLst>
          </p:cNvPr>
          <p:cNvSpPr>
            <a:spLocks noChangeShapeType="1"/>
          </p:cNvSpPr>
          <p:nvPr/>
        </p:nvSpPr>
        <p:spPr bwMode="auto">
          <a:xfrm>
            <a:off x="6770474" y="2495688"/>
            <a:ext cx="0" cy="914400"/>
          </a:xfrm>
          <a:prstGeom prst="line">
            <a:avLst/>
          </a:prstGeom>
          <a:noFill/>
          <a:ln w="9525">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38" name="Line 19">
            <a:extLst>
              <a:ext uri="{FF2B5EF4-FFF2-40B4-BE49-F238E27FC236}">
                <a16:creationId xmlns:a16="http://schemas.microsoft.com/office/drawing/2014/main" id="{E8A0484B-56BD-4978-9EB6-3E8FAC7B11FB}"/>
              </a:ext>
            </a:extLst>
          </p:cNvPr>
          <p:cNvSpPr>
            <a:spLocks noChangeShapeType="1"/>
          </p:cNvSpPr>
          <p:nvPr/>
        </p:nvSpPr>
        <p:spPr bwMode="auto">
          <a:xfrm>
            <a:off x="7293555" y="2961619"/>
            <a:ext cx="0" cy="609600"/>
          </a:xfrm>
          <a:prstGeom prst="line">
            <a:avLst/>
          </a:prstGeom>
          <a:noFill/>
          <a:ln w="9525">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39" name="Line 21">
            <a:extLst>
              <a:ext uri="{FF2B5EF4-FFF2-40B4-BE49-F238E27FC236}">
                <a16:creationId xmlns:a16="http://schemas.microsoft.com/office/drawing/2014/main" id="{78984C38-7875-4473-8087-5EA1FF7C287C}"/>
              </a:ext>
            </a:extLst>
          </p:cNvPr>
          <p:cNvSpPr>
            <a:spLocks noChangeShapeType="1"/>
          </p:cNvSpPr>
          <p:nvPr/>
        </p:nvSpPr>
        <p:spPr bwMode="auto">
          <a:xfrm>
            <a:off x="7872199" y="2731432"/>
            <a:ext cx="0" cy="990600"/>
          </a:xfrm>
          <a:prstGeom prst="line">
            <a:avLst/>
          </a:prstGeom>
          <a:noFill/>
          <a:ln w="9525">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40" name="Line 22">
            <a:extLst>
              <a:ext uri="{FF2B5EF4-FFF2-40B4-BE49-F238E27FC236}">
                <a16:creationId xmlns:a16="http://schemas.microsoft.com/office/drawing/2014/main" id="{FD6E8F9F-A90C-4052-88FC-34F7BBF474C1}"/>
              </a:ext>
            </a:extLst>
          </p:cNvPr>
          <p:cNvSpPr>
            <a:spLocks noChangeShapeType="1"/>
          </p:cNvSpPr>
          <p:nvPr/>
        </p:nvSpPr>
        <p:spPr bwMode="auto">
          <a:xfrm>
            <a:off x="8481799" y="3021944"/>
            <a:ext cx="0" cy="838200"/>
          </a:xfrm>
          <a:prstGeom prst="line">
            <a:avLst/>
          </a:prstGeom>
          <a:noFill/>
          <a:ln w="9525">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41" name="Line 23">
            <a:extLst>
              <a:ext uri="{FF2B5EF4-FFF2-40B4-BE49-F238E27FC236}">
                <a16:creationId xmlns:a16="http://schemas.microsoft.com/office/drawing/2014/main" id="{502D5253-E5E3-448E-97AF-90A15205B4C1}"/>
              </a:ext>
            </a:extLst>
          </p:cNvPr>
          <p:cNvSpPr>
            <a:spLocks noChangeShapeType="1"/>
          </p:cNvSpPr>
          <p:nvPr/>
        </p:nvSpPr>
        <p:spPr bwMode="auto">
          <a:xfrm>
            <a:off x="9259674" y="3042399"/>
            <a:ext cx="0" cy="533400"/>
          </a:xfrm>
          <a:prstGeom prst="line">
            <a:avLst/>
          </a:prstGeom>
          <a:noFill/>
          <a:ln w="9525">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42" name="Line 24">
            <a:extLst>
              <a:ext uri="{FF2B5EF4-FFF2-40B4-BE49-F238E27FC236}">
                <a16:creationId xmlns:a16="http://schemas.microsoft.com/office/drawing/2014/main" id="{5B250964-0826-4928-AA5D-EDA936A2934E}"/>
              </a:ext>
            </a:extLst>
          </p:cNvPr>
          <p:cNvSpPr>
            <a:spLocks noChangeShapeType="1"/>
          </p:cNvSpPr>
          <p:nvPr/>
        </p:nvSpPr>
        <p:spPr bwMode="auto">
          <a:xfrm>
            <a:off x="5942592" y="2621894"/>
            <a:ext cx="4114800" cy="1066800"/>
          </a:xfrm>
          <a:prstGeom prst="line">
            <a:avLst/>
          </a:prstGeom>
          <a:noFill/>
          <a:ln w="9525">
            <a:solidFill>
              <a:schemeClr val="accent4">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43" name="Line 25">
            <a:extLst>
              <a:ext uri="{FF2B5EF4-FFF2-40B4-BE49-F238E27FC236}">
                <a16:creationId xmlns:a16="http://schemas.microsoft.com/office/drawing/2014/main" id="{15F6868B-3BE1-4147-BA16-EDBB5360D8E6}"/>
              </a:ext>
            </a:extLst>
          </p:cNvPr>
          <p:cNvSpPr>
            <a:spLocks noChangeShapeType="1"/>
          </p:cNvSpPr>
          <p:nvPr/>
        </p:nvSpPr>
        <p:spPr bwMode="auto">
          <a:xfrm>
            <a:off x="5942592" y="2123419"/>
            <a:ext cx="4038600" cy="1905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44" name="Line 27">
            <a:extLst>
              <a:ext uri="{FF2B5EF4-FFF2-40B4-BE49-F238E27FC236}">
                <a16:creationId xmlns:a16="http://schemas.microsoft.com/office/drawing/2014/main" id="{6BECAD8C-AFCA-4181-B11D-489F40DF9700}"/>
              </a:ext>
            </a:extLst>
          </p:cNvPr>
          <p:cNvSpPr>
            <a:spLocks noChangeShapeType="1"/>
          </p:cNvSpPr>
          <p:nvPr/>
        </p:nvSpPr>
        <p:spPr bwMode="auto">
          <a:xfrm>
            <a:off x="5942592" y="2885419"/>
            <a:ext cx="40386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B0F0"/>
              </a:solidFill>
              <a:effectLst/>
              <a:uLnTx/>
              <a:uFillTx/>
              <a:latin typeface="Lucida Grande"/>
              <a:ea typeface="+mn-ea"/>
              <a:cs typeface="+mn-cs"/>
            </a:endParaRPr>
          </a:p>
        </p:txBody>
      </p:sp>
      <p:sp>
        <p:nvSpPr>
          <p:cNvPr id="45" name="Text Box 29">
            <a:extLst>
              <a:ext uri="{FF2B5EF4-FFF2-40B4-BE49-F238E27FC236}">
                <a16:creationId xmlns:a16="http://schemas.microsoft.com/office/drawing/2014/main" id="{D501DB62-636D-4504-BB4C-377D3D2AA67D}"/>
              </a:ext>
            </a:extLst>
          </p:cNvPr>
          <p:cNvSpPr txBox="1">
            <a:spLocks noChangeArrowheads="1"/>
          </p:cNvSpPr>
          <p:nvPr/>
        </p:nvSpPr>
        <p:spPr bwMode="auto">
          <a:xfrm>
            <a:off x="9741723" y="4104619"/>
            <a:ext cx="320922"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prstClr val="black"/>
                </a:solidFill>
                <a:effectLst/>
                <a:uLnTx/>
                <a:uFillTx/>
                <a:latin typeface="Lucida Grande"/>
                <a:ea typeface="+mn-ea"/>
                <a:cs typeface="+mn-cs"/>
              </a:rPr>
              <a:t>X</a:t>
            </a:r>
          </a:p>
        </p:txBody>
      </p:sp>
      <p:sp>
        <p:nvSpPr>
          <p:cNvPr id="46" name="Text Box 30">
            <a:extLst>
              <a:ext uri="{FF2B5EF4-FFF2-40B4-BE49-F238E27FC236}">
                <a16:creationId xmlns:a16="http://schemas.microsoft.com/office/drawing/2014/main" id="{3A0B756B-ECE6-496F-95D0-FA70D732CE28}"/>
              </a:ext>
            </a:extLst>
          </p:cNvPr>
          <p:cNvSpPr txBox="1">
            <a:spLocks noChangeArrowheads="1"/>
          </p:cNvSpPr>
          <p:nvPr/>
        </p:nvSpPr>
        <p:spPr bwMode="auto">
          <a:xfrm>
            <a:off x="5646050" y="1834692"/>
            <a:ext cx="312906"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prstClr val="black"/>
                </a:solidFill>
                <a:effectLst/>
                <a:uLnTx/>
                <a:uFillTx/>
                <a:latin typeface="Lucida Grande"/>
                <a:ea typeface="+mn-ea"/>
                <a:cs typeface="+mn-cs"/>
              </a:rPr>
              <a:t>Y</a:t>
            </a:r>
          </a:p>
        </p:txBody>
      </p:sp>
    </p:spTree>
    <p:extLst>
      <p:ext uri="{BB962C8B-B14F-4D97-AF65-F5344CB8AC3E}">
        <p14:creationId xmlns:p14="http://schemas.microsoft.com/office/powerpoint/2010/main" val="1412082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20"/>
                                        </p:tgtEl>
                                        <p:attrNameLst>
                                          <p:attrName>style.visibility</p:attrName>
                                        </p:attrNameLst>
                                      </p:cBhvr>
                                      <p:to>
                                        <p:strVal val="visible"/>
                                      </p:to>
                                    </p:set>
                                    <p:animEffect transition="in" filter="box(in)">
                                      <p:cBhvr>
                                        <p:cTn id="7" dur="500"/>
                                        <p:tgtEl>
                                          <p:spTgt spid="8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left)">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wipe(left)">
                                      <p:cBhvr>
                                        <p:cTn id="17" dur="500"/>
                                        <p:tgtEl>
                                          <p:spTgt spid="4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0"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384CFA-D5E4-4DFB-B355-696E25EEC5D2}"/>
              </a:ext>
            </a:extLst>
          </p:cNvPr>
          <p:cNvSpPr>
            <a:spLocks noGrp="1"/>
          </p:cNvSpPr>
          <p:nvPr>
            <p:ph type="sldNum" sz="quarter" idx="12"/>
          </p:nvPr>
        </p:nvSpPr>
        <p:spPr/>
        <p:txBody>
          <a:bodyPr vert="horz" lIns="91440" tIns="45720" rIns="91440" bIns="45720" rtlCol="0" anchor="ctr">
            <a:normAutofit fontScale="25000" lnSpcReduction="20000"/>
          </a:bodyPr>
          <a:lstStyle/>
          <a:p>
            <a:pPr>
              <a:spcAft>
                <a:spcPts val="600"/>
              </a:spcAft>
              <a:defRPr/>
            </a:pPr>
            <a:fld id="{64C357E0-7941-49F0-B6EC-21213A8B8148}" type="slidenum">
              <a:rPr lang="en-US">
                <a:solidFill>
                  <a:srgbClr val="FFFFFF"/>
                </a:solidFill>
                <a:latin typeface="Calibri" panose="020F0502020204030204"/>
              </a:rPr>
              <a:pPr>
                <a:spcAft>
                  <a:spcPts val="600"/>
                </a:spcAft>
                <a:defRPr/>
              </a:pPr>
              <a:t>49</a:t>
            </a:fld>
            <a:endParaRPr lang="en-US">
              <a:solidFill>
                <a:srgbClr val="FFFFFF"/>
              </a:solidFill>
              <a:latin typeface="Calibri" panose="020F0502020204030204"/>
            </a:endParaRPr>
          </a:p>
        </p:txBody>
      </p:sp>
      <p:sp>
        <p:nvSpPr>
          <p:cNvPr id="49153" name="Rectangle 2"/>
          <p:cNvSpPr>
            <a:spLocks noGrp="1"/>
          </p:cNvSpPr>
          <p:nvPr>
            <p:ph type="title" idx="4294967295"/>
          </p:nvPr>
        </p:nvSpPr>
        <p:spPr>
          <a:xfrm>
            <a:off x="169101" y="204787"/>
            <a:ext cx="8943584" cy="478607"/>
          </a:xfrm>
        </p:spPr>
        <p:txBody>
          <a:bodyPr vert="horz" lIns="91440" tIns="45720" rIns="91440" bIns="45720" rtlCol="0" anchor="b">
            <a:noAutofit/>
          </a:bodyPr>
          <a:lstStyle/>
          <a:p>
            <a:r>
              <a:rPr lang="en-US" sz="3600" b="0" dirty="0">
                <a:solidFill>
                  <a:schemeClr val="tx1"/>
                </a:solidFill>
                <a:latin typeface="Arial" panose="020B0604020202020204" pitchFamily="34" charset="0"/>
                <a:cs typeface="Arial" panose="020B0604020202020204" pitchFamily="34" charset="0"/>
              </a:rPr>
              <a:t>Sampling Distributions &amp; Inference</a:t>
            </a:r>
          </a:p>
        </p:txBody>
      </p:sp>
      <mc:AlternateContent xmlns:mc="http://schemas.openxmlformats.org/markup-compatibility/2006" xmlns:a14="http://schemas.microsoft.com/office/drawing/2010/main">
        <mc:Choice Requires="a14">
          <p:sp>
            <p:nvSpPr>
              <p:cNvPr id="49154" name="Rectangle 3"/>
              <p:cNvSpPr>
                <a:spLocks noGrp="1"/>
              </p:cNvSpPr>
              <p:nvPr>
                <p:ph type="body" idx="4294967295"/>
              </p:nvPr>
            </p:nvSpPr>
            <p:spPr>
              <a:xfrm>
                <a:off x="211900" y="683394"/>
                <a:ext cx="11141900" cy="3319463"/>
              </a:xfrm>
            </p:spPr>
            <p:txBody>
              <a:bodyPr vert="horz" lIns="91440" tIns="45720" rIns="91440" bIns="45720" rtlCol="0">
                <a:normAutofit/>
              </a:bodyPr>
              <a:lstStyle/>
              <a:p>
                <a:pPr marL="342900" indent="-342900">
                  <a:lnSpc>
                    <a:spcPct val="120000"/>
                  </a:lnSpc>
                  <a:buFont typeface="Arial" panose="020B0604020202020204" pitchFamily="34" charset="0"/>
                  <a:buChar char="•"/>
                </a:pPr>
                <a:r>
                  <a:rPr lang="en-US" sz="2000" dirty="0">
                    <a:latin typeface="Arial" panose="020B0604020202020204" pitchFamily="34" charset="0"/>
                    <a:cs typeface="Arial" panose="020B0604020202020204" pitchFamily="34" charset="0"/>
                  </a:rPr>
                  <a:t>We can calculate the standard errors of the coefficients: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𝑏</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𝑏</m:t>
                        </m:r>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in order to construct confidence intervals for them.</a:t>
                </a:r>
              </a:p>
              <a:p>
                <a:pPr marL="628650" lvl="1" indent="-228600">
                  <a:lnSpc>
                    <a:spcPct val="120000"/>
                  </a:lnSpc>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We can use </a:t>
                </a:r>
                <a:r>
                  <a:rPr lang="en-US" i="1" dirty="0">
                    <a:solidFill>
                      <a:schemeClr val="tx1"/>
                    </a:solidFill>
                    <a:latin typeface="Arial" panose="020B0604020202020204" pitchFamily="34" charset="0"/>
                    <a:cs typeface="Arial" panose="020B0604020202020204" pitchFamily="34" charset="0"/>
                  </a:rPr>
                  <a:t>t</a:t>
                </a:r>
                <a:r>
                  <a:rPr lang="en-US" dirty="0">
                    <a:solidFill>
                      <a:schemeClr val="tx1"/>
                    </a:solidFill>
                    <a:latin typeface="Arial" panose="020B0604020202020204" pitchFamily="34" charset="0"/>
                    <a:cs typeface="Arial" panose="020B0604020202020204" pitchFamily="34" charset="0"/>
                  </a:rPr>
                  <a:t>-tests to determine whether the intercept or slope is significantly different from zero</a:t>
                </a:r>
              </a:p>
              <a:p>
                <a:pPr marL="628650" lvl="1" indent="-228600">
                  <a:lnSpc>
                    <a:spcPct val="120000"/>
                  </a:lnSpc>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This is only interesting for the case of the slope, since it amounts to a test for </a:t>
                </a:r>
                <a:r>
                  <a:rPr lang="en-US" i="1" dirty="0">
                    <a:solidFill>
                      <a:schemeClr val="tx1"/>
                    </a:solidFill>
                    <a:latin typeface="Arial" panose="020B0604020202020204" pitchFamily="34" charset="0"/>
                    <a:cs typeface="Arial" panose="020B0604020202020204" pitchFamily="34" charset="0"/>
                  </a:rPr>
                  <a:t>whether Y is significantly linearly related to X</a:t>
                </a:r>
              </a:p>
              <a:p>
                <a:pPr marL="342900" indent="-342900">
                  <a:lnSpc>
                    <a:spcPct val="12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Idea</a:t>
                </a:r>
                <a:r>
                  <a:rPr lang="en-US" sz="2000" dirty="0">
                    <a:latin typeface="Arial" panose="020B0604020202020204" pitchFamily="34" charset="0"/>
                    <a:cs typeface="Arial" panose="020B0604020202020204" pitchFamily="34" charset="0"/>
                  </a:rPr>
                  <a:t>: To check whether the data really is drawn from an Assumed Linear Model (so that we can make inferences) we must make sure the assumptions of the error term are satisfied</a:t>
                </a:r>
              </a:p>
              <a:p>
                <a:pPr marL="342900" indent="-342900">
                  <a:lnSpc>
                    <a:spcPct val="12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Fatal to the model</a:t>
                </a:r>
                <a:r>
                  <a:rPr lang="en-US" sz="2000" dirty="0">
                    <a:latin typeface="Arial" panose="020B0604020202020204" pitchFamily="34" charset="0"/>
                    <a:cs typeface="Arial" panose="020B0604020202020204" pitchFamily="34" charset="0"/>
                  </a:rPr>
                  <a:t>: the variance is not constant, or the errors are not normally distributed </a:t>
                </a:r>
              </a:p>
              <a:p>
                <a:pPr marL="342900" indent="-342900">
                  <a:lnSpc>
                    <a:spcPct val="12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49154" name="Rectangle 3"/>
              <p:cNvSpPr>
                <a:spLocks noGrp="1" noRot="1" noChangeAspect="1" noMove="1" noResize="1" noEditPoints="1" noAdjustHandles="1" noChangeArrowheads="1" noChangeShapeType="1" noTextEdit="1"/>
              </p:cNvSpPr>
              <p:nvPr>
                <p:ph type="body" idx="4294967295"/>
              </p:nvPr>
            </p:nvSpPr>
            <p:spPr>
              <a:xfrm>
                <a:off x="211900" y="683394"/>
                <a:ext cx="11141900" cy="3319463"/>
              </a:xfrm>
              <a:blipFill>
                <a:blip r:embed="rId2"/>
                <a:stretch>
                  <a:fillRect l="-492" r="-821"/>
                </a:stretch>
              </a:blipFill>
            </p:spPr>
            <p:txBody>
              <a:bodyPr/>
              <a:lstStyle/>
              <a:p>
                <a:r>
                  <a:rPr lang="en-US">
                    <a:noFill/>
                  </a:rPr>
                  <a:t> </a:t>
                </a:r>
              </a:p>
            </p:txBody>
          </p:sp>
        </mc:Fallback>
      </mc:AlternateContent>
    </p:spTree>
    <p:extLst>
      <p:ext uri="{BB962C8B-B14F-4D97-AF65-F5344CB8AC3E}">
        <p14:creationId xmlns:p14="http://schemas.microsoft.com/office/powerpoint/2010/main" val="206864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15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1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5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1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3" name="Rectangle 2"/>
          <p:cNvSpPr>
            <a:spLocks noGrp="1"/>
          </p:cNvSpPr>
          <p:nvPr>
            <p:ph type="title"/>
          </p:nvPr>
        </p:nvSpPr>
        <p:spPr>
          <a:xfrm>
            <a:off x="183237" y="153326"/>
            <a:ext cx="10515600" cy="438937"/>
          </a:xfrm>
        </p:spPr>
        <p:txBody>
          <a:bodyPr>
            <a:noAutofit/>
          </a:bodyPr>
          <a:lstStyle/>
          <a:p>
            <a:r>
              <a:rPr lang="en-US" sz="3600" b="0" dirty="0">
                <a:solidFill>
                  <a:schemeClr val="tx1"/>
                </a:solidFill>
                <a:latin typeface="Arial" panose="020B0604020202020204" pitchFamily="34" charset="0"/>
                <a:cs typeface="Arial" panose="020B0604020202020204" pitchFamily="34" charset="0"/>
              </a:rPr>
              <a:t>Inference from Regression</a:t>
            </a:r>
          </a:p>
        </p:txBody>
      </p:sp>
      <p:sp useBgFill="1">
        <p:nvSpPr>
          <p:cNvPr id="43014" name="Rectangle 3"/>
          <p:cNvSpPr>
            <a:spLocks noGrp="1"/>
          </p:cNvSpPr>
          <p:nvPr>
            <p:ph idx="1"/>
          </p:nvPr>
        </p:nvSpPr>
        <p:spPr>
          <a:xfrm>
            <a:off x="293870" y="996628"/>
            <a:ext cx="11353800" cy="4864743"/>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We want to use our regression equation to make predictions for our dependent variable based on the linear combination of independent variables. </a:t>
            </a:r>
            <a:r>
              <a:rPr lang="en-US" sz="2000" u="sng" dirty="0">
                <a:solidFill>
                  <a:schemeClr val="tx1"/>
                </a:solidFill>
                <a:latin typeface="Arial" panose="020B0604020202020204" pitchFamily="34" charset="0"/>
                <a:cs typeface="Arial" panose="020B0604020202020204" pitchFamily="34" charset="0"/>
              </a:rPr>
              <a:t>We need to make assumptions about the data</a:t>
            </a:r>
            <a:r>
              <a:rPr lang="en-US" sz="2000" dirty="0">
                <a:solidFill>
                  <a:schemeClr val="tx1"/>
                </a:solidFill>
                <a:latin typeface="Arial" panose="020B0604020202020204" pitchFamily="34" charset="0"/>
                <a:cs typeface="Arial" panose="020B0604020202020204" pitchFamily="34" charset="0"/>
              </a:rPr>
              <a:t>!</a:t>
            </a:r>
          </a:p>
          <a:p>
            <a:r>
              <a:rPr lang="en-US" sz="2000" dirty="0">
                <a:solidFill>
                  <a:schemeClr val="tx1"/>
                </a:solidFill>
                <a:latin typeface="Arial" panose="020B0604020202020204" pitchFamily="34" charset="0"/>
                <a:cs typeface="Arial" panose="020B0604020202020204" pitchFamily="34" charset="0"/>
              </a:rPr>
              <a:t>We imagined that in the population, the values of </a:t>
            </a:r>
            <a:r>
              <a:rPr lang="en-US" sz="2000" i="1" dirty="0">
                <a:solidFill>
                  <a:schemeClr val="tx1"/>
                </a:solidFill>
                <a:latin typeface="Arial" panose="020B0604020202020204" pitchFamily="34" charset="0"/>
                <a:cs typeface="Arial" panose="020B0604020202020204" pitchFamily="34" charset="0"/>
              </a:rPr>
              <a:t>Y</a:t>
            </a:r>
            <a:r>
              <a:rPr lang="en-US" sz="2000" dirty="0">
                <a:solidFill>
                  <a:schemeClr val="tx1"/>
                </a:solidFill>
                <a:latin typeface="Arial" panose="020B0604020202020204" pitchFamily="34" charset="0"/>
                <a:cs typeface="Arial" panose="020B0604020202020204" pitchFamily="34" charset="0"/>
              </a:rPr>
              <a:t> really are generated from the linear probabilistic model</a:t>
            </a:r>
          </a:p>
          <a:p>
            <a:pPr>
              <a:spcBef>
                <a:spcPct val="50000"/>
              </a:spcBef>
              <a:buNone/>
            </a:pPr>
            <a:endParaRPr lang="en-US" sz="2000" dirty="0">
              <a:solidFill>
                <a:schemeClr val="tx1"/>
              </a:solidFill>
              <a:latin typeface="Arial" panose="020B0604020202020204" pitchFamily="34" charset="0"/>
              <a:cs typeface="Arial" panose="020B0604020202020204" pitchFamily="34" charset="0"/>
            </a:endParaRPr>
          </a:p>
          <a:p>
            <a:pPr>
              <a:spcBef>
                <a:spcPct val="50000"/>
              </a:spcBef>
              <a:buNone/>
            </a:pPr>
            <a:r>
              <a:rPr lang="en-US" sz="2000" dirty="0">
                <a:solidFill>
                  <a:schemeClr val="tx1"/>
                </a:solidFill>
                <a:latin typeface="Arial" panose="020B0604020202020204" pitchFamily="34" charset="0"/>
                <a:cs typeface="Arial" panose="020B0604020202020204" pitchFamily="34" charset="0"/>
              </a:rPr>
              <a:t>where </a:t>
            </a:r>
            <a:r>
              <a:rPr lang="en-US" sz="2000" dirty="0">
                <a:solidFill>
                  <a:schemeClr val="tx1"/>
                </a:solidFill>
                <a:latin typeface="Arial" panose="020B0604020202020204" pitchFamily="34" charset="0"/>
                <a:cs typeface="Arial" panose="020B0604020202020204" pitchFamily="34" charset="0"/>
                <a:sym typeface="Symbol" pitchFamily="18" charset="2"/>
              </a:rPr>
              <a:t> is an error term normally distributed with mean 0 and variance </a:t>
            </a:r>
            <a:r>
              <a:rPr lang="en-US" sz="2000" baseline="30000" dirty="0">
                <a:solidFill>
                  <a:schemeClr val="tx1"/>
                </a:solidFill>
                <a:latin typeface="Arial" panose="020B0604020202020204" pitchFamily="34" charset="0"/>
                <a:cs typeface="Arial" panose="020B0604020202020204" pitchFamily="34" charset="0"/>
                <a:sym typeface="Symbol" pitchFamily="18" charset="2"/>
              </a:rPr>
              <a:t>2</a:t>
            </a:r>
            <a:endParaRPr lang="en-US" sz="2000" dirty="0">
              <a:solidFill>
                <a:schemeClr val="tx1"/>
              </a:solidFill>
              <a:latin typeface="Arial" panose="020B0604020202020204" pitchFamily="34" charset="0"/>
              <a:cs typeface="Arial" panose="020B0604020202020204" pitchFamily="34" charset="0"/>
              <a:sym typeface="Symbol" pitchFamily="18" charset="2"/>
            </a:endParaRPr>
          </a:p>
          <a:p>
            <a:pPr>
              <a:spcBef>
                <a:spcPct val="50000"/>
              </a:spcBef>
            </a:pPr>
            <a:r>
              <a:rPr lang="en-US" sz="2000" dirty="0">
                <a:solidFill>
                  <a:schemeClr val="tx1"/>
                </a:solidFill>
                <a:latin typeface="Arial" panose="020B0604020202020204" pitchFamily="34" charset="0"/>
                <a:cs typeface="Arial" panose="020B0604020202020204" pitchFamily="34" charset="0"/>
              </a:rPr>
              <a:t>For our linear regression inference, we will always assume </a:t>
            </a:r>
            <a:r>
              <a:rPr lang="en-US" sz="2000" dirty="0">
                <a:solidFill>
                  <a:schemeClr val="tx1"/>
                </a:solidFill>
                <a:latin typeface="Arial" panose="020B0604020202020204" pitchFamily="34" charset="0"/>
                <a:cs typeface="Arial" panose="020B0604020202020204" pitchFamily="34" charset="0"/>
                <a:sym typeface="Symbol" pitchFamily="18" charset="2"/>
              </a:rPr>
              <a:t> has a normal distribution, N(0, </a:t>
            </a:r>
            <a:r>
              <a:rPr lang="en-US" sz="2000" baseline="30000" dirty="0">
                <a:solidFill>
                  <a:schemeClr val="tx1"/>
                </a:solidFill>
                <a:latin typeface="Arial" panose="020B0604020202020204" pitchFamily="34" charset="0"/>
                <a:cs typeface="Arial" panose="020B0604020202020204" pitchFamily="34" charset="0"/>
                <a:sym typeface="Symbol" pitchFamily="18" charset="2"/>
              </a:rPr>
              <a:t>2</a:t>
            </a:r>
            <a:r>
              <a:rPr lang="en-US" sz="2000" dirty="0">
                <a:solidFill>
                  <a:schemeClr val="tx1"/>
                </a:solidFill>
                <a:latin typeface="Arial" panose="020B0604020202020204" pitchFamily="34" charset="0"/>
                <a:cs typeface="Arial" panose="020B0604020202020204" pitchFamily="34" charset="0"/>
                <a:sym typeface="Symbol" pitchFamily="18" charset="2"/>
              </a:rPr>
              <a:t>)</a:t>
            </a:r>
          </a:p>
          <a:p>
            <a:endParaRPr lang="en-US" dirty="0">
              <a:solidFill>
                <a:schemeClr val="tx1"/>
              </a:solidFill>
            </a:endParaRPr>
          </a:p>
        </p:txBody>
      </p:sp>
      <mc:AlternateContent xmlns:mc="http://schemas.openxmlformats.org/markup-compatibility/2006" xmlns:a14="http://schemas.microsoft.com/office/drawing/2010/main">
        <mc:Choice Requires="a14">
          <p:sp>
            <p:nvSpPr>
              <p:cNvPr id="43012" name="Object 4"/>
              <p:cNvSpPr txBox="1"/>
              <p:nvPr/>
            </p:nvSpPr>
            <p:spPr bwMode="auto">
              <a:xfrm>
                <a:off x="293870" y="2289534"/>
                <a:ext cx="2087380" cy="579866"/>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𝑦</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𝛽</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0</m:t>
                          </m:r>
                        </m:sub>
                      </m:s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𝛽</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1</m:t>
                          </m:r>
                        </m:sub>
                      </m:s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𝜀</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mc:Choice>
        <mc:Fallback xmlns="">
          <p:sp>
            <p:nvSpPr>
              <p:cNvPr id="43012" name="Object 4"/>
              <p:cNvSpPr txBox="1">
                <a:spLocks noRot="1" noChangeAspect="1" noMove="1" noResize="1" noEditPoints="1" noAdjustHandles="1" noChangeArrowheads="1" noChangeShapeType="1" noTextEdit="1"/>
              </p:cNvSpPr>
              <p:nvPr/>
            </p:nvSpPr>
            <p:spPr bwMode="auto">
              <a:xfrm>
                <a:off x="293870" y="2289534"/>
                <a:ext cx="2087380" cy="579866"/>
              </a:xfrm>
              <a:prstGeom prst="rect">
                <a:avLst/>
              </a:prstGeom>
              <a:blipFill>
                <a:blip r:embed="rId2"/>
                <a:stretch>
                  <a:fillRect/>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FB053CB-EA35-4C25-AAE4-348E35D9EB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F2B675-3BAF-420B-B2FC-1C2A1E07683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67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47D64-E660-A5DB-F584-9C2D1E95736B}"/>
              </a:ext>
            </a:extLst>
          </p:cNvPr>
          <p:cNvSpPr>
            <a:spLocks noGrp="1"/>
          </p:cNvSpPr>
          <p:nvPr>
            <p:ph type="title"/>
          </p:nvPr>
        </p:nvSpPr>
        <p:spPr>
          <a:xfrm>
            <a:off x="186731" y="184283"/>
            <a:ext cx="8084763" cy="672365"/>
          </a:xfrm>
        </p:spPr>
        <p:txBody>
          <a:bodyPr>
            <a:norm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Inferences for point estimates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91CE7C-6BE3-38B0-E288-6FB5B1A7C180}"/>
                  </a:ext>
                </a:extLst>
              </p:cNvPr>
              <p:cNvSpPr>
                <a:spLocks noGrp="1"/>
              </p:cNvSpPr>
              <p:nvPr>
                <p:ph idx="1"/>
              </p:nvPr>
            </p:nvSpPr>
            <p:spPr>
              <a:xfrm>
                <a:off x="347318" y="856648"/>
                <a:ext cx="4497500" cy="4116636"/>
              </a:xfrm>
            </p:spPr>
            <p:txBody>
              <a:bodyPr>
                <a:normAutofit/>
              </a:bodyPr>
              <a:lstStyle/>
              <a:p>
                <a:r>
                  <a:rPr lang="en-US" sz="2000" dirty="0">
                    <a:latin typeface="Arial" panose="020B0604020202020204" pitchFamily="34" charset="0"/>
                    <a:cs typeface="Arial" panose="020B0604020202020204" pitchFamily="34" charset="0"/>
                  </a:rPr>
                  <a:t>We are interested in drawing inferences about the slope of the regression line</a:t>
                </a:r>
              </a:p>
              <a:p>
                <a:r>
                  <a:rPr lang="en-US" sz="2000" dirty="0">
                    <a:latin typeface="Arial" panose="020B0604020202020204" pitchFamily="34" charset="0"/>
                    <a:cs typeface="Arial" panose="020B0604020202020204" pitchFamily="34" charset="0"/>
                  </a:rPr>
                  <a:t>The most common hypothesis to test is:</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reason for testing this is that when </a:t>
                </a: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r>
                      <a:rPr lang="en-US" sz="2000" b="0" i="1">
                        <a:latin typeface="Cambria Math" panose="02040503050406030204" pitchFamily="18" charset="0"/>
                      </a:rPr>
                      <m:t>=0 </m:t>
                    </m:r>
                  </m:oMath>
                </a14:m>
                <a:r>
                  <a:rPr lang="en-US" sz="2000" dirty="0">
                    <a:latin typeface="Arial" panose="020B0604020202020204" pitchFamily="34" charset="0"/>
                    <a:cs typeface="Arial" panose="020B0604020202020204" pitchFamily="34" charset="0"/>
                  </a:rPr>
                  <a:t>there is no linear association between </a:t>
                </a:r>
                <a:r>
                  <a:rPr lang="en-US" sz="2000" i="1" dirty="0">
                    <a:latin typeface="Arial" panose="020B0604020202020204" pitchFamily="34" charset="0"/>
                    <a:cs typeface="Arial" panose="020B0604020202020204" pitchFamily="34" charset="0"/>
                  </a:rPr>
                  <a:t>Y </a:t>
                </a:r>
                <a:r>
                  <a:rPr lang="en-US" sz="2000" dirty="0">
                    <a:latin typeface="Arial" panose="020B0604020202020204" pitchFamily="34" charset="0"/>
                    <a:cs typeface="Arial" panose="020B0604020202020204" pitchFamily="34" charset="0"/>
                  </a:rPr>
                  <a:t>and </a:t>
                </a:r>
                <a:r>
                  <a:rPr lang="en-US" sz="2000" i="1" dirty="0">
                    <a:latin typeface="Arial" panose="020B0604020202020204" pitchFamily="34" charset="0"/>
                    <a:cs typeface="Arial" panose="020B0604020202020204" pitchFamily="34" charset="0"/>
                  </a:rPr>
                  <a:t>X</a:t>
                </a:r>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8691CE7C-6BE3-38B0-E288-6FB5B1A7C180}"/>
                  </a:ext>
                </a:extLst>
              </p:cNvPr>
              <p:cNvSpPr>
                <a:spLocks noGrp="1" noRot="1" noChangeAspect="1" noMove="1" noResize="1" noEditPoints="1" noAdjustHandles="1" noChangeArrowheads="1" noChangeShapeType="1" noTextEdit="1"/>
              </p:cNvSpPr>
              <p:nvPr>
                <p:ph idx="1"/>
              </p:nvPr>
            </p:nvSpPr>
            <p:spPr>
              <a:xfrm>
                <a:off x="347318" y="856648"/>
                <a:ext cx="4497500" cy="4116636"/>
              </a:xfrm>
              <a:blipFill>
                <a:blip r:embed="rId3"/>
                <a:stretch>
                  <a:fillRect l="-1220" t="-148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AD5766C-B015-E823-3665-26C1B89921FC}"/>
              </a:ext>
            </a:extLst>
          </p:cNvPr>
          <p:cNvPicPr>
            <a:picLocks noChangeAspect="1"/>
          </p:cNvPicPr>
          <p:nvPr/>
        </p:nvPicPr>
        <p:blipFill rotWithShape="1">
          <a:blip r:embed="rId4"/>
          <a:srcRect r="14701"/>
          <a:stretch/>
        </p:blipFill>
        <p:spPr>
          <a:xfrm>
            <a:off x="5373584" y="1216519"/>
            <a:ext cx="5134452" cy="2437828"/>
          </a:xfrm>
          <a:prstGeom prst="rect">
            <a:avLst/>
          </a:prstGeom>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8A33A0-4970-249D-7842-27D3DA6EB2F6}"/>
                  </a:ext>
                </a:extLst>
              </p:cNvPr>
              <p:cNvSpPr txBox="1"/>
              <p:nvPr/>
            </p:nvSpPr>
            <p:spPr>
              <a:xfrm>
                <a:off x="691960" y="2730300"/>
                <a:ext cx="3218668"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𝐻</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 </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vs</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𝐻</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cs typeface="+mn-cs"/>
                </a:endParaRPr>
              </a:p>
            </p:txBody>
          </p:sp>
        </mc:Choice>
        <mc:Fallback xmlns="">
          <p:sp>
            <p:nvSpPr>
              <p:cNvPr id="7" name="TextBox 6">
                <a:extLst>
                  <a:ext uri="{FF2B5EF4-FFF2-40B4-BE49-F238E27FC236}">
                    <a16:creationId xmlns:a16="http://schemas.microsoft.com/office/drawing/2014/main" id="{268A33A0-4970-249D-7842-27D3DA6EB2F6}"/>
                  </a:ext>
                </a:extLst>
              </p:cNvPr>
              <p:cNvSpPr txBox="1">
                <a:spLocks noRot="1" noChangeAspect="1" noMove="1" noResize="1" noEditPoints="1" noAdjustHandles="1" noChangeArrowheads="1" noChangeShapeType="1" noTextEdit="1"/>
              </p:cNvSpPr>
              <p:nvPr/>
            </p:nvSpPr>
            <p:spPr>
              <a:xfrm>
                <a:off x="691960" y="2730300"/>
                <a:ext cx="3218668" cy="369332"/>
              </a:xfrm>
              <a:prstGeom prst="rect">
                <a:avLst/>
              </a:prstGeom>
              <a:blipFill>
                <a:blip r:embed="rId5"/>
                <a:stretch>
                  <a:fillRect l="-2273" r="-2083"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FC70F9-CB1C-3E1D-5511-AB496D0D91DD}"/>
                  </a:ext>
                </a:extLst>
              </p:cNvPr>
              <p:cNvSpPr txBox="1"/>
              <p:nvPr/>
            </p:nvSpPr>
            <p:spPr>
              <a:xfrm flipH="1">
                <a:off x="10266048" y="2107171"/>
                <a:ext cx="7136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B0FC70F9-CB1C-3E1D-5511-AB496D0D91DD}"/>
                  </a:ext>
                </a:extLst>
              </p:cNvPr>
              <p:cNvSpPr txBox="1">
                <a:spLocks noRot="1" noChangeAspect="1" noMove="1" noResize="1" noEditPoints="1" noAdjustHandles="1" noChangeArrowheads="1" noChangeShapeType="1" noTextEdit="1"/>
              </p:cNvSpPr>
              <p:nvPr/>
            </p:nvSpPr>
            <p:spPr>
              <a:xfrm flipH="1">
                <a:off x="10266048" y="2107171"/>
                <a:ext cx="713604"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F7F7B60-E0AE-8839-E3A7-DA54092A9C19}"/>
                  </a:ext>
                </a:extLst>
              </p:cNvPr>
              <p:cNvSpPr txBox="1"/>
              <p:nvPr/>
            </p:nvSpPr>
            <p:spPr>
              <a:xfrm>
                <a:off x="6252256" y="3500458"/>
                <a:ext cx="2631939"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Mean(Y</a:t>
                </a:r>
                <a14:m>
                  <m:oMath xmlns:m="http://schemas.openxmlformats.org/officeDocument/2006/math">
                    <m:r>
                      <a:rPr kumimoji="0" lang="en-US" sz="20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oMath>
                </a14:m>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a:t>
                </a:r>
                <a14:m>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9F7F7B60-E0AE-8839-E3A7-DA54092A9C19}"/>
                  </a:ext>
                </a:extLst>
              </p:cNvPr>
              <p:cNvSpPr txBox="1">
                <a:spLocks noRot="1" noChangeAspect="1" noMove="1" noResize="1" noEditPoints="1" noAdjustHandles="1" noChangeArrowheads="1" noChangeShapeType="1" noTextEdit="1"/>
              </p:cNvSpPr>
              <p:nvPr/>
            </p:nvSpPr>
            <p:spPr>
              <a:xfrm>
                <a:off x="6252256" y="3500458"/>
                <a:ext cx="2631939" cy="307777"/>
              </a:xfrm>
              <a:prstGeom prst="rect">
                <a:avLst/>
              </a:prstGeom>
              <a:blipFill>
                <a:blip r:embed="rId7"/>
                <a:stretch>
                  <a:fillRect l="-6032" t="-25490" r="-696" b="-49020"/>
                </a:stretch>
              </a:blipFill>
            </p:spPr>
            <p:txBody>
              <a:bodyPr/>
              <a:lstStyle/>
              <a:p>
                <a:r>
                  <a:rPr lang="en-US">
                    <a:noFill/>
                  </a:rPr>
                  <a:t> </a:t>
                </a:r>
              </a:p>
            </p:txBody>
          </p:sp>
        </mc:Fallback>
      </mc:AlternateContent>
    </p:spTree>
    <p:extLst>
      <p:ext uri="{BB962C8B-B14F-4D97-AF65-F5344CB8AC3E}">
        <p14:creationId xmlns:p14="http://schemas.microsoft.com/office/powerpoint/2010/main" val="14457480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D319-7796-8098-4557-66C7F8D41EEB}"/>
              </a:ext>
            </a:extLst>
          </p:cNvPr>
          <p:cNvSpPr>
            <a:spLocks noGrp="1"/>
          </p:cNvSpPr>
          <p:nvPr>
            <p:ph type="title"/>
          </p:nvPr>
        </p:nvSpPr>
        <p:spPr>
          <a:xfrm>
            <a:off x="96384" y="113510"/>
            <a:ext cx="10515600" cy="675761"/>
          </a:xfrm>
        </p:spPr>
        <p:txBody>
          <a:bodyPr anchor="b">
            <a:norm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Hypothesis testing of coefficients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43290D-3582-D081-927C-51CD23DD4796}"/>
                  </a:ext>
                </a:extLst>
              </p:cNvPr>
              <p:cNvSpPr>
                <a:spLocks noGrp="1"/>
              </p:cNvSpPr>
              <p:nvPr>
                <p:ph idx="1"/>
              </p:nvPr>
            </p:nvSpPr>
            <p:spPr>
              <a:xfrm>
                <a:off x="299185" y="863098"/>
                <a:ext cx="10515600" cy="4351338"/>
              </a:xfrm>
            </p:spPr>
            <p:txBody>
              <a:bodyPr>
                <a:normAutofit/>
              </a:bodyPr>
              <a:lstStyle/>
              <a:p>
                <a:r>
                  <a:rPr lang="en-US" sz="2000" dirty="0">
                    <a:latin typeface="Arial" panose="020B0604020202020204" pitchFamily="34" charset="0"/>
                    <a:cs typeface="Arial" panose="020B0604020202020204" pitchFamily="34" charset="0"/>
                  </a:rPr>
                  <a:t>We follow standard hypothesis testing for the slope parameters in a linear regression model</a:t>
                </a:r>
              </a:p>
              <a:p>
                <a:r>
                  <a:rPr lang="en-US" sz="2000" dirty="0">
                    <a:latin typeface="Arial" panose="020B0604020202020204" pitchFamily="34" charset="0"/>
                    <a:cs typeface="Arial" panose="020B0604020202020204" pitchFamily="34" charset="0"/>
                  </a:rPr>
                  <a:t>First, specify the null and alternative</a:t>
                </a:r>
              </a:p>
              <a:p>
                <a:pPr lvl="1"/>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𝐻</m:t>
                        </m:r>
                      </m:e>
                      <m:sub>
                        <m:r>
                          <a:rPr lang="en-US" sz="2000" b="0" i="1">
                            <a:latin typeface="Cambria Math" panose="02040503050406030204" pitchFamily="18" charset="0"/>
                          </a:rPr>
                          <m:t>𝑜</m:t>
                        </m:r>
                      </m:sub>
                    </m:sSub>
                    <m:r>
                      <a:rPr lang="en-US" sz="2000" b="0" i="1">
                        <a:latin typeface="Cambria Math" panose="02040503050406030204" pitchFamily="18" charset="0"/>
                      </a:rPr>
                      <m:t>: </m:t>
                    </m:r>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0</a:t>
                </a:r>
              </a:p>
              <a:p>
                <a:pPr lvl="1"/>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𝐻</m:t>
                        </m:r>
                      </m:e>
                      <m:sub>
                        <m:r>
                          <a:rPr lang="en-US" sz="2000" b="0" i="1">
                            <a:latin typeface="Cambria Math" panose="02040503050406030204" pitchFamily="18" charset="0"/>
                          </a:rPr>
                          <m:t>1</m:t>
                        </m:r>
                      </m:sub>
                    </m:sSub>
                    <m:r>
                      <a:rPr lang="en-US" sz="2000" b="0" i="1">
                        <a:latin typeface="Cambria Math" panose="02040503050406030204" pitchFamily="18" charset="0"/>
                      </a:rPr>
                      <m:t>: </m:t>
                    </m:r>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 </m:t>
                    </m:r>
                  </m:oMath>
                </a14:m>
                <a:r>
                  <a:rPr lang="en-US" sz="2000" dirty="0">
                    <a:latin typeface="Arial" panose="020B0604020202020204" pitchFamily="34" charset="0"/>
                    <a:cs typeface="Arial" panose="020B0604020202020204" pitchFamily="34" charset="0"/>
                  </a:rPr>
                  <a:t>0</a:t>
                </a:r>
              </a:p>
              <a:p>
                <a:r>
                  <a:rPr lang="en-US" sz="2000" dirty="0">
                    <a:latin typeface="Arial" panose="020B0604020202020204" pitchFamily="34" charset="0"/>
                    <a:cs typeface="Arial" panose="020B0604020202020204" pitchFamily="34" charset="0"/>
                  </a:rPr>
                  <a:t>Second, calculate the test statistic</a:t>
                </a:r>
              </a:p>
              <a:p>
                <a:pPr lvl="1"/>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𝑡</m:t>
                        </m:r>
                      </m:e>
                      <m:sup>
                        <m:r>
                          <a:rPr lang="en-US" sz="2000" b="0" i="1">
                            <a:latin typeface="Cambria Math" panose="02040503050406030204" pitchFamily="18" charset="0"/>
                          </a:rPr>
                          <m:t>∗</m:t>
                        </m:r>
                      </m:sup>
                    </m:sSup>
                    <m:r>
                      <a:rPr lang="en-US" sz="2000" b="0" i="1">
                        <a:latin typeface="Cambria Math" panose="02040503050406030204" pitchFamily="18" charset="0"/>
                      </a:rPr>
                      <m:t>=</m:t>
                    </m:r>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num>
                      <m:den>
                        <m:f>
                          <m:fPr>
                            <m:type m:val="skw"/>
                            <m:ctrlPr>
                              <a:rPr lang="en-US" sz="2000" i="1" smtClean="0">
                                <a:latin typeface="Cambria Math" panose="02040503050406030204" pitchFamily="18" charset="0"/>
                              </a:rPr>
                            </m:ctrlPr>
                          </m:fPr>
                          <m:num>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𝑀𝑆𝐸</m:t>
                                </m:r>
                              </m:e>
                            </m:rad>
                          </m:num>
                          <m:den>
                            <m:rad>
                              <m:radPr>
                                <m:degHide m:val="on"/>
                                <m:ctrlPr>
                                  <a:rPr lang="en-US" sz="2000" i="1" smtClean="0">
                                    <a:latin typeface="Cambria Math" panose="02040503050406030204" pitchFamily="18" charset="0"/>
                                  </a:rPr>
                                </m:ctrlPr>
                              </m:radPr>
                              <m:deg/>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e>
                            </m:rad>
                          </m:den>
                        </m:f>
                      </m:den>
                    </m:f>
                    <m:r>
                      <a:rPr lang="en-US" sz="2000" b="0" i="1" smtClean="0">
                        <a:latin typeface="Cambria Math" panose="02040503050406030204" pitchFamily="18" charset="0"/>
                      </a:rPr>
                      <m:t>=</m:t>
                    </m:r>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𝑏</m:t>
                            </m:r>
                          </m:e>
                          <m:sub>
                            <m:r>
                              <a:rPr lang="en-US" sz="2000" b="0" i="1">
                                <a:latin typeface="Cambria Math" panose="02040503050406030204" pitchFamily="18" charset="0"/>
                              </a:rPr>
                              <m:t>1</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num>
                      <m:den>
                        <m:r>
                          <a:rPr lang="en-US" sz="2000" b="0" i="1">
                            <a:latin typeface="Cambria Math" panose="02040503050406030204" pitchFamily="18" charset="0"/>
                          </a:rPr>
                          <m:t>𝑠𝑒</m:t>
                        </m:r>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𝑏</m:t>
                            </m:r>
                          </m:e>
                          <m:sub>
                            <m:r>
                              <a:rPr lang="en-US" sz="2000" b="0" i="1">
                                <a:latin typeface="Cambria Math" panose="02040503050406030204" pitchFamily="18" charset="0"/>
                              </a:rPr>
                              <m:t>1</m:t>
                            </m:r>
                          </m:sub>
                        </m:sSub>
                        <m:r>
                          <a:rPr lang="en-US" sz="2000" b="0" i="1">
                            <a:latin typeface="Cambria Math" panose="02040503050406030204" pitchFamily="18" charset="0"/>
                          </a:rPr>
                          <m:t>)</m:t>
                        </m:r>
                      </m:den>
                    </m:f>
                  </m:oMath>
                </a14:m>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Calculate the p-value**</a:t>
                </a:r>
              </a:p>
              <a:p>
                <a:pPr lvl="1"/>
                <a:r>
                  <a:rPr lang="en-US" sz="2000" dirty="0">
                    <a:latin typeface="Arial" panose="020B0604020202020204" pitchFamily="34" charset="0"/>
                    <a:cs typeface="Arial" panose="020B0604020202020204" pitchFamily="34" charset="0"/>
                  </a:rPr>
                  <a:t>The p-value is determined by referring to a t-distribution with </a:t>
                </a:r>
                <a:r>
                  <a:rPr lang="en-US" sz="2000" i="1" dirty="0">
                    <a:latin typeface="Arial" panose="020B0604020202020204" pitchFamily="34" charset="0"/>
                    <a:cs typeface="Arial" panose="020B0604020202020204" pitchFamily="34" charset="0"/>
                  </a:rPr>
                  <a:t>n – </a:t>
                </a:r>
                <a:r>
                  <a:rPr lang="en-US" sz="2000" dirty="0">
                    <a:latin typeface="Arial" panose="020B0604020202020204" pitchFamily="34" charset="0"/>
                    <a:cs typeface="Arial" panose="020B0604020202020204" pitchFamily="34" charset="0"/>
                  </a:rPr>
                  <a:t>2</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df</a:t>
                </a:r>
                <a:r>
                  <a:rPr lang="en-US" sz="2000" i="1"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Decision: If </a:t>
                </a:r>
                <a:r>
                  <a:rPr lang="en-US" sz="2000" i="1" dirty="0">
                    <a:latin typeface="Arial" panose="020B0604020202020204" pitchFamily="34" charset="0"/>
                    <a:cs typeface="Arial" panose="020B0604020202020204" pitchFamily="34" charset="0"/>
                  </a:rPr>
                  <a:t>p-value &lt; </a:t>
                </a:r>
                <a14:m>
                  <m:oMath xmlns:m="http://schemas.openxmlformats.org/officeDocument/2006/math">
                    <m:r>
                      <a:rPr lang="en-US" sz="2000" i="1">
                        <a:latin typeface="Cambria Math" panose="02040503050406030204" pitchFamily="18" charset="0"/>
                        <a:ea typeface="Cambria Math" panose="02040503050406030204" pitchFamily="18" charset="0"/>
                      </a:rPr>
                      <m:t>𝛼</m:t>
                    </m:r>
                  </m:oMath>
                </a14:m>
                <a:r>
                  <a:rPr lang="en-US" sz="2000" dirty="0">
                    <a:latin typeface="Arial" panose="020B0604020202020204" pitchFamily="34" charset="0"/>
                    <a:cs typeface="Arial" panose="020B0604020202020204" pitchFamily="34" charset="0"/>
                  </a:rPr>
                  <a:t>		  reject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𝐻</m:t>
                        </m:r>
                      </m:e>
                      <m:sub>
                        <m:r>
                          <a:rPr lang="en-US" sz="2000" b="0" i="1">
                            <a:latin typeface="Cambria Math" panose="02040503050406030204" pitchFamily="18" charset="0"/>
                          </a:rPr>
                          <m:t>𝑜</m:t>
                        </m:r>
                      </m:sub>
                    </m:sSub>
                  </m:oMath>
                </a14:m>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D543290D-3582-D081-927C-51CD23DD4796}"/>
                  </a:ext>
                </a:extLst>
              </p:cNvPr>
              <p:cNvSpPr>
                <a:spLocks noGrp="1" noRot="1" noChangeAspect="1" noMove="1" noResize="1" noEditPoints="1" noAdjustHandles="1" noChangeArrowheads="1" noChangeShapeType="1" noTextEdit="1"/>
              </p:cNvSpPr>
              <p:nvPr>
                <p:ph idx="1"/>
              </p:nvPr>
            </p:nvSpPr>
            <p:spPr>
              <a:xfrm>
                <a:off x="299185" y="863098"/>
                <a:ext cx="10515600" cy="4351338"/>
              </a:xfrm>
              <a:blipFill>
                <a:blip r:embed="rId3"/>
                <a:stretch>
                  <a:fillRect l="-522" t="-1403"/>
                </a:stretch>
              </a:blipFill>
            </p:spPr>
            <p:txBody>
              <a:bodyPr/>
              <a:lstStyle/>
              <a:p>
                <a:r>
                  <a:rPr lang="en-US">
                    <a:noFill/>
                  </a:rPr>
                  <a:t> </a:t>
                </a:r>
              </a:p>
            </p:txBody>
          </p:sp>
        </mc:Fallback>
      </mc:AlternateContent>
      <p:sp>
        <p:nvSpPr>
          <p:cNvPr id="6" name="Arrow: Right 5">
            <a:extLst>
              <a:ext uri="{FF2B5EF4-FFF2-40B4-BE49-F238E27FC236}">
                <a16:creationId xmlns:a16="http://schemas.microsoft.com/office/drawing/2014/main" id="{B5CC6430-3956-4462-86E6-80FFC655192D}"/>
              </a:ext>
            </a:extLst>
          </p:cNvPr>
          <p:cNvSpPr/>
          <p:nvPr/>
        </p:nvSpPr>
        <p:spPr>
          <a:xfrm>
            <a:off x="3352878" y="4514375"/>
            <a:ext cx="1575256" cy="37280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66460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2C1AB-74F7-027E-BDA6-8E955318FF58}"/>
              </a:ext>
            </a:extLst>
          </p:cNvPr>
          <p:cNvSpPr>
            <a:spLocks noGrp="1"/>
          </p:cNvSpPr>
          <p:nvPr>
            <p:ph type="title"/>
          </p:nvPr>
        </p:nvSpPr>
        <p:spPr>
          <a:xfrm>
            <a:off x="148689" y="117938"/>
            <a:ext cx="10804860" cy="709835"/>
          </a:xfrm>
        </p:spPr>
        <p:txBody>
          <a:bodyPr>
            <a:no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Confidence intervals as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8B65B2-3884-7590-1F28-A9992F3A979F}"/>
                  </a:ext>
                </a:extLst>
              </p:cNvPr>
              <p:cNvSpPr>
                <a:spLocks noGrp="1"/>
              </p:cNvSpPr>
              <p:nvPr>
                <p:ph idx="1"/>
              </p:nvPr>
            </p:nvSpPr>
            <p:spPr>
              <a:xfrm>
                <a:off x="345082" y="827773"/>
                <a:ext cx="10177116" cy="4836096"/>
              </a:xfrm>
            </p:spPr>
            <p:txBody>
              <a:bodyPr>
                <a:noAutofit/>
              </a:bodyPr>
              <a:lstStyle/>
              <a:p>
                <a:r>
                  <a:rPr lang="en-US" sz="2000" dirty="0">
                    <a:latin typeface="Arial" panose="020B0604020202020204" pitchFamily="34" charset="0"/>
                    <a:cs typeface="Arial" panose="020B0604020202020204" pitchFamily="34" charset="0"/>
                  </a:rPr>
                  <a:t>It is also useful to look at the confidence interval for </a:t>
                </a: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oMath>
                </a14:m>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As always, the CI is the sample estimate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 (</m:t>
                    </m:r>
                  </m:oMath>
                </a14:m>
                <a:r>
                  <a:rPr lang="en-US" sz="2000" b="0" i="1" dirty="0">
                    <a:latin typeface="Arial" panose="020B0604020202020204" pitchFamily="34" charset="0"/>
                    <a:ea typeface="Cambria Math" panose="02040503050406030204" pitchFamily="18" charset="0"/>
                    <a:cs typeface="Arial" panose="020B0604020202020204" pitchFamily="34" charset="0"/>
                  </a:rPr>
                  <a:t>t</a:t>
                </a:r>
                <a:r>
                  <a:rPr lang="en-US" sz="2000" b="0" dirty="0">
                    <a:latin typeface="Arial" panose="020B0604020202020204" pitchFamily="34" charset="0"/>
                    <a:ea typeface="Cambria Math" panose="02040503050406030204" pitchFamily="18" charset="0"/>
                    <a:cs typeface="Arial" panose="020B0604020202020204" pitchFamily="34" charset="0"/>
                  </a:rPr>
                  <a:t>-multiplier x standard error</a:t>
                </a:r>
                <a:r>
                  <a:rPr lang="en-US" sz="2000" b="0" i="1" dirty="0">
                    <a:latin typeface="Arial" panose="020B0604020202020204" pitchFamily="34" charset="0"/>
                    <a:ea typeface="Cambria Math" panose="02040503050406030204" pitchFamily="18" charset="0"/>
                    <a:cs typeface="Arial" panose="020B0604020202020204" pitchFamily="34" charset="0"/>
                  </a:rPr>
                  <a:t>)</a:t>
                </a:r>
              </a:p>
              <a:p>
                <a:pPr lvl="1"/>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r>
                      <a:rPr lang="en-US" sz="2000" b="0" i="1">
                        <a:latin typeface="Cambria Math" panose="02040503050406030204" pitchFamily="18" charset="0"/>
                        <a:ea typeface="Cambria Math" panose="02040503050406030204" pitchFamily="18" charset="0"/>
                      </a:rPr>
                      <m:t>±</m:t>
                    </m:r>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𝑡</m:t>
                        </m:r>
                      </m:e>
                      <m:sub>
                        <m:d>
                          <m:dPr>
                            <m:ctrlPr>
                              <a:rPr lang="en-US" sz="2000" b="0" i="1">
                                <a:latin typeface="Cambria Math" panose="02040503050406030204" pitchFamily="18" charset="0"/>
                                <a:ea typeface="Cambria Math" panose="02040503050406030204" pitchFamily="18" charset="0"/>
                              </a:rPr>
                            </m:ctrlPr>
                          </m:dPr>
                          <m:e>
                            <m:f>
                              <m:fPr>
                                <m:type m:val="skw"/>
                                <m:ctrlPr>
                                  <a:rPr lang="en-US" sz="2000" b="0" i="1">
                                    <a:latin typeface="Cambria Math" panose="02040503050406030204" pitchFamily="18" charset="0"/>
                                    <a:ea typeface="Cambria Math" panose="02040503050406030204" pitchFamily="18" charset="0"/>
                                  </a:rPr>
                                </m:ctrlPr>
                              </m:fPr>
                              <m:num>
                                <m:r>
                                  <a:rPr lang="en-US" sz="2000" b="0" i="1">
                                    <a:latin typeface="Cambria Math" panose="02040503050406030204" pitchFamily="18" charset="0"/>
                                    <a:ea typeface="Cambria Math" panose="02040503050406030204" pitchFamily="18" charset="0"/>
                                  </a:rPr>
                                  <m:t>𝛼</m:t>
                                </m:r>
                              </m:num>
                              <m:den>
                                <m:r>
                                  <a:rPr lang="en-US" sz="2000" b="0" i="1">
                                    <a:latin typeface="Cambria Math" panose="02040503050406030204" pitchFamily="18" charset="0"/>
                                    <a:ea typeface="Cambria Math" panose="02040503050406030204" pitchFamily="18" charset="0"/>
                                  </a:rPr>
                                  <m:t>2</m:t>
                                </m:r>
                              </m:den>
                            </m:f>
                            <m:r>
                              <a:rPr lang="en-US" sz="2000" b="0" i="1">
                                <a:latin typeface="Cambria Math" panose="02040503050406030204" pitchFamily="18" charset="0"/>
                                <a:ea typeface="Cambria Math" panose="02040503050406030204" pitchFamily="18" charset="0"/>
                              </a:rPr>
                              <m:t>,   </m:t>
                            </m:r>
                            <m:r>
                              <a:rPr lang="en-US" sz="2000" b="0" i="1">
                                <a:latin typeface="Cambria Math" panose="02040503050406030204" pitchFamily="18" charset="0"/>
                                <a:ea typeface="Cambria Math" panose="02040503050406030204" pitchFamily="18" charset="0"/>
                              </a:rPr>
                              <m:t>𝑛</m:t>
                            </m:r>
                            <m:r>
                              <a:rPr lang="en-US" sz="2000" b="0" i="1">
                                <a:latin typeface="Cambria Math" panose="02040503050406030204" pitchFamily="18" charset="0"/>
                                <a:ea typeface="Cambria Math" panose="02040503050406030204" pitchFamily="18" charset="0"/>
                              </a:rPr>
                              <m:t>−2</m:t>
                            </m:r>
                          </m:e>
                        </m:d>
                      </m:sub>
                    </m:sSub>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r>
                      <a:rPr lang="en-US" sz="2000" b="0" i="1">
                        <a:latin typeface="Cambria Math" panose="02040503050406030204" pitchFamily="18" charset="0"/>
                        <a:ea typeface="Cambria Math" panose="02040503050406030204" pitchFamily="18" charset="0"/>
                      </a:rPr>
                      <m:t>±1.96×</m:t>
                    </m:r>
                    <m:r>
                      <a:rPr lang="en-US" sz="2000" b="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sym typeface="Wingdings" panose="05000000000000000000" pitchFamily="2" charset="2"/>
                  </a:rPr>
                  <a:t>     </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CI provides the following information:</a:t>
                </a:r>
              </a:p>
              <a:p>
                <a:pPr lvl="1"/>
                <a:r>
                  <a:rPr lang="en-US" sz="2000" dirty="0">
                    <a:latin typeface="Arial" panose="020B0604020202020204" pitchFamily="34" charset="0"/>
                    <a:cs typeface="Arial" panose="020B0604020202020204" pitchFamily="34" charset="0"/>
                  </a:rPr>
                  <a:t>It gives us a range of values that is likely to contain the true unknown value of </a:t>
                </a: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sym typeface="Wingdings" panose="05000000000000000000" pitchFamily="2" charset="2"/>
                  </a:rPr>
                  <a:t> we are 95% certain that the true </a:t>
                </a:r>
                <a:r>
                  <a:rPr lang="en-US" sz="2000" u="sng" dirty="0">
                    <a:latin typeface="Arial" panose="020B0604020202020204" pitchFamily="34" charset="0"/>
                    <a:cs typeface="Arial" panose="020B0604020202020204" pitchFamily="34" charset="0"/>
                    <a:sym typeface="Wingdings" panose="05000000000000000000" pitchFamily="2" charset="2"/>
                  </a:rPr>
                  <a:t>population parameter </a:t>
                </a:r>
                <a:r>
                  <a:rPr lang="en-US" sz="2000" dirty="0">
                    <a:latin typeface="Arial" panose="020B0604020202020204" pitchFamily="34" charset="0"/>
                    <a:cs typeface="Arial" panose="020B0604020202020204" pitchFamily="34" charset="0"/>
                    <a:sym typeface="Wingdings" panose="05000000000000000000" pitchFamily="2" charset="2"/>
                  </a:rPr>
                  <a:t>lies within the confidence interval; and</a:t>
                </a:r>
              </a:p>
              <a:p>
                <a:pPr lvl="1"/>
                <a:r>
                  <a:rPr lang="en-US" sz="2000" dirty="0">
                    <a:latin typeface="Arial" panose="020B0604020202020204" pitchFamily="34" charset="0"/>
                    <a:cs typeface="Arial" panose="020B0604020202020204" pitchFamily="34" charset="0"/>
                    <a:sym typeface="Wingdings" panose="05000000000000000000" pitchFamily="2" charset="2"/>
                  </a:rPr>
                  <a:t>It gives us the answer to whether there is a significant relationship between X and Y  if 0 lies in the confidence interval then we know to not </a:t>
                </a:r>
                <a:r>
                  <a:rPr lang="en-US" sz="2000" u="sng" dirty="0">
                    <a:latin typeface="Arial" panose="020B0604020202020204" pitchFamily="34" charset="0"/>
                    <a:cs typeface="Arial" panose="020B0604020202020204" pitchFamily="34" charset="0"/>
                    <a:sym typeface="Wingdings" panose="05000000000000000000" pitchFamily="2" charset="2"/>
                  </a:rPr>
                  <a:t>reject the null hypothesis. </a:t>
                </a:r>
                <a:r>
                  <a:rPr lang="en-US" sz="2000" dirty="0">
                    <a:latin typeface="Arial" panose="020B0604020202020204" pitchFamily="34" charset="0"/>
                    <a:cs typeface="Arial" panose="020B0604020202020204" pitchFamily="34" charset="0"/>
                    <a:sym typeface="Wingdings" panose="05000000000000000000" pitchFamily="2" charset="2"/>
                  </a:rPr>
                  <a:t>Why?</a:t>
                </a:r>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68B65B2-3884-7590-1F28-A9992F3A979F}"/>
                  </a:ext>
                </a:extLst>
              </p:cNvPr>
              <p:cNvSpPr>
                <a:spLocks noGrp="1" noRot="1" noChangeAspect="1" noMove="1" noResize="1" noEditPoints="1" noAdjustHandles="1" noChangeArrowheads="1" noChangeShapeType="1" noTextEdit="1"/>
              </p:cNvSpPr>
              <p:nvPr>
                <p:ph idx="1"/>
              </p:nvPr>
            </p:nvSpPr>
            <p:spPr>
              <a:xfrm>
                <a:off x="345082" y="827773"/>
                <a:ext cx="10177116" cy="4836096"/>
              </a:xfrm>
              <a:blipFill>
                <a:blip r:embed="rId2"/>
                <a:stretch>
                  <a:fillRect l="-539" t="-1261" r="-1019"/>
                </a:stretch>
              </a:blipFill>
            </p:spPr>
            <p:txBody>
              <a:bodyPr/>
              <a:lstStyle/>
              <a:p>
                <a:r>
                  <a:rPr lang="en-US">
                    <a:noFill/>
                  </a:rPr>
                  <a:t> </a:t>
                </a:r>
              </a:p>
            </p:txBody>
          </p:sp>
        </mc:Fallback>
      </mc:AlternateContent>
    </p:spTree>
    <p:extLst>
      <p:ext uri="{BB962C8B-B14F-4D97-AF65-F5344CB8AC3E}">
        <p14:creationId xmlns:p14="http://schemas.microsoft.com/office/powerpoint/2010/main" val="37318167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40E2-62AC-7877-BFAE-E18F0125160F}"/>
              </a:ext>
            </a:extLst>
          </p:cNvPr>
          <p:cNvSpPr>
            <a:spLocks noGrp="1"/>
          </p:cNvSpPr>
          <p:nvPr>
            <p:ph type="title"/>
          </p:nvPr>
        </p:nvSpPr>
        <p:spPr>
          <a:xfrm>
            <a:off x="175645" y="138265"/>
            <a:ext cx="10515600" cy="712904"/>
          </a:xfrm>
        </p:spPr>
        <p:txBody>
          <a:bodyPr>
            <a:normAutofit/>
          </a:bodyPr>
          <a:lstStyle/>
          <a:p>
            <a:r>
              <a:rPr lang="en-US" sz="3600" b="1" dirty="0">
                <a:latin typeface="Arial" panose="020B0604020202020204" pitchFamily="34" charset="0"/>
                <a:cs typeface="Arial" panose="020B0604020202020204" pitchFamily="34" charset="0"/>
              </a:rPr>
              <a:t>Critical: </a:t>
            </a:r>
            <a:r>
              <a:rPr lang="en-US" sz="3600" dirty="0">
                <a:latin typeface="Arial" panose="020B0604020202020204" pitchFamily="34" charset="0"/>
                <a:cs typeface="Arial" panose="020B0604020202020204" pitchFamily="34" charset="0"/>
              </a:rPr>
              <a:t>Inference, Error and Associations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6836B0C-7692-71D8-FAAA-CA84AC64A30A}"/>
                  </a:ext>
                </a:extLst>
              </p:cNvPr>
              <p:cNvSpPr>
                <a:spLocks noGrp="1"/>
              </p:cNvSpPr>
              <p:nvPr>
                <p:ph type="body" idx="1"/>
              </p:nvPr>
            </p:nvSpPr>
            <p:spPr>
              <a:xfrm>
                <a:off x="522153" y="841829"/>
                <a:ext cx="5157787" cy="823912"/>
              </a:xfrm>
            </p:spPr>
            <p:txBody>
              <a:bodyPr>
                <a:noAutofit/>
              </a:bodyPr>
              <a:lstStyle/>
              <a:p>
                <a:r>
                  <a:rPr lang="en-US" dirty="0">
                    <a:latin typeface="Arial" panose="020B0604020202020204" pitchFamily="34" charset="0"/>
                    <a:cs typeface="Arial" panose="020B0604020202020204" pitchFamily="34" charset="0"/>
                  </a:rPr>
                  <a:t>We do not reject the null hypothesis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a14:m>
                <a:r>
                  <a:rPr lang="en-US" b="0" dirty="0">
                    <a:latin typeface="Arial" panose="020B0604020202020204" pitchFamily="34" charset="0"/>
                    <a:cs typeface="Arial" panose="020B0604020202020204" pitchFamily="34" charset="0"/>
                  </a:rPr>
                  <a:t>= 0</a:t>
                </a:r>
              </a:p>
            </p:txBody>
          </p:sp>
        </mc:Choice>
        <mc:Fallback xmlns="">
          <p:sp>
            <p:nvSpPr>
              <p:cNvPr id="4" name="Text Placeholder 3">
                <a:extLst>
                  <a:ext uri="{FF2B5EF4-FFF2-40B4-BE49-F238E27FC236}">
                    <a16:creationId xmlns:a16="http://schemas.microsoft.com/office/drawing/2014/main" id="{26836B0C-7692-71D8-FAAA-CA84AC64A30A}"/>
                  </a:ext>
                </a:extLst>
              </p:cNvPr>
              <p:cNvSpPr>
                <a:spLocks noGrp="1" noRot="1" noChangeAspect="1" noMove="1" noResize="1" noEditPoints="1" noAdjustHandles="1" noChangeArrowheads="1" noChangeShapeType="1" noTextEdit="1"/>
              </p:cNvSpPr>
              <p:nvPr>
                <p:ph type="body" idx="1"/>
              </p:nvPr>
            </p:nvSpPr>
            <p:spPr>
              <a:xfrm>
                <a:off x="522153" y="841829"/>
                <a:ext cx="5157787" cy="823912"/>
              </a:xfrm>
              <a:blipFill>
                <a:blip r:embed="rId3"/>
                <a:stretch>
                  <a:fillRect l="-1891" t="-741" b="-17778"/>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2C452299-1E13-03CF-218A-229A1B67E5A8}"/>
              </a:ext>
            </a:extLst>
          </p:cNvPr>
          <p:cNvSpPr>
            <a:spLocks noGrp="1"/>
          </p:cNvSpPr>
          <p:nvPr>
            <p:ph sz="half" idx="2"/>
          </p:nvPr>
        </p:nvSpPr>
        <p:spPr>
          <a:xfrm>
            <a:off x="522154" y="1734850"/>
            <a:ext cx="5157787" cy="3684588"/>
          </a:xfrm>
        </p:spPr>
        <p:txBody>
          <a:bodyPr>
            <a:normAutofit/>
          </a:bodyPr>
          <a:lstStyle/>
          <a:p>
            <a:r>
              <a:rPr lang="en-US" sz="2000" b="0" i="0" dirty="0">
                <a:effectLst/>
                <a:latin typeface="Arial" panose="020B0604020202020204" pitchFamily="34" charset="0"/>
                <a:cs typeface="Arial" panose="020B0604020202020204" pitchFamily="34" charset="0"/>
              </a:rPr>
              <a:t>But</a:t>
            </a:r>
          </a:p>
          <a:p>
            <a:pPr lvl="1"/>
            <a:r>
              <a:rPr lang="en-US" sz="1600" b="0" i="0" dirty="0">
                <a:effectLst/>
                <a:latin typeface="Arial" panose="020B0604020202020204" pitchFamily="34" charset="0"/>
                <a:cs typeface="Arial" panose="020B0604020202020204" pitchFamily="34" charset="0"/>
              </a:rPr>
              <a:t>We committed a Type II error (did not reject the null, but should have)</a:t>
            </a:r>
          </a:p>
          <a:p>
            <a:pPr lvl="1"/>
            <a:r>
              <a:rPr lang="en-US" sz="1600" b="0" i="0" dirty="0">
                <a:effectLst/>
                <a:latin typeface="Arial" panose="020B0604020202020204" pitchFamily="34" charset="0"/>
                <a:cs typeface="Arial" panose="020B0604020202020204" pitchFamily="34" charset="0"/>
              </a:rPr>
              <a:t>There really is not much of a linear relationship between </a:t>
            </a:r>
            <a:r>
              <a:rPr lang="en-US" sz="1600" b="0" i="1" dirty="0">
                <a:effectLst/>
                <a:latin typeface="Arial" panose="020B0604020202020204" pitchFamily="34" charset="0"/>
                <a:cs typeface="Arial" panose="020B0604020202020204" pitchFamily="34" charset="0"/>
              </a:rPr>
              <a:t>x</a:t>
            </a:r>
            <a:r>
              <a:rPr lang="en-US" sz="1600" b="0" i="0" dirty="0">
                <a:effectLst/>
                <a:latin typeface="Arial" panose="020B0604020202020204" pitchFamily="34" charset="0"/>
                <a:cs typeface="Arial" panose="020B0604020202020204" pitchFamily="34" charset="0"/>
              </a:rPr>
              <a:t> and </a:t>
            </a:r>
            <a:r>
              <a:rPr lang="en-US" sz="1600" b="0" i="1" dirty="0">
                <a:effectLst/>
                <a:latin typeface="Arial" panose="020B0604020202020204" pitchFamily="34" charset="0"/>
                <a:cs typeface="Arial" panose="020B0604020202020204" pitchFamily="34" charset="0"/>
              </a:rPr>
              <a:t>y</a:t>
            </a:r>
            <a:endParaRPr lang="en-US" sz="1600" b="0" i="0" dirty="0">
              <a:effectLst/>
              <a:latin typeface="Arial" panose="020B0604020202020204" pitchFamily="34" charset="0"/>
              <a:cs typeface="Arial" panose="020B0604020202020204" pitchFamily="34" charset="0"/>
            </a:endParaRPr>
          </a:p>
          <a:p>
            <a:pPr lvl="1"/>
            <a:r>
              <a:rPr lang="en-US" sz="1600" b="0" i="0" dirty="0">
                <a:effectLst/>
                <a:latin typeface="Arial" panose="020B0604020202020204" pitchFamily="34" charset="0"/>
                <a:cs typeface="Arial" panose="020B0604020202020204" pitchFamily="34" charset="0"/>
              </a:rPr>
              <a:t>There is a relationship between </a:t>
            </a:r>
            <a:r>
              <a:rPr lang="en-US" sz="1600" b="0" i="1" dirty="0">
                <a:effectLst/>
                <a:latin typeface="Arial" panose="020B0604020202020204" pitchFamily="34" charset="0"/>
                <a:cs typeface="Arial" panose="020B0604020202020204" pitchFamily="34" charset="0"/>
              </a:rPr>
              <a:t>x</a:t>
            </a:r>
            <a:r>
              <a:rPr lang="en-US" sz="1600" b="0" i="0" dirty="0">
                <a:effectLst/>
                <a:latin typeface="Arial" panose="020B0604020202020204" pitchFamily="34" charset="0"/>
                <a:cs typeface="Arial" panose="020B0604020202020204" pitchFamily="34" charset="0"/>
              </a:rPr>
              <a:t> and </a:t>
            </a:r>
            <a:r>
              <a:rPr lang="en-US" sz="1600" b="0" i="1" dirty="0">
                <a:effectLst/>
                <a:latin typeface="Arial" panose="020B0604020202020204" pitchFamily="34" charset="0"/>
                <a:cs typeface="Arial" panose="020B0604020202020204" pitchFamily="34" charset="0"/>
              </a:rPr>
              <a:t>y</a:t>
            </a:r>
            <a:r>
              <a:rPr lang="en-US" sz="1600" b="0" i="0" dirty="0">
                <a:effectLst/>
                <a:latin typeface="Arial" panose="020B0604020202020204" pitchFamily="34" charset="0"/>
                <a:cs typeface="Arial" panose="020B0604020202020204" pitchFamily="34" charset="0"/>
              </a:rPr>
              <a:t> — it is just not linear</a:t>
            </a:r>
            <a:endParaRPr lang="en-US"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E104A26-AF5C-268C-0468-FB59413CD76D}"/>
                  </a:ext>
                </a:extLst>
              </p:cNvPr>
              <p:cNvSpPr>
                <a:spLocks noGrp="1"/>
              </p:cNvSpPr>
              <p:nvPr>
                <p:ph type="body" sz="quarter" idx="3"/>
              </p:nvPr>
            </p:nvSpPr>
            <p:spPr>
              <a:xfrm>
                <a:off x="5918767" y="823149"/>
                <a:ext cx="5183188" cy="823912"/>
              </a:xfrm>
            </p:spPr>
            <p:txBody>
              <a:bodyPr>
                <a:noAutofit/>
              </a:bodyPr>
              <a:lstStyle/>
              <a:p>
                <a:r>
                  <a:rPr lang="en-US" dirty="0">
                    <a:latin typeface="Arial" panose="020B0604020202020204" pitchFamily="34" charset="0"/>
                    <a:cs typeface="Arial" panose="020B0604020202020204" pitchFamily="34" charset="0"/>
                  </a:rPr>
                  <a:t>We do reject the null hypothesis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dirty="0" smtClean="0">
                        <a:latin typeface="Cambria Math" panose="02040503050406030204" pitchFamily="18" charset="0"/>
                        <a:ea typeface="Cambria Math" panose="02040503050406030204" pitchFamily="18" charset="0"/>
                      </a:rPr>
                      <m:t>≠ </m:t>
                    </m:r>
                    <m:r>
                      <m:rPr>
                        <m:nor/>
                      </m:rPr>
                      <a:rPr lang="en-US" b="0" dirty="0" smtClean="0">
                        <a:latin typeface="Arial" panose="020B0604020202020204" pitchFamily="34" charset="0"/>
                        <a:cs typeface="Arial" panose="020B0604020202020204" pitchFamily="34" charset="0"/>
                      </a:rPr>
                      <m:t>0</m:t>
                    </m:r>
                  </m:oMath>
                </a14:m>
                <a:endParaRPr lang="en-US" b="0" dirty="0">
                  <a:latin typeface="Arial" panose="020B0604020202020204" pitchFamily="34" charset="0"/>
                  <a:cs typeface="Arial" panose="020B0604020202020204" pitchFamily="34" charset="0"/>
                </a:endParaRPr>
              </a:p>
            </p:txBody>
          </p:sp>
        </mc:Choice>
        <mc:Fallback xmlns="">
          <p:sp>
            <p:nvSpPr>
              <p:cNvPr id="6" name="Text Placeholder 5">
                <a:extLst>
                  <a:ext uri="{FF2B5EF4-FFF2-40B4-BE49-F238E27FC236}">
                    <a16:creationId xmlns:a16="http://schemas.microsoft.com/office/drawing/2014/main" id="{FE104A26-AF5C-268C-0468-FB59413CD76D}"/>
                  </a:ext>
                </a:extLst>
              </p:cNvPr>
              <p:cNvSpPr>
                <a:spLocks noGrp="1" noRot="1" noChangeAspect="1" noMove="1" noResize="1" noEditPoints="1" noAdjustHandles="1" noChangeArrowheads="1" noChangeShapeType="1" noTextEdit="1"/>
              </p:cNvSpPr>
              <p:nvPr>
                <p:ph type="body" sz="quarter" idx="3"/>
              </p:nvPr>
            </p:nvSpPr>
            <p:spPr>
              <a:xfrm>
                <a:off x="5918767" y="823149"/>
                <a:ext cx="5183188" cy="823912"/>
              </a:xfrm>
              <a:blipFill>
                <a:blip r:embed="rId4"/>
                <a:stretch>
                  <a:fillRect l="-1882" t="-741" b="-17778"/>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39BD73E3-F6DD-CD20-83C5-F1208230B2C9}"/>
              </a:ext>
            </a:extLst>
          </p:cNvPr>
          <p:cNvSpPr>
            <a:spLocks noGrp="1"/>
          </p:cNvSpPr>
          <p:nvPr>
            <p:ph sz="quarter" idx="4"/>
          </p:nvPr>
        </p:nvSpPr>
        <p:spPr>
          <a:xfrm>
            <a:off x="5918767" y="1734850"/>
            <a:ext cx="5183188" cy="3684588"/>
          </a:xfrm>
        </p:spPr>
        <p:txBody>
          <a:bodyPr>
            <a:normAutofit/>
          </a:bodyPr>
          <a:lstStyle/>
          <a:p>
            <a:r>
              <a:rPr lang="en-US" sz="2000" b="0" i="0" dirty="0">
                <a:effectLst/>
                <a:latin typeface="Arial" panose="020B0604020202020204" pitchFamily="34" charset="0"/>
                <a:cs typeface="Arial" panose="020B0604020202020204" pitchFamily="34" charset="0"/>
              </a:rPr>
              <a:t>But</a:t>
            </a:r>
          </a:p>
          <a:p>
            <a:pPr lvl="1"/>
            <a:r>
              <a:rPr lang="en-US" sz="1600" b="0" i="0" dirty="0">
                <a:effectLst/>
                <a:latin typeface="Arial" panose="020B0604020202020204" pitchFamily="34" charset="0"/>
                <a:cs typeface="Arial" panose="020B0604020202020204" pitchFamily="34" charset="0"/>
              </a:rPr>
              <a:t>We committed a Type I error (rejected the null but should not have)</a:t>
            </a:r>
          </a:p>
          <a:p>
            <a:pPr lvl="1"/>
            <a:r>
              <a:rPr lang="en-US" sz="1600" b="0" i="0" dirty="0">
                <a:effectLst/>
                <a:latin typeface="Arial" panose="020B0604020202020204" pitchFamily="34" charset="0"/>
                <a:cs typeface="Arial" panose="020B0604020202020204" pitchFamily="34" charset="0"/>
              </a:rPr>
              <a:t>The relationship between </a:t>
            </a:r>
            <a:r>
              <a:rPr lang="en-US" sz="1600" b="0" i="1" dirty="0">
                <a:effectLst/>
                <a:latin typeface="Arial" panose="020B0604020202020204" pitchFamily="34" charset="0"/>
                <a:cs typeface="Arial" panose="020B0604020202020204" pitchFamily="34" charset="0"/>
              </a:rPr>
              <a:t>x</a:t>
            </a:r>
            <a:r>
              <a:rPr lang="en-US" sz="1600" b="0" i="0" dirty="0">
                <a:effectLst/>
                <a:latin typeface="Arial" panose="020B0604020202020204" pitchFamily="34" charset="0"/>
                <a:cs typeface="Arial" panose="020B0604020202020204" pitchFamily="34" charset="0"/>
              </a:rPr>
              <a:t> and </a:t>
            </a:r>
            <a:r>
              <a:rPr lang="en-US" sz="1600" b="0" i="1" dirty="0">
                <a:effectLst/>
                <a:latin typeface="Arial" panose="020B0604020202020204" pitchFamily="34" charset="0"/>
                <a:cs typeface="Arial" panose="020B0604020202020204" pitchFamily="34" charset="0"/>
              </a:rPr>
              <a:t>y</a:t>
            </a:r>
            <a:r>
              <a:rPr lang="en-US" sz="1600" b="0" i="0" dirty="0">
                <a:effectLst/>
                <a:latin typeface="Arial" panose="020B0604020202020204" pitchFamily="34" charset="0"/>
                <a:cs typeface="Arial" panose="020B0604020202020204" pitchFamily="34" charset="0"/>
              </a:rPr>
              <a:t> is indeed linear.</a:t>
            </a:r>
          </a:p>
          <a:p>
            <a:pPr lvl="1"/>
            <a:r>
              <a:rPr lang="en-US" sz="1600" b="0" i="0" dirty="0">
                <a:effectLst/>
                <a:latin typeface="Arial" panose="020B0604020202020204" pitchFamily="34" charset="0"/>
                <a:cs typeface="Arial" panose="020B0604020202020204" pitchFamily="34" charset="0"/>
              </a:rPr>
              <a:t>A linear function fits the data, okay, but a curved ("curvilinear") function would fit the data even better (i.e., the model is mis- specified)</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597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heel(1)">
                                      <p:cBhvr>
                                        <p:cTn id="7" dur="2000"/>
                                        <p:tgtEl>
                                          <p:spTgt spid="7">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heel(1)">
                                      <p:cBhvr>
                                        <p:cTn id="10" dur="2000"/>
                                        <p:tgtEl>
                                          <p:spTgt spid="7">
                                            <p:txEl>
                                              <p:pRg st="1" end="1"/>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wheel(1)">
                                      <p:cBhvr>
                                        <p:cTn id="13" dur="2000"/>
                                        <p:tgtEl>
                                          <p:spTgt spid="7">
                                            <p:txEl>
                                              <p:pRg st="2" end="2"/>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wheel(1)">
                                      <p:cBhvr>
                                        <p:cTn id="16" dur="2000"/>
                                        <p:tgtEl>
                                          <p:spTgt spid="7">
                                            <p:txEl>
                                              <p:pRg st="3" end="3"/>
                                            </p:tx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wheel(1)">
                                      <p:cBhvr>
                                        <p:cTn id="19"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4956A-4673-6BE6-2288-E81E7520C2F6}"/>
              </a:ext>
            </a:extLst>
          </p:cNvPr>
          <p:cNvSpPr>
            <a:spLocks noGrp="1"/>
          </p:cNvSpPr>
          <p:nvPr>
            <p:ph type="title"/>
          </p:nvPr>
        </p:nvSpPr>
        <p:spPr>
          <a:xfrm>
            <a:off x="222183" y="198029"/>
            <a:ext cx="10515600" cy="1325563"/>
          </a:xfrm>
        </p:spPr>
        <p:txBody>
          <a:bodyPr>
            <a:normAutofit/>
          </a:bodyPr>
          <a:lstStyle/>
          <a:p>
            <a:r>
              <a:rPr lang="en-US" sz="3600" dirty="0">
                <a:latin typeface="Arial" panose="020B0604020202020204" pitchFamily="34" charset="0"/>
                <a:cs typeface="Arial" panose="020B0604020202020204" pitchFamily="34" charset="0"/>
              </a:rPr>
              <a:t>Variable definitions in the school admissions dataset: </a:t>
            </a:r>
            <a:r>
              <a:rPr lang="en-US" sz="3600" dirty="0">
                <a:solidFill>
                  <a:srgbClr val="FF0000"/>
                </a:solidFill>
                <a:latin typeface="Arial" panose="020B0604020202020204" pitchFamily="34" charset="0"/>
                <a:cs typeface="Arial" panose="020B0604020202020204" pitchFamily="34" charset="0"/>
              </a:rPr>
              <a:t>admissions.csv == </a:t>
            </a:r>
            <a:r>
              <a:rPr lang="en-US" sz="3600" dirty="0" err="1">
                <a:solidFill>
                  <a:srgbClr val="FF0000"/>
                </a:solidFill>
                <a:latin typeface="Arial" panose="020B0604020202020204" pitchFamily="34" charset="0"/>
                <a:cs typeface="Arial" panose="020B0604020202020204" pitchFamily="34" charset="0"/>
              </a:rPr>
              <a:t>admissions.jasp</a:t>
            </a:r>
            <a:endParaRPr lang="en-US" sz="3600" dirty="0">
              <a:solidFill>
                <a:srgbClr val="FF0000"/>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3F581163-09C2-3F27-21E7-CBEF813F7EE5}"/>
              </a:ext>
            </a:extLst>
          </p:cNvPr>
          <p:cNvGrpSpPr/>
          <p:nvPr/>
        </p:nvGrpSpPr>
        <p:grpSpPr>
          <a:xfrm>
            <a:off x="472306" y="1438288"/>
            <a:ext cx="5967186" cy="3508653"/>
            <a:chOff x="3650343" y="2490847"/>
            <a:chExt cx="5967186" cy="3508653"/>
          </a:xfrm>
        </p:grpSpPr>
        <p:pic>
          <p:nvPicPr>
            <p:cNvPr id="5" name="Picture 4">
              <a:extLst>
                <a:ext uri="{FF2B5EF4-FFF2-40B4-BE49-F238E27FC236}">
                  <a16:creationId xmlns:a16="http://schemas.microsoft.com/office/drawing/2014/main" id="{833F46C4-8C92-28E3-4540-1493080218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0343" y="2490847"/>
              <a:ext cx="5967186" cy="3148981"/>
            </a:xfrm>
            <a:prstGeom prst="rect">
              <a:avLst/>
            </a:prstGeom>
          </p:spPr>
        </p:pic>
        <p:sp>
          <p:nvSpPr>
            <p:cNvPr id="6" name="TextBox 5">
              <a:extLst>
                <a:ext uri="{FF2B5EF4-FFF2-40B4-BE49-F238E27FC236}">
                  <a16:creationId xmlns:a16="http://schemas.microsoft.com/office/drawing/2014/main" id="{B02718A6-4579-CB31-B73D-0CCFE3DC9EFF}"/>
                </a:ext>
              </a:extLst>
            </p:cNvPr>
            <p:cNvSpPr txBox="1"/>
            <p:nvPr/>
          </p:nvSpPr>
          <p:spPr>
            <a:xfrm>
              <a:off x="6433455" y="5353169"/>
              <a:ext cx="115932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mr-IN" sz="3600" b="0" i="0" u="none" strike="noStrike" kern="1200" cap="none" spc="0" normalizeH="0" baseline="0" noProof="0" dirty="0">
                  <a:ln>
                    <a:noFill/>
                  </a:ln>
                  <a:solidFill>
                    <a:prstClr val="black"/>
                  </a:solidFill>
                  <a:effectLst/>
                  <a:uLnTx/>
                  <a:uFillTx/>
                  <a:latin typeface="Cambria Math" charset="0"/>
                  <a:ea typeface="Cambria Math" charset="0"/>
                  <a:cs typeface="Cambria Math" charset="0"/>
                </a:rPr>
                <a:t>…</a:t>
              </a:r>
              <a:endParaRPr kumimoji="0" lang="en-US" sz="3600" b="0" i="0" u="none" strike="noStrike" kern="1200" cap="none" spc="0" normalizeH="0" baseline="0" noProof="0" dirty="0">
                <a:ln>
                  <a:noFill/>
                </a:ln>
                <a:solidFill>
                  <a:prstClr val="black"/>
                </a:solidFill>
                <a:effectLst/>
                <a:uLnTx/>
                <a:uFillTx/>
                <a:latin typeface="Cambria Math" charset="0"/>
                <a:ea typeface="Cambria Math" charset="0"/>
                <a:cs typeface="Cambria Math" charset="0"/>
              </a:endParaRPr>
            </a:p>
          </p:txBody>
        </p:sp>
      </p:grpSp>
      <p:sp>
        <p:nvSpPr>
          <p:cNvPr id="7" name="TextBox 6">
            <a:extLst>
              <a:ext uri="{FF2B5EF4-FFF2-40B4-BE49-F238E27FC236}">
                <a16:creationId xmlns:a16="http://schemas.microsoft.com/office/drawing/2014/main" id="{D29E7069-E45C-DCBF-8AB1-E9E0798BC9E2}"/>
              </a:ext>
            </a:extLst>
          </p:cNvPr>
          <p:cNvSpPr txBox="1"/>
          <p:nvPr/>
        </p:nvSpPr>
        <p:spPr>
          <a:xfrm>
            <a:off x="532840" y="5050380"/>
            <a:ext cx="6094878" cy="369332"/>
          </a:xfrm>
          <a:prstGeom prst="rect">
            <a:avLst/>
          </a:prstGeom>
          <a:noFill/>
        </p:spPr>
        <p:txBody>
          <a:bodyPr wrap="square">
            <a:spAutoFit/>
          </a:bodyPr>
          <a:lstStyle/>
          <a:p>
            <a:pPr algn="l">
              <a:buFont typeface="Arial" panose="020B0604020202020204" pitchFamily="34" charset="0"/>
              <a:buChar char="•"/>
            </a:pPr>
            <a:r>
              <a:rPr lang="en-US" b="0" i="0" u="sng" dirty="0">
                <a:solidFill>
                  <a:srgbClr val="93C54B"/>
                </a:solidFill>
                <a:effectLst/>
                <a:latin typeface="Roboto" panose="02000000000000000000" pitchFamily="2" charset="0"/>
                <a:hlinkClick r:id="rId3"/>
              </a:rPr>
              <a:t>JASP file: Predicting Math SAT scores</a:t>
            </a:r>
            <a:endParaRPr lang="en-US" b="0" i="0" dirty="0">
              <a:solidFill>
                <a:srgbClr val="343A40"/>
              </a:solidFill>
              <a:effectLst/>
              <a:latin typeface="Roboto" panose="02000000000000000000" pitchFamily="2" charset="0"/>
            </a:endParaRPr>
          </a:p>
        </p:txBody>
      </p:sp>
    </p:spTree>
    <p:extLst>
      <p:ext uri="{BB962C8B-B14F-4D97-AF65-F5344CB8AC3E}">
        <p14:creationId xmlns:p14="http://schemas.microsoft.com/office/powerpoint/2010/main" val="7130454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360F-BCED-702C-221B-CBA9ADC5CD15}"/>
              </a:ext>
            </a:extLst>
          </p:cNvPr>
          <p:cNvSpPr>
            <a:spLocks noGrp="1"/>
          </p:cNvSpPr>
          <p:nvPr>
            <p:ph type="title"/>
          </p:nvPr>
        </p:nvSpPr>
        <p:spPr>
          <a:xfrm>
            <a:off x="352425" y="222881"/>
            <a:ext cx="10515600" cy="1325563"/>
          </a:xfrm>
        </p:spPr>
        <p:txBody>
          <a:bodyPr>
            <a:normAutofit/>
          </a:bodyPr>
          <a:lstStyle/>
          <a:p>
            <a:r>
              <a:rPr lang="en-US" sz="3600" dirty="0">
                <a:latin typeface="Arial" panose="020B0604020202020204" pitchFamily="34" charset="0"/>
                <a:cs typeface="Arial" panose="020B0604020202020204" pitchFamily="34" charset="0"/>
              </a:rPr>
              <a:t>What you already know…Descriptive Statistics &amp; Relationships</a:t>
            </a:r>
          </a:p>
        </p:txBody>
      </p:sp>
      <p:sp>
        <p:nvSpPr>
          <p:cNvPr id="3" name="Rectangle 2">
            <a:extLst>
              <a:ext uri="{FF2B5EF4-FFF2-40B4-BE49-F238E27FC236}">
                <a16:creationId xmlns:a16="http://schemas.microsoft.com/office/drawing/2014/main" id="{21839507-B939-713D-E1E2-CE6BE1566A65}"/>
              </a:ext>
            </a:extLst>
          </p:cNvPr>
          <p:cNvSpPr/>
          <p:nvPr/>
        </p:nvSpPr>
        <p:spPr>
          <a:xfrm>
            <a:off x="8419061" y="4933082"/>
            <a:ext cx="732728" cy="274320"/>
          </a:xfrm>
          <a:prstGeom prst="rect">
            <a:avLst/>
          </a:prstGeom>
          <a:noFill/>
          <a:ln>
            <a:solidFill>
              <a:schemeClr val="tx1">
                <a:lumMod val="95000"/>
                <a:lumOff val="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w="6600">
                <a:solidFill>
                  <a:srgbClr val="ED7D31"/>
                </a:solidFill>
                <a:prstDash val="solid"/>
              </a:ln>
              <a:solidFill>
                <a:srgbClr val="FFFFFF"/>
              </a:solidFill>
              <a:effectLst>
                <a:outerShdw dist="38100" dir="2700000" algn="tl" rotWithShape="0">
                  <a:srgbClr val="ED7D31"/>
                </a:outerShdw>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9416C2C-BA2E-CFE6-8353-EB75B4F499EE}"/>
              </a:ext>
            </a:extLst>
          </p:cNvPr>
          <p:cNvSpPr txBox="1"/>
          <p:nvPr/>
        </p:nvSpPr>
        <p:spPr>
          <a:xfrm>
            <a:off x="7228289" y="1065091"/>
            <a:ext cx="396358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correlation between SAT math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score and SAT verbal score is .464.</a:t>
            </a:r>
          </a:p>
        </p:txBody>
      </p:sp>
      <p:graphicFrame>
        <p:nvGraphicFramePr>
          <p:cNvPr id="8" name="Content Placeholder 7">
            <a:extLst>
              <a:ext uri="{FF2B5EF4-FFF2-40B4-BE49-F238E27FC236}">
                <a16:creationId xmlns:a16="http://schemas.microsoft.com/office/drawing/2014/main" id="{8596A519-261A-6C28-1559-0D8C2A7C6111}"/>
              </a:ext>
            </a:extLst>
          </p:cNvPr>
          <p:cNvGraphicFramePr>
            <a:graphicFrameLocks noGrp="1"/>
          </p:cNvGraphicFramePr>
          <p:nvPr>
            <p:ph idx="1"/>
          </p:nvPr>
        </p:nvGraphicFramePr>
        <p:xfrm>
          <a:off x="676275" y="1734518"/>
          <a:ext cx="10515600" cy="2063115"/>
        </p:xfrm>
        <a:graphic>
          <a:graphicData uri="http://schemas.openxmlformats.org/drawingml/2006/table">
            <a:tbl>
              <a:tblPr/>
              <a:tblGrid>
                <a:gridCol w="1752600">
                  <a:extLst>
                    <a:ext uri="{9D8B030D-6E8A-4147-A177-3AD203B41FA5}">
                      <a16:colId xmlns:a16="http://schemas.microsoft.com/office/drawing/2014/main" val="130820076"/>
                    </a:ext>
                  </a:extLst>
                </a:gridCol>
                <a:gridCol w="1752600">
                  <a:extLst>
                    <a:ext uri="{9D8B030D-6E8A-4147-A177-3AD203B41FA5}">
                      <a16:colId xmlns:a16="http://schemas.microsoft.com/office/drawing/2014/main" val="1317999722"/>
                    </a:ext>
                  </a:extLst>
                </a:gridCol>
                <a:gridCol w="1752600">
                  <a:extLst>
                    <a:ext uri="{9D8B030D-6E8A-4147-A177-3AD203B41FA5}">
                      <a16:colId xmlns:a16="http://schemas.microsoft.com/office/drawing/2014/main" val="3943250545"/>
                    </a:ext>
                  </a:extLst>
                </a:gridCol>
                <a:gridCol w="1752600">
                  <a:extLst>
                    <a:ext uri="{9D8B030D-6E8A-4147-A177-3AD203B41FA5}">
                      <a16:colId xmlns:a16="http://schemas.microsoft.com/office/drawing/2014/main" val="926250419"/>
                    </a:ext>
                  </a:extLst>
                </a:gridCol>
                <a:gridCol w="1752600">
                  <a:extLst>
                    <a:ext uri="{9D8B030D-6E8A-4147-A177-3AD203B41FA5}">
                      <a16:colId xmlns:a16="http://schemas.microsoft.com/office/drawing/2014/main" val="819983316"/>
                    </a:ext>
                  </a:extLst>
                </a:gridCol>
                <a:gridCol w="1752600">
                  <a:extLst>
                    <a:ext uri="{9D8B030D-6E8A-4147-A177-3AD203B41FA5}">
                      <a16:colId xmlns:a16="http://schemas.microsoft.com/office/drawing/2014/main" val="3346299510"/>
                    </a:ext>
                  </a:extLst>
                </a:gridCol>
              </a:tblGrid>
              <a:tr h="0">
                <a:tc gridSpan="6">
                  <a:txBody>
                    <a:bodyPr/>
                    <a:lstStyle/>
                    <a:p>
                      <a:pPr algn="l">
                        <a:buNone/>
                      </a:pPr>
                      <a:r>
                        <a:rPr lang="en-US" b="0" i="1">
                          <a:solidFill>
                            <a:srgbClr val="000000"/>
                          </a:solidFill>
                          <a:effectLst/>
                          <a:latin typeface="Arial" panose="020B0604020202020204" pitchFamily="34" charset="0"/>
                        </a:rPr>
                        <a:t>Descriptive Statistics</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3792826"/>
                  </a:ext>
                </a:extLst>
              </a:tr>
              <a:tr h="0">
                <a:tc>
                  <a:txBody>
                    <a:bodyPr/>
                    <a:lstStyle/>
                    <a:p>
                      <a:pPr algn="ctr">
                        <a:buNone/>
                      </a:pPr>
                      <a:r>
                        <a:rPr lang="en-US"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Valid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Mean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Std. Deviation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Minimum</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Maximum</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860321"/>
                  </a:ext>
                </a:extLst>
              </a:tr>
              <a:tr h="0">
                <a:tc>
                  <a:txBody>
                    <a:bodyPr/>
                    <a:lstStyle/>
                    <a:p>
                      <a:pPr algn="l">
                        <a:buNone/>
                      </a:pPr>
                      <a:r>
                        <a:rPr lang="en-US" b="0">
                          <a:solidFill>
                            <a:srgbClr val="000000"/>
                          </a:solidFill>
                          <a:effectLst/>
                          <a:latin typeface="Arial" panose="020B0604020202020204" pitchFamily="34" charset="0"/>
                        </a:rPr>
                        <a:t>SAT_math</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864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588.958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68.607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420.000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800.000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605561336"/>
                  </a:ext>
                </a:extLst>
              </a:tr>
              <a:tr h="0">
                <a:tc>
                  <a:txBody>
                    <a:bodyPr/>
                    <a:lstStyle/>
                    <a:p>
                      <a:pPr algn="l">
                        <a:buNone/>
                      </a:pPr>
                      <a:r>
                        <a:rPr lang="en-US"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864</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564.688</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69.000</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370.000</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800.000</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2252923851"/>
                  </a:ext>
                </a:extLst>
              </a:tr>
              <a:tr h="0">
                <a:tc>
                  <a:txBody>
                    <a:bodyPr/>
                    <a:lstStyle/>
                    <a:p>
                      <a:pPr algn="l">
                        <a:spcAft>
                          <a:spcPts val="720"/>
                        </a:spcAft>
                        <a:buNone/>
                      </a:pPr>
                      <a:r>
                        <a:rPr lang="en-US" b="0">
                          <a:solidFill>
                            <a:srgbClr val="000000"/>
                          </a:solidFill>
                          <a:effectLst/>
                          <a:latin typeface="Arial" panose="020B0604020202020204" pitchFamily="34" charset="0"/>
                        </a:rPr>
                        <a:t>HS_class_size</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707</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315.704</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177.768</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25.000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906.000</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2873314881"/>
                  </a:ext>
                </a:extLst>
              </a:tr>
              <a:tr h="0">
                <a:tc gridSpan="6">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81105202"/>
                  </a:ext>
                </a:extLst>
              </a:tr>
            </a:tbl>
          </a:graphicData>
        </a:graphic>
      </p:graphicFrame>
      <p:graphicFrame>
        <p:nvGraphicFramePr>
          <p:cNvPr id="10" name="Table 9">
            <a:extLst>
              <a:ext uri="{FF2B5EF4-FFF2-40B4-BE49-F238E27FC236}">
                <a16:creationId xmlns:a16="http://schemas.microsoft.com/office/drawing/2014/main" id="{A9B7AC87-F646-B1B0-F93F-6F5B189E649B}"/>
              </a:ext>
            </a:extLst>
          </p:cNvPr>
          <p:cNvGraphicFramePr>
            <a:graphicFrameLocks noGrp="1"/>
          </p:cNvGraphicFramePr>
          <p:nvPr/>
        </p:nvGraphicFramePr>
        <p:xfrm>
          <a:off x="762000" y="4143894"/>
          <a:ext cx="10515600" cy="2063115"/>
        </p:xfrm>
        <a:graphic>
          <a:graphicData uri="http://schemas.openxmlformats.org/drawingml/2006/table">
            <a:tbl>
              <a:tblPr/>
              <a:tblGrid>
                <a:gridCol w="2103120">
                  <a:extLst>
                    <a:ext uri="{9D8B030D-6E8A-4147-A177-3AD203B41FA5}">
                      <a16:colId xmlns:a16="http://schemas.microsoft.com/office/drawing/2014/main" val="380618520"/>
                    </a:ext>
                  </a:extLst>
                </a:gridCol>
                <a:gridCol w="2103120">
                  <a:extLst>
                    <a:ext uri="{9D8B030D-6E8A-4147-A177-3AD203B41FA5}">
                      <a16:colId xmlns:a16="http://schemas.microsoft.com/office/drawing/2014/main" val="3417109007"/>
                    </a:ext>
                  </a:extLst>
                </a:gridCol>
                <a:gridCol w="2103120">
                  <a:extLst>
                    <a:ext uri="{9D8B030D-6E8A-4147-A177-3AD203B41FA5}">
                      <a16:colId xmlns:a16="http://schemas.microsoft.com/office/drawing/2014/main" val="2401732512"/>
                    </a:ext>
                  </a:extLst>
                </a:gridCol>
                <a:gridCol w="2103120">
                  <a:extLst>
                    <a:ext uri="{9D8B030D-6E8A-4147-A177-3AD203B41FA5}">
                      <a16:colId xmlns:a16="http://schemas.microsoft.com/office/drawing/2014/main" val="4111501890"/>
                    </a:ext>
                  </a:extLst>
                </a:gridCol>
                <a:gridCol w="2103120">
                  <a:extLst>
                    <a:ext uri="{9D8B030D-6E8A-4147-A177-3AD203B41FA5}">
                      <a16:colId xmlns:a16="http://schemas.microsoft.com/office/drawing/2014/main" val="122607589"/>
                    </a:ext>
                  </a:extLst>
                </a:gridCol>
              </a:tblGrid>
              <a:tr h="0">
                <a:tc gridSpan="5">
                  <a:txBody>
                    <a:bodyPr/>
                    <a:lstStyle/>
                    <a:p>
                      <a:pPr algn="l">
                        <a:buNone/>
                      </a:pPr>
                      <a:r>
                        <a:rPr lang="en-US" b="0" i="1">
                          <a:solidFill>
                            <a:srgbClr val="000000"/>
                          </a:solidFill>
                          <a:effectLst/>
                          <a:latin typeface="Arial" panose="020B0604020202020204" pitchFamily="34" charset="0"/>
                        </a:rPr>
                        <a:t>Pearson's Correlations</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79152120"/>
                  </a:ext>
                </a:extLst>
              </a:tr>
              <a:tr h="0">
                <a:tc>
                  <a:txBody>
                    <a:bodyPr/>
                    <a:lstStyle/>
                    <a:p>
                      <a:pPr algn="ctr">
                        <a:buNone/>
                      </a:pPr>
                      <a:r>
                        <a:rPr lang="en-US"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 </a:t>
                      </a:r>
                    </a:p>
                  </a:txBody>
                  <a:tcPr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Pearson's 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9596713"/>
                  </a:ext>
                </a:extLst>
              </a:tr>
              <a:tr h="0">
                <a:tc>
                  <a:txBody>
                    <a:bodyPr/>
                    <a:lstStyle/>
                    <a:p>
                      <a:pPr algn="l">
                        <a:buNone/>
                      </a:pPr>
                      <a:r>
                        <a:rPr lang="en-US" b="0">
                          <a:solidFill>
                            <a:srgbClr val="000000"/>
                          </a:solidFill>
                          <a:effectLst/>
                          <a:latin typeface="Arial" panose="020B0604020202020204" pitchFamily="34" charset="0"/>
                        </a:rPr>
                        <a:t>SAT_math</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b="0">
                          <a:solidFill>
                            <a:srgbClr val="000000"/>
                          </a:solidFill>
                          <a:effectLst/>
                          <a:latin typeface="Arial" panose="020B0604020202020204" pitchFamily="34" charset="0"/>
                        </a:rPr>
                        <a:t>SAT_verbal</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0.464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685495807"/>
                  </a:ext>
                </a:extLst>
              </a:tr>
              <a:tr h="0">
                <a:tc>
                  <a:txBody>
                    <a:bodyPr/>
                    <a:lstStyle/>
                    <a:p>
                      <a:pPr algn="l">
                        <a:buNone/>
                      </a:pPr>
                      <a:r>
                        <a:rPr lang="en-US" b="0">
                          <a:solidFill>
                            <a:srgbClr val="000000"/>
                          </a:solidFill>
                          <a:effectLst/>
                          <a:latin typeface="Arial" panose="020B0604020202020204" pitchFamily="34" charset="0"/>
                        </a:rPr>
                        <a:t>SAT_math</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a:t>
                      </a:r>
                    </a:p>
                  </a:txBody>
                  <a:tcPr marL="114300" marR="114300" marT="9525" marB="28575" anchor="ctr">
                    <a:lnL>
                      <a:noFill/>
                    </a:lnL>
                    <a:lnR>
                      <a:noFill/>
                    </a:lnR>
                    <a:lnT>
                      <a:noFill/>
                    </a:lnT>
                    <a:lnB>
                      <a:noFill/>
                    </a:lnB>
                    <a:solidFill>
                      <a:srgbClr val="EBEBEB"/>
                    </a:solidFill>
                  </a:tcPr>
                </a:tc>
                <a:tc>
                  <a:txBody>
                    <a:bodyPr/>
                    <a:lstStyle/>
                    <a:p>
                      <a:pPr algn="l">
                        <a:buNone/>
                      </a:pPr>
                      <a:r>
                        <a:rPr lang="en-US" b="0">
                          <a:solidFill>
                            <a:srgbClr val="000000"/>
                          </a:solidFill>
                          <a:effectLst/>
                          <a:latin typeface="Arial" panose="020B0604020202020204" pitchFamily="34" charset="0"/>
                        </a:rPr>
                        <a:t>HS_class_size</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0.176</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231386973"/>
                  </a:ext>
                </a:extLst>
              </a:tr>
              <a:tr h="0">
                <a:tc>
                  <a:txBody>
                    <a:bodyPr/>
                    <a:lstStyle/>
                    <a:p>
                      <a:pPr algn="l">
                        <a:spcAft>
                          <a:spcPts val="720"/>
                        </a:spcAft>
                        <a:buNone/>
                      </a:pPr>
                      <a:r>
                        <a:rPr lang="en-US"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b="0">
                          <a:solidFill>
                            <a:srgbClr val="000000"/>
                          </a:solidFill>
                          <a:effectLst/>
                          <a:latin typeface="Arial" panose="020B0604020202020204" pitchFamily="34" charset="0"/>
                        </a:rPr>
                        <a:t>HS_class_size</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0.045</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.240</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2369833912"/>
                  </a:ext>
                </a:extLst>
              </a:tr>
              <a:tr h="0">
                <a:tc gridSpan="5">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55226157"/>
                  </a:ext>
                </a:extLst>
              </a:tr>
            </a:tbl>
          </a:graphicData>
        </a:graphic>
      </p:graphicFrame>
    </p:spTree>
    <p:extLst>
      <p:ext uri="{BB962C8B-B14F-4D97-AF65-F5344CB8AC3E}">
        <p14:creationId xmlns:p14="http://schemas.microsoft.com/office/powerpoint/2010/main" val="61015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A8B38-5F68-019B-D8D5-33FB7BB9571D}"/>
              </a:ext>
            </a:extLst>
          </p:cNvPr>
          <p:cNvSpPr>
            <a:spLocks noGrp="1"/>
          </p:cNvSpPr>
          <p:nvPr>
            <p:ph type="title"/>
          </p:nvPr>
        </p:nvSpPr>
        <p:spPr>
          <a:xfrm>
            <a:off x="125930" y="124493"/>
            <a:ext cx="10515600" cy="1325563"/>
          </a:xfrm>
        </p:spPr>
        <p:txBody>
          <a:bodyPr>
            <a:normAutofit/>
          </a:bodyPr>
          <a:lstStyle/>
          <a:p>
            <a:r>
              <a:rPr lang="en-US" sz="3600" dirty="0">
                <a:latin typeface="Arial" panose="020B0604020202020204" pitchFamily="34" charset="0"/>
                <a:cs typeface="Arial" panose="020B0604020202020204" pitchFamily="34" charset="0"/>
              </a:rPr>
              <a:t>Visualizing the distribution and joint distribution of SAT verbal and math scores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52D738C-2362-C171-CA00-FDAD31332E3C}"/>
                  </a:ext>
                </a:extLst>
              </p14:cNvPr>
              <p14:cNvContentPartPr/>
              <p14:nvPr/>
            </p14:nvContentPartPr>
            <p14:xfrm>
              <a:off x="790245" y="3057690"/>
              <a:ext cx="360" cy="360"/>
            </p14:xfrm>
          </p:contentPart>
        </mc:Choice>
        <mc:Fallback xmlns="">
          <p:pic>
            <p:nvPicPr>
              <p:cNvPr id="4" name="Ink 3">
                <a:extLst>
                  <a:ext uri="{FF2B5EF4-FFF2-40B4-BE49-F238E27FC236}">
                    <a16:creationId xmlns:a16="http://schemas.microsoft.com/office/drawing/2014/main" id="{552D738C-2362-C171-CA00-FDAD31332E3C}"/>
                  </a:ext>
                </a:extLst>
              </p:cNvPr>
              <p:cNvPicPr/>
              <p:nvPr/>
            </p:nvPicPr>
            <p:blipFill>
              <a:blip r:embed="rId3"/>
              <a:stretch>
                <a:fillRect/>
              </a:stretch>
            </p:blipFill>
            <p:spPr>
              <a:xfrm>
                <a:off x="781605" y="3048690"/>
                <a:ext cx="18000" cy="18000"/>
              </a:xfrm>
              <a:prstGeom prst="rect">
                <a:avLst/>
              </a:prstGeom>
            </p:spPr>
          </p:pic>
        </mc:Fallback>
      </mc:AlternateContent>
      <p:pic>
        <p:nvPicPr>
          <p:cNvPr id="6" name="Picture 2">
            <a:extLst>
              <a:ext uri="{FF2B5EF4-FFF2-40B4-BE49-F238E27FC236}">
                <a16:creationId xmlns:a16="http://schemas.microsoft.com/office/drawing/2014/main" id="{E61331CB-6507-3FE8-67AB-CA0C0768A10D}"/>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00091" y="1573463"/>
            <a:ext cx="4864928" cy="4864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313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D685240-59F6-9A98-1D67-88BA6651E66C}"/>
              </a:ext>
            </a:extLst>
          </p:cNvPr>
          <p:cNvPicPr>
            <a:picLocks noChangeAspect="1"/>
          </p:cNvPicPr>
          <p:nvPr/>
        </p:nvPicPr>
        <p:blipFill>
          <a:blip r:embed="rId2"/>
          <a:stretch>
            <a:fillRect/>
          </a:stretch>
        </p:blipFill>
        <p:spPr>
          <a:xfrm>
            <a:off x="180375" y="80680"/>
            <a:ext cx="8592749" cy="4048690"/>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6143E105-4020-7698-0134-0BAEA79148D9}"/>
                  </a:ext>
                </a:extLst>
              </p14:cNvPr>
              <p14:cNvContentPartPr/>
              <p14:nvPr/>
            </p14:nvContentPartPr>
            <p14:xfrm>
              <a:off x="6570840" y="351570"/>
              <a:ext cx="1203480" cy="983520"/>
            </p14:xfrm>
          </p:contentPart>
        </mc:Choice>
        <mc:Fallback xmlns="">
          <p:pic>
            <p:nvPicPr>
              <p:cNvPr id="14" name="Ink 13">
                <a:extLst>
                  <a:ext uri="{FF2B5EF4-FFF2-40B4-BE49-F238E27FC236}">
                    <a16:creationId xmlns:a16="http://schemas.microsoft.com/office/drawing/2014/main" id="{6143E105-4020-7698-0134-0BAEA79148D9}"/>
                  </a:ext>
                </a:extLst>
              </p:cNvPr>
              <p:cNvPicPr/>
              <p:nvPr/>
            </p:nvPicPr>
            <p:blipFill>
              <a:blip r:embed="rId4"/>
              <a:stretch>
                <a:fillRect/>
              </a:stretch>
            </p:blipFill>
            <p:spPr>
              <a:xfrm>
                <a:off x="6562200" y="342930"/>
                <a:ext cx="1221120" cy="1001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6508F58E-89B4-AE34-B304-07F4E3FF755D}"/>
                  </a:ext>
                </a:extLst>
              </p14:cNvPr>
              <p14:cNvContentPartPr/>
              <p14:nvPr/>
            </p14:nvContentPartPr>
            <p14:xfrm>
              <a:off x="6493080" y="1818570"/>
              <a:ext cx="1653120" cy="429840"/>
            </p14:xfrm>
          </p:contentPart>
        </mc:Choice>
        <mc:Fallback xmlns="">
          <p:pic>
            <p:nvPicPr>
              <p:cNvPr id="16" name="Ink 15">
                <a:extLst>
                  <a:ext uri="{FF2B5EF4-FFF2-40B4-BE49-F238E27FC236}">
                    <a16:creationId xmlns:a16="http://schemas.microsoft.com/office/drawing/2014/main" id="{6508F58E-89B4-AE34-B304-07F4E3FF755D}"/>
                  </a:ext>
                </a:extLst>
              </p:cNvPr>
              <p:cNvPicPr/>
              <p:nvPr/>
            </p:nvPicPr>
            <p:blipFill>
              <a:blip r:embed="rId6"/>
              <a:stretch>
                <a:fillRect/>
              </a:stretch>
            </p:blipFill>
            <p:spPr>
              <a:xfrm>
                <a:off x="6484080" y="1809570"/>
                <a:ext cx="1670760" cy="447480"/>
              </a:xfrm>
              <a:prstGeom prst="rect">
                <a:avLst/>
              </a:prstGeom>
            </p:spPr>
          </p:pic>
        </mc:Fallback>
      </mc:AlternateContent>
    </p:spTree>
    <p:extLst>
      <p:ext uri="{BB962C8B-B14F-4D97-AF65-F5344CB8AC3E}">
        <p14:creationId xmlns:p14="http://schemas.microsoft.com/office/powerpoint/2010/main" val="3214980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2128D8A-C608-7E74-94CA-551AB9A7EDAA}"/>
              </a:ext>
            </a:extLst>
          </p:cNvPr>
          <p:cNvSpPr txBox="1"/>
          <p:nvPr/>
        </p:nvSpPr>
        <p:spPr>
          <a:xfrm>
            <a:off x="10767430" y="4226961"/>
            <a:ext cx="1190626"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Small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value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Wingdings" panose="05000000000000000000" pitchFamily="2" charset="2"/>
              </a:rPr>
              <a:t> the model 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Wingdings" panose="05000000000000000000" pitchFamily="2" charset="2"/>
              </a:rPr>
              <a:t>significant</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40FA1C-CDC9-3995-53E5-F25CC67C57FB}"/>
              </a:ext>
            </a:extLst>
          </p:cNvPr>
          <p:cNvSpPr txBox="1"/>
          <p:nvPr/>
        </p:nvSpPr>
        <p:spPr>
          <a:xfrm>
            <a:off x="10767430" y="54822"/>
            <a:ext cx="1424570"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independent variables are moderately to highly correlated with the dependent variable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.476</a:t>
            </a:r>
          </a:p>
        </p:txBody>
      </p:sp>
      <p:sp>
        <p:nvSpPr>
          <p:cNvPr id="12" name="TextBox 11">
            <a:extLst>
              <a:ext uri="{FF2B5EF4-FFF2-40B4-BE49-F238E27FC236}">
                <a16:creationId xmlns:a16="http://schemas.microsoft.com/office/drawing/2014/main" id="{6C8E876C-FF54-44F6-3042-44FC74DCB807}"/>
              </a:ext>
            </a:extLst>
          </p:cNvPr>
          <p:cNvSpPr txBox="1"/>
          <p:nvPr/>
        </p:nvSpPr>
        <p:spPr>
          <a:xfrm>
            <a:off x="121507" y="2917144"/>
            <a:ext cx="11940169"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22.7% of the variation in MATH SAT scores is explained by the independent variables (Class size and Verbal SAT). This means about 87% remains unexplained (an indication that there are </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variables omitted from the model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that are important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to explain MATH SAT scores)</a:t>
            </a:r>
          </a:p>
        </p:txBody>
      </p:sp>
      <p:graphicFrame>
        <p:nvGraphicFramePr>
          <p:cNvPr id="6" name="Table 5">
            <a:extLst>
              <a:ext uri="{FF2B5EF4-FFF2-40B4-BE49-F238E27FC236}">
                <a16:creationId xmlns:a16="http://schemas.microsoft.com/office/drawing/2014/main" id="{6D78BBC8-B83D-4DDF-E044-4F929BA6DD51}"/>
              </a:ext>
            </a:extLst>
          </p:cNvPr>
          <p:cNvGraphicFramePr>
            <a:graphicFrameLocks noGrp="1"/>
          </p:cNvGraphicFramePr>
          <p:nvPr/>
        </p:nvGraphicFramePr>
        <p:xfrm>
          <a:off x="121507" y="139509"/>
          <a:ext cx="10515600" cy="2668905"/>
        </p:xfrm>
        <a:graphic>
          <a:graphicData uri="http://schemas.openxmlformats.org/drawingml/2006/table">
            <a:tbl>
              <a:tblPr/>
              <a:tblGrid>
                <a:gridCol w="1314450">
                  <a:extLst>
                    <a:ext uri="{9D8B030D-6E8A-4147-A177-3AD203B41FA5}">
                      <a16:colId xmlns:a16="http://schemas.microsoft.com/office/drawing/2014/main" val="65734876"/>
                    </a:ext>
                  </a:extLst>
                </a:gridCol>
                <a:gridCol w="1314450">
                  <a:extLst>
                    <a:ext uri="{9D8B030D-6E8A-4147-A177-3AD203B41FA5}">
                      <a16:colId xmlns:a16="http://schemas.microsoft.com/office/drawing/2014/main" val="2932843123"/>
                    </a:ext>
                  </a:extLst>
                </a:gridCol>
                <a:gridCol w="1314450">
                  <a:extLst>
                    <a:ext uri="{9D8B030D-6E8A-4147-A177-3AD203B41FA5}">
                      <a16:colId xmlns:a16="http://schemas.microsoft.com/office/drawing/2014/main" val="3767504841"/>
                    </a:ext>
                  </a:extLst>
                </a:gridCol>
                <a:gridCol w="1314450">
                  <a:extLst>
                    <a:ext uri="{9D8B030D-6E8A-4147-A177-3AD203B41FA5}">
                      <a16:colId xmlns:a16="http://schemas.microsoft.com/office/drawing/2014/main" val="1771963233"/>
                    </a:ext>
                  </a:extLst>
                </a:gridCol>
                <a:gridCol w="1314450">
                  <a:extLst>
                    <a:ext uri="{9D8B030D-6E8A-4147-A177-3AD203B41FA5}">
                      <a16:colId xmlns:a16="http://schemas.microsoft.com/office/drawing/2014/main" val="101965308"/>
                    </a:ext>
                  </a:extLst>
                </a:gridCol>
                <a:gridCol w="1314450">
                  <a:extLst>
                    <a:ext uri="{9D8B030D-6E8A-4147-A177-3AD203B41FA5}">
                      <a16:colId xmlns:a16="http://schemas.microsoft.com/office/drawing/2014/main" val="3762072966"/>
                    </a:ext>
                  </a:extLst>
                </a:gridCol>
                <a:gridCol w="1314450">
                  <a:extLst>
                    <a:ext uri="{9D8B030D-6E8A-4147-A177-3AD203B41FA5}">
                      <a16:colId xmlns:a16="http://schemas.microsoft.com/office/drawing/2014/main" val="1103939661"/>
                    </a:ext>
                  </a:extLst>
                </a:gridCol>
                <a:gridCol w="1314450">
                  <a:extLst>
                    <a:ext uri="{9D8B030D-6E8A-4147-A177-3AD203B41FA5}">
                      <a16:colId xmlns:a16="http://schemas.microsoft.com/office/drawing/2014/main" val="2214378865"/>
                    </a:ext>
                  </a:extLst>
                </a:gridCol>
              </a:tblGrid>
              <a:tr h="0">
                <a:tc gridSpan="8">
                  <a:txBody>
                    <a:bodyPr/>
                    <a:lstStyle/>
                    <a:p>
                      <a:pPr algn="l">
                        <a:buNone/>
                      </a:pPr>
                      <a:r>
                        <a:rPr lang="en-US" b="0" i="1" dirty="0">
                          <a:solidFill>
                            <a:srgbClr val="000000"/>
                          </a:solidFill>
                          <a:effectLst/>
                          <a:latin typeface="Arial" panose="020B0604020202020204" pitchFamily="34" charset="0"/>
                        </a:rPr>
                        <a:t>Model Summary - </a:t>
                      </a:r>
                      <a:r>
                        <a:rPr lang="en-US" b="0" i="1" dirty="0" err="1">
                          <a:solidFill>
                            <a:srgbClr val="000000"/>
                          </a:solidFill>
                          <a:effectLst/>
                          <a:latin typeface="Arial" panose="020B0604020202020204" pitchFamily="34" charset="0"/>
                        </a:rPr>
                        <a:t>SAT_math</a:t>
                      </a:r>
                      <a:r>
                        <a:rPr lang="en-US"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92252310"/>
                  </a:ext>
                </a:extLst>
              </a:tr>
              <a:tr h="0">
                <a:tc gridSpan="5">
                  <a:txBody>
                    <a:bodyPr/>
                    <a:lstStyle/>
                    <a:p>
                      <a:pPr algn="ctr">
                        <a:buNone/>
                      </a:pPr>
                      <a:endParaRPr lang="en-US" b="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buNone/>
                      </a:pPr>
                      <a:r>
                        <a:rPr lang="en-US" b="0">
                          <a:solidFill>
                            <a:srgbClr val="000000"/>
                          </a:solidFill>
                          <a:effectLst/>
                          <a:latin typeface="Arial" panose="020B0604020202020204" pitchFamily="34" charset="0"/>
                        </a:rPr>
                        <a:t>Durbin-Watson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91371355"/>
                  </a:ext>
                </a:extLst>
              </a:tr>
              <a:tr h="0">
                <a:tc>
                  <a:txBody>
                    <a:bodyPr/>
                    <a:lstStyle/>
                    <a:p>
                      <a:pPr algn="ctr">
                        <a:buNone/>
                      </a:pPr>
                      <a:r>
                        <a:rPr lang="en-US" b="0">
                          <a:solidFill>
                            <a:srgbClr val="000000"/>
                          </a:solidFill>
                          <a:effectLst/>
                          <a:latin typeface="Arial" panose="020B0604020202020204" pitchFamily="34" charset="0"/>
                        </a:rPr>
                        <a:t>Model</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R²</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Adjusted R²</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RMSE</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Autocorrelation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Statistic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7775963"/>
                  </a:ext>
                </a:extLst>
              </a:tr>
              <a:tr h="0">
                <a:tc>
                  <a:txBody>
                    <a:bodyPr/>
                    <a:lstStyle/>
                    <a:p>
                      <a:pPr algn="l">
                        <a:buNone/>
                      </a:pPr>
                      <a:r>
                        <a:rPr lang="en-US"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dirty="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68.607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0.003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1.993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.920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410043693"/>
                  </a:ext>
                </a:extLst>
              </a:tr>
              <a:tr h="0">
                <a:tc>
                  <a:txBody>
                    <a:bodyPr/>
                    <a:lstStyle/>
                    <a:p>
                      <a:pPr algn="l">
                        <a:spcAft>
                          <a:spcPts val="720"/>
                        </a:spcAft>
                        <a:buNone/>
                      </a:pPr>
                      <a:r>
                        <a:rPr lang="en-US" b="0">
                          <a:solidFill>
                            <a:srgbClr val="000000"/>
                          </a:solidFill>
                          <a:effectLst/>
                          <a:latin typeface="Arial" panose="020B0604020202020204" pitchFamily="34" charset="0"/>
                        </a:rPr>
                        <a:t>M₁</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0.464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0.215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0.214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60.824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1.939</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.372</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90881242"/>
                  </a:ext>
                </a:extLst>
              </a:tr>
              <a:tr h="0">
                <a:tc gridSpan="8">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2600025"/>
                  </a:ext>
                </a:extLst>
              </a:tr>
              <a:tr h="0">
                <a:tc gridSpan="8">
                  <a:txBody>
                    <a:bodyPr/>
                    <a:lstStyle/>
                    <a:p>
                      <a:pPr algn="l">
                        <a:buNone/>
                      </a:pPr>
                      <a:r>
                        <a:rPr lang="en-US" b="0" i="1" dirty="0">
                          <a:solidFill>
                            <a:srgbClr val="000000"/>
                          </a:solidFill>
                          <a:effectLst/>
                          <a:latin typeface="Arial" panose="020B0604020202020204" pitchFamily="34" charset="0"/>
                        </a:rPr>
                        <a:t>Note.</a:t>
                      </a:r>
                      <a:r>
                        <a:rPr lang="en-US" b="0" dirty="0">
                          <a:solidFill>
                            <a:srgbClr val="000000"/>
                          </a:solidFill>
                          <a:effectLst/>
                          <a:latin typeface="Arial" panose="020B0604020202020204" pitchFamily="34" charset="0"/>
                        </a:rPr>
                        <a:t>  M₁ includes </a:t>
                      </a:r>
                      <a:r>
                        <a:rPr lang="en-US" b="0" dirty="0" err="1">
                          <a:solidFill>
                            <a:srgbClr val="000000"/>
                          </a:solidFill>
                          <a:effectLst/>
                          <a:latin typeface="Arial" panose="020B0604020202020204" pitchFamily="34" charset="0"/>
                        </a:rPr>
                        <a:t>SAT_verbal</a:t>
                      </a:r>
                      <a:endParaRPr lang="en-US" b="0" dirty="0">
                        <a:solidFill>
                          <a:srgbClr val="000000"/>
                        </a:solidFill>
                        <a:effectLst/>
                        <a:latin typeface="Arial" panose="020B0604020202020204" pitchFamily="34" charset="0"/>
                      </a:endParaRP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84855152"/>
                  </a:ext>
                </a:extLst>
              </a:tr>
            </a:tbl>
          </a:graphicData>
        </a:graphic>
      </p:graphicFrame>
      <p:graphicFrame>
        <p:nvGraphicFramePr>
          <p:cNvPr id="7" name="Table 6">
            <a:extLst>
              <a:ext uri="{FF2B5EF4-FFF2-40B4-BE49-F238E27FC236}">
                <a16:creationId xmlns:a16="http://schemas.microsoft.com/office/drawing/2014/main" id="{4C51B90B-3580-DC8E-5158-00FE33EB5CF5}"/>
              </a:ext>
            </a:extLst>
          </p:cNvPr>
          <p:cNvGraphicFramePr>
            <a:graphicFrameLocks noGrp="1"/>
          </p:cNvGraphicFramePr>
          <p:nvPr/>
        </p:nvGraphicFramePr>
        <p:xfrm>
          <a:off x="121507" y="3801193"/>
          <a:ext cx="10515603" cy="2870835"/>
        </p:xfrm>
        <a:graphic>
          <a:graphicData uri="http://schemas.openxmlformats.org/drawingml/2006/table">
            <a:tbl>
              <a:tblPr/>
              <a:tblGrid>
                <a:gridCol w="1502229">
                  <a:extLst>
                    <a:ext uri="{9D8B030D-6E8A-4147-A177-3AD203B41FA5}">
                      <a16:colId xmlns:a16="http://schemas.microsoft.com/office/drawing/2014/main" val="1351593872"/>
                    </a:ext>
                  </a:extLst>
                </a:gridCol>
                <a:gridCol w="1502229">
                  <a:extLst>
                    <a:ext uri="{9D8B030D-6E8A-4147-A177-3AD203B41FA5}">
                      <a16:colId xmlns:a16="http://schemas.microsoft.com/office/drawing/2014/main" val="2386739627"/>
                    </a:ext>
                  </a:extLst>
                </a:gridCol>
                <a:gridCol w="1502229">
                  <a:extLst>
                    <a:ext uri="{9D8B030D-6E8A-4147-A177-3AD203B41FA5}">
                      <a16:colId xmlns:a16="http://schemas.microsoft.com/office/drawing/2014/main" val="2932657532"/>
                    </a:ext>
                  </a:extLst>
                </a:gridCol>
                <a:gridCol w="1502229">
                  <a:extLst>
                    <a:ext uri="{9D8B030D-6E8A-4147-A177-3AD203B41FA5}">
                      <a16:colId xmlns:a16="http://schemas.microsoft.com/office/drawing/2014/main" val="930952630"/>
                    </a:ext>
                  </a:extLst>
                </a:gridCol>
                <a:gridCol w="1502229">
                  <a:extLst>
                    <a:ext uri="{9D8B030D-6E8A-4147-A177-3AD203B41FA5}">
                      <a16:colId xmlns:a16="http://schemas.microsoft.com/office/drawing/2014/main" val="3363029527"/>
                    </a:ext>
                  </a:extLst>
                </a:gridCol>
                <a:gridCol w="1502229">
                  <a:extLst>
                    <a:ext uri="{9D8B030D-6E8A-4147-A177-3AD203B41FA5}">
                      <a16:colId xmlns:a16="http://schemas.microsoft.com/office/drawing/2014/main" val="970741674"/>
                    </a:ext>
                  </a:extLst>
                </a:gridCol>
                <a:gridCol w="1502229">
                  <a:extLst>
                    <a:ext uri="{9D8B030D-6E8A-4147-A177-3AD203B41FA5}">
                      <a16:colId xmlns:a16="http://schemas.microsoft.com/office/drawing/2014/main" val="1571611450"/>
                    </a:ext>
                  </a:extLst>
                </a:gridCol>
              </a:tblGrid>
              <a:tr h="388620">
                <a:tc gridSpan="7">
                  <a:txBody>
                    <a:bodyPr/>
                    <a:lstStyle/>
                    <a:p>
                      <a:pPr algn="l">
                        <a:buNone/>
                      </a:pPr>
                      <a:r>
                        <a:rPr lang="en-US" sz="1600" b="0" i="1" dirty="0">
                          <a:solidFill>
                            <a:srgbClr val="000000"/>
                          </a:solidFill>
                          <a:effectLst/>
                          <a:latin typeface="Arial" panose="020B0604020202020204" pitchFamily="34" charset="0"/>
                        </a:rPr>
                        <a:t>ANOVA</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69050168"/>
                  </a:ext>
                </a:extLst>
              </a:tr>
              <a:tr h="142542">
                <a:tc>
                  <a:txBody>
                    <a:bodyPr/>
                    <a:lstStyle/>
                    <a:p>
                      <a:pPr algn="ctr">
                        <a:buNone/>
                      </a:pPr>
                      <a:r>
                        <a:rPr lang="en-US" sz="16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Sum of Squares</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Mean Square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3444614"/>
                  </a:ext>
                </a:extLst>
              </a:tr>
              <a:tr h="405765">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Regression</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873004.744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873004.744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235.973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614288084"/>
                  </a:ext>
                </a:extLst>
              </a:tr>
              <a:tr h="31242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Residual</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3.189×10</a:t>
                      </a:r>
                      <a:r>
                        <a:rPr lang="en-US" sz="1600" b="0" baseline="30000">
                          <a:solidFill>
                            <a:srgbClr val="000000"/>
                          </a:solidFill>
                          <a:effectLst/>
                          <a:latin typeface="Arial" panose="020B0604020202020204" pitchFamily="34" charset="0"/>
                        </a:rPr>
                        <a:t>+6</a:t>
                      </a: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862</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3699.603</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3390026373"/>
                  </a:ext>
                </a:extLst>
              </a:tr>
              <a:tr h="31242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600" b="0">
                          <a:solidFill>
                            <a:srgbClr val="000000"/>
                          </a:solidFill>
                          <a:effectLst/>
                          <a:latin typeface="Arial" panose="020B0604020202020204" pitchFamily="34" charset="0"/>
                        </a:rPr>
                        <a:t>Total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4.062×10</a:t>
                      </a:r>
                      <a:r>
                        <a:rPr lang="en-US" sz="1600" b="0" baseline="30000">
                          <a:solidFill>
                            <a:srgbClr val="000000"/>
                          </a:solidFill>
                          <a:effectLst/>
                          <a:latin typeface="Arial" panose="020B0604020202020204" pitchFamily="34" charset="0"/>
                        </a:rPr>
                        <a:t>+6</a:t>
                      </a: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863</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12166669"/>
                  </a:ext>
                </a:extLst>
              </a:tr>
              <a:tr h="0">
                <a:tc gridSpan="7">
                  <a:txBody>
                    <a:bodyPr/>
                    <a:lstStyle/>
                    <a:p>
                      <a:pPr algn="r">
                        <a:buNone/>
                      </a:pPr>
                      <a:endParaRPr lang="en-US" sz="1600" b="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43292767"/>
                  </a:ext>
                </a:extLst>
              </a:tr>
              <a:tr h="312420">
                <a:tc gridSpan="7">
                  <a:txBody>
                    <a:bodyPr/>
                    <a:lstStyle/>
                    <a:p>
                      <a:pPr algn="l">
                        <a:buNone/>
                      </a:pPr>
                      <a:r>
                        <a:rPr lang="en-US" sz="1600" b="0" i="1">
                          <a:solidFill>
                            <a:srgbClr val="000000"/>
                          </a:solidFill>
                          <a:effectLst/>
                          <a:latin typeface="Arial" panose="020B0604020202020204" pitchFamily="34" charset="0"/>
                        </a:rPr>
                        <a:t>Note.</a:t>
                      </a:r>
                      <a:r>
                        <a:rPr lang="en-US" sz="1600" b="0">
                          <a:solidFill>
                            <a:srgbClr val="000000"/>
                          </a:solidFill>
                          <a:effectLst/>
                          <a:latin typeface="Arial" panose="020B0604020202020204" pitchFamily="34" charset="0"/>
                        </a:rPr>
                        <a:t>  M₁ includes SAT_verbal</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4612566"/>
                  </a:ext>
                </a:extLst>
              </a:tr>
              <a:tr h="312420">
                <a:tc gridSpan="7">
                  <a:txBody>
                    <a:bodyPr/>
                    <a:lstStyle/>
                    <a:p>
                      <a:pPr algn="l">
                        <a:buNone/>
                      </a:pPr>
                      <a:r>
                        <a:rPr lang="en-US" sz="1600" b="0" i="1" dirty="0">
                          <a:solidFill>
                            <a:srgbClr val="000000"/>
                          </a:solidFill>
                          <a:effectLst/>
                          <a:latin typeface="Arial" panose="020B0604020202020204" pitchFamily="34" charset="0"/>
                        </a:rPr>
                        <a:t>Note.</a:t>
                      </a:r>
                      <a:r>
                        <a:rPr lang="en-US" sz="1600" b="0" dirty="0">
                          <a:solidFill>
                            <a:srgbClr val="000000"/>
                          </a:solidFill>
                          <a:effectLst/>
                          <a:latin typeface="Arial" panose="020B0604020202020204" pitchFamily="34" charset="0"/>
                        </a:rPr>
                        <a:t>  The intercept model is omitted, as no meaningful information can be shown.</a:t>
                      </a:r>
                    </a:p>
                  </a:txBody>
                  <a:tcPr marR="114300" marT="9525" marB="28575"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04549972"/>
                  </a:ext>
                </a:extLst>
              </a:tr>
            </a:tbl>
          </a:graphicData>
        </a:graphic>
      </p:graphicFrame>
      <p:sp>
        <p:nvSpPr>
          <p:cNvPr id="9" name="Rectangle 8">
            <a:extLst>
              <a:ext uri="{FF2B5EF4-FFF2-40B4-BE49-F238E27FC236}">
                <a16:creationId xmlns:a16="http://schemas.microsoft.com/office/drawing/2014/main" id="{9F6F0A9E-153A-0183-3DFA-7F76CFF99C0E}"/>
              </a:ext>
            </a:extLst>
          </p:cNvPr>
          <p:cNvSpPr/>
          <p:nvPr/>
        </p:nvSpPr>
        <p:spPr>
          <a:xfrm>
            <a:off x="8136023" y="4226961"/>
            <a:ext cx="2501083" cy="1097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88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BDB5FDC-B810-2F66-EA55-9E7D98D8E430}"/>
              </a:ext>
            </a:extLst>
          </p:cNvPr>
          <p:cNvGraphicFramePr>
            <a:graphicFrameLocks noGrp="1"/>
          </p:cNvGraphicFramePr>
          <p:nvPr>
            <p:extLst>
              <p:ext uri="{D42A27DB-BD31-4B8C-83A1-F6EECF244321}">
                <p14:modId xmlns:p14="http://schemas.microsoft.com/office/powerpoint/2010/main" val="2575433592"/>
              </p:ext>
            </p:extLst>
          </p:nvPr>
        </p:nvGraphicFramePr>
        <p:xfrm>
          <a:off x="383961" y="1212009"/>
          <a:ext cx="10515600" cy="2668905"/>
        </p:xfrm>
        <a:graphic>
          <a:graphicData uri="http://schemas.openxmlformats.org/drawingml/2006/table">
            <a:tbl>
              <a:tblPr/>
              <a:tblGrid>
                <a:gridCol w="1314450">
                  <a:extLst>
                    <a:ext uri="{9D8B030D-6E8A-4147-A177-3AD203B41FA5}">
                      <a16:colId xmlns:a16="http://schemas.microsoft.com/office/drawing/2014/main" val="65734876"/>
                    </a:ext>
                  </a:extLst>
                </a:gridCol>
                <a:gridCol w="1314450">
                  <a:extLst>
                    <a:ext uri="{9D8B030D-6E8A-4147-A177-3AD203B41FA5}">
                      <a16:colId xmlns:a16="http://schemas.microsoft.com/office/drawing/2014/main" val="2932843123"/>
                    </a:ext>
                  </a:extLst>
                </a:gridCol>
                <a:gridCol w="1314450">
                  <a:extLst>
                    <a:ext uri="{9D8B030D-6E8A-4147-A177-3AD203B41FA5}">
                      <a16:colId xmlns:a16="http://schemas.microsoft.com/office/drawing/2014/main" val="3767504841"/>
                    </a:ext>
                  </a:extLst>
                </a:gridCol>
                <a:gridCol w="1314450">
                  <a:extLst>
                    <a:ext uri="{9D8B030D-6E8A-4147-A177-3AD203B41FA5}">
                      <a16:colId xmlns:a16="http://schemas.microsoft.com/office/drawing/2014/main" val="1771963233"/>
                    </a:ext>
                  </a:extLst>
                </a:gridCol>
                <a:gridCol w="1314450">
                  <a:extLst>
                    <a:ext uri="{9D8B030D-6E8A-4147-A177-3AD203B41FA5}">
                      <a16:colId xmlns:a16="http://schemas.microsoft.com/office/drawing/2014/main" val="101965308"/>
                    </a:ext>
                  </a:extLst>
                </a:gridCol>
                <a:gridCol w="1314450">
                  <a:extLst>
                    <a:ext uri="{9D8B030D-6E8A-4147-A177-3AD203B41FA5}">
                      <a16:colId xmlns:a16="http://schemas.microsoft.com/office/drawing/2014/main" val="3762072966"/>
                    </a:ext>
                  </a:extLst>
                </a:gridCol>
                <a:gridCol w="1314450">
                  <a:extLst>
                    <a:ext uri="{9D8B030D-6E8A-4147-A177-3AD203B41FA5}">
                      <a16:colId xmlns:a16="http://schemas.microsoft.com/office/drawing/2014/main" val="1103939661"/>
                    </a:ext>
                  </a:extLst>
                </a:gridCol>
                <a:gridCol w="1314450">
                  <a:extLst>
                    <a:ext uri="{9D8B030D-6E8A-4147-A177-3AD203B41FA5}">
                      <a16:colId xmlns:a16="http://schemas.microsoft.com/office/drawing/2014/main" val="2214378865"/>
                    </a:ext>
                  </a:extLst>
                </a:gridCol>
              </a:tblGrid>
              <a:tr h="0">
                <a:tc gridSpan="8">
                  <a:txBody>
                    <a:bodyPr/>
                    <a:lstStyle/>
                    <a:p>
                      <a:pPr algn="l">
                        <a:buNone/>
                      </a:pPr>
                      <a:r>
                        <a:rPr lang="en-US" b="0" i="1" dirty="0">
                          <a:solidFill>
                            <a:srgbClr val="000000"/>
                          </a:solidFill>
                          <a:effectLst/>
                          <a:latin typeface="Arial" panose="020B0604020202020204" pitchFamily="34" charset="0"/>
                        </a:rPr>
                        <a:t>Model Summary - </a:t>
                      </a:r>
                      <a:r>
                        <a:rPr lang="en-US" b="0" i="1" dirty="0" err="1">
                          <a:solidFill>
                            <a:srgbClr val="000000"/>
                          </a:solidFill>
                          <a:effectLst/>
                          <a:latin typeface="Arial" panose="020B0604020202020204" pitchFamily="34" charset="0"/>
                        </a:rPr>
                        <a:t>SAT_math</a:t>
                      </a:r>
                      <a:r>
                        <a:rPr lang="en-US"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92252310"/>
                  </a:ext>
                </a:extLst>
              </a:tr>
              <a:tr h="0">
                <a:tc gridSpan="5">
                  <a:txBody>
                    <a:bodyPr/>
                    <a:lstStyle/>
                    <a:p>
                      <a:pPr algn="ctr">
                        <a:buNone/>
                      </a:pPr>
                      <a:endParaRPr lang="en-US" b="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buNone/>
                      </a:pPr>
                      <a:r>
                        <a:rPr lang="en-US" b="0">
                          <a:solidFill>
                            <a:srgbClr val="000000"/>
                          </a:solidFill>
                          <a:effectLst/>
                          <a:latin typeface="Arial" panose="020B0604020202020204" pitchFamily="34" charset="0"/>
                        </a:rPr>
                        <a:t>Durbin-Watson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91371355"/>
                  </a:ext>
                </a:extLst>
              </a:tr>
              <a:tr h="0">
                <a:tc>
                  <a:txBody>
                    <a:bodyPr/>
                    <a:lstStyle/>
                    <a:p>
                      <a:pPr algn="ctr">
                        <a:buNone/>
                      </a:pPr>
                      <a:r>
                        <a:rPr lang="en-US" b="0">
                          <a:solidFill>
                            <a:srgbClr val="000000"/>
                          </a:solidFill>
                          <a:effectLst/>
                          <a:latin typeface="Arial" panose="020B0604020202020204" pitchFamily="34" charset="0"/>
                        </a:rPr>
                        <a:t>Model</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R²</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Adjusted R²</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RMSE</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Auto-correlation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Statistic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7775963"/>
                  </a:ext>
                </a:extLst>
              </a:tr>
              <a:tr h="0">
                <a:tc>
                  <a:txBody>
                    <a:bodyPr/>
                    <a:lstStyle/>
                    <a:p>
                      <a:pPr algn="l">
                        <a:buNone/>
                      </a:pPr>
                      <a:r>
                        <a:rPr lang="en-US"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dirty="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68.607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0.003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1.993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.920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410043693"/>
                  </a:ext>
                </a:extLst>
              </a:tr>
              <a:tr h="0">
                <a:tc>
                  <a:txBody>
                    <a:bodyPr/>
                    <a:lstStyle/>
                    <a:p>
                      <a:pPr algn="l">
                        <a:spcAft>
                          <a:spcPts val="720"/>
                        </a:spcAft>
                        <a:buNone/>
                      </a:pPr>
                      <a:r>
                        <a:rPr lang="en-US" b="0">
                          <a:solidFill>
                            <a:srgbClr val="000000"/>
                          </a:solidFill>
                          <a:effectLst/>
                          <a:latin typeface="Arial" panose="020B0604020202020204" pitchFamily="34" charset="0"/>
                        </a:rPr>
                        <a:t>M₁</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0.464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0.215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0.214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60.824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1.939</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.372</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90881242"/>
                  </a:ext>
                </a:extLst>
              </a:tr>
              <a:tr h="0">
                <a:tc gridSpan="8">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2600025"/>
                  </a:ext>
                </a:extLst>
              </a:tr>
              <a:tr h="0">
                <a:tc gridSpan="8">
                  <a:txBody>
                    <a:bodyPr/>
                    <a:lstStyle/>
                    <a:p>
                      <a:pPr algn="l">
                        <a:buNone/>
                      </a:pPr>
                      <a:r>
                        <a:rPr lang="en-US" b="0" i="1" dirty="0">
                          <a:solidFill>
                            <a:srgbClr val="000000"/>
                          </a:solidFill>
                          <a:effectLst/>
                          <a:latin typeface="Arial" panose="020B0604020202020204" pitchFamily="34" charset="0"/>
                        </a:rPr>
                        <a:t>Note.</a:t>
                      </a:r>
                      <a:r>
                        <a:rPr lang="en-US" b="0" dirty="0">
                          <a:solidFill>
                            <a:srgbClr val="000000"/>
                          </a:solidFill>
                          <a:effectLst/>
                          <a:latin typeface="Arial" panose="020B0604020202020204" pitchFamily="34" charset="0"/>
                        </a:rPr>
                        <a:t>  M₁ includes </a:t>
                      </a:r>
                      <a:r>
                        <a:rPr lang="en-US" b="0" dirty="0" err="1">
                          <a:solidFill>
                            <a:srgbClr val="000000"/>
                          </a:solidFill>
                          <a:effectLst/>
                          <a:latin typeface="Arial" panose="020B0604020202020204" pitchFamily="34" charset="0"/>
                        </a:rPr>
                        <a:t>SAT_verbal</a:t>
                      </a:r>
                      <a:endParaRPr lang="en-US" b="0" dirty="0">
                        <a:solidFill>
                          <a:srgbClr val="000000"/>
                        </a:solidFill>
                        <a:effectLst/>
                        <a:latin typeface="Arial" panose="020B0604020202020204" pitchFamily="34" charset="0"/>
                      </a:endParaRP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84855152"/>
                  </a:ext>
                </a:extLst>
              </a:tr>
            </a:tbl>
          </a:graphicData>
        </a:graphic>
      </p:graphicFrame>
      <p:sp>
        <p:nvSpPr>
          <p:cNvPr id="2" name="Title 1">
            <a:extLst>
              <a:ext uri="{FF2B5EF4-FFF2-40B4-BE49-F238E27FC236}">
                <a16:creationId xmlns:a16="http://schemas.microsoft.com/office/drawing/2014/main" id="{983F5566-FE0C-AC6F-3C4C-AAB92A5AA0EB}"/>
              </a:ext>
            </a:extLst>
          </p:cNvPr>
          <p:cNvSpPr>
            <a:spLocks noGrp="1"/>
          </p:cNvSpPr>
          <p:nvPr>
            <p:ph type="title"/>
          </p:nvPr>
        </p:nvSpPr>
        <p:spPr>
          <a:xfrm>
            <a:off x="121508" y="109761"/>
            <a:ext cx="10515600" cy="1116723"/>
          </a:xfrm>
        </p:spPr>
        <p:txBody>
          <a:bodyPr/>
          <a:lstStyle/>
          <a:p>
            <a:r>
              <a:rPr lang="en-US" dirty="0"/>
              <a:t>What’s new …</a:t>
            </a:r>
          </a:p>
        </p:txBody>
      </p:sp>
      <p:sp>
        <p:nvSpPr>
          <p:cNvPr id="3" name="TextBox 2">
            <a:extLst>
              <a:ext uri="{FF2B5EF4-FFF2-40B4-BE49-F238E27FC236}">
                <a16:creationId xmlns:a16="http://schemas.microsoft.com/office/drawing/2014/main" id="{6DEF2B34-788C-2BFC-3077-B34D0C089A83}"/>
              </a:ext>
            </a:extLst>
          </p:cNvPr>
          <p:cNvSpPr txBox="1"/>
          <p:nvPr/>
        </p:nvSpPr>
        <p:spPr>
          <a:xfrm>
            <a:off x="383961" y="4179039"/>
            <a:ext cx="6635964"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more predictors you have in the model the lower the sum of squared residuals, the higher R</a:t>
            </a:r>
            <a:r>
              <a:rPr kumimoji="0" lang="en-US" sz="1800" b="0" i="0" u="none" strike="noStrike" kern="1200" cap="none" spc="0" normalizeH="0" baseline="30000" noProof="0" dirty="0">
                <a:ln>
                  <a:noFill/>
                </a:ln>
                <a:solidFill>
                  <a:prstClr val="black"/>
                </a:solidFill>
                <a:effectLst/>
                <a:uLnTx/>
                <a:uFillTx/>
                <a:latin typeface="Arial" panose="020B0604020202020204" pitchFamily="34" charset="0"/>
                <a:cs typeface="Arial" panose="020B0604020202020204" pitchFamily="34" charset="0"/>
              </a:rPr>
              <a:t>2</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indicating the better prediction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Adjusted R2 accounts for the number of parameters in the model (incurs a penalty for each additional variable)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1C87E99-9F52-3F25-A695-CA7D16467C3F}"/>
              </a:ext>
            </a:extLst>
          </p:cNvPr>
          <p:cNvSpPr/>
          <p:nvPr/>
        </p:nvSpPr>
        <p:spPr>
          <a:xfrm>
            <a:off x="4341342" y="1887875"/>
            <a:ext cx="1478434" cy="1541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A3E06244-1C88-2488-4751-6E603AABB4F0}"/>
              </a:ext>
            </a:extLst>
          </p:cNvPr>
          <p:cNvSpPr/>
          <p:nvPr/>
        </p:nvSpPr>
        <p:spPr>
          <a:xfrm>
            <a:off x="6916717" y="1718085"/>
            <a:ext cx="4245297" cy="18823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E032ECDE-E519-44B1-BD93-1E107EDE8729}"/>
              </a:ext>
            </a:extLst>
          </p:cNvPr>
          <p:cNvSpPr txBox="1"/>
          <p:nvPr/>
        </p:nvSpPr>
        <p:spPr>
          <a:xfrm>
            <a:off x="4264235" y="595510"/>
            <a:ext cx="37369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Durbin-Watson = 2 meaning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error term </a:t>
            </a:r>
            <a:r>
              <a:rPr kumimoji="0" 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may be </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independent</a:t>
            </a:r>
          </a:p>
        </p:txBody>
      </p:sp>
      <p:cxnSp>
        <p:nvCxnSpPr>
          <p:cNvPr id="15" name="Straight Arrow Connector 14">
            <a:extLst>
              <a:ext uri="{FF2B5EF4-FFF2-40B4-BE49-F238E27FC236}">
                <a16:creationId xmlns:a16="http://schemas.microsoft.com/office/drawing/2014/main" id="{B5557851-E767-CA72-1A57-01EF5F164020}"/>
              </a:ext>
            </a:extLst>
          </p:cNvPr>
          <p:cNvCxnSpPr>
            <a:cxnSpLocks/>
            <a:stCxn id="7" idx="2"/>
            <a:endCxn id="6" idx="0"/>
          </p:cNvCxnSpPr>
          <p:nvPr/>
        </p:nvCxnSpPr>
        <p:spPr>
          <a:xfrm>
            <a:off x="6132695" y="1241841"/>
            <a:ext cx="2906671" cy="476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33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2128D8A-C608-7E74-94CA-551AB9A7EDAA}"/>
              </a:ext>
            </a:extLst>
          </p:cNvPr>
          <p:cNvSpPr txBox="1"/>
          <p:nvPr/>
        </p:nvSpPr>
        <p:spPr>
          <a:xfrm>
            <a:off x="435830" y="3771498"/>
            <a:ext cx="605069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Small </a:t>
            </a:r>
            <a:r>
              <a:rPr kumimoji="0" lang="en-US" sz="20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value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Wingdings" panose="05000000000000000000" pitchFamily="2" charset="2"/>
              </a:rPr>
              <a:t> the model is significant</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AE217B-1CEF-5584-05E7-811921B5165A}"/>
                  </a:ext>
                </a:extLst>
              </p:cNvPr>
              <p:cNvSpPr txBox="1"/>
              <p:nvPr/>
            </p:nvSpPr>
            <p:spPr>
              <a:xfrm>
                <a:off x="0" y="4171608"/>
                <a:ext cx="2421771" cy="923330"/>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𝐻</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𝑜</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a14:m>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0</a:t>
                </a: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𝐻</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m:rPr>
                          <m:nor/>
                        </m:rP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m:t> </m:t>
                      </m:r>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m:rPr>
                          <m:nor/>
                        </m:rP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m:t>0</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4" name="TextBox 13">
                <a:extLst>
                  <a:ext uri="{FF2B5EF4-FFF2-40B4-BE49-F238E27FC236}">
                    <a16:creationId xmlns:a16="http://schemas.microsoft.com/office/drawing/2014/main" id="{9FAE217B-1CEF-5584-05E7-811921B5165A}"/>
                  </a:ext>
                </a:extLst>
              </p:cNvPr>
              <p:cNvSpPr txBox="1">
                <a:spLocks noRot="1" noChangeAspect="1" noMove="1" noResize="1" noEditPoints="1" noAdjustHandles="1" noChangeArrowheads="1" noChangeShapeType="1" noTextEdit="1"/>
              </p:cNvSpPr>
              <p:nvPr/>
            </p:nvSpPr>
            <p:spPr>
              <a:xfrm>
                <a:off x="0" y="4171608"/>
                <a:ext cx="2421771" cy="923330"/>
              </a:xfrm>
              <a:prstGeom prst="rect">
                <a:avLst/>
              </a:prstGeom>
              <a:blipFill>
                <a:blip r:embed="rId3"/>
                <a:stretch>
                  <a:fillRect t="-3289"/>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9EA953A5-1556-FB31-A008-9441B5BD9D52}"/>
              </a:ext>
            </a:extLst>
          </p:cNvPr>
          <p:cNvSpPr txBox="1"/>
          <p:nvPr/>
        </p:nvSpPr>
        <p:spPr>
          <a:xfrm>
            <a:off x="435830" y="4829996"/>
            <a:ext cx="726036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We conclude that at least one of the slopes is not equal to 0</a:t>
            </a:r>
          </a:p>
        </p:txBody>
      </p:sp>
      <p:graphicFrame>
        <p:nvGraphicFramePr>
          <p:cNvPr id="4" name="Table 3">
            <a:extLst>
              <a:ext uri="{FF2B5EF4-FFF2-40B4-BE49-F238E27FC236}">
                <a16:creationId xmlns:a16="http://schemas.microsoft.com/office/drawing/2014/main" id="{18FB5643-209C-4AA3-495D-6F2622E02664}"/>
              </a:ext>
            </a:extLst>
          </p:cNvPr>
          <p:cNvGraphicFramePr>
            <a:graphicFrameLocks noGrp="1"/>
          </p:cNvGraphicFramePr>
          <p:nvPr/>
        </p:nvGraphicFramePr>
        <p:xfrm>
          <a:off x="359632" y="442330"/>
          <a:ext cx="10515603" cy="2870835"/>
        </p:xfrm>
        <a:graphic>
          <a:graphicData uri="http://schemas.openxmlformats.org/drawingml/2006/table">
            <a:tbl>
              <a:tblPr/>
              <a:tblGrid>
                <a:gridCol w="1502229">
                  <a:extLst>
                    <a:ext uri="{9D8B030D-6E8A-4147-A177-3AD203B41FA5}">
                      <a16:colId xmlns:a16="http://schemas.microsoft.com/office/drawing/2014/main" val="1351593872"/>
                    </a:ext>
                  </a:extLst>
                </a:gridCol>
                <a:gridCol w="1502229">
                  <a:extLst>
                    <a:ext uri="{9D8B030D-6E8A-4147-A177-3AD203B41FA5}">
                      <a16:colId xmlns:a16="http://schemas.microsoft.com/office/drawing/2014/main" val="2386739627"/>
                    </a:ext>
                  </a:extLst>
                </a:gridCol>
                <a:gridCol w="1502229">
                  <a:extLst>
                    <a:ext uri="{9D8B030D-6E8A-4147-A177-3AD203B41FA5}">
                      <a16:colId xmlns:a16="http://schemas.microsoft.com/office/drawing/2014/main" val="2932657532"/>
                    </a:ext>
                  </a:extLst>
                </a:gridCol>
                <a:gridCol w="1502229">
                  <a:extLst>
                    <a:ext uri="{9D8B030D-6E8A-4147-A177-3AD203B41FA5}">
                      <a16:colId xmlns:a16="http://schemas.microsoft.com/office/drawing/2014/main" val="930952630"/>
                    </a:ext>
                  </a:extLst>
                </a:gridCol>
                <a:gridCol w="1502229">
                  <a:extLst>
                    <a:ext uri="{9D8B030D-6E8A-4147-A177-3AD203B41FA5}">
                      <a16:colId xmlns:a16="http://schemas.microsoft.com/office/drawing/2014/main" val="3363029527"/>
                    </a:ext>
                  </a:extLst>
                </a:gridCol>
                <a:gridCol w="1502229">
                  <a:extLst>
                    <a:ext uri="{9D8B030D-6E8A-4147-A177-3AD203B41FA5}">
                      <a16:colId xmlns:a16="http://schemas.microsoft.com/office/drawing/2014/main" val="970741674"/>
                    </a:ext>
                  </a:extLst>
                </a:gridCol>
                <a:gridCol w="1502229">
                  <a:extLst>
                    <a:ext uri="{9D8B030D-6E8A-4147-A177-3AD203B41FA5}">
                      <a16:colId xmlns:a16="http://schemas.microsoft.com/office/drawing/2014/main" val="1571611450"/>
                    </a:ext>
                  </a:extLst>
                </a:gridCol>
              </a:tblGrid>
              <a:tr h="388620">
                <a:tc gridSpan="7">
                  <a:txBody>
                    <a:bodyPr/>
                    <a:lstStyle/>
                    <a:p>
                      <a:pPr algn="l">
                        <a:buNone/>
                      </a:pPr>
                      <a:r>
                        <a:rPr lang="en-US" sz="1600" b="0" i="1" dirty="0">
                          <a:solidFill>
                            <a:srgbClr val="000000"/>
                          </a:solidFill>
                          <a:effectLst/>
                          <a:latin typeface="Arial" panose="020B0604020202020204" pitchFamily="34" charset="0"/>
                        </a:rPr>
                        <a:t>ANOVA</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69050168"/>
                  </a:ext>
                </a:extLst>
              </a:tr>
              <a:tr h="142542">
                <a:tc>
                  <a:txBody>
                    <a:bodyPr/>
                    <a:lstStyle/>
                    <a:p>
                      <a:pPr algn="ctr">
                        <a:buNone/>
                      </a:pPr>
                      <a:r>
                        <a:rPr lang="en-US" sz="16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Sum of Squares</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Mean Square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3444614"/>
                  </a:ext>
                </a:extLst>
              </a:tr>
              <a:tr h="405765">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Regression</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873004.744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873004.744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235.973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614288084"/>
                  </a:ext>
                </a:extLst>
              </a:tr>
              <a:tr h="31242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Residual</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3.189×10</a:t>
                      </a:r>
                      <a:r>
                        <a:rPr lang="en-US" sz="1600" b="0" baseline="30000">
                          <a:solidFill>
                            <a:srgbClr val="000000"/>
                          </a:solidFill>
                          <a:effectLst/>
                          <a:latin typeface="Arial" panose="020B0604020202020204" pitchFamily="34" charset="0"/>
                        </a:rPr>
                        <a:t>+6</a:t>
                      </a: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862</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3699.603</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3390026373"/>
                  </a:ext>
                </a:extLst>
              </a:tr>
              <a:tr h="31242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600" b="0">
                          <a:solidFill>
                            <a:srgbClr val="000000"/>
                          </a:solidFill>
                          <a:effectLst/>
                          <a:latin typeface="Arial" panose="020B0604020202020204" pitchFamily="34" charset="0"/>
                        </a:rPr>
                        <a:t>Total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4.062×10</a:t>
                      </a:r>
                      <a:r>
                        <a:rPr lang="en-US" sz="1600" b="0" baseline="30000">
                          <a:solidFill>
                            <a:srgbClr val="000000"/>
                          </a:solidFill>
                          <a:effectLst/>
                          <a:latin typeface="Arial" panose="020B0604020202020204" pitchFamily="34" charset="0"/>
                        </a:rPr>
                        <a:t>+6</a:t>
                      </a: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863</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12166669"/>
                  </a:ext>
                </a:extLst>
              </a:tr>
              <a:tr h="0">
                <a:tc gridSpan="7">
                  <a:txBody>
                    <a:bodyPr/>
                    <a:lstStyle/>
                    <a:p>
                      <a:pPr algn="r">
                        <a:buNone/>
                      </a:pPr>
                      <a:endParaRPr lang="en-US" sz="1600" b="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43292767"/>
                  </a:ext>
                </a:extLst>
              </a:tr>
              <a:tr h="312420">
                <a:tc gridSpan="7">
                  <a:txBody>
                    <a:bodyPr/>
                    <a:lstStyle/>
                    <a:p>
                      <a:pPr algn="l">
                        <a:buNone/>
                      </a:pPr>
                      <a:r>
                        <a:rPr lang="en-US" sz="1600" b="0" i="1">
                          <a:solidFill>
                            <a:srgbClr val="000000"/>
                          </a:solidFill>
                          <a:effectLst/>
                          <a:latin typeface="Arial" panose="020B0604020202020204" pitchFamily="34" charset="0"/>
                        </a:rPr>
                        <a:t>Note.</a:t>
                      </a:r>
                      <a:r>
                        <a:rPr lang="en-US" sz="1600" b="0">
                          <a:solidFill>
                            <a:srgbClr val="000000"/>
                          </a:solidFill>
                          <a:effectLst/>
                          <a:latin typeface="Arial" panose="020B0604020202020204" pitchFamily="34" charset="0"/>
                        </a:rPr>
                        <a:t>  M₁ includes SAT_verbal</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4612566"/>
                  </a:ext>
                </a:extLst>
              </a:tr>
              <a:tr h="312420">
                <a:tc gridSpan="7">
                  <a:txBody>
                    <a:bodyPr/>
                    <a:lstStyle/>
                    <a:p>
                      <a:pPr algn="l">
                        <a:buNone/>
                      </a:pPr>
                      <a:r>
                        <a:rPr lang="en-US" sz="1600" b="0" i="1" dirty="0">
                          <a:solidFill>
                            <a:srgbClr val="000000"/>
                          </a:solidFill>
                          <a:effectLst/>
                          <a:latin typeface="Arial" panose="020B0604020202020204" pitchFamily="34" charset="0"/>
                        </a:rPr>
                        <a:t>Note.</a:t>
                      </a:r>
                      <a:r>
                        <a:rPr lang="en-US" sz="1600" b="0" dirty="0">
                          <a:solidFill>
                            <a:srgbClr val="000000"/>
                          </a:solidFill>
                          <a:effectLst/>
                          <a:latin typeface="Arial" panose="020B0604020202020204" pitchFamily="34" charset="0"/>
                        </a:rPr>
                        <a:t>  The intercept model is omitted, as no meaningful information can be shown.</a:t>
                      </a:r>
                    </a:p>
                  </a:txBody>
                  <a:tcPr marR="114300" marT="9525" marB="28575"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04549972"/>
                  </a:ext>
                </a:extLst>
              </a:tr>
            </a:tbl>
          </a:graphicData>
        </a:graphic>
      </p:graphicFrame>
      <p:sp>
        <p:nvSpPr>
          <p:cNvPr id="5" name="Rectangle 4">
            <a:extLst>
              <a:ext uri="{FF2B5EF4-FFF2-40B4-BE49-F238E27FC236}">
                <a16:creationId xmlns:a16="http://schemas.microsoft.com/office/drawing/2014/main" id="{4121D382-D33E-A17E-B40A-9DAC9E6241F7}"/>
              </a:ext>
            </a:extLst>
          </p:cNvPr>
          <p:cNvSpPr/>
          <p:nvPr/>
        </p:nvSpPr>
        <p:spPr>
          <a:xfrm>
            <a:off x="8374148" y="868098"/>
            <a:ext cx="2501083" cy="1097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535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7" grpId="0"/>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D8BF674-F7AD-BECA-5E65-DCAD3FC72722}"/>
              </a:ext>
            </a:extLst>
          </p:cNvPr>
          <p:cNvGraphicFramePr>
            <a:graphicFrameLocks noGrp="1"/>
          </p:cNvGraphicFramePr>
          <p:nvPr>
            <p:extLst>
              <p:ext uri="{D42A27DB-BD31-4B8C-83A1-F6EECF244321}">
                <p14:modId xmlns:p14="http://schemas.microsoft.com/office/powerpoint/2010/main" val="678355075"/>
              </p:ext>
            </p:extLst>
          </p:nvPr>
        </p:nvGraphicFramePr>
        <p:xfrm>
          <a:off x="514349" y="271304"/>
          <a:ext cx="10515603" cy="2430780"/>
        </p:xfrm>
        <a:graphic>
          <a:graphicData uri="http://schemas.openxmlformats.org/drawingml/2006/table">
            <a:tbl>
              <a:tblPr/>
              <a:tblGrid>
                <a:gridCol w="1502229">
                  <a:extLst>
                    <a:ext uri="{9D8B030D-6E8A-4147-A177-3AD203B41FA5}">
                      <a16:colId xmlns:a16="http://schemas.microsoft.com/office/drawing/2014/main" val="3548928069"/>
                    </a:ext>
                  </a:extLst>
                </a:gridCol>
                <a:gridCol w="1502229">
                  <a:extLst>
                    <a:ext uri="{9D8B030D-6E8A-4147-A177-3AD203B41FA5}">
                      <a16:colId xmlns:a16="http://schemas.microsoft.com/office/drawing/2014/main" val="405575434"/>
                    </a:ext>
                  </a:extLst>
                </a:gridCol>
                <a:gridCol w="1502229">
                  <a:extLst>
                    <a:ext uri="{9D8B030D-6E8A-4147-A177-3AD203B41FA5}">
                      <a16:colId xmlns:a16="http://schemas.microsoft.com/office/drawing/2014/main" val="1978329734"/>
                    </a:ext>
                  </a:extLst>
                </a:gridCol>
                <a:gridCol w="1502229">
                  <a:extLst>
                    <a:ext uri="{9D8B030D-6E8A-4147-A177-3AD203B41FA5}">
                      <a16:colId xmlns:a16="http://schemas.microsoft.com/office/drawing/2014/main" val="1141027515"/>
                    </a:ext>
                  </a:extLst>
                </a:gridCol>
                <a:gridCol w="1502229">
                  <a:extLst>
                    <a:ext uri="{9D8B030D-6E8A-4147-A177-3AD203B41FA5}">
                      <a16:colId xmlns:a16="http://schemas.microsoft.com/office/drawing/2014/main" val="1369168605"/>
                    </a:ext>
                  </a:extLst>
                </a:gridCol>
                <a:gridCol w="1502229">
                  <a:extLst>
                    <a:ext uri="{9D8B030D-6E8A-4147-A177-3AD203B41FA5}">
                      <a16:colId xmlns:a16="http://schemas.microsoft.com/office/drawing/2014/main" val="3138057529"/>
                    </a:ext>
                  </a:extLst>
                </a:gridCol>
                <a:gridCol w="1502229">
                  <a:extLst>
                    <a:ext uri="{9D8B030D-6E8A-4147-A177-3AD203B41FA5}">
                      <a16:colId xmlns:a16="http://schemas.microsoft.com/office/drawing/2014/main" val="975446045"/>
                    </a:ext>
                  </a:extLst>
                </a:gridCol>
              </a:tblGrid>
              <a:tr h="388620">
                <a:tc gridSpan="7">
                  <a:txBody>
                    <a:bodyPr/>
                    <a:lstStyle/>
                    <a:p>
                      <a:pPr algn="l">
                        <a:buNone/>
                      </a:pPr>
                      <a:r>
                        <a:rPr lang="en-US" sz="1800" b="1" i="1" dirty="0">
                          <a:solidFill>
                            <a:srgbClr val="000000"/>
                          </a:solidFill>
                          <a:effectLst/>
                          <a:latin typeface="Arial" panose="020B0604020202020204" pitchFamily="34" charset="0"/>
                        </a:rPr>
                        <a:t>Coefficients</a:t>
                      </a:r>
                      <a:r>
                        <a:rPr lang="en-US" sz="18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7709208"/>
                  </a:ext>
                </a:extLst>
              </a:tr>
              <a:tr h="605790">
                <a:tc>
                  <a:txBody>
                    <a:bodyPr/>
                    <a:lstStyle/>
                    <a:p>
                      <a:pPr algn="ctr">
                        <a:buNone/>
                      </a:pPr>
                      <a:r>
                        <a:rPr lang="en-US" sz="18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Unstandardized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 Error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t</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527659"/>
                  </a:ext>
                </a:extLst>
              </a:tr>
              <a:tr h="405765">
                <a:tc>
                  <a:txBody>
                    <a:bodyPr/>
                    <a:lstStyle/>
                    <a:p>
                      <a:pPr algn="l">
                        <a:buNone/>
                      </a:pPr>
                      <a:r>
                        <a:rPr lang="en-US" sz="18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dirty="0">
                          <a:solidFill>
                            <a:srgbClr val="000000"/>
                          </a:solidFill>
                          <a:effectLst/>
                          <a:latin typeface="Arial" panose="020B0604020202020204" pitchFamily="34" charset="0"/>
                        </a:rPr>
                        <a:t>588.958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2.334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252.333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25412938"/>
                  </a:ext>
                </a:extLst>
              </a:tr>
              <a:tr h="405765">
                <a:tc>
                  <a:txBody>
                    <a:bodyPr/>
                    <a:lstStyle/>
                    <a:p>
                      <a:pPr algn="l">
                        <a:buNone/>
                      </a:pPr>
                      <a:r>
                        <a:rPr lang="en-US" sz="18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328.665</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17.071</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19.253</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1352240465"/>
                  </a:ext>
                </a:extLst>
              </a:tr>
              <a:tr h="312420">
                <a:tc>
                  <a:txBody>
                    <a:bodyPr/>
                    <a:lstStyle/>
                    <a:p>
                      <a:pPr algn="l">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800"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0.461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0.464</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15.361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1476701665"/>
                  </a:ext>
                </a:extLst>
              </a:tr>
              <a:tr h="312420">
                <a:tc gridSpan="7">
                  <a:txBody>
                    <a:bodyPr/>
                    <a:lstStyle/>
                    <a:p>
                      <a:pPr algn="r">
                        <a:buNone/>
                      </a:pPr>
                      <a:endParaRPr lang="en-US" sz="18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4824713"/>
                  </a:ext>
                </a:extLst>
              </a:tr>
            </a:tbl>
          </a:graphicData>
        </a:graphic>
      </p:graphicFrame>
      <p:sp>
        <p:nvSpPr>
          <p:cNvPr id="6" name="TextBox 5">
            <a:extLst>
              <a:ext uri="{FF2B5EF4-FFF2-40B4-BE49-F238E27FC236}">
                <a16:creationId xmlns:a16="http://schemas.microsoft.com/office/drawing/2014/main" id="{89CC1522-4118-EB91-4C37-0955E7250E12}"/>
              </a:ext>
            </a:extLst>
          </p:cNvPr>
          <p:cNvSpPr txBox="1"/>
          <p:nvPr/>
        </p:nvSpPr>
        <p:spPr>
          <a:xfrm>
            <a:off x="428625" y="2891909"/>
            <a:ext cx="6096000"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How to Read the Story in the Numbers</a:t>
            </a:r>
          </a:p>
        </p:txBody>
      </p:sp>
      <p:sp>
        <p:nvSpPr>
          <p:cNvPr id="8" name="TextBox 7">
            <a:extLst>
              <a:ext uri="{FF2B5EF4-FFF2-40B4-BE49-F238E27FC236}">
                <a16:creationId xmlns:a16="http://schemas.microsoft.com/office/drawing/2014/main" id="{8764ED87-EF46-9AB3-C185-880C97BFE568}"/>
              </a:ext>
            </a:extLst>
          </p:cNvPr>
          <p:cNvSpPr txBox="1"/>
          <p:nvPr/>
        </p:nvSpPr>
        <p:spPr>
          <a:xfrm>
            <a:off x="428624" y="3451066"/>
            <a:ext cx="10601327" cy="1785104"/>
          </a:xfrm>
          <a:prstGeom prst="rect">
            <a:avLst/>
          </a:prstGeom>
          <a:noFill/>
        </p:spPr>
        <p:txBody>
          <a:bodyPr wrap="square">
            <a:spAutoFit/>
          </a:bodyPr>
          <a:lstStyle/>
          <a:p>
            <a:pPr algn="l">
              <a:spcAft>
                <a:spcPts val="1200"/>
              </a:spcAft>
              <a:buNone/>
            </a:pPr>
            <a:r>
              <a:rPr lang="en-US" sz="2000" b="0" i="0" dirty="0">
                <a:effectLst/>
                <a:latin typeface="Arial" panose="020B0604020202020204" pitchFamily="34" charset="0"/>
                <a:cs typeface="Arial" panose="020B0604020202020204" pitchFamily="34" charset="0"/>
              </a:rPr>
              <a:t>When we look at a regression table like this, we are really looking at a competition between two ways of predicting the future: </a:t>
            </a:r>
            <a:r>
              <a:rPr lang="en-US" sz="2000" i="0" dirty="0">
                <a:effectLst/>
                <a:latin typeface="Arial" panose="020B0604020202020204" pitchFamily="34" charset="0"/>
                <a:cs typeface="Arial" panose="020B0604020202020204" pitchFamily="34" charset="0"/>
              </a:rPr>
              <a:t>Model 0 (The Blind Guess) and Model 1 (The Informed Prediction).</a:t>
            </a:r>
          </a:p>
          <a:p>
            <a:pPr algn="l">
              <a:spcAft>
                <a:spcPts val="1200"/>
              </a:spcAft>
              <a:buNone/>
            </a:pPr>
            <a:r>
              <a:rPr lang="en-US" sz="2000" b="0" i="0" dirty="0">
                <a:effectLst/>
                <a:latin typeface="Arial" panose="020B0604020202020204" pitchFamily="34" charset="0"/>
                <a:cs typeface="Arial" panose="020B0604020202020204" pitchFamily="34" charset="0"/>
              </a:rPr>
              <a:t>Let's assume the dependent variable (the thing we are trying to predict) is something like </a:t>
            </a:r>
            <a:r>
              <a:rPr lang="en-US" sz="2000" i="0" dirty="0">
                <a:effectLst/>
                <a:latin typeface="Arial" panose="020B0604020202020204" pitchFamily="34" charset="0"/>
                <a:cs typeface="Arial" panose="020B0604020202020204" pitchFamily="34" charset="0"/>
              </a:rPr>
              <a:t>Final Exam Score or SAT Math Score.</a:t>
            </a:r>
          </a:p>
        </p:txBody>
      </p:sp>
    </p:spTree>
    <p:extLst>
      <p:ext uri="{BB962C8B-B14F-4D97-AF65-F5344CB8AC3E}">
        <p14:creationId xmlns:p14="http://schemas.microsoft.com/office/powerpoint/2010/main" val="14069387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917D3-8694-4C1B-43CF-66435420689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AE64B14-4B24-DE57-1477-88D33AC2ECF3}"/>
              </a:ext>
            </a:extLst>
          </p:cNvPr>
          <p:cNvGraphicFramePr>
            <a:graphicFrameLocks noGrp="1"/>
          </p:cNvGraphicFramePr>
          <p:nvPr/>
        </p:nvGraphicFramePr>
        <p:xfrm>
          <a:off x="514349" y="271304"/>
          <a:ext cx="10515603" cy="2430780"/>
        </p:xfrm>
        <a:graphic>
          <a:graphicData uri="http://schemas.openxmlformats.org/drawingml/2006/table">
            <a:tbl>
              <a:tblPr/>
              <a:tblGrid>
                <a:gridCol w="1502229">
                  <a:extLst>
                    <a:ext uri="{9D8B030D-6E8A-4147-A177-3AD203B41FA5}">
                      <a16:colId xmlns:a16="http://schemas.microsoft.com/office/drawing/2014/main" val="3548928069"/>
                    </a:ext>
                  </a:extLst>
                </a:gridCol>
                <a:gridCol w="1502229">
                  <a:extLst>
                    <a:ext uri="{9D8B030D-6E8A-4147-A177-3AD203B41FA5}">
                      <a16:colId xmlns:a16="http://schemas.microsoft.com/office/drawing/2014/main" val="405575434"/>
                    </a:ext>
                  </a:extLst>
                </a:gridCol>
                <a:gridCol w="1502229">
                  <a:extLst>
                    <a:ext uri="{9D8B030D-6E8A-4147-A177-3AD203B41FA5}">
                      <a16:colId xmlns:a16="http://schemas.microsoft.com/office/drawing/2014/main" val="1978329734"/>
                    </a:ext>
                  </a:extLst>
                </a:gridCol>
                <a:gridCol w="1502229">
                  <a:extLst>
                    <a:ext uri="{9D8B030D-6E8A-4147-A177-3AD203B41FA5}">
                      <a16:colId xmlns:a16="http://schemas.microsoft.com/office/drawing/2014/main" val="1141027515"/>
                    </a:ext>
                  </a:extLst>
                </a:gridCol>
                <a:gridCol w="1502229">
                  <a:extLst>
                    <a:ext uri="{9D8B030D-6E8A-4147-A177-3AD203B41FA5}">
                      <a16:colId xmlns:a16="http://schemas.microsoft.com/office/drawing/2014/main" val="1369168605"/>
                    </a:ext>
                  </a:extLst>
                </a:gridCol>
                <a:gridCol w="1502229">
                  <a:extLst>
                    <a:ext uri="{9D8B030D-6E8A-4147-A177-3AD203B41FA5}">
                      <a16:colId xmlns:a16="http://schemas.microsoft.com/office/drawing/2014/main" val="3138057529"/>
                    </a:ext>
                  </a:extLst>
                </a:gridCol>
                <a:gridCol w="1502229">
                  <a:extLst>
                    <a:ext uri="{9D8B030D-6E8A-4147-A177-3AD203B41FA5}">
                      <a16:colId xmlns:a16="http://schemas.microsoft.com/office/drawing/2014/main" val="975446045"/>
                    </a:ext>
                  </a:extLst>
                </a:gridCol>
              </a:tblGrid>
              <a:tr h="388620">
                <a:tc gridSpan="7">
                  <a:txBody>
                    <a:bodyPr/>
                    <a:lstStyle/>
                    <a:p>
                      <a:pPr algn="l">
                        <a:buNone/>
                      </a:pPr>
                      <a:r>
                        <a:rPr lang="en-US" sz="1800" b="1" i="1" dirty="0">
                          <a:solidFill>
                            <a:srgbClr val="000000"/>
                          </a:solidFill>
                          <a:effectLst/>
                          <a:latin typeface="Arial" panose="020B0604020202020204" pitchFamily="34" charset="0"/>
                        </a:rPr>
                        <a:t>Coefficients</a:t>
                      </a:r>
                      <a:r>
                        <a:rPr lang="en-US" sz="18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7709208"/>
                  </a:ext>
                </a:extLst>
              </a:tr>
              <a:tr h="605790">
                <a:tc>
                  <a:txBody>
                    <a:bodyPr/>
                    <a:lstStyle/>
                    <a:p>
                      <a:pPr algn="ctr">
                        <a:buNone/>
                      </a:pPr>
                      <a:r>
                        <a:rPr lang="en-US" sz="18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Unstandardized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 Error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t</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527659"/>
                  </a:ext>
                </a:extLst>
              </a:tr>
              <a:tr h="405765">
                <a:tc>
                  <a:txBody>
                    <a:bodyPr/>
                    <a:lstStyle/>
                    <a:p>
                      <a:pPr algn="l">
                        <a:buNone/>
                      </a:pPr>
                      <a:r>
                        <a:rPr lang="en-US" sz="1800" b="0" dirty="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dirty="0">
                          <a:solidFill>
                            <a:srgbClr val="000000"/>
                          </a:solidFill>
                          <a:effectLst/>
                          <a:latin typeface="Arial" panose="020B0604020202020204" pitchFamily="34" charset="0"/>
                        </a:rPr>
                        <a:t>588.958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2.334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252.333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25412938"/>
                  </a:ext>
                </a:extLst>
              </a:tr>
              <a:tr h="405765">
                <a:tc>
                  <a:txBody>
                    <a:bodyPr/>
                    <a:lstStyle/>
                    <a:p>
                      <a:pPr algn="l">
                        <a:buNone/>
                      </a:pPr>
                      <a:r>
                        <a:rPr lang="en-US" sz="18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328.665</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17.071</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19.253</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1352240465"/>
                  </a:ext>
                </a:extLst>
              </a:tr>
              <a:tr h="312420">
                <a:tc>
                  <a:txBody>
                    <a:bodyPr/>
                    <a:lstStyle/>
                    <a:p>
                      <a:pPr algn="l">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800"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0.461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0.464</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15.361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1476701665"/>
                  </a:ext>
                </a:extLst>
              </a:tr>
              <a:tr h="312420">
                <a:tc gridSpan="7">
                  <a:txBody>
                    <a:bodyPr/>
                    <a:lstStyle/>
                    <a:p>
                      <a:pPr algn="r">
                        <a:buNone/>
                      </a:pPr>
                      <a:endParaRPr lang="en-US" sz="18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4824713"/>
                  </a:ext>
                </a:extLst>
              </a:tr>
            </a:tbl>
          </a:graphicData>
        </a:graphic>
      </p:graphicFrame>
      <p:sp>
        <p:nvSpPr>
          <p:cNvPr id="6" name="TextBox 5">
            <a:extLst>
              <a:ext uri="{FF2B5EF4-FFF2-40B4-BE49-F238E27FC236}">
                <a16:creationId xmlns:a16="http://schemas.microsoft.com/office/drawing/2014/main" id="{7610A7D7-EF74-5E7E-C493-5075E896E7D4}"/>
              </a:ext>
            </a:extLst>
          </p:cNvPr>
          <p:cNvSpPr txBox="1"/>
          <p:nvPr/>
        </p:nvSpPr>
        <p:spPr>
          <a:xfrm>
            <a:off x="514349" y="2887682"/>
            <a:ext cx="10715626" cy="2862322"/>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1. Model </a:t>
            </a:r>
            <a:r>
              <a:rPr lang="en-US" sz="2000" dirty="0">
                <a:solidFill>
                  <a:srgbClr val="000000"/>
                </a:solidFill>
                <a:latin typeface="Arial" panose="020B0604020202020204" pitchFamily="34" charset="0"/>
                <a:cs typeface="Arial" panose="020B0604020202020204" pitchFamily="34" charset="0"/>
              </a:rPr>
              <a:t>M₀</a:t>
            </a:r>
            <a:r>
              <a:rPr lang="en-US" sz="2000" dirty="0">
                <a:latin typeface="Arial" panose="020B0604020202020204" pitchFamily="34" charset="0"/>
                <a:cs typeface="Arial" panose="020B0604020202020204" pitchFamily="34" charset="0"/>
              </a:rPr>
              <a:t>: The "Blind Guess" (Baseline)</a:t>
            </a:r>
          </a:p>
          <a:p>
            <a:r>
              <a:rPr lang="en-US" sz="2000" dirty="0">
                <a:latin typeface="Arial" panose="020B0604020202020204" pitchFamily="34" charset="0"/>
                <a:cs typeface="Arial" panose="020B0604020202020204" pitchFamily="34" charset="0"/>
              </a:rPr>
              <a:t>Imagine I ask you to predict a random student's score, but I tell you absolutely nothing about them. What represents your best guess? The Average.</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Intercept (588.958): This is simply the average score of everyone in the dataset.</a:t>
            </a:r>
          </a:p>
          <a:p>
            <a:r>
              <a:rPr lang="en-US" sz="2000" dirty="0">
                <a:latin typeface="Arial" panose="020B0604020202020204" pitchFamily="34" charset="0"/>
                <a:cs typeface="Arial" panose="020B0604020202020204" pitchFamily="34" charset="0"/>
              </a:rPr>
              <a:t>Intuition: "If I know nothing else, I expect a student to score about 589."</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Context: </a:t>
            </a:r>
            <a:r>
              <a:rPr lang="en-US" sz="2000" dirty="0">
                <a:latin typeface="Arial" panose="020B0604020202020204" pitchFamily="34" charset="0"/>
                <a:cs typeface="Arial" panose="020B0604020202020204" pitchFamily="34" charset="0"/>
              </a:rPr>
              <a:t>Because there are </a:t>
            </a:r>
            <a:r>
              <a:rPr lang="en-US" sz="2000" b="1" u="sng" dirty="0">
                <a:latin typeface="Arial" panose="020B0604020202020204" pitchFamily="34" charset="0"/>
                <a:cs typeface="Arial" panose="020B0604020202020204" pitchFamily="34" charset="0"/>
              </a:rPr>
              <a:t>no other predictors in this model</a:t>
            </a:r>
            <a:r>
              <a:rPr lang="en-US" sz="2000" dirty="0">
                <a:latin typeface="Arial" panose="020B0604020202020204" pitchFamily="34" charset="0"/>
                <a:cs typeface="Arial" panose="020B0604020202020204" pitchFamily="34" charset="0"/>
              </a:rPr>
              <a:t>, the "intercept" holds all the information—it's just the mean.</a:t>
            </a:r>
          </a:p>
        </p:txBody>
      </p:sp>
    </p:spTree>
    <p:extLst>
      <p:ext uri="{BB962C8B-B14F-4D97-AF65-F5344CB8AC3E}">
        <p14:creationId xmlns:p14="http://schemas.microsoft.com/office/powerpoint/2010/main" val="19181103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F431-476B-7D6A-3717-92BEBB52D72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42B4810-DAB0-5EB7-BECC-03DEED85873E}"/>
              </a:ext>
            </a:extLst>
          </p:cNvPr>
          <p:cNvGraphicFramePr>
            <a:graphicFrameLocks noGrp="1"/>
          </p:cNvGraphicFramePr>
          <p:nvPr>
            <p:extLst>
              <p:ext uri="{D42A27DB-BD31-4B8C-83A1-F6EECF244321}">
                <p14:modId xmlns:p14="http://schemas.microsoft.com/office/powerpoint/2010/main" val="2663940154"/>
              </p:ext>
            </p:extLst>
          </p:nvPr>
        </p:nvGraphicFramePr>
        <p:xfrm>
          <a:off x="372377" y="220504"/>
          <a:ext cx="10515603" cy="2430780"/>
        </p:xfrm>
        <a:graphic>
          <a:graphicData uri="http://schemas.openxmlformats.org/drawingml/2006/table">
            <a:tbl>
              <a:tblPr/>
              <a:tblGrid>
                <a:gridCol w="1502229">
                  <a:extLst>
                    <a:ext uri="{9D8B030D-6E8A-4147-A177-3AD203B41FA5}">
                      <a16:colId xmlns:a16="http://schemas.microsoft.com/office/drawing/2014/main" val="3548928069"/>
                    </a:ext>
                  </a:extLst>
                </a:gridCol>
                <a:gridCol w="1502229">
                  <a:extLst>
                    <a:ext uri="{9D8B030D-6E8A-4147-A177-3AD203B41FA5}">
                      <a16:colId xmlns:a16="http://schemas.microsoft.com/office/drawing/2014/main" val="405575434"/>
                    </a:ext>
                  </a:extLst>
                </a:gridCol>
                <a:gridCol w="1502229">
                  <a:extLst>
                    <a:ext uri="{9D8B030D-6E8A-4147-A177-3AD203B41FA5}">
                      <a16:colId xmlns:a16="http://schemas.microsoft.com/office/drawing/2014/main" val="1978329734"/>
                    </a:ext>
                  </a:extLst>
                </a:gridCol>
                <a:gridCol w="1502229">
                  <a:extLst>
                    <a:ext uri="{9D8B030D-6E8A-4147-A177-3AD203B41FA5}">
                      <a16:colId xmlns:a16="http://schemas.microsoft.com/office/drawing/2014/main" val="1141027515"/>
                    </a:ext>
                  </a:extLst>
                </a:gridCol>
                <a:gridCol w="1782535">
                  <a:extLst>
                    <a:ext uri="{9D8B030D-6E8A-4147-A177-3AD203B41FA5}">
                      <a16:colId xmlns:a16="http://schemas.microsoft.com/office/drawing/2014/main" val="1369168605"/>
                    </a:ext>
                  </a:extLst>
                </a:gridCol>
                <a:gridCol w="1221923">
                  <a:extLst>
                    <a:ext uri="{9D8B030D-6E8A-4147-A177-3AD203B41FA5}">
                      <a16:colId xmlns:a16="http://schemas.microsoft.com/office/drawing/2014/main" val="3138057529"/>
                    </a:ext>
                  </a:extLst>
                </a:gridCol>
                <a:gridCol w="1502229">
                  <a:extLst>
                    <a:ext uri="{9D8B030D-6E8A-4147-A177-3AD203B41FA5}">
                      <a16:colId xmlns:a16="http://schemas.microsoft.com/office/drawing/2014/main" val="975446045"/>
                    </a:ext>
                  </a:extLst>
                </a:gridCol>
              </a:tblGrid>
              <a:tr h="388620">
                <a:tc gridSpan="7">
                  <a:txBody>
                    <a:bodyPr/>
                    <a:lstStyle/>
                    <a:p>
                      <a:pPr algn="l">
                        <a:buNone/>
                      </a:pPr>
                      <a:r>
                        <a:rPr lang="en-US" sz="1800" b="1" i="1" dirty="0">
                          <a:solidFill>
                            <a:srgbClr val="000000"/>
                          </a:solidFill>
                          <a:effectLst/>
                          <a:latin typeface="Arial" panose="020B0604020202020204" pitchFamily="34" charset="0"/>
                        </a:rPr>
                        <a:t>Coefficients</a:t>
                      </a:r>
                      <a:r>
                        <a:rPr lang="en-US" sz="18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7709208"/>
                  </a:ext>
                </a:extLst>
              </a:tr>
              <a:tr h="605790">
                <a:tc>
                  <a:txBody>
                    <a:bodyPr/>
                    <a:lstStyle/>
                    <a:p>
                      <a:pPr algn="ctr">
                        <a:buNone/>
                      </a:pPr>
                      <a:r>
                        <a:rPr lang="en-US" sz="18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Unstandardized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 Error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dirty="0">
                          <a:solidFill>
                            <a:srgbClr val="000000"/>
                          </a:solidFill>
                          <a:effectLst/>
                          <a:latin typeface="Arial" panose="020B0604020202020204" pitchFamily="34" charset="0"/>
                        </a:rPr>
                        <a:t>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t</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527659"/>
                  </a:ext>
                </a:extLst>
              </a:tr>
              <a:tr h="405765">
                <a:tc>
                  <a:txBody>
                    <a:bodyPr/>
                    <a:lstStyle/>
                    <a:p>
                      <a:pPr algn="l">
                        <a:buNone/>
                      </a:pPr>
                      <a:r>
                        <a:rPr lang="en-US" sz="18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dirty="0">
                          <a:solidFill>
                            <a:srgbClr val="000000"/>
                          </a:solidFill>
                          <a:effectLst/>
                          <a:latin typeface="Arial" panose="020B0604020202020204" pitchFamily="34" charset="0"/>
                        </a:rPr>
                        <a:t>588.958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2.334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252.333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25412938"/>
                  </a:ext>
                </a:extLst>
              </a:tr>
              <a:tr h="405765">
                <a:tc>
                  <a:txBody>
                    <a:bodyPr/>
                    <a:lstStyle/>
                    <a:p>
                      <a:pPr algn="l">
                        <a:buNone/>
                      </a:pPr>
                      <a:r>
                        <a:rPr lang="en-US" sz="1800" b="0" dirty="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328.665</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17.071</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19.253</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1352240465"/>
                  </a:ext>
                </a:extLst>
              </a:tr>
              <a:tr h="312420">
                <a:tc>
                  <a:txBody>
                    <a:bodyPr/>
                    <a:lstStyle/>
                    <a:p>
                      <a:pPr algn="l">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800"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0.461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0.464</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15.361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1476701665"/>
                  </a:ext>
                </a:extLst>
              </a:tr>
              <a:tr h="312420">
                <a:tc gridSpan="7">
                  <a:txBody>
                    <a:bodyPr/>
                    <a:lstStyle/>
                    <a:p>
                      <a:pPr algn="r">
                        <a:buNone/>
                      </a:pPr>
                      <a:endParaRPr lang="en-US" sz="18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4824713"/>
                  </a:ext>
                </a:extLst>
              </a:tr>
            </a:tbl>
          </a:graphicData>
        </a:graphic>
      </p:graphicFrame>
      <p:sp>
        <p:nvSpPr>
          <p:cNvPr id="6" name="TextBox 5">
            <a:extLst>
              <a:ext uri="{FF2B5EF4-FFF2-40B4-BE49-F238E27FC236}">
                <a16:creationId xmlns:a16="http://schemas.microsoft.com/office/drawing/2014/main" id="{28C88E62-58F4-082E-FD6E-DA363DF1C1A3}"/>
              </a:ext>
            </a:extLst>
          </p:cNvPr>
          <p:cNvSpPr txBox="1"/>
          <p:nvPr/>
        </p:nvSpPr>
        <p:spPr>
          <a:xfrm>
            <a:off x="301257" y="2764572"/>
            <a:ext cx="11163300" cy="4062651"/>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2. Model </a:t>
            </a:r>
            <a:r>
              <a:rPr lang="en-US" sz="2000" dirty="0">
                <a:solidFill>
                  <a:srgbClr val="000000"/>
                </a:solidFill>
                <a:latin typeface="Arial" panose="020B0604020202020204" pitchFamily="34" charset="0"/>
                <a:cs typeface="Arial" panose="020B0604020202020204" pitchFamily="34" charset="0"/>
              </a:rPr>
              <a:t>M₁</a:t>
            </a:r>
            <a:r>
              <a:rPr lang="en-US" sz="2000" dirty="0">
                <a:latin typeface="Arial" panose="020B0604020202020204" pitchFamily="34" charset="0"/>
                <a:cs typeface="Arial" panose="020B0604020202020204" pitchFamily="34" charset="0"/>
              </a:rPr>
              <a:t>: Now, I give you a hint to better inform your prediction: I tell you the student's SAT Verbal score. We can now adjust our prediction instead of just guessing the average.</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Intercept (328.665): </a:t>
            </a:r>
            <a:r>
              <a:rPr lang="en-US" sz="2000" dirty="0">
                <a:latin typeface="Arial" panose="020B0604020202020204" pitchFamily="34" charset="0"/>
                <a:cs typeface="Arial" panose="020B0604020202020204" pitchFamily="34" charset="0"/>
              </a:rPr>
              <a:t>This represents the baseline variance that SAT Verbal doesn't account for. The intercept is the predicted score if a student got a zero on the SAT Verbal (which is impossible, but it anchors the math line).</a:t>
            </a:r>
          </a:p>
          <a:p>
            <a:pPr marL="342900" indent="-342900">
              <a:buFont typeface="Arial" panose="020B0604020202020204" pitchFamily="34" charset="0"/>
              <a:buChar char="•"/>
            </a:pPr>
            <a:r>
              <a:rPr lang="en-US" sz="2000" b="1" dirty="0" err="1">
                <a:latin typeface="Arial" panose="020B0604020202020204" pitchFamily="34" charset="0"/>
                <a:cs typeface="Arial" panose="020B0604020202020204" pitchFamily="34" charset="0"/>
              </a:rPr>
              <a:t>SAT_verbal</a:t>
            </a:r>
            <a:r>
              <a:rPr lang="en-US" sz="2000" b="1" dirty="0">
                <a:latin typeface="Arial" panose="020B0604020202020204" pitchFamily="34" charset="0"/>
                <a:cs typeface="Arial" panose="020B0604020202020204" pitchFamily="34" charset="0"/>
              </a:rPr>
              <a:t> (0.461) [Unstandardized Coefficient]: </a:t>
            </a:r>
            <a:r>
              <a:rPr lang="en-US" sz="2000" dirty="0">
                <a:latin typeface="Arial" panose="020B0604020202020204" pitchFamily="34" charset="0"/>
                <a:cs typeface="Arial" panose="020B0604020202020204" pitchFamily="34" charset="0"/>
              </a:rPr>
              <a:t>This is like the exchange rate, or rate of change. Intuition: "For every 1 point increase in SAT Verbal, we expect the Final Score to go up by 0.46 points.“ </a:t>
            </a:r>
          </a:p>
          <a:p>
            <a:pPr marL="800100" lvl="1" indent="-342900">
              <a:buFont typeface="Arial" panose="020B0604020202020204" pitchFamily="34" charset="0"/>
              <a:buChar char="•"/>
            </a:pPr>
            <a:r>
              <a:rPr lang="en-US" b="1" dirty="0">
                <a:latin typeface="Arial" panose="020B0604020202020204" pitchFamily="34" charset="0"/>
                <a:cs typeface="Arial" panose="020B0604020202020204" pitchFamily="34" charset="0"/>
              </a:rPr>
              <a:t>Example: </a:t>
            </a:r>
            <a:r>
              <a:rPr lang="en-US" dirty="0">
                <a:latin typeface="Arial" panose="020B0604020202020204" pitchFamily="34" charset="0"/>
                <a:cs typeface="Arial" panose="020B0604020202020204" pitchFamily="34" charset="0"/>
              </a:rPr>
              <a:t>A student who scores 10 points higher on Verbal is predicted to score about 4.6 points higher on the Final.</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Standardized (0.464): </a:t>
            </a:r>
            <a:r>
              <a:rPr lang="en-US" sz="2000" dirty="0">
                <a:latin typeface="Arial" panose="020B0604020202020204" pitchFamily="34" charset="0"/>
                <a:cs typeface="Arial" panose="020B0604020202020204" pitchFamily="34" charset="0"/>
              </a:rPr>
              <a:t>This removes the units of measurement, allowing us to talk about "strength" in general.</a:t>
            </a:r>
          </a:p>
          <a:p>
            <a:pPr marL="800100" lvl="1" indent="-342900">
              <a:buFont typeface="Arial" panose="020B0604020202020204" pitchFamily="34" charset="0"/>
              <a:buChar char="•"/>
            </a:pPr>
            <a:r>
              <a:rPr lang="en-US" dirty="0">
                <a:latin typeface="Arial" panose="020B0604020202020204" pitchFamily="34" charset="0"/>
                <a:cs typeface="Arial" panose="020B0604020202020204" pitchFamily="34" charset="0"/>
              </a:rPr>
              <a:t>Intuition: Since it is 0.46 (on a scale typically from -1 to 1), it is a moderately strong positive predictor.</a:t>
            </a:r>
          </a:p>
        </p:txBody>
      </p:sp>
    </p:spTree>
    <p:extLst>
      <p:ext uri="{BB962C8B-B14F-4D97-AF65-F5344CB8AC3E}">
        <p14:creationId xmlns:p14="http://schemas.microsoft.com/office/powerpoint/2010/main" val="1871338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1B96-9F4C-FC9B-8EC8-2B8B431ED41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AACF71E-186B-5F13-755C-4A19836A29D6}"/>
              </a:ext>
            </a:extLst>
          </p:cNvPr>
          <p:cNvGraphicFramePr>
            <a:graphicFrameLocks noGrp="1"/>
          </p:cNvGraphicFramePr>
          <p:nvPr/>
        </p:nvGraphicFramePr>
        <p:xfrm>
          <a:off x="514349" y="271304"/>
          <a:ext cx="10515603" cy="2430780"/>
        </p:xfrm>
        <a:graphic>
          <a:graphicData uri="http://schemas.openxmlformats.org/drawingml/2006/table">
            <a:tbl>
              <a:tblPr/>
              <a:tblGrid>
                <a:gridCol w="1502229">
                  <a:extLst>
                    <a:ext uri="{9D8B030D-6E8A-4147-A177-3AD203B41FA5}">
                      <a16:colId xmlns:a16="http://schemas.microsoft.com/office/drawing/2014/main" val="3548928069"/>
                    </a:ext>
                  </a:extLst>
                </a:gridCol>
                <a:gridCol w="1502229">
                  <a:extLst>
                    <a:ext uri="{9D8B030D-6E8A-4147-A177-3AD203B41FA5}">
                      <a16:colId xmlns:a16="http://schemas.microsoft.com/office/drawing/2014/main" val="405575434"/>
                    </a:ext>
                  </a:extLst>
                </a:gridCol>
                <a:gridCol w="1502229">
                  <a:extLst>
                    <a:ext uri="{9D8B030D-6E8A-4147-A177-3AD203B41FA5}">
                      <a16:colId xmlns:a16="http://schemas.microsoft.com/office/drawing/2014/main" val="1978329734"/>
                    </a:ext>
                  </a:extLst>
                </a:gridCol>
                <a:gridCol w="1502229">
                  <a:extLst>
                    <a:ext uri="{9D8B030D-6E8A-4147-A177-3AD203B41FA5}">
                      <a16:colId xmlns:a16="http://schemas.microsoft.com/office/drawing/2014/main" val="1141027515"/>
                    </a:ext>
                  </a:extLst>
                </a:gridCol>
                <a:gridCol w="1502229">
                  <a:extLst>
                    <a:ext uri="{9D8B030D-6E8A-4147-A177-3AD203B41FA5}">
                      <a16:colId xmlns:a16="http://schemas.microsoft.com/office/drawing/2014/main" val="1369168605"/>
                    </a:ext>
                  </a:extLst>
                </a:gridCol>
                <a:gridCol w="1502229">
                  <a:extLst>
                    <a:ext uri="{9D8B030D-6E8A-4147-A177-3AD203B41FA5}">
                      <a16:colId xmlns:a16="http://schemas.microsoft.com/office/drawing/2014/main" val="3138057529"/>
                    </a:ext>
                  </a:extLst>
                </a:gridCol>
                <a:gridCol w="1502229">
                  <a:extLst>
                    <a:ext uri="{9D8B030D-6E8A-4147-A177-3AD203B41FA5}">
                      <a16:colId xmlns:a16="http://schemas.microsoft.com/office/drawing/2014/main" val="975446045"/>
                    </a:ext>
                  </a:extLst>
                </a:gridCol>
              </a:tblGrid>
              <a:tr h="388620">
                <a:tc gridSpan="7">
                  <a:txBody>
                    <a:bodyPr/>
                    <a:lstStyle/>
                    <a:p>
                      <a:pPr algn="l">
                        <a:buNone/>
                      </a:pPr>
                      <a:r>
                        <a:rPr lang="en-US" sz="1800" b="1" i="1" dirty="0">
                          <a:solidFill>
                            <a:srgbClr val="000000"/>
                          </a:solidFill>
                          <a:effectLst/>
                          <a:latin typeface="Arial" panose="020B0604020202020204" pitchFamily="34" charset="0"/>
                        </a:rPr>
                        <a:t>Coefficients</a:t>
                      </a:r>
                      <a:r>
                        <a:rPr lang="en-US" sz="18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7709208"/>
                  </a:ext>
                </a:extLst>
              </a:tr>
              <a:tr h="605790">
                <a:tc>
                  <a:txBody>
                    <a:bodyPr/>
                    <a:lstStyle/>
                    <a:p>
                      <a:pPr algn="ctr">
                        <a:buNone/>
                      </a:pPr>
                      <a:r>
                        <a:rPr lang="en-US" sz="18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Unstandardized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 Error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t</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527659"/>
                  </a:ext>
                </a:extLst>
              </a:tr>
              <a:tr h="405765">
                <a:tc>
                  <a:txBody>
                    <a:bodyPr/>
                    <a:lstStyle/>
                    <a:p>
                      <a:pPr algn="l">
                        <a:buNone/>
                      </a:pPr>
                      <a:r>
                        <a:rPr lang="en-US" sz="18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dirty="0">
                          <a:solidFill>
                            <a:srgbClr val="000000"/>
                          </a:solidFill>
                          <a:effectLst/>
                          <a:latin typeface="Arial" panose="020B0604020202020204" pitchFamily="34" charset="0"/>
                        </a:rPr>
                        <a:t>588.958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2.334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252.333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25412938"/>
                  </a:ext>
                </a:extLst>
              </a:tr>
              <a:tr h="405765">
                <a:tc>
                  <a:txBody>
                    <a:bodyPr/>
                    <a:lstStyle/>
                    <a:p>
                      <a:pPr algn="l">
                        <a:buNone/>
                      </a:pPr>
                      <a:r>
                        <a:rPr lang="en-US" sz="18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328.665</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17.071</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dirty="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19.253</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1352240465"/>
                  </a:ext>
                </a:extLst>
              </a:tr>
              <a:tr h="312420">
                <a:tc>
                  <a:txBody>
                    <a:bodyPr/>
                    <a:lstStyle/>
                    <a:p>
                      <a:pPr algn="l">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800"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0.461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0.464</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dirty="0">
                          <a:solidFill>
                            <a:srgbClr val="000000"/>
                          </a:solidFill>
                          <a:effectLst/>
                          <a:latin typeface="Arial" panose="020B0604020202020204" pitchFamily="34" charset="0"/>
                        </a:rPr>
                        <a:t>15.361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1476701665"/>
                  </a:ext>
                </a:extLst>
              </a:tr>
              <a:tr h="312420">
                <a:tc gridSpan="7">
                  <a:txBody>
                    <a:bodyPr/>
                    <a:lstStyle/>
                    <a:p>
                      <a:pPr algn="r">
                        <a:buNone/>
                      </a:pPr>
                      <a:endParaRPr lang="en-US" sz="18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4824713"/>
                  </a:ext>
                </a:extLst>
              </a:tr>
            </a:tbl>
          </a:graphicData>
        </a:graphic>
      </p:graphicFrame>
      <p:sp>
        <p:nvSpPr>
          <p:cNvPr id="8" name="TextBox 7">
            <a:extLst>
              <a:ext uri="{FF2B5EF4-FFF2-40B4-BE49-F238E27FC236}">
                <a16:creationId xmlns:a16="http://schemas.microsoft.com/office/drawing/2014/main" id="{4D560044-3543-E32F-DBF4-39DDBBD93C71}"/>
              </a:ext>
            </a:extLst>
          </p:cNvPr>
          <p:cNvSpPr txBox="1"/>
          <p:nvPr/>
        </p:nvSpPr>
        <p:spPr>
          <a:xfrm>
            <a:off x="600073" y="2832944"/>
            <a:ext cx="9982202" cy="3477875"/>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3. The "Trust" Metrics (Errors &amp; Significance) How confident should we be in these numbers?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Standard Error (0.030): This is the "Give or Take" amount.</a:t>
            </a:r>
          </a:p>
          <a:p>
            <a:r>
              <a:rPr lang="en-US" sz="2000" dirty="0">
                <a:latin typeface="Arial" panose="020B0604020202020204" pitchFamily="34" charset="0"/>
                <a:cs typeface="Arial" panose="020B0604020202020204" pitchFamily="34" charset="0"/>
              </a:rPr>
              <a:t>Intuition: We calculated the effect is 0.461, but in reality, it might wobble a bit. Small standard errors mean our estimate is very precise. </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p-value (&lt; .001): </a:t>
            </a:r>
          </a:p>
          <a:p>
            <a:r>
              <a:rPr lang="en-US" sz="2000" dirty="0">
                <a:latin typeface="Arial" panose="020B0604020202020204" pitchFamily="34" charset="0"/>
                <a:cs typeface="Arial" panose="020B0604020202020204" pitchFamily="34" charset="0"/>
              </a:rPr>
              <a:t>Intuition: If there was actually zero relationship between Verbal scores and the Final score, finding this result would be a one-in-a-thousand miracle. Since miracles are rare, we conclude the relationship is real.</a:t>
            </a:r>
          </a:p>
        </p:txBody>
      </p:sp>
    </p:spTree>
    <p:extLst>
      <p:ext uri="{BB962C8B-B14F-4D97-AF65-F5344CB8AC3E}">
        <p14:creationId xmlns:p14="http://schemas.microsoft.com/office/powerpoint/2010/main" val="21321691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a:extLst>
              <a:ext uri="{FF2B5EF4-FFF2-40B4-BE49-F238E27FC236}">
                <a16:creationId xmlns:a16="http://schemas.microsoft.com/office/drawing/2014/main" id="{0A37DA50-4FC0-8968-6079-878E813FC4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770" y="1611638"/>
            <a:ext cx="6465680" cy="48812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052A6A6-2CB0-DB97-7279-D2B7878F5FCC}"/>
              </a:ext>
            </a:extLst>
          </p:cNvPr>
          <p:cNvSpPr>
            <a:spLocks noGrp="1"/>
          </p:cNvSpPr>
          <p:nvPr>
            <p:ph type="title"/>
          </p:nvPr>
        </p:nvSpPr>
        <p:spPr>
          <a:xfrm>
            <a:off x="838200" y="365125"/>
            <a:ext cx="10515600" cy="1325563"/>
          </a:xfrm>
        </p:spPr>
        <p:txBody>
          <a:bodyPr/>
          <a:lstStyle/>
          <a:p>
            <a:r>
              <a:rPr lang="en-US" dirty="0"/>
              <a:t>Visualizing the marginal effects plot</a:t>
            </a:r>
          </a:p>
        </p:txBody>
      </p:sp>
      <p:sp>
        <p:nvSpPr>
          <p:cNvPr id="6" name="TextBox 5">
            <a:extLst>
              <a:ext uri="{FF2B5EF4-FFF2-40B4-BE49-F238E27FC236}">
                <a16:creationId xmlns:a16="http://schemas.microsoft.com/office/drawing/2014/main" id="{AD44F90B-EC97-B9FC-B0AE-349CEE5485D6}"/>
              </a:ext>
            </a:extLst>
          </p:cNvPr>
          <p:cNvSpPr txBox="1"/>
          <p:nvPr/>
        </p:nvSpPr>
        <p:spPr>
          <a:xfrm>
            <a:off x="7981950" y="1611638"/>
            <a:ext cx="3371850" cy="2031325"/>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table tells you "How much", but the visual tells you "In what shape".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There are three common scenarios that a visual graph can reveal…</a:t>
            </a:r>
          </a:p>
        </p:txBody>
      </p:sp>
    </p:spTree>
    <p:extLst>
      <p:ext uri="{BB962C8B-B14F-4D97-AF65-F5344CB8AC3E}">
        <p14:creationId xmlns:p14="http://schemas.microsoft.com/office/powerpoint/2010/main" val="2894935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3E160-5212-B04C-D450-E12F9178FD9D}"/>
              </a:ext>
            </a:extLst>
          </p:cNvPr>
          <p:cNvSpPr>
            <a:spLocks noGrp="1"/>
          </p:cNvSpPr>
          <p:nvPr>
            <p:ph type="title"/>
          </p:nvPr>
        </p:nvSpPr>
        <p:spPr>
          <a:xfrm>
            <a:off x="154806" y="191870"/>
            <a:ext cx="10515600" cy="674403"/>
          </a:xfrm>
        </p:spPr>
        <p:txBody>
          <a:bodyPr>
            <a:normAutofit/>
          </a:bodyPr>
          <a:lstStyle/>
          <a:p>
            <a:r>
              <a:rPr lang="en-US" sz="3600" dirty="0">
                <a:latin typeface="Arial" panose="020B0604020202020204" pitchFamily="34" charset="0"/>
                <a:cs typeface="Arial" panose="020B0604020202020204" pitchFamily="34" charset="0"/>
              </a:rPr>
              <a:t>Visualizing your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684D5B-7BDB-F9DE-99CB-DB12CCF0D9AB}"/>
                  </a:ext>
                </a:extLst>
              </p:cNvPr>
              <p:cNvSpPr>
                <a:spLocks noGrp="1"/>
              </p:cNvSpPr>
              <p:nvPr>
                <p:ph idx="1"/>
              </p:nvPr>
            </p:nvSpPr>
            <p:spPr>
              <a:xfrm>
                <a:off x="270310" y="866273"/>
                <a:ext cx="10515600" cy="4351338"/>
              </a:xfrm>
            </p:spPr>
            <p:txBody>
              <a:bodyPr>
                <a:noAutofit/>
              </a:bodyPr>
              <a:lstStyle/>
              <a:p>
                <a:r>
                  <a:rPr lang="en-US" sz="2000" b="1" dirty="0">
                    <a:latin typeface="Arial" panose="020B0604020202020204" pitchFamily="34" charset="0"/>
                    <a:cs typeface="Arial" panose="020B0604020202020204" pitchFamily="34" charset="0"/>
                  </a:rPr>
                  <a:t>The U-Turn (Non-Linearity):</a:t>
                </a:r>
                <a:endParaRPr lang="en-US" sz="2000" dirty="0">
                  <a:latin typeface="Arial" panose="020B0604020202020204" pitchFamily="34" charset="0"/>
                  <a:cs typeface="Arial" panose="020B0604020202020204" pitchFamily="34" charset="0"/>
                </a:endParaRPr>
              </a:p>
              <a:p>
                <a:pPr lvl="1"/>
                <a:r>
                  <a:rPr lang="en-US" sz="2000" i="1" dirty="0">
                    <a:latin typeface="Arial" panose="020B0604020202020204" pitchFamily="34" charset="0"/>
                    <a:cs typeface="Arial" panose="020B0604020202020204" pitchFamily="34" charset="0"/>
                  </a:rPr>
                  <a:t>Scenario:</a:t>
                </a:r>
                <a:r>
                  <a:rPr lang="en-US" sz="2000" dirty="0">
                    <a:latin typeface="Arial" panose="020B0604020202020204" pitchFamily="34" charset="0"/>
                    <a:cs typeface="Arial" panose="020B0604020202020204" pitchFamily="34" charset="0"/>
                  </a:rPr>
                  <a:t> Maybe test scores go up as anxiety goes up, but then </a:t>
                </a:r>
                <a:r>
                  <a:rPr lang="en-US" sz="2000" i="1" dirty="0">
                    <a:latin typeface="Arial" panose="020B0604020202020204" pitchFamily="34" charset="0"/>
                    <a:cs typeface="Arial" panose="020B0604020202020204" pitchFamily="34" charset="0"/>
                  </a:rPr>
                  <a:t>crash</a:t>
                </a:r>
                <a:r>
                  <a:rPr lang="en-US" sz="2000" dirty="0">
                    <a:latin typeface="Arial" panose="020B0604020202020204" pitchFamily="34" charset="0"/>
                    <a:cs typeface="Arial" panose="020B0604020202020204" pitchFamily="34" charset="0"/>
                  </a:rPr>
                  <a:t> when anxiety gets too high.</a:t>
                </a:r>
              </a:p>
              <a:p>
                <a:pPr lvl="1"/>
                <a:r>
                  <a:rPr lang="en-US" sz="2000" i="1" dirty="0">
                    <a:latin typeface="Arial" panose="020B0604020202020204" pitchFamily="34" charset="0"/>
                    <a:cs typeface="Arial" panose="020B0604020202020204" pitchFamily="34" charset="0"/>
                  </a:rPr>
                  <a:t>The Table:</a:t>
                </a:r>
                <a:r>
                  <a:rPr lang="en-US" sz="2000" dirty="0">
                    <a:latin typeface="Arial" panose="020B0604020202020204" pitchFamily="34" charset="0"/>
                    <a:cs typeface="Arial" panose="020B0604020202020204" pitchFamily="34" charset="0"/>
                  </a:rPr>
                  <a:t> Averages it out to a "flat" line (Coefficient </a:t>
                </a:r>
                <a14:m>
                  <m:oMath xmlns:m="http://schemas.openxmlformats.org/officeDocument/2006/math">
                    <m:r>
                      <a:rPr lang="en-US" sz="200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0), hiding the critical U-shape.</a:t>
                </a:r>
              </a:p>
              <a:p>
                <a:pPr lvl="1"/>
                <a:r>
                  <a:rPr lang="en-US" sz="2000" i="1" dirty="0">
                    <a:latin typeface="Arial" panose="020B0604020202020204" pitchFamily="34" charset="0"/>
                    <a:cs typeface="Arial" panose="020B0604020202020204" pitchFamily="34" charset="0"/>
                  </a:rPr>
                  <a:t>The Visual:</a:t>
                </a:r>
                <a:r>
                  <a:rPr lang="en-US" sz="2000" dirty="0">
                    <a:latin typeface="Arial" panose="020B0604020202020204" pitchFamily="34" charset="0"/>
                    <a:cs typeface="Arial" panose="020B0604020202020204" pitchFamily="34" charset="0"/>
                  </a:rPr>
                  <a:t> Shows the curve immediately.</a:t>
                </a:r>
              </a:p>
              <a:p>
                <a:r>
                  <a:rPr lang="en-US" sz="2000" b="1" dirty="0">
                    <a:latin typeface="Arial" panose="020B0604020202020204" pitchFamily="34" charset="0"/>
                    <a:cs typeface="Arial" panose="020B0604020202020204" pitchFamily="34" charset="0"/>
                  </a:rPr>
                  <a:t>The Context Trap (Clusters):</a:t>
                </a:r>
                <a:endParaRPr lang="en-US" sz="2000" dirty="0">
                  <a:latin typeface="Arial" panose="020B0604020202020204" pitchFamily="34" charset="0"/>
                  <a:cs typeface="Arial" panose="020B0604020202020204" pitchFamily="34" charset="0"/>
                </a:endParaRPr>
              </a:p>
              <a:p>
                <a:pPr lvl="1"/>
                <a:r>
                  <a:rPr lang="en-US" sz="2000" i="1" dirty="0">
                    <a:latin typeface="Arial" panose="020B0604020202020204" pitchFamily="34" charset="0"/>
                    <a:cs typeface="Arial" panose="020B0604020202020204" pitchFamily="34" charset="0"/>
                  </a:rPr>
                  <a:t>Scenario:</a:t>
                </a:r>
                <a:r>
                  <a:rPr lang="en-US" sz="2000" dirty="0">
                    <a:latin typeface="Arial" panose="020B0604020202020204" pitchFamily="34" charset="0"/>
                    <a:cs typeface="Arial" panose="020B0604020202020204" pitchFamily="34" charset="0"/>
                  </a:rPr>
                  <a:t> You might have two distinct groups (e.g., Science Majors vs. Art Majors).</a:t>
                </a:r>
              </a:p>
              <a:p>
                <a:pPr lvl="1"/>
                <a:r>
                  <a:rPr lang="en-US" sz="2000" i="1" dirty="0">
                    <a:latin typeface="Arial" panose="020B0604020202020204" pitchFamily="34" charset="0"/>
                    <a:cs typeface="Arial" panose="020B0604020202020204" pitchFamily="34" charset="0"/>
                  </a:rPr>
                  <a:t>The Table:</a:t>
                </a:r>
                <a:r>
                  <a:rPr lang="en-US" sz="2000" dirty="0">
                    <a:latin typeface="Arial" panose="020B0604020202020204" pitchFamily="34" charset="0"/>
                    <a:cs typeface="Arial" panose="020B0604020202020204" pitchFamily="34" charset="0"/>
                  </a:rPr>
                  <a:t> Gives you one line that fits </a:t>
                </a:r>
                <a:r>
                  <a:rPr lang="en-US" sz="2000" i="1" dirty="0">
                    <a:latin typeface="Arial" panose="020B0604020202020204" pitchFamily="34" charset="0"/>
                    <a:cs typeface="Arial" panose="020B0604020202020204" pitchFamily="34" charset="0"/>
                  </a:rPr>
                  <a:t>nobody</a:t>
                </a:r>
                <a:r>
                  <a:rPr lang="en-US" sz="2000" dirty="0">
                    <a:latin typeface="Arial" panose="020B0604020202020204" pitchFamily="34" charset="0"/>
                    <a:cs typeface="Arial" panose="020B0604020202020204" pitchFamily="34" charset="0"/>
                  </a:rPr>
                  <a:t> well—it just splits the difference.</a:t>
                </a:r>
              </a:p>
              <a:p>
                <a:pPr lvl="1"/>
                <a:r>
                  <a:rPr lang="en-US" sz="2000" i="1" dirty="0">
                    <a:latin typeface="Arial" panose="020B0604020202020204" pitchFamily="34" charset="0"/>
                    <a:cs typeface="Arial" panose="020B0604020202020204" pitchFamily="34" charset="0"/>
                  </a:rPr>
                  <a:t>The Visual:</a:t>
                </a:r>
                <a:r>
                  <a:rPr lang="en-US" sz="2000" dirty="0">
                    <a:latin typeface="Arial" panose="020B0604020202020204" pitchFamily="34" charset="0"/>
                    <a:cs typeface="Arial" panose="020B0604020202020204" pitchFamily="34" charset="0"/>
                  </a:rPr>
                  <a:t> Shows two distinct clusters of dots, suggesting you actually need two lines (variables), not one.</a:t>
                </a:r>
              </a:p>
              <a:p>
                <a:r>
                  <a:rPr lang="en-US" sz="2000" b="1" dirty="0">
                    <a:latin typeface="Arial" panose="020B0604020202020204" pitchFamily="34" charset="0"/>
                    <a:cs typeface="Arial" panose="020B0604020202020204" pitchFamily="34" charset="0"/>
                  </a:rPr>
                  <a:t>The “Micheal Jordan" Effect (Outliers):</a:t>
                </a:r>
                <a:endParaRPr lang="en-US" sz="2000" dirty="0">
                  <a:latin typeface="Arial" panose="020B0604020202020204" pitchFamily="34" charset="0"/>
                  <a:cs typeface="Arial" panose="020B0604020202020204" pitchFamily="34" charset="0"/>
                </a:endParaRPr>
              </a:p>
              <a:p>
                <a:pPr lvl="1"/>
                <a:r>
                  <a:rPr lang="en-US" sz="2000" i="1" dirty="0">
                    <a:latin typeface="Arial" panose="020B0604020202020204" pitchFamily="34" charset="0"/>
                    <a:cs typeface="Arial" panose="020B0604020202020204" pitchFamily="34" charset="0"/>
                  </a:rPr>
                  <a:t>Scenario:</a:t>
                </a:r>
                <a:r>
                  <a:rPr lang="en-US" sz="2000" dirty="0">
                    <a:latin typeface="Arial" panose="020B0604020202020204" pitchFamily="34" charset="0"/>
                    <a:cs typeface="Arial" panose="020B0604020202020204" pitchFamily="34" charset="0"/>
                  </a:rPr>
                  <a:t> MJ made millions of dollars at UNC.</a:t>
                </a:r>
              </a:p>
              <a:p>
                <a:pPr lvl="1"/>
                <a:r>
                  <a:rPr lang="en-US" sz="2000" i="1" dirty="0">
                    <a:latin typeface="Arial" panose="020B0604020202020204" pitchFamily="34" charset="0"/>
                    <a:cs typeface="Arial" panose="020B0604020202020204" pitchFamily="34" charset="0"/>
                  </a:rPr>
                  <a:t>The Table:</a:t>
                </a:r>
                <a:r>
                  <a:rPr lang="en-US" sz="2000" dirty="0">
                    <a:latin typeface="Arial" panose="020B0604020202020204" pitchFamily="34" charset="0"/>
                    <a:cs typeface="Arial" panose="020B0604020202020204" pitchFamily="34" charset="0"/>
                  </a:rPr>
                  <a:t> Linear regression is extremely weak against outliers. One data point can pull the whole line up, giving you a coefficient that represents </a:t>
                </a:r>
                <a:r>
                  <a:rPr lang="en-US" sz="2000" i="1" dirty="0">
                    <a:latin typeface="Arial" panose="020B0604020202020204" pitchFamily="34" charset="0"/>
                    <a:cs typeface="Arial" panose="020B0604020202020204" pitchFamily="34" charset="0"/>
                  </a:rPr>
                  <a:t>no one</a:t>
                </a:r>
                <a:r>
                  <a:rPr lang="en-US" sz="2000" dirty="0">
                    <a:latin typeface="Arial" panose="020B0604020202020204" pitchFamily="34" charset="0"/>
                    <a:cs typeface="Arial" panose="020B0604020202020204" pitchFamily="34" charset="0"/>
                  </a:rPr>
                  <a:t> except the extreme deviation (note: this could also be a coding error).</a:t>
                </a:r>
              </a:p>
              <a:p>
                <a:pPr lvl="1"/>
                <a:r>
                  <a:rPr lang="en-US" sz="2000" i="1" dirty="0">
                    <a:latin typeface="Arial" panose="020B0604020202020204" pitchFamily="34" charset="0"/>
                    <a:cs typeface="Arial" panose="020B0604020202020204" pitchFamily="34" charset="0"/>
                  </a:rPr>
                  <a:t>The Visual:</a:t>
                </a:r>
                <a:r>
                  <a:rPr lang="en-US" sz="2000" dirty="0">
                    <a:latin typeface="Arial" panose="020B0604020202020204" pitchFamily="34" charset="0"/>
                    <a:cs typeface="Arial" panose="020B0604020202020204" pitchFamily="34" charset="0"/>
                  </a:rPr>
                  <a:t> You immediately see one dot way off in the corner and realize "Wait, that's wrong."</a:t>
                </a:r>
              </a:p>
              <a:p>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5684D5B-7BDB-F9DE-99CB-DB12CCF0D9AB}"/>
                  </a:ext>
                </a:extLst>
              </p:cNvPr>
              <p:cNvSpPr>
                <a:spLocks noGrp="1" noRot="1" noChangeAspect="1" noMove="1" noResize="1" noEditPoints="1" noAdjustHandles="1" noChangeArrowheads="1" noChangeShapeType="1" noTextEdit="1"/>
              </p:cNvSpPr>
              <p:nvPr>
                <p:ph idx="1"/>
              </p:nvPr>
            </p:nvSpPr>
            <p:spPr>
              <a:xfrm>
                <a:off x="270310" y="866273"/>
                <a:ext cx="10515600" cy="4351338"/>
              </a:xfrm>
              <a:blipFill>
                <a:blip r:embed="rId2"/>
                <a:stretch>
                  <a:fillRect l="-522" t="-1261" r="-1275" b="-30812"/>
                </a:stretch>
              </a:blipFill>
            </p:spPr>
            <p:txBody>
              <a:bodyPr/>
              <a:lstStyle/>
              <a:p>
                <a:r>
                  <a:rPr lang="en-US">
                    <a:noFill/>
                  </a:rPr>
                  <a:t> </a:t>
                </a:r>
              </a:p>
            </p:txBody>
          </p:sp>
        </mc:Fallback>
      </mc:AlternateContent>
    </p:spTree>
    <p:extLst>
      <p:ext uri="{BB962C8B-B14F-4D97-AF65-F5344CB8AC3E}">
        <p14:creationId xmlns:p14="http://schemas.microsoft.com/office/powerpoint/2010/main" val="21072633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BA85-56DE-330A-9702-B38F3E82314C}"/>
              </a:ext>
            </a:extLst>
          </p:cNvPr>
          <p:cNvSpPr>
            <a:spLocks noGrp="1"/>
          </p:cNvSpPr>
          <p:nvPr>
            <p:ph type="title"/>
          </p:nvPr>
        </p:nvSpPr>
        <p:spPr>
          <a:xfrm>
            <a:off x="97055" y="191870"/>
            <a:ext cx="10515600" cy="684029"/>
          </a:xfrm>
        </p:spPr>
        <p:txBody>
          <a:bodyPr>
            <a:normAutofit/>
          </a:bodyPr>
          <a:lstStyle/>
          <a:p>
            <a:r>
              <a:rPr lang="en-US" sz="3600" dirty="0">
                <a:latin typeface="Arial" panose="020B0604020202020204" pitchFamily="34" charset="0"/>
                <a:cs typeface="Arial" panose="020B0604020202020204" pitchFamily="34" charset="0"/>
              </a:rPr>
              <a:t>Examples: SLR mechanics</a:t>
            </a:r>
          </a:p>
        </p:txBody>
      </p:sp>
      <p:sp>
        <p:nvSpPr>
          <p:cNvPr id="3" name="Content Placeholder 2">
            <a:extLst>
              <a:ext uri="{FF2B5EF4-FFF2-40B4-BE49-F238E27FC236}">
                <a16:creationId xmlns:a16="http://schemas.microsoft.com/office/drawing/2014/main" id="{0CEA122B-A8D9-28A2-2802-51E554C1F398}"/>
              </a:ext>
            </a:extLst>
          </p:cNvPr>
          <p:cNvSpPr>
            <a:spLocks noGrp="1"/>
          </p:cNvSpPr>
          <p:nvPr>
            <p:ph idx="1"/>
          </p:nvPr>
        </p:nvSpPr>
        <p:spPr>
          <a:xfrm>
            <a:off x="241434" y="875899"/>
            <a:ext cx="10515600" cy="4351338"/>
          </a:xfrm>
        </p:spPr>
        <p:txBody>
          <a:bodyPr>
            <a:normAutofit/>
          </a:bodyPr>
          <a:lstStyle/>
          <a:p>
            <a:r>
              <a:rPr lang="en-US" sz="2000" dirty="0">
                <a:latin typeface="Arial" panose="020B0604020202020204" pitchFamily="34" charset="0"/>
                <a:cs typeface="Arial" panose="020B0604020202020204" pitchFamily="34" charset="0"/>
              </a:rPr>
              <a:t>A full working example of how to do SLR in R using the admissions dataset </a:t>
            </a:r>
            <a:r>
              <a:rPr lang="en-US" sz="2000" dirty="0">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sym typeface="Wingdings" panose="05000000000000000000" pitchFamily="2" charset="2"/>
                <a:hlinkClick r:id="rId2"/>
              </a:rPr>
              <a:t>https://issues-osu.github.io/statsii-spring2026/</a:t>
            </a:r>
            <a:r>
              <a:rPr lang="en-US" sz="2000" dirty="0">
                <a:latin typeface="Arial" panose="020B0604020202020204" pitchFamily="34" charset="0"/>
                <a:cs typeface="Arial" panose="020B0604020202020204" pitchFamily="34" charset="0"/>
                <a:hlinkClick r:id="rId2"/>
              </a:rPr>
              <a:t>admissions_SLR_example.html</a:t>
            </a:r>
            <a:r>
              <a:rPr lang="en-US" sz="2000" dirty="0">
                <a:latin typeface="Arial" panose="020B0604020202020204" pitchFamily="34" charset="0"/>
                <a:cs typeface="Arial" panose="020B0604020202020204" pitchFamily="34" charset="0"/>
              </a:rPr>
              <a:t> </a:t>
            </a:r>
          </a:p>
          <a:p>
            <a:r>
              <a:rPr lang="en-US" sz="2000" dirty="0" err="1">
                <a:latin typeface="Arial" panose="020B0604020202020204" pitchFamily="34" charset="0"/>
                <a:cs typeface="Arial" panose="020B0604020202020204" pitchFamily="34" charset="0"/>
              </a:rPr>
              <a:t>Gapminder</a:t>
            </a:r>
            <a:r>
              <a:rPr lang="en-US" sz="2000" dirty="0">
                <a:latin typeface="Arial" panose="020B0604020202020204" pitchFamily="34" charset="0"/>
                <a:cs typeface="Arial" panose="020B0604020202020204" pitchFamily="34" charset="0"/>
              </a:rPr>
              <a:t> data visualization example to demonstrate how descriptive charts and statistics can help uncover the nuances in your data for modeling purposes </a:t>
            </a:r>
            <a:r>
              <a:rPr lang="en-US" sz="2000" dirty="0">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sym typeface="Wingdings" panose="05000000000000000000" pitchFamily="2" charset="2"/>
                <a:hlinkClick r:id="rId3"/>
              </a:rPr>
              <a:t>https://issues-osu.github.io/statsii-spring2026/gapminder-dv-example.html</a:t>
            </a:r>
            <a:r>
              <a:rPr lang="en-US" sz="2000" dirty="0">
                <a:latin typeface="Arial" panose="020B0604020202020204" pitchFamily="34" charset="0"/>
                <a:cs typeface="Arial" panose="020B0604020202020204" pitchFamily="34" charset="0"/>
                <a:sym typeface="Wingdings" panose="05000000000000000000" pitchFamily="2" charset="2"/>
              </a:rPr>
              <a:t>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23197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6126" y="202866"/>
            <a:ext cx="20063693" cy="369783"/>
          </a:xfrm>
          <a:prstGeom prst="rect">
            <a:avLst/>
          </a:prstGeom>
        </p:spPr>
        <p:txBody>
          <a:bodyPr vert="horz" wrap="square" lIns="0" tIns="33975" rIns="0" bIns="0" rtlCol="0">
            <a:spAutoFit/>
          </a:bodyPr>
          <a:lstStyle/>
          <a:p>
            <a:pPr marL="25168">
              <a:spcBef>
                <a:spcPts val="268"/>
              </a:spcBef>
            </a:pPr>
            <a:r>
              <a:rPr spc="-20" dirty="0"/>
              <a:t>Extrapolation</a:t>
            </a:r>
          </a:p>
        </p:txBody>
      </p:sp>
      <p:sp>
        <p:nvSpPr>
          <p:cNvPr id="3" name="object 3"/>
          <p:cNvSpPr txBox="1"/>
          <p:nvPr/>
        </p:nvSpPr>
        <p:spPr>
          <a:xfrm>
            <a:off x="217001" y="909834"/>
            <a:ext cx="11554696" cy="1261993"/>
          </a:xfrm>
          <a:prstGeom prst="rect">
            <a:avLst/>
          </a:prstGeom>
        </p:spPr>
        <p:txBody>
          <a:bodyPr vert="horz" wrap="square" lIns="0" tIns="22650" rIns="0" bIns="0" rtlCol="0">
            <a:spAutoFit/>
          </a:bodyPr>
          <a:lstStyle/>
          <a:p>
            <a:pPr marL="366809" marR="10067" indent="-342900" defTabSz="1812066">
              <a:lnSpc>
                <a:spcPct val="129900"/>
              </a:lnSpc>
              <a:spcBef>
                <a:spcPts val="178"/>
              </a:spcBef>
              <a:buFont typeface="Arial" panose="020B0604020202020204" pitchFamily="34" charset="0"/>
              <a:buChar char="•"/>
              <a:tabLst>
                <a:tab pos="296978" algn="l"/>
              </a:tabLst>
            </a:pPr>
            <a:r>
              <a:rPr sz="2000" kern="0" dirty="0">
                <a:solidFill>
                  <a:srgbClr val="22373A"/>
                </a:solidFill>
                <a:latin typeface="Arial"/>
                <a:cs typeface="Arial"/>
              </a:rPr>
              <a:t>Applying</a:t>
            </a:r>
            <a:r>
              <a:rPr sz="2000" kern="0" spc="178" dirty="0">
                <a:solidFill>
                  <a:srgbClr val="22373A"/>
                </a:solidFill>
                <a:latin typeface="Arial"/>
                <a:cs typeface="Arial"/>
              </a:rPr>
              <a:t> </a:t>
            </a:r>
            <a:r>
              <a:rPr sz="2000" kern="0" dirty="0">
                <a:solidFill>
                  <a:srgbClr val="22373A"/>
                </a:solidFill>
                <a:latin typeface="Arial"/>
                <a:cs typeface="Arial"/>
              </a:rPr>
              <a:t>a</a:t>
            </a:r>
            <a:r>
              <a:rPr sz="2000" kern="0" spc="188" dirty="0">
                <a:solidFill>
                  <a:srgbClr val="22373A"/>
                </a:solidFill>
                <a:latin typeface="Arial"/>
                <a:cs typeface="Arial"/>
              </a:rPr>
              <a:t> </a:t>
            </a:r>
            <a:r>
              <a:rPr sz="2000" kern="0" dirty="0">
                <a:solidFill>
                  <a:srgbClr val="22373A"/>
                </a:solidFill>
                <a:latin typeface="Arial"/>
                <a:cs typeface="Arial"/>
              </a:rPr>
              <a:t>model</a:t>
            </a:r>
            <a:r>
              <a:rPr sz="2000" kern="0" spc="188" dirty="0">
                <a:solidFill>
                  <a:srgbClr val="22373A"/>
                </a:solidFill>
                <a:latin typeface="Arial"/>
                <a:cs typeface="Arial"/>
              </a:rPr>
              <a:t> </a:t>
            </a:r>
            <a:r>
              <a:rPr sz="2000" kern="0" dirty="0">
                <a:solidFill>
                  <a:srgbClr val="22373A"/>
                </a:solidFill>
                <a:latin typeface="Arial"/>
                <a:cs typeface="Arial"/>
              </a:rPr>
              <a:t>estimate</a:t>
            </a:r>
            <a:r>
              <a:rPr sz="2000" kern="0" spc="188" dirty="0">
                <a:solidFill>
                  <a:srgbClr val="22373A"/>
                </a:solidFill>
                <a:latin typeface="Arial"/>
                <a:cs typeface="Arial"/>
              </a:rPr>
              <a:t> </a:t>
            </a:r>
            <a:r>
              <a:rPr sz="2000" kern="0" dirty="0">
                <a:solidFill>
                  <a:srgbClr val="22373A"/>
                </a:solidFill>
                <a:latin typeface="Arial"/>
                <a:cs typeface="Arial"/>
              </a:rPr>
              <a:t>to</a:t>
            </a:r>
            <a:r>
              <a:rPr sz="2000" kern="0" spc="178" dirty="0">
                <a:solidFill>
                  <a:srgbClr val="22373A"/>
                </a:solidFill>
                <a:latin typeface="Arial"/>
                <a:cs typeface="Arial"/>
              </a:rPr>
              <a:t> </a:t>
            </a:r>
            <a:r>
              <a:rPr sz="2000" kern="0" dirty="0">
                <a:solidFill>
                  <a:srgbClr val="22373A"/>
                </a:solidFill>
                <a:latin typeface="Arial"/>
                <a:cs typeface="Arial"/>
              </a:rPr>
              <a:t>values</a:t>
            </a:r>
            <a:r>
              <a:rPr sz="2000" kern="0" spc="188" dirty="0">
                <a:solidFill>
                  <a:srgbClr val="22373A"/>
                </a:solidFill>
                <a:latin typeface="Arial"/>
                <a:cs typeface="Arial"/>
              </a:rPr>
              <a:t> </a:t>
            </a:r>
            <a:r>
              <a:rPr sz="2000" kern="0" dirty="0">
                <a:solidFill>
                  <a:srgbClr val="22373A"/>
                </a:solidFill>
                <a:latin typeface="Arial"/>
                <a:cs typeface="Arial"/>
              </a:rPr>
              <a:t>outside</a:t>
            </a:r>
            <a:r>
              <a:rPr sz="2000" kern="0" spc="188" dirty="0">
                <a:solidFill>
                  <a:srgbClr val="22373A"/>
                </a:solidFill>
                <a:latin typeface="Arial"/>
                <a:cs typeface="Arial"/>
              </a:rPr>
              <a:t> </a:t>
            </a:r>
            <a:r>
              <a:rPr sz="2000" kern="0" dirty="0">
                <a:solidFill>
                  <a:srgbClr val="22373A"/>
                </a:solidFill>
                <a:latin typeface="Arial"/>
                <a:cs typeface="Arial"/>
              </a:rPr>
              <a:t>of</a:t>
            </a:r>
            <a:r>
              <a:rPr sz="2000" kern="0" spc="188" dirty="0">
                <a:solidFill>
                  <a:srgbClr val="22373A"/>
                </a:solidFill>
                <a:latin typeface="Arial"/>
                <a:cs typeface="Arial"/>
              </a:rPr>
              <a:t> </a:t>
            </a:r>
            <a:r>
              <a:rPr sz="2000" kern="0" dirty="0">
                <a:solidFill>
                  <a:srgbClr val="22373A"/>
                </a:solidFill>
                <a:latin typeface="Arial"/>
                <a:cs typeface="Arial"/>
              </a:rPr>
              <a:t>the</a:t>
            </a:r>
            <a:r>
              <a:rPr sz="2000" kern="0" spc="178" dirty="0">
                <a:solidFill>
                  <a:srgbClr val="22373A"/>
                </a:solidFill>
                <a:latin typeface="Arial"/>
                <a:cs typeface="Arial"/>
              </a:rPr>
              <a:t> </a:t>
            </a:r>
            <a:r>
              <a:rPr sz="2000" kern="0" dirty="0">
                <a:solidFill>
                  <a:srgbClr val="22373A"/>
                </a:solidFill>
                <a:latin typeface="Arial"/>
                <a:cs typeface="Arial"/>
              </a:rPr>
              <a:t>realm</a:t>
            </a:r>
            <a:r>
              <a:rPr sz="2000" kern="0" spc="188" dirty="0">
                <a:solidFill>
                  <a:srgbClr val="22373A"/>
                </a:solidFill>
                <a:latin typeface="Arial"/>
                <a:cs typeface="Arial"/>
              </a:rPr>
              <a:t> </a:t>
            </a:r>
            <a:r>
              <a:rPr sz="2000" kern="0" spc="-50" dirty="0">
                <a:solidFill>
                  <a:srgbClr val="22373A"/>
                </a:solidFill>
                <a:latin typeface="Arial"/>
                <a:cs typeface="Arial"/>
              </a:rPr>
              <a:t>of </a:t>
            </a:r>
            <a:r>
              <a:rPr sz="2000" kern="0" dirty="0">
                <a:solidFill>
                  <a:srgbClr val="22373A"/>
                </a:solidFill>
                <a:latin typeface="Arial"/>
                <a:cs typeface="Arial"/>
              </a:rPr>
              <a:t>the</a:t>
            </a:r>
            <a:r>
              <a:rPr sz="2000" kern="0" spc="168" dirty="0">
                <a:solidFill>
                  <a:srgbClr val="22373A"/>
                </a:solidFill>
                <a:latin typeface="Arial"/>
                <a:cs typeface="Arial"/>
              </a:rPr>
              <a:t> </a:t>
            </a:r>
            <a:r>
              <a:rPr sz="2000" kern="0" dirty="0">
                <a:solidFill>
                  <a:srgbClr val="22373A"/>
                </a:solidFill>
                <a:latin typeface="Arial"/>
                <a:cs typeface="Arial"/>
              </a:rPr>
              <a:t>original</a:t>
            </a:r>
            <a:r>
              <a:rPr sz="2000" kern="0" spc="178" dirty="0">
                <a:solidFill>
                  <a:srgbClr val="22373A"/>
                </a:solidFill>
                <a:latin typeface="Arial"/>
                <a:cs typeface="Arial"/>
              </a:rPr>
              <a:t> </a:t>
            </a:r>
            <a:r>
              <a:rPr sz="2000" kern="0" dirty="0">
                <a:solidFill>
                  <a:srgbClr val="22373A"/>
                </a:solidFill>
                <a:latin typeface="Arial"/>
                <a:cs typeface="Arial"/>
              </a:rPr>
              <a:t>data</a:t>
            </a:r>
            <a:r>
              <a:rPr sz="2000" kern="0" spc="178" dirty="0">
                <a:solidFill>
                  <a:srgbClr val="22373A"/>
                </a:solidFill>
                <a:latin typeface="Arial"/>
                <a:cs typeface="Arial"/>
              </a:rPr>
              <a:t> </a:t>
            </a:r>
            <a:r>
              <a:rPr sz="2000" kern="0" dirty="0">
                <a:solidFill>
                  <a:srgbClr val="22373A"/>
                </a:solidFill>
                <a:latin typeface="Arial"/>
                <a:cs typeface="Arial"/>
              </a:rPr>
              <a:t>is</a:t>
            </a:r>
            <a:r>
              <a:rPr sz="2000" kern="0" spc="168" dirty="0">
                <a:solidFill>
                  <a:srgbClr val="22373A"/>
                </a:solidFill>
                <a:latin typeface="Arial"/>
                <a:cs typeface="Arial"/>
              </a:rPr>
              <a:t> </a:t>
            </a:r>
            <a:r>
              <a:rPr sz="2000" kern="0" dirty="0">
                <a:solidFill>
                  <a:srgbClr val="22373A"/>
                </a:solidFill>
                <a:latin typeface="Arial"/>
                <a:cs typeface="Arial"/>
              </a:rPr>
              <a:t>called</a:t>
            </a:r>
            <a:r>
              <a:rPr sz="2000" kern="0" spc="178" dirty="0">
                <a:solidFill>
                  <a:srgbClr val="22373A"/>
                </a:solidFill>
                <a:latin typeface="Arial"/>
                <a:cs typeface="Arial"/>
              </a:rPr>
              <a:t> </a:t>
            </a:r>
            <a:r>
              <a:rPr sz="2000" i="1" kern="0" spc="-20" dirty="0">
                <a:latin typeface="Arial"/>
                <a:cs typeface="Arial"/>
              </a:rPr>
              <a:t>extrapolation</a:t>
            </a:r>
            <a:r>
              <a:rPr sz="2000" kern="0" spc="-20" dirty="0">
                <a:latin typeface="Arial"/>
                <a:cs typeface="Arial"/>
              </a:rPr>
              <a:t>.</a:t>
            </a:r>
            <a:endParaRPr sz="2000" kern="0" dirty="0">
              <a:latin typeface="Arial"/>
              <a:cs typeface="Arial"/>
            </a:endParaRPr>
          </a:p>
          <a:p>
            <a:pPr marL="368068" indent="-342900" defTabSz="1812066">
              <a:spcBef>
                <a:spcPts val="1050"/>
              </a:spcBef>
              <a:buFont typeface="Arial" panose="020B0604020202020204" pitchFamily="34" charset="0"/>
              <a:buChar char="•"/>
              <a:tabLst>
                <a:tab pos="294461" algn="l"/>
              </a:tabLst>
            </a:pPr>
            <a:r>
              <a:rPr sz="2000" kern="0" dirty="0">
                <a:solidFill>
                  <a:srgbClr val="22373A"/>
                </a:solidFill>
                <a:latin typeface="Arial"/>
                <a:cs typeface="Arial"/>
              </a:rPr>
              <a:t>Sometimes</a:t>
            </a:r>
            <a:r>
              <a:rPr sz="2000" kern="0" spc="188" dirty="0">
                <a:solidFill>
                  <a:srgbClr val="22373A"/>
                </a:solidFill>
                <a:latin typeface="Arial"/>
                <a:cs typeface="Arial"/>
              </a:rPr>
              <a:t> </a:t>
            </a:r>
            <a:r>
              <a:rPr sz="2000" kern="0" dirty="0">
                <a:solidFill>
                  <a:srgbClr val="22373A"/>
                </a:solidFill>
                <a:latin typeface="Arial"/>
                <a:cs typeface="Arial"/>
              </a:rPr>
              <a:t>the</a:t>
            </a:r>
            <a:r>
              <a:rPr sz="2000" kern="0" spc="188" dirty="0">
                <a:solidFill>
                  <a:srgbClr val="22373A"/>
                </a:solidFill>
                <a:latin typeface="Arial"/>
                <a:cs typeface="Arial"/>
              </a:rPr>
              <a:t> </a:t>
            </a:r>
            <a:r>
              <a:rPr sz="2000" kern="0" dirty="0">
                <a:solidFill>
                  <a:srgbClr val="22373A"/>
                </a:solidFill>
                <a:latin typeface="Arial"/>
                <a:cs typeface="Arial"/>
              </a:rPr>
              <a:t>intercept</a:t>
            </a:r>
            <a:r>
              <a:rPr sz="2000" kern="0" spc="188" dirty="0">
                <a:solidFill>
                  <a:srgbClr val="22373A"/>
                </a:solidFill>
                <a:latin typeface="Arial"/>
                <a:cs typeface="Arial"/>
              </a:rPr>
              <a:t> </a:t>
            </a:r>
            <a:r>
              <a:rPr sz="2000" kern="0" dirty="0">
                <a:solidFill>
                  <a:srgbClr val="22373A"/>
                </a:solidFill>
                <a:latin typeface="Arial"/>
                <a:cs typeface="Arial"/>
              </a:rPr>
              <a:t>might</a:t>
            </a:r>
            <a:r>
              <a:rPr sz="2000" kern="0" spc="198" dirty="0">
                <a:solidFill>
                  <a:srgbClr val="22373A"/>
                </a:solidFill>
                <a:latin typeface="Arial"/>
                <a:cs typeface="Arial"/>
              </a:rPr>
              <a:t> </a:t>
            </a:r>
            <a:r>
              <a:rPr sz="2000" kern="0" dirty="0">
                <a:solidFill>
                  <a:srgbClr val="22373A"/>
                </a:solidFill>
                <a:latin typeface="Arial"/>
                <a:cs typeface="Arial"/>
              </a:rPr>
              <a:t>be</a:t>
            </a:r>
            <a:r>
              <a:rPr sz="2000" kern="0" spc="188" dirty="0">
                <a:solidFill>
                  <a:srgbClr val="22373A"/>
                </a:solidFill>
                <a:latin typeface="Arial"/>
                <a:cs typeface="Arial"/>
              </a:rPr>
              <a:t> </a:t>
            </a:r>
            <a:r>
              <a:rPr sz="2000" kern="0" dirty="0">
                <a:solidFill>
                  <a:srgbClr val="22373A"/>
                </a:solidFill>
                <a:latin typeface="Arial"/>
                <a:cs typeface="Arial"/>
              </a:rPr>
              <a:t>an</a:t>
            </a:r>
            <a:r>
              <a:rPr sz="2000" kern="0" spc="188" dirty="0">
                <a:solidFill>
                  <a:srgbClr val="22373A"/>
                </a:solidFill>
                <a:latin typeface="Arial"/>
                <a:cs typeface="Arial"/>
              </a:rPr>
              <a:t> </a:t>
            </a:r>
            <a:r>
              <a:rPr sz="2000" kern="0" spc="-20" dirty="0">
                <a:solidFill>
                  <a:srgbClr val="22373A"/>
                </a:solidFill>
                <a:latin typeface="Arial"/>
                <a:cs typeface="Arial"/>
              </a:rPr>
              <a:t>extrapolation.</a:t>
            </a:r>
            <a:endParaRPr sz="2000" kern="0" dirty="0">
              <a:solidFill>
                <a:sysClr val="windowText" lastClr="000000"/>
              </a:solidFill>
              <a:latin typeface="Arial"/>
              <a:cs typeface="Arial"/>
            </a:endParaRPr>
          </a:p>
        </p:txBody>
      </p:sp>
      <p:grpSp>
        <p:nvGrpSpPr>
          <p:cNvPr id="4" name="object 4"/>
          <p:cNvGrpSpPr/>
          <p:nvPr/>
        </p:nvGrpSpPr>
        <p:grpSpPr>
          <a:xfrm>
            <a:off x="1144138" y="4323152"/>
            <a:ext cx="6430161" cy="814152"/>
            <a:chOff x="798414" y="2305287"/>
            <a:chExt cx="3244850" cy="410845"/>
          </a:xfrm>
        </p:grpSpPr>
        <p:pic>
          <p:nvPicPr>
            <p:cNvPr id="5" name="object 5"/>
            <p:cNvPicPr/>
            <p:nvPr/>
          </p:nvPicPr>
          <p:blipFill>
            <a:blip r:embed="rId2" cstate="print"/>
            <a:stretch>
              <a:fillRect/>
            </a:stretch>
          </p:blipFill>
          <p:spPr>
            <a:xfrm>
              <a:off x="3285330" y="2305287"/>
              <a:ext cx="515973" cy="243649"/>
            </a:xfrm>
            <a:prstGeom prst="rect">
              <a:avLst/>
            </a:prstGeom>
          </p:spPr>
        </p:pic>
        <p:sp>
          <p:nvSpPr>
            <p:cNvPr id="6" name="object 6"/>
            <p:cNvSpPr/>
            <p:nvPr/>
          </p:nvSpPr>
          <p:spPr>
            <a:xfrm>
              <a:off x="800637" y="2674892"/>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pPr defTabSz="1812066"/>
              <a:endParaRPr sz="3567" kern="0">
                <a:solidFill>
                  <a:sysClr val="windowText" lastClr="000000"/>
                </a:solidFill>
              </a:endParaRPr>
            </a:p>
          </p:txBody>
        </p:sp>
      </p:grpSp>
      <p:sp>
        <p:nvSpPr>
          <p:cNvPr id="7" name="object 7"/>
          <p:cNvSpPr txBox="1"/>
          <p:nvPr/>
        </p:nvSpPr>
        <p:spPr>
          <a:xfrm>
            <a:off x="1069871" y="5068939"/>
            <a:ext cx="158552" cy="257875"/>
          </a:xfrm>
          <a:prstGeom prst="rect">
            <a:avLst/>
          </a:prstGeom>
        </p:spPr>
        <p:txBody>
          <a:bodyPr vert="horz" wrap="square" lIns="0" tIns="28940" rIns="0" bIns="0" rtlCol="0">
            <a:spAutoFit/>
          </a:bodyPr>
          <a:lstStyle/>
          <a:p>
            <a:pPr marL="25168" defTabSz="1812066">
              <a:spcBef>
                <a:spcPts val="226"/>
              </a:spcBef>
            </a:pPr>
            <a:r>
              <a:rPr sz="1486" kern="0" spc="-99" dirty="0">
                <a:solidFill>
                  <a:sysClr val="windowText" lastClr="000000"/>
                </a:solidFill>
                <a:latin typeface="Arial"/>
                <a:cs typeface="Arial"/>
              </a:rPr>
              <a:t>0</a:t>
            </a:r>
            <a:endParaRPr sz="1486" kern="0">
              <a:solidFill>
                <a:sysClr val="windowText" lastClr="000000"/>
              </a:solidFill>
              <a:latin typeface="Arial"/>
              <a:cs typeface="Arial"/>
            </a:endParaRPr>
          </a:p>
        </p:txBody>
      </p:sp>
      <p:sp>
        <p:nvSpPr>
          <p:cNvPr id="8" name="object 8"/>
          <p:cNvSpPr txBox="1"/>
          <p:nvPr/>
        </p:nvSpPr>
        <p:spPr>
          <a:xfrm>
            <a:off x="2300379" y="5068938"/>
            <a:ext cx="265512" cy="257875"/>
          </a:xfrm>
          <a:prstGeom prst="rect">
            <a:avLst/>
          </a:prstGeom>
        </p:spPr>
        <p:txBody>
          <a:bodyPr vert="horz" wrap="square" lIns="0" tIns="28940" rIns="0" bIns="0" rtlCol="0">
            <a:spAutoFit/>
          </a:bodyPr>
          <a:lstStyle/>
          <a:p>
            <a:pPr marL="25168" defTabSz="1812066">
              <a:spcBef>
                <a:spcPts val="226"/>
              </a:spcBef>
            </a:pPr>
            <a:r>
              <a:rPr sz="1486" kern="0" spc="-50" dirty="0">
                <a:solidFill>
                  <a:sysClr val="windowText" lastClr="000000"/>
                </a:solidFill>
                <a:latin typeface="Arial"/>
                <a:cs typeface="Arial"/>
              </a:rPr>
              <a:t>20</a:t>
            </a:r>
            <a:endParaRPr sz="1486" kern="0">
              <a:solidFill>
                <a:sysClr val="windowText" lastClr="000000"/>
              </a:solidFill>
              <a:latin typeface="Arial"/>
              <a:cs typeface="Arial"/>
            </a:endParaRPr>
          </a:p>
        </p:txBody>
      </p:sp>
      <p:sp>
        <p:nvSpPr>
          <p:cNvPr id="9" name="object 9"/>
          <p:cNvSpPr txBox="1"/>
          <p:nvPr/>
        </p:nvSpPr>
        <p:spPr>
          <a:xfrm>
            <a:off x="3584499" y="5068938"/>
            <a:ext cx="265512" cy="257875"/>
          </a:xfrm>
          <a:prstGeom prst="rect">
            <a:avLst/>
          </a:prstGeom>
        </p:spPr>
        <p:txBody>
          <a:bodyPr vert="horz" wrap="square" lIns="0" tIns="28940" rIns="0" bIns="0" rtlCol="0">
            <a:spAutoFit/>
          </a:bodyPr>
          <a:lstStyle/>
          <a:p>
            <a:pPr marL="25168" defTabSz="1812066">
              <a:spcBef>
                <a:spcPts val="226"/>
              </a:spcBef>
            </a:pPr>
            <a:r>
              <a:rPr sz="1486" kern="0" spc="-50" dirty="0">
                <a:solidFill>
                  <a:sysClr val="windowText" lastClr="000000"/>
                </a:solidFill>
                <a:latin typeface="Arial"/>
                <a:cs typeface="Arial"/>
              </a:rPr>
              <a:t>40</a:t>
            </a:r>
            <a:endParaRPr sz="1486" kern="0">
              <a:solidFill>
                <a:sysClr val="windowText" lastClr="000000"/>
              </a:solidFill>
              <a:latin typeface="Arial"/>
              <a:cs typeface="Arial"/>
            </a:endParaRPr>
          </a:p>
        </p:txBody>
      </p:sp>
      <p:sp>
        <p:nvSpPr>
          <p:cNvPr id="10" name="object 10"/>
          <p:cNvSpPr txBox="1"/>
          <p:nvPr/>
        </p:nvSpPr>
        <p:spPr>
          <a:xfrm>
            <a:off x="4868619" y="5068938"/>
            <a:ext cx="265512" cy="257875"/>
          </a:xfrm>
          <a:prstGeom prst="rect">
            <a:avLst/>
          </a:prstGeom>
        </p:spPr>
        <p:txBody>
          <a:bodyPr vert="horz" wrap="square" lIns="0" tIns="28940" rIns="0" bIns="0" rtlCol="0">
            <a:spAutoFit/>
          </a:bodyPr>
          <a:lstStyle/>
          <a:p>
            <a:pPr marL="25168" defTabSz="1812066">
              <a:spcBef>
                <a:spcPts val="226"/>
              </a:spcBef>
            </a:pPr>
            <a:r>
              <a:rPr sz="1486" kern="0" spc="-50" dirty="0">
                <a:solidFill>
                  <a:sysClr val="windowText" lastClr="000000"/>
                </a:solidFill>
                <a:latin typeface="Arial"/>
                <a:cs typeface="Arial"/>
              </a:rPr>
              <a:t>60</a:t>
            </a:r>
            <a:endParaRPr sz="1486" kern="0">
              <a:solidFill>
                <a:sysClr val="windowText" lastClr="000000"/>
              </a:solidFill>
              <a:latin typeface="Arial"/>
              <a:cs typeface="Arial"/>
            </a:endParaRPr>
          </a:p>
        </p:txBody>
      </p:sp>
      <p:sp>
        <p:nvSpPr>
          <p:cNvPr id="11" name="object 11"/>
          <p:cNvSpPr txBox="1"/>
          <p:nvPr/>
        </p:nvSpPr>
        <p:spPr>
          <a:xfrm>
            <a:off x="6152739" y="5068938"/>
            <a:ext cx="265512" cy="257875"/>
          </a:xfrm>
          <a:prstGeom prst="rect">
            <a:avLst/>
          </a:prstGeom>
        </p:spPr>
        <p:txBody>
          <a:bodyPr vert="horz" wrap="square" lIns="0" tIns="28940" rIns="0" bIns="0" rtlCol="0">
            <a:spAutoFit/>
          </a:bodyPr>
          <a:lstStyle/>
          <a:p>
            <a:pPr marL="25168" defTabSz="1812066">
              <a:spcBef>
                <a:spcPts val="226"/>
              </a:spcBef>
            </a:pPr>
            <a:r>
              <a:rPr sz="1486" kern="0" spc="-50" dirty="0">
                <a:solidFill>
                  <a:sysClr val="windowText" lastClr="000000"/>
                </a:solidFill>
                <a:latin typeface="Arial"/>
                <a:cs typeface="Arial"/>
              </a:rPr>
              <a:t>80</a:t>
            </a:r>
            <a:endParaRPr sz="1486" kern="0">
              <a:solidFill>
                <a:sysClr val="windowText" lastClr="000000"/>
              </a:solidFill>
              <a:latin typeface="Arial"/>
              <a:cs typeface="Arial"/>
            </a:endParaRPr>
          </a:p>
        </p:txBody>
      </p:sp>
      <p:sp>
        <p:nvSpPr>
          <p:cNvPr id="12" name="object 12"/>
          <p:cNvSpPr txBox="1"/>
          <p:nvPr/>
        </p:nvSpPr>
        <p:spPr>
          <a:xfrm>
            <a:off x="7383351" y="5068938"/>
            <a:ext cx="372471" cy="257875"/>
          </a:xfrm>
          <a:prstGeom prst="rect">
            <a:avLst/>
          </a:prstGeom>
        </p:spPr>
        <p:txBody>
          <a:bodyPr vert="horz" wrap="square" lIns="0" tIns="28940" rIns="0" bIns="0" rtlCol="0">
            <a:spAutoFit/>
          </a:bodyPr>
          <a:lstStyle/>
          <a:p>
            <a:pPr marL="25168" defTabSz="1812066">
              <a:spcBef>
                <a:spcPts val="226"/>
              </a:spcBef>
            </a:pPr>
            <a:r>
              <a:rPr sz="1486" kern="0" spc="-50" dirty="0">
                <a:solidFill>
                  <a:sysClr val="windowText" lastClr="000000"/>
                </a:solidFill>
                <a:latin typeface="Arial"/>
                <a:cs typeface="Arial"/>
              </a:rPr>
              <a:t>100</a:t>
            </a:r>
            <a:endParaRPr sz="1486" kern="0">
              <a:solidFill>
                <a:sysClr val="windowText" lastClr="000000"/>
              </a:solidFill>
              <a:latin typeface="Arial"/>
              <a:cs typeface="Arial"/>
            </a:endParaRPr>
          </a:p>
        </p:txBody>
      </p:sp>
      <p:sp>
        <p:nvSpPr>
          <p:cNvPr id="13" name="object 13"/>
          <p:cNvSpPr/>
          <p:nvPr/>
        </p:nvSpPr>
        <p:spPr>
          <a:xfrm>
            <a:off x="814672" y="2607193"/>
            <a:ext cx="78018" cy="2354370"/>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pPr defTabSz="1812066"/>
            <a:endParaRPr sz="3567" kern="0">
              <a:solidFill>
                <a:sysClr val="windowText" lastClr="000000"/>
              </a:solidFill>
            </a:endParaRPr>
          </a:p>
        </p:txBody>
      </p:sp>
      <p:sp>
        <p:nvSpPr>
          <p:cNvPr id="14" name="object 14"/>
          <p:cNvSpPr txBox="1"/>
          <p:nvPr/>
        </p:nvSpPr>
        <p:spPr>
          <a:xfrm>
            <a:off x="544453" y="2353346"/>
            <a:ext cx="265512" cy="2771820"/>
          </a:xfrm>
          <a:prstGeom prst="rect">
            <a:avLst/>
          </a:prstGeom>
        </p:spPr>
        <p:txBody>
          <a:bodyPr vert="horz" wrap="square" lIns="0" tIns="133385" rIns="0" bIns="0" rtlCol="0">
            <a:spAutoFit/>
          </a:bodyPr>
          <a:lstStyle/>
          <a:p>
            <a:pPr marL="25168" defTabSz="1812066">
              <a:spcBef>
                <a:spcPts val="1050"/>
              </a:spcBef>
            </a:pPr>
            <a:r>
              <a:rPr sz="1486" kern="0" spc="-50" dirty="0">
                <a:solidFill>
                  <a:sysClr val="windowText" lastClr="000000"/>
                </a:solidFill>
                <a:latin typeface="Arial"/>
                <a:cs typeface="Arial"/>
              </a:rPr>
              <a:t>70</a:t>
            </a:r>
            <a:endParaRPr sz="1486" kern="0">
              <a:solidFill>
                <a:sysClr val="windowText" lastClr="000000"/>
              </a:solidFill>
              <a:latin typeface="Arial"/>
              <a:cs typeface="Arial"/>
            </a:endParaRPr>
          </a:p>
          <a:p>
            <a:pPr marL="25168" defTabSz="1812066">
              <a:spcBef>
                <a:spcPts val="870"/>
              </a:spcBef>
            </a:pPr>
            <a:r>
              <a:rPr sz="1486" kern="0" spc="-50" dirty="0">
                <a:solidFill>
                  <a:sysClr val="windowText" lastClr="000000"/>
                </a:solidFill>
                <a:latin typeface="Arial"/>
                <a:cs typeface="Arial"/>
              </a:rPr>
              <a:t>60</a:t>
            </a:r>
            <a:endParaRPr sz="1486" kern="0">
              <a:solidFill>
                <a:sysClr val="windowText" lastClr="000000"/>
              </a:solidFill>
              <a:latin typeface="Arial"/>
              <a:cs typeface="Arial"/>
            </a:endParaRPr>
          </a:p>
          <a:p>
            <a:pPr marL="25168" defTabSz="1812066">
              <a:spcBef>
                <a:spcPts val="860"/>
              </a:spcBef>
            </a:pPr>
            <a:r>
              <a:rPr sz="1486" kern="0" spc="-50" dirty="0">
                <a:solidFill>
                  <a:sysClr val="windowText" lastClr="000000"/>
                </a:solidFill>
                <a:latin typeface="Arial"/>
                <a:cs typeface="Arial"/>
              </a:rPr>
              <a:t>50</a:t>
            </a:r>
            <a:endParaRPr sz="1486" kern="0">
              <a:solidFill>
                <a:sysClr val="windowText" lastClr="000000"/>
              </a:solidFill>
              <a:latin typeface="Arial"/>
              <a:cs typeface="Arial"/>
            </a:endParaRPr>
          </a:p>
          <a:p>
            <a:pPr marL="25168" defTabSz="1812066">
              <a:spcBef>
                <a:spcPts val="860"/>
              </a:spcBef>
            </a:pPr>
            <a:r>
              <a:rPr sz="1486" kern="0" spc="-50" dirty="0">
                <a:solidFill>
                  <a:sysClr val="windowText" lastClr="000000"/>
                </a:solidFill>
                <a:latin typeface="Arial"/>
                <a:cs typeface="Arial"/>
              </a:rPr>
              <a:t>40</a:t>
            </a:r>
            <a:endParaRPr sz="1486" kern="0">
              <a:solidFill>
                <a:sysClr val="windowText" lastClr="000000"/>
              </a:solidFill>
              <a:latin typeface="Arial"/>
              <a:cs typeface="Arial"/>
            </a:endParaRPr>
          </a:p>
          <a:p>
            <a:pPr marL="25168" defTabSz="1812066">
              <a:spcBef>
                <a:spcPts val="860"/>
              </a:spcBef>
            </a:pPr>
            <a:r>
              <a:rPr sz="1486" kern="0" spc="-50" dirty="0">
                <a:solidFill>
                  <a:sysClr val="windowText" lastClr="000000"/>
                </a:solidFill>
                <a:latin typeface="Arial"/>
                <a:cs typeface="Arial"/>
              </a:rPr>
              <a:t>30</a:t>
            </a:r>
            <a:endParaRPr sz="1486" kern="0">
              <a:solidFill>
                <a:sysClr val="windowText" lastClr="000000"/>
              </a:solidFill>
              <a:latin typeface="Arial"/>
              <a:cs typeface="Arial"/>
            </a:endParaRPr>
          </a:p>
          <a:p>
            <a:pPr marL="25168" defTabSz="1812066">
              <a:spcBef>
                <a:spcPts val="870"/>
              </a:spcBef>
            </a:pPr>
            <a:r>
              <a:rPr sz="1486" kern="0" spc="-50" dirty="0">
                <a:solidFill>
                  <a:sysClr val="windowText" lastClr="000000"/>
                </a:solidFill>
                <a:latin typeface="Arial"/>
                <a:cs typeface="Arial"/>
              </a:rPr>
              <a:t>20</a:t>
            </a:r>
            <a:endParaRPr sz="1486" kern="0">
              <a:solidFill>
                <a:sysClr val="windowText" lastClr="000000"/>
              </a:solidFill>
              <a:latin typeface="Arial"/>
              <a:cs typeface="Arial"/>
            </a:endParaRPr>
          </a:p>
          <a:p>
            <a:pPr marL="25168" defTabSz="1812066">
              <a:spcBef>
                <a:spcPts val="860"/>
              </a:spcBef>
            </a:pPr>
            <a:r>
              <a:rPr sz="1486" kern="0" spc="-50" dirty="0">
                <a:solidFill>
                  <a:sysClr val="windowText" lastClr="000000"/>
                </a:solidFill>
                <a:latin typeface="Arial"/>
                <a:cs typeface="Arial"/>
              </a:rPr>
              <a:t>10</a:t>
            </a:r>
            <a:endParaRPr sz="1486" kern="0">
              <a:solidFill>
                <a:sysClr val="windowText" lastClr="000000"/>
              </a:solidFill>
              <a:latin typeface="Arial"/>
              <a:cs typeface="Arial"/>
            </a:endParaRPr>
          </a:p>
          <a:p>
            <a:pPr marL="132130" defTabSz="1812066">
              <a:spcBef>
                <a:spcPts val="860"/>
              </a:spcBef>
            </a:pPr>
            <a:r>
              <a:rPr sz="1486" kern="0" spc="-99" dirty="0">
                <a:solidFill>
                  <a:sysClr val="windowText" lastClr="000000"/>
                </a:solidFill>
                <a:latin typeface="Arial"/>
                <a:cs typeface="Arial"/>
              </a:rPr>
              <a:t>0</a:t>
            </a:r>
            <a:endParaRPr sz="1486" kern="0">
              <a:solidFill>
                <a:sysClr val="windowText" lastClr="000000"/>
              </a:solidFill>
              <a:latin typeface="Arial"/>
              <a:cs typeface="Arial"/>
            </a:endParaRPr>
          </a:p>
        </p:txBody>
      </p:sp>
      <p:grpSp>
        <p:nvGrpSpPr>
          <p:cNvPr id="15" name="object 15"/>
          <p:cNvGrpSpPr/>
          <p:nvPr/>
        </p:nvGrpSpPr>
        <p:grpSpPr>
          <a:xfrm>
            <a:off x="879680" y="2509012"/>
            <a:ext cx="6958668" cy="2550673"/>
            <a:chOff x="664961" y="1389818"/>
            <a:chExt cx="3511550" cy="1287145"/>
          </a:xfrm>
        </p:grpSpPr>
        <p:sp>
          <p:nvSpPr>
            <p:cNvPr id="16" name="object 16"/>
            <p:cNvSpPr/>
            <p:nvPr/>
          </p:nvSpPr>
          <p:spPr>
            <a:xfrm>
              <a:off x="671036" y="1391843"/>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pPr defTabSz="1812066"/>
              <a:endParaRPr sz="3567" kern="0">
                <a:solidFill>
                  <a:sysClr val="windowText" lastClr="000000"/>
                </a:solidFill>
              </a:endParaRPr>
            </a:p>
          </p:txBody>
        </p:sp>
        <p:sp>
          <p:nvSpPr>
            <p:cNvPr id="17" name="object 17"/>
            <p:cNvSpPr/>
            <p:nvPr/>
          </p:nvSpPr>
          <p:spPr>
            <a:xfrm>
              <a:off x="671036" y="1485750"/>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pPr defTabSz="1812066"/>
              <a:endParaRPr sz="3567" kern="0">
                <a:solidFill>
                  <a:sysClr val="windowText" lastClr="000000"/>
                </a:solidFill>
              </a:endParaRPr>
            </a:p>
          </p:txBody>
        </p:sp>
        <p:sp>
          <p:nvSpPr>
            <p:cNvPr id="18" name="object 18"/>
            <p:cNvSpPr/>
            <p:nvPr/>
          </p:nvSpPr>
          <p:spPr>
            <a:xfrm>
              <a:off x="800637" y="1391843"/>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pPr defTabSz="1812066"/>
              <a:endParaRPr sz="3567" kern="0">
                <a:solidFill>
                  <a:sysClr val="windowText" lastClr="000000"/>
                </a:solidFill>
              </a:endParaRPr>
            </a:p>
          </p:txBody>
        </p:sp>
      </p:grpSp>
      <p:sp>
        <p:nvSpPr>
          <p:cNvPr id="19" name="object 19"/>
          <p:cNvSpPr txBox="1"/>
          <p:nvPr/>
        </p:nvSpPr>
        <p:spPr>
          <a:xfrm>
            <a:off x="3868931" y="5346306"/>
            <a:ext cx="980254" cy="257875"/>
          </a:xfrm>
          <a:prstGeom prst="rect">
            <a:avLst/>
          </a:prstGeom>
        </p:spPr>
        <p:txBody>
          <a:bodyPr vert="horz" wrap="square" lIns="0" tIns="28940" rIns="0" bIns="0" rtlCol="0">
            <a:spAutoFit/>
          </a:bodyPr>
          <a:lstStyle/>
          <a:p>
            <a:pPr marL="25168" defTabSz="1812066">
              <a:spcBef>
                <a:spcPts val="226"/>
              </a:spcBef>
            </a:pPr>
            <a:r>
              <a:rPr sz="1486" kern="0" dirty="0">
                <a:solidFill>
                  <a:sysClr val="windowText" lastClr="000000"/>
                </a:solidFill>
                <a:latin typeface="Arial"/>
                <a:cs typeface="Arial"/>
              </a:rPr>
              <a:t>%</a:t>
            </a:r>
            <a:r>
              <a:rPr sz="1486" kern="0" spc="30" dirty="0">
                <a:solidFill>
                  <a:sysClr val="windowText" lastClr="000000"/>
                </a:solidFill>
                <a:latin typeface="Arial"/>
                <a:cs typeface="Arial"/>
              </a:rPr>
              <a:t> </a:t>
            </a:r>
            <a:r>
              <a:rPr sz="1486" kern="0" dirty="0">
                <a:solidFill>
                  <a:sysClr val="windowText" lastClr="000000"/>
                </a:solidFill>
                <a:latin typeface="Arial"/>
                <a:cs typeface="Arial"/>
              </a:rPr>
              <a:t>HS</a:t>
            </a:r>
            <a:r>
              <a:rPr sz="1486" kern="0" spc="30" dirty="0">
                <a:solidFill>
                  <a:sysClr val="windowText" lastClr="000000"/>
                </a:solidFill>
                <a:latin typeface="Arial"/>
                <a:cs typeface="Arial"/>
              </a:rPr>
              <a:t> </a:t>
            </a:r>
            <a:r>
              <a:rPr sz="1486" kern="0" spc="-40" dirty="0">
                <a:solidFill>
                  <a:sysClr val="windowText" lastClr="000000"/>
                </a:solidFill>
                <a:latin typeface="Arial"/>
                <a:cs typeface="Arial"/>
              </a:rPr>
              <a:t>grad</a:t>
            </a:r>
            <a:endParaRPr sz="1486" kern="0">
              <a:solidFill>
                <a:sysClr val="windowText" lastClr="000000"/>
              </a:solidFill>
              <a:latin typeface="Arial"/>
              <a:cs typeface="Arial"/>
            </a:endParaRPr>
          </a:p>
        </p:txBody>
      </p:sp>
      <p:sp>
        <p:nvSpPr>
          <p:cNvPr id="22" name="object 22"/>
          <p:cNvSpPr txBox="1">
            <a:spLocks noGrp="1"/>
          </p:cNvSpPr>
          <p:nvPr>
            <p:ph type="sldNum" sz="quarter" idx="7"/>
          </p:nvPr>
        </p:nvSpPr>
        <p:spPr>
          <a:xfrm>
            <a:off x="23886356" y="12316439"/>
            <a:ext cx="1028970" cy="246441"/>
          </a:xfrm>
          <a:prstGeom prst="rect">
            <a:avLst/>
          </a:prstGeom>
        </p:spPr>
        <p:txBody>
          <a:bodyPr vert="horz" wrap="square" lIns="0" tIns="17617" rIns="0" bIns="0" rtlCol="0">
            <a:spAutoFit/>
          </a:bodyPr>
          <a:lstStyle/>
          <a:p>
            <a:pPr marL="75503" defTabSz="1812066">
              <a:spcBef>
                <a:spcPts val="139"/>
              </a:spcBef>
            </a:pPr>
            <a:r>
              <a:rPr kern="0" spc="-50" dirty="0"/>
              <a:t>29</a:t>
            </a:r>
          </a:p>
        </p:txBody>
      </p:sp>
      <p:sp>
        <p:nvSpPr>
          <p:cNvPr id="20" name="object 20"/>
          <p:cNvSpPr txBox="1"/>
          <p:nvPr/>
        </p:nvSpPr>
        <p:spPr>
          <a:xfrm>
            <a:off x="276126" y="3229179"/>
            <a:ext cx="228652" cy="1111122"/>
          </a:xfrm>
          <a:prstGeom prst="rect">
            <a:avLst/>
          </a:prstGeom>
        </p:spPr>
        <p:txBody>
          <a:bodyPr vert="vert270" wrap="square" lIns="0" tIns="10067" rIns="0" bIns="0" rtlCol="0">
            <a:spAutoFit/>
          </a:bodyPr>
          <a:lstStyle/>
          <a:p>
            <a:pPr marL="25168" defTabSz="1812066">
              <a:spcBef>
                <a:spcPts val="79"/>
              </a:spcBef>
            </a:pPr>
            <a:r>
              <a:rPr sz="1486" kern="0" dirty="0">
                <a:solidFill>
                  <a:sysClr val="windowText" lastClr="000000"/>
                </a:solidFill>
                <a:latin typeface="Arial"/>
                <a:cs typeface="Arial"/>
              </a:rPr>
              <a:t>%</a:t>
            </a:r>
            <a:r>
              <a:rPr sz="1486" kern="0" spc="30" dirty="0">
                <a:solidFill>
                  <a:sysClr val="windowText" lastClr="000000"/>
                </a:solidFill>
                <a:latin typeface="Arial"/>
                <a:cs typeface="Arial"/>
              </a:rPr>
              <a:t> </a:t>
            </a:r>
            <a:r>
              <a:rPr sz="1486" kern="0" dirty="0">
                <a:solidFill>
                  <a:sysClr val="windowText" lastClr="000000"/>
                </a:solidFill>
                <a:latin typeface="Arial"/>
                <a:cs typeface="Arial"/>
              </a:rPr>
              <a:t>in</a:t>
            </a:r>
            <a:r>
              <a:rPr sz="1486" kern="0" spc="30" dirty="0">
                <a:solidFill>
                  <a:sysClr val="windowText" lastClr="000000"/>
                </a:solidFill>
                <a:latin typeface="Arial"/>
                <a:cs typeface="Arial"/>
              </a:rPr>
              <a:t> </a:t>
            </a:r>
            <a:r>
              <a:rPr sz="1486" kern="0" spc="-20" dirty="0">
                <a:solidFill>
                  <a:sysClr val="windowText" lastClr="000000"/>
                </a:solidFill>
                <a:latin typeface="Arial"/>
                <a:cs typeface="Arial"/>
              </a:rPr>
              <a:t>poverty</a:t>
            </a:r>
            <a:endParaRPr sz="1486" kern="0">
              <a:solidFill>
                <a:sysClr val="windowText" lastClr="000000"/>
              </a:solidFill>
              <a:latin typeface="Arial"/>
              <a:cs typeface="Arial"/>
            </a:endParaRPr>
          </a:p>
        </p:txBody>
      </p:sp>
      <p:sp>
        <p:nvSpPr>
          <p:cNvPr id="21" name="object 21"/>
          <p:cNvSpPr txBox="1"/>
          <p:nvPr/>
        </p:nvSpPr>
        <p:spPr>
          <a:xfrm>
            <a:off x="1203419" y="2513219"/>
            <a:ext cx="790243" cy="257875"/>
          </a:xfrm>
          <a:prstGeom prst="rect">
            <a:avLst/>
          </a:prstGeom>
        </p:spPr>
        <p:txBody>
          <a:bodyPr vert="horz" wrap="square" lIns="0" tIns="28940" rIns="0" bIns="0" rtlCol="0">
            <a:spAutoFit/>
          </a:bodyPr>
          <a:lstStyle/>
          <a:p>
            <a:pPr marL="25168" defTabSz="1812066">
              <a:spcBef>
                <a:spcPts val="226"/>
              </a:spcBef>
            </a:pPr>
            <a:r>
              <a:rPr sz="1486" kern="0" spc="-20" dirty="0">
                <a:solidFill>
                  <a:srgbClr val="569BBD"/>
                </a:solidFill>
                <a:latin typeface="Arial"/>
                <a:cs typeface="Arial"/>
              </a:rPr>
              <a:t>intercept</a:t>
            </a:r>
            <a:endParaRPr sz="1486" kern="0">
              <a:solidFill>
                <a:sysClr val="windowText" lastClr="000000"/>
              </a:solidFill>
              <a:latin typeface="Arial"/>
              <a:cs typeface="Arial"/>
            </a:endParaRPr>
          </a:p>
        </p:txBody>
      </p:sp>
    </p:spTree>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7483" y="164532"/>
            <a:ext cx="3605169" cy="369783"/>
          </a:xfrm>
          <a:prstGeom prst="rect">
            <a:avLst/>
          </a:prstGeom>
        </p:spPr>
        <p:txBody>
          <a:bodyPr vert="horz" wrap="square" lIns="0" tIns="33975" rIns="0" bIns="0" rtlCol="0">
            <a:spAutoFit/>
          </a:bodyPr>
          <a:lstStyle/>
          <a:p>
            <a:pPr marL="25168" defTabSz="1812066">
              <a:spcBef>
                <a:spcPts val="268"/>
              </a:spcBef>
            </a:pPr>
            <a:r>
              <a:rPr sz="2180" b="1" kern="0" dirty="0">
                <a:solidFill>
                  <a:srgbClr val="F9F9F9"/>
                </a:solidFill>
                <a:latin typeface="Arial"/>
                <a:cs typeface="Arial"/>
              </a:rPr>
              <a:t>Examples</a:t>
            </a:r>
            <a:r>
              <a:rPr sz="2180" b="1" kern="0" spc="198" dirty="0">
                <a:solidFill>
                  <a:srgbClr val="F9F9F9"/>
                </a:solidFill>
                <a:latin typeface="Arial"/>
                <a:cs typeface="Arial"/>
              </a:rPr>
              <a:t> </a:t>
            </a:r>
            <a:r>
              <a:rPr sz="2180" b="1" kern="0" dirty="0">
                <a:solidFill>
                  <a:srgbClr val="F9F9F9"/>
                </a:solidFill>
                <a:latin typeface="Arial"/>
                <a:cs typeface="Arial"/>
              </a:rPr>
              <a:t>of</a:t>
            </a:r>
            <a:r>
              <a:rPr sz="2180" b="1" kern="0" spc="208" dirty="0">
                <a:solidFill>
                  <a:srgbClr val="F9F9F9"/>
                </a:solidFill>
                <a:latin typeface="Arial"/>
                <a:cs typeface="Arial"/>
              </a:rPr>
              <a:t> </a:t>
            </a:r>
            <a:r>
              <a:rPr sz="2180" b="1" kern="0" spc="-20" dirty="0">
                <a:solidFill>
                  <a:srgbClr val="F9F9F9"/>
                </a:solidFill>
                <a:latin typeface="Arial"/>
                <a:cs typeface="Arial"/>
              </a:rPr>
              <a:t>extrapolation</a:t>
            </a:r>
            <a:endParaRPr sz="2180" kern="0" dirty="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403153" y="1038975"/>
            <a:ext cx="8471340" cy="4447425"/>
          </a:xfrm>
          <a:prstGeom prst="rect">
            <a:avLst/>
          </a:prstGeom>
        </p:spPr>
      </p:pic>
      <p:sp>
        <p:nvSpPr>
          <p:cNvPr id="4" name="object 4"/>
          <p:cNvSpPr txBox="1">
            <a:spLocks noGrp="1"/>
          </p:cNvSpPr>
          <p:nvPr>
            <p:ph type="sldNum" sz="quarter" idx="7"/>
          </p:nvPr>
        </p:nvSpPr>
        <p:spPr>
          <a:xfrm>
            <a:off x="25852591" y="12561563"/>
            <a:ext cx="1028970" cy="246441"/>
          </a:xfrm>
          <a:prstGeom prst="rect">
            <a:avLst/>
          </a:prstGeom>
        </p:spPr>
        <p:txBody>
          <a:bodyPr vert="horz" wrap="square" lIns="0" tIns="17617" rIns="0" bIns="0" rtlCol="0">
            <a:spAutoFit/>
          </a:bodyPr>
          <a:lstStyle/>
          <a:p>
            <a:pPr marL="75503" defTabSz="1812066">
              <a:spcBef>
                <a:spcPts val="139"/>
              </a:spcBef>
            </a:pPr>
            <a:r>
              <a:rPr kern="0" spc="-50" dirty="0"/>
              <a:t>30</a:t>
            </a:r>
          </a:p>
        </p:txBody>
      </p:sp>
    </p:spTree>
  </p:cSld>
  <p:clrMapOvr>
    <a:masterClrMapping/>
  </p:clrMapOvr>
  <p:transition>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9567" y="154907"/>
            <a:ext cx="3605169" cy="369783"/>
          </a:xfrm>
          <a:prstGeom prst="rect">
            <a:avLst/>
          </a:prstGeom>
        </p:spPr>
        <p:txBody>
          <a:bodyPr vert="horz" wrap="square" lIns="0" tIns="33975" rIns="0" bIns="0" rtlCol="0">
            <a:spAutoFit/>
          </a:bodyPr>
          <a:lstStyle/>
          <a:p>
            <a:pPr marL="25168" defTabSz="1812066">
              <a:spcBef>
                <a:spcPts val="268"/>
              </a:spcBef>
            </a:pPr>
            <a:r>
              <a:rPr sz="2180" b="1" kern="0" dirty="0">
                <a:solidFill>
                  <a:srgbClr val="F9F9F9"/>
                </a:solidFill>
                <a:latin typeface="Arial"/>
                <a:cs typeface="Arial"/>
              </a:rPr>
              <a:t>Examples</a:t>
            </a:r>
            <a:r>
              <a:rPr sz="2180" b="1" kern="0" spc="198" dirty="0">
                <a:solidFill>
                  <a:srgbClr val="F9F9F9"/>
                </a:solidFill>
                <a:latin typeface="Arial"/>
                <a:cs typeface="Arial"/>
              </a:rPr>
              <a:t> </a:t>
            </a:r>
            <a:r>
              <a:rPr sz="2180" b="1" kern="0" dirty="0">
                <a:solidFill>
                  <a:srgbClr val="F9F9F9"/>
                </a:solidFill>
                <a:latin typeface="Arial"/>
                <a:cs typeface="Arial"/>
              </a:rPr>
              <a:t>of</a:t>
            </a:r>
            <a:r>
              <a:rPr sz="2180" b="1" kern="0" spc="208" dirty="0">
                <a:solidFill>
                  <a:srgbClr val="F9F9F9"/>
                </a:solidFill>
                <a:latin typeface="Arial"/>
                <a:cs typeface="Arial"/>
              </a:rPr>
              <a:t> </a:t>
            </a:r>
            <a:r>
              <a:rPr sz="2180" b="1" kern="0" spc="-20" dirty="0">
                <a:solidFill>
                  <a:srgbClr val="F9F9F9"/>
                </a:solidFill>
                <a:latin typeface="Arial"/>
                <a:cs typeface="Arial"/>
              </a:rPr>
              <a:t>extrapolation</a:t>
            </a:r>
            <a:endParaRPr sz="2180" kern="0" dirty="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3397295" y="1102960"/>
            <a:ext cx="5393292" cy="4859623"/>
          </a:xfrm>
          <a:prstGeom prst="rect">
            <a:avLst/>
          </a:prstGeom>
        </p:spPr>
      </p:pic>
      <p:sp>
        <p:nvSpPr>
          <p:cNvPr id="4" name="object 4"/>
          <p:cNvSpPr txBox="1">
            <a:spLocks noGrp="1"/>
          </p:cNvSpPr>
          <p:nvPr>
            <p:ph type="sldNum" sz="quarter" idx="7"/>
          </p:nvPr>
        </p:nvSpPr>
        <p:spPr>
          <a:xfrm>
            <a:off x="25852591" y="12561563"/>
            <a:ext cx="1028970" cy="246441"/>
          </a:xfrm>
          <a:prstGeom prst="rect">
            <a:avLst/>
          </a:prstGeom>
        </p:spPr>
        <p:txBody>
          <a:bodyPr vert="horz" wrap="square" lIns="0" tIns="17617" rIns="0" bIns="0" rtlCol="0">
            <a:spAutoFit/>
          </a:bodyPr>
          <a:lstStyle/>
          <a:p>
            <a:pPr marL="75503" defTabSz="1812066">
              <a:spcBef>
                <a:spcPts val="139"/>
              </a:spcBef>
            </a:pPr>
            <a:r>
              <a:rPr kern="0" spc="-50" dirty="0"/>
              <a:t>31</a:t>
            </a:r>
          </a:p>
        </p:txBody>
      </p:sp>
    </p:spTree>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2940" y="174157"/>
            <a:ext cx="3605169" cy="369783"/>
          </a:xfrm>
          <a:prstGeom prst="rect">
            <a:avLst/>
          </a:prstGeom>
        </p:spPr>
        <p:txBody>
          <a:bodyPr vert="horz" wrap="square" lIns="0" tIns="33975" rIns="0" bIns="0" rtlCol="0">
            <a:spAutoFit/>
          </a:bodyPr>
          <a:lstStyle/>
          <a:p>
            <a:pPr marL="25168" defTabSz="1812066">
              <a:spcBef>
                <a:spcPts val="268"/>
              </a:spcBef>
            </a:pPr>
            <a:r>
              <a:rPr sz="2180" b="1" kern="0" dirty="0">
                <a:solidFill>
                  <a:srgbClr val="F9F9F9"/>
                </a:solidFill>
                <a:latin typeface="Arial"/>
                <a:cs typeface="Arial"/>
              </a:rPr>
              <a:t>Examples</a:t>
            </a:r>
            <a:r>
              <a:rPr sz="2180" b="1" kern="0" spc="198" dirty="0">
                <a:solidFill>
                  <a:srgbClr val="F9F9F9"/>
                </a:solidFill>
                <a:latin typeface="Arial"/>
                <a:cs typeface="Arial"/>
              </a:rPr>
              <a:t> </a:t>
            </a:r>
            <a:r>
              <a:rPr sz="2180" b="1" kern="0" dirty="0">
                <a:solidFill>
                  <a:srgbClr val="F9F9F9"/>
                </a:solidFill>
                <a:latin typeface="Arial"/>
                <a:cs typeface="Arial"/>
              </a:rPr>
              <a:t>of</a:t>
            </a:r>
            <a:r>
              <a:rPr sz="2180" b="1" kern="0" spc="208" dirty="0">
                <a:solidFill>
                  <a:srgbClr val="F9F9F9"/>
                </a:solidFill>
                <a:latin typeface="Arial"/>
                <a:cs typeface="Arial"/>
              </a:rPr>
              <a:t> </a:t>
            </a:r>
            <a:r>
              <a:rPr sz="2180" b="1" kern="0" spc="-20" dirty="0">
                <a:solidFill>
                  <a:srgbClr val="F9F9F9"/>
                </a:solidFill>
                <a:latin typeface="Arial"/>
                <a:cs typeface="Arial"/>
              </a:rPr>
              <a:t>extrapolation</a:t>
            </a:r>
            <a:endParaRPr sz="2180" kern="0" dirty="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2241577" y="1077233"/>
            <a:ext cx="7704585" cy="5116459"/>
          </a:xfrm>
          <a:prstGeom prst="rect">
            <a:avLst/>
          </a:prstGeom>
        </p:spPr>
      </p:pic>
      <p:sp>
        <p:nvSpPr>
          <p:cNvPr id="4" name="object 4"/>
          <p:cNvSpPr txBox="1">
            <a:spLocks noGrp="1"/>
          </p:cNvSpPr>
          <p:nvPr>
            <p:ph type="sldNum" sz="quarter" idx="7"/>
          </p:nvPr>
        </p:nvSpPr>
        <p:spPr>
          <a:xfrm>
            <a:off x="25852591" y="12561563"/>
            <a:ext cx="1028970" cy="246441"/>
          </a:xfrm>
          <a:prstGeom prst="rect">
            <a:avLst/>
          </a:prstGeom>
        </p:spPr>
        <p:txBody>
          <a:bodyPr vert="horz" wrap="square" lIns="0" tIns="17617" rIns="0" bIns="0" rtlCol="0">
            <a:spAutoFit/>
          </a:bodyPr>
          <a:lstStyle/>
          <a:p>
            <a:pPr marL="75503" defTabSz="1812066">
              <a:spcBef>
                <a:spcPts val="139"/>
              </a:spcBef>
            </a:pPr>
            <a:r>
              <a:rPr kern="0" spc="-50" dirty="0"/>
              <a:t>32</a:t>
            </a:r>
          </a:p>
        </p:txBody>
      </p:sp>
    </p:spTree>
  </p:cSld>
  <p:clrMapOvr>
    <a:masterClrMapping/>
  </p:clrMapOvr>
  <p:transition>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C0C5-7A52-3960-6970-1EE8652B4E3B}"/>
              </a:ext>
            </a:extLst>
          </p:cNvPr>
          <p:cNvSpPr>
            <a:spLocks noGrp="1"/>
          </p:cNvSpPr>
          <p:nvPr>
            <p:ph type="title"/>
          </p:nvPr>
        </p:nvSpPr>
        <p:spPr>
          <a:xfrm>
            <a:off x="183682" y="172621"/>
            <a:ext cx="10515600" cy="664778"/>
          </a:xfrm>
        </p:spPr>
        <p:txBody>
          <a:bodyPr>
            <a:normAutofit/>
          </a:bodyPr>
          <a:lstStyle/>
          <a:p>
            <a:r>
              <a:rPr lang="en-US" sz="3600" dirty="0">
                <a:latin typeface="Arial" panose="020B0604020202020204" pitchFamily="34" charset="0"/>
                <a:cs typeface="Arial" panose="020B0604020202020204" pitchFamily="34" charset="0"/>
              </a:rPr>
              <a:t>In class assignment</a:t>
            </a:r>
          </a:p>
        </p:txBody>
      </p:sp>
      <p:sp>
        <p:nvSpPr>
          <p:cNvPr id="3" name="Content Placeholder 2">
            <a:extLst>
              <a:ext uri="{FF2B5EF4-FFF2-40B4-BE49-F238E27FC236}">
                <a16:creationId xmlns:a16="http://schemas.microsoft.com/office/drawing/2014/main" id="{209986C7-66A5-2123-6838-0291EFDFFC12}"/>
              </a:ext>
            </a:extLst>
          </p:cNvPr>
          <p:cNvSpPr>
            <a:spLocks noGrp="1"/>
          </p:cNvSpPr>
          <p:nvPr>
            <p:ph idx="1"/>
          </p:nvPr>
        </p:nvSpPr>
        <p:spPr>
          <a:xfrm>
            <a:off x="328061" y="837399"/>
            <a:ext cx="10515600" cy="4351338"/>
          </a:xfrm>
        </p:spPr>
        <p:txBody>
          <a:bodyPr>
            <a:normAutofit/>
          </a:bodyPr>
          <a:lstStyle/>
          <a:p>
            <a:r>
              <a:rPr lang="en-US" sz="2000" dirty="0">
                <a:latin typeface="Arial" panose="020B0604020202020204" pitchFamily="34" charset="0"/>
                <a:cs typeface="Arial" panose="020B0604020202020204" pitchFamily="34" charset="0"/>
              </a:rPr>
              <a:t>BRFSS in-class assignment: </a:t>
            </a:r>
            <a:r>
              <a:rPr lang="en-US" sz="2000" dirty="0">
                <a:latin typeface="Arial" panose="020B0604020202020204" pitchFamily="34" charset="0"/>
                <a:cs typeface="Arial" panose="020B0604020202020204" pitchFamily="34" charset="0"/>
                <a:hlinkClick r:id="rId2"/>
              </a:rPr>
              <a:t>Intro to SLR using R – Statistics for Social Work</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SLR annotated file in JASP: </a:t>
            </a:r>
            <a:r>
              <a:rPr lang="en-US" sz="2000" dirty="0">
                <a:latin typeface="Arial" panose="020B0604020202020204" pitchFamily="34" charset="0"/>
                <a:cs typeface="Arial" panose="020B0604020202020204" pitchFamily="34" charset="0"/>
                <a:hlinkClick r:id="rId3"/>
              </a:rPr>
              <a:t>https://issues-osu.github.io/statsii-spring2026/slides/SLR_files/brfss_aces_subset.jasp</a:t>
            </a:r>
            <a:r>
              <a:rPr lang="en-US"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1444937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50DB212-7DEF-0C8A-17C8-FCE67D150F0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Exploring the relationships between self-care and well-being outcomes among child welfare professionals</a:t>
            </a:r>
          </a:p>
        </p:txBody>
      </p:sp>
      <p:graphicFrame>
        <p:nvGraphicFramePr>
          <p:cNvPr id="4" name="Table 3">
            <a:extLst>
              <a:ext uri="{FF2B5EF4-FFF2-40B4-BE49-F238E27FC236}">
                <a16:creationId xmlns:a16="http://schemas.microsoft.com/office/drawing/2014/main" id="{F4E04DC7-4754-568E-C7BA-ABB298E1378D}"/>
              </a:ext>
            </a:extLst>
          </p:cNvPr>
          <p:cNvGraphicFramePr>
            <a:graphicFrameLocks noGrp="1"/>
          </p:cNvGraphicFramePr>
          <p:nvPr>
            <p:extLst>
              <p:ext uri="{D42A27DB-BD31-4B8C-83A1-F6EECF244321}">
                <p14:modId xmlns:p14="http://schemas.microsoft.com/office/powerpoint/2010/main" val="3683380872"/>
              </p:ext>
            </p:extLst>
          </p:nvPr>
        </p:nvGraphicFramePr>
        <p:xfrm>
          <a:off x="643467" y="1718813"/>
          <a:ext cx="10905067" cy="4307030"/>
        </p:xfrm>
        <a:graphic>
          <a:graphicData uri="http://schemas.openxmlformats.org/drawingml/2006/table">
            <a:tbl>
              <a:tblPr>
                <a:solidFill>
                  <a:schemeClr val="bg1"/>
                </a:solidFill>
              </a:tblPr>
              <a:tblGrid>
                <a:gridCol w="3884108">
                  <a:extLst>
                    <a:ext uri="{9D8B030D-6E8A-4147-A177-3AD203B41FA5}">
                      <a16:colId xmlns:a16="http://schemas.microsoft.com/office/drawing/2014/main" val="3769118143"/>
                    </a:ext>
                  </a:extLst>
                </a:gridCol>
                <a:gridCol w="3149959">
                  <a:extLst>
                    <a:ext uri="{9D8B030D-6E8A-4147-A177-3AD203B41FA5}">
                      <a16:colId xmlns:a16="http://schemas.microsoft.com/office/drawing/2014/main" val="2402775812"/>
                    </a:ext>
                  </a:extLst>
                </a:gridCol>
                <a:gridCol w="3871000">
                  <a:extLst>
                    <a:ext uri="{9D8B030D-6E8A-4147-A177-3AD203B41FA5}">
                      <a16:colId xmlns:a16="http://schemas.microsoft.com/office/drawing/2014/main" val="1418303580"/>
                    </a:ext>
                  </a:extLst>
                </a:gridCol>
              </a:tblGrid>
              <a:tr h="430703">
                <a:tc>
                  <a:txBody>
                    <a:bodyPr/>
                    <a:lstStyle/>
                    <a:p>
                      <a:pPr>
                        <a:buNone/>
                      </a:pPr>
                      <a:r>
                        <a:rPr lang="en-US" sz="1800" b="1" cap="none" spc="0">
                          <a:solidFill>
                            <a:schemeClr val="tx1"/>
                          </a:solidFill>
                        </a:rPr>
                        <a:t>Assumption</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1800" b="1" cap="none" spc="0">
                          <a:solidFill>
                            <a:schemeClr val="tx1"/>
                          </a:solidFill>
                        </a:rPr>
                        <a:t>Formally Tested?</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1800" b="1" cap="none" spc="0">
                          <a:solidFill>
                            <a:schemeClr val="tx1"/>
                          </a:solidFill>
                        </a:rPr>
                        <a:t>Evidence in Paper</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15059516"/>
                  </a:ext>
                </a:extLst>
              </a:tr>
              <a:tr h="430703">
                <a:tc>
                  <a:txBody>
                    <a:bodyPr/>
                    <a:lstStyle/>
                    <a:p>
                      <a:pPr>
                        <a:buNone/>
                      </a:pPr>
                      <a:r>
                        <a:rPr lang="en-US" sz="1800" cap="none" spc="0" dirty="0">
                          <a:solidFill>
                            <a:schemeClr val="tx1"/>
                          </a:solidFill>
                        </a:rPr>
                        <a:t>Normality of outcomes</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Partially</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Skewness/kurtosis of variables</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35761750"/>
                  </a:ext>
                </a:extLst>
              </a:tr>
              <a:tr h="430703">
                <a:tc>
                  <a:txBody>
                    <a:bodyPr/>
                    <a:lstStyle/>
                    <a:p>
                      <a:pPr>
                        <a:buNone/>
                      </a:pPr>
                      <a:r>
                        <a:rPr lang="en-US" sz="1800" cap="none" spc="0">
                          <a:solidFill>
                            <a:schemeClr val="tx1"/>
                          </a:solidFill>
                        </a:rPr>
                        <a:t>Normality of residuals</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Not reported</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17454695"/>
                  </a:ext>
                </a:extLst>
              </a:tr>
              <a:tr h="430703">
                <a:tc>
                  <a:txBody>
                    <a:bodyPr/>
                    <a:lstStyle/>
                    <a:p>
                      <a:pPr>
                        <a:buNone/>
                      </a:pPr>
                      <a:r>
                        <a:rPr lang="en-US" sz="1800" cap="none" spc="0">
                          <a:solidFill>
                            <a:schemeClr val="tx1"/>
                          </a:solidFill>
                        </a:rPr>
                        <a:t>Linearity</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Not reported</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37801465"/>
                  </a:ext>
                </a:extLst>
              </a:tr>
              <a:tr h="430703">
                <a:tc>
                  <a:txBody>
                    <a:bodyPr/>
                    <a:lstStyle/>
                    <a:p>
                      <a:pPr>
                        <a:buNone/>
                      </a:pPr>
                      <a:r>
                        <a:rPr lang="en-US" sz="1800" cap="none" spc="0">
                          <a:solidFill>
                            <a:schemeClr val="tx1"/>
                          </a:solidFill>
                        </a:rPr>
                        <a:t>Homoscedasticity</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Not reported</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74908660"/>
                  </a:ext>
                </a:extLst>
              </a:tr>
              <a:tr h="430703">
                <a:tc>
                  <a:txBody>
                    <a:bodyPr/>
                    <a:lstStyle/>
                    <a:p>
                      <a:pPr>
                        <a:buNone/>
                      </a:pPr>
                      <a:r>
                        <a:rPr lang="en-US" sz="1800" cap="none" spc="0">
                          <a:solidFill>
                            <a:schemeClr val="tx1"/>
                          </a:solidFill>
                        </a:rPr>
                        <a:t>Independence</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 clustering or multilevel</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49639746"/>
                  </a:ext>
                </a:extLst>
              </a:tr>
              <a:tr h="430703">
                <a:tc>
                  <a:txBody>
                    <a:bodyPr/>
                    <a:lstStyle/>
                    <a:p>
                      <a:pPr>
                        <a:buNone/>
                      </a:pPr>
                      <a:r>
                        <a:rPr lang="en-US" sz="1800" cap="none" spc="0">
                          <a:solidFill>
                            <a:schemeClr val="tx1"/>
                          </a:solidFill>
                        </a:rPr>
                        <a:t>Multicollinearity</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 VIFs or diagnostics</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472519123"/>
                  </a:ext>
                </a:extLst>
              </a:tr>
              <a:tr h="430703">
                <a:tc>
                  <a:txBody>
                    <a:bodyPr/>
                    <a:lstStyle/>
                    <a:p>
                      <a:pPr>
                        <a:buNone/>
                      </a:pPr>
                      <a:r>
                        <a:rPr lang="en-US" sz="1800" cap="none" spc="0">
                          <a:solidFill>
                            <a:schemeClr val="tx1"/>
                          </a:solidFill>
                        </a:rPr>
                        <a:t>Functional form</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No</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Ordinal treated as continuous</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0321839"/>
                  </a:ext>
                </a:extLst>
              </a:tr>
              <a:tr h="430703">
                <a:tc>
                  <a:txBody>
                    <a:bodyPr/>
                    <a:lstStyle/>
                    <a:p>
                      <a:pPr>
                        <a:buNone/>
                      </a:pPr>
                      <a:r>
                        <a:rPr lang="en-US" sz="1800" cap="none" spc="0">
                          <a:solidFill>
                            <a:schemeClr val="tx1"/>
                          </a:solidFill>
                        </a:rPr>
                        <a:t>Missing data (MCAR)</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Yes</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800" cap="none" spc="0">
                          <a:solidFill>
                            <a:schemeClr val="tx1"/>
                          </a:solidFill>
                        </a:rPr>
                        <a:t>Little’s test + FIML</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54191627"/>
                  </a:ext>
                </a:extLst>
              </a:tr>
              <a:tr h="430703">
                <a:tc>
                  <a:txBody>
                    <a:bodyPr/>
                    <a:lstStyle/>
                    <a:p>
                      <a:pPr>
                        <a:buNone/>
                      </a:pPr>
                      <a:r>
                        <a:rPr lang="en-US" sz="1800" cap="none" spc="0">
                          <a:solidFill>
                            <a:schemeClr val="tx1"/>
                          </a:solidFill>
                        </a:rPr>
                        <a:t>Outliers/influence</a:t>
                      </a:r>
                    </a:p>
                  </a:txBody>
                  <a:tcPr marL="81909" marR="10677" marT="63007" marB="6300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1800" cap="none" spc="0">
                          <a:solidFill>
                            <a:schemeClr val="tx1"/>
                          </a:solidFill>
                        </a:rPr>
                        <a:t>Vague</a:t>
                      </a:r>
                    </a:p>
                  </a:txBody>
                  <a:tcPr marL="81909" marR="10677" marT="63007" marB="6300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1800" cap="none" spc="0">
                          <a:solidFill>
                            <a:schemeClr val="tx1"/>
                          </a:solidFill>
                        </a:rPr>
                        <a:t>Mentioned, not documented</a:t>
                      </a:r>
                    </a:p>
                  </a:txBody>
                  <a:tcPr marL="81909" marR="10677" marT="63007" marB="6300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66393848"/>
                  </a:ext>
                </a:extLst>
              </a:tr>
            </a:tbl>
          </a:graphicData>
        </a:graphic>
      </p:graphicFrame>
    </p:spTree>
    <p:extLst>
      <p:ext uri="{BB962C8B-B14F-4D97-AF65-F5344CB8AC3E}">
        <p14:creationId xmlns:p14="http://schemas.microsoft.com/office/powerpoint/2010/main" val="1189082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Cambria Math"/>
        <a:ea typeface=""/>
        <a:cs typeface=""/>
      </a:majorFont>
      <a:minorFont>
        <a:latin typeface="Cambria Math"/>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6019</TotalTime>
  <Words>7106</Words>
  <Application>Microsoft Office PowerPoint</Application>
  <PresentationFormat>Widescreen</PresentationFormat>
  <Paragraphs>1096</Paragraphs>
  <Slides>74</Slides>
  <Notes>21</Notes>
  <HiddenSlides>0</HiddenSlides>
  <MMClips>0</MMClips>
  <ScaleCrop>false</ScaleCrop>
  <HeadingPairs>
    <vt:vector size="6" baseType="variant">
      <vt:variant>
        <vt:lpstr>Fonts Used</vt:lpstr>
      </vt:variant>
      <vt:variant>
        <vt:i4>18</vt:i4>
      </vt:variant>
      <vt:variant>
        <vt:lpstr>Theme</vt:lpstr>
      </vt:variant>
      <vt:variant>
        <vt:i4>5</vt:i4>
      </vt:variant>
      <vt:variant>
        <vt:lpstr>Slide Titles</vt:lpstr>
      </vt:variant>
      <vt:variant>
        <vt:i4>74</vt:i4>
      </vt:variant>
    </vt:vector>
  </HeadingPairs>
  <TitlesOfParts>
    <vt:vector size="97" baseType="lpstr">
      <vt:lpstr>Aptos</vt:lpstr>
      <vt:lpstr>Aptos Display</vt:lpstr>
      <vt:lpstr>Arial</vt:lpstr>
      <vt:lpstr>Bookman Old Style</vt:lpstr>
      <vt:lpstr>Calibri</vt:lpstr>
      <vt:lpstr>Calibri Light</vt:lpstr>
      <vt:lpstr>Cambria Math</vt:lpstr>
      <vt:lpstr>Lucida Grande</vt:lpstr>
      <vt:lpstr>Lucida Sans</vt:lpstr>
      <vt:lpstr>Lucida Sans Unicode</vt:lpstr>
      <vt:lpstr>Open Sans</vt:lpstr>
      <vt:lpstr>Palatino Linotype</vt:lpstr>
      <vt:lpstr>Roboto</vt:lpstr>
      <vt:lpstr>Segoe WPC</vt:lpstr>
      <vt:lpstr>Symbol</vt:lpstr>
      <vt:lpstr>Tahoma</vt:lpstr>
      <vt:lpstr>Times New Roman</vt:lpstr>
      <vt:lpstr>Wingdings</vt:lpstr>
      <vt:lpstr>Office Theme</vt:lpstr>
      <vt:lpstr>1_Office Theme</vt:lpstr>
      <vt:lpstr>2_Office Theme</vt:lpstr>
      <vt:lpstr>3_Office Theme</vt:lpstr>
      <vt:lpstr>4_Office Theme</vt:lpstr>
      <vt:lpstr>Week 4: February 3, 2026</vt:lpstr>
      <vt:lpstr>Data application</vt:lpstr>
      <vt:lpstr>PowerPoint Presentation</vt:lpstr>
      <vt:lpstr>What model do I choose? Basic Statistical Analysis</vt:lpstr>
      <vt:lpstr>Linear regression –Terminology</vt:lpstr>
      <vt:lpstr>Introduction Simple Linear Regression</vt:lpstr>
      <vt:lpstr>The functional form</vt:lpstr>
      <vt:lpstr>PowerPoint Presentation</vt:lpstr>
      <vt:lpstr>PowerPoint Presentation</vt:lpstr>
      <vt:lpstr>Statistical relationship between 2 Variables</vt:lpstr>
      <vt:lpstr>PowerPoint Presentation</vt:lpstr>
      <vt:lpstr>Interpretation of slope and intercept</vt:lpstr>
      <vt:lpstr>The full model</vt:lpstr>
      <vt:lpstr>Notation</vt:lpstr>
      <vt:lpstr>Simple Linear Regression</vt:lpstr>
      <vt:lpstr>Interpretation of Regression Equation</vt:lpstr>
      <vt:lpstr>BLUE: Best Linear Unbiased Estimators**</vt:lpstr>
      <vt:lpstr>The Intercept</vt:lpstr>
      <vt:lpstr>Given...</vt:lpstr>
      <vt:lpstr>Intercept</vt:lpstr>
      <vt:lpstr>Slope</vt:lpstr>
      <vt:lpstr>Prediction</vt:lpstr>
      <vt:lpstr>The Estimated Coefficients (Intuition)</vt:lpstr>
      <vt:lpstr>PowerPoint Presentation</vt:lpstr>
      <vt:lpstr>The Least Squares Regression Slope Where should we draw the line</vt:lpstr>
      <vt:lpstr>More about the best fitting line: minimizing the sum of squared errors</vt:lpstr>
      <vt:lpstr>Residuals of Linear Model</vt:lpstr>
      <vt:lpstr>An objective measure for finding the best line</vt:lpstr>
      <vt:lpstr>PowerPoint Presentation</vt:lpstr>
      <vt:lpstr>PowerPoint Presentation</vt:lpstr>
      <vt:lpstr>Method of Least Squares</vt:lpstr>
      <vt:lpstr>More about the best-fitting line</vt:lpstr>
      <vt:lpstr>Least Squares Estimation of b0, b1</vt:lpstr>
      <vt:lpstr>Intuition</vt:lpstr>
      <vt:lpstr>Regression Model</vt:lpstr>
      <vt:lpstr>Summary</vt:lpstr>
      <vt:lpstr>Estimation of Error Terms Variance, σ^2</vt:lpstr>
      <vt:lpstr>The variance of deviations</vt:lpstr>
      <vt:lpstr>Analysis of Variance for SLR</vt:lpstr>
      <vt:lpstr>Analysis of Variance in Regression</vt:lpstr>
      <vt:lpstr>The Coefficient of Determination R^2</vt:lpstr>
      <vt:lpstr>Interpretation R^2</vt:lpstr>
      <vt:lpstr>Pearson Correlation, r &amp; R^2!!</vt:lpstr>
      <vt:lpstr>PowerPoint Presentation</vt:lpstr>
      <vt:lpstr>PowerPoint Presentation</vt:lpstr>
      <vt:lpstr>Interpretation of R2</vt:lpstr>
      <vt:lpstr>What do the regression parameters estimate?</vt:lpstr>
      <vt:lpstr>Estimating the Coefficients</vt:lpstr>
      <vt:lpstr>Sampling Distributions &amp; Inference</vt:lpstr>
      <vt:lpstr>Inference from Regression</vt:lpstr>
      <vt:lpstr>Inferences for point estimates</vt:lpstr>
      <vt:lpstr>Hypothesis testing of coefficients</vt:lpstr>
      <vt:lpstr>Confidence intervals as hypothesis testing</vt:lpstr>
      <vt:lpstr>Critical: Inference, Error and Associations</vt:lpstr>
      <vt:lpstr>Variable definitions in the school admissions dataset: admissions.csv == admissions.jasp</vt:lpstr>
      <vt:lpstr>What you already know…Descriptive Statistics &amp; Relationships</vt:lpstr>
      <vt:lpstr>Visualizing the distribution and joint distribution of SAT verbal and math scores</vt:lpstr>
      <vt:lpstr>PowerPoint Presentation</vt:lpstr>
      <vt:lpstr>PowerPoint Presentation</vt:lpstr>
      <vt:lpstr>What’s new …</vt:lpstr>
      <vt:lpstr>PowerPoint Presentation</vt:lpstr>
      <vt:lpstr>PowerPoint Presentation</vt:lpstr>
      <vt:lpstr>PowerPoint Presentation</vt:lpstr>
      <vt:lpstr>PowerPoint Presentation</vt:lpstr>
      <vt:lpstr>PowerPoint Presentation</vt:lpstr>
      <vt:lpstr>Visualizing the marginal effects plot</vt:lpstr>
      <vt:lpstr>Visualizing your data</vt:lpstr>
      <vt:lpstr>Examples: SLR mechanics</vt:lpstr>
      <vt:lpstr>Extrapolation</vt:lpstr>
      <vt:lpstr>PowerPoint Presentation</vt:lpstr>
      <vt:lpstr>PowerPoint Presentation</vt:lpstr>
      <vt:lpstr>PowerPoint Presentation</vt:lpstr>
      <vt:lpstr>In class assignment</vt:lpstr>
      <vt:lpstr>Exploring the relationships between self-care and well-being outcomes among child welfare professionals</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dc:title>
  <dc:creator>Barboza-Salerno, Gia</dc:creator>
  <cp:lastModifiedBy>Barboza-Salerno, Gia</cp:lastModifiedBy>
  <cp:revision>180</cp:revision>
  <dcterms:created xsi:type="dcterms:W3CDTF">2025-02-02T10:23:10Z</dcterms:created>
  <dcterms:modified xsi:type="dcterms:W3CDTF">2026-02-08T18:59:44Z</dcterms:modified>
</cp:coreProperties>
</file>