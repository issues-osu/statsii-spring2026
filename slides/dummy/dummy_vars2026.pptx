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notesMasterIdLst>
    <p:notesMasterId r:id="rId39"/>
  </p:notesMasterIdLst>
  <p:sldIdLst>
    <p:sldId id="1356" r:id="rId3"/>
    <p:sldId id="1359" r:id="rId4"/>
    <p:sldId id="1364" r:id="rId5"/>
    <p:sldId id="1360" r:id="rId6"/>
    <p:sldId id="1361" r:id="rId7"/>
    <p:sldId id="1365" r:id="rId8"/>
    <p:sldId id="1362" r:id="rId9"/>
    <p:sldId id="1299" r:id="rId10"/>
    <p:sldId id="1300" r:id="rId11"/>
    <p:sldId id="1357" r:id="rId12"/>
    <p:sldId id="815" r:id="rId13"/>
    <p:sldId id="837" r:id="rId14"/>
    <p:sldId id="1366" r:id="rId15"/>
    <p:sldId id="1303" r:id="rId16"/>
    <p:sldId id="1304" r:id="rId17"/>
    <p:sldId id="1305" r:id="rId18"/>
    <p:sldId id="1306" r:id="rId19"/>
    <p:sldId id="1352" r:id="rId20"/>
    <p:sldId id="1358" r:id="rId21"/>
    <p:sldId id="1307" r:id="rId22"/>
    <p:sldId id="1308" r:id="rId23"/>
    <p:sldId id="1309" r:id="rId24"/>
    <p:sldId id="260" r:id="rId25"/>
    <p:sldId id="262" r:id="rId26"/>
    <p:sldId id="1344" r:id="rId27"/>
    <p:sldId id="1346" r:id="rId28"/>
    <p:sldId id="1347" r:id="rId29"/>
    <p:sldId id="263" r:id="rId30"/>
    <p:sldId id="1353" r:id="rId31"/>
    <p:sldId id="266" r:id="rId32"/>
    <p:sldId id="264" r:id="rId33"/>
    <p:sldId id="1345" r:id="rId34"/>
    <p:sldId id="1354" r:id="rId35"/>
    <p:sldId id="1355" r:id="rId36"/>
    <p:sldId id="1313" r:id="rId37"/>
    <p:sldId id="1315"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9" autoAdjust="0"/>
    <p:restoredTop sz="62145" autoAdjust="0"/>
  </p:normalViewPr>
  <p:slideViewPr>
    <p:cSldViewPr snapToGrid="0">
      <p:cViewPr varScale="1">
        <p:scale>
          <a:sx n="76" d="100"/>
          <a:sy n="76" d="100"/>
        </p:scale>
        <p:origin x="1548"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notesMaster" Target="notesMasters/notesMaster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CC442E-3413-436E-A404-1DA374D09426}" type="datetimeFigureOut">
              <a:rPr lang="en-US" smtClean="0"/>
              <a:t>2/15/2026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F08EEB-DA12-4FF1-915C-CE025D5E0743}" type="slidenum">
              <a:rPr lang="en-US" smtClean="0"/>
              <a:t>‹#›</a:t>
            </a:fld>
            <a:endParaRPr lang="en-US"/>
          </a:p>
        </p:txBody>
      </p:sp>
    </p:spTree>
    <p:extLst>
      <p:ext uri="{BB962C8B-B14F-4D97-AF65-F5344CB8AC3E}">
        <p14:creationId xmlns:p14="http://schemas.microsoft.com/office/powerpoint/2010/main" val="38170834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A1A8A04-E4C3-A244-9223-3E280CABE47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617432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A1A8A04-E4C3-A244-9223-3E280CABE47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011090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BCFFC-3B68-4C25-9794-F3AF3EB3899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005799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distribution is not converging because I am plotting the </a:t>
            </a:r>
            <a:r>
              <a:rPr lang="en-US" b="1" dirty="0"/>
              <a:t>distribution of counts in a small jury (n = 12)</a:t>
            </a:r>
            <a:r>
              <a:rPr lang="en-US" dirty="0"/>
              <a:t>, not the distribution of averages across large samples.</a:t>
            </a:r>
          </a:p>
          <a:p>
            <a:r>
              <a:rPr lang="en-US" dirty="0"/>
              <a:t>This distribution is actually </a:t>
            </a:r>
            <a:r>
              <a:rPr lang="en-US" b="1" dirty="0"/>
              <a:t>binomial</a:t>
            </a:r>
            <a:r>
              <a:rPr lang="en-US" dirty="0"/>
              <a:t>, not normal, and since jury size stays fixed at 12, it remains skewed even when you simulate many juries. Increasing the number of simulations just makes the histogram smoother; it doesn’t change the underlying shape.</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BCFFC-3B68-4C25-9794-F3AF3EB3899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753626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each sample contains many more people, so:</a:t>
            </a:r>
          </a:p>
          <a:p>
            <a:r>
              <a:rPr lang="en-US" dirty="0"/>
              <a:t>• sampling variability shrinks</a:t>
            </a:r>
            <a:br>
              <a:rPr lang="en-US" dirty="0"/>
            </a:br>
            <a:r>
              <a:rPr lang="en-US" dirty="0"/>
              <a:t>• results cluster around the expected value</a:t>
            </a:r>
            <a:br>
              <a:rPr lang="en-US" dirty="0"/>
            </a:br>
            <a:r>
              <a:rPr lang="en-US" dirty="0"/>
              <a:t>• the distribution looks much more normal.</a:t>
            </a:r>
          </a:p>
          <a:p>
            <a:r>
              <a:rPr lang="en-US" dirty="0"/>
              <a:t>Now CLT conditions begin to apply because the sample size per draw is large.</a:t>
            </a:r>
          </a:p>
          <a:p>
            <a:endParaRPr lang="en-US" dirty="0"/>
          </a:p>
        </p:txBody>
      </p:sp>
      <p:sp>
        <p:nvSpPr>
          <p:cNvPr id="4" name="Slide Number Placeholder 3"/>
          <p:cNvSpPr>
            <a:spLocks noGrp="1"/>
          </p:cNvSpPr>
          <p:nvPr>
            <p:ph type="sldNum" sz="quarter" idx="5"/>
          </p:nvPr>
        </p:nvSpPr>
        <p:spPr/>
        <p:txBody>
          <a:bodyPr/>
          <a:lstStyle/>
          <a:p>
            <a:fld id="{F7F08EEB-DA12-4FF1-915C-CE025D5E0743}" type="slidenum">
              <a:rPr lang="en-US" smtClean="0"/>
              <a:t>36</a:t>
            </a:fld>
            <a:endParaRPr lang="en-US"/>
          </a:p>
        </p:txBody>
      </p:sp>
    </p:spTree>
    <p:extLst>
      <p:ext uri="{BB962C8B-B14F-4D97-AF65-F5344CB8AC3E}">
        <p14:creationId xmlns:p14="http://schemas.microsoft.com/office/powerpoint/2010/main" val="38596334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2/15/2026</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0942870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2/15/2026</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156113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2/15/2026</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47134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2/15/2026</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8665710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2/15/2026</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971644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2/15/2026</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196716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2/15/2026</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9798812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2/15/2026</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1508140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2/15/2026</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3694646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7D5506EE-1026-4F35-9ACC-BD05BE0F9B36}"/>
              </a:ext>
            </a:extLst>
          </p:cNvPr>
          <p:cNvSpPr>
            <a:spLocks noGrp="1"/>
          </p:cNvSpPr>
          <p:nvPr>
            <p:ph type="dt" sz="half" idx="10"/>
          </p:nvPr>
        </p:nvSpPr>
        <p:spPr/>
        <p:txBody>
          <a:bodyPr/>
          <a:lstStyle/>
          <a:p>
            <a:fld id="{B612A279-0833-481D-8C56-F67FD0AC6C50}" type="datetime1">
              <a:rPr lang="en-US" smtClean="0"/>
              <a:t>2/15/2026</a:t>
            </a:fld>
            <a:endParaRPr lang="en-US" dirty="0"/>
          </a:p>
        </p:txBody>
      </p:sp>
      <p:sp>
        <p:nvSpPr>
          <p:cNvPr id="8" name="Footer Placeholder 7">
            <a:extLst>
              <a:ext uri="{FF2B5EF4-FFF2-40B4-BE49-F238E27FC236}">
                <a16:creationId xmlns:a16="http://schemas.microsoft.com/office/drawing/2014/main" id="{B7696E5F-8D95-4450-AE52-5438E6EDE2B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99B2253-74CC-409E-BEB0-F8EFCFCB562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014612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1B68A5B-D9FA-424B-A4EB-30E7223836B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F33D6B0-F070-45C4-A472-19F432BE3932}"/>
              </a:ext>
            </a:extLst>
          </p:cNvPr>
          <p:cNvSpPr>
            <a:spLocks noGrp="1"/>
          </p:cNvSpPr>
          <p:nvPr>
            <p:ph type="dt" sz="half" idx="10"/>
          </p:nvPr>
        </p:nvSpPr>
        <p:spPr/>
        <p:txBody>
          <a:bodyPr/>
          <a:lstStyle/>
          <a:p>
            <a:fld id="{6587DA83-5663-4C9C-B9AA-0B40A3DAFF81}" type="datetime1">
              <a:rPr lang="en-US" smtClean="0"/>
              <a:t>2/15/2026</a:t>
            </a:fld>
            <a:endParaRPr lang="en-US" dirty="0"/>
          </a:p>
        </p:txBody>
      </p:sp>
      <p:sp>
        <p:nvSpPr>
          <p:cNvPr id="8" name="Footer Placeholder 7">
            <a:extLst>
              <a:ext uri="{FF2B5EF4-FFF2-40B4-BE49-F238E27FC236}">
                <a16:creationId xmlns:a16="http://schemas.microsoft.com/office/drawing/2014/main" id="{9975399F-DAB2-410D-967F-ED17E6F796E7}"/>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F762A46F-6BE5-4D12-9412-5CA7672EA8EC}"/>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30856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60B86-7DAD-4460-B9E3-8342259ECA3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D0DD800-5E40-47F1-86E6-09D20E8BA5E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A2E73E4-9783-484D-91C6-A353C531115D}"/>
              </a:ext>
            </a:extLst>
          </p:cNvPr>
          <p:cNvSpPr>
            <a:spLocks noGrp="1"/>
          </p:cNvSpPr>
          <p:nvPr>
            <p:ph type="dt" sz="half" idx="10"/>
          </p:nvPr>
        </p:nvSpPr>
        <p:spPr/>
        <p:txBody>
          <a:bodyPr/>
          <a:lstStyle/>
          <a:p>
            <a:fld id="{C9237346-398A-4EB1-9492-C94B7FD39D26}" type="datetimeFigureOut">
              <a:rPr lang="en-US" smtClean="0"/>
              <a:t>2/15/2026</a:t>
            </a:fld>
            <a:endParaRPr lang="en-US"/>
          </a:p>
        </p:txBody>
      </p:sp>
      <p:sp>
        <p:nvSpPr>
          <p:cNvPr id="5" name="Footer Placeholder 4">
            <a:extLst>
              <a:ext uri="{FF2B5EF4-FFF2-40B4-BE49-F238E27FC236}">
                <a16:creationId xmlns:a16="http://schemas.microsoft.com/office/drawing/2014/main" id="{124BF39B-3802-4F5C-8708-3721BE10D5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4698C1-61D7-457F-BE88-B66881D5EDC0}"/>
              </a:ext>
            </a:extLst>
          </p:cNvPr>
          <p:cNvSpPr>
            <a:spLocks noGrp="1"/>
          </p:cNvSpPr>
          <p:nvPr>
            <p:ph type="sldNum" sz="quarter" idx="12"/>
          </p:nvPr>
        </p:nvSpPr>
        <p:spPr/>
        <p:txBody>
          <a:bodyPr/>
          <a:lstStyle/>
          <a:p>
            <a:fld id="{7006A57E-7529-4F31-8D40-4BC6993798B6}" type="slidenum">
              <a:rPr lang="en-US" smtClean="0"/>
              <a:t>‹#›</a:t>
            </a:fld>
            <a:endParaRPr lang="en-US"/>
          </a:p>
        </p:txBody>
      </p:sp>
    </p:spTree>
    <p:extLst>
      <p:ext uri="{BB962C8B-B14F-4D97-AF65-F5344CB8AC3E}">
        <p14:creationId xmlns:p14="http://schemas.microsoft.com/office/powerpoint/2010/main" val="39882081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471DC-CDE4-4A68-B576-050D0716BAB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3C450E1-7258-4338-A205-263E5063B91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423792-6976-4359-A506-A358965F4E01}"/>
              </a:ext>
            </a:extLst>
          </p:cNvPr>
          <p:cNvSpPr>
            <a:spLocks noGrp="1"/>
          </p:cNvSpPr>
          <p:nvPr>
            <p:ph type="dt" sz="half" idx="10"/>
          </p:nvPr>
        </p:nvSpPr>
        <p:spPr/>
        <p:txBody>
          <a:bodyPr/>
          <a:lstStyle/>
          <a:p>
            <a:fld id="{C9237346-398A-4EB1-9492-C94B7FD39D26}" type="datetimeFigureOut">
              <a:rPr lang="en-US" smtClean="0"/>
              <a:t>2/15/2026</a:t>
            </a:fld>
            <a:endParaRPr lang="en-US"/>
          </a:p>
        </p:txBody>
      </p:sp>
      <p:sp>
        <p:nvSpPr>
          <p:cNvPr id="5" name="Footer Placeholder 4">
            <a:extLst>
              <a:ext uri="{FF2B5EF4-FFF2-40B4-BE49-F238E27FC236}">
                <a16:creationId xmlns:a16="http://schemas.microsoft.com/office/drawing/2014/main" id="{4B854B60-F775-42A1-ACC3-9E1362B035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DE454E-A15D-4797-AED4-E12E57673A46}"/>
              </a:ext>
            </a:extLst>
          </p:cNvPr>
          <p:cNvSpPr>
            <a:spLocks noGrp="1"/>
          </p:cNvSpPr>
          <p:nvPr>
            <p:ph type="sldNum" sz="quarter" idx="12"/>
          </p:nvPr>
        </p:nvSpPr>
        <p:spPr/>
        <p:txBody>
          <a:bodyPr/>
          <a:lstStyle/>
          <a:p>
            <a:fld id="{7006A57E-7529-4F31-8D40-4BC6993798B6}" type="slidenum">
              <a:rPr lang="en-US" smtClean="0"/>
              <a:t>‹#›</a:t>
            </a:fld>
            <a:endParaRPr lang="en-US"/>
          </a:p>
        </p:txBody>
      </p:sp>
    </p:spTree>
    <p:extLst>
      <p:ext uri="{BB962C8B-B14F-4D97-AF65-F5344CB8AC3E}">
        <p14:creationId xmlns:p14="http://schemas.microsoft.com/office/powerpoint/2010/main" val="38426249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EEB37-8101-4199-B302-C7E6B715E09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183DEFD-6784-4320-90D7-E863E0E5867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7FEE817-4340-4ED0-A273-44CC8FCE29AA}"/>
              </a:ext>
            </a:extLst>
          </p:cNvPr>
          <p:cNvSpPr>
            <a:spLocks noGrp="1"/>
          </p:cNvSpPr>
          <p:nvPr>
            <p:ph type="dt" sz="half" idx="10"/>
          </p:nvPr>
        </p:nvSpPr>
        <p:spPr/>
        <p:txBody>
          <a:bodyPr/>
          <a:lstStyle/>
          <a:p>
            <a:fld id="{C9237346-398A-4EB1-9492-C94B7FD39D26}" type="datetimeFigureOut">
              <a:rPr lang="en-US" smtClean="0"/>
              <a:t>2/15/2026</a:t>
            </a:fld>
            <a:endParaRPr lang="en-US"/>
          </a:p>
        </p:txBody>
      </p:sp>
      <p:sp>
        <p:nvSpPr>
          <p:cNvPr id="5" name="Footer Placeholder 4">
            <a:extLst>
              <a:ext uri="{FF2B5EF4-FFF2-40B4-BE49-F238E27FC236}">
                <a16:creationId xmlns:a16="http://schemas.microsoft.com/office/drawing/2014/main" id="{A65182BA-D128-4C80-8FCE-86B6F96F45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00C214-7ABD-4B06-80D8-A8DE5F8C6D3C}"/>
              </a:ext>
            </a:extLst>
          </p:cNvPr>
          <p:cNvSpPr>
            <a:spLocks noGrp="1"/>
          </p:cNvSpPr>
          <p:nvPr>
            <p:ph type="sldNum" sz="quarter" idx="12"/>
          </p:nvPr>
        </p:nvSpPr>
        <p:spPr/>
        <p:txBody>
          <a:bodyPr/>
          <a:lstStyle/>
          <a:p>
            <a:fld id="{7006A57E-7529-4F31-8D40-4BC6993798B6}" type="slidenum">
              <a:rPr lang="en-US" smtClean="0"/>
              <a:t>‹#›</a:t>
            </a:fld>
            <a:endParaRPr lang="en-US"/>
          </a:p>
        </p:txBody>
      </p:sp>
    </p:spTree>
    <p:extLst>
      <p:ext uri="{BB962C8B-B14F-4D97-AF65-F5344CB8AC3E}">
        <p14:creationId xmlns:p14="http://schemas.microsoft.com/office/powerpoint/2010/main" val="13716582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3FE7A-739C-4426-930F-2C3374A064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94D0D4B-592A-4B70-81E3-59E45D65B14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4C52DAE-2BC0-4EDB-8591-DD68DFB49FC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C85272D-FC1D-4AE7-81CA-48B4931B9F38}"/>
              </a:ext>
            </a:extLst>
          </p:cNvPr>
          <p:cNvSpPr>
            <a:spLocks noGrp="1"/>
          </p:cNvSpPr>
          <p:nvPr>
            <p:ph type="dt" sz="half" idx="10"/>
          </p:nvPr>
        </p:nvSpPr>
        <p:spPr/>
        <p:txBody>
          <a:bodyPr/>
          <a:lstStyle/>
          <a:p>
            <a:fld id="{C9237346-398A-4EB1-9492-C94B7FD39D26}" type="datetimeFigureOut">
              <a:rPr lang="en-US" smtClean="0"/>
              <a:t>2/15/2026</a:t>
            </a:fld>
            <a:endParaRPr lang="en-US"/>
          </a:p>
        </p:txBody>
      </p:sp>
      <p:sp>
        <p:nvSpPr>
          <p:cNvPr id="6" name="Footer Placeholder 5">
            <a:extLst>
              <a:ext uri="{FF2B5EF4-FFF2-40B4-BE49-F238E27FC236}">
                <a16:creationId xmlns:a16="http://schemas.microsoft.com/office/drawing/2014/main" id="{58136823-9EC5-4571-80D2-E35EAF19664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73528D7-596D-46B6-82DE-6517BE83D3B6}"/>
              </a:ext>
            </a:extLst>
          </p:cNvPr>
          <p:cNvSpPr>
            <a:spLocks noGrp="1"/>
          </p:cNvSpPr>
          <p:nvPr>
            <p:ph type="sldNum" sz="quarter" idx="12"/>
          </p:nvPr>
        </p:nvSpPr>
        <p:spPr/>
        <p:txBody>
          <a:bodyPr/>
          <a:lstStyle/>
          <a:p>
            <a:fld id="{7006A57E-7529-4F31-8D40-4BC6993798B6}" type="slidenum">
              <a:rPr lang="en-US" smtClean="0"/>
              <a:t>‹#›</a:t>
            </a:fld>
            <a:endParaRPr lang="en-US"/>
          </a:p>
        </p:txBody>
      </p:sp>
    </p:spTree>
    <p:extLst>
      <p:ext uri="{BB962C8B-B14F-4D97-AF65-F5344CB8AC3E}">
        <p14:creationId xmlns:p14="http://schemas.microsoft.com/office/powerpoint/2010/main" val="13534698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E3B52-7EA0-49D7-BC47-FF5ACF01E4A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5F987A9-A848-4E60-8876-68550809938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34AB8AF-2773-4FE9-8B1F-865ECE3B8BA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64F3FED-0B19-461F-8688-C5547FA15D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73B9086-372E-4CAE-8826-9F0656A3EC8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06BF706-A301-44B3-9543-556F2E5287F8}"/>
              </a:ext>
            </a:extLst>
          </p:cNvPr>
          <p:cNvSpPr>
            <a:spLocks noGrp="1"/>
          </p:cNvSpPr>
          <p:nvPr>
            <p:ph type="dt" sz="half" idx="10"/>
          </p:nvPr>
        </p:nvSpPr>
        <p:spPr/>
        <p:txBody>
          <a:bodyPr/>
          <a:lstStyle/>
          <a:p>
            <a:fld id="{C9237346-398A-4EB1-9492-C94B7FD39D26}" type="datetimeFigureOut">
              <a:rPr lang="en-US" smtClean="0"/>
              <a:t>2/15/2026</a:t>
            </a:fld>
            <a:endParaRPr lang="en-US"/>
          </a:p>
        </p:txBody>
      </p:sp>
      <p:sp>
        <p:nvSpPr>
          <p:cNvPr id="8" name="Footer Placeholder 7">
            <a:extLst>
              <a:ext uri="{FF2B5EF4-FFF2-40B4-BE49-F238E27FC236}">
                <a16:creationId xmlns:a16="http://schemas.microsoft.com/office/drawing/2014/main" id="{04BC399B-B918-4384-94FA-70CBC00B168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6F3DD3C-EA90-41EB-BF48-3E29773D946B}"/>
              </a:ext>
            </a:extLst>
          </p:cNvPr>
          <p:cNvSpPr>
            <a:spLocks noGrp="1"/>
          </p:cNvSpPr>
          <p:nvPr>
            <p:ph type="sldNum" sz="quarter" idx="12"/>
          </p:nvPr>
        </p:nvSpPr>
        <p:spPr/>
        <p:txBody>
          <a:bodyPr/>
          <a:lstStyle/>
          <a:p>
            <a:fld id="{7006A57E-7529-4F31-8D40-4BC6993798B6}" type="slidenum">
              <a:rPr lang="en-US" smtClean="0"/>
              <a:t>‹#›</a:t>
            </a:fld>
            <a:endParaRPr lang="en-US"/>
          </a:p>
        </p:txBody>
      </p:sp>
    </p:spTree>
    <p:extLst>
      <p:ext uri="{BB962C8B-B14F-4D97-AF65-F5344CB8AC3E}">
        <p14:creationId xmlns:p14="http://schemas.microsoft.com/office/powerpoint/2010/main" val="187357827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95FAE-E1B1-4BF0-8CE1-DCF45695A5A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F20D8CA-FDC7-45B8-9FD2-B6A15E8B96E1}"/>
              </a:ext>
            </a:extLst>
          </p:cNvPr>
          <p:cNvSpPr>
            <a:spLocks noGrp="1"/>
          </p:cNvSpPr>
          <p:nvPr>
            <p:ph type="dt" sz="half" idx="10"/>
          </p:nvPr>
        </p:nvSpPr>
        <p:spPr/>
        <p:txBody>
          <a:bodyPr/>
          <a:lstStyle/>
          <a:p>
            <a:fld id="{C9237346-398A-4EB1-9492-C94B7FD39D26}" type="datetimeFigureOut">
              <a:rPr lang="en-US" smtClean="0"/>
              <a:t>2/15/2026</a:t>
            </a:fld>
            <a:endParaRPr lang="en-US"/>
          </a:p>
        </p:txBody>
      </p:sp>
      <p:sp>
        <p:nvSpPr>
          <p:cNvPr id="4" name="Footer Placeholder 3">
            <a:extLst>
              <a:ext uri="{FF2B5EF4-FFF2-40B4-BE49-F238E27FC236}">
                <a16:creationId xmlns:a16="http://schemas.microsoft.com/office/drawing/2014/main" id="{EBAC0A22-F288-4F6A-9761-AA17AD57750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DE50559-7E36-4F2A-B247-942269ABC353}"/>
              </a:ext>
            </a:extLst>
          </p:cNvPr>
          <p:cNvSpPr>
            <a:spLocks noGrp="1"/>
          </p:cNvSpPr>
          <p:nvPr>
            <p:ph type="sldNum" sz="quarter" idx="12"/>
          </p:nvPr>
        </p:nvSpPr>
        <p:spPr/>
        <p:txBody>
          <a:bodyPr/>
          <a:lstStyle/>
          <a:p>
            <a:fld id="{7006A57E-7529-4F31-8D40-4BC6993798B6}" type="slidenum">
              <a:rPr lang="en-US" smtClean="0"/>
              <a:t>‹#›</a:t>
            </a:fld>
            <a:endParaRPr lang="en-US"/>
          </a:p>
        </p:txBody>
      </p:sp>
    </p:spTree>
    <p:extLst>
      <p:ext uri="{BB962C8B-B14F-4D97-AF65-F5344CB8AC3E}">
        <p14:creationId xmlns:p14="http://schemas.microsoft.com/office/powerpoint/2010/main" val="112688088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FE340DA-3190-48D2-939A-4A0283D829F0}"/>
              </a:ext>
            </a:extLst>
          </p:cNvPr>
          <p:cNvSpPr>
            <a:spLocks noGrp="1"/>
          </p:cNvSpPr>
          <p:nvPr>
            <p:ph type="dt" sz="half" idx="10"/>
          </p:nvPr>
        </p:nvSpPr>
        <p:spPr/>
        <p:txBody>
          <a:bodyPr/>
          <a:lstStyle/>
          <a:p>
            <a:fld id="{C9237346-398A-4EB1-9492-C94B7FD39D26}" type="datetimeFigureOut">
              <a:rPr lang="en-US" smtClean="0"/>
              <a:t>2/15/2026</a:t>
            </a:fld>
            <a:endParaRPr lang="en-US"/>
          </a:p>
        </p:txBody>
      </p:sp>
      <p:sp>
        <p:nvSpPr>
          <p:cNvPr id="3" name="Footer Placeholder 2">
            <a:extLst>
              <a:ext uri="{FF2B5EF4-FFF2-40B4-BE49-F238E27FC236}">
                <a16:creationId xmlns:a16="http://schemas.microsoft.com/office/drawing/2014/main" id="{8CBD7856-3C74-4A24-A499-8167B44DE04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E19A51A-F132-435C-8584-B93A67963CBC}"/>
              </a:ext>
            </a:extLst>
          </p:cNvPr>
          <p:cNvSpPr>
            <a:spLocks noGrp="1"/>
          </p:cNvSpPr>
          <p:nvPr>
            <p:ph type="sldNum" sz="quarter" idx="12"/>
          </p:nvPr>
        </p:nvSpPr>
        <p:spPr/>
        <p:txBody>
          <a:bodyPr/>
          <a:lstStyle/>
          <a:p>
            <a:fld id="{7006A57E-7529-4F31-8D40-4BC6993798B6}" type="slidenum">
              <a:rPr lang="en-US" smtClean="0"/>
              <a:t>‹#›</a:t>
            </a:fld>
            <a:endParaRPr lang="en-US"/>
          </a:p>
        </p:txBody>
      </p:sp>
    </p:spTree>
    <p:extLst>
      <p:ext uri="{BB962C8B-B14F-4D97-AF65-F5344CB8AC3E}">
        <p14:creationId xmlns:p14="http://schemas.microsoft.com/office/powerpoint/2010/main" val="263758207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CD195-C6C9-4B64-A9DB-0FDB00D8740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8286536-0A00-4184-B235-6A52F6C28C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682F7B8-AFB2-4C1E-A75E-88C486AD84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C36736-0658-4817-B101-7877E37D76C7}"/>
              </a:ext>
            </a:extLst>
          </p:cNvPr>
          <p:cNvSpPr>
            <a:spLocks noGrp="1"/>
          </p:cNvSpPr>
          <p:nvPr>
            <p:ph type="dt" sz="half" idx="10"/>
          </p:nvPr>
        </p:nvSpPr>
        <p:spPr/>
        <p:txBody>
          <a:bodyPr/>
          <a:lstStyle/>
          <a:p>
            <a:fld id="{C9237346-398A-4EB1-9492-C94B7FD39D26}" type="datetimeFigureOut">
              <a:rPr lang="en-US" smtClean="0"/>
              <a:t>2/15/2026</a:t>
            </a:fld>
            <a:endParaRPr lang="en-US"/>
          </a:p>
        </p:txBody>
      </p:sp>
      <p:sp>
        <p:nvSpPr>
          <p:cNvPr id="6" name="Footer Placeholder 5">
            <a:extLst>
              <a:ext uri="{FF2B5EF4-FFF2-40B4-BE49-F238E27FC236}">
                <a16:creationId xmlns:a16="http://schemas.microsoft.com/office/drawing/2014/main" id="{C1F6DA71-D9E9-4C70-B351-5B0559B0C5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8C0BFEC-526A-48CC-A660-88983A10D5C0}"/>
              </a:ext>
            </a:extLst>
          </p:cNvPr>
          <p:cNvSpPr>
            <a:spLocks noGrp="1"/>
          </p:cNvSpPr>
          <p:nvPr>
            <p:ph type="sldNum" sz="quarter" idx="12"/>
          </p:nvPr>
        </p:nvSpPr>
        <p:spPr/>
        <p:txBody>
          <a:bodyPr/>
          <a:lstStyle/>
          <a:p>
            <a:fld id="{7006A57E-7529-4F31-8D40-4BC6993798B6}" type="slidenum">
              <a:rPr lang="en-US" smtClean="0"/>
              <a:t>‹#›</a:t>
            </a:fld>
            <a:endParaRPr lang="en-US"/>
          </a:p>
        </p:txBody>
      </p:sp>
    </p:spTree>
    <p:extLst>
      <p:ext uri="{BB962C8B-B14F-4D97-AF65-F5344CB8AC3E}">
        <p14:creationId xmlns:p14="http://schemas.microsoft.com/office/powerpoint/2010/main" val="170024846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7C117-5B44-47A7-914D-EFEB6A216AC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C0D8A2C-D944-4C38-9270-4BFBEA849DD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671210B-7C43-4890-9F67-0B49F19BF9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ECEED2-68FE-4280-8C62-1DFA5510B19B}"/>
              </a:ext>
            </a:extLst>
          </p:cNvPr>
          <p:cNvSpPr>
            <a:spLocks noGrp="1"/>
          </p:cNvSpPr>
          <p:nvPr>
            <p:ph type="dt" sz="half" idx="10"/>
          </p:nvPr>
        </p:nvSpPr>
        <p:spPr/>
        <p:txBody>
          <a:bodyPr/>
          <a:lstStyle/>
          <a:p>
            <a:fld id="{C9237346-398A-4EB1-9492-C94B7FD39D26}" type="datetimeFigureOut">
              <a:rPr lang="en-US" smtClean="0"/>
              <a:t>2/15/2026</a:t>
            </a:fld>
            <a:endParaRPr lang="en-US"/>
          </a:p>
        </p:txBody>
      </p:sp>
      <p:sp>
        <p:nvSpPr>
          <p:cNvPr id="6" name="Footer Placeholder 5">
            <a:extLst>
              <a:ext uri="{FF2B5EF4-FFF2-40B4-BE49-F238E27FC236}">
                <a16:creationId xmlns:a16="http://schemas.microsoft.com/office/drawing/2014/main" id="{69D8C127-D6D2-4D07-A69E-E5946C0DA89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B7D6099-4E79-48DB-8BE9-E5DF33384807}"/>
              </a:ext>
            </a:extLst>
          </p:cNvPr>
          <p:cNvSpPr>
            <a:spLocks noGrp="1"/>
          </p:cNvSpPr>
          <p:nvPr>
            <p:ph type="sldNum" sz="quarter" idx="12"/>
          </p:nvPr>
        </p:nvSpPr>
        <p:spPr/>
        <p:txBody>
          <a:bodyPr/>
          <a:lstStyle/>
          <a:p>
            <a:fld id="{7006A57E-7529-4F31-8D40-4BC6993798B6}" type="slidenum">
              <a:rPr lang="en-US" smtClean="0"/>
              <a:t>‹#›</a:t>
            </a:fld>
            <a:endParaRPr lang="en-US"/>
          </a:p>
        </p:txBody>
      </p:sp>
    </p:spTree>
    <p:extLst>
      <p:ext uri="{BB962C8B-B14F-4D97-AF65-F5344CB8AC3E}">
        <p14:creationId xmlns:p14="http://schemas.microsoft.com/office/powerpoint/2010/main" val="280806141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73375A-4ED3-43A1-8C6C-784526C696F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2BAD7A0-338C-4604-AB7E-F61D922F65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442105-0EAB-459A-BCEB-0A68BE5FAD9B}"/>
              </a:ext>
            </a:extLst>
          </p:cNvPr>
          <p:cNvSpPr>
            <a:spLocks noGrp="1"/>
          </p:cNvSpPr>
          <p:nvPr>
            <p:ph type="dt" sz="half" idx="10"/>
          </p:nvPr>
        </p:nvSpPr>
        <p:spPr/>
        <p:txBody>
          <a:bodyPr/>
          <a:lstStyle/>
          <a:p>
            <a:fld id="{C9237346-398A-4EB1-9492-C94B7FD39D26}" type="datetimeFigureOut">
              <a:rPr lang="en-US" smtClean="0"/>
              <a:t>2/15/2026</a:t>
            </a:fld>
            <a:endParaRPr lang="en-US"/>
          </a:p>
        </p:txBody>
      </p:sp>
      <p:sp>
        <p:nvSpPr>
          <p:cNvPr id="5" name="Footer Placeholder 4">
            <a:extLst>
              <a:ext uri="{FF2B5EF4-FFF2-40B4-BE49-F238E27FC236}">
                <a16:creationId xmlns:a16="http://schemas.microsoft.com/office/drawing/2014/main" id="{DD30B28C-633F-4805-AC49-EBAD82B498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902BA8-DC1F-46C1-96DB-236BC3701877}"/>
              </a:ext>
            </a:extLst>
          </p:cNvPr>
          <p:cNvSpPr>
            <a:spLocks noGrp="1"/>
          </p:cNvSpPr>
          <p:nvPr>
            <p:ph type="sldNum" sz="quarter" idx="12"/>
          </p:nvPr>
        </p:nvSpPr>
        <p:spPr/>
        <p:txBody>
          <a:bodyPr/>
          <a:lstStyle/>
          <a:p>
            <a:fld id="{7006A57E-7529-4F31-8D40-4BC6993798B6}" type="slidenum">
              <a:rPr lang="en-US" smtClean="0"/>
              <a:t>‹#›</a:t>
            </a:fld>
            <a:endParaRPr lang="en-US"/>
          </a:p>
        </p:txBody>
      </p:sp>
    </p:spTree>
    <p:extLst>
      <p:ext uri="{BB962C8B-B14F-4D97-AF65-F5344CB8AC3E}">
        <p14:creationId xmlns:p14="http://schemas.microsoft.com/office/powerpoint/2010/main" val="264705277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683572-FC4D-4E93-954C-61912D5ED36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A7FD491-ECE6-4603-ACA1-F9918DE056C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673C3F-DDC6-4887-B535-2777C50524A3}"/>
              </a:ext>
            </a:extLst>
          </p:cNvPr>
          <p:cNvSpPr>
            <a:spLocks noGrp="1"/>
          </p:cNvSpPr>
          <p:nvPr>
            <p:ph type="dt" sz="half" idx="10"/>
          </p:nvPr>
        </p:nvSpPr>
        <p:spPr/>
        <p:txBody>
          <a:bodyPr/>
          <a:lstStyle/>
          <a:p>
            <a:fld id="{C9237346-398A-4EB1-9492-C94B7FD39D26}" type="datetimeFigureOut">
              <a:rPr lang="en-US" smtClean="0"/>
              <a:t>2/15/2026</a:t>
            </a:fld>
            <a:endParaRPr lang="en-US"/>
          </a:p>
        </p:txBody>
      </p:sp>
      <p:sp>
        <p:nvSpPr>
          <p:cNvPr id="5" name="Footer Placeholder 4">
            <a:extLst>
              <a:ext uri="{FF2B5EF4-FFF2-40B4-BE49-F238E27FC236}">
                <a16:creationId xmlns:a16="http://schemas.microsoft.com/office/drawing/2014/main" id="{40B5D599-B434-498A-B8EC-16F06FA999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705D2B-5564-4DAF-B22E-A57A6722676B}"/>
              </a:ext>
            </a:extLst>
          </p:cNvPr>
          <p:cNvSpPr>
            <a:spLocks noGrp="1"/>
          </p:cNvSpPr>
          <p:nvPr>
            <p:ph type="sldNum" sz="quarter" idx="12"/>
          </p:nvPr>
        </p:nvSpPr>
        <p:spPr/>
        <p:txBody>
          <a:bodyPr/>
          <a:lstStyle/>
          <a:p>
            <a:fld id="{7006A57E-7529-4F31-8D40-4BC6993798B6}" type="slidenum">
              <a:rPr lang="en-US" smtClean="0"/>
              <a:t>‹#›</a:t>
            </a:fld>
            <a:endParaRPr lang="en-US"/>
          </a:p>
        </p:txBody>
      </p:sp>
    </p:spTree>
    <p:extLst>
      <p:ext uri="{BB962C8B-B14F-4D97-AF65-F5344CB8AC3E}">
        <p14:creationId xmlns:p14="http://schemas.microsoft.com/office/powerpoint/2010/main" val="23969849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2/15/2026</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81593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1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1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1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1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8769776-B814-45CE-A4A7-3881B4840C9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FBD5E69-8555-4162-87BC-603C55EBCC2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324F13-879E-4E4A-B687-E9B6D81DAE6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9237346-398A-4EB1-9492-C94B7FD39D26}" type="datetimeFigureOut">
              <a:rPr lang="en-US" smtClean="0"/>
              <a:t>2/15/2026</a:t>
            </a:fld>
            <a:endParaRPr lang="en-US"/>
          </a:p>
        </p:txBody>
      </p:sp>
      <p:sp>
        <p:nvSpPr>
          <p:cNvPr id="5" name="Footer Placeholder 4">
            <a:extLst>
              <a:ext uri="{FF2B5EF4-FFF2-40B4-BE49-F238E27FC236}">
                <a16:creationId xmlns:a16="http://schemas.microsoft.com/office/drawing/2014/main" id="{93ACC280-096B-48D6-81CE-C888701C9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B34269B-8B00-471A-9B6B-96C069C96C1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006A57E-7529-4F31-8D40-4BC6993798B6}" type="slidenum">
              <a:rPr lang="en-US" smtClean="0"/>
              <a:t>‹#›</a:t>
            </a:fld>
            <a:endParaRPr lang="en-US"/>
          </a:p>
        </p:txBody>
      </p:sp>
    </p:spTree>
    <p:extLst>
      <p:ext uri="{BB962C8B-B14F-4D97-AF65-F5344CB8AC3E}">
        <p14:creationId xmlns:p14="http://schemas.microsoft.com/office/powerpoint/2010/main" val="162759128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image" Target="../media/image1.tiff"/><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hyperlink" Target="https://issues-osu.github.io/statsii-spring2026/static/johfre-freese-2021-reconsidering-the-reference-category.pdf" TargetMode="Externa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hyperlink" Target="https://issues-osu.github.io/statsii-spring2026/dummies.html" TargetMode="Externa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0.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NUL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12.png"/><Relationship Id="rId1" Type="http://schemas.openxmlformats.org/officeDocument/2006/relationships/slideLayout" Target="../slideLayouts/slideLayout13.xml"/><Relationship Id="rId5" Type="http://schemas.openxmlformats.org/officeDocument/2006/relationships/image" Target="NULL"/><Relationship Id="rId4" Type="http://schemas.openxmlformats.org/officeDocument/2006/relationships/image" Target="NUL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8.xml"/><Relationship Id="rId4" Type="http://schemas.openxmlformats.org/officeDocument/2006/relationships/image" Target="../media/image17.png"/></Relationships>
</file>

<file path=ppt/slides/_rels/slide34.xml.rels><?xml version="1.0" encoding="UTF-8" standalone="yes"?>
<Relationships xmlns="http://schemas.openxmlformats.org/package/2006/relationships"><Relationship Id="rId3" Type="http://schemas.openxmlformats.org/officeDocument/2006/relationships/hyperlink" Target="https://www.nme.com/news/music/al-sharpton-asap-rocky-gun-trial-unfair-jury-3831786" TargetMode="External"/><Relationship Id="rId2" Type="http://schemas.openxmlformats.org/officeDocument/2006/relationships/image" Target="../media/image18.jpeg"/><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A31D0-FBCE-E5F8-F7D8-41EDD1206600}"/>
              </a:ext>
            </a:extLst>
          </p:cNvPr>
          <p:cNvSpPr>
            <a:spLocks noGrp="1"/>
          </p:cNvSpPr>
          <p:nvPr>
            <p:ph type="ctrTitle"/>
          </p:nvPr>
        </p:nvSpPr>
        <p:spPr/>
        <p:txBody>
          <a:bodyPr/>
          <a:lstStyle/>
          <a:p>
            <a:r>
              <a:rPr lang="en-US" dirty="0">
                <a:latin typeface="Arial" panose="020B0604020202020204" pitchFamily="34" charset="0"/>
                <a:cs typeface="Arial" panose="020B0604020202020204" pitchFamily="34" charset="0"/>
              </a:rPr>
              <a:t>Regression Mechanics</a:t>
            </a:r>
          </a:p>
        </p:txBody>
      </p:sp>
      <p:sp>
        <p:nvSpPr>
          <p:cNvPr id="3" name="Subtitle 2">
            <a:extLst>
              <a:ext uri="{FF2B5EF4-FFF2-40B4-BE49-F238E27FC236}">
                <a16:creationId xmlns:a16="http://schemas.microsoft.com/office/drawing/2014/main" id="{6863C673-630F-6326-CF63-E8E5B2E05833}"/>
              </a:ext>
            </a:extLst>
          </p:cNvPr>
          <p:cNvSpPr>
            <a:spLocks noGrp="1"/>
          </p:cNvSpPr>
          <p:nvPr>
            <p:ph type="subTitle" idx="1"/>
          </p:nvPr>
        </p:nvSpPr>
        <p:spPr/>
        <p:txBody>
          <a:bodyPr/>
          <a:lstStyle/>
          <a:p>
            <a:r>
              <a:rPr lang="en-US" dirty="0">
                <a:latin typeface="Arial" panose="020B0604020202020204" pitchFamily="34" charset="0"/>
                <a:cs typeface="Arial" panose="020B0604020202020204" pitchFamily="34" charset="0"/>
              </a:rPr>
              <a:t>Dummy Variables, Quadratic Terms + Other Extensions</a:t>
            </a:r>
          </a:p>
        </p:txBody>
      </p:sp>
    </p:spTree>
    <p:extLst>
      <p:ext uri="{BB962C8B-B14F-4D97-AF65-F5344CB8AC3E}">
        <p14:creationId xmlns:p14="http://schemas.microsoft.com/office/powerpoint/2010/main" val="41543477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0FEFB-85C2-C3B1-885C-5271EB4F10B9}"/>
              </a:ext>
            </a:extLst>
          </p:cNvPr>
          <p:cNvSpPr>
            <a:spLocks noGrp="1"/>
          </p:cNvSpPr>
          <p:nvPr>
            <p:ph type="title"/>
          </p:nvPr>
        </p:nvSpPr>
        <p:spPr>
          <a:xfrm>
            <a:off x="149628" y="203476"/>
            <a:ext cx="10543085" cy="702305"/>
          </a:xfrm>
        </p:spPr>
        <p:txBody>
          <a:bodyPr>
            <a:normAutofit/>
          </a:bodyPr>
          <a:lstStyle/>
          <a:p>
            <a:r>
              <a:rPr lang="en-US" sz="3600" dirty="0">
                <a:latin typeface="Arial" panose="020B0604020202020204" pitchFamily="34" charset="0"/>
                <a:cs typeface="Arial" panose="020B0604020202020204" pitchFamily="34" charset="0"/>
              </a:rPr>
              <a:t>Medical Expenditure Panel Survey (Katie’s Study?)</a:t>
            </a:r>
          </a:p>
        </p:txBody>
      </p:sp>
      <p:sp>
        <p:nvSpPr>
          <p:cNvPr id="3" name="Content Placeholder 2">
            <a:extLst>
              <a:ext uri="{FF2B5EF4-FFF2-40B4-BE49-F238E27FC236}">
                <a16:creationId xmlns:a16="http://schemas.microsoft.com/office/drawing/2014/main" id="{1932BA06-E509-239A-AB64-C9866A2C935D}"/>
              </a:ext>
            </a:extLst>
          </p:cNvPr>
          <p:cNvSpPr>
            <a:spLocks noGrp="1"/>
          </p:cNvSpPr>
          <p:nvPr>
            <p:ph idx="1"/>
          </p:nvPr>
        </p:nvSpPr>
        <p:spPr>
          <a:xfrm>
            <a:off x="274320" y="905781"/>
            <a:ext cx="10058400" cy="4506478"/>
          </a:xfrm>
        </p:spPr>
        <p:txBody>
          <a:bodyPr>
            <a:noAutofit/>
          </a:bodyPr>
          <a:lstStyle/>
          <a:p>
            <a:r>
              <a:rPr lang="en-US" sz="2000" b="1" dirty="0">
                <a:latin typeface="Arial" panose="020B0604020202020204" pitchFamily="34" charset="0"/>
                <a:cs typeface="Arial" panose="020B0604020202020204" pitchFamily="34" charset="0"/>
              </a:rPr>
              <a:t>Goal: </a:t>
            </a:r>
            <a:r>
              <a:rPr lang="en-US" sz="2000" dirty="0">
                <a:latin typeface="Arial" panose="020B0604020202020204" pitchFamily="34" charset="0"/>
                <a:cs typeface="Arial" panose="020B0604020202020204" pitchFamily="34" charset="0"/>
              </a:rPr>
              <a:t>To examine the relationship between food insecurity and mental/physical health and healthcare utilization, with a specific focus on the unique burden faced by older adults (ages 65+).</a:t>
            </a:r>
          </a:p>
          <a:p>
            <a:r>
              <a:rPr lang="en-US" sz="2000" b="1" dirty="0">
                <a:latin typeface="Arial" panose="020B0604020202020204" pitchFamily="34" charset="0"/>
                <a:cs typeface="Arial" panose="020B0604020202020204" pitchFamily="34" charset="0"/>
              </a:rPr>
              <a:t>Survey Weights</a:t>
            </a:r>
            <a:r>
              <a:rPr lang="en-US" sz="2000" dirty="0">
                <a:latin typeface="Arial" panose="020B0604020202020204" pitchFamily="34" charset="0"/>
                <a:cs typeface="Arial" panose="020B0604020202020204" pitchFamily="34" charset="0"/>
              </a:rPr>
              <a:t>: The analysis utilizes the complex survey weight (SDOHWT21F) and accounts for the cluster (VARPSU) and strata (VARSTR) design of the survey.</a:t>
            </a:r>
          </a:p>
          <a:p>
            <a:r>
              <a:rPr lang="en-US" sz="2000" b="1" dirty="0">
                <a:latin typeface="Arial" panose="020B0604020202020204" pitchFamily="34" charset="0"/>
                <a:cs typeface="Arial" panose="020B0604020202020204" pitchFamily="34" charset="0"/>
              </a:rPr>
              <a:t>Population Estimates</a:t>
            </a:r>
            <a:r>
              <a:rPr lang="en-US" sz="2000" dirty="0">
                <a:latin typeface="Arial" panose="020B0604020202020204" pitchFamily="34" charset="0"/>
                <a:cs typeface="Arial" panose="020B0604020202020204" pitchFamily="34" charset="0"/>
              </a:rPr>
              <a:t>: By applying these weights, the results shift from being simple descriptions of the 14,000+ people in our data to representative population </a:t>
            </a:r>
            <a:r>
              <a:rPr lang="en-US" sz="2000" b="1" dirty="0">
                <a:latin typeface="Arial" panose="020B0604020202020204" pitchFamily="34" charset="0"/>
                <a:cs typeface="Arial" panose="020B0604020202020204" pitchFamily="34" charset="0"/>
              </a:rPr>
              <a:t>estimates</a:t>
            </a:r>
            <a:r>
              <a:rPr lang="en-US" sz="2000" dirty="0">
                <a:latin typeface="Arial" panose="020B0604020202020204" pitchFamily="34" charset="0"/>
                <a:cs typeface="Arial" panose="020B0604020202020204" pitchFamily="34" charset="0"/>
              </a:rPr>
              <a:t> for the entire U.S. civilian noninstitutionalized population.</a:t>
            </a:r>
          </a:p>
          <a:p>
            <a:r>
              <a:rPr lang="en-US" sz="2000" b="1" dirty="0">
                <a:latin typeface="Arial" panose="020B0604020202020204" pitchFamily="34" charset="0"/>
                <a:cs typeface="Arial" panose="020B0604020202020204" pitchFamily="34" charset="0"/>
              </a:rPr>
              <a:t>Significance</a:t>
            </a:r>
            <a:r>
              <a:rPr lang="en-US" sz="2000" dirty="0">
                <a:latin typeface="Arial" panose="020B0604020202020204" pitchFamily="34" charset="0"/>
                <a:cs typeface="Arial" panose="020B0604020202020204" pitchFamily="34" charset="0"/>
              </a:rPr>
              <a:t>: This ensures that our results are representative of the entire U.S. civilian noninstitutionalized population in 2021.</a:t>
            </a:r>
          </a:p>
          <a:p>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142367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5E48B3D-FF4A-C42C-9B6E-4CAC8F1CC0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BC77E7-9A6B-A862-243C-3C967B51E4BC}"/>
              </a:ext>
            </a:extLst>
          </p:cNvPr>
          <p:cNvSpPr>
            <a:spLocks noGrp="1"/>
          </p:cNvSpPr>
          <p:nvPr>
            <p:ph type="title"/>
          </p:nvPr>
        </p:nvSpPr>
        <p:spPr>
          <a:xfrm>
            <a:off x="149629" y="203476"/>
            <a:ext cx="10058400" cy="702305"/>
          </a:xfrm>
        </p:spPr>
        <p:txBody>
          <a:bodyPr>
            <a:normAutofit/>
          </a:bodyPr>
          <a:lstStyle/>
          <a:p>
            <a:r>
              <a:rPr lang="en-US" sz="3600" dirty="0">
                <a:latin typeface="Arial" panose="020B0604020202020204" pitchFamily="34" charset="0"/>
                <a:cs typeface="Arial" panose="020B0604020202020204" pitchFamily="34" charset="0"/>
              </a:rPr>
              <a:t>Medical Expenditure Panel Survey</a:t>
            </a:r>
          </a:p>
        </p:txBody>
      </p:sp>
      <p:sp>
        <p:nvSpPr>
          <p:cNvPr id="3" name="Content Placeholder 2">
            <a:extLst>
              <a:ext uri="{FF2B5EF4-FFF2-40B4-BE49-F238E27FC236}">
                <a16:creationId xmlns:a16="http://schemas.microsoft.com/office/drawing/2014/main" id="{2B2C7027-355D-01C3-6459-B19D1062A194}"/>
              </a:ext>
            </a:extLst>
          </p:cNvPr>
          <p:cNvSpPr>
            <a:spLocks noGrp="1"/>
          </p:cNvSpPr>
          <p:nvPr>
            <p:ph idx="1"/>
          </p:nvPr>
        </p:nvSpPr>
        <p:spPr>
          <a:xfrm>
            <a:off x="274320" y="905781"/>
            <a:ext cx="10058400" cy="3760891"/>
          </a:xfrm>
        </p:spPr>
        <p:txBody>
          <a:bodyPr>
            <a:normAutofit fontScale="92500" lnSpcReduction="10000"/>
          </a:bodyPr>
          <a:lstStyle/>
          <a:p>
            <a:pPr marL="91440" marR="0" lvl="0" indent="-91440" algn="l" defTabSz="914400" rtl="0" eaLnBrk="1" fontAlgn="auto" latinLnBrk="0" hangingPunct="1">
              <a:lnSpc>
                <a:spcPct val="110000"/>
              </a:lnSpc>
              <a:spcBef>
                <a:spcPts val="1200"/>
              </a:spcBef>
              <a:spcAft>
                <a:spcPts val="200"/>
              </a:spcAft>
              <a:buClr>
                <a:srgbClr val="DA3657"/>
              </a:buClr>
              <a:buSzPct val="100000"/>
              <a:buFont typeface="Calibri" panose="020F0502020204030204" pitchFamily="34" charset="0"/>
              <a:buChar char=" "/>
              <a:tabLst/>
              <a:defRPr/>
            </a:pPr>
            <a:r>
              <a:rPr kumimoji="0" lang="en-US" sz="2000" b="1" i="0" u="none" strike="noStrike" kern="1200" cap="none" spc="0" normalizeH="0" baseline="0" noProof="0" dirty="0">
                <a:ln>
                  <a:noFill/>
                </a:ln>
                <a:solidFill>
                  <a:srgbClr val="000000">
                    <a:lumMod val="75000"/>
                    <a:lumOff val="25000"/>
                  </a:srgbClr>
                </a:solidFill>
                <a:effectLst/>
                <a:uLnTx/>
                <a:uFillTx/>
                <a:latin typeface="Arial" panose="020B0604020202020204" pitchFamily="34" charset="0"/>
                <a:ea typeface="+mn-ea"/>
                <a:cs typeface="Arial" panose="020B0604020202020204" pitchFamily="34" charset="0"/>
              </a:rPr>
              <a:t>Research Questions</a:t>
            </a:r>
            <a:endParaRPr kumimoji="0" lang="en-US" sz="2000" b="0" i="0" u="none" strike="noStrike" kern="1200" cap="none" spc="0" normalizeH="0" baseline="0" noProof="0" dirty="0">
              <a:ln>
                <a:noFill/>
              </a:ln>
              <a:solidFill>
                <a:srgbClr val="000000">
                  <a:lumMod val="75000"/>
                  <a:lumOff val="25000"/>
                </a:srgbClr>
              </a:solidFill>
              <a:effectLst/>
              <a:uLnTx/>
              <a:uFillTx/>
              <a:latin typeface="Arial" panose="020B0604020202020204" pitchFamily="34" charset="0"/>
              <a:ea typeface="+mn-ea"/>
              <a:cs typeface="Arial" panose="020B0604020202020204" pitchFamily="34" charset="0"/>
            </a:endParaRPr>
          </a:p>
          <a:p>
            <a:pPr marL="457200" marR="0" lvl="0" indent="-174625" algn="l" defTabSz="914400" rtl="0" eaLnBrk="1" fontAlgn="auto" latinLnBrk="0" hangingPunct="1">
              <a:lnSpc>
                <a:spcPct val="110000"/>
              </a:lnSpc>
              <a:spcBef>
                <a:spcPts val="1200"/>
              </a:spcBef>
              <a:spcAft>
                <a:spcPts val="200"/>
              </a:spcAft>
              <a:buClrTx/>
              <a:buSzPct val="125000"/>
              <a:buFont typeface="Arial" panose="020B0604020202020204" pitchFamily="34" charset="0"/>
              <a:buChar char="•"/>
              <a:tabLst/>
              <a:defRPr/>
            </a:pPr>
            <a:r>
              <a:rPr kumimoji="0" lang="en-US" sz="2000" b="1" i="0" u="none" strike="noStrike" kern="1200" cap="none" spc="0" normalizeH="0" baseline="0" noProof="0" dirty="0">
                <a:ln>
                  <a:noFill/>
                </a:ln>
                <a:solidFill>
                  <a:srgbClr val="000000">
                    <a:lumMod val="75000"/>
                    <a:lumOff val="25000"/>
                  </a:srgbClr>
                </a:solidFill>
                <a:effectLst/>
                <a:uLnTx/>
                <a:uFillTx/>
                <a:latin typeface="Arial" panose="020B0604020202020204" pitchFamily="34" charset="0"/>
                <a:ea typeface="+mn-ea"/>
                <a:cs typeface="Arial" panose="020B0604020202020204" pitchFamily="34" charset="0"/>
              </a:rPr>
              <a:t>Direct Association</a:t>
            </a:r>
            <a:r>
              <a:rPr kumimoji="0" lang="en-US" sz="2000" b="0" i="0" u="none" strike="noStrike" kern="1200" cap="none" spc="0" normalizeH="0" baseline="0" noProof="0" dirty="0">
                <a:ln>
                  <a:noFill/>
                </a:ln>
                <a:solidFill>
                  <a:srgbClr val="000000">
                    <a:lumMod val="75000"/>
                    <a:lumOff val="25000"/>
                  </a:srgbClr>
                </a:solidFill>
                <a:effectLst/>
                <a:uLnTx/>
                <a:uFillTx/>
                <a:latin typeface="Arial" panose="020B0604020202020204" pitchFamily="34" charset="0"/>
                <a:ea typeface="+mn-ea"/>
                <a:cs typeface="Arial" panose="020B0604020202020204" pitchFamily="34" charset="0"/>
              </a:rPr>
              <a:t>: To what extent is food insecurity directly associated with poorer mental and physical health scores, independent of socio-economic and clinical controls?</a:t>
            </a:r>
          </a:p>
          <a:p>
            <a:pPr marL="457200" marR="0" lvl="0" indent="-174625" algn="l" defTabSz="914400" rtl="0" eaLnBrk="1" fontAlgn="auto" latinLnBrk="0" hangingPunct="1">
              <a:lnSpc>
                <a:spcPct val="110000"/>
              </a:lnSpc>
              <a:spcBef>
                <a:spcPts val="1200"/>
              </a:spcBef>
              <a:spcAft>
                <a:spcPts val="200"/>
              </a:spcAft>
              <a:buClrTx/>
              <a:buSzPct val="125000"/>
              <a:buFont typeface="Arial" panose="020B0604020202020204" pitchFamily="34" charset="0"/>
              <a:buChar char="•"/>
              <a:tabLst/>
              <a:defRPr/>
            </a:pPr>
            <a:r>
              <a:rPr kumimoji="0" lang="en-US" sz="2000" b="1" i="0" u="none" strike="noStrike" kern="1200" cap="none" spc="0" normalizeH="0" baseline="0" noProof="0" dirty="0">
                <a:ln>
                  <a:noFill/>
                </a:ln>
                <a:solidFill>
                  <a:srgbClr val="000000">
                    <a:lumMod val="75000"/>
                    <a:lumOff val="25000"/>
                  </a:srgbClr>
                </a:solidFill>
                <a:effectLst/>
                <a:uLnTx/>
                <a:uFillTx/>
                <a:latin typeface="Arial" panose="020B0604020202020204" pitchFamily="34" charset="0"/>
                <a:ea typeface="+mn-ea"/>
                <a:cs typeface="Arial" panose="020B0604020202020204" pitchFamily="34" charset="0"/>
              </a:rPr>
              <a:t>Moderation (Age): </a:t>
            </a:r>
            <a:r>
              <a:rPr kumimoji="0" lang="en-US" sz="2000" b="0" i="0" u="none" strike="noStrike" kern="1200" cap="none" spc="0" normalizeH="0" baseline="0" noProof="0" dirty="0">
                <a:ln>
                  <a:noFill/>
                </a:ln>
                <a:solidFill>
                  <a:srgbClr val="000000">
                    <a:lumMod val="75000"/>
                    <a:lumOff val="25000"/>
                  </a:srgbClr>
                </a:solidFill>
                <a:effectLst/>
                <a:uLnTx/>
                <a:uFillTx/>
                <a:latin typeface="Arial" panose="020B0604020202020204" pitchFamily="34" charset="0"/>
                <a:ea typeface="+mn-ea"/>
                <a:cs typeface="Arial" panose="020B0604020202020204" pitchFamily="34" charset="0"/>
              </a:rPr>
              <a:t>Does age (65+) moderate the relationship between food insecurity and health? (i.e., is the health "penalty" significantly different for seniors?)</a:t>
            </a:r>
          </a:p>
          <a:p>
            <a:pPr marL="457200" marR="0" lvl="0" indent="-174625" algn="l" defTabSz="914400" rtl="0" eaLnBrk="1" fontAlgn="auto" latinLnBrk="0" hangingPunct="1">
              <a:lnSpc>
                <a:spcPct val="110000"/>
              </a:lnSpc>
              <a:spcBef>
                <a:spcPts val="1200"/>
              </a:spcBef>
              <a:spcAft>
                <a:spcPts val="200"/>
              </a:spcAft>
              <a:buClrTx/>
              <a:buSzPct val="125000"/>
              <a:buFont typeface="Arial" panose="020B0604020202020204" pitchFamily="34" charset="0"/>
              <a:buChar char="•"/>
              <a:tabLst/>
              <a:defRPr/>
            </a:pPr>
            <a:r>
              <a:rPr kumimoji="0" lang="en-US" sz="2000" b="1" i="0" u="none" strike="noStrike" kern="1200" cap="none" spc="0" normalizeH="0" baseline="0" noProof="0" dirty="0">
                <a:ln>
                  <a:noFill/>
                </a:ln>
                <a:solidFill>
                  <a:srgbClr val="000000">
                    <a:lumMod val="75000"/>
                    <a:lumOff val="25000"/>
                  </a:srgbClr>
                </a:solidFill>
                <a:effectLst/>
                <a:uLnTx/>
                <a:uFillTx/>
                <a:latin typeface="Arial" panose="020B0604020202020204" pitchFamily="34" charset="0"/>
                <a:ea typeface="+mn-ea"/>
                <a:cs typeface="Arial" panose="020B0604020202020204" pitchFamily="34" charset="0"/>
              </a:rPr>
              <a:t>Direct Effect (Utilization): </a:t>
            </a:r>
            <a:r>
              <a:rPr kumimoji="0" lang="en-US" sz="2000" b="0" i="0" u="none" strike="noStrike" kern="1200" cap="none" spc="0" normalizeH="0" baseline="0" noProof="0" dirty="0">
                <a:ln>
                  <a:noFill/>
                </a:ln>
                <a:solidFill>
                  <a:srgbClr val="000000">
                    <a:lumMod val="75000"/>
                    <a:lumOff val="25000"/>
                  </a:srgbClr>
                </a:solidFill>
                <a:effectLst/>
                <a:uLnTx/>
                <a:uFillTx/>
                <a:latin typeface="Arial" panose="020B0604020202020204" pitchFamily="34" charset="0"/>
                <a:ea typeface="+mn-ea"/>
                <a:cs typeface="Arial" panose="020B0604020202020204" pitchFamily="34" charset="0"/>
              </a:rPr>
              <a:t>What is the direct effect of food insecurity on the probability/frequency of Emergency Department visits and total expenditures?</a:t>
            </a:r>
          </a:p>
          <a:p>
            <a:pPr marL="457200" marR="0" lvl="0" indent="-174625" algn="l" defTabSz="914400" rtl="0" eaLnBrk="1" fontAlgn="auto" latinLnBrk="0" hangingPunct="1">
              <a:lnSpc>
                <a:spcPct val="110000"/>
              </a:lnSpc>
              <a:spcBef>
                <a:spcPts val="1200"/>
              </a:spcBef>
              <a:spcAft>
                <a:spcPts val="200"/>
              </a:spcAft>
              <a:buClrTx/>
              <a:buSzPct val="125000"/>
              <a:buFont typeface="Arial" panose="020B0604020202020204" pitchFamily="34" charset="0"/>
              <a:buChar char="•"/>
              <a:tabLst/>
              <a:defRPr/>
            </a:pPr>
            <a:r>
              <a:rPr kumimoji="0" lang="en-US" sz="2000" b="1" i="0" u="none" strike="noStrike" kern="1200" cap="none" spc="0" normalizeH="0" baseline="0" noProof="0" dirty="0">
                <a:ln>
                  <a:noFill/>
                </a:ln>
                <a:solidFill>
                  <a:srgbClr val="000000">
                    <a:lumMod val="75000"/>
                    <a:lumOff val="25000"/>
                  </a:srgbClr>
                </a:solidFill>
                <a:effectLst/>
                <a:uLnTx/>
                <a:uFillTx/>
                <a:latin typeface="Arial" panose="020B0604020202020204" pitchFamily="34" charset="0"/>
                <a:ea typeface="+mn-ea"/>
                <a:cs typeface="Arial" panose="020B0604020202020204" pitchFamily="34" charset="0"/>
              </a:rPr>
              <a:t>Moderation (Buffer Effect): </a:t>
            </a:r>
            <a:r>
              <a:rPr kumimoji="0" lang="en-US" sz="2000" b="0" i="0" u="none" strike="noStrike" kern="1200" cap="none" spc="0" normalizeH="0" baseline="0" noProof="0" dirty="0">
                <a:ln>
                  <a:noFill/>
                </a:ln>
                <a:solidFill>
                  <a:srgbClr val="000000">
                    <a:lumMod val="75000"/>
                    <a:lumOff val="25000"/>
                  </a:srgbClr>
                </a:solidFill>
                <a:effectLst/>
                <a:uLnTx/>
                <a:uFillTx/>
                <a:latin typeface="Arial" panose="020B0604020202020204" pitchFamily="34" charset="0"/>
                <a:ea typeface="+mn-ea"/>
                <a:cs typeface="Arial" panose="020B0604020202020204" pitchFamily="34" charset="0"/>
              </a:rPr>
              <a:t>Does the difference in public health insurance systems (Medicare for seniors vs. Medicaid for younger adults) moderate the relationship between food insecurity and emergency department visits?</a:t>
            </a:r>
          </a:p>
          <a:p>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705200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chemeClr val="bg1">
            <a:alpha val="0"/>
          </a:schemeClr>
        </a:solidFill>
        <a:effectLst/>
      </p:bgPr>
    </p:bg>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7B1B0790-3FB8-9DAA-079B-0D52E339B6A4}"/>
              </a:ext>
            </a:extLst>
          </p:cNvPr>
          <p:cNvGraphicFramePr>
            <a:graphicFrameLocks noGrp="1"/>
          </p:cNvGraphicFramePr>
          <p:nvPr>
            <p:extLst>
              <p:ext uri="{D42A27DB-BD31-4B8C-83A1-F6EECF244321}">
                <p14:modId xmlns:p14="http://schemas.microsoft.com/office/powerpoint/2010/main" val="2734011203"/>
              </p:ext>
            </p:extLst>
          </p:nvPr>
        </p:nvGraphicFramePr>
        <p:xfrm>
          <a:off x="640080" y="374073"/>
          <a:ext cx="10756669" cy="5968538"/>
        </p:xfrm>
        <a:graphic>
          <a:graphicData uri="http://schemas.openxmlformats.org/drawingml/2006/table">
            <a:tbl>
              <a:tblPr firstRow="1" bandRow="1">
                <a:tableStyleId>{69012ECD-51FC-41F1-AA8D-1B2483CD663E}</a:tableStyleId>
              </a:tblPr>
              <a:tblGrid>
                <a:gridCol w="3139220">
                  <a:extLst>
                    <a:ext uri="{9D8B030D-6E8A-4147-A177-3AD203B41FA5}">
                      <a16:colId xmlns:a16="http://schemas.microsoft.com/office/drawing/2014/main" val="3968660920"/>
                    </a:ext>
                  </a:extLst>
                </a:gridCol>
                <a:gridCol w="3780625">
                  <a:extLst>
                    <a:ext uri="{9D8B030D-6E8A-4147-A177-3AD203B41FA5}">
                      <a16:colId xmlns:a16="http://schemas.microsoft.com/office/drawing/2014/main" val="3894144651"/>
                    </a:ext>
                  </a:extLst>
                </a:gridCol>
                <a:gridCol w="3836824">
                  <a:extLst>
                    <a:ext uri="{9D8B030D-6E8A-4147-A177-3AD203B41FA5}">
                      <a16:colId xmlns:a16="http://schemas.microsoft.com/office/drawing/2014/main" val="982851487"/>
                    </a:ext>
                  </a:extLst>
                </a:gridCol>
              </a:tblGrid>
              <a:tr h="424697">
                <a:tc>
                  <a:txBody>
                    <a:bodyPr/>
                    <a:lstStyle/>
                    <a:p>
                      <a:pPr algn="l">
                        <a:buNone/>
                      </a:pPr>
                      <a:r>
                        <a:rPr lang="en-US" sz="2000" b="1" dirty="0">
                          <a:effectLst/>
                          <a:latin typeface="Arial" panose="020B0604020202020204" pitchFamily="34" charset="0"/>
                          <a:cs typeface="Arial" panose="020B0604020202020204" pitchFamily="34" charset="0"/>
                        </a:rPr>
                        <a:t>Category</a:t>
                      </a:r>
                      <a:endParaRPr lang="en-US" sz="2000" b="0" dirty="0">
                        <a:effectLst/>
                        <a:latin typeface="Arial" panose="020B0604020202020204" pitchFamily="34" charset="0"/>
                        <a:cs typeface="Arial" panose="020B0604020202020204" pitchFamily="34" charset="0"/>
                      </a:endParaRPr>
                    </a:p>
                  </a:txBody>
                  <a:tcPr marL="69324" marR="69324" marT="34661" marB="34661" anchor="ctr"/>
                </a:tc>
                <a:tc>
                  <a:txBody>
                    <a:bodyPr/>
                    <a:lstStyle/>
                    <a:p>
                      <a:pPr algn="l">
                        <a:buNone/>
                      </a:pPr>
                      <a:r>
                        <a:rPr lang="en-US" sz="2000" b="1">
                          <a:effectLst/>
                          <a:latin typeface="Arial" panose="020B0604020202020204" pitchFamily="34" charset="0"/>
                          <a:cs typeface="Arial" panose="020B0604020202020204" pitchFamily="34" charset="0"/>
                        </a:rPr>
                        <a:t>Variable(s)</a:t>
                      </a:r>
                      <a:endParaRPr lang="en-US" sz="2000" b="0">
                        <a:effectLst/>
                        <a:latin typeface="Arial" panose="020B0604020202020204" pitchFamily="34" charset="0"/>
                        <a:cs typeface="Arial" panose="020B0604020202020204" pitchFamily="34" charset="0"/>
                      </a:endParaRPr>
                    </a:p>
                  </a:txBody>
                  <a:tcPr marL="69324" marR="69324" marT="34661" marB="34661" anchor="ctr"/>
                </a:tc>
                <a:tc>
                  <a:txBody>
                    <a:bodyPr/>
                    <a:lstStyle/>
                    <a:p>
                      <a:pPr algn="l">
                        <a:buNone/>
                      </a:pPr>
                      <a:r>
                        <a:rPr lang="en-US" sz="2000" b="1">
                          <a:effectLst/>
                          <a:latin typeface="Arial" panose="020B0604020202020204" pitchFamily="34" charset="0"/>
                          <a:cs typeface="Arial" panose="020B0604020202020204" pitchFamily="34" charset="0"/>
                        </a:rPr>
                        <a:t>Description</a:t>
                      </a:r>
                      <a:endParaRPr lang="en-US" sz="2000" b="0">
                        <a:effectLst/>
                        <a:latin typeface="Arial" panose="020B0604020202020204" pitchFamily="34" charset="0"/>
                        <a:cs typeface="Arial" panose="020B0604020202020204" pitchFamily="34" charset="0"/>
                      </a:endParaRPr>
                    </a:p>
                  </a:txBody>
                  <a:tcPr marL="69324" marR="69324" marT="34661" marB="34661" anchor="ctr"/>
                </a:tc>
                <a:extLst>
                  <a:ext uri="{0D108BD9-81ED-4DB2-BD59-A6C34878D82A}">
                    <a16:rowId xmlns:a16="http://schemas.microsoft.com/office/drawing/2014/main" val="2688857258"/>
                  </a:ext>
                </a:extLst>
              </a:tr>
              <a:tr h="710359">
                <a:tc>
                  <a:txBody>
                    <a:bodyPr/>
                    <a:lstStyle/>
                    <a:p>
                      <a:pPr>
                        <a:buNone/>
                      </a:pPr>
                      <a:r>
                        <a:rPr lang="en-US" sz="2000" b="1" dirty="0">
                          <a:effectLst/>
                          <a:latin typeface="Arial" panose="020B0604020202020204" pitchFamily="34" charset="0"/>
                          <a:cs typeface="Arial" panose="020B0604020202020204" pitchFamily="34" charset="0"/>
                        </a:rPr>
                        <a:t>Dependent</a:t>
                      </a:r>
                      <a:endParaRPr lang="en-US" sz="2000" dirty="0">
                        <a:effectLst/>
                        <a:latin typeface="Arial" panose="020B0604020202020204" pitchFamily="34" charset="0"/>
                        <a:cs typeface="Arial" panose="020B0604020202020204" pitchFamily="34" charset="0"/>
                      </a:endParaRPr>
                    </a:p>
                  </a:txBody>
                  <a:tcPr marL="69324" marR="69324" marT="34661" marB="34661" anchor="ctr"/>
                </a:tc>
                <a:tc>
                  <a:txBody>
                    <a:bodyPr/>
                    <a:lstStyle/>
                    <a:p>
                      <a:pPr>
                        <a:buNone/>
                      </a:pPr>
                      <a:r>
                        <a:rPr lang="en-US" sz="2000" dirty="0">
                          <a:solidFill>
                            <a:schemeClr val="tx1"/>
                          </a:solidFill>
                          <a:effectLst/>
                          <a:latin typeface="Arial" panose="020B0604020202020204" pitchFamily="34" charset="0"/>
                          <a:cs typeface="Arial" panose="020B0604020202020204" pitchFamily="34" charset="0"/>
                        </a:rPr>
                        <a:t>VPCS42 / VMCS42</a:t>
                      </a:r>
                    </a:p>
                  </a:txBody>
                  <a:tcPr marL="69324" marR="69324" marT="34661" marB="34661" anchor="ctr"/>
                </a:tc>
                <a:tc>
                  <a:txBody>
                    <a:bodyPr/>
                    <a:lstStyle/>
                    <a:p>
                      <a:pPr>
                        <a:buNone/>
                      </a:pPr>
                      <a:r>
                        <a:rPr lang="en-US" sz="2000">
                          <a:effectLst/>
                          <a:latin typeface="Arial" panose="020B0604020202020204" pitchFamily="34" charset="0"/>
                          <a:cs typeface="Arial" panose="020B0604020202020204" pitchFamily="34" charset="0"/>
                        </a:rPr>
                        <a:t>Physical and Mental Health Component Summary scores.</a:t>
                      </a:r>
                    </a:p>
                  </a:txBody>
                  <a:tcPr marL="69324" marR="69324" marT="34661" marB="34661" anchor="ctr"/>
                </a:tc>
                <a:extLst>
                  <a:ext uri="{0D108BD9-81ED-4DB2-BD59-A6C34878D82A}">
                    <a16:rowId xmlns:a16="http://schemas.microsoft.com/office/drawing/2014/main" val="1600629662"/>
                  </a:ext>
                </a:extLst>
              </a:tr>
              <a:tr h="710359">
                <a:tc>
                  <a:txBody>
                    <a:bodyPr/>
                    <a:lstStyle/>
                    <a:p>
                      <a:pPr>
                        <a:buNone/>
                      </a:pPr>
                      <a:endParaRPr lang="en-US" sz="2000">
                        <a:effectLst/>
                        <a:latin typeface="Arial" panose="020B0604020202020204" pitchFamily="34" charset="0"/>
                        <a:cs typeface="Arial" panose="020B0604020202020204" pitchFamily="34" charset="0"/>
                      </a:endParaRPr>
                    </a:p>
                  </a:txBody>
                  <a:tcPr marL="69324" marR="69324" marT="34661" marB="34661" anchor="ctr"/>
                </a:tc>
                <a:tc>
                  <a:txBody>
                    <a:bodyPr/>
                    <a:lstStyle/>
                    <a:p>
                      <a:pPr>
                        <a:buNone/>
                      </a:pPr>
                      <a:r>
                        <a:rPr lang="en-US" sz="2000" dirty="0">
                          <a:solidFill>
                            <a:schemeClr val="tx1"/>
                          </a:solidFill>
                          <a:effectLst/>
                          <a:latin typeface="Arial" panose="020B0604020202020204" pitchFamily="34" charset="0"/>
                          <a:cs typeface="Arial" panose="020B0604020202020204" pitchFamily="34" charset="0"/>
                        </a:rPr>
                        <a:t>ERTOT21 / TOTEXP21</a:t>
                      </a:r>
                    </a:p>
                  </a:txBody>
                  <a:tcPr marL="69324" marR="69324" marT="34661" marB="34661" anchor="ctr"/>
                </a:tc>
                <a:tc>
                  <a:txBody>
                    <a:bodyPr/>
                    <a:lstStyle/>
                    <a:p>
                      <a:pPr>
                        <a:buNone/>
                      </a:pPr>
                      <a:r>
                        <a:rPr lang="en-US" sz="2000">
                          <a:effectLst/>
                          <a:latin typeface="Arial" panose="020B0604020202020204" pitchFamily="34" charset="0"/>
                          <a:cs typeface="Arial" panose="020B0604020202020204" pitchFamily="34" charset="0"/>
                        </a:rPr>
                        <a:t>Total ED visits and healthcare expenditures.</a:t>
                      </a:r>
                    </a:p>
                  </a:txBody>
                  <a:tcPr marL="69324" marR="69324" marT="34661" marB="34661" anchor="ctr"/>
                </a:tc>
                <a:extLst>
                  <a:ext uri="{0D108BD9-81ED-4DB2-BD59-A6C34878D82A}">
                    <a16:rowId xmlns:a16="http://schemas.microsoft.com/office/drawing/2014/main" val="2776591292"/>
                  </a:ext>
                </a:extLst>
              </a:tr>
              <a:tr h="710359">
                <a:tc>
                  <a:txBody>
                    <a:bodyPr/>
                    <a:lstStyle/>
                    <a:p>
                      <a:pPr>
                        <a:buNone/>
                      </a:pPr>
                      <a:r>
                        <a:rPr lang="en-US" sz="2000" b="1">
                          <a:effectLst/>
                          <a:latin typeface="Arial" panose="020B0604020202020204" pitchFamily="34" charset="0"/>
                          <a:cs typeface="Arial" panose="020B0604020202020204" pitchFamily="34" charset="0"/>
                        </a:rPr>
                        <a:t>Main Predictors</a:t>
                      </a:r>
                      <a:endParaRPr lang="en-US" sz="2000">
                        <a:effectLst/>
                        <a:latin typeface="Arial" panose="020B0604020202020204" pitchFamily="34" charset="0"/>
                        <a:cs typeface="Arial" panose="020B0604020202020204" pitchFamily="34" charset="0"/>
                      </a:endParaRPr>
                    </a:p>
                  </a:txBody>
                  <a:tcPr marL="69324" marR="69324" marT="34661" marB="34661" anchor="ctr"/>
                </a:tc>
                <a:tc>
                  <a:txBody>
                    <a:bodyPr/>
                    <a:lstStyle/>
                    <a:p>
                      <a:pPr>
                        <a:buNone/>
                      </a:pPr>
                      <a:r>
                        <a:rPr lang="en-US" sz="2000" dirty="0" err="1">
                          <a:solidFill>
                            <a:schemeClr val="tx1"/>
                          </a:solidFill>
                          <a:effectLst/>
                          <a:latin typeface="Arial" panose="020B0604020202020204" pitchFamily="34" charset="0"/>
                          <a:cs typeface="Arial" panose="020B0604020202020204" pitchFamily="34" charset="0"/>
                        </a:rPr>
                        <a:t>food_insecure</a:t>
                      </a:r>
                      <a:endParaRPr lang="en-US" sz="2000" dirty="0">
                        <a:solidFill>
                          <a:schemeClr val="tx1"/>
                        </a:solidFill>
                        <a:effectLst/>
                        <a:latin typeface="Arial" panose="020B0604020202020204" pitchFamily="34" charset="0"/>
                        <a:cs typeface="Arial" panose="020B0604020202020204" pitchFamily="34" charset="0"/>
                      </a:endParaRPr>
                    </a:p>
                  </a:txBody>
                  <a:tcPr marL="69324" marR="69324" marT="34661" marB="34661" anchor="ctr"/>
                </a:tc>
                <a:tc>
                  <a:txBody>
                    <a:bodyPr/>
                    <a:lstStyle/>
                    <a:p>
                      <a:pPr>
                        <a:buNone/>
                      </a:pPr>
                      <a:r>
                        <a:rPr lang="en-US" sz="2000">
                          <a:effectLst/>
                          <a:latin typeface="Arial" panose="020B0604020202020204" pitchFamily="34" charset="0"/>
                          <a:cs typeface="Arial" panose="020B0604020202020204" pitchFamily="34" charset="0"/>
                        </a:rPr>
                        <a:t>Binary indicator (combined Worry / No food available).</a:t>
                      </a:r>
                    </a:p>
                  </a:txBody>
                  <a:tcPr marL="69324" marR="69324" marT="34661" marB="34661" anchor="ctr"/>
                </a:tc>
                <a:extLst>
                  <a:ext uri="{0D108BD9-81ED-4DB2-BD59-A6C34878D82A}">
                    <a16:rowId xmlns:a16="http://schemas.microsoft.com/office/drawing/2014/main" val="2460100010"/>
                  </a:ext>
                </a:extLst>
              </a:tr>
              <a:tr h="710359">
                <a:tc>
                  <a:txBody>
                    <a:bodyPr/>
                    <a:lstStyle/>
                    <a:p>
                      <a:pPr>
                        <a:buNone/>
                      </a:pPr>
                      <a:endParaRPr lang="en-US" sz="2000">
                        <a:effectLst/>
                        <a:latin typeface="Arial" panose="020B0604020202020204" pitchFamily="34" charset="0"/>
                        <a:cs typeface="Arial" panose="020B0604020202020204" pitchFamily="34" charset="0"/>
                      </a:endParaRPr>
                    </a:p>
                  </a:txBody>
                  <a:tcPr marL="69324" marR="69324" marT="34661" marB="34661" anchor="ctr"/>
                </a:tc>
                <a:tc>
                  <a:txBody>
                    <a:bodyPr/>
                    <a:lstStyle/>
                    <a:p>
                      <a:pPr>
                        <a:buNone/>
                      </a:pPr>
                      <a:r>
                        <a:rPr lang="en-US" sz="2000" dirty="0" err="1">
                          <a:solidFill>
                            <a:schemeClr val="tx1"/>
                          </a:solidFill>
                          <a:effectLst/>
                          <a:latin typeface="Arial" panose="020B0604020202020204" pitchFamily="34" charset="0"/>
                          <a:cs typeface="Arial" panose="020B0604020202020204" pitchFamily="34" charset="0"/>
                        </a:rPr>
                        <a:t>older_adult</a:t>
                      </a:r>
                      <a:endParaRPr lang="en-US" sz="2000" dirty="0">
                        <a:solidFill>
                          <a:schemeClr val="tx1"/>
                        </a:solidFill>
                        <a:effectLst/>
                        <a:latin typeface="Arial" panose="020B0604020202020204" pitchFamily="34" charset="0"/>
                        <a:cs typeface="Arial" panose="020B0604020202020204" pitchFamily="34" charset="0"/>
                      </a:endParaRPr>
                    </a:p>
                  </a:txBody>
                  <a:tcPr marL="69324" marR="69324" marT="34661" marB="34661" anchor="ctr"/>
                </a:tc>
                <a:tc>
                  <a:txBody>
                    <a:bodyPr/>
                    <a:lstStyle/>
                    <a:p>
                      <a:pPr>
                        <a:buNone/>
                      </a:pPr>
                      <a:r>
                        <a:rPr lang="en-US" sz="2000">
                          <a:effectLst/>
                          <a:latin typeface="Arial" panose="020B0604020202020204" pitchFamily="34" charset="0"/>
                          <a:cs typeface="Arial" panose="020B0604020202020204" pitchFamily="34" charset="0"/>
                        </a:rPr>
                        <a:t>Recoded indicator for individuals aged 65+.</a:t>
                      </a:r>
                    </a:p>
                  </a:txBody>
                  <a:tcPr marL="69324" marR="69324" marT="34661" marB="34661" anchor="ctr"/>
                </a:tc>
                <a:extLst>
                  <a:ext uri="{0D108BD9-81ED-4DB2-BD59-A6C34878D82A}">
                    <a16:rowId xmlns:a16="http://schemas.microsoft.com/office/drawing/2014/main" val="3463008435"/>
                  </a:ext>
                </a:extLst>
              </a:tr>
              <a:tr h="996023">
                <a:tc>
                  <a:txBody>
                    <a:bodyPr/>
                    <a:lstStyle/>
                    <a:p>
                      <a:pPr>
                        <a:buNone/>
                      </a:pPr>
                      <a:r>
                        <a:rPr lang="en-US" sz="2000" b="1">
                          <a:effectLst/>
                          <a:latin typeface="Arial" panose="020B0604020202020204" pitchFamily="34" charset="0"/>
                          <a:cs typeface="Arial" panose="020B0604020202020204" pitchFamily="34" charset="0"/>
                        </a:rPr>
                        <a:t>Controls</a:t>
                      </a:r>
                      <a:endParaRPr lang="en-US" sz="2000">
                        <a:effectLst/>
                        <a:latin typeface="Arial" panose="020B0604020202020204" pitchFamily="34" charset="0"/>
                        <a:cs typeface="Arial" panose="020B0604020202020204" pitchFamily="34" charset="0"/>
                      </a:endParaRPr>
                    </a:p>
                  </a:txBody>
                  <a:tcPr marL="69324" marR="69324" marT="34661" marB="34661" anchor="ctr"/>
                </a:tc>
                <a:tc>
                  <a:txBody>
                    <a:bodyPr/>
                    <a:lstStyle/>
                    <a:p>
                      <a:pPr>
                        <a:buNone/>
                      </a:pPr>
                      <a:r>
                        <a:rPr lang="en-US" sz="2000" dirty="0" err="1">
                          <a:solidFill>
                            <a:schemeClr val="tx1"/>
                          </a:solidFill>
                          <a:effectLst/>
                          <a:latin typeface="Arial" panose="020B0604020202020204" pitchFamily="34" charset="0"/>
                          <a:cs typeface="Arial" panose="020B0604020202020204" pitchFamily="34" charset="0"/>
                        </a:rPr>
                        <a:t>any_chronic_cond</a:t>
                      </a:r>
                      <a:endParaRPr lang="en-US" sz="2000" dirty="0">
                        <a:solidFill>
                          <a:schemeClr val="tx1"/>
                        </a:solidFill>
                        <a:effectLst/>
                        <a:latin typeface="Arial" panose="020B0604020202020204" pitchFamily="34" charset="0"/>
                        <a:cs typeface="Arial" panose="020B0604020202020204" pitchFamily="34" charset="0"/>
                      </a:endParaRPr>
                    </a:p>
                  </a:txBody>
                  <a:tcPr marL="69324" marR="69324" marT="34661" marB="34661" anchor="ctr"/>
                </a:tc>
                <a:tc>
                  <a:txBody>
                    <a:bodyPr/>
                    <a:lstStyle/>
                    <a:p>
                      <a:pPr>
                        <a:buNone/>
                      </a:pPr>
                      <a:r>
                        <a:rPr lang="en-US" sz="2000">
                          <a:effectLst/>
                          <a:latin typeface="Arial" panose="020B0604020202020204" pitchFamily="34" charset="0"/>
                          <a:cs typeface="Arial" panose="020B0604020202020204" pitchFamily="34" charset="0"/>
                        </a:rPr>
                        <a:t>Aggregated indicator of 8 major conditions (Diabetes, Stroke, etc.).</a:t>
                      </a:r>
                    </a:p>
                  </a:txBody>
                  <a:tcPr marL="69324" marR="69324" marT="34661" marB="34661" anchor="ctr"/>
                </a:tc>
                <a:extLst>
                  <a:ext uri="{0D108BD9-81ED-4DB2-BD59-A6C34878D82A}">
                    <a16:rowId xmlns:a16="http://schemas.microsoft.com/office/drawing/2014/main" val="441610737"/>
                  </a:ext>
                </a:extLst>
              </a:tr>
              <a:tr h="710359">
                <a:tc>
                  <a:txBody>
                    <a:bodyPr/>
                    <a:lstStyle/>
                    <a:p>
                      <a:pPr>
                        <a:buNone/>
                      </a:pPr>
                      <a:endParaRPr lang="en-US" sz="2000">
                        <a:effectLst/>
                        <a:latin typeface="Arial" panose="020B0604020202020204" pitchFamily="34" charset="0"/>
                        <a:cs typeface="Arial" panose="020B0604020202020204" pitchFamily="34" charset="0"/>
                      </a:endParaRPr>
                    </a:p>
                  </a:txBody>
                  <a:tcPr marL="69324" marR="69324" marT="34661" marB="34661" anchor="ctr"/>
                </a:tc>
                <a:tc>
                  <a:txBody>
                    <a:bodyPr/>
                    <a:lstStyle/>
                    <a:p>
                      <a:pPr>
                        <a:buNone/>
                      </a:pPr>
                      <a:r>
                        <a:rPr lang="en-US" sz="2000" dirty="0" err="1">
                          <a:solidFill>
                            <a:schemeClr val="tx1"/>
                          </a:solidFill>
                          <a:effectLst/>
                          <a:latin typeface="Arial" panose="020B0604020202020204" pitchFamily="34" charset="0"/>
                          <a:cs typeface="Arial" panose="020B0604020202020204" pitchFamily="34" charset="0"/>
                        </a:rPr>
                        <a:t>poverty_cont</a:t>
                      </a:r>
                      <a:endParaRPr lang="en-US" sz="2000" dirty="0">
                        <a:solidFill>
                          <a:schemeClr val="tx1"/>
                        </a:solidFill>
                        <a:effectLst/>
                        <a:latin typeface="Arial" panose="020B0604020202020204" pitchFamily="34" charset="0"/>
                        <a:cs typeface="Arial" panose="020B0604020202020204" pitchFamily="34" charset="0"/>
                      </a:endParaRPr>
                    </a:p>
                  </a:txBody>
                  <a:tcPr marL="69324" marR="69324" marT="34661" marB="34661" anchor="ctr"/>
                </a:tc>
                <a:tc>
                  <a:txBody>
                    <a:bodyPr/>
                    <a:lstStyle/>
                    <a:p>
                      <a:pPr>
                        <a:buNone/>
                      </a:pPr>
                      <a:r>
                        <a:rPr lang="en-US" sz="2000" dirty="0">
                          <a:effectLst/>
                          <a:latin typeface="Arial" panose="020B0604020202020204" pitchFamily="34" charset="0"/>
                          <a:cs typeface="Arial" panose="020B0604020202020204" pitchFamily="34" charset="0"/>
                        </a:rPr>
                        <a:t>Continuous poverty level (percentage).</a:t>
                      </a:r>
                    </a:p>
                  </a:txBody>
                  <a:tcPr marL="69324" marR="69324" marT="34661" marB="34661" anchor="ctr"/>
                </a:tc>
                <a:extLst>
                  <a:ext uri="{0D108BD9-81ED-4DB2-BD59-A6C34878D82A}">
                    <a16:rowId xmlns:a16="http://schemas.microsoft.com/office/drawing/2014/main" val="691169107"/>
                  </a:ext>
                </a:extLst>
              </a:tr>
              <a:tr h="996023">
                <a:tc>
                  <a:txBody>
                    <a:bodyPr/>
                    <a:lstStyle/>
                    <a:p>
                      <a:pPr>
                        <a:buNone/>
                      </a:pPr>
                      <a:endParaRPr lang="en-US" sz="2000">
                        <a:effectLst/>
                        <a:latin typeface="Arial" panose="020B0604020202020204" pitchFamily="34" charset="0"/>
                        <a:cs typeface="Arial" panose="020B0604020202020204" pitchFamily="34" charset="0"/>
                      </a:endParaRPr>
                    </a:p>
                  </a:txBody>
                  <a:tcPr marL="69324" marR="69324" marT="34661" marB="34661" anchor="ctr"/>
                </a:tc>
                <a:tc>
                  <a:txBody>
                    <a:bodyPr/>
                    <a:lstStyle/>
                    <a:p>
                      <a:pPr>
                        <a:buNone/>
                      </a:pPr>
                      <a:r>
                        <a:rPr lang="en-US" sz="2000" dirty="0" err="1">
                          <a:solidFill>
                            <a:schemeClr val="tx1"/>
                          </a:solidFill>
                          <a:effectLst/>
                          <a:latin typeface="Arial" panose="020B0604020202020204" pitchFamily="34" charset="0"/>
                          <a:cs typeface="Arial" panose="020B0604020202020204" pitchFamily="34" charset="0"/>
                        </a:rPr>
                        <a:t>insurance_type</a:t>
                      </a:r>
                      <a:endParaRPr lang="en-US" sz="2000" dirty="0">
                        <a:solidFill>
                          <a:schemeClr val="tx1"/>
                        </a:solidFill>
                        <a:effectLst/>
                        <a:latin typeface="Arial" panose="020B0604020202020204" pitchFamily="34" charset="0"/>
                        <a:cs typeface="Arial" panose="020B0604020202020204" pitchFamily="34" charset="0"/>
                      </a:endParaRPr>
                    </a:p>
                  </a:txBody>
                  <a:tcPr marL="69324" marR="69324" marT="34661" marB="34661" anchor="ctr"/>
                </a:tc>
                <a:tc>
                  <a:txBody>
                    <a:bodyPr/>
                    <a:lstStyle/>
                    <a:p>
                      <a:pPr>
                        <a:buNone/>
                      </a:pPr>
                      <a:r>
                        <a:rPr lang="en-US" sz="2000" dirty="0">
                          <a:effectLst/>
                          <a:latin typeface="Arial" panose="020B0604020202020204" pitchFamily="34" charset="0"/>
                          <a:cs typeface="Arial" panose="020B0604020202020204" pitchFamily="34" charset="0"/>
                        </a:rPr>
                        <a:t>Refined: </a:t>
                      </a:r>
                      <a:r>
                        <a:rPr lang="en-US" sz="2000" b="0" dirty="0">
                          <a:effectLst/>
                          <a:latin typeface="Arial" panose="020B0604020202020204" pitchFamily="34" charset="0"/>
                          <a:cs typeface="Arial" panose="020B0604020202020204" pitchFamily="34" charset="0"/>
                        </a:rPr>
                        <a:t>Private, Medicare (65+), Medicaid (&lt;65), Uninsured.</a:t>
                      </a:r>
                    </a:p>
                  </a:txBody>
                  <a:tcPr marL="69324" marR="69324" marT="34661" marB="34661" anchor="ctr"/>
                </a:tc>
                <a:extLst>
                  <a:ext uri="{0D108BD9-81ED-4DB2-BD59-A6C34878D82A}">
                    <a16:rowId xmlns:a16="http://schemas.microsoft.com/office/drawing/2014/main" val="1293952546"/>
                  </a:ext>
                </a:extLst>
              </a:tr>
            </a:tbl>
          </a:graphicData>
        </a:graphic>
      </p:graphicFrame>
    </p:spTree>
    <p:extLst>
      <p:ext uri="{BB962C8B-B14F-4D97-AF65-F5344CB8AC3E}">
        <p14:creationId xmlns:p14="http://schemas.microsoft.com/office/powerpoint/2010/main" val="28243147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BC8E9AD-D779-0EDB-46A4-9714B28647D0}"/>
              </a:ext>
            </a:extLst>
          </p:cNvPr>
          <p:cNvSpPr>
            <a:spLocks noGrp="1"/>
          </p:cNvSpPr>
          <p:nvPr>
            <p:ph type="title"/>
          </p:nvPr>
        </p:nvSpPr>
        <p:spPr>
          <a:xfrm>
            <a:off x="146222" y="134465"/>
            <a:ext cx="10515600" cy="639891"/>
          </a:xfrm>
        </p:spPr>
        <p:txBody>
          <a:bodyPr/>
          <a:lstStyle/>
          <a:p>
            <a:r>
              <a:rPr kumimoji="0" lang="en-US" sz="3600" b="0" i="0" u="none" strike="noStrike" kern="1200" cap="none" spc="-50" normalizeH="0" baseline="0" noProof="0" dirty="0">
                <a:ln>
                  <a:noFill/>
                </a:ln>
                <a:solidFill>
                  <a:srgbClr val="000000">
                    <a:lumMod val="75000"/>
                    <a:lumOff val="25000"/>
                  </a:srgbClr>
                </a:solidFill>
                <a:effectLst/>
                <a:uLnTx/>
                <a:uFillTx/>
                <a:latin typeface="Arial" panose="020B0604020202020204" pitchFamily="34" charset="0"/>
                <a:ea typeface="+mj-ea"/>
                <a:cs typeface="Arial" panose="020B0604020202020204" pitchFamily="34" charset="0"/>
              </a:rPr>
              <a:t>Results</a:t>
            </a:r>
            <a:endParaRPr lang="en-US" dirty="0"/>
          </a:p>
        </p:txBody>
      </p:sp>
      <p:sp>
        <p:nvSpPr>
          <p:cNvPr id="5" name="Content Placeholder 4">
            <a:extLst>
              <a:ext uri="{FF2B5EF4-FFF2-40B4-BE49-F238E27FC236}">
                <a16:creationId xmlns:a16="http://schemas.microsoft.com/office/drawing/2014/main" id="{764B2A66-9307-AF5B-1E59-91B1FCEBF8DF}"/>
              </a:ext>
            </a:extLst>
          </p:cNvPr>
          <p:cNvSpPr>
            <a:spLocks noGrp="1"/>
          </p:cNvSpPr>
          <p:nvPr>
            <p:ph idx="1"/>
          </p:nvPr>
        </p:nvSpPr>
        <p:spPr>
          <a:xfrm>
            <a:off x="302741" y="774356"/>
            <a:ext cx="10515600" cy="4351338"/>
          </a:xfrm>
        </p:spPr>
        <p:txBody>
          <a:bodyPr>
            <a:normAutofit/>
          </a:bodyPr>
          <a:lstStyle/>
          <a:p>
            <a:r>
              <a:rPr lang="en-US" sz="2000" dirty="0">
                <a:latin typeface="Arial" panose="020B0604020202020204" pitchFamily="34" charset="0"/>
                <a:cs typeface="Arial" panose="020B0604020202020204" pitchFamily="34" charset="0"/>
              </a:rPr>
              <a:t>While younger adults lose 2.5 points due to food insecurity, seniors lose 4.8 points. Food-insecure seniors have the lowest physical health in the study (41.6).</a:t>
            </a:r>
          </a:p>
          <a:p>
            <a:r>
              <a:rPr lang="en-US" sz="2000" dirty="0">
                <a:latin typeface="Arial" panose="020B0604020202020204" pitchFamily="34" charset="0"/>
                <a:cs typeface="Arial" panose="020B0604020202020204" pitchFamily="34" charset="0"/>
              </a:rPr>
              <a:t>Older adults who are food secure report the best mental health in the study (54.4). However, food insecurity wipes out this "senior advantage" entirely, dropping them to 48.1, lower than food-secure younger adults.</a:t>
            </a:r>
          </a:p>
          <a:p>
            <a:r>
              <a:rPr lang="en-US" sz="2000" dirty="0">
                <a:latin typeface="Arial" panose="020B0604020202020204" pitchFamily="34" charset="0"/>
                <a:cs typeface="Arial" panose="020B0604020202020204" pitchFamily="34" charset="0"/>
              </a:rPr>
              <a:t>Health declines are less likely to result in an Emergency Department visit among seniors with Medicare than among younger adults without access to a safety net.</a:t>
            </a:r>
          </a:p>
        </p:txBody>
      </p:sp>
    </p:spTree>
    <p:extLst>
      <p:ext uri="{BB962C8B-B14F-4D97-AF65-F5344CB8AC3E}">
        <p14:creationId xmlns:p14="http://schemas.microsoft.com/office/powerpoint/2010/main" val="16396684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2E06F8C7-12C5-9666-559D-12D3813DD19C}"/>
              </a:ext>
            </a:extLst>
          </p:cNvPr>
          <p:cNvGraphicFramePr>
            <a:graphicFrameLocks noGrp="1"/>
          </p:cNvGraphicFramePr>
          <p:nvPr>
            <p:extLst>
              <p:ext uri="{D42A27DB-BD31-4B8C-83A1-F6EECF244321}">
                <p14:modId xmlns:p14="http://schemas.microsoft.com/office/powerpoint/2010/main" val="3924662709"/>
              </p:ext>
            </p:extLst>
          </p:nvPr>
        </p:nvGraphicFramePr>
        <p:xfrm>
          <a:off x="643467" y="1049527"/>
          <a:ext cx="10905068" cy="4758947"/>
        </p:xfrm>
        <a:graphic>
          <a:graphicData uri="http://schemas.openxmlformats.org/drawingml/2006/table">
            <a:tbl>
              <a:tblPr firstRow="1" bandRow="1">
                <a:noFill/>
              </a:tblPr>
              <a:tblGrid>
                <a:gridCol w="3070208">
                  <a:extLst>
                    <a:ext uri="{9D8B030D-6E8A-4147-A177-3AD203B41FA5}">
                      <a16:colId xmlns:a16="http://schemas.microsoft.com/office/drawing/2014/main" val="160101775"/>
                    </a:ext>
                  </a:extLst>
                </a:gridCol>
                <a:gridCol w="3291444">
                  <a:extLst>
                    <a:ext uri="{9D8B030D-6E8A-4147-A177-3AD203B41FA5}">
                      <a16:colId xmlns:a16="http://schemas.microsoft.com/office/drawing/2014/main" val="1526804937"/>
                    </a:ext>
                  </a:extLst>
                </a:gridCol>
                <a:gridCol w="4543416">
                  <a:extLst>
                    <a:ext uri="{9D8B030D-6E8A-4147-A177-3AD203B41FA5}">
                      <a16:colId xmlns:a16="http://schemas.microsoft.com/office/drawing/2014/main" val="411578101"/>
                    </a:ext>
                  </a:extLst>
                </a:gridCol>
              </a:tblGrid>
              <a:tr h="712601">
                <a:tc>
                  <a:txBody>
                    <a:bodyPr/>
                    <a:lstStyle/>
                    <a:p>
                      <a:pPr algn="l">
                        <a:buNone/>
                      </a:pPr>
                      <a:r>
                        <a:rPr lang="en-US" sz="2000" b="0" cap="none" spc="60" dirty="0">
                          <a:solidFill>
                            <a:schemeClr val="bg1"/>
                          </a:solidFill>
                          <a:effectLst/>
                          <a:latin typeface="Arial" panose="020B0604020202020204" pitchFamily="34" charset="0"/>
                          <a:cs typeface="Arial" panose="020B0604020202020204" pitchFamily="34" charset="0"/>
                        </a:rPr>
                        <a:t>Group</a:t>
                      </a:r>
                    </a:p>
                  </a:txBody>
                  <a:tcPr marL="231136" marR="231136" marT="146811" marB="115569" anchor="ctr">
                    <a:lnL w="12700" cmpd="sng">
                      <a:noFill/>
                    </a:lnL>
                    <a:lnR w="12700" cmpd="sng">
                      <a:noFill/>
                    </a:lnR>
                    <a:lnT w="19050" cap="flat" cmpd="sng" algn="ctr">
                      <a:noFill/>
                      <a:prstDash val="solid"/>
                    </a:lnT>
                    <a:lnB w="38100" cmpd="sng">
                      <a:noFill/>
                    </a:lnB>
                    <a:solidFill>
                      <a:schemeClr val="accent1"/>
                    </a:solidFill>
                  </a:tcPr>
                </a:tc>
                <a:tc>
                  <a:txBody>
                    <a:bodyPr/>
                    <a:lstStyle/>
                    <a:p>
                      <a:pPr algn="l">
                        <a:buNone/>
                      </a:pPr>
                      <a:r>
                        <a:rPr lang="en-US" sz="2000" b="0" cap="none" spc="60">
                          <a:solidFill>
                            <a:schemeClr val="bg1"/>
                          </a:solidFill>
                          <a:effectLst/>
                          <a:latin typeface="Arial" panose="020B0604020202020204" pitchFamily="34" charset="0"/>
                          <a:cs typeface="Arial" panose="020B0604020202020204" pitchFamily="34" charset="0"/>
                        </a:rPr>
                        <a:t>Odds Ratio (OR)</a:t>
                      </a:r>
                    </a:p>
                  </a:txBody>
                  <a:tcPr marL="231136" marR="231136" marT="146811" marB="115569" anchor="ctr">
                    <a:lnL w="12700" cmpd="sng">
                      <a:noFill/>
                    </a:lnL>
                    <a:lnR w="12700" cmpd="sng">
                      <a:noFill/>
                    </a:lnR>
                    <a:lnT w="19050" cap="flat" cmpd="sng" algn="ctr">
                      <a:noFill/>
                      <a:prstDash val="solid"/>
                    </a:lnT>
                    <a:lnB w="38100" cmpd="sng">
                      <a:noFill/>
                    </a:lnB>
                    <a:solidFill>
                      <a:schemeClr val="accent1"/>
                    </a:solidFill>
                  </a:tcPr>
                </a:tc>
                <a:tc>
                  <a:txBody>
                    <a:bodyPr/>
                    <a:lstStyle/>
                    <a:p>
                      <a:pPr algn="l">
                        <a:buNone/>
                      </a:pPr>
                      <a:r>
                        <a:rPr lang="en-US" sz="2000" b="0" cap="none" spc="60">
                          <a:solidFill>
                            <a:schemeClr val="bg1"/>
                          </a:solidFill>
                          <a:effectLst/>
                          <a:latin typeface="Arial" panose="020B0604020202020204" pitchFamily="34" charset="0"/>
                          <a:cs typeface="Arial" panose="020B0604020202020204" pitchFamily="34" charset="0"/>
                        </a:rPr>
                        <a:t>Explanation of Effect Size</a:t>
                      </a:r>
                    </a:p>
                  </a:txBody>
                  <a:tcPr marL="231136" marR="231136" marT="146811" marB="115569" anchor="ctr">
                    <a:lnL w="12700" cmpd="sng">
                      <a:noFill/>
                    </a:lnL>
                    <a:lnR w="12700" cmpd="sng">
                      <a:noFill/>
                    </a:lnR>
                    <a:lnT w="19050" cap="flat" cmpd="sng" algn="ctr">
                      <a:noFill/>
                      <a:prstDash val="solid"/>
                    </a:lnT>
                    <a:lnB w="38100" cmpd="sng">
                      <a:noFill/>
                    </a:lnB>
                    <a:solidFill>
                      <a:schemeClr val="accent1"/>
                    </a:solidFill>
                  </a:tcPr>
                </a:tc>
                <a:extLst>
                  <a:ext uri="{0D108BD9-81ED-4DB2-BD59-A6C34878D82A}">
                    <a16:rowId xmlns:a16="http://schemas.microsoft.com/office/drawing/2014/main" val="1792054482"/>
                  </a:ext>
                </a:extLst>
              </a:tr>
              <a:tr h="1348782">
                <a:tc>
                  <a:txBody>
                    <a:bodyPr/>
                    <a:lstStyle/>
                    <a:p>
                      <a:pPr>
                        <a:buNone/>
                      </a:pPr>
                      <a:r>
                        <a:rPr lang="en-US" sz="2000" b="0" cap="none" spc="0" dirty="0">
                          <a:solidFill>
                            <a:schemeClr val="tx1"/>
                          </a:solidFill>
                          <a:effectLst/>
                          <a:latin typeface="Arial" panose="020B0604020202020204" pitchFamily="34" charset="0"/>
                          <a:cs typeface="Arial" panose="020B0604020202020204" pitchFamily="34" charset="0"/>
                        </a:rPr>
                        <a:t>Age &lt; 65</a:t>
                      </a:r>
                    </a:p>
                  </a:txBody>
                  <a:tcPr marL="231136" marR="231136" marT="146811" marB="115569" anchor="ctr">
                    <a:lnL w="12700" cmpd="sng">
                      <a:noFill/>
                      <a:prstDash val="solid"/>
                    </a:lnL>
                    <a:lnR w="12700" cmpd="sng">
                      <a:noFill/>
                      <a:prstDash val="solid"/>
                    </a:lnR>
                    <a:lnT w="38100" cmpd="sng">
                      <a:noFill/>
                    </a:lnT>
                    <a:lnB w="12700" cap="flat" cmpd="sng" algn="ctr">
                      <a:noFill/>
                      <a:prstDash val="solid"/>
                    </a:lnB>
                    <a:noFill/>
                  </a:tcPr>
                </a:tc>
                <a:tc>
                  <a:txBody>
                    <a:bodyPr/>
                    <a:lstStyle/>
                    <a:p>
                      <a:pPr algn="ctr">
                        <a:buNone/>
                      </a:pPr>
                      <a:r>
                        <a:rPr lang="en-US" sz="2000" b="0" cap="none" spc="0" dirty="0">
                          <a:solidFill>
                            <a:schemeClr val="tx1"/>
                          </a:solidFill>
                          <a:effectLst/>
                          <a:latin typeface="Arial" panose="020B0604020202020204" pitchFamily="34" charset="0"/>
                          <a:cs typeface="Arial" panose="020B0604020202020204" pitchFamily="34" charset="0"/>
                        </a:rPr>
                        <a:t>1.80x</a:t>
                      </a:r>
                    </a:p>
                  </a:txBody>
                  <a:tcPr marL="231136" marR="231136" marT="146811" marB="115569" anchor="ctr">
                    <a:lnL w="12700" cmpd="sng">
                      <a:noFill/>
                      <a:prstDash val="solid"/>
                    </a:lnL>
                    <a:lnR w="12700" cmpd="sng">
                      <a:noFill/>
                      <a:prstDash val="solid"/>
                    </a:lnR>
                    <a:lnT w="38100" cmpd="sng">
                      <a:noFill/>
                    </a:lnT>
                    <a:lnB w="12700" cap="flat" cmpd="sng" algn="ctr">
                      <a:noFill/>
                      <a:prstDash val="solid"/>
                    </a:lnB>
                    <a:noFill/>
                  </a:tcPr>
                </a:tc>
                <a:tc>
                  <a:txBody>
                    <a:bodyPr/>
                    <a:lstStyle/>
                    <a:p>
                      <a:pPr>
                        <a:buNone/>
                      </a:pPr>
                      <a:r>
                        <a:rPr lang="en-US" sz="2000" b="0" cap="none" spc="0" dirty="0">
                          <a:solidFill>
                            <a:schemeClr val="tx1"/>
                          </a:solidFill>
                          <a:effectLst/>
                          <a:latin typeface="Arial" panose="020B0604020202020204" pitchFamily="34" charset="0"/>
                          <a:cs typeface="Arial" panose="020B0604020202020204" pitchFamily="34" charset="0"/>
                        </a:rPr>
                        <a:t>Younger adults who are food insecure are 80% more likely to end up in the ER.</a:t>
                      </a:r>
                    </a:p>
                  </a:txBody>
                  <a:tcPr marL="231136" marR="231136" marT="146811" marB="115569" anchor="ctr">
                    <a:lnL w="12700" cmpd="sng">
                      <a:noFill/>
                      <a:prstDash val="solid"/>
                    </a:lnL>
                    <a:lnR w="12700" cmpd="sng">
                      <a:noFill/>
                      <a:prstDash val="solid"/>
                    </a:lnR>
                    <a:lnT w="38100" cmpd="sng">
                      <a:noFill/>
                    </a:lnT>
                    <a:lnB w="12700" cap="flat" cmpd="sng" algn="ctr">
                      <a:noFill/>
                      <a:prstDash val="solid"/>
                    </a:lnB>
                    <a:noFill/>
                  </a:tcPr>
                </a:tc>
                <a:extLst>
                  <a:ext uri="{0D108BD9-81ED-4DB2-BD59-A6C34878D82A}">
                    <a16:rowId xmlns:a16="http://schemas.microsoft.com/office/drawing/2014/main" val="3521150698"/>
                  </a:ext>
                </a:extLst>
              </a:tr>
              <a:tr h="1348782">
                <a:tc>
                  <a:txBody>
                    <a:bodyPr/>
                    <a:lstStyle/>
                    <a:p>
                      <a:pPr>
                        <a:buNone/>
                      </a:pPr>
                      <a:r>
                        <a:rPr lang="en-US" sz="2000" b="0" cap="none" spc="0">
                          <a:solidFill>
                            <a:schemeClr val="tx1"/>
                          </a:solidFill>
                          <a:effectLst/>
                          <a:latin typeface="Arial" panose="020B0604020202020204" pitchFamily="34" charset="0"/>
                          <a:cs typeface="Arial" panose="020B0604020202020204" pitchFamily="34" charset="0"/>
                        </a:rPr>
                        <a:t>Age &gt;= 65</a:t>
                      </a:r>
                    </a:p>
                  </a:txBody>
                  <a:tcPr marL="231136" marR="231136" marT="146811" marB="115569"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ctr">
                        <a:buNone/>
                      </a:pPr>
                      <a:r>
                        <a:rPr lang="en-US" sz="2000" b="0" cap="none" spc="0">
                          <a:solidFill>
                            <a:schemeClr val="tx1"/>
                          </a:solidFill>
                          <a:effectLst/>
                          <a:latin typeface="Arial" panose="020B0604020202020204" pitchFamily="34" charset="0"/>
                          <a:cs typeface="Arial" panose="020B0604020202020204" pitchFamily="34" charset="0"/>
                        </a:rPr>
                        <a:t>1.27x</a:t>
                      </a:r>
                    </a:p>
                  </a:txBody>
                  <a:tcPr marL="231136" marR="231136" marT="146811" marB="115569"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buNone/>
                      </a:pPr>
                      <a:r>
                        <a:rPr lang="en-US" sz="2000" b="0" cap="none" spc="0" dirty="0">
                          <a:solidFill>
                            <a:schemeClr val="tx1"/>
                          </a:solidFill>
                          <a:effectLst/>
                          <a:latin typeface="Arial" panose="020B0604020202020204" pitchFamily="34" charset="0"/>
                          <a:cs typeface="Arial" panose="020B0604020202020204" pitchFamily="34" charset="0"/>
                        </a:rPr>
                        <a:t>Older persons who are food insecure are 27% more likely to end up in the ER.</a:t>
                      </a:r>
                    </a:p>
                  </a:txBody>
                  <a:tcPr marL="231136" marR="231136" marT="146811" marB="115569"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1655188431"/>
                  </a:ext>
                </a:extLst>
              </a:tr>
              <a:tr h="1348782">
                <a:tc>
                  <a:txBody>
                    <a:bodyPr/>
                    <a:lstStyle/>
                    <a:p>
                      <a:pPr>
                        <a:buNone/>
                      </a:pPr>
                      <a:r>
                        <a:rPr lang="en-US" sz="2000" b="0" cap="none" spc="0">
                          <a:solidFill>
                            <a:schemeClr val="tx1"/>
                          </a:solidFill>
                          <a:effectLst/>
                          <a:latin typeface="Arial" panose="020B0604020202020204" pitchFamily="34" charset="0"/>
                          <a:cs typeface="Arial" panose="020B0604020202020204" pitchFamily="34" charset="0"/>
                        </a:rPr>
                        <a:t>The Buffer effect of Medicare</a:t>
                      </a:r>
                    </a:p>
                  </a:txBody>
                  <a:tcPr marL="231136" marR="231136" marT="146811" marB="115569" anchor="ctr">
                    <a:lnL w="12700" cmpd="sng">
                      <a:noFill/>
                      <a:prstDash val="solid"/>
                    </a:lnL>
                    <a:lnR w="12700" cmpd="sng">
                      <a:noFill/>
                      <a:prstDash val="solid"/>
                    </a:lnR>
                    <a:lnT w="12700" cmpd="sng">
                      <a:noFill/>
                      <a:prstDash val="solid"/>
                    </a:lnT>
                    <a:lnB w="12700" cmpd="sng">
                      <a:noFill/>
                      <a:prstDash val="solid"/>
                    </a:lnB>
                    <a:noFill/>
                  </a:tcPr>
                </a:tc>
                <a:tc>
                  <a:txBody>
                    <a:bodyPr/>
                    <a:lstStyle/>
                    <a:p>
                      <a:pPr algn="ctr">
                        <a:buNone/>
                      </a:pPr>
                      <a:r>
                        <a:rPr lang="en-US" sz="2000" b="0" cap="none" spc="0">
                          <a:solidFill>
                            <a:schemeClr val="tx1"/>
                          </a:solidFill>
                          <a:effectLst/>
                          <a:latin typeface="Arial" panose="020B0604020202020204" pitchFamily="34" charset="0"/>
                          <a:cs typeface="Arial" panose="020B0604020202020204" pitchFamily="34" charset="0"/>
                        </a:rPr>
                        <a:t>0.70x</a:t>
                      </a:r>
                    </a:p>
                  </a:txBody>
                  <a:tcPr marL="231136" marR="231136" marT="146811" marB="115569"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2000" b="0" cap="none" spc="0" dirty="0">
                          <a:solidFill>
                            <a:schemeClr val="tx1"/>
                          </a:solidFill>
                          <a:effectLst/>
                          <a:latin typeface="Arial" panose="020B0604020202020204" pitchFamily="34" charset="0"/>
                          <a:cs typeface="Arial" panose="020B0604020202020204" pitchFamily="34" charset="0"/>
                        </a:rPr>
                        <a:t>Medicare/social safety nets cut the link between hunger and the ER by 30%.</a:t>
                      </a:r>
                    </a:p>
                  </a:txBody>
                  <a:tcPr marL="231136" marR="231136" marT="146811" marB="115569"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3439898414"/>
                  </a:ext>
                </a:extLst>
              </a:tr>
            </a:tbl>
          </a:graphicData>
        </a:graphic>
      </p:graphicFrame>
    </p:spTree>
    <p:extLst>
      <p:ext uri="{BB962C8B-B14F-4D97-AF65-F5344CB8AC3E}">
        <p14:creationId xmlns:p14="http://schemas.microsoft.com/office/powerpoint/2010/main" val="26956677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9ED5833-B85B-4103-8A3B-CAB0308E6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228997-9DAA-2F1A-E97D-D14AEA24B22C}"/>
              </a:ext>
            </a:extLst>
          </p:cNvPr>
          <p:cNvSpPr>
            <a:spLocks noGrp="1"/>
          </p:cNvSpPr>
          <p:nvPr>
            <p:ph type="title"/>
          </p:nvPr>
        </p:nvSpPr>
        <p:spPr>
          <a:xfrm>
            <a:off x="201402" y="140751"/>
            <a:ext cx="9795638" cy="559465"/>
          </a:xfrm>
        </p:spPr>
        <p:txBody>
          <a:bodyPr vert="horz" lIns="91440" tIns="45720" rIns="91440" bIns="45720" rtlCol="0" anchor="b">
            <a:normAutofit fontScale="90000"/>
          </a:bodyPr>
          <a:lstStyle/>
          <a:p>
            <a:r>
              <a:rPr lang="en-US" sz="3600" dirty="0">
                <a:latin typeface="Arial" panose="020B0604020202020204" pitchFamily="34" charset="0"/>
                <a:cs typeface="Arial" panose="020B0604020202020204" pitchFamily="34" charset="0"/>
              </a:rPr>
              <a:t>Visualization</a:t>
            </a:r>
          </a:p>
        </p:txBody>
      </p:sp>
      <p:pic>
        <p:nvPicPr>
          <p:cNvPr id="7" name="Picture 6">
            <a:extLst>
              <a:ext uri="{FF2B5EF4-FFF2-40B4-BE49-F238E27FC236}">
                <a16:creationId xmlns:a16="http://schemas.microsoft.com/office/drawing/2014/main" id="{B9424BD7-AF0A-F7B3-042E-FE7ABE205794}"/>
              </a:ext>
            </a:extLst>
          </p:cNvPr>
          <p:cNvPicPr>
            <a:picLocks noChangeAspect="1"/>
          </p:cNvPicPr>
          <p:nvPr/>
        </p:nvPicPr>
        <p:blipFill>
          <a:blip r:embed="rId2">
            <a:extLst>
              <a:ext uri="{28A0092B-C50C-407E-A947-70E740481C1C}">
                <a14:useLocalDpi xmlns:a14="http://schemas.microsoft.com/office/drawing/2010/main" val="0"/>
              </a:ext>
            </a:extLst>
          </a:blip>
          <a:srcRect r="22774"/>
          <a:stretch>
            <a:fillRect/>
          </a:stretch>
        </p:blipFill>
        <p:spPr>
          <a:xfrm>
            <a:off x="482081" y="906162"/>
            <a:ext cx="4942279" cy="3759865"/>
          </a:xfrm>
          <a:prstGeom prst="rect">
            <a:avLst/>
          </a:prstGeom>
        </p:spPr>
      </p:pic>
      <p:pic>
        <p:nvPicPr>
          <p:cNvPr id="5" name="Content Placeholder 4">
            <a:extLst>
              <a:ext uri="{FF2B5EF4-FFF2-40B4-BE49-F238E27FC236}">
                <a16:creationId xmlns:a16="http://schemas.microsoft.com/office/drawing/2014/main" id="{69341E4A-65BB-D196-2E15-43EAFB98252B}"/>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495420" y="913084"/>
            <a:ext cx="6399768" cy="3759865"/>
          </a:xfrm>
          <a:prstGeom prst="rect">
            <a:avLst/>
          </a:prstGeom>
        </p:spPr>
      </p:pic>
    </p:spTree>
    <p:extLst>
      <p:ext uri="{BB962C8B-B14F-4D97-AF65-F5344CB8AC3E}">
        <p14:creationId xmlns:p14="http://schemas.microsoft.com/office/powerpoint/2010/main" val="39455511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DDEB9-68FA-C57A-A8F6-12C3B67C0C4F}"/>
              </a:ext>
            </a:extLst>
          </p:cNvPr>
          <p:cNvSpPr>
            <a:spLocks noGrp="1"/>
          </p:cNvSpPr>
          <p:nvPr>
            <p:ph type="title"/>
          </p:nvPr>
        </p:nvSpPr>
        <p:spPr>
          <a:xfrm>
            <a:off x="74649" y="136525"/>
            <a:ext cx="10515600" cy="527419"/>
          </a:xfrm>
        </p:spPr>
        <p:txBody>
          <a:bodyPr>
            <a:noAutofit/>
          </a:bodyPr>
          <a:lstStyle/>
          <a:p>
            <a:r>
              <a:rPr lang="en-US" sz="3600" dirty="0">
                <a:latin typeface="Arial" panose="020B0604020202020204" pitchFamily="34" charset="0"/>
                <a:cs typeface="Arial" panose="020B0604020202020204" pitchFamily="34" charset="0"/>
              </a:rPr>
              <a:t>Advanced Topic: Heterogeneous Variable Types</a:t>
            </a:r>
          </a:p>
        </p:txBody>
      </p:sp>
      <mc:AlternateContent xmlns:mc="http://schemas.openxmlformats.org/markup-compatibility/2006">
        <mc:Choice xmlns:a14="http://schemas.microsoft.com/office/drawing/2010/main" Requires="a14">
          <p:sp>
            <p:nvSpPr>
              <p:cNvPr id="4" name="Content Placeholder 2">
                <a:extLst>
                  <a:ext uri="{FF2B5EF4-FFF2-40B4-BE49-F238E27FC236}">
                    <a16:creationId xmlns:a16="http://schemas.microsoft.com/office/drawing/2014/main" id="{BA55FE14-E3BB-2A8C-FC58-097228738C40}"/>
                  </a:ext>
                </a:extLst>
              </p:cNvPr>
              <p:cNvSpPr txBox="1">
                <a:spLocks/>
              </p:cNvSpPr>
              <p:nvPr/>
            </p:nvSpPr>
            <p:spPr>
              <a:xfrm>
                <a:off x="150981" y="813624"/>
                <a:ext cx="10875381"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marR="0" lvl="0" indent="-514350" algn="l" defTabSz="914400" rtl="0" eaLnBrk="1" fontAlgn="auto" latinLnBrk="0" hangingPunct="1">
                  <a:lnSpc>
                    <a:spcPct val="90000"/>
                  </a:lnSpc>
                  <a:spcBef>
                    <a:spcPts val="1000"/>
                  </a:spcBef>
                  <a:spcAft>
                    <a:spcPts val="0"/>
                  </a:spcAft>
                  <a:buClrTx/>
                  <a:buSzTx/>
                  <a:buFont typeface="+mj-lt"/>
                  <a:buAutoNum type="arabicPeriod"/>
                  <a:tabLst/>
                  <a:defRPr/>
                </a:pPr>
                <a:r>
                  <a:rPr kumimoji="0" lang="en-US" sz="2000" b="0" i="0" u="sng"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Categorical Variables </a:t>
                </a:r>
                <a:r>
                  <a:rPr kumimoji="0" lang="en-US"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in the Regression</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 dummy coding to encode the categories as 0 and 1</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Shows up as additive corrections for the categorical value</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514350" marR="0" lvl="0" indent="-514350" algn="l" defTabSz="914400" rtl="0" eaLnBrk="1" fontAlgn="auto" latinLnBrk="0" hangingPunct="1">
                  <a:lnSpc>
                    <a:spcPct val="90000"/>
                  </a:lnSpc>
                  <a:spcBef>
                    <a:spcPts val="1000"/>
                  </a:spcBef>
                  <a:spcAft>
                    <a:spcPts val="0"/>
                  </a:spcAft>
                  <a:buClrTx/>
                  <a:buSzTx/>
                  <a:buFont typeface="+mj-lt"/>
                  <a:buAutoNum type="arabicPeriod"/>
                  <a:tabLst/>
                  <a:defRPr/>
                </a:pPr>
                <a:r>
                  <a:rPr kumimoji="0" lang="en-US" sz="2000" b="0" i="0" u="sng"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Polynomial Terms </a:t>
                </a:r>
                <a:r>
                  <a:rPr kumimoji="0" lang="en-US"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in the Regression</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We can fit the coefficients of a polynomial relationship via raising obs. to powers i.e.</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To fit a quadratic:   </a:t>
                </a:r>
                <a14:m>
                  <m:oMath xmlns:m="http://schemas.openxmlformats.org/officeDocument/2006/math">
                    <m:acc>
                      <m:accPr>
                        <m: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acc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𝑦</m:t>
                        </m:r>
                      </m:e>
                    </m:acc>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𝑏</m:t>
                        </m:r>
                      </m:e>
                      <m: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0</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𝑏</m:t>
                        </m:r>
                      </m:e>
                      <m: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1</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𝑥</m:t>
                    </m:r>
                    <m:r>
                      <a:rPr kumimoji="0" lang="en-US" sz="1800" b="0" i="1" u="none" strike="noStrike" kern="1200" cap="none" spc="0" normalizeH="0" baseline="0" noProof="0">
                        <a:ln>
                          <a:noFill/>
                        </a:ln>
                        <a:solidFill>
                          <a:srgbClr val="000000"/>
                        </a:solidFill>
                        <a:effectLst/>
                        <a:uLnTx/>
                        <a:uFillTx/>
                        <a:latin typeface="Cambria Math" charset="0"/>
                        <a:ea typeface="+mn-ea"/>
                        <a:cs typeface="+mn-cs"/>
                      </a:rPr>
                      <m:t>+</m:t>
                    </m:r>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𝑏</m:t>
                        </m:r>
                      </m:e>
                      <m: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2</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𝑥</m:t>
                    </m:r>
                  </m:oMath>
                </a14:m>
                <a:r>
                  <a:rPr kumimoji="0" lang="en-US" sz="1800" b="0" i="0" u="none" strike="noStrike" kern="1200" cap="none" spc="0" normalizeH="0" baseline="30000" noProof="0" dirty="0">
                    <a:ln>
                      <a:noFill/>
                    </a:ln>
                    <a:solidFill>
                      <a:prstClr val="black"/>
                    </a:solidFill>
                    <a:effectLst/>
                    <a:uLnTx/>
                    <a:uFillTx/>
                    <a:latin typeface="Arial" panose="020B0604020202020204" pitchFamily="34" charset="0"/>
                    <a:ea typeface="+mn-ea"/>
                    <a:cs typeface="Arial" panose="020B0604020202020204" pitchFamily="34" charset="0"/>
                  </a:rPr>
                  <a:t>2</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514350" marR="0" lvl="0" indent="-514350" algn="l" defTabSz="914400" rtl="0" eaLnBrk="1" fontAlgn="auto" latinLnBrk="0" hangingPunct="1">
                  <a:lnSpc>
                    <a:spcPct val="90000"/>
                  </a:lnSpc>
                  <a:spcBef>
                    <a:spcPts val="1000"/>
                  </a:spcBef>
                  <a:spcAft>
                    <a:spcPts val="0"/>
                  </a:spcAft>
                  <a:buClrTx/>
                  <a:buSzTx/>
                  <a:buFont typeface="+mj-lt"/>
                  <a:buAutoNum type="arabicPeriod"/>
                  <a:tabLst/>
                  <a:defRPr/>
                </a:pPr>
                <a:r>
                  <a:rPr kumimoji="0" lang="en-US" sz="2000" b="0" i="0" u="sng"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Interaction Terms </a:t>
                </a:r>
                <a:r>
                  <a:rPr kumimoji="0" lang="en-US"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in the Regressions</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Effects are not always simply additive, can have multiplicative interactions i.e. </a:t>
                </a:r>
              </a:p>
              <a:p>
                <a:pPr marL="45720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acc>
                        <m:accPr>
                          <m: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acc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𝑦</m:t>
                          </m:r>
                        </m:e>
                      </m:acc>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𝑏</m:t>
                          </m:r>
                        </m:e>
                        <m: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0</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𝑏</m:t>
                          </m:r>
                        </m:e>
                        <m: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1</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𝑥</m:t>
                      </m:r>
                      <m:r>
                        <a:rPr kumimoji="0" lang="en-US" sz="1800" b="0" i="1" u="none" strike="noStrike" kern="1200" cap="none" spc="0" normalizeH="0" baseline="-25000" noProof="0">
                          <a:ln>
                            <a:noFill/>
                          </a:ln>
                          <a:solidFill>
                            <a:srgbClr val="000000"/>
                          </a:solidFill>
                          <a:effectLst/>
                          <a:uLnTx/>
                          <a:uFillTx/>
                          <a:latin typeface="Cambria Math" panose="02040503050406030204" pitchFamily="18" charset="0"/>
                          <a:ea typeface="+mn-ea"/>
                          <a:cs typeface="+mn-cs"/>
                        </a:rPr>
                        <m:t>1</m:t>
                      </m:r>
                      <m:r>
                        <a:rPr kumimoji="0" lang="en-US" sz="1800" b="0" i="1" u="none" strike="noStrike" kern="1200" cap="none" spc="0" normalizeH="0" baseline="0" noProof="0">
                          <a:ln>
                            <a:noFill/>
                          </a:ln>
                          <a:solidFill>
                            <a:srgbClr val="000000"/>
                          </a:solidFill>
                          <a:effectLst/>
                          <a:uLnTx/>
                          <a:uFillTx/>
                          <a:latin typeface="Cambria Math" charset="0"/>
                          <a:ea typeface="+mn-ea"/>
                          <a:cs typeface="+mn-cs"/>
                        </a:rPr>
                        <m:t>+</m:t>
                      </m:r>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𝑏</m:t>
                          </m:r>
                        </m:e>
                        <m: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2</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𝑥</m:t>
                      </m:r>
                      <m:r>
                        <a:rPr kumimoji="0" lang="en-US" sz="1800" b="0" i="1" u="none" strike="noStrike" kern="1200" cap="none" spc="0" normalizeH="0" baseline="-25000" noProof="0">
                          <a:ln>
                            <a:noFill/>
                          </a:ln>
                          <a:solidFill>
                            <a:srgbClr val="000000"/>
                          </a:solidFill>
                          <a:effectLst/>
                          <a:uLnTx/>
                          <a:uFillTx/>
                          <a:latin typeface="Cambria Math" panose="02040503050406030204" pitchFamily="18" charset="0"/>
                          <a:ea typeface="+mn-ea"/>
                          <a:cs typeface="+mn-cs"/>
                        </a:rPr>
                        <m:t>2</m:t>
                      </m:r>
                      <m:r>
                        <a:rPr kumimoji="0" lang="en-US" sz="1800" b="0" i="1" u="none" strike="noStrike" kern="1200" cap="none" spc="0" normalizeH="0" baseline="0" noProof="0">
                          <a:ln>
                            <a:noFill/>
                          </a:ln>
                          <a:solidFill>
                            <a:srgbClr val="000000"/>
                          </a:solidFill>
                          <a:effectLst/>
                          <a:uLnTx/>
                          <a:uFillTx/>
                          <a:latin typeface="Cambria Math" charset="0"/>
                          <a:ea typeface="+mn-ea"/>
                          <a:cs typeface="+mn-cs"/>
                        </a:rPr>
                        <m:t>→</m:t>
                      </m:r>
                      <m:acc>
                        <m:accPr>
                          <m: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acc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𝑦</m:t>
                          </m:r>
                        </m:e>
                      </m:acc>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𝑏</m:t>
                          </m:r>
                        </m:e>
                        <m: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0</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𝑏</m:t>
                          </m:r>
                        </m:e>
                        <m: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1</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𝑥</m:t>
                      </m:r>
                      <m:r>
                        <a:rPr kumimoji="0" lang="en-US" sz="1800" b="0" i="1" u="none" strike="noStrike" kern="1200" cap="none" spc="0" normalizeH="0" baseline="-25000" noProof="0">
                          <a:ln>
                            <a:noFill/>
                          </a:ln>
                          <a:solidFill>
                            <a:srgbClr val="000000"/>
                          </a:solidFill>
                          <a:effectLst/>
                          <a:uLnTx/>
                          <a:uFillTx/>
                          <a:latin typeface="Cambria Math" panose="02040503050406030204" pitchFamily="18" charset="0"/>
                          <a:ea typeface="+mn-ea"/>
                          <a:cs typeface="+mn-cs"/>
                        </a:rPr>
                        <m:t>1</m:t>
                      </m:r>
                      <m:r>
                        <a:rPr kumimoji="0" lang="en-US" sz="1800" b="0" i="1" u="none" strike="noStrike" kern="1200" cap="none" spc="0" normalizeH="0" baseline="0" noProof="0">
                          <a:ln>
                            <a:noFill/>
                          </a:ln>
                          <a:solidFill>
                            <a:srgbClr val="000000"/>
                          </a:solidFill>
                          <a:effectLst/>
                          <a:uLnTx/>
                          <a:uFillTx/>
                          <a:latin typeface="Cambria Math" charset="0"/>
                          <a:ea typeface="+mn-ea"/>
                          <a:cs typeface="+mn-cs"/>
                        </a:rPr>
                        <m:t>+</m:t>
                      </m:r>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𝑏</m:t>
                          </m:r>
                        </m:e>
                        <m: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2</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𝑥</m:t>
                      </m:r>
                      <m:r>
                        <a:rPr kumimoji="0" lang="en-US" sz="1800" b="0" i="1" u="none" strike="noStrike" kern="1200" cap="none" spc="0" normalizeH="0" baseline="-25000" noProof="0">
                          <a:ln>
                            <a:noFill/>
                          </a:ln>
                          <a:solidFill>
                            <a:srgbClr val="000000"/>
                          </a:solidFill>
                          <a:effectLst/>
                          <a:uLnTx/>
                          <a:uFillTx/>
                          <a:latin typeface="Cambria Math" panose="02040503050406030204" pitchFamily="18" charset="0"/>
                          <a:ea typeface="+mn-ea"/>
                          <a:cs typeface="+mn-cs"/>
                        </a:rPr>
                        <m:t>2</m:t>
                      </m:r>
                      <m:r>
                        <a:rPr kumimoji="0" lang="en-US" sz="1800" b="0" i="1" u="none" strike="noStrike" kern="1200" cap="none" spc="0" normalizeH="0" baseline="0" noProof="0">
                          <a:ln>
                            <a:noFill/>
                          </a:ln>
                          <a:solidFill>
                            <a:srgbClr val="000000"/>
                          </a:solidFill>
                          <a:effectLst/>
                          <a:uLnTx/>
                          <a:uFillTx/>
                          <a:latin typeface="Cambria Math" charset="0"/>
                          <a:ea typeface="+mn-ea"/>
                          <a:cs typeface="+mn-cs"/>
                        </a:rPr>
                        <m:t>+</m:t>
                      </m:r>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𝑏</m:t>
                          </m:r>
                        </m:e>
                        <m: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3</m:t>
                          </m:r>
                        </m:sub>
                      </m:sSub>
                      <m:r>
                        <a:rPr kumimoji="0" lang="en-US" sz="1800" b="0" i="1" u="none" strike="noStrike" kern="1200" cap="none" spc="0" normalizeH="0" baseline="0" noProof="0">
                          <a:ln>
                            <a:noFill/>
                          </a:ln>
                          <a:solidFill>
                            <a:srgbClr val="000000"/>
                          </a:solidFill>
                          <a:effectLst/>
                          <a:uLnTx/>
                          <a:uFillTx/>
                          <a:latin typeface="Cambria Math" charset="0"/>
                          <a:ea typeface="+mn-ea"/>
                          <a:cs typeface="+mn-cs"/>
                        </a:rPr>
                        <m:t>𝑥</m:t>
                      </m:r>
                      <m:r>
                        <a:rPr kumimoji="0" lang="en-US" sz="1800" b="0" i="1" u="none" strike="noStrike" kern="1200" cap="none" spc="0" normalizeH="0" baseline="-25000" noProof="0">
                          <a:ln>
                            <a:noFill/>
                          </a:ln>
                          <a:solidFill>
                            <a:srgbClr val="000000"/>
                          </a:solidFill>
                          <a:effectLst/>
                          <a:uLnTx/>
                          <a:uFillTx/>
                          <a:latin typeface="Cambria Math" panose="02040503050406030204" pitchFamily="18" charset="0"/>
                          <a:ea typeface="+mn-ea"/>
                          <a:cs typeface="+mn-cs"/>
                        </a:rPr>
                        <m:t>1</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𝑥</m:t>
                      </m:r>
                      <m:r>
                        <a:rPr kumimoji="0" lang="en-US" sz="1800" b="0" i="1" u="none" strike="noStrike" kern="1200" cap="none" spc="0" normalizeH="0" baseline="-25000" noProof="0">
                          <a:ln>
                            <a:noFill/>
                          </a:ln>
                          <a:solidFill>
                            <a:srgbClr val="000000"/>
                          </a:solidFill>
                          <a:effectLst/>
                          <a:uLnTx/>
                          <a:uFillTx/>
                          <a:latin typeface="Cambria Math" panose="02040503050406030204" pitchFamily="18" charset="0"/>
                          <a:ea typeface="+mn-ea"/>
                          <a:cs typeface="+mn-cs"/>
                        </a:rPr>
                        <m:t>2</m:t>
                      </m:r>
                    </m:oMath>
                  </m:oMathPara>
                </a14:m>
                <a:endParaRPr kumimoji="0" lang="en-US" sz="1800" b="0" i="0" u="none" strike="noStrike" kern="1200" cap="none" spc="0" normalizeH="0" baseline="-2500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Different lines for different levels of a categorical variable</a:t>
                </a:r>
              </a:p>
            </p:txBody>
          </p:sp>
        </mc:Choice>
        <mc:Fallback>
          <p:sp>
            <p:nvSpPr>
              <p:cNvPr id="4" name="Content Placeholder 2">
                <a:extLst>
                  <a:ext uri="{FF2B5EF4-FFF2-40B4-BE49-F238E27FC236}">
                    <a16:creationId xmlns:a16="http://schemas.microsoft.com/office/drawing/2014/main" id="{BA55FE14-E3BB-2A8C-FC58-097228738C40}"/>
                  </a:ext>
                </a:extLst>
              </p:cNvPr>
              <p:cNvSpPr txBox="1">
                <a:spLocks noRot="1" noChangeAspect="1" noMove="1" noResize="1" noEditPoints="1" noAdjustHandles="1" noChangeArrowheads="1" noChangeShapeType="1" noTextEdit="1"/>
              </p:cNvSpPr>
              <p:nvPr/>
            </p:nvSpPr>
            <p:spPr>
              <a:xfrm>
                <a:off x="150981" y="813624"/>
                <a:ext cx="10875381" cy="4351338"/>
              </a:xfrm>
              <a:prstGeom prst="rect">
                <a:avLst/>
              </a:prstGeom>
              <a:blipFill>
                <a:blip r:embed="rId2"/>
                <a:stretch>
                  <a:fillRect l="-504" t="-1261"/>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FDEB0522-150A-6730-D6F4-D266C8033329}"/>
              </a:ext>
            </a:extLst>
          </p:cNvPr>
          <p:cNvSpPr>
            <a:spLocks noGrp="1"/>
          </p:cNvSpPr>
          <p:nvPr>
            <p:ph type="sldNum" sz="quarter" idx="12"/>
          </p:nvPr>
        </p:nvSpPr>
        <p:spPr>
          <a:xfrm>
            <a:off x="8618838" y="650603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D71D88-BA1A-4A31-92D9-86A2D66DFAE5}" type="slidenum">
              <a:rPr kumimoji="0" lang="en-US" sz="1200" b="0" i="0" u="none" strike="noStrike" kern="1200" cap="none" spc="0" normalizeH="0" baseline="0" noProof="0" smtClean="0">
                <a:ln>
                  <a:noFill/>
                </a:ln>
                <a:solidFill>
                  <a:prstClr val="black">
                    <a:tint val="75000"/>
                  </a:prstClr>
                </a:solidFill>
                <a:effectLst/>
                <a:uLnTx/>
                <a:uFillTx/>
                <a:latin typeface="Cambria" panose="02040503050406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tint val="75000"/>
                </a:prstClr>
              </a:solidFill>
              <a:effectLst/>
              <a:uLnTx/>
              <a:uFillTx/>
              <a:latin typeface="Cambria" panose="02040503050406030204"/>
              <a:ea typeface="+mn-ea"/>
              <a:cs typeface="+mn-cs"/>
            </a:endParaRPr>
          </a:p>
        </p:txBody>
      </p:sp>
      <p:sp>
        <p:nvSpPr>
          <p:cNvPr id="6" name="Rectangle 5">
            <a:extLst>
              <a:ext uri="{FF2B5EF4-FFF2-40B4-BE49-F238E27FC236}">
                <a16:creationId xmlns:a16="http://schemas.microsoft.com/office/drawing/2014/main" id="{C7DEE4EC-06F7-D961-1E09-28AF79F5DF07}"/>
              </a:ext>
            </a:extLst>
          </p:cNvPr>
          <p:cNvSpPr/>
          <p:nvPr/>
        </p:nvSpPr>
        <p:spPr>
          <a:xfrm>
            <a:off x="4331215" y="2776147"/>
            <a:ext cx="907261" cy="372245"/>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mbria" panose="02040503050406030204"/>
              <a:ea typeface="+mn-ea"/>
              <a:cs typeface="+mn-cs"/>
            </a:endParaRPr>
          </a:p>
        </p:txBody>
      </p:sp>
      <p:cxnSp>
        <p:nvCxnSpPr>
          <p:cNvPr id="7" name="Straight Arrow Connector 6">
            <a:extLst>
              <a:ext uri="{FF2B5EF4-FFF2-40B4-BE49-F238E27FC236}">
                <a16:creationId xmlns:a16="http://schemas.microsoft.com/office/drawing/2014/main" id="{4CDEEF64-749F-FE38-FAF5-C83E42390326}"/>
              </a:ext>
            </a:extLst>
          </p:cNvPr>
          <p:cNvCxnSpPr>
            <a:cxnSpLocks/>
          </p:cNvCxnSpPr>
          <p:nvPr/>
        </p:nvCxnSpPr>
        <p:spPr>
          <a:xfrm flipH="1" flipV="1">
            <a:off x="5238476" y="2942633"/>
            <a:ext cx="1389506" cy="261607"/>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71EAC4DD-42DD-2090-E906-8E38C11AB96C}"/>
              </a:ext>
            </a:extLst>
          </p:cNvPr>
          <p:cNvSpPr txBox="1"/>
          <p:nvPr/>
        </p:nvSpPr>
        <p:spPr>
          <a:xfrm>
            <a:off x="6639557" y="2898362"/>
            <a:ext cx="3349205"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uLnTx/>
                <a:uFillTx/>
                <a:latin typeface="Cambria" panose="02040503050406030204"/>
                <a:ea typeface="+mn-ea"/>
                <a:cs typeface="+mn-cs"/>
              </a:rPr>
              <a:t>New variable, simply the square of the x</a:t>
            </a:r>
          </a:p>
        </p:txBody>
      </p:sp>
      <p:sp>
        <p:nvSpPr>
          <p:cNvPr id="9" name="Rectangle 8">
            <a:extLst>
              <a:ext uri="{FF2B5EF4-FFF2-40B4-BE49-F238E27FC236}">
                <a16:creationId xmlns:a16="http://schemas.microsoft.com/office/drawing/2014/main" id="{ABE83B27-1E64-BF82-A36E-BE4BF87E6FDB}"/>
              </a:ext>
            </a:extLst>
          </p:cNvPr>
          <p:cNvSpPr/>
          <p:nvPr/>
        </p:nvSpPr>
        <p:spPr>
          <a:xfrm>
            <a:off x="7308724" y="4081819"/>
            <a:ext cx="907261" cy="328576"/>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mbria" panose="02040503050406030204"/>
              <a:ea typeface="+mn-ea"/>
              <a:cs typeface="+mn-cs"/>
            </a:endParaRPr>
          </a:p>
        </p:txBody>
      </p:sp>
      <p:cxnSp>
        <p:nvCxnSpPr>
          <p:cNvPr id="10" name="Straight Arrow Connector 9">
            <a:extLst>
              <a:ext uri="{FF2B5EF4-FFF2-40B4-BE49-F238E27FC236}">
                <a16:creationId xmlns:a16="http://schemas.microsoft.com/office/drawing/2014/main" id="{9EC61992-A0DE-A638-730C-1C7A6112CFCC}"/>
              </a:ext>
            </a:extLst>
          </p:cNvPr>
          <p:cNvCxnSpPr>
            <a:cxnSpLocks/>
            <a:stCxn id="11" idx="0"/>
          </p:cNvCxnSpPr>
          <p:nvPr/>
        </p:nvCxnSpPr>
        <p:spPr>
          <a:xfrm flipH="1" flipV="1">
            <a:off x="8215985" y="4257465"/>
            <a:ext cx="1357741" cy="529534"/>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EB4DAF82-F00D-9EA1-00C0-5636F9AF5C32}"/>
              </a:ext>
            </a:extLst>
          </p:cNvPr>
          <p:cNvSpPr txBox="1"/>
          <p:nvPr/>
        </p:nvSpPr>
        <p:spPr>
          <a:xfrm>
            <a:off x="7899123" y="4786999"/>
            <a:ext cx="3349205"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uLnTx/>
                <a:uFillTx/>
                <a:latin typeface="Cambria" panose="02040503050406030204"/>
                <a:ea typeface="+mn-ea"/>
                <a:cs typeface="+mn-cs"/>
              </a:rPr>
              <a:t>New variable, product of x</a:t>
            </a:r>
            <a:r>
              <a:rPr kumimoji="0" lang="en-US" sz="2400" b="0" i="0" u="none" strike="noStrike" kern="1200" cap="none" spc="0" normalizeH="0" baseline="-25000" noProof="0" dirty="0">
                <a:ln>
                  <a:noFill/>
                </a:ln>
                <a:solidFill>
                  <a:srgbClr val="C00000"/>
                </a:solidFill>
                <a:effectLst/>
                <a:uLnTx/>
                <a:uFillTx/>
                <a:latin typeface="Cambria" panose="02040503050406030204"/>
                <a:ea typeface="+mn-ea"/>
                <a:cs typeface="+mn-cs"/>
              </a:rPr>
              <a:t>1</a:t>
            </a:r>
            <a:r>
              <a:rPr kumimoji="0" lang="en-US" sz="2400" b="0" i="0" u="none" strike="noStrike" kern="1200" cap="none" spc="0" normalizeH="0" baseline="0" noProof="0" dirty="0">
                <a:ln>
                  <a:noFill/>
                </a:ln>
                <a:solidFill>
                  <a:srgbClr val="C00000"/>
                </a:solidFill>
                <a:effectLst/>
                <a:uLnTx/>
                <a:uFillTx/>
                <a:latin typeface="Cambria" panose="02040503050406030204"/>
                <a:ea typeface="+mn-ea"/>
                <a:cs typeface="+mn-cs"/>
              </a:rPr>
              <a:t> and x</a:t>
            </a:r>
            <a:r>
              <a:rPr kumimoji="0" lang="en-US" sz="2400" b="0" i="0" u="none" strike="noStrike" kern="1200" cap="none" spc="0" normalizeH="0" baseline="-25000" noProof="0" dirty="0">
                <a:ln>
                  <a:noFill/>
                </a:ln>
                <a:solidFill>
                  <a:srgbClr val="C00000"/>
                </a:solidFill>
                <a:effectLst/>
                <a:uLnTx/>
                <a:uFillTx/>
                <a:latin typeface="Cambria" panose="02040503050406030204"/>
                <a:ea typeface="+mn-ea"/>
                <a:cs typeface="+mn-cs"/>
              </a:rPr>
              <a:t>2</a:t>
            </a:r>
          </a:p>
        </p:txBody>
      </p:sp>
    </p:spTree>
    <p:extLst>
      <p:ext uri="{BB962C8B-B14F-4D97-AF65-F5344CB8AC3E}">
        <p14:creationId xmlns:p14="http://schemas.microsoft.com/office/powerpoint/2010/main" val="2583854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p:bldP spid="9" grpId="0" animBg="1"/>
      <p:bldP spid="1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D8327-7AE5-1925-B256-F287B8FA4C78}"/>
              </a:ext>
            </a:extLst>
          </p:cNvPr>
          <p:cNvSpPr>
            <a:spLocks noGrp="1"/>
          </p:cNvSpPr>
          <p:nvPr>
            <p:ph type="title"/>
          </p:nvPr>
        </p:nvSpPr>
        <p:spPr>
          <a:xfrm>
            <a:off x="235085" y="199754"/>
            <a:ext cx="10515600" cy="734101"/>
          </a:xfrm>
        </p:spPr>
        <p:txBody>
          <a:bodyPr>
            <a:normAutofit/>
          </a:bodyPr>
          <a:lstStyle/>
          <a:p>
            <a:r>
              <a:rPr lang="en-US" sz="3600" dirty="0">
                <a:latin typeface="Arial" panose="020B0604020202020204" pitchFamily="34" charset="0"/>
                <a:cs typeface="Arial" panose="020B0604020202020204" pitchFamily="34" charset="0"/>
              </a:rPr>
              <a:t>Categorical Variables</a:t>
            </a:r>
          </a:p>
        </p:txBody>
      </p:sp>
      <p:sp>
        <p:nvSpPr>
          <p:cNvPr id="3" name="Content Placeholder 2">
            <a:extLst>
              <a:ext uri="{FF2B5EF4-FFF2-40B4-BE49-F238E27FC236}">
                <a16:creationId xmlns:a16="http://schemas.microsoft.com/office/drawing/2014/main" id="{4C28B070-72FE-7C20-E6BB-8B160385877F}"/>
              </a:ext>
            </a:extLst>
          </p:cNvPr>
          <p:cNvSpPr>
            <a:spLocks noGrp="1"/>
          </p:cNvSpPr>
          <p:nvPr>
            <p:ph idx="1"/>
          </p:nvPr>
        </p:nvSpPr>
        <p:spPr>
          <a:xfrm>
            <a:off x="361544" y="862587"/>
            <a:ext cx="10515600" cy="4351338"/>
          </a:xfrm>
        </p:spPr>
        <p:txBody>
          <a:bodyPr>
            <a:normAutofit/>
          </a:bodyPr>
          <a:lstStyle/>
          <a:p>
            <a:pPr marL="0" indent="0">
              <a:buNone/>
            </a:pPr>
            <a:r>
              <a:rPr lang="en-US" sz="2000" dirty="0">
                <a:latin typeface="Arial" panose="020B0604020202020204" pitchFamily="34" charset="0"/>
                <a:cs typeface="Arial" panose="020B0604020202020204" pitchFamily="34" charset="0"/>
              </a:rPr>
              <a:t>Thus far, we’ve seen regressions characterized by:</a:t>
            </a:r>
          </a:p>
          <a:p>
            <a:r>
              <a:rPr lang="en-US" sz="2000" dirty="0">
                <a:latin typeface="Arial" panose="020B0604020202020204" pitchFamily="34" charset="0"/>
                <a:cs typeface="Arial" panose="020B0604020202020204" pitchFamily="34" charset="0"/>
              </a:rPr>
              <a:t>Numeric response (Y) variable </a:t>
            </a:r>
          </a:p>
          <a:p>
            <a:pPr lvl="1"/>
            <a:r>
              <a:rPr lang="en-US" sz="2000" dirty="0">
                <a:latin typeface="Arial" panose="020B0604020202020204" pitchFamily="34" charset="0"/>
                <a:cs typeface="Arial" panose="020B0604020202020204" pitchFamily="34" charset="0"/>
              </a:rPr>
              <a:t>Example: SAT Verbal Score</a:t>
            </a:r>
          </a:p>
          <a:p>
            <a:r>
              <a:rPr lang="en-US" sz="2000" dirty="0">
                <a:latin typeface="Arial" panose="020B0604020202020204" pitchFamily="34" charset="0"/>
                <a:cs typeface="Arial" panose="020B0604020202020204" pitchFamily="34" charset="0"/>
              </a:rPr>
              <a:t>Numeric explanatory (X) variable(s)</a:t>
            </a:r>
          </a:p>
          <a:p>
            <a:pPr lvl="1"/>
            <a:r>
              <a:rPr lang="en-US" sz="2000" dirty="0">
                <a:latin typeface="Arial" panose="020B0604020202020204" pitchFamily="34" charset="0"/>
                <a:cs typeface="Arial" panose="020B0604020202020204" pitchFamily="34" charset="0"/>
              </a:rPr>
              <a:t>Example: SAT Math Score, ACT Score, Class Rank</a:t>
            </a:r>
          </a:p>
          <a:p>
            <a:pPr lvl="1"/>
            <a:endParaRPr lang="en-US" sz="2000" dirty="0">
              <a:latin typeface="Arial" panose="020B0604020202020204" pitchFamily="34" charset="0"/>
              <a:cs typeface="Arial" panose="020B0604020202020204" pitchFamily="34" charset="0"/>
            </a:endParaRPr>
          </a:p>
          <a:p>
            <a:r>
              <a:rPr lang="en-US" sz="2000" b="1" dirty="0">
                <a:latin typeface="Arial" panose="020B0604020202020204" pitchFamily="34" charset="0"/>
                <a:cs typeface="Arial" panose="020B0604020202020204" pitchFamily="34" charset="0"/>
              </a:rPr>
              <a:t>Idea</a:t>
            </a:r>
            <a:r>
              <a:rPr lang="en-US" sz="2000" dirty="0">
                <a:latin typeface="Arial" panose="020B0604020202020204" pitchFamily="34" charset="0"/>
                <a:cs typeface="Arial" panose="020B0604020202020204" pitchFamily="34" charset="0"/>
              </a:rPr>
              <a:t>: Explanatory variables are not just limited to numeric variables! We can incorporate categorical and higher-order variables into the regression equation with (almost) no additional work.</a:t>
            </a:r>
          </a:p>
          <a:p>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453567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5CF98A-48BE-E494-190B-BE22E5A13FB5}"/>
              </a:ext>
            </a:extLst>
          </p:cNvPr>
          <p:cNvSpPr>
            <a:spLocks noGrp="1"/>
          </p:cNvSpPr>
          <p:nvPr>
            <p:ph type="title"/>
          </p:nvPr>
        </p:nvSpPr>
        <p:spPr>
          <a:xfrm>
            <a:off x="131619" y="157308"/>
            <a:ext cx="10515600" cy="624090"/>
          </a:xfrm>
        </p:spPr>
        <p:txBody>
          <a:bodyPr>
            <a:normAutofit/>
          </a:bodyPr>
          <a:lstStyle/>
          <a:p>
            <a:r>
              <a:rPr lang="en-US" sz="3600" dirty="0">
                <a:latin typeface="Arial" panose="020B0604020202020204" pitchFamily="34" charset="0"/>
                <a:cs typeface="Arial" panose="020B0604020202020204" pitchFamily="34" charset="0"/>
              </a:rPr>
              <a:t>Categorical Variables: Dummy Variables</a:t>
            </a:r>
          </a:p>
        </p:txBody>
      </p:sp>
      <p:sp>
        <p:nvSpPr>
          <p:cNvPr id="3" name="Content Placeholder 2">
            <a:extLst>
              <a:ext uri="{FF2B5EF4-FFF2-40B4-BE49-F238E27FC236}">
                <a16:creationId xmlns:a16="http://schemas.microsoft.com/office/drawing/2014/main" id="{5C5D77F4-4C11-84CD-6DA2-F13AACC56C66}"/>
              </a:ext>
            </a:extLst>
          </p:cNvPr>
          <p:cNvSpPr>
            <a:spLocks noGrp="1"/>
          </p:cNvSpPr>
          <p:nvPr>
            <p:ph idx="1"/>
          </p:nvPr>
        </p:nvSpPr>
        <p:spPr>
          <a:xfrm>
            <a:off x="256309" y="781398"/>
            <a:ext cx="10515600" cy="4351338"/>
          </a:xfrm>
        </p:spPr>
        <p:txBody>
          <a:bodyPr>
            <a:normAutofit/>
          </a:bodyPr>
          <a:lstStyle/>
          <a:p>
            <a:r>
              <a:rPr lang="en-US" sz="2000" dirty="0">
                <a:latin typeface="Arial" panose="020B0604020202020204" pitchFamily="34" charset="0"/>
                <a:cs typeface="Arial" panose="020B0604020202020204" pitchFamily="34" charset="0"/>
              </a:rPr>
              <a:t>A dummy variable is a numeric variable used in regression models to represent categories. Instead of using terms like male/female or insured/uninsured, we encode categories as numeric values so statistical models can use them.</a:t>
            </a:r>
          </a:p>
          <a:p>
            <a:r>
              <a:rPr lang="en-US" sz="2000" dirty="0">
                <a:latin typeface="Arial" panose="020B0604020202020204" pitchFamily="34" charset="0"/>
                <a:cs typeface="Arial" panose="020B0604020202020204" pitchFamily="34" charset="0"/>
              </a:rPr>
              <a:t>A dummy variable takes only two values:</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0 = category not present and 1 = category present.</a:t>
            </a:r>
          </a:p>
          <a:p>
            <a:r>
              <a:rPr lang="en-US" sz="2000" b="1" dirty="0">
                <a:latin typeface="Arial" panose="020B0604020202020204" pitchFamily="34" charset="0"/>
                <a:cs typeface="Arial" panose="020B0604020202020204" pitchFamily="34" charset="0"/>
              </a:rPr>
              <a:t>Example:</a:t>
            </a:r>
            <a:r>
              <a:rPr lang="en-US" sz="2000" dirty="0">
                <a:latin typeface="Arial" panose="020B0604020202020204" pitchFamily="34" charset="0"/>
                <a:cs typeface="Arial" panose="020B0604020202020204" pitchFamily="34" charset="0"/>
              </a:rPr>
              <a:t> Gender</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If we code:</a:t>
            </a:r>
          </a:p>
          <a:p>
            <a:pPr lvl="1"/>
            <a:r>
              <a:rPr lang="en-US" sz="1800" dirty="0">
                <a:latin typeface="Arial" panose="020B0604020202020204" pitchFamily="34" charset="0"/>
                <a:cs typeface="Arial" panose="020B0604020202020204" pitchFamily="34" charset="0"/>
              </a:rPr>
              <a:t>Male = 0</a:t>
            </a:r>
          </a:p>
          <a:p>
            <a:pPr lvl="1"/>
            <a:r>
              <a:rPr lang="en-US" sz="1800" dirty="0">
                <a:latin typeface="Arial" panose="020B0604020202020204" pitchFamily="34" charset="0"/>
                <a:cs typeface="Arial" panose="020B0604020202020204" pitchFamily="34" charset="0"/>
              </a:rPr>
              <a:t>Female = 1</a:t>
            </a:r>
          </a:p>
          <a:p>
            <a:r>
              <a:rPr lang="en-US" sz="2000" dirty="0">
                <a:latin typeface="Arial" panose="020B0604020202020204" pitchFamily="34" charset="0"/>
                <a:cs typeface="Arial" panose="020B0604020202020204" pitchFamily="34" charset="0"/>
              </a:rPr>
              <a:t>Then the dummy variable equals </a:t>
            </a:r>
            <a:r>
              <a:rPr lang="en-US" sz="2000" b="1" dirty="0">
                <a:latin typeface="Arial" panose="020B0604020202020204" pitchFamily="34" charset="0"/>
                <a:cs typeface="Arial" panose="020B0604020202020204" pitchFamily="34" charset="0"/>
              </a:rPr>
              <a:t>1 for females</a:t>
            </a:r>
            <a:r>
              <a:rPr lang="en-US" sz="2000" dirty="0">
                <a:latin typeface="Arial" panose="020B0604020202020204" pitchFamily="34" charset="0"/>
                <a:cs typeface="Arial" panose="020B0604020202020204" pitchFamily="34" charset="0"/>
              </a:rPr>
              <a:t> and </a:t>
            </a:r>
            <a:r>
              <a:rPr lang="en-US" sz="2000" b="1" dirty="0">
                <a:latin typeface="Arial" panose="020B0604020202020204" pitchFamily="34" charset="0"/>
                <a:cs typeface="Arial" panose="020B0604020202020204" pitchFamily="34" charset="0"/>
              </a:rPr>
              <a:t>0 for males</a:t>
            </a:r>
            <a:r>
              <a:rPr lang="en-US" sz="2000" dirty="0">
                <a:latin typeface="Arial" panose="020B0604020202020204" pitchFamily="34" charset="0"/>
                <a:cs typeface="Arial" panose="020B0604020202020204" pitchFamily="34" charset="0"/>
              </a:rPr>
              <a:t>.</a:t>
            </a:r>
          </a:p>
          <a:p>
            <a:r>
              <a:rPr lang="en-US" sz="2000" dirty="0">
                <a:latin typeface="Arial" panose="020B0604020202020204" pitchFamily="34" charset="0"/>
                <a:cs typeface="Arial" panose="020B0604020202020204" pitchFamily="34" charset="0"/>
              </a:rPr>
              <a:t>A dummy variable allows categorical group differences to be included in regression models, with one group serving as the reference category</a:t>
            </a:r>
          </a:p>
          <a:p>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579568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FCFBC5-88D3-2F05-D1AD-16787D5CCD9D}"/>
              </a:ext>
            </a:extLst>
          </p:cNvPr>
          <p:cNvSpPr>
            <a:spLocks noGrp="1"/>
          </p:cNvSpPr>
          <p:nvPr>
            <p:ph type="title" idx="4294967295"/>
          </p:nvPr>
        </p:nvSpPr>
        <p:spPr>
          <a:xfrm>
            <a:off x="148904" y="167022"/>
            <a:ext cx="9637712" cy="606061"/>
          </a:xfrm>
        </p:spPr>
        <p:txBody>
          <a:bodyPr>
            <a:normAutofit/>
          </a:bodyPr>
          <a:lstStyle/>
          <a:p>
            <a:r>
              <a:rPr lang="en-US" sz="3600" dirty="0">
                <a:latin typeface="Arial" panose="020B0604020202020204" pitchFamily="34" charset="0"/>
                <a:cs typeface="Arial" panose="020B0604020202020204" pitchFamily="34" charset="0"/>
              </a:rPr>
              <a:t>Models with Dummy Variables</a:t>
            </a:r>
          </a:p>
        </p:txBody>
      </p:sp>
      <p:sp>
        <p:nvSpPr>
          <p:cNvPr id="3" name="Content Placeholder 2">
            <a:extLst>
              <a:ext uri="{FF2B5EF4-FFF2-40B4-BE49-F238E27FC236}">
                <a16:creationId xmlns:a16="http://schemas.microsoft.com/office/drawing/2014/main" id="{EABC5687-6757-46FD-B2A7-D320A9921B39}"/>
              </a:ext>
            </a:extLst>
          </p:cNvPr>
          <p:cNvSpPr>
            <a:spLocks noGrp="1"/>
          </p:cNvSpPr>
          <p:nvPr>
            <p:ph idx="4294967295"/>
          </p:nvPr>
        </p:nvSpPr>
        <p:spPr>
          <a:xfrm>
            <a:off x="221262" y="773083"/>
            <a:ext cx="10865796" cy="4683733"/>
          </a:xfrm>
        </p:spPr>
        <p:txBody>
          <a:bodyPr>
            <a:normAutofit fontScale="92500" lnSpcReduction="10000"/>
          </a:bodyPr>
          <a:lstStyle/>
          <a:p>
            <a:r>
              <a:rPr lang="en-US" altLang="en-US" sz="2000" dirty="0">
                <a:latin typeface="Arial" panose="020B0604020202020204" pitchFamily="34" charset="0"/>
                <a:cs typeface="Arial" panose="020B0604020202020204" pitchFamily="34" charset="0"/>
              </a:rPr>
              <a:t>Some models have both numeric and categorical explanatory variables (e.g., gender or race)</a:t>
            </a:r>
          </a:p>
          <a:p>
            <a:pPr lvl="1"/>
            <a:r>
              <a:rPr lang="en-US" altLang="en-US" sz="2000" dirty="0">
                <a:latin typeface="Arial" panose="020B0604020202020204" pitchFamily="34" charset="0"/>
                <a:cs typeface="Arial" panose="020B0604020202020204" pitchFamily="34" charset="0"/>
              </a:rPr>
              <a:t>Numeric variables can go directly into the model, but categorical variables must first be converted into numbers so the model can estimate differences between groups. This is done using dummy variables.</a:t>
            </a:r>
          </a:p>
          <a:p>
            <a:r>
              <a:rPr lang="en-US" altLang="en-US" sz="2000" dirty="0">
                <a:latin typeface="Arial" panose="020B0604020202020204" pitchFamily="34" charset="0"/>
                <a:cs typeface="Arial" panose="020B0604020202020204" pitchFamily="34" charset="0"/>
              </a:rPr>
              <a:t>If a categorical variable has </a:t>
            </a:r>
            <a:r>
              <a:rPr lang="en-US" altLang="en-US" sz="2000" i="1" dirty="0">
                <a:latin typeface="Arial" panose="020B0604020202020204" pitchFamily="34" charset="0"/>
                <a:cs typeface="Arial" panose="020B0604020202020204" pitchFamily="34" charset="0"/>
              </a:rPr>
              <a:t>k</a:t>
            </a:r>
            <a:r>
              <a:rPr lang="en-US" altLang="en-US" sz="2000" dirty="0">
                <a:latin typeface="Arial" panose="020B0604020202020204" pitchFamily="34" charset="0"/>
                <a:cs typeface="Arial" panose="020B0604020202020204" pitchFamily="34" charset="0"/>
              </a:rPr>
              <a:t> levels, we need to create </a:t>
            </a:r>
            <a:r>
              <a:rPr lang="en-US" altLang="en-US" sz="2000" i="1" dirty="0">
                <a:latin typeface="Arial" panose="020B0604020202020204" pitchFamily="34" charset="0"/>
                <a:cs typeface="Arial" panose="020B0604020202020204" pitchFamily="34" charset="0"/>
              </a:rPr>
              <a:t>k</a:t>
            </a:r>
            <a:r>
              <a:rPr lang="en-US" altLang="en-US" sz="2000" dirty="0">
                <a:latin typeface="Arial" panose="020B0604020202020204" pitchFamily="34" charset="0"/>
                <a:cs typeface="Arial" panose="020B0604020202020204" pitchFamily="34" charset="0"/>
              </a:rPr>
              <a:t>-1 dummy variables that take on the values 1 if the level of interest is present and 0 otherwise.</a:t>
            </a:r>
          </a:p>
          <a:p>
            <a:pPr lvl="1"/>
            <a:r>
              <a:rPr lang="en-US" sz="2000" dirty="0">
                <a:latin typeface="Arial" panose="020B0604020202020204" pitchFamily="34" charset="0"/>
                <a:cs typeface="Arial" panose="020B0604020202020204" pitchFamily="34" charset="0"/>
              </a:rPr>
              <a:t>One category is intentionally left out and becomes the baseline (reference) group, where all dummy variables equal 0. </a:t>
            </a:r>
          </a:p>
          <a:p>
            <a:pPr lvl="1"/>
            <a:r>
              <a:rPr lang="en-US" altLang="en-US" sz="2000" dirty="0">
                <a:latin typeface="Arial" panose="020B0604020202020204" pitchFamily="34" charset="0"/>
                <a:cs typeface="Arial" panose="020B0604020202020204" pitchFamily="34" charset="0"/>
              </a:rPr>
              <a:t>The baseline level of the categorical variable for which all </a:t>
            </a:r>
            <a:r>
              <a:rPr lang="en-US" altLang="en-US" sz="2000" i="1" dirty="0">
                <a:latin typeface="Arial" panose="020B0604020202020204" pitchFamily="34" charset="0"/>
                <a:cs typeface="Arial" panose="020B0604020202020204" pitchFamily="34" charset="0"/>
              </a:rPr>
              <a:t>k</a:t>
            </a:r>
            <a:r>
              <a:rPr lang="en-US" altLang="en-US" sz="2000" dirty="0">
                <a:latin typeface="Arial" panose="020B0604020202020204" pitchFamily="34" charset="0"/>
                <a:cs typeface="Arial" panose="020B0604020202020204" pitchFamily="34" charset="0"/>
              </a:rPr>
              <a:t>-1 dummy variables are set to 0</a:t>
            </a:r>
          </a:p>
          <a:p>
            <a:pPr lvl="1"/>
            <a:r>
              <a:rPr lang="en-US" sz="2000" dirty="0">
                <a:latin typeface="Arial" panose="020B0604020202020204" pitchFamily="34" charset="0"/>
                <a:cs typeface="Arial" panose="020B0604020202020204" pitchFamily="34" charset="0"/>
              </a:rPr>
              <a:t>This avoids a problem called perfect multicollinearity, where including all k categories would create redundant information and make the model impossible to estimate	</a:t>
            </a:r>
            <a:endParaRPr lang="en-US" alt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In the regression, each dummy variable coefficient represents how much the mean outcome for that category differs from the baseline group, after accounting for all other variables in the model. </a:t>
            </a:r>
          </a:p>
          <a:p>
            <a:pPr lvl="1"/>
            <a:r>
              <a:rPr lang="en-US" sz="2000" dirty="0">
                <a:latin typeface="Arial" panose="020B0604020202020204" pitchFamily="34" charset="0"/>
                <a:cs typeface="Arial" panose="020B0604020202020204" pitchFamily="34" charset="0"/>
              </a:rPr>
              <a:t>The coefficient tells you how that group compares to the reference category, holding numeric predictors constant.</a:t>
            </a:r>
          </a:p>
          <a:p>
            <a:pPr lvl="1"/>
            <a:r>
              <a:rPr lang="en-US" sz="2000" dirty="0">
                <a:latin typeface="Arial" panose="020B0604020202020204" pitchFamily="34" charset="0"/>
                <a:cs typeface="Arial" panose="020B0604020202020204" pitchFamily="34" charset="0"/>
              </a:rPr>
              <a:t>The baseline group serves as the comparison point, and each dummy coefficient shows how much higher or lower the outcome is for each other category relative to that group.</a:t>
            </a:r>
          </a:p>
          <a:p>
            <a:endParaRPr lang="en-US" sz="19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41804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 calcmode="lin" valueType="num">
                                      <p:cBhvr additive="base">
                                        <p:cTn id="1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 calcmode="lin" valueType="num">
                                      <p:cBhvr additive="base">
                                        <p:cTn id="1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 calcmode="lin" valueType="num">
                                      <p:cBhvr additive="base">
                                        <p:cTn id="1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anim calcmode="lin" valueType="num">
                                      <p:cBhvr additive="base">
                                        <p:cTn id="2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7" end="7"/>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anim calcmode="lin" valueType="num">
                                      <p:cBhvr additive="base">
                                        <p:cTn id="3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F4D71D88-BA1A-4A31-92D9-86A2D66DFAE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12</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2" name="Title 1"/>
          <p:cNvSpPr>
            <a:spLocks noGrp="1"/>
          </p:cNvSpPr>
          <p:nvPr>
            <p:ph type="title" idx="4294967295"/>
          </p:nvPr>
        </p:nvSpPr>
        <p:spPr>
          <a:xfrm>
            <a:off x="167120" y="136525"/>
            <a:ext cx="9637712" cy="619933"/>
          </a:xfrm>
        </p:spPr>
        <p:txBody>
          <a:bodyPr>
            <a:normAutofit/>
          </a:bodyPr>
          <a:lstStyle/>
          <a:p>
            <a:r>
              <a:rPr lang="en-US" sz="3600" dirty="0">
                <a:latin typeface="Arial" panose="020B0604020202020204" pitchFamily="34" charset="0"/>
                <a:cs typeface="Arial" panose="020B0604020202020204" pitchFamily="34" charset="0"/>
              </a:rPr>
              <a:t>Interpreting Dummy Variables</a:t>
            </a:r>
          </a:p>
        </p:txBody>
      </p:sp>
      <p:sp>
        <p:nvSpPr>
          <p:cNvPr id="3" name="Content Placeholder 2"/>
          <p:cNvSpPr>
            <a:spLocks noGrp="1"/>
          </p:cNvSpPr>
          <p:nvPr>
            <p:ph idx="4294967295"/>
          </p:nvPr>
        </p:nvSpPr>
        <p:spPr>
          <a:xfrm>
            <a:off x="167120" y="756458"/>
            <a:ext cx="11474618" cy="3624296"/>
          </a:xfrm>
        </p:spPr>
        <p:txBody>
          <a:bodyPr>
            <a:normAutofit/>
          </a:bodyPr>
          <a:lstStyle/>
          <a:p>
            <a:r>
              <a:rPr lang="en-US" sz="2000" dirty="0">
                <a:latin typeface="Arial" panose="020B0604020202020204" pitchFamily="34" charset="0"/>
                <a:cs typeface="Arial" panose="020B0604020202020204" pitchFamily="34" charset="0"/>
              </a:rPr>
              <a:t>Can add categorical variables to the regression model, but first need to create dummy codes</a:t>
            </a:r>
          </a:p>
          <a:p>
            <a:pPr lvl="1"/>
            <a:r>
              <a:rPr lang="en-US" sz="2000" dirty="0">
                <a:latin typeface="Arial" panose="020B0604020202020204" pitchFamily="34" charset="0"/>
                <a:cs typeface="Arial" panose="020B0604020202020204" pitchFamily="34" charset="0"/>
              </a:rPr>
              <a:t>If k categories, you only need k-1 dummy variables</a:t>
            </a:r>
          </a:p>
          <a:p>
            <a:pPr lvl="1"/>
            <a:r>
              <a:rPr lang="en-US" sz="2000" dirty="0">
                <a:latin typeface="Arial" panose="020B0604020202020204" pitchFamily="34" charset="0"/>
                <a:cs typeface="Arial" panose="020B0604020202020204" pitchFamily="34" charset="0"/>
              </a:rPr>
              <a:t>Other category acts as the reference group; absorbed into intercept</a:t>
            </a:r>
          </a:p>
          <a:p>
            <a:r>
              <a:rPr lang="en-US" sz="2000" dirty="0">
                <a:latin typeface="Arial" panose="020B0604020202020204" pitchFamily="34" charset="0"/>
                <a:cs typeface="Arial" panose="020B0604020202020204" pitchFamily="34" charset="0"/>
              </a:rPr>
              <a:t>Each dummy variable acts as an </a:t>
            </a:r>
            <a:r>
              <a:rPr lang="en-US" sz="2000" u="sng" dirty="0">
                <a:latin typeface="Arial" panose="020B0604020202020204" pitchFamily="34" charset="0"/>
                <a:cs typeface="Arial" panose="020B0604020202020204" pitchFamily="34" charset="0"/>
              </a:rPr>
              <a:t>indicator</a:t>
            </a:r>
            <a:r>
              <a:rPr lang="en-US" sz="2000" dirty="0">
                <a:latin typeface="Arial" panose="020B0604020202020204" pitchFamily="34" charset="0"/>
                <a:cs typeface="Arial" panose="020B0604020202020204" pitchFamily="34" charset="0"/>
              </a:rPr>
              <a:t> of whether the observation is in that category </a:t>
            </a:r>
          </a:p>
          <a:p>
            <a:r>
              <a:rPr lang="en-US" sz="2000" dirty="0">
                <a:latin typeface="Arial" panose="020B0604020202020204" pitchFamily="34" charset="0"/>
                <a:cs typeface="Arial" panose="020B0604020202020204" pitchFamily="34" charset="0"/>
              </a:rPr>
              <a:t>Each dummy coefficient can be interpreted as </a:t>
            </a:r>
            <a:r>
              <a:rPr lang="en-US" sz="2000" i="1" dirty="0">
                <a:latin typeface="Arial" panose="020B0604020202020204" pitchFamily="34" charset="0"/>
                <a:cs typeface="Arial" panose="020B0604020202020204" pitchFamily="34" charset="0"/>
              </a:rPr>
              <a:t>the average difference </a:t>
            </a:r>
            <a:r>
              <a:rPr lang="en-US" sz="2000" dirty="0">
                <a:latin typeface="Arial" panose="020B0604020202020204" pitchFamily="34" charset="0"/>
                <a:cs typeface="Arial" panose="020B0604020202020204" pitchFamily="34" charset="0"/>
              </a:rPr>
              <a:t>in Y between the dummy category and the reference group.</a:t>
            </a:r>
          </a:p>
          <a:p>
            <a:pPr lvl="1"/>
            <a:r>
              <a:rPr lang="en-US" sz="2000" dirty="0">
                <a:latin typeface="Arial" panose="020B0604020202020204" pitchFamily="34" charset="0"/>
                <a:cs typeface="Arial" panose="020B0604020202020204" pitchFamily="34" charset="0"/>
              </a:rPr>
              <a:t>Specifically, the dummy coefficients are the linear correction in the model for that level relative to the reference group.</a:t>
            </a:r>
          </a:p>
        </p:txBody>
      </p:sp>
      <p:sp>
        <p:nvSpPr>
          <p:cNvPr id="6" name="TextBox 5">
            <a:extLst>
              <a:ext uri="{FF2B5EF4-FFF2-40B4-BE49-F238E27FC236}">
                <a16:creationId xmlns:a16="http://schemas.microsoft.com/office/drawing/2014/main" id="{910FB018-99C5-A836-9520-3740292D15C8}"/>
              </a:ext>
            </a:extLst>
          </p:cNvPr>
          <p:cNvSpPr txBox="1"/>
          <p:nvPr/>
        </p:nvSpPr>
        <p:spPr>
          <a:xfrm>
            <a:off x="253690" y="5778376"/>
            <a:ext cx="11100109" cy="369332"/>
          </a:xfrm>
          <a:prstGeom prst="rect">
            <a:avLst/>
          </a:prstGeom>
          <a:noFill/>
        </p:spPr>
        <p:txBody>
          <a:bodyPr wrap="square">
            <a:spAutoFit/>
          </a:bodyPr>
          <a:lstStyle/>
          <a:p>
            <a:r>
              <a:rPr lang="en-US" dirty="0">
                <a:hlinkClick r:id="rId2"/>
              </a:rPr>
              <a:t>issues-osu.github.io/statsii-spring2026/static/johfre-freese-2021-reconsidering-the-reference-category.pdf</a:t>
            </a:r>
            <a:endParaRPr lang="en-US" dirty="0"/>
          </a:p>
        </p:txBody>
      </p:sp>
    </p:spTree>
    <p:extLst>
      <p:ext uri="{BB962C8B-B14F-4D97-AF65-F5344CB8AC3E}">
        <p14:creationId xmlns:p14="http://schemas.microsoft.com/office/powerpoint/2010/main" val="8048413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30CE29A-9AAF-4854-A086-C0606789128E}"/>
              </a:ext>
            </a:extLst>
          </p:cNvPr>
          <p:cNvSpPr txBox="1"/>
          <p:nvPr/>
        </p:nvSpPr>
        <p:spPr>
          <a:xfrm>
            <a:off x="3836019" y="197346"/>
            <a:ext cx="8067907" cy="6555641"/>
          </a:xfrm>
          <a:prstGeom prst="rect">
            <a:avLst/>
          </a:prstGeom>
          <a:noFill/>
        </p:spPr>
        <p:txBody>
          <a:bodyPr wrap="square">
            <a:spAutoFit/>
          </a:bodyPr>
          <a:lstStyle/>
          <a:p>
            <a:r>
              <a:rPr lang="en-US" sz="2000" dirty="0">
                <a:latin typeface="Arial" panose="020B0604020202020204" pitchFamily="34" charset="0"/>
                <a:cs typeface="Arial" panose="020B0604020202020204" pitchFamily="34" charset="0"/>
              </a:rPr>
              <a:t>Social scientists often present modeling results from categorical explanatory variables, such as gender, race, and marital status, as coefficients representing contrasts to a “reference” group. Although choosing the reference category may seem arbitrary, the authors argue that it is an intrinsically meaningful act that affects the interpretability of results. Reference category selection foregrounds some contrasts over others. </a:t>
            </a:r>
            <a:r>
              <a:rPr lang="en-US" sz="2000" i="1" dirty="0">
                <a:latin typeface="Arial" panose="020B0604020202020204" pitchFamily="34" charset="0"/>
                <a:cs typeface="Arial" panose="020B0604020202020204" pitchFamily="34" charset="0"/>
              </a:rPr>
              <a:t>Also, selecting a culturally dominant group as the reference can subtly reify the notion that dominant groups are the most “normal.” </a:t>
            </a:r>
            <a:r>
              <a:rPr lang="en-US" sz="2000" dirty="0">
                <a:latin typeface="Arial" panose="020B0604020202020204" pitchFamily="34" charset="0"/>
                <a:cs typeface="Arial" panose="020B0604020202020204" pitchFamily="34" charset="0"/>
              </a:rPr>
              <a:t>The authors find that three of four recently published tables in Demography and American Sociological Review that include race or gender explanatory variables use dominant groups (i.e., male or white) as the reference group. Furthermore, the tables rarely state what the reference is: only half of tables with race variables and one-fifth of tables with gender variables explicitly specify the reference category; the rest leave it up to the reader to check the methods section or simply guess. As an alternative to this apparently standard practice, the authors suggest guidelines for intentionally and responsibly choosing a reference category. The authors then discuss alternative ways to convey results from categorical explanatory variables that avoid the problems of reference categories entirely.</a:t>
            </a:r>
          </a:p>
        </p:txBody>
      </p:sp>
      <p:sp>
        <p:nvSpPr>
          <p:cNvPr id="5" name="TextBox 4">
            <a:extLst>
              <a:ext uri="{FF2B5EF4-FFF2-40B4-BE49-F238E27FC236}">
                <a16:creationId xmlns:a16="http://schemas.microsoft.com/office/drawing/2014/main" id="{81025F97-742E-3B20-C8C1-083896725B52}"/>
              </a:ext>
            </a:extLst>
          </p:cNvPr>
          <p:cNvSpPr txBox="1"/>
          <p:nvPr/>
        </p:nvSpPr>
        <p:spPr>
          <a:xfrm>
            <a:off x="82240" y="105266"/>
            <a:ext cx="3932198" cy="1938992"/>
          </a:xfrm>
          <a:prstGeom prst="rect">
            <a:avLst/>
          </a:prstGeom>
          <a:noFill/>
        </p:spPr>
        <p:txBody>
          <a:bodyPr wrap="square">
            <a:spAutoFit/>
          </a:bodyPr>
          <a:lstStyle/>
          <a:p>
            <a:r>
              <a:rPr lang="en-US" sz="4000" dirty="0">
                <a:latin typeface="Arial" panose="020B0604020202020204" pitchFamily="34" charset="0"/>
                <a:cs typeface="Arial" panose="020B0604020202020204" pitchFamily="34" charset="0"/>
              </a:rPr>
              <a:t>Reconsidering the Reference Category</a:t>
            </a:r>
          </a:p>
        </p:txBody>
      </p:sp>
    </p:spTree>
    <p:extLst>
      <p:ext uri="{BB962C8B-B14F-4D97-AF65-F5344CB8AC3E}">
        <p14:creationId xmlns:p14="http://schemas.microsoft.com/office/powerpoint/2010/main" val="9988218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314706" y="806264"/>
                <a:ext cx="10515600" cy="4343634"/>
              </a:xfrm>
            </p:spPr>
            <p:txBody>
              <a:bodyPr>
                <a:normAutofit/>
              </a:bodyPr>
              <a:lstStyle/>
              <a:p>
                <a:r>
                  <a:rPr lang="en-US" sz="2000" b="1" dirty="0">
                    <a:latin typeface="Arial" panose="020B0604020202020204" pitchFamily="34" charset="0"/>
                    <a:cs typeface="Arial" panose="020B0604020202020204" pitchFamily="34" charset="0"/>
                  </a:rPr>
                  <a:t>Idea: </a:t>
                </a:r>
                <a:r>
                  <a:rPr lang="en-US" sz="2000" dirty="0">
                    <a:latin typeface="Arial" panose="020B0604020202020204" pitchFamily="34" charset="0"/>
                    <a:cs typeface="Arial" panose="020B0604020202020204" pitchFamily="34" charset="0"/>
                  </a:rPr>
                  <a:t>Use a binary (0/1) variable to identify different groups i.e. X</a:t>
                </a:r>
                <a:r>
                  <a:rPr lang="en-US" sz="2000" baseline="-25000" dirty="0">
                    <a:latin typeface="Arial" panose="020B0604020202020204" pitchFamily="34" charset="0"/>
                    <a:cs typeface="Arial" panose="020B0604020202020204" pitchFamily="34" charset="0"/>
                  </a:rPr>
                  <a:t>i </a:t>
                </a:r>
                <a:r>
                  <a:rPr lang="en-US" sz="2000" dirty="0">
                    <a:latin typeface="Arial" panose="020B0604020202020204" pitchFamily="34" charset="0"/>
                    <a:cs typeface="Arial" panose="020B0604020202020204" pitchFamily="34" charset="0"/>
                  </a:rPr>
                  <a:t> = 1 if observation is of the category and X</a:t>
                </a:r>
                <a:r>
                  <a:rPr lang="en-US" sz="2000" baseline="-25000" dirty="0">
                    <a:latin typeface="Arial" panose="020B0604020202020204" pitchFamily="34" charset="0"/>
                    <a:cs typeface="Arial" panose="020B0604020202020204" pitchFamily="34" charset="0"/>
                  </a:rPr>
                  <a:t>i </a:t>
                </a:r>
                <a:r>
                  <a:rPr lang="en-US" sz="2000" dirty="0">
                    <a:latin typeface="Arial" panose="020B0604020202020204" pitchFamily="34" charset="0"/>
                    <a:cs typeface="Arial" panose="020B0604020202020204" pitchFamily="34" charset="0"/>
                  </a:rPr>
                  <a:t> = 0 otherwise.</a:t>
                </a:r>
              </a:p>
              <a:p>
                <a:r>
                  <a:rPr lang="en-US" sz="2000" dirty="0">
                    <a:latin typeface="Arial" panose="020B0604020202020204" pitchFamily="34" charset="0"/>
                    <a:cs typeface="Arial" panose="020B0604020202020204" pitchFamily="34" charset="0"/>
                  </a:rPr>
                  <a:t>The binary categorical variable acts as an additive correction term. </a:t>
                </a:r>
              </a:p>
              <a:p>
                <a:pPr lvl="1"/>
                <a:r>
                  <a:rPr lang="en-US" sz="1800" dirty="0">
                    <a:latin typeface="Arial" panose="020B0604020202020204" pitchFamily="34" charset="0"/>
                    <a:cs typeface="Arial" panose="020B0604020202020204" pitchFamily="34" charset="0"/>
                  </a:rPr>
                  <a:t>Suppose x</a:t>
                </a:r>
                <a:r>
                  <a:rPr lang="en-US" sz="1800" baseline="-25000" dirty="0">
                    <a:latin typeface="Arial" panose="020B0604020202020204" pitchFamily="34" charset="0"/>
                    <a:cs typeface="Arial" panose="020B0604020202020204" pitchFamily="34" charset="0"/>
                  </a:rPr>
                  <a:t>2</a:t>
                </a:r>
                <a:r>
                  <a:rPr lang="en-US" sz="1800" dirty="0">
                    <a:latin typeface="Arial" panose="020B0604020202020204" pitchFamily="34" charset="0"/>
                    <a:cs typeface="Arial" panose="020B0604020202020204" pitchFamily="34" charset="0"/>
                  </a:rPr>
                  <a:t> is binary with </a:t>
                </a:r>
                <a:r>
                  <a:rPr lang="en-US" sz="1800" dirty="0" err="1">
                    <a:latin typeface="Arial" panose="020B0604020202020204" pitchFamily="34" charset="0"/>
                    <a:cs typeface="Arial" panose="020B0604020202020204" pitchFamily="34" charset="0"/>
                  </a:rPr>
                  <a:t>coeff</a:t>
                </a:r>
                <a:r>
                  <a:rPr lang="en-US" sz="1800" dirty="0">
                    <a:latin typeface="Arial" panose="020B0604020202020204" pitchFamily="34" charset="0"/>
                    <a:cs typeface="Arial" panose="020B0604020202020204" pitchFamily="34" charset="0"/>
                  </a:rPr>
                  <a:t>. </a:t>
                </a:r>
                <a14:m>
                  <m:oMath xmlns:m="http://schemas.openxmlformats.org/officeDocument/2006/math">
                    <m:sSub>
                      <m:sSubPr>
                        <m:ctrlPr>
                          <a:rPr lang="en-US" sz="1800" i="1">
                            <a:solidFill>
                              <a:srgbClr val="000000"/>
                            </a:solidFill>
                            <a:latin typeface="Cambria Math" panose="02040503050406030204" pitchFamily="18" charset="0"/>
                          </a:rPr>
                        </m:ctrlPr>
                      </m:sSubPr>
                      <m:e>
                        <m:acc>
                          <m:accPr>
                            <m:chr m:val="̂"/>
                            <m:ctrlPr>
                              <a:rPr lang="en-US" sz="1800" i="1">
                                <a:solidFill>
                                  <a:srgbClr val="000000"/>
                                </a:solidFill>
                                <a:latin typeface="Cambria Math" panose="02040503050406030204" pitchFamily="18" charset="0"/>
                              </a:rPr>
                            </m:ctrlPr>
                          </m:accPr>
                          <m:e>
                            <m:r>
                              <a:rPr lang="en-US" sz="1800" i="1">
                                <a:solidFill>
                                  <a:srgbClr val="000000"/>
                                </a:solidFill>
                                <a:latin typeface="Cambria Math" panose="02040503050406030204" pitchFamily="18" charset="0"/>
                              </a:rPr>
                              <m:t>𝛽</m:t>
                            </m:r>
                          </m:e>
                        </m:acc>
                      </m:e>
                      <m:sub>
                        <m:r>
                          <a:rPr lang="en-US" sz="1800" i="1">
                            <a:solidFill>
                              <a:srgbClr val="000000"/>
                            </a:solidFill>
                            <a:latin typeface="Cambria Math" charset="0"/>
                          </a:rPr>
                          <m:t>2</m:t>
                        </m:r>
                      </m:sub>
                    </m:sSub>
                  </m:oMath>
                </a14:m>
                <a:r>
                  <a:rPr lang="en-US" sz="1800" dirty="0">
                    <a:latin typeface="Arial" panose="020B0604020202020204" pitchFamily="34" charset="0"/>
                    <a:cs typeface="Arial" panose="020B0604020202020204" pitchFamily="34" charset="0"/>
                  </a:rPr>
                  <a:t>. </a:t>
                </a:r>
              </a:p>
              <a:p>
                <a:pPr lvl="1"/>
                <a:r>
                  <a:rPr lang="en-US" sz="1800" dirty="0">
                    <a:latin typeface="Arial" panose="020B0604020202020204" pitchFamily="34" charset="0"/>
                    <a:cs typeface="Arial" panose="020B0604020202020204" pitchFamily="34" charset="0"/>
                  </a:rPr>
                  <a:t>Then the model is:   </a:t>
                </a:r>
                <a14:m>
                  <m:oMath xmlns:m="http://schemas.openxmlformats.org/officeDocument/2006/math">
                    <m:acc>
                      <m:accPr>
                        <m:chr m:val="̂"/>
                        <m:ctrlPr>
                          <a:rPr lang="en-US" sz="1800" i="1">
                            <a:solidFill>
                              <a:srgbClr val="000000"/>
                            </a:solidFill>
                            <a:latin typeface="Cambria Math" panose="02040503050406030204" pitchFamily="18" charset="0"/>
                          </a:rPr>
                        </m:ctrlPr>
                      </m:accPr>
                      <m:e>
                        <m:r>
                          <a:rPr lang="en-US" sz="1800" i="1">
                            <a:solidFill>
                              <a:srgbClr val="000000"/>
                            </a:solidFill>
                            <a:latin typeface="Cambria Math" panose="02040503050406030204" pitchFamily="18" charset="0"/>
                          </a:rPr>
                          <m:t>𝑦</m:t>
                        </m:r>
                      </m:e>
                    </m:acc>
                    <m:r>
                      <m:rPr>
                        <m:nor/>
                      </m:rPr>
                      <a:rPr lang="en-US" sz="1800" baseline="-25000" dirty="0">
                        <a:latin typeface="Arial" panose="020B0604020202020204" pitchFamily="34" charset="0"/>
                        <a:cs typeface="Arial" panose="020B0604020202020204" pitchFamily="34" charset="0"/>
                      </a:rPr>
                      <m:t> </m:t>
                    </m:r>
                    <m:r>
                      <a:rPr lang="en-US" sz="1800" i="1">
                        <a:solidFill>
                          <a:srgbClr val="000000"/>
                        </a:solidFill>
                        <a:latin typeface="Cambria Math" panose="02040503050406030204" pitchFamily="18" charset="0"/>
                      </a:rPr>
                      <m:t>=</m:t>
                    </m:r>
                    <m:sSub>
                      <m:sSubPr>
                        <m:ctrlPr>
                          <a:rPr lang="en-US" sz="1800" i="1">
                            <a:solidFill>
                              <a:srgbClr val="000000"/>
                            </a:solidFill>
                            <a:latin typeface="Cambria Math" panose="02040503050406030204" pitchFamily="18" charset="0"/>
                          </a:rPr>
                        </m:ctrlPr>
                      </m:sSubPr>
                      <m:e>
                        <m:acc>
                          <m:accPr>
                            <m:chr m:val="̂"/>
                            <m:ctrlPr>
                              <a:rPr lang="en-US" sz="1800" i="1">
                                <a:solidFill>
                                  <a:srgbClr val="000000"/>
                                </a:solidFill>
                                <a:latin typeface="Cambria Math" panose="02040503050406030204" pitchFamily="18" charset="0"/>
                              </a:rPr>
                            </m:ctrlPr>
                          </m:accPr>
                          <m:e>
                            <m:r>
                              <a:rPr lang="en-US" sz="1800" i="1">
                                <a:solidFill>
                                  <a:srgbClr val="000000"/>
                                </a:solidFill>
                                <a:latin typeface="Cambria Math" panose="02040503050406030204" pitchFamily="18" charset="0"/>
                              </a:rPr>
                              <m:t>𝛽</m:t>
                            </m:r>
                          </m:e>
                        </m:acc>
                      </m:e>
                      <m:sub>
                        <m:r>
                          <a:rPr lang="en-US" sz="1800" i="1">
                            <a:solidFill>
                              <a:srgbClr val="000000"/>
                            </a:solidFill>
                            <a:latin typeface="Cambria Math" panose="02040503050406030204" pitchFamily="18" charset="0"/>
                          </a:rPr>
                          <m:t>0</m:t>
                        </m:r>
                      </m:sub>
                    </m:sSub>
                    <m:r>
                      <a:rPr lang="en-US" sz="1800" i="1">
                        <a:solidFill>
                          <a:srgbClr val="000000"/>
                        </a:solidFill>
                        <a:latin typeface="Cambria Math" panose="02040503050406030204" pitchFamily="18" charset="0"/>
                      </a:rPr>
                      <m:t>+</m:t>
                    </m:r>
                    <m:sSub>
                      <m:sSubPr>
                        <m:ctrlPr>
                          <a:rPr lang="en-US" sz="1800" i="1">
                            <a:solidFill>
                              <a:srgbClr val="000000"/>
                            </a:solidFill>
                            <a:latin typeface="Cambria Math" panose="02040503050406030204" pitchFamily="18" charset="0"/>
                          </a:rPr>
                        </m:ctrlPr>
                      </m:sSubPr>
                      <m:e>
                        <m:acc>
                          <m:accPr>
                            <m:chr m:val="̂"/>
                            <m:ctrlPr>
                              <a:rPr lang="en-US" sz="1800" i="1">
                                <a:solidFill>
                                  <a:srgbClr val="000000"/>
                                </a:solidFill>
                                <a:latin typeface="Cambria Math" panose="02040503050406030204" pitchFamily="18" charset="0"/>
                              </a:rPr>
                            </m:ctrlPr>
                          </m:accPr>
                          <m:e>
                            <m:r>
                              <a:rPr lang="en-US" sz="1800" i="1">
                                <a:solidFill>
                                  <a:srgbClr val="000000"/>
                                </a:solidFill>
                                <a:latin typeface="Cambria Math" panose="02040503050406030204" pitchFamily="18" charset="0"/>
                              </a:rPr>
                              <m:t>𝛽</m:t>
                            </m:r>
                          </m:e>
                        </m:acc>
                      </m:e>
                      <m:sub>
                        <m:r>
                          <a:rPr lang="en-US" sz="1800" i="1">
                            <a:solidFill>
                              <a:srgbClr val="000000"/>
                            </a:solidFill>
                            <a:latin typeface="Cambria Math" panose="02040503050406030204" pitchFamily="18" charset="0"/>
                          </a:rPr>
                          <m:t>1</m:t>
                        </m:r>
                      </m:sub>
                    </m:sSub>
                    <m:r>
                      <a:rPr lang="en-US" sz="1800" i="1">
                        <a:solidFill>
                          <a:srgbClr val="000000"/>
                        </a:solidFill>
                        <a:latin typeface="Cambria Math" panose="02040503050406030204" pitchFamily="18" charset="0"/>
                      </a:rPr>
                      <m:t>𝑥</m:t>
                    </m:r>
                    <m:r>
                      <a:rPr lang="en-US" sz="1800" i="1" baseline="-25000">
                        <a:solidFill>
                          <a:srgbClr val="000000"/>
                        </a:solidFill>
                        <a:latin typeface="Cambria Math" panose="02040503050406030204" pitchFamily="18" charset="0"/>
                      </a:rPr>
                      <m:t>1</m:t>
                    </m:r>
                  </m:oMath>
                </a14:m>
                <a:r>
                  <a:rPr lang="en-US" sz="1800" dirty="0">
                    <a:latin typeface="Arial" panose="020B0604020202020204" pitchFamily="34" charset="0"/>
                    <a:cs typeface="Arial" panose="020B0604020202020204" pitchFamily="34" charset="0"/>
                  </a:rPr>
                  <a:t>+</a:t>
                </a:r>
                <a:r>
                  <a:rPr lang="en-US" sz="1800" dirty="0">
                    <a:solidFill>
                      <a:srgbClr val="000000"/>
                    </a:solidFill>
                    <a:latin typeface="Arial" panose="020B0604020202020204" pitchFamily="34" charset="0"/>
                    <a:cs typeface="Arial" panose="020B0604020202020204" pitchFamily="34" charset="0"/>
                  </a:rPr>
                  <a:t> </a:t>
                </a:r>
                <a14:m>
                  <m:oMath xmlns:m="http://schemas.openxmlformats.org/officeDocument/2006/math">
                    <m:sSub>
                      <m:sSubPr>
                        <m:ctrlPr>
                          <a:rPr lang="en-US" sz="1800" i="1">
                            <a:solidFill>
                              <a:srgbClr val="000000"/>
                            </a:solidFill>
                            <a:latin typeface="Cambria Math" panose="02040503050406030204" pitchFamily="18" charset="0"/>
                          </a:rPr>
                        </m:ctrlPr>
                      </m:sSubPr>
                      <m:e>
                        <m:acc>
                          <m:accPr>
                            <m:chr m:val="̂"/>
                            <m:ctrlPr>
                              <a:rPr lang="en-US" sz="1800" i="1">
                                <a:solidFill>
                                  <a:srgbClr val="000000"/>
                                </a:solidFill>
                                <a:latin typeface="Cambria Math" panose="02040503050406030204" pitchFamily="18" charset="0"/>
                              </a:rPr>
                            </m:ctrlPr>
                          </m:accPr>
                          <m:e>
                            <m:r>
                              <a:rPr lang="en-US" sz="1800" i="1">
                                <a:solidFill>
                                  <a:srgbClr val="000000"/>
                                </a:solidFill>
                                <a:latin typeface="Cambria Math" panose="02040503050406030204" pitchFamily="18" charset="0"/>
                              </a:rPr>
                              <m:t>𝛽</m:t>
                            </m:r>
                          </m:e>
                        </m:acc>
                      </m:e>
                      <m:sub>
                        <m:r>
                          <a:rPr lang="en-US" sz="1800" i="1">
                            <a:solidFill>
                              <a:srgbClr val="000000"/>
                            </a:solidFill>
                            <a:latin typeface="Cambria Math" charset="0"/>
                          </a:rPr>
                          <m:t>2</m:t>
                        </m:r>
                      </m:sub>
                    </m:sSub>
                  </m:oMath>
                </a14:m>
                <a:r>
                  <a:rPr lang="en-US" sz="1800" dirty="0">
                    <a:solidFill>
                      <a:srgbClr val="000000"/>
                    </a:solidFill>
                    <a:latin typeface="Arial" panose="020B0604020202020204" pitchFamily="34" charset="0"/>
                    <a:cs typeface="Arial" panose="020B0604020202020204" pitchFamily="34" charset="0"/>
                  </a:rPr>
                  <a:t> </a:t>
                </a:r>
                <a14:m>
                  <m:oMath xmlns:m="http://schemas.openxmlformats.org/officeDocument/2006/math">
                    <m:r>
                      <a:rPr lang="en-US" sz="1800" i="1">
                        <a:solidFill>
                          <a:srgbClr val="000000"/>
                        </a:solidFill>
                        <a:latin typeface="Cambria Math" panose="02040503050406030204" pitchFamily="18" charset="0"/>
                      </a:rPr>
                      <m:t>𝑥</m:t>
                    </m:r>
                    <m:r>
                      <a:rPr lang="en-US" sz="1800" b="0" i="1" baseline="-25000" smtClean="0">
                        <a:solidFill>
                          <a:srgbClr val="000000"/>
                        </a:solidFill>
                        <a:latin typeface="Cambria Math" panose="02040503050406030204" pitchFamily="18" charset="0"/>
                      </a:rPr>
                      <m:t>2 </m:t>
                    </m:r>
                  </m:oMath>
                </a14:m>
                <a:r>
                  <a:rPr lang="en-US" sz="1800" dirty="0">
                    <a:latin typeface="Arial" panose="020B0604020202020204" pitchFamily="34" charset="0"/>
                    <a:cs typeface="Arial" panose="020B0604020202020204" pitchFamily="34" charset="0"/>
                  </a:rPr>
                  <a:t>  which splits into:</a:t>
                </a:r>
                <a:endParaRPr lang="en-US" sz="1800" u="sng" baseline="-25000" dirty="0">
                  <a:latin typeface="Arial" panose="020B0604020202020204" pitchFamily="34" charset="0"/>
                  <a:cs typeface="Arial" panose="020B0604020202020204" pitchFamily="34" charset="0"/>
                </a:endParaRPr>
              </a:p>
              <a:p>
                <a:pPr marL="0" indent="0" algn="ctr">
                  <a:buNone/>
                </a:pPr>
                <a:r>
                  <a:rPr lang="en-US" sz="1800" dirty="0">
                    <a:latin typeface="Arial" panose="020B0604020202020204" pitchFamily="34" charset="0"/>
                    <a:cs typeface="Arial" panose="020B0604020202020204" pitchFamily="34" charset="0"/>
                  </a:rPr>
                  <a:t>  </a:t>
                </a:r>
                <a14:m>
                  <m:oMath xmlns:m="http://schemas.openxmlformats.org/officeDocument/2006/math">
                    <m:acc>
                      <m:accPr>
                        <m:chr m:val="̂"/>
                        <m:ctrlPr>
                          <a:rPr lang="en-US" sz="1800" i="1">
                            <a:solidFill>
                              <a:srgbClr val="000000"/>
                            </a:solidFill>
                            <a:latin typeface="Cambria Math" panose="02040503050406030204" pitchFamily="18" charset="0"/>
                          </a:rPr>
                        </m:ctrlPr>
                      </m:accPr>
                      <m:e>
                        <m:r>
                          <a:rPr lang="en-US" sz="1800" i="1">
                            <a:solidFill>
                              <a:srgbClr val="000000"/>
                            </a:solidFill>
                            <a:latin typeface="Cambria Math" panose="02040503050406030204" pitchFamily="18" charset="0"/>
                          </a:rPr>
                          <m:t>𝑦</m:t>
                        </m:r>
                      </m:e>
                    </m:acc>
                    <m:d>
                      <m:dPr>
                        <m:begChr m:val="|"/>
                        <m:endChr m:val="|"/>
                        <m:ctrlPr>
                          <a:rPr lang="en-US" sz="1800" b="0" i="1" smtClean="0">
                            <a:solidFill>
                              <a:srgbClr val="000000"/>
                            </a:solidFill>
                            <a:latin typeface="Cambria Math" panose="02040503050406030204" pitchFamily="18" charset="0"/>
                          </a:rPr>
                        </m:ctrlPr>
                      </m:dPr>
                      <m:e>
                        <m:r>
                          <m:rPr>
                            <m:nor/>
                          </m:rPr>
                          <a:rPr lang="en-US" sz="1800" b="0" i="0" smtClean="0">
                            <a:solidFill>
                              <a:srgbClr val="000000"/>
                            </a:solidFill>
                            <a:latin typeface="Arial" panose="020B0604020202020204" pitchFamily="34" charset="0"/>
                            <a:cs typeface="Arial" panose="020B0604020202020204" pitchFamily="34" charset="0"/>
                          </a:rPr>
                          <m:t>(</m:t>
                        </m:r>
                        <m:r>
                          <m:rPr>
                            <m:nor/>
                          </m:rPr>
                          <a:rPr lang="en-US" sz="1800" dirty="0" smtClean="0">
                            <a:latin typeface="Arial" panose="020B0604020202020204" pitchFamily="34" charset="0"/>
                            <a:cs typeface="Arial" panose="020B0604020202020204" pitchFamily="34" charset="0"/>
                          </a:rPr>
                          <m:t>x</m:t>
                        </m:r>
                        <m:r>
                          <m:rPr>
                            <m:nor/>
                          </m:rPr>
                          <a:rPr lang="en-US" sz="1800" b="0" i="0" baseline="-25000" dirty="0" smtClean="0">
                            <a:latin typeface="Arial" panose="020B0604020202020204" pitchFamily="34" charset="0"/>
                            <a:cs typeface="Arial" panose="020B0604020202020204" pitchFamily="34" charset="0"/>
                          </a:rPr>
                          <m:t>2</m:t>
                        </m:r>
                        <m:r>
                          <m:rPr>
                            <m:nor/>
                          </m:rPr>
                          <a:rPr lang="en-US" sz="1800" b="0" i="0" baseline="-25000" dirty="0" smtClean="0">
                            <a:latin typeface="Arial" panose="020B0604020202020204" pitchFamily="34" charset="0"/>
                            <a:cs typeface="Arial" panose="020B0604020202020204" pitchFamily="34" charset="0"/>
                          </a:rPr>
                          <m:t> </m:t>
                        </m:r>
                        <m:r>
                          <m:rPr>
                            <m:nor/>
                          </m:rPr>
                          <a:rPr lang="en-US" sz="1800" b="0" i="0" dirty="0" smtClean="0">
                            <a:latin typeface="Arial" panose="020B0604020202020204" pitchFamily="34" charset="0"/>
                            <a:cs typeface="Arial" panose="020B0604020202020204" pitchFamily="34" charset="0"/>
                          </a:rPr>
                          <m:t>=</m:t>
                        </m:r>
                        <m:r>
                          <m:rPr>
                            <m:nor/>
                          </m:rPr>
                          <a:rPr lang="en-US" sz="1800" b="0" i="0" dirty="0" smtClean="0">
                            <a:latin typeface="Arial" panose="020B0604020202020204" pitchFamily="34" charset="0"/>
                            <a:cs typeface="Arial" panose="020B0604020202020204" pitchFamily="34" charset="0"/>
                          </a:rPr>
                          <m:t> </m:t>
                        </m:r>
                        <m:r>
                          <m:rPr>
                            <m:nor/>
                          </m:rPr>
                          <a:rPr lang="en-US" sz="1800" b="0" i="0" dirty="0" smtClean="0">
                            <a:latin typeface="Arial" panose="020B0604020202020204" pitchFamily="34" charset="0"/>
                            <a:cs typeface="Arial" panose="020B0604020202020204" pitchFamily="34" charset="0"/>
                          </a:rPr>
                          <m:t>0)</m:t>
                        </m:r>
                        <m:r>
                          <m:rPr>
                            <m:nor/>
                          </m:rPr>
                          <a:rPr lang="en-US" sz="1800" b="0" i="0" baseline="-25000" dirty="0" smtClean="0">
                            <a:latin typeface="Arial" panose="020B0604020202020204" pitchFamily="34" charset="0"/>
                            <a:cs typeface="Arial" panose="020B0604020202020204" pitchFamily="34" charset="0"/>
                          </a:rPr>
                          <m:t> </m:t>
                        </m:r>
                        <m:r>
                          <a:rPr lang="en-US" sz="1800" i="1">
                            <a:solidFill>
                              <a:srgbClr val="000000"/>
                            </a:solidFill>
                            <a:latin typeface="Cambria Math" panose="02040503050406030204" pitchFamily="18" charset="0"/>
                          </a:rPr>
                          <m:t>=</m:t>
                        </m:r>
                        <m:sSub>
                          <m:sSubPr>
                            <m:ctrlPr>
                              <a:rPr lang="en-US" sz="1800" i="1">
                                <a:solidFill>
                                  <a:srgbClr val="000000"/>
                                </a:solidFill>
                                <a:latin typeface="Cambria Math" panose="02040503050406030204" pitchFamily="18" charset="0"/>
                              </a:rPr>
                            </m:ctrlPr>
                          </m:sSubPr>
                          <m:e>
                            <m:acc>
                              <m:accPr>
                                <m:chr m:val="̂"/>
                                <m:ctrlPr>
                                  <a:rPr lang="en-US" sz="1800" i="1">
                                    <a:solidFill>
                                      <a:srgbClr val="000000"/>
                                    </a:solidFill>
                                    <a:latin typeface="Cambria Math" panose="02040503050406030204" pitchFamily="18" charset="0"/>
                                  </a:rPr>
                                </m:ctrlPr>
                              </m:accPr>
                              <m:e>
                                <m:r>
                                  <a:rPr lang="en-US" sz="1800" i="1">
                                    <a:solidFill>
                                      <a:srgbClr val="000000"/>
                                    </a:solidFill>
                                    <a:latin typeface="Cambria Math" panose="02040503050406030204" pitchFamily="18" charset="0"/>
                                  </a:rPr>
                                  <m:t>𝛽</m:t>
                                </m:r>
                              </m:e>
                            </m:acc>
                          </m:e>
                          <m:sub>
                            <m:r>
                              <a:rPr lang="en-US" sz="1800" i="1">
                                <a:solidFill>
                                  <a:srgbClr val="000000"/>
                                </a:solidFill>
                                <a:latin typeface="Cambria Math" panose="02040503050406030204" pitchFamily="18" charset="0"/>
                              </a:rPr>
                              <m:t>0</m:t>
                            </m:r>
                          </m:sub>
                        </m:sSub>
                        <m:r>
                          <a:rPr lang="en-US" sz="1800" i="1">
                            <a:solidFill>
                              <a:srgbClr val="000000"/>
                            </a:solidFill>
                            <a:latin typeface="Cambria Math" panose="02040503050406030204" pitchFamily="18" charset="0"/>
                          </a:rPr>
                          <m:t>+</m:t>
                        </m:r>
                        <m:sSub>
                          <m:sSubPr>
                            <m:ctrlPr>
                              <a:rPr lang="en-US" sz="1800" i="1">
                                <a:solidFill>
                                  <a:srgbClr val="000000"/>
                                </a:solidFill>
                                <a:latin typeface="Cambria Math" panose="02040503050406030204" pitchFamily="18" charset="0"/>
                              </a:rPr>
                            </m:ctrlPr>
                          </m:sSubPr>
                          <m:e>
                            <m:acc>
                              <m:accPr>
                                <m:chr m:val="̂"/>
                                <m:ctrlPr>
                                  <a:rPr lang="en-US" sz="1800" i="1">
                                    <a:solidFill>
                                      <a:srgbClr val="000000"/>
                                    </a:solidFill>
                                    <a:latin typeface="Cambria Math" panose="02040503050406030204" pitchFamily="18" charset="0"/>
                                  </a:rPr>
                                </m:ctrlPr>
                              </m:accPr>
                              <m:e>
                                <m:r>
                                  <a:rPr lang="en-US" sz="1800" i="1">
                                    <a:solidFill>
                                      <a:srgbClr val="000000"/>
                                    </a:solidFill>
                                    <a:latin typeface="Cambria Math" panose="02040503050406030204" pitchFamily="18" charset="0"/>
                                  </a:rPr>
                                  <m:t>𝛽</m:t>
                                </m:r>
                              </m:e>
                            </m:acc>
                          </m:e>
                          <m:sub>
                            <m:r>
                              <a:rPr lang="en-US" sz="1800" i="1">
                                <a:solidFill>
                                  <a:srgbClr val="000000"/>
                                </a:solidFill>
                                <a:latin typeface="Cambria Math" panose="02040503050406030204" pitchFamily="18" charset="0"/>
                              </a:rPr>
                              <m:t>1</m:t>
                            </m:r>
                          </m:sub>
                        </m:sSub>
                        <m:r>
                          <a:rPr lang="en-US" sz="1800" i="1">
                            <a:solidFill>
                              <a:srgbClr val="000000"/>
                            </a:solidFill>
                            <a:latin typeface="Cambria Math" panose="02040503050406030204" pitchFamily="18" charset="0"/>
                          </a:rPr>
                          <m:t>𝑥</m:t>
                        </m:r>
                        <m:r>
                          <a:rPr lang="en-US" sz="1800" b="0" i="1" baseline="-25000" smtClean="0">
                            <a:solidFill>
                              <a:srgbClr val="000000"/>
                            </a:solidFill>
                            <a:latin typeface="Cambria Math" panose="02040503050406030204" pitchFamily="18" charset="0"/>
                          </a:rPr>
                          <m:t>1                              </m:t>
                        </m:r>
                        <m:acc>
                          <m:accPr>
                            <m:chr m:val="̂"/>
                            <m:ctrlPr>
                              <a:rPr lang="en-US" sz="1800" i="1">
                                <a:solidFill>
                                  <a:srgbClr val="000000"/>
                                </a:solidFill>
                                <a:latin typeface="Cambria Math" panose="02040503050406030204" pitchFamily="18" charset="0"/>
                              </a:rPr>
                            </m:ctrlPr>
                          </m:accPr>
                          <m:e>
                            <m:r>
                              <a:rPr lang="en-US" sz="1800" i="1">
                                <a:solidFill>
                                  <a:srgbClr val="000000"/>
                                </a:solidFill>
                                <a:latin typeface="Cambria Math" panose="02040503050406030204" pitchFamily="18" charset="0"/>
                              </a:rPr>
                              <m:t>𝑦</m:t>
                            </m:r>
                          </m:e>
                        </m:acc>
                      </m:e>
                    </m:d>
                    <m:r>
                      <m:rPr>
                        <m:nor/>
                      </m:rPr>
                      <a:rPr lang="en-US" sz="1800">
                        <a:solidFill>
                          <a:srgbClr val="000000"/>
                        </a:solidFill>
                        <a:latin typeface="Arial" panose="020B0604020202020204" pitchFamily="34" charset="0"/>
                        <a:cs typeface="Arial" panose="020B0604020202020204" pitchFamily="34" charset="0"/>
                      </a:rPr>
                      <m:t>(</m:t>
                    </m:r>
                    <m:r>
                      <m:rPr>
                        <m:nor/>
                      </m:rPr>
                      <a:rPr lang="en-US" sz="1800" dirty="0">
                        <a:latin typeface="Arial" panose="020B0604020202020204" pitchFamily="34" charset="0"/>
                        <a:cs typeface="Arial" panose="020B0604020202020204" pitchFamily="34" charset="0"/>
                      </a:rPr>
                      <m:t>x</m:t>
                    </m:r>
                    <m:r>
                      <m:rPr>
                        <m:nor/>
                      </m:rPr>
                      <a:rPr lang="en-US" sz="1800" baseline="-25000" dirty="0">
                        <a:latin typeface="Arial" panose="020B0604020202020204" pitchFamily="34" charset="0"/>
                        <a:cs typeface="Arial" panose="020B0604020202020204" pitchFamily="34" charset="0"/>
                      </a:rPr>
                      <m:t>2</m:t>
                    </m:r>
                    <m:r>
                      <m:rPr>
                        <m:nor/>
                      </m:rPr>
                      <a:rPr lang="en-US" sz="1800" b="0" i="0" baseline="-25000" dirty="0" smtClean="0">
                        <a:latin typeface="Arial" panose="020B0604020202020204" pitchFamily="34" charset="0"/>
                        <a:cs typeface="Arial" panose="020B0604020202020204" pitchFamily="34" charset="0"/>
                      </a:rPr>
                      <m:t> </m:t>
                    </m:r>
                    <m:r>
                      <m:rPr>
                        <m:nor/>
                      </m:rPr>
                      <a:rPr lang="en-US" sz="1800" dirty="0">
                        <a:latin typeface="Arial" panose="020B0604020202020204" pitchFamily="34" charset="0"/>
                        <a:cs typeface="Arial" panose="020B0604020202020204" pitchFamily="34" charset="0"/>
                      </a:rPr>
                      <m:t>=</m:t>
                    </m:r>
                    <m:r>
                      <m:rPr>
                        <m:nor/>
                      </m:rPr>
                      <a:rPr lang="en-US" sz="1800" b="0" i="0" dirty="0" smtClean="0">
                        <a:latin typeface="Arial" panose="020B0604020202020204" pitchFamily="34" charset="0"/>
                        <a:cs typeface="Arial" panose="020B0604020202020204" pitchFamily="34" charset="0"/>
                      </a:rPr>
                      <m:t> </m:t>
                    </m:r>
                    <m:r>
                      <m:rPr>
                        <m:nor/>
                      </m:rPr>
                      <a:rPr lang="en-US" sz="1800" b="0" i="0" dirty="0" smtClean="0">
                        <a:latin typeface="Arial" panose="020B0604020202020204" pitchFamily="34" charset="0"/>
                        <a:cs typeface="Arial" panose="020B0604020202020204" pitchFamily="34" charset="0"/>
                      </a:rPr>
                      <m:t>1</m:t>
                    </m:r>
                    <m:r>
                      <m:rPr>
                        <m:nor/>
                      </m:rPr>
                      <a:rPr lang="en-US" sz="1800" dirty="0">
                        <a:latin typeface="Arial" panose="020B0604020202020204" pitchFamily="34" charset="0"/>
                        <a:cs typeface="Arial" panose="020B0604020202020204" pitchFamily="34" charset="0"/>
                      </a:rPr>
                      <m:t>)</m:t>
                    </m:r>
                    <m:r>
                      <m:rPr>
                        <m:nor/>
                      </m:rPr>
                      <a:rPr lang="en-US" sz="1800" baseline="-25000" dirty="0">
                        <a:latin typeface="Arial" panose="020B0604020202020204" pitchFamily="34" charset="0"/>
                        <a:cs typeface="Arial" panose="020B0604020202020204" pitchFamily="34" charset="0"/>
                      </a:rPr>
                      <m:t> </m:t>
                    </m:r>
                    <m:r>
                      <a:rPr lang="en-US" sz="1800" i="1">
                        <a:solidFill>
                          <a:srgbClr val="000000"/>
                        </a:solidFill>
                        <a:latin typeface="Cambria Math" panose="02040503050406030204" pitchFamily="18" charset="0"/>
                      </a:rPr>
                      <m:t>=</m:t>
                    </m:r>
                    <m:sSub>
                      <m:sSubPr>
                        <m:ctrlPr>
                          <a:rPr lang="en-US" sz="1800" i="1">
                            <a:solidFill>
                              <a:srgbClr val="000000"/>
                            </a:solidFill>
                            <a:latin typeface="Cambria Math" panose="02040503050406030204" pitchFamily="18" charset="0"/>
                          </a:rPr>
                        </m:ctrlPr>
                      </m:sSubPr>
                      <m:e>
                        <m:acc>
                          <m:accPr>
                            <m:chr m:val="̂"/>
                            <m:ctrlPr>
                              <a:rPr lang="en-US" sz="1800" i="1">
                                <a:solidFill>
                                  <a:srgbClr val="000000"/>
                                </a:solidFill>
                                <a:latin typeface="Cambria Math" panose="02040503050406030204" pitchFamily="18" charset="0"/>
                              </a:rPr>
                            </m:ctrlPr>
                          </m:accPr>
                          <m:e>
                            <m:r>
                              <a:rPr lang="en-US" sz="1800" i="1">
                                <a:solidFill>
                                  <a:srgbClr val="000000"/>
                                </a:solidFill>
                                <a:latin typeface="Cambria Math" panose="02040503050406030204" pitchFamily="18" charset="0"/>
                              </a:rPr>
                              <m:t>𝛽</m:t>
                            </m:r>
                          </m:e>
                        </m:acc>
                      </m:e>
                      <m:sub>
                        <m:r>
                          <a:rPr lang="en-US" sz="1800" i="1">
                            <a:solidFill>
                              <a:srgbClr val="000000"/>
                            </a:solidFill>
                            <a:latin typeface="Cambria Math" panose="02040503050406030204" pitchFamily="18" charset="0"/>
                          </a:rPr>
                          <m:t>0</m:t>
                        </m:r>
                      </m:sub>
                    </m:sSub>
                    <m:r>
                      <a:rPr lang="en-US" sz="1800" i="1">
                        <a:solidFill>
                          <a:srgbClr val="000000"/>
                        </a:solidFill>
                        <a:latin typeface="Cambria Math" panose="02040503050406030204" pitchFamily="18" charset="0"/>
                      </a:rPr>
                      <m:t>+</m:t>
                    </m:r>
                    <m:sSub>
                      <m:sSubPr>
                        <m:ctrlPr>
                          <a:rPr lang="en-US" sz="1800" i="1">
                            <a:solidFill>
                              <a:srgbClr val="000000"/>
                            </a:solidFill>
                            <a:latin typeface="Cambria Math" panose="02040503050406030204" pitchFamily="18" charset="0"/>
                          </a:rPr>
                        </m:ctrlPr>
                      </m:sSubPr>
                      <m:e>
                        <m:acc>
                          <m:accPr>
                            <m:chr m:val="̂"/>
                            <m:ctrlPr>
                              <a:rPr lang="en-US" sz="1800" i="1">
                                <a:solidFill>
                                  <a:srgbClr val="000000"/>
                                </a:solidFill>
                                <a:latin typeface="Cambria Math" panose="02040503050406030204" pitchFamily="18" charset="0"/>
                              </a:rPr>
                            </m:ctrlPr>
                          </m:accPr>
                          <m:e>
                            <m:r>
                              <a:rPr lang="en-US" sz="1800" i="1">
                                <a:solidFill>
                                  <a:srgbClr val="000000"/>
                                </a:solidFill>
                                <a:latin typeface="Cambria Math" panose="02040503050406030204" pitchFamily="18" charset="0"/>
                              </a:rPr>
                              <m:t>𝛽</m:t>
                            </m:r>
                          </m:e>
                        </m:acc>
                      </m:e>
                      <m:sub>
                        <m:r>
                          <a:rPr lang="en-US" sz="1800" i="1">
                            <a:solidFill>
                              <a:srgbClr val="000000"/>
                            </a:solidFill>
                            <a:latin typeface="Cambria Math" panose="02040503050406030204" pitchFamily="18" charset="0"/>
                          </a:rPr>
                          <m:t>1</m:t>
                        </m:r>
                      </m:sub>
                    </m:sSub>
                    <m:r>
                      <a:rPr lang="en-US" sz="1800" i="1">
                        <a:solidFill>
                          <a:srgbClr val="000000"/>
                        </a:solidFill>
                        <a:latin typeface="Cambria Math" panose="02040503050406030204" pitchFamily="18" charset="0"/>
                      </a:rPr>
                      <m:t>𝑥</m:t>
                    </m:r>
                    <m:r>
                      <a:rPr lang="en-US" sz="1800" i="1" baseline="-25000" smtClean="0">
                        <a:solidFill>
                          <a:srgbClr val="000000"/>
                        </a:solidFill>
                        <a:latin typeface="Cambria Math" panose="02040503050406030204" pitchFamily="18" charset="0"/>
                      </a:rPr>
                      <m:t>1</m:t>
                    </m:r>
                  </m:oMath>
                </a14:m>
                <a:r>
                  <a:rPr lang="en-US" sz="1800" dirty="0">
                    <a:latin typeface="Arial" panose="020B0604020202020204" pitchFamily="34" charset="0"/>
                    <a:cs typeface="Arial" panose="020B0604020202020204" pitchFamily="34" charset="0"/>
                  </a:rPr>
                  <a:t>+</a:t>
                </a:r>
                <a:r>
                  <a:rPr lang="en-US" sz="1800" dirty="0">
                    <a:solidFill>
                      <a:srgbClr val="000000"/>
                    </a:solidFill>
                    <a:latin typeface="Arial" panose="020B0604020202020204" pitchFamily="34" charset="0"/>
                    <a:cs typeface="Arial" panose="020B0604020202020204" pitchFamily="34" charset="0"/>
                  </a:rPr>
                  <a:t> </a:t>
                </a:r>
                <a14:m>
                  <m:oMath xmlns:m="http://schemas.openxmlformats.org/officeDocument/2006/math">
                    <m:sSub>
                      <m:sSubPr>
                        <m:ctrlPr>
                          <a:rPr lang="en-US" sz="1800" i="1">
                            <a:solidFill>
                              <a:srgbClr val="000000"/>
                            </a:solidFill>
                            <a:latin typeface="Cambria Math" panose="02040503050406030204" pitchFamily="18" charset="0"/>
                          </a:rPr>
                        </m:ctrlPr>
                      </m:sSubPr>
                      <m:e>
                        <m:acc>
                          <m:accPr>
                            <m:chr m:val="̂"/>
                            <m:ctrlPr>
                              <a:rPr lang="en-US" sz="1800" i="1">
                                <a:solidFill>
                                  <a:srgbClr val="000000"/>
                                </a:solidFill>
                                <a:latin typeface="Cambria Math" panose="02040503050406030204" pitchFamily="18" charset="0"/>
                              </a:rPr>
                            </m:ctrlPr>
                          </m:accPr>
                          <m:e>
                            <m:r>
                              <a:rPr lang="en-US" sz="1800" i="1">
                                <a:solidFill>
                                  <a:srgbClr val="000000"/>
                                </a:solidFill>
                                <a:latin typeface="Cambria Math" panose="02040503050406030204" pitchFamily="18" charset="0"/>
                              </a:rPr>
                              <m:t>𝛽</m:t>
                            </m:r>
                          </m:e>
                        </m:acc>
                      </m:e>
                      <m:sub>
                        <m:r>
                          <a:rPr lang="en-US" sz="1800" i="1">
                            <a:solidFill>
                              <a:srgbClr val="000000"/>
                            </a:solidFill>
                            <a:latin typeface="Cambria Math" charset="0"/>
                          </a:rPr>
                          <m:t>2</m:t>
                        </m:r>
                      </m:sub>
                    </m:sSub>
                  </m:oMath>
                </a14:m>
                <a:endParaRPr lang="en-US" sz="1800" dirty="0">
                  <a:latin typeface="Arial" panose="020B0604020202020204" pitchFamily="34" charset="0"/>
                  <a:cs typeface="Arial" panose="020B0604020202020204" pitchFamily="34" charset="0"/>
                </a:endParaRP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314706" y="806264"/>
                <a:ext cx="10515600" cy="4343634"/>
              </a:xfrm>
              <a:blipFill>
                <a:blip r:embed="rId2"/>
                <a:stretch>
                  <a:fillRect l="-522" t="-1262"/>
                </a:stretch>
              </a:blipFill>
            </p:spPr>
            <p:txBody>
              <a:bodyPr/>
              <a:lstStyle/>
              <a:p>
                <a:r>
                  <a:rPr lang="en-US">
                    <a:noFill/>
                  </a:rPr>
                  <a:t> </a:t>
                </a:r>
              </a:p>
            </p:txBody>
          </p:sp>
        </mc:Fallback>
      </mc:AlternateContent>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D71D88-BA1A-4A31-92D9-86A2D66DFAE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D233E84D-F348-124B-BA83-0581A07EBAB2}"/>
              </a:ext>
            </a:extLst>
          </p:cNvPr>
          <p:cNvSpPr/>
          <p:nvPr/>
        </p:nvSpPr>
        <p:spPr>
          <a:xfrm>
            <a:off x="8118747" y="2478019"/>
            <a:ext cx="600916" cy="500062"/>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5821B0C1-3AB4-F047-9F8C-5F431148B1C1}"/>
              </a:ext>
            </a:extLst>
          </p:cNvPr>
          <p:cNvSpPr txBox="1"/>
          <p:nvPr/>
        </p:nvSpPr>
        <p:spPr>
          <a:xfrm>
            <a:off x="9094876" y="2388347"/>
            <a:ext cx="2110643"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uLnTx/>
                <a:uFillTx/>
                <a:latin typeface="Calibri" panose="020F0502020204030204"/>
                <a:ea typeface="+mn-ea"/>
                <a:cs typeface="+mn-cs"/>
              </a:rPr>
              <a:t>Additive Correction</a:t>
            </a:r>
          </a:p>
        </p:txBody>
      </p:sp>
      <p:sp>
        <p:nvSpPr>
          <p:cNvPr id="11" name="Title 1">
            <a:extLst>
              <a:ext uri="{FF2B5EF4-FFF2-40B4-BE49-F238E27FC236}">
                <a16:creationId xmlns:a16="http://schemas.microsoft.com/office/drawing/2014/main" id="{0EA90997-A186-3F4E-A82D-CEA19C205DD9}"/>
              </a:ext>
            </a:extLst>
          </p:cNvPr>
          <p:cNvSpPr>
            <a:spLocks noGrp="1"/>
          </p:cNvSpPr>
          <p:nvPr>
            <p:ph type="title"/>
          </p:nvPr>
        </p:nvSpPr>
        <p:spPr>
          <a:xfrm>
            <a:off x="120720" y="126798"/>
            <a:ext cx="10515600" cy="679466"/>
          </a:xfrm>
        </p:spPr>
        <p:txBody>
          <a:bodyPr>
            <a:normAutofit/>
          </a:bodyPr>
          <a:lstStyle/>
          <a:p>
            <a:r>
              <a:rPr lang="en-US" sz="3600" dirty="0">
                <a:latin typeface="Arial" panose="020B0604020202020204" pitchFamily="34" charset="0"/>
                <a:cs typeface="Arial" panose="020B0604020202020204" pitchFamily="34" charset="0"/>
              </a:rPr>
              <a:t>Categorical Variables and Dummies</a:t>
            </a:r>
          </a:p>
        </p:txBody>
      </p:sp>
    </p:spTree>
    <p:extLst>
      <p:ext uri="{BB962C8B-B14F-4D97-AF65-F5344CB8AC3E}">
        <p14:creationId xmlns:p14="http://schemas.microsoft.com/office/powerpoint/2010/main" val="4209282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B0EAA-4815-0E0B-6F31-0E5CDF3E3D9F}"/>
              </a:ext>
            </a:extLst>
          </p:cNvPr>
          <p:cNvSpPr>
            <a:spLocks noGrp="1"/>
          </p:cNvSpPr>
          <p:nvPr>
            <p:ph type="title"/>
          </p:nvPr>
        </p:nvSpPr>
        <p:spPr>
          <a:xfrm>
            <a:off x="225357" y="180301"/>
            <a:ext cx="10515600" cy="771574"/>
          </a:xfrm>
        </p:spPr>
        <p:txBody>
          <a:bodyPr>
            <a:normAutofit/>
          </a:bodyPr>
          <a:lstStyle/>
          <a:p>
            <a:r>
              <a:rPr lang="en-US" sz="3600" dirty="0">
                <a:latin typeface="Arial" panose="020B0604020202020204" pitchFamily="34" charset="0"/>
                <a:cs typeface="Arial" panose="020B0604020202020204" pitchFamily="34" charset="0"/>
              </a:rPr>
              <a:t>Example: Recoding dummy variables</a:t>
            </a:r>
          </a:p>
        </p:txBody>
      </p:sp>
      <p:pic>
        <p:nvPicPr>
          <p:cNvPr id="5" name="Content Placeholder 4">
            <a:extLst>
              <a:ext uri="{FF2B5EF4-FFF2-40B4-BE49-F238E27FC236}">
                <a16:creationId xmlns:a16="http://schemas.microsoft.com/office/drawing/2014/main" id="{04BE751D-F09B-8282-F771-8D0E17DAF16C}"/>
              </a:ext>
            </a:extLst>
          </p:cNvPr>
          <p:cNvPicPr>
            <a:picLocks noGrp="1" noChangeAspect="1"/>
          </p:cNvPicPr>
          <p:nvPr>
            <p:ph idx="1"/>
          </p:nvPr>
        </p:nvPicPr>
        <p:blipFill>
          <a:blip r:embed="rId2"/>
          <a:stretch>
            <a:fillRect/>
          </a:stretch>
        </p:blipFill>
        <p:spPr>
          <a:xfrm>
            <a:off x="379969" y="3082453"/>
            <a:ext cx="4964140" cy="2184679"/>
          </a:xfrm>
        </p:spPr>
      </p:pic>
      <p:sp>
        <p:nvSpPr>
          <p:cNvPr id="7" name="TextBox 6">
            <a:extLst>
              <a:ext uri="{FF2B5EF4-FFF2-40B4-BE49-F238E27FC236}">
                <a16:creationId xmlns:a16="http://schemas.microsoft.com/office/drawing/2014/main" id="{824BB77D-1324-8D77-4DBE-C1B1F907ADFC}"/>
              </a:ext>
            </a:extLst>
          </p:cNvPr>
          <p:cNvSpPr txBox="1"/>
          <p:nvPr/>
        </p:nvSpPr>
        <p:spPr>
          <a:xfrm>
            <a:off x="379969" y="1046637"/>
            <a:ext cx="10612285" cy="181588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 the school admissions data variable for whether a student is an alum and recode it as a simple binary variable (Y/N).</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Label the groups with no alum family 0, else 1 </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The “0” group is called the </a:t>
            </a:r>
            <a:r>
              <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reference group</a:t>
            </a: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no additive correction present here</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We will use it in a multiple linear regression where the “slope” for the binary categorical variable we create will represent the difference in the intercepts between of the two groups</a:t>
            </a:r>
          </a:p>
        </p:txBody>
      </p:sp>
      <p:pic>
        <p:nvPicPr>
          <p:cNvPr id="9" name="Picture 8">
            <a:extLst>
              <a:ext uri="{FF2B5EF4-FFF2-40B4-BE49-F238E27FC236}">
                <a16:creationId xmlns:a16="http://schemas.microsoft.com/office/drawing/2014/main" id="{677DF6C8-456A-055E-1EFD-DE609E17C082}"/>
              </a:ext>
            </a:extLst>
          </p:cNvPr>
          <p:cNvPicPr>
            <a:picLocks noChangeAspect="1"/>
          </p:cNvPicPr>
          <p:nvPr/>
        </p:nvPicPr>
        <p:blipFill>
          <a:blip r:embed="rId3"/>
          <a:stretch>
            <a:fillRect/>
          </a:stretch>
        </p:blipFill>
        <p:spPr>
          <a:xfrm>
            <a:off x="6553560" y="3550904"/>
            <a:ext cx="4914900" cy="1247775"/>
          </a:xfrm>
          <a:prstGeom prst="rect">
            <a:avLst/>
          </a:prstGeom>
        </p:spPr>
      </p:pic>
      <p:cxnSp>
        <p:nvCxnSpPr>
          <p:cNvPr id="11" name="Straight Arrow Connector 10">
            <a:extLst>
              <a:ext uri="{FF2B5EF4-FFF2-40B4-BE49-F238E27FC236}">
                <a16:creationId xmlns:a16="http://schemas.microsoft.com/office/drawing/2014/main" id="{873DE7AE-E8DF-051E-EB05-3688C4612B96}"/>
              </a:ext>
            </a:extLst>
          </p:cNvPr>
          <p:cNvCxnSpPr>
            <a:cxnSpLocks/>
          </p:cNvCxnSpPr>
          <p:nvPr/>
        </p:nvCxnSpPr>
        <p:spPr>
          <a:xfrm>
            <a:off x="5344109" y="4465626"/>
            <a:ext cx="7518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3480459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6C3C0-4B0D-E128-A4C4-65F284ECB6A6}"/>
              </a:ext>
            </a:extLst>
          </p:cNvPr>
          <p:cNvSpPr>
            <a:spLocks noGrp="1"/>
          </p:cNvSpPr>
          <p:nvPr>
            <p:ph type="title"/>
          </p:nvPr>
        </p:nvSpPr>
        <p:spPr>
          <a:xfrm>
            <a:off x="172994" y="220410"/>
            <a:ext cx="10515600" cy="693833"/>
          </a:xfrm>
        </p:spPr>
        <p:txBody>
          <a:bodyPr>
            <a:normAutofit/>
          </a:bodyPr>
          <a:lstStyle/>
          <a:p>
            <a:r>
              <a:rPr lang="en-US" sz="3600" dirty="0">
                <a:latin typeface="Arial" panose="020B0604020202020204" pitchFamily="34" charset="0"/>
                <a:cs typeface="Arial" panose="020B0604020202020204" pitchFamily="34" charset="0"/>
              </a:rPr>
              <a:t>Example</a:t>
            </a:r>
          </a:p>
        </p:txBody>
      </p:sp>
      <p:sp>
        <p:nvSpPr>
          <p:cNvPr id="3" name="Content Placeholder 2">
            <a:extLst>
              <a:ext uri="{FF2B5EF4-FFF2-40B4-BE49-F238E27FC236}">
                <a16:creationId xmlns:a16="http://schemas.microsoft.com/office/drawing/2014/main" id="{626EAA89-6531-D9FC-3A4A-25A27733A8E0}"/>
              </a:ext>
            </a:extLst>
          </p:cNvPr>
          <p:cNvSpPr>
            <a:spLocks noGrp="1"/>
          </p:cNvSpPr>
          <p:nvPr>
            <p:ph idx="1"/>
          </p:nvPr>
        </p:nvSpPr>
        <p:spPr>
          <a:xfrm>
            <a:off x="351817" y="964918"/>
            <a:ext cx="10515600" cy="4351338"/>
          </a:xfrm>
        </p:spPr>
        <p:txBody>
          <a:bodyPr>
            <a:normAutofit/>
          </a:bodyPr>
          <a:lstStyle/>
          <a:p>
            <a:r>
              <a:rPr lang="en-US" sz="2000" dirty="0">
                <a:latin typeface="Arial" panose="020B0604020202020204" pitchFamily="34" charset="0"/>
                <a:cs typeface="Arial" panose="020B0604020202020204" pitchFamily="34" charset="0"/>
              </a:rPr>
              <a:t>Run a multiple linear regression of HS class rank on Math SAT score and the dummy variable coding the effect of having a family member as an alum (=1) or not (=0)</a:t>
            </a:r>
          </a:p>
        </p:txBody>
      </p:sp>
      <p:pic>
        <p:nvPicPr>
          <p:cNvPr id="5" name="Picture 4">
            <a:extLst>
              <a:ext uri="{FF2B5EF4-FFF2-40B4-BE49-F238E27FC236}">
                <a16:creationId xmlns:a16="http://schemas.microsoft.com/office/drawing/2014/main" id="{94CB5D95-106F-D4FE-A143-0D91AEF30CA0}"/>
              </a:ext>
            </a:extLst>
          </p:cNvPr>
          <p:cNvPicPr>
            <a:picLocks noChangeAspect="1"/>
          </p:cNvPicPr>
          <p:nvPr/>
        </p:nvPicPr>
        <p:blipFill>
          <a:blip r:embed="rId2"/>
          <a:stretch>
            <a:fillRect/>
          </a:stretch>
        </p:blipFill>
        <p:spPr>
          <a:xfrm>
            <a:off x="3145240" y="1740385"/>
            <a:ext cx="5124450" cy="1638300"/>
          </a:xfrm>
          <a:prstGeom prst="rect">
            <a:avLst/>
          </a:prstGeom>
        </p:spPr>
      </p:pic>
      <p:sp>
        <p:nvSpPr>
          <p:cNvPr id="6" name="TextBox 5">
            <a:extLst>
              <a:ext uri="{FF2B5EF4-FFF2-40B4-BE49-F238E27FC236}">
                <a16:creationId xmlns:a16="http://schemas.microsoft.com/office/drawing/2014/main" id="{DDBA1413-850F-ABB3-1E0D-5BFD68099576}"/>
              </a:ext>
            </a:extLst>
          </p:cNvPr>
          <p:cNvSpPr txBox="1"/>
          <p:nvPr/>
        </p:nvSpPr>
        <p:spPr>
          <a:xfrm>
            <a:off x="3266916" y="3809572"/>
            <a:ext cx="5124450" cy="707886"/>
          </a:xfrm>
          <a:prstGeom prst="rect">
            <a:avLst/>
          </a:prstGeom>
          <a:solidFill>
            <a:schemeClr val="bg1"/>
          </a:solidFill>
          <a:ln>
            <a:solidFill>
              <a:srgbClr val="C00000"/>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C00000"/>
                </a:solidFill>
                <a:effectLst/>
                <a:uLnTx/>
                <a:uFillTx/>
                <a:latin typeface="Calibri" panose="020F0502020204030204"/>
                <a:ea typeface="+mn-ea"/>
                <a:cs typeface="+mn-cs"/>
              </a:rPr>
              <a:t>Regression Equation: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C00000"/>
                </a:solidFill>
                <a:effectLst/>
                <a:uLnTx/>
                <a:uFillTx/>
                <a:latin typeface="Calibri" panose="020F0502020204030204"/>
                <a:ea typeface="+mn-ea"/>
                <a:cs typeface="+mn-cs"/>
              </a:rPr>
              <a:t>Rank = 68.89 + .007*</a:t>
            </a:r>
            <a:r>
              <a:rPr kumimoji="0" lang="en-US" sz="2000" b="0" i="0" u="none" strike="noStrike" kern="1200" cap="none" spc="0" normalizeH="0" baseline="0" noProof="0" dirty="0" err="1">
                <a:ln>
                  <a:noFill/>
                </a:ln>
                <a:solidFill>
                  <a:srgbClr val="C00000"/>
                </a:solidFill>
                <a:effectLst/>
                <a:uLnTx/>
                <a:uFillTx/>
                <a:latin typeface="Calibri" panose="020F0502020204030204"/>
                <a:ea typeface="+mn-ea"/>
                <a:cs typeface="+mn-cs"/>
              </a:rPr>
              <a:t>SAT_math</a:t>
            </a:r>
            <a:r>
              <a:rPr kumimoji="0" lang="en-US" sz="2000" b="0" i="0" u="none" strike="noStrike" kern="1200" cap="none" spc="0" normalizeH="0" baseline="0" noProof="0" dirty="0">
                <a:ln>
                  <a:noFill/>
                </a:ln>
                <a:solidFill>
                  <a:srgbClr val="C00000"/>
                </a:solidFill>
                <a:effectLst/>
                <a:uLnTx/>
                <a:uFillTx/>
                <a:latin typeface="Calibri" panose="020F0502020204030204"/>
                <a:ea typeface="+mn-ea"/>
                <a:cs typeface="+mn-cs"/>
              </a:rPr>
              <a:t> </a:t>
            </a:r>
            <a:r>
              <a:rPr kumimoji="0" lang="mr-IN" sz="2000" b="0" i="0" u="none" strike="noStrike" kern="1200" cap="none" spc="0" normalizeH="0" baseline="0" noProof="0" dirty="0">
                <a:ln>
                  <a:noFill/>
                </a:ln>
                <a:solidFill>
                  <a:srgbClr val="C00000"/>
                </a:solidFill>
                <a:effectLst/>
                <a:uLnTx/>
                <a:uFillTx/>
                <a:latin typeface="Calibri" panose="020F0502020204030204"/>
                <a:ea typeface="+mn-ea"/>
                <a:cs typeface="Mangal" panose="02040503050203030202" pitchFamily="18" charset="0"/>
              </a:rPr>
              <a:t>–</a:t>
            </a:r>
            <a:r>
              <a:rPr kumimoji="0" lang="en-US" sz="2000" b="0" i="0" u="none" strike="noStrike" kern="1200" cap="none" spc="0" normalizeH="0" baseline="0" noProof="0" dirty="0">
                <a:ln>
                  <a:noFill/>
                </a:ln>
                <a:solidFill>
                  <a:srgbClr val="C00000"/>
                </a:solidFill>
                <a:effectLst/>
                <a:uLnTx/>
                <a:uFillTx/>
                <a:latin typeface="Calibri" panose="020F0502020204030204"/>
                <a:ea typeface="+mn-ea"/>
                <a:cs typeface="+mn-cs"/>
              </a:rPr>
              <a:t> 2.6*(IF ALUM)</a:t>
            </a:r>
          </a:p>
        </p:txBody>
      </p:sp>
      <p:sp>
        <p:nvSpPr>
          <p:cNvPr id="7" name="TextBox 6">
            <a:extLst>
              <a:ext uri="{FF2B5EF4-FFF2-40B4-BE49-F238E27FC236}">
                <a16:creationId xmlns:a16="http://schemas.microsoft.com/office/drawing/2014/main" id="{DB33DA5E-CDF0-5A1B-B985-C771C86891A3}"/>
              </a:ext>
            </a:extLst>
          </p:cNvPr>
          <p:cNvSpPr txBox="1"/>
          <p:nvPr/>
        </p:nvSpPr>
        <p:spPr>
          <a:xfrm>
            <a:off x="453747" y="1922764"/>
            <a:ext cx="2711239" cy="397031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With only two groups,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the dummy variable represents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the average difference in HS rank between students who have family members that are an alumni and those who do not.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Note: this is not really any different, an increase in X means going from 0 to 1 </a:t>
            </a:r>
          </a:p>
        </p:txBody>
      </p:sp>
      <p:sp>
        <p:nvSpPr>
          <p:cNvPr id="10" name="TextBox 9">
            <a:extLst>
              <a:ext uri="{FF2B5EF4-FFF2-40B4-BE49-F238E27FC236}">
                <a16:creationId xmlns:a16="http://schemas.microsoft.com/office/drawing/2014/main" id="{506C7F46-2AC7-DB99-DDC1-4F54E6BC32AF}"/>
              </a:ext>
            </a:extLst>
          </p:cNvPr>
          <p:cNvSpPr txBox="1"/>
          <p:nvPr/>
        </p:nvSpPr>
        <p:spPr>
          <a:xfrm>
            <a:off x="8717025" y="2152801"/>
            <a:ext cx="3282779" cy="31393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Interpretation</a:t>
            </a: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the estimated difference in HS rank between students who have family that are </a:t>
            </a:r>
            <a:r>
              <a:rPr kumimoji="0" lang="en-US" sz="18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alumns</a:t>
            </a: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and those who do not is -2.604. Students who have one or more family members who are alums have a HS rank that is 2.604 points lower, on average, </a:t>
            </a:r>
            <a:r>
              <a:rPr kumimoji="0" lang="en-US" sz="1800" b="0" i="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holding SAT score constant at its mean.</a:t>
            </a: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p>
        </p:txBody>
      </p:sp>
      <p:cxnSp>
        <p:nvCxnSpPr>
          <p:cNvPr id="13" name="Straight Arrow Connector 12">
            <a:extLst>
              <a:ext uri="{FF2B5EF4-FFF2-40B4-BE49-F238E27FC236}">
                <a16:creationId xmlns:a16="http://schemas.microsoft.com/office/drawing/2014/main" id="{F83BA5B1-11A2-6E23-5888-A87BCBACF11C}"/>
              </a:ext>
            </a:extLst>
          </p:cNvPr>
          <p:cNvCxnSpPr>
            <a:cxnSpLocks/>
            <a:stCxn id="10" idx="1"/>
          </p:cNvCxnSpPr>
          <p:nvPr/>
        </p:nvCxnSpPr>
        <p:spPr>
          <a:xfrm flipH="1" flipV="1">
            <a:off x="5081545" y="3034908"/>
            <a:ext cx="3635480" cy="6875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3475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ppt_x"/>
                                          </p:val>
                                        </p:tav>
                                        <p:tav tm="100000">
                                          <p:val>
                                            <p:strVal val="#ppt_x"/>
                                          </p:val>
                                        </p:tav>
                                      </p:tavLst>
                                    </p:anim>
                                    <p:anim calcmode="lin" valueType="num">
                                      <p:cBhvr additive="base">
                                        <p:cTn id="2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EA29B-6EF6-4E8F-8C74-653BBBB33BB1}"/>
              </a:ext>
            </a:extLst>
          </p:cNvPr>
          <p:cNvSpPr>
            <a:spLocks noGrp="1"/>
          </p:cNvSpPr>
          <p:nvPr>
            <p:ph type="title"/>
          </p:nvPr>
        </p:nvSpPr>
        <p:spPr>
          <a:xfrm>
            <a:off x="235085" y="170571"/>
            <a:ext cx="10515600" cy="743091"/>
          </a:xfrm>
        </p:spPr>
        <p:txBody>
          <a:bodyPr>
            <a:normAutofit/>
          </a:bodyPr>
          <a:lstStyle/>
          <a:p>
            <a:r>
              <a:rPr lang="en-US" sz="3600" dirty="0">
                <a:latin typeface="Arial" panose="020B0604020202020204" pitchFamily="34" charset="0"/>
                <a:cs typeface="Arial" panose="020B0604020202020204" pitchFamily="34" charset="0"/>
              </a:rPr>
              <a:t>The correction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AAAD516-262B-63D8-BCD8-7819FFFE3158}"/>
                  </a:ext>
                </a:extLst>
              </p:cNvPr>
              <p:cNvSpPr>
                <a:spLocks noGrp="1"/>
              </p:cNvSpPr>
              <p:nvPr>
                <p:ph idx="1"/>
              </p:nvPr>
            </p:nvSpPr>
            <p:spPr>
              <a:xfrm>
                <a:off x="370703" y="899388"/>
                <a:ext cx="10515600" cy="4351338"/>
              </a:xfrm>
            </p:spPr>
            <p:txBody>
              <a:bodyPr/>
              <a:lstStyle/>
              <a:p>
                <a:pPr lvl="1"/>
                <a:r>
                  <a:rPr lang="en-US" sz="2000" dirty="0"/>
                  <a:t>Then the model is:   </a:t>
                </a:r>
                <a14:m>
                  <m:oMath xmlns:m="http://schemas.openxmlformats.org/officeDocument/2006/math">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𝑦</m:t>
                        </m:r>
                      </m:e>
                    </m:acc>
                    <m:r>
                      <m:rPr>
                        <m:nor/>
                      </m:rPr>
                      <a:rPr lang="en-US" sz="2000" baseline="-25000" dirty="0"/>
                      <m:t> </m:t>
                    </m:r>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𝛽</m:t>
                            </m:r>
                          </m:e>
                        </m:acc>
                      </m:e>
                      <m:sub>
                        <m:r>
                          <a:rPr lang="en-US" sz="2000" i="1">
                            <a:solidFill>
                              <a:srgbClr val="000000"/>
                            </a:solidFill>
                            <a:latin typeface="Cambria Math" panose="02040503050406030204" pitchFamily="18" charset="0"/>
                          </a:rPr>
                          <m:t>0</m:t>
                        </m:r>
                      </m:sub>
                    </m:sSub>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𝛽</m:t>
                            </m:r>
                          </m:e>
                        </m:acc>
                      </m:e>
                      <m:sub>
                        <m:r>
                          <a:rPr lang="en-US" sz="2000" i="1">
                            <a:solidFill>
                              <a:srgbClr val="000000"/>
                            </a:solidFill>
                            <a:latin typeface="Cambria Math" panose="02040503050406030204" pitchFamily="18" charset="0"/>
                          </a:rPr>
                          <m:t>1</m:t>
                        </m:r>
                      </m:sub>
                    </m:sSub>
                    <m:r>
                      <a:rPr lang="en-US" sz="2000" i="1">
                        <a:solidFill>
                          <a:srgbClr val="000000"/>
                        </a:solidFill>
                        <a:latin typeface="Cambria Math" panose="02040503050406030204" pitchFamily="18" charset="0"/>
                      </a:rPr>
                      <m:t>𝑥</m:t>
                    </m:r>
                    <m:r>
                      <a:rPr lang="en-US" sz="2000" i="1" baseline="-25000">
                        <a:solidFill>
                          <a:srgbClr val="000000"/>
                        </a:solidFill>
                        <a:latin typeface="Cambria Math" panose="02040503050406030204" pitchFamily="18" charset="0"/>
                      </a:rPr>
                      <m:t>1</m:t>
                    </m:r>
                  </m:oMath>
                </a14:m>
                <a:r>
                  <a:rPr lang="en-US" sz="2000" dirty="0"/>
                  <a:t>+</a:t>
                </a:r>
                <a:r>
                  <a:rPr lang="en-US" sz="2000" dirty="0">
                    <a:solidFill>
                      <a:srgbClr val="000000"/>
                    </a:solidFill>
                  </a:rPr>
                  <a:t> </a:t>
                </a:r>
                <a14:m>
                  <m:oMath xmlns:m="http://schemas.openxmlformats.org/officeDocument/2006/math">
                    <m:sSub>
                      <m:sSubPr>
                        <m:ctrlPr>
                          <a:rPr lang="en-US" sz="2000" i="1">
                            <a:solidFill>
                              <a:srgbClr val="000000"/>
                            </a:solidFill>
                            <a:latin typeface="Cambria Math" panose="02040503050406030204" pitchFamily="18" charset="0"/>
                          </a:rPr>
                        </m:ctrlPr>
                      </m:sSubPr>
                      <m:e>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𝛽</m:t>
                            </m:r>
                          </m:e>
                        </m:acc>
                      </m:e>
                      <m:sub>
                        <m:r>
                          <a:rPr lang="en-US" sz="2000" i="1">
                            <a:solidFill>
                              <a:srgbClr val="000000"/>
                            </a:solidFill>
                            <a:latin typeface="Cambria Math" charset="0"/>
                          </a:rPr>
                          <m:t>2</m:t>
                        </m:r>
                      </m:sub>
                    </m:sSub>
                  </m:oMath>
                </a14:m>
                <a:r>
                  <a:rPr lang="en-US" sz="2000" dirty="0">
                    <a:solidFill>
                      <a:srgbClr val="000000"/>
                    </a:solidFill>
                  </a:rPr>
                  <a:t> </a:t>
                </a:r>
                <a14:m>
                  <m:oMath xmlns:m="http://schemas.openxmlformats.org/officeDocument/2006/math">
                    <m:r>
                      <a:rPr lang="en-US" sz="2000" i="1">
                        <a:solidFill>
                          <a:srgbClr val="000000"/>
                        </a:solidFill>
                        <a:latin typeface="Cambria Math" panose="02040503050406030204" pitchFamily="18" charset="0"/>
                      </a:rPr>
                      <m:t>𝑥</m:t>
                    </m:r>
                    <m:r>
                      <a:rPr lang="en-US" sz="2000" b="0" i="1" baseline="-25000" smtClean="0">
                        <a:solidFill>
                          <a:srgbClr val="000000"/>
                        </a:solidFill>
                        <a:latin typeface="Cambria Math" panose="02040503050406030204" pitchFamily="18" charset="0"/>
                      </a:rPr>
                      <m:t>2 </m:t>
                    </m:r>
                  </m:oMath>
                </a14:m>
                <a:r>
                  <a:rPr lang="en-US" sz="2000" dirty="0"/>
                  <a:t>  which splits into:</a:t>
                </a:r>
                <a:endParaRPr lang="en-US" sz="2000" u="sng" baseline="-25000" dirty="0"/>
              </a:p>
              <a:p>
                <a:pPr marL="0" indent="0" algn="ctr">
                  <a:buNone/>
                </a:pPr>
                <a:r>
                  <a:rPr lang="en-US" sz="2000" dirty="0"/>
                  <a:t>  </a:t>
                </a:r>
                <a14:m>
                  <m:oMath xmlns:m="http://schemas.openxmlformats.org/officeDocument/2006/math">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𝑦</m:t>
                        </m:r>
                      </m:e>
                    </m:acc>
                    <m:d>
                      <m:dPr>
                        <m:begChr m:val="|"/>
                        <m:endChr m:val="|"/>
                        <m:ctrlPr>
                          <a:rPr lang="en-US" sz="2000" b="0" i="1" smtClean="0">
                            <a:solidFill>
                              <a:srgbClr val="000000"/>
                            </a:solidFill>
                            <a:latin typeface="Cambria Math" panose="02040503050406030204" pitchFamily="18" charset="0"/>
                          </a:rPr>
                        </m:ctrlPr>
                      </m:dPr>
                      <m:e>
                        <m:r>
                          <m:rPr>
                            <m:nor/>
                          </m:rPr>
                          <a:rPr lang="en-US" sz="2000" b="0" i="0" smtClean="0">
                            <a:solidFill>
                              <a:srgbClr val="000000"/>
                            </a:solidFill>
                            <a:latin typeface="Cambria Math" panose="02040503050406030204" pitchFamily="18" charset="0"/>
                          </a:rPr>
                          <m:t>(</m:t>
                        </m:r>
                        <m:r>
                          <m:rPr>
                            <m:nor/>
                          </m:rPr>
                          <a:rPr lang="en-US" sz="2000" dirty="0" smtClean="0"/>
                          <m:t>x</m:t>
                        </m:r>
                        <m:r>
                          <m:rPr>
                            <m:nor/>
                          </m:rPr>
                          <a:rPr lang="en-US" sz="2000" b="0" i="0" baseline="-25000" dirty="0" smtClean="0"/>
                          <m:t>2</m:t>
                        </m:r>
                        <m:r>
                          <m:rPr>
                            <m:nor/>
                          </m:rPr>
                          <a:rPr lang="en-US" sz="2000" b="0" i="0" dirty="0" smtClean="0"/>
                          <m:t>=0)</m:t>
                        </m:r>
                        <m:r>
                          <m:rPr>
                            <m:nor/>
                          </m:rPr>
                          <a:rPr lang="en-US" sz="2000" b="0" i="0" baseline="-25000" dirty="0" smtClean="0"/>
                          <m:t> </m:t>
                        </m:r>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𝛽</m:t>
                                </m:r>
                              </m:e>
                            </m:acc>
                          </m:e>
                          <m:sub>
                            <m:r>
                              <a:rPr lang="en-US" sz="2000" i="1">
                                <a:solidFill>
                                  <a:srgbClr val="000000"/>
                                </a:solidFill>
                                <a:latin typeface="Cambria Math" panose="02040503050406030204" pitchFamily="18" charset="0"/>
                              </a:rPr>
                              <m:t>0</m:t>
                            </m:r>
                          </m:sub>
                        </m:sSub>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𝛽</m:t>
                                </m:r>
                              </m:e>
                            </m:acc>
                          </m:e>
                          <m:sub>
                            <m:r>
                              <a:rPr lang="en-US" sz="2000" i="1">
                                <a:solidFill>
                                  <a:srgbClr val="000000"/>
                                </a:solidFill>
                                <a:latin typeface="Cambria Math" panose="02040503050406030204" pitchFamily="18" charset="0"/>
                              </a:rPr>
                              <m:t>1</m:t>
                            </m:r>
                          </m:sub>
                        </m:sSub>
                        <m:r>
                          <a:rPr lang="en-US" sz="2000" i="1">
                            <a:solidFill>
                              <a:srgbClr val="000000"/>
                            </a:solidFill>
                            <a:latin typeface="Cambria Math" panose="02040503050406030204" pitchFamily="18" charset="0"/>
                          </a:rPr>
                          <m:t>𝑥</m:t>
                        </m:r>
                        <m:r>
                          <a:rPr lang="en-US" sz="2000" b="0" i="1" baseline="-25000" smtClean="0">
                            <a:solidFill>
                              <a:srgbClr val="000000"/>
                            </a:solidFill>
                            <a:latin typeface="Cambria Math" panose="02040503050406030204" pitchFamily="18" charset="0"/>
                          </a:rPr>
                          <m:t>1                              </m:t>
                        </m:r>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𝑦</m:t>
                            </m:r>
                          </m:e>
                        </m:acc>
                      </m:e>
                    </m:d>
                    <m:r>
                      <m:rPr>
                        <m:nor/>
                      </m:rPr>
                      <a:rPr lang="en-US" sz="2000">
                        <a:solidFill>
                          <a:srgbClr val="000000"/>
                        </a:solidFill>
                        <a:latin typeface="Cambria Math" panose="02040503050406030204" pitchFamily="18" charset="0"/>
                      </a:rPr>
                      <m:t>(</m:t>
                    </m:r>
                    <m:r>
                      <m:rPr>
                        <m:nor/>
                      </m:rPr>
                      <a:rPr lang="en-US" sz="2000" dirty="0"/>
                      <m:t>x</m:t>
                    </m:r>
                    <m:r>
                      <m:rPr>
                        <m:nor/>
                      </m:rPr>
                      <a:rPr lang="en-US" sz="2000" baseline="-25000" dirty="0"/>
                      <m:t>2</m:t>
                    </m:r>
                    <m:r>
                      <m:rPr>
                        <m:nor/>
                      </m:rPr>
                      <a:rPr lang="en-US" sz="2000" dirty="0"/>
                      <m:t>=</m:t>
                    </m:r>
                    <m:r>
                      <m:rPr>
                        <m:nor/>
                      </m:rPr>
                      <a:rPr lang="en-US" sz="2000" b="0" i="0" dirty="0" smtClean="0"/>
                      <m:t>1</m:t>
                    </m:r>
                    <m:r>
                      <m:rPr>
                        <m:nor/>
                      </m:rPr>
                      <a:rPr lang="en-US" sz="2000" dirty="0"/>
                      <m:t>)</m:t>
                    </m:r>
                    <m:r>
                      <m:rPr>
                        <m:nor/>
                      </m:rPr>
                      <a:rPr lang="en-US" sz="2000" baseline="-25000" dirty="0"/>
                      <m:t> </m:t>
                    </m:r>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𝛽</m:t>
                            </m:r>
                          </m:e>
                        </m:acc>
                      </m:e>
                      <m:sub>
                        <m:r>
                          <a:rPr lang="en-US" sz="2000" i="1">
                            <a:solidFill>
                              <a:srgbClr val="000000"/>
                            </a:solidFill>
                            <a:latin typeface="Cambria Math" panose="02040503050406030204" pitchFamily="18" charset="0"/>
                          </a:rPr>
                          <m:t>0</m:t>
                        </m:r>
                      </m:sub>
                    </m:sSub>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𝛽</m:t>
                            </m:r>
                          </m:e>
                        </m:acc>
                      </m:e>
                      <m:sub>
                        <m:r>
                          <a:rPr lang="en-US" sz="2000" i="1">
                            <a:solidFill>
                              <a:srgbClr val="000000"/>
                            </a:solidFill>
                            <a:latin typeface="Cambria Math" panose="02040503050406030204" pitchFamily="18" charset="0"/>
                          </a:rPr>
                          <m:t>1</m:t>
                        </m:r>
                      </m:sub>
                    </m:sSub>
                    <m:r>
                      <a:rPr lang="en-US" sz="2000" i="1">
                        <a:solidFill>
                          <a:srgbClr val="000000"/>
                        </a:solidFill>
                        <a:latin typeface="Cambria Math" panose="02040503050406030204" pitchFamily="18" charset="0"/>
                      </a:rPr>
                      <m:t>𝑥</m:t>
                    </m:r>
                    <m:r>
                      <a:rPr lang="en-US" sz="2000" i="1" baseline="-25000" smtClean="0">
                        <a:solidFill>
                          <a:srgbClr val="000000"/>
                        </a:solidFill>
                        <a:latin typeface="Cambria Math" panose="02040503050406030204" pitchFamily="18" charset="0"/>
                      </a:rPr>
                      <m:t>1</m:t>
                    </m:r>
                  </m:oMath>
                </a14:m>
                <a:r>
                  <a:rPr lang="en-US" sz="2000" dirty="0"/>
                  <a:t>+</a:t>
                </a:r>
                <a:r>
                  <a:rPr lang="en-US" sz="2000" dirty="0">
                    <a:solidFill>
                      <a:srgbClr val="000000"/>
                    </a:solidFill>
                  </a:rPr>
                  <a:t> </a:t>
                </a:r>
                <a14:m>
                  <m:oMath xmlns:m="http://schemas.openxmlformats.org/officeDocument/2006/math">
                    <m:sSub>
                      <m:sSubPr>
                        <m:ctrlPr>
                          <a:rPr lang="en-US" sz="2000" i="1">
                            <a:solidFill>
                              <a:srgbClr val="000000"/>
                            </a:solidFill>
                            <a:latin typeface="Cambria Math" panose="02040503050406030204" pitchFamily="18" charset="0"/>
                          </a:rPr>
                        </m:ctrlPr>
                      </m:sSubPr>
                      <m:e>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𝛽</m:t>
                            </m:r>
                          </m:e>
                        </m:acc>
                      </m:e>
                      <m:sub>
                        <m:r>
                          <a:rPr lang="en-US" sz="2000" i="1">
                            <a:solidFill>
                              <a:srgbClr val="000000"/>
                            </a:solidFill>
                            <a:latin typeface="Cambria Math" charset="0"/>
                          </a:rPr>
                          <m:t>2</m:t>
                        </m:r>
                      </m:sub>
                    </m:sSub>
                  </m:oMath>
                </a14:m>
                <a:endParaRPr lang="en-US" dirty="0"/>
              </a:p>
            </p:txBody>
          </p:sp>
        </mc:Choice>
        <mc:Fallback xmlns="">
          <p:sp>
            <p:nvSpPr>
              <p:cNvPr id="3" name="Content Placeholder 2">
                <a:extLst>
                  <a:ext uri="{FF2B5EF4-FFF2-40B4-BE49-F238E27FC236}">
                    <a16:creationId xmlns:a16="http://schemas.microsoft.com/office/drawing/2014/main" id="{FAAAD516-262B-63D8-BCD8-7819FFFE3158}"/>
                  </a:ext>
                </a:extLst>
              </p:cNvPr>
              <p:cNvSpPr>
                <a:spLocks noGrp="1" noRot="1" noChangeAspect="1" noMove="1" noResize="1" noEditPoints="1" noAdjustHandles="1" noChangeArrowheads="1" noChangeShapeType="1" noTextEdit="1"/>
              </p:cNvSpPr>
              <p:nvPr>
                <p:ph idx="1"/>
              </p:nvPr>
            </p:nvSpPr>
            <p:spPr>
              <a:xfrm>
                <a:off x="370703" y="899388"/>
                <a:ext cx="10515600" cy="4351338"/>
              </a:xfrm>
              <a:blipFill>
                <a:blip r:embed="rId2"/>
                <a:stretch>
                  <a:fillRect t="-1122"/>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CB637ECD-E1C9-BCEB-3EC5-D0FC69E38910}"/>
              </a:ext>
            </a:extLst>
          </p:cNvPr>
          <p:cNvSpPr txBox="1"/>
          <p:nvPr/>
        </p:nvSpPr>
        <p:spPr>
          <a:xfrm>
            <a:off x="2596212" y="2148820"/>
            <a:ext cx="5124450" cy="707886"/>
          </a:xfrm>
          <a:prstGeom prst="rect">
            <a:avLst/>
          </a:prstGeom>
          <a:solidFill>
            <a:schemeClr val="bg1"/>
          </a:solidFill>
          <a:ln>
            <a:solidFill>
              <a:srgbClr val="C00000"/>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C00000"/>
                </a:solidFill>
                <a:effectLst/>
                <a:uLnTx/>
                <a:uFillTx/>
                <a:latin typeface="Calibri" panose="020F0502020204030204"/>
                <a:ea typeface="+mn-ea"/>
                <a:cs typeface="+mn-cs"/>
              </a:rPr>
              <a:t>Regression Equation: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C00000"/>
                </a:solidFill>
                <a:effectLst/>
                <a:uLnTx/>
                <a:uFillTx/>
                <a:latin typeface="Calibri" panose="020F0502020204030204"/>
                <a:ea typeface="+mn-ea"/>
                <a:cs typeface="+mn-cs"/>
              </a:rPr>
              <a:t>Rank = 68.89 + .007*</a:t>
            </a:r>
            <a:r>
              <a:rPr kumimoji="0" lang="en-US" sz="2000" b="0" i="0" u="none" strike="noStrike" kern="1200" cap="none" spc="0" normalizeH="0" baseline="0" noProof="0" dirty="0" err="1">
                <a:ln>
                  <a:noFill/>
                </a:ln>
                <a:solidFill>
                  <a:srgbClr val="C00000"/>
                </a:solidFill>
                <a:effectLst/>
                <a:uLnTx/>
                <a:uFillTx/>
                <a:latin typeface="Calibri" panose="020F0502020204030204"/>
                <a:ea typeface="+mn-ea"/>
                <a:cs typeface="+mn-cs"/>
              </a:rPr>
              <a:t>SAT_math</a:t>
            </a:r>
            <a:r>
              <a:rPr kumimoji="0" lang="en-US" sz="2000" b="0" i="0" u="none" strike="noStrike" kern="1200" cap="none" spc="0" normalizeH="0" baseline="0" noProof="0" dirty="0">
                <a:ln>
                  <a:noFill/>
                </a:ln>
                <a:solidFill>
                  <a:srgbClr val="C00000"/>
                </a:solidFill>
                <a:effectLst/>
                <a:uLnTx/>
                <a:uFillTx/>
                <a:latin typeface="Calibri" panose="020F0502020204030204"/>
                <a:ea typeface="+mn-ea"/>
                <a:cs typeface="+mn-cs"/>
              </a:rPr>
              <a:t> </a:t>
            </a:r>
            <a:r>
              <a:rPr kumimoji="0" lang="mr-IN" sz="2000" b="0" i="0" u="none" strike="noStrike" kern="1200" cap="none" spc="0" normalizeH="0" baseline="0" noProof="0" dirty="0">
                <a:ln>
                  <a:noFill/>
                </a:ln>
                <a:solidFill>
                  <a:srgbClr val="C00000"/>
                </a:solidFill>
                <a:effectLst/>
                <a:uLnTx/>
                <a:uFillTx/>
                <a:latin typeface="Calibri" panose="020F0502020204030204"/>
                <a:ea typeface="+mn-ea"/>
                <a:cs typeface="Mangal" panose="02040503050203030202" pitchFamily="18" charset="0"/>
              </a:rPr>
              <a:t>–</a:t>
            </a:r>
            <a:r>
              <a:rPr kumimoji="0" lang="en-US" sz="2000" b="0" i="0" u="none" strike="noStrike" kern="1200" cap="none" spc="0" normalizeH="0" baseline="0" noProof="0" dirty="0">
                <a:ln>
                  <a:noFill/>
                </a:ln>
                <a:solidFill>
                  <a:srgbClr val="C00000"/>
                </a:solidFill>
                <a:effectLst/>
                <a:uLnTx/>
                <a:uFillTx/>
                <a:latin typeface="Calibri" panose="020F0502020204030204"/>
                <a:ea typeface="+mn-ea"/>
                <a:cs typeface="+mn-cs"/>
              </a:rPr>
              <a:t> 2.6*(IF ALUM)</a:t>
            </a:r>
          </a:p>
        </p:txBody>
      </p:sp>
      <p:sp>
        <p:nvSpPr>
          <p:cNvPr id="5" name="TextBox 4">
            <a:extLst>
              <a:ext uri="{FF2B5EF4-FFF2-40B4-BE49-F238E27FC236}">
                <a16:creationId xmlns:a16="http://schemas.microsoft.com/office/drawing/2014/main" id="{8D10736A-7493-8B79-D392-9B4BCC9F42C4}"/>
              </a:ext>
            </a:extLst>
          </p:cNvPr>
          <p:cNvSpPr txBox="1"/>
          <p:nvPr/>
        </p:nvSpPr>
        <p:spPr>
          <a:xfrm>
            <a:off x="2596212" y="3825431"/>
            <a:ext cx="7822594" cy="707886"/>
          </a:xfrm>
          <a:prstGeom prst="rect">
            <a:avLst/>
          </a:prstGeom>
          <a:solidFill>
            <a:schemeClr val="bg1"/>
          </a:solidFill>
          <a:ln>
            <a:solidFill>
              <a:srgbClr val="C00000"/>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C00000"/>
                </a:solidFill>
                <a:effectLst/>
                <a:uLnTx/>
                <a:uFillTx/>
                <a:latin typeface="Calibri" panose="020F0502020204030204"/>
                <a:ea typeface="+mn-ea"/>
                <a:cs typeface="+mn-cs"/>
              </a:rPr>
              <a:t>Regression Equation: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sng" strike="noStrike" kern="1200" cap="none" spc="0" normalizeH="0" baseline="0" noProof="0" dirty="0" err="1">
                <a:ln>
                  <a:noFill/>
                </a:ln>
                <a:solidFill>
                  <a:srgbClr val="C00000"/>
                </a:solidFill>
                <a:effectLst/>
                <a:uLnTx/>
                <a:uFillTx/>
                <a:latin typeface="Calibri" panose="020F0502020204030204"/>
                <a:ea typeface="+mn-ea"/>
                <a:cs typeface="+mn-cs"/>
              </a:rPr>
              <a:t>Rank|Alum</a:t>
            </a:r>
            <a:r>
              <a:rPr kumimoji="0" lang="en-US" sz="2000" b="0" i="0" u="sng" strike="noStrike" kern="1200" cap="none" spc="0" normalizeH="0" baseline="0" noProof="0" dirty="0">
                <a:ln>
                  <a:noFill/>
                </a:ln>
                <a:solidFill>
                  <a:srgbClr val="C00000"/>
                </a:solidFill>
                <a:effectLst/>
                <a:uLnTx/>
                <a:uFillTx/>
                <a:latin typeface="Calibri" panose="020F0502020204030204"/>
                <a:ea typeface="+mn-ea"/>
                <a:cs typeface="+mn-cs"/>
              </a:rPr>
              <a:t> = 1</a:t>
            </a:r>
            <a:r>
              <a:rPr kumimoji="0" lang="en-US" sz="2000" b="0" i="0" u="none" strike="noStrike" kern="1200" cap="none" spc="0" normalizeH="0" baseline="0" noProof="0" dirty="0">
                <a:ln>
                  <a:noFill/>
                </a:ln>
                <a:solidFill>
                  <a:srgbClr val="C00000"/>
                </a:solidFill>
                <a:effectLst/>
                <a:uLnTx/>
                <a:uFillTx/>
                <a:latin typeface="Calibri" panose="020F0502020204030204"/>
                <a:ea typeface="+mn-ea"/>
                <a:cs typeface="+mn-cs"/>
              </a:rPr>
              <a:t>:  = 68.89 + .007*</a:t>
            </a:r>
            <a:r>
              <a:rPr kumimoji="0" lang="en-US" sz="2000" b="0" i="0" u="none" strike="noStrike" kern="1200" cap="none" spc="0" normalizeH="0" baseline="0" noProof="0" dirty="0" err="1">
                <a:ln>
                  <a:noFill/>
                </a:ln>
                <a:solidFill>
                  <a:srgbClr val="C00000"/>
                </a:solidFill>
                <a:effectLst/>
                <a:uLnTx/>
                <a:uFillTx/>
                <a:latin typeface="Calibri" panose="020F0502020204030204"/>
                <a:ea typeface="+mn-ea"/>
                <a:cs typeface="+mn-cs"/>
              </a:rPr>
              <a:t>SAT_math</a:t>
            </a:r>
            <a:r>
              <a:rPr kumimoji="0" lang="en-US" sz="2000" b="0" i="0" u="none" strike="noStrike" kern="1200" cap="none" spc="0" normalizeH="0" baseline="0" noProof="0" dirty="0">
                <a:ln>
                  <a:noFill/>
                </a:ln>
                <a:solidFill>
                  <a:srgbClr val="C00000"/>
                </a:solidFill>
                <a:effectLst/>
                <a:uLnTx/>
                <a:uFillTx/>
                <a:latin typeface="Calibri" panose="020F0502020204030204"/>
                <a:ea typeface="+mn-ea"/>
                <a:cs typeface="+mn-cs"/>
              </a:rPr>
              <a:t> </a:t>
            </a:r>
            <a:r>
              <a:rPr kumimoji="0" lang="mr-IN" sz="2000" b="0" i="0" u="none" strike="noStrike" kern="1200" cap="none" spc="0" normalizeH="0" baseline="0" noProof="0" dirty="0">
                <a:ln>
                  <a:noFill/>
                </a:ln>
                <a:solidFill>
                  <a:srgbClr val="C00000"/>
                </a:solidFill>
                <a:effectLst/>
                <a:uLnTx/>
                <a:uFillTx/>
                <a:latin typeface="Calibri" panose="020F0502020204030204"/>
                <a:ea typeface="+mn-ea"/>
                <a:cs typeface="Mangal" panose="02040503050203030202" pitchFamily="18" charset="0"/>
              </a:rPr>
              <a:t>–</a:t>
            </a:r>
            <a:r>
              <a:rPr kumimoji="0" lang="en-US" sz="2000" b="0" i="0" u="none" strike="noStrike" kern="1200" cap="none" spc="0" normalizeH="0" baseline="0" noProof="0" dirty="0">
                <a:ln>
                  <a:noFill/>
                </a:ln>
                <a:solidFill>
                  <a:srgbClr val="C00000"/>
                </a:solidFill>
                <a:effectLst/>
                <a:uLnTx/>
                <a:uFillTx/>
                <a:latin typeface="Calibri" panose="020F0502020204030204"/>
                <a:ea typeface="+mn-ea"/>
                <a:cs typeface="+mn-cs"/>
              </a:rPr>
              <a:t> 2.6*(1)</a:t>
            </a:r>
          </a:p>
        </p:txBody>
      </p:sp>
      <p:sp>
        <p:nvSpPr>
          <p:cNvPr id="6" name="TextBox 5">
            <a:extLst>
              <a:ext uri="{FF2B5EF4-FFF2-40B4-BE49-F238E27FC236}">
                <a16:creationId xmlns:a16="http://schemas.microsoft.com/office/drawing/2014/main" id="{49E2B6A2-B3C1-CFC9-2B55-72357EBDB46C}"/>
              </a:ext>
            </a:extLst>
          </p:cNvPr>
          <p:cNvSpPr txBox="1"/>
          <p:nvPr/>
        </p:nvSpPr>
        <p:spPr>
          <a:xfrm>
            <a:off x="2596212" y="2961288"/>
            <a:ext cx="6488064" cy="707886"/>
          </a:xfrm>
          <a:prstGeom prst="rect">
            <a:avLst/>
          </a:prstGeom>
          <a:solidFill>
            <a:schemeClr val="bg1"/>
          </a:solidFill>
          <a:ln>
            <a:solidFill>
              <a:srgbClr val="C00000"/>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C00000"/>
                </a:solidFill>
                <a:effectLst/>
                <a:uLnTx/>
                <a:uFillTx/>
                <a:latin typeface="Calibri" panose="020F0502020204030204"/>
                <a:ea typeface="+mn-ea"/>
                <a:cs typeface="+mn-cs"/>
              </a:rPr>
              <a:t>Regression Equation: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sng" strike="noStrike" kern="1200" cap="none" spc="0" normalizeH="0" baseline="0" noProof="0" dirty="0" err="1">
                <a:ln>
                  <a:noFill/>
                </a:ln>
                <a:solidFill>
                  <a:srgbClr val="C00000"/>
                </a:solidFill>
                <a:effectLst/>
                <a:uLnTx/>
                <a:uFillTx/>
                <a:latin typeface="Calibri" panose="020F0502020204030204"/>
                <a:ea typeface="+mn-ea"/>
                <a:cs typeface="+mn-cs"/>
              </a:rPr>
              <a:t>Rank|Alum</a:t>
            </a:r>
            <a:r>
              <a:rPr kumimoji="0" lang="en-US" sz="2000" b="0" i="0" u="sng" strike="noStrike" kern="1200" cap="none" spc="0" normalizeH="0" baseline="0" noProof="0" dirty="0">
                <a:ln>
                  <a:noFill/>
                </a:ln>
                <a:solidFill>
                  <a:srgbClr val="C00000"/>
                </a:solidFill>
                <a:effectLst/>
                <a:uLnTx/>
                <a:uFillTx/>
                <a:latin typeface="Calibri" panose="020F0502020204030204"/>
                <a:ea typeface="+mn-ea"/>
                <a:cs typeface="+mn-cs"/>
              </a:rPr>
              <a:t> = 0</a:t>
            </a:r>
            <a:r>
              <a:rPr kumimoji="0" lang="en-US" sz="2000" b="0" i="0" u="none" strike="noStrike" kern="1200" cap="none" spc="0" normalizeH="0" baseline="0" noProof="0" dirty="0">
                <a:ln>
                  <a:noFill/>
                </a:ln>
                <a:solidFill>
                  <a:srgbClr val="C00000"/>
                </a:solidFill>
                <a:effectLst/>
                <a:uLnTx/>
                <a:uFillTx/>
                <a:latin typeface="Calibri" panose="020F0502020204030204"/>
                <a:ea typeface="+mn-ea"/>
                <a:cs typeface="+mn-cs"/>
              </a:rPr>
              <a:t>: 68.89 + .007*</a:t>
            </a:r>
            <a:r>
              <a:rPr kumimoji="0" lang="en-US" sz="2000" b="0" i="0" u="none" strike="noStrike" kern="1200" cap="none" spc="0" normalizeH="0" baseline="0" noProof="0" dirty="0" err="1">
                <a:ln>
                  <a:noFill/>
                </a:ln>
                <a:solidFill>
                  <a:srgbClr val="C00000"/>
                </a:solidFill>
                <a:effectLst/>
                <a:uLnTx/>
                <a:uFillTx/>
                <a:latin typeface="Calibri" panose="020F0502020204030204"/>
                <a:ea typeface="+mn-ea"/>
                <a:cs typeface="+mn-cs"/>
              </a:rPr>
              <a:t>SAT_math</a:t>
            </a:r>
            <a:endParaRPr kumimoji="0" lang="en-US" sz="2000" b="0"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cxnSp>
        <p:nvCxnSpPr>
          <p:cNvPr id="8" name="Straight Arrow Connector 7">
            <a:extLst>
              <a:ext uri="{FF2B5EF4-FFF2-40B4-BE49-F238E27FC236}">
                <a16:creationId xmlns:a16="http://schemas.microsoft.com/office/drawing/2014/main" id="{0670F2E9-77CF-33E5-825D-0A29B33473BA}"/>
              </a:ext>
            </a:extLst>
          </p:cNvPr>
          <p:cNvCxnSpPr/>
          <p:nvPr/>
        </p:nvCxnSpPr>
        <p:spPr>
          <a:xfrm>
            <a:off x="4759411" y="1594541"/>
            <a:ext cx="869092" cy="16063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58105EE6-0C71-E119-DF7D-7968B53C9360}"/>
              </a:ext>
            </a:extLst>
          </p:cNvPr>
          <p:cNvCxnSpPr>
            <a:cxnSpLocks/>
          </p:cNvCxnSpPr>
          <p:nvPr/>
        </p:nvCxnSpPr>
        <p:spPr>
          <a:xfrm flipH="1">
            <a:off x="6254579" y="1755179"/>
            <a:ext cx="1062681" cy="2286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2370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ppt_x"/>
                                          </p:val>
                                        </p:tav>
                                        <p:tav tm="100000">
                                          <p:val>
                                            <p:strVal val="#ppt_x"/>
                                          </p:val>
                                        </p:tav>
                                      </p:tavLst>
                                    </p:anim>
                                    <p:anim calcmode="lin" valueType="num">
                                      <p:cBhvr additive="base">
                                        <p:cTn id="24" dur="500" fill="hold"/>
                                        <p:tgtEl>
                                          <p:spTgt spid="8"/>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ppt_x</p:attrName>
                                        </p:attrNameLst>
                                      </p:cBhvr>
                                      <p:tavLst>
                                        <p:tav tm="0">
                                          <p:val>
                                            <p:strVal val="#ppt_x"/>
                                          </p:val>
                                        </p:tav>
                                        <p:tav tm="100000">
                                          <p:val>
                                            <p:strVal val="#ppt_x"/>
                                          </p:val>
                                        </p:tav>
                                      </p:tavLst>
                                    </p:anim>
                                    <p:anim calcmode="lin" valueType="num">
                                      <p:cBhvr additive="base">
                                        <p:cTn id="2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297DDD43-33E6-B81D-8ECE-4A913E56F9BB}"/>
              </a:ext>
            </a:extLst>
          </p:cNvPr>
          <p:cNvGraphicFramePr>
            <a:graphicFrameLocks noGrp="1"/>
          </p:cNvGraphicFramePr>
          <p:nvPr>
            <p:ph idx="1"/>
          </p:nvPr>
        </p:nvGraphicFramePr>
        <p:xfrm>
          <a:off x="2354094" y="1274323"/>
          <a:ext cx="7256338" cy="3863279"/>
        </p:xfrm>
        <a:graphic>
          <a:graphicData uri="http://schemas.openxmlformats.org/drawingml/2006/table">
            <a:tbl>
              <a:tblPr>
                <a:tableStyleId>{EB9631B5-78F2-41C9-869B-9F39066F8104}</a:tableStyleId>
              </a:tblPr>
              <a:tblGrid>
                <a:gridCol w="1810916">
                  <a:extLst>
                    <a:ext uri="{9D8B030D-6E8A-4147-A177-3AD203B41FA5}">
                      <a16:colId xmlns:a16="http://schemas.microsoft.com/office/drawing/2014/main" val="386131705"/>
                    </a:ext>
                  </a:extLst>
                </a:gridCol>
                <a:gridCol w="2564292">
                  <a:extLst>
                    <a:ext uri="{9D8B030D-6E8A-4147-A177-3AD203B41FA5}">
                      <a16:colId xmlns:a16="http://schemas.microsoft.com/office/drawing/2014/main" val="3862625445"/>
                    </a:ext>
                  </a:extLst>
                </a:gridCol>
                <a:gridCol w="2881130">
                  <a:extLst>
                    <a:ext uri="{9D8B030D-6E8A-4147-A177-3AD203B41FA5}">
                      <a16:colId xmlns:a16="http://schemas.microsoft.com/office/drawing/2014/main" val="3907464912"/>
                    </a:ext>
                  </a:extLst>
                </a:gridCol>
              </a:tblGrid>
              <a:tr h="1191723">
                <a:tc>
                  <a:txBody>
                    <a:bodyPr/>
                    <a:lstStyle/>
                    <a:p>
                      <a:pPr algn="ctr" fontAlgn="b"/>
                      <a:r>
                        <a:rPr lang="en-US" sz="3300" b="1" u="none" strike="noStrike" dirty="0">
                          <a:solidFill>
                            <a:srgbClr val="000000"/>
                          </a:solidFill>
                          <a:effectLst/>
                        </a:rPr>
                        <a:t>SAT Math</a:t>
                      </a:r>
                      <a:endParaRPr lang="en-US" sz="5400" b="1" i="0" u="none" strike="noStrike" dirty="0">
                        <a:effectLst/>
                        <a:latin typeface="Arial" panose="020B0604020202020204" pitchFamily="34" charset="0"/>
                      </a:endParaRPr>
                    </a:p>
                  </a:txBody>
                  <a:tcPr marL="28575" marR="28575" marT="28575" marB="0" anchor="b"/>
                </a:tc>
                <a:tc>
                  <a:txBody>
                    <a:bodyPr/>
                    <a:lstStyle/>
                    <a:p>
                      <a:pPr algn="ctr" fontAlgn="b"/>
                      <a:r>
                        <a:rPr lang="en-US" sz="3300" b="1" u="none" strike="noStrike" dirty="0">
                          <a:solidFill>
                            <a:srgbClr val="000000"/>
                          </a:solidFill>
                          <a:effectLst/>
                        </a:rPr>
                        <a:t>Family is Alumni</a:t>
                      </a:r>
                      <a:endParaRPr lang="en-US" sz="5400" b="1" i="0" u="none" strike="noStrike" dirty="0">
                        <a:effectLst/>
                        <a:latin typeface="Arial" panose="020B0604020202020204" pitchFamily="34" charset="0"/>
                      </a:endParaRPr>
                    </a:p>
                  </a:txBody>
                  <a:tcPr marL="28575" marR="28575" marT="28575" marB="0" anchor="b"/>
                </a:tc>
                <a:tc>
                  <a:txBody>
                    <a:bodyPr/>
                    <a:lstStyle/>
                    <a:p>
                      <a:pPr algn="ctr" fontAlgn="b"/>
                      <a:r>
                        <a:rPr lang="en-US" sz="3300" b="1" u="none" strike="noStrike" dirty="0">
                          <a:solidFill>
                            <a:srgbClr val="000000"/>
                          </a:solidFill>
                          <a:effectLst/>
                        </a:rPr>
                        <a:t>Predicted Class Rank</a:t>
                      </a:r>
                      <a:endParaRPr lang="en-US" sz="5400" b="1" i="0" u="none" strike="noStrike" dirty="0">
                        <a:effectLst/>
                        <a:latin typeface="Arial" panose="020B0604020202020204" pitchFamily="34" charset="0"/>
                      </a:endParaRPr>
                    </a:p>
                  </a:txBody>
                  <a:tcPr marL="28575" marR="28575" marT="28575" marB="0" anchor="b"/>
                </a:tc>
                <a:extLst>
                  <a:ext uri="{0D108BD9-81ED-4DB2-BD59-A6C34878D82A}">
                    <a16:rowId xmlns:a16="http://schemas.microsoft.com/office/drawing/2014/main" val="3266111325"/>
                  </a:ext>
                </a:extLst>
              </a:tr>
              <a:tr h="667889">
                <a:tc>
                  <a:txBody>
                    <a:bodyPr/>
                    <a:lstStyle/>
                    <a:p>
                      <a:pPr algn="ctr" fontAlgn="b"/>
                      <a:r>
                        <a:rPr lang="en-US" sz="3300" b="0" u="none" strike="noStrike">
                          <a:solidFill>
                            <a:srgbClr val="000000"/>
                          </a:solidFill>
                          <a:effectLst/>
                        </a:rPr>
                        <a:t>100</a:t>
                      </a:r>
                      <a:endParaRPr lang="en-US" sz="5400" b="0" i="0" u="none" strike="noStrike">
                        <a:effectLst/>
                        <a:latin typeface="Arial" panose="020B0604020202020204" pitchFamily="34" charset="0"/>
                      </a:endParaRPr>
                    </a:p>
                  </a:txBody>
                  <a:tcPr marL="28575" marR="28575" marT="28575" marB="0" anchor="b"/>
                </a:tc>
                <a:tc>
                  <a:txBody>
                    <a:bodyPr/>
                    <a:lstStyle/>
                    <a:p>
                      <a:pPr algn="ctr" fontAlgn="b"/>
                      <a:r>
                        <a:rPr lang="en-US" sz="3300" b="0" u="none" strike="noStrike" dirty="0">
                          <a:solidFill>
                            <a:srgbClr val="000000"/>
                          </a:solidFill>
                          <a:effectLst/>
                        </a:rPr>
                        <a:t>0</a:t>
                      </a:r>
                      <a:endParaRPr lang="en-US" sz="5400" b="0" i="0" u="none" strike="noStrike" dirty="0">
                        <a:effectLst/>
                        <a:latin typeface="Arial" panose="020B0604020202020204" pitchFamily="34" charset="0"/>
                      </a:endParaRPr>
                    </a:p>
                  </a:txBody>
                  <a:tcPr marL="28575" marR="28575" marT="28575" marB="0" anchor="b"/>
                </a:tc>
                <a:tc>
                  <a:txBody>
                    <a:bodyPr/>
                    <a:lstStyle/>
                    <a:p>
                      <a:pPr algn="ctr" fontAlgn="b"/>
                      <a:r>
                        <a:rPr lang="en-US" sz="3300" b="0" u="none" strike="noStrike" dirty="0">
                          <a:solidFill>
                            <a:srgbClr val="000000"/>
                          </a:solidFill>
                          <a:effectLst/>
                        </a:rPr>
                        <a:t>69.59</a:t>
                      </a:r>
                      <a:endParaRPr lang="en-US" sz="5400" b="0" i="0" u="none" strike="noStrike" dirty="0">
                        <a:effectLst/>
                        <a:latin typeface="Arial" panose="020B0604020202020204" pitchFamily="34" charset="0"/>
                      </a:endParaRPr>
                    </a:p>
                  </a:txBody>
                  <a:tcPr marL="28575" marR="28575" marT="28575" marB="0" anchor="b"/>
                </a:tc>
                <a:extLst>
                  <a:ext uri="{0D108BD9-81ED-4DB2-BD59-A6C34878D82A}">
                    <a16:rowId xmlns:a16="http://schemas.microsoft.com/office/drawing/2014/main" val="3843969774"/>
                  </a:ext>
                </a:extLst>
              </a:tr>
              <a:tr h="667889">
                <a:tc>
                  <a:txBody>
                    <a:bodyPr/>
                    <a:lstStyle/>
                    <a:p>
                      <a:pPr algn="ctr" fontAlgn="b"/>
                      <a:r>
                        <a:rPr lang="en-US" sz="3300" b="0" u="none" strike="noStrike">
                          <a:solidFill>
                            <a:srgbClr val="000000"/>
                          </a:solidFill>
                          <a:effectLst/>
                        </a:rPr>
                        <a:t>100</a:t>
                      </a:r>
                      <a:endParaRPr lang="en-US" sz="5400" b="0" i="0" u="none" strike="noStrike">
                        <a:effectLst/>
                        <a:latin typeface="Arial" panose="020B0604020202020204" pitchFamily="34" charset="0"/>
                      </a:endParaRPr>
                    </a:p>
                  </a:txBody>
                  <a:tcPr marL="28575" marR="28575" marT="28575" marB="0" anchor="b"/>
                </a:tc>
                <a:tc>
                  <a:txBody>
                    <a:bodyPr/>
                    <a:lstStyle/>
                    <a:p>
                      <a:pPr algn="ctr" fontAlgn="b"/>
                      <a:r>
                        <a:rPr lang="en-US" sz="3300" b="0" u="none" strike="noStrike">
                          <a:solidFill>
                            <a:srgbClr val="000000"/>
                          </a:solidFill>
                          <a:effectLst/>
                        </a:rPr>
                        <a:t>1</a:t>
                      </a:r>
                      <a:endParaRPr lang="en-US" sz="5400" b="0" i="0" u="none" strike="noStrike">
                        <a:effectLst/>
                        <a:latin typeface="Arial" panose="020B0604020202020204" pitchFamily="34" charset="0"/>
                      </a:endParaRPr>
                    </a:p>
                  </a:txBody>
                  <a:tcPr marL="28575" marR="28575" marT="28575" marB="0" anchor="b"/>
                </a:tc>
                <a:tc>
                  <a:txBody>
                    <a:bodyPr/>
                    <a:lstStyle/>
                    <a:p>
                      <a:pPr algn="ctr" fontAlgn="b"/>
                      <a:r>
                        <a:rPr lang="en-US" sz="3300" b="0" u="none" strike="noStrike" dirty="0">
                          <a:solidFill>
                            <a:srgbClr val="000000"/>
                          </a:solidFill>
                          <a:effectLst/>
                        </a:rPr>
                        <a:t>66.99</a:t>
                      </a:r>
                      <a:endParaRPr lang="en-US" sz="5400" b="0" i="0" u="none" strike="noStrike" dirty="0">
                        <a:effectLst/>
                        <a:latin typeface="Arial" panose="020B0604020202020204" pitchFamily="34" charset="0"/>
                      </a:endParaRPr>
                    </a:p>
                  </a:txBody>
                  <a:tcPr marL="28575" marR="28575" marT="28575" marB="0" anchor="b"/>
                </a:tc>
                <a:extLst>
                  <a:ext uri="{0D108BD9-81ED-4DB2-BD59-A6C34878D82A}">
                    <a16:rowId xmlns:a16="http://schemas.microsoft.com/office/drawing/2014/main" val="413554508"/>
                  </a:ext>
                </a:extLst>
              </a:tr>
              <a:tr h="667889">
                <a:tc>
                  <a:txBody>
                    <a:bodyPr/>
                    <a:lstStyle/>
                    <a:p>
                      <a:pPr algn="ctr" fontAlgn="b"/>
                      <a:r>
                        <a:rPr lang="en-US" sz="3300" b="0" u="none" strike="noStrike">
                          <a:solidFill>
                            <a:srgbClr val="000000"/>
                          </a:solidFill>
                          <a:effectLst/>
                        </a:rPr>
                        <a:t>500</a:t>
                      </a:r>
                      <a:endParaRPr lang="en-US" sz="5400" b="0" i="0" u="none" strike="noStrike">
                        <a:effectLst/>
                        <a:latin typeface="Arial" panose="020B0604020202020204" pitchFamily="34" charset="0"/>
                      </a:endParaRPr>
                    </a:p>
                  </a:txBody>
                  <a:tcPr marL="28575" marR="28575" marT="28575" marB="0" anchor="b"/>
                </a:tc>
                <a:tc>
                  <a:txBody>
                    <a:bodyPr/>
                    <a:lstStyle/>
                    <a:p>
                      <a:pPr algn="ctr" fontAlgn="b"/>
                      <a:r>
                        <a:rPr lang="en-US" sz="3300" b="0" u="none" strike="noStrike">
                          <a:solidFill>
                            <a:srgbClr val="000000"/>
                          </a:solidFill>
                          <a:effectLst/>
                        </a:rPr>
                        <a:t>0</a:t>
                      </a:r>
                      <a:endParaRPr lang="en-US" sz="5400" b="0" i="0" u="none" strike="noStrike">
                        <a:effectLst/>
                        <a:latin typeface="Arial" panose="020B0604020202020204" pitchFamily="34" charset="0"/>
                      </a:endParaRPr>
                    </a:p>
                  </a:txBody>
                  <a:tcPr marL="28575" marR="28575" marT="28575" marB="0" anchor="b"/>
                </a:tc>
                <a:tc>
                  <a:txBody>
                    <a:bodyPr/>
                    <a:lstStyle/>
                    <a:p>
                      <a:pPr algn="ctr" fontAlgn="b"/>
                      <a:r>
                        <a:rPr lang="en-US" sz="3300" b="0" u="none" strike="noStrike" dirty="0">
                          <a:solidFill>
                            <a:srgbClr val="000000"/>
                          </a:solidFill>
                          <a:effectLst/>
                        </a:rPr>
                        <a:t>72.39</a:t>
                      </a:r>
                      <a:endParaRPr lang="en-US" sz="5400" b="0" i="0" u="none" strike="noStrike" dirty="0">
                        <a:effectLst/>
                        <a:latin typeface="Arial" panose="020B0604020202020204" pitchFamily="34" charset="0"/>
                      </a:endParaRPr>
                    </a:p>
                  </a:txBody>
                  <a:tcPr marL="28575" marR="28575" marT="28575" marB="0" anchor="b"/>
                </a:tc>
                <a:extLst>
                  <a:ext uri="{0D108BD9-81ED-4DB2-BD59-A6C34878D82A}">
                    <a16:rowId xmlns:a16="http://schemas.microsoft.com/office/drawing/2014/main" val="2727369398"/>
                  </a:ext>
                </a:extLst>
              </a:tr>
              <a:tr h="667889">
                <a:tc>
                  <a:txBody>
                    <a:bodyPr/>
                    <a:lstStyle/>
                    <a:p>
                      <a:pPr algn="ctr" fontAlgn="b"/>
                      <a:r>
                        <a:rPr lang="en-US" sz="3300" b="0" u="none" strike="noStrike">
                          <a:solidFill>
                            <a:srgbClr val="000000"/>
                          </a:solidFill>
                          <a:effectLst/>
                        </a:rPr>
                        <a:t>500</a:t>
                      </a:r>
                      <a:endParaRPr lang="en-US" sz="5400" b="0" i="0" u="none" strike="noStrike">
                        <a:effectLst/>
                        <a:latin typeface="Arial" panose="020B0604020202020204" pitchFamily="34" charset="0"/>
                      </a:endParaRPr>
                    </a:p>
                  </a:txBody>
                  <a:tcPr marL="28575" marR="28575" marT="28575" marB="0" anchor="b"/>
                </a:tc>
                <a:tc>
                  <a:txBody>
                    <a:bodyPr/>
                    <a:lstStyle/>
                    <a:p>
                      <a:pPr algn="ctr" fontAlgn="b"/>
                      <a:r>
                        <a:rPr lang="en-US" sz="3300" b="0" u="none" strike="noStrike">
                          <a:solidFill>
                            <a:srgbClr val="000000"/>
                          </a:solidFill>
                          <a:effectLst/>
                        </a:rPr>
                        <a:t>1</a:t>
                      </a:r>
                      <a:endParaRPr lang="en-US" sz="5400" b="0" i="0" u="none" strike="noStrike">
                        <a:effectLst/>
                        <a:latin typeface="Arial" panose="020B0604020202020204" pitchFamily="34" charset="0"/>
                      </a:endParaRPr>
                    </a:p>
                  </a:txBody>
                  <a:tcPr marL="28575" marR="28575" marT="28575" marB="0" anchor="b"/>
                </a:tc>
                <a:tc>
                  <a:txBody>
                    <a:bodyPr/>
                    <a:lstStyle/>
                    <a:p>
                      <a:pPr algn="ctr" fontAlgn="b"/>
                      <a:r>
                        <a:rPr lang="en-US" sz="3300" b="0" u="none" strike="noStrike" dirty="0">
                          <a:solidFill>
                            <a:srgbClr val="000000"/>
                          </a:solidFill>
                          <a:effectLst/>
                        </a:rPr>
                        <a:t>69.79</a:t>
                      </a:r>
                      <a:endParaRPr lang="en-US" sz="5400" b="0" i="0" u="none" strike="noStrike" dirty="0">
                        <a:effectLst/>
                        <a:latin typeface="Arial" panose="020B0604020202020204" pitchFamily="34" charset="0"/>
                      </a:endParaRPr>
                    </a:p>
                  </a:txBody>
                  <a:tcPr marL="28575" marR="28575" marT="28575" marB="0" anchor="b"/>
                </a:tc>
                <a:extLst>
                  <a:ext uri="{0D108BD9-81ED-4DB2-BD59-A6C34878D82A}">
                    <a16:rowId xmlns:a16="http://schemas.microsoft.com/office/drawing/2014/main" val="3878394384"/>
                  </a:ext>
                </a:extLst>
              </a:tr>
            </a:tbl>
          </a:graphicData>
        </a:graphic>
      </p:graphicFrame>
    </p:spTree>
    <p:extLst>
      <p:ext uri="{BB962C8B-B14F-4D97-AF65-F5344CB8AC3E}">
        <p14:creationId xmlns:p14="http://schemas.microsoft.com/office/powerpoint/2010/main" val="25691606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C7D7E-B46B-9711-C7D1-7AEC31350569}"/>
              </a:ext>
            </a:extLst>
          </p:cNvPr>
          <p:cNvSpPr>
            <a:spLocks noGrp="1"/>
          </p:cNvSpPr>
          <p:nvPr>
            <p:ph type="title"/>
          </p:nvPr>
        </p:nvSpPr>
        <p:spPr>
          <a:xfrm>
            <a:off x="156557" y="132369"/>
            <a:ext cx="10515600" cy="798657"/>
          </a:xfrm>
        </p:spPr>
        <p:txBody>
          <a:bodyPr/>
          <a:lstStyle/>
          <a:p>
            <a:r>
              <a:rPr lang="en-US" sz="3600" dirty="0">
                <a:solidFill>
                  <a:prstClr val="black"/>
                </a:solidFill>
                <a:latin typeface="Arial" panose="020B0604020202020204" pitchFamily="34" charset="0"/>
                <a:cs typeface="Arial" panose="020B0604020202020204" pitchFamily="34" charset="0"/>
              </a:rPr>
              <a:t>Creating ‘Fast Dummies’ in R</a:t>
            </a:r>
            <a:endParaRPr lang="en-US" dirty="0"/>
          </a:p>
        </p:txBody>
      </p:sp>
      <p:sp>
        <p:nvSpPr>
          <p:cNvPr id="3" name="Content Placeholder 2">
            <a:extLst>
              <a:ext uri="{FF2B5EF4-FFF2-40B4-BE49-F238E27FC236}">
                <a16:creationId xmlns:a16="http://schemas.microsoft.com/office/drawing/2014/main" id="{C9F93A04-5FD6-896D-9F1C-709D2021111D}"/>
              </a:ext>
            </a:extLst>
          </p:cNvPr>
          <p:cNvSpPr>
            <a:spLocks noGrp="1"/>
          </p:cNvSpPr>
          <p:nvPr>
            <p:ph idx="1"/>
          </p:nvPr>
        </p:nvSpPr>
        <p:spPr>
          <a:xfrm>
            <a:off x="289560" y="931026"/>
            <a:ext cx="10515600" cy="4351338"/>
          </a:xfrm>
        </p:spPr>
        <p:txBody>
          <a:bodyPr>
            <a:normAutofit fontScale="92500" lnSpcReduction="20000"/>
          </a:bodyPr>
          <a:lstStyle/>
          <a:p>
            <a:r>
              <a:rPr lang="en-US" dirty="0">
                <a:latin typeface="Arial" panose="020B0604020202020204" pitchFamily="34" charset="0"/>
                <a:cs typeface="Arial" panose="020B0604020202020204" pitchFamily="34" charset="0"/>
              </a:rPr>
              <a:t>1. No more dummy variables! R automatically creates k−1 dummy variables.</a:t>
            </a:r>
          </a:p>
          <a:p>
            <a:pPr marL="457200" lvl="1" indent="0">
              <a:buNone/>
            </a:pPr>
            <a:r>
              <a:rPr lang="en-US" sz="1900" dirty="0" err="1">
                <a:solidFill>
                  <a:srgbClr val="FF0000"/>
                </a:solidFill>
                <a:latin typeface="Arial" panose="020B0604020202020204" pitchFamily="34" charset="0"/>
                <a:cs typeface="Arial" panose="020B0604020202020204" pitchFamily="34" charset="0"/>
              </a:rPr>
              <a:t>data$race</a:t>
            </a:r>
            <a:r>
              <a:rPr lang="en-US" sz="1900" dirty="0">
                <a:solidFill>
                  <a:srgbClr val="FF0000"/>
                </a:solidFill>
                <a:latin typeface="Arial" panose="020B0604020202020204" pitchFamily="34" charset="0"/>
                <a:cs typeface="Arial" panose="020B0604020202020204" pitchFamily="34" charset="0"/>
              </a:rPr>
              <a:t> &lt;- factor(</a:t>
            </a:r>
            <a:r>
              <a:rPr lang="en-US" sz="1900" dirty="0" err="1">
                <a:solidFill>
                  <a:srgbClr val="FF0000"/>
                </a:solidFill>
                <a:latin typeface="Arial" panose="020B0604020202020204" pitchFamily="34" charset="0"/>
                <a:cs typeface="Arial" panose="020B0604020202020204" pitchFamily="34" charset="0"/>
              </a:rPr>
              <a:t>data$race</a:t>
            </a:r>
            <a:r>
              <a:rPr lang="en-US" sz="1900" dirty="0">
                <a:solidFill>
                  <a:srgbClr val="FF0000"/>
                </a:solidFill>
                <a:latin typeface="Arial" panose="020B0604020202020204" pitchFamily="34" charset="0"/>
                <a:cs typeface="Arial" panose="020B0604020202020204" pitchFamily="34" charset="0"/>
              </a:rPr>
              <a:t>)</a:t>
            </a:r>
          </a:p>
          <a:p>
            <a:pPr marL="457200" lvl="1" indent="0">
              <a:buNone/>
            </a:pPr>
            <a:r>
              <a:rPr lang="en-US" sz="1900" dirty="0">
                <a:solidFill>
                  <a:srgbClr val="FF0000"/>
                </a:solidFill>
                <a:latin typeface="Arial" panose="020B0604020202020204" pitchFamily="34" charset="0"/>
                <a:cs typeface="Arial" panose="020B0604020202020204" pitchFamily="34" charset="0"/>
              </a:rPr>
              <a:t>model &lt;- </a:t>
            </a:r>
            <a:r>
              <a:rPr lang="en-US" sz="1900" dirty="0" err="1">
                <a:solidFill>
                  <a:srgbClr val="FF0000"/>
                </a:solidFill>
                <a:latin typeface="Arial" panose="020B0604020202020204" pitchFamily="34" charset="0"/>
                <a:cs typeface="Arial" panose="020B0604020202020204" pitchFamily="34" charset="0"/>
              </a:rPr>
              <a:t>lm</a:t>
            </a:r>
            <a:r>
              <a:rPr lang="en-US" sz="1900" dirty="0">
                <a:solidFill>
                  <a:srgbClr val="FF0000"/>
                </a:solidFill>
                <a:latin typeface="Arial" panose="020B0604020202020204" pitchFamily="34" charset="0"/>
                <a:cs typeface="Arial" panose="020B0604020202020204" pitchFamily="34" charset="0"/>
              </a:rPr>
              <a:t>(y ~ race + age + income, data = data)</a:t>
            </a:r>
          </a:p>
          <a:p>
            <a:r>
              <a:rPr lang="en-US" dirty="0">
                <a:latin typeface="Arial" panose="020B0604020202020204" pitchFamily="34" charset="0"/>
                <a:cs typeface="Arial" panose="020B0604020202020204" pitchFamily="34" charset="0"/>
              </a:rPr>
              <a:t>2. </a:t>
            </a:r>
            <a:r>
              <a:rPr lang="en-US" dirty="0" err="1">
                <a:latin typeface="Arial" panose="020B0604020202020204" pitchFamily="34" charset="0"/>
                <a:cs typeface="Arial" panose="020B0604020202020204" pitchFamily="34" charset="0"/>
              </a:rPr>
              <a:t>FastDummies</a:t>
            </a:r>
            <a:r>
              <a:rPr lang="en-US" dirty="0">
                <a:latin typeface="Arial" panose="020B0604020202020204" pitchFamily="34" charset="0"/>
                <a:cs typeface="Arial" panose="020B0604020202020204" pitchFamily="34" charset="0"/>
              </a:rPr>
              <a:t> package</a:t>
            </a:r>
          </a:p>
          <a:p>
            <a:pPr marL="573088" lvl="2" indent="0">
              <a:buNone/>
            </a:pPr>
            <a:r>
              <a:rPr lang="en-US" sz="2100" dirty="0">
                <a:solidFill>
                  <a:schemeClr val="accent1"/>
                </a:solidFill>
                <a:latin typeface="Arial" panose="020B0604020202020204" pitchFamily="34" charset="0"/>
                <a:cs typeface="Arial" panose="020B0604020202020204" pitchFamily="34" charset="0"/>
              </a:rPr>
              <a:t>library(</a:t>
            </a:r>
            <a:r>
              <a:rPr lang="en-US" sz="2100" dirty="0" err="1">
                <a:solidFill>
                  <a:schemeClr val="accent1"/>
                </a:solidFill>
                <a:latin typeface="Arial" panose="020B0604020202020204" pitchFamily="34" charset="0"/>
                <a:cs typeface="Arial" panose="020B0604020202020204" pitchFamily="34" charset="0"/>
              </a:rPr>
              <a:t>fastDummies</a:t>
            </a:r>
            <a:r>
              <a:rPr lang="en-US" sz="2100" dirty="0">
                <a:solidFill>
                  <a:schemeClr val="accent1"/>
                </a:solidFill>
                <a:latin typeface="Arial" panose="020B0604020202020204" pitchFamily="34" charset="0"/>
                <a:cs typeface="Arial" panose="020B0604020202020204" pitchFamily="34" charset="0"/>
              </a:rPr>
              <a:t>)</a:t>
            </a:r>
          </a:p>
          <a:p>
            <a:pPr marL="573088" lvl="2" indent="0">
              <a:buNone/>
            </a:pPr>
            <a:r>
              <a:rPr lang="en-US" sz="2100" dirty="0" err="1">
                <a:solidFill>
                  <a:srgbClr val="FF0000"/>
                </a:solidFill>
                <a:latin typeface="Arial" panose="020B0604020202020204" pitchFamily="34" charset="0"/>
                <a:cs typeface="Arial" panose="020B0604020202020204" pitchFamily="34" charset="0"/>
              </a:rPr>
              <a:t>data_dum</a:t>
            </a:r>
            <a:r>
              <a:rPr lang="en-US" sz="2100" dirty="0">
                <a:solidFill>
                  <a:srgbClr val="FF0000"/>
                </a:solidFill>
                <a:latin typeface="Arial" panose="020B0604020202020204" pitchFamily="34" charset="0"/>
                <a:cs typeface="Arial" panose="020B0604020202020204" pitchFamily="34" charset="0"/>
              </a:rPr>
              <a:t> &lt;- </a:t>
            </a:r>
            <a:r>
              <a:rPr lang="en-US" sz="2100" dirty="0" err="1">
                <a:solidFill>
                  <a:srgbClr val="FF0000"/>
                </a:solidFill>
                <a:latin typeface="Arial" panose="020B0604020202020204" pitchFamily="34" charset="0"/>
                <a:cs typeface="Arial" panose="020B0604020202020204" pitchFamily="34" charset="0"/>
              </a:rPr>
              <a:t>fastDummies</a:t>
            </a:r>
            <a:r>
              <a:rPr lang="en-US" sz="2100" dirty="0">
                <a:solidFill>
                  <a:srgbClr val="FF0000"/>
                </a:solidFill>
                <a:latin typeface="Arial" panose="020B0604020202020204" pitchFamily="34" charset="0"/>
                <a:cs typeface="Arial" panose="020B0604020202020204" pitchFamily="34" charset="0"/>
              </a:rPr>
              <a:t>::</a:t>
            </a:r>
            <a:r>
              <a:rPr lang="en-US" sz="2100" dirty="0" err="1">
                <a:solidFill>
                  <a:srgbClr val="FF0000"/>
                </a:solidFill>
                <a:latin typeface="Arial" panose="020B0604020202020204" pitchFamily="34" charset="0"/>
                <a:cs typeface="Arial" panose="020B0604020202020204" pitchFamily="34" charset="0"/>
              </a:rPr>
              <a:t>dummy_cols</a:t>
            </a:r>
            <a:r>
              <a:rPr lang="en-US" sz="2100" dirty="0">
                <a:solidFill>
                  <a:srgbClr val="FF0000"/>
                </a:solidFill>
                <a:latin typeface="Arial" panose="020B0604020202020204" pitchFamily="34" charset="0"/>
                <a:cs typeface="Arial" panose="020B0604020202020204" pitchFamily="34" charset="0"/>
              </a:rPr>
              <a:t>(</a:t>
            </a:r>
          </a:p>
          <a:p>
            <a:pPr marL="573088" lvl="2" indent="0">
              <a:buNone/>
            </a:pPr>
            <a:r>
              <a:rPr lang="en-US" sz="2100" dirty="0">
                <a:solidFill>
                  <a:srgbClr val="FF0000"/>
                </a:solidFill>
                <a:latin typeface="Arial" panose="020B0604020202020204" pitchFamily="34" charset="0"/>
                <a:cs typeface="Arial" panose="020B0604020202020204" pitchFamily="34" charset="0"/>
              </a:rPr>
              <a:t>  data,</a:t>
            </a:r>
          </a:p>
          <a:p>
            <a:pPr marL="573088" lvl="2" indent="0">
              <a:buNone/>
            </a:pPr>
            <a:r>
              <a:rPr lang="en-US" sz="2100" dirty="0">
                <a:solidFill>
                  <a:srgbClr val="FF0000"/>
                </a:solidFill>
                <a:latin typeface="Arial" panose="020B0604020202020204" pitchFamily="34" charset="0"/>
                <a:cs typeface="Arial" panose="020B0604020202020204" pitchFamily="34" charset="0"/>
              </a:rPr>
              <a:t>  </a:t>
            </a:r>
            <a:r>
              <a:rPr lang="en-US" sz="2100" dirty="0" err="1">
                <a:solidFill>
                  <a:srgbClr val="FF0000"/>
                </a:solidFill>
                <a:latin typeface="Arial" panose="020B0604020202020204" pitchFamily="34" charset="0"/>
                <a:cs typeface="Arial" panose="020B0604020202020204" pitchFamily="34" charset="0"/>
              </a:rPr>
              <a:t>select_columns</a:t>
            </a:r>
            <a:r>
              <a:rPr lang="en-US" sz="2100" dirty="0">
                <a:solidFill>
                  <a:srgbClr val="FF0000"/>
                </a:solidFill>
                <a:latin typeface="Arial" panose="020B0604020202020204" pitchFamily="34" charset="0"/>
                <a:cs typeface="Arial" panose="020B0604020202020204" pitchFamily="34" charset="0"/>
              </a:rPr>
              <a:t> = "race",</a:t>
            </a:r>
          </a:p>
          <a:p>
            <a:pPr marL="573088" lvl="2" indent="0">
              <a:buNone/>
            </a:pPr>
            <a:r>
              <a:rPr lang="en-US" sz="2100" dirty="0">
                <a:solidFill>
                  <a:srgbClr val="FF0000"/>
                </a:solidFill>
                <a:latin typeface="Arial" panose="020B0604020202020204" pitchFamily="34" charset="0"/>
                <a:cs typeface="Arial" panose="020B0604020202020204" pitchFamily="34" charset="0"/>
              </a:rPr>
              <a:t>  </a:t>
            </a:r>
            <a:r>
              <a:rPr lang="en-US" sz="2100" dirty="0" err="1">
                <a:solidFill>
                  <a:srgbClr val="FF0000"/>
                </a:solidFill>
                <a:latin typeface="Arial" panose="020B0604020202020204" pitchFamily="34" charset="0"/>
                <a:cs typeface="Arial" panose="020B0604020202020204" pitchFamily="34" charset="0"/>
              </a:rPr>
              <a:t>remove_first_dummy</a:t>
            </a:r>
            <a:r>
              <a:rPr lang="en-US" sz="2100" dirty="0">
                <a:solidFill>
                  <a:srgbClr val="FF0000"/>
                </a:solidFill>
                <a:latin typeface="Arial" panose="020B0604020202020204" pitchFamily="34" charset="0"/>
                <a:cs typeface="Arial" panose="020B0604020202020204" pitchFamily="34" charset="0"/>
              </a:rPr>
              <a:t> = TRUE,  # avoids multicollinearity</a:t>
            </a:r>
          </a:p>
          <a:p>
            <a:pPr marL="573088" lvl="2" indent="0">
              <a:buNone/>
            </a:pPr>
            <a:r>
              <a:rPr lang="en-US" sz="2100" dirty="0">
                <a:solidFill>
                  <a:srgbClr val="FF0000"/>
                </a:solidFill>
                <a:latin typeface="Arial" panose="020B0604020202020204" pitchFamily="34" charset="0"/>
                <a:cs typeface="Arial" panose="020B0604020202020204" pitchFamily="34" charset="0"/>
              </a:rPr>
              <a:t>  </a:t>
            </a:r>
            <a:r>
              <a:rPr lang="en-US" sz="2100" dirty="0" err="1">
                <a:solidFill>
                  <a:srgbClr val="FF0000"/>
                </a:solidFill>
                <a:latin typeface="Arial" panose="020B0604020202020204" pitchFamily="34" charset="0"/>
                <a:cs typeface="Arial" panose="020B0604020202020204" pitchFamily="34" charset="0"/>
              </a:rPr>
              <a:t>remove_selected_columns</a:t>
            </a:r>
            <a:r>
              <a:rPr lang="en-US" sz="2100" dirty="0">
                <a:solidFill>
                  <a:srgbClr val="FF0000"/>
                </a:solidFill>
                <a:latin typeface="Arial" panose="020B0604020202020204" pitchFamily="34" charset="0"/>
                <a:cs typeface="Arial" panose="020B0604020202020204" pitchFamily="34" charset="0"/>
              </a:rPr>
              <a:t> = TRUE)</a:t>
            </a:r>
          </a:p>
          <a:p>
            <a:pPr marL="457200" lvl="1" indent="0">
              <a:buNone/>
            </a:pPr>
            <a:endParaRPr lang="en-US" dirty="0">
              <a:latin typeface="Arial" panose="020B0604020202020204" pitchFamily="34" charset="0"/>
              <a:cs typeface="Arial" panose="020B0604020202020204" pitchFamily="34" charset="0"/>
            </a:endParaRPr>
          </a:p>
          <a:p>
            <a:pPr lvl="1"/>
            <a:r>
              <a:rPr lang="en-US" dirty="0">
                <a:latin typeface="Arial" panose="020B0604020202020204" pitchFamily="34" charset="0"/>
                <a:cs typeface="Arial" panose="020B0604020202020204" pitchFamily="34" charset="0"/>
              </a:rPr>
              <a:t>Creates columns like:</a:t>
            </a:r>
          </a:p>
          <a:p>
            <a:pPr lvl="1"/>
            <a:r>
              <a:rPr lang="en-US" dirty="0" err="1">
                <a:latin typeface="Arial" panose="020B0604020202020204" pitchFamily="34" charset="0"/>
                <a:cs typeface="Arial" panose="020B0604020202020204" pitchFamily="34" charset="0"/>
              </a:rPr>
              <a:t>race_Black</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race_White</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race_Hispanic</a:t>
            </a:r>
            <a:r>
              <a:rPr lang="en-US" dirty="0">
                <a:latin typeface="Arial" panose="020B0604020202020204" pitchFamily="34" charset="0"/>
                <a:cs typeface="Arial" panose="020B0604020202020204" pitchFamily="34" charset="0"/>
              </a:rPr>
              <a:t> ...</a:t>
            </a:r>
          </a:p>
          <a:p>
            <a:pPr marL="457200" lvl="1" indent="0">
              <a:buNone/>
            </a:pPr>
            <a:endParaRPr lang="en-US"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8D52CAB7-3B17-A938-0DBF-8E24038CAB8B}"/>
              </a:ext>
            </a:extLst>
          </p:cNvPr>
          <p:cNvSpPr txBox="1"/>
          <p:nvPr/>
        </p:nvSpPr>
        <p:spPr>
          <a:xfrm>
            <a:off x="334536" y="6171529"/>
            <a:ext cx="6110868" cy="369332"/>
          </a:xfrm>
          <a:prstGeom prst="rect">
            <a:avLst/>
          </a:prstGeom>
          <a:noFill/>
        </p:spPr>
        <p:txBody>
          <a:bodyPr wrap="square">
            <a:spAutoFit/>
          </a:bodyPr>
          <a:lstStyle/>
          <a:p>
            <a:r>
              <a:rPr lang="en-US" dirty="0">
                <a:hlinkClick r:id="rId2"/>
              </a:rPr>
              <a:t>Fast Dummies – Statistics for Social Work</a:t>
            </a:r>
            <a:endParaRPr lang="en-US" dirty="0"/>
          </a:p>
        </p:txBody>
      </p:sp>
    </p:spTree>
    <p:extLst>
      <p:ext uri="{BB962C8B-B14F-4D97-AF65-F5344CB8AC3E}">
        <p14:creationId xmlns:p14="http://schemas.microsoft.com/office/powerpoint/2010/main" val="3920829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anim calcmode="lin" valueType="num">
                                      <p:cBhvr additive="base">
                                        <p:cTn id="1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 calcmode="lin" valueType="num">
                                      <p:cBhvr additive="base">
                                        <p:cTn id="1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 calcmode="lin" valueType="num">
                                      <p:cBhvr additive="base">
                                        <p:cTn id="1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anim calcmode="lin" valueType="num">
                                      <p:cBhvr additive="base">
                                        <p:cTn id="2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7" end="7"/>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 calcmode="lin" valueType="num">
                                      <p:cBhvr additive="base">
                                        <p:cTn id="27"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8" end="8"/>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anim calcmode="lin" valueType="num">
                                      <p:cBhvr additive="base">
                                        <p:cTn id="3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9" end="9"/>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anim calcmode="lin" valueType="num">
                                      <p:cBhvr additive="base">
                                        <p:cTn id="35"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2" end="12"/>
                                            </p:txEl>
                                          </p:spTgt>
                                        </p:tgtEl>
                                        <p:attrNameLst>
                                          <p:attrName>style.visibility</p:attrName>
                                        </p:attrNameLst>
                                      </p:cBhvr>
                                      <p:to>
                                        <p:strVal val="visible"/>
                                      </p:to>
                                    </p:set>
                                    <p:anim calcmode="lin" valueType="num">
                                      <p:cBhvr additive="base">
                                        <p:cTn id="3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11833" y="866682"/>
                <a:ext cx="10515600" cy="5043365"/>
              </a:xfrm>
            </p:spPr>
            <p:txBody>
              <a:bodyPr>
                <a:normAutofit fontScale="92500" lnSpcReduction="10000"/>
              </a:bodyPr>
              <a:lstStyle/>
              <a:p>
                <a:pPr>
                  <a:lnSpc>
                    <a:spcPct val="120000"/>
                  </a:lnSpc>
                </a:pPr>
                <a:r>
                  <a:rPr lang="en-US" sz="2200" b="1" dirty="0">
                    <a:latin typeface="Arial" panose="020B0604020202020204" pitchFamily="34" charset="0"/>
                    <a:cs typeface="Arial" panose="020B0604020202020204" pitchFamily="34" charset="0"/>
                  </a:rPr>
                  <a:t>Problem</a:t>
                </a:r>
                <a:r>
                  <a:rPr lang="en-US" sz="2200" dirty="0">
                    <a:latin typeface="Arial" panose="020B0604020202020204" pitchFamily="34" charset="0"/>
                    <a:cs typeface="Arial" panose="020B0604020202020204" pitchFamily="34" charset="0"/>
                  </a:rPr>
                  <a:t>: What if, before running our multiple linear regression we look at paired scatter plots and observe that the relationship between independent and response is not simply a straight line? </a:t>
                </a:r>
              </a:p>
              <a:p>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a:p>
                <a:pPr marL="0" indent="0">
                  <a:buNone/>
                </a:pPr>
                <a:endParaRPr lang="en-US" sz="2000" dirty="0">
                  <a:latin typeface="Arial" panose="020B0604020202020204" pitchFamily="34" charset="0"/>
                  <a:cs typeface="Arial" panose="020B0604020202020204" pitchFamily="34" charset="0"/>
                </a:endParaRPr>
              </a:p>
              <a:p>
                <a:pPr marL="0" indent="0">
                  <a:buNone/>
                </a:pPr>
                <a:endParaRPr lang="en-US" sz="2000" dirty="0">
                  <a:latin typeface="Arial" panose="020B0604020202020204" pitchFamily="34" charset="0"/>
                  <a:cs typeface="Arial" panose="020B0604020202020204" pitchFamily="34" charset="0"/>
                </a:endParaRPr>
              </a:p>
              <a:p>
                <a:pPr marL="0" indent="0">
                  <a:buNone/>
                </a:pPr>
                <a:endParaRPr lang="en-US" sz="2000" dirty="0">
                  <a:latin typeface="Arial" panose="020B0604020202020204" pitchFamily="34" charset="0"/>
                  <a:cs typeface="Arial" panose="020B0604020202020204" pitchFamily="34" charset="0"/>
                </a:endParaRPr>
              </a:p>
              <a:p>
                <a:endParaRPr lang="en-US" sz="2000" u="sng" dirty="0">
                  <a:latin typeface="Arial" panose="020B0604020202020204" pitchFamily="34" charset="0"/>
                  <a:cs typeface="Arial" panose="020B0604020202020204" pitchFamily="34" charset="0"/>
                </a:endParaRPr>
              </a:p>
              <a:p>
                <a:endParaRPr lang="en-US" sz="2000" u="sng" dirty="0">
                  <a:latin typeface="Arial" panose="020B0604020202020204" pitchFamily="34" charset="0"/>
                  <a:cs typeface="Arial" panose="020B0604020202020204" pitchFamily="34" charset="0"/>
                </a:endParaRPr>
              </a:p>
              <a:p>
                <a:r>
                  <a:rPr lang="en-US" sz="2200" u="sng" dirty="0">
                    <a:latin typeface="Arial" panose="020B0604020202020204" pitchFamily="34" charset="0"/>
                    <a:cs typeface="Arial" panose="020B0604020202020204" pitchFamily="34" charset="0"/>
                  </a:rPr>
                  <a:t>One Solution</a:t>
                </a:r>
                <a:r>
                  <a:rPr lang="en-US" sz="2200" dirty="0">
                    <a:latin typeface="Arial" panose="020B0604020202020204" pitchFamily="34" charset="0"/>
                    <a:cs typeface="Arial" panose="020B0604020202020204" pitchFamily="34" charset="0"/>
                  </a:rPr>
                  <a:t>: Use X</a:t>
                </a:r>
                <a:r>
                  <a:rPr lang="en-US" sz="2200" baseline="30000" dirty="0">
                    <a:latin typeface="Arial" panose="020B0604020202020204" pitchFamily="34" charset="0"/>
                    <a:cs typeface="Arial" panose="020B0604020202020204" pitchFamily="34" charset="0"/>
                  </a:rPr>
                  <a:t>2</a:t>
                </a:r>
                <a:r>
                  <a:rPr lang="en-US" sz="2200" dirty="0">
                    <a:latin typeface="Arial" panose="020B0604020202020204" pitchFamily="34" charset="0"/>
                    <a:cs typeface="Arial" panose="020B0604020202020204" pitchFamily="34" charset="0"/>
                  </a:rPr>
                  <a:t> to model a curvilinear relationship:</a:t>
                </a:r>
              </a:p>
              <a:p>
                <a:pPr marL="0" indent="0" algn="ctr">
                  <a:buNone/>
                </a:pPr>
                <a14:m>
                  <m:oMath xmlns:m="http://schemas.openxmlformats.org/officeDocument/2006/math">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𝑦</m:t>
                        </m:r>
                      </m:e>
                    </m:acc>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𝛽</m:t>
                            </m:r>
                          </m:e>
                        </m:acc>
                      </m:e>
                      <m:sub>
                        <m:r>
                          <a:rPr lang="en-US" sz="2000" i="1">
                            <a:solidFill>
                              <a:srgbClr val="000000"/>
                            </a:solidFill>
                            <a:latin typeface="Cambria Math" panose="02040503050406030204" pitchFamily="18" charset="0"/>
                          </a:rPr>
                          <m:t>0</m:t>
                        </m:r>
                      </m:sub>
                    </m:sSub>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𝛽</m:t>
                            </m:r>
                          </m:e>
                        </m:acc>
                      </m:e>
                      <m:sub>
                        <m:r>
                          <a:rPr lang="en-US" sz="2000" i="1">
                            <a:solidFill>
                              <a:srgbClr val="000000"/>
                            </a:solidFill>
                            <a:latin typeface="Cambria Math" panose="02040503050406030204" pitchFamily="18" charset="0"/>
                          </a:rPr>
                          <m:t>1</m:t>
                        </m:r>
                      </m:sub>
                    </m:sSub>
                    <m:r>
                      <a:rPr lang="en-US" sz="2000" i="1">
                        <a:solidFill>
                          <a:srgbClr val="000000"/>
                        </a:solidFill>
                        <a:latin typeface="Cambria Math" panose="02040503050406030204" pitchFamily="18" charset="0"/>
                      </a:rPr>
                      <m:t>𝑥</m:t>
                    </m:r>
                    <m:r>
                      <a:rPr lang="en-US" sz="2000" b="0" i="1" baseline="-25000" smtClean="0">
                        <a:solidFill>
                          <a:srgbClr val="000000"/>
                        </a:solidFill>
                        <a:latin typeface="Cambria Math" panose="02040503050406030204" pitchFamily="18" charset="0"/>
                      </a:rPr>
                      <m:t>1</m:t>
                    </m:r>
                    <m:r>
                      <a:rPr lang="en-US" sz="2000" i="1">
                        <a:solidFill>
                          <a:srgbClr val="000000"/>
                        </a:solidFill>
                        <a:latin typeface="Cambria Math" charset="0"/>
                      </a:rPr>
                      <m:t>+</m:t>
                    </m:r>
                    <m:sSub>
                      <m:sSubPr>
                        <m:ctrlPr>
                          <a:rPr lang="en-US" sz="2000" i="1">
                            <a:solidFill>
                              <a:srgbClr val="000000"/>
                            </a:solidFill>
                            <a:latin typeface="Cambria Math" panose="02040503050406030204" pitchFamily="18" charset="0"/>
                          </a:rPr>
                        </m:ctrlPr>
                      </m:sSubPr>
                      <m:e>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𝛽</m:t>
                            </m:r>
                          </m:e>
                        </m:acc>
                      </m:e>
                      <m:sub>
                        <m:r>
                          <a:rPr lang="en-US" sz="2000" i="1">
                            <a:solidFill>
                              <a:srgbClr val="000000"/>
                            </a:solidFill>
                            <a:latin typeface="Cambria Math" charset="0"/>
                          </a:rPr>
                          <m:t>2</m:t>
                        </m:r>
                      </m:sub>
                    </m:sSub>
                    <m:r>
                      <a:rPr lang="en-US" sz="2000" i="1">
                        <a:solidFill>
                          <a:srgbClr val="000000"/>
                        </a:solidFill>
                        <a:latin typeface="Cambria Math" panose="02040503050406030204" pitchFamily="18" charset="0"/>
                      </a:rPr>
                      <m:t>𝑥</m:t>
                    </m:r>
                    <m:r>
                      <a:rPr lang="en-US" sz="2000" b="0" i="1" baseline="-25000" smtClean="0">
                        <a:solidFill>
                          <a:srgbClr val="000000"/>
                        </a:solidFill>
                        <a:latin typeface="Cambria Math" panose="02040503050406030204" pitchFamily="18" charset="0"/>
                      </a:rPr>
                      <m:t>1</m:t>
                    </m:r>
                  </m:oMath>
                </a14:m>
                <a:r>
                  <a:rPr lang="en-US" sz="2000" baseline="30000" dirty="0">
                    <a:latin typeface="Arial" panose="020B0604020202020204" pitchFamily="34" charset="0"/>
                    <a:cs typeface="Arial" panose="020B0604020202020204" pitchFamily="34" charset="0"/>
                  </a:rPr>
                  <a:t>2</a:t>
                </a:r>
                <a:endParaRPr lang="en-US" sz="2000" dirty="0">
                  <a:latin typeface="Arial" panose="020B0604020202020204" pitchFamily="34" charset="0"/>
                  <a:cs typeface="Arial" panose="020B0604020202020204" pitchFamily="34" charset="0"/>
                </a:endParaRPr>
              </a:p>
              <a:p>
                <a:r>
                  <a:rPr lang="en-US" sz="2200" dirty="0">
                    <a:latin typeface="Arial" panose="020B0604020202020204" pitchFamily="34" charset="0"/>
                    <a:cs typeface="Arial" panose="020B0604020202020204" pitchFamily="34" charset="0"/>
                  </a:rPr>
                  <a:t>x</a:t>
                </a:r>
                <a:r>
                  <a:rPr lang="en-US" sz="2200" baseline="-25000" dirty="0">
                    <a:latin typeface="Arial" panose="020B0604020202020204" pitchFamily="34" charset="0"/>
                    <a:cs typeface="Arial" panose="020B0604020202020204" pitchFamily="34" charset="0"/>
                  </a:rPr>
                  <a:t>1</a:t>
                </a:r>
                <a:r>
                  <a:rPr lang="en-US" sz="2200" baseline="30000" dirty="0">
                    <a:latin typeface="Arial" panose="020B0604020202020204" pitchFamily="34" charset="0"/>
                    <a:cs typeface="Arial" panose="020B0604020202020204" pitchFamily="34" charset="0"/>
                  </a:rPr>
                  <a:t>2</a:t>
                </a:r>
                <a:r>
                  <a:rPr lang="en-US" sz="2200" dirty="0">
                    <a:latin typeface="Arial" panose="020B0604020202020204" pitchFamily="34" charset="0"/>
                    <a:cs typeface="Arial" panose="020B0604020202020204" pitchFamily="34" charset="0"/>
                  </a:rPr>
                  <a:t> is treated as another predictor, data is generated by simply squaring the features value for each observation!</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11833" y="866682"/>
                <a:ext cx="10515600" cy="5043365"/>
              </a:xfrm>
              <a:blipFill>
                <a:blip r:embed="rId2"/>
                <a:stretch>
                  <a:fillRect l="-522" t="-484" r="-1159" b="-726"/>
                </a:stretch>
              </a:blipFill>
            </p:spPr>
            <p:txBody>
              <a:bodyPr/>
              <a:lstStyle/>
              <a:p>
                <a:r>
                  <a:rPr lang="en-US">
                    <a:noFill/>
                  </a:rPr>
                  <a:t> </a:t>
                </a:r>
              </a:p>
            </p:txBody>
          </p:sp>
        </mc:Fallback>
      </mc:AlternateContent>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D71D88-BA1A-4A31-92D9-86A2D66DFAE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9" name="Title 1">
            <a:extLst>
              <a:ext uri="{FF2B5EF4-FFF2-40B4-BE49-F238E27FC236}">
                <a16:creationId xmlns:a16="http://schemas.microsoft.com/office/drawing/2014/main" id="{3DAE0A1B-7F66-B04B-BCB4-0B0FC588ACE4}"/>
              </a:ext>
            </a:extLst>
          </p:cNvPr>
          <p:cNvSpPr>
            <a:spLocks noGrp="1"/>
          </p:cNvSpPr>
          <p:nvPr>
            <p:ph type="title"/>
          </p:nvPr>
        </p:nvSpPr>
        <p:spPr>
          <a:xfrm>
            <a:off x="118353" y="136525"/>
            <a:ext cx="10515600" cy="730157"/>
          </a:xfrm>
        </p:spPr>
        <p:txBody>
          <a:bodyPr>
            <a:normAutofit/>
          </a:bodyPr>
          <a:lstStyle/>
          <a:p>
            <a:r>
              <a:rPr lang="en-US" sz="3600" dirty="0">
                <a:latin typeface="Arial" panose="020B0604020202020204" pitchFamily="34" charset="0"/>
                <a:cs typeface="Arial" panose="020B0604020202020204" pitchFamily="34" charset="0"/>
              </a:rPr>
              <a:t>Quadratic Terms </a:t>
            </a:r>
          </a:p>
        </p:txBody>
      </p:sp>
      <p:pic>
        <p:nvPicPr>
          <p:cNvPr id="1028" name="Picture 4" descr="Scatter plots with best-fitting fitted regressions. (a) Fitted quadratic regression line for RTs of Exp 2. against the relatedness rating scores of Exp 1. (b) Scatter plot and fitted linear regression line for N400 amplitude of Exp 2. against relatedness rating scores of Exp 1. ">
            <a:extLst>
              <a:ext uri="{FF2B5EF4-FFF2-40B4-BE49-F238E27FC236}">
                <a16:creationId xmlns:a16="http://schemas.microsoft.com/office/drawing/2014/main" id="{A1F7BF75-D1A8-B840-B5E5-C89E3A9B4F5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0000"/>
          <a:stretch/>
        </p:blipFill>
        <p:spPr bwMode="auto">
          <a:xfrm>
            <a:off x="2381904" y="1817778"/>
            <a:ext cx="2698750" cy="219710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4" descr="Scatter plots with best-fitting fitted regressions. (a) Fitted quadratic regression line for RTs of Exp 2. against the relatedness rating scores of Exp 1. (b) Scatter plot and fitted linear regression line for N400 amplitude of Exp 2. against relatedness rating scores of Exp 1. ">
            <a:extLst>
              <a:ext uri="{FF2B5EF4-FFF2-40B4-BE49-F238E27FC236}">
                <a16:creationId xmlns:a16="http://schemas.microsoft.com/office/drawing/2014/main" id="{7766C78D-50AF-BA48-9CB2-681B6083102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47606"/>
          <a:stretch/>
        </p:blipFill>
        <p:spPr bwMode="auto">
          <a:xfrm>
            <a:off x="7499179" y="1817778"/>
            <a:ext cx="2827959" cy="2197100"/>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5CE61205-83E4-0D46-918E-9902ECD11A96}"/>
              </a:ext>
            </a:extLst>
          </p:cNvPr>
          <p:cNvSpPr txBox="1"/>
          <p:nvPr/>
        </p:nvSpPr>
        <p:spPr>
          <a:xfrm>
            <a:off x="483534" y="2198096"/>
            <a:ext cx="2188865" cy="1200329"/>
          </a:xfrm>
          <a:prstGeom prst="rect">
            <a:avLst/>
          </a:prstGeom>
          <a:solidFill>
            <a:schemeClr val="bg1"/>
          </a:solidFill>
          <a:ln>
            <a:solidFill>
              <a:srgbClr val="C00000"/>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uLnTx/>
                <a:uFillTx/>
                <a:latin typeface="Calibri" panose="020F0502020204030204"/>
                <a:ea typeface="+mn-ea"/>
                <a:cs typeface="+mn-cs"/>
              </a:rPr>
              <a:t>(Barely) Linear Scatterplot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uLnTx/>
                <a:uFillTx/>
                <a:latin typeface="Calibri" panose="020F0502020204030204"/>
                <a:ea typeface="+mn-ea"/>
                <a:cs typeface="+mn-cs"/>
              </a:rPr>
              <a:t>Rel.</a:t>
            </a:r>
          </a:p>
        </p:txBody>
      </p:sp>
      <p:sp>
        <p:nvSpPr>
          <p:cNvPr id="14" name="TextBox 13">
            <a:extLst>
              <a:ext uri="{FF2B5EF4-FFF2-40B4-BE49-F238E27FC236}">
                <a16:creationId xmlns:a16="http://schemas.microsoft.com/office/drawing/2014/main" id="{EC3F2BD5-26BF-4E4B-9AD6-96BAC3A9227D}"/>
              </a:ext>
            </a:extLst>
          </p:cNvPr>
          <p:cNvSpPr txBox="1"/>
          <p:nvPr/>
        </p:nvSpPr>
        <p:spPr>
          <a:xfrm>
            <a:off x="5534908" y="2188036"/>
            <a:ext cx="2126248" cy="1200329"/>
          </a:xfrm>
          <a:prstGeom prst="rect">
            <a:avLst/>
          </a:prstGeom>
          <a:solidFill>
            <a:schemeClr val="bg1"/>
          </a:solidFill>
          <a:ln>
            <a:solidFill>
              <a:srgbClr val="C00000"/>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uLnTx/>
                <a:uFillTx/>
                <a:latin typeface="Calibri" panose="020F0502020204030204"/>
                <a:ea typeface="+mn-ea"/>
                <a:cs typeface="+mn-cs"/>
              </a:rPr>
              <a:t>Nonlinear Scatterplot Rel.</a:t>
            </a:r>
          </a:p>
        </p:txBody>
      </p:sp>
    </p:spTree>
    <p:extLst>
      <p:ext uri="{BB962C8B-B14F-4D97-AF65-F5344CB8AC3E}">
        <p14:creationId xmlns:p14="http://schemas.microsoft.com/office/powerpoint/2010/main" val="10572095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6992" y="220778"/>
            <a:ext cx="10515600" cy="697064"/>
          </a:xfrm>
        </p:spPr>
        <p:txBody>
          <a:bodyPr>
            <a:normAutofit/>
          </a:bodyPr>
          <a:lstStyle/>
          <a:p>
            <a:r>
              <a:rPr lang="en-US" sz="3600" dirty="0">
                <a:latin typeface="Arial" panose="020B0604020202020204" pitchFamily="34" charset="0"/>
                <a:cs typeface="Arial" panose="020B0604020202020204" pitchFamily="34" charset="0"/>
              </a:rPr>
              <a:t>Quadratic Terms </a:t>
            </a:r>
          </a:p>
        </p:txBody>
      </p:sp>
      <p:sp>
        <p:nvSpPr>
          <p:cNvPr id="3" name="Content Placeholder 2"/>
          <p:cNvSpPr>
            <a:spLocks noGrp="1"/>
          </p:cNvSpPr>
          <p:nvPr>
            <p:ph idx="1"/>
          </p:nvPr>
        </p:nvSpPr>
        <p:spPr>
          <a:xfrm>
            <a:off x="312906" y="846083"/>
            <a:ext cx="10515600" cy="4461777"/>
          </a:xfrm>
        </p:spPr>
        <p:txBody>
          <a:bodyPr>
            <a:normAutofit/>
          </a:bodyPr>
          <a:lstStyle/>
          <a:p>
            <a:r>
              <a:rPr lang="en-US" sz="2000" dirty="0">
                <a:latin typeface="Arial" panose="020B0604020202020204" pitchFamily="34" charset="0"/>
                <a:cs typeface="Arial" panose="020B0604020202020204" pitchFamily="34" charset="0"/>
              </a:rPr>
              <a:t>A quadratic term is an interaction of a variable with itself, sometimes we suspect these relationships even without seeing the scatter plot.</a:t>
            </a:r>
          </a:p>
          <a:p>
            <a:pPr lvl="1"/>
            <a:r>
              <a:rPr lang="en-US" sz="2000" u="sng" dirty="0">
                <a:latin typeface="Arial" panose="020B0604020202020204" pitchFamily="34" charset="0"/>
                <a:cs typeface="Arial" panose="020B0604020202020204" pitchFamily="34" charset="0"/>
              </a:rPr>
              <a:t>Example</a:t>
            </a:r>
            <a:r>
              <a:rPr lang="en-US" sz="2000" dirty="0">
                <a:latin typeface="Arial" panose="020B0604020202020204" pitchFamily="34" charset="0"/>
                <a:cs typeface="Arial" panose="020B0604020202020204" pitchFamily="34" charset="0"/>
              </a:rPr>
              <a:t>: Modeling the effect of increasing the distance from Pitt on sat score might also be dependent on the current distance from Pitt, thus requiring a quadratic term</a:t>
            </a:r>
          </a:p>
          <a:p>
            <a:pPr lvl="1"/>
            <a:endParaRPr lang="en-US" sz="2000" dirty="0">
              <a:latin typeface="Arial" panose="020B0604020202020204" pitchFamily="34" charset="0"/>
              <a:cs typeface="Arial" panose="020B0604020202020204" pitchFamily="34" charset="0"/>
            </a:endParaRPr>
          </a:p>
          <a:p>
            <a:r>
              <a:rPr lang="en-US" sz="2000" b="1" dirty="0">
                <a:latin typeface="Arial" panose="020B0604020202020204" pitchFamily="34" charset="0"/>
                <a:cs typeface="Arial" panose="020B0604020202020204" pitchFamily="34" charset="0"/>
              </a:rPr>
              <a:t>Warning</a:t>
            </a:r>
            <a:r>
              <a:rPr lang="en-US" sz="2000" dirty="0">
                <a:latin typeface="Arial" panose="020B0604020202020204" pitchFamily="34" charset="0"/>
                <a:cs typeface="Arial" panose="020B0604020202020204" pitchFamily="34" charset="0"/>
              </a:rPr>
              <a:t>: Adding quadratic terms increases the number of variables in your model like anything else, and thus hurts the models R</a:t>
            </a:r>
            <a:r>
              <a:rPr lang="en-US" sz="2000" baseline="30000" dirty="0">
                <a:latin typeface="Arial" panose="020B0604020202020204" pitchFamily="34" charset="0"/>
                <a:cs typeface="Arial" panose="020B0604020202020204" pitchFamily="34" charset="0"/>
              </a:rPr>
              <a:t>2</a:t>
            </a:r>
            <a:r>
              <a:rPr lang="en-US" sz="2000" dirty="0">
                <a:latin typeface="Arial" panose="020B0604020202020204" pitchFamily="34" charset="0"/>
                <a:cs typeface="Arial" panose="020B0604020202020204" pitchFamily="34" charset="0"/>
              </a:rPr>
              <a:t> unless this relationship is strongly present</a:t>
            </a:r>
          </a:p>
          <a:p>
            <a:pPr lvl="1"/>
            <a:r>
              <a:rPr lang="en-US" sz="2000" dirty="0">
                <a:latin typeface="Arial" panose="020B0604020202020204" pitchFamily="34" charset="0"/>
                <a:cs typeface="Arial" panose="020B0604020202020204" pitchFamily="34" charset="0"/>
              </a:rPr>
              <a:t>It’s also an easy way to overfit your data, can lead to bizarre predictions!</a:t>
            </a: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D71D88-BA1A-4A31-92D9-86A2D66DFAE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715638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574" y="117069"/>
            <a:ext cx="10515600" cy="721573"/>
          </a:xfrm>
        </p:spPr>
        <p:txBody>
          <a:bodyPr>
            <a:normAutofit/>
          </a:bodyPr>
          <a:lstStyle/>
          <a:p>
            <a:r>
              <a:rPr lang="en-US" sz="3600" dirty="0">
                <a:latin typeface="Arial" panose="020B0604020202020204" pitchFamily="34" charset="0"/>
                <a:cs typeface="Arial" panose="020B0604020202020204" pitchFamily="34" charset="0"/>
              </a:rPr>
              <a:t>Interaction Terms</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303179" y="836180"/>
                <a:ext cx="10515600" cy="5152582"/>
              </a:xfrm>
            </p:spPr>
            <p:txBody>
              <a:bodyPr>
                <a:normAutofit/>
              </a:bodyPr>
              <a:lstStyle/>
              <a:p>
                <a:pPr>
                  <a:lnSpc>
                    <a:spcPct val="100000"/>
                  </a:lnSpc>
                </a:pPr>
                <a:r>
                  <a:rPr lang="en-US" sz="2000" dirty="0">
                    <a:latin typeface="Arial" panose="020B0604020202020204" pitchFamily="34" charset="0"/>
                    <a:cs typeface="Arial" panose="020B0604020202020204" pitchFamily="34" charset="0"/>
                  </a:rPr>
                  <a:t>More generally than just quadratic terms, sometimes the the effect of one variable depends on the value of another variable</a:t>
                </a:r>
              </a:p>
              <a:p>
                <a:pPr lvl="1">
                  <a:lnSpc>
                    <a:spcPct val="100000"/>
                  </a:lnSpc>
                </a:pPr>
                <a:r>
                  <a:rPr lang="en-US" sz="1800" dirty="0">
                    <a:latin typeface="Arial" panose="020B0604020202020204" pitchFamily="34" charset="0"/>
                    <a:cs typeface="Arial" panose="020B0604020202020204" pitchFamily="34" charset="0"/>
                  </a:rPr>
                  <a:t>Can include interactions of 2 or more variables</a:t>
                </a:r>
              </a:p>
              <a:p>
                <a:pPr lvl="1">
                  <a:lnSpc>
                    <a:spcPct val="100000"/>
                  </a:lnSpc>
                </a:pPr>
                <a:r>
                  <a:rPr lang="en-US" sz="1800" dirty="0">
                    <a:latin typeface="Arial" panose="020B0604020202020204" pitchFamily="34" charset="0"/>
                    <a:cs typeface="Arial" panose="020B0604020202020204" pitchFamily="34" charset="0"/>
                  </a:rPr>
                  <a:t>Usually one continuous and one categorical variable (but not always)</a:t>
                </a:r>
              </a:p>
              <a:p>
                <a:pPr lvl="1">
                  <a:lnSpc>
                    <a:spcPct val="100000"/>
                  </a:lnSpc>
                </a:pPr>
                <a:r>
                  <a:rPr lang="en-US" sz="1800" dirty="0">
                    <a:solidFill>
                      <a:srgbClr val="000000"/>
                    </a:solidFill>
                    <a:latin typeface="Arial" panose="020B0604020202020204" pitchFamily="34" charset="0"/>
                    <a:cs typeface="Arial" panose="020B0604020202020204" pitchFamily="34" charset="0"/>
                  </a:rPr>
                  <a:t>Model is of the form: </a:t>
                </a:r>
                <a14:m>
                  <m:oMath xmlns:m="http://schemas.openxmlformats.org/officeDocument/2006/math">
                    <m:acc>
                      <m:accPr>
                        <m:chr m:val="̂"/>
                        <m:ctrlPr>
                          <a:rPr lang="en-US" sz="1800" i="1">
                            <a:solidFill>
                              <a:srgbClr val="000000"/>
                            </a:solidFill>
                            <a:latin typeface="Cambria Math" panose="02040503050406030204" pitchFamily="18" charset="0"/>
                          </a:rPr>
                        </m:ctrlPr>
                      </m:accPr>
                      <m:e>
                        <m:r>
                          <a:rPr lang="en-US" sz="1800" i="1">
                            <a:solidFill>
                              <a:srgbClr val="000000"/>
                            </a:solidFill>
                            <a:latin typeface="Cambria Math" panose="02040503050406030204" pitchFamily="18" charset="0"/>
                          </a:rPr>
                          <m:t>𝑦</m:t>
                        </m:r>
                      </m:e>
                    </m:acc>
                    <m:r>
                      <a:rPr lang="en-US" sz="1800" i="1">
                        <a:solidFill>
                          <a:srgbClr val="000000"/>
                        </a:solidFill>
                        <a:latin typeface="Cambria Math" panose="02040503050406030204" pitchFamily="18" charset="0"/>
                      </a:rPr>
                      <m:t>=</m:t>
                    </m:r>
                    <m:sSub>
                      <m:sSubPr>
                        <m:ctrlPr>
                          <a:rPr lang="en-US" sz="1800" i="1">
                            <a:solidFill>
                              <a:srgbClr val="000000"/>
                            </a:solidFill>
                            <a:latin typeface="Cambria Math" panose="02040503050406030204" pitchFamily="18" charset="0"/>
                          </a:rPr>
                        </m:ctrlPr>
                      </m:sSubPr>
                      <m:e>
                        <m:acc>
                          <m:accPr>
                            <m:chr m:val="̂"/>
                            <m:ctrlPr>
                              <a:rPr lang="en-US" sz="1800" i="1">
                                <a:solidFill>
                                  <a:srgbClr val="000000"/>
                                </a:solidFill>
                                <a:latin typeface="Cambria Math" panose="02040503050406030204" pitchFamily="18" charset="0"/>
                              </a:rPr>
                            </m:ctrlPr>
                          </m:accPr>
                          <m:e>
                            <m:r>
                              <a:rPr lang="en-US" sz="1800" i="1">
                                <a:solidFill>
                                  <a:srgbClr val="000000"/>
                                </a:solidFill>
                                <a:latin typeface="Cambria Math" panose="02040503050406030204" pitchFamily="18" charset="0"/>
                              </a:rPr>
                              <m:t>𝛽</m:t>
                            </m:r>
                          </m:e>
                        </m:acc>
                      </m:e>
                      <m:sub>
                        <m:r>
                          <a:rPr lang="en-US" sz="1800" i="1">
                            <a:solidFill>
                              <a:srgbClr val="000000"/>
                            </a:solidFill>
                            <a:latin typeface="Cambria Math" panose="02040503050406030204" pitchFamily="18" charset="0"/>
                          </a:rPr>
                          <m:t>0</m:t>
                        </m:r>
                      </m:sub>
                    </m:sSub>
                    <m:r>
                      <a:rPr lang="en-US" sz="1800" i="1">
                        <a:solidFill>
                          <a:srgbClr val="000000"/>
                        </a:solidFill>
                        <a:latin typeface="Cambria Math" panose="02040503050406030204" pitchFamily="18" charset="0"/>
                      </a:rPr>
                      <m:t>+</m:t>
                    </m:r>
                    <m:sSub>
                      <m:sSubPr>
                        <m:ctrlPr>
                          <a:rPr lang="en-US" sz="1800" i="1">
                            <a:solidFill>
                              <a:srgbClr val="000000"/>
                            </a:solidFill>
                            <a:latin typeface="Cambria Math" panose="02040503050406030204" pitchFamily="18" charset="0"/>
                          </a:rPr>
                        </m:ctrlPr>
                      </m:sSubPr>
                      <m:e>
                        <m:acc>
                          <m:accPr>
                            <m:chr m:val="̂"/>
                            <m:ctrlPr>
                              <a:rPr lang="en-US" sz="1800" i="1">
                                <a:solidFill>
                                  <a:srgbClr val="000000"/>
                                </a:solidFill>
                                <a:latin typeface="Cambria Math" panose="02040503050406030204" pitchFamily="18" charset="0"/>
                              </a:rPr>
                            </m:ctrlPr>
                          </m:accPr>
                          <m:e>
                            <m:r>
                              <a:rPr lang="en-US" sz="1800" i="1">
                                <a:solidFill>
                                  <a:srgbClr val="000000"/>
                                </a:solidFill>
                                <a:latin typeface="Cambria Math" panose="02040503050406030204" pitchFamily="18" charset="0"/>
                              </a:rPr>
                              <m:t>𝛽</m:t>
                            </m:r>
                          </m:e>
                        </m:acc>
                      </m:e>
                      <m:sub>
                        <m:r>
                          <a:rPr lang="en-US" sz="1800" i="1">
                            <a:solidFill>
                              <a:srgbClr val="000000"/>
                            </a:solidFill>
                            <a:latin typeface="Cambria Math" panose="02040503050406030204" pitchFamily="18" charset="0"/>
                          </a:rPr>
                          <m:t>1</m:t>
                        </m:r>
                      </m:sub>
                    </m:sSub>
                    <m:r>
                      <a:rPr lang="en-US" sz="1800" i="1">
                        <a:solidFill>
                          <a:srgbClr val="000000"/>
                        </a:solidFill>
                        <a:latin typeface="Cambria Math" panose="02040503050406030204" pitchFamily="18" charset="0"/>
                      </a:rPr>
                      <m:t>𝑥</m:t>
                    </m:r>
                    <m:r>
                      <a:rPr lang="en-US" sz="1800" b="0" i="1" baseline="-25000" smtClean="0">
                        <a:solidFill>
                          <a:srgbClr val="000000"/>
                        </a:solidFill>
                        <a:latin typeface="Cambria Math" panose="02040503050406030204" pitchFamily="18" charset="0"/>
                      </a:rPr>
                      <m:t>1</m:t>
                    </m:r>
                    <m:r>
                      <a:rPr lang="en-US" sz="1800" i="1">
                        <a:solidFill>
                          <a:srgbClr val="000000"/>
                        </a:solidFill>
                        <a:latin typeface="Cambria Math" charset="0"/>
                      </a:rPr>
                      <m:t>+</m:t>
                    </m:r>
                    <m:sSub>
                      <m:sSubPr>
                        <m:ctrlPr>
                          <a:rPr lang="en-US" sz="1800" i="1">
                            <a:solidFill>
                              <a:srgbClr val="000000"/>
                            </a:solidFill>
                            <a:latin typeface="Cambria Math" panose="02040503050406030204" pitchFamily="18" charset="0"/>
                          </a:rPr>
                        </m:ctrlPr>
                      </m:sSubPr>
                      <m:e>
                        <m:acc>
                          <m:accPr>
                            <m:chr m:val="̂"/>
                            <m:ctrlPr>
                              <a:rPr lang="en-US" sz="1800" i="1">
                                <a:solidFill>
                                  <a:srgbClr val="000000"/>
                                </a:solidFill>
                                <a:latin typeface="Cambria Math" panose="02040503050406030204" pitchFamily="18" charset="0"/>
                              </a:rPr>
                            </m:ctrlPr>
                          </m:accPr>
                          <m:e>
                            <m:r>
                              <a:rPr lang="en-US" sz="1800" i="1">
                                <a:solidFill>
                                  <a:srgbClr val="000000"/>
                                </a:solidFill>
                                <a:latin typeface="Cambria Math" panose="02040503050406030204" pitchFamily="18" charset="0"/>
                              </a:rPr>
                              <m:t>𝛽</m:t>
                            </m:r>
                          </m:e>
                        </m:acc>
                      </m:e>
                      <m:sub>
                        <m:r>
                          <a:rPr lang="en-US" sz="1800" i="1">
                            <a:solidFill>
                              <a:srgbClr val="000000"/>
                            </a:solidFill>
                            <a:latin typeface="Cambria Math" charset="0"/>
                          </a:rPr>
                          <m:t>2</m:t>
                        </m:r>
                      </m:sub>
                    </m:sSub>
                    <m:r>
                      <a:rPr lang="en-US" sz="1800" b="0" i="1" smtClean="0">
                        <a:solidFill>
                          <a:srgbClr val="000000"/>
                        </a:solidFill>
                        <a:latin typeface="Cambria Math" panose="02040503050406030204" pitchFamily="18" charset="0"/>
                      </a:rPr>
                      <m:t>𝑥</m:t>
                    </m:r>
                    <m:r>
                      <a:rPr lang="en-US" sz="1800" b="0" i="1" baseline="-25000" smtClean="0">
                        <a:solidFill>
                          <a:srgbClr val="000000"/>
                        </a:solidFill>
                        <a:latin typeface="Cambria Math" panose="02040503050406030204" pitchFamily="18" charset="0"/>
                      </a:rPr>
                      <m:t>2</m:t>
                    </m:r>
                    <m:r>
                      <a:rPr lang="en-US" sz="1800" i="1">
                        <a:solidFill>
                          <a:srgbClr val="000000"/>
                        </a:solidFill>
                        <a:latin typeface="Cambria Math" charset="0"/>
                      </a:rPr>
                      <m:t>+</m:t>
                    </m:r>
                    <m:sSub>
                      <m:sSubPr>
                        <m:ctrlPr>
                          <a:rPr lang="en-US" sz="1800" i="1">
                            <a:solidFill>
                              <a:srgbClr val="000000"/>
                            </a:solidFill>
                            <a:latin typeface="Cambria Math" panose="02040503050406030204" pitchFamily="18" charset="0"/>
                          </a:rPr>
                        </m:ctrlPr>
                      </m:sSubPr>
                      <m:e>
                        <m:acc>
                          <m:accPr>
                            <m:chr m:val="̂"/>
                            <m:ctrlPr>
                              <a:rPr lang="en-US" sz="1800" i="1">
                                <a:solidFill>
                                  <a:srgbClr val="000000"/>
                                </a:solidFill>
                                <a:latin typeface="Cambria Math" panose="02040503050406030204" pitchFamily="18" charset="0"/>
                              </a:rPr>
                            </m:ctrlPr>
                          </m:accPr>
                          <m:e>
                            <m:r>
                              <a:rPr lang="en-US" sz="1800" i="1">
                                <a:solidFill>
                                  <a:srgbClr val="000000"/>
                                </a:solidFill>
                                <a:latin typeface="Cambria Math" panose="02040503050406030204" pitchFamily="18" charset="0"/>
                              </a:rPr>
                              <m:t>𝛽</m:t>
                            </m:r>
                          </m:e>
                        </m:acc>
                      </m:e>
                      <m:sub>
                        <m:r>
                          <a:rPr lang="en-US" sz="1800" i="1">
                            <a:solidFill>
                              <a:srgbClr val="000000"/>
                            </a:solidFill>
                            <a:latin typeface="Cambria Math" charset="0"/>
                          </a:rPr>
                          <m:t>3</m:t>
                        </m:r>
                      </m:sub>
                    </m:sSub>
                    <m:r>
                      <a:rPr lang="en-US" sz="1800" i="1">
                        <a:solidFill>
                          <a:srgbClr val="000000"/>
                        </a:solidFill>
                        <a:latin typeface="Cambria Math" charset="0"/>
                      </a:rPr>
                      <m:t>𝑥</m:t>
                    </m:r>
                    <m:r>
                      <a:rPr lang="en-US" sz="1800" b="0" i="1" baseline="-25000" smtClean="0">
                        <a:solidFill>
                          <a:srgbClr val="000000"/>
                        </a:solidFill>
                        <a:latin typeface="Cambria Math" panose="02040503050406030204" pitchFamily="18" charset="0"/>
                      </a:rPr>
                      <m:t>1</m:t>
                    </m:r>
                    <m:r>
                      <a:rPr lang="en-US" sz="1800" b="0" i="1" smtClean="0">
                        <a:solidFill>
                          <a:srgbClr val="000000"/>
                        </a:solidFill>
                        <a:latin typeface="Cambria Math" panose="02040503050406030204" pitchFamily="18" charset="0"/>
                      </a:rPr>
                      <m:t>𝑥</m:t>
                    </m:r>
                    <m:r>
                      <a:rPr lang="en-US" sz="1800" b="0" i="1" baseline="-25000" smtClean="0">
                        <a:solidFill>
                          <a:srgbClr val="000000"/>
                        </a:solidFill>
                        <a:latin typeface="Cambria Math" panose="02040503050406030204" pitchFamily="18" charset="0"/>
                      </a:rPr>
                      <m:t>2</m:t>
                    </m:r>
                  </m:oMath>
                </a14:m>
                <a:endParaRPr lang="en-US" sz="1800" dirty="0">
                  <a:latin typeface="Arial" panose="020B0604020202020204" pitchFamily="34" charset="0"/>
                  <a:cs typeface="Arial" panose="020B0604020202020204" pitchFamily="34" charset="0"/>
                </a:endParaRPr>
              </a:p>
              <a:p>
                <a:pPr>
                  <a:lnSpc>
                    <a:spcPct val="100000"/>
                  </a:lnSpc>
                </a:pPr>
                <a:r>
                  <a:rPr lang="en-US" sz="2000" dirty="0">
                    <a:latin typeface="Arial" panose="020B0604020202020204" pitchFamily="34" charset="0"/>
                    <a:cs typeface="Arial" panose="020B0604020202020204" pitchFamily="34" charset="0"/>
                  </a:rPr>
                  <a:t>Note these sorts of interactions are </a:t>
                </a:r>
                <a:r>
                  <a:rPr lang="en-US" sz="2000" i="1" dirty="0">
                    <a:latin typeface="Arial" panose="020B0604020202020204" pitchFamily="34" charset="0"/>
                    <a:cs typeface="Arial" panose="020B0604020202020204" pitchFamily="34" charset="0"/>
                  </a:rPr>
                  <a:t>hard to pick up from scatterplots</a:t>
                </a:r>
                <a:r>
                  <a:rPr lang="en-US" sz="2000" dirty="0">
                    <a:latin typeface="Arial" panose="020B0604020202020204" pitchFamily="34" charset="0"/>
                    <a:cs typeface="Arial" panose="020B0604020202020204" pitchFamily="34" charset="0"/>
                  </a:rPr>
                  <a:t>. In this class, they will come most often from data specific knowledge</a:t>
                </a:r>
              </a:p>
              <a:p>
                <a:pPr>
                  <a:lnSpc>
                    <a:spcPct val="100000"/>
                  </a:lnSpc>
                </a:pPr>
                <a:r>
                  <a:rPr lang="en-US" sz="2000" dirty="0">
                    <a:latin typeface="Arial" panose="020B0604020202020204" pitchFamily="34" charset="0"/>
                    <a:cs typeface="Arial" panose="020B0604020202020204" pitchFamily="34" charset="0"/>
                  </a:rPr>
                  <a:t>Natural Interpretation when interactions include categorical variables!</a:t>
                </a:r>
              </a:p>
              <a:p>
                <a:pPr lvl="1">
                  <a:lnSpc>
                    <a:spcPct val="100000"/>
                  </a:lnSpc>
                </a:pPr>
                <a:r>
                  <a:rPr lang="en-US" sz="1800" dirty="0">
                    <a:latin typeface="Arial" panose="020B0604020202020204" pitchFamily="34" charset="0"/>
                    <a:cs typeface="Arial" panose="020B0604020202020204" pitchFamily="34" charset="0"/>
                  </a:rPr>
                  <a:t>Variables of the form x</a:t>
                </a:r>
                <a:r>
                  <a:rPr lang="en-US" sz="1800" baseline="-25000" dirty="0">
                    <a:latin typeface="Arial" panose="020B0604020202020204" pitchFamily="34" charset="0"/>
                    <a:cs typeface="Arial" panose="020B0604020202020204" pitchFamily="34" charset="0"/>
                  </a:rPr>
                  <a:t>1</a:t>
                </a:r>
                <a:r>
                  <a:rPr lang="en-US" sz="1800" dirty="0">
                    <a:latin typeface="Arial" panose="020B0604020202020204" pitchFamily="34" charset="0"/>
                    <a:cs typeface="Arial" panose="020B0604020202020204" pitchFamily="34" charset="0"/>
                  </a:rPr>
                  <a:t>x</a:t>
                </a:r>
                <a:r>
                  <a:rPr lang="en-US" sz="1800" baseline="-25000" dirty="0">
                    <a:latin typeface="Arial" panose="020B0604020202020204" pitchFamily="34" charset="0"/>
                    <a:cs typeface="Arial" panose="020B0604020202020204" pitchFamily="34" charset="0"/>
                  </a:rPr>
                  <a:t>2</a:t>
                </a:r>
                <a:r>
                  <a:rPr lang="en-US" sz="1800" dirty="0">
                    <a:latin typeface="Arial" panose="020B0604020202020204" pitchFamily="34" charset="0"/>
                    <a:cs typeface="Arial" panose="020B0604020202020204" pitchFamily="34" charset="0"/>
                  </a:rPr>
                  <a:t> where x</a:t>
                </a:r>
                <a:r>
                  <a:rPr lang="en-US" sz="1800" baseline="-25000" dirty="0">
                    <a:latin typeface="Arial" panose="020B0604020202020204" pitchFamily="34" charset="0"/>
                    <a:cs typeface="Arial" panose="020B0604020202020204" pitchFamily="34" charset="0"/>
                  </a:rPr>
                  <a:t>1</a:t>
                </a:r>
                <a:r>
                  <a:rPr lang="en-US" sz="1800" dirty="0">
                    <a:latin typeface="Arial" panose="020B0604020202020204" pitchFamily="34" charset="0"/>
                    <a:cs typeface="Arial" panose="020B0604020202020204" pitchFamily="34" charset="0"/>
                  </a:rPr>
                  <a:t> is binary and x</a:t>
                </a:r>
                <a:r>
                  <a:rPr lang="en-US" sz="1800" baseline="-25000" dirty="0">
                    <a:latin typeface="Arial" panose="020B0604020202020204" pitchFamily="34" charset="0"/>
                    <a:cs typeface="Arial" panose="020B0604020202020204" pitchFamily="34" charset="0"/>
                  </a:rPr>
                  <a:t>2</a:t>
                </a:r>
                <a:r>
                  <a:rPr lang="en-US" sz="1800" dirty="0">
                    <a:latin typeface="Arial" panose="020B0604020202020204" pitchFamily="34" charset="0"/>
                    <a:cs typeface="Arial" panose="020B0604020202020204" pitchFamily="34" charset="0"/>
                  </a:rPr>
                  <a:t> is numeric, model </a:t>
                </a:r>
                <a:r>
                  <a:rPr lang="en-US" sz="1800" u="sng" dirty="0">
                    <a:latin typeface="Arial" panose="020B0604020202020204" pitchFamily="34" charset="0"/>
                    <a:cs typeface="Arial" panose="020B0604020202020204" pitchFamily="34" charset="0"/>
                  </a:rPr>
                  <a:t>linear corrections</a:t>
                </a:r>
                <a:r>
                  <a:rPr lang="en-US" sz="1800" dirty="0">
                    <a:latin typeface="Arial" panose="020B0604020202020204" pitchFamily="34" charset="0"/>
                    <a:cs typeface="Arial" panose="020B0604020202020204" pitchFamily="34" charset="0"/>
                  </a:rPr>
                  <a:t> as opposed to additive corrections. That is they are corrections to the slope of the coefficient on the numeric variable.</a:t>
                </a:r>
              </a:p>
              <a:p>
                <a:pPr lvl="1">
                  <a:lnSpc>
                    <a:spcPct val="100000"/>
                  </a:lnSpc>
                </a:pPr>
                <a:r>
                  <a:rPr lang="en-US" sz="1800" u="sng" dirty="0">
                    <a:latin typeface="Arial" panose="020B0604020202020204" pitchFamily="34" charset="0"/>
                    <a:cs typeface="Arial" panose="020B0604020202020204" pitchFamily="34" charset="0"/>
                  </a:rPr>
                  <a:t>Example</a:t>
                </a:r>
                <a:r>
                  <a:rPr lang="en-US" sz="1800" dirty="0">
                    <a:latin typeface="Arial" panose="020B0604020202020204" pitchFamily="34" charset="0"/>
                    <a:cs typeface="Arial" panose="020B0604020202020204" pitchFamily="34" charset="0"/>
                  </a:rPr>
                  <a:t>: in the school data, the relationship between GRE score and GPA may depend in a </a:t>
                </a:r>
                <a:r>
                  <a:rPr lang="en-US" sz="1800" i="1" dirty="0">
                    <a:latin typeface="Arial" panose="020B0604020202020204" pitchFamily="34" charset="0"/>
                    <a:cs typeface="Arial" panose="020B0604020202020204" pitchFamily="34" charset="0"/>
                  </a:rPr>
                  <a:t>different linear </a:t>
                </a:r>
                <a:r>
                  <a:rPr lang="en-US" sz="1800" dirty="0">
                    <a:latin typeface="Arial" panose="020B0604020202020204" pitchFamily="34" charset="0"/>
                    <a:cs typeface="Arial" panose="020B0604020202020204" pitchFamily="34" charset="0"/>
                  </a:rPr>
                  <a:t>way conditional on the race and gender of the student. That is </a:t>
                </a:r>
                <a:r>
                  <a:rPr lang="en-US" sz="1800" b="1" dirty="0">
                    <a:latin typeface="Arial" panose="020B0604020202020204" pitchFamily="34" charset="0"/>
                    <a:cs typeface="Arial" panose="020B0604020202020204" pitchFamily="34" charset="0"/>
                  </a:rPr>
                  <a:t>the relationship (perhaps the strength or the direction) between GRE and GPA may change conditional on the race and gender of the student.</a:t>
                </a:r>
                <a:endParaRPr lang="en-US" sz="1800" dirty="0">
                  <a:latin typeface="Arial" panose="020B0604020202020204" pitchFamily="34" charset="0"/>
                  <a:cs typeface="Arial" panose="020B0604020202020204" pitchFamily="34" charset="0"/>
                </a:endParaRPr>
              </a:p>
              <a:p>
                <a:pPr lvl="1"/>
                <a:endParaRPr lang="en-US" sz="2000" dirty="0">
                  <a:latin typeface="Arial" panose="020B0604020202020204" pitchFamily="34" charset="0"/>
                  <a:cs typeface="Arial" panose="020B0604020202020204" pitchFamily="34" charset="0"/>
                </a:endParaRP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303179" y="836180"/>
                <a:ext cx="10515600" cy="5152582"/>
              </a:xfrm>
              <a:blipFill>
                <a:blip r:embed="rId3"/>
                <a:stretch>
                  <a:fillRect l="-522" t="-473"/>
                </a:stretch>
              </a:blipFill>
            </p:spPr>
            <p:txBody>
              <a:bodyPr/>
              <a:lstStyle/>
              <a:p>
                <a:r>
                  <a:rPr lang="en-US">
                    <a:noFill/>
                  </a:rPr>
                  <a:t> </a:t>
                </a:r>
              </a:p>
            </p:txBody>
          </p:sp>
        </mc:Fallback>
      </mc:AlternateContent>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D71D88-BA1A-4A31-92D9-86A2D66DFAE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277896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1D9C0-20CD-48F7-DFFD-BE627EA12D7E}"/>
              </a:ext>
            </a:extLst>
          </p:cNvPr>
          <p:cNvSpPr>
            <a:spLocks noGrp="1"/>
          </p:cNvSpPr>
          <p:nvPr>
            <p:ph type="title"/>
          </p:nvPr>
        </p:nvSpPr>
        <p:spPr>
          <a:xfrm>
            <a:off x="176719" y="231301"/>
            <a:ext cx="10515600" cy="899471"/>
          </a:xfrm>
        </p:spPr>
        <p:txBody>
          <a:bodyPr>
            <a:normAutofit fontScale="90000"/>
          </a:bodyPr>
          <a:lstStyle/>
          <a:p>
            <a:r>
              <a:rPr lang="en-US" dirty="0">
                <a:latin typeface="Aptos Display (Headings)"/>
              </a:rPr>
              <a:t>Central Limit Theorem (CLT) &amp; the Law of Large Numbers (LLN)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368A7A3D-999D-954A-C276-0BF7BA4F6FEF}"/>
                  </a:ext>
                </a:extLst>
              </p:cNvPr>
              <p:cNvSpPr>
                <a:spLocks noGrp="1"/>
              </p:cNvSpPr>
              <p:nvPr>
                <p:ph idx="1"/>
              </p:nvPr>
            </p:nvSpPr>
            <p:spPr>
              <a:xfrm>
                <a:off x="390728" y="1471240"/>
                <a:ext cx="10515600" cy="4351338"/>
              </a:xfrm>
            </p:spPr>
            <p:txBody>
              <a:bodyPr>
                <a:normAutofit fontScale="92500" lnSpcReduction="20000"/>
              </a:bodyPr>
              <a:lstStyle/>
              <a:p>
                <a:pPr>
                  <a:lnSpc>
                    <a:spcPct val="110000"/>
                  </a:lnSpc>
                </a:pPr>
                <a:r>
                  <a:rPr lang="en-US" sz="2200" dirty="0">
                    <a:latin typeface="Arial" panose="020B0604020202020204" pitchFamily="34" charset="0"/>
                    <a:cs typeface="Arial" panose="020B0604020202020204" pitchFamily="34" charset="0"/>
                  </a:rPr>
                  <a:t>The</a:t>
                </a:r>
                <a:r>
                  <a:rPr lang="en-US" sz="2200" spc="-20" dirty="0">
                    <a:latin typeface="Arial" panose="020B0604020202020204" pitchFamily="34" charset="0"/>
                    <a:cs typeface="Arial" panose="020B0604020202020204" pitchFamily="34" charset="0"/>
                  </a:rPr>
                  <a:t> CLT states that the </a:t>
                </a:r>
                <a:r>
                  <a:rPr lang="en-US" sz="2200" b="1" dirty="0">
                    <a:latin typeface="Arial" panose="020B0604020202020204" pitchFamily="34" charset="0"/>
                    <a:cs typeface="Arial" panose="020B0604020202020204" pitchFamily="34" charset="0"/>
                  </a:rPr>
                  <a:t>sampling</a:t>
                </a:r>
                <a:r>
                  <a:rPr lang="en-US" sz="2200" b="1" spc="-15" dirty="0">
                    <a:latin typeface="Arial" panose="020B0604020202020204" pitchFamily="34" charset="0"/>
                    <a:cs typeface="Arial" panose="020B0604020202020204" pitchFamily="34" charset="0"/>
                  </a:rPr>
                  <a:t> </a:t>
                </a:r>
                <a:r>
                  <a:rPr lang="en-US" sz="2200" b="1" spc="-10" dirty="0">
                    <a:latin typeface="Arial" panose="020B0604020202020204" pitchFamily="34" charset="0"/>
                    <a:cs typeface="Arial" panose="020B0604020202020204" pitchFamily="34" charset="0"/>
                  </a:rPr>
                  <a:t>distribution</a:t>
                </a:r>
                <a:r>
                  <a:rPr lang="en-US" sz="2200" b="1" spc="-15" dirty="0">
                    <a:latin typeface="Arial" panose="020B0604020202020204" pitchFamily="34" charset="0"/>
                    <a:cs typeface="Arial" panose="020B0604020202020204" pitchFamily="34" charset="0"/>
                  </a:rPr>
                  <a:t> </a:t>
                </a:r>
                <a:r>
                  <a:rPr lang="en-US" sz="2200" dirty="0">
                    <a:latin typeface="Arial" panose="020B0604020202020204" pitchFamily="34" charset="0"/>
                    <a:cs typeface="Arial" panose="020B0604020202020204" pitchFamily="34" charset="0"/>
                  </a:rPr>
                  <a:t>of</a:t>
                </a:r>
                <a:r>
                  <a:rPr lang="en-US" sz="2200" spc="-15" dirty="0">
                    <a:latin typeface="Arial" panose="020B0604020202020204" pitchFamily="34" charset="0"/>
                    <a:cs typeface="Arial" panose="020B0604020202020204" pitchFamily="34" charset="0"/>
                  </a:rPr>
                  <a:t> </a:t>
                </a:r>
                <a14:m>
                  <m:oMath xmlns:m="http://schemas.openxmlformats.org/officeDocument/2006/math">
                    <m:sSub>
                      <m:sSubPr>
                        <m:ctrlPr>
                          <a:rPr lang="en-US" sz="2200" i="1" spc="-15" smtClean="0">
                            <a:latin typeface="Cambria Math" panose="02040503050406030204" pitchFamily="18" charset="0"/>
                            <a:cs typeface="Arial"/>
                          </a:rPr>
                        </m:ctrlPr>
                      </m:sSubPr>
                      <m:e>
                        <m:acc>
                          <m:accPr>
                            <m:chr m:val="̅"/>
                            <m:ctrlPr>
                              <a:rPr lang="en-US" sz="2200" i="1" spc="-15" smtClean="0">
                                <a:latin typeface="Cambria Math" panose="02040503050406030204" pitchFamily="18" charset="0"/>
                                <a:cs typeface="Arial"/>
                              </a:rPr>
                            </m:ctrlPr>
                          </m:accPr>
                          <m:e>
                            <m:r>
                              <a:rPr lang="en-US" sz="2200" b="0" i="1" spc="-15" smtClean="0">
                                <a:latin typeface="Cambria Math" panose="02040503050406030204" pitchFamily="18" charset="0"/>
                                <a:cs typeface="Arial"/>
                              </a:rPr>
                              <m:t>𝑋</m:t>
                            </m:r>
                          </m:e>
                        </m:acc>
                      </m:e>
                      <m:sub>
                        <m:r>
                          <a:rPr lang="en-US" sz="2200" b="0" i="1" spc="-15" smtClean="0">
                            <a:latin typeface="Cambria Math" panose="02040503050406030204" pitchFamily="18" charset="0"/>
                            <a:cs typeface="Arial"/>
                          </a:rPr>
                          <m:t>𝑛</m:t>
                        </m:r>
                      </m:sub>
                    </m:sSub>
                  </m:oMath>
                </a14:m>
                <a:r>
                  <a:rPr lang="en-US" sz="2200" i="1" spc="202" baseline="-11904" dirty="0">
                    <a:latin typeface="Arial" panose="020B0604020202020204" pitchFamily="34" charset="0"/>
                    <a:cs typeface="Arial" panose="020B0604020202020204" pitchFamily="34" charset="0"/>
                  </a:rPr>
                  <a:t> </a:t>
                </a:r>
                <a:r>
                  <a:rPr lang="en-US" sz="2200" dirty="0">
                    <a:latin typeface="Arial" panose="020B0604020202020204" pitchFamily="34" charset="0"/>
                    <a:cs typeface="Arial" panose="020B0604020202020204" pitchFamily="34" charset="0"/>
                  </a:rPr>
                  <a:t>will</a:t>
                </a:r>
                <a:r>
                  <a:rPr lang="en-US" sz="2200" spc="-15" dirty="0">
                    <a:latin typeface="Arial" panose="020B0604020202020204" pitchFamily="34" charset="0"/>
                    <a:cs typeface="Arial" panose="020B0604020202020204" pitchFamily="34" charset="0"/>
                  </a:rPr>
                  <a:t> </a:t>
                </a:r>
                <a:r>
                  <a:rPr lang="en-US" sz="2200" dirty="0">
                    <a:latin typeface="Arial" panose="020B0604020202020204" pitchFamily="34" charset="0"/>
                    <a:cs typeface="Arial" panose="020B0604020202020204" pitchFamily="34" charset="0"/>
                  </a:rPr>
                  <a:t>become</a:t>
                </a:r>
                <a:r>
                  <a:rPr lang="en-US" sz="2200" spc="-15" dirty="0">
                    <a:latin typeface="Arial" panose="020B0604020202020204" pitchFamily="34" charset="0"/>
                    <a:cs typeface="Arial" panose="020B0604020202020204" pitchFamily="34" charset="0"/>
                  </a:rPr>
                  <a:t> </a:t>
                </a:r>
                <a:r>
                  <a:rPr lang="en-US" sz="2200" u="sng" spc="-10" dirty="0">
                    <a:latin typeface="Arial" panose="020B0604020202020204" pitchFamily="34" charset="0"/>
                    <a:cs typeface="Arial" panose="020B0604020202020204" pitchFamily="34" charset="0"/>
                  </a:rPr>
                  <a:t>approximately</a:t>
                </a:r>
                <a:r>
                  <a:rPr lang="en-US" sz="2200" spc="-10" dirty="0">
                    <a:latin typeface="Arial" panose="020B0604020202020204" pitchFamily="34" charset="0"/>
                    <a:cs typeface="Arial" panose="020B0604020202020204" pitchFamily="34" charset="0"/>
                  </a:rPr>
                  <a:t> </a:t>
                </a:r>
                <a:r>
                  <a:rPr lang="en-US" sz="2200" dirty="0">
                    <a:solidFill>
                      <a:srgbClr val="FF0000"/>
                    </a:solidFill>
                    <a:latin typeface="Arial" panose="020B0604020202020204" pitchFamily="34" charset="0"/>
                    <a:cs typeface="Arial" panose="020B0604020202020204" pitchFamily="34" charset="0"/>
                  </a:rPr>
                  <a:t>normally</a:t>
                </a:r>
                <a:r>
                  <a:rPr lang="en-US" sz="2200" spc="-20" dirty="0">
                    <a:solidFill>
                      <a:srgbClr val="FF0000"/>
                    </a:solidFill>
                    <a:latin typeface="Arial" panose="020B0604020202020204" pitchFamily="34" charset="0"/>
                    <a:cs typeface="Arial" panose="020B0604020202020204" pitchFamily="34" charset="0"/>
                  </a:rPr>
                  <a:t> </a:t>
                </a:r>
                <a:r>
                  <a:rPr lang="en-US" sz="2200" spc="-10" dirty="0">
                    <a:solidFill>
                      <a:srgbClr val="FF0000"/>
                    </a:solidFill>
                    <a:latin typeface="Arial" panose="020B0604020202020204" pitchFamily="34" charset="0"/>
                    <a:cs typeface="Arial" panose="020B0604020202020204" pitchFamily="34" charset="0"/>
                  </a:rPr>
                  <a:t>distributed</a:t>
                </a:r>
                <a:r>
                  <a:rPr lang="en-US" sz="2200" b="1" spc="-20" dirty="0">
                    <a:solidFill>
                      <a:srgbClr val="0000FF"/>
                    </a:solidFill>
                    <a:latin typeface="Arial" panose="020B0604020202020204" pitchFamily="34" charset="0"/>
                    <a:cs typeface="Arial" panose="020B0604020202020204" pitchFamily="34" charset="0"/>
                  </a:rPr>
                  <a:t> </a:t>
                </a:r>
                <a:r>
                  <a:rPr lang="en-US" sz="2200" dirty="0">
                    <a:latin typeface="Arial" panose="020B0604020202020204" pitchFamily="34" charset="0"/>
                    <a:cs typeface="Arial" panose="020B0604020202020204" pitchFamily="34" charset="0"/>
                  </a:rPr>
                  <a:t>as</a:t>
                </a:r>
                <a:r>
                  <a:rPr lang="en-US" sz="2200" spc="-20" dirty="0">
                    <a:latin typeface="Arial" panose="020B0604020202020204" pitchFamily="34" charset="0"/>
                    <a:cs typeface="Arial" panose="020B0604020202020204" pitchFamily="34" charset="0"/>
                  </a:rPr>
                  <a:t> </a:t>
                </a:r>
                <a:r>
                  <a:rPr lang="en-US" sz="2200" dirty="0">
                    <a:latin typeface="Arial" panose="020B0604020202020204" pitchFamily="34" charset="0"/>
                    <a:cs typeface="Arial" panose="020B0604020202020204" pitchFamily="34" charset="0"/>
                  </a:rPr>
                  <a:t>the</a:t>
                </a:r>
                <a:r>
                  <a:rPr lang="en-US" sz="2200" spc="-20" dirty="0">
                    <a:latin typeface="Arial" panose="020B0604020202020204" pitchFamily="34" charset="0"/>
                    <a:cs typeface="Arial" panose="020B0604020202020204" pitchFamily="34" charset="0"/>
                  </a:rPr>
                  <a:t> </a:t>
                </a:r>
                <a:r>
                  <a:rPr lang="en-US" sz="2200" b="1" dirty="0">
                    <a:latin typeface="Arial" panose="020B0604020202020204" pitchFamily="34" charset="0"/>
                    <a:cs typeface="Arial" panose="020B0604020202020204" pitchFamily="34" charset="0"/>
                  </a:rPr>
                  <a:t>sample</a:t>
                </a:r>
                <a:r>
                  <a:rPr lang="en-US" sz="2200" b="1" spc="-20" dirty="0">
                    <a:latin typeface="Arial" panose="020B0604020202020204" pitchFamily="34" charset="0"/>
                    <a:cs typeface="Arial" panose="020B0604020202020204" pitchFamily="34" charset="0"/>
                  </a:rPr>
                  <a:t> </a:t>
                </a:r>
                <a:r>
                  <a:rPr lang="en-US" sz="2200" b="1" dirty="0">
                    <a:latin typeface="Arial" panose="020B0604020202020204" pitchFamily="34" charset="0"/>
                    <a:cs typeface="Arial" panose="020B0604020202020204" pitchFamily="34" charset="0"/>
                  </a:rPr>
                  <a:t>size</a:t>
                </a:r>
                <a:r>
                  <a:rPr lang="en-US" sz="2200" b="1" spc="-20" dirty="0">
                    <a:latin typeface="Arial" panose="020B0604020202020204" pitchFamily="34" charset="0"/>
                    <a:cs typeface="Arial" panose="020B0604020202020204" pitchFamily="34" charset="0"/>
                  </a:rPr>
                  <a:t> </a:t>
                </a:r>
                <a:r>
                  <a:rPr lang="en-US" sz="2200" b="1" dirty="0">
                    <a:latin typeface="Arial" panose="020B0604020202020204" pitchFamily="34" charset="0"/>
                    <a:cs typeface="Arial" panose="020B0604020202020204" pitchFamily="34" charset="0"/>
                  </a:rPr>
                  <a:t>(</a:t>
                </a:r>
                <a:r>
                  <a:rPr lang="en-US" sz="2200" i="1" dirty="0">
                    <a:latin typeface="Arial" panose="020B0604020202020204" pitchFamily="34" charset="0"/>
                    <a:cs typeface="Arial" panose="020B0604020202020204" pitchFamily="34" charset="0"/>
                  </a:rPr>
                  <a:t>n</a:t>
                </a:r>
                <a:r>
                  <a:rPr lang="en-US" sz="2200" b="1" dirty="0">
                    <a:latin typeface="Arial" panose="020B0604020202020204" pitchFamily="34" charset="0"/>
                    <a:cs typeface="Arial" panose="020B0604020202020204" pitchFamily="34" charset="0"/>
                  </a:rPr>
                  <a:t>)</a:t>
                </a:r>
                <a:r>
                  <a:rPr lang="en-US" sz="2200" b="1" spc="-20" dirty="0">
                    <a:latin typeface="Arial" panose="020B0604020202020204" pitchFamily="34" charset="0"/>
                    <a:cs typeface="Arial" panose="020B0604020202020204" pitchFamily="34" charset="0"/>
                  </a:rPr>
                  <a:t> </a:t>
                </a:r>
                <a:r>
                  <a:rPr lang="en-US" sz="2200" b="1" spc="-10" dirty="0">
                    <a:latin typeface="Arial" panose="020B0604020202020204" pitchFamily="34" charset="0"/>
                    <a:cs typeface="Arial" panose="020B0604020202020204" pitchFamily="34" charset="0"/>
                  </a:rPr>
                  <a:t>becomes </a:t>
                </a:r>
                <a:r>
                  <a:rPr lang="en-US" sz="2200" b="1" dirty="0">
                    <a:latin typeface="Arial" panose="020B0604020202020204" pitchFamily="34" charset="0"/>
                    <a:cs typeface="Arial" panose="020B0604020202020204" pitchFamily="34" charset="0"/>
                  </a:rPr>
                  <a:t>“large"</a:t>
                </a:r>
                <a:r>
                  <a:rPr lang="en-US" sz="2200" dirty="0">
                    <a:latin typeface="Arial" panose="020B0604020202020204" pitchFamily="34" charset="0"/>
                    <a:cs typeface="Arial" panose="020B0604020202020204" pitchFamily="34" charset="0"/>
                  </a:rPr>
                  <a:t>,</a:t>
                </a:r>
                <a:r>
                  <a:rPr lang="en-US" sz="2200" spc="-20" dirty="0">
                    <a:latin typeface="Arial" panose="020B0604020202020204" pitchFamily="34" charset="0"/>
                    <a:cs typeface="Arial" panose="020B0604020202020204" pitchFamily="34" charset="0"/>
                  </a:rPr>
                  <a:t> </a:t>
                </a:r>
                <a:r>
                  <a:rPr lang="en-US" sz="2200" spc="-10" dirty="0">
                    <a:solidFill>
                      <a:srgbClr val="FF0000"/>
                    </a:solidFill>
                    <a:latin typeface="Arial" panose="020B0604020202020204" pitchFamily="34" charset="0"/>
                    <a:cs typeface="Arial" panose="020B0604020202020204" pitchFamily="34" charset="0"/>
                  </a:rPr>
                  <a:t>regardless</a:t>
                </a:r>
                <a:r>
                  <a:rPr lang="en-US" sz="2200" spc="-20" dirty="0">
                    <a:solidFill>
                      <a:srgbClr val="FF0000"/>
                    </a:solidFill>
                    <a:latin typeface="Arial" panose="020B0604020202020204" pitchFamily="34" charset="0"/>
                    <a:cs typeface="Arial" panose="020B0604020202020204" pitchFamily="34" charset="0"/>
                  </a:rPr>
                  <a:t> </a:t>
                </a:r>
                <a:r>
                  <a:rPr lang="en-US" sz="2200" dirty="0">
                    <a:solidFill>
                      <a:srgbClr val="FF0000"/>
                    </a:solidFill>
                    <a:latin typeface="Arial" panose="020B0604020202020204" pitchFamily="34" charset="0"/>
                    <a:cs typeface="Arial" panose="020B0604020202020204" pitchFamily="34" charset="0"/>
                  </a:rPr>
                  <a:t>of</a:t>
                </a:r>
                <a:r>
                  <a:rPr lang="en-US" sz="2200" spc="-15" dirty="0">
                    <a:solidFill>
                      <a:srgbClr val="FF0000"/>
                    </a:solidFill>
                    <a:latin typeface="Arial" panose="020B0604020202020204" pitchFamily="34" charset="0"/>
                    <a:cs typeface="Arial" panose="020B0604020202020204" pitchFamily="34" charset="0"/>
                  </a:rPr>
                  <a:t> </a:t>
                </a:r>
                <a:r>
                  <a:rPr lang="en-US" sz="2200" dirty="0">
                    <a:solidFill>
                      <a:srgbClr val="FF0000"/>
                    </a:solidFill>
                    <a:latin typeface="Arial" panose="020B0604020202020204" pitchFamily="34" charset="0"/>
                    <a:cs typeface="Arial" panose="020B0604020202020204" pitchFamily="34" charset="0"/>
                  </a:rPr>
                  <a:t>the</a:t>
                </a:r>
                <a:r>
                  <a:rPr lang="en-US" sz="2200" spc="-20" dirty="0">
                    <a:solidFill>
                      <a:srgbClr val="FF0000"/>
                    </a:solidFill>
                    <a:latin typeface="Arial" panose="020B0604020202020204" pitchFamily="34" charset="0"/>
                    <a:cs typeface="Arial" panose="020B0604020202020204" pitchFamily="34" charset="0"/>
                  </a:rPr>
                  <a:t> </a:t>
                </a:r>
                <a:r>
                  <a:rPr lang="en-US" sz="2200" dirty="0">
                    <a:solidFill>
                      <a:srgbClr val="FF0000"/>
                    </a:solidFill>
                    <a:latin typeface="Arial" panose="020B0604020202020204" pitchFamily="34" charset="0"/>
                    <a:cs typeface="Arial" panose="020B0604020202020204" pitchFamily="34" charset="0"/>
                  </a:rPr>
                  <a:t>shape</a:t>
                </a:r>
                <a:r>
                  <a:rPr lang="en-US" sz="2200" spc="-15" dirty="0">
                    <a:solidFill>
                      <a:srgbClr val="FF0000"/>
                    </a:solidFill>
                    <a:latin typeface="Arial" panose="020B0604020202020204" pitchFamily="34" charset="0"/>
                    <a:cs typeface="Arial" panose="020B0604020202020204" pitchFamily="34" charset="0"/>
                  </a:rPr>
                  <a:t> </a:t>
                </a:r>
                <a:r>
                  <a:rPr lang="en-US" sz="2200" dirty="0">
                    <a:solidFill>
                      <a:srgbClr val="FF0000"/>
                    </a:solidFill>
                    <a:latin typeface="Arial" panose="020B0604020202020204" pitchFamily="34" charset="0"/>
                    <a:cs typeface="Arial" panose="020B0604020202020204" pitchFamily="34" charset="0"/>
                  </a:rPr>
                  <a:t>of</a:t>
                </a:r>
                <a:r>
                  <a:rPr lang="en-US" sz="2200" spc="-20" dirty="0">
                    <a:solidFill>
                      <a:srgbClr val="FF0000"/>
                    </a:solidFill>
                    <a:latin typeface="Arial" panose="020B0604020202020204" pitchFamily="34" charset="0"/>
                    <a:cs typeface="Arial" panose="020B0604020202020204" pitchFamily="34" charset="0"/>
                  </a:rPr>
                  <a:t> </a:t>
                </a:r>
                <a:r>
                  <a:rPr lang="en-US" sz="2200" dirty="0">
                    <a:solidFill>
                      <a:srgbClr val="FF0000"/>
                    </a:solidFill>
                    <a:latin typeface="Arial" panose="020B0604020202020204" pitchFamily="34" charset="0"/>
                    <a:cs typeface="Arial" panose="020B0604020202020204" pitchFamily="34" charset="0"/>
                  </a:rPr>
                  <a:t>the</a:t>
                </a:r>
                <a:r>
                  <a:rPr lang="en-US" sz="2200" spc="-15" dirty="0">
                    <a:solidFill>
                      <a:srgbClr val="FF0000"/>
                    </a:solidFill>
                    <a:latin typeface="Arial" panose="020B0604020202020204" pitchFamily="34" charset="0"/>
                    <a:cs typeface="Arial" panose="020B0604020202020204" pitchFamily="34" charset="0"/>
                  </a:rPr>
                  <a:t> </a:t>
                </a:r>
                <a:r>
                  <a:rPr lang="en-US" sz="2200" spc="-10" dirty="0">
                    <a:solidFill>
                      <a:srgbClr val="FF0000"/>
                    </a:solidFill>
                    <a:latin typeface="Arial" panose="020B0604020202020204" pitchFamily="34" charset="0"/>
                    <a:cs typeface="Arial" panose="020B0604020202020204" pitchFamily="34" charset="0"/>
                  </a:rPr>
                  <a:t>population distribution!</a:t>
                </a:r>
              </a:p>
              <a:p>
                <a:pPr marL="457200" lvl="1" indent="0">
                  <a:buNone/>
                </a:pPr>
                <a:r>
                  <a:rPr lang="en-US" sz="1900" dirty="0">
                    <a:latin typeface="Arial" panose="020B0604020202020204" pitchFamily="34" charset="0"/>
                    <a:cs typeface="Arial" panose="020B0604020202020204" pitchFamily="34" charset="0"/>
                  </a:rPr>
                  <a:t>Formally, if </a:t>
                </a:r>
                <a:r>
                  <a:rPr lang="en-US" sz="1900" i="1" dirty="0">
                    <a:latin typeface="Arial" panose="020B0604020202020204" pitchFamily="34" charset="0"/>
                    <a:cs typeface="Arial" panose="020B0604020202020204" pitchFamily="34" charset="0"/>
                  </a:rPr>
                  <a:t>X</a:t>
                </a:r>
                <a:r>
                  <a:rPr lang="en-US" sz="1900" baseline="-25000" dirty="0">
                    <a:latin typeface="Arial" panose="020B0604020202020204" pitchFamily="34" charset="0"/>
                    <a:cs typeface="Arial" panose="020B0604020202020204" pitchFamily="34" charset="0"/>
                  </a:rPr>
                  <a:t>1</a:t>
                </a:r>
                <a:r>
                  <a:rPr lang="en-US" sz="1900" dirty="0">
                    <a:latin typeface="Arial" panose="020B0604020202020204" pitchFamily="34" charset="0"/>
                    <a:cs typeface="Arial" panose="020B0604020202020204" pitchFamily="34" charset="0"/>
                  </a:rPr>
                  <a:t>, </a:t>
                </a:r>
                <a:r>
                  <a:rPr lang="en-US" sz="1900" i="1" dirty="0">
                    <a:latin typeface="Arial" panose="020B0604020202020204" pitchFamily="34" charset="0"/>
                    <a:cs typeface="Arial" panose="020B0604020202020204" pitchFamily="34" charset="0"/>
                  </a:rPr>
                  <a:t>X</a:t>
                </a:r>
                <a:r>
                  <a:rPr lang="en-US" sz="1900" baseline="-25000" dirty="0">
                    <a:latin typeface="Arial" panose="020B0604020202020204" pitchFamily="34" charset="0"/>
                    <a:cs typeface="Arial" panose="020B0604020202020204" pitchFamily="34" charset="0"/>
                  </a:rPr>
                  <a:t>2</a:t>
                </a:r>
                <a:r>
                  <a:rPr lang="en-US" sz="1900" dirty="0">
                    <a:latin typeface="Arial" panose="020B0604020202020204" pitchFamily="34" charset="0"/>
                    <a:cs typeface="Arial" panose="020B0604020202020204" pitchFamily="34" charset="0"/>
                  </a:rPr>
                  <a:t>,…, </a:t>
                </a:r>
                <a:r>
                  <a:rPr lang="en-US" sz="1900" i="1" dirty="0" err="1">
                    <a:latin typeface="Arial" panose="020B0604020202020204" pitchFamily="34" charset="0"/>
                    <a:cs typeface="Arial" panose="020B0604020202020204" pitchFamily="34" charset="0"/>
                  </a:rPr>
                  <a:t>X</a:t>
                </a:r>
                <a:r>
                  <a:rPr lang="en-US" sz="1900" baseline="-25000" dirty="0" err="1">
                    <a:latin typeface="Arial" panose="020B0604020202020204" pitchFamily="34" charset="0"/>
                    <a:cs typeface="Arial" panose="020B0604020202020204" pitchFamily="34" charset="0"/>
                  </a:rPr>
                  <a:t>n</a:t>
                </a:r>
                <a:r>
                  <a:rPr lang="en-US" sz="1900" baseline="-25000" dirty="0">
                    <a:latin typeface="Arial" panose="020B0604020202020204" pitchFamily="34" charset="0"/>
                    <a:cs typeface="Arial" panose="020B0604020202020204" pitchFamily="34" charset="0"/>
                  </a:rPr>
                  <a:t>​ </a:t>
                </a:r>
                <a:r>
                  <a:rPr lang="en-US" sz="1900" dirty="0">
                    <a:latin typeface="Arial" panose="020B0604020202020204" pitchFamily="34" charset="0"/>
                    <a:cs typeface="Arial" panose="020B0604020202020204" pitchFamily="34" charset="0"/>
                  </a:rPr>
                  <a:t>​ are </a:t>
                </a:r>
                <a:r>
                  <a:rPr lang="en-US" sz="1900" dirty="0" err="1">
                    <a:latin typeface="Arial" panose="020B0604020202020204" pitchFamily="34" charset="0"/>
                    <a:cs typeface="Arial" panose="020B0604020202020204" pitchFamily="34" charset="0"/>
                  </a:rPr>
                  <a:t>i.i.d.</a:t>
                </a:r>
                <a:r>
                  <a:rPr lang="en-US" sz="1900" dirty="0">
                    <a:latin typeface="Arial" panose="020B0604020202020204" pitchFamily="34" charset="0"/>
                    <a:cs typeface="Arial" panose="020B0604020202020204" pitchFamily="34" charset="0"/>
                  </a:rPr>
                  <a:t> with mean μ and variance σ2, then</a:t>
                </a:r>
              </a:p>
              <a:p>
                <a:pPr lvl="1"/>
                <a:endParaRPr lang="en-US" dirty="0">
                  <a:latin typeface="Arial" panose="020B0604020202020204" pitchFamily="34" charset="0"/>
                  <a:cs typeface="Arial" panose="020B0604020202020204" pitchFamily="34" charset="0"/>
                </a:endParaRPr>
              </a:p>
              <a:p>
                <a:pPr marL="457200" lvl="1" indent="0">
                  <a:buNone/>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𝑋</m:t>
                                  </m:r>
                                </m:e>
                              </m:acc>
                            </m:e>
                            <m:sub>
                              <m:r>
                                <a:rPr lang="en-US" i="1">
                                  <a:latin typeface="Cambria Math" panose="02040503050406030204" pitchFamily="18" charset="0"/>
                                </a:rPr>
                                <m:t>𝑛</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𝜇</m:t>
                          </m:r>
                        </m:num>
                        <m:den>
                          <m:f>
                            <m:fPr>
                              <m:type m:val="skw"/>
                              <m:ctrlPr>
                                <a:rPr lang="en-US" i="1" smtClean="0">
                                  <a:latin typeface="Cambria Math" panose="02040503050406030204" pitchFamily="18" charset="0"/>
                                </a:rPr>
                              </m:ctrlPr>
                            </m:fPr>
                            <m:num>
                              <m:r>
                                <a:rPr lang="en-US" i="1" smtClean="0">
                                  <a:latin typeface="Cambria Math" panose="02040503050406030204" pitchFamily="18" charset="0"/>
                                  <a:ea typeface="Cambria Math" panose="02040503050406030204" pitchFamily="18" charset="0"/>
                                </a:rPr>
                                <m:t>𝜎</m:t>
                              </m:r>
                            </m:num>
                            <m:den>
                              <m:r>
                                <a:rPr lang="en-US" b="0" i="1" smtClean="0">
                                  <a:latin typeface="Cambria Math" panose="02040503050406030204" pitchFamily="18" charset="0"/>
                                </a:rPr>
                                <m:t>𝑛</m:t>
                              </m:r>
                            </m:den>
                          </m:f>
                        </m:den>
                      </m:f>
                      <m:r>
                        <a:rPr lang="en-US" b="0" i="1" smtClean="0">
                          <a:latin typeface="Cambria Math" panose="02040503050406030204" pitchFamily="18" charset="0"/>
                        </a:rPr>
                        <m:t> </m:t>
                      </m:r>
                      <m:groupChr>
                        <m:groupChrPr>
                          <m:chr m:val="→"/>
                          <m:vertJc m:val="bot"/>
                          <m:ctrlPr>
                            <a:rPr lang="en-US" i="1" smtClean="0">
                              <a:latin typeface="Cambria Math" panose="02040503050406030204" pitchFamily="18" charset="0"/>
                            </a:rPr>
                          </m:ctrlPr>
                        </m:groupChrPr>
                        <m:e>
                          <m:r>
                            <m:rPr>
                              <m:brk m:alnAt="2"/>
                            </m:rPr>
                            <a:rPr lang="en-US" b="0" i="1" smtClean="0">
                              <a:latin typeface="Cambria Math" panose="02040503050406030204" pitchFamily="18" charset="0"/>
                            </a:rPr>
                            <m:t>𝑑</m:t>
                          </m:r>
                        </m:e>
                      </m:groupChr>
                      <m:r>
                        <a:rPr lang="en-US" b="0" i="1" smtClean="0">
                          <a:latin typeface="Cambria Math" panose="02040503050406030204" pitchFamily="18" charset="0"/>
                        </a:rPr>
                        <m:t> </m:t>
                      </m:r>
                      <m:r>
                        <a:rPr lang="el-GR" i="1" smtClean="0">
                          <a:latin typeface="Cambria Math" panose="02040503050406030204" pitchFamily="18" charset="0"/>
                          <a:ea typeface="Cambria Math" panose="02040503050406030204" pitchFamily="18" charset="0"/>
                        </a:rPr>
                        <m:t>𝛮</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0,1</m:t>
                          </m:r>
                        </m:e>
                      </m:d>
                      <m:r>
                        <a:rPr lang="en-US" b="0" i="1" smtClean="0">
                          <a:latin typeface="Cambria Math" panose="02040503050406030204" pitchFamily="18" charset="0"/>
                          <a:ea typeface="Cambria Math" panose="02040503050406030204" pitchFamily="18" charset="0"/>
                        </a:rPr>
                        <m:t> </m:t>
                      </m:r>
                      <m:r>
                        <m:rPr>
                          <m:sty m:val="p"/>
                        </m:rPr>
                        <a:rPr lang="en-US" b="0" i="0" smtClean="0">
                          <a:latin typeface="Cambria Math" panose="02040503050406030204" pitchFamily="18" charset="0"/>
                          <a:ea typeface="Cambria Math" panose="02040503050406030204" pitchFamily="18" charset="0"/>
                        </a:rPr>
                        <m:t>as</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 → ∞</m:t>
                      </m:r>
                    </m:oMath>
                  </m:oMathPara>
                </a14:m>
                <a:endParaRPr lang="en-US" dirty="0">
                  <a:latin typeface="Arial" panose="020B0604020202020204" pitchFamily="34" charset="0"/>
                  <a:cs typeface="Arial" panose="020B0604020202020204" pitchFamily="34" charset="0"/>
                </a:endParaRPr>
              </a:p>
              <a:p>
                <a:pPr>
                  <a:lnSpc>
                    <a:spcPct val="110000"/>
                  </a:lnSpc>
                </a:pPr>
                <a:r>
                  <a:rPr lang="en-US" sz="2200" dirty="0">
                    <a:latin typeface="Arial" panose="020B0604020202020204" pitchFamily="34" charset="0"/>
                    <a:cs typeface="Arial" panose="020B0604020202020204" pitchFamily="34" charset="0"/>
                  </a:rPr>
                  <a:t>The LLN states that as the </a:t>
                </a:r>
                <a:r>
                  <a:rPr lang="en-US" sz="2200" dirty="0">
                    <a:solidFill>
                      <a:srgbClr val="FF0000"/>
                    </a:solidFill>
                    <a:latin typeface="Arial" panose="020B0604020202020204" pitchFamily="34" charset="0"/>
                    <a:cs typeface="Arial" panose="020B0604020202020204" pitchFamily="34" charset="0"/>
                  </a:rPr>
                  <a:t>sample size (</a:t>
                </a:r>
                <a:r>
                  <a:rPr lang="en-US" sz="2200" i="1" dirty="0">
                    <a:solidFill>
                      <a:srgbClr val="FF0000"/>
                    </a:solidFill>
                    <a:latin typeface="Arial" panose="020B0604020202020204" pitchFamily="34" charset="0"/>
                    <a:cs typeface="Arial" panose="020B0604020202020204" pitchFamily="34" charset="0"/>
                  </a:rPr>
                  <a:t>n</a:t>
                </a:r>
                <a:r>
                  <a:rPr lang="en-US" sz="2200" dirty="0">
                    <a:solidFill>
                      <a:srgbClr val="FF0000"/>
                    </a:solidFill>
                    <a:latin typeface="Arial" panose="020B0604020202020204" pitchFamily="34" charset="0"/>
                    <a:cs typeface="Arial" panose="020B0604020202020204" pitchFamily="34" charset="0"/>
                  </a:rPr>
                  <a:t>) increases</a:t>
                </a:r>
                <a:r>
                  <a:rPr lang="en-US" sz="2200" dirty="0">
                    <a:latin typeface="Arial" panose="020B0604020202020204" pitchFamily="34" charset="0"/>
                    <a:cs typeface="Arial" panose="020B0604020202020204" pitchFamily="34" charset="0"/>
                  </a:rPr>
                  <a:t>, the sample mean </a:t>
                </a:r>
                <a14:m>
                  <m:oMath xmlns:m="http://schemas.openxmlformats.org/officeDocument/2006/math">
                    <m:acc>
                      <m:accPr>
                        <m:chr m:val="̅"/>
                        <m:ctrlPr>
                          <a:rPr lang="en-US" sz="2200" i="1" smtClean="0">
                            <a:latin typeface="Cambria Math" panose="02040503050406030204" pitchFamily="18" charset="0"/>
                          </a:rPr>
                        </m:ctrlPr>
                      </m:accPr>
                      <m:e>
                        <m:r>
                          <a:rPr lang="en-US" sz="2200" b="0" i="1">
                            <a:latin typeface="Cambria Math" panose="02040503050406030204" pitchFamily="18" charset="0"/>
                          </a:rPr>
                          <m:t>𝑋</m:t>
                        </m:r>
                      </m:e>
                    </m:acc>
                    <m:r>
                      <a:rPr lang="en-US" sz="2200" b="0" i="1">
                        <a:latin typeface="Cambria Math" panose="02040503050406030204" pitchFamily="18" charset="0"/>
                      </a:rPr>
                      <m:t> </m:t>
                    </m:r>
                  </m:oMath>
                </a14:m>
                <a:r>
                  <a:rPr lang="en-US" sz="2200" dirty="0">
                    <a:latin typeface="Arial" panose="020B0604020202020204" pitchFamily="34" charset="0"/>
                    <a:cs typeface="Arial" panose="020B0604020202020204" pitchFamily="34" charset="0"/>
                  </a:rPr>
                  <a:t> converges in probability to the </a:t>
                </a:r>
                <a:r>
                  <a:rPr lang="en-US" sz="2200" dirty="0">
                    <a:solidFill>
                      <a:srgbClr val="FF0000"/>
                    </a:solidFill>
                    <a:latin typeface="Arial" panose="020B0604020202020204" pitchFamily="34" charset="0"/>
                    <a:cs typeface="Arial" panose="020B0604020202020204" pitchFamily="34" charset="0"/>
                  </a:rPr>
                  <a:t>true population mean μ</a:t>
                </a:r>
                <a:r>
                  <a:rPr lang="en-US" sz="2200" dirty="0">
                    <a:latin typeface="Arial" panose="020B0604020202020204" pitchFamily="34" charset="0"/>
                    <a:cs typeface="Arial" panose="020B0604020202020204" pitchFamily="34" charset="0"/>
                  </a:rPr>
                  <a:t>.</a:t>
                </a:r>
              </a:p>
              <a:p>
                <a:pPr marL="457200" lvl="1" indent="0">
                  <a:buNone/>
                </a:pPr>
                <a:r>
                  <a:rPr lang="en-US" sz="1900" dirty="0">
                    <a:latin typeface="Arial" panose="020B0604020202020204" pitchFamily="34" charset="0"/>
                    <a:cs typeface="Arial" panose="020B0604020202020204" pitchFamily="34" charset="0"/>
                  </a:rPr>
                  <a:t>Formally, if </a:t>
                </a:r>
                <a:r>
                  <a:rPr lang="en-US" sz="1900" i="1" dirty="0">
                    <a:latin typeface="Arial" panose="020B0604020202020204" pitchFamily="34" charset="0"/>
                    <a:cs typeface="Arial" panose="020B0604020202020204" pitchFamily="34" charset="0"/>
                  </a:rPr>
                  <a:t>X</a:t>
                </a:r>
                <a:r>
                  <a:rPr lang="en-US" sz="1900" baseline="-25000" dirty="0">
                    <a:latin typeface="Arial" panose="020B0604020202020204" pitchFamily="34" charset="0"/>
                    <a:cs typeface="Arial" panose="020B0604020202020204" pitchFamily="34" charset="0"/>
                  </a:rPr>
                  <a:t>1</a:t>
                </a:r>
                <a:r>
                  <a:rPr lang="en-US" sz="1900" dirty="0">
                    <a:latin typeface="Arial" panose="020B0604020202020204" pitchFamily="34" charset="0"/>
                    <a:cs typeface="Arial" panose="020B0604020202020204" pitchFamily="34" charset="0"/>
                  </a:rPr>
                  <a:t>, </a:t>
                </a:r>
                <a:r>
                  <a:rPr lang="en-US" sz="1900" i="1" dirty="0">
                    <a:latin typeface="Arial" panose="020B0604020202020204" pitchFamily="34" charset="0"/>
                    <a:cs typeface="Arial" panose="020B0604020202020204" pitchFamily="34" charset="0"/>
                  </a:rPr>
                  <a:t>X</a:t>
                </a:r>
                <a:r>
                  <a:rPr lang="en-US" sz="1900" baseline="-25000" dirty="0">
                    <a:latin typeface="Arial" panose="020B0604020202020204" pitchFamily="34" charset="0"/>
                    <a:cs typeface="Arial" panose="020B0604020202020204" pitchFamily="34" charset="0"/>
                  </a:rPr>
                  <a:t>2</a:t>
                </a:r>
                <a:r>
                  <a:rPr lang="en-US" sz="1900" dirty="0">
                    <a:latin typeface="Arial" panose="020B0604020202020204" pitchFamily="34" charset="0"/>
                    <a:cs typeface="Arial" panose="020B0604020202020204" pitchFamily="34" charset="0"/>
                  </a:rPr>
                  <a:t>,…, </a:t>
                </a:r>
                <a:r>
                  <a:rPr lang="en-US" sz="1900" i="1" dirty="0" err="1">
                    <a:latin typeface="Arial" panose="020B0604020202020204" pitchFamily="34" charset="0"/>
                    <a:cs typeface="Arial" panose="020B0604020202020204" pitchFamily="34" charset="0"/>
                  </a:rPr>
                  <a:t>X</a:t>
                </a:r>
                <a:r>
                  <a:rPr lang="en-US" sz="1900" baseline="-25000" dirty="0" err="1">
                    <a:latin typeface="Arial" panose="020B0604020202020204" pitchFamily="34" charset="0"/>
                    <a:cs typeface="Arial" panose="020B0604020202020204" pitchFamily="34" charset="0"/>
                  </a:rPr>
                  <a:t>n</a:t>
                </a:r>
                <a:r>
                  <a:rPr lang="en-US" sz="1900" baseline="-25000" dirty="0">
                    <a:latin typeface="Arial" panose="020B0604020202020204" pitchFamily="34" charset="0"/>
                    <a:cs typeface="Arial" panose="020B0604020202020204" pitchFamily="34" charset="0"/>
                  </a:rPr>
                  <a:t>​ </a:t>
                </a:r>
                <a:r>
                  <a:rPr lang="en-US" sz="1900" dirty="0">
                    <a:latin typeface="Arial" panose="020B0604020202020204" pitchFamily="34" charset="0"/>
                    <a:cs typeface="Arial" panose="020B0604020202020204" pitchFamily="34" charset="0"/>
                  </a:rPr>
                  <a:t>​ </a:t>
                </a:r>
                <a:r>
                  <a:rPr lang="en-US" sz="1900" baseline="-25000" dirty="0">
                    <a:latin typeface="Arial" panose="020B0604020202020204" pitchFamily="34" charset="0"/>
                    <a:cs typeface="Arial" panose="020B0604020202020204" pitchFamily="34" charset="0"/>
                  </a:rPr>
                  <a:t>​ </a:t>
                </a:r>
                <a:r>
                  <a:rPr lang="en-US" sz="1900" dirty="0">
                    <a:latin typeface="Arial" panose="020B0604020202020204" pitchFamily="34" charset="0"/>
                    <a:cs typeface="Arial" panose="020B0604020202020204" pitchFamily="34" charset="0"/>
                  </a:rPr>
                  <a:t>are </a:t>
                </a:r>
                <a:r>
                  <a:rPr lang="en-US" sz="1900" dirty="0" err="1">
                    <a:latin typeface="Arial" panose="020B0604020202020204" pitchFamily="34" charset="0"/>
                    <a:cs typeface="Arial" panose="020B0604020202020204" pitchFamily="34" charset="0"/>
                  </a:rPr>
                  <a:t>i.i.d.</a:t>
                </a:r>
                <a:r>
                  <a:rPr lang="en-US" sz="1900" dirty="0">
                    <a:latin typeface="Arial" panose="020B0604020202020204" pitchFamily="34" charset="0"/>
                    <a:cs typeface="Arial" panose="020B0604020202020204" pitchFamily="34" charset="0"/>
                  </a:rPr>
                  <a:t> with expected value E[</a:t>
                </a:r>
                <a:r>
                  <a:rPr lang="en-US" sz="1900" i="1" dirty="0">
                    <a:latin typeface="Arial" panose="020B0604020202020204" pitchFamily="34" charset="0"/>
                    <a:cs typeface="Arial" panose="020B0604020202020204" pitchFamily="34" charset="0"/>
                  </a:rPr>
                  <a:t>X</a:t>
                </a:r>
                <a:r>
                  <a:rPr lang="en-US" sz="1900" i="1" baseline="-25000" dirty="0">
                    <a:latin typeface="Arial" panose="020B0604020202020204" pitchFamily="34" charset="0"/>
                    <a:cs typeface="Arial" panose="020B0604020202020204" pitchFamily="34" charset="0"/>
                  </a:rPr>
                  <a:t>i</a:t>
                </a:r>
                <a:r>
                  <a:rPr lang="en-US" sz="1900" dirty="0">
                    <a:latin typeface="Arial" panose="020B0604020202020204" pitchFamily="34" charset="0"/>
                    <a:cs typeface="Arial" panose="020B0604020202020204" pitchFamily="34" charset="0"/>
                  </a:rPr>
                  <a:t>]=μ:</a:t>
                </a:r>
              </a:p>
              <a:p>
                <a:pPr marL="457200" lvl="1" indent="0">
                  <a:buNone/>
                </a:pPr>
                <a:endParaRPr lang="en-US" dirty="0">
                  <a:latin typeface="Arial" panose="020B0604020202020204" pitchFamily="34" charset="0"/>
                  <a:cs typeface="Arial" panose="020B0604020202020204" pitchFamily="34" charset="0"/>
                </a:endParaRPr>
              </a:p>
              <a:p>
                <a:pPr marL="457200" lvl="1"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𝑋</m:t>
                              </m:r>
                            </m:e>
                          </m:acc>
                        </m:e>
                        <m:sub>
                          <m:r>
                            <a:rPr lang="en-US" i="1">
                              <a:latin typeface="Cambria Math" panose="02040503050406030204" pitchFamily="18" charset="0"/>
                            </a:rPr>
                            <m:t>𝑛</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𝑛</m:t>
                          </m:r>
                        </m:den>
                      </m:f>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𝑛</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sub>
                          </m:sSub>
                        </m:e>
                      </m:nary>
                      <m:r>
                        <a:rPr lang="en-US" b="0" i="1" smtClean="0">
                          <a:latin typeface="Cambria Math" panose="02040503050406030204" pitchFamily="18" charset="0"/>
                        </a:rPr>
                        <m:t>→</m:t>
                      </m:r>
                      <m:r>
                        <a:rPr lang="el-GR" i="1" smtClean="0">
                          <a:latin typeface="Cambria Math" panose="02040503050406030204" pitchFamily="18" charset="0"/>
                          <a:ea typeface="Cambria Math" panose="02040503050406030204" pitchFamily="18" charset="0"/>
                        </a:rPr>
                        <m:t>𝜇</m:t>
                      </m:r>
                      <m:r>
                        <a:rPr lang="en-US" b="0" i="1" smtClean="0">
                          <a:latin typeface="Cambria Math" panose="02040503050406030204" pitchFamily="18" charset="0"/>
                          <a:ea typeface="Cambria Math" panose="02040503050406030204" pitchFamily="18" charset="0"/>
                        </a:rPr>
                        <m:t> </m:t>
                      </m:r>
                      <m:r>
                        <m:rPr>
                          <m:sty m:val="p"/>
                        </m:rPr>
                        <a:rPr lang="en-US" b="0" i="0" smtClean="0">
                          <a:latin typeface="Cambria Math" panose="02040503050406030204" pitchFamily="18" charset="0"/>
                          <a:ea typeface="Cambria Math" panose="02040503050406030204" pitchFamily="18" charset="0"/>
                        </a:rPr>
                        <m:t>as</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 → ∞</m:t>
                      </m:r>
                    </m:oMath>
                  </m:oMathPara>
                </a14:m>
                <a:endParaRPr lang="en-US" dirty="0">
                  <a:latin typeface="Arial" panose="020B0604020202020204" pitchFamily="34" charset="0"/>
                  <a:cs typeface="Arial" panose="020B0604020202020204" pitchFamily="34" charset="0"/>
                </a:endParaRPr>
              </a:p>
              <a:p>
                <a:pPr marL="457200" lvl="1" indent="0">
                  <a:buNone/>
                </a:pPr>
                <a:endParaRPr lang="en-US" dirty="0">
                  <a:latin typeface="Arial" panose="020B0604020202020204" pitchFamily="34" charset="0"/>
                  <a:cs typeface="Arial" panose="020B0604020202020204" pitchFamily="34" charset="0"/>
                </a:endParaRPr>
              </a:p>
            </p:txBody>
          </p:sp>
        </mc:Choice>
        <mc:Fallback>
          <p:sp>
            <p:nvSpPr>
              <p:cNvPr id="3" name="Content Placeholder 2">
                <a:extLst>
                  <a:ext uri="{FF2B5EF4-FFF2-40B4-BE49-F238E27FC236}">
                    <a16:creationId xmlns:a16="http://schemas.microsoft.com/office/drawing/2014/main" id="{368A7A3D-999D-954A-C276-0BF7BA4F6FEF}"/>
                  </a:ext>
                </a:extLst>
              </p:cNvPr>
              <p:cNvSpPr>
                <a:spLocks noGrp="1" noRot="1" noChangeAspect="1" noMove="1" noResize="1" noEditPoints="1" noAdjustHandles="1" noChangeArrowheads="1" noChangeShapeType="1" noTextEdit="1"/>
              </p:cNvSpPr>
              <p:nvPr>
                <p:ph idx="1"/>
              </p:nvPr>
            </p:nvSpPr>
            <p:spPr>
              <a:xfrm>
                <a:off x="390728" y="1471240"/>
                <a:ext cx="10515600" cy="4351338"/>
              </a:xfrm>
              <a:blipFill>
                <a:blip r:embed="rId3"/>
                <a:stretch>
                  <a:fillRect l="-522" t="-1261"/>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4AEB9C66-B1C5-68DE-E340-B9B074F59EC7}"/>
              </a:ext>
            </a:extLst>
          </p:cNvPr>
          <p:cNvSpPr txBox="1"/>
          <p:nvPr/>
        </p:nvSpPr>
        <p:spPr>
          <a:xfrm>
            <a:off x="264842" y="6310919"/>
            <a:ext cx="6116444" cy="369332"/>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CLT makes averages normal, not data normal.</a:t>
            </a:r>
          </a:p>
        </p:txBody>
      </p:sp>
    </p:spTree>
    <p:extLst>
      <p:ext uri="{BB962C8B-B14F-4D97-AF65-F5344CB8AC3E}">
        <p14:creationId xmlns:p14="http://schemas.microsoft.com/office/powerpoint/2010/main" val="2195791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anim calcmode="lin" valueType="num">
                                      <p:cBhvr additive="base">
                                        <p:cTn id="1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anim calcmode="lin" valueType="num">
                                      <p:cBhvr additive="base">
                                        <p:cTn id="1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21C83-55F3-34E5-2844-244CC89685C9}"/>
              </a:ext>
            </a:extLst>
          </p:cNvPr>
          <p:cNvSpPr>
            <a:spLocks noGrp="1"/>
          </p:cNvSpPr>
          <p:nvPr>
            <p:ph type="title"/>
          </p:nvPr>
        </p:nvSpPr>
        <p:spPr>
          <a:xfrm>
            <a:off x="166991" y="170573"/>
            <a:ext cx="10515600" cy="811922"/>
          </a:xfrm>
        </p:spPr>
        <p:txBody>
          <a:bodyPr/>
          <a:lstStyle/>
          <a:p>
            <a:r>
              <a:rPr lang="en-US" dirty="0">
                <a:latin typeface="Aptos Display (Headings)"/>
              </a:rPr>
              <a:t>Central Limit Theorem (CLT)</a:t>
            </a:r>
          </a:p>
        </p:txBody>
      </p:sp>
      <p:sp>
        <p:nvSpPr>
          <p:cNvPr id="3" name="Content Placeholder 2">
            <a:extLst>
              <a:ext uri="{FF2B5EF4-FFF2-40B4-BE49-F238E27FC236}">
                <a16:creationId xmlns:a16="http://schemas.microsoft.com/office/drawing/2014/main" id="{70A75984-21EC-8526-790A-16B5AC774120}"/>
              </a:ext>
            </a:extLst>
          </p:cNvPr>
          <p:cNvSpPr>
            <a:spLocks noGrp="1"/>
          </p:cNvSpPr>
          <p:nvPr>
            <p:ph idx="1"/>
          </p:nvPr>
        </p:nvSpPr>
        <p:spPr>
          <a:xfrm>
            <a:off x="351817" y="982495"/>
            <a:ext cx="10515600" cy="4351338"/>
          </a:xfrm>
        </p:spPr>
        <p:txBody>
          <a:bodyPr>
            <a:normAutofit/>
          </a:bodyPr>
          <a:lstStyle/>
          <a:p>
            <a:r>
              <a:rPr lang="en-US" sz="2000" dirty="0">
                <a:latin typeface="Arial" panose="020B0604020202020204" pitchFamily="34" charset="0"/>
                <a:cs typeface="Arial" panose="020B0604020202020204" pitchFamily="34" charset="0"/>
              </a:rPr>
              <a:t>The CLT tells us that the distribution of the </a:t>
            </a:r>
            <a:r>
              <a:rPr lang="en-US" sz="2000" b="1" u="sng" dirty="0">
                <a:latin typeface="Arial" panose="020B0604020202020204" pitchFamily="34" charset="0"/>
                <a:cs typeface="Arial" panose="020B0604020202020204" pitchFamily="34" charset="0"/>
              </a:rPr>
              <a:t>sample mean </a:t>
            </a:r>
            <a:r>
              <a:rPr lang="en-US" sz="2000" dirty="0">
                <a:latin typeface="Arial" panose="020B0604020202020204" pitchFamily="34" charset="0"/>
                <a:cs typeface="Arial" panose="020B0604020202020204" pitchFamily="34" charset="0"/>
              </a:rPr>
              <a:t>is centered around the true mean</a:t>
            </a:r>
          </a:p>
          <a:p>
            <a:r>
              <a:rPr lang="en-US" sz="2000" dirty="0">
                <a:latin typeface="Arial" panose="020B0604020202020204" pitchFamily="34" charset="0"/>
                <a:cs typeface="Arial" panose="020B0604020202020204" pitchFamily="34" charset="0"/>
              </a:rPr>
              <a:t>The variance of the </a:t>
            </a:r>
            <a:r>
              <a:rPr lang="en-US" sz="2000" b="1" u="sng" dirty="0">
                <a:latin typeface="Arial" panose="020B0604020202020204" pitchFamily="34" charset="0"/>
                <a:cs typeface="Arial" panose="020B0604020202020204" pitchFamily="34" charset="0"/>
              </a:rPr>
              <a:t>sample mean </a:t>
            </a:r>
            <a:r>
              <a:rPr lang="en-US" sz="2000" dirty="0">
                <a:latin typeface="Arial" panose="020B0604020202020204" pitchFamily="34" charset="0"/>
                <a:cs typeface="Arial" panose="020B0604020202020204" pitchFamily="34" charset="0"/>
              </a:rPr>
              <a:t>decreases as </a:t>
            </a:r>
            <a:r>
              <a:rPr lang="en-US" sz="2000" i="1" dirty="0">
                <a:latin typeface="Arial" panose="020B0604020202020204" pitchFamily="34" charset="0"/>
                <a:cs typeface="Arial" panose="020B0604020202020204" pitchFamily="34" charset="0"/>
              </a:rPr>
              <a:t>n</a:t>
            </a:r>
            <a:r>
              <a:rPr lang="en-US" sz="2000" dirty="0">
                <a:latin typeface="Arial" panose="020B0604020202020204" pitchFamily="34" charset="0"/>
                <a:cs typeface="Arial" panose="020B0604020202020204" pitchFamily="34" charset="0"/>
              </a:rPr>
              <a:t> increases</a:t>
            </a:r>
          </a:p>
          <a:p>
            <a:r>
              <a:rPr lang="en-US" sz="2000" dirty="0">
                <a:latin typeface="Arial" panose="020B0604020202020204" pitchFamily="34" charset="0"/>
                <a:cs typeface="Arial" panose="020B0604020202020204" pitchFamily="34" charset="0"/>
              </a:rPr>
              <a:t>With normality approximation of the sampling distribution, we can perform interval estimation around the </a:t>
            </a:r>
            <a:r>
              <a:rPr lang="en-US" sz="2000" b="1" u="sng" dirty="0">
                <a:latin typeface="Arial" panose="020B0604020202020204" pitchFamily="34" charset="0"/>
                <a:cs typeface="Arial" panose="020B0604020202020204" pitchFamily="34" charset="0"/>
              </a:rPr>
              <a:t>population mean</a:t>
            </a:r>
          </a:p>
          <a:p>
            <a:r>
              <a:rPr lang="en-US" sz="2000" dirty="0">
                <a:latin typeface="Arial" panose="020B0604020202020204" pitchFamily="34" charset="0"/>
                <a:cs typeface="Arial" panose="020B0604020202020204" pitchFamily="34" charset="0"/>
              </a:rPr>
              <a:t>The </a:t>
            </a:r>
            <a:r>
              <a:rPr lang="en-US" sz="2000" b="1" dirty="0">
                <a:latin typeface="Arial" panose="020B0604020202020204" pitchFamily="34" charset="0"/>
                <a:cs typeface="Arial" panose="020B0604020202020204" pitchFamily="34" charset="0"/>
              </a:rPr>
              <a:t>Central Limit Theorem (CLT)</a:t>
            </a:r>
            <a:r>
              <a:rPr lang="en-US" sz="2000" dirty="0">
                <a:latin typeface="Arial" panose="020B0604020202020204" pitchFamily="34" charset="0"/>
                <a:cs typeface="Arial" panose="020B0604020202020204" pitchFamily="34" charset="0"/>
              </a:rPr>
              <a:t> has profound implications for confidence intervals and sampling distributions in statistics</a:t>
            </a:r>
            <a:endParaRPr lang="en-US" sz="2000" b="1" u="sng"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318581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FC719-8F6A-81CF-E7E8-34D2AAA5F9ED}"/>
              </a:ext>
            </a:extLst>
          </p:cNvPr>
          <p:cNvSpPr>
            <a:spLocks noGrp="1"/>
          </p:cNvSpPr>
          <p:nvPr>
            <p:ph type="title"/>
          </p:nvPr>
        </p:nvSpPr>
        <p:spPr>
          <a:xfrm>
            <a:off x="157264" y="180301"/>
            <a:ext cx="10515600" cy="753556"/>
          </a:xfrm>
        </p:spPr>
        <p:txBody>
          <a:bodyPr/>
          <a:lstStyle/>
          <a:p>
            <a:r>
              <a:rPr lang="en-US" dirty="0">
                <a:latin typeface="Aptos Display (Headings)"/>
              </a:rPr>
              <a:t>Implications for Sampling Distributions</a:t>
            </a:r>
          </a:p>
        </p:txBody>
      </p:sp>
      <p:sp>
        <p:nvSpPr>
          <p:cNvPr id="3" name="Content Placeholder 2">
            <a:extLst>
              <a:ext uri="{FF2B5EF4-FFF2-40B4-BE49-F238E27FC236}">
                <a16:creationId xmlns:a16="http://schemas.microsoft.com/office/drawing/2014/main" id="{D5FF0AE8-4603-D214-711A-F40F53E8DA3E}"/>
              </a:ext>
            </a:extLst>
          </p:cNvPr>
          <p:cNvSpPr>
            <a:spLocks noGrp="1"/>
          </p:cNvSpPr>
          <p:nvPr>
            <p:ph idx="1"/>
          </p:nvPr>
        </p:nvSpPr>
        <p:spPr>
          <a:xfrm>
            <a:off x="332362" y="933857"/>
            <a:ext cx="10515600" cy="4351338"/>
          </a:xfrm>
        </p:spPr>
        <p:txBody>
          <a:bodyPr>
            <a:normAutofit/>
          </a:bodyPr>
          <a:lstStyle/>
          <a:p>
            <a:r>
              <a:rPr lang="en-US" sz="2000" dirty="0">
                <a:latin typeface="Arial" panose="020B0604020202020204" pitchFamily="34" charset="0"/>
                <a:cs typeface="Arial" panose="020B0604020202020204" pitchFamily="34" charset="0"/>
              </a:rPr>
              <a:t>The CLT states that, for a sufficiently large sample size, the </a:t>
            </a:r>
            <a:r>
              <a:rPr lang="en-US" sz="2000" b="1" dirty="0">
                <a:latin typeface="Arial" panose="020B0604020202020204" pitchFamily="34" charset="0"/>
                <a:cs typeface="Arial" panose="020B0604020202020204" pitchFamily="34" charset="0"/>
              </a:rPr>
              <a:t>sampling distribution of the sample mean</a:t>
            </a:r>
            <a:r>
              <a:rPr lang="en-US" sz="2000" dirty="0">
                <a:latin typeface="Arial" panose="020B0604020202020204" pitchFamily="34" charset="0"/>
                <a:cs typeface="Arial" panose="020B0604020202020204" pitchFamily="34" charset="0"/>
              </a:rPr>
              <a:t> will be approximately </a:t>
            </a:r>
            <a:r>
              <a:rPr lang="en-US" sz="2000" b="1" dirty="0">
                <a:latin typeface="Arial" panose="020B0604020202020204" pitchFamily="34" charset="0"/>
                <a:cs typeface="Arial" panose="020B0604020202020204" pitchFamily="34" charset="0"/>
              </a:rPr>
              <a:t>normal</a:t>
            </a:r>
            <a:r>
              <a:rPr lang="en-US" sz="2000" dirty="0">
                <a:latin typeface="Arial" panose="020B0604020202020204" pitchFamily="34" charset="0"/>
                <a:cs typeface="Arial" panose="020B0604020202020204" pitchFamily="34" charset="0"/>
              </a:rPr>
              <a:t>, regardless of the shape of the population distribution.</a:t>
            </a:r>
          </a:p>
          <a:p>
            <a:r>
              <a:rPr lang="en-US" sz="2000" dirty="0">
                <a:latin typeface="Arial" panose="020B0604020202020204" pitchFamily="34" charset="0"/>
                <a:cs typeface="Arial" panose="020B0604020202020204" pitchFamily="34" charset="0"/>
              </a:rPr>
              <a:t>This allows us to make statistical inferences even when the original population distribution is </a:t>
            </a:r>
            <a:r>
              <a:rPr lang="en-US" sz="2000" b="1" dirty="0">
                <a:latin typeface="Arial" panose="020B0604020202020204" pitchFamily="34" charset="0"/>
                <a:cs typeface="Arial" panose="020B0604020202020204" pitchFamily="34" charset="0"/>
              </a:rPr>
              <a:t>skewed, bimodal, or non-normal</a:t>
            </a:r>
            <a:r>
              <a:rPr lang="en-US" sz="2000" dirty="0">
                <a:latin typeface="Arial" panose="020B0604020202020204" pitchFamily="34" charset="0"/>
                <a:cs typeface="Arial" panose="020B0604020202020204" pitchFamily="34" charset="0"/>
              </a:rPr>
              <a:t>.</a:t>
            </a:r>
          </a:p>
          <a:p>
            <a:r>
              <a:rPr lang="en-US" sz="2000" dirty="0">
                <a:latin typeface="Arial" panose="020B0604020202020204" pitchFamily="34" charset="0"/>
                <a:cs typeface="Arial" panose="020B0604020202020204" pitchFamily="34" charset="0"/>
              </a:rPr>
              <a:t>The </a:t>
            </a:r>
            <a:r>
              <a:rPr lang="en-US" sz="2000" b="1" dirty="0">
                <a:latin typeface="Arial" panose="020B0604020202020204" pitchFamily="34" charset="0"/>
                <a:cs typeface="Arial" panose="020B0604020202020204" pitchFamily="34" charset="0"/>
              </a:rPr>
              <a:t>larger the sample size</a:t>
            </a:r>
            <a:r>
              <a:rPr lang="en-US" sz="2000" dirty="0">
                <a:latin typeface="Arial" panose="020B0604020202020204" pitchFamily="34" charset="0"/>
                <a:cs typeface="Arial" panose="020B0604020202020204" pitchFamily="34" charset="0"/>
              </a:rPr>
              <a:t>, the closer the sampling distribution will be to normality.</a:t>
            </a:r>
          </a:p>
          <a:p>
            <a:pPr lvl="1"/>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327518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D7744-ADE5-9A53-8659-38BC28FA7CDD}"/>
              </a:ext>
            </a:extLst>
          </p:cNvPr>
          <p:cNvSpPr>
            <a:spLocks noGrp="1"/>
          </p:cNvSpPr>
          <p:nvPr>
            <p:ph type="title"/>
          </p:nvPr>
        </p:nvSpPr>
        <p:spPr>
          <a:xfrm>
            <a:off x="128081" y="190027"/>
            <a:ext cx="10515600" cy="773011"/>
          </a:xfrm>
        </p:spPr>
        <p:txBody>
          <a:bodyPr/>
          <a:lstStyle/>
          <a:p>
            <a:r>
              <a:rPr lang="en-US" dirty="0">
                <a:latin typeface="Aptos Display (Headings)"/>
              </a:rPr>
              <a:t>Implications for Confidence Intervals</a:t>
            </a:r>
          </a:p>
        </p:txBody>
      </p:sp>
      <p:sp>
        <p:nvSpPr>
          <p:cNvPr id="3" name="Content Placeholder 2">
            <a:extLst>
              <a:ext uri="{FF2B5EF4-FFF2-40B4-BE49-F238E27FC236}">
                <a16:creationId xmlns:a16="http://schemas.microsoft.com/office/drawing/2014/main" id="{B24DD91D-A4CE-DBAF-107C-137F79F446D1}"/>
              </a:ext>
            </a:extLst>
          </p:cNvPr>
          <p:cNvSpPr>
            <a:spLocks noGrp="1"/>
          </p:cNvSpPr>
          <p:nvPr>
            <p:ph idx="1"/>
          </p:nvPr>
        </p:nvSpPr>
        <p:spPr>
          <a:xfrm>
            <a:off x="225358" y="1105778"/>
            <a:ext cx="10515600" cy="4351338"/>
          </a:xfrm>
        </p:spPr>
        <p:txBody>
          <a:bodyPr>
            <a:normAutofit/>
          </a:bodyPr>
          <a:lstStyle/>
          <a:p>
            <a:r>
              <a:rPr lang="en-US" sz="2000" dirty="0">
                <a:latin typeface="Arial" panose="020B0604020202020204" pitchFamily="34" charset="0"/>
                <a:cs typeface="Arial" panose="020B0604020202020204" pitchFamily="34" charset="0"/>
              </a:rPr>
              <a:t>Confidence intervals (CIs) rely on the assumption that the sampling distribution of the mean is normal</a:t>
            </a:r>
          </a:p>
          <a:p>
            <a:pPr lvl="1"/>
            <a:r>
              <a:rPr lang="en-US" sz="2000" dirty="0">
                <a:latin typeface="Arial" panose="020B0604020202020204" pitchFamily="34" charset="0"/>
                <a:cs typeface="Arial" panose="020B0604020202020204" pitchFamily="34" charset="0"/>
              </a:rPr>
              <a:t>Because of the CLT, we can use the normal distribution (Z-distribution, t-distribution) to compute confidence intervals for population parameters, even if the underlying population is non-normal</a:t>
            </a:r>
          </a:p>
          <a:p>
            <a:pPr lvl="1"/>
            <a:r>
              <a:rPr lang="en-US" sz="2000" dirty="0">
                <a:latin typeface="Arial" panose="020B0604020202020204" pitchFamily="34" charset="0"/>
                <a:cs typeface="Arial" panose="020B0604020202020204" pitchFamily="34" charset="0"/>
              </a:rPr>
              <a:t>As sample size increases:</a:t>
            </a:r>
          </a:p>
          <a:p>
            <a:pPr lvl="2"/>
            <a:r>
              <a:rPr lang="en-US" dirty="0">
                <a:latin typeface="Arial" panose="020B0604020202020204" pitchFamily="34" charset="0"/>
                <a:cs typeface="Arial" panose="020B0604020202020204" pitchFamily="34" charset="0"/>
              </a:rPr>
              <a:t>The standard error (𝜎/𝑛) decreases, leading to narrower confidence intervals (greater precision)</a:t>
            </a:r>
          </a:p>
          <a:p>
            <a:pPr lvl="2"/>
            <a:r>
              <a:rPr lang="en-US" dirty="0">
                <a:latin typeface="Arial" panose="020B0604020202020204" pitchFamily="34" charset="0"/>
                <a:cs typeface="Arial" panose="020B0604020202020204" pitchFamily="34" charset="0"/>
              </a:rPr>
              <a:t>The sampling distribution becomes more normal, making parametric inference more reliable</a:t>
            </a:r>
          </a:p>
        </p:txBody>
      </p:sp>
    </p:spTree>
    <p:extLst>
      <p:ext uri="{BB962C8B-B14F-4D97-AF65-F5344CB8AC3E}">
        <p14:creationId xmlns:p14="http://schemas.microsoft.com/office/powerpoint/2010/main" val="452130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 calcmode="lin" valueType="num">
                                      <p:cBhvr additive="base">
                                        <p:cTn id="2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E4FA8-5903-D6D6-31BE-2D30BD9B8DCE}"/>
              </a:ext>
            </a:extLst>
          </p:cNvPr>
          <p:cNvSpPr>
            <a:spLocks noGrp="1"/>
          </p:cNvSpPr>
          <p:nvPr>
            <p:ph type="title"/>
          </p:nvPr>
        </p:nvSpPr>
        <p:spPr>
          <a:xfrm>
            <a:off x="215630" y="151117"/>
            <a:ext cx="10515600" cy="773011"/>
          </a:xfrm>
        </p:spPr>
        <p:txBody>
          <a:bodyPr/>
          <a:lstStyle/>
          <a:p>
            <a:r>
              <a:rPr lang="en-US" dirty="0">
                <a:latin typeface="Aptos Display (Headings)"/>
              </a:rPr>
              <a:t>Practical Considerations</a:t>
            </a:r>
          </a:p>
        </p:txBody>
      </p:sp>
      <p:sp>
        <p:nvSpPr>
          <p:cNvPr id="3" name="Content Placeholder 2">
            <a:extLst>
              <a:ext uri="{FF2B5EF4-FFF2-40B4-BE49-F238E27FC236}">
                <a16:creationId xmlns:a16="http://schemas.microsoft.com/office/drawing/2014/main" id="{53807FB9-3F41-77AD-E0E7-AA06452D3DF0}"/>
              </a:ext>
            </a:extLst>
          </p:cNvPr>
          <p:cNvSpPr>
            <a:spLocks noGrp="1"/>
          </p:cNvSpPr>
          <p:nvPr>
            <p:ph idx="1"/>
          </p:nvPr>
        </p:nvSpPr>
        <p:spPr>
          <a:xfrm>
            <a:off x="215630" y="989047"/>
            <a:ext cx="10515600" cy="4351338"/>
          </a:xfrm>
        </p:spPr>
        <p:txBody>
          <a:bodyPr>
            <a:normAutofit/>
          </a:bodyPr>
          <a:lstStyle/>
          <a:p>
            <a:r>
              <a:rPr lang="en-US" sz="2000" b="1" dirty="0">
                <a:latin typeface="Arial" panose="020B0604020202020204" pitchFamily="34" charset="0"/>
                <a:cs typeface="Arial" panose="020B0604020202020204" pitchFamily="34" charset="0"/>
              </a:rPr>
              <a:t>Small Sample Sizes (𝑛&lt;30): </a:t>
            </a:r>
            <a:r>
              <a:rPr lang="en-US" sz="2000" dirty="0">
                <a:latin typeface="Arial" panose="020B0604020202020204" pitchFamily="34" charset="0"/>
                <a:cs typeface="Arial" panose="020B0604020202020204" pitchFamily="34" charset="0"/>
              </a:rPr>
              <a:t>If the population is normal, the sampling distribution is also normal, and confidence intervals can be computed using the t-distribution</a:t>
            </a:r>
          </a:p>
          <a:p>
            <a:r>
              <a:rPr lang="en-US" sz="2000" b="1" dirty="0">
                <a:latin typeface="Arial" panose="020B0604020202020204" pitchFamily="34" charset="0"/>
                <a:cs typeface="Arial" panose="020B0604020202020204" pitchFamily="34" charset="0"/>
              </a:rPr>
              <a:t>Large Sample Sizes (𝑛≥30): </a:t>
            </a:r>
            <a:r>
              <a:rPr lang="en-US" sz="2000" dirty="0">
                <a:latin typeface="Arial" panose="020B0604020202020204" pitchFamily="34" charset="0"/>
                <a:cs typeface="Arial" panose="020B0604020202020204" pitchFamily="34" charset="0"/>
              </a:rPr>
              <a:t>The CLT ensures that the sampling distribution is approximately normal, even if the population is not (?)</a:t>
            </a:r>
          </a:p>
          <a:p>
            <a:r>
              <a:rPr lang="en-US" sz="2000" b="1" dirty="0">
                <a:latin typeface="Arial" panose="020B0604020202020204" pitchFamily="34" charset="0"/>
                <a:cs typeface="Arial" panose="020B0604020202020204" pitchFamily="34" charset="0"/>
              </a:rPr>
              <a:t>Skewed or Heavy-Tailed Distributions: </a:t>
            </a:r>
            <a:r>
              <a:rPr lang="en-US" sz="2000" dirty="0">
                <a:latin typeface="Arial" panose="020B0604020202020204" pitchFamily="34" charset="0"/>
                <a:cs typeface="Arial" panose="020B0604020202020204" pitchFamily="34" charset="0"/>
              </a:rPr>
              <a:t>A larger sample size is needed (e.g., 𝑛≥50 or more) for the CLT to take effect</a:t>
            </a:r>
          </a:p>
        </p:txBody>
      </p:sp>
      <p:sp>
        <p:nvSpPr>
          <p:cNvPr id="5" name="TextBox 4">
            <a:extLst>
              <a:ext uri="{FF2B5EF4-FFF2-40B4-BE49-F238E27FC236}">
                <a16:creationId xmlns:a16="http://schemas.microsoft.com/office/drawing/2014/main" id="{855A6B0F-E453-A2AA-4484-D1EB6E3C9511}"/>
              </a:ext>
            </a:extLst>
          </p:cNvPr>
          <p:cNvSpPr txBox="1"/>
          <p:nvPr/>
        </p:nvSpPr>
        <p:spPr>
          <a:xfrm>
            <a:off x="490652" y="5467995"/>
            <a:ext cx="10794381" cy="646331"/>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We don’t need data to be normal; we need the </a:t>
            </a:r>
            <a:r>
              <a:rPr lang="en-US" b="1" dirty="0">
                <a:latin typeface="Arial" panose="020B0604020202020204" pitchFamily="34" charset="0"/>
                <a:cs typeface="Arial" panose="020B0604020202020204" pitchFamily="34" charset="0"/>
              </a:rPr>
              <a:t>sampling distribution</a:t>
            </a:r>
            <a:r>
              <a:rPr lang="en-US" dirty="0">
                <a:latin typeface="Arial" panose="020B0604020202020204" pitchFamily="34" charset="0"/>
                <a:cs typeface="Arial" panose="020B0604020202020204" pitchFamily="34" charset="0"/>
              </a:rPr>
              <a:t> to be normal. With large samples, CLT handles this. With small samples, normality assumptions matter.</a:t>
            </a:r>
          </a:p>
        </p:txBody>
      </p:sp>
    </p:spTree>
    <p:extLst>
      <p:ext uri="{BB962C8B-B14F-4D97-AF65-F5344CB8AC3E}">
        <p14:creationId xmlns:p14="http://schemas.microsoft.com/office/powerpoint/2010/main" val="3266690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7F52AEAF-79A2-AC3B-9239-26235CE783D9}"/>
                  </a:ext>
                </a:extLst>
              </p:cNvPr>
              <p:cNvSpPr>
                <a:spLocks noGrp="1"/>
              </p:cNvSpPr>
              <p:nvPr>
                <p:ph type="title"/>
              </p:nvPr>
            </p:nvSpPr>
            <p:spPr>
              <a:xfrm>
                <a:off x="215629" y="199755"/>
                <a:ext cx="10515600" cy="763284"/>
              </a:xfrm>
            </p:spPr>
            <p:txBody>
              <a:bodyPr/>
              <a:lstStyle/>
              <a:p>
                <a:r>
                  <a:rPr lang="en-US" dirty="0">
                    <a:latin typeface="Aptos Display (Headings)"/>
                  </a:rPr>
                  <a:t>Constructing Confidence Intervals (CIs) for </a:t>
                </a:r>
                <a14:m>
                  <m:oMath xmlns:m="http://schemas.openxmlformats.org/officeDocument/2006/math">
                    <m:r>
                      <a:rPr lang="en-US" i="1" smtClean="0">
                        <a:latin typeface="Cambria Math" panose="02040503050406030204" pitchFamily="18" charset="0"/>
                        <a:ea typeface="Cambria Math" panose="02040503050406030204" pitchFamily="18" charset="0"/>
                      </a:rPr>
                      <m:t>𝜇</m:t>
                    </m:r>
                  </m:oMath>
                </a14:m>
                <a:r>
                  <a:rPr lang="en-US" dirty="0">
                    <a:latin typeface="Aptos Display (Headings)"/>
                  </a:rPr>
                  <a:t> </a:t>
                </a:r>
              </a:p>
            </p:txBody>
          </p:sp>
        </mc:Choice>
        <mc:Fallback xmlns="">
          <p:sp>
            <p:nvSpPr>
              <p:cNvPr id="2" name="Title 1">
                <a:extLst>
                  <a:ext uri="{FF2B5EF4-FFF2-40B4-BE49-F238E27FC236}">
                    <a16:creationId xmlns:a16="http://schemas.microsoft.com/office/drawing/2014/main" id="{7F52AEAF-79A2-AC3B-9239-26235CE783D9}"/>
                  </a:ext>
                </a:extLst>
              </p:cNvPr>
              <p:cNvSpPr>
                <a:spLocks noGrp="1" noRot="1" noChangeAspect="1" noMove="1" noResize="1" noEditPoints="1" noAdjustHandles="1" noChangeArrowheads="1" noChangeShapeType="1" noTextEdit="1"/>
              </p:cNvSpPr>
              <p:nvPr>
                <p:ph type="title"/>
              </p:nvPr>
            </p:nvSpPr>
            <p:spPr>
              <a:xfrm>
                <a:off x="215629" y="199755"/>
                <a:ext cx="10515600" cy="763284"/>
              </a:xfrm>
              <a:blipFill>
                <a:blip r:embed="rId2"/>
                <a:stretch>
                  <a:fillRect l="-2319" t="-20000" b="-344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3442F15A-4DFF-8795-C778-707A666ED6BC}"/>
                  </a:ext>
                </a:extLst>
              </p:cNvPr>
              <p:cNvSpPr>
                <a:spLocks noGrp="1"/>
              </p:cNvSpPr>
              <p:nvPr>
                <p:ph idx="1"/>
              </p:nvPr>
            </p:nvSpPr>
            <p:spPr>
              <a:xfrm>
                <a:off x="381000" y="1037684"/>
                <a:ext cx="10515600" cy="4351338"/>
              </a:xfrm>
            </p:spPr>
            <p:txBody>
              <a:bodyPr>
                <a:normAutofit/>
              </a:bodyPr>
              <a:lstStyle/>
              <a:p>
                <a:r>
                  <a:rPr lang="en-US" sz="2000" b="1" dirty="0">
                    <a:latin typeface="Arial" panose="020B0604020202020204" pitchFamily="34" charset="0"/>
                    <a:cs typeface="Arial" panose="020B0604020202020204" pitchFamily="34" charset="0"/>
                  </a:rPr>
                  <a:t>Example</a:t>
                </a:r>
                <a:r>
                  <a:rPr lang="en-US" sz="2000" dirty="0">
                    <a:latin typeface="Arial" panose="020B0604020202020204" pitchFamily="34" charset="0"/>
                    <a:cs typeface="Arial" panose="020B0604020202020204" pitchFamily="34" charset="0"/>
                  </a:rPr>
                  <a:t>: assume the population variance </a:t>
                </a:r>
                <a14:m>
                  <m:oMath xmlns:m="http://schemas.openxmlformats.org/officeDocument/2006/math">
                    <m:sSup>
                      <m:sSupPr>
                        <m:ctrlPr>
                          <a:rPr lang="en-US" sz="2000" i="1" smtClean="0">
                            <a:latin typeface="Cambria Math" panose="02040503050406030204" pitchFamily="18" charset="0"/>
                          </a:rPr>
                        </m:ctrlPr>
                      </m:sSupPr>
                      <m:e>
                        <m:r>
                          <a:rPr lang="en-US" sz="2000" i="1" smtClean="0">
                            <a:latin typeface="Cambria Math" panose="02040503050406030204" pitchFamily="18" charset="0"/>
                            <a:ea typeface="Cambria Math" panose="02040503050406030204" pitchFamily="18" charset="0"/>
                          </a:rPr>
                          <m:t>𝜎</m:t>
                        </m:r>
                      </m:e>
                      <m:sup>
                        <m:r>
                          <a:rPr lang="en-US" sz="2000" b="0" i="1" smtClean="0">
                            <a:latin typeface="Cambria Math" panose="02040503050406030204" pitchFamily="18" charset="0"/>
                          </a:rPr>
                          <m:t>2</m:t>
                        </m:r>
                      </m:sup>
                    </m:sSup>
                    <m:r>
                      <a:rPr lang="en-US" sz="2000" b="0" i="1" smtClean="0">
                        <a:latin typeface="Cambria Math" panose="02040503050406030204" pitchFamily="18" charset="0"/>
                      </a:rPr>
                      <m:t> </m:t>
                    </m:r>
                  </m:oMath>
                </a14:m>
                <a:r>
                  <a:rPr lang="en-US" sz="2000" dirty="0">
                    <a:latin typeface="Arial" panose="020B0604020202020204" pitchFamily="34" charset="0"/>
                    <a:cs typeface="Arial" panose="020B0604020202020204" pitchFamily="34" charset="0"/>
                  </a:rPr>
                  <a:t>is known</a:t>
                </a:r>
              </a:p>
              <a:p>
                <a:r>
                  <a:rPr lang="en-US" sz="2000" dirty="0">
                    <a:latin typeface="Arial" panose="020B0604020202020204" pitchFamily="34" charset="0"/>
                    <a:cs typeface="Arial" panose="020B0604020202020204" pitchFamily="34" charset="0"/>
                  </a:rPr>
                  <a:t>Then a </a:t>
                </a:r>
                <a14:m>
                  <m:oMath xmlns:m="http://schemas.openxmlformats.org/officeDocument/2006/math">
                    <m:d>
                      <m:dPr>
                        <m:ctrlPr>
                          <a:rPr lang="en-US" sz="2000" b="0" i="1" smtClean="0">
                            <a:latin typeface="Cambria Math" panose="02040503050406030204" pitchFamily="18" charset="0"/>
                          </a:rPr>
                        </m:ctrlPr>
                      </m:dPr>
                      <m:e>
                        <m:r>
                          <a:rPr lang="en-US" sz="2000" b="0" i="1" smtClean="0">
                            <a:latin typeface="Cambria Math" panose="02040503050406030204" pitchFamily="18" charset="0"/>
                          </a:rPr>
                          <m:t>1−</m:t>
                        </m:r>
                        <m:r>
                          <a:rPr lang="en-US" sz="2000" b="0" i="1" smtClean="0">
                            <a:latin typeface="Cambria Math" panose="02040503050406030204" pitchFamily="18" charset="0"/>
                            <a:ea typeface="Cambria Math" panose="02040503050406030204" pitchFamily="18" charset="0"/>
                          </a:rPr>
                          <m:t>𝛼</m:t>
                        </m:r>
                      </m:e>
                    </m:d>
                    <m:r>
                      <a:rPr lang="en-US" sz="2000" b="0" i="1" smtClean="0">
                        <a:latin typeface="Cambria Math" panose="02040503050406030204" pitchFamily="18" charset="0"/>
                        <a:ea typeface="Cambria Math" panose="02040503050406030204" pitchFamily="18" charset="0"/>
                      </a:rPr>
                      <m:t> × 100%</m:t>
                    </m:r>
                  </m:oMath>
                </a14:m>
                <a:r>
                  <a:rPr lang="en-US" sz="2000" dirty="0">
                    <a:latin typeface="Arial" panose="020B0604020202020204" pitchFamily="34" charset="0"/>
                    <a:cs typeface="Arial" panose="020B0604020202020204" pitchFamily="34" charset="0"/>
                  </a:rPr>
                  <a:t> CI for </a:t>
                </a:r>
                <a14:m>
                  <m:oMath xmlns:m="http://schemas.openxmlformats.org/officeDocument/2006/math">
                    <m:r>
                      <a:rPr lang="en-US" sz="2000" i="1" smtClean="0">
                        <a:latin typeface="Cambria Math" panose="02040503050406030204" pitchFamily="18" charset="0"/>
                        <a:ea typeface="Cambria Math" panose="02040503050406030204" pitchFamily="18" charset="0"/>
                      </a:rPr>
                      <m:t>𝜇</m:t>
                    </m:r>
                  </m:oMath>
                </a14:m>
                <a:r>
                  <a:rPr lang="en-US" sz="2000" dirty="0">
                    <a:latin typeface="Arial" panose="020B0604020202020204" pitchFamily="34" charset="0"/>
                    <a:cs typeface="Arial" panose="020B0604020202020204" pitchFamily="34" charset="0"/>
                  </a:rPr>
                  <a:t> is defined as:</a:t>
                </a:r>
              </a:p>
              <a:p>
                <a:pPr marL="0" indent="0" algn="ctr">
                  <a:buNone/>
                </a:pPr>
                <a:endParaRPr lang="en-US" sz="2000" i="1" dirty="0">
                  <a:latin typeface="Arial" panose="020B0604020202020204" pitchFamily="34" charset="0"/>
                  <a:cs typeface="Arial" panose="020B0604020202020204" pitchFamily="34" charset="0"/>
                </a:endParaRPr>
              </a:p>
              <a:p>
                <a:pPr marL="0" indent="0" algn="ctr">
                  <a:buNone/>
                </a:pPr>
                <a14:m>
                  <m:oMath xmlns:m="http://schemas.openxmlformats.org/officeDocument/2006/math">
                    <m:d>
                      <m:dPr>
                        <m:begChr m:val="["/>
                        <m:endChr m:val="]"/>
                        <m:ctrlPr>
                          <a:rPr lang="en-US" sz="2000" i="1" smtClean="0">
                            <a:latin typeface="Cambria Math" panose="02040503050406030204" pitchFamily="18" charset="0"/>
                          </a:rPr>
                        </m:ctrlPr>
                      </m:dPr>
                      <m:e>
                        <m:sSub>
                          <m:sSubPr>
                            <m:ctrlPr>
                              <a:rPr lang="en-US" sz="2000" i="1" smtClean="0">
                                <a:latin typeface="Cambria Math" panose="02040503050406030204" pitchFamily="18" charset="0"/>
                              </a:rPr>
                            </m:ctrlPr>
                          </m:sSubPr>
                          <m:e>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𝑋</m:t>
                                </m:r>
                              </m:e>
                            </m:acc>
                          </m:e>
                          <m:sub>
                            <m:r>
                              <a:rPr lang="en-US" sz="2000" b="0" i="1" smtClean="0">
                                <a:latin typeface="Cambria Math" panose="02040503050406030204" pitchFamily="18" charset="0"/>
                              </a:rPr>
                              <m:t>𝑛</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𝑧</m:t>
                            </m:r>
                          </m:e>
                          <m:sub>
                            <m:f>
                              <m:fPr>
                                <m:ctrlPr>
                                  <a:rPr lang="en-US" sz="2000" b="0" i="1" smtClean="0">
                                    <a:latin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𝛼</m:t>
                                </m:r>
                              </m:num>
                              <m:den>
                                <m:r>
                                  <a:rPr lang="en-US" sz="2000" b="0" i="1" smtClean="0">
                                    <a:latin typeface="Cambria Math" panose="02040503050406030204" pitchFamily="18" charset="0"/>
                                  </a:rPr>
                                  <m:t>2</m:t>
                                </m:r>
                              </m:den>
                            </m:f>
                          </m:sub>
                        </m:sSub>
                        <m:f>
                          <m:fPr>
                            <m:ctrlPr>
                              <a:rPr lang="en-US" sz="2000" b="0" i="1" smtClean="0">
                                <a:latin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𝜎</m:t>
                            </m:r>
                          </m:num>
                          <m:den>
                            <m:rad>
                              <m:radPr>
                                <m:degHide m:val="on"/>
                                <m:ctrlPr>
                                  <a:rPr lang="en-US" sz="2000" b="0" i="1" smtClean="0">
                                    <a:latin typeface="Cambria Math" panose="02040503050406030204" pitchFamily="18" charset="0"/>
                                  </a:rPr>
                                </m:ctrlPr>
                              </m:radPr>
                              <m:deg/>
                              <m:e>
                                <m:r>
                                  <a:rPr lang="en-US" sz="2000" b="0" i="1" smtClean="0">
                                    <a:latin typeface="Cambria Math" panose="02040503050406030204" pitchFamily="18" charset="0"/>
                                  </a:rPr>
                                  <m:t>𝑛</m:t>
                                </m:r>
                              </m:e>
                            </m:rad>
                          </m:den>
                        </m:f>
                        <m:r>
                          <a:rPr lang="en-US" sz="2000" b="0" i="1" smtClean="0">
                            <a:latin typeface="Cambria Math" panose="02040503050406030204" pitchFamily="18" charset="0"/>
                          </a:rPr>
                          <m:t>,</m:t>
                        </m:r>
                        <m:sSub>
                          <m:sSubPr>
                            <m:ctrlPr>
                              <a:rPr lang="en-US" sz="2000" i="1" smtClean="0">
                                <a:latin typeface="Cambria Math" panose="02040503050406030204" pitchFamily="18" charset="0"/>
                              </a:rPr>
                            </m:ctrlPr>
                          </m:sSubPr>
                          <m:e>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𝑋</m:t>
                                </m:r>
                              </m:e>
                            </m:acc>
                          </m:e>
                          <m:sub>
                            <m:r>
                              <a:rPr lang="en-US" sz="2000" b="0" i="1" smtClean="0">
                                <a:latin typeface="Cambria Math" panose="02040503050406030204" pitchFamily="18" charset="0"/>
                              </a:rPr>
                              <m:t>𝑛</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𝑧</m:t>
                            </m:r>
                          </m:e>
                          <m:sub>
                            <m:f>
                              <m:fPr>
                                <m:ctrlPr>
                                  <a:rPr lang="en-US" sz="2000" b="0" i="1" smtClean="0">
                                    <a:latin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𝛼</m:t>
                                </m:r>
                              </m:num>
                              <m:den>
                                <m:r>
                                  <a:rPr lang="en-US" sz="2000" b="0" i="1" smtClean="0">
                                    <a:latin typeface="Cambria Math" panose="02040503050406030204" pitchFamily="18" charset="0"/>
                                  </a:rPr>
                                  <m:t>2</m:t>
                                </m:r>
                              </m:den>
                            </m:f>
                          </m:sub>
                        </m:sSub>
                        <m:f>
                          <m:fPr>
                            <m:ctrlPr>
                              <a:rPr lang="en-US" sz="2000" b="0" i="1" smtClean="0">
                                <a:latin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𝜎</m:t>
                            </m:r>
                          </m:num>
                          <m:den>
                            <m:rad>
                              <m:radPr>
                                <m:degHide m:val="on"/>
                                <m:ctrlPr>
                                  <a:rPr lang="en-US" sz="2000" b="0" i="1" smtClean="0">
                                    <a:latin typeface="Cambria Math" panose="02040503050406030204" pitchFamily="18" charset="0"/>
                                  </a:rPr>
                                </m:ctrlPr>
                              </m:radPr>
                              <m:deg/>
                              <m:e>
                                <m:r>
                                  <a:rPr lang="en-US" sz="2000" b="0" i="1" smtClean="0">
                                    <a:latin typeface="Cambria Math" panose="02040503050406030204" pitchFamily="18" charset="0"/>
                                  </a:rPr>
                                  <m:t>𝑛</m:t>
                                </m:r>
                              </m:e>
                            </m:rad>
                          </m:den>
                        </m:f>
                      </m:e>
                    </m:d>
                  </m:oMath>
                </a14:m>
                <a:r>
                  <a:rPr lang="en-US" sz="2000" dirty="0">
                    <a:latin typeface="Arial" panose="020B0604020202020204" pitchFamily="34" charset="0"/>
                    <a:cs typeface="Arial" panose="020B0604020202020204" pitchFamily="34" charset="0"/>
                  </a:rPr>
                  <a:t>,</a:t>
                </a:r>
              </a:p>
              <a:p>
                <a:pPr marL="0" indent="0">
                  <a:buNone/>
                </a:pPr>
                <a:endParaRPr lang="en-US" sz="2000" b="0" dirty="0">
                  <a:latin typeface="Arial" panose="020B0604020202020204" pitchFamily="34" charset="0"/>
                  <a:cs typeface="Arial" panose="020B0604020202020204" pitchFamily="34" charset="0"/>
                </a:endParaRPr>
              </a:p>
              <a:p>
                <a:pPr marL="0" indent="0">
                  <a:buNone/>
                </a:pPr>
                <a:r>
                  <a:rPr lang="en-US" sz="2000" b="0" dirty="0">
                    <a:latin typeface="Arial" panose="020B0604020202020204" pitchFamily="34" charset="0"/>
                    <a:cs typeface="Arial" panose="020B0604020202020204" pitchFamily="34" charset="0"/>
                  </a:rPr>
                  <a:t>where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𝑧</m:t>
                        </m:r>
                      </m:e>
                      <m:sub>
                        <m:f>
                          <m:fPr>
                            <m:ctrlPr>
                              <a:rPr lang="en-US" sz="2000" b="0" i="1" smtClean="0">
                                <a:latin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𝛼</m:t>
                            </m:r>
                          </m:num>
                          <m:den>
                            <m:r>
                              <a:rPr lang="en-US" sz="2000" b="0" i="1" smtClean="0">
                                <a:latin typeface="Cambria Math" panose="02040503050406030204" pitchFamily="18" charset="0"/>
                              </a:rPr>
                              <m:t>2</m:t>
                            </m:r>
                          </m:den>
                        </m:f>
                      </m:sub>
                    </m:sSub>
                  </m:oMath>
                </a14:m>
                <a:r>
                  <a:rPr lang="en-US" sz="2000" dirty="0">
                    <a:latin typeface="Arial" panose="020B0604020202020204" pitchFamily="34" charset="0"/>
                    <a:cs typeface="Arial" panose="020B0604020202020204" pitchFamily="34" charset="0"/>
                  </a:rPr>
                  <a:t> is the </a:t>
                </a:r>
                <a14:m>
                  <m:oMath xmlns:m="http://schemas.openxmlformats.org/officeDocument/2006/math">
                    <m:d>
                      <m:dPr>
                        <m:ctrlPr>
                          <a:rPr lang="en-US" sz="2000" b="0" i="1" smtClean="0">
                            <a:latin typeface="Cambria Math" panose="02040503050406030204" pitchFamily="18" charset="0"/>
                          </a:rPr>
                        </m:ctrlPr>
                      </m:dPr>
                      <m:e>
                        <m:r>
                          <a:rPr lang="en-US" sz="2000" b="0" i="1" smtClean="0">
                            <a:latin typeface="Cambria Math" panose="02040503050406030204" pitchFamily="18" charset="0"/>
                          </a:rPr>
                          <m:t>1−</m:t>
                        </m:r>
                        <m:f>
                          <m:fPr>
                            <m:ctrlPr>
                              <a:rPr lang="en-US" sz="2000" b="0" i="1" smtClean="0">
                                <a:latin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𝛼</m:t>
                            </m:r>
                          </m:num>
                          <m:den>
                            <m:r>
                              <a:rPr lang="en-US" sz="2000" b="0" i="1" smtClean="0">
                                <a:latin typeface="Cambria Math" panose="02040503050406030204" pitchFamily="18" charset="0"/>
                              </a:rPr>
                              <m:t>2</m:t>
                            </m:r>
                          </m:den>
                        </m:f>
                      </m:e>
                    </m:d>
                    <m:r>
                      <a:rPr lang="en-US" sz="2000" b="0" i="1" smtClean="0">
                        <a:latin typeface="Cambria Math" panose="02040503050406030204" pitchFamily="18" charset="0"/>
                        <a:ea typeface="Cambria Math" panose="02040503050406030204" pitchFamily="18" charset="0"/>
                      </a:rPr>
                      <m:t> </m:t>
                    </m:r>
                  </m:oMath>
                </a14:m>
                <a:r>
                  <a:rPr lang="en-US" sz="2000" dirty="0">
                    <a:latin typeface="Arial" panose="020B0604020202020204" pitchFamily="34" charset="0"/>
                    <a:cs typeface="Arial" panose="020B0604020202020204" pitchFamily="34" charset="0"/>
                  </a:rPr>
                  <a:t>percentile of the standard normal </a:t>
                </a:r>
                <a14:m>
                  <m:oMath xmlns:m="http://schemas.openxmlformats.org/officeDocument/2006/math">
                    <m:r>
                      <a:rPr lang="en-US" sz="2000" b="0" i="1" smtClean="0">
                        <a:latin typeface="Cambria Math" panose="02040503050406030204" pitchFamily="18" charset="0"/>
                      </a:rPr>
                      <m:t>𝑍</m:t>
                    </m:r>
                    <m:r>
                      <a:rPr lang="en-US" sz="2000" b="0" i="1" smtClean="0">
                        <a:latin typeface="Cambria Math" panose="02040503050406030204" pitchFamily="18" charset="0"/>
                      </a:rPr>
                      <m:t>~</m:t>
                    </m:r>
                    <m:r>
                      <a:rPr lang="en-US" sz="2000" b="0" i="1" smtClean="0">
                        <a:latin typeface="Cambria Math" panose="02040503050406030204" pitchFamily="18" charset="0"/>
                      </a:rPr>
                      <m:t>𝑁</m:t>
                    </m:r>
                    <m:r>
                      <a:rPr lang="en-US" sz="2000" b="0" i="1" smtClean="0">
                        <a:latin typeface="Cambria Math" panose="02040503050406030204" pitchFamily="18" charset="0"/>
                      </a:rPr>
                      <m:t>(0,1)</m:t>
                    </m:r>
                  </m:oMath>
                </a14:m>
                <a:r>
                  <a:rPr lang="en-US" sz="2000" dirty="0">
                    <a:latin typeface="Arial" panose="020B0604020202020204" pitchFamily="34" charset="0"/>
                    <a:cs typeface="Arial" panose="020B0604020202020204" pitchFamily="34" charset="0"/>
                  </a:rPr>
                  <a:t> and </a:t>
                </a:r>
                <a14:m>
                  <m:oMath xmlns:m="http://schemas.openxmlformats.org/officeDocument/2006/math">
                    <m:f>
                      <m:fPr>
                        <m:ctrlPr>
                          <a:rPr lang="en-US" sz="2000" b="0" i="1" smtClean="0">
                            <a:latin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𝜎</m:t>
                        </m:r>
                      </m:num>
                      <m:den>
                        <m:rad>
                          <m:radPr>
                            <m:degHide m:val="on"/>
                            <m:ctrlPr>
                              <a:rPr lang="en-US" sz="2000" b="0" i="1" smtClean="0">
                                <a:latin typeface="Cambria Math" panose="02040503050406030204" pitchFamily="18" charset="0"/>
                              </a:rPr>
                            </m:ctrlPr>
                          </m:radPr>
                          <m:deg/>
                          <m:e>
                            <m:r>
                              <a:rPr lang="en-US" sz="2000" b="0" i="1" smtClean="0">
                                <a:latin typeface="Cambria Math" panose="02040503050406030204" pitchFamily="18" charset="0"/>
                              </a:rPr>
                              <m:t>𝑛</m:t>
                            </m:r>
                          </m:e>
                        </m:rad>
                      </m:den>
                    </m:f>
                  </m:oMath>
                </a14:m>
                <a:r>
                  <a:rPr lang="en-US" sz="2000" dirty="0">
                    <a:latin typeface="Arial" panose="020B0604020202020204" pitchFamily="34" charset="0"/>
                    <a:cs typeface="Arial" panose="020B0604020202020204" pitchFamily="34" charset="0"/>
                  </a:rPr>
                  <a:t> is the standard error of </a:t>
                </a:r>
                <a14:m>
                  <m:oMath xmlns:m="http://schemas.openxmlformats.org/officeDocument/2006/math">
                    <m:sSub>
                      <m:sSubPr>
                        <m:ctrlPr>
                          <a:rPr lang="en-US" sz="2000" i="1" smtClean="0">
                            <a:latin typeface="Cambria Math" panose="02040503050406030204" pitchFamily="18" charset="0"/>
                          </a:rPr>
                        </m:ctrlPr>
                      </m:sSubPr>
                      <m:e>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𝑋</m:t>
                            </m:r>
                          </m:e>
                        </m:acc>
                      </m:e>
                      <m:sub>
                        <m:r>
                          <a:rPr lang="en-US" sz="2000" b="0" i="1" smtClean="0">
                            <a:latin typeface="Cambria Math" panose="02040503050406030204" pitchFamily="18" charset="0"/>
                          </a:rPr>
                          <m:t>𝑛</m:t>
                        </m:r>
                      </m:sub>
                    </m:sSub>
                  </m:oMath>
                </a14:m>
                <a:r>
                  <a:rPr lang="en-US" sz="2000" dirty="0">
                    <a:latin typeface="Arial" panose="020B0604020202020204" pitchFamily="34" charset="0"/>
                    <a:cs typeface="Arial" panose="020B0604020202020204" pitchFamily="34" charset="0"/>
                  </a:rPr>
                  <a:t>, the standard deviation of the sampling distribution</a:t>
                </a:r>
              </a:p>
            </p:txBody>
          </p:sp>
        </mc:Choice>
        <mc:Fallback>
          <p:sp>
            <p:nvSpPr>
              <p:cNvPr id="3" name="Content Placeholder 2">
                <a:extLst>
                  <a:ext uri="{FF2B5EF4-FFF2-40B4-BE49-F238E27FC236}">
                    <a16:creationId xmlns:a16="http://schemas.microsoft.com/office/drawing/2014/main" id="{3442F15A-4DFF-8795-C778-707A666ED6BC}"/>
                  </a:ext>
                </a:extLst>
              </p:cNvPr>
              <p:cNvSpPr>
                <a:spLocks noGrp="1" noRot="1" noChangeAspect="1" noMove="1" noResize="1" noEditPoints="1" noAdjustHandles="1" noChangeArrowheads="1" noChangeShapeType="1" noTextEdit="1"/>
              </p:cNvSpPr>
              <p:nvPr>
                <p:ph idx="1"/>
              </p:nvPr>
            </p:nvSpPr>
            <p:spPr>
              <a:xfrm>
                <a:off x="381000" y="1037684"/>
                <a:ext cx="10515600" cy="4351338"/>
              </a:xfrm>
              <a:blipFill>
                <a:blip r:embed="rId3"/>
                <a:stretch>
                  <a:fillRect l="-638" t="-1261"/>
                </a:stretch>
              </a:blipFill>
            </p:spPr>
            <p:txBody>
              <a:bodyPr/>
              <a:lstStyle/>
              <a:p>
                <a:r>
                  <a:rPr lang="en-US">
                    <a:noFill/>
                  </a:rPr>
                  <a:t> </a:t>
                </a:r>
              </a:p>
            </p:txBody>
          </p:sp>
        </mc:Fallback>
      </mc:AlternateContent>
    </p:spTree>
    <p:extLst>
      <p:ext uri="{BB962C8B-B14F-4D97-AF65-F5344CB8AC3E}">
        <p14:creationId xmlns:p14="http://schemas.microsoft.com/office/powerpoint/2010/main" val="7116739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BA7FE2-50FA-3315-ECA8-C769F043E4B1}"/>
              </a:ext>
            </a:extLst>
          </p:cNvPr>
          <p:cNvSpPr>
            <a:spLocks noGrp="1"/>
          </p:cNvSpPr>
          <p:nvPr>
            <p:ph type="title"/>
          </p:nvPr>
        </p:nvSpPr>
        <p:spPr>
          <a:xfrm>
            <a:off x="166990" y="113166"/>
            <a:ext cx="10515600" cy="591454"/>
          </a:xfrm>
        </p:spPr>
        <p:txBody>
          <a:bodyPr>
            <a:normAutofit fontScale="90000"/>
          </a:bodyPr>
          <a:lstStyle/>
          <a:p>
            <a:r>
              <a:rPr lang="en-US" dirty="0">
                <a:latin typeface="Aptos Display (Headings)"/>
              </a:rPr>
              <a:t>Example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A6A5EB9-7BF3-699D-5A37-7B03D6A8B2A9}"/>
                  </a:ext>
                </a:extLst>
              </p:cNvPr>
              <p:cNvSpPr>
                <a:spLocks noGrp="1"/>
              </p:cNvSpPr>
              <p:nvPr>
                <p:ph idx="1"/>
              </p:nvPr>
            </p:nvSpPr>
            <p:spPr>
              <a:xfrm>
                <a:off x="166990" y="704620"/>
                <a:ext cx="11428380" cy="5006744"/>
              </a:xfrm>
            </p:spPr>
            <p:txBody>
              <a:bodyPr>
                <a:normAutofit/>
              </a:bodyPr>
              <a:lstStyle/>
              <a:p>
                <a:pPr marL="0" indent="0" algn="l">
                  <a:buNone/>
                </a:pPr>
                <a:r>
                  <a:rPr lang="en-US" sz="2000" b="0" i="0" u="none" strike="noStrike" baseline="0" dirty="0">
                    <a:latin typeface="Arial" panose="020B0604020202020204" pitchFamily="34" charset="0"/>
                    <a:cs typeface="Arial" panose="020B0604020202020204" pitchFamily="34" charset="0"/>
                  </a:rPr>
                  <a:t>We measured the Child Behavior Checklist (CBCL) score of 40 randomly chosen children in foster care and got a mean score of 69. Suppose we know the standard deviation of CBCL scores in the population is 4. Find the 95% confidence interval of the </a:t>
                </a:r>
                <a:r>
                  <a:rPr lang="en-US" sz="2000" b="1" i="1" u="none" strike="noStrike" baseline="0" dirty="0">
                    <a:latin typeface="Arial" panose="020B0604020202020204" pitchFamily="34" charset="0"/>
                    <a:cs typeface="Arial" panose="020B0604020202020204" pitchFamily="34" charset="0"/>
                  </a:rPr>
                  <a:t>true mean </a:t>
                </a:r>
                <a:r>
                  <a:rPr lang="en-US" sz="2000" b="0" i="0" u="none" strike="noStrike" baseline="0" dirty="0">
                    <a:latin typeface="Arial" panose="020B0604020202020204" pitchFamily="34" charset="0"/>
                    <a:cs typeface="Arial" panose="020B0604020202020204" pitchFamily="34" charset="0"/>
                  </a:rPr>
                  <a:t>CBCL score of ALL children</a:t>
                </a:r>
              </a:p>
              <a:p>
                <a:pPr algn="l"/>
                <a:r>
                  <a:rPr lang="en-US" sz="2000" dirty="0">
                    <a:latin typeface="Arial" panose="020B0604020202020204" pitchFamily="34" charset="0"/>
                    <a:cs typeface="Arial" panose="020B0604020202020204" pitchFamily="34" charset="0"/>
                  </a:rPr>
                  <a:t>The point estimate of the sample mean, </a:t>
                </a:r>
                <a14:m>
                  <m:oMath xmlns:m="http://schemas.openxmlformats.org/officeDocument/2006/math">
                    <m:sSub>
                      <m:sSubPr>
                        <m:ctrlPr>
                          <a:rPr lang="en-US" sz="2000" i="1" smtClean="0">
                            <a:latin typeface="Cambria Math" panose="02040503050406030204" pitchFamily="18" charset="0"/>
                          </a:rPr>
                        </m:ctrlPr>
                      </m:sSubPr>
                      <m:e>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𝑋</m:t>
                            </m:r>
                          </m:e>
                        </m:acc>
                      </m:e>
                      <m:sub>
                        <m:r>
                          <a:rPr lang="en-US" sz="2000" b="0" i="1" smtClean="0">
                            <a:latin typeface="Cambria Math" panose="02040503050406030204" pitchFamily="18" charset="0"/>
                          </a:rPr>
                          <m:t>𝑛</m:t>
                        </m:r>
                        <m:r>
                          <a:rPr lang="en-US" sz="2000" b="0" i="1" smtClean="0">
                            <a:latin typeface="Cambria Math" panose="02040503050406030204" pitchFamily="18" charset="0"/>
                          </a:rPr>
                          <m:t>=</m:t>
                        </m:r>
                        <m:r>
                          <a:rPr lang="en-US" sz="2000" b="0" i="1" smtClean="0">
                            <a:latin typeface="Cambria Math" panose="02040503050406030204" pitchFamily="18" charset="0"/>
                          </a:rPr>
                          <m:t>40</m:t>
                        </m:r>
                      </m:sub>
                    </m:sSub>
                    <m:r>
                      <a:rPr lang="en-US" sz="2000" b="0" i="1" smtClean="0">
                        <a:latin typeface="Cambria Math" panose="02040503050406030204" pitchFamily="18" charset="0"/>
                      </a:rPr>
                      <m:t>=</m:t>
                    </m:r>
                    <m:r>
                      <a:rPr lang="en-US" sz="2000" b="0" i="1" smtClean="0">
                        <a:latin typeface="Cambria Math" panose="02040503050406030204" pitchFamily="18" charset="0"/>
                      </a:rPr>
                      <m:t>69</m:t>
                    </m:r>
                  </m:oMath>
                </a14:m>
                <a:endParaRPr lang="en-US" sz="2000" dirty="0">
                  <a:latin typeface="Arial" panose="020B0604020202020204" pitchFamily="34" charset="0"/>
                  <a:cs typeface="Arial" panose="020B0604020202020204" pitchFamily="34" charset="0"/>
                </a:endParaRPr>
              </a:p>
              <a:p>
                <a:pPr algn="l"/>
                <a:r>
                  <a:rPr lang="en-US" sz="2000" dirty="0">
                    <a:latin typeface="Arial" panose="020B0604020202020204" pitchFamily="34" charset="0"/>
                    <a:cs typeface="Arial" panose="020B0604020202020204" pitchFamily="34" charset="0"/>
                  </a:rPr>
                  <a:t>The population standard deviation is </a:t>
                </a:r>
                <a14:m>
                  <m:oMath xmlns:m="http://schemas.openxmlformats.org/officeDocument/2006/math">
                    <m:r>
                      <a:rPr lang="en-US" sz="2000" b="0" i="1" smtClean="0">
                        <a:latin typeface="Cambria Math" panose="02040503050406030204" pitchFamily="18" charset="0"/>
                        <a:ea typeface="Cambria Math" panose="02040503050406030204" pitchFamily="18" charset="0"/>
                      </a:rPr>
                      <m:t>𝜎</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4</m:t>
                    </m:r>
                  </m:oMath>
                </a14:m>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Compute the standard error of </a:t>
                </a:r>
                <a14:m>
                  <m:oMath xmlns:m="http://schemas.openxmlformats.org/officeDocument/2006/math">
                    <m:sSub>
                      <m:sSubPr>
                        <m:ctrlPr>
                          <a:rPr lang="en-US" sz="2000" i="1" smtClean="0">
                            <a:latin typeface="Cambria Math" panose="02040503050406030204" pitchFamily="18" charset="0"/>
                          </a:rPr>
                        </m:ctrlPr>
                      </m:sSubPr>
                      <m:e>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𝑋</m:t>
                            </m:r>
                          </m:e>
                        </m:acc>
                      </m:e>
                      <m:sub>
                        <m:r>
                          <a:rPr lang="en-US" sz="2000" b="0" i="1" smtClean="0">
                            <a:latin typeface="Cambria Math" panose="02040503050406030204" pitchFamily="18" charset="0"/>
                          </a:rPr>
                          <m:t>40</m:t>
                        </m:r>
                      </m:sub>
                    </m:sSub>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𝜎</m:t>
                        </m:r>
                      </m:num>
                      <m:den>
                        <m:rad>
                          <m:radPr>
                            <m:degHide m:val="on"/>
                            <m:ctrlPr>
                              <a:rPr lang="en-US" sz="2000" b="0" i="1" smtClean="0">
                                <a:latin typeface="Cambria Math" panose="02040503050406030204" pitchFamily="18" charset="0"/>
                              </a:rPr>
                            </m:ctrlPr>
                          </m:radPr>
                          <m:deg/>
                          <m:e>
                            <m:r>
                              <a:rPr lang="en-US" sz="2000" b="0" i="1" smtClean="0">
                                <a:latin typeface="Cambria Math" panose="02040503050406030204" pitchFamily="18" charset="0"/>
                              </a:rPr>
                              <m:t>𝑛</m:t>
                            </m:r>
                          </m:e>
                        </m:rad>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4</m:t>
                        </m:r>
                      </m:num>
                      <m:den>
                        <m:rad>
                          <m:radPr>
                            <m:degHide m:val="on"/>
                            <m:ctrlPr>
                              <a:rPr lang="en-US" sz="2000" b="0" i="1" smtClean="0">
                                <a:latin typeface="Cambria Math" panose="02040503050406030204" pitchFamily="18" charset="0"/>
                              </a:rPr>
                            </m:ctrlPr>
                          </m:radPr>
                          <m:deg/>
                          <m:e>
                            <m:r>
                              <a:rPr lang="en-US" sz="2000" b="0" i="1" smtClean="0">
                                <a:latin typeface="Cambria Math" panose="02040503050406030204" pitchFamily="18" charset="0"/>
                              </a:rPr>
                              <m:t>40</m:t>
                            </m:r>
                          </m:e>
                        </m:rad>
                      </m:den>
                    </m:f>
                    <m:r>
                      <a:rPr lang="en-US" sz="2000" b="0" i="1" smtClean="0">
                        <a:latin typeface="Cambria Math" panose="02040503050406030204" pitchFamily="18" charset="0"/>
                      </a:rPr>
                      <m:t>=.</m:t>
                    </m:r>
                    <m:r>
                      <a:rPr lang="en-US" sz="2000" b="0" i="1" smtClean="0">
                        <a:latin typeface="Cambria Math" panose="02040503050406030204" pitchFamily="18" charset="0"/>
                      </a:rPr>
                      <m:t>63</m:t>
                    </m:r>
                  </m:oMath>
                </a14:m>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What is the z-score representing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𝑧</m:t>
                        </m:r>
                      </m:e>
                      <m:sub>
                        <m:f>
                          <m:fPr>
                            <m:ctrlPr>
                              <a:rPr lang="en-US" sz="2000" b="0" i="1" smtClean="0">
                                <a:latin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𝛼</m:t>
                            </m:r>
                          </m:num>
                          <m:den>
                            <m:r>
                              <a:rPr lang="en-US" sz="2000" b="0" i="1" smtClean="0">
                                <a:latin typeface="Cambria Math" panose="02040503050406030204" pitchFamily="18" charset="0"/>
                              </a:rPr>
                              <m:t>2</m:t>
                            </m:r>
                          </m:den>
                        </m:f>
                      </m:sub>
                    </m:sSub>
                  </m:oMath>
                </a14:m>
                <a:r>
                  <a:rPr lang="en-US" sz="2000" dirty="0">
                    <a:latin typeface="Arial" panose="020B0604020202020204" pitchFamily="34" charset="0"/>
                    <a:cs typeface="Arial" panose="020B0604020202020204" pitchFamily="34" charset="0"/>
                  </a:rPr>
                  <a:t> which here =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𝑧</m:t>
                        </m:r>
                      </m:e>
                      <m:sub>
                        <m:f>
                          <m:fPr>
                            <m:ctrlPr>
                              <a:rPr lang="en-US" sz="2000" b="0" i="1" smtClean="0">
                                <a:latin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05</m:t>
                            </m:r>
                          </m:num>
                          <m:den>
                            <m:r>
                              <a:rPr lang="en-US" sz="2000" b="0" i="1" smtClean="0">
                                <a:latin typeface="Cambria Math" panose="02040503050406030204" pitchFamily="18" charset="0"/>
                              </a:rPr>
                              <m:t>2</m:t>
                            </m:r>
                          </m:den>
                        </m:f>
                      </m:sub>
                    </m:sSub>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m:t>
                        </m:r>
                        <m:r>
                          <a:rPr lang="en-US" sz="2000" b="0" i="1" smtClean="0">
                            <a:latin typeface="Cambria Math" panose="02040503050406030204" pitchFamily="18" charset="0"/>
                          </a:rPr>
                          <m:t>𝑧</m:t>
                        </m:r>
                      </m:e>
                      <m:sub>
                        <m:r>
                          <a:rPr lang="en-US" sz="2000" b="0" i="1" smtClean="0">
                            <a:latin typeface="Cambria Math" panose="02040503050406030204" pitchFamily="18" charset="0"/>
                          </a:rPr>
                          <m:t>.</m:t>
                        </m:r>
                        <m:r>
                          <a:rPr lang="en-US" sz="2000" b="0" i="1" smtClean="0">
                            <a:latin typeface="Cambria Math" panose="02040503050406030204" pitchFamily="18" charset="0"/>
                          </a:rPr>
                          <m:t>025</m:t>
                        </m:r>
                      </m:sub>
                    </m:sSub>
                  </m:oMath>
                </a14:m>
                <a:endParaRPr lang="en-US" sz="2000" dirty="0">
                  <a:latin typeface="Arial" panose="020B0604020202020204" pitchFamily="34" charset="0"/>
                  <a:cs typeface="Arial" panose="020B0604020202020204" pitchFamily="34" charset="0"/>
                </a:endParaRPr>
              </a:p>
            </p:txBody>
          </p:sp>
        </mc:Choice>
        <mc:Fallback>
          <p:sp>
            <p:nvSpPr>
              <p:cNvPr id="3" name="Content Placeholder 2">
                <a:extLst>
                  <a:ext uri="{FF2B5EF4-FFF2-40B4-BE49-F238E27FC236}">
                    <a16:creationId xmlns:a16="http://schemas.microsoft.com/office/drawing/2014/main" id="{BA6A5EB9-7BF3-699D-5A37-7B03D6A8B2A9}"/>
                  </a:ext>
                </a:extLst>
              </p:cNvPr>
              <p:cNvSpPr>
                <a:spLocks noGrp="1" noRot="1" noChangeAspect="1" noMove="1" noResize="1" noEditPoints="1" noAdjustHandles="1" noChangeArrowheads="1" noChangeShapeType="1" noTextEdit="1"/>
              </p:cNvSpPr>
              <p:nvPr>
                <p:ph idx="1"/>
              </p:nvPr>
            </p:nvSpPr>
            <p:spPr>
              <a:xfrm>
                <a:off x="166990" y="704620"/>
                <a:ext cx="11428380" cy="5006744"/>
              </a:xfrm>
              <a:blipFill>
                <a:blip r:embed="rId2"/>
                <a:stretch>
                  <a:fillRect l="-533" t="-12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20BF14D-AE30-9D05-AA73-C05B57FB0441}"/>
                  </a:ext>
                </a:extLst>
              </p:cNvPr>
              <p:cNvSpPr txBox="1"/>
              <p:nvPr/>
            </p:nvSpPr>
            <p:spPr>
              <a:xfrm>
                <a:off x="372480" y="3429000"/>
                <a:ext cx="3051935" cy="7087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begChr m:val="["/>
                          <m:endChr m:val="]"/>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acc>
                                <m:accPr>
                                  <m:chr m:val="̅"/>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acc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𝑋</m:t>
                                  </m:r>
                                </m:e>
                              </m:acc>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𝑛</m:t>
                              </m:r>
                            </m:sub>
                          </m:s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𝑧</m:t>
                              </m:r>
                            </m:e>
                            <m:sub>
                              <m:f>
                                <m:f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𝛼</m:t>
                                  </m:r>
                                </m:num>
                                <m:den>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den>
                              </m:f>
                            </m:sub>
                          </m:sSub>
                          <m:f>
                            <m:f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𝜎</m:t>
                              </m:r>
                            </m:num>
                            <m:den>
                              <m:rad>
                                <m:radPr>
                                  <m:degHide m:val="on"/>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radPr>
                                <m:deg/>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𝑛</m:t>
                                  </m:r>
                                </m:e>
                              </m:rad>
                            </m:den>
                          </m:f>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acc>
                                <m:accPr>
                                  <m:chr m:val="̅"/>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acc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𝑋</m:t>
                                  </m:r>
                                </m:e>
                              </m:acc>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𝑛</m:t>
                              </m:r>
                            </m:sub>
                          </m:s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𝑧</m:t>
                              </m:r>
                            </m:e>
                            <m:sub>
                              <m:f>
                                <m:f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𝛼</m:t>
                                  </m:r>
                                </m:num>
                                <m:den>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den>
                              </m:f>
                            </m:sub>
                          </m:sSub>
                          <m:f>
                            <m:f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𝜎</m:t>
                              </m:r>
                            </m:num>
                            <m:den>
                              <m:rad>
                                <m:radPr>
                                  <m:degHide m:val="on"/>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radPr>
                                <m:deg/>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𝑛</m:t>
                                  </m:r>
                                </m:e>
                              </m:rad>
                            </m:den>
                          </m:f>
                        </m:e>
                      </m:d>
                    </m:oMath>
                  </m:oMathPara>
                </a14:m>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5" name="TextBox 4">
                <a:extLst>
                  <a:ext uri="{FF2B5EF4-FFF2-40B4-BE49-F238E27FC236}">
                    <a16:creationId xmlns:a16="http://schemas.microsoft.com/office/drawing/2014/main" id="{E20BF14D-AE30-9D05-AA73-C05B57FB0441}"/>
                  </a:ext>
                </a:extLst>
              </p:cNvPr>
              <p:cNvSpPr txBox="1">
                <a:spLocks noRot="1" noChangeAspect="1" noMove="1" noResize="1" noEditPoints="1" noAdjustHandles="1" noChangeArrowheads="1" noChangeShapeType="1" noTextEdit="1"/>
              </p:cNvSpPr>
              <p:nvPr/>
            </p:nvSpPr>
            <p:spPr>
              <a:xfrm>
                <a:off x="372480" y="3429000"/>
                <a:ext cx="3051935" cy="70872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CEAE27FB-0750-DE53-6100-F65E682AC040}"/>
                  </a:ext>
                </a:extLst>
              </p:cNvPr>
              <p:cNvSpPr txBox="1"/>
              <p:nvPr/>
            </p:nvSpPr>
            <p:spPr>
              <a:xfrm>
                <a:off x="265476" y="4197585"/>
                <a:ext cx="3423723"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begChr m:val="["/>
                          <m:endChr m:val="]"/>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69</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96</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63</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69</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96</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63</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e>
                      </m:d>
                    </m:oMath>
                  </m:oMathPara>
                </a14:m>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7" name="TextBox 6">
                <a:extLst>
                  <a:ext uri="{FF2B5EF4-FFF2-40B4-BE49-F238E27FC236}">
                    <a16:creationId xmlns:a16="http://schemas.microsoft.com/office/drawing/2014/main" id="{CEAE27FB-0750-DE53-6100-F65E682AC040}"/>
                  </a:ext>
                </a:extLst>
              </p:cNvPr>
              <p:cNvSpPr txBox="1">
                <a:spLocks noRot="1" noChangeAspect="1" noMove="1" noResize="1" noEditPoints="1" noAdjustHandles="1" noChangeArrowheads="1" noChangeShapeType="1" noTextEdit="1"/>
              </p:cNvSpPr>
              <p:nvPr/>
            </p:nvSpPr>
            <p:spPr>
              <a:xfrm>
                <a:off x="265476" y="4197585"/>
                <a:ext cx="3423723" cy="369332"/>
              </a:xfrm>
              <a:prstGeom prst="rect">
                <a:avLst/>
              </a:prstGeom>
              <a:blipFill>
                <a:blip r:embed="rId4"/>
                <a:stretch>
                  <a:fillRect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BB8E2940-19C7-DDBE-C1FA-99C4A8078117}"/>
                  </a:ext>
                </a:extLst>
              </p:cNvPr>
              <p:cNvSpPr txBox="1"/>
              <p:nvPr/>
            </p:nvSpPr>
            <p:spPr>
              <a:xfrm>
                <a:off x="912969" y="4630100"/>
                <a:ext cx="1970956"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begChr m:val="["/>
                          <m:endChr m:val="]"/>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67</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77</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70</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23</m:t>
                          </m:r>
                        </m:e>
                      </m:d>
                    </m:oMath>
                  </m:oMathPara>
                </a14:m>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8" name="TextBox 7">
                <a:extLst>
                  <a:ext uri="{FF2B5EF4-FFF2-40B4-BE49-F238E27FC236}">
                    <a16:creationId xmlns:a16="http://schemas.microsoft.com/office/drawing/2014/main" id="{BB8E2940-19C7-DDBE-C1FA-99C4A8078117}"/>
                  </a:ext>
                </a:extLst>
              </p:cNvPr>
              <p:cNvSpPr txBox="1">
                <a:spLocks noRot="1" noChangeAspect="1" noMove="1" noResize="1" noEditPoints="1" noAdjustHandles="1" noChangeArrowheads="1" noChangeShapeType="1" noTextEdit="1"/>
              </p:cNvSpPr>
              <p:nvPr/>
            </p:nvSpPr>
            <p:spPr>
              <a:xfrm>
                <a:off x="912969" y="4630100"/>
                <a:ext cx="1970956" cy="369332"/>
              </a:xfrm>
              <a:prstGeom prst="rect">
                <a:avLst/>
              </a:prstGeom>
              <a:blipFill>
                <a:blip r:embed="rId5"/>
                <a:stretch>
                  <a:fillRect/>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1E0A7B9A-05F9-FE17-C351-65D1A877D5F3}"/>
              </a:ext>
            </a:extLst>
          </p:cNvPr>
          <p:cNvSpPr txBox="1"/>
          <p:nvPr/>
        </p:nvSpPr>
        <p:spPr>
          <a:xfrm>
            <a:off x="265476" y="4999432"/>
            <a:ext cx="4624984"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Reflects the uncertainty of our estimate</a:t>
            </a:r>
          </a:p>
        </p:txBody>
      </p:sp>
    </p:spTree>
    <p:extLst>
      <p:ext uri="{BB962C8B-B14F-4D97-AF65-F5344CB8AC3E}">
        <p14:creationId xmlns:p14="http://schemas.microsoft.com/office/powerpoint/2010/main" val="1266008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 calcmode="lin" valueType="num">
                                      <p:cBhvr additive="base">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additive="base">
                                        <p:cTn id="29" dur="500" fill="hold"/>
                                        <p:tgtEl>
                                          <p:spTgt spid="7"/>
                                        </p:tgtEl>
                                        <p:attrNameLst>
                                          <p:attrName>ppt_x</p:attrName>
                                        </p:attrNameLst>
                                      </p:cBhvr>
                                      <p:tavLst>
                                        <p:tav tm="0">
                                          <p:val>
                                            <p:strVal val="#ppt_x"/>
                                          </p:val>
                                        </p:tav>
                                        <p:tav tm="100000">
                                          <p:val>
                                            <p:strVal val="#ppt_x"/>
                                          </p:val>
                                        </p:tav>
                                      </p:tavLst>
                                    </p:anim>
                                    <p:anim calcmode="lin" valueType="num">
                                      <p:cBhvr additive="base">
                                        <p:cTn id="30" dur="500" fill="hold"/>
                                        <p:tgtEl>
                                          <p:spTgt spid="7"/>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8"/>
                                        </p:tgtEl>
                                        <p:attrNameLst>
                                          <p:attrName>style.visibility</p:attrName>
                                        </p:attrNameLst>
                                      </p:cBhvr>
                                      <p:to>
                                        <p:strVal val="visible"/>
                                      </p:to>
                                    </p:set>
                                    <p:anim calcmode="lin" valueType="num">
                                      <p:cBhvr additive="base">
                                        <p:cTn id="33" dur="500" fill="hold"/>
                                        <p:tgtEl>
                                          <p:spTgt spid="8"/>
                                        </p:tgtEl>
                                        <p:attrNameLst>
                                          <p:attrName>ppt_x</p:attrName>
                                        </p:attrNameLst>
                                      </p:cBhvr>
                                      <p:tavLst>
                                        <p:tav tm="0">
                                          <p:val>
                                            <p:strVal val="#ppt_x"/>
                                          </p:val>
                                        </p:tav>
                                        <p:tav tm="100000">
                                          <p:val>
                                            <p:strVal val="#ppt_x"/>
                                          </p:val>
                                        </p:tav>
                                      </p:tavLst>
                                    </p:anim>
                                    <p:anim calcmode="lin" valueType="num">
                                      <p:cBhvr additive="base">
                                        <p:cTn id="34" dur="500" fill="hold"/>
                                        <p:tgtEl>
                                          <p:spTgt spid="8"/>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additive="base">
                                        <p:cTn id="37" dur="500" fill="hold"/>
                                        <p:tgtEl>
                                          <p:spTgt spid="9"/>
                                        </p:tgtEl>
                                        <p:attrNameLst>
                                          <p:attrName>ppt_x</p:attrName>
                                        </p:attrNameLst>
                                      </p:cBhvr>
                                      <p:tavLst>
                                        <p:tav tm="0">
                                          <p:val>
                                            <p:strVal val="#ppt_x"/>
                                          </p:val>
                                        </p:tav>
                                        <p:tav tm="100000">
                                          <p:val>
                                            <p:strVal val="#ppt_x"/>
                                          </p:val>
                                        </p:tav>
                                      </p:tavLst>
                                    </p:anim>
                                    <p:anim calcmode="lin" valueType="num">
                                      <p:cBhvr additive="base">
                                        <p:cTn id="3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9"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281C2-BF80-27D4-1CB1-68D06C1F71AF}"/>
              </a:ext>
            </a:extLst>
          </p:cNvPr>
          <p:cNvSpPr>
            <a:spLocks noGrp="1"/>
          </p:cNvSpPr>
          <p:nvPr>
            <p:ph type="title"/>
          </p:nvPr>
        </p:nvSpPr>
        <p:spPr>
          <a:xfrm>
            <a:off x="98898" y="170571"/>
            <a:ext cx="10515600" cy="714645"/>
          </a:xfrm>
        </p:spPr>
        <p:txBody>
          <a:bodyPr/>
          <a:lstStyle/>
          <a:p>
            <a:r>
              <a:rPr lang="en-US" dirty="0">
                <a:latin typeface="Aptos Display (Headings)"/>
              </a:rPr>
              <a:t>How do we interpret the CI?</a:t>
            </a:r>
          </a:p>
        </p:txBody>
      </p:sp>
      <p:sp>
        <p:nvSpPr>
          <p:cNvPr id="3" name="Content Placeholder 2">
            <a:extLst>
              <a:ext uri="{FF2B5EF4-FFF2-40B4-BE49-F238E27FC236}">
                <a16:creationId xmlns:a16="http://schemas.microsoft.com/office/drawing/2014/main" id="{50B7A43F-378D-1480-B056-D9683A3ECCFE}"/>
              </a:ext>
            </a:extLst>
          </p:cNvPr>
          <p:cNvSpPr>
            <a:spLocks noGrp="1"/>
          </p:cNvSpPr>
          <p:nvPr>
            <p:ph idx="1"/>
          </p:nvPr>
        </p:nvSpPr>
        <p:spPr>
          <a:xfrm>
            <a:off x="293450" y="885216"/>
            <a:ext cx="11010089" cy="4351338"/>
          </a:xfrm>
        </p:spPr>
        <p:txBody>
          <a:bodyPr>
            <a:noAutofit/>
          </a:bodyPr>
          <a:lstStyle/>
          <a:p>
            <a:pPr algn="l"/>
            <a:r>
              <a:rPr lang="en-US" sz="2000" dirty="0">
                <a:latin typeface="Arial" panose="020B0604020202020204" pitchFamily="34" charset="0"/>
                <a:cs typeface="Arial" panose="020B0604020202020204" pitchFamily="34" charset="0"/>
              </a:rPr>
              <a:t>In general, </a:t>
            </a:r>
            <a:r>
              <a:rPr lang="en-US" sz="2000" b="0" i="0" u="none" strike="noStrike" baseline="0" dirty="0">
                <a:latin typeface="Arial" panose="020B0604020202020204" pitchFamily="34" charset="0"/>
                <a:cs typeface="Arial" panose="020B0604020202020204" pitchFamily="34" charset="0"/>
              </a:rPr>
              <a:t>If we were to take many random samples then (1 −𝛼 )% of these confidence intervals will contain the true population mean, 𝜇</a:t>
            </a:r>
          </a:p>
          <a:p>
            <a:r>
              <a:rPr lang="en-US" sz="2000" dirty="0">
                <a:latin typeface="Arial" panose="020B0604020202020204" pitchFamily="34" charset="0"/>
                <a:cs typeface="Arial" panose="020B0604020202020204" pitchFamily="34" charset="0"/>
              </a:rPr>
              <a:t>[67.77, 70.23] (?)</a:t>
            </a:r>
          </a:p>
          <a:p>
            <a:pPr algn="l"/>
            <a:r>
              <a:rPr lang="en-US" sz="2000" dirty="0">
                <a:latin typeface="Arial" panose="020B0604020202020204" pitchFamily="34" charset="0"/>
                <a:cs typeface="Arial" panose="020B0604020202020204" pitchFamily="34" charset="0"/>
              </a:rPr>
              <a:t>This means that we are 95% confident that the true </a:t>
            </a:r>
            <a:r>
              <a:rPr lang="en-US" sz="2000" u="sng" dirty="0">
                <a:latin typeface="Arial" panose="020B0604020202020204" pitchFamily="34" charset="0"/>
                <a:cs typeface="Arial" panose="020B0604020202020204" pitchFamily="34" charset="0"/>
              </a:rPr>
              <a:t>population</a:t>
            </a:r>
            <a:r>
              <a:rPr lang="en-US" sz="2000" dirty="0">
                <a:latin typeface="Arial" panose="020B0604020202020204" pitchFamily="34" charset="0"/>
                <a:cs typeface="Arial" panose="020B0604020202020204" pitchFamily="34" charset="0"/>
              </a:rPr>
              <a:t> mean lies in the interval [67.77, 70.23]</a:t>
            </a:r>
          </a:p>
          <a:p>
            <a:pPr algn="l"/>
            <a:r>
              <a:rPr lang="en-US" sz="2000" dirty="0">
                <a:latin typeface="Arial" panose="020B0604020202020204" pitchFamily="34" charset="0"/>
                <a:cs typeface="Arial" panose="020B0604020202020204" pitchFamily="34" charset="0"/>
              </a:rPr>
              <a:t>Recall: there is a relationship between the confidence interval and hypothesis testing</a:t>
            </a:r>
          </a:p>
          <a:p>
            <a:pPr lvl="1"/>
            <a:r>
              <a:rPr lang="en-US" sz="2000" dirty="0">
                <a:latin typeface="Arial" panose="020B0604020202020204" pitchFamily="34" charset="0"/>
                <a:cs typeface="Arial" panose="020B0604020202020204" pitchFamily="34" charset="0"/>
              </a:rPr>
              <a:t>Any value outside the confidence interval is in our rejection region</a:t>
            </a:r>
          </a:p>
          <a:p>
            <a:pPr lvl="1"/>
            <a:r>
              <a:rPr lang="en-US" sz="2000" dirty="0">
                <a:latin typeface="Arial" panose="020B0604020202020204" pitchFamily="34" charset="0"/>
                <a:cs typeface="Arial" panose="020B0604020202020204" pitchFamily="34" charset="0"/>
              </a:rPr>
              <a:t>So, the confidence interval represents the outermost limits of statistical significance</a:t>
            </a:r>
          </a:p>
          <a:p>
            <a:pPr lvl="1"/>
            <a:r>
              <a:rPr lang="en-US" sz="2000" dirty="0">
                <a:latin typeface="Arial" panose="020B0604020202020204" pitchFamily="34" charset="0"/>
                <a:cs typeface="Arial" panose="020B0604020202020204" pitchFamily="34" charset="0"/>
              </a:rPr>
              <a:t>A CBCL score of 65 is too unlikely to occur by chance and is significantly different from the population mean of 69</a:t>
            </a:r>
          </a:p>
          <a:p>
            <a:pPr lvl="1"/>
            <a:r>
              <a:rPr lang="en-US" sz="2000" dirty="0">
                <a:latin typeface="Arial" panose="020B0604020202020204" pitchFamily="34" charset="0"/>
                <a:cs typeface="Arial" panose="020B0604020202020204" pitchFamily="34" charset="0"/>
              </a:rPr>
              <a:t>What about a score of 70?</a:t>
            </a:r>
          </a:p>
        </p:txBody>
      </p:sp>
    </p:spTree>
    <p:extLst>
      <p:ext uri="{BB962C8B-B14F-4D97-AF65-F5344CB8AC3E}">
        <p14:creationId xmlns:p14="http://schemas.microsoft.com/office/powerpoint/2010/main" val="2200664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1000"/>
                                        <p:tgtEl>
                                          <p:spTgt spid="3">
                                            <p:txEl>
                                              <p:pRg st="3" end="3"/>
                                            </p:txEl>
                                          </p:spTgt>
                                        </p:tgtEl>
                                      </p:cBhvr>
                                    </p:animEffect>
                                    <p:anim calcmode="lin" valueType="num">
                                      <p:cBhvr>
                                        <p:cTn id="14"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 calcmode="lin" valueType="num">
                                      <p:cBhvr additive="base">
                                        <p:cTn id="20"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2" presetID="2" presetClass="entr" presetSubtype="4" fill="hold"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 calcmode="lin" valueType="num">
                                      <p:cBhvr additive="base">
                                        <p:cTn id="24"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3">
                                            <p:txEl>
                                              <p:pRg st="6" end="6"/>
                                            </p:txEl>
                                          </p:spTgt>
                                        </p:tgtEl>
                                        <p:attrNameLst>
                                          <p:attrName>style.visibility</p:attrName>
                                        </p:attrNameLst>
                                      </p:cBhvr>
                                      <p:to>
                                        <p:strVal val="visible"/>
                                      </p:to>
                                    </p:set>
                                    <p:anim calcmode="lin" valueType="num">
                                      <p:cBhvr additive="base">
                                        <p:cTn id="30"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2" presetID="2" presetClass="entr" presetSubtype="4" fill="hold" nodeType="with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 calcmode="lin" valueType="num">
                                      <p:cBhvr additive="base">
                                        <p:cTn id="34"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C7D4E-82F3-5048-737F-723B51D79DAE}"/>
              </a:ext>
            </a:extLst>
          </p:cNvPr>
          <p:cNvSpPr>
            <a:spLocks noGrp="1"/>
          </p:cNvSpPr>
          <p:nvPr>
            <p:ph type="title"/>
          </p:nvPr>
        </p:nvSpPr>
        <p:spPr>
          <a:xfrm>
            <a:off x="371272" y="209483"/>
            <a:ext cx="10515600" cy="763284"/>
          </a:xfrm>
        </p:spPr>
        <p:txBody>
          <a:bodyPr/>
          <a:lstStyle/>
          <a:p>
            <a:r>
              <a:rPr lang="en-US" dirty="0">
                <a:latin typeface="Aptos Display (Headings)"/>
              </a:rPr>
              <a:t>Conceptual Understanding of CIs</a:t>
            </a:r>
          </a:p>
        </p:txBody>
      </p:sp>
      <p:pic>
        <p:nvPicPr>
          <p:cNvPr id="5" name="Content Placeholder 4">
            <a:extLst>
              <a:ext uri="{FF2B5EF4-FFF2-40B4-BE49-F238E27FC236}">
                <a16:creationId xmlns:a16="http://schemas.microsoft.com/office/drawing/2014/main" id="{32C0C8BA-F7E6-530B-7768-B7EAE704D05F}"/>
              </a:ext>
            </a:extLst>
          </p:cNvPr>
          <p:cNvPicPr>
            <a:picLocks noGrp="1" noChangeAspect="1"/>
          </p:cNvPicPr>
          <p:nvPr>
            <p:ph idx="1"/>
          </p:nvPr>
        </p:nvPicPr>
        <p:blipFill>
          <a:blip r:embed="rId2"/>
          <a:stretch>
            <a:fillRect/>
          </a:stretch>
        </p:blipFill>
        <p:spPr>
          <a:xfrm>
            <a:off x="262646" y="972767"/>
            <a:ext cx="8070655" cy="5151183"/>
          </a:xfrm>
        </p:spPr>
      </p:pic>
      <p:sp>
        <p:nvSpPr>
          <p:cNvPr id="3" name="TextBox 2">
            <a:extLst>
              <a:ext uri="{FF2B5EF4-FFF2-40B4-BE49-F238E27FC236}">
                <a16:creationId xmlns:a16="http://schemas.microsoft.com/office/drawing/2014/main" id="{B9D4E1C7-614F-07AC-C42D-8F5CFFE58B2F}"/>
              </a:ext>
            </a:extLst>
          </p:cNvPr>
          <p:cNvSpPr txBox="1"/>
          <p:nvPr/>
        </p:nvSpPr>
        <p:spPr>
          <a:xfrm>
            <a:off x="8333301" y="474345"/>
            <a:ext cx="3338310" cy="59093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The vertical lines (error bars) represent confidence intervals around the estimated means.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The small dots at the center of each line are the point estimates (e.g., means or effect sizes).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The red lines are significantly above the mean, the blue lines overlap</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The blue lines indicate estimates that contain the reference value (μ).</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The red lines indicate confidence intervals that do not include μ, suggesting statistical significance</a:t>
            </a:r>
          </a:p>
        </p:txBody>
      </p:sp>
    </p:spTree>
    <p:extLst>
      <p:ext uri="{BB962C8B-B14F-4D97-AF65-F5344CB8AC3E}">
        <p14:creationId xmlns:p14="http://schemas.microsoft.com/office/powerpoint/2010/main" val="18517442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437354-EF81-C50A-3820-2B566B3B71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79D810-D272-D7B6-D4A2-E65BF4304048}"/>
              </a:ext>
            </a:extLst>
          </p:cNvPr>
          <p:cNvSpPr>
            <a:spLocks noGrp="1"/>
          </p:cNvSpPr>
          <p:nvPr>
            <p:ph type="title"/>
          </p:nvPr>
        </p:nvSpPr>
        <p:spPr>
          <a:xfrm>
            <a:off x="98898" y="182663"/>
            <a:ext cx="10515600" cy="741465"/>
          </a:xfrm>
        </p:spPr>
        <p:txBody>
          <a:bodyPr/>
          <a:lstStyle/>
          <a:p>
            <a:r>
              <a:rPr lang="en-US" dirty="0">
                <a:latin typeface="Aptos Display (Headings)"/>
              </a:rPr>
              <a:t>Central Limit Theorem (CLT) - Redux</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1B72F6C-1730-9920-3B9D-ABB99AE28279}"/>
                  </a:ext>
                </a:extLst>
              </p:cNvPr>
              <p:cNvSpPr>
                <a:spLocks noGrp="1"/>
              </p:cNvSpPr>
              <p:nvPr>
                <p:ph idx="1"/>
              </p:nvPr>
            </p:nvSpPr>
            <p:spPr>
              <a:xfrm>
                <a:off x="332362" y="1130772"/>
                <a:ext cx="10515600" cy="4351338"/>
              </a:xfrm>
            </p:spPr>
            <p:txBody>
              <a:bodyPr>
                <a:normAutofit/>
              </a:bodyPr>
              <a:lstStyle/>
              <a:p>
                <a:r>
                  <a:rPr lang="en-US" sz="2000" dirty="0">
                    <a:latin typeface="Arial" panose="020B0604020202020204" pitchFamily="34" charset="0"/>
                    <a:cs typeface="Arial" panose="020B0604020202020204" pitchFamily="34" charset="0"/>
                  </a:rPr>
                  <a:t>The</a:t>
                </a:r>
                <a:r>
                  <a:rPr lang="en-US" sz="2000" spc="-20" dirty="0">
                    <a:latin typeface="Arial" panose="020B0604020202020204" pitchFamily="34" charset="0"/>
                    <a:cs typeface="Arial" panose="020B0604020202020204" pitchFamily="34" charset="0"/>
                  </a:rPr>
                  <a:t> </a:t>
                </a:r>
                <a:r>
                  <a:rPr lang="en-US" sz="2000" b="1" dirty="0">
                    <a:latin typeface="Arial" panose="020B0604020202020204" pitchFamily="34" charset="0"/>
                    <a:cs typeface="Arial" panose="020B0604020202020204" pitchFamily="34" charset="0"/>
                  </a:rPr>
                  <a:t>sampling</a:t>
                </a:r>
                <a:r>
                  <a:rPr lang="en-US" sz="2000" b="1" spc="-15" dirty="0">
                    <a:latin typeface="Arial" panose="020B0604020202020204" pitchFamily="34" charset="0"/>
                    <a:cs typeface="Arial" panose="020B0604020202020204" pitchFamily="34" charset="0"/>
                  </a:rPr>
                  <a:t> </a:t>
                </a:r>
                <a:r>
                  <a:rPr lang="en-US" sz="2000" b="1" spc="-10" dirty="0">
                    <a:latin typeface="Arial" panose="020B0604020202020204" pitchFamily="34" charset="0"/>
                    <a:cs typeface="Arial" panose="020B0604020202020204" pitchFamily="34" charset="0"/>
                  </a:rPr>
                  <a:t>distribution</a:t>
                </a:r>
                <a:r>
                  <a:rPr lang="en-US" sz="2000" b="1" spc="-15"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of</a:t>
                </a:r>
                <a:r>
                  <a:rPr lang="en-US" sz="2000" spc="-15" dirty="0">
                    <a:latin typeface="Arial" panose="020B0604020202020204" pitchFamily="34" charset="0"/>
                    <a:cs typeface="Arial" panose="020B0604020202020204" pitchFamily="34" charset="0"/>
                  </a:rPr>
                  <a:t> </a:t>
                </a:r>
                <a14:m>
                  <m:oMath xmlns:m="http://schemas.openxmlformats.org/officeDocument/2006/math">
                    <m:sSub>
                      <m:sSubPr>
                        <m:ctrlPr>
                          <a:rPr lang="en-US" sz="2000" i="1" spc="-15" smtClean="0">
                            <a:latin typeface="Cambria Math" panose="02040503050406030204" pitchFamily="18" charset="0"/>
                            <a:cs typeface="Arial"/>
                          </a:rPr>
                        </m:ctrlPr>
                      </m:sSubPr>
                      <m:e>
                        <m:acc>
                          <m:accPr>
                            <m:chr m:val="̅"/>
                            <m:ctrlPr>
                              <a:rPr lang="en-US" sz="2000" i="1" spc="-15" smtClean="0">
                                <a:latin typeface="Cambria Math" panose="02040503050406030204" pitchFamily="18" charset="0"/>
                                <a:cs typeface="Arial"/>
                              </a:rPr>
                            </m:ctrlPr>
                          </m:accPr>
                          <m:e>
                            <m:r>
                              <a:rPr lang="en-US" sz="2000" b="0" i="1" spc="-15" smtClean="0">
                                <a:latin typeface="Cambria Math" panose="02040503050406030204" pitchFamily="18" charset="0"/>
                                <a:cs typeface="Arial"/>
                              </a:rPr>
                              <m:t>𝑋</m:t>
                            </m:r>
                          </m:e>
                        </m:acc>
                      </m:e>
                      <m:sub>
                        <m:r>
                          <a:rPr lang="en-US" sz="2000" b="0" i="1" spc="-15" smtClean="0">
                            <a:latin typeface="Cambria Math" panose="02040503050406030204" pitchFamily="18" charset="0"/>
                            <a:cs typeface="Arial"/>
                          </a:rPr>
                          <m:t>𝑛</m:t>
                        </m:r>
                      </m:sub>
                    </m:sSub>
                  </m:oMath>
                </a14:m>
                <a:r>
                  <a:rPr lang="en-US" sz="2000" i="1" spc="202" baseline="-11904"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will</a:t>
                </a:r>
                <a:r>
                  <a:rPr lang="en-US" sz="2000" spc="-15"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become</a:t>
                </a:r>
                <a:r>
                  <a:rPr lang="en-US" sz="2000" spc="-15" dirty="0">
                    <a:latin typeface="Arial" panose="020B0604020202020204" pitchFamily="34" charset="0"/>
                    <a:cs typeface="Arial" panose="020B0604020202020204" pitchFamily="34" charset="0"/>
                  </a:rPr>
                  <a:t> </a:t>
                </a:r>
                <a:r>
                  <a:rPr lang="en-US" sz="2000" spc="-10" dirty="0">
                    <a:latin typeface="Arial" panose="020B0604020202020204" pitchFamily="34" charset="0"/>
                    <a:cs typeface="Arial" panose="020B0604020202020204" pitchFamily="34" charset="0"/>
                  </a:rPr>
                  <a:t>approximately </a:t>
                </a:r>
                <a:r>
                  <a:rPr lang="en-US" sz="2000" dirty="0">
                    <a:solidFill>
                      <a:srgbClr val="FF0000"/>
                    </a:solidFill>
                    <a:latin typeface="Arial" panose="020B0604020202020204" pitchFamily="34" charset="0"/>
                    <a:cs typeface="Arial" panose="020B0604020202020204" pitchFamily="34" charset="0"/>
                  </a:rPr>
                  <a:t>normally</a:t>
                </a:r>
                <a:r>
                  <a:rPr lang="en-US" sz="2000" b="1" spc="-20" dirty="0">
                    <a:solidFill>
                      <a:srgbClr val="0000FF"/>
                    </a:solidFill>
                    <a:latin typeface="Arial" panose="020B0604020202020204" pitchFamily="34" charset="0"/>
                    <a:cs typeface="Arial" panose="020B0604020202020204" pitchFamily="34" charset="0"/>
                  </a:rPr>
                  <a:t> </a:t>
                </a:r>
                <a:r>
                  <a:rPr lang="en-US" sz="2000" spc="-10" dirty="0">
                    <a:solidFill>
                      <a:srgbClr val="FF0000"/>
                    </a:solidFill>
                    <a:latin typeface="Arial" panose="020B0604020202020204" pitchFamily="34" charset="0"/>
                    <a:cs typeface="Arial" panose="020B0604020202020204" pitchFamily="34" charset="0"/>
                  </a:rPr>
                  <a:t>distributed</a:t>
                </a:r>
                <a:r>
                  <a:rPr lang="en-US" sz="2000" b="1" spc="-20" dirty="0">
                    <a:solidFill>
                      <a:srgbClr val="0000FF"/>
                    </a:solidFill>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as</a:t>
                </a:r>
                <a:r>
                  <a:rPr lang="en-US" sz="2000" spc="-20"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the</a:t>
                </a:r>
                <a:r>
                  <a:rPr lang="en-US" sz="2000" spc="-20" dirty="0">
                    <a:latin typeface="Arial" panose="020B0604020202020204" pitchFamily="34" charset="0"/>
                    <a:cs typeface="Arial" panose="020B0604020202020204" pitchFamily="34" charset="0"/>
                  </a:rPr>
                  <a:t> </a:t>
                </a:r>
                <a:r>
                  <a:rPr lang="en-US" sz="2000" b="1" dirty="0">
                    <a:latin typeface="Arial" panose="020B0604020202020204" pitchFamily="34" charset="0"/>
                    <a:cs typeface="Arial" panose="020B0604020202020204" pitchFamily="34" charset="0"/>
                  </a:rPr>
                  <a:t>sample</a:t>
                </a:r>
                <a:r>
                  <a:rPr lang="en-US" sz="2000" b="1" spc="-20" dirty="0">
                    <a:latin typeface="Arial" panose="020B0604020202020204" pitchFamily="34" charset="0"/>
                    <a:cs typeface="Arial" panose="020B0604020202020204" pitchFamily="34" charset="0"/>
                  </a:rPr>
                  <a:t> </a:t>
                </a:r>
                <a:r>
                  <a:rPr lang="en-US" sz="2000" b="1" dirty="0">
                    <a:latin typeface="Arial" panose="020B0604020202020204" pitchFamily="34" charset="0"/>
                    <a:cs typeface="Arial" panose="020B0604020202020204" pitchFamily="34" charset="0"/>
                  </a:rPr>
                  <a:t>size</a:t>
                </a:r>
                <a:r>
                  <a:rPr lang="en-US" sz="2000" b="1" spc="-20" dirty="0">
                    <a:latin typeface="Arial" panose="020B0604020202020204" pitchFamily="34" charset="0"/>
                    <a:cs typeface="Arial" panose="020B0604020202020204" pitchFamily="34" charset="0"/>
                  </a:rPr>
                  <a:t> </a:t>
                </a:r>
                <a:r>
                  <a:rPr lang="en-US" sz="2000" b="1" dirty="0">
                    <a:latin typeface="Arial" panose="020B0604020202020204" pitchFamily="34" charset="0"/>
                    <a:cs typeface="Arial" panose="020B0604020202020204" pitchFamily="34" charset="0"/>
                  </a:rPr>
                  <a:t>(</a:t>
                </a:r>
                <a:r>
                  <a:rPr lang="en-US" sz="2000" i="1" dirty="0">
                    <a:latin typeface="Arial" panose="020B0604020202020204" pitchFamily="34" charset="0"/>
                    <a:cs typeface="Arial" panose="020B0604020202020204" pitchFamily="34" charset="0"/>
                  </a:rPr>
                  <a:t>n</a:t>
                </a:r>
                <a:r>
                  <a:rPr lang="en-US" sz="2000" b="1" dirty="0">
                    <a:latin typeface="Arial" panose="020B0604020202020204" pitchFamily="34" charset="0"/>
                    <a:cs typeface="Arial" panose="020B0604020202020204" pitchFamily="34" charset="0"/>
                  </a:rPr>
                  <a:t>)</a:t>
                </a:r>
                <a:r>
                  <a:rPr lang="en-US" sz="2000" b="1" spc="-20" dirty="0">
                    <a:latin typeface="Arial" panose="020B0604020202020204" pitchFamily="34" charset="0"/>
                    <a:cs typeface="Arial" panose="020B0604020202020204" pitchFamily="34" charset="0"/>
                  </a:rPr>
                  <a:t> </a:t>
                </a:r>
                <a:r>
                  <a:rPr lang="en-US" sz="2000" b="1" spc="-10" dirty="0">
                    <a:latin typeface="Arial" panose="020B0604020202020204" pitchFamily="34" charset="0"/>
                    <a:cs typeface="Arial" panose="020B0604020202020204" pitchFamily="34" charset="0"/>
                  </a:rPr>
                  <a:t>becomes </a:t>
                </a:r>
                <a:r>
                  <a:rPr lang="en-US" sz="2000" b="1" dirty="0">
                    <a:latin typeface="Arial" panose="020B0604020202020204" pitchFamily="34" charset="0"/>
                    <a:cs typeface="Arial" panose="020B0604020202020204" pitchFamily="34" charset="0"/>
                  </a:rPr>
                  <a:t>“large"</a:t>
                </a:r>
                <a:r>
                  <a:rPr lang="en-US" sz="2000" dirty="0">
                    <a:latin typeface="Arial" panose="020B0604020202020204" pitchFamily="34" charset="0"/>
                    <a:cs typeface="Arial" panose="020B0604020202020204" pitchFamily="34" charset="0"/>
                  </a:rPr>
                  <a:t>,</a:t>
                </a:r>
                <a:r>
                  <a:rPr lang="en-US" sz="2000" spc="-20" dirty="0">
                    <a:latin typeface="Arial" panose="020B0604020202020204" pitchFamily="34" charset="0"/>
                    <a:cs typeface="Arial" panose="020B0604020202020204" pitchFamily="34" charset="0"/>
                  </a:rPr>
                  <a:t> </a:t>
                </a:r>
                <a:r>
                  <a:rPr lang="en-US" sz="2000" spc="-10" dirty="0">
                    <a:solidFill>
                      <a:srgbClr val="FF0000"/>
                    </a:solidFill>
                    <a:latin typeface="Arial" panose="020B0604020202020204" pitchFamily="34" charset="0"/>
                    <a:cs typeface="Arial" panose="020B0604020202020204" pitchFamily="34" charset="0"/>
                  </a:rPr>
                  <a:t>regardless</a:t>
                </a:r>
                <a:r>
                  <a:rPr lang="en-US" sz="2000" spc="-20" dirty="0">
                    <a:solidFill>
                      <a:srgbClr val="FF0000"/>
                    </a:solidFill>
                    <a:latin typeface="Arial" panose="020B0604020202020204" pitchFamily="34" charset="0"/>
                    <a:cs typeface="Arial" panose="020B0604020202020204" pitchFamily="34" charset="0"/>
                  </a:rPr>
                  <a:t> </a:t>
                </a:r>
                <a:r>
                  <a:rPr lang="en-US" sz="2000" dirty="0">
                    <a:solidFill>
                      <a:srgbClr val="FF0000"/>
                    </a:solidFill>
                    <a:latin typeface="Arial" panose="020B0604020202020204" pitchFamily="34" charset="0"/>
                    <a:cs typeface="Arial" panose="020B0604020202020204" pitchFamily="34" charset="0"/>
                  </a:rPr>
                  <a:t>of</a:t>
                </a:r>
                <a:r>
                  <a:rPr lang="en-US" sz="2000" spc="-15" dirty="0">
                    <a:solidFill>
                      <a:srgbClr val="FF0000"/>
                    </a:solidFill>
                    <a:latin typeface="Arial" panose="020B0604020202020204" pitchFamily="34" charset="0"/>
                    <a:cs typeface="Arial" panose="020B0604020202020204" pitchFamily="34" charset="0"/>
                  </a:rPr>
                  <a:t> </a:t>
                </a:r>
                <a:r>
                  <a:rPr lang="en-US" sz="2000" dirty="0">
                    <a:solidFill>
                      <a:srgbClr val="FF0000"/>
                    </a:solidFill>
                    <a:latin typeface="Arial" panose="020B0604020202020204" pitchFamily="34" charset="0"/>
                    <a:cs typeface="Arial" panose="020B0604020202020204" pitchFamily="34" charset="0"/>
                  </a:rPr>
                  <a:t>the</a:t>
                </a:r>
                <a:r>
                  <a:rPr lang="en-US" sz="2000" spc="-20" dirty="0">
                    <a:solidFill>
                      <a:srgbClr val="FF0000"/>
                    </a:solidFill>
                    <a:latin typeface="Arial" panose="020B0604020202020204" pitchFamily="34" charset="0"/>
                    <a:cs typeface="Arial" panose="020B0604020202020204" pitchFamily="34" charset="0"/>
                  </a:rPr>
                  <a:t> </a:t>
                </a:r>
                <a:r>
                  <a:rPr lang="en-US" sz="2000" dirty="0">
                    <a:solidFill>
                      <a:srgbClr val="FF0000"/>
                    </a:solidFill>
                    <a:latin typeface="Arial" panose="020B0604020202020204" pitchFamily="34" charset="0"/>
                    <a:cs typeface="Arial" panose="020B0604020202020204" pitchFamily="34" charset="0"/>
                  </a:rPr>
                  <a:t>shape</a:t>
                </a:r>
                <a:r>
                  <a:rPr lang="en-US" sz="2000" spc="-15" dirty="0">
                    <a:solidFill>
                      <a:srgbClr val="FF0000"/>
                    </a:solidFill>
                    <a:latin typeface="Arial" panose="020B0604020202020204" pitchFamily="34" charset="0"/>
                    <a:cs typeface="Arial" panose="020B0604020202020204" pitchFamily="34" charset="0"/>
                  </a:rPr>
                  <a:t> </a:t>
                </a:r>
                <a:r>
                  <a:rPr lang="en-US" sz="2000" dirty="0">
                    <a:solidFill>
                      <a:srgbClr val="FF0000"/>
                    </a:solidFill>
                    <a:latin typeface="Arial" panose="020B0604020202020204" pitchFamily="34" charset="0"/>
                    <a:cs typeface="Arial" panose="020B0604020202020204" pitchFamily="34" charset="0"/>
                  </a:rPr>
                  <a:t>of</a:t>
                </a:r>
                <a:r>
                  <a:rPr lang="en-US" sz="2000" spc="-20" dirty="0">
                    <a:solidFill>
                      <a:srgbClr val="FF0000"/>
                    </a:solidFill>
                    <a:latin typeface="Arial" panose="020B0604020202020204" pitchFamily="34" charset="0"/>
                    <a:cs typeface="Arial" panose="020B0604020202020204" pitchFamily="34" charset="0"/>
                  </a:rPr>
                  <a:t> </a:t>
                </a:r>
                <a:r>
                  <a:rPr lang="en-US" sz="2000" dirty="0">
                    <a:solidFill>
                      <a:srgbClr val="FF0000"/>
                    </a:solidFill>
                    <a:latin typeface="Arial" panose="020B0604020202020204" pitchFamily="34" charset="0"/>
                    <a:cs typeface="Arial" panose="020B0604020202020204" pitchFamily="34" charset="0"/>
                  </a:rPr>
                  <a:t>the</a:t>
                </a:r>
                <a:r>
                  <a:rPr lang="en-US" sz="2000" spc="-15" dirty="0">
                    <a:solidFill>
                      <a:srgbClr val="FF0000"/>
                    </a:solidFill>
                    <a:latin typeface="Arial" panose="020B0604020202020204" pitchFamily="34" charset="0"/>
                    <a:cs typeface="Arial" panose="020B0604020202020204" pitchFamily="34" charset="0"/>
                  </a:rPr>
                  <a:t> </a:t>
                </a:r>
                <a:r>
                  <a:rPr lang="en-US" sz="2000" spc="-10" dirty="0">
                    <a:solidFill>
                      <a:srgbClr val="FF0000"/>
                    </a:solidFill>
                    <a:latin typeface="Arial" panose="020B0604020202020204" pitchFamily="34" charset="0"/>
                    <a:cs typeface="Arial" panose="020B0604020202020204" pitchFamily="34" charset="0"/>
                  </a:rPr>
                  <a:t>population distribution!</a:t>
                </a:r>
                <a:endParaRPr lang="en-US" sz="2000" dirty="0">
                  <a:solidFill>
                    <a:srgbClr val="FF0000"/>
                  </a:solidFill>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p:txBody>
          </p:sp>
        </mc:Choice>
        <mc:Fallback>
          <p:sp>
            <p:nvSpPr>
              <p:cNvPr id="3" name="Content Placeholder 2">
                <a:extLst>
                  <a:ext uri="{FF2B5EF4-FFF2-40B4-BE49-F238E27FC236}">
                    <a16:creationId xmlns:a16="http://schemas.microsoft.com/office/drawing/2014/main" id="{71B72F6C-1730-9920-3B9D-ABB99AE28279}"/>
                  </a:ext>
                </a:extLst>
              </p:cNvPr>
              <p:cNvSpPr>
                <a:spLocks noGrp="1" noRot="1" noChangeAspect="1" noMove="1" noResize="1" noEditPoints="1" noAdjustHandles="1" noChangeArrowheads="1" noChangeShapeType="1" noTextEdit="1"/>
              </p:cNvSpPr>
              <p:nvPr>
                <p:ph idx="1"/>
              </p:nvPr>
            </p:nvSpPr>
            <p:spPr>
              <a:xfrm>
                <a:off x="332362" y="1130772"/>
                <a:ext cx="10515600" cy="4351338"/>
              </a:xfrm>
              <a:blipFill>
                <a:blip r:embed="rId2"/>
                <a:stretch>
                  <a:fillRect l="-522" t="-1261"/>
                </a:stretch>
              </a:blipFill>
            </p:spPr>
            <p:txBody>
              <a:bodyPr/>
              <a:lstStyle/>
              <a:p>
                <a:r>
                  <a:rPr lang="en-US">
                    <a:noFill/>
                  </a:rPr>
                  <a:t> </a:t>
                </a:r>
              </a:p>
            </p:txBody>
          </p:sp>
        </mc:Fallback>
      </mc:AlternateContent>
    </p:spTree>
    <p:extLst>
      <p:ext uri="{BB962C8B-B14F-4D97-AF65-F5344CB8AC3E}">
        <p14:creationId xmlns:p14="http://schemas.microsoft.com/office/powerpoint/2010/main" val="10333943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B8DF2-38C5-AFD7-0107-807C52E12963}"/>
              </a:ext>
            </a:extLst>
          </p:cNvPr>
          <p:cNvSpPr>
            <a:spLocks noGrp="1"/>
          </p:cNvSpPr>
          <p:nvPr>
            <p:ph type="title" idx="4294967295"/>
          </p:nvPr>
        </p:nvSpPr>
        <p:spPr>
          <a:xfrm>
            <a:off x="68094" y="75529"/>
            <a:ext cx="7597302" cy="694668"/>
          </a:xfrm>
        </p:spPr>
        <p:txBody>
          <a:bodyPr>
            <a:normAutofit/>
          </a:bodyPr>
          <a:lstStyle/>
          <a:p>
            <a:r>
              <a:rPr lang="en-US" sz="3200" dirty="0">
                <a:latin typeface="Aptos Display (Headings)"/>
              </a:rPr>
              <a:t>From exponential to normal?</a:t>
            </a:r>
          </a:p>
        </p:txBody>
      </p:sp>
      <p:sp>
        <p:nvSpPr>
          <p:cNvPr id="3" name="Content Placeholder 2">
            <a:extLst>
              <a:ext uri="{FF2B5EF4-FFF2-40B4-BE49-F238E27FC236}">
                <a16:creationId xmlns:a16="http://schemas.microsoft.com/office/drawing/2014/main" id="{F522DB5B-78E6-D606-96D1-BE0C103EAD1E}"/>
              </a:ext>
            </a:extLst>
          </p:cNvPr>
          <p:cNvSpPr>
            <a:spLocks noGrp="1"/>
          </p:cNvSpPr>
          <p:nvPr>
            <p:ph idx="4294967295"/>
          </p:nvPr>
        </p:nvSpPr>
        <p:spPr>
          <a:xfrm>
            <a:off x="316714" y="740158"/>
            <a:ext cx="11249473" cy="1644650"/>
          </a:xfrm>
        </p:spPr>
        <p:txBody>
          <a:bodyPr anchor="ctr">
            <a:normAutofit lnSpcReduction="10000"/>
          </a:bodyPr>
          <a:lstStyle/>
          <a:p>
            <a:r>
              <a:rPr lang="en-US" sz="2000" dirty="0">
                <a:latin typeface="Arial" panose="020B0604020202020204" pitchFamily="34" charset="0"/>
                <a:cs typeface="Arial" panose="020B0604020202020204" pitchFamily="34" charset="0"/>
              </a:rPr>
              <a:t>See my R code called </a:t>
            </a:r>
            <a:r>
              <a:rPr lang="en-US" sz="2000" dirty="0" err="1">
                <a:latin typeface="Arial" panose="020B0604020202020204" pitchFamily="34" charset="0"/>
                <a:cs typeface="Arial" panose="020B0604020202020204" pitchFamily="34" charset="0"/>
              </a:rPr>
              <a:t>clt_fun.R</a:t>
            </a:r>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I took n = 100 observations from an exponential distribution with mean = .20 and plotted it (to the left)</a:t>
            </a:r>
          </a:p>
          <a:p>
            <a:r>
              <a:rPr lang="en-US" sz="2000" dirty="0">
                <a:latin typeface="Arial" panose="020B0604020202020204" pitchFamily="34" charset="0"/>
                <a:cs typeface="Arial" panose="020B0604020202020204" pitchFamily="34" charset="0"/>
              </a:rPr>
              <a:t>Then I repeated this process 120 times (took 120 samples of n = 100 observations) and plotted the mean of each sample – according to the CLT this plot </a:t>
            </a:r>
            <a:r>
              <a:rPr lang="en-US" sz="2000" i="1" dirty="0">
                <a:latin typeface="Arial" panose="020B0604020202020204" pitchFamily="34" charset="0"/>
                <a:cs typeface="Arial" panose="020B0604020202020204" pitchFamily="34" charset="0"/>
              </a:rPr>
              <a:t>of the means </a:t>
            </a:r>
            <a:r>
              <a:rPr lang="en-US" sz="2000" dirty="0">
                <a:latin typeface="Arial" panose="020B0604020202020204" pitchFamily="34" charset="0"/>
                <a:cs typeface="Arial" panose="020B0604020202020204" pitchFamily="34" charset="0"/>
              </a:rPr>
              <a:t>should look normal </a:t>
            </a:r>
            <a:r>
              <a:rPr lang="en-US" sz="2000" dirty="0">
                <a:latin typeface="Arial" panose="020B0604020202020204" pitchFamily="34" charset="0"/>
                <a:cs typeface="Arial" panose="020B0604020202020204" pitchFamily="34" charset="0"/>
                <a:sym typeface="Wingdings" panose="05000000000000000000" pitchFamily="2" charset="2"/>
              </a:rPr>
              <a:t></a:t>
            </a:r>
            <a:endParaRPr lang="en-US" sz="2000"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7ECF77ED-D3F9-D996-5EE3-15AE460B54B3}"/>
              </a:ext>
            </a:extLst>
          </p:cNvPr>
          <p:cNvSpPr txBox="1"/>
          <p:nvPr/>
        </p:nvSpPr>
        <p:spPr>
          <a:xfrm>
            <a:off x="1051560" y="2845234"/>
            <a:ext cx="459651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Exponential Distribution (n = 100 observations)</a:t>
            </a:r>
          </a:p>
        </p:txBody>
      </p:sp>
      <p:sp>
        <p:nvSpPr>
          <p:cNvPr id="9" name="TextBox 8">
            <a:extLst>
              <a:ext uri="{FF2B5EF4-FFF2-40B4-BE49-F238E27FC236}">
                <a16:creationId xmlns:a16="http://schemas.microsoft.com/office/drawing/2014/main" id="{D45E4058-B141-CBA9-6531-F95D1CC0F37E}"/>
              </a:ext>
            </a:extLst>
          </p:cNvPr>
          <p:cNvSpPr txBox="1"/>
          <p:nvPr/>
        </p:nvSpPr>
        <p:spPr>
          <a:xfrm>
            <a:off x="6788725" y="2706735"/>
            <a:ext cx="4950138"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Mean of 120 samples of n = 100 observations from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an exponential distribution</a:t>
            </a:r>
          </a:p>
        </p:txBody>
      </p:sp>
      <p:pic>
        <p:nvPicPr>
          <p:cNvPr id="11" name="Picture 10">
            <a:extLst>
              <a:ext uri="{FF2B5EF4-FFF2-40B4-BE49-F238E27FC236}">
                <a16:creationId xmlns:a16="http://schemas.microsoft.com/office/drawing/2014/main" id="{9F01752E-6529-96E6-29C6-AFE80489CA27}"/>
              </a:ext>
            </a:extLst>
          </p:cNvPr>
          <p:cNvPicPr>
            <a:picLocks noChangeAspect="1"/>
          </p:cNvPicPr>
          <p:nvPr/>
        </p:nvPicPr>
        <p:blipFill rotWithShape="1">
          <a:blip r:embed="rId2"/>
          <a:srcRect t="12242" b="-1"/>
          <a:stretch/>
        </p:blipFill>
        <p:spPr>
          <a:xfrm>
            <a:off x="6621780" y="3541906"/>
            <a:ext cx="5175885" cy="2151626"/>
          </a:xfrm>
          <a:prstGeom prst="rect">
            <a:avLst/>
          </a:prstGeom>
        </p:spPr>
      </p:pic>
      <p:pic>
        <p:nvPicPr>
          <p:cNvPr id="17" name="Picture 16">
            <a:extLst>
              <a:ext uri="{FF2B5EF4-FFF2-40B4-BE49-F238E27FC236}">
                <a16:creationId xmlns:a16="http://schemas.microsoft.com/office/drawing/2014/main" id="{EF92F284-2CA3-FE5C-6CCB-D941CA017139}"/>
              </a:ext>
            </a:extLst>
          </p:cNvPr>
          <p:cNvPicPr>
            <a:picLocks noChangeAspect="1"/>
          </p:cNvPicPr>
          <p:nvPr/>
        </p:nvPicPr>
        <p:blipFill>
          <a:blip r:embed="rId3"/>
          <a:stretch>
            <a:fillRect/>
          </a:stretch>
        </p:blipFill>
        <p:spPr>
          <a:xfrm>
            <a:off x="1051560" y="3429000"/>
            <a:ext cx="5175885" cy="2237824"/>
          </a:xfrm>
          <a:prstGeom prst="rect">
            <a:avLst/>
          </a:prstGeom>
        </p:spPr>
      </p:pic>
      <p:sp>
        <p:nvSpPr>
          <p:cNvPr id="22" name="TextBox 21">
            <a:extLst>
              <a:ext uri="{FF2B5EF4-FFF2-40B4-BE49-F238E27FC236}">
                <a16:creationId xmlns:a16="http://schemas.microsoft.com/office/drawing/2014/main" id="{5F010783-5398-6779-8F0A-78FDD58657B4}"/>
              </a:ext>
            </a:extLst>
          </p:cNvPr>
          <p:cNvSpPr txBox="1"/>
          <p:nvPr/>
        </p:nvSpPr>
        <p:spPr>
          <a:xfrm>
            <a:off x="155643" y="6126714"/>
            <a:ext cx="584429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Try increasing the number of samples from 120 to 1200</a:t>
            </a:r>
          </a:p>
        </p:txBody>
      </p:sp>
      <p:pic>
        <p:nvPicPr>
          <p:cNvPr id="28" name="Picture 27">
            <a:extLst>
              <a:ext uri="{FF2B5EF4-FFF2-40B4-BE49-F238E27FC236}">
                <a16:creationId xmlns:a16="http://schemas.microsoft.com/office/drawing/2014/main" id="{9AF42460-A607-5857-F277-B21EFA40A422}"/>
              </a:ext>
            </a:extLst>
          </p:cNvPr>
          <p:cNvPicPr>
            <a:picLocks noChangeAspect="1"/>
          </p:cNvPicPr>
          <p:nvPr/>
        </p:nvPicPr>
        <p:blipFill>
          <a:blip r:embed="rId4"/>
          <a:stretch>
            <a:fillRect/>
          </a:stretch>
        </p:blipFill>
        <p:spPr>
          <a:xfrm>
            <a:off x="2021912" y="956175"/>
            <a:ext cx="7839075" cy="4800600"/>
          </a:xfrm>
          <a:prstGeom prst="rect">
            <a:avLst/>
          </a:prstGeom>
        </p:spPr>
      </p:pic>
    </p:spTree>
    <p:extLst>
      <p:ext uri="{BB962C8B-B14F-4D97-AF65-F5344CB8AC3E}">
        <p14:creationId xmlns:p14="http://schemas.microsoft.com/office/powerpoint/2010/main" val="10398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ppt_x"/>
                                          </p:val>
                                        </p:tav>
                                        <p:tav tm="100000">
                                          <p:val>
                                            <p:strVal val="#ppt_x"/>
                                          </p:val>
                                        </p:tav>
                                      </p:tavLst>
                                    </p:anim>
                                    <p:anim calcmode="lin" valueType="num">
                                      <p:cBhvr additive="base">
                                        <p:cTn id="8"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Civil rights activist Al Sharpton and A$AP Rocky. Photo credit: Tom Williams/CQ-Roll Call Inc via Getty Images; Cindy Ord/WireImage">
            <a:extLst>
              <a:ext uri="{FF2B5EF4-FFF2-40B4-BE49-F238E27FC236}">
                <a16:creationId xmlns:a16="http://schemas.microsoft.com/office/drawing/2014/main" id="{2732CF41-2398-09FA-9F16-4738A3FA96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5223" y="1148877"/>
            <a:ext cx="6629400" cy="421005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5A05FD9A-3015-D53E-6A46-2915CE3C8946}"/>
              </a:ext>
            </a:extLst>
          </p:cNvPr>
          <p:cNvSpPr txBox="1"/>
          <p:nvPr/>
        </p:nvSpPr>
        <p:spPr>
          <a:xfrm>
            <a:off x="7891564" y="1407242"/>
            <a:ext cx="3587075" cy="369331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22222"/>
                </a:solidFill>
                <a:effectLst/>
                <a:uLnTx/>
                <a:uFillTx/>
                <a:latin typeface="Helvetica Neue"/>
                <a:ea typeface="+mn-ea"/>
                <a:cs typeface="+mn-cs"/>
              </a:rPr>
              <a:t>“Sharpton took to X/Twitter to call out the jury selection process after only four Black people were selected as possible jurors for the New Yorker’s case, writing: “It has been brought to my attention by the [his civil rights </a:t>
            </a:r>
            <a:r>
              <a:rPr kumimoji="0" lang="en-US" sz="1800" b="0" i="0" u="none" strike="noStrike" kern="1200" cap="none" spc="0" normalizeH="0" baseline="0" noProof="0" dirty="0" err="1">
                <a:ln>
                  <a:noFill/>
                </a:ln>
                <a:solidFill>
                  <a:srgbClr val="222222"/>
                </a:solidFill>
                <a:effectLst/>
                <a:uLnTx/>
                <a:uFillTx/>
                <a:latin typeface="Helvetica Neue"/>
                <a:ea typeface="+mn-ea"/>
                <a:cs typeface="+mn-cs"/>
              </a:rPr>
              <a:t>organisation</a:t>
            </a:r>
            <a:r>
              <a:rPr kumimoji="0" lang="en-US" sz="1800" b="0" i="0" u="none" strike="noStrike" kern="1200" cap="none" spc="0" normalizeH="0" baseline="0" noProof="0" dirty="0">
                <a:ln>
                  <a:noFill/>
                </a:ln>
                <a:solidFill>
                  <a:srgbClr val="222222"/>
                </a:solidFill>
                <a:effectLst/>
                <a:uLnTx/>
                <a:uFillTx/>
                <a:latin typeface="Helvetica Neue"/>
                <a:ea typeface="+mn-ea"/>
                <a:cs typeface="+mn-cs"/>
              </a:rPr>
              <a:t>] National Action Network’s Los Angeles office that out of 106 people called to potentially sit as jurors in A$AP Rocky’s trial in Los Angeles, there are only four Black people.”</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E3709C88-BD53-2FCE-A5B5-903C1F53C716}"/>
              </a:ext>
            </a:extLst>
          </p:cNvPr>
          <p:cNvSpPr txBox="1"/>
          <p:nvPr/>
        </p:nvSpPr>
        <p:spPr>
          <a:xfrm>
            <a:off x="255351" y="6014405"/>
            <a:ext cx="6094378"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hlinkClick r:id="rId3"/>
              </a:rPr>
              <a:t>Al Sharpton says "ridiculous" jury selection process may "deprive A$AP Rocky of a fair trial"</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456826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graph of numbers and lines&#10;&#10;Description automatically generated with medium confidence">
            <a:extLst>
              <a:ext uri="{FF2B5EF4-FFF2-40B4-BE49-F238E27FC236}">
                <a16:creationId xmlns:a16="http://schemas.microsoft.com/office/drawing/2014/main" id="{C52C6A9B-8AD1-DD26-3799-5EF5B21E35B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36202" y="605117"/>
            <a:ext cx="11719596" cy="5647765"/>
          </a:xfrm>
        </p:spPr>
      </p:pic>
      <p:sp>
        <p:nvSpPr>
          <p:cNvPr id="6" name="TextBox 5">
            <a:extLst>
              <a:ext uri="{FF2B5EF4-FFF2-40B4-BE49-F238E27FC236}">
                <a16:creationId xmlns:a16="http://schemas.microsoft.com/office/drawing/2014/main" id="{DF483A83-2FF7-4E6E-404A-09C5993BC688}"/>
              </a:ext>
            </a:extLst>
          </p:cNvPr>
          <p:cNvSpPr txBox="1"/>
          <p:nvPr/>
        </p:nvSpPr>
        <p:spPr>
          <a:xfrm>
            <a:off x="389106" y="6352162"/>
            <a:ext cx="330789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See my write-up on A$AP Rocky</a:t>
            </a:r>
          </a:p>
        </p:txBody>
      </p:sp>
      <p:sp>
        <p:nvSpPr>
          <p:cNvPr id="7" name="TextBox 6">
            <a:extLst>
              <a:ext uri="{FF2B5EF4-FFF2-40B4-BE49-F238E27FC236}">
                <a16:creationId xmlns:a16="http://schemas.microsoft.com/office/drawing/2014/main" id="{98BD1A53-FBA4-8100-F824-2692368CA7E9}"/>
              </a:ext>
            </a:extLst>
          </p:cNvPr>
          <p:cNvSpPr txBox="1"/>
          <p:nvPr/>
        </p:nvSpPr>
        <p:spPr>
          <a:xfrm>
            <a:off x="7072009" y="136505"/>
            <a:ext cx="501098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Why is the distribution not converging to normal?</a:t>
            </a:r>
          </a:p>
        </p:txBody>
      </p:sp>
    </p:spTree>
    <p:extLst>
      <p:ext uri="{BB962C8B-B14F-4D97-AF65-F5344CB8AC3E}">
        <p14:creationId xmlns:p14="http://schemas.microsoft.com/office/powerpoint/2010/main" val="26629295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graph of numbers and numbers&#10;&#10;Description automatically generated with medium confidence">
            <a:extLst>
              <a:ext uri="{FF2B5EF4-FFF2-40B4-BE49-F238E27FC236}">
                <a16:creationId xmlns:a16="http://schemas.microsoft.com/office/drawing/2014/main" id="{47F7DC4D-DB97-4BA0-72DE-10B79C57BFA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4101" y="191654"/>
            <a:ext cx="10297098" cy="6474691"/>
          </a:xfrm>
          <a:prstGeom prst="rect">
            <a:avLst/>
          </a:prstGeom>
        </p:spPr>
      </p:pic>
      <p:sp>
        <p:nvSpPr>
          <p:cNvPr id="6" name="TextBox 5">
            <a:extLst>
              <a:ext uri="{FF2B5EF4-FFF2-40B4-BE49-F238E27FC236}">
                <a16:creationId xmlns:a16="http://schemas.microsoft.com/office/drawing/2014/main" id="{5D22060E-E660-4590-3B1D-A7C9602ABD62}"/>
              </a:ext>
            </a:extLst>
          </p:cNvPr>
          <p:cNvSpPr txBox="1"/>
          <p:nvPr/>
        </p:nvSpPr>
        <p:spPr>
          <a:xfrm>
            <a:off x="9533107" y="5136204"/>
            <a:ext cx="1674241"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Higher precision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More confidence</a:t>
            </a:r>
          </a:p>
        </p:txBody>
      </p:sp>
      <p:sp>
        <p:nvSpPr>
          <p:cNvPr id="7" name="TextBox 6">
            <a:extLst>
              <a:ext uri="{FF2B5EF4-FFF2-40B4-BE49-F238E27FC236}">
                <a16:creationId xmlns:a16="http://schemas.microsoft.com/office/drawing/2014/main" id="{D69371F4-AC40-BCAB-4DFD-5CC8F34FC275}"/>
              </a:ext>
            </a:extLst>
          </p:cNvPr>
          <p:cNvSpPr txBox="1"/>
          <p:nvPr/>
        </p:nvSpPr>
        <p:spPr>
          <a:xfrm>
            <a:off x="2545404" y="1942289"/>
            <a:ext cx="1587422"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Low precision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Low confidence</a:t>
            </a:r>
          </a:p>
        </p:txBody>
      </p:sp>
      <p:sp>
        <p:nvSpPr>
          <p:cNvPr id="2" name="Oval 1">
            <a:extLst>
              <a:ext uri="{FF2B5EF4-FFF2-40B4-BE49-F238E27FC236}">
                <a16:creationId xmlns:a16="http://schemas.microsoft.com/office/drawing/2014/main" id="{0B7A1725-8725-B72A-99B5-2E7F2309A506}"/>
              </a:ext>
            </a:extLst>
          </p:cNvPr>
          <p:cNvSpPr/>
          <p:nvPr/>
        </p:nvSpPr>
        <p:spPr>
          <a:xfrm>
            <a:off x="7818539" y="0"/>
            <a:ext cx="3926048" cy="331994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79482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theme/theme1.xml><?xml version="1.0" encoding="utf-8"?>
<a:theme xmlns:a="http://schemas.openxmlformats.org/drawingml/2006/main" name="RetrospectVTI">
  <a:themeElements>
    <a:clrScheme name="AnalogousFromRegularSeedRightStep">
      <a:dk1>
        <a:srgbClr val="000000"/>
      </a:dk1>
      <a:lt1>
        <a:srgbClr val="FFFFFF"/>
      </a:lt1>
      <a:dk2>
        <a:srgbClr val="34381F"/>
      </a:dk2>
      <a:lt2>
        <a:srgbClr val="E2E8E7"/>
      </a:lt2>
      <a:accent1>
        <a:srgbClr val="DA3657"/>
      </a:accent1>
      <a:accent2>
        <a:srgbClr val="C84724"/>
      </a:accent2>
      <a:accent3>
        <a:srgbClr val="D39834"/>
      </a:accent3>
      <a:accent4>
        <a:srgbClr val="A2A91E"/>
      </a:accent4>
      <a:accent5>
        <a:srgbClr val="76B52D"/>
      </a:accent5>
      <a:accent6>
        <a:srgbClr val="34BB22"/>
      </a:accent6>
      <a:hlink>
        <a:srgbClr val="31937F"/>
      </a:hlink>
      <a:folHlink>
        <a:srgbClr val="7F7F7F"/>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ABE3C30C-0FC0-4450-828E-52DE70F1BCCB}" vid="{A6E2497D-935A-4CFD-B9FD-6DCB15FA68BF}"/>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2926</TotalTime>
  <Words>3713</Words>
  <Application>Microsoft Office PowerPoint</Application>
  <PresentationFormat>Widescreen</PresentationFormat>
  <Paragraphs>293</Paragraphs>
  <Slides>36</Slides>
  <Notes>5</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36</vt:i4>
      </vt:variant>
    </vt:vector>
  </HeadingPairs>
  <TitlesOfParts>
    <vt:vector size="48" baseType="lpstr">
      <vt:lpstr>Aptos</vt:lpstr>
      <vt:lpstr>Aptos Display (Headings)</vt:lpstr>
      <vt:lpstr>Arial</vt:lpstr>
      <vt:lpstr>Bookman Old Style</vt:lpstr>
      <vt:lpstr>Calibri</vt:lpstr>
      <vt:lpstr>Calibri Light</vt:lpstr>
      <vt:lpstr>Cambria</vt:lpstr>
      <vt:lpstr>Cambria Math</vt:lpstr>
      <vt:lpstr>Franklin Gothic Book</vt:lpstr>
      <vt:lpstr>Helvetica Neue</vt:lpstr>
      <vt:lpstr>RetrospectVTI</vt:lpstr>
      <vt:lpstr>1_Office Theme</vt:lpstr>
      <vt:lpstr>Regression Mechanics</vt:lpstr>
      <vt:lpstr>Medical Expenditure Panel Survey (Katie’s Study?)</vt:lpstr>
      <vt:lpstr>Medical Expenditure Panel Survey</vt:lpstr>
      <vt:lpstr>PowerPoint Presentation</vt:lpstr>
      <vt:lpstr>Results</vt:lpstr>
      <vt:lpstr>PowerPoint Presentation</vt:lpstr>
      <vt:lpstr>Visualization</vt:lpstr>
      <vt:lpstr>Advanced Topic: Heterogeneous Variable Types</vt:lpstr>
      <vt:lpstr>Categorical Variables</vt:lpstr>
      <vt:lpstr>Categorical Variables: Dummy Variables</vt:lpstr>
      <vt:lpstr>Models with Dummy Variables</vt:lpstr>
      <vt:lpstr>Interpreting Dummy Variables</vt:lpstr>
      <vt:lpstr>PowerPoint Presentation</vt:lpstr>
      <vt:lpstr>Categorical Variables and Dummies</vt:lpstr>
      <vt:lpstr>Example: Recoding dummy variables</vt:lpstr>
      <vt:lpstr>Example</vt:lpstr>
      <vt:lpstr>The correction</vt:lpstr>
      <vt:lpstr>PowerPoint Presentation</vt:lpstr>
      <vt:lpstr>Creating ‘Fast Dummies’ in R</vt:lpstr>
      <vt:lpstr>Quadratic Terms </vt:lpstr>
      <vt:lpstr>Quadratic Terms </vt:lpstr>
      <vt:lpstr>Interaction Terms</vt:lpstr>
      <vt:lpstr>Central Limit Theorem (CLT) &amp; the Law of Large Numbers (LLN)</vt:lpstr>
      <vt:lpstr>Central Limit Theorem (CLT)</vt:lpstr>
      <vt:lpstr>Implications for Sampling Distributions</vt:lpstr>
      <vt:lpstr>Implications for Confidence Intervals</vt:lpstr>
      <vt:lpstr>Practical Considerations</vt:lpstr>
      <vt:lpstr>Constructing Confidence Intervals (CIs) for μ </vt:lpstr>
      <vt:lpstr>Example</vt:lpstr>
      <vt:lpstr>How do we interpret the CI?</vt:lpstr>
      <vt:lpstr>Conceptual Understanding of CIs</vt:lpstr>
      <vt:lpstr>Central Limit Theorem (CLT) - Redux</vt:lpstr>
      <vt:lpstr>From exponential to normal?</vt:lpstr>
      <vt:lpstr>PowerPoint Presentation</vt:lpstr>
      <vt:lpstr>PowerPoint Presentation</vt:lpstr>
      <vt:lpstr>PowerPoint Presentation</vt:lpstr>
    </vt:vector>
  </TitlesOfParts>
  <Company>The Ohio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Barboza-Salerno, Gia</dc:creator>
  <cp:lastModifiedBy>Barboza-Salerno, Gia</cp:lastModifiedBy>
  <cp:revision>23</cp:revision>
  <dcterms:created xsi:type="dcterms:W3CDTF">2026-02-15T12:56:49Z</dcterms:created>
  <dcterms:modified xsi:type="dcterms:W3CDTF">2026-02-17T13:51:51Z</dcterms:modified>
</cp:coreProperties>
</file>