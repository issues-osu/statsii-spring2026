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39"/>
  </p:notesMasterIdLst>
  <p:sldIdLst>
    <p:sldId id="1356" r:id="rId3"/>
    <p:sldId id="1359" r:id="rId4"/>
    <p:sldId id="1364" r:id="rId5"/>
    <p:sldId id="1360" r:id="rId6"/>
    <p:sldId id="1361" r:id="rId7"/>
    <p:sldId id="1365" r:id="rId8"/>
    <p:sldId id="1362" r:id="rId9"/>
    <p:sldId id="1299" r:id="rId10"/>
    <p:sldId id="1300" r:id="rId11"/>
    <p:sldId id="1357" r:id="rId12"/>
    <p:sldId id="815" r:id="rId13"/>
    <p:sldId id="837" r:id="rId14"/>
    <p:sldId id="1366" r:id="rId15"/>
    <p:sldId id="1303" r:id="rId16"/>
    <p:sldId id="1304" r:id="rId17"/>
    <p:sldId id="1305" r:id="rId18"/>
    <p:sldId id="1306" r:id="rId19"/>
    <p:sldId id="1352" r:id="rId20"/>
    <p:sldId id="1358" r:id="rId21"/>
    <p:sldId id="1307" r:id="rId22"/>
    <p:sldId id="1308" r:id="rId23"/>
    <p:sldId id="1309" r:id="rId24"/>
    <p:sldId id="260" r:id="rId25"/>
    <p:sldId id="262" r:id="rId26"/>
    <p:sldId id="1344" r:id="rId27"/>
    <p:sldId id="1346" r:id="rId28"/>
    <p:sldId id="1347" r:id="rId29"/>
    <p:sldId id="263" r:id="rId30"/>
    <p:sldId id="1353" r:id="rId31"/>
    <p:sldId id="266" r:id="rId32"/>
    <p:sldId id="264" r:id="rId33"/>
    <p:sldId id="1345" r:id="rId34"/>
    <p:sldId id="1354" r:id="rId35"/>
    <p:sldId id="1355" r:id="rId36"/>
    <p:sldId id="1313" r:id="rId37"/>
    <p:sldId id="1315"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9" autoAdjust="0"/>
    <p:restoredTop sz="62145" autoAdjust="0"/>
  </p:normalViewPr>
  <p:slideViewPr>
    <p:cSldViewPr snapToGrid="0">
      <p:cViewPr varScale="1">
        <p:scale>
          <a:sx n="76" d="100"/>
          <a:sy n="76" d="100"/>
        </p:scale>
        <p:origin x="1548"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CC442E-3413-436E-A404-1DA374D09426}" type="datetimeFigureOut">
              <a:rPr lang="en-US" smtClean="0"/>
              <a:t>2/15/2026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F08EEB-DA12-4FF1-915C-CE025D5E0743}" type="slidenum">
              <a:rPr lang="en-US" smtClean="0"/>
              <a:t>‹#›</a:t>
            </a:fld>
            <a:endParaRPr lang="en-US"/>
          </a:p>
        </p:txBody>
      </p:sp>
    </p:spTree>
    <p:extLst>
      <p:ext uri="{BB962C8B-B14F-4D97-AF65-F5344CB8AC3E}">
        <p14:creationId xmlns:p14="http://schemas.microsoft.com/office/powerpoint/2010/main" val="3817083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1A8A04-E4C3-A244-9223-3E280CABE47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17432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1A8A04-E4C3-A244-9223-3E280CABE47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011090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2BCFFC-3B68-4C25-9794-F3AF3EB3899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005799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distribution is not converging because I am plotting the </a:t>
            </a:r>
            <a:r>
              <a:rPr lang="en-US" b="1" dirty="0"/>
              <a:t>distribution of counts in a small jury (n = 12)</a:t>
            </a:r>
            <a:r>
              <a:rPr lang="en-US" dirty="0"/>
              <a:t>, not the distribution of averages across large samples.</a:t>
            </a:r>
          </a:p>
          <a:p>
            <a:r>
              <a:rPr lang="en-US" dirty="0"/>
              <a:t>This distribution is actually </a:t>
            </a:r>
            <a:r>
              <a:rPr lang="en-US" b="1" dirty="0"/>
              <a:t>binomial</a:t>
            </a:r>
            <a:r>
              <a:rPr lang="en-US" dirty="0"/>
              <a:t>, not normal, and since jury size stays fixed at 12, it remains skewed even when you simulate many juries. Increasing the number of simulations just makes the histogram smoother; it doesn’t change the underlying shape.</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2BCFFC-3B68-4C25-9794-F3AF3EB3899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5362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each sample contains many more people, so:</a:t>
            </a:r>
          </a:p>
          <a:p>
            <a:r>
              <a:rPr lang="en-US" dirty="0"/>
              <a:t>• sampling variability shrinks</a:t>
            </a:r>
            <a:br>
              <a:rPr lang="en-US" dirty="0"/>
            </a:br>
            <a:r>
              <a:rPr lang="en-US" dirty="0"/>
              <a:t>• results cluster around the expected value</a:t>
            </a:r>
            <a:br>
              <a:rPr lang="en-US" dirty="0"/>
            </a:br>
            <a:r>
              <a:rPr lang="en-US" dirty="0"/>
              <a:t>• the distribution looks much more normal.</a:t>
            </a:r>
          </a:p>
          <a:p>
            <a:r>
              <a:rPr lang="en-US" dirty="0"/>
              <a:t>Now CLT conditions begin to apply because the sample size per draw is large.</a:t>
            </a:r>
          </a:p>
          <a:p>
            <a:endParaRPr lang="en-US" dirty="0"/>
          </a:p>
        </p:txBody>
      </p:sp>
      <p:sp>
        <p:nvSpPr>
          <p:cNvPr id="4" name="Slide Number Placeholder 3"/>
          <p:cNvSpPr>
            <a:spLocks noGrp="1"/>
          </p:cNvSpPr>
          <p:nvPr>
            <p:ph type="sldNum" sz="quarter" idx="5"/>
          </p:nvPr>
        </p:nvSpPr>
        <p:spPr/>
        <p:txBody>
          <a:bodyPr/>
          <a:lstStyle/>
          <a:p>
            <a:fld id="{F7F08EEB-DA12-4FF1-915C-CE025D5E0743}" type="slidenum">
              <a:rPr lang="en-US" smtClean="0"/>
              <a:t>36</a:t>
            </a:fld>
            <a:endParaRPr lang="en-US"/>
          </a:p>
        </p:txBody>
      </p:sp>
    </p:spTree>
    <p:extLst>
      <p:ext uri="{BB962C8B-B14F-4D97-AF65-F5344CB8AC3E}">
        <p14:creationId xmlns:p14="http://schemas.microsoft.com/office/powerpoint/2010/main" val="38596334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E3965E-AC41-4711-9D10-E25ABB132D86}"/>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a:extLst>
              <a:ext uri="{FF2B5EF4-FFF2-40B4-BE49-F238E27FC236}">
                <a16:creationId xmlns:a16="http://schemas.microsoft.com/office/drawing/2014/main" id="{1F5DC8C3-BA5F-4EED-BB9A-A14272BD82A1}"/>
              </a:ext>
            </a:extLst>
          </p:cNvPr>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9925CCF1-92C0-4AF3-BFAF-4921631915AB}"/>
              </a:ext>
            </a:extLst>
          </p:cNvPr>
          <p:cNvSpPr>
            <a:spLocks noGrp="1"/>
          </p:cNvSpPr>
          <p:nvPr>
            <p:ph type="dt" sz="half" idx="10"/>
          </p:nvPr>
        </p:nvSpPr>
        <p:spPr/>
        <p:txBody>
          <a:bodyPr/>
          <a:lstStyle/>
          <a:p>
            <a:fld id="{9184DA70-C731-4C70-880D-CCD4705E623C}" type="datetime1">
              <a:rPr lang="en-US" smtClean="0"/>
              <a:t>2/15/2026</a:t>
            </a:fld>
            <a:endParaRPr lang="en-US" dirty="0"/>
          </a:p>
        </p:txBody>
      </p:sp>
      <p:sp>
        <p:nvSpPr>
          <p:cNvPr id="5" name="Footer Placeholder 4">
            <a:extLst>
              <a:ext uri="{FF2B5EF4-FFF2-40B4-BE49-F238E27FC236}">
                <a16:creationId xmlns:a16="http://schemas.microsoft.com/office/drawing/2014/main" id="{051A78A9-3DFF-4937-A9F2-5D8CF495F36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FAEB271-5CC0-4759-BC6E-8BE53AB227C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942870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54D8B55-9EA8-4B81-8E84-9B93B0A27559}"/>
              </a:ext>
            </a:extLst>
          </p:cNvPr>
          <p:cNvSpPr>
            <a:spLocks noGrp="1"/>
          </p:cNvSpPr>
          <p:nvPr>
            <p:ph type="dt" sz="half" idx="10"/>
          </p:nvPr>
        </p:nvSpPr>
        <p:spPr/>
        <p:txBody>
          <a:bodyPr/>
          <a:lstStyle/>
          <a:p>
            <a:fld id="{4BE1D723-8F53-4F53-90B0-1982A396982E}" type="datetime1">
              <a:rPr lang="en-US" smtClean="0"/>
              <a:t>2/15/2026</a:t>
            </a:fld>
            <a:endParaRPr lang="en-US" dirty="0"/>
          </a:p>
        </p:txBody>
      </p:sp>
      <p:sp>
        <p:nvSpPr>
          <p:cNvPr id="8" name="Footer Placeholder 7">
            <a:extLst>
              <a:ext uri="{FF2B5EF4-FFF2-40B4-BE49-F238E27FC236}">
                <a16:creationId xmlns:a16="http://schemas.microsoft.com/office/drawing/2014/main" id="{062CA021-2578-47CB-822C-BDDFF7223B2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AAB51D-4141-4682-9375-DAFD5FB9DD1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156113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85C21A-8B93-4657-B5DF-7EAEAD3BE127}"/>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cxnSp>
        <p:nvCxnSpPr>
          <p:cNvPr id="9" name="Straight Connector 8">
            <a:extLst>
              <a:ext uri="{FF2B5EF4-FFF2-40B4-BE49-F238E27FC236}">
                <a16:creationId xmlns:a16="http://schemas.microsoft.com/office/drawing/2014/main" id="{459DE2C1-4C52-40A3-8959-27B2C1BEBFF6}"/>
              </a:ext>
            </a:extLst>
          </p:cNvPr>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a:extLst>
              <a:ext uri="{FF2B5EF4-FFF2-40B4-BE49-F238E27FC236}">
                <a16:creationId xmlns:a16="http://schemas.microsoft.com/office/drawing/2014/main" id="{AAF2E137-EC28-48F8-9198-1F02539029B6}"/>
              </a:ext>
            </a:extLst>
          </p:cNvPr>
          <p:cNvSpPr>
            <a:spLocks noGrp="1"/>
          </p:cNvSpPr>
          <p:nvPr>
            <p:ph type="dt" sz="half" idx="10"/>
          </p:nvPr>
        </p:nvSpPr>
        <p:spPr/>
        <p:txBody>
          <a:bodyPr/>
          <a:lstStyle/>
          <a:p>
            <a:fld id="{97669AF7-7BEB-44E4-9852-375E34362B5B}" type="datetime1">
              <a:rPr lang="en-US" smtClean="0"/>
              <a:t>2/15/2026</a:t>
            </a:fld>
            <a:endParaRPr lang="en-US" dirty="0"/>
          </a:p>
        </p:txBody>
      </p:sp>
      <p:sp>
        <p:nvSpPr>
          <p:cNvPr id="8" name="Footer Placeholder 7">
            <a:extLst>
              <a:ext uri="{FF2B5EF4-FFF2-40B4-BE49-F238E27FC236}">
                <a16:creationId xmlns:a16="http://schemas.microsoft.com/office/drawing/2014/main" id="{189422CD-6F62-4DD6-89EF-07A60B42D219}"/>
              </a:ext>
            </a:extLst>
          </p:cNvPr>
          <p:cNvSpPr>
            <a:spLocks noGrp="1"/>
          </p:cNvSpPr>
          <p:nvPr>
            <p:ph type="ftr" sz="quarter" idx="11"/>
          </p:nvPr>
        </p:nvSpPr>
        <p:spPr/>
        <p:txBody>
          <a:bodyPr/>
          <a:lstStyle/>
          <a:p>
            <a:endParaRPr lang="en-US" dirty="0"/>
          </a:p>
        </p:txBody>
      </p:sp>
      <p:sp>
        <p:nvSpPr>
          <p:cNvPr id="11" name="Slide Number Placeholder 10">
            <a:extLst>
              <a:ext uri="{FF2B5EF4-FFF2-40B4-BE49-F238E27FC236}">
                <a16:creationId xmlns:a16="http://schemas.microsoft.com/office/drawing/2014/main" id="{69C6AFF8-42B4-4D05-969B-9F5FB335555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47134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5782D47D-B0DC-4C40-BCC6-BBBA32584A38}"/>
              </a:ext>
            </a:extLst>
          </p:cNvPr>
          <p:cNvSpPr>
            <a:spLocks noGrp="1"/>
          </p:cNvSpPr>
          <p:nvPr>
            <p:ph type="dt" sz="half" idx="10"/>
          </p:nvPr>
        </p:nvSpPr>
        <p:spPr/>
        <p:txBody>
          <a:bodyPr/>
          <a:lstStyle/>
          <a:p>
            <a:fld id="{BAAAC38D-0552-4C82-B593-E6124DFADBE2}" type="datetime1">
              <a:rPr lang="en-US" smtClean="0"/>
              <a:t>2/15/2026</a:t>
            </a:fld>
            <a:endParaRPr lang="en-US" dirty="0"/>
          </a:p>
        </p:txBody>
      </p:sp>
      <p:sp>
        <p:nvSpPr>
          <p:cNvPr id="9" name="Footer Placeholder 8">
            <a:extLst>
              <a:ext uri="{FF2B5EF4-FFF2-40B4-BE49-F238E27FC236}">
                <a16:creationId xmlns:a16="http://schemas.microsoft.com/office/drawing/2014/main" id="{4690D34E-7EBD-44B2-83CA-4C126A18D7EF}"/>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2AC511A1-9BBD-42DE-92FB-2AF44F8E97A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665710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8AF8A515-AA94-45D1-9223-5C2272618D85}"/>
              </a:ext>
            </a:extLst>
          </p:cNvPr>
          <p:cNvSpPr>
            <a:spLocks noGrp="1"/>
          </p:cNvSpPr>
          <p:nvPr>
            <p:ph type="dt" sz="half" idx="10"/>
          </p:nvPr>
        </p:nvSpPr>
        <p:spPr/>
        <p:txBody>
          <a:bodyPr/>
          <a:lstStyle/>
          <a:p>
            <a:fld id="{D9DF0F1C-5577-4ACB-BB62-DF8F3C494C7E}" type="datetime1">
              <a:rPr lang="en-US" smtClean="0"/>
              <a:t>2/15/2026</a:t>
            </a:fld>
            <a:endParaRPr lang="en-US" dirty="0"/>
          </a:p>
        </p:txBody>
      </p:sp>
      <p:sp>
        <p:nvSpPr>
          <p:cNvPr id="11" name="Footer Placeholder 10">
            <a:extLst>
              <a:ext uri="{FF2B5EF4-FFF2-40B4-BE49-F238E27FC236}">
                <a16:creationId xmlns:a16="http://schemas.microsoft.com/office/drawing/2014/main" id="{D052F5BC-98E0-4D60-AD67-9547738B7DD4}"/>
              </a:ext>
            </a:extLst>
          </p:cNvPr>
          <p:cNvSpPr>
            <a:spLocks noGrp="1"/>
          </p:cNvSpPr>
          <p:nvPr>
            <p:ph type="ftr" sz="quarter" idx="11"/>
          </p:nvPr>
        </p:nvSpPr>
        <p:spPr/>
        <p:txBody>
          <a:bodyPr/>
          <a:lstStyle/>
          <a:p>
            <a:endParaRPr lang="en-US" dirty="0"/>
          </a:p>
        </p:txBody>
      </p:sp>
      <p:sp>
        <p:nvSpPr>
          <p:cNvPr id="12" name="Slide Number Placeholder 11">
            <a:extLst>
              <a:ext uri="{FF2B5EF4-FFF2-40B4-BE49-F238E27FC236}">
                <a16:creationId xmlns:a16="http://schemas.microsoft.com/office/drawing/2014/main" id="{A38552DC-952E-41EA-AAAF-C2187523C0B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71644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7392073F-158F-44A3-8913-917AFFC1BC20}"/>
              </a:ext>
            </a:extLst>
          </p:cNvPr>
          <p:cNvSpPr>
            <a:spLocks noGrp="1"/>
          </p:cNvSpPr>
          <p:nvPr>
            <p:ph type="dt" sz="half" idx="10"/>
          </p:nvPr>
        </p:nvSpPr>
        <p:spPr/>
        <p:txBody>
          <a:bodyPr/>
          <a:lstStyle/>
          <a:p>
            <a:fld id="{1775B394-D9F9-4F0C-B15D-605F45CB9E9F}" type="datetime1">
              <a:rPr lang="en-US" smtClean="0"/>
              <a:t>2/15/2026</a:t>
            </a:fld>
            <a:endParaRPr lang="en-US" dirty="0"/>
          </a:p>
        </p:txBody>
      </p:sp>
      <p:sp>
        <p:nvSpPr>
          <p:cNvPr id="7" name="Footer Placeholder 6">
            <a:extLst>
              <a:ext uri="{FF2B5EF4-FFF2-40B4-BE49-F238E27FC236}">
                <a16:creationId xmlns:a16="http://schemas.microsoft.com/office/drawing/2014/main" id="{EED72207-24CA-42B7-A975-2F8E41CBA904}"/>
              </a:ext>
            </a:extLst>
          </p:cNvPr>
          <p:cNvSpPr>
            <a:spLocks noGrp="1"/>
          </p:cNvSpPr>
          <p:nvPr>
            <p:ph type="ftr" sz="quarter" idx="11"/>
          </p:nvPr>
        </p:nvSpPr>
        <p:spPr/>
        <p:txBody>
          <a:bodyPr/>
          <a:lstStyle/>
          <a:p>
            <a:endParaRPr lang="en-US" dirty="0"/>
          </a:p>
        </p:txBody>
      </p:sp>
      <p:sp>
        <p:nvSpPr>
          <p:cNvPr id="8" name="Slide Number Placeholder 7">
            <a:extLst>
              <a:ext uri="{FF2B5EF4-FFF2-40B4-BE49-F238E27FC236}">
                <a16:creationId xmlns:a16="http://schemas.microsoft.com/office/drawing/2014/main" id="{D01080F2-251A-4B88-9A62-16F46D724F83}"/>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196716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8E9C91B-7EAD-4562-AB0E-DFB9663AECE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Date Placeholder 1">
            <a:extLst>
              <a:ext uri="{FF2B5EF4-FFF2-40B4-BE49-F238E27FC236}">
                <a16:creationId xmlns:a16="http://schemas.microsoft.com/office/drawing/2014/main" id="{94E9223F-721F-47BF-9FD5-0F8D12FF0DE1}"/>
              </a:ext>
            </a:extLst>
          </p:cNvPr>
          <p:cNvSpPr>
            <a:spLocks noGrp="1"/>
          </p:cNvSpPr>
          <p:nvPr>
            <p:ph type="dt" sz="half" idx="10"/>
          </p:nvPr>
        </p:nvSpPr>
        <p:spPr/>
        <p:txBody>
          <a:bodyPr/>
          <a:lstStyle/>
          <a:p>
            <a:fld id="{39667345-2558-425A-8533-9BFDBCE15005}" type="datetime1">
              <a:rPr lang="en-US" smtClean="0"/>
              <a:t>2/15/2026</a:t>
            </a:fld>
            <a:endParaRPr lang="en-US" dirty="0"/>
          </a:p>
        </p:txBody>
      </p:sp>
      <p:sp>
        <p:nvSpPr>
          <p:cNvPr id="3" name="Footer Placeholder 2">
            <a:extLst>
              <a:ext uri="{FF2B5EF4-FFF2-40B4-BE49-F238E27FC236}">
                <a16:creationId xmlns:a16="http://schemas.microsoft.com/office/drawing/2014/main" id="{05915714-6BBA-4593-8591-4E26F7D58D9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BE06F857-D2E1-44DD-ABDD-EBB739645B67}"/>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798812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6D90D66-BCB9-4229-A829-628874352AC0}"/>
              </a:ext>
            </a:extLst>
          </p:cNvPr>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t>2/15/2026</a:t>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150814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A134939-39C0-4522-A125-A13DFDA66490}"/>
              </a:ext>
            </a:extLst>
          </p:cNvPr>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t>2/15/2026</a:t>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69464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7D5506EE-1026-4F35-9ACC-BD05BE0F9B36}"/>
              </a:ext>
            </a:extLst>
          </p:cNvPr>
          <p:cNvSpPr>
            <a:spLocks noGrp="1"/>
          </p:cNvSpPr>
          <p:nvPr>
            <p:ph type="dt" sz="half" idx="10"/>
          </p:nvPr>
        </p:nvSpPr>
        <p:spPr/>
        <p:txBody>
          <a:bodyPr/>
          <a:lstStyle/>
          <a:p>
            <a:fld id="{B612A279-0833-481D-8C56-F67FD0AC6C50}" type="datetime1">
              <a:rPr lang="en-US" smtClean="0"/>
              <a:t>2/15/2026</a:t>
            </a:fld>
            <a:endParaRPr lang="en-US" dirty="0"/>
          </a:p>
        </p:txBody>
      </p:sp>
      <p:sp>
        <p:nvSpPr>
          <p:cNvPr id="8" name="Footer Placeholder 7">
            <a:extLst>
              <a:ext uri="{FF2B5EF4-FFF2-40B4-BE49-F238E27FC236}">
                <a16:creationId xmlns:a16="http://schemas.microsoft.com/office/drawing/2014/main" id="{B7696E5F-8D95-4450-AE52-5438E6EDE2BF}"/>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999B2253-74CC-409E-BEB0-F8EFCFCB562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6014612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1B68A5B-D9FA-424B-A4EB-30E7223836B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F33D6B0-F070-45C4-A472-19F432BE3932}"/>
              </a:ext>
            </a:extLst>
          </p:cNvPr>
          <p:cNvSpPr>
            <a:spLocks noGrp="1"/>
          </p:cNvSpPr>
          <p:nvPr>
            <p:ph type="dt" sz="half" idx="10"/>
          </p:nvPr>
        </p:nvSpPr>
        <p:spPr/>
        <p:txBody>
          <a:bodyPr/>
          <a:lstStyle/>
          <a:p>
            <a:fld id="{6587DA83-5663-4C9C-B9AA-0B40A3DAFF81}" type="datetime1">
              <a:rPr lang="en-US" smtClean="0"/>
              <a:t>2/15/2026</a:t>
            </a:fld>
            <a:endParaRPr lang="en-US" dirty="0"/>
          </a:p>
        </p:txBody>
      </p:sp>
      <p:sp>
        <p:nvSpPr>
          <p:cNvPr id="8" name="Footer Placeholder 7">
            <a:extLst>
              <a:ext uri="{FF2B5EF4-FFF2-40B4-BE49-F238E27FC236}">
                <a16:creationId xmlns:a16="http://schemas.microsoft.com/office/drawing/2014/main" id="{9975399F-DAB2-410D-967F-ED17E6F796E7}"/>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F762A46F-6BE5-4D12-9412-5CA7672EA8EC}"/>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53085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60B86-7DAD-4460-B9E3-8342259ECA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D0DD800-5E40-47F1-86E6-09D20E8BA5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A2E73E4-9783-484D-91C6-A353C531115D}"/>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124BF39B-3802-4F5C-8708-3721BE10D5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4698C1-61D7-457F-BE88-B66881D5EDC0}"/>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39882081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471DC-CDE4-4A68-B576-050D0716BAB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C450E1-7258-4338-A205-263E5063B9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423792-6976-4359-A506-A358965F4E01}"/>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4B854B60-F775-42A1-ACC3-9E1362B035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DE454E-A15D-4797-AED4-E12E57673A46}"/>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38426249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EEB37-8101-4199-B302-C7E6B715E09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183DEFD-6784-4320-90D7-E863E0E5867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7FEE817-4340-4ED0-A273-44CC8FCE29AA}"/>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A65182BA-D128-4C80-8FCE-86B6F96F45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0C214-7ABD-4B06-80D8-A8DE5F8C6D3C}"/>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13716582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3FE7A-739C-4426-930F-2C3374A06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94D0D4B-592A-4B70-81E3-59E45D65B14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C52DAE-2BC0-4EDB-8591-DD68DFB49FC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C85272D-FC1D-4AE7-81CA-48B4931B9F38}"/>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6" name="Footer Placeholder 5">
            <a:extLst>
              <a:ext uri="{FF2B5EF4-FFF2-40B4-BE49-F238E27FC236}">
                <a16:creationId xmlns:a16="http://schemas.microsoft.com/office/drawing/2014/main" id="{58136823-9EC5-4571-80D2-E35EAF1966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3528D7-596D-46B6-82DE-6517BE83D3B6}"/>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13534698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E3B52-7EA0-49D7-BC47-FF5ACF01E4A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F987A9-A848-4E60-8876-68550809938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34AB8AF-2773-4FE9-8B1F-865ECE3B8BA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64F3FED-0B19-461F-8688-C5547FA15D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73B9086-372E-4CAE-8826-9F0656A3EC8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06BF706-A301-44B3-9543-556F2E5287F8}"/>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8" name="Footer Placeholder 7">
            <a:extLst>
              <a:ext uri="{FF2B5EF4-FFF2-40B4-BE49-F238E27FC236}">
                <a16:creationId xmlns:a16="http://schemas.microsoft.com/office/drawing/2014/main" id="{04BC399B-B918-4384-94FA-70CBC00B16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6F3DD3C-EA90-41EB-BF48-3E29773D946B}"/>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187357827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5FAE-E1B1-4BF0-8CE1-DCF45695A5A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20D8CA-FDC7-45B8-9FD2-B6A15E8B96E1}"/>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4" name="Footer Placeholder 3">
            <a:extLst>
              <a:ext uri="{FF2B5EF4-FFF2-40B4-BE49-F238E27FC236}">
                <a16:creationId xmlns:a16="http://schemas.microsoft.com/office/drawing/2014/main" id="{EBAC0A22-F288-4F6A-9761-AA17AD57750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DE50559-7E36-4F2A-B247-942269ABC353}"/>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11268808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E340DA-3190-48D2-939A-4A0283D829F0}"/>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3" name="Footer Placeholder 2">
            <a:extLst>
              <a:ext uri="{FF2B5EF4-FFF2-40B4-BE49-F238E27FC236}">
                <a16:creationId xmlns:a16="http://schemas.microsoft.com/office/drawing/2014/main" id="{8CBD7856-3C74-4A24-A499-8167B44DE04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19A51A-F132-435C-8584-B93A67963CBC}"/>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26375820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0CD195-C6C9-4B64-A9DB-0FDB00D874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8286536-0A00-4184-B235-6A52F6C28C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82F7B8-AFB2-4C1E-A75E-88C486AD84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DC36736-0658-4817-B101-7877E37D76C7}"/>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6" name="Footer Placeholder 5">
            <a:extLst>
              <a:ext uri="{FF2B5EF4-FFF2-40B4-BE49-F238E27FC236}">
                <a16:creationId xmlns:a16="http://schemas.microsoft.com/office/drawing/2014/main" id="{C1F6DA71-D9E9-4C70-B351-5B0559B0C5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C0BFEC-526A-48CC-A660-88983A10D5C0}"/>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17002484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7C117-5B44-47A7-914D-EFEB6A216A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C0D8A2C-D944-4C38-9270-4BFBEA849D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71210B-7C43-4890-9F67-0B49F19BF9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AECEED2-68FE-4280-8C62-1DFA5510B19B}"/>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6" name="Footer Placeholder 5">
            <a:extLst>
              <a:ext uri="{FF2B5EF4-FFF2-40B4-BE49-F238E27FC236}">
                <a16:creationId xmlns:a16="http://schemas.microsoft.com/office/drawing/2014/main" id="{69D8C127-D6D2-4D07-A69E-E5946C0DA8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7D6099-4E79-48DB-8BE9-E5DF33384807}"/>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28080614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3375A-4ED3-43A1-8C6C-784526C696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BAD7A0-338C-4604-AB7E-F61D922F65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442105-0EAB-459A-BCEB-0A68BE5FAD9B}"/>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DD30B28C-633F-4805-AC49-EBAD82B498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902BA8-DC1F-46C1-96DB-236BC3701877}"/>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264705277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683572-FC4D-4E93-954C-61912D5ED36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7FD491-ECE6-4603-ACA1-F9918DE056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673C3F-DDC6-4887-B535-2777C50524A3}"/>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40B5D599-B434-498A-B8EC-16F06FA999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705D2B-5564-4DAF-B22E-A57A6722676B}"/>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23969849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16A0E3C-60E6-4F39-BC55-5F7C224E1F7C}"/>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t>2/15/2026</a:t>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t>‹#›</a:t>
            </a:fld>
            <a:endParaRPr lang="en-US" dirty="0"/>
          </a:p>
        </p:txBody>
      </p:sp>
      <p:cxnSp>
        <p:nvCxnSpPr>
          <p:cNvPr id="10" name="Straight Connector 9">
            <a:extLst>
              <a:ext uri="{FF2B5EF4-FFF2-40B4-BE49-F238E27FC236}">
                <a16:creationId xmlns:a16="http://schemas.microsoft.com/office/drawing/2014/main" id="{C5025DAC-8B93-4160-B017-3A274A5828C0}"/>
              </a:ext>
            </a:extLst>
          </p:cNvPr>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81593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19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110000"/>
        </a:lnSpc>
        <a:spcBef>
          <a:spcPts val="200"/>
        </a:spcBef>
        <a:spcAft>
          <a:spcPts val="400"/>
        </a:spcAft>
        <a:buClrTx/>
        <a:buFont typeface="Calibri" pitchFamily="34" charset="0"/>
        <a:buChar char="◦"/>
        <a:defRPr sz="17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11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11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11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769776-B814-45CE-A4A7-3881B4840C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BD5E69-8555-4162-87BC-603C55EBCC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24F13-879E-4E4A-B687-E9B6D81DAE6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93ACC280-096B-48D6-81CE-C888701C9A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B34269B-8B00-471A-9B6B-96C069C96C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06A57E-7529-4F31-8D40-4BC6993798B6}" type="slidenum">
              <a:rPr lang="en-US" smtClean="0"/>
              <a:t>‹#›</a:t>
            </a:fld>
            <a:endParaRPr lang="en-US"/>
          </a:p>
        </p:txBody>
      </p:sp>
    </p:spTree>
    <p:extLst>
      <p:ext uri="{BB962C8B-B14F-4D97-AF65-F5344CB8AC3E}">
        <p14:creationId xmlns:p14="http://schemas.microsoft.com/office/powerpoint/2010/main" val="162759128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image" Target="../media/image1.tiff"/><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hyperlink" Target="https://issues-osu.github.io/statsii-spring2026/static/johfre-freese-2021-reconsidering-the-reference-category.pdf" TargetMode="Externa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hyperlink" Target="https://issues-osu.github.io/statsii-spring2026/dummies.html" TargetMode="Externa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0.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NUL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2.png"/><Relationship Id="rId1" Type="http://schemas.openxmlformats.org/officeDocument/2006/relationships/slideLayout" Target="../slideLayouts/slideLayout13.xml"/><Relationship Id="rId5" Type="http://schemas.openxmlformats.org/officeDocument/2006/relationships/image" Target="NULL"/><Relationship Id="rId4" Type="http://schemas.openxmlformats.org/officeDocument/2006/relationships/image" Target="NUL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8.xml"/><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3" Type="http://schemas.openxmlformats.org/officeDocument/2006/relationships/hyperlink" Target="https://www.nme.com/news/music/al-sharpton-asap-rocky-gun-trial-unfair-jury-3831786" TargetMode="External"/><Relationship Id="rId2" Type="http://schemas.openxmlformats.org/officeDocument/2006/relationships/image" Target="../media/image18.jpeg"/><Relationship Id="rId1" Type="http://schemas.openxmlformats.org/officeDocument/2006/relationships/slideLayout" Target="../slideLayouts/slideLayout18.xml"/></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A31D0-FBCE-E5F8-F7D8-41EDD1206600}"/>
              </a:ext>
            </a:extLst>
          </p:cNvPr>
          <p:cNvSpPr>
            <a:spLocks noGrp="1"/>
          </p:cNvSpPr>
          <p:nvPr>
            <p:ph type="ctrTitle"/>
          </p:nvPr>
        </p:nvSpPr>
        <p:spPr/>
        <p:txBody>
          <a:bodyPr/>
          <a:lstStyle/>
          <a:p>
            <a:r>
              <a:rPr lang="en-US" dirty="0">
                <a:latin typeface="Arial" panose="020B0604020202020204" pitchFamily="34" charset="0"/>
                <a:cs typeface="Arial" panose="020B0604020202020204" pitchFamily="34" charset="0"/>
              </a:rPr>
              <a:t>Regression Mechanics</a:t>
            </a:r>
          </a:p>
        </p:txBody>
      </p:sp>
      <p:sp>
        <p:nvSpPr>
          <p:cNvPr id="3" name="Subtitle 2">
            <a:extLst>
              <a:ext uri="{FF2B5EF4-FFF2-40B4-BE49-F238E27FC236}">
                <a16:creationId xmlns:a16="http://schemas.microsoft.com/office/drawing/2014/main" id="{6863C673-630F-6326-CF63-E8E5B2E05833}"/>
              </a:ext>
            </a:extLst>
          </p:cNvPr>
          <p:cNvSpPr>
            <a:spLocks noGrp="1"/>
          </p:cNvSpPr>
          <p:nvPr>
            <p:ph type="subTitle" idx="1"/>
          </p:nvPr>
        </p:nvSpPr>
        <p:spPr/>
        <p:txBody>
          <a:bodyPr/>
          <a:lstStyle/>
          <a:p>
            <a:r>
              <a:rPr lang="en-US" dirty="0">
                <a:latin typeface="Arial" panose="020B0604020202020204" pitchFamily="34" charset="0"/>
                <a:cs typeface="Arial" panose="020B0604020202020204" pitchFamily="34" charset="0"/>
              </a:rPr>
              <a:t>Dummy Variables, Quadratic Terms + Other Extensions</a:t>
            </a:r>
          </a:p>
        </p:txBody>
      </p:sp>
    </p:spTree>
    <p:extLst>
      <p:ext uri="{BB962C8B-B14F-4D97-AF65-F5344CB8AC3E}">
        <p14:creationId xmlns:p14="http://schemas.microsoft.com/office/powerpoint/2010/main" val="41543477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0FEFB-85C2-C3B1-885C-5271EB4F10B9}"/>
              </a:ext>
            </a:extLst>
          </p:cNvPr>
          <p:cNvSpPr>
            <a:spLocks noGrp="1"/>
          </p:cNvSpPr>
          <p:nvPr>
            <p:ph type="title"/>
          </p:nvPr>
        </p:nvSpPr>
        <p:spPr>
          <a:xfrm>
            <a:off x="149628" y="203476"/>
            <a:ext cx="10543085" cy="702305"/>
          </a:xfrm>
        </p:spPr>
        <p:txBody>
          <a:bodyPr>
            <a:normAutofit/>
          </a:bodyPr>
          <a:lstStyle/>
          <a:p>
            <a:r>
              <a:rPr lang="en-US" sz="3600" dirty="0">
                <a:latin typeface="Arial" panose="020B0604020202020204" pitchFamily="34" charset="0"/>
                <a:cs typeface="Arial" panose="020B0604020202020204" pitchFamily="34" charset="0"/>
              </a:rPr>
              <a:t>Medical Expenditure Panel Survey (Katie’s Study?)</a:t>
            </a:r>
          </a:p>
        </p:txBody>
      </p:sp>
      <p:sp>
        <p:nvSpPr>
          <p:cNvPr id="3" name="Content Placeholder 2">
            <a:extLst>
              <a:ext uri="{FF2B5EF4-FFF2-40B4-BE49-F238E27FC236}">
                <a16:creationId xmlns:a16="http://schemas.microsoft.com/office/drawing/2014/main" id="{1932BA06-E509-239A-AB64-C9866A2C935D}"/>
              </a:ext>
            </a:extLst>
          </p:cNvPr>
          <p:cNvSpPr>
            <a:spLocks noGrp="1"/>
          </p:cNvSpPr>
          <p:nvPr>
            <p:ph idx="1"/>
          </p:nvPr>
        </p:nvSpPr>
        <p:spPr>
          <a:xfrm>
            <a:off x="274320" y="905781"/>
            <a:ext cx="10058400" cy="4506478"/>
          </a:xfrm>
        </p:spPr>
        <p:txBody>
          <a:bodyPr>
            <a:noAutofit/>
          </a:bodyPr>
          <a:lstStyle/>
          <a:p>
            <a:r>
              <a:rPr lang="en-US" sz="2000" b="1" dirty="0">
                <a:latin typeface="Arial" panose="020B0604020202020204" pitchFamily="34" charset="0"/>
                <a:cs typeface="Arial" panose="020B0604020202020204" pitchFamily="34" charset="0"/>
              </a:rPr>
              <a:t>Goal: </a:t>
            </a:r>
            <a:r>
              <a:rPr lang="en-US" sz="2000" dirty="0">
                <a:latin typeface="Arial" panose="020B0604020202020204" pitchFamily="34" charset="0"/>
                <a:cs typeface="Arial" panose="020B0604020202020204" pitchFamily="34" charset="0"/>
              </a:rPr>
              <a:t>To examine the relationship between food insecurity and mental/physical health and healthcare utilization, with a specific focus on the unique burden faced by older adults (ages 65+).</a:t>
            </a:r>
          </a:p>
          <a:p>
            <a:r>
              <a:rPr lang="en-US" sz="2000" b="1" dirty="0">
                <a:latin typeface="Arial" panose="020B0604020202020204" pitchFamily="34" charset="0"/>
                <a:cs typeface="Arial" panose="020B0604020202020204" pitchFamily="34" charset="0"/>
              </a:rPr>
              <a:t>Survey Weights</a:t>
            </a:r>
            <a:r>
              <a:rPr lang="en-US" sz="2000" dirty="0">
                <a:latin typeface="Arial" panose="020B0604020202020204" pitchFamily="34" charset="0"/>
                <a:cs typeface="Arial" panose="020B0604020202020204" pitchFamily="34" charset="0"/>
              </a:rPr>
              <a:t>: The analysis utilizes the complex survey weight (SDOHWT21F) and accounts for the cluster (VARPSU) and strata (VARSTR) design of the survey.</a:t>
            </a:r>
          </a:p>
          <a:p>
            <a:r>
              <a:rPr lang="en-US" sz="2000" b="1" dirty="0">
                <a:latin typeface="Arial" panose="020B0604020202020204" pitchFamily="34" charset="0"/>
                <a:cs typeface="Arial" panose="020B0604020202020204" pitchFamily="34" charset="0"/>
              </a:rPr>
              <a:t>Population Estimates</a:t>
            </a:r>
            <a:r>
              <a:rPr lang="en-US" sz="2000" dirty="0">
                <a:latin typeface="Arial" panose="020B0604020202020204" pitchFamily="34" charset="0"/>
                <a:cs typeface="Arial" panose="020B0604020202020204" pitchFamily="34" charset="0"/>
              </a:rPr>
              <a:t>: By applying these weights, the results shift from being simple descriptions of the 14,000+ people in our data to representative population </a:t>
            </a:r>
            <a:r>
              <a:rPr lang="en-US" sz="2000" b="1" dirty="0">
                <a:latin typeface="Arial" panose="020B0604020202020204" pitchFamily="34" charset="0"/>
                <a:cs typeface="Arial" panose="020B0604020202020204" pitchFamily="34" charset="0"/>
              </a:rPr>
              <a:t>estimates</a:t>
            </a:r>
            <a:r>
              <a:rPr lang="en-US" sz="2000" dirty="0">
                <a:latin typeface="Arial" panose="020B0604020202020204" pitchFamily="34" charset="0"/>
                <a:cs typeface="Arial" panose="020B0604020202020204" pitchFamily="34" charset="0"/>
              </a:rPr>
              <a:t> for the entire U.S. civilian noninstitutionalized population.</a:t>
            </a:r>
          </a:p>
          <a:p>
            <a:r>
              <a:rPr lang="en-US" sz="2000" b="1" dirty="0">
                <a:latin typeface="Arial" panose="020B0604020202020204" pitchFamily="34" charset="0"/>
                <a:cs typeface="Arial" panose="020B0604020202020204" pitchFamily="34" charset="0"/>
              </a:rPr>
              <a:t>Significance</a:t>
            </a:r>
            <a:r>
              <a:rPr lang="en-US" sz="2000" dirty="0">
                <a:latin typeface="Arial" panose="020B0604020202020204" pitchFamily="34" charset="0"/>
                <a:cs typeface="Arial" panose="020B0604020202020204" pitchFamily="34" charset="0"/>
              </a:rPr>
              <a:t>: This ensures that our results are representative of the entire U.S. civilian noninstitutionalized population in 2021.</a:t>
            </a: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142367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5E48B3D-FF4A-C42C-9B6E-4CAC8F1CC0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BC77E7-9A6B-A862-243C-3C967B51E4BC}"/>
              </a:ext>
            </a:extLst>
          </p:cNvPr>
          <p:cNvSpPr>
            <a:spLocks noGrp="1"/>
          </p:cNvSpPr>
          <p:nvPr>
            <p:ph type="title"/>
          </p:nvPr>
        </p:nvSpPr>
        <p:spPr>
          <a:xfrm>
            <a:off x="149629" y="203476"/>
            <a:ext cx="10058400" cy="702305"/>
          </a:xfrm>
        </p:spPr>
        <p:txBody>
          <a:bodyPr>
            <a:normAutofit/>
          </a:bodyPr>
          <a:lstStyle/>
          <a:p>
            <a:r>
              <a:rPr lang="en-US" sz="3600" dirty="0">
                <a:latin typeface="Arial" panose="020B0604020202020204" pitchFamily="34" charset="0"/>
                <a:cs typeface="Arial" panose="020B0604020202020204" pitchFamily="34" charset="0"/>
              </a:rPr>
              <a:t>Medical Expenditure Panel Survey</a:t>
            </a:r>
          </a:p>
        </p:txBody>
      </p:sp>
      <p:sp>
        <p:nvSpPr>
          <p:cNvPr id="3" name="Content Placeholder 2">
            <a:extLst>
              <a:ext uri="{FF2B5EF4-FFF2-40B4-BE49-F238E27FC236}">
                <a16:creationId xmlns:a16="http://schemas.microsoft.com/office/drawing/2014/main" id="{2B2C7027-355D-01C3-6459-B19D1062A194}"/>
              </a:ext>
            </a:extLst>
          </p:cNvPr>
          <p:cNvSpPr>
            <a:spLocks noGrp="1"/>
          </p:cNvSpPr>
          <p:nvPr>
            <p:ph idx="1"/>
          </p:nvPr>
        </p:nvSpPr>
        <p:spPr>
          <a:xfrm>
            <a:off x="274320" y="905781"/>
            <a:ext cx="10058400" cy="3760891"/>
          </a:xfrm>
        </p:spPr>
        <p:txBody>
          <a:bodyPr>
            <a:normAutofit fontScale="92500" lnSpcReduction="10000"/>
          </a:bodyPr>
          <a:lstStyle/>
          <a:p>
            <a:pPr marL="91440" marR="0" lvl="0" indent="-91440" algn="l" defTabSz="914400" rtl="0" eaLnBrk="1" fontAlgn="auto" latinLnBrk="0" hangingPunct="1">
              <a:lnSpc>
                <a:spcPct val="110000"/>
              </a:lnSpc>
              <a:spcBef>
                <a:spcPts val="1200"/>
              </a:spcBef>
              <a:spcAft>
                <a:spcPts val="200"/>
              </a:spcAft>
              <a:buClr>
                <a:srgbClr val="DA3657"/>
              </a:buClr>
              <a:buSzPct val="100000"/>
              <a:buFont typeface="Calibri" panose="020F0502020204030204" pitchFamily="34" charset="0"/>
              <a:buChar char=" "/>
              <a:tabLst/>
              <a:defRPr/>
            </a:pPr>
            <a:r>
              <a:rPr kumimoji="0" lang="en-US" sz="2000" b="1" i="0" u="none" strike="noStrike" kern="1200" cap="none" spc="0" normalizeH="0" baseline="0" noProof="0" dirty="0">
                <a:ln>
                  <a:noFill/>
                </a:ln>
                <a:solidFill>
                  <a:srgbClr val="000000">
                    <a:lumMod val="75000"/>
                    <a:lumOff val="25000"/>
                  </a:srgbClr>
                </a:solidFill>
                <a:effectLst/>
                <a:uLnTx/>
                <a:uFillTx/>
                <a:latin typeface="Arial" panose="020B0604020202020204" pitchFamily="34" charset="0"/>
                <a:ea typeface="+mn-ea"/>
                <a:cs typeface="Arial" panose="020B0604020202020204" pitchFamily="34" charset="0"/>
              </a:rPr>
              <a:t>Research Questions</a:t>
            </a:r>
            <a:endParaRPr kumimoji="0" lang="en-US" sz="2000" b="0" i="0" u="none" strike="noStrike" kern="1200" cap="none" spc="0" normalizeH="0" baseline="0" noProof="0" dirty="0">
              <a:ln>
                <a:noFill/>
              </a:ln>
              <a:solidFill>
                <a:srgbClr val="000000">
                  <a:lumMod val="75000"/>
                  <a:lumOff val="25000"/>
                </a:srgbClr>
              </a:solidFill>
              <a:effectLst/>
              <a:uLnTx/>
              <a:uFillTx/>
              <a:latin typeface="Arial" panose="020B0604020202020204" pitchFamily="34" charset="0"/>
              <a:ea typeface="+mn-ea"/>
              <a:cs typeface="Arial" panose="020B0604020202020204" pitchFamily="34" charset="0"/>
            </a:endParaRPr>
          </a:p>
          <a:p>
            <a:pPr marL="457200" marR="0" lvl="0" indent="-174625" algn="l" defTabSz="914400" rtl="0" eaLnBrk="1" fontAlgn="auto" latinLnBrk="0" hangingPunct="1">
              <a:lnSpc>
                <a:spcPct val="110000"/>
              </a:lnSpc>
              <a:spcBef>
                <a:spcPts val="1200"/>
              </a:spcBef>
              <a:spcAft>
                <a:spcPts val="200"/>
              </a:spcAft>
              <a:buClrTx/>
              <a:buSzPct val="125000"/>
              <a:buFont typeface="Arial" panose="020B0604020202020204" pitchFamily="34" charset="0"/>
              <a:buChar char="•"/>
              <a:tabLst/>
              <a:defRPr/>
            </a:pPr>
            <a:r>
              <a:rPr kumimoji="0" lang="en-US" sz="2000" b="1" i="0" u="none" strike="noStrike" kern="1200" cap="none" spc="0" normalizeH="0" baseline="0" noProof="0" dirty="0">
                <a:ln>
                  <a:noFill/>
                </a:ln>
                <a:solidFill>
                  <a:srgbClr val="000000">
                    <a:lumMod val="75000"/>
                    <a:lumOff val="25000"/>
                  </a:srgbClr>
                </a:solidFill>
                <a:effectLst/>
                <a:uLnTx/>
                <a:uFillTx/>
                <a:latin typeface="Arial" panose="020B0604020202020204" pitchFamily="34" charset="0"/>
                <a:ea typeface="+mn-ea"/>
                <a:cs typeface="Arial" panose="020B0604020202020204" pitchFamily="34" charset="0"/>
              </a:rPr>
              <a:t>Direct Association</a:t>
            </a:r>
            <a:r>
              <a:rPr kumimoji="0" lang="en-US" sz="2000" b="0" i="0" u="none" strike="noStrike" kern="1200" cap="none" spc="0" normalizeH="0" baseline="0" noProof="0" dirty="0">
                <a:ln>
                  <a:noFill/>
                </a:ln>
                <a:solidFill>
                  <a:srgbClr val="000000">
                    <a:lumMod val="75000"/>
                    <a:lumOff val="25000"/>
                  </a:srgbClr>
                </a:solidFill>
                <a:effectLst/>
                <a:uLnTx/>
                <a:uFillTx/>
                <a:latin typeface="Arial" panose="020B0604020202020204" pitchFamily="34" charset="0"/>
                <a:ea typeface="+mn-ea"/>
                <a:cs typeface="Arial" panose="020B0604020202020204" pitchFamily="34" charset="0"/>
              </a:rPr>
              <a:t>: To what extent is food insecurity directly associated with poorer mental and physical health scores, independent of socio-economic and clinical controls?</a:t>
            </a:r>
          </a:p>
          <a:p>
            <a:pPr marL="457200" marR="0" lvl="0" indent="-174625" algn="l" defTabSz="914400" rtl="0" eaLnBrk="1" fontAlgn="auto" latinLnBrk="0" hangingPunct="1">
              <a:lnSpc>
                <a:spcPct val="110000"/>
              </a:lnSpc>
              <a:spcBef>
                <a:spcPts val="1200"/>
              </a:spcBef>
              <a:spcAft>
                <a:spcPts val="200"/>
              </a:spcAft>
              <a:buClrTx/>
              <a:buSzPct val="125000"/>
              <a:buFont typeface="Arial" panose="020B0604020202020204" pitchFamily="34" charset="0"/>
              <a:buChar char="•"/>
              <a:tabLst/>
              <a:defRPr/>
            </a:pPr>
            <a:r>
              <a:rPr kumimoji="0" lang="en-US" sz="2000" b="1" i="0" u="none" strike="noStrike" kern="1200" cap="none" spc="0" normalizeH="0" baseline="0" noProof="0" dirty="0">
                <a:ln>
                  <a:noFill/>
                </a:ln>
                <a:solidFill>
                  <a:srgbClr val="000000">
                    <a:lumMod val="75000"/>
                    <a:lumOff val="25000"/>
                  </a:srgbClr>
                </a:solidFill>
                <a:effectLst/>
                <a:uLnTx/>
                <a:uFillTx/>
                <a:latin typeface="Arial" panose="020B0604020202020204" pitchFamily="34" charset="0"/>
                <a:ea typeface="+mn-ea"/>
                <a:cs typeface="Arial" panose="020B0604020202020204" pitchFamily="34" charset="0"/>
              </a:rPr>
              <a:t>Moderation (Age): </a:t>
            </a:r>
            <a:r>
              <a:rPr kumimoji="0" lang="en-US" sz="2000" b="0" i="0" u="none" strike="noStrike" kern="1200" cap="none" spc="0" normalizeH="0" baseline="0" noProof="0" dirty="0">
                <a:ln>
                  <a:noFill/>
                </a:ln>
                <a:solidFill>
                  <a:srgbClr val="000000">
                    <a:lumMod val="75000"/>
                    <a:lumOff val="25000"/>
                  </a:srgbClr>
                </a:solidFill>
                <a:effectLst/>
                <a:uLnTx/>
                <a:uFillTx/>
                <a:latin typeface="Arial" panose="020B0604020202020204" pitchFamily="34" charset="0"/>
                <a:ea typeface="+mn-ea"/>
                <a:cs typeface="Arial" panose="020B0604020202020204" pitchFamily="34" charset="0"/>
              </a:rPr>
              <a:t>Does age (65+) moderate the relationship between food insecurity and health? (i.e., is the health "penalty" significantly different for seniors?)</a:t>
            </a:r>
          </a:p>
          <a:p>
            <a:pPr marL="457200" marR="0" lvl="0" indent="-174625" algn="l" defTabSz="914400" rtl="0" eaLnBrk="1" fontAlgn="auto" latinLnBrk="0" hangingPunct="1">
              <a:lnSpc>
                <a:spcPct val="110000"/>
              </a:lnSpc>
              <a:spcBef>
                <a:spcPts val="1200"/>
              </a:spcBef>
              <a:spcAft>
                <a:spcPts val="200"/>
              </a:spcAft>
              <a:buClrTx/>
              <a:buSzPct val="125000"/>
              <a:buFont typeface="Arial" panose="020B0604020202020204" pitchFamily="34" charset="0"/>
              <a:buChar char="•"/>
              <a:tabLst/>
              <a:defRPr/>
            </a:pPr>
            <a:r>
              <a:rPr kumimoji="0" lang="en-US" sz="2000" b="1" i="0" u="none" strike="noStrike" kern="1200" cap="none" spc="0" normalizeH="0" baseline="0" noProof="0" dirty="0">
                <a:ln>
                  <a:noFill/>
                </a:ln>
                <a:solidFill>
                  <a:srgbClr val="000000">
                    <a:lumMod val="75000"/>
                    <a:lumOff val="25000"/>
                  </a:srgbClr>
                </a:solidFill>
                <a:effectLst/>
                <a:uLnTx/>
                <a:uFillTx/>
                <a:latin typeface="Arial" panose="020B0604020202020204" pitchFamily="34" charset="0"/>
                <a:ea typeface="+mn-ea"/>
                <a:cs typeface="Arial" panose="020B0604020202020204" pitchFamily="34" charset="0"/>
              </a:rPr>
              <a:t>Direct Effect (Utilization): </a:t>
            </a:r>
            <a:r>
              <a:rPr kumimoji="0" lang="en-US" sz="2000" b="0" i="0" u="none" strike="noStrike" kern="1200" cap="none" spc="0" normalizeH="0" baseline="0" noProof="0" dirty="0">
                <a:ln>
                  <a:noFill/>
                </a:ln>
                <a:solidFill>
                  <a:srgbClr val="000000">
                    <a:lumMod val="75000"/>
                    <a:lumOff val="25000"/>
                  </a:srgbClr>
                </a:solidFill>
                <a:effectLst/>
                <a:uLnTx/>
                <a:uFillTx/>
                <a:latin typeface="Arial" panose="020B0604020202020204" pitchFamily="34" charset="0"/>
                <a:ea typeface="+mn-ea"/>
                <a:cs typeface="Arial" panose="020B0604020202020204" pitchFamily="34" charset="0"/>
              </a:rPr>
              <a:t>What is the direct effect of food insecurity on the probability/frequency of Emergency Department visits and total expenditures?</a:t>
            </a:r>
          </a:p>
          <a:p>
            <a:pPr marL="457200" marR="0" lvl="0" indent="-174625" algn="l" defTabSz="914400" rtl="0" eaLnBrk="1" fontAlgn="auto" latinLnBrk="0" hangingPunct="1">
              <a:lnSpc>
                <a:spcPct val="110000"/>
              </a:lnSpc>
              <a:spcBef>
                <a:spcPts val="1200"/>
              </a:spcBef>
              <a:spcAft>
                <a:spcPts val="200"/>
              </a:spcAft>
              <a:buClrTx/>
              <a:buSzPct val="125000"/>
              <a:buFont typeface="Arial" panose="020B0604020202020204" pitchFamily="34" charset="0"/>
              <a:buChar char="•"/>
              <a:tabLst/>
              <a:defRPr/>
            </a:pPr>
            <a:r>
              <a:rPr kumimoji="0" lang="en-US" sz="2000" b="1" i="0" u="none" strike="noStrike" kern="1200" cap="none" spc="0" normalizeH="0" baseline="0" noProof="0" dirty="0">
                <a:ln>
                  <a:noFill/>
                </a:ln>
                <a:solidFill>
                  <a:srgbClr val="000000">
                    <a:lumMod val="75000"/>
                    <a:lumOff val="25000"/>
                  </a:srgbClr>
                </a:solidFill>
                <a:effectLst/>
                <a:uLnTx/>
                <a:uFillTx/>
                <a:latin typeface="Arial" panose="020B0604020202020204" pitchFamily="34" charset="0"/>
                <a:ea typeface="+mn-ea"/>
                <a:cs typeface="Arial" panose="020B0604020202020204" pitchFamily="34" charset="0"/>
              </a:rPr>
              <a:t>Moderation (Buffer Effect): </a:t>
            </a:r>
            <a:r>
              <a:rPr kumimoji="0" lang="en-US" sz="2000" b="0" i="0" u="none" strike="noStrike" kern="1200" cap="none" spc="0" normalizeH="0" baseline="0" noProof="0" dirty="0">
                <a:ln>
                  <a:noFill/>
                </a:ln>
                <a:solidFill>
                  <a:srgbClr val="000000">
                    <a:lumMod val="75000"/>
                    <a:lumOff val="25000"/>
                  </a:srgbClr>
                </a:solidFill>
                <a:effectLst/>
                <a:uLnTx/>
                <a:uFillTx/>
                <a:latin typeface="Arial" panose="020B0604020202020204" pitchFamily="34" charset="0"/>
                <a:ea typeface="+mn-ea"/>
                <a:cs typeface="Arial" panose="020B0604020202020204" pitchFamily="34" charset="0"/>
              </a:rPr>
              <a:t>Does the difference in public health insurance systems (Medicare for seniors vs. Medicaid for younger adults) moderate the relationship between food insecurity and emergency department visits?</a:t>
            </a: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70520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alpha val="0"/>
          </a:schemeClr>
        </a:solidFill>
        <a:effectLst/>
      </p:bgPr>
    </p:bg>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B1B0790-3FB8-9DAA-079B-0D52E339B6A4}"/>
              </a:ext>
            </a:extLst>
          </p:cNvPr>
          <p:cNvGraphicFramePr>
            <a:graphicFrameLocks noGrp="1"/>
          </p:cNvGraphicFramePr>
          <p:nvPr>
            <p:extLst>
              <p:ext uri="{D42A27DB-BD31-4B8C-83A1-F6EECF244321}">
                <p14:modId xmlns:p14="http://schemas.microsoft.com/office/powerpoint/2010/main" val="2734011203"/>
              </p:ext>
            </p:extLst>
          </p:nvPr>
        </p:nvGraphicFramePr>
        <p:xfrm>
          <a:off x="640080" y="374073"/>
          <a:ext cx="10756669" cy="5968538"/>
        </p:xfrm>
        <a:graphic>
          <a:graphicData uri="http://schemas.openxmlformats.org/drawingml/2006/table">
            <a:tbl>
              <a:tblPr firstRow="1" bandRow="1">
                <a:tableStyleId>{69012ECD-51FC-41F1-AA8D-1B2483CD663E}</a:tableStyleId>
              </a:tblPr>
              <a:tblGrid>
                <a:gridCol w="3139220">
                  <a:extLst>
                    <a:ext uri="{9D8B030D-6E8A-4147-A177-3AD203B41FA5}">
                      <a16:colId xmlns:a16="http://schemas.microsoft.com/office/drawing/2014/main" val="3968660920"/>
                    </a:ext>
                  </a:extLst>
                </a:gridCol>
                <a:gridCol w="3780625">
                  <a:extLst>
                    <a:ext uri="{9D8B030D-6E8A-4147-A177-3AD203B41FA5}">
                      <a16:colId xmlns:a16="http://schemas.microsoft.com/office/drawing/2014/main" val="3894144651"/>
                    </a:ext>
                  </a:extLst>
                </a:gridCol>
                <a:gridCol w="3836824">
                  <a:extLst>
                    <a:ext uri="{9D8B030D-6E8A-4147-A177-3AD203B41FA5}">
                      <a16:colId xmlns:a16="http://schemas.microsoft.com/office/drawing/2014/main" val="982851487"/>
                    </a:ext>
                  </a:extLst>
                </a:gridCol>
              </a:tblGrid>
              <a:tr h="424697">
                <a:tc>
                  <a:txBody>
                    <a:bodyPr/>
                    <a:lstStyle/>
                    <a:p>
                      <a:pPr algn="l">
                        <a:buNone/>
                      </a:pPr>
                      <a:r>
                        <a:rPr lang="en-US" sz="2000" b="1" dirty="0">
                          <a:effectLst/>
                          <a:latin typeface="Arial" panose="020B0604020202020204" pitchFamily="34" charset="0"/>
                          <a:cs typeface="Arial" panose="020B0604020202020204" pitchFamily="34" charset="0"/>
                        </a:rPr>
                        <a:t>Category</a:t>
                      </a:r>
                      <a:endParaRPr lang="en-US" sz="2000" b="0" dirty="0">
                        <a:effectLst/>
                        <a:latin typeface="Arial" panose="020B0604020202020204" pitchFamily="34" charset="0"/>
                        <a:cs typeface="Arial" panose="020B0604020202020204" pitchFamily="34" charset="0"/>
                      </a:endParaRPr>
                    </a:p>
                  </a:txBody>
                  <a:tcPr marL="69324" marR="69324" marT="34661" marB="34661" anchor="ctr"/>
                </a:tc>
                <a:tc>
                  <a:txBody>
                    <a:bodyPr/>
                    <a:lstStyle/>
                    <a:p>
                      <a:pPr algn="l">
                        <a:buNone/>
                      </a:pPr>
                      <a:r>
                        <a:rPr lang="en-US" sz="2000" b="1">
                          <a:effectLst/>
                          <a:latin typeface="Arial" panose="020B0604020202020204" pitchFamily="34" charset="0"/>
                          <a:cs typeface="Arial" panose="020B0604020202020204" pitchFamily="34" charset="0"/>
                        </a:rPr>
                        <a:t>Variable(s)</a:t>
                      </a:r>
                      <a:endParaRPr lang="en-US" sz="2000" b="0">
                        <a:effectLst/>
                        <a:latin typeface="Arial" panose="020B0604020202020204" pitchFamily="34" charset="0"/>
                        <a:cs typeface="Arial" panose="020B0604020202020204" pitchFamily="34" charset="0"/>
                      </a:endParaRPr>
                    </a:p>
                  </a:txBody>
                  <a:tcPr marL="69324" marR="69324" marT="34661" marB="34661" anchor="ctr"/>
                </a:tc>
                <a:tc>
                  <a:txBody>
                    <a:bodyPr/>
                    <a:lstStyle/>
                    <a:p>
                      <a:pPr algn="l">
                        <a:buNone/>
                      </a:pPr>
                      <a:r>
                        <a:rPr lang="en-US" sz="2000" b="1">
                          <a:effectLst/>
                          <a:latin typeface="Arial" panose="020B0604020202020204" pitchFamily="34" charset="0"/>
                          <a:cs typeface="Arial" panose="020B0604020202020204" pitchFamily="34" charset="0"/>
                        </a:rPr>
                        <a:t>Description</a:t>
                      </a:r>
                      <a:endParaRPr lang="en-US" sz="2000" b="0">
                        <a:effectLst/>
                        <a:latin typeface="Arial" panose="020B0604020202020204" pitchFamily="34" charset="0"/>
                        <a:cs typeface="Arial" panose="020B0604020202020204" pitchFamily="34" charset="0"/>
                      </a:endParaRPr>
                    </a:p>
                  </a:txBody>
                  <a:tcPr marL="69324" marR="69324" marT="34661" marB="34661" anchor="ctr"/>
                </a:tc>
                <a:extLst>
                  <a:ext uri="{0D108BD9-81ED-4DB2-BD59-A6C34878D82A}">
                    <a16:rowId xmlns:a16="http://schemas.microsoft.com/office/drawing/2014/main" val="2688857258"/>
                  </a:ext>
                </a:extLst>
              </a:tr>
              <a:tr h="710359">
                <a:tc>
                  <a:txBody>
                    <a:bodyPr/>
                    <a:lstStyle/>
                    <a:p>
                      <a:pPr>
                        <a:buNone/>
                      </a:pPr>
                      <a:r>
                        <a:rPr lang="en-US" sz="2000" b="1" dirty="0">
                          <a:effectLst/>
                          <a:latin typeface="Arial" panose="020B0604020202020204" pitchFamily="34" charset="0"/>
                          <a:cs typeface="Arial" panose="020B0604020202020204" pitchFamily="34" charset="0"/>
                        </a:rPr>
                        <a:t>Dependent</a:t>
                      </a:r>
                      <a:endParaRPr lang="en-US" sz="2000" dirty="0">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dirty="0">
                          <a:solidFill>
                            <a:schemeClr val="tx1"/>
                          </a:solidFill>
                          <a:effectLst/>
                          <a:latin typeface="Arial" panose="020B0604020202020204" pitchFamily="34" charset="0"/>
                          <a:cs typeface="Arial" panose="020B0604020202020204" pitchFamily="34" charset="0"/>
                        </a:rPr>
                        <a:t>VPCS42 / VMCS42</a:t>
                      </a:r>
                    </a:p>
                  </a:txBody>
                  <a:tcPr marL="69324" marR="69324" marT="34661" marB="34661" anchor="ctr"/>
                </a:tc>
                <a:tc>
                  <a:txBody>
                    <a:bodyPr/>
                    <a:lstStyle/>
                    <a:p>
                      <a:pPr>
                        <a:buNone/>
                      </a:pPr>
                      <a:r>
                        <a:rPr lang="en-US" sz="2000">
                          <a:effectLst/>
                          <a:latin typeface="Arial" panose="020B0604020202020204" pitchFamily="34" charset="0"/>
                          <a:cs typeface="Arial" panose="020B0604020202020204" pitchFamily="34" charset="0"/>
                        </a:rPr>
                        <a:t>Physical and Mental Health Component Summary scores.</a:t>
                      </a:r>
                    </a:p>
                  </a:txBody>
                  <a:tcPr marL="69324" marR="69324" marT="34661" marB="34661" anchor="ctr"/>
                </a:tc>
                <a:extLst>
                  <a:ext uri="{0D108BD9-81ED-4DB2-BD59-A6C34878D82A}">
                    <a16:rowId xmlns:a16="http://schemas.microsoft.com/office/drawing/2014/main" val="1600629662"/>
                  </a:ext>
                </a:extLst>
              </a:tr>
              <a:tr h="710359">
                <a:tc>
                  <a:txBody>
                    <a:bodyPr/>
                    <a:lstStyle/>
                    <a:p>
                      <a:pPr>
                        <a:buNone/>
                      </a:pPr>
                      <a:endParaRPr lang="en-US" sz="2000">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dirty="0">
                          <a:solidFill>
                            <a:schemeClr val="tx1"/>
                          </a:solidFill>
                          <a:effectLst/>
                          <a:latin typeface="Arial" panose="020B0604020202020204" pitchFamily="34" charset="0"/>
                          <a:cs typeface="Arial" panose="020B0604020202020204" pitchFamily="34" charset="0"/>
                        </a:rPr>
                        <a:t>ERTOT21 / TOTEXP21</a:t>
                      </a:r>
                    </a:p>
                  </a:txBody>
                  <a:tcPr marL="69324" marR="69324" marT="34661" marB="34661" anchor="ctr"/>
                </a:tc>
                <a:tc>
                  <a:txBody>
                    <a:bodyPr/>
                    <a:lstStyle/>
                    <a:p>
                      <a:pPr>
                        <a:buNone/>
                      </a:pPr>
                      <a:r>
                        <a:rPr lang="en-US" sz="2000">
                          <a:effectLst/>
                          <a:latin typeface="Arial" panose="020B0604020202020204" pitchFamily="34" charset="0"/>
                          <a:cs typeface="Arial" panose="020B0604020202020204" pitchFamily="34" charset="0"/>
                        </a:rPr>
                        <a:t>Total ED visits and healthcare expenditures.</a:t>
                      </a:r>
                    </a:p>
                  </a:txBody>
                  <a:tcPr marL="69324" marR="69324" marT="34661" marB="34661" anchor="ctr"/>
                </a:tc>
                <a:extLst>
                  <a:ext uri="{0D108BD9-81ED-4DB2-BD59-A6C34878D82A}">
                    <a16:rowId xmlns:a16="http://schemas.microsoft.com/office/drawing/2014/main" val="2776591292"/>
                  </a:ext>
                </a:extLst>
              </a:tr>
              <a:tr h="710359">
                <a:tc>
                  <a:txBody>
                    <a:bodyPr/>
                    <a:lstStyle/>
                    <a:p>
                      <a:pPr>
                        <a:buNone/>
                      </a:pPr>
                      <a:r>
                        <a:rPr lang="en-US" sz="2000" b="1">
                          <a:effectLst/>
                          <a:latin typeface="Arial" panose="020B0604020202020204" pitchFamily="34" charset="0"/>
                          <a:cs typeface="Arial" panose="020B0604020202020204" pitchFamily="34" charset="0"/>
                        </a:rPr>
                        <a:t>Main Predictors</a:t>
                      </a:r>
                      <a:endParaRPr lang="en-US" sz="2000">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dirty="0" err="1">
                          <a:solidFill>
                            <a:schemeClr val="tx1"/>
                          </a:solidFill>
                          <a:effectLst/>
                          <a:latin typeface="Arial" panose="020B0604020202020204" pitchFamily="34" charset="0"/>
                          <a:cs typeface="Arial" panose="020B0604020202020204" pitchFamily="34" charset="0"/>
                        </a:rPr>
                        <a:t>food_insecure</a:t>
                      </a:r>
                      <a:endParaRPr lang="en-US" sz="2000" dirty="0">
                        <a:solidFill>
                          <a:schemeClr val="tx1"/>
                        </a:solidFill>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a:effectLst/>
                          <a:latin typeface="Arial" panose="020B0604020202020204" pitchFamily="34" charset="0"/>
                          <a:cs typeface="Arial" panose="020B0604020202020204" pitchFamily="34" charset="0"/>
                        </a:rPr>
                        <a:t>Binary indicator (combined Worry / No food available).</a:t>
                      </a:r>
                    </a:p>
                  </a:txBody>
                  <a:tcPr marL="69324" marR="69324" marT="34661" marB="34661" anchor="ctr"/>
                </a:tc>
                <a:extLst>
                  <a:ext uri="{0D108BD9-81ED-4DB2-BD59-A6C34878D82A}">
                    <a16:rowId xmlns:a16="http://schemas.microsoft.com/office/drawing/2014/main" val="2460100010"/>
                  </a:ext>
                </a:extLst>
              </a:tr>
              <a:tr h="710359">
                <a:tc>
                  <a:txBody>
                    <a:bodyPr/>
                    <a:lstStyle/>
                    <a:p>
                      <a:pPr>
                        <a:buNone/>
                      </a:pPr>
                      <a:endParaRPr lang="en-US" sz="2000">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dirty="0" err="1">
                          <a:solidFill>
                            <a:schemeClr val="tx1"/>
                          </a:solidFill>
                          <a:effectLst/>
                          <a:latin typeface="Arial" panose="020B0604020202020204" pitchFamily="34" charset="0"/>
                          <a:cs typeface="Arial" panose="020B0604020202020204" pitchFamily="34" charset="0"/>
                        </a:rPr>
                        <a:t>older_adult</a:t>
                      </a:r>
                      <a:endParaRPr lang="en-US" sz="2000" dirty="0">
                        <a:solidFill>
                          <a:schemeClr val="tx1"/>
                        </a:solidFill>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a:effectLst/>
                          <a:latin typeface="Arial" panose="020B0604020202020204" pitchFamily="34" charset="0"/>
                          <a:cs typeface="Arial" panose="020B0604020202020204" pitchFamily="34" charset="0"/>
                        </a:rPr>
                        <a:t>Recoded indicator for individuals aged 65+.</a:t>
                      </a:r>
                    </a:p>
                  </a:txBody>
                  <a:tcPr marL="69324" marR="69324" marT="34661" marB="34661" anchor="ctr"/>
                </a:tc>
                <a:extLst>
                  <a:ext uri="{0D108BD9-81ED-4DB2-BD59-A6C34878D82A}">
                    <a16:rowId xmlns:a16="http://schemas.microsoft.com/office/drawing/2014/main" val="3463008435"/>
                  </a:ext>
                </a:extLst>
              </a:tr>
              <a:tr h="996023">
                <a:tc>
                  <a:txBody>
                    <a:bodyPr/>
                    <a:lstStyle/>
                    <a:p>
                      <a:pPr>
                        <a:buNone/>
                      </a:pPr>
                      <a:r>
                        <a:rPr lang="en-US" sz="2000" b="1">
                          <a:effectLst/>
                          <a:latin typeface="Arial" panose="020B0604020202020204" pitchFamily="34" charset="0"/>
                          <a:cs typeface="Arial" panose="020B0604020202020204" pitchFamily="34" charset="0"/>
                        </a:rPr>
                        <a:t>Controls</a:t>
                      </a:r>
                      <a:endParaRPr lang="en-US" sz="2000">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dirty="0" err="1">
                          <a:solidFill>
                            <a:schemeClr val="tx1"/>
                          </a:solidFill>
                          <a:effectLst/>
                          <a:latin typeface="Arial" panose="020B0604020202020204" pitchFamily="34" charset="0"/>
                          <a:cs typeface="Arial" panose="020B0604020202020204" pitchFamily="34" charset="0"/>
                        </a:rPr>
                        <a:t>any_chronic_cond</a:t>
                      </a:r>
                      <a:endParaRPr lang="en-US" sz="2000" dirty="0">
                        <a:solidFill>
                          <a:schemeClr val="tx1"/>
                        </a:solidFill>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a:effectLst/>
                          <a:latin typeface="Arial" panose="020B0604020202020204" pitchFamily="34" charset="0"/>
                          <a:cs typeface="Arial" panose="020B0604020202020204" pitchFamily="34" charset="0"/>
                        </a:rPr>
                        <a:t>Aggregated indicator of 8 major conditions (Diabetes, Stroke, etc.).</a:t>
                      </a:r>
                    </a:p>
                  </a:txBody>
                  <a:tcPr marL="69324" marR="69324" marT="34661" marB="34661" anchor="ctr"/>
                </a:tc>
                <a:extLst>
                  <a:ext uri="{0D108BD9-81ED-4DB2-BD59-A6C34878D82A}">
                    <a16:rowId xmlns:a16="http://schemas.microsoft.com/office/drawing/2014/main" val="441610737"/>
                  </a:ext>
                </a:extLst>
              </a:tr>
              <a:tr h="710359">
                <a:tc>
                  <a:txBody>
                    <a:bodyPr/>
                    <a:lstStyle/>
                    <a:p>
                      <a:pPr>
                        <a:buNone/>
                      </a:pPr>
                      <a:endParaRPr lang="en-US" sz="2000">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dirty="0" err="1">
                          <a:solidFill>
                            <a:schemeClr val="tx1"/>
                          </a:solidFill>
                          <a:effectLst/>
                          <a:latin typeface="Arial" panose="020B0604020202020204" pitchFamily="34" charset="0"/>
                          <a:cs typeface="Arial" panose="020B0604020202020204" pitchFamily="34" charset="0"/>
                        </a:rPr>
                        <a:t>poverty_cont</a:t>
                      </a:r>
                      <a:endParaRPr lang="en-US" sz="2000" dirty="0">
                        <a:solidFill>
                          <a:schemeClr val="tx1"/>
                        </a:solidFill>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dirty="0">
                          <a:effectLst/>
                          <a:latin typeface="Arial" panose="020B0604020202020204" pitchFamily="34" charset="0"/>
                          <a:cs typeface="Arial" panose="020B0604020202020204" pitchFamily="34" charset="0"/>
                        </a:rPr>
                        <a:t>Continuous poverty level (percentage).</a:t>
                      </a:r>
                    </a:p>
                  </a:txBody>
                  <a:tcPr marL="69324" marR="69324" marT="34661" marB="34661" anchor="ctr"/>
                </a:tc>
                <a:extLst>
                  <a:ext uri="{0D108BD9-81ED-4DB2-BD59-A6C34878D82A}">
                    <a16:rowId xmlns:a16="http://schemas.microsoft.com/office/drawing/2014/main" val="691169107"/>
                  </a:ext>
                </a:extLst>
              </a:tr>
              <a:tr h="996023">
                <a:tc>
                  <a:txBody>
                    <a:bodyPr/>
                    <a:lstStyle/>
                    <a:p>
                      <a:pPr>
                        <a:buNone/>
                      </a:pPr>
                      <a:endParaRPr lang="en-US" sz="2000">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dirty="0" err="1">
                          <a:solidFill>
                            <a:schemeClr val="tx1"/>
                          </a:solidFill>
                          <a:effectLst/>
                          <a:latin typeface="Arial" panose="020B0604020202020204" pitchFamily="34" charset="0"/>
                          <a:cs typeface="Arial" panose="020B0604020202020204" pitchFamily="34" charset="0"/>
                        </a:rPr>
                        <a:t>insurance_type</a:t>
                      </a:r>
                      <a:endParaRPr lang="en-US" sz="2000" dirty="0">
                        <a:solidFill>
                          <a:schemeClr val="tx1"/>
                        </a:solidFill>
                        <a:effectLst/>
                        <a:latin typeface="Arial" panose="020B0604020202020204" pitchFamily="34" charset="0"/>
                        <a:cs typeface="Arial" panose="020B0604020202020204" pitchFamily="34" charset="0"/>
                      </a:endParaRPr>
                    </a:p>
                  </a:txBody>
                  <a:tcPr marL="69324" marR="69324" marT="34661" marB="34661" anchor="ctr"/>
                </a:tc>
                <a:tc>
                  <a:txBody>
                    <a:bodyPr/>
                    <a:lstStyle/>
                    <a:p>
                      <a:pPr>
                        <a:buNone/>
                      </a:pPr>
                      <a:r>
                        <a:rPr lang="en-US" sz="2000" dirty="0">
                          <a:effectLst/>
                          <a:latin typeface="Arial" panose="020B0604020202020204" pitchFamily="34" charset="0"/>
                          <a:cs typeface="Arial" panose="020B0604020202020204" pitchFamily="34" charset="0"/>
                        </a:rPr>
                        <a:t>Refined: </a:t>
                      </a:r>
                      <a:r>
                        <a:rPr lang="en-US" sz="2000" b="0" dirty="0">
                          <a:effectLst/>
                          <a:latin typeface="Arial" panose="020B0604020202020204" pitchFamily="34" charset="0"/>
                          <a:cs typeface="Arial" panose="020B0604020202020204" pitchFamily="34" charset="0"/>
                        </a:rPr>
                        <a:t>Private, Medicare (65+), Medicaid (&lt;65), Uninsured.</a:t>
                      </a:r>
                    </a:p>
                  </a:txBody>
                  <a:tcPr marL="69324" marR="69324" marT="34661" marB="34661" anchor="ctr"/>
                </a:tc>
                <a:extLst>
                  <a:ext uri="{0D108BD9-81ED-4DB2-BD59-A6C34878D82A}">
                    <a16:rowId xmlns:a16="http://schemas.microsoft.com/office/drawing/2014/main" val="1293952546"/>
                  </a:ext>
                </a:extLst>
              </a:tr>
            </a:tbl>
          </a:graphicData>
        </a:graphic>
      </p:graphicFrame>
    </p:spTree>
    <p:extLst>
      <p:ext uri="{BB962C8B-B14F-4D97-AF65-F5344CB8AC3E}">
        <p14:creationId xmlns:p14="http://schemas.microsoft.com/office/powerpoint/2010/main" val="28243147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BC8E9AD-D779-0EDB-46A4-9714B28647D0}"/>
              </a:ext>
            </a:extLst>
          </p:cNvPr>
          <p:cNvSpPr>
            <a:spLocks noGrp="1"/>
          </p:cNvSpPr>
          <p:nvPr>
            <p:ph type="title"/>
          </p:nvPr>
        </p:nvSpPr>
        <p:spPr>
          <a:xfrm>
            <a:off x="146222" y="134465"/>
            <a:ext cx="10515600" cy="639891"/>
          </a:xfrm>
        </p:spPr>
        <p:txBody>
          <a:bodyPr/>
          <a:lstStyle/>
          <a:p>
            <a:r>
              <a:rPr kumimoji="0" lang="en-US" sz="3600" b="0" i="0" u="none" strike="noStrike" kern="1200" cap="none" spc="-50" normalizeH="0" baseline="0" noProof="0" dirty="0">
                <a:ln>
                  <a:noFill/>
                </a:ln>
                <a:solidFill>
                  <a:srgbClr val="000000">
                    <a:lumMod val="75000"/>
                    <a:lumOff val="25000"/>
                  </a:srgbClr>
                </a:solidFill>
                <a:effectLst/>
                <a:uLnTx/>
                <a:uFillTx/>
                <a:latin typeface="Arial" panose="020B0604020202020204" pitchFamily="34" charset="0"/>
                <a:ea typeface="+mj-ea"/>
                <a:cs typeface="Arial" panose="020B0604020202020204" pitchFamily="34" charset="0"/>
              </a:rPr>
              <a:t>Results</a:t>
            </a:r>
            <a:endParaRPr lang="en-US" dirty="0"/>
          </a:p>
        </p:txBody>
      </p:sp>
      <p:sp>
        <p:nvSpPr>
          <p:cNvPr id="5" name="Content Placeholder 4">
            <a:extLst>
              <a:ext uri="{FF2B5EF4-FFF2-40B4-BE49-F238E27FC236}">
                <a16:creationId xmlns:a16="http://schemas.microsoft.com/office/drawing/2014/main" id="{764B2A66-9307-AF5B-1E59-91B1FCEBF8DF}"/>
              </a:ext>
            </a:extLst>
          </p:cNvPr>
          <p:cNvSpPr>
            <a:spLocks noGrp="1"/>
          </p:cNvSpPr>
          <p:nvPr>
            <p:ph idx="1"/>
          </p:nvPr>
        </p:nvSpPr>
        <p:spPr>
          <a:xfrm>
            <a:off x="302741" y="774356"/>
            <a:ext cx="10515600" cy="4351338"/>
          </a:xfrm>
        </p:spPr>
        <p:txBody>
          <a:bodyPr>
            <a:normAutofit/>
          </a:bodyPr>
          <a:lstStyle/>
          <a:p>
            <a:r>
              <a:rPr lang="en-US" sz="2000" dirty="0">
                <a:latin typeface="Arial" panose="020B0604020202020204" pitchFamily="34" charset="0"/>
                <a:cs typeface="Arial" panose="020B0604020202020204" pitchFamily="34" charset="0"/>
              </a:rPr>
              <a:t>While younger adults lose 2.5 points due to food insecurity, seniors lose 4.8 points. Food-insecure seniors have the lowest physical health in the study (41.6).</a:t>
            </a:r>
          </a:p>
          <a:p>
            <a:r>
              <a:rPr lang="en-US" sz="2000" dirty="0">
                <a:latin typeface="Arial" panose="020B0604020202020204" pitchFamily="34" charset="0"/>
                <a:cs typeface="Arial" panose="020B0604020202020204" pitchFamily="34" charset="0"/>
              </a:rPr>
              <a:t>Older adults who are food secure report the best mental health in the study (54.4). However, food insecurity wipes out this "senior advantage" entirely, dropping them to 48.1, lower than food-secure younger adults.</a:t>
            </a:r>
          </a:p>
          <a:p>
            <a:r>
              <a:rPr lang="en-US" sz="2000" dirty="0">
                <a:latin typeface="Arial" panose="020B0604020202020204" pitchFamily="34" charset="0"/>
                <a:cs typeface="Arial" panose="020B0604020202020204" pitchFamily="34" charset="0"/>
              </a:rPr>
              <a:t>Health declines are less likely to result in an Emergency Department visit among seniors with Medicare than among younger adults without access to a safety net.</a:t>
            </a:r>
          </a:p>
        </p:txBody>
      </p:sp>
    </p:spTree>
    <p:extLst>
      <p:ext uri="{BB962C8B-B14F-4D97-AF65-F5344CB8AC3E}">
        <p14:creationId xmlns:p14="http://schemas.microsoft.com/office/powerpoint/2010/main" val="16396684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2E06F8C7-12C5-9666-559D-12D3813DD19C}"/>
              </a:ext>
            </a:extLst>
          </p:cNvPr>
          <p:cNvGraphicFramePr>
            <a:graphicFrameLocks noGrp="1"/>
          </p:cNvGraphicFramePr>
          <p:nvPr>
            <p:extLst>
              <p:ext uri="{D42A27DB-BD31-4B8C-83A1-F6EECF244321}">
                <p14:modId xmlns:p14="http://schemas.microsoft.com/office/powerpoint/2010/main" val="3459852978"/>
              </p:ext>
            </p:extLst>
          </p:nvPr>
        </p:nvGraphicFramePr>
        <p:xfrm>
          <a:off x="643467" y="1049527"/>
          <a:ext cx="10905068" cy="4758947"/>
        </p:xfrm>
        <a:graphic>
          <a:graphicData uri="http://schemas.openxmlformats.org/drawingml/2006/table">
            <a:tbl>
              <a:tblPr firstRow="1" bandRow="1">
                <a:noFill/>
              </a:tblPr>
              <a:tblGrid>
                <a:gridCol w="3070208">
                  <a:extLst>
                    <a:ext uri="{9D8B030D-6E8A-4147-A177-3AD203B41FA5}">
                      <a16:colId xmlns:a16="http://schemas.microsoft.com/office/drawing/2014/main" val="160101775"/>
                    </a:ext>
                  </a:extLst>
                </a:gridCol>
                <a:gridCol w="3291444">
                  <a:extLst>
                    <a:ext uri="{9D8B030D-6E8A-4147-A177-3AD203B41FA5}">
                      <a16:colId xmlns:a16="http://schemas.microsoft.com/office/drawing/2014/main" val="1526804937"/>
                    </a:ext>
                  </a:extLst>
                </a:gridCol>
                <a:gridCol w="4543416">
                  <a:extLst>
                    <a:ext uri="{9D8B030D-6E8A-4147-A177-3AD203B41FA5}">
                      <a16:colId xmlns:a16="http://schemas.microsoft.com/office/drawing/2014/main" val="411578101"/>
                    </a:ext>
                  </a:extLst>
                </a:gridCol>
              </a:tblGrid>
              <a:tr h="712601">
                <a:tc>
                  <a:txBody>
                    <a:bodyPr/>
                    <a:lstStyle/>
                    <a:p>
                      <a:pPr algn="l">
                        <a:buNone/>
                      </a:pPr>
                      <a:r>
                        <a:rPr lang="en-US" sz="2600" b="0" cap="none" spc="60">
                          <a:solidFill>
                            <a:schemeClr val="bg1"/>
                          </a:solidFill>
                          <a:effectLst/>
                        </a:rPr>
                        <a:t>Group</a:t>
                      </a:r>
                    </a:p>
                  </a:txBody>
                  <a:tcPr marL="231136" marR="231136" marT="146811" marB="115569" anchor="ctr">
                    <a:lnL w="12700" cmpd="sng">
                      <a:noFill/>
                    </a:lnL>
                    <a:lnR w="12700" cmpd="sng">
                      <a:noFill/>
                    </a:lnR>
                    <a:lnT w="19050" cap="flat" cmpd="sng" algn="ctr">
                      <a:noFill/>
                      <a:prstDash val="solid"/>
                    </a:lnT>
                    <a:lnB w="38100" cmpd="sng">
                      <a:noFill/>
                    </a:lnB>
                    <a:solidFill>
                      <a:schemeClr val="accent1"/>
                    </a:solidFill>
                  </a:tcPr>
                </a:tc>
                <a:tc>
                  <a:txBody>
                    <a:bodyPr/>
                    <a:lstStyle/>
                    <a:p>
                      <a:pPr algn="l">
                        <a:buNone/>
                      </a:pPr>
                      <a:r>
                        <a:rPr lang="en-US" sz="2600" b="0" cap="none" spc="60">
                          <a:solidFill>
                            <a:schemeClr val="bg1"/>
                          </a:solidFill>
                          <a:effectLst/>
                        </a:rPr>
                        <a:t>Odds Ratio (OR)</a:t>
                      </a:r>
                    </a:p>
                  </a:txBody>
                  <a:tcPr marL="231136" marR="231136" marT="146811" marB="115569" anchor="ctr">
                    <a:lnL w="12700" cmpd="sng">
                      <a:noFill/>
                    </a:lnL>
                    <a:lnR w="12700" cmpd="sng">
                      <a:noFill/>
                    </a:lnR>
                    <a:lnT w="19050" cap="flat" cmpd="sng" algn="ctr">
                      <a:noFill/>
                      <a:prstDash val="solid"/>
                    </a:lnT>
                    <a:lnB w="38100" cmpd="sng">
                      <a:noFill/>
                    </a:lnB>
                    <a:solidFill>
                      <a:schemeClr val="accent1"/>
                    </a:solidFill>
                  </a:tcPr>
                </a:tc>
                <a:tc>
                  <a:txBody>
                    <a:bodyPr/>
                    <a:lstStyle/>
                    <a:p>
                      <a:pPr algn="l">
                        <a:buNone/>
                      </a:pPr>
                      <a:r>
                        <a:rPr lang="en-US" sz="2600" b="0" cap="none" spc="60">
                          <a:solidFill>
                            <a:schemeClr val="bg1"/>
                          </a:solidFill>
                          <a:effectLst/>
                        </a:rPr>
                        <a:t>Explanation of Effect Size</a:t>
                      </a:r>
                    </a:p>
                  </a:txBody>
                  <a:tcPr marL="231136" marR="231136" marT="146811" marB="115569" anchor="ctr">
                    <a:lnL w="12700" cmpd="sng">
                      <a:noFill/>
                    </a:lnL>
                    <a:lnR w="12700" cmpd="sng">
                      <a:noFill/>
                    </a:lnR>
                    <a:lnT w="19050" cap="flat" cmpd="sng" algn="ctr">
                      <a:noFill/>
                      <a:prstDash val="solid"/>
                    </a:lnT>
                    <a:lnB w="38100" cmpd="sng">
                      <a:noFill/>
                    </a:lnB>
                    <a:solidFill>
                      <a:schemeClr val="accent1"/>
                    </a:solidFill>
                  </a:tcPr>
                </a:tc>
                <a:extLst>
                  <a:ext uri="{0D108BD9-81ED-4DB2-BD59-A6C34878D82A}">
                    <a16:rowId xmlns:a16="http://schemas.microsoft.com/office/drawing/2014/main" val="1792054482"/>
                  </a:ext>
                </a:extLst>
              </a:tr>
              <a:tr h="1348782">
                <a:tc>
                  <a:txBody>
                    <a:bodyPr/>
                    <a:lstStyle/>
                    <a:p>
                      <a:pPr>
                        <a:buNone/>
                      </a:pPr>
                      <a:r>
                        <a:rPr lang="en-US" sz="2200" b="0" cap="none" spc="0">
                          <a:solidFill>
                            <a:schemeClr val="tx1"/>
                          </a:solidFill>
                          <a:effectLst/>
                        </a:rPr>
                        <a:t>Age &lt; 65</a:t>
                      </a:r>
                    </a:p>
                  </a:txBody>
                  <a:tcPr marL="231136" marR="231136" marT="146811" marB="115569" anchor="ctr">
                    <a:lnL w="12700" cmpd="sng">
                      <a:noFill/>
                      <a:prstDash val="solid"/>
                    </a:lnL>
                    <a:lnR w="12700" cmpd="sng">
                      <a:noFill/>
                      <a:prstDash val="solid"/>
                    </a:lnR>
                    <a:lnT w="38100" cmpd="sng">
                      <a:noFill/>
                    </a:lnT>
                    <a:lnB w="12700" cap="flat" cmpd="sng" algn="ctr">
                      <a:noFill/>
                      <a:prstDash val="solid"/>
                    </a:lnB>
                    <a:noFill/>
                  </a:tcPr>
                </a:tc>
                <a:tc>
                  <a:txBody>
                    <a:bodyPr/>
                    <a:lstStyle/>
                    <a:p>
                      <a:pPr algn="ctr">
                        <a:buNone/>
                      </a:pPr>
                      <a:r>
                        <a:rPr lang="en-US" sz="2200" b="0" cap="none" spc="0">
                          <a:solidFill>
                            <a:schemeClr val="tx1"/>
                          </a:solidFill>
                          <a:effectLst/>
                        </a:rPr>
                        <a:t>1.80x</a:t>
                      </a:r>
                    </a:p>
                  </a:txBody>
                  <a:tcPr marL="231136" marR="231136" marT="146811" marB="115569" anchor="ctr">
                    <a:lnL w="12700" cmpd="sng">
                      <a:noFill/>
                      <a:prstDash val="solid"/>
                    </a:lnL>
                    <a:lnR w="12700" cmpd="sng">
                      <a:noFill/>
                      <a:prstDash val="solid"/>
                    </a:lnR>
                    <a:lnT w="38100" cmpd="sng">
                      <a:noFill/>
                    </a:lnT>
                    <a:lnB w="12700" cap="flat" cmpd="sng" algn="ctr">
                      <a:noFill/>
                      <a:prstDash val="solid"/>
                    </a:lnB>
                    <a:noFill/>
                  </a:tcPr>
                </a:tc>
                <a:tc>
                  <a:txBody>
                    <a:bodyPr/>
                    <a:lstStyle/>
                    <a:p>
                      <a:pPr>
                        <a:buNone/>
                      </a:pPr>
                      <a:r>
                        <a:rPr lang="en-US" sz="2200" b="0" cap="none" spc="0">
                          <a:solidFill>
                            <a:schemeClr val="tx1"/>
                          </a:solidFill>
                          <a:effectLst/>
                        </a:rPr>
                        <a:t>Younger adults who are food insecure are 80% more likely to end up in the ER.</a:t>
                      </a:r>
                    </a:p>
                  </a:txBody>
                  <a:tcPr marL="231136" marR="231136" marT="146811" marB="115569" anchor="ctr">
                    <a:lnL w="12700" cmpd="sng">
                      <a:noFill/>
                      <a:prstDash val="solid"/>
                    </a:lnL>
                    <a:lnR w="12700" cmpd="sng">
                      <a:noFill/>
                      <a:prstDash val="solid"/>
                    </a:lnR>
                    <a:lnT w="38100" cmpd="sng">
                      <a:noFill/>
                    </a:lnT>
                    <a:lnB w="12700" cap="flat" cmpd="sng" algn="ctr">
                      <a:noFill/>
                      <a:prstDash val="solid"/>
                    </a:lnB>
                    <a:noFill/>
                  </a:tcPr>
                </a:tc>
                <a:extLst>
                  <a:ext uri="{0D108BD9-81ED-4DB2-BD59-A6C34878D82A}">
                    <a16:rowId xmlns:a16="http://schemas.microsoft.com/office/drawing/2014/main" val="3521150698"/>
                  </a:ext>
                </a:extLst>
              </a:tr>
              <a:tr h="1348782">
                <a:tc>
                  <a:txBody>
                    <a:bodyPr/>
                    <a:lstStyle/>
                    <a:p>
                      <a:pPr>
                        <a:buNone/>
                      </a:pPr>
                      <a:r>
                        <a:rPr lang="en-US" sz="2200" b="0" cap="none" spc="0">
                          <a:solidFill>
                            <a:schemeClr val="tx1"/>
                          </a:solidFill>
                          <a:effectLst/>
                        </a:rPr>
                        <a:t>Age &gt;= 65</a:t>
                      </a:r>
                    </a:p>
                  </a:txBody>
                  <a:tcPr marL="231136" marR="231136" marT="146811" marB="115569" anchor="ctr">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ctr">
                        <a:buNone/>
                      </a:pPr>
                      <a:r>
                        <a:rPr lang="en-US" sz="2200" b="0" cap="none" spc="0">
                          <a:solidFill>
                            <a:schemeClr val="tx1"/>
                          </a:solidFill>
                          <a:effectLst/>
                        </a:rPr>
                        <a:t>1.27x</a:t>
                      </a:r>
                    </a:p>
                  </a:txBody>
                  <a:tcPr marL="231136" marR="231136" marT="146811" marB="115569" anchor="ctr">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buNone/>
                      </a:pPr>
                      <a:r>
                        <a:rPr lang="en-US" sz="2200" b="0" cap="none" spc="0">
                          <a:solidFill>
                            <a:schemeClr val="tx1"/>
                          </a:solidFill>
                          <a:effectLst/>
                        </a:rPr>
                        <a:t>Older persons who are food insecure are 27% more likely to end up in the ER.</a:t>
                      </a:r>
                    </a:p>
                  </a:txBody>
                  <a:tcPr marL="231136" marR="231136" marT="146811" marB="115569" anchor="ctr">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1655188431"/>
                  </a:ext>
                </a:extLst>
              </a:tr>
              <a:tr h="1348782">
                <a:tc>
                  <a:txBody>
                    <a:bodyPr/>
                    <a:lstStyle/>
                    <a:p>
                      <a:pPr>
                        <a:buNone/>
                      </a:pPr>
                      <a:r>
                        <a:rPr lang="en-US" sz="2200" b="0" cap="none" spc="0">
                          <a:solidFill>
                            <a:schemeClr val="tx1"/>
                          </a:solidFill>
                          <a:effectLst/>
                        </a:rPr>
                        <a:t>The Buffer effect of Medicare</a:t>
                      </a:r>
                    </a:p>
                  </a:txBody>
                  <a:tcPr marL="231136" marR="231136" marT="146811" marB="115569" anchor="ctr">
                    <a:lnL w="12700" cmpd="sng">
                      <a:noFill/>
                      <a:prstDash val="solid"/>
                    </a:lnL>
                    <a:lnR w="12700" cmpd="sng">
                      <a:noFill/>
                      <a:prstDash val="solid"/>
                    </a:lnR>
                    <a:lnT w="12700" cmpd="sng">
                      <a:noFill/>
                      <a:prstDash val="solid"/>
                    </a:lnT>
                    <a:lnB w="12700" cmpd="sng">
                      <a:noFill/>
                      <a:prstDash val="solid"/>
                    </a:lnB>
                    <a:noFill/>
                  </a:tcPr>
                </a:tc>
                <a:tc>
                  <a:txBody>
                    <a:bodyPr/>
                    <a:lstStyle/>
                    <a:p>
                      <a:pPr algn="ctr">
                        <a:buNone/>
                      </a:pPr>
                      <a:r>
                        <a:rPr lang="en-US" sz="2200" b="0" cap="none" spc="0">
                          <a:solidFill>
                            <a:schemeClr val="tx1"/>
                          </a:solidFill>
                          <a:effectLst/>
                        </a:rPr>
                        <a:t>0.70x</a:t>
                      </a:r>
                    </a:p>
                  </a:txBody>
                  <a:tcPr marL="231136" marR="231136" marT="146811" marB="115569" anchor="ctr">
                    <a:lnL w="12700" cmpd="sng">
                      <a:noFill/>
                      <a:prstDash val="solid"/>
                    </a:lnL>
                    <a:lnR w="12700" cmpd="sng">
                      <a:noFill/>
                      <a:prstDash val="solid"/>
                    </a:lnR>
                    <a:lnT w="12700" cmpd="sng">
                      <a:noFill/>
                      <a:prstDash val="solid"/>
                    </a:lnT>
                    <a:lnB w="12700" cmpd="sng">
                      <a:noFill/>
                      <a:prstDash val="solid"/>
                    </a:lnB>
                    <a:noFill/>
                  </a:tcPr>
                </a:tc>
                <a:tc>
                  <a:txBody>
                    <a:bodyPr/>
                    <a:lstStyle/>
                    <a:p>
                      <a:pPr>
                        <a:buNone/>
                      </a:pPr>
                      <a:r>
                        <a:rPr lang="en-US" sz="2200" b="0" cap="none" spc="0">
                          <a:solidFill>
                            <a:schemeClr val="tx1"/>
                          </a:solidFill>
                          <a:effectLst/>
                        </a:rPr>
                        <a:t>Medicare/social safety nets cut the link between hunger and the ER by 30%.</a:t>
                      </a:r>
                    </a:p>
                  </a:txBody>
                  <a:tcPr marL="231136" marR="231136" marT="146811" marB="115569"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3439898414"/>
                  </a:ext>
                </a:extLst>
              </a:tr>
            </a:tbl>
          </a:graphicData>
        </a:graphic>
      </p:graphicFrame>
    </p:spTree>
    <p:extLst>
      <p:ext uri="{BB962C8B-B14F-4D97-AF65-F5344CB8AC3E}">
        <p14:creationId xmlns:p14="http://schemas.microsoft.com/office/powerpoint/2010/main" val="2695667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9ED5833-B85B-4103-8A3B-CAB0308E6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228997-9DAA-2F1A-E97D-D14AEA24B22C}"/>
              </a:ext>
            </a:extLst>
          </p:cNvPr>
          <p:cNvSpPr>
            <a:spLocks noGrp="1"/>
          </p:cNvSpPr>
          <p:nvPr>
            <p:ph type="title"/>
          </p:nvPr>
        </p:nvSpPr>
        <p:spPr>
          <a:xfrm>
            <a:off x="201402" y="140751"/>
            <a:ext cx="9795638" cy="559465"/>
          </a:xfrm>
        </p:spPr>
        <p:txBody>
          <a:bodyPr vert="horz" lIns="91440" tIns="45720" rIns="91440" bIns="45720" rtlCol="0" anchor="b">
            <a:normAutofit fontScale="90000"/>
          </a:bodyPr>
          <a:lstStyle/>
          <a:p>
            <a:r>
              <a:rPr lang="en-US" sz="3600" dirty="0">
                <a:latin typeface="Arial" panose="020B0604020202020204" pitchFamily="34" charset="0"/>
                <a:cs typeface="Arial" panose="020B0604020202020204" pitchFamily="34" charset="0"/>
              </a:rPr>
              <a:t>Visualization</a:t>
            </a:r>
          </a:p>
        </p:txBody>
      </p:sp>
      <p:pic>
        <p:nvPicPr>
          <p:cNvPr id="7" name="Picture 6">
            <a:extLst>
              <a:ext uri="{FF2B5EF4-FFF2-40B4-BE49-F238E27FC236}">
                <a16:creationId xmlns:a16="http://schemas.microsoft.com/office/drawing/2014/main" id="{B9424BD7-AF0A-F7B3-042E-FE7ABE205794}"/>
              </a:ext>
            </a:extLst>
          </p:cNvPr>
          <p:cNvPicPr>
            <a:picLocks noChangeAspect="1"/>
          </p:cNvPicPr>
          <p:nvPr/>
        </p:nvPicPr>
        <p:blipFill>
          <a:blip r:embed="rId2">
            <a:extLst>
              <a:ext uri="{28A0092B-C50C-407E-A947-70E740481C1C}">
                <a14:useLocalDpi xmlns:a14="http://schemas.microsoft.com/office/drawing/2010/main" val="0"/>
              </a:ext>
            </a:extLst>
          </a:blip>
          <a:srcRect r="22774"/>
          <a:stretch>
            <a:fillRect/>
          </a:stretch>
        </p:blipFill>
        <p:spPr>
          <a:xfrm>
            <a:off x="482081" y="906162"/>
            <a:ext cx="4942279" cy="3759865"/>
          </a:xfrm>
          <a:prstGeom prst="rect">
            <a:avLst/>
          </a:prstGeom>
        </p:spPr>
      </p:pic>
      <p:pic>
        <p:nvPicPr>
          <p:cNvPr id="5" name="Content Placeholder 4">
            <a:extLst>
              <a:ext uri="{FF2B5EF4-FFF2-40B4-BE49-F238E27FC236}">
                <a16:creationId xmlns:a16="http://schemas.microsoft.com/office/drawing/2014/main" id="{69341E4A-65BB-D196-2E15-43EAFB98252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495420" y="913084"/>
            <a:ext cx="6399768" cy="3759865"/>
          </a:xfrm>
          <a:prstGeom prst="rect">
            <a:avLst/>
          </a:prstGeom>
        </p:spPr>
      </p:pic>
    </p:spTree>
    <p:extLst>
      <p:ext uri="{BB962C8B-B14F-4D97-AF65-F5344CB8AC3E}">
        <p14:creationId xmlns:p14="http://schemas.microsoft.com/office/powerpoint/2010/main" val="39455511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DDEB9-68FA-C57A-A8F6-12C3B67C0C4F}"/>
              </a:ext>
            </a:extLst>
          </p:cNvPr>
          <p:cNvSpPr>
            <a:spLocks noGrp="1"/>
          </p:cNvSpPr>
          <p:nvPr>
            <p:ph type="title"/>
          </p:nvPr>
        </p:nvSpPr>
        <p:spPr>
          <a:xfrm>
            <a:off x="74649" y="136525"/>
            <a:ext cx="10515600" cy="527419"/>
          </a:xfrm>
        </p:spPr>
        <p:txBody>
          <a:bodyPr>
            <a:noAutofit/>
          </a:bodyPr>
          <a:lstStyle/>
          <a:p>
            <a:r>
              <a:rPr lang="en-US" sz="3600" dirty="0">
                <a:latin typeface="Arial" panose="020B0604020202020204" pitchFamily="34" charset="0"/>
                <a:cs typeface="Arial" panose="020B0604020202020204" pitchFamily="34" charset="0"/>
              </a:rPr>
              <a:t>Advanced Topic: Heterogeneous Variable Types</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BA55FE14-E3BB-2A8C-FC58-097228738C40}"/>
                  </a:ext>
                </a:extLst>
              </p:cNvPr>
              <p:cNvSpPr txBox="1">
                <a:spLocks/>
              </p:cNvSpPr>
              <p:nvPr/>
            </p:nvSpPr>
            <p:spPr>
              <a:xfrm>
                <a:off x="150981" y="813624"/>
                <a:ext cx="10875381"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marR="0" lvl="0" indent="-514350" algn="l" defTabSz="914400" rtl="0" eaLnBrk="1" fontAlgn="auto" latinLnBrk="0" hangingPunct="1">
                  <a:lnSpc>
                    <a:spcPct val="90000"/>
                  </a:lnSpc>
                  <a:spcBef>
                    <a:spcPts val="1000"/>
                  </a:spcBef>
                  <a:spcAft>
                    <a:spcPts val="0"/>
                  </a:spcAft>
                  <a:buClrTx/>
                  <a:buSzTx/>
                  <a:buFont typeface="+mj-lt"/>
                  <a:buAutoNum type="arabicPeriod"/>
                  <a:tabLst/>
                  <a:defRPr/>
                </a:pPr>
                <a:r>
                  <a:rPr kumimoji="0" lang="en-US" sz="2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Categorical Variables </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 the Regression</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Use dummy coding to encode the categories as 0 and 1</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Shows up as additive corrections for the categorical value</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514350" marR="0" lvl="0" indent="-514350" algn="l" defTabSz="914400" rtl="0" eaLnBrk="1" fontAlgn="auto" latinLnBrk="0" hangingPunct="1">
                  <a:lnSpc>
                    <a:spcPct val="90000"/>
                  </a:lnSpc>
                  <a:spcBef>
                    <a:spcPts val="1000"/>
                  </a:spcBef>
                  <a:spcAft>
                    <a:spcPts val="0"/>
                  </a:spcAft>
                  <a:buClrTx/>
                  <a:buSzTx/>
                  <a:buFont typeface="+mj-lt"/>
                  <a:buAutoNum type="arabicPeriod"/>
                  <a:tabLst/>
                  <a:defRPr/>
                </a:pPr>
                <a:r>
                  <a:rPr kumimoji="0" lang="en-US" sz="2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Polynomial Terms </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 the Regression</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We can fit the coefficients of a polynomial relationship via raising obs. to powers i.e.</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To fit a quadratic:   </a:t>
                </a:r>
                <a14:m>
                  <m:oMath xmlns:m="http://schemas.openxmlformats.org/officeDocument/2006/math">
                    <m:acc>
                      <m:accPr>
                        <m:chr m:val="̂"/>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0" noProof="0">
                        <a:ln>
                          <a:noFill/>
                        </a:ln>
                        <a:solidFill>
                          <a:srgbClr val="000000"/>
                        </a:solidFill>
                        <a:effectLst/>
                        <a:uLnTx/>
                        <a:uFillTx/>
                        <a:latin typeface="Cambria Math"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oMath>
                </a14:m>
                <a:r>
                  <a:rPr kumimoji="0" lang="en-US" sz="1800" b="0" i="0" u="none" strike="noStrike" kern="1200" cap="none" spc="0" normalizeH="0" baseline="30000" noProof="0" dirty="0">
                    <a:ln>
                      <a:noFill/>
                    </a:ln>
                    <a:solidFill>
                      <a:prstClr val="black"/>
                    </a:solidFill>
                    <a:effectLst/>
                    <a:uLnTx/>
                    <a:uFillTx/>
                    <a:latin typeface="Arial" panose="020B0604020202020204" pitchFamily="34" charset="0"/>
                    <a:ea typeface="+mn-ea"/>
                    <a:cs typeface="Arial" panose="020B0604020202020204" pitchFamily="34" charset="0"/>
                  </a:rPr>
                  <a:t>2</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514350" marR="0" lvl="0" indent="-514350" algn="l" defTabSz="914400" rtl="0" eaLnBrk="1" fontAlgn="auto" latinLnBrk="0" hangingPunct="1">
                  <a:lnSpc>
                    <a:spcPct val="90000"/>
                  </a:lnSpc>
                  <a:spcBef>
                    <a:spcPts val="1000"/>
                  </a:spcBef>
                  <a:spcAft>
                    <a:spcPts val="0"/>
                  </a:spcAft>
                  <a:buClrTx/>
                  <a:buSzTx/>
                  <a:buFont typeface="+mj-lt"/>
                  <a:buAutoNum type="arabicPeriod"/>
                  <a:tabLst/>
                  <a:defRPr/>
                </a:pPr>
                <a:r>
                  <a:rPr kumimoji="0" lang="en-US" sz="2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Interaction Terms </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 the Regressions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Effects are not always simply additive, can have multiplicative interactions i.e. </a:t>
                </a:r>
              </a:p>
              <a:p>
                <a:pPr marL="45720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a:pPr>
                <a14:m>
                  <m:oMathPara xmlns:m="http://schemas.openxmlformats.org/officeDocument/2006/math">
                    <m:oMathParaPr>
                      <m:jc m:val="centerGroup"/>
                    </m:oMathParaPr>
                    <m:oMath xmlns:m="http://schemas.openxmlformats.org/officeDocument/2006/math">
                      <m:acc>
                        <m:accPr>
                          <m:chr m:val="̂"/>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2</m:t>
                      </m:r>
                      <m:r>
                        <a:rPr kumimoji="0" lang="en-US" sz="1800" b="0" i="1" u="none" strike="noStrike" kern="1200" cap="none" spc="0" normalizeH="0" baseline="0" noProof="0">
                          <a:ln>
                            <a:noFill/>
                          </a:ln>
                          <a:solidFill>
                            <a:srgbClr val="000000"/>
                          </a:solidFill>
                          <a:effectLst/>
                          <a:uLnTx/>
                          <a:uFillTx/>
                          <a:latin typeface="Cambria Math" charset="0"/>
                          <a:ea typeface="+mn-ea"/>
                          <a:cs typeface="+mn-cs"/>
                        </a:rPr>
                        <m:t>→</m:t>
                      </m:r>
                      <m:acc>
                        <m:accPr>
                          <m:chr m:val="̂"/>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2</m:t>
                      </m:r>
                      <m:r>
                        <a:rPr kumimoji="0" lang="en-US" sz="1800" b="0" i="1" u="none" strike="noStrike" kern="1200" cap="none" spc="0" normalizeH="0" baseline="0" noProof="0">
                          <a:ln>
                            <a:noFill/>
                          </a:ln>
                          <a:solidFill>
                            <a:srgbClr val="000000"/>
                          </a:solidFill>
                          <a:effectLst/>
                          <a:uLnTx/>
                          <a:uFillTx/>
                          <a:latin typeface="Cambria Math"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3</m:t>
                          </m:r>
                        </m:sub>
                      </m:sSub>
                      <m:r>
                        <a:rPr kumimoji="0" lang="en-US" sz="1800" b="0" i="1" u="none" strike="noStrike" kern="1200" cap="none" spc="0" normalizeH="0" baseline="0" noProof="0">
                          <a:ln>
                            <a:noFill/>
                          </a:ln>
                          <a:solidFill>
                            <a:srgbClr val="000000"/>
                          </a:solidFill>
                          <a:effectLst/>
                          <a:uLnTx/>
                          <a:uFillTx/>
                          <a:latin typeface="Cambria Math"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2</m:t>
                      </m:r>
                    </m:oMath>
                  </m:oMathPara>
                </a14:m>
                <a:endParaRPr kumimoji="0" lang="en-US" sz="18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Different lines for different levels of a categorical variable</a:t>
                </a:r>
              </a:p>
            </p:txBody>
          </p:sp>
        </mc:Choice>
        <mc:Fallback>
          <p:sp>
            <p:nvSpPr>
              <p:cNvPr id="4" name="Content Placeholder 2">
                <a:extLst>
                  <a:ext uri="{FF2B5EF4-FFF2-40B4-BE49-F238E27FC236}">
                    <a16:creationId xmlns:a16="http://schemas.microsoft.com/office/drawing/2014/main" id="{BA55FE14-E3BB-2A8C-FC58-097228738C40}"/>
                  </a:ext>
                </a:extLst>
              </p:cNvPr>
              <p:cNvSpPr txBox="1">
                <a:spLocks noRot="1" noChangeAspect="1" noMove="1" noResize="1" noEditPoints="1" noAdjustHandles="1" noChangeArrowheads="1" noChangeShapeType="1" noTextEdit="1"/>
              </p:cNvSpPr>
              <p:nvPr/>
            </p:nvSpPr>
            <p:spPr>
              <a:xfrm>
                <a:off x="150981" y="813624"/>
                <a:ext cx="10875381" cy="4351338"/>
              </a:xfrm>
              <a:prstGeom prst="rect">
                <a:avLst/>
              </a:prstGeom>
              <a:blipFill>
                <a:blip r:embed="rId2"/>
                <a:stretch>
                  <a:fillRect l="-504" t="-1261"/>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FDEB0522-150A-6730-D6F4-D266C8033329}"/>
              </a:ext>
            </a:extLst>
          </p:cNvPr>
          <p:cNvSpPr>
            <a:spLocks noGrp="1"/>
          </p:cNvSpPr>
          <p:nvPr>
            <p:ph type="sldNum" sz="quarter" idx="12"/>
          </p:nvPr>
        </p:nvSpPr>
        <p:spPr>
          <a:xfrm>
            <a:off x="8618838" y="650603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mbria" panose="02040503050406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mbria" panose="02040503050406030204"/>
              <a:ea typeface="+mn-ea"/>
              <a:cs typeface="+mn-cs"/>
            </a:endParaRPr>
          </a:p>
        </p:txBody>
      </p:sp>
      <p:sp>
        <p:nvSpPr>
          <p:cNvPr id="6" name="Rectangle 5">
            <a:extLst>
              <a:ext uri="{FF2B5EF4-FFF2-40B4-BE49-F238E27FC236}">
                <a16:creationId xmlns:a16="http://schemas.microsoft.com/office/drawing/2014/main" id="{C7DEE4EC-06F7-D961-1E09-28AF79F5DF07}"/>
              </a:ext>
            </a:extLst>
          </p:cNvPr>
          <p:cNvSpPr/>
          <p:nvPr/>
        </p:nvSpPr>
        <p:spPr>
          <a:xfrm>
            <a:off x="4331215" y="2776147"/>
            <a:ext cx="907261" cy="372245"/>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mbria" panose="02040503050406030204"/>
              <a:ea typeface="+mn-ea"/>
              <a:cs typeface="+mn-cs"/>
            </a:endParaRPr>
          </a:p>
        </p:txBody>
      </p:sp>
      <p:cxnSp>
        <p:nvCxnSpPr>
          <p:cNvPr id="7" name="Straight Arrow Connector 6">
            <a:extLst>
              <a:ext uri="{FF2B5EF4-FFF2-40B4-BE49-F238E27FC236}">
                <a16:creationId xmlns:a16="http://schemas.microsoft.com/office/drawing/2014/main" id="{4CDEEF64-749F-FE38-FAF5-C83E42390326}"/>
              </a:ext>
            </a:extLst>
          </p:cNvPr>
          <p:cNvCxnSpPr>
            <a:cxnSpLocks/>
          </p:cNvCxnSpPr>
          <p:nvPr/>
        </p:nvCxnSpPr>
        <p:spPr>
          <a:xfrm flipH="1" flipV="1">
            <a:off x="5238476" y="2942633"/>
            <a:ext cx="1389506" cy="261607"/>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1EAC4DD-42DD-2090-E906-8E38C11AB96C}"/>
              </a:ext>
            </a:extLst>
          </p:cNvPr>
          <p:cNvSpPr txBox="1"/>
          <p:nvPr/>
        </p:nvSpPr>
        <p:spPr>
          <a:xfrm>
            <a:off x="6639557" y="2898362"/>
            <a:ext cx="334920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mbria" panose="02040503050406030204"/>
                <a:ea typeface="+mn-ea"/>
                <a:cs typeface="+mn-cs"/>
              </a:rPr>
              <a:t>New variable, simply the square of the x</a:t>
            </a:r>
          </a:p>
        </p:txBody>
      </p:sp>
      <p:sp>
        <p:nvSpPr>
          <p:cNvPr id="9" name="Rectangle 8">
            <a:extLst>
              <a:ext uri="{FF2B5EF4-FFF2-40B4-BE49-F238E27FC236}">
                <a16:creationId xmlns:a16="http://schemas.microsoft.com/office/drawing/2014/main" id="{ABE83B27-1E64-BF82-A36E-BE4BF87E6FDB}"/>
              </a:ext>
            </a:extLst>
          </p:cNvPr>
          <p:cNvSpPr/>
          <p:nvPr/>
        </p:nvSpPr>
        <p:spPr>
          <a:xfrm>
            <a:off x="7308724" y="4081819"/>
            <a:ext cx="907261" cy="328576"/>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mbria" panose="02040503050406030204"/>
              <a:ea typeface="+mn-ea"/>
              <a:cs typeface="+mn-cs"/>
            </a:endParaRPr>
          </a:p>
        </p:txBody>
      </p:sp>
      <p:cxnSp>
        <p:nvCxnSpPr>
          <p:cNvPr id="10" name="Straight Arrow Connector 9">
            <a:extLst>
              <a:ext uri="{FF2B5EF4-FFF2-40B4-BE49-F238E27FC236}">
                <a16:creationId xmlns:a16="http://schemas.microsoft.com/office/drawing/2014/main" id="{9EC61992-A0DE-A638-730C-1C7A6112CFCC}"/>
              </a:ext>
            </a:extLst>
          </p:cNvPr>
          <p:cNvCxnSpPr>
            <a:cxnSpLocks/>
            <a:stCxn id="11" idx="0"/>
          </p:cNvCxnSpPr>
          <p:nvPr/>
        </p:nvCxnSpPr>
        <p:spPr>
          <a:xfrm flipH="1" flipV="1">
            <a:off x="8215985" y="4257465"/>
            <a:ext cx="1357741" cy="52953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B4DAF82-F00D-9EA1-00C0-5636F9AF5C32}"/>
              </a:ext>
            </a:extLst>
          </p:cNvPr>
          <p:cNvSpPr txBox="1"/>
          <p:nvPr/>
        </p:nvSpPr>
        <p:spPr>
          <a:xfrm>
            <a:off x="7899123" y="4786999"/>
            <a:ext cx="334920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mbria" panose="02040503050406030204"/>
                <a:ea typeface="+mn-ea"/>
                <a:cs typeface="+mn-cs"/>
              </a:rPr>
              <a:t>New variable, product of x</a:t>
            </a:r>
            <a:r>
              <a:rPr kumimoji="0" lang="en-US" sz="2400" b="0" i="0" u="none" strike="noStrike" kern="1200" cap="none" spc="0" normalizeH="0" baseline="-25000" noProof="0" dirty="0">
                <a:ln>
                  <a:noFill/>
                </a:ln>
                <a:solidFill>
                  <a:srgbClr val="C00000"/>
                </a:solidFill>
                <a:effectLst/>
                <a:uLnTx/>
                <a:uFillTx/>
                <a:latin typeface="Cambria" panose="02040503050406030204"/>
                <a:ea typeface="+mn-ea"/>
                <a:cs typeface="+mn-cs"/>
              </a:rPr>
              <a:t>1</a:t>
            </a:r>
            <a:r>
              <a:rPr kumimoji="0" lang="en-US" sz="2400" b="0" i="0" u="none" strike="noStrike" kern="1200" cap="none" spc="0" normalizeH="0" baseline="0" noProof="0" dirty="0">
                <a:ln>
                  <a:noFill/>
                </a:ln>
                <a:solidFill>
                  <a:srgbClr val="C00000"/>
                </a:solidFill>
                <a:effectLst/>
                <a:uLnTx/>
                <a:uFillTx/>
                <a:latin typeface="Cambria" panose="02040503050406030204"/>
                <a:ea typeface="+mn-ea"/>
                <a:cs typeface="+mn-cs"/>
              </a:rPr>
              <a:t> and x</a:t>
            </a:r>
            <a:r>
              <a:rPr kumimoji="0" lang="en-US" sz="2400" b="0" i="0" u="none" strike="noStrike" kern="1200" cap="none" spc="0" normalizeH="0" baseline="-25000" noProof="0" dirty="0">
                <a:ln>
                  <a:noFill/>
                </a:ln>
                <a:solidFill>
                  <a:srgbClr val="C00000"/>
                </a:solidFill>
                <a:effectLst/>
                <a:uLnTx/>
                <a:uFillTx/>
                <a:latin typeface="Cambria" panose="02040503050406030204"/>
                <a:ea typeface="+mn-ea"/>
                <a:cs typeface="+mn-cs"/>
              </a:rPr>
              <a:t>2</a:t>
            </a:r>
          </a:p>
        </p:txBody>
      </p:sp>
    </p:spTree>
    <p:extLst>
      <p:ext uri="{BB962C8B-B14F-4D97-AF65-F5344CB8AC3E}">
        <p14:creationId xmlns:p14="http://schemas.microsoft.com/office/powerpoint/2010/main" val="2583854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animBg="1"/>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D8327-7AE5-1925-B256-F287B8FA4C78}"/>
              </a:ext>
            </a:extLst>
          </p:cNvPr>
          <p:cNvSpPr>
            <a:spLocks noGrp="1"/>
          </p:cNvSpPr>
          <p:nvPr>
            <p:ph type="title"/>
          </p:nvPr>
        </p:nvSpPr>
        <p:spPr>
          <a:xfrm>
            <a:off x="235085" y="199754"/>
            <a:ext cx="10515600" cy="734101"/>
          </a:xfrm>
        </p:spPr>
        <p:txBody>
          <a:bodyPr>
            <a:normAutofit/>
          </a:bodyPr>
          <a:lstStyle/>
          <a:p>
            <a:r>
              <a:rPr lang="en-US" sz="3600" dirty="0">
                <a:latin typeface="Arial" panose="020B0604020202020204" pitchFamily="34" charset="0"/>
                <a:cs typeface="Arial" panose="020B0604020202020204" pitchFamily="34" charset="0"/>
              </a:rPr>
              <a:t>Categorical Variables</a:t>
            </a:r>
          </a:p>
        </p:txBody>
      </p:sp>
      <p:sp>
        <p:nvSpPr>
          <p:cNvPr id="3" name="Content Placeholder 2">
            <a:extLst>
              <a:ext uri="{FF2B5EF4-FFF2-40B4-BE49-F238E27FC236}">
                <a16:creationId xmlns:a16="http://schemas.microsoft.com/office/drawing/2014/main" id="{4C28B070-72FE-7C20-E6BB-8B160385877F}"/>
              </a:ext>
            </a:extLst>
          </p:cNvPr>
          <p:cNvSpPr>
            <a:spLocks noGrp="1"/>
          </p:cNvSpPr>
          <p:nvPr>
            <p:ph idx="1"/>
          </p:nvPr>
        </p:nvSpPr>
        <p:spPr>
          <a:xfrm>
            <a:off x="361544" y="862587"/>
            <a:ext cx="10515600" cy="4351338"/>
          </a:xfrm>
        </p:spPr>
        <p:txBody>
          <a:bodyPr>
            <a:normAutofit/>
          </a:bodyPr>
          <a:lstStyle/>
          <a:p>
            <a:pPr marL="0" indent="0">
              <a:buNone/>
            </a:pPr>
            <a:r>
              <a:rPr lang="en-US" sz="2000" dirty="0">
                <a:latin typeface="Arial" panose="020B0604020202020204" pitchFamily="34" charset="0"/>
                <a:cs typeface="Arial" panose="020B0604020202020204" pitchFamily="34" charset="0"/>
              </a:rPr>
              <a:t>Thus far, we’ve seen regressions characterized by:</a:t>
            </a:r>
          </a:p>
          <a:p>
            <a:r>
              <a:rPr lang="en-US" sz="2000" dirty="0">
                <a:latin typeface="Arial" panose="020B0604020202020204" pitchFamily="34" charset="0"/>
                <a:cs typeface="Arial" panose="020B0604020202020204" pitchFamily="34" charset="0"/>
              </a:rPr>
              <a:t>Numeric response (Y) variable </a:t>
            </a:r>
          </a:p>
          <a:p>
            <a:pPr lvl="1"/>
            <a:r>
              <a:rPr lang="en-US" sz="2000" dirty="0">
                <a:latin typeface="Arial" panose="020B0604020202020204" pitchFamily="34" charset="0"/>
                <a:cs typeface="Arial" panose="020B0604020202020204" pitchFamily="34" charset="0"/>
              </a:rPr>
              <a:t>Example: SAT Verbal Score</a:t>
            </a:r>
          </a:p>
          <a:p>
            <a:r>
              <a:rPr lang="en-US" sz="2000" dirty="0">
                <a:latin typeface="Arial" panose="020B0604020202020204" pitchFamily="34" charset="0"/>
                <a:cs typeface="Arial" panose="020B0604020202020204" pitchFamily="34" charset="0"/>
              </a:rPr>
              <a:t>Numeric explanatory (X) variable(s)</a:t>
            </a:r>
          </a:p>
          <a:p>
            <a:pPr lvl="1"/>
            <a:r>
              <a:rPr lang="en-US" sz="2000" dirty="0">
                <a:latin typeface="Arial" panose="020B0604020202020204" pitchFamily="34" charset="0"/>
                <a:cs typeface="Arial" panose="020B0604020202020204" pitchFamily="34" charset="0"/>
              </a:rPr>
              <a:t>Example: SAT Math Score, ACT Score, Class Rank</a:t>
            </a:r>
          </a:p>
          <a:p>
            <a:pPr lvl="1"/>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Idea</a:t>
            </a:r>
            <a:r>
              <a:rPr lang="en-US" sz="2000" dirty="0">
                <a:latin typeface="Arial" panose="020B0604020202020204" pitchFamily="34" charset="0"/>
                <a:cs typeface="Arial" panose="020B0604020202020204" pitchFamily="34" charset="0"/>
              </a:rPr>
              <a:t>: Explanatory variables are not just limited to numeric variables! We can incorporate categorical and higher-order variables into the regression equation with (almost) no additional work.</a:t>
            </a: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45356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CF98A-48BE-E494-190B-BE22E5A13FB5}"/>
              </a:ext>
            </a:extLst>
          </p:cNvPr>
          <p:cNvSpPr>
            <a:spLocks noGrp="1"/>
          </p:cNvSpPr>
          <p:nvPr>
            <p:ph type="title"/>
          </p:nvPr>
        </p:nvSpPr>
        <p:spPr>
          <a:xfrm>
            <a:off x="131619" y="157308"/>
            <a:ext cx="10515600" cy="624090"/>
          </a:xfrm>
        </p:spPr>
        <p:txBody>
          <a:bodyPr>
            <a:normAutofit/>
          </a:bodyPr>
          <a:lstStyle/>
          <a:p>
            <a:r>
              <a:rPr lang="en-US" sz="3600" dirty="0">
                <a:latin typeface="Arial" panose="020B0604020202020204" pitchFamily="34" charset="0"/>
                <a:cs typeface="Arial" panose="020B0604020202020204" pitchFamily="34" charset="0"/>
              </a:rPr>
              <a:t>Categorical Variables: Dummy Variables</a:t>
            </a:r>
          </a:p>
        </p:txBody>
      </p:sp>
      <p:sp>
        <p:nvSpPr>
          <p:cNvPr id="3" name="Content Placeholder 2">
            <a:extLst>
              <a:ext uri="{FF2B5EF4-FFF2-40B4-BE49-F238E27FC236}">
                <a16:creationId xmlns:a16="http://schemas.microsoft.com/office/drawing/2014/main" id="{5C5D77F4-4C11-84CD-6DA2-F13AACC56C66}"/>
              </a:ext>
            </a:extLst>
          </p:cNvPr>
          <p:cNvSpPr>
            <a:spLocks noGrp="1"/>
          </p:cNvSpPr>
          <p:nvPr>
            <p:ph idx="1"/>
          </p:nvPr>
        </p:nvSpPr>
        <p:spPr>
          <a:xfrm>
            <a:off x="256309" y="781398"/>
            <a:ext cx="10515600" cy="4351338"/>
          </a:xfrm>
        </p:spPr>
        <p:txBody>
          <a:bodyPr>
            <a:normAutofit/>
          </a:bodyPr>
          <a:lstStyle/>
          <a:p>
            <a:r>
              <a:rPr lang="en-US" sz="2000" dirty="0">
                <a:latin typeface="Arial" panose="020B0604020202020204" pitchFamily="34" charset="0"/>
                <a:cs typeface="Arial" panose="020B0604020202020204" pitchFamily="34" charset="0"/>
              </a:rPr>
              <a:t>A dummy variable is a numeric variable used in regression models to represent categories. Instead of using terms like male/female or insured/uninsured, we encode categories as numeric values so statistical models can use them.</a:t>
            </a:r>
          </a:p>
          <a:p>
            <a:r>
              <a:rPr lang="en-US" sz="2000" dirty="0">
                <a:latin typeface="Arial" panose="020B0604020202020204" pitchFamily="34" charset="0"/>
                <a:cs typeface="Arial" panose="020B0604020202020204" pitchFamily="34" charset="0"/>
              </a:rPr>
              <a:t>A dummy variable takes only two values:</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0 = category not present and 1 = category present.</a:t>
            </a:r>
          </a:p>
          <a:p>
            <a:r>
              <a:rPr lang="en-US" sz="2000" b="1"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Gender</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If we code:</a:t>
            </a:r>
          </a:p>
          <a:p>
            <a:pPr lvl="1"/>
            <a:r>
              <a:rPr lang="en-US" sz="1800" dirty="0">
                <a:latin typeface="Arial" panose="020B0604020202020204" pitchFamily="34" charset="0"/>
                <a:cs typeface="Arial" panose="020B0604020202020204" pitchFamily="34" charset="0"/>
              </a:rPr>
              <a:t>Male = 0</a:t>
            </a:r>
          </a:p>
          <a:p>
            <a:pPr lvl="1"/>
            <a:r>
              <a:rPr lang="en-US" sz="1800" dirty="0">
                <a:latin typeface="Arial" panose="020B0604020202020204" pitchFamily="34" charset="0"/>
                <a:cs typeface="Arial" panose="020B0604020202020204" pitchFamily="34" charset="0"/>
              </a:rPr>
              <a:t>Female = 1</a:t>
            </a:r>
          </a:p>
          <a:p>
            <a:r>
              <a:rPr lang="en-US" sz="2000" dirty="0">
                <a:latin typeface="Arial" panose="020B0604020202020204" pitchFamily="34" charset="0"/>
                <a:cs typeface="Arial" panose="020B0604020202020204" pitchFamily="34" charset="0"/>
              </a:rPr>
              <a:t>then the dummy variable equals </a:t>
            </a:r>
            <a:r>
              <a:rPr lang="en-US" sz="2000" b="1" dirty="0">
                <a:latin typeface="Arial" panose="020B0604020202020204" pitchFamily="34" charset="0"/>
                <a:cs typeface="Arial" panose="020B0604020202020204" pitchFamily="34" charset="0"/>
              </a:rPr>
              <a:t>1 for females</a:t>
            </a:r>
            <a:r>
              <a:rPr lang="en-US" sz="2000" dirty="0">
                <a:latin typeface="Arial" panose="020B0604020202020204" pitchFamily="34" charset="0"/>
                <a:cs typeface="Arial" panose="020B0604020202020204" pitchFamily="34" charset="0"/>
              </a:rPr>
              <a:t> and </a:t>
            </a:r>
            <a:r>
              <a:rPr lang="en-US" sz="2000" b="1" dirty="0">
                <a:latin typeface="Arial" panose="020B0604020202020204" pitchFamily="34" charset="0"/>
                <a:cs typeface="Arial" panose="020B0604020202020204" pitchFamily="34" charset="0"/>
              </a:rPr>
              <a:t>0 for males</a:t>
            </a:r>
            <a:r>
              <a:rPr lang="en-US" sz="2000" dirty="0">
                <a:latin typeface="Arial" panose="020B0604020202020204" pitchFamily="34" charset="0"/>
                <a:cs typeface="Arial" panose="020B0604020202020204" pitchFamily="34" charset="0"/>
              </a:rPr>
              <a:t>.</a:t>
            </a:r>
          </a:p>
          <a:p>
            <a:r>
              <a:rPr lang="en-US" sz="2000" dirty="0">
                <a:latin typeface="Arial" panose="020B0604020202020204" pitchFamily="34" charset="0"/>
                <a:cs typeface="Arial" panose="020B0604020202020204" pitchFamily="34" charset="0"/>
              </a:rPr>
              <a:t>A dummy variable allows categorical group differences to be included in regression models, with one group serving as the reference category</a:t>
            </a: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79568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CFBC5-88D3-2F05-D1AD-16787D5CCD9D}"/>
              </a:ext>
            </a:extLst>
          </p:cNvPr>
          <p:cNvSpPr>
            <a:spLocks noGrp="1"/>
          </p:cNvSpPr>
          <p:nvPr>
            <p:ph type="title" idx="4294967295"/>
          </p:nvPr>
        </p:nvSpPr>
        <p:spPr>
          <a:xfrm>
            <a:off x="148904" y="167022"/>
            <a:ext cx="9637712" cy="606061"/>
          </a:xfrm>
        </p:spPr>
        <p:txBody>
          <a:bodyPr>
            <a:normAutofit/>
          </a:bodyPr>
          <a:lstStyle/>
          <a:p>
            <a:r>
              <a:rPr lang="en-US" sz="3600" dirty="0">
                <a:latin typeface="Arial" panose="020B0604020202020204" pitchFamily="34" charset="0"/>
                <a:cs typeface="Arial" panose="020B0604020202020204" pitchFamily="34" charset="0"/>
              </a:rPr>
              <a:t>Models with Dummy Variables</a:t>
            </a:r>
          </a:p>
        </p:txBody>
      </p:sp>
      <p:sp>
        <p:nvSpPr>
          <p:cNvPr id="3" name="Content Placeholder 2">
            <a:extLst>
              <a:ext uri="{FF2B5EF4-FFF2-40B4-BE49-F238E27FC236}">
                <a16:creationId xmlns:a16="http://schemas.microsoft.com/office/drawing/2014/main" id="{EABC5687-6757-46FD-B2A7-D320A9921B39}"/>
              </a:ext>
            </a:extLst>
          </p:cNvPr>
          <p:cNvSpPr>
            <a:spLocks noGrp="1"/>
          </p:cNvSpPr>
          <p:nvPr>
            <p:ph idx="4294967295"/>
          </p:nvPr>
        </p:nvSpPr>
        <p:spPr>
          <a:xfrm>
            <a:off x="221262" y="773083"/>
            <a:ext cx="10865796" cy="4683733"/>
          </a:xfrm>
        </p:spPr>
        <p:txBody>
          <a:bodyPr>
            <a:normAutofit lnSpcReduction="10000"/>
          </a:bodyPr>
          <a:lstStyle/>
          <a:p>
            <a:r>
              <a:rPr lang="en-US" altLang="en-US" sz="2000" dirty="0">
                <a:latin typeface="Arial" panose="020B0604020202020204" pitchFamily="34" charset="0"/>
                <a:cs typeface="Arial" panose="020B0604020202020204" pitchFamily="34" charset="0"/>
              </a:rPr>
              <a:t>Some models have both numeric and categorical explanatory variables (e.g., gender or race)</a:t>
            </a:r>
          </a:p>
          <a:p>
            <a:pPr lvl="1"/>
            <a:r>
              <a:rPr lang="en-US" altLang="en-US" sz="1600" dirty="0">
                <a:latin typeface="Arial" panose="020B0604020202020204" pitchFamily="34" charset="0"/>
                <a:cs typeface="Arial" panose="020B0604020202020204" pitchFamily="34" charset="0"/>
              </a:rPr>
              <a:t>Numeric variables can go directly into the model, but categorical variables must first be converted into numbers so the model can estimate differences between groups. This is done using dummy variables.</a:t>
            </a:r>
          </a:p>
          <a:p>
            <a:r>
              <a:rPr lang="en-US" altLang="en-US" sz="2000" dirty="0">
                <a:latin typeface="Arial" panose="020B0604020202020204" pitchFamily="34" charset="0"/>
                <a:cs typeface="Arial" panose="020B0604020202020204" pitchFamily="34" charset="0"/>
              </a:rPr>
              <a:t>If a categorical variable has </a:t>
            </a:r>
            <a:r>
              <a:rPr lang="en-US" altLang="en-US" sz="2000" i="1" dirty="0">
                <a:latin typeface="Arial" panose="020B0604020202020204" pitchFamily="34" charset="0"/>
                <a:cs typeface="Arial" panose="020B0604020202020204" pitchFamily="34" charset="0"/>
              </a:rPr>
              <a:t>k</a:t>
            </a:r>
            <a:r>
              <a:rPr lang="en-US" altLang="en-US" sz="2000" dirty="0">
                <a:latin typeface="Arial" panose="020B0604020202020204" pitchFamily="34" charset="0"/>
                <a:cs typeface="Arial" panose="020B0604020202020204" pitchFamily="34" charset="0"/>
              </a:rPr>
              <a:t> levels, we need to create </a:t>
            </a:r>
            <a:r>
              <a:rPr lang="en-US" altLang="en-US" sz="2000" i="1" dirty="0">
                <a:latin typeface="Arial" panose="020B0604020202020204" pitchFamily="34" charset="0"/>
                <a:cs typeface="Arial" panose="020B0604020202020204" pitchFamily="34" charset="0"/>
              </a:rPr>
              <a:t>k</a:t>
            </a:r>
            <a:r>
              <a:rPr lang="en-US" altLang="en-US" sz="2000" dirty="0">
                <a:latin typeface="Arial" panose="020B0604020202020204" pitchFamily="34" charset="0"/>
                <a:cs typeface="Arial" panose="020B0604020202020204" pitchFamily="34" charset="0"/>
              </a:rPr>
              <a:t>-1 dummy variables that take on the values 1 if the level of interest is present and 0 otherwise.</a:t>
            </a:r>
          </a:p>
          <a:p>
            <a:pPr lvl="1"/>
            <a:r>
              <a:rPr lang="en-US" sz="1600" dirty="0">
                <a:latin typeface="Arial" panose="020B0604020202020204" pitchFamily="34" charset="0"/>
                <a:cs typeface="Arial" panose="020B0604020202020204" pitchFamily="34" charset="0"/>
              </a:rPr>
              <a:t>One category is intentionally left out and becomes the baseline (reference) group, where all dummy variables equal 0. </a:t>
            </a:r>
          </a:p>
          <a:p>
            <a:pPr lvl="1"/>
            <a:r>
              <a:rPr lang="en-US" altLang="en-US" sz="1600" dirty="0">
                <a:latin typeface="Arial" panose="020B0604020202020204" pitchFamily="34" charset="0"/>
                <a:cs typeface="Arial" panose="020B0604020202020204" pitchFamily="34" charset="0"/>
              </a:rPr>
              <a:t>The baseline level of the categorical variable for which all </a:t>
            </a:r>
            <a:r>
              <a:rPr lang="en-US" altLang="en-US" sz="1600" i="1" dirty="0">
                <a:latin typeface="Arial" panose="020B0604020202020204" pitchFamily="34" charset="0"/>
                <a:cs typeface="Arial" panose="020B0604020202020204" pitchFamily="34" charset="0"/>
              </a:rPr>
              <a:t>k</a:t>
            </a:r>
            <a:r>
              <a:rPr lang="en-US" altLang="en-US" sz="1600" dirty="0">
                <a:latin typeface="Arial" panose="020B0604020202020204" pitchFamily="34" charset="0"/>
                <a:cs typeface="Arial" panose="020B0604020202020204" pitchFamily="34" charset="0"/>
              </a:rPr>
              <a:t>-1 dummy variables are set to 0</a:t>
            </a:r>
          </a:p>
          <a:p>
            <a:pPr lvl="1"/>
            <a:r>
              <a:rPr lang="en-US" sz="1600" dirty="0">
                <a:latin typeface="Arial" panose="020B0604020202020204" pitchFamily="34" charset="0"/>
                <a:cs typeface="Arial" panose="020B0604020202020204" pitchFamily="34" charset="0"/>
              </a:rPr>
              <a:t>This avoids a problem called perfect multicollinearity, where including all k categories would create redundant information and make the model impossible to estimate	</a:t>
            </a:r>
            <a:endParaRPr lang="en-US" altLang="en-US" sz="16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In the regression, each dummy variable coefficient represents how much the mean outcome for that category differs from the baseline group, after accounting for all other variables in the model. </a:t>
            </a:r>
          </a:p>
          <a:p>
            <a:pPr lvl="1"/>
            <a:r>
              <a:rPr lang="en-US" sz="1600" dirty="0">
                <a:latin typeface="Arial" panose="020B0604020202020204" pitchFamily="34" charset="0"/>
                <a:cs typeface="Arial" panose="020B0604020202020204" pitchFamily="34" charset="0"/>
              </a:rPr>
              <a:t>The coefficient tells you how that group compares to the reference category, holding numeric predictors constant.</a:t>
            </a:r>
          </a:p>
          <a:p>
            <a:pPr lvl="1"/>
            <a:r>
              <a:rPr lang="en-US" sz="1600" dirty="0">
                <a:latin typeface="Arial" panose="020B0604020202020204" pitchFamily="34" charset="0"/>
                <a:cs typeface="Arial" panose="020B0604020202020204" pitchFamily="34" charset="0"/>
              </a:rPr>
              <a:t>The baseline group serves as the comparison point, and each dummy coefficient shows how much higher or lower the outcome is for each other category relative to that group.</a:t>
            </a:r>
          </a:p>
          <a:p>
            <a:endParaRPr lang="en-US" sz="19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41804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 calcmode="lin" valueType="num">
                                      <p:cBhvr additive="base">
                                        <p:cTn id="1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anim calcmode="lin" valueType="num">
                                      <p:cBhvr additive="base">
                                        <p:cTn id="1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anim calcmode="lin" valueType="num">
                                      <p:cBhvr additive="base">
                                        <p:cTn id="1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 calcmode="lin" valueType="num">
                                      <p:cBhvr additive="base">
                                        <p:cTn id="2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anim calcmode="lin" valueType="num">
                                      <p:cBhvr additive="base">
                                        <p:cTn id="2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7" end="7"/>
                                            </p:txEl>
                                          </p:spTgt>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anim calcmode="lin" valueType="num">
                                      <p:cBhvr additive="base">
                                        <p:cTn id="3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p:cNvSpPr>
            <a:spLocks noGrp="1"/>
          </p:cNvSpPr>
          <p:nvPr>
            <p:ph type="title" idx="4294967295"/>
          </p:nvPr>
        </p:nvSpPr>
        <p:spPr>
          <a:xfrm>
            <a:off x="167120" y="136525"/>
            <a:ext cx="9637712" cy="619933"/>
          </a:xfrm>
        </p:spPr>
        <p:txBody>
          <a:bodyPr>
            <a:normAutofit/>
          </a:bodyPr>
          <a:lstStyle/>
          <a:p>
            <a:r>
              <a:rPr lang="en-US" sz="3600" dirty="0">
                <a:latin typeface="Arial" panose="020B0604020202020204" pitchFamily="34" charset="0"/>
                <a:cs typeface="Arial" panose="020B0604020202020204" pitchFamily="34" charset="0"/>
              </a:rPr>
              <a:t>Interpreting Dummy Variables</a:t>
            </a:r>
          </a:p>
        </p:txBody>
      </p:sp>
      <p:sp>
        <p:nvSpPr>
          <p:cNvPr id="3" name="Content Placeholder 2"/>
          <p:cNvSpPr>
            <a:spLocks noGrp="1"/>
          </p:cNvSpPr>
          <p:nvPr>
            <p:ph idx="4294967295"/>
          </p:nvPr>
        </p:nvSpPr>
        <p:spPr>
          <a:xfrm>
            <a:off x="167120" y="756458"/>
            <a:ext cx="11474618" cy="3624296"/>
          </a:xfrm>
        </p:spPr>
        <p:txBody>
          <a:bodyPr>
            <a:normAutofit/>
          </a:bodyPr>
          <a:lstStyle/>
          <a:p>
            <a:r>
              <a:rPr lang="en-US" sz="2000" dirty="0">
                <a:latin typeface="Arial" panose="020B0604020202020204" pitchFamily="34" charset="0"/>
                <a:cs typeface="Arial" panose="020B0604020202020204" pitchFamily="34" charset="0"/>
              </a:rPr>
              <a:t>Can add categorical variables to the regression model, but first need to create dummy codes</a:t>
            </a:r>
          </a:p>
          <a:p>
            <a:pPr lvl="1"/>
            <a:r>
              <a:rPr lang="en-US" sz="2000" dirty="0">
                <a:latin typeface="Arial" panose="020B0604020202020204" pitchFamily="34" charset="0"/>
                <a:cs typeface="Arial" panose="020B0604020202020204" pitchFamily="34" charset="0"/>
              </a:rPr>
              <a:t>If k categories, you only need k-1 dummy variables</a:t>
            </a:r>
          </a:p>
          <a:p>
            <a:pPr lvl="1"/>
            <a:r>
              <a:rPr lang="en-US" sz="2000" dirty="0">
                <a:latin typeface="Arial" panose="020B0604020202020204" pitchFamily="34" charset="0"/>
                <a:cs typeface="Arial" panose="020B0604020202020204" pitchFamily="34" charset="0"/>
              </a:rPr>
              <a:t>Other category acts as the reference group; absorbed into intercept</a:t>
            </a:r>
          </a:p>
          <a:p>
            <a:r>
              <a:rPr lang="en-US" sz="2000" dirty="0">
                <a:latin typeface="Arial" panose="020B0604020202020204" pitchFamily="34" charset="0"/>
                <a:cs typeface="Arial" panose="020B0604020202020204" pitchFamily="34" charset="0"/>
              </a:rPr>
              <a:t>Each dummy variable acts as an </a:t>
            </a:r>
            <a:r>
              <a:rPr lang="en-US" sz="2000" u="sng" dirty="0">
                <a:latin typeface="Arial" panose="020B0604020202020204" pitchFamily="34" charset="0"/>
                <a:cs typeface="Arial" panose="020B0604020202020204" pitchFamily="34" charset="0"/>
              </a:rPr>
              <a:t>indicator</a:t>
            </a:r>
            <a:r>
              <a:rPr lang="en-US" sz="2000" dirty="0">
                <a:latin typeface="Arial" panose="020B0604020202020204" pitchFamily="34" charset="0"/>
                <a:cs typeface="Arial" panose="020B0604020202020204" pitchFamily="34" charset="0"/>
              </a:rPr>
              <a:t> of whether the observation is in that category </a:t>
            </a:r>
          </a:p>
          <a:p>
            <a:r>
              <a:rPr lang="en-US" sz="2000" dirty="0">
                <a:latin typeface="Arial" panose="020B0604020202020204" pitchFamily="34" charset="0"/>
                <a:cs typeface="Arial" panose="020B0604020202020204" pitchFamily="34" charset="0"/>
              </a:rPr>
              <a:t>Each dummy coefficient can be interpreted as </a:t>
            </a:r>
            <a:r>
              <a:rPr lang="en-US" sz="2000" i="1" dirty="0">
                <a:latin typeface="Arial" panose="020B0604020202020204" pitchFamily="34" charset="0"/>
                <a:cs typeface="Arial" panose="020B0604020202020204" pitchFamily="34" charset="0"/>
              </a:rPr>
              <a:t>the average difference </a:t>
            </a:r>
            <a:r>
              <a:rPr lang="en-US" sz="2000" dirty="0">
                <a:latin typeface="Arial" panose="020B0604020202020204" pitchFamily="34" charset="0"/>
                <a:cs typeface="Arial" panose="020B0604020202020204" pitchFamily="34" charset="0"/>
              </a:rPr>
              <a:t>in Y between the dummy category and the reference group.</a:t>
            </a:r>
          </a:p>
          <a:p>
            <a:pPr lvl="1"/>
            <a:r>
              <a:rPr lang="en-US" sz="2000" dirty="0">
                <a:latin typeface="Arial" panose="020B0604020202020204" pitchFamily="34" charset="0"/>
                <a:cs typeface="Arial" panose="020B0604020202020204" pitchFamily="34" charset="0"/>
              </a:rPr>
              <a:t>Specifically, the dummy coefficients are the linear correction in the model for that level relative to the reference group.</a:t>
            </a:r>
          </a:p>
        </p:txBody>
      </p:sp>
      <p:sp>
        <p:nvSpPr>
          <p:cNvPr id="6" name="TextBox 5">
            <a:extLst>
              <a:ext uri="{FF2B5EF4-FFF2-40B4-BE49-F238E27FC236}">
                <a16:creationId xmlns:a16="http://schemas.microsoft.com/office/drawing/2014/main" id="{910FB018-99C5-A836-9520-3740292D15C8}"/>
              </a:ext>
            </a:extLst>
          </p:cNvPr>
          <p:cNvSpPr txBox="1"/>
          <p:nvPr/>
        </p:nvSpPr>
        <p:spPr>
          <a:xfrm>
            <a:off x="253690" y="5778376"/>
            <a:ext cx="11100109" cy="369332"/>
          </a:xfrm>
          <a:prstGeom prst="rect">
            <a:avLst/>
          </a:prstGeom>
          <a:noFill/>
        </p:spPr>
        <p:txBody>
          <a:bodyPr wrap="square">
            <a:spAutoFit/>
          </a:bodyPr>
          <a:lstStyle/>
          <a:p>
            <a:r>
              <a:rPr lang="en-US" dirty="0">
                <a:hlinkClick r:id="rId2"/>
              </a:rPr>
              <a:t>issues-osu.github.io/statsii-spring2026/static/johfre-freese-2021-reconsidering-the-reference-category.pdf</a:t>
            </a:r>
            <a:endParaRPr lang="en-US" dirty="0"/>
          </a:p>
        </p:txBody>
      </p:sp>
    </p:spTree>
    <p:extLst>
      <p:ext uri="{BB962C8B-B14F-4D97-AF65-F5344CB8AC3E}">
        <p14:creationId xmlns:p14="http://schemas.microsoft.com/office/powerpoint/2010/main" val="8048413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30CE29A-9AAF-4854-A086-C0606789128E}"/>
              </a:ext>
            </a:extLst>
          </p:cNvPr>
          <p:cNvSpPr txBox="1"/>
          <p:nvPr/>
        </p:nvSpPr>
        <p:spPr>
          <a:xfrm>
            <a:off x="3836019" y="197346"/>
            <a:ext cx="8067907" cy="6555641"/>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Social scientists often present modeling results from categorical explanatory variables, such as gender, race, and marital status, as coefficients representing contrasts to a “reference” group. Although choosing the reference category may seem arbitrary, the authors argue that it is an intrinsically meaningful act that affects the interpretability of results. Reference category selection foregrounds some contrasts over others. </a:t>
            </a:r>
            <a:r>
              <a:rPr lang="en-US" sz="2000" i="1" dirty="0">
                <a:latin typeface="Arial" panose="020B0604020202020204" pitchFamily="34" charset="0"/>
                <a:cs typeface="Arial" panose="020B0604020202020204" pitchFamily="34" charset="0"/>
              </a:rPr>
              <a:t>Also, selecting a culturally dominant group as the reference can subtly reify the notion that dominant groups are the most “normal.” </a:t>
            </a:r>
            <a:r>
              <a:rPr lang="en-US" sz="2000" dirty="0">
                <a:latin typeface="Arial" panose="020B0604020202020204" pitchFamily="34" charset="0"/>
                <a:cs typeface="Arial" panose="020B0604020202020204" pitchFamily="34" charset="0"/>
              </a:rPr>
              <a:t>The authors find that three of four recently published tables in Demography and American Sociological Review that include race or gender explanatory variables use dominant groups (i.e., male or white) as the reference group. Furthermore, the tables rarely state what the reference is: only half of tables with race variables and one-fifth of tables with gender variables explicitly specify the reference category; the rest leave it up to the reader to check the methods section or simply guess. As an alternative to this apparently standard practice, the authors suggest guidelines for intentionally and responsibly choosing a reference category. The authors then discuss alternative ways to convey results from categorical explanatory variables that avoid the problems of reference categories entirely.</a:t>
            </a:r>
          </a:p>
        </p:txBody>
      </p:sp>
      <p:sp>
        <p:nvSpPr>
          <p:cNvPr id="5" name="TextBox 4">
            <a:extLst>
              <a:ext uri="{FF2B5EF4-FFF2-40B4-BE49-F238E27FC236}">
                <a16:creationId xmlns:a16="http://schemas.microsoft.com/office/drawing/2014/main" id="{81025F97-742E-3B20-C8C1-083896725B52}"/>
              </a:ext>
            </a:extLst>
          </p:cNvPr>
          <p:cNvSpPr txBox="1"/>
          <p:nvPr/>
        </p:nvSpPr>
        <p:spPr>
          <a:xfrm>
            <a:off x="82240" y="105266"/>
            <a:ext cx="3932198" cy="1938992"/>
          </a:xfrm>
          <a:prstGeom prst="rect">
            <a:avLst/>
          </a:prstGeom>
          <a:noFill/>
        </p:spPr>
        <p:txBody>
          <a:bodyPr wrap="square">
            <a:spAutoFit/>
          </a:bodyPr>
          <a:lstStyle/>
          <a:p>
            <a:r>
              <a:rPr lang="en-US" sz="4000" dirty="0">
                <a:latin typeface="Arial" panose="020B0604020202020204" pitchFamily="34" charset="0"/>
                <a:cs typeface="Arial" panose="020B0604020202020204" pitchFamily="34" charset="0"/>
              </a:rPr>
              <a:t>Reconsidering the Reference Category</a:t>
            </a:r>
          </a:p>
        </p:txBody>
      </p:sp>
    </p:spTree>
    <p:extLst>
      <p:ext uri="{BB962C8B-B14F-4D97-AF65-F5344CB8AC3E}">
        <p14:creationId xmlns:p14="http://schemas.microsoft.com/office/powerpoint/2010/main" val="9988218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14706" y="806264"/>
                <a:ext cx="10515600" cy="4343634"/>
              </a:xfrm>
            </p:spPr>
            <p:txBody>
              <a:bodyPr>
                <a:normAutofit/>
              </a:bodyPr>
              <a:lstStyle/>
              <a:p>
                <a:r>
                  <a:rPr lang="en-US" sz="2000" b="1" dirty="0">
                    <a:latin typeface="Arial" panose="020B0604020202020204" pitchFamily="34" charset="0"/>
                    <a:cs typeface="Arial" panose="020B0604020202020204" pitchFamily="34" charset="0"/>
                  </a:rPr>
                  <a:t>Idea: </a:t>
                </a:r>
                <a:r>
                  <a:rPr lang="en-US" sz="2000" dirty="0">
                    <a:latin typeface="Arial" panose="020B0604020202020204" pitchFamily="34" charset="0"/>
                    <a:cs typeface="Arial" panose="020B0604020202020204" pitchFamily="34" charset="0"/>
                  </a:rPr>
                  <a:t>Use a binary (0/1) variable to identify different groups i.e. X</a:t>
                </a:r>
                <a:r>
                  <a:rPr lang="en-US" sz="2000" baseline="-25000" dirty="0">
                    <a:latin typeface="Arial" panose="020B0604020202020204" pitchFamily="34" charset="0"/>
                    <a:cs typeface="Arial" panose="020B0604020202020204" pitchFamily="34" charset="0"/>
                  </a:rPr>
                  <a:t>i </a:t>
                </a:r>
                <a:r>
                  <a:rPr lang="en-US" sz="2000" dirty="0">
                    <a:latin typeface="Arial" panose="020B0604020202020204" pitchFamily="34" charset="0"/>
                    <a:cs typeface="Arial" panose="020B0604020202020204" pitchFamily="34" charset="0"/>
                  </a:rPr>
                  <a:t> = 1 if observation is of the category and X</a:t>
                </a:r>
                <a:r>
                  <a:rPr lang="en-US" sz="2000" baseline="-25000" dirty="0">
                    <a:latin typeface="Arial" panose="020B0604020202020204" pitchFamily="34" charset="0"/>
                    <a:cs typeface="Arial" panose="020B0604020202020204" pitchFamily="34" charset="0"/>
                  </a:rPr>
                  <a:t>i </a:t>
                </a:r>
                <a:r>
                  <a:rPr lang="en-US" sz="2000" dirty="0">
                    <a:latin typeface="Arial" panose="020B0604020202020204" pitchFamily="34" charset="0"/>
                    <a:cs typeface="Arial" panose="020B0604020202020204" pitchFamily="34" charset="0"/>
                  </a:rPr>
                  <a:t> = 0 otherwise.</a:t>
                </a:r>
              </a:p>
              <a:p>
                <a:r>
                  <a:rPr lang="en-US" sz="2000" dirty="0">
                    <a:latin typeface="Arial" panose="020B0604020202020204" pitchFamily="34" charset="0"/>
                    <a:cs typeface="Arial" panose="020B0604020202020204" pitchFamily="34" charset="0"/>
                  </a:rPr>
                  <a:t>The binary categorical variable acts as an additive correction term. </a:t>
                </a:r>
              </a:p>
              <a:p>
                <a:pPr lvl="1"/>
                <a:r>
                  <a:rPr lang="en-US" sz="1800" dirty="0">
                    <a:latin typeface="Arial" panose="020B0604020202020204" pitchFamily="34" charset="0"/>
                    <a:cs typeface="Arial" panose="020B0604020202020204" pitchFamily="34" charset="0"/>
                  </a:rPr>
                  <a:t>Suppose x</a:t>
                </a:r>
                <a:r>
                  <a:rPr lang="en-US" sz="1800" baseline="-25000" dirty="0">
                    <a:latin typeface="Arial" panose="020B0604020202020204" pitchFamily="34" charset="0"/>
                    <a:cs typeface="Arial" panose="020B0604020202020204" pitchFamily="34" charset="0"/>
                  </a:rPr>
                  <a:t>2</a:t>
                </a:r>
                <a:r>
                  <a:rPr lang="en-US" sz="1800" dirty="0">
                    <a:latin typeface="Arial" panose="020B0604020202020204" pitchFamily="34" charset="0"/>
                    <a:cs typeface="Arial" panose="020B0604020202020204" pitchFamily="34" charset="0"/>
                  </a:rPr>
                  <a:t> is binary with </a:t>
                </a:r>
                <a:r>
                  <a:rPr lang="en-US" sz="1800" dirty="0" err="1">
                    <a:latin typeface="Arial" panose="020B0604020202020204" pitchFamily="34" charset="0"/>
                    <a:cs typeface="Arial" panose="020B0604020202020204" pitchFamily="34" charset="0"/>
                  </a:rPr>
                  <a:t>coeff</a:t>
                </a:r>
                <a:r>
                  <a:rPr lang="en-US" sz="1800" dirty="0">
                    <a:latin typeface="Arial" panose="020B0604020202020204" pitchFamily="34" charset="0"/>
                    <a:cs typeface="Arial" panose="020B0604020202020204" pitchFamily="34" charset="0"/>
                  </a:rPr>
                  <a:t>. </a:t>
                </a:r>
                <a14:m>
                  <m:oMath xmlns:m="http://schemas.openxmlformats.org/officeDocument/2006/math">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charset="0"/>
                          </a:rPr>
                          <m:t>2</m:t>
                        </m:r>
                      </m:sub>
                    </m:sSub>
                  </m:oMath>
                </a14:m>
                <a:r>
                  <a:rPr lang="en-US" sz="1800" dirty="0">
                    <a:latin typeface="Arial" panose="020B0604020202020204" pitchFamily="34" charset="0"/>
                    <a:cs typeface="Arial" panose="020B0604020202020204" pitchFamily="34" charset="0"/>
                  </a:rPr>
                  <a:t>. </a:t>
                </a:r>
              </a:p>
              <a:p>
                <a:pPr lvl="1"/>
                <a:r>
                  <a:rPr lang="en-US" sz="1800" dirty="0">
                    <a:latin typeface="Arial" panose="020B0604020202020204" pitchFamily="34" charset="0"/>
                    <a:cs typeface="Arial" panose="020B0604020202020204" pitchFamily="34" charset="0"/>
                  </a:rPr>
                  <a:t>Then the model is:   </a:t>
                </a:r>
                <a14:m>
                  <m:oMath xmlns:m="http://schemas.openxmlformats.org/officeDocument/2006/math">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𝑦</m:t>
                        </m:r>
                      </m:e>
                    </m:acc>
                    <m:r>
                      <m:rPr>
                        <m:nor/>
                      </m:rPr>
                      <a:rPr lang="en-US" sz="1800" baseline="-25000" dirty="0">
                        <a:latin typeface="Arial" panose="020B0604020202020204" pitchFamily="34" charset="0"/>
                        <a:cs typeface="Arial" panose="020B0604020202020204" pitchFamily="34" charset="0"/>
                      </a:rPr>
                      <m:t> </m:t>
                    </m:r>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𝑥</m:t>
                    </m:r>
                    <m:r>
                      <a:rPr lang="en-US" sz="1800" i="1" baseline="-25000">
                        <a:solidFill>
                          <a:srgbClr val="000000"/>
                        </a:solidFill>
                        <a:latin typeface="Cambria Math" panose="02040503050406030204" pitchFamily="18" charset="0"/>
                      </a:rPr>
                      <m:t>1</m:t>
                    </m:r>
                  </m:oMath>
                </a14:m>
                <a:r>
                  <a:rPr lang="en-US" sz="1800" dirty="0">
                    <a:latin typeface="Arial" panose="020B0604020202020204" pitchFamily="34" charset="0"/>
                    <a:cs typeface="Arial" panose="020B0604020202020204" pitchFamily="34" charset="0"/>
                  </a:rPr>
                  <a:t>+</a:t>
                </a:r>
                <a:r>
                  <a:rPr lang="en-US" sz="1800" dirty="0">
                    <a:solidFill>
                      <a:srgbClr val="000000"/>
                    </a:solidFill>
                    <a:latin typeface="Arial" panose="020B0604020202020204" pitchFamily="34" charset="0"/>
                    <a:cs typeface="Arial" panose="020B0604020202020204" pitchFamily="34" charset="0"/>
                  </a:rPr>
                  <a:t> </a:t>
                </a:r>
                <a14:m>
                  <m:oMath xmlns:m="http://schemas.openxmlformats.org/officeDocument/2006/math">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charset="0"/>
                          </a:rPr>
                          <m:t>2</m:t>
                        </m:r>
                      </m:sub>
                    </m:sSub>
                  </m:oMath>
                </a14:m>
                <a:r>
                  <a:rPr lang="en-US" sz="1800" dirty="0">
                    <a:solidFill>
                      <a:srgbClr val="000000"/>
                    </a:solidFill>
                    <a:latin typeface="Arial" panose="020B0604020202020204" pitchFamily="34" charset="0"/>
                    <a:cs typeface="Arial" panose="020B0604020202020204" pitchFamily="34" charset="0"/>
                  </a:rPr>
                  <a:t> </a:t>
                </a:r>
                <a14:m>
                  <m:oMath xmlns:m="http://schemas.openxmlformats.org/officeDocument/2006/math">
                    <m:r>
                      <a:rPr lang="en-US" sz="1800" i="1">
                        <a:solidFill>
                          <a:srgbClr val="000000"/>
                        </a:solidFill>
                        <a:latin typeface="Cambria Math" panose="02040503050406030204" pitchFamily="18" charset="0"/>
                      </a:rPr>
                      <m:t>𝑥</m:t>
                    </m:r>
                    <m:r>
                      <a:rPr lang="en-US" sz="1800" b="0" i="1" baseline="-25000" smtClean="0">
                        <a:solidFill>
                          <a:srgbClr val="000000"/>
                        </a:solidFill>
                        <a:latin typeface="Cambria Math" panose="02040503050406030204" pitchFamily="18" charset="0"/>
                      </a:rPr>
                      <m:t>2 </m:t>
                    </m:r>
                  </m:oMath>
                </a14:m>
                <a:r>
                  <a:rPr lang="en-US" sz="1800" dirty="0">
                    <a:latin typeface="Arial" panose="020B0604020202020204" pitchFamily="34" charset="0"/>
                    <a:cs typeface="Arial" panose="020B0604020202020204" pitchFamily="34" charset="0"/>
                  </a:rPr>
                  <a:t>  which splits into:</a:t>
                </a:r>
                <a:endParaRPr lang="en-US" sz="1800" u="sng" baseline="-25000" dirty="0">
                  <a:latin typeface="Arial" panose="020B0604020202020204" pitchFamily="34" charset="0"/>
                  <a:cs typeface="Arial" panose="020B0604020202020204" pitchFamily="34" charset="0"/>
                </a:endParaRPr>
              </a:p>
              <a:p>
                <a:pPr marL="0" indent="0" algn="ctr">
                  <a:buNone/>
                </a:pPr>
                <a:r>
                  <a:rPr lang="en-US" sz="1800" dirty="0">
                    <a:latin typeface="Arial" panose="020B0604020202020204" pitchFamily="34" charset="0"/>
                    <a:cs typeface="Arial" panose="020B0604020202020204" pitchFamily="34" charset="0"/>
                  </a:rPr>
                  <a:t>  </a:t>
                </a:r>
                <a14:m>
                  <m:oMath xmlns:m="http://schemas.openxmlformats.org/officeDocument/2006/math">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𝑦</m:t>
                        </m:r>
                      </m:e>
                    </m:acc>
                    <m:d>
                      <m:dPr>
                        <m:begChr m:val="|"/>
                        <m:endChr m:val="|"/>
                        <m:ctrlPr>
                          <a:rPr lang="en-US" sz="1800" b="0" i="1" smtClean="0">
                            <a:solidFill>
                              <a:srgbClr val="000000"/>
                            </a:solidFill>
                            <a:latin typeface="Cambria Math" panose="02040503050406030204" pitchFamily="18" charset="0"/>
                          </a:rPr>
                        </m:ctrlPr>
                      </m:dPr>
                      <m:e>
                        <m:r>
                          <m:rPr>
                            <m:nor/>
                          </m:rPr>
                          <a:rPr lang="en-US" sz="1800" b="0" i="0" smtClean="0">
                            <a:solidFill>
                              <a:srgbClr val="000000"/>
                            </a:solidFill>
                            <a:latin typeface="Arial" panose="020B0604020202020204" pitchFamily="34" charset="0"/>
                            <a:cs typeface="Arial" panose="020B0604020202020204" pitchFamily="34" charset="0"/>
                          </a:rPr>
                          <m:t>(</m:t>
                        </m:r>
                        <m:r>
                          <m:rPr>
                            <m:nor/>
                          </m:rPr>
                          <a:rPr lang="en-US" sz="1800" dirty="0" smtClean="0">
                            <a:latin typeface="Arial" panose="020B0604020202020204" pitchFamily="34" charset="0"/>
                            <a:cs typeface="Arial" panose="020B0604020202020204" pitchFamily="34" charset="0"/>
                          </a:rPr>
                          <m:t>x</m:t>
                        </m:r>
                        <m:r>
                          <m:rPr>
                            <m:nor/>
                          </m:rPr>
                          <a:rPr lang="en-US" sz="1800" b="0" i="0" baseline="-25000" dirty="0" smtClean="0">
                            <a:latin typeface="Arial" panose="020B0604020202020204" pitchFamily="34" charset="0"/>
                            <a:cs typeface="Arial" panose="020B0604020202020204" pitchFamily="34" charset="0"/>
                          </a:rPr>
                          <m:t>2</m:t>
                        </m:r>
                        <m:r>
                          <m:rPr>
                            <m:nor/>
                          </m:rPr>
                          <a:rPr lang="en-US" sz="1800" b="0" i="0" baseline="-25000" dirty="0" smtClean="0">
                            <a:latin typeface="Arial" panose="020B0604020202020204" pitchFamily="34" charset="0"/>
                            <a:cs typeface="Arial" panose="020B0604020202020204" pitchFamily="34" charset="0"/>
                          </a:rPr>
                          <m:t> </m:t>
                        </m:r>
                        <m:r>
                          <m:rPr>
                            <m:nor/>
                          </m:rPr>
                          <a:rPr lang="en-US" sz="1800" b="0" i="0" dirty="0" smtClean="0">
                            <a:latin typeface="Arial" panose="020B0604020202020204" pitchFamily="34" charset="0"/>
                            <a:cs typeface="Arial" panose="020B0604020202020204" pitchFamily="34" charset="0"/>
                          </a:rPr>
                          <m:t>=</m:t>
                        </m:r>
                        <m:r>
                          <m:rPr>
                            <m:nor/>
                          </m:rPr>
                          <a:rPr lang="en-US" sz="1800" b="0" i="0" dirty="0" smtClean="0">
                            <a:latin typeface="Arial" panose="020B0604020202020204" pitchFamily="34" charset="0"/>
                            <a:cs typeface="Arial" panose="020B0604020202020204" pitchFamily="34" charset="0"/>
                          </a:rPr>
                          <m:t> </m:t>
                        </m:r>
                        <m:r>
                          <m:rPr>
                            <m:nor/>
                          </m:rPr>
                          <a:rPr lang="en-US" sz="1800" b="0" i="0" dirty="0" smtClean="0">
                            <a:latin typeface="Arial" panose="020B0604020202020204" pitchFamily="34" charset="0"/>
                            <a:cs typeface="Arial" panose="020B0604020202020204" pitchFamily="34" charset="0"/>
                          </a:rPr>
                          <m:t>0)</m:t>
                        </m:r>
                        <m:r>
                          <m:rPr>
                            <m:nor/>
                          </m:rPr>
                          <a:rPr lang="en-US" sz="1800" b="0" i="0" baseline="-25000" dirty="0" smtClean="0">
                            <a:latin typeface="Arial" panose="020B0604020202020204" pitchFamily="34" charset="0"/>
                            <a:cs typeface="Arial" panose="020B0604020202020204" pitchFamily="34" charset="0"/>
                          </a:rPr>
                          <m:t> </m:t>
                        </m:r>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𝑥</m:t>
                        </m:r>
                        <m:r>
                          <a:rPr lang="en-US" sz="1800" b="0" i="1" baseline="-25000" smtClean="0">
                            <a:solidFill>
                              <a:srgbClr val="000000"/>
                            </a:solidFill>
                            <a:latin typeface="Cambria Math" panose="02040503050406030204" pitchFamily="18" charset="0"/>
                          </a:rPr>
                          <m:t>1                              </m:t>
                        </m:r>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𝑦</m:t>
                            </m:r>
                          </m:e>
                        </m:acc>
                      </m:e>
                    </m:d>
                    <m:r>
                      <m:rPr>
                        <m:nor/>
                      </m:rPr>
                      <a:rPr lang="en-US" sz="1800">
                        <a:solidFill>
                          <a:srgbClr val="000000"/>
                        </a:solidFill>
                        <a:latin typeface="Arial" panose="020B0604020202020204" pitchFamily="34" charset="0"/>
                        <a:cs typeface="Arial" panose="020B0604020202020204" pitchFamily="34" charset="0"/>
                      </a:rPr>
                      <m:t>(</m:t>
                    </m:r>
                    <m:r>
                      <m:rPr>
                        <m:nor/>
                      </m:rPr>
                      <a:rPr lang="en-US" sz="1800" dirty="0">
                        <a:latin typeface="Arial" panose="020B0604020202020204" pitchFamily="34" charset="0"/>
                        <a:cs typeface="Arial" panose="020B0604020202020204" pitchFamily="34" charset="0"/>
                      </a:rPr>
                      <m:t>x</m:t>
                    </m:r>
                    <m:r>
                      <m:rPr>
                        <m:nor/>
                      </m:rPr>
                      <a:rPr lang="en-US" sz="1800" baseline="-25000" dirty="0">
                        <a:latin typeface="Arial" panose="020B0604020202020204" pitchFamily="34" charset="0"/>
                        <a:cs typeface="Arial" panose="020B0604020202020204" pitchFamily="34" charset="0"/>
                      </a:rPr>
                      <m:t>2</m:t>
                    </m:r>
                    <m:r>
                      <m:rPr>
                        <m:nor/>
                      </m:rPr>
                      <a:rPr lang="en-US" sz="1800" b="0" i="0" baseline="-25000" dirty="0" smtClean="0">
                        <a:latin typeface="Arial" panose="020B0604020202020204" pitchFamily="34" charset="0"/>
                        <a:cs typeface="Arial" panose="020B0604020202020204" pitchFamily="34" charset="0"/>
                      </a:rPr>
                      <m:t> </m:t>
                    </m:r>
                    <m:r>
                      <m:rPr>
                        <m:nor/>
                      </m:rPr>
                      <a:rPr lang="en-US" sz="1800" dirty="0">
                        <a:latin typeface="Arial" panose="020B0604020202020204" pitchFamily="34" charset="0"/>
                        <a:cs typeface="Arial" panose="020B0604020202020204" pitchFamily="34" charset="0"/>
                      </a:rPr>
                      <m:t>=</m:t>
                    </m:r>
                    <m:r>
                      <m:rPr>
                        <m:nor/>
                      </m:rPr>
                      <a:rPr lang="en-US" sz="1800" b="0" i="0" dirty="0" smtClean="0">
                        <a:latin typeface="Arial" panose="020B0604020202020204" pitchFamily="34" charset="0"/>
                        <a:cs typeface="Arial" panose="020B0604020202020204" pitchFamily="34" charset="0"/>
                      </a:rPr>
                      <m:t> </m:t>
                    </m:r>
                    <m:r>
                      <m:rPr>
                        <m:nor/>
                      </m:rPr>
                      <a:rPr lang="en-US" sz="1800" b="0" i="0" dirty="0" smtClean="0">
                        <a:latin typeface="Arial" panose="020B0604020202020204" pitchFamily="34" charset="0"/>
                        <a:cs typeface="Arial" panose="020B0604020202020204" pitchFamily="34" charset="0"/>
                      </a:rPr>
                      <m:t>1</m:t>
                    </m:r>
                    <m:r>
                      <m:rPr>
                        <m:nor/>
                      </m:rPr>
                      <a:rPr lang="en-US" sz="1800" dirty="0">
                        <a:latin typeface="Arial" panose="020B0604020202020204" pitchFamily="34" charset="0"/>
                        <a:cs typeface="Arial" panose="020B0604020202020204" pitchFamily="34" charset="0"/>
                      </a:rPr>
                      <m:t>)</m:t>
                    </m:r>
                    <m:r>
                      <m:rPr>
                        <m:nor/>
                      </m:rPr>
                      <a:rPr lang="en-US" sz="1800" baseline="-25000" dirty="0">
                        <a:latin typeface="Arial" panose="020B0604020202020204" pitchFamily="34" charset="0"/>
                        <a:cs typeface="Arial" panose="020B0604020202020204" pitchFamily="34" charset="0"/>
                      </a:rPr>
                      <m:t> </m:t>
                    </m:r>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𝑥</m:t>
                    </m:r>
                    <m:r>
                      <a:rPr lang="en-US" sz="1800" i="1" baseline="-25000" smtClean="0">
                        <a:solidFill>
                          <a:srgbClr val="000000"/>
                        </a:solidFill>
                        <a:latin typeface="Cambria Math" panose="02040503050406030204" pitchFamily="18" charset="0"/>
                      </a:rPr>
                      <m:t>1</m:t>
                    </m:r>
                  </m:oMath>
                </a14:m>
                <a:r>
                  <a:rPr lang="en-US" sz="1800" dirty="0">
                    <a:latin typeface="Arial" panose="020B0604020202020204" pitchFamily="34" charset="0"/>
                    <a:cs typeface="Arial" panose="020B0604020202020204" pitchFamily="34" charset="0"/>
                  </a:rPr>
                  <a:t>+</a:t>
                </a:r>
                <a:r>
                  <a:rPr lang="en-US" sz="1800" dirty="0">
                    <a:solidFill>
                      <a:srgbClr val="000000"/>
                    </a:solidFill>
                    <a:latin typeface="Arial" panose="020B0604020202020204" pitchFamily="34" charset="0"/>
                    <a:cs typeface="Arial" panose="020B0604020202020204" pitchFamily="34" charset="0"/>
                  </a:rPr>
                  <a:t> </a:t>
                </a:r>
                <a14:m>
                  <m:oMath xmlns:m="http://schemas.openxmlformats.org/officeDocument/2006/math">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charset="0"/>
                          </a:rPr>
                          <m:t>2</m:t>
                        </m:r>
                      </m:sub>
                    </m:sSub>
                  </m:oMath>
                </a14:m>
                <a:endParaRPr lang="en-US" sz="1800" dirty="0">
                  <a:latin typeface="Arial" panose="020B0604020202020204" pitchFamily="34" charset="0"/>
                  <a:cs typeface="Arial" panose="020B0604020202020204" pitchFamily="34" charset="0"/>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14706" y="806264"/>
                <a:ext cx="10515600" cy="4343634"/>
              </a:xfrm>
              <a:blipFill>
                <a:blip r:embed="rId2"/>
                <a:stretch>
                  <a:fillRect l="-522" t="-1262"/>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D233E84D-F348-124B-BA83-0581A07EBAB2}"/>
              </a:ext>
            </a:extLst>
          </p:cNvPr>
          <p:cNvSpPr/>
          <p:nvPr/>
        </p:nvSpPr>
        <p:spPr>
          <a:xfrm>
            <a:off x="8118747" y="2478019"/>
            <a:ext cx="600916" cy="500062"/>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5821B0C1-3AB4-F047-9F8C-5F431148B1C1}"/>
              </a:ext>
            </a:extLst>
          </p:cNvPr>
          <p:cNvSpPr txBox="1"/>
          <p:nvPr/>
        </p:nvSpPr>
        <p:spPr>
          <a:xfrm>
            <a:off x="9094876" y="2388347"/>
            <a:ext cx="2110643"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libri" panose="020F0502020204030204"/>
                <a:ea typeface="+mn-ea"/>
                <a:cs typeface="+mn-cs"/>
              </a:rPr>
              <a:t>Additive Correction</a:t>
            </a:r>
          </a:p>
        </p:txBody>
      </p:sp>
      <p:sp>
        <p:nvSpPr>
          <p:cNvPr id="11" name="Title 1">
            <a:extLst>
              <a:ext uri="{FF2B5EF4-FFF2-40B4-BE49-F238E27FC236}">
                <a16:creationId xmlns:a16="http://schemas.microsoft.com/office/drawing/2014/main" id="{0EA90997-A186-3F4E-A82D-CEA19C205DD9}"/>
              </a:ext>
            </a:extLst>
          </p:cNvPr>
          <p:cNvSpPr>
            <a:spLocks noGrp="1"/>
          </p:cNvSpPr>
          <p:nvPr>
            <p:ph type="title"/>
          </p:nvPr>
        </p:nvSpPr>
        <p:spPr>
          <a:xfrm>
            <a:off x="120720" y="126798"/>
            <a:ext cx="10515600" cy="679466"/>
          </a:xfrm>
        </p:spPr>
        <p:txBody>
          <a:bodyPr>
            <a:normAutofit/>
          </a:bodyPr>
          <a:lstStyle/>
          <a:p>
            <a:r>
              <a:rPr lang="en-US" sz="3600" dirty="0">
                <a:latin typeface="Arial" panose="020B0604020202020204" pitchFamily="34" charset="0"/>
                <a:cs typeface="Arial" panose="020B0604020202020204" pitchFamily="34" charset="0"/>
              </a:rPr>
              <a:t>Categorical Variables and Dummies</a:t>
            </a:r>
          </a:p>
        </p:txBody>
      </p:sp>
    </p:spTree>
    <p:extLst>
      <p:ext uri="{BB962C8B-B14F-4D97-AF65-F5344CB8AC3E}">
        <p14:creationId xmlns:p14="http://schemas.microsoft.com/office/powerpoint/2010/main" val="4209282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B0EAA-4815-0E0B-6F31-0E5CDF3E3D9F}"/>
              </a:ext>
            </a:extLst>
          </p:cNvPr>
          <p:cNvSpPr>
            <a:spLocks noGrp="1"/>
          </p:cNvSpPr>
          <p:nvPr>
            <p:ph type="title"/>
          </p:nvPr>
        </p:nvSpPr>
        <p:spPr>
          <a:xfrm>
            <a:off x="225357" y="180301"/>
            <a:ext cx="10515600" cy="771574"/>
          </a:xfrm>
        </p:spPr>
        <p:txBody>
          <a:bodyPr>
            <a:normAutofit/>
          </a:bodyPr>
          <a:lstStyle/>
          <a:p>
            <a:r>
              <a:rPr lang="en-US" sz="3600" dirty="0">
                <a:latin typeface="Arial" panose="020B0604020202020204" pitchFamily="34" charset="0"/>
                <a:cs typeface="Arial" panose="020B0604020202020204" pitchFamily="34" charset="0"/>
              </a:rPr>
              <a:t>Example: Recoding dummy variables</a:t>
            </a:r>
          </a:p>
        </p:txBody>
      </p:sp>
      <p:pic>
        <p:nvPicPr>
          <p:cNvPr id="5" name="Content Placeholder 4">
            <a:extLst>
              <a:ext uri="{FF2B5EF4-FFF2-40B4-BE49-F238E27FC236}">
                <a16:creationId xmlns:a16="http://schemas.microsoft.com/office/drawing/2014/main" id="{04BE751D-F09B-8282-F771-8D0E17DAF16C}"/>
              </a:ext>
            </a:extLst>
          </p:cNvPr>
          <p:cNvPicPr>
            <a:picLocks noGrp="1" noChangeAspect="1"/>
          </p:cNvPicPr>
          <p:nvPr>
            <p:ph idx="1"/>
          </p:nvPr>
        </p:nvPicPr>
        <p:blipFill>
          <a:blip r:embed="rId2"/>
          <a:stretch>
            <a:fillRect/>
          </a:stretch>
        </p:blipFill>
        <p:spPr>
          <a:xfrm>
            <a:off x="379969" y="3082453"/>
            <a:ext cx="4964140" cy="2184679"/>
          </a:xfrm>
        </p:spPr>
      </p:pic>
      <p:sp>
        <p:nvSpPr>
          <p:cNvPr id="7" name="TextBox 6">
            <a:extLst>
              <a:ext uri="{FF2B5EF4-FFF2-40B4-BE49-F238E27FC236}">
                <a16:creationId xmlns:a16="http://schemas.microsoft.com/office/drawing/2014/main" id="{824BB77D-1324-8D77-4DBE-C1B1F907ADFC}"/>
              </a:ext>
            </a:extLst>
          </p:cNvPr>
          <p:cNvSpPr txBox="1"/>
          <p:nvPr/>
        </p:nvSpPr>
        <p:spPr>
          <a:xfrm>
            <a:off x="379969" y="1046637"/>
            <a:ext cx="10612285" cy="181588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Use the school admissions data variable for whether a student is an alum and recode it as a simple binary variable (Y/N).</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Label the groups with no alum family 0, else 1 </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“0” group is called the </a:t>
            </a: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reference group</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no additive correction present here</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We will use it in a multiple linear regression where the “slope” for the binary categorical variable we create will represent the difference in the intercepts between of the two groups</a:t>
            </a:r>
          </a:p>
        </p:txBody>
      </p:sp>
      <p:pic>
        <p:nvPicPr>
          <p:cNvPr id="9" name="Picture 8">
            <a:extLst>
              <a:ext uri="{FF2B5EF4-FFF2-40B4-BE49-F238E27FC236}">
                <a16:creationId xmlns:a16="http://schemas.microsoft.com/office/drawing/2014/main" id="{677DF6C8-456A-055E-1EFD-DE609E17C082}"/>
              </a:ext>
            </a:extLst>
          </p:cNvPr>
          <p:cNvPicPr>
            <a:picLocks noChangeAspect="1"/>
          </p:cNvPicPr>
          <p:nvPr/>
        </p:nvPicPr>
        <p:blipFill>
          <a:blip r:embed="rId3"/>
          <a:stretch>
            <a:fillRect/>
          </a:stretch>
        </p:blipFill>
        <p:spPr>
          <a:xfrm>
            <a:off x="6553560" y="3550904"/>
            <a:ext cx="4914900" cy="1247775"/>
          </a:xfrm>
          <a:prstGeom prst="rect">
            <a:avLst/>
          </a:prstGeom>
        </p:spPr>
      </p:pic>
      <p:cxnSp>
        <p:nvCxnSpPr>
          <p:cNvPr id="11" name="Straight Arrow Connector 10">
            <a:extLst>
              <a:ext uri="{FF2B5EF4-FFF2-40B4-BE49-F238E27FC236}">
                <a16:creationId xmlns:a16="http://schemas.microsoft.com/office/drawing/2014/main" id="{873DE7AE-E8DF-051E-EB05-3688C4612B96}"/>
              </a:ext>
            </a:extLst>
          </p:cNvPr>
          <p:cNvCxnSpPr>
            <a:cxnSpLocks/>
          </p:cNvCxnSpPr>
          <p:nvPr/>
        </p:nvCxnSpPr>
        <p:spPr>
          <a:xfrm>
            <a:off x="5344109" y="4465626"/>
            <a:ext cx="751891"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348045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6C3C0-4B0D-E128-A4C4-65F284ECB6A6}"/>
              </a:ext>
            </a:extLst>
          </p:cNvPr>
          <p:cNvSpPr>
            <a:spLocks noGrp="1"/>
          </p:cNvSpPr>
          <p:nvPr>
            <p:ph type="title"/>
          </p:nvPr>
        </p:nvSpPr>
        <p:spPr>
          <a:xfrm>
            <a:off x="172994" y="220410"/>
            <a:ext cx="10515600" cy="693833"/>
          </a:xfrm>
        </p:spPr>
        <p:txBody>
          <a:bodyPr>
            <a:normAutofit/>
          </a:bodyPr>
          <a:lstStyle/>
          <a:p>
            <a:r>
              <a:rPr lang="en-US" sz="3600" dirty="0">
                <a:latin typeface="Arial" panose="020B0604020202020204" pitchFamily="34" charset="0"/>
                <a:cs typeface="Arial" panose="020B0604020202020204" pitchFamily="34" charset="0"/>
              </a:rPr>
              <a:t>Example</a:t>
            </a:r>
          </a:p>
        </p:txBody>
      </p:sp>
      <p:sp>
        <p:nvSpPr>
          <p:cNvPr id="3" name="Content Placeholder 2">
            <a:extLst>
              <a:ext uri="{FF2B5EF4-FFF2-40B4-BE49-F238E27FC236}">
                <a16:creationId xmlns:a16="http://schemas.microsoft.com/office/drawing/2014/main" id="{626EAA89-6531-D9FC-3A4A-25A27733A8E0}"/>
              </a:ext>
            </a:extLst>
          </p:cNvPr>
          <p:cNvSpPr>
            <a:spLocks noGrp="1"/>
          </p:cNvSpPr>
          <p:nvPr>
            <p:ph idx="1"/>
          </p:nvPr>
        </p:nvSpPr>
        <p:spPr>
          <a:xfrm>
            <a:off x="351817" y="964918"/>
            <a:ext cx="10515600" cy="4351338"/>
          </a:xfrm>
        </p:spPr>
        <p:txBody>
          <a:bodyPr>
            <a:normAutofit/>
          </a:bodyPr>
          <a:lstStyle/>
          <a:p>
            <a:r>
              <a:rPr lang="en-US" sz="2000" dirty="0">
                <a:latin typeface="Arial" panose="020B0604020202020204" pitchFamily="34" charset="0"/>
                <a:cs typeface="Arial" panose="020B0604020202020204" pitchFamily="34" charset="0"/>
              </a:rPr>
              <a:t>Run a multiple linear regression of HS class rank on Math SAT score and the dummy variable coding the effect of having a family member as an alum (=1) or not (=0)</a:t>
            </a:r>
          </a:p>
        </p:txBody>
      </p:sp>
      <p:pic>
        <p:nvPicPr>
          <p:cNvPr id="5" name="Picture 4">
            <a:extLst>
              <a:ext uri="{FF2B5EF4-FFF2-40B4-BE49-F238E27FC236}">
                <a16:creationId xmlns:a16="http://schemas.microsoft.com/office/drawing/2014/main" id="{94CB5D95-106F-D4FE-A143-0D91AEF30CA0}"/>
              </a:ext>
            </a:extLst>
          </p:cNvPr>
          <p:cNvPicPr>
            <a:picLocks noChangeAspect="1"/>
          </p:cNvPicPr>
          <p:nvPr/>
        </p:nvPicPr>
        <p:blipFill>
          <a:blip r:embed="rId2"/>
          <a:stretch>
            <a:fillRect/>
          </a:stretch>
        </p:blipFill>
        <p:spPr>
          <a:xfrm>
            <a:off x="3145240" y="1740385"/>
            <a:ext cx="5124450" cy="1638300"/>
          </a:xfrm>
          <a:prstGeom prst="rect">
            <a:avLst/>
          </a:prstGeom>
        </p:spPr>
      </p:pic>
      <p:sp>
        <p:nvSpPr>
          <p:cNvPr id="6" name="TextBox 5">
            <a:extLst>
              <a:ext uri="{FF2B5EF4-FFF2-40B4-BE49-F238E27FC236}">
                <a16:creationId xmlns:a16="http://schemas.microsoft.com/office/drawing/2014/main" id="{DDBA1413-850F-ABB3-1E0D-5BFD68099576}"/>
              </a:ext>
            </a:extLst>
          </p:cNvPr>
          <p:cNvSpPr txBox="1"/>
          <p:nvPr/>
        </p:nvSpPr>
        <p:spPr>
          <a:xfrm>
            <a:off x="3266916" y="3809572"/>
            <a:ext cx="5124450" cy="707886"/>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Regression Equation: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Rank = 68.89 + .007*</a:t>
            </a:r>
            <a:r>
              <a:rPr kumimoji="0" lang="en-US" sz="2000" b="0" i="0" u="none" strike="noStrike" kern="1200" cap="none" spc="0" normalizeH="0" baseline="0" noProof="0" dirty="0" err="1">
                <a:ln>
                  <a:noFill/>
                </a:ln>
                <a:solidFill>
                  <a:srgbClr val="C00000"/>
                </a:solidFill>
                <a:effectLst/>
                <a:uLnTx/>
                <a:uFillTx/>
                <a:latin typeface="Calibri" panose="020F0502020204030204"/>
                <a:ea typeface="+mn-ea"/>
                <a:cs typeface="+mn-cs"/>
              </a:rPr>
              <a:t>SAT_math</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a:t>
            </a:r>
            <a:r>
              <a:rPr kumimoji="0" lang="mr-IN" sz="2000" b="0" i="0" u="none" strike="noStrike" kern="1200" cap="none" spc="0" normalizeH="0" baseline="0" noProof="0" dirty="0">
                <a:ln>
                  <a:noFill/>
                </a:ln>
                <a:solidFill>
                  <a:srgbClr val="C00000"/>
                </a:solidFill>
                <a:effectLst/>
                <a:uLnTx/>
                <a:uFillTx/>
                <a:latin typeface="Calibri" panose="020F0502020204030204"/>
                <a:ea typeface="+mn-ea"/>
                <a:cs typeface="Mangal" panose="02040503050203030202" pitchFamily="18" charset="0"/>
              </a:rPr>
              <a:t>–</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2.6*(IF ALUM)</a:t>
            </a:r>
          </a:p>
        </p:txBody>
      </p:sp>
      <p:sp>
        <p:nvSpPr>
          <p:cNvPr id="7" name="TextBox 6">
            <a:extLst>
              <a:ext uri="{FF2B5EF4-FFF2-40B4-BE49-F238E27FC236}">
                <a16:creationId xmlns:a16="http://schemas.microsoft.com/office/drawing/2014/main" id="{DB33DA5E-CDF0-5A1B-B985-C771C86891A3}"/>
              </a:ext>
            </a:extLst>
          </p:cNvPr>
          <p:cNvSpPr txBox="1"/>
          <p:nvPr/>
        </p:nvSpPr>
        <p:spPr>
          <a:xfrm>
            <a:off x="453747" y="1922764"/>
            <a:ext cx="2711239" cy="397031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 only two groups,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dummy variable represents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average difference in HS rank between students who have family members that are an alumni and those who do not.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Note: this is not really any different, an increase in X means going from 0 to 1 </a:t>
            </a:r>
          </a:p>
        </p:txBody>
      </p:sp>
      <p:sp>
        <p:nvSpPr>
          <p:cNvPr id="10" name="TextBox 9">
            <a:extLst>
              <a:ext uri="{FF2B5EF4-FFF2-40B4-BE49-F238E27FC236}">
                <a16:creationId xmlns:a16="http://schemas.microsoft.com/office/drawing/2014/main" id="{506C7F46-2AC7-DB99-DDC1-4F54E6BC32AF}"/>
              </a:ext>
            </a:extLst>
          </p:cNvPr>
          <p:cNvSpPr txBox="1"/>
          <p:nvPr/>
        </p:nvSpPr>
        <p:spPr>
          <a:xfrm>
            <a:off x="8717025" y="2152801"/>
            <a:ext cx="3282779" cy="31393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Interpretation</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the estimated difference in HS rank between students who have family that are </a:t>
            </a:r>
            <a:r>
              <a:rPr kumimoji="0" lang="en-US" sz="1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alumns</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and those who do not is -2.604. Students who have one or more family members who are alums have a HS rank that is 2.604 points lower, on average, </a:t>
            </a:r>
            <a:r>
              <a:rPr kumimoji="0" lang="en-US" sz="18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holding SAT score constant at its mean.</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p>
        </p:txBody>
      </p:sp>
      <p:cxnSp>
        <p:nvCxnSpPr>
          <p:cNvPr id="13" name="Straight Arrow Connector 12">
            <a:extLst>
              <a:ext uri="{FF2B5EF4-FFF2-40B4-BE49-F238E27FC236}">
                <a16:creationId xmlns:a16="http://schemas.microsoft.com/office/drawing/2014/main" id="{F83BA5B1-11A2-6E23-5888-A87BCBACF11C}"/>
              </a:ext>
            </a:extLst>
          </p:cNvPr>
          <p:cNvCxnSpPr>
            <a:cxnSpLocks/>
            <a:stCxn id="10" idx="1"/>
          </p:cNvCxnSpPr>
          <p:nvPr/>
        </p:nvCxnSpPr>
        <p:spPr>
          <a:xfrm flipH="1" flipV="1">
            <a:off x="5081545" y="3034908"/>
            <a:ext cx="3635480" cy="6875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475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500" fill="hold"/>
                                        <p:tgtEl>
                                          <p:spTgt spid="13"/>
                                        </p:tgtEl>
                                        <p:attrNameLst>
                                          <p:attrName>ppt_x</p:attrName>
                                        </p:attrNameLst>
                                      </p:cBhvr>
                                      <p:tavLst>
                                        <p:tav tm="0">
                                          <p:val>
                                            <p:strVal val="#ppt_x"/>
                                          </p:val>
                                        </p:tav>
                                        <p:tav tm="100000">
                                          <p:val>
                                            <p:strVal val="#ppt_x"/>
                                          </p:val>
                                        </p:tav>
                                      </p:tavLst>
                                    </p:anim>
                                    <p:anim calcmode="lin" valueType="num">
                                      <p:cBhvr additive="base">
                                        <p:cTn id="20"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EA29B-6EF6-4E8F-8C74-653BBBB33BB1}"/>
              </a:ext>
            </a:extLst>
          </p:cNvPr>
          <p:cNvSpPr>
            <a:spLocks noGrp="1"/>
          </p:cNvSpPr>
          <p:nvPr>
            <p:ph type="title"/>
          </p:nvPr>
        </p:nvSpPr>
        <p:spPr>
          <a:xfrm>
            <a:off x="235085" y="170571"/>
            <a:ext cx="10515600" cy="743091"/>
          </a:xfrm>
        </p:spPr>
        <p:txBody>
          <a:bodyPr>
            <a:normAutofit/>
          </a:bodyPr>
          <a:lstStyle/>
          <a:p>
            <a:r>
              <a:rPr lang="en-US" sz="3600" dirty="0">
                <a:latin typeface="Arial" panose="020B0604020202020204" pitchFamily="34" charset="0"/>
                <a:cs typeface="Arial" panose="020B0604020202020204" pitchFamily="34" charset="0"/>
              </a:rPr>
              <a:t>The correction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AAAD516-262B-63D8-BCD8-7819FFFE3158}"/>
                  </a:ext>
                </a:extLst>
              </p:cNvPr>
              <p:cNvSpPr>
                <a:spLocks noGrp="1"/>
              </p:cNvSpPr>
              <p:nvPr>
                <p:ph idx="1"/>
              </p:nvPr>
            </p:nvSpPr>
            <p:spPr>
              <a:xfrm>
                <a:off x="370703" y="899388"/>
                <a:ext cx="10515600" cy="4351338"/>
              </a:xfrm>
            </p:spPr>
            <p:txBody>
              <a:bodyPr/>
              <a:lstStyle/>
              <a:p>
                <a:pPr lvl="1"/>
                <a:r>
                  <a:rPr lang="en-US" sz="2000" dirty="0"/>
                  <a:t>Then the model is:   </a:t>
                </a:r>
                <a14:m>
                  <m:oMath xmlns:m="http://schemas.openxmlformats.org/officeDocument/2006/math">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𝑦</m:t>
                        </m:r>
                      </m:e>
                    </m:acc>
                    <m:r>
                      <m:rPr>
                        <m:nor/>
                      </m:rPr>
                      <a:rPr lang="en-US" sz="2000" baseline="-25000" dirty="0"/>
                      <m:t> </m:t>
                    </m:r>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𝑥</m:t>
                    </m:r>
                    <m:r>
                      <a:rPr lang="en-US" sz="2000" i="1" baseline="-25000">
                        <a:solidFill>
                          <a:srgbClr val="000000"/>
                        </a:solidFill>
                        <a:latin typeface="Cambria Math" panose="02040503050406030204" pitchFamily="18" charset="0"/>
                      </a:rPr>
                      <m:t>1</m:t>
                    </m:r>
                  </m:oMath>
                </a14:m>
                <a:r>
                  <a:rPr lang="en-US" sz="2000" dirty="0"/>
                  <a:t>+</a:t>
                </a:r>
                <a:r>
                  <a:rPr lang="en-US" sz="2000" dirty="0">
                    <a:solidFill>
                      <a:srgbClr val="000000"/>
                    </a:solidFill>
                  </a:rPr>
                  <a:t> </a:t>
                </a:r>
                <a14:m>
                  <m:oMath xmlns:m="http://schemas.openxmlformats.org/officeDocument/2006/math">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charset="0"/>
                          </a:rPr>
                          <m:t>2</m:t>
                        </m:r>
                      </m:sub>
                    </m:sSub>
                  </m:oMath>
                </a14:m>
                <a:r>
                  <a:rPr lang="en-US" sz="2000" dirty="0">
                    <a:solidFill>
                      <a:srgbClr val="000000"/>
                    </a:solidFill>
                  </a:rPr>
                  <a:t> </a:t>
                </a:r>
                <a14:m>
                  <m:oMath xmlns:m="http://schemas.openxmlformats.org/officeDocument/2006/math">
                    <m:r>
                      <a:rPr lang="en-US" sz="2000" i="1">
                        <a:solidFill>
                          <a:srgbClr val="000000"/>
                        </a:solidFill>
                        <a:latin typeface="Cambria Math" panose="02040503050406030204" pitchFamily="18" charset="0"/>
                      </a:rPr>
                      <m:t>𝑥</m:t>
                    </m:r>
                    <m:r>
                      <a:rPr lang="en-US" sz="2000" b="0" i="1" baseline="-25000" smtClean="0">
                        <a:solidFill>
                          <a:srgbClr val="000000"/>
                        </a:solidFill>
                        <a:latin typeface="Cambria Math" panose="02040503050406030204" pitchFamily="18" charset="0"/>
                      </a:rPr>
                      <m:t>2 </m:t>
                    </m:r>
                  </m:oMath>
                </a14:m>
                <a:r>
                  <a:rPr lang="en-US" sz="2000" dirty="0"/>
                  <a:t>  which splits into:</a:t>
                </a:r>
                <a:endParaRPr lang="en-US" sz="2000" u="sng" baseline="-25000" dirty="0"/>
              </a:p>
              <a:p>
                <a:pPr marL="0" indent="0" algn="ctr">
                  <a:buNone/>
                </a:pPr>
                <a:r>
                  <a:rPr lang="en-US" sz="2000" dirty="0"/>
                  <a:t>  </a:t>
                </a:r>
                <a14:m>
                  <m:oMath xmlns:m="http://schemas.openxmlformats.org/officeDocument/2006/math">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𝑦</m:t>
                        </m:r>
                      </m:e>
                    </m:acc>
                    <m:d>
                      <m:dPr>
                        <m:begChr m:val="|"/>
                        <m:endChr m:val="|"/>
                        <m:ctrlPr>
                          <a:rPr lang="en-US" sz="2000" b="0" i="1" smtClean="0">
                            <a:solidFill>
                              <a:srgbClr val="000000"/>
                            </a:solidFill>
                            <a:latin typeface="Cambria Math" panose="02040503050406030204" pitchFamily="18" charset="0"/>
                          </a:rPr>
                        </m:ctrlPr>
                      </m:dPr>
                      <m:e>
                        <m:r>
                          <m:rPr>
                            <m:nor/>
                          </m:rPr>
                          <a:rPr lang="en-US" sz="2000" b="0" i="0" smtClean="0">
                            <a:solidFill>
                              <a:srgbClr val="000000"/>
                            </a:solidFill>
                            <a:latin typeface="Cambria Math" panose="02040503050406030204" pitchFamily="18" charset="0"/>
                          </a:rPr>
                          <m:t>(</m:t>
                        </m:r>
                        <m:r>
                          <m:rPr>
                            <m:nor/>
                          </m:rPr>
                          <a:rPr lang="en-US" sz="2000" dirty="0" smtClean="0"/>
                          <m:t>x</m:t>
                        </m:r>
                        <m:r>
                          <m:rPr>
                            <m:nor/>
                          </m:rPr>
                          <a:rPr lang="en-US" sz="2000" b="0" i="0" baseline="-25000" dirty="0" smtClean="0"/>
                          <m:t>2</m:t>
                        </m:r>
                        <m:r>
                          <m:rPr>
                            <m:nor/>
                          </m:rPr>
                          <a:rPr lang="en-US" sz="2000" b="0" i="0" dirty="0" smtClean="0"/>
                          <m:t>=0)</m:t>
                        </m:r>
                        <m:r>
                          <m:rPr>
                            <m:nor/>
                          </m:rPr>
                          <a:rPr lang="en-US" sz="2000" b="0" i="0" baseline="-25000" dirty="0" smtClean="0"/>
                          <m:t> </m:t>
                        </m:r>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𝑥</m:t>
                        </m:r>
                        <m:r>
                          <a:rPr lang="en-US" sz="2000" b="0" i="1" baseline="-25000" smtClean="0">
                            <a:solidFill>
                              <a:srgbClr val="000000"/>
                            </a:solidFill>
                            <a:latin typeface="Cambria Math" panose="02040503050406030204" pitchFamily="18" charset="0"/>
                          </a:rPr>
                          <m:t>1                              </m:t>
                        </m:r>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𝑦</m:t>
                            </m:r>
                          </m:e>
                        </m:acc>
                      </m:e>
                    </m:d>
                    <m:r>
                      <m:rPr>
                        <m:nor/>
                      </m:rPr>
                      <a:rPr lang="en-US" sz="2000">
                        <a:solidFill>
                          <a:srgbClr val="000000"/>
                        </a:solidFill>
                        <a:latin typeface="Cambria Math" panose="02040503050406030204" pitchFamily="18" charset="0"/>
                      </a:rPr>
                      <m:t>(</m:t>
                    </m:r>
                    <m:r>
                      <m:rPr>
                        <m:nor/>
                      </m:rPr>
                      <a:rPr lang="en-US" sz="2000" dirty="0"/>
                      <m:t>x</m:t>
                    </m:r>
                    <m:r>
                      <m:rPr>
                        <m:nor/>
                      </m:rPr>
                      <a:rPr lang="en-US" sz="2000" baseline="-25000" dirty="0"/>
                      <m:t>2</m:t>
                    </m:r>
                    <m:r>
                      <m:rPr>
                        <m:nor/>
                      </m:rPr>
                      <a:rPr lang="en-US" sz="2000" dirty="0"/>
                      <m:t>=</m:t>
                    </m:r>
                    <m:r>
                      <m:rPr>
                        <m:nor/>
                      </m:rPr>
                      <a:rPr lang="en-US" sz="2000" b="0" i="0" dirty="0" smtClean="0"/>
                      <m:t>1</m:t>
                    </m:r>
                    <m:r>
                      <m:rPr>
                        <m:nor/>
                      </m:rPr>
                      <a:rPr lang="en-US" sz="2000" dirty="0"/>
                      <m:t>)</m:t>
                    </m:r>
                    <m:r>
                      <m:rPr>
                        <m:nor/>
                      </m:rPr>
                      <a:rPr lang="en-US" sz="2000" baseline="-25000" dirty="0"/>
                      <m:t> </m:t>
                    </m:r>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𝑥</m:t>
                    </m:r>
                    <m:r>
                      <a:rPr lang="en-US" sz="2000" i="1" baseline="-25000" smtClean="0">
                        <a:solidFill>
                          <a:srgbClr val="000000"/>
                        </a:solidFill>
                        <a:latin typeface="Cambria Math" panose="02040503050406030204" pitchFamily="18" charset="0"/>
                      </a:rPr>
                      <m:t>1</m:t>
                    </m:r>
                  </m:oMath>
                </a14:m>
                <a:r>
                  <a:rPr lang="en-US" sz="2000" dirty="0"/>
                  <a:t>+</a:t>
                </a:r>
                <a:r>
                  <a:rPr lang="en-US" sz="2000" dirty="0">
                    <a:solidFill>
                      <a:srgbClr val="000000"/>
                    </a:solidFill>
                  </a:rPr>
                  <a:t> </a:t>
                </a:r>
                <a14:m>
                  <m:oMath xmlns:m="http://schemas.openxmlformats.org/officeDocument/2006/math">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charset="0"/>
                          </a:rPr>
                          <m:t>2</m:t>
                        </m:r>
                      </m:sub>
                    </m:sSub>
                  </m:oMath>
                </a14:m>
                <a:endParaRPr lang="en-US" dirty="0"/>
              </a:p>
            </p:txBody>
          </p:sp>
        </mc:Choice>
        <mc:Fallback xmlns="">
          <p:sp>
            <p:nvSpPr>
              <p:cNvPr id="3" name="Content Placeholder 2">
                <a:extLst>
                  <a:ext uri="{FF2B5EF4-FFF2-40B4-BE49-F238E27FC236}">
                    <a16:creationId xmlns:a16="http://schemas.microsoft.com/office/drawing/2014/main" id="{FAAAD516-262B-63D8-BCD8-7819FFFE3158}"/>
                  </a:ext>
                </a:extLst>
              </p:cNvPr>
              <p:cNvSpPr>
                <a:spLocks noGrp="1" noRot="1" noChangeAspect="1" noMove="1" noResize="1" noEditPoints="1" noAdjustHandles="1" noChangeArrowheads="1" noChangeShapeType="1" noTextEdit="1"/>
              </p:cNvSpPr>
              <p:nvPr>
                <p:ph idx="1"/>
              </p:nvPr>
            </p:nvSpPr>
            <p:spPr>
              <a:xfrm>
                <a:off x="370703" y="899388"/>
                <a:ext cx="10515600" cy="4351338"/>
              </a:xfrm>
              <a:blipFill>
                <a:blip r:embed="rId2"/>
                <a:stretch>
                  <a:fillRect t="-1122"/>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CB637ECD-E1C9-BCEB-3EC5-D0FC69E38910}"/>
              </a:ext>
            </a:extLst>
          </p:cNvPr>
          <p:cNvSpPr txBox="1"/>
          <p:nvPr/>
        </p:nvSpPr>
        <p:spPr>
          <a:xfrm>
            <a:off x="2596212" y="2148820"/>
            <a:ext cx="5124450" cy="707886"/>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Regression Equation: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Rank = 68.89 + .007*</a:t>
            </a:r>
            <a:r>
              <a:rPr kumimoji="0" lang="en-US" sz="2000" b="0" i="0" u="none" strike="noStrike" kern="1200" cap="none" spc="0" normalizeH="0" baseline="0" noProof="0" dirty="0" err="1">
                <a:ln>
                  <a:noFill/>
                </a:ln>
                <a:solidFill>
                  <a:srgbClr val="C00000"/>
                </a:solidFill>
                <a:effectLst/>
                <a:uLnTx/>
                <a:uFillTx/>
                <a:latin typeface="Calibri" panose="020F0502020204030204"/>
                <a:ea typeface="+mn-ea"/>
                <a:cs typeface="+mn-cs"/>
              </a:rPr>
              <a:t>SAT_math</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a:t>
            </a:r>
            <a:r>
              <a:rPr kumimoji="0" lang="mr-IN" sz="2000" b="0" i="0" u="none" strike="noStrike" kern="1200" cap="none" spc="0" normalizeH="0" baseline="0" noProof="0" dirty="0">
                <a:ln>
                  <a:noFill/>
                </a:ln>
                <a:solidFill>
                  <a:srgbClr val="C00000"/>
                </a:solidFill>
                <a:effectLst/>
                <a:uLnTx/>
                <a:uFillTx/>
                <a:latin typeface="Calibri" panose="020F0502020204030204"/>
                <a:ea typeface="+mn-ea"/>
                <a:cs typeface="Mangal" panose="02040503050203030202" pitchFamily="18" charset="0"/>
              </a:rPr>
              <a:t>–</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2.6*(IF ALUM)</a:t>
            </a:r>
          </a:p>
        </p:txBody>
      </p:sp>
      <p:sp>
        <p:nvSpPr>
          <p:cNvPr id="5" name="TextBox 4">
            <a:extLst>
              <a:ext uri="{FF2B5EF4-FFF2-40B4-BE49-F238E27FC236}">
                <a16:creationId xmlns:a16="http://schemas.microsoft.com/office/drawing/2014/main" id="{8D10736A-7493-8B79-D392-9B4BCC9F42C4}"/>
              </a:ext>
            </a:extLst>
          </p:cNvPr>
          <p:cNvSpPr txBox="1"/>
          <p:nvPr/>
        </p:nvSpPr>
        <p:spPr>
          <a:xfrm>
            <a:off x="2596212" y="3825431"/>
            <a:ext cx="7822594" cy="707886"/>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Regression Equation: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sng" strike="noStrike" kern="1200" cap="none" spc="0" normalizeH="0" baseline="0" noProof="0" dirty="0" err="1">
                <a:ln>
                  <a:noFill/>
                </a:ln>
                <a:solidFill>
                  <a:srgbClr val="C00000"/>
                </a:solidFill>
                <a:effectLst/>
                <a:uLnTx/>
                <a:uFillTx/>
                <a:latin typeface="Calibri" panose="020F0502020204030204"/>
                <a:ea typeface="+mn-ea"/>
                <a:cs typeface="+mn-cs"/>
              </a:rPr>
              <a:t>Rank|Alum</a:t>
            </a:r>
            <a:r>
              <a:rPr kumimoji="0" lang="en-US" sz="2000" b="0" i="0" u="sng" strike="noStrike" kern="1200" cap="none" spc="0" normalizeH="0" baseline="0" noProof="0" dirty="0">
                <a:ln>
                  <a:noFill/>
                </a:ln>
                <a:solidFill>
                  <a:srgbClr val="C00000"/>
                </a:solidFill>
                <a:effectLst/>
                <a:uLnTx/>
                <a:uFillTx/>
                <a:latin typeface="Calibri" panose="020F0502020204030204"/>
                <a:ea typeface="+mn-ea"/>
                <a:cs typeface="+mn-cs"/>
              </a:rPr>
              <a:t> = 1</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 68.89 + .007*</a:t>
            </a:r>
            <a:r>
              <a:rPr kumimoji="0" lang="en-US" sz="2000" b="0" i="0" u="none" strike="noStrike" kern="1200" cap="none" spc="0" normalizeH="0" baseline="0" noProof="0" dirty="0" err="1">
                <a:ln>
                  <a:noFill/>
                </a:ln>
                <a:solidFill>
                  <a:srgbClr val="C00000"/>
                </a:solidFill>
                <a:effectLst/>
                <a:uLnTx/>
                <a:uFillTx/>
                <a:latin typeface="Calibri" panose="020F0502020204030204"/>
                <a:ea typeface="+mn-ea"/>
                <a:cs typeface="+mn-cs"/>
              </a:rPr>
              <a:t>SAT_math</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a:t>
            </a:r>
            <a:r>
              <a:rPr kumimoji="0" lang="mr-IN" sz="2000" b="0" i="0" u="none" strike="noStrike" kern="1200" cap="none" spc="0" normalizeH="0" baseline="0" noProof="0" dirty="0">
                <a:ln>
                  <a:noFill/>
                </a:ln>
                <a:solidFill>
                  <a:srgbClr val="C00000"/>
                </a:solidFill>
                <a:effectLst/>
                <a:uLnTx/>
                <a:uFillTx/>
                <a:latin typeface="Calibri" panose="020F0502020204030204"/>
                <a:ea typeface="+mn-ea"/>
                <a:cs typeface="Mangal" panose="02040503050203030202" pitchFamily="18" charset="0"/>
              </a:rPr>
              <a:t>–</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2.6*(1)</a:t>
            </a:r>
          </a:p>
        </p:txBody>
      </p:sp>
      <p:sp>
        <p:nvSpPr>
          <p:cNvPr id="6" name="TextBox 5">
            <a:extLst>
              <a:ext uri="{FF2B5EF4-FFF2-40B4-BE49-F238E27FC236}">
                <a16:creationId xmlns:a16="http://schemas.microsoft.com/office/drawing/2014/main" id="{49E2B6A2-B3C1-CFC9-2B55-72357EBDB46C}"/>
              </a:ext>
            </a:extLst>
          </p:cNvPr>
          <p:cNvSpPr txBox="1"/>
          <p:nvPr/>
        </p:nvSpPr>
        <p:spPr>
          <a:xfrm>
            <a:off x="2596212" y="2961288"/>
            <a:ext cx="6488064" cy="707886"/>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Regression Equation: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sng" strike="noStrike" kern="1200" cap="none" spc="0" normalizeH="0" baseline="0" noProof="0" dirty="0" err="1">
                <a:ln>
                  <a:noFill/>
                </a:ln>
                <a:solidFill>
                  <a:srgbClr val="C00000"/>
                </a:solidFill>
                <a:effectLst/>
                <a:uLnTx/>
                <a:uFillTx/>
                <a:latin typeface="Calibri" panose="020F0502020204030204"/>
                <a:ea typeface="+mn-ea"/>
                <a:cs typeface="+mn-cs"/>
              </a:rPr>
              <a:t>Rank|Alum</a:t>
            </a:r>
            <a:r>
              <a:rPr kumimoji="0" lang="en-US" sz="2000" b="0" i="0" u="sng" strike="noStrike" kern="1200" cap="none" spc="0" normalizeH="0" baseline="0" noProof="0" dirty="0">
                <a:ln>
                  <a:noFill/>
                </a:ln>
                <a:solidFill>
                  <a:srgbClr val="C00000"/>
                </a:solidFill>
                <a:effectLst/>
                <a:uLnTx/>
                <a:uFillTx/>
                <a:latin typeface="Calibri" panose="020F0502020204030204"/>
                <a:ea typeface="+mn-ea"/>
                <a:cs typeface="+mn-cs"/>
              </a:rPr>
              <a:t> = 0</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68.89 + .007*</a:t>
            </a:r>
            <a:r>
              <a:rPr kumimoji="0" lang="en-US" sz="2000" b="0" i="0" u="none" strike="noStrike" kern="1200" cap="none" spc="0" normalizeH="0" baseline="0" noProof="0" dirty="0" err="1">
                <a:ln>
                  <a:noFill/>
                </a:ln>
                <a:solidFill>
                  <a:srgbClr val="C00000"/>
                </a:solidFill>
                <a:effectLst/>
                <a:uLnTx/>
                <a:uFillTx/>
                <a:latin typeface="Calibri" panose="020F0502020204030204"/>
                <a:ea typeface="+mn-ea"/>
                <a:cs typeface="+mn-cs"/>
              </a:rPr>
              <a:t>SAT_math</a:t>
            </a:r>
            <a:endPar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cxnSp>
        <p:nvCxnSpPr>
          <p:cNvPr id="8" name="Straight Arrow Connector 7">
            <a:extLst>
              <a:ext uri="{FF2B5EF4-FFF2-40B4-BE49-F238E27FC236}">
                <a16:creationId xmlns:a16="http://schemas.microsoft.com/office/drawing/2014/main" id="{0670F2E9-77CF-33E5-825D-0A29B33473BA}"/>
              </a:ext>
            </a:extLst>
          </p:cNvPr>
          <p:cNvCxnSpPr/>
          <p:nvPr/>
        </p:nvCxnSpPr>
        <p:spPr>
          <a:xfrm>
            <a:off x="4759411" y="1594541"/>
            <a:ext cx="869092" cy="16063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8105EE6-0C71-E119-DF7D-7968B53C9360}"/>
              </a:ext>
            </a:extLst>
          </p:cNvPr>
          <p:cNvCxnSpPr>
            <a:cxnSpLocks/>
          </p:cNvCxnSpPr>
          <p:nvPr/>
        </p:nvCxnSpPr>
        <p:spPr>
          <a:xfrm flipH="1">
            <a:off x="6254579" y="1755179"/>
            <a:ext cx="1062681" cy="2286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2370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ppt_x"/>
                                          </p:val>
                                        </p:tav>
                                        <p:tav tm="100000">
                                          <p:val>
                                            <p:strVal val="#ppt_x"/>
                                          </p:val>
                                        </p:tav>
                                      </p:tavLst>
                                    </p:anim>
                                    <p:anim calcmode="lin" valueType="num">
                                      <p:cBhvr additive="base">
                                        <p:cTn id="20" dur="500" fill="hold"/>
                                        <p:tgtEl>
                                          <p:spTgt spid="6"/>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ppt_x</p:attrName>
                                        </p:attrNameLst>
                                      </p:cBhvr>
                                      <p:tavLst>
                                        <p:tav tm="0">
                                          <p:val>
                                            <p:strVal val="#ppt_x"/>
                                          </p:val>
                                        </p:tav>
                                        <p:tav tm="100000">
                                          <p:val>
                                            <p:strVal val="#ppt_x"/>
                                          </p:val>
                                        </p:tav>
                                      </p:tavLst>
                                    </p:anim>
                                    <p:anim calcmode="lin" valueType="num">
                                      <p:cBhvr additive="base">
                                        <p:cTn id="2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297DDD43-33E6-B81D-8ECE-4A913E56F9BB}"/>
              </a:ext>
            </a:extLst>
          </p:cNvPr>
          <p:cNvGraphicFramePr>
            <a:graphicFrameLocks noGrp="1"/>
          </p:cNvGraphicFramePr>
          <p:nvPr>
            <p:ph idx="1"/>
          </p:nvPr>
        </p:nvGraphicFramePr>
        <p:xfrm>
          <a:off x="2354094" y="1274323"/>
          <a:ext cx="7256338" cy="3863279"/>
        </p:xfrm>
        <a:graphic>
          <a:graphicData uri="http://schemas.openxmlformats.org/drawingml/2006/table">
            <a:tbl>
              <a:tblPr>
                <a:tableStyleId>{EB9631B5-78F2-41C9-869B-9F39066F8104}</a:tableStyleId>
              </a:tblPr>
              <a:tblGrid>
                <a:gridCol w="1810916">
                  <a:extLst>
                    <a:ext uri="{9D8B030D-6E8A-4147-A177-3AD203B41FA5}">
                      <a16:colId xmlns:a16="http://schemas.microsoft.com/office/drawing/2014/main" val="386131705"/>
                    </a:ext>
                  </a:extLst>
                </a:gridCol>
                <a:gridCol w="2564292">
                  <a:extLst>
                    <a:ext uri="{9D8B030D-6E8A-4147-A177-3AD203B41FA5}">
                      <a16:colId xmlns:a16="http://schemas.microsoft.com/office/drawing/2014/main" val="3862625445"/>
                    </a:ext>
                  </a:extLst>
                </a:gridCol>
                <a:gridCol w="2881130">
                  <a:extLst>
                    <a:ext uri="{9D8B030D-6E8A-4147-A177-3AD203B41FA5}">
                      <a16:colId xmlns:a16="http://schemas.microsoft.com/office/drawing/2014/main" val="3907464912"/>
                    </a:ext>
                  </a:extLst>
                </a:gridCol>
              </a:tblGrid>
              <a:tr h="1191723">
                <a:tc>
                  <a:txBody>
                    <a:bodyPr/>
                    <a:lstStyle/>
                    <a:p>
                      <a:pPr algn="ctr" fontAlgn="b"/>
                      <a:r>
                        <a:rPr lang="en-US" sz="3300" b="1" u="none" strike="noStrike" dirty="0">
                          <a:solidFill>
                            <a:srgbClr val="000000"/>
                          </a:solidFill>
                          <a:effectLst/>
                        </a:rPr>
                        <a:t>SAT Math</a:t>
                      </a:r>
                      <a:endParaRPr lang="en-US" sz="5400" b="1" i="0" u="none" strike="noStrike" dirty="0">
                        <a:effectLst/>
                        <a:latin typeface="Arial" panose="020B0604020202020204" pitchFamily="34" charset="0"/>
                      </a:endParaRPr>
                    </a:p>
                  </a:txBody>
                  <a:tcPr marL="28575" marR="28575" marT="28575" marB="0" anchor="b"/>
                </a:tc>
                <a:tc>
                  <a:txBody>
                    <a:bodyPr/>
                    <a:lstStyle/>
                    <a:p>
                      <a:pPr algn="ctr" fontAlgn="b"/>
                      <a:r>
                        <a:rPr lang="en-US" sz="3300" b="1" u="none" strike="noStrike" dirty="0">
                          <a:solidFill>
                            <a:srgbClr val="000000"/>
                          </a:solidFill>
                          <a:effectLst/>
                        </a:rPr>
                        <a:t>Family is Alumni</a:t>
                      </a:r>
                      <a:endParaRPr lang="en-US" sz="5400" b="1" i="0" u="none" strike="noStrike" dirty="0">
                        <a:effectLst/>
                        <a:latin typeface="Arial" panose="020B0604020202020204" pitchFamily="34" charset="0"/>
                      </a:endParaRPr>
                    </a:p>
                  </a:txBody>
                  <a:tcPr marL="28575" marR="28575" marT="28575" marB="0" anchor="b"/>
                </a:tc>
                <a:tc>
                  <a:txBody>
                    <a:bodyPr/>
                    <a:lstStyle/>
                    <a:p>
                      <a:pPr algn="ctr" fontAlgn="b"/>
                      <a:r>
                        <a:rPr lang="en-US" sz="3300" b="1" u="none" strike="noStrike" dirty="0">
                          <a:solidFill>
                            <a:srgbClr val="000000"/>
                          </a:solidFill>
                          <a:effectLst/>
                        </a:rPr>
                        <a:t>Predicted Class Rank</a:t>
                      </a:r>
                      <a:endParaRPr lang="en-US" sz="5400" b="1" i="0" u="none" strike="noStrike" dirty="0">
                        <a:effectLst/>
                        <a:latin typeface="Arial" panose="020B0604020202020204" pitchFamily="34" charset="0"/>
                      </a:endParaRPr>
                    </a:p>
                  </a:txBody>
                  <a:tcPr marL="28575" marR="28575" marT="28575" marB="0" anchor="b"/>
                </a:tc>
                <a:extLst>
                  <a:ext uri="{0D108BD9-81ED-4DB2-BD59-A6C34878D82A}">
                    <a16:rowId xmlns:a16="http://schemas.microsoft.com/office/drawing/2014/main" val="3266111325"/>
                  </a:ext>
                </a:extLst>
              </a:tr>
              <a:tr h="667889">
                <a:tc>
                  <a:txBody>
                    <a:bodyPr/>
                    <a:lstStyle/>
                    <a:p>
                      <a:pPr algn="ctr" fontAlgn="b"/>
                      <a:r>
                        <a:rPr lang="en-US" sz="3300" b="0" u="none" strike="noStrike">
                          <a:solidFill>
                            <a:srgbClr val="000000"/>
                          </a:solidFill>
                          <a:effectLst/>
                        </a:rPr>
                        <a:t>100</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dirty="0">
                          <a:solidFill>
                            <a:srgbClr val="000000"/>
                          </a:solidFill>
                          <a:effectLst/>
                        </a:rPr>
                        <a:t>0</a:t>
                      </a:r>
                      <a:endParaRPr lang="en-US" sz="5400" b="0" i="0" u="none" strike="noStrike" dirty="0">
                        <a:effectLst/>
                        <a:latin typeface="Arial" panose="020B0604020202020204" pitchFamily="34" charset="0"/>
                      </a:endParaRPr>
                    </a:p>
                  </a:txBody>
                  <a:tcPr marL="28575" marR="28575" marT="28575" marB="0" anchor="b"/>
                </a:tc>
                <a:tc>
                  <a:txBody>
                    <a:bodyPr/>
                    <a:lstStyle/>
                    <a:p>
                      <a:pPr algn="ctr" fontAlgn="b"/>
                      <a:r>
                        <a:rPr lang="en-US" sz="3300" b="0" u="none" strike="noStrike" dirty="0">
                          <a:solidFill>
                            <a:srgbClr val="000000"/>
                          </a:solidFill>
                          <a:effectLst/>
                        </a:rPr>
                        <a:t>69.59</a:t>
                      </a:r>
                      <a:endParaRPr lang="en-US" sz="5400" b="0" i="0" u="none" strike="noStrike" dirty="0">
                        <a:effectLst/>
                        <a:latin typeface="Arial" panose="020B0604020202020204" pitchFamily="34" charset="0"/>
                      </a:endParaRPr>
                    </a:p>
                  </a:txBody>
                  <a:tcPr marL="28575" marR="28575" marT="28575" marB="0" anchor="b"/>
                </a:tc>
                <a:extLst>
                  <a:ext uri="{0D108BD9-81ED-4DB2-BD59-A6C34878D82A}">
                    <a16:rowId xmlns:a16="http://schemas.microsoft.com/office/drawing/2014/main" val="3843969774"/>
                  </a:ext>
                </a:extLst>
              </a:tr>
              <a:tr h="667889">
                <a:tc>
                  <a:txBody>
                    <a:bodyPr/>
                    <a:lstStyle/>
                    <a:p>
                      <a:pPr algn="ctr" fontAlgn="b"/>
                      <a:r>
                        <a:rPr lang="en-US" sz="3300" b="0" u="none" strike="noStrike">
                          <a:solidFill>
                            <a:srgbClr val="000000"/>
                          </a:solidFill>
                          <a:effectLst/>
                        </a:rPr>
                        <a:t>100</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a:solidFill>
                            <a:srgbClr val="000000"/>
                          </a:solidFill>
                          <a:effectLst/>
                        </a:rPr>
                        <a:t>1</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dirty="0">
                          <a:solidFill>
                            <a:srgbClr val="000000"/>
                          </a:solidFill>
                          <a:effectLst/>
                        </a:rPr>
                        <a:t>66.99</a:t>
                      </a:r>
                      <a:endParaRPr lang="en-US" sz="5400" b="0" i="0" u="none" strike="noStrike" dirty="0">
                        <a:effectLst/>
                        <a:latin typeface="Arial" panose="020B0604020202020204" pitchFamily="34" charset="0"/>
                      </a:endParaRPr>
                    </a:p>
                  </a:txBody>
                  <a:tcPr marL="28575" marR="28575" marT="28575" marB="0" anchor="b"/>
                </a:tc>
                <a:extLst>
                  <a:ext uri="{0D108BD9-81ED-4DB2-BD59-A6C34878D82A}">
                    <a16:rowId xmlns:a16="http://schemas.microsoft.com/office/drawing/2014/main" val="413554508"/>
                  </a:ext>
                </a:extLst>
              </a:tr>
              <a:tr h="667889">
                <a:tc>
                  <a:txBody>
                    <a:bodyPr/>
                    <a:lstStyle/>
                    <a:p>
                      <a:pPr algn="ctr" fontAlgn="b"/>
                      <a:r>
                        <a:rPr lang="en-US" sz="3300" b="0" u="none" strike="noStrike">
                          <a:solidFill>
                            <a:srgbClr val="000000"/>
                          </a:solidFill>
                          <a:effectLst/>
                        </a:rPr>
                        <a:t>500</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a:solidFill>
                            <a:srgbClr val="000000"/>
                          </a:solidFill>
                          <a:effectLst/>
                        </a:rPr>
                        <a:t>0</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dirty="0">
                          <a:solidFill>
                            <a:srgbClr val="000000"/>
                          </a:solidFill>
                          <a:effectLst/>
                        </a:rPr>
                        <a:t>72.39</a:t>
                      </a:r>
                      <a:endParaRPr lang="en-US" sz="5400" b="0" i="0" u="none" strike="noStrike" dirty="0">
                        <a:effectLst/>
                        <a:latin typeface="Arial" panose="020B0604020202020204" pitchFamily="34" charset="0"/>
                      </a:endParaRPr>
                    </a:p>
                  </a:txBody>
                  <a:tcPr marL="28575" marR="28575" marT="28575" marB="0" anchor="b"/>
                </a:tc>
                <a:extLst>
                  <a:ext uri="{0D108BD9-81ED-4DB2-BD59-A6C34878D82A}">
                    <a16:rowId xmlns:a16="http://schemas.microsoft.com/office/drawing/2014/main" val="2727369398"/>
                  </a:ext>
                </a:extLst>
              </a:tr>
              <a:tr h="667889">
                <a:tc>
                  <a:txBody>
                    <a:bodyPr/>
                    <a:lstStyle/>
                    <a:p>
                      <a:pPr algn="ctr" fontAlgn="b"/>
                      <a:r>
                        <a:rPr lang="en-US" sz="3300" b="0" u="none" strike="noStrike">
                          <a:solidFill>
                            <a:srgbClr val="000000"/>
                          </a:solidFill>
                          <a:effectLst/>
                        </a:rPr>
                        <a:t>500</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a:solidFill>
                            <a:srgbClr val="000000"/>
                          </a:solidFill>
                          <a:effectLst/>
                        </a:rPr>
                        <a:t>1</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dirty="0">
                          <a:solidFill>
                            <a:srgbClr val="000000"/>
                          </a:solidFill>
                          <a:effectLst/>
                        </a:rPr>
                        <a:t>69.79</a:t>
                      </a:r>
                      <a:endParaRPr lang="en-US" sz="5400" b="0" i="0" u="none" strike="noStrike" dirty="0">
                        <a:effectLst/>
                        <a:latin typeface="Arial" panose="020B0604020202020204" pitchFamily="34" charset="0"/>
                      </a:endParaRPr>
                    </a:p>
                  </a:txBody>
                  <a:tcPr marL="28575" marR="28575" marT="28575" marB="0" anchor="b"/>
                </a:tc>
                <a:extLst>
                  <a:ext uri="{0D108BD9-81ED-4DB2-BD59-A6C34878D82A}">
                    <a16:rowId xmlns:a16="http://schemas.microsoft.com/office/drawing/2014/main" val="3878394384"/>
                  </a:ext>
                </a:extLst>
              </a:tr>
            </a:tbl>
          </a:graphicData>
        </a:graphic>
      </p:graphicFrame>
    </p:spTree>
    <p:extLst>
      <p:ext uri="{BB962C8B-B14F-4D97-AF65-F5344CB8AC3E}">
        <p14:creationId xmlns:p14="http://schemas.microsoft.com/office/powerpoint/2010/main" val="25691606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C7D7E-B46B-9711-C7D1-7AEC31350569}"/>
              </a:ext>
            </a:extLst>
          </p:cNvPr>
          <p:cNvSpPr>
            <a:spLocks noGrp="1"/>
          </p:cNvSpPr>
          <p:nvPr>
            <p:ph type="title"/>
          </p:nvPr>
        </p:nvSpPr>
        <p:spPr>
          <a:xfrm>
            <a:off x="156557" y="132369"/>
            <a:ext cx="10515600" cy="798657"/>
          </a:xfrm>
        </p:spPr>
        <p:txBody>
          <a:bodyPr/>
          <a:lstStyle/>
          <a:p>
            <a:r>
              <a:rPr lang="en-US" sz="3600" dirty="0">
                <a:solidFill>
                  <a:prstClr val="black"/>
                </a:solidFill>
                <a:latin typeface="Arial" panose="020B0604020202020204" pitchFamily="34" charset="0"/>
                <a:cs typeface="Arial" panose="020B0604020202020204" pitchFamily="34" charset="0"/>
              </a:rPr>
              <a:t>Creating ‘Fast Dummies’ in R</a:t>
            </a:r>
            <a:endParaRPr lang="en-US" dirty="0"/>
          </a:p>
        </p:txBody>
      </p:sp>
      <p:sp>
        <p:nvSpPr>
          <p:cNvPr id="3" name="Content Placeholder 2">
            <a:extLst>
              <a:ext uri="{FF2B5EF4-FFF2-40B4-BE49-F238E27FC236}">
                <a16:creationId xmlns:a16="http://schemas.microsoft.com/office/drawing/2014/main" id="{C9F93A04-5FD6-896D-9F1C-709D2021111D}"/>
              </a:ext>
            </a:extLst>
          </p:cNvPr>
          <p:cNvSpPr>
            <a:spLocks noGrp="1"/>
          </p:cNvSpPr>
          <p:nvPr>
            <p:ph idx="1"/>
          </p:nvPr>
        </p:nvSpPr>
        <p:spPr>
          <a:xfrm>
            <a:off x="289560" y="931026"/>
            <a:ext cx="10515600" cy="4351338"/>
          </a:xfrm>
        </p:spPr>
        <p:txBody>
          <a:bodyPr>
            <a:normAutofit fontScale="92500" lnSpcReduction="20000"/>
          </a:bodyPr>
          <a:lstStyle/>
          <a:p>
            <a:r>
              <a:rPr lang="en-US" dirty="0">
                <a:latin typeface="Arial" panose="020B0604020202020204" pitchFamily="34" charset="0"/>
                <a:cs typeface="Arial" panose="020B0604020202020204" pitchFamily="34" charset="0"/>
              </a:rPr>
              <a:t>1. No more dummy variables! R automatically creates k−1 dummy variables.</a:t>
            </a:r>
          </a:p>
          <a:p>
            <a:pPr marL="457200" lvl="1" indent="0">
              <a:buNone/>
            </a:pPr>
            <a:r>
              <a:rPr lang="en-US" sz="1900" dirty="0" err="1">
                <a:solidFill>
                  <a:srgbClr val="FF0000"/>
                </a:solidFill>
                <a:latin typeface="Arial" panose="020B0604020202020204" pitchFamily="34" charset="0"/>
                <a:cs typeface="Arial" panose="020B0604020202020204" pitchFamily="34" charset="0"/>
              </a:rPr>
              <a:t>data$race</a:t>
            </a:r>
            <a:r>
              <a:rPr lang="en-US" sz="1900" dirty="0">
                <a:solidFill>
                  <a:srgbClr val="FF0000"/>
                </a:solidFill>
                <a:latin typeface="Arial" panose="020B0604020202020204" pitchFamily="34" charset="0"/>
                <a:cs typeface="Arial" panose="020B0604020202020204" pitchFamily="34" charset="0"/>
              </a:rPr>
              <a:t> &lt;- factor(</a:t>
            </a:r>
            <a:r>
              <a:rPr lang="en-US" sz="1900" dirty="0" err="1">
                <a:solidFill>
                  <a:srgbClr val="FF0000"/>
                </a:solidFill>
                <a:latin typeface="Arial" panose="020B0604020202020204" pitchFamily="34" charset="0"/>
                <a:cs typeface="Arial" panose="020B0604020202020204" pitchFamily="34" charset="0"/>
              </a:rPr>
              <a:t>data$race</a:t>
            </a:r>
            <a:r>
              <a:rPr lang="en-US" sz="1900" dirty="0">
                <a:solidFill>
                  <a:srgbClr val="FF0000"/>
                </a:solidFill>
                <a:latin typeface="Arial" panose="020B0604020202020204" pitchFamily="34" charset="0"/>
                <a:cs typeface="Arial" panose="020B0604020202020204" pitchFamily="34" charset="0"/>
              </a:rPr>
              <a:t>)</a:t>
            </a:r>
          </a:p>
          <a:p>
            <a:pPr marL="457200" lvl="1" indent="0">
              <a:buNone/>
            </a:pPr>
            <a:r>
              <a:rPr lang="en-US" sz="1900" dirty="0">
                <a:solidFill>
                  <a:srgbClr val="FF0000"/>
                </a:solidFill>
                <a:latin typeface="Arial" panose="020B0604020202020204" pitchFamily="34" charset="0"/>
                <a:cs typeface="Arial" panose="020B0604020202020204" pitchFamily="34" charset="0"/>
              </a:rPr>
              <a:t>model &lt;- </a:t>
            </a:r>
            <a:r>
              <a:rPr lang="en-US" sz="1900" dirty="0" err="1">
                <a:solidFill>
                  <a:srgbClr val="FF0000"/>
                </a:solidFill>
                <a:latin typeface="Arial" panose="020B0604020202020204" pitchFamily="34" charset="0"/>
                <a:cs typeface="Arial" panose="020B0604020202020204" pitchFamily="34" charset="0"/>
              </a:rPr>
              <a:t>lm</a:t>
            </a:r>
            <a:r>
              <a:rPr lang="en-US" sz="1900" dirty="0">
                <a:solidFill>
                  <a:srgbClr val="FF0000"/>
                </a:solidFill>
                <a:latin typeface="Arial" panose="020B0604020202020204" pitchFamily="34" charset="0"/>
                <a:cs typeface="Arial" panose="020B0604020202020204" pitchFamily="34" charset="0"/>
              </a:rPr>
              <a:t>(y ~ race + age + income, data = data)</a:t>
            </a:r>
          </a:p>
          <a:p>
            <a:r>
              <a:rPr lang="en-US" dirty="0">
                <a:latin typeface="Arial" panose="020B0604020202020204" pitchFamily="34" charset="0"/>
                <a:cs typeface="Arial" panose="020B0604020202020204" pitchFamily="34" charset="0"/>
              </a:rPr>
              <a:t>2. </a:t>
            </a:r>
            <a:r>
              <a:rPr lang="en-US" dirty="0" err="1">
                <a:latin typeface="Arial" panose="020B0604020202020204" pitchFamily="34" charset="0"/>
                <a:cs typeface="Arial" panose="020B0604020202020204" pitchFamily="34" charset="0"/>
              </a:rPr>
              <a:t>FastDummies</a:t>
            </a:r>
            <a:r>
              <a:rPr lang="en-US" dirty="0">
                <a:latin typeface="Arial" panose="020B0604020202020204" pitchFamily="34" charset="0"/>
                <a:cs typeface="Arial" panose="020B0604020202020204" pitchFamily="34" charset="0"/>
              </a:rPr>
              <a:t> package</a:t>
            </a:r>
          </a:p>
          <a:p>
            <a:pPr marL="573088" lvl="2" indent="0">
              <a:buNone/>
            </a:pPr>
            <a:r>
              <a:rPr lang="en-US" sz="2100" dirty="0">
                <a:solidFill>
                  <a:schemeClr val="accent1"/>
                </a:solidFill>
                <a:latin typeface="Arial" panose="020B0604020202020204" pitchFamily="34" charset="0"/>
                <a:cs typeface="Arial" panose="020B0604020202020204" pitchFamily="34" charset="0"/>
              </a:rPr>
              <a:t>library(</a:t>
            </a:r>
            <a:r>
              <a:rPr lang="en-US" sz="2100" dirty="0" err="1">
                <a:solidFill>
                  <a:schemeClr val="accent1"/>
                </a:solidFill>
                <a:latin typeface="Arial" panose="020B0604020202020204" pitchFamily="34" charset="0"/>
                <a:cs typeface="Arial" panose="020B0604020202020204" pitchFamily="34" charset="0"/>
              </a:rPr>
              <a:t>fastDummies</a:t>
            </a:r>
            <a:r>
              <a:rPr lang="en-US" sz="2100" dirty="0">
                <a:solidFill>
                  <a:schemeClr val="accent1"/>
                </a:solidFill>
                <a:latin typeface="Arial" panose="020B0604020202020204" pitchFamily="34" charset="0"/>
                <a:cs typeface="Arial" panose="020B0604020202020204" pitchFamily="34" charset="0"/>
              </a:rPr>
              <a:t>)</a:t>
            </a:r>
          </a:p>
          <a:p>
            <a:pPr marL="573088" lvl="2" indent="0">
              <a:buNone/>
            </a:pPr>
            <a:r>
              <a:rPr lang="en-US" sz="2100" dirty="0" err="1">
                <a:solidFill>
                  <a:srgbClr val="FF0000"/>
                </a:solidFill>
                <a:latin typeface="Arial" panose="020B0604020202020204" pitchFamily="34" charset="0"/>
                <a:cs typeface="Arial" panose="020B0604020202020204" pitchFamily="34" charset="0"/>
              </a:rPr>
              <a:t>data_dum</a:t>
            </a:r>
            <a:r>
              <a:rPr lang="en-US" sz="2100" dirty="0">
                <a:solidFill>
                  <a:srgbClr val="FF0000"/>
                </a:solidFill>
                <a:latin typeface="Arial" panose="020B0604020202020204" pitchFamily="34" charset="0"/>
                <a:cs typeface="Arial" panose="020B0604020202020204" pitchFamily="34" charset="0"/>
              </a:rPr>
              <a:t> &lt;- </a:t>
            </a:r>
            <a:r>
              <a:rPr lang="en-US" sz="2100" dirty="0" err="1">
                <a:solidFill>
                  <a:srgbClr val="FF0000"/>
                </a:solidFill>
                <a:latin typeface="Arial" panose="020B0604020202020204" pitchFamily="34" charset="0"/>
                <a:cs typeface="Arial" panose="020B0604020202020204" pitchFamily="34" charset="0"/>
              </a:rPr>
              <a:t>fastDummies</a:t>
            </a:r>
            <a:r>
              <a:rPr lang="en-US" sz="2100" dirty="0">
                <a:solidFill>
                  <a:srgbClr val="FF0000"/>
                </a:solidFill>
                <a:latin typeface="Arial" panose="020B0604020202020204" pitchFamily="34" charset="0"/>
                <a:cs typeface="Arial" panose="020B0604020202020204" pitchFamily="34" charset="0"/>
              </a:rPr>
              <a:t>::</a:t>
            </a:r>
            <a:r>
              <a:rPr lang="en-US" sz="2100" dirty="0" err="1">
                <a:solidFill>
                  <a:srgbClr val="FF0000"/>
                </a:solidFill>
                <a:latin typeface="Arial" panose="020B0604020202020204" pitchFamily="34" charset="0"/>
                <a:cs typeface="Arial" panose="020B0604020202020204" pitchFamily="34" charset="0"/>
              </a:rPr>
              <a:t>dummy_cols</a:t>
            </a:r>
            <a:r>
              <a:rPr lang="en-US" sz="2100" dirty="0">
                <a:solidFill>
                  <a:srgbClr val="FF0000"/>
                </a:solidFill>
                <a:latin typeface="Arial" panose="020B0604020202020204" pitchFamily="34" charset="0"/>
                <a:cs typeface="Arial" panose="020B0604020202020204" pitchFamily="34" charset="0"/>
              </a:rPr>
              <a:t>(</a:t>
            </a:r>
          </a:p>
          <a:p>
            <a:pPr marL="573088" lvl="2" indent="0">
              <a:buNone/>
            </a:pPr>
            <a:r>
              <a:rPr lang="en-US" sz="2100" dirty="0">
                <a:solidFill>
                  <a:srgbClr val="FF0000"/>
                </a:solidFill>
                <a:latin typeface="Arial" panose="020B0604020202020204" pitchFamily="34" charset="0"/>
                <a:cs typeface="Arial" panose="020B0604020202020204" pitchFamily="34" charset="0"/>
              </a:rPr>
              <a:t>  data,</a:t>
            </a:r>
          </a:p>
          <a:p>
            <a:pPr marL="573088" lvl="2" indent="0">
              <a:buNone/>
            </a:pPr>
            <a:r>
              <a:rPr lang="en-US" sz="2100" dirty="0">
                <a:solidFill>
                  <a:srgbClr val="FF0000"/>
                </a:solidFill>
                <a:latin typeface="Arial" panose="020B0604020202020204" pitchFamily="34" charset="0"/>
                <a:cs typeface="Arial" panose="020B0604020202020204" pitchFamily="34" charset="0"/>
              </a:rPr>
              <a:t>  </a:t>
            </a:r>
            <a:r>
              <a:rPr lang="en-US" sz="2100" dirty="0" err="1">
                <a:solidFill>
                  <a:srgbClr val="FF0000"/>
                </a:solidFill>
                <a:latin typeface="Arial" panose="020B0604020202020204" pitchFamily="34" charset="0"/>
                <a:cs typeface="Arial" panose="020B0604020202020204" pitchFamily="34" charset="0"/>
              </a:rPr>
              <a:t>select_columns</a:t>
            </a:r>
            <a:r>
              <a:rPr lang="en-US" sz="2100" dirty="0">
                <a:solidFill>
                  <a:srgbClr val="FF0000"/>
                </a:solidFill>
                <a:latin typeface="Arial" panose="020B0604020202020204" pitchFamily="34" charset="0"/>
                <a:cs typeface="Arial" panose="020B0604020202020204" pitchFamily="34" charset="0"/>
              </a:rPr>
              <a:t> = "race",</a:t>
            </a:r>
          </a:p>
          <a:p>
            <a:pPr marL="573088" lvl="2" indent="0">
              <a:buNone/>
            </a:pPr>
            <a:r>
              <a:rPr lang="en-US" sz="2100" dirty="0">
                <a:solidFill>
                  <a:srgbClr val="FF0000"/>
                </a:solidFill>
                <a:latin typeface="Arial" panose="020B0604020202020204" pitchFamily="34" charset="0"/>
                <a:cs typeface="Arial" panose="020B0604020202020204" pitchFamily="34" charset="0"/>
              </a:rPr>
              <a:t>  </a:t>
            </a:r>
            <a:r>
              <a:rPr lang="en-US" sz="2100" dirty="0" err="1">
                <a:solidFill>
                  <a:srgbClr val="FF0000"/>
                </a:solidFill>
                <a:latin typeface="Arial" panose="020B0604020202020204" pitchFamily="34" charset="0"/>
                <a:cs typeface="Arial" panose="020B0604020202020204" pitchFamily="34" charset="0"/>
              </a:rPr>
              <a:t>remove_first_dummy</a:t>
            </a:r>
            <a:r>
              <a:rPr lang="en-US" sz="2100" dirty="0">
                <a:solidFill>
                  <a:srgbClr val="FF0000"/>
                </a:solidFill>
                <a:latin typeface="Arial" panose="020B0604020202020204" pitchFamily="34" charset="0"/>
                <a:cs typeface="Arial" panose="020B0604020202020204" pitchFamily="34" charset="0"/>
              </a:rPr>
              <a:t> = TRUE,  # avoids multicollinearity</a:t>
            </a:r>
          </a:p>
          <a:p>
            <a:pPr marL="573088" lvl="2" indent="0">
              <a:buNone/>
            </a:pPr>
            <a:r>
              <a:rPr lang="en-US" sz="2100" dirty="0">
                <a:solidFill>
                  <a:srgbClr val="FF0000"/>
                </a:solidFill>
                <a:latin typeface="Arial" panose="020B0604020202020204" pitchFamily="34" charset="0"/>
                <a:cs typeface="Arial" panose="020B0604020202020204" pitchFamily="34" charset="0"/>
              </a:rPr>
              <a:t>  </a:t>
            </a:r>
            <a:r>
              <a:rPr lang="en-US" sz="2100" dirty="0" err="1">
                <a:solidFill>
                  <a:srgbClr val="FF0000"/>
                </a:solidFill>
                <a:latin typeface="Arial" panose="020B0604020202020204" pitchFamily="34" charset="0"/>
                <a:cs typeface="Arial" panose="020B0604020202020204" pitchFamily="34" charset="0"/>
              </a:rPr>
              <a:t>remove_selected_columns</a:t>
            </a:r>
            <a:r>
              <a:rPr lang="en-US" sz="2100" dirty="0">
                <a:solidFill>
                  <a:srgbClr val="FF0000"/>
                </a:solidFill>
                <a:latin typeface="Arial" panose="020B0604020202020204" pitchFamily="34" charset="0"/>
                <a:cs typeface="Arial" panose="020B0604020202020204" pitchFamily="34" charset="0"/>
              </a:rPr>
              <a:t> = TRUE)</a:t>
            </a:r>
          </a:p>
          <a:p>
            <a:pPr marL="457200" lvl="1" indent="0">
              <a:buNone/>
            </a:pPr>
            <a:endParaRPr lang="en-US" dirty="0">
              <a:latin typeface="Arial" panose="020B0604020202020204" pitchFamily="34" charset="0"/>
              <a:cs typeface="Arial" panose="020B0604020202020204" pitchFamily="34" charset="0"/>
            </a:endParaRPr>
          </a:p>
          <a:p>
            <a:pPr lvl="1"/>
            <a:r>
              <a:rPr lang="en-US" dirty="0">
                <a:latin typeface="Arial" panose="020B0604020202020204" pitchFamily="34" charset="0"/>
                <a:cs typeface="Arial" panose="020B0604020202020204" pitchFamily="34" charset="0"/>
              </a:rPr>
              <a:t>Creates columns like:</a:t>
            </a:r>
          </a:p>
          <a:p>
            <a:pPr lvl="1"/>
            <a:r>
              <a:rPr lang="en-US" dirty="0" err="1">
                <a:latin typeface="Arial" panose="020B0604020202020204" pitchFamily="34" charset="0"/>
                <a:cs typeface="Arial" panose="020B0604020202020204" pitchFamily="34" charset="0"/>
              </a:rPr>
              <a:t>race_Black</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race_White</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race_Hispanic</a:t>
            </a:r>
            <a:r>
              <a:rPr lang="en-US" dirty="0">
                <a:latin typeface="Arial" panose="020B0604020202020204" pitchFamily="34" charset="0"/>
                <a:cs typeface="Arial" panose="020B0604020202020204" pitchFamily="34" charset="0"/>
              </a:rPr>
              <a:t> ...</a:t>
            </a:r>
          </a:p>
          <a:p>
            <a:pPr marL="457200" lvl="1" indent="0">
              <a:buNone/>
            </a:pPr>
            <a:endParaRPr lang="en-US"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8D52CAB7-3B17-A938-0DBF-8E24038CAB8B}"/>
              </a:ext>
            </a:extLst>
          </p:cNvPr>
          <p:cNvSpPr txBox="1"/>
          <p:nvPr/>
        </p:nvSpPr>
        <p:spPr>
          <a:xfrm>
            <a:off x="334536" y="6171529"/>
            <a:ext cx="6110868" cy="369332"/>
          </a:xfrm>
          <a:prstGeom prst="rect">
            <a:avLst/>
          </a:prstGeom>
          <a:noFill/>
        </p:spPr>
        <p:txBody>
          <a:bodyPr wrap="square">
            <a:spAutoFit/>
          </a:bodyPr>
          <a:lstStyle/>
          <a:p>
            <a:r>
              <a:rPr lang="en-US" dirty="0">
                <a:hlinkClick r:id="rId2"/>
              </a:rPr>
              <a:t>Fast Dummies – Statistics for Social Work</a:t>
            </a:r>
            <a:endParaRPr lang="en-US" dirty="0"/>
          </a:p>
        </p:txBody>
      </p:sp>
    </p:spTree>
    <p:extLst>
      <p:ext uri="{BB962C8B-B14F-4D97-AF65-F5344CB8AC3E}">
        <p14:creationId xmlns:p14="http://schemas.microsoft.com/office/powerpoint/2010/main" val="3920829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 calcmode="lin" valueType="num">
                                      <p:cBhvr additive="base">
                                        <p:cTn id="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anim calcmode="lin" valueType="num">
                                      <p:cBhvr additive="base">
                                        <p:cTn id="1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 calcmode="lin" valueType="num">
                                      <p:cBhvr additive="base">
                                        <p:cTn id="1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5" end="5"/>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anim calcmode="lin" valueType="num">
                                      <p:cBhvr additive="base">
                                        <p:cTn id="1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anim calcmode="lin" valueType="num">
                                      <p:cBhvr additive="base">
                                        <p:cTn id="2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7" end="7"/>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 calcmode="lin" valueType="num">
                                      <p:cBhvr additive="base">
                                        <p:cTn id="2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8" end="8"/>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 calcmode="lin" valueType="num">
                                      <p:cBhvr additive="base">
                                        <p:cTn id="3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9" end="9"/>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anim calcmode="lin" valueType="num">
                                      <p:cBhvr additive="base">
                                        <p:cTn id="35"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12" end="12"/>
                                            </p:txEl>
                                          </p:spTgt>
                                        </p:tgtEl>
                                        <p:attrNameLst>
                                          <p:attrName>style.visibility</p:attrName>
                                        </p:attrNameLst>
                                      </p:cBhvr>
                                      <p:to>
                                        <p:strVal val="visible"/>
                                      </p:to>
                                    </p:set>
                                    <p:anim calcmode="lin" valueType="num">
                                      <p:cBhvr additive="base">
                                        <p:cTn id="39"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11833" y="866682"/>
                <a:ext cx="10515600" cy="5043365"/>
              </a:xfrm>
            </p:spPr>
            <p:txBody>
              <a:bodyPr>
                <a:normAutofit fontScale="92500" lnSpcReduction="10000"/>
              </a:bodyPr>
              <a:lstStyle/>
              <a:p>
                <a:pPr>
                  <a:lnSpc>
                    <a:spcPct val="120000"/>
                  </a:lnSpc>
                </a:pPr>
                <a:r>
                  <a:rPr lang="en-US" sz="2200" b="1" dirty="0">
                    <a:latin typeface="Arial" panose="020B0604020202020204" pitchFamily="34" charset="0"/>
                    <a:cs typeface="Arial" panose="020B0604020202020204" pitchFamily="34" charset="0"/>
                  </a:rPr>
                  <a:t>Problem</a:t>
                </a:r>
                <a:r>
                  <a:rPr lang="en-US" sz="2200" dirty="0">
                    <a:latin typeface="Arial" panose="020B0604020202020204" pitchFamily="34" charset="0"/>
                    <a:cs typeface="Arial" panose="020B0604020202020204" pitchFamily="34" charset="0"/>
                  </a:rPr>
                  <a:t>: What if, before running our multiple linear regression we look at paired scatter plots and observe that the relationship between independent and response is not simply a straight line? </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pPr marL="0" indent="0">
                  <a:buNone/>
                </a:pPr>
                <a:endParaRPr lang="en-US" sz="2000" dirty="0">
                  <a:latin typeface="Arial" panose="020B0604020202020204" pitchFamily="34" charset="0"/>
                  <a:cs typeface="Arial" panose="020B0604020202020204" pitchFamily="34" charset="0"/>
                </a:endParaRPr>
              </a:p>
              <a:p>
                <a:pPr marL="0" indent="0">
                  <a:buNone/>
                </a:pPr>
                <a:endParaRPr lang="en-US" sz="2000" dirty="0">
                  <a:latin typeface="Arial" panose="020B0604020202020204" pitchFamily="34" charset="0"/>
                  <a:cs typeface="Arial" panose="020B0604020202020204" pitchFamily="34" charset="0"/>
                </a:endParaRPr>
              </a:p>
              <a:p>
                <a:pPr marL="0" indent="0">
                  <a:buNone/>
                </a:pPr>
                <a:endParaRPr lang="en-US" sz="2000" dirty="0">
                  <a:latin typeface="Arial" panose="020B0604020202020204" pitchFamily="34" charset="0"/>
                  <a:cs typeface="Arial" panose="020B0604020202020204" pitchFamily="34" charset="0"/>
                </a:endParaRPr>
              </a:p>
              <a:p>
                <a:endParaRPr lang="en-US" sz="2000" u="sng" dirty="0">
                  <a:latin typeface="Arial" panose="020B0604020202020204" pitchFamily="34" charset="0"/>
                  <a:cs typeface="Arial" panose="020B0604020202020204" pitchFamily="34" charset="0"/>
                </a:endParaRPr>
              </a:p>
              <a:p>
                <a:endParaRPr lang="en-US" sz="2000" u="sng" dirty="0">
                  <a:latin typeface="Arial" panose="020B0604020202020204" pitchFamily="34" charset="0"/>
                  <a:cs typeface="Arial" panose="020B0604020202020204" pitchFamily="34" charset="0"/>
                </a:endParaRPr>
              </a:p>
              <a:p>
                <a:r>
                  <a:rPr lang="en-US" sz="2200" u="sng" dirty="0">
                    <a:latin typeface="Arial" panose="020B0604020202020204" pitchFamily="34" charset="0"/>
                    <a:cs typeface="Arial" panose="020B0604020202020204" pitchFamily="34" charset="0"/>
                  </a:rPr>
                  <a:t>One Solution</a:t>
                </a:r>
                <a:r>
                  <a:rPr lang="en-US" sz="2200" dirty="0">
                    <a:latin typeface="Arial" panose="020B0604020202020204" pitchFamily="34" charset="0"/>
                    <a:cs typeface="Arial" panose="020B0604020202020204" pitchFamily="34" charset="0"/>
                  </a:rPr>
                  <a:t>: Use X</a:t>
                </a:r>
                <a:r>
                  <a:rPr lang="en-US" sz="2200" baseline="30000" dirty="0">
                    <a:latin typeface="Arial" panose="020B0604020202020204" pitchFamily="34" charset="0"/>
                    <a:cs typeface="Arial" panose="020B0604020202020204" pitchFamily="34" charset="0"/>
                  </a:rPr>
                  <a:t>2</a:t>
                </a:r>
                <a:r>
                  <a:rPr lang="en-US" sz="2200" dirty="0">
                    <a:latin typeface="Arial" panose="020B0604020202020204" pitchFamily="34" charset="0"/>
                    <a:cs typeface="Arial" panose="020B0604020202020204" pitchFamily="34" charset="0"/>
                  </a:rPr>
                  <a:t> to model a curvilinear relationship:</a:t>
                </a:r>
              </a:p>
              <a:p>
                <a:pPr marL="0" indent="0" algn="ctr">
                  <a:buNone/>
                </a:pPr>
                <a14:m>
                  <m:oMath xmlns:m="http://schemas.openxmlformats.org/officeDocument/2006/math">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𝑦</m:t>
                        </m:r>
                      </m:e>
                    </m:acc>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𝑥</m:t>
                    </m:r>
                    <m:r>
                      <a:rPr lang="en-US" sz="2000" b="0" i="1" baseline="-25000" smtClean="0">
                        <a:solidFill>
                          <a:srgbClr val="000000"/>
                        </a:solidFill>
                        <a:latin typeface="Cambria Math" panose="02040503050406030204" pitchFamily="18" charset="0"/>
                      </a:rPr>
                      <m:t>1</m:t>
                    </m:r>
                    <m:r>
                      <a:rPr lang="en-US" sz="2000" i="1">
                        <a:solidFill>
                          <a:srgbClr val="000000"/>
                        </a:solidFill>
                        <a:latin typeface="Cambria Math"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charset="0"/>
                          </a:rPr>
                          <m:t>2</m:t>
                        </m:r>
                      </m:sub>
                    </m:sSub>
                    <m:r>
                      <a:rPr lang="en-US" sz="2000" i="1">
                        <a:solidFill>
                          <a:srgbClr val="000000"/>
                        </a:solidFill>
                        <a:latin typeface="Cambria Math" panose="02040503050406030204" pitchFamily="18" charset="0"/>
                      </a:rPr>
                      <m:t>𝑥</m:t>
                    </m:r>
                    <m:r>
                      <a:rPr lang="en-US" sz="2000" b="0" i="1" baseline="-25000" smtClean="0">
                        <a:solidFill>
                          <a:srgbClr val="000000"/>
                        </a:solidFill>
                        <a:latin typeface="Cambria Math" panose="02040503050406030204" pitchFamily="18" charset="0"/>
                      </a:rPr>
                      <m:t>1</m:t>
                    </m:r>
                  </m:oMath>
                </a14:m>
                <a:r>
                  <a:rPr lang="en-US" sz="2000" baseline="30000" dirty="0">
                    <a:latin typeface="Arial" panose="020B0604020202020204" pitchFamily="34" charset="0"/>
                    <a:cs typeface="Arial" panose="020B0604020202020204" pitchFamily="34" charset="0"/>
                  </a:rPr>
                  <a:t>2</a:t>
                </a:r>
                <a:endParaRPr lang="en-US" sz="2000" dirty="0">
                  <a:latin typeface="Arial" panose="020B0604020202020204" pitchFamily="34" charset="0"/>
                  <a:cs typeface="Arial" panose="020B0604020202020204" pitchFamily="34" charset="0"/>
                </a:endParaRPr>
              </a:p>
              <a:p>
                <a:r>
                  <a:rPr lang="en-US" sz="2200" dirty="0">
                    <a:latin typeface="Arial" panose="020B0604020202020204" pitchFamily="34" charset="0"/>
                    <a:cs typeface="Arial" panose="020B0604020202020204" pitchFamily="34" charset="0"/>
                  </a:rPr>
                  <a:t>x</a:t>
                </a:r>
                <a:r>
                  <a:rPr lang="en-US" sz="2200" baseline="-25000" dirty="0">
                    <a:latin typeface="Arial" panose="020B0604020202020204" pitchFamily="34" charset="0"/>
                    <a:cs typeface="Arial" panose="020B0604020202020204" pitchFamily="34" charset="0"/>
                  </a:rPr>
                  <a:t>1</a:t>
                </a:r>
                <a:r>
                  <a:rPr lang="en-US" sz="2200" baseline="30000" dirty="0">
                    <a:latin typeface="Arial" panose="020B0604020202020204" pitchFamily="34" charset="0"/>
                    <a:cs typeface="Arial" panose="020B0604020202020204" pitchFamily="34" charset="0"/>
                  </a:rPr>
                  <a:t>2</a:t>
                </a:r>
                <a:r>
                  <a:rPr lang="en-US" sz="2200" dirty="0">
                    <a:latin typeface="Arial" panose="020B0604020202020204" pitchFamily="34" charset="0"/>
                    <a:cs typeface="Arial" panose="020B0604020202020204" pitchFamily="34" charset="0"/>
                  </a:rPr>
                  <a:t> is treated as another predictor, data is generated by simply squaring the features value for each observation!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11833" y="866682"/>
                <a:ext cx="10515600" cy="5043365"/>
              </a:xfrm>
              <a:blipFill>
                <a:blip r:embed="rId2"/>
                <a:stretch>
                  <a:fillRect l="-522" t="-484" r="-1159" b="-726"/>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itle 1">
            <a:extLst>
              <a:ext uri="{FF2B5EF4-FFF2-40B4-BE49-F238E27FC236}">
                <a16:creationId xmlns:a16="http://schemas.microsoft.com/office/drawing/2014/main" id="{3DAE0A1B-7F66-B04B-BCB4-0B0FC588ACE4}"/>
              </a:ext>
            </a:extLst>
          </p:cNvPr>
          <p:cNvSpPr>
            <a:spLocks noGrp="1"/>
          </p:cNvSpPr>
          <p:nvPr>
            <p:ph type="title"/>
          </p:nvPr>
        </p:nvSpPr>
        <p:spPr>
          <a:xfrm>
            <a:off x="118353" y="136525"/>
            <a:ext cx="10515600" cy="730157"/>
          </a:xfrm>
        </p:spPr>
        <p:txBody>
          <a:bodyPr>
            <a:normAutofit/>
          </a:bodyPr>
          <a:lstStyle/>
          <a:p>
            <a:r>
              <a:rPr lang="en-US" sz="3600" dirty="0">
                <a:latin typeface="Arial" panose="020B0604020202020204" pitchFamily="34" charset="0"/>
                <a:cs typeface="Arial" panose="020B0604020202020204" pitchFamily="34" charset="0"/>
              </a:rPr>
              <a:t>Quadratic Terms </a:t>
            </a:r>
          </a:p>
        </p:txBody>
      </p:sp>
      <p:pic>
        <p:nvPicPr>
          <p:cNvPr id="1028" name="Picture 4" descr="Scatter plots with best-fitting fitted regressions. (a) Fitted quadratic regression line for RTs of Exp 2. against the relatedness rating scores of Exp 1. (b) Scatter plot and fitted linear regression line for N400 amplitude of Exp 2. against relatedness rating scores of Exp 1. ">
            <a:extLst>
              <a:ext uri="{FF2B5EF4-FFF2-40B4-BE49-F238E27FC236}">
                <a16:creationId xmlns:a16="http://schemas.microsoft.com/office/drawing/2014/main" id="{A1F7BF75-D1A8-B840-B5E5-C89E3A9B4F5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000"/>
          <a:stretch/>
        </p:blipFill>
        <p:spPr bwMode="auto">
          <a:xfrm>
            <a:off x="2381904" y="1817778"/>
            <a:ext cx="2698750" cy="21971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Scatter plots with best-fitting fitted regressions. (a) Fitted quadratic regression line for RTs of Exp 2. against the relatedness rating scores of Exp 1. (b) Scatter plot and fitted linear regression line for N400 amplitude of Exp 2. against relatedness rating scores of Exp 1. ">
            <a:extLst>
              <a:ext uri="{FF2B5EF4-FFF2-40B4-BE49-F238E27FC236}">
                <a16:creationId xmlns:a16="http://schemas.microsoft.com/office/drawing/2014/main" id="{7766C78D-50AF-BA48-9CB2-681B6083102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606"/>
          <a:stretch/>
        </p:blipFill>
        <p:spPr bwMode="auto">
          <a:xfrm>
            <a:off x="7499179" y="1817778"/>
            <a:ext cx="2827959" cy="21971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5CE61205-83E4-0D46-918E-9902ECD11A96}"/>
              </a:ext>
            </a:extLst>
          </p:cNvPr>
          <p:cNvSpPr txBox="1"/>
          <p:nvPr/>
        </p:nvSpPr>
        <p:spPr>
          <a:xfrm>
            <a:off x="483534" y="2198096"/>
            <a:ext cx="2188865" cy="1200329"/>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libri" panose="020F0502020204030204"/>
                <a:ea typeface="+mn-ea"/>
                <a:cs typeface="+mn-cs"/>
              </a:rPr>
              <a:t>(Barely) Linear Scatterplot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libri" panose="020F0502020204030204"/>
                <a:ea typeface="+mn-ea"/>
                <a:cs typeface="+mn-cs"/>
              </a:rPr>
              <a:t>Rel.</a:t>
            </a:r>
          </a:p>
        </p:txBody>
      </p:sp>
      <p:sp>
        <p:nvSpPr>
          <p:cNvPr id="14" name="TextBox 13">
            <a:extLst>
              <a:ext uri="{FF2B5EF4-FFF2-40B4-BE49-F238E27FC236}">
                <a16:creationId xmlns:a16="http://schemas.microsoft.com/office/drawing/2014/main" id="{EC3F2BD5-26BF-4E4B-9AD6-96BAC3A9227D}"/>
              </a:ext>
            </a:extLst>
          </p:cNvPr>
          <p:cNvSpPr txBox="1"/>
          <p:nvPr/>
        </p:nvSpPr>
        <p:spPr>
          <a:xfrm>
            <a:off x="5534908" y="2188036"/>
            <a:ext cx="2126248" cy="1200329"/>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libri" panose="020F0502020204030204"/>
                <a:ea typeface="+mn-ea"/>
                <a:cs typeface="+mn-cs"/>
              </a:rPr>
              <a:t>Nonlinear Scatterplot Rel.</a:t>
            </a:r>
          </a:p>
        </p:txBody>
      </p:sp>
    </p:spTree>
    <p:extLst>
      <p:ext uri="{BB962C8B-B14F-4D97-AF65-F5344CB8AC3E}">
        <p14:creationId xmlns:p14="http://schemas.microsoft.com/office/powerpoint/2010/main" val="10572095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6992" y="220778"/>
            <a:ext cx="10515600" cy="697064"/>
          </a:xfrm>
        </p:spPr>
        <p:txBody>
          <a:bodyPr>
            <a:normAutofit/>
          </a:bodyPr>
          <a:lstStyle/>
          <a:p>
            <a:r>
              <a:rPr lang="en-US" sz="3600" dirty="0">
                <a:latin typeface="Arial" panose="020B0604020202020204" pitchFamily="34" charset="0"/>
                <a:cs typeface="Arial" panose="020B0604020202020204" pitchFamily="34" charset="0"/>
              </a:rPr>
              <a:t>Quadratic Terms </a:t>
            </a:r>
          </a:p>
        </p:txBody>
      </p:sp>
      <p:sp>
        <p:nvSpPr>
          <p:cNvPr id="3" name="Content Placeholder 2"/>
          <p:cNvSpPr>
            <a:spLocks noGrp="1"/>
          </p:cNvSpPr>
          <p:nvPr>
            <p:ph idx="1"/>
          </p:nvPr>
        </p:nvSpPr>
        <p:spPr>
          <a:xfrm>
            <a:off x="312906" y="846083"/>
            <a:ext cx="10515600" cy="4461777"/>
          </a:xfrm>
        </p:spPr>
        <p:txBody>
          <a:bodyPr>
            <a:normAutofit/>
          </a:bodyPr>
          <a:lstStyle/>
          <a:p>
            <a:r>
              <a:rPr lang="en-US" sz="2000" dirty="0">
                <a:latin typeface="Arial" panose="020B0604020202020204" pitchFamily="34" charset="0"/>
                <a:cs typeface="Arial" panose="020B0604020202020204" pitchFamily="34" charset="0"/>
              </a:rPr>
              <a:t>A quadratic term is an interaction of a variable with itself, sometimes we suspect these relationships even without seeing the scatter plot.</a:t>
            </a:r>
          </a:p>
          <a:p>
            <a:pPr lvl="1"/>
            <a:r>
              <a:rPr lang="en-US" sz="2000" u="sng"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Modeling the effect of increasing the distance from Pitt on sat score might also be dependent on the current distance from Pitt, thus requiring a quadratic term</a:t>
            </a:r>
          </a:p>
          <a:p>
            <a:pPr lvl="1"/>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Warning</a:t>
            </a:r>
            <a:r>
              <a:rPr lang="en-US" sz="2000" dirty="0">
                <a:latin typeface="Arial" panose="020B0604020202020204" pitchFamily="34" charset="0"/>
                <a:cs typeface="Arial" panose="020B0604020202020204" pitchFamily="34" charset="0"/>
              </a:rPr>
              <a:t>: Adding quadratic terms increases the number of variables in your model like anything else, and thus hurts the models R</a:t>
            </a:r>
            <a:r>
              <a:rPr lang="en-US" sz="2000" baseline="30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unless this relationship is strongly present</a:t>
            </a:r>
          </a:p>
          <a:p>
            <a:pPr lvl="1"/>
            <a:r>
              <a:rPr lang="en-US" sz="2000" dirty="0">
                <a:latin typeface="Arial" panose="020B0604020202020204" pitchFamily="34" charset="0"/>
                <a:cs typeface="Arial" panose="020B0604020202020204" pitchFamily="34" charset="0"/>
              </a:rPr>
              <a:t>It’s also an easy way to overfit your data, can lead to bizarre predictions!</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715638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3574" y="117069"/>
            <a:ext cx="10515600" cy="721573"/>
          </a:xfrm>
        </p:spPr>
        <p:txBody>
          <a:bodyPr>
            <a:normAutofit/>
          </a:bodyPr>
          <a:lstStyle/>
          <a:p>
            <a:r>
              <a:rPr lang="en-US" sz="3600" dirty="0">
                <a:latin typeface="Arial" panose="020B0604020202020204" pitchFamily="34" charset="0"/>
                <a:cs typeface="Arial" panose="020B0604020202020204" pitchFamily="34" charset="0"/>
              </a:rPr>
              <a:t>Interaction Terms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03179" y="836180"/>
                <a:ext cx="10515600" cy="5152582"/>
              </a:xfrm>
            </p:spPr>
            <p:txBody>
              <a:bodyPr>
                <a:normAutofit/>
              </a:bodyPr>
              <a:lstStyle/>
              <a:p>
                <a:pPr>
                  <a:lnSpc>
                    <a:spcPct val="100000"/>
                  </a:lnSpc>
                </a:pPr>
                <a:r>
                  <a:rPr lang="en-US" sz="2000" dirty="0">
                    <a:latin typeface="Arial" panose="020B0604020202020204" pitchFamily="34" charset="0"/>
                    <a:cs typeface="Arial" panose="020B0604020202020204" pitchFamily="34" charset="0"/>
                  </a:rPr>
                  <a:t>More generally than just quadratic terms, sometimes the the effect of one variable depends on the value of another variable</a:t>
                </a:r>
              </a:p>
              <a:p>
                <a:pPr lvl="1">
                  <a:lnSpc>
                    <a:spcPct val="100000"/>
                  </a:lnSpc>
                </a:pPr>
                <a:r>
                  <a:rPr lang="en-US" sz="1800" dirty="0">
                    <a:latin typeface="Arial" panose="020B0604020202020204" pitchFamily="34" charset="0"/>
                    <a:cs typeface="Arial" panose="020B0604020202020204" pitchFamily="34" charset="0"/>
                  </a:rPr>
                  <a:t>Can include interactions of 2 or more variables</a:t>
                </a:r>
              </a:p>
              <a:p>
                <a:pPr lvl="1">
                  <a:lnSpc>
                    <a:spcPct val="100000"/>
                  </a:lnSpc>
                </a:pPr>
                <a:r>
                  <a:rPr lang="en-US" sz="1800" dirty="0">
                    <a:latin typeface="Arial" panose="020B0604020202020204" pitchFamily="34" charset="0"/>
                    <a:cs typeface="Arial" panose="020B0604020202020204" pitchFamily="34" charset="0"/>
                  </a:rPr>
                  <a:t>Usually one continuous and one categorical variable (but not always)</a:t>
                </a:r>
              </a:p>
              <a:p>
                <a:pPr lvl="1">
                  <a:lnSpc>
                    <a:spcPct val="100000"/>
                  </a:lnSpc>
                </a:pPr>
                <a:r>
                  <a:rPr lang="en-US" sz="1800" dirty="0">
                    <a:solidFill>
                      <a:srgbClr val="000000"/>
                    </a:solidFill>
                    <a:latin typeface="Arial" panose="020B0604020202020204" pitchFamily="34" charset="0"/>
                    <a:cs typeface="Arial" panose="020B0604020202020204" pitchFamily="34" charset="0"/>
                  </a:rPr>
                  <a:t>Model is of the form: </a:t>
                </a:r>
                <a14:m>
                  <m:oMath xmlns:m="http://schemas.openxmlformats.org/officeDocument/2006/math">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𝑦</m:t>
                        </m:r>
                      </m:e>
                    </m:acc>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𝑥</m:t>
                    </m:r>
                    <m:r>
                      <a:rPr lang="en-US" sz="1800" b="0" i="1" baseline="-25000" smtClean="0">
                        <a:solidFill>
                          <a:srgbClr val="000000"/>
                        </a:solidFill>
                        <a:latin typeface="Cambria Math" panose="02040503050406030204" pitchFamily="18" charset="0"/>
                      </a:rPr>
                      <m:t>1</m:t>
                    </m:r>
                    <m:r>
                      <a:rPr lang="en-US" sz="1800" i="1">
                        <a:solidFill>
                          <a:srgbClr val="000000"/>
                        </a:solidFill>
                        <a:latin typeface="Cambria Math"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charset="0"/>
                          </a:rPr>
                          <m:t>2</m:t>
                        </m:r>
                      </m:sub>
                    </m:sSub>
                    <m:r>
                      <a:rPr lang="en-US" sz="1800" b="0" i="1" smtClean="0">
                        <a:solidFill>
                          <a:srgbClr val="000000"/>
                        </a:solidFill>
                        <a:latin typeface="Cambria Math" panose="02040503050406030204" pitchFamily="18" charset="0"/>
                      </a:rPr>
                      <m:t>𝑥</m:t>
                    </m:r>
                    <m:r>
                      <a:rPr lang="en-US" sz="1800" b="0" i="1" baseline="-25000" smtClean="0">
                        <a:solidFill>
                          <a:srgbClr val="000000"/>
                        </a:solidFill>
                        <a:latin typeface="Cambria Math" panose="02040503050406030204" pitchFamily="18" charset="0"/>
                      </a:rPr>
                      <m:t>2</m:t>
                    </m:r>
                    <m:r>
                      <a:rPr lang="en-US" sz="1800" i="1">
                        <a:solidFill>
                          <a:srgbClr val="000000"/>
                        </a:solidFill>
                        <a:latin typeface="Cambria Math"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charset="0"/>
                          </a:rPr>
                          <m:t>3</m:t>
                        </m:r>
                      </m:sub>
                    </m:sSub>
                    <m:r>
                      <a:rPr lang="en-US" sz="1800" i="1">
                        <a:solidFill>
                          <a:srgbClr val="000000"/>
                        </a:solidFill>
                        <a:latin typeface="Cambria Math" charset="0"/>
                      </a:rPr>
                      <m:t>𝑥</m:t>
                    </m:r>
                    <m:r>
                      <a:rPr lang="en-US" sz="1800" b="0" i="1" baseline="-25000" smtClean="0">
                        <a:solidFill>
                          <a:srgbClr val="000000"/>
                        </a:solidFill>
                        <a:latin typeface="Cambria Math" panose="02040503050406030204" pitchFamily="18" charset="0"/>
                      </a:rPr>
                      <m:t>1</m:t>
                    </m:r>
                    <m:r>
                      <a:rPr lang="en-US" sz="1800" b="0" i="1" smtClean="0">
                        <a:solidFill>
                          <a:srgbClr val="000000"/>
                        </a:solidFill>
                        <a:latin typeface="Cambria Math" panose="02040503050406030204" pitchFamily="18" charset="0"/>
                      </a:rPr>
                      <m:t>𝑥</m:t>
                    </m:r>
                    <m:r>
                      <a:rPr lang="en-US" sz="1800" b="0" i="1" baseline="-25000" smtClean="0">
                        <a:solidFill>
                          <a:srgbClr val="000000"/>
                        </a:solidFill>
                        <a:latin typeface="Cambria Math" panose="02040503050406030204" pitchFamily="18" charset="0"/>
                      </a:rPr>
                      <m:t>2</m:t>
                    </m:r>
                  </m:oMath>
                </a14:m>
                <a:endParaRPr lang="en-US" sz="1800" dirty="0">
                  <a:latin typeface="Arial" panose="020B0604020202020204" pitchFamily="34" charset="0"/>
                  <a:cs typeface="Arial" panose="020B0604020202020204" pitchFamily="34" charset="0"/>
                </a:endParaRPr>
              </a:p>
              <a:p>
                <a:pPr>
                  <a:lnSpc>
                    <a:spcPct val="100000"/>
                  </a:lnSpc>
                </a:pPr>
                <a:r>
                  <a:rPr lang="en-US" sz="2000" dirty="0">
                    <a:latin typeface="Arial" panose="020B0604020202020204" pitchFamily="34" charset="0"/>
                    <a:cs typeface="Arial" panose="020B0604020202020204" pitchFamily="34" charset="0"/>
                  </a:rPr>
                  <a:t>Note these sorts of interactions are </a:t>
                </a:r>
                <a:r>
                  <a:rPr lang="en-US" sz="2000" i="1" dirty="0">
                    <a:latin typeface="Arial" panose="020B0604020202020204" pitchFamily="34" charset="0"/>
                    <a:cs typeface="Arial" panose="020B0604020202020204" pitchFamily="34" charset="0"/>
                  </a:rPr>
                  <a:t>hard to pick up from scatterplots</a:t>
                </a:r>
                <a:r>
                  <a:rPr lang="en-US" sz="2000" dirty="0">
                    <a:latin typeface="Arial" panose="020B0604020202020204" pitchFamily="34" charset="0"/>
                    <a:cs typeface="Arial" panose="020B0604020202020204" pitchFamily="34" charset="0"/>
                  </a:rPr>
                  <a:t>. In this class, they will come most often from data specific knowledge</a:t>
                </a:r>
              </a:p>
              <a:p>
                <a:pPr>
                  <a:lnSpc>
                    <a:spcPct val="100000"/>
                  </a:lnSpc>
                </a:pPr>
                <a:r>
                  <a:rPr lang="en-US" sz="2000" dirty="0">
                    <a:latin typeface="Arial" panose="020B0604020202020204" pitchFamily="34" charset="0"/>
                    <a:cs typeface="Arial" panose="020B0604020202020204" pitchFamily="34" charset="0"/>
                  </a:rPr>
                  <a:t>Natural Interpretation when interactions include categorical variables!</a:t>
                </a:r>
              </a:p>
              <a:p>
                <a:pPr lvl="1">
                  <a:lnSpc>
                    <a:spcPct val="100000"/>
                  </a:lnSpc>
                </a:pPr>
                <a:r>
                  <a:rPr lang="en-US" sz="1800" dirty="0">
                    <a:latin typeface="Arial" panose="020B0604020202020204" pitchFamily="34" charset="0"/>
                    <a:cs typeface="Arial" panose="020B0604020202020204" pitchFamily="34" charset="0"/>
                  </a:rPr>
                  <a:t>Variables of the form x</a:t>
                </a:r>
                <a:r>
                  <a:rPr lang="en-US" sz="1800" baseline="-25000" dirty="0">
                    <a:latin typeface="Arial" panose="020B0604020202020204" pitchFamily="34" charset="0"/>
                    <a:cs typeface="Arial" panose="020B0604020202020204" pitchFamily="34" charset="0"/>
                  </a:rPr>
                  <a:t>1</a:t>
                </a:r>
                <a:r>
                  <a:rPr lang="en-US" sz="1800" dirty="0">
                    <a:latin typeface="Arial" panose="020B0604020202020204" pitchFamily="34" charset="0"/>
                    <a:cs typeface="Arial" panose="020B0604020202020204" pitchFamily="34" charset="0"/>
                  </a:rPr>
                  <a:t>x</a:t>
                </a:r>
                <a:r>
                  <a:rPr lang="en-US" sz="1800" baseline="-25000" dirty="0">
                    <a:latin typeface="Arial" panose="020B0604020202020204" pitchFamily="34" charset="0"/>
                    <a:cs typeface="Arial" panose="020B0604020202020204" pitchFamily="34" charset="0"/>
                  </a:rPr>
                  <a:t>2</a:t>
                </a:r>
                <a:r>
                  <a:rPr lang="en-US" sz="1800" dirty="0">
                    <a:latin typeface="Arial" panose="020B0604020202020204" pitchFamily="34" charset="0"/>
                    <a:cs typeface="Arial" panose="020B0604020202020204" pitchFamily="34" charset="0"/>
                  </a:rPr>
                  <a:t> where x</a:t>
                </a:r>
                <a:r>
                  <a:rPr lang="en-US" sz="1800" baseline="-25000" dirty="0">
                    <a:latin typeface="Arial" panose="020B0604020202020204" pitchFamily="34" charset="0"/>
                    <a:cs typeface="Arial" panose="020B0604020202020204" pitchFamily="34" charset="0"/>
                  </a:rPr>
                  <a:t>1</a:t>
                </a:r>
                <a:r>
                  <a:rPr lang="en-US" sz="1800" dirty="0">
                    <a:latin typeface="Arial" panose="020B0604020202020204" pitchFamily="34" charset="0"/>
                    <a:cs typeface="Arial" panose="020B0604020202020204" pitchFamily="34" charset="0"/>
                  </a:rPr>
                  <a:t> is binary and x</a:t>
                </a:r>
                <a:r>
                  <a:rPr lang="en-US" sz="1800" baseline="-25000" dirty="0">
                    <a:latin typeface="Arial" panose="020B0604020202020204" pitchFamily="34" charset="0"/>
                    <a:cs typeface="Arial" panose="020B0604020202020204" pitchFamily="34" charset="0"/>
                  </a:rPr>
                  <a:t>2</a:t>
                </a:r>
                <a:r>
                  <a:rPr lang="en-US" sz="1800" dirty="0">
                    <a:latin typeface="Arial" panose="020B0604020202020204" pitchFamily="34" charset="0"/>
                    <a:cs typeface="Arial" panose="020B0604020202020204" pitchFamily="34" charset="0"/>
                  </a:rPr>
                  <a:t> is numeric, model </a:t>
                </a:r>
                <a:r>
                  <a:rPr lang="en-US" sz="1800" u="sng" dirty="0">
                    <a:latin typeface="Arial" panose="020B0604020202020204" pitchFamily="34" charset="0"/>
                    <a:cs typeface="Arial" panose="020B0604020202020204" pitchFamily="34" charset="0"/>
                  </a:rPr>
                  <a:t>linear corrections</a:t>
                </a:r>
                <a:r>
                  <a:rPr lang="en-US" sz="1800" dirty="0">
                    <a:latin typeface="Arial" panose="020B0604020202020204" pitchFamily="34" charset="0"/>
                    <a:cs typeface="Arial" panose="020B0604020202020204" pitchFamily="34" charset="0"/>
                  </a:rPr>
                  <a:t> as opposed to additive corrections. That is they are corrections to the slope of the coefficient on the numeric variable.</a:t>
                </a:r>
              </a:p>
              <a:p>
                <a:pPr lvl="1">
                  <a:lnSpc>
                    <a:spcPct val="100000"/>
                  </a:lnSpc>
                </a:pPr>
                <a:r>
                  <a:rPr lang="en-US" sz="1800" u="sng" dirty="0">
                    <a:latin typeface="Arial" panose="020B0604020202020204" pitchFamily="34" charset="0"/>
                    <a:cs typeface="Arial" panose="020B0604020202020204" pitchFamily="34" charset="0"/>
                  </a:rPr>
                  <a:t>Example</a:t>
                </a:r>
                <a:r>
                  <a:rPr lang="en-US" sz="1800" dirty="0">
                    <a:latin typeface="Arial" panose="020B0604020202020204" pitchFamily="34" charset="0"/>
                    <a:cs typeface="Arial" panose="020B0604020202020204" pitchFamily="34" charset="0"/>
                  </a:rPr>
                  <a:t>: in the school data, the relationship between GRE score and GPA may depend in a </a:t>
                </a:r>
                <a:r>
                  <a:rPr lang="en-US" sz="1800" i="1" dirty="0">
                    <a:latin typeface="Arial" panose="020B0604020202020204" pitchFamily="34" charset="0"/>
                    <a:cs typeface="Arial" panose="020B0604020202020204" pitchFamily="34" charset="0"/>
                  </a:rPr>
                  <a:t>different linear </a:t>
                </a:r>
                <a:r>
                  <a:rPr lang="en-US" sz="1800" dirty="0">
                    <a:latin typeface="Arial" panose="020B0604020202020204" pitchFamily="34" charset="0"/>
                    <a:cs typeface="Arial" panose="020B0604020202020204" pitchFamily="34" charset="0"/>
                  </a:rPr>
                  <a:t>way conditional on the race and gender of the student. That is </a:t>
                </a:r>
                <a:r>
                  <a:rPr lang="en-US" sz="1800" b="1" dirty="0">
                    <a:latin typeface="Arial" panose="020B0604020202020204" pitchFamily="34" charset="0"/>
                    <a:cs typeface="Arial" panose="020B0604020202020204" pitchFamily="34" charset="0"/>
                  </a:rPr>
                  <a:t>the relationship (perhaps the strength or the direction) between GRE and GPA may change conditional on the race and gender of the student.</a:t>
                </a:r>
                <a:endParaRPr lang="en-US" sz="1800" dirty="0">
                  <a:latin typeface="Arial" panose="020B0604020202020204" pitchFamily="34" charset="0"/>
                  <a:cs typeface="Arial" panose="020B0604020202020204" pitchFamily="34" charset="0"/>
                </a:endParaRPr>
              </a:p>
              <a:p>
                <a:pPr lvl="1"/>
                <a:endParaRPr lang="en-US" sz="2000" dirty="0">
                  <a:latin typeface="Arial" panose="020B0604020202020204" pitchFamily="34" charset="0"/>
                  <a:cs typeface="Arial" panose="020B0604020202020204" pitchFamily="34" charset="0"/>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03179" y="836180"/>
                <a:ext cx="10515600" cy="5152582"/>
              </a:xfrm>
              <a:blipFill>
                <a:blip r:embed="rId3"/>
                <a:stretch>
                  <a:fillRect l="-522" t="-473"/>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277896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1D9C0-20CD-48F7-DFFD-BE627EA12D7E}"/>
              </a:ext>
            </a:extLst>
          </p:cNvPr>
          <p:cNvSpPr>
            <a:spLocks noGrp="1"/>
          </p:cNvSpPr>
          <p:nvPr>
            <p:ph type="title"/>
          </p:nvPr>
        </p:nvSpPr>
        <p:spPr>
          <a:xfrm>
            <a:off x="176719" y="231301"/>
            <a:ext cx="10515600" cy="899471"/>
          </a:xfrm>
        </p:spPr>
        <p:txBody>
          <a:bodyPr>
            <a:normAutofit fontScale="90000"/>
          </a:bodyPr>
          <a:lstStyle/>
          <a:p>
            <a:r>
              <a:rPr lang="en-US" dirty="0">
                <a:latin typeface="Aptos Display (Headings)"/>
              </a:rPr>
              <a:t>Central Limit Theorem (CLT) &amp; the Law of Large Numbers (LLN)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68A7A3D-999D-954A-C276-0BF7BA4F6FEF}"/>
                  </a:ext>
                </a:extLst>
              </p:cNvPr>
              <p:cNvSpPr>
                <a:spLocks noGrp="1"/>
              </p:cNvSpPr>
              <p:nvPr>
                <p:ph idx="1"/>
              </p:nvPr>
            </p:nvSpPr>
            <p:spPr>
              <a:xfrm>
                <a:off x="390728" y="1471240"/>
                <a:ext cx="10515600" cy="4351338"/>
              </a:xfrm>
            </p:spPr>
            <p:txBody>
              <a:bodyPr>
                <a:normAutofit fontScale="92500" lnSpcReduction="20000"/>
              </a:bodyPr>
              <a:lstStyle/>
              <a:p>
                <a:pPr>
                  <a:lnSpc>
                    <a:spcPct val="110000"/>
                  </a:lnSpc>
                </a:pPr>
                <a:r>
                  <a:rPr lang="en-US" sz="2200" dirty="0">
                    <a:latin typeface="Arial" panose="020B0604020202020204" pitchFamily="34" charset="0"/>
                    <a:cs typeface="Arial" panose="020B0604020202020204" pitchFamily="34" charset="0"/>
                  </a:rPr>
                  <a:t>The</a:t>
                </a:r>
                <a:r>
                  <a:rPr lang="en-US" sz="2200" spc="-20" dirty="0">
                    <a:latin typeface="Arial" panose="020B0604020202020204" pitchFamily="34" charset="0"/>
                    <a:cs typeface="Arial" panose="020B0604020202020204" pitchFamily="34" charset="0"/>
                  </a:rPr>
                  <a:t> CLT states that the </a:t>
                </a:r>
                <a:r>
                  <a:rPr lang="en-US" sz="2200" b="1" dirty="0">
                    <a:latin typeface="Arial" panose="020B0604020202020204" pitchFamily="34" charset="0"/>
                    <a:cs typeface="Arial" panose="020B0604020202020204" pitchFamily="34" charset="0"/>
                  </a:rPr>
                  <a:t>sampling</a:t>
                </a:r>
                <a:r>
                  <a:rPr lang="en-US" sz="2200" b="1" spc="-15" dirty="0">
                    <a:latin typeface="Arial" panose="020B0604020202020204" pitchFamily="34" charset="0"/>
                    <a:cs typeface="Arial" panose="020B0604020202020204" pitchFamily="34" charset="0"/>
                  </a:rPr>
                  <a:t> </a:t>
                </a:r>
                <a:r>
                  <a:rPr lang="en-US" sz="2200" b="1" spc="-10" dirty="0">
                    <a:latin typeface="Arial" panose="020B0604020202020204" pitchFamily="34" charset="0"/>
                    <a:cs typeface="Arial" panose="020B0604020202020204" pitchFamily="34" charset="0"/>
                  </a:rPr>
                  <a:t>distribution</a:t>
                </a:r>
                <a:r>
                  <a:rPr lang="en-US" sz="2200" b="1" spc="-15"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of</a:t>
                </a:r>
                <a:r>
                  <a:rPr lang="en-US" sz="2200" spc="-15" dirty="0">
                    <a:latin typeface="Arial" panose="020B0604020202020204" pitchFamily="34" charset="0"/>
                    <a:cs typeface="Arial" panose="020B0604020202020204" pitchFamily="34" charset="0"/>
                  </a:rPr>
                  <a:t> </a:t>
                </a:r>
                <a14:m>
                  <m:oMath xmlns:m="http://schemas.openxmlformats.org/officeDocument/2006/math">
                    <m:sSub>
                      <m:sSubPr>
                        <m:ctrlPr>
                          <a:rPr lang="en-US" sz="2200" i="1" spc="-15" smtClean="0">
                            <a:latin typeface="Cambria Math" panose="02040503050406030204" pitchFamily="18" charset="0"/>
                            <a:cs typeface="Arial"/>
                          </a:rPr>
                        </m:ctrlPr>
                      </m:sSubPr>
                      <m:e>
                        <m:acc>
                          <m:accPr>
                            <m:chr m:val="̅"/>
                            <m:ctrlPr>
                              <a:rPr lang="en-US" sz="2200" i="1" spc="-15" smtClean="0">
                                <a:latin typeface="Cambria Math" panose="02040503050406030204" pitchFamily="18" charset="0"/>
                                <a:cs typeface="Arial"/>
                              </a:rPr>
                            </m:ctrlPr>
                          </m:accPr>
                          <m:e>
                            <m:r>
                              <a:rPr lang="en-US" sz="2200" b="0" i="1" spc="-15" smtClean="0">
                                <a:latin typeface="Cambria Math" panose="02040503050406030204" pitchFamily="18" charset="0"/>
                                <a:cs typeface="Arial"/>
                              </a:rPr>
                              <m:t>𝑋</m:t>
                            </m:r>
                          </m:e>
                        </m:acc>
                      </m:e>
                      <m:sub>
                        <m:r>
                          <a:rPr lang="en-US" sz="2200" b="0" i="1" spc="-15" smtClean="0">
                            <a:latin typeface="Cambria Math" panose="02040503050406030204" pitchFamily="18" charset="0"/>
                            <a:cs typeface="Arial"/>
                          </a:rPr>
                          <m:t>𝑛</m:t>
                        </m:r>
                      </m:sub>
                    </m:sSub>
                  </m:oMath>
                </a14:m>
                <a:r>
                  <a:rPr lang="en-US" sz="2200" i="1" spc="202" baseline="-11904"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will</a:t>
                </a:r>
                <a:r>
                  <a:rPr lang="en-US" sz="2200" spc="-15"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become</a:t>
                </a:r>
                <a:r>
                  <a:rPr lang="en-US" sz="2200" spc="-15" dirty="0">
                    <a:latin typeface="Arial" panose="020B0604020202020204" pitchFamily="34" charset="0"/>
                    <a:cs typeface="Arial" panose="020B0604020202020204" pitchFamily="34" charset="0"/>
                  </a:rPr>
                  <a:t> </a:t>
                </a:r>
                <a:r>
                  <a:rPr lang="en-US" sz="2200" u="sng" spc="-10" dirty="0">
                    <a:latin typeface="Arial" panose="020B0604020202020204" pitchFamily="34" charset="0"/>
                    <a:cs typeface="Arial" panose="020B0604020202020204" pitchFamily="34" charset="0"/>
                  </a:rPr>
                  <a:t>approximately</a:t>
                </a:r>
                <a:r>
                  <a:rPr lang="en-US" sz="2200" spc="-10" dirty="0">
                    <a:latin typeface="Arial" panose="020B0604020202020204" pitchFamily="34" charset="0"/>
                    <a:cs typeface="Arial" panose="020B0604020202020204" pitchFamily="34" charset="0"/>
                  </a:rPr>
                  <a:t> </a:t>
                </a:r>
                <a:r>
                  <a:rPr lang="en-US" sz="2200" dirty="0">
                    <a:solidFill>
                      <a:srgbClr val="FF0000"/>
                    </a:solidFill>
                    <a:latin typeface="Arial" panose="020B0604020202020204" pitchFamily="34" charset="0"/>
                    <a:cs typeface="Arial" panose="020B0604020202020204" pitchFamily="34" charset="0"/>
                  </a:rPr>
                  <a:t>normally</a:t>
                </a:r>
                <a:r>
                  <a:rPr lang="en-US" sz="2200" spc="-20" dirty="0">
                    <a:solidFill>
                      <a:srgbClr val="FF0000"/>
                    </a:solidFill>
                    <a:latin typeface="Arial" panose="020B0604020202020204" pitchFamily="34" charset="0"/>
                    <a:cs typeface="Arial" panose="020B0604020202020204" pitchFamily="34" charset="0"/>
                  </a:rPr>
                  <a:t> </a:t>
                </a:r>
                <a:r>
                  <a:rPr lang="en-US" sz="2200" spc="-10" dirty="0">
                    <a:solidFill>
                      <a:srgbClr val="FF0000"/>
                    </a:solidFill>
                    <a:latin typeface="Arial" panose="020B0604020202020204" pitchFamily="34" charset="0"/>
                    <a:cs typeface="Arial" panose="020B0604020202020204" pitchFamily="34" charset="0"/>
                  </a:rPr>
                  <a:t>distributed</a:t>
                </a:r>
                <a:r>
                  <a:rPr lang="en-US" sz="2200" b="1" spc="-20" dirty="0">
                    <a:solidFill>
                      <a:srgbClr val="0000FF"/>
                    </a:solidFill>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as</a:t>
                </a:r>
                <a:r>
                  <a:rPr lang="en-US" sz="2200" spc="-20" dirty="0">
                    <a:latin typeface="Arial" panose="020B0604020202020204" pitchFamily="34" charset="0"/>
                    <a:cs typeface="Arial" panose="020B0604020202020204" pitchFamily="34" charset="0"/>
                  </a:rPr>
                  <a:t> </a:t>
                </a:r>
                <a:r>
                  <a:rPr lang="en-US" sz="2200" dirty="0">
                    <a:latin typeface="Arial" panose="020B0604020202020204" pitchFamily="34" charset="0"/>
                    <a:cs typeface="Arial" panose="020B0604020202020204" pitchFamily="34" charset="0"/>
                  </a:rPr>
                  <a:t>the</a:t>
                </a:r>
                <a:r>
                  <a:rPr lang="en-US" sz="2200" spc="-20" dirty="0">
                    <a:latin typeface="Arial" panose="020B0604020202020204" pitchFamily="34" charset="0"/>
                    <a:cs typeface="Arial" panose="020B0604020202020204" pitchFamily="34" charset="0"/>
                  </a:rPr>
                  <a:t> </a:t>
                </a:r>
                <a:r>
                  <a:rPr lang="en-US" sz="2200" b="1" dirty="0">
                    <a:latin typeface="Arial" panose="020B0604020202020204" pitchFamily="34" charset="0"/>
                    <a:cs typeface="Arial" panose="020B0604020202020204" pitchFamily="34" charset="0"/>
                  </a:rPr>
                  <a:t>sample</a:t>
                </a:r>
                <a:r>
                  <a:rPr lang="en-US" sz="2200" b="1" spc="-20" dirty="0">
                    <a:latin typeface="Arial" panose="020B0604020202020204" pitchFamily="34" charset="0"/>
                    <a:cs typeface="Arial" panose="020B0604020202020204" pitchFamily="34" charset="0"/>
                  </a:rPr>
                  <a:t> </a:t>
                </a:r>
                <a:r>
                  <a:rPr lang="en-US" sz="2200" b="1" dirty="0">
                    <a:latin typeface="Arial" panose="020B0604020202020204" pitchFamily="34" charset="0"/>
                    <a:cs typeface="Arial" panose="020B0604020202020204" pitchFamily="34" charset="0"/>
                  </a:rPr>
                  <a:t>size</a:t>
                </a:r>
                <a:r>
                  <a:rPr lang="en-US" sz="2200" b="1" spc="-20" dirty="0">
                    <a:latin typeface="Arial" panose="020B0604020202020204" pitchFamily="34" charset="0"/>
                    <a:cs typeface="Arial" panose="020B0604020202020204" pitchFamily="34" charset="0"/>
                  </a:rPr>
                  <a:t> </a:t>
                </a:r>
                <a:r>
                  <a:rPr lang="en-US" sz="2200" b="1" dirty="0">
                    <a:latin typeface="Arial" panose="020B0604020202020204" pitchFamily="34" charset="0"/>
                    <a:cs typeface="Arial" panose="020B0604020202020204" pitchFamily="34" charset="0"/>
                  </a:rPr>
                  <a:t>(</a:t>
                </a:r>
                <a:r>
                  <a:rPr lang="en-US" sz="2200" i="1" dirty="0">
                    <a:latin typeface="Arial" panose="020B0604020202020204" pitchFamily="34" charset="0"/>
                    <a:cs typeface="Arial" panose="020B0604020202020204" pitchFamily="34" charset="0"/>
                  </a:rPr>
                  <a:t>n</a:t>
                </a:r>
                <a:r>
                  <a:rPr lang="en-US" sz="2200" b="1" dirty="0">
                    <a:latin typeface="Arial" panose="020B0604020202020204" pitchFamily="34" charset="0"/>
                    <a:cs typeface="Arial" panose="020B0604020202020204" pitchFamily="34" charset="0"/>
                  </a:rPr>
                  <a:t>)</a:t>
                </a:r>
                <a:r>
                  <a:rPr lang="en-US" sz="2200" b="1" spc="-20" dirty="0">
                    <a:latin typeface="Arial" panose="020B0604020202020204" pitchFamily="34" charset="0"/>
                    <a:cs typeface="Arial" panose="020B0604020202020204" pitchFamily="34" charset="0"/>
                  </a:rPr>
                  <a:t> </a:t>
                </a:r>
                <a:r>
                  <a:rPr lang="en-US" sz="2200" b="1" spc="-10" dirty="0">
                    <a:latin typeface="Arial" panose="020B0604020202020204" pitchFamily="34" charset="0"/>
                    <a:cs typeface="Arial" panose="020B0604020202020204" pitchFamily="34" charset="0"/>
                  </a:rPr>
                  <a:t>becomes </a:t>
                </a:r>
                <a:r>
                  <a:rPr lang="en-US" sz="2200" b="1" dirty="0">
                    <a:latin typeface="Arial" panose="020B0604020202020204" pitchFamily="34" charset="0"/>
                    <a:cs typeface="Arial" panose="020B0604020202020204" pitchFamily="34" charset="0"/>
                  </a:rPr>
                  <a:t>“large"</a:t>
                </a:r>
                <a:r>
                  <a:rPr lang="en-US" sz="2200" dirty="0">
                    <a:latin typeface="Arial" panose="020B0604020202020204" pitchFamily="34" charset="0"/>
                    <a:cs typeface="Arial" panose="020B0604020202020204" pitchFamily="34" charset="0"/>
                  </a:rPr>
                  <a:t>,</a:t>
                </a:r>
                <a:r>
                  <a:rPr lang="en-US" sz="2200" spc="-20" dirty="0">
                    <a:latin typeface="Arial" panose="020B0604020202020204" pitchFamily="34" charset="0"/>
                    <a:cs typeface="Arial" panose="020B0604020202020204" pitchFamily="34" charset="0"/>
                  </a:rPr>
                  <a:t> </a:t>
                </a:r>
                <a:r>
                  <a:rPr lang="en-US" sz="2200" spc="-10" dirty="0">
                    <a:solidFill>
                      <a:srgbClr val="FF0000"/>
                    </a:solidFill>
                    <a:latin typeface="Arial" panose="020B0604020202020204" pitchFamily="34" charset="0"/>
                    <a:cs typeface="Arial" panose="020B0604020202020204" pitchFamily="34" charset="0"/>
                  </a:rPr>
                  <a:t>regardless</a:t>
                </a:r>
                <a:r>
                  <a:rPr lang="en-US" sz="2200" spc="-20" dirty="0">
                    <a:solidFill>
                      <a:srgbClr val="FF0000"/>
                    </a:solidFill>
                    <a:latin typeface="Arial" panose="020B0604020202020204" pitchFamily="34" charset="0"/>
                    <a:cs typeface="Arial" panose="020B0604020202020204" pitchFamily="34" charset="0"/>
                  </a:rPr>
                  <a:t> </a:t>
                </a:r>
                <a:r>
                  <a:rPr lang="en-US" sz="2200" dirty="0">
                    <a:solidFill>
                      <a:srgbClr val="FF0000"/>
                    </a:solidFill>
                    <a:latin typeface="Arial" panose="020B0604020202020204" pitchFamily="34" charset="0"/>
                    <a:cs typeface="Arial" panose="020B0604020202020204" pitchFamily="34" charset="0"/>
                  </a:rPr>
                  <a:t>of</a:t>
                </a:r>
                <a:r>
                  <a:rPr lang="en-US" sz="2200" spc="-15" dirty="0">
                    <a:solidFill>
                      <a:srgbClr val="FF0000"/>
                    </a:solidFill>
                    <a:latin typeface="Arial" panose="020B0604020202020204" pitchFamily="34" charset="0"/>
                    <a:cs typeface="Arial" panose="020B0604020202020204" pitchFamily="34" charset="0"/>
                  </a:rPr>
                  <a:t> </a:t>
                </a:r>
                <a:r>
                  <a:rPr lang="en-US" sz="2200" dirty="0">
                    <a:solidFill>
                      <a:srgbClr val="FF0000"/>
                    </a:solidFill>
                    <a:latin typeface="Arial" panose="020B0604020202020204" pitchFamily="34" charset="0"/>
                    <a:cs typeface="Arial" panose="020B0604020202020204" pitchFamily="34" charset="0"/>
                  </a:rPr>
                  <a:t>the</a:t>
                </a:r>
                <a:r>
                  <a:rPr lang="en-US" sz="2200" spc="-20" dirty="0">
                    <a:solidFill>
                      <a:srgbClr val="FF0000"/>
                    </a:solidFill>
                    <a:latin typeface="Arial" panose="020B0604020202020204" pitchFamily="34" charset="0"/>
                    <a:cs typeface="Arial" panose="020B0604020202020204" pitchFamily="34" charset="0"/>
                  </a:rPr>
                  <a:t> </a:t>
                </a:r>
                <a:r>
                  <a:rPr lang="en-US" sz="2200" dirty="0">
                    <a:solidFill>
                      <a:srgbClr val="FF0000"/>
                    </a:solidFill>
                    <a:latin typeface="Arial" panose="020B0604020202020204" pitchFamily="34" charset="0"/>
                    <a:cs typeface="Arial" panose="020B0604020202020204" pitchFamily="34" charset="0"/>
                  </a:rPr>
                  <a:t>shape</a:t>
                </a:r>
                <a:r>
                  <a:rPr lang="en-US" sz="2200" spc="-15" dirty="0">
                    <a:solidFill>
                      <a:srgbClr val="FF0000"/>
                    </a:solidFill>
                    <a:latin typeface="Arial" panose="020B0604020202020204" pitchFamily="34" charset="0"/>
                    <a:cs typeface="Arial" panose="020B0604020202020204" pitchFamily="34" charset="0"/>
                  </a:rPr>
                  <a:t> </a:t>
                </a:r>
                <a:r>
                  <a:rPr lang="en-US" sz="2200" dirty="0">
                    <a:solidFill>
                      <a:srgbClr val="FF0000"/>
                    </a:solidFill>
                    <a:latin typeface="Arial" panose="020B0604020202020204" pitchFamily="34" charset="0"/>
                    <a:cs typeface="Arial" panose="020B0604020202020204" pitchFamily="34" charset="0"/>
                  </a:rPr>
                  <a:t>of</a:t>
                </a:r>
                <a:r>
                  <a:rPr lang="en-US" sz="2200" spc="-20" dirty="0">
                    <a:solidFill>
                      <a:srgbClr val="FF0000"/>
                    </a:solidFill>
                    <a:latin typeface="Arial" panose="020B0604020202020204" pitchFamily="34" charset="0"/>
                    <a:cs typeface="Arial" panose="020B0604020202020204" pitchFamily="34" charset="0"/>
                  </a:rPr>
                  <a:t> </a:t>
                </a:r>
                <a:r>
                  <a:rPr lang="en-US" sz="2200" dirty="0">
                    <a:solidFill>
                      <a:srgbClr val="FF0000"/>
                    </a:solidFill>
                    <a:latin typeface="Arial" panose="020B0604020202020204" pitchFamily="34" charset="0"/>
                    <a:cs typeface="Arial" panose="020B0604020202020204" pitchFamily="34" charset="0"/>
                  </a:rPr>
                  <a:t>the</a:t>
                </a:r>
                <a:r>
                  <a:rPr lang="en-US" sz="2200" spc="-15" dirty="0">
                    <a:solidFill>
                      <a:srgbClr val="FF0000"/>
                    </a:solidFill>
                    <a:latin typeface="Arial" panose="020B0604020202020204" pitchFamily="34" charset="0"/>
                    <a:cs typeface="Arial" panose="020B0604020202020204" pitchFamily="34" charset="0"/>
                  </a:rPr>
                  <a:t> </a:t>
                </a:r>
                <a:r>
                  <a:rPr lang="en-US" sz="2200" spc="-10" dirty="0">
                    <a:solidFill>
                      <a:srgbClr val="FF0000"/>
                    </a:solidFill>
                    <a:latin typeface="Arial" panose="020B0604020202020204" pitchFamily="34" charset="0"/>
                    <a:cs typeface="Arial" panose="020B0604020202020204" pitchFamily="34" charset="0"/>
                  </a:rPr>
                  <a:t>population distribution!</a:t>
                </a:r>
              </a:p>
              <a:p>
                <a:pPr marL="457200" lvl="1" indent="0">
                  <a:buNone/>
                </a:pPr>
                <a:r>
                  <a:rPr lang="en-US" sz="1900" dirty="0">
                    <a:latin typeface="Arial" panose="020B0604020202020204" pitchFamily="34" charset="0"/>
                    <a:cs typeface="Arial" panose="020B0604020202020204" pitchFamily="34" charset="0"/>
                  </a:rPr>
                  <a:t>Formally, if </a:t>
                </a:r>
                <a:r>
                  <a:rPr lang="en-US" sz="1900" i="1" dirty="0">
                    <a:latin typeface="Arial" panose="020B0604020202020204" pitchFamily="34" charset="0"/>
                    <a:cs typeface="Arial" panose="020B0604020202020204" pitchFamily="34" charset="0"/>
                  </a:rPr>
                  <a:t>X</a:t>
                </a:r>
                <a:r>
                  <a:rPr lang="en-US" sz="1900" baseline="-25000" dirty="0">
                    <a:latin typeface="Arial" panose="020B0604020202020204" pitchFamily="34" charset="0"/>
                    <a:cs typeface="Arial" panose="020B0604020202020204" pitchFamily="34" charset="0"/>
                  </a:rPr>
                  <a:t>1</a:t>
                </a:r>
                <a:r>
                  <a:rPr lang="en-US" sz="1900" dirty="0">
                    <a:latin typeface="Arial" panose="020B0604020202020204" pitchFamily="34" charset="0"/>
                    <a:cs typeface="Arial" panose="020B0604020202020204" pitchFamily="34" charset="0"/>
                  </a:rPr>
                  <a:t>, </a:t>
                </a:r>
                <a:r>
                  <a:rPr lang="en-US" sz="1900" i="1" dirty="0">
                    <a:latin typeface="Arial" panose="020B0604020202020204" pitchFamily="34" charset="0"/>
                    <a:cs typeface="Arial" panose="020B0604020202020204" pitchFamily="34" charset="0"/>
                  </a:rPr>
                  <a:t>X</a:t>
                </a:r>
                <a:r>
                  <a:rPr lang="en-US" sz="1900" baseline="-25000" dirty="0">
                    <a:latin typeface="Arial" panose="020B0604020202020204" pitchFamily="34" charset="0"/>
                    <a:cs typeface="Arial" panose="020B0604020202020204" pitchFamily="34" charset="0"/>
                  </a:rPr>
                  <a:t>2</a:t>
                </a:r>
                <a:r>
                  <a:rPr lang="en-US" sz="1900" dirty="0">
                    <a:latin typeface="Arial" panose="020B0604020202020204" pitchFamily="34" charset="0"/>
                    <a:cs typeface="Arial" panose="020B0604020202020204" pitchFamily="34" charset="0"/>
                  </a:rPr>
                  <a:t>,…, </a:t>
                </a:r>
                <a:r>
                  <a:rPr lang="en-US" sz="1900" i="1" dirty="0" err="1">
                    <a:latin typeface="Arial" panose="020B0604020202020204" pitchFamily="34" charset="0"/>
                    <a:cs typeface="Arial" panose="020B0604020202020204" pitchFamily="34" charset="0"/>
                  </a:rPr>
                  <a:t>X</a:t>
                </a:r>
                <a:r>
                  <a:rPr lang="en-US" sz="1900" baseline="-25000" dirty="0" err="1">
                    <a:latin typeface="Arial" panose="020B0604020202020204" pitchFamily="34" charset="0"/>
                    <a:cs typeface="Arial" panose="020B0604020202020204" pitchFamily="34" charset="0"/>
                  </a:rPr>
                  <a:t>n</a:t>
                </a:r>
                <a:r>
                  <a:rPr lang="en-US" sz="1900" baseline="-25000" dirty="0">
                    <a:latin typeface="Arial" panose="020B0604020202020204" pitchFamily="34" charset="0"/>
                    <a:cs typeface="Arial" panose="020B0604020202020204" pitchFamily="34" charset="0"/>
                  </a:rPr>
                  <a:t>​ </a:t>
                </a:r>
                <a:r>
                  <a:rPr lang="en-US" sz="1900" dirty="0">
                    <a:latin typeface="Arial" panose="020B0604020202020204" pitchFamily="34" charset="0"/>
                    <a:cs typeface="Arial" panose="020B0604020202020204" pitchFamily="34" charset="0"/>
                  </a:rPr>
                  <a:t>​ are </a:t>
                </a:r>
                <a:r>
                  <a:rPr lang="en-US" sz="1900" dirty="0" err="1">
                    <a:latin typeface="Arial" panose="020B0604020202020204" pitchFamily="34" charset="0"/>
                    <a:cs typeface="Arial" panose="020B0604020202020204" pitchFamily="34" charset="0"/>
                  </a:rPr>
                  <a:t>i.i.d.</a:t>
                </a:r>
                <a:r>
                  <a:rPr lang="en-US" sz="1900" dirty="0">
                    <a:latin typeface="Arial" panose="020B0604020202020204" pitchFamily="34" charset="0"/>
                    <a:cs typeface="Arial" panose="020B0604020202020204" pitchFamily="34" charset="0"/>
                  </a:rPr>
                  <a:t> with mean μ and variance σ2, then</a:t>
                </a:r>
              </a:p>
              <a:p>
                <a:pPr lvl="1"/>
                <a:endParaRPr lang="en-US" dirty="0">
                  <a:latin typeface="Arial" panose="020B0604020202020204" pitchFamily="34" charset="0"/>
                  <a:cs typeface="Arial" panose="020B0604020202020204" pitchFamily="34" charset="0"/>
                </a:endParaRPr>
              </a:p>
              <a:p>
                <a:pPr marL="4572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𝑋</m:t>
                                  </m:r>
                                </m:e>
                              </m:acc>
                            </m:e>
                            <m:sub>
                              <m:r>
                                <a:rPr lang="en-US" i="1">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𝜇</m:t>
                          </m:r>
                        </m:num>
                        <m:den>
                          <m:f>
                            <m:fPr>
                              <m:type m:val="skw"/>
                              <m:ctrlPr>
                                <a:rPr lang="en-US" i="1" smtClean="0">
                                  <a:latin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𝜎</m:t>
                              </m:r>
                            </m:num>
                            <m:den>
                              <m:r>
                                <a:rPr lang="en-US" b="0" i="1" smtClean="0">
                                  <a:latin typeface="Cambria Math" panose="02040503050406030204" pitchFamily="18" charset="0"/>
                                </a:rPr>
                                <m:t>𝑛</m:t>
                              </m:r>
                            </m:den>
                          </m:f>
                        </m:den>
                      </m:f>
                      <m:r>
                        <a:rPr lang="en-US" b="0" i="1" smtClean="0">
                          <a:latin typeface="Cambria Math" panose="02040503050406030204" pitchFamily="18" charset="0"/>
                        </a:rPr>
                        <m:t> </m:t>
                      </m:r>
                      <m:groupChr>
                        <m:groupChrPr>
                          <m:chr m:val="→"/>
                          <m:vertJc m:val="bot"/>
                          <m:ctrlPr>
                            <a:rPr lang="en-US" i="1" smtClean="0">
                              <a:latin typeface="Cambria Math" panose="02040503050406030204" pitchFamily="18" charset="0"/>
                            </a:rPr>
                          </m:ctrlPr>
                        </m:groupChrPr>
                        <m:e>
                          <m:r>
                            <m:rPr>
                              <m:brk m:alnAt="2"/>
                            </m:rPr>
                            <a:rPr lang="en-US" b="0" i="1" smtClean="0">
                              <a:latin typeface="Cambria Math" panose="02040503050406030204" pitchFamily="18" charset="0"/>
                            </a:rPr>
                            <m:t>𝑑</m:t>
                          </m:r>
                        </m:e>
                      </m:groupChr>
                      <m:r>
                        <a:rPr lang="en-US" b="0" i="1" smtClean="0">
                          <a:latin typeface="Cambria Math" panose="02040503050406030204" pitchFamily="18" charset="0"/>
                        </a:rPr>
                        <m:t> </m:t>
                      </m:r>
                      <m:r>
                        <a:rPr lang="el-GR" i="1" smtClean="0">
                          <a:latin typeface="Cambria Math" panose="02040503050406030204" pitchFamily="18" charset="0"/>
                          <a:ea typeface="Cambria Math" panose="02040503050406030204" pitchFamily="18" charset="0"/>
                        </a:rPr>
                        <m:t>𝛮</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0,1</m:t>
                          </m:r>
                        </m:e>
                      </m:d>
                      <m:r>
                        <a:rPr lang="en-US" b="0" i="1" smtClean="0">
                          <a:latin typeface="Cambria Math" panose="02040503050406030204" pitchFamily="18" charset="0"/>
                          <a:ea typeface="Cambria Math" panose="02040503050406030204" pitchFamily="18" charset="0"/>
                        </a:rPr>
                        <m:t> </m:t>
                      </m:r>
                      <m:r>
                        <m:rPr>
                          <m:sty m:val="p"/>
                        </m:rPr>
                        <a:rPr lang="en-US" b="0" i="0" smtClean="0">
                          <a:latin typeface="Cambria Math" panose="02040503050406030204" pitchFamily="18" charset="0"/>
                          <a:ea typeface="Cambria Math" panose="02040503050406030204" pitchFamily="18" charset="0"/>
                        </a:rPr>
                        <m:t>as</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 → ∞</m:t>
                      </m:r>
                    </m:oMath>
                  </m:oMathPara>
                </a14:m>
                <a:endParaRPr lang="en-US" dirty="0">
                  <a:latin typeface="Arial" panose="020B0604020202020204" pitchFamily="34" charset="0"/>
                  <a:cs typeface="Arial" panose="020B0604020202020204" pitchFamily="34" charset="0"/>
                </a:endParaRPr>
              </a:p>
              <a:p>
                <a:pPr>
                  <a:lnSpc>
                    <a:spcPct val="110000"/>
                  </a:lnSpc>
                </a:pPr>
                <a:r>
                  <a:rPr lang="en-US" sz="2200" dirty="0">
                    <a:latin typeface="Arial" panose="020B0604020202020204" pitchFamily="34" charset="0"/>
                    <a:cs typeface="Arial" panose="020B0604020202020204" pitchFamily="34" charset="0"/>
                  </a:rPr>
                  <a:t>The LLN states that as the </a:t>
                </a:r>
                <a:r>
                  <a:rPr lang="en-US" sz="2200" dirty="0">
                    <a:solidFill>
                      <a:srgbClr val="FF0000"/>
                    </a:solidFill>
                    <a:latin typeface="Arial" panose="020B0604020202020204" pitchFamily="34" charset="0"/>
                    <a:cs typeface="Arial" panose="020B0604020202020204" pitchFamily="34" charset="0"/>
                  </a:rPr>
                  <a:t>sample size (</a:t>
                </a:r>
                <a:r>
                  <a:rPr lang="en-US" sz="2200" i="1" dirty="0">
                    <a:solidFill>
                      <a:srgbClr val="FF0000"/>
                    </a:solidFill>
                    <a:latin typeface="Arial" panose="020B0604020202020204" pitchFamily="34" charset="0"/>
                    <a:cs typeface="Arial" panose="020B0604020202020204" pitchFamily="34" charset="0"/>
                  </a:rPr>
                  <a:t>n</a:t>
                </a:r>
                <a:r>
                  <a:rPr lang="en-US" sz="2200" dirty="0">
                    <a:solidFill>
                      <a:srgbClr val="FF0000"/>
                    </a:solidFill>
                    <a:latin typeface="Arial" panose="020B0604020202020204" pitchFamily="34" charset="0"/>
                    <a:cs typeface="Arial" panose="020B0604020202020204" pitchFamily="34" charset="0"/>
                  </a:rPr>
                  <a:t>) increases</a:t>
                </a:r>
                <a:r>
                  <a:rPr lang="en-US" sz="2200" dirty="0">
                    <a:latin typeface="Arial" panose="020B0604020202020204" pitchFamily="34" charset="0"/>
                    <a:cs typeface="Arial" panose="020B0604020202020204" pitchFamily="34" charset="0"/>
                  </a:rPr>
                  <a:t>, the sample mean </a:t>
                </a:r>
                <a14:m>
                  <m:oMath xmlns:m="http://schemas.openxmlformats.org/officeDocument/2006/math">
                    <m:acc>
                      <m:accPr>
                        <m:chr m:val="̅"/>
                        <m:ctrlPr>
                          <a:rPr lang="en-US" sz="2200" i="1" smtClean="0">
                            <a:latin typeface="Cambria Math" panose="02040503050406030204" pitchFamily="18" charset="0"/>
                          </a:rPr>
                        </m:ctrlPr>
                      </m:accPr>
                      <m:e>
                        <m:r>
                          <a:rPr lang="en-US" sz="2200" b="0" i="1">
                            <a:latin typeface="Cambria Math" panose="02040503050406030204" pitchFamily="18" charset="0"/>
                          </a:rPr>
                          <m:t>𝑋</m:t>
                        </m:r>
                      </m:e>
                    </m:acc>
                    <m:r>
                      <a:rPr lang="en-US" sz="2200" b="0" i="1">
                        <a:latin typeface="Cambria Math" panose="02040503050406030204" pitchFamily="18" charset="0"/>
                      </a:rPr>
                      <m:t> </m:t>
                    </m:r>
                  </m:oMath>
                </a14:m>
                <a:r>
                  <a:rPr lang="en-US" sz="2200" dirty="0">
                    <a:latin typeface="Arial" panose="020B0604020202020204" pitchFamily="34" charset="0"/>
                    <a:cs typeface="Arial" panose="020B0604020202020204" pitchFamily="34" charset="0"/>
                  </a:rPr>
                  <a:t> converges in probability to the </a:t>
                </a:r>
                <a:r>
                  <a:rPr lang="en-US" sz="2200" dirty="0">
                    <a:solidFill>
                      <a:srgbClr val="FF0000"/>
                    </a:solidFill>
                    <a:latin typeface="Arial" panose="020B0604020202020204" pitchFamily="34" charset="0"/>
                    <a:cs typeface="Arial" panose="020B0604020202020204" pitchFamily="34" charset="0"/>
                  </a:rPr>
                  <a:t>true population mean μ</a:t>
                </a:r>
                <a:r>
                  <a:rPr lang="en-US" sz="2200" dirty="0">
                    <a:latin typeface="Arial" panose="020B0604020202020204" pitchFamily="34" charset="0"/>
                    <a:cs typeface="Arial" panose="020B0604020202020204" pitchFamily="34" charset="0"/>
                  </a:rPr>
                  <a:t>.</a:t>
                </a:r>
              </a:p>
              <a:p>
                <a:pPr marL="457200" lvl="1" indent="0">
                  <a:buNone/>
                </a:pPr>
                <a:r>
                  <a:rPr lang="en-US" sz="1900" dirty="0">
                    <a:latin typeface="Arial" panose="020B0604020202020204" pitchFamily="34" charset="0"/>
                    <a:cs typeface="Arial" panose="020B0604020202020204" pitchFamily="34" charset="0"/>
                  </a:rPr>
                  <a:t>Formally, if </a:t>
                </a:r>
                <a:r>
                  <a:rPr lang="en-US" sz="1900" i="1" dirty="0">
                    <a:latin typeface="Arial" panose="020B0604020202020204" pitchFamily="34" charset="0"/>
                    <a:cs typeface="Arial" panose="020B0604020202020204" pitchFamily="34" charset="0"/>
                  </a:rPr>
                  <a:t>X</a:t>
                </a:r>
                <a:r>
                  <a:rPr lang="en-US" sz="1900" baseline="-25000" dirty="0">
                    <a:latin typeface="Arial" panose="020B0604020202020204" pitchFamily="34" charset="0"/>
                    <a:cs typeface="Arial" panose="020B0604020202020204" pitchFamily="34" charset="0"/>
                  </a:rPr>
                  <a:t>1</a:t>
                </a:r>
                <a:r>
                  <a:rPr lang="en-US" sz="1900" dirty="0">
                    <a:latin typeface="Arial" panose="020B0604020202020204" pitchFamily="34" charset="0"/>
                    <a:cs typeface="Arial" panose="020B0604020202020204" pitchFamily="34" charset="0"/>
                  </a:rPr>
                  <a:t>, </a:t>
                </a:r>
                <a:r>
                  <a:rPr lang="en-US" sz="1900" i="1" dirty="0">
                    <a:latin typeface="Arial" panose="020B0604020202020204" pitchFamily="34" charset="0"/>
                    <a:cs typeface="Arial" panose="020B0604020202020204" pitchFamily="34" charset="0"/>
                  </a:rPr>
                  <a:t>X</a:t>
                </a:r>
                <a:r>
                  <a:rPr lang="en-US" sz="1900" baseline="-25000" dirty="0">
                    <a:latin typeface="Arial" panose="020B0604020202020204" pitchFamily="34" charset="0"/>
                    <a:cs typeface="Arial" panose="020B0604020202020204" pitchFamily="34" charset="0"/>
                  </a:rPr>
                  <a:t>2</a:t>
                </a:r>
                <a:r>
                  <a:rPr lang="en-US" sz="1900" dirty="0">
                    <a:latin typeface="Arial" panose="020B0604020202020204" pitchFamily="34" charset="0"/>
                    <a:cs typeface="Arial" panose="020B0604020202020204" pitchFamily="34" charset="0"/>
                  </a:rPr>
                  <a:t>,…, </a:t>
                </a:r>
                <a:r>
                  <a:rPr lang="en-US" sz="1900" i="1" dirty="0" err="1">
                    <a:latin typeface="Arial" panose="020B0604020202020204" pitchFamily="34" charset="0"/>
                    <a:cs typeface="Arial" panose="020B0604020202020204" pitchFamily="34" charset="0"/>
                  </a:rPr>
                  <a:t>X</a:t>
                </a:r>
                <a:r>
                  <a:rPr lang="en-US" sz="1900" baseline="-25000" dirty="0" err="1">
                    <a:latin typeface="Arial" panose="020B0604020202020204" pitchFamily="34" charset="0"/>
                    <a:cs typeface="Arial" panose="020B0604020202020204" pitchFamily="34" charset="0"/>
                  </a:rPr>
                  <a:t>n</a:t>
                </a:r>
                <a:r>
                  <a:rPr lang="en-US" sz="1900" baseline="-25000" dirty="0">
                    <a:latin typeface="Arial" panose="020B0604020202020204" pitchFamily="34" charset="0"/>
                    <a:cs typeface="Arial" panose="020B0604020202020204" pitchFamily="34" charset="0"/>
                  </a:rPr>
                  <a:t>​ </a:t>
                </a:r>
                <a:r>
                  <a:rPr lang="en-US" sz="1900" dirty="0">
                    <a:latin typeface="Arial" panose="020B0604020202020204" pitchFamily="34" charset="0"/>
                    <a:cs typeface="Arial" panose="020B0604020202020204" pitchFamily="34" charset="0"/>
                  </a:rPr>
                  <a:t>​ </a:t>
                </a:r>
                <a:r>
                  <a:rPr lang="en-US" sz="1900" baseline="-25000" dirty="0">
                    <a:latin typeface="Arial" panose="020B0604020202020204" pitchFamily="34" charset="0"/>
                    <a:cs typeface="Arial" panose="020B0604020202020204" pitchFamily="34" charset="0"/>
                  </a:rPr>
                  <a:t>​ </a:t>
                </a:r>
                <a:r>
                  <a:rPr lang="en-US" sz="1900" dirty="0">
                    <a:latin typeface="Arial" panose="020B0604020202020204" pitchFamily="34" charset="0"/>
                    <a:cs typeface="Arial" panose="020B0604020202020204" pitchFamily="34" charset="0"/>
                  </a:rPr>
                  <a:t>are </a:t>
                </a:r>
                <a:r>
                  <a:rPr lang="en-US" sz="1900" dirty="0" err="1">
                    <a:latin typeface="Arial" panose="020B0604020202020204" pitchFamily="34" charset="0"/>
                    <a:cs typeface="Arial" panose="020B0604020202020204" pitchFamily="34" charset="0"/>
                  </a:rPr>
                  <a:t>i.i.d.</a:t>
                </a:r>
                <a:r>
                  <a:rPr lang="en-US" sz="1900" dirty="0">
                    <a:latin typeface="Arial" panose="020B0604020202020204" pitchFamily="34" charset="0"/>
                    <a:cs typeface="Arial" panose="020B0604020202020204" pitchFamily="34" charset="0"/>
                  </a:rPr>
                  <a:t> with expected value E[</a:t>
                </a:r>
                <a:r>
                  <a:rPr lang="en-US" sz="1900" i="1" dirty="0">
                    <a:latin typeface="Arial" panose="020B0604020202020204" pitchFamily="34" charset="0"/>
                    <a:cs typeface="Arial" panose="020B0604020202020204" pitchFamily="34" charset="0"/>
                  </a:rPr>
                  <a:t>X</a:t>
                </a:r>
                <a:r>
                  <a:rPr lang="en-US" sz="1900" i="1" baseline="-25000" dirty="0">
                    <a:latin typeface="Arial" panose="020B0604020202020204" pitchFamily="34" charset="0"/>
                    <a:cs typeface="Arial" panose="020B0604020202020204" pitchFamily="34" charset="0"/>
                  </a:rPr>
                  <a:t>i</a:t>
                </a:r>
                <a:r>
                  <a:rPr lang="en-US" sz="1900" dirty="0">
                    <a:latin typeface="Arial" panose="020B0604020202020204" pitchFamily="34" charset="0"/>
                    <a:cs typeface="Arial" panose="020B0604020202020204" pitchFamily="34" charset="0"/>
                  </a:rPr>
                  <a:t>]=μ:</a:t>
                </a:r>
              </a:p>
              <a:p>
                <a:pPr marL="457200" lvl="1" indent="0">
                  <a:buNone/>
                </a:pPr>
                <a:endParaRPr lang="en-US" dirty="0">
                  <a:latin typeface="Arial" panose="020B0604020202020204" pitchFamily="34" charset="0"/>
                  <a:cs typeface="Arial" panose="020B0604020202020204" pitchFamily="34"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𝑋</m:t>
                              </m:r>
                            </m:e>
                          </m:acc>
                        </m:e>
                        <m:sub>
                          <m:r>
                            <a:rPr lang="en-US" i="1">
                              <a:latin typeface="Cambria Math" panose="02040503050406030204" pitchFamily="18" charset="0"/>
                            </a:rPr>
                            <m:t>𝑛</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𝑖</m:t>
                              </m:r>
                            </m:sub>
                          </m:sSub>
                        </m:e>
                      </m:nary>
                      <m:r>
                        <a:rPr lang="en-US" b="0" i="1" smtClean="0">
                          <a:latin typeface="Cambria Math" panose="02040503050406030204" pitchFamily="18" charset="0"/>
                        </a:rPr>
                        <m:t>→</m:t>
                      </m:r>
                      <m:r>
                        <a:rPr lang="el-GR" i="1" smtClean="0">
                          <a:latin typeface="Cambria Math" panose="02040503050406030204" pitchFamily="18" charset="0"/>
                          <a:ea typeface="Cambria Math" panose="02040503050406030204" pitchFamily="18" charset="0"/>
                        </a:rPr>
                        <m:t>𝜇</m:t>
                      </m:r>
                      <m:r>
                        <a:rPr lang="en-US" b="0" i="1" smtClean="0">
                          <a:latin typeface="Cambria Math" panose="02040503050406030204" pitchFamily="18" charset="0"/>
                          <a:ea typeface="Cambria Math" panose="02040503050406030204" pitchFamily="18" charset="0"/>
                        </a:rPr>
                        <m:t> </m:t>
                      </m:r>
                      <m:r>
                        <m:rPr>
                          <m:sty m:val="p"/>
                        </m:rPr>
                        <a:rPr lang="en-US" b="0" i="0" smtClean="0">
                          <a:latin typeface="Cambria Math" panose="02040503050406030204" pitchFamily="18" charset="0"/>
                          <a:ea typeface="Cambria Math" panose="02040503050406030204" pitchFamily="18" charset="0"/>
                        </a:rPr>
                        <m:t>as</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 → ∞</m:t>
                      </m:r>
                    </m:oMath>
                  </m:oMathPara>
                </a14:m>
                <a:endParaRPr lang="en-US" dirty="0">
                  <a:latin typeface="Arial" panose="020B0604020202020204" pitchFamily="34" charset="0"/>
                  <a:cs typeface="Arial" panose="020B0604020202020204" pitchFamily="34" charset="0"/>
                </a:endParaRPr>
              </a:p>
              <a:p>
                <a:pPr marL="457200" lvl="1" indent="0">
                  <a:buNone/>
                </a:pPr>
                <a:endParaRPr lang="en-US" dirty="0">
                  <a:latin typeface="Arial" panose="020B0604020202020204" pitchFamily="34" charset="0"/>
                  <a:cs typeface="Arial" panose="020B0604020202020204" pitchFamily="34" charset="0"/>
                </a:endParaRPr>
              </a:p>
            </p:txBody>
          </p:sp>
        </mc:Choice>
        <mc:Fallback>
          <p:sp>
            <p:nvSpPr>
              <p:cNvPr id="3" name="Content Placeholder 2">
                <a:extLst>
                  <a:ext uri="{FF2B5EF4-FFF2-40B4-BE49-F238E27FC236}">
                    <a16:creationId xmlns:a16="http://schemas.microsoft.com/office/drawing/2014/main" id="{368A7A3D-999D-954A-C276-0BF7BA4F6FEF}"/>
                  </a:ext>
                </a:extLst>
              </p:cNvPr>
              <p:cNvSpPr>
                <a:spLocks noGrp="1" noRot="1" noChangeAspect="1" noMove="1" noResize="1" noEditPoints="1" noAdjustHandles="1" noChangeArrowheads="1" noChangeShapeType="1" noTextEdit="1"/>
              </p:cNvSpPr>
              <p:nvPr>
                <p:ph idx="1"/>
              </p:nvPr>
            </p:nvSpPr>
            <p:spPr>
              <a:xfrm>
                <a:off x="390728" y="1471240"/>
                <a:ext cx="10515600" cy="4351338"/>
              </a:xfrm>
              <a:blipFill>
                <a:blip r:embed="rId3"/>
                <a:stretch>
                  <a:fillRect l="-522" t="-1261"/>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4AEB9C66-B1C5-68DE-E340-B9B074F59EC7}"/>
              </a:ext>
            </a:extLst>
          </p:cNvPr>
          <p:cNvSpPr txBox="1"/>
          <p:nvPr/>
        </p:nvSpPr>
        <p:spPr>
          <a:xfrm>
            <a:off x="264842" y="6310919"/>
            <a:ext cx="6116444"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CLT makes averages normal, not data normal.</a:t>
            </a:r>
          </a:p>
        </p:txBody>
      </p:sp>
    </p:spTree>
    <p:extLst>
      <p:ext uri="{BB962C8B-B14F-4D97-AF65-F5344CB8AC3E}">
        <p14:creationId xmlns:p14="http://schemas.microsoft.com/office/powerpoint/2010/main" val="2195791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 calcmode="lin" valueType="num">
                                      <p:cBhvr additive="base">
                                        <p:cTn id="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anim calcmode="lin" valueType="num">
                                      <p:cBhvr additive="base">
                                        <p:cTn id="1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anim calcmode="lin" valueType="num">
                                      <p:cBhvr additive="base">
                                        <p:cTn id="1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21C83-55F3-34E5-2844-244CC89685C9}"/>
              </a:ext>
            </a:extLst>
          </p:cNvPr>
          <p:cNvSpPr>
            <a:spLocks noGrp="1"/>
          </p:cNvSpPr>
          <p:nvPr>
            <p:ph type="title"/>
          </p:nvPr>
        </p:nvSpPr>
        <p:spPr>
          <a:xfrm>
            <a:off x="166991" y="170573"/>
            <a:ext cx="10515600" cy="811922"/>
          </a:xfrm>
        </p:spPr>
        <p:txBody>
          <a:bodyPr/>
          <a:lstStyle/>
          <a:p>
            <a:r>
              <a:rPr lang="en-US" dirty="0">
                <a:latin typeface="Aptos Display (Headings)"/>
              </a:rPr>
              <a:t>Central Limit Theorem (CLT)</a:t>
            </a:r>
          </a:p>
        </p:txBody>
      </p:sp>
      <p:sp>
        <p:nvSpPr>
          <p:cNvPr id="3" name="Content Placeholder 2">
            <a:extLst>
              <a:ext uri="{FF2B5EF4-FFF2-40B4-BE49-F238E27FC236}">
                <a16:creationId xmlns:a16="http://schemas.microsoft.com/office/drawing/2014/main" id="{70A75984-21EC-8526-790A-16B5AC774120}"/>
              </a:ext>
            </a:extLst>
          </p:cNvPr>
          <p:cNvSpPr>
            <a:spLocks noGrp="1"/>
          </p:cNvSpPr>
          <p:nvPr>
            <p:ph idx="1"/>
          </p:nvPr>
        </p:nvSpPr>
        <p:spPr>
          <a:xfrm>
            <a:off x="351817" y="982495"/>
            <a:ext cx="10515600" cy="4351338"/>
          </a:xfrm>
        </p:spPr>
        <p:txBody>
          <a:bodyPr>
            <a:normAutofit/>
          </a:bodyPr>
          <a:lstStyle/>
          <a:p>
            <a:r>
              <a:rPr lang="en-US" sz="2000" dirty="0">
                <a:latin typeface="Arial" panose="020B0604020202020204" pitchFamily="34" charset="0"/>
                <a:cs typeface="Arial" panose="020B0604020202020204" pitchFamily="34" charset="0"/>
              </a:rPr>
              <a:t>The CLT tells us that the distribution of the </a:t>
            </a:r>
            <a:r>
              <a:rPr lang="en-US" sz="2000" b="1" u="sng" dirty="0">
                <a:latin typeface="Arial" panose="020B0604020202020204" pitchFamily="34" charset="0"/>
                <a:cs typeface="Arial" panose="020B0604020202020204" pitchFamily="34" charset="0"/>
              </a:rPr>
              <a:t>sample mean </a:t>
            </a:r>
            <a:r>
              <a:rPr lang="en-US" sz="2000" dirty="0">
                <a:latin typeface="Arial" panose="020B0604020202020204" pitchFamily="34" charset="0"/>
                <a:cs typeface="Arial" panose="020B0604020202020204" pitchFamily="34" charset="0"/>
              </a:rPr>
              <a:t>is centered around the true mean</a:t>
            </a:r>
          </a:p>
          <a:p>
            <a:r>
              <a:rPr lang="en-US" sz="2000" dirty="0">
                <a:latin typeface="Arial" panose="020B0604020202020204" pitchFamily="34" charset="0"/>
                <a:cs typeface="Arial" panose="020B0604020202020204" pitchFamily="34" charset="0"/>
              </a:rPr>
              <a:t>The variance of the </a:t>
            </a:r>
            <a:r>
              <a:rPr lang="en-US" sz="2000" b="1" u="sng" dirty="0">
                <a:latin typeface="Arial" panose="020B0604020202020204" pitchFamily="34" charset="0"/>
                <a:cs typeface="Arial" panose="020B0604020202020204" pitchFamily="34" charset="0"/>
              </a:rPr>
              <a:t>sample mean </a:t>
            </a:r>
            <a:r>
              <a:rPr lang="en-US" sz="2000" dirty="0">
                <a:latin typeface="Arial" panose="020B0604020202020204" pitchFamily="34" charset="0"/>
                <a:cs typeface="Arial" panose="020B0604020202020204" pitchFamily="34" charset="0"/>
              </a:rPr>
              <a:t>decreases as </a:t>
            </a:r>
            <a:r>
              <a:rPr lang="en-US" sz="2000" i="1" dirty="0">
                <a:latin typeface="Arial" panose="020B0604020202020204" pitchFamily="34" charset="0"/>
                <a:cs typeface="Arial" panose="020B0604020202020204" pitchFamily="34" charset="0"/>
              </a:rPr>
              <a:t>n</a:t>
            </a:r>
            <a:r>
              <a:rPr lang="en-US" sz="2000" dirty="0">
                <a:latin typeface="Arial" panose="020B0604020202020204" pitchFamily="34" charset="0"/>
                <a:cs typeface="Arial" panose="020B0604020202020204" pitchFamily="34" charset="0"/>
              </a:rPr>
              <a:t> increases</a:t>
            </a:r>
          </a:p>
          <a:p>
            <a:r>
              <a:rPr lang="en-US" sz="2000" dirty="0">
                <a:latin typeface="Arial" panose="020B0604020202020204" pitchFamily="34" charset="0"/>
                <a:cs typeface="Arial" panose="020B0604020202020204" pitchFamily="34" charset="0"/>
              </a:rPr>
              <a:t>With normality approximation of the sampling distribution, we can perform interval estimation around the </a:t>
            </a:r>
            <a:r>
              <a:rPr lang="en-US" sz="2000" b="1" u="sng" dirty="0">
                <a:latin typeface="Arial" panose="020B0604020202020204" pitchFamily="34" charset="0"/>
                <a:cs typeface="Arial" panose="020B0604020202020204" pitchFamily="34" charset="0"/>
              </a:rPr>
              <a:t>population mean</a:t>
            </a:r>
          </a:p>
          <a:p>
            <a:r>
              <a:rPr lang="en-US" sz="2000" dirty="0">
                <a:latin typeface="Arial" panose="020B0604020202020204" pitchFamily="34" charset="0"/>
                <a:cs typeface="Arial" panose="020B0604020202020204" pitchFamily="34" charset="0"/>
              </a:rPr>
              <a:t>The </a:t>
            </a:r>
            <a:r>
              <a:rPr lang="en-US" sz="2000" b="1" dirty="0">
                <a:latin typeface="Arial" panose="020B0604020202020204" pitchFamily="34" charset="0"/>
                <a:cs typeface="Arial" panose="020B0604020202020204" pitchFamily="34" charset="0"/>
              </a:rPr>
              <a:t>Central Limit Theorem (CLT)</a:t>
            </a:r>
            <a:r>
              <a:rPr lang="en-US" sz="2000" dirty="0">
                <a:latin typeface="Arial" panose="020B0604020202020204" pitchFamily="34" charset="0"/>
                <a:cs typeface="Arial" panose="020B0604020202020204" pitchFamily="34" charset="0"/>
              </a:rPr>
              <a:t> has profound implications for confidence intervals and sampling distributions in statistics</a:t>
            </a:r>
            <a:endParaRPr lang="en-US" sz="2000" b="1" u="sng"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318581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FC719-8F6A-81CF-E7E8-34D2AAA5F9ED}"/>
              </a:ext>
            </a:extLst>
          </p:cNvPr>
          <p:cNvSpPr>
            <a:spLocks noGrp="1"/>
          </p:cNvSpPr>
          <p:nvPr>
            <p:ph type="title"/>
          </p:nvPr>
        </p:nvSpPr>
        <p:spPr>
          <a:xfrm>
            <a:off x="157264" y="180301"/>
            <a:ext cx="10515600" cy="753556"/>
          </a:xfrm>
        </p:spPr>
        <p:txBody>
          <a:bodyPr/>
          <a:lstStyle/>
          <a:p>
            <a:r>
              <a:rPr lang="en-US" dirty="0">
                <a:latin typeface="Aptos Display (Headings)"/>
              </a:rPr>
              <a:t>Implications for Sampling Distributions</a:t>
            </a:r>
          </a:p>
        </p:txBody>
      </p:sp>
      <p:sp>
        <p:nvSpPr>
          <p:cNvPr id="3" name="Content Placeholder 2">
            <a:extLst>
              <a:ext uri="{FF2B5EF4-FFF2-40B4-BE49-F238E27FC236}">
                <a16:creationId xmlns:a16="http://schemas.microsoft.com/office/drawing/2014/main" id="{D5FF0AE8-4603-D214-711A-F40F53E8DA3E}"/>
              </a:ext>
            </a:extLst>
          </p:cNvPr>
          <p:cNvSpPr>
            <a:spLocks noGrp="1"/>
          </p:cNvSpPr>
          <p:nvPr>
            <p:ph idx="1"/>
          </p:nvPr>
        </p:nvSpPr>
        <p:spPr>
          <a:xfrm>
            <a:off x="332362" y="933857"/>
            <a:ext cx="10515600" cy="4351338"/>
          </a:xfrm>
        </p:spPr>
        <p:txBody>
          <a:bodyPr>
            <a:normAutofit/>
          </a:bodyPr>
          <a:lstStyle/>
          <a:p>
            <a:r>
              <a:rPr lang="en-US" sz="2000" dirty="0">
                <a:latin typeface="Arial" panose="020B0604020202020204" pitchFamily="34" charset="0"/>
                <a:cs typeface="Arial" panose="020B0604020202020204" pitchFamily="34" charset="0"/>
              </a:rPr>
              <a:t>The CLT states that, for a sufficiently large sample size, the </a:t>
            </a:r>
            <a:r>
              <a:rPr lang="en-US" sz="2000" b="1" dirty="0">
                <a:latin typeface="Arial" panose="020B0604020202020204" pitchFamily="34" charset="0"/>
                <a:cs typeface="Arial" panose="020B0604020202020204" pitchFamily="34" charset="0"/>
              </a:rPr>
              <a:t>sampling distribution of the sample mean</a:t>
            </a:r>
            <a:r>
              <a:rPr lang="en-US" sz="2000" dirty="0">
                <a:latin typeface="Arial" panose="020B0604020202020204" pitchFamily="34" charset="0"/>
                <a:cs typeface="Arial" panose="020B0604020202020204" pitchFamily="34" charset="0"/>
              </a:rPr>
              <a:t> will be approximately </a:t>
            </a:r>
            <a:r>
              <a:rPr lang="en-US" sz="2000" b="1" dirty="0">
                <a:latin typeface="Arial" panose="020B0604020202020204" pitchFamily="34" charset="0"/>
                <a:cs typeface="Arial" panose="020B0604020202020204" pitchFamily="34" charset="0"/>
              </a:rPr>
              <a:t>normal</a:t>
            </a:r>
            <a:r>
              <a:rPr lang="en-US" sz="2000" dirty="0">
                <a:latin typeface="Arial" panose="020B0604020202020204" pitchFamily="34" charset="0"/>
                <a:cs typeface="Arial" panose="020B0604020202020204" pitchFamily="34" charset="0"/>
              </a:rPr>
              <a:t>, regardless of the shape of the population distribution.</a:t>
            </a:r>
          </a:p>
          <a:p>
            <a:r>
              <a:rPr lang="en-US" sz="2000" dirty="0">
                <a:latin typeface="Arial" panose="020B0604020202020204" pitchFamily="34" charset="0"/>
                <a:cs typeface="Arial" panose="020B0604020202020204" pitchFamily="34" charset="0"/>
              </a:rPr>
              <a:t>This allows us to make statistical inferences even when the original population distribution is </a:t>
            </a:r>
            <a:r>
              <a:rPr lang="en-US" sz="2000" b="1" dirty="0">
                <a:latin typeface="Arial" panose="020B0604020202020204" pitchFamily="34" charset="0"/>
                <a:cs typeface="Arial" panose="020B0604020202020204" pitchFamily="34" charset="0"/>
              </a:rPr>
              <a:t>skewed, bimodal, or non-normal</a:t>
            </a:r>
            <a:r>
              <a:rPr lang="en-US" sz="2000" dirty="0">
                <a:latin typeface="Arial" panose="020B0604020202020204" pitchFamily="34" charset="0"/>
                <a:cs typeface="Arial" panose="020B0604020202020204" pitchFamily="34" charset="0"/>
              </a:rPr>
              <a:t>.</a:t>
            </a:r>
          </a:p>
          <a:p>
            <a:r>
              <a:rPr lang="en-US" sz="2000" dirty="0">
                <a:latin typeface="Arial" panose="020B0604020202020204" pitchFamily="34" charset="0"/>
                <a:cs typeface="Arial" panose="020B0604020202020204" pitchFamily="34" charset="0"/>
              </a:rPr>
              <a:t>The </a:t>
            </a:r>
            <a:r>
              <a:rPr lang="en-US" sz="2000" b="1" dirty="0">
                <a:latin typeface="Arial" panose="020B0604020202020204" pitchFamily="34" charset="0"/>
                <a:cs typeface="Arial" panose="020B0604020202020204" pitchFamily="34" charset="0"/>
              </a:rPr>
              <a:t>larger the sample size</a:t>
            </a:r>
            <a:r>
              <a:rPr lang="en-US" sz="2000" dirty="0">
                <a:latin typeface="Arial" panose="020B0604020202020204" pitchFamily="34" charset="0"/>
                <a:cs typeface="Arial" panose="020B0604020202020204" pitchFamily="34" charset="0"/>
              </a:rPr>
              <a:t>, the closer the sampling distribution will be to normality.</a:t>
            </a:r>
          </a:p>
          <a:p>
            <a:pPr lvl="1"/>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327518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D7744-ADE5-9A53-8659-38BC28FA7CDD}"/>
              </a:ext>
            </a:extLst>
          </p:cNvPr>
          <p:cNvSpPr>
            <a:spLocks noGrp="1"/>
          </p:cNvSpPr>
          <p:nvPr>
            <p:ph type="title"/>
          </p:nvPr>
        </p:nvSpPr>
        <p:spPr>
          <a:xfrm>
            <a:off x="128081" y="190027"/>
            <a:ext cx="10515600" cy="773011"/>
          </a:xfrm>
        </p:spPr>
        <p:txBody>
          <a:bodyPr/>
          <a:lstStyle/>
          <a:p>
            <a:r>
              <a:rPr lang="en-US" dirty="0">
                <a:latin typeface="Aptos Display (Headings)"/>
              </a:rPr>
              <a:t>Implications for Confidence Intervals</a:t>
            </a:r>
          </a:p>
        </p:txBody>
      </p:sp>
      <p:sp>
        <p:nvSpPr>
          <p:cNvPr id="3" name="Content Placeholder 2">
            <a:extLst>
              <a:ext uri="{FF2B5EF4-FFF2-40B4-BE49-F238E27FC236}">
                <a16:creationId xmlns:a16="http://schemas.microsoft.com/office/drawing/2014/main" id="{B24DD91D-A4CE-DBAF-107C-137F79F446D1}"/>
              </a:ext>
            </a:extLst>
          </p:cNvPr>
          <p:cNvSpPr>
            <a:spLocks noGrp="1"/>
          </p:cNvSpPr>
          <p:nvPr>
            <p:ph idx="1"/>
          </p:nvPr>
        </p:nvSpPr>
        <p:spPr>
          <a:xfrm>
            <a:off x="225358" y="1105778"/>
            <a:ext cx="10515600" cy="4351338"/>
          </a:xfrm>
        </p:spPr>
        <p:txBody>
          <a:bodyPr>
            <a:normAutofit/>
          </a:bodyPr>
          <a:lstStyle/>
          <a:p>
            <a:r>
              <a:rPr lang="en-US" sz="2000" dirty="0">
                <a:latin typeface="Arial" panose="020B0604020202020204" pitchFamily="34" charset="0"/>
                <a:cs typeface="Arial" panose="020B0604020202020204" pitchFamily="34" charset="0"/>
              </a:rPr>
              <a:t>Confidence intervals (CIs) rely on the assumption that the sampling distribution of the mean is normal</a:t>
            </a:r>
          </a:p>
          <a:p>
            <a:pPr lvl="1"/>
            <a:r>
              <a:rPr lang="en-US" sz="2000" dirty="0">
                <a:latin typeface="Arial" panose="020B0604020202020204" pitchFamily="34" charset="0"/>
                <a:cs typeface="Arial" panose="020B0604020202020204" pitchFamily="34" charset="0"/>
              </a:rPr>
              <a:t>Because of the CLT, we can use the normal distribution (Z-distribution, t-distribution) to compute confidence intervals for population parameters, even if the underlying population is non-normal</a:t>
            </a:r>
          </a:p>
          <a:p>
            <a:pPr lvl="1"/>
            <a:r>
              <a:rPr lang="en-US" sz="2000" dirty="0">
                <a:latin typeface="Arial" panose="020B0604020202020204" pitchFamily="34" charset="0"/>
                <a:cs typeface="Arial" panose="020B0604020202020204" pitchFamily="34" charset="0"/>
              </a:rPr>
              <a:t>As sample size increases:</a:t>
            </a:r>
          </a:p>
          <a:p>
            <a:pPr lvl="2"/>
            <a:r>
              <a:rPr lang="en-US" dirty="0">
                <a:latin typeface="Arial" panose="020B0604020202020204" pitchFamily="34" charset="0"/>
                <a:cs typeface="Arial" panose="020B0604020202020204" pitchFamily="34" charset="0"/>
              </a:rPr>
              <a:t>The standard error (𝜎/𝑛) decreases, leading to narrower confidence intervals (greater precision)</a:t>
            </a:r>
          </a:p>
          <a:p>
            <a:pPr lvl="2"/>
            <a:r>
              <a:rPr lang="en-US" dirty="0">
                <a:latin typeface="Arial" panose="020B0604020202020204" pitchFamily="34" charset="0"/>
                <a:cs typeface="Arial" panose="020B0604020202020204" pitchFamily="34" charset="0"/>
              </a:rPr>
              <a:t>The sampling distribution becomes more normal, making parametric inference more reliable</a:t>
            </a:r>
          </a:p>
        </p:txBody>
      </p:sp>
    </p:spTree>
    <p:extLst>
      <p:ext uri="{BB962C8B-B14F-4D97-AF65-F5344CB8AC3E}">
        <p14:creationId xmlns:p14="http://schemas.microsoft.com/office/powerpoint/2010/main" val="452130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additive="base">
                                        <p:cTn id="2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E4FA8-5903-D6D6-31BE-2D30BD9B8DCE}"/>
              </a:ext>
            </a:extLst>
          </p:cNvPr>
          <p:cNvSpPr>
            <a:spLocks noGrp="1"/>
          </p:cNvSpPr>
          <p:nvPr>
            <p:ph type="title"/>
          </p:nvPr>
        </p:nvSpPr>
        <p:spPr>
          <a:xfrm>
            <a:off x="215630" y="151117"/>
            <a:ext cx="10515600" cy="773011"/>
          </a:xfrm>
        </p:spPr>
        <p:txBody>
          <a:bodyPr/>
          <a:lstStyle/>
          <a:p>
            <a:r>
              <a:rPr lang="en-US" dirty="0">
                <a:latin typeface="Aptos Display (Headings)"/>
              </a:rPr>
              <a:t>Practical Considerations</a:t>
            </a:r>
          </a:p>
        </p:txBody>
      </p:sp>
      <p:sp>
        <p:nvSpPr>
          <p:cNvPr id="3" name="Content Placeholder 2">
            <a:extLst>
              <a:ext uri="{FF2B5EF4-FFF2-40B4-BE49-F238E27FC236}">
                <a16:creationId xmlns:a16="http://schemas.microsoft.com/office/drawing/2014/main" id="{53807FB9-3F41-77AD-E0E7-AA06452D3DF0}"/>
              </a:ext>
            </a:extLst>
          </p:cNvPr>
          <p:cNvSpPr>
            <a:spLocks noGrp="1"/>
          </p:cNvSpPr>
          <p:nvPr>
            <p:ph idx="1"/>
          </p:nvPr>
        </p:nvSpPr>
        <p:spPr>
          <a:xfrm>
            <a:off x="215630" y="989047"/>
            <a:ext cx="10515600" cy="4351338"/>
          </a:xfrm>
        </p:spPr>
        <p:txBody>
          <a:bodyPr>
            <a:normAutofit/>
          </a:bodyPr>
          <a:lstStyle/>
          <a:p>
            <a:r>
              <a:rPr lang="en-US" sz="2000" b="1" dirty="0">
                <a:latin typeface="Arial" panose="020B0604020202020204" pitchFamily="34" charset="0"/>
                <a:cs typeface="Arial" panose="020B0604020202020204" pitchFamily="34" charset="0"/>
              </a:rPr>
              <a:t>Small Sample Sizes (𝑛&lt;30): </a:t>
            </a:r>
            <a:r>
              <a:rPr lang="en-US" sz="2000" dirty="0">
                <a:latin typeface="Arial" panose="020B0604020202020204" pitchFamily="34" charset="0"/>
                <a:cs typeface="Arial" panose="020B0604020202020204" pitchFamily="34" charset="0"/>
              </a:rPr>
              <a:t>If the population is normal, the sampling distribution is also normal, and confidence intervals can be computed using the t-distribution</a:t>
            </a:r>
          </a:p>
          <a:p>
            <a:r>
              <a:rPr lang="en-US" sz="2000" b="1" dirty="0">
                <a:latin typeface="Arial" panose="020B0604020202020204" pitchFamily="34" charset="0"/>
                <a:cs typeface="Arial" panose="020B0604020202020204" pitchFamily="34" charset="0"/>
              </a:rPr>
              <a:t>Large Sample Sizes (𝑛≥30): </a:t>
            </a:r>
            <a:r>
              <a:rPr lang="en-US" sz="2000" dirty="0">
                <a:latin typeface="Arial" panose="020B0604020202020204" pitchFamily="34" charset="0"/>
                <a:cs typeface="Arial" panose="020B0604020202020204" pitchFamily="34" charset="0"/>
              </a:rPr>
              <a:t>The CLT ensures that the sampling distribution is approximately normal, even if the population is not (?)</a:t>
            </a:r>
          </a:p>
          <a:p>
            <a:r>
              <a:rPr lang="en-US" sz="2000" b="1" dirty="0">
                <a:latin typeface="Arial" panose="020B0604020202020204" pitchFamily="34" charset="0"/>
                <a:cs typeface="Arial" panose="020B0604020202020204" pitchFamily="34" charset="0"/>
              </a:rPr>
              <a:t>Skewed or Heavy-Tailed Distributions: </a:t>
            </a:r>
            <a:r>
              <a:rPr lang="en-US" sz="2000" dirty="0">
                <a:latin typeface="Arial" panose="020B0604020202020204" pitchFamily="34" charset="0"/>
                <a:cs typeface="Arial" panose="020B0604020202020204" pitchFamily="34" charset="0"/>
              </a:rPr>
              <a:t>A larger sample size is needed (e.g., 𝑛≥50 or more) for the CLT to take effect</a:t>
            </a:r>
          </a:p>
        </p:txBody>
      </p:sp>
      <p:sp>
        <p:nvSpPr>
          <p:cNvPr id="5" name="TextBox 4">
            <a:extLst>
              <a:ext uri="{FF2B5EF4-FFF2-40B4-BE49-F238E27FC236}">
                <a16:creationId xmlns:a16="http://schemas.microsoft.com/office/drawing/2014/main" id="{855A6B0F-E453-A2AA-4484-D1EB6E3C9511}"/>
              </a:ext>
            </a:extLst>
          </p:cNvPr>
          <p:cNvSpPr txBox="1"/>
          <p:nvPr/>
        </p:nvSpPr>
        <p:spPr>
          <a:xfrm>
            <a:off x="490652" y="5467995"/>
            <a:ext cx="1079438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We don’t need data to be normal; we need the </a:t>
            </a:r>
            <a:r>
              <a:rPr lang="en-US" b="1" dirty="0">
                <a:latin typeface="Arial" panose="020B0604020202020204" pitchFamily="34" charset="0"/>
                <a:cs typeface="Arial" panose="020B0604020202020204" pitchFamily="34" charset="0"/>
              </a:rPr>
              <a:t>sampling distribution</a:t>
            </a:r>
            <a:r>
              <a:rPr lang="en-US" dirty="0">
                <a:latin typeface="Arial" panose="020B0604020202020204" pitchFamily="34" charset="0"/>
                <a:cs typeface="Arial" panose="020B0604020202020204" pitchFamily="34" charset="0"/>
              </a:rPr>
              <a:t> to be normal. With large samples, CLT handles this. With small samples, normality assumptions matter.</a:t>
            </a:r>
          </a:p>
        </p:txBody>
      </p:sp>
    </p:spTree>
    <p:extLst>
      <p:ext uri="{BB962C8B-B14F-4D97-AF65-F5344CB8AC3E}">
        <p14:creationId xmlns:p14="http://schemas.microsoft.com/office/powerpoint/2010/main" val="3266690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F52AEAF-79A2-AC3B-9239-26235CE783D9}"/>
                  </a:ext>
                </a:extLst>
              </p:cNvPr>
              <p:cNvSpPr>
                <a:spLocks noGrp="1"/>
              </p:cNvSpPr>
              <p:nvPr>
                <p:ph type="title"/>
              </p:nvPr>
            </p:nvSpPr>
            <p:spPr>
              <a:xfrm>
                <a:off x="215629" y="199755"/>
                <a:ext cx="10515600" cy="763284"/>
              </a:xfrm>
            </p:spPr>
            <p:txBody>
              <a:bodyPr/>
              <a:lstStyle/>
              <a:p>
                <a:r>
                  <a:rPr lang="en-US" dirty="0">
                    <a:latin typeface="Aptos Display (Headings)"/>
                  </a:rPr>
                  <a:t>Constructing Confidence Intervals (CIs) for </a:t>
                </a:r>
                <a14:m>
                  <m:oMath xmlns:m="http://schemas.openxmlformats.org/officeDocument/2006/math">
                    <m:r>
                      <a:rPr lang="en-US" i="1" smtClean="0">
                        <a:latin typeface="Cambria Math" panose="02040503050406030204" pitchFamily="18" charset="0"/>
                        <a:ea typeface="Cambria Math" panose="02040503050406030204" pitchFamily="18" charset="0"/>
                      </a:rPr>
                      <m:t>𝜇</m:t>
                    </m:r>
                  </m:oMath>
                </a14:m>
                <a:r>
                  <a:rPr lang="en-US" dirty="0">
                    <a:latin typeface="Aptos Display (Headings)"/>
                  </a:rPr>
                  <a:t> </a:t>
                </a:r>
              </a:p>
            </p:txBody>
          </p:sp>
        </mc:Choice>
        <mc:Fallback xmlns="">
          <p:sp>
            <p:nvSpPr>
              <p:cNvPr id="2" name="Title 1">
                <a:extLst>
                  <a:ext uri="{FF2B5EF4-FFF2-40B4-BE49-F238E27FC236}">
                    <a16:creationId xmlns:a16="http://schemas.microsoft.com/office/drawing/2014/main" id="{7F52AEAF-79A2-AC3B-9239-26235CE783D9}"/>
                  </a:ext>
                </a:extLst>
              </p:cNvPr>
              <p:cNvSpPr>
                <a:spLocks noGrp="1" noRot="1" noChangeAspect="1" noMove="1" noResize="1" noEditPoints="1" noAdjustHandles="1" noChangeArrowheads="1" noChangeShapeType="1" noTextEdit="1"/>
              </p:cNvSpPr>
              <p:nvPr>
                <p:ph type="title"/>
              </p:nvPr>
            </p:nvSpPr>
            <p:spPr>
              <a:xfrm>
                <a:off x="215629" y="199755"/>
                <a:ext cx="10515600" cy="763284"/>
              </a:xfrm>
              <a:blipFill>
                <a:blip r:embed="rId2"/>
                <a:stretch>
                  <a:fillRect l="-2319" t="-20000" b="-344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442F15A-4DFF-8795-C778-707A666ED6BC}"/>
                  </a:ext>
                </a:extLst>
              </p:cNvPr>
              <p:cNvSpPr>
                <a:spLocks noGrp="1"/>
              </p:cNvSpPr>
              <p:nvPr>
                <p:ph idx="1"/>
              </p:nvPr>
            </p:nvSpPr>
            <p:spPr>
              <a:xfrm>
                <a:off x="381000" y="1037684"/>
                <a:ext cx="10515600" cy="4351338"/>
              </a:xfrm>
            </p:spPr>
            <p:txBody>
              <a:bodyPr>
                <a:normAutofit/>
              </a:bodyPr>
              <a:lstStyle/>
              <a:p>
                <a:r>
                  <a:rPr lang="en-US" sz="2000" b="1"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assume the population variance </a:t>
                </a:r>
                <a14:m>
                  <m:oMath xmlns:m="http://schemas.openxmlformats.org/officeDocument/2006/math">
                    <m:sSup>
                      <m:sSupPr>
                        <m:ctrlPr>
                          <a:rPr lang="en-US" sz="2000" i="1" smtClean="0">
                            <a:latin typeface="Cambria Math" panose="02040503050406030204" pitchFamily="18" charset="0"/>
                          </a:rPr>
                        </m:ctrlPr>
                      </m:sSupPr>
                      <m:e>
                        <m:r>
                          <a:rPr lang="en-US" sz="2000" i="1" smtClean="0">
                            <a:latin typeface="Cambria Math" panose="02040503050406030204" pitchFamily="18" charset="0"/>
                            <a:ea typeface="Cambria Math" panose="02040503050406030204" pitchFamily="18" charset="0"/>
                          </a:rPr>
                          <m:t>𝜎</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 </m:t>
                    </m:r>
                  </m:oMath>
                </a14:m>
                <a:r>
                  <a:rPr lang="en-US" sz="2000" dirty="0">
                    <a:latin typeface="Arial" panose="020B0604020202020204" pitchFamily="34" charset="0"/>
                    <a:cs typeface="Arial" panose="020B0604020202020204" pitchFamily="34" charset="0"/>
                  </a:rPr>
                  <a:t>is known</a:t>
                </a:r>
              </a:p>
              <a:p>
                <a:r>
                  <a:rPr lang="en-US" sz="2000" dirty="0">
                    <a:latin typeface="Arial" panose="020B0604020202020204" pitchFamily="34" charset="0"/>
                    <a:cs typeface="Arial" panose="020B0604020202020204" pitchFamily="34" charset="0"/>
                  </a:rPr>
                  <a:t>Then a </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1−</m:t>
                        </m:r>
                        <m:r>
                          <a:rPr lang="en-US" sz="2000" b="0" i="1" smtClean="0">
                            <a:latin typeface="Cambria Math" panose="02040503050406030204" pitchFamily="18" charset="0"/>
                            <a:ea typeface="Cambria Math" panose="02040503050406030204" pitchFamily="18" charset="0"/>
                          </a:rPr>
                          <m:t>𝛼</m:t>
                        </m:r>
                      </m:e>
                    </m:d>
                    <m:r>
                      <a:rPr lang="en-US" sz="2000" b="0" i="1" smtClean="0">
                        <a:latin typeface="Cambria Math" panose="02040503050406030204" pitchFamily="18" charset="0"/>
                        <a:ea typeface="Cambria Math" panose="02040503050406030204" pitchFamily="18" charset="0"/>
                      </a:rPr>
                      <m:t> × 100%</m:t>
                    </m:r>
                  </m:oMath>
                </a14:m>
                <a:r>
                  <a:rPr lang="en-US" sz="2000" dirty="0">
                    <a:latin typeface="Arial" panose="020B0604020202020204" pitchFamily="34" charset="0"/>
                    <a:cs typeface="Arial" panose="020B0604020202020204" pitchFamily="34" charset="0"/>
                  </a:rPr>
                  <a:t> CI for </a:t>
                </a:r>
                <a14:m>
                  <m:oMath xmlns:m="http://schemas.openxmlformats.org/officeDocument/2006/math">
                    <m:r>
                      <a:rPr lang="en-US" sz="2000" i="1" smtClean="0">
                        <a:latin typeface="Cambria Math" panose="02040503050406030204" pitchFamily="18" charset="0"/>
                        <a:ea typeface="Cambria Math" panose="02040503050406030204" pitchFamily="18" charset="0"/>
                      </a:rPr>
                      <m:t>𝜇</m:t>
                    </m:r>
                  </m:oMath>
                </a14:m>
                <a:r>
                  <a:rPr lang="en-US" sz="2000" dirty="0">
                    <a:latin typeface="Arial" panose="020B0604020202020204" pitchFamily="34" charset="0"/>
                    <a:cs typeface="Arial" panose="020B0604020202020204" pitchFamily="34" charset="0"/>
                  </a:rPr>
                  <a:t> is defined as:</a:t>
                </a:r>
              </a:p>
              <a:p>
                <a:pPr marL="0" indent="0" algn="ctr">
                  <a:buNone/>
                </a:pPr>
                <a:endParaRPr lang="en-US" sz="2000" i="1" dirty="0">
                  <a:latin typeface="Arial" panose="020B0604020202020204" pitchFamily="34" charset="0"/>
                  <a:cs typeface="Arial" panose="020B0604020202020204" pitchFamily="34" charset="0"/>
                </a:endParaRPr>
              </a:p>
              <a:p>
                <a:pPr marL="0" indent="0" algn="ctr">
                  <a:buNone/>
                </a:pPr>
                <a14:m>
                  <m:oMath xmlns:m="http://schemas.openxmlformats.org/officeDocument/2006/math">
                    <m:d>
                      <m:dPr>
                        <m:begChr m:val="["/>
                        <m:endChr m:val="]"/>
                        <m:ctrlPr>
                          <a:rPr lang="en-US" sz="2000" i="1" smtClean="0">
                            <a:latin typeface="Cambria Math" panose="02040503050406030204" pitchFamily="18" charset="0"/>
                          </a:rPr>
                        </m:ctrlPr>
                      </m:dPr>
                      <m:e>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𝑋</m:t>
                                </m:r>
                              </m:e>
                            </m:acc>
                          </m:e>
                          <m:sub>
                            <m:r>
                              <a:rPr lang="en-US" sz="2000" b="0" i="1" smtClean="0">
                                <a:latin typeface="Cambria Math" panose="02040503050406030204" pitchFamily="18" charset="0"/>
                              </a:rPr>
                              <m:t>𝑛</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𝑧</m:t>
                            </m:r>
                          </m:e>
                          <m:sub>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𝛼</m:t>
                                </m:r>
                              </m:num>
                              <m:den>
                                <m:r>
                                  <a:rPr lang="en-US" sz="2000" b="0" i="1" smtClean="0">
                                    <a:latin typeface="Cambria Math" panose="02040503050406030204" pitchFamily="18" charset="0"/>
                                  </a:rPr>
                                  <m:t>2</m:t>
                                </m:r>
                              </m:den>
                            </m:f>
                          </m:sub>
                        </m:sSub>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𝜎</m:t>
                            </m:r>
                          </m:num>
                          <m:den>
                            <m:rad>
                              <m:radPr>
                                <m:degHide m:val="on"/>
                                <m:ctrlPr>
                                  <a:rPr lang="en-US" sz="2000" b="0" i="1" smtClean="0">
                                    <a:latin typeface="Cambria Math" panose="02040503050406030204" pitchFamily="18" charset="0"/>
                                  </a:rPr>
                                </m:ctrlPr>
                              </m:radPr>
                              <m:deg/>
                              <m:e>
                                <m:r>
                                  <a:rPr lang="en-US" sz="2000" b="0" i="1" smtClean="0">
                                    <a:latin typeface="Cambria Math" panose="02040503050406030204" pitchFamily="18" charset="0"/>
                                  </a:rPr>
                                  <m:t>𝑛</m:t>
                                </m:r>
                              </m:e>
                            </m:rad>
                          </m:den>
                        </m:f>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𝑋</m:t>
                                </m:r>
                              </m:e>
                            </m:acc>
                          </m:e>
                          <m:sub>
                            <m:r>
                              <a:rPr lang="en-US" sz="2000" b="0" i="1" smtClean="0">
                                <a:latin typeface="Cambria Math" panose="02040503050406030204" pitchFamily="18" charset="0"/>
                              </a:rPr>
                              <m:t>𝑛</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𝑧</m:t>
                            </m:r>
                          </m:e>
                          <m:sub>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𝛼</m:t>
                                </m:r>
                              </m:num>
                              <m:den>
                                <m:r>
                                  <a:rPr lang="en-US" sz="2000" b="0" i="1" smtClean="0">
                                    <a:latin typeface="Cambria Math" panose="02040503050406030204" pitchFamily="18" charset="0"/>
                                  </a:rPr>
                                  <m:t>2</m:t>
                                </m:r>
                              </m:den>
                            </m:f>
                          </m:sub>
                        </m:sSub>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𝜎</m:t>
                            </m:r>
                          </m:num>
                          <m:den>
                            <m:rad>
                              <m:radPr>
                                <m:degHide m:val="on"/>
                                <m:ctrlPr>
                                  <a:rPr lang="en-US" sz="2000" b="0" i="1" smtClean="0">
                                    <a:latin typeface="Cambria Math" panose="02040503050406030204" pitchFamily="18" charset="0"/>
                                  </a:rPr>
                                </m:ctrlPr>
                              </m:radPr>
                              <m:deg/>
                              <m:e>
                                <m:r>
                                  <a:rPr lang="en-US" sz="2000" b="0" i="1" smtClean="0">
                                    <a:latin typeface="Cambria Math" panose="02040503050406030204" pitchFamily="18" charset="0"/>
                                  </a:rPr>
                                  <m:t>𝑛</m:t>
                                </m:r>
                              </m:e>
                            </m:rad>
                          </m:den>
                        </m:f>
                      </m:e>
                    </m:d>
                  </m:oMath>
                </a14:m>
                <a:r>
                  <a:rPr lang="en-US" sz="2000" dirty="0">
                    <a:latin typeface="Arial" panose="020B0604020202020204" pitchFamily="34" charset="0"/>
                    <a:cs typeface="Arial" panose="020B0604020202020204" pitchFamily="34" charset="0"/>
                  </a:rPr>
                  <a:t>,</a:t>
                </a:r>
              </a:p>
              <a:p>
                <a:pPr marL="0" indent="0">
                  <a:buNone/>
                </a:pPr>
                <a:endParaRPr lang="en-US" sz="2000" b="0" dirty="0">
                  <a:latin typeface="Arial" panose="020B0604020202020204" pitchFamily="34" charset="0"/>
                  <a:cs typeface="Arial" panose="020B0604020202020204" pitchFamily="34" charset="0"/>
                </a:endParaRPr>
              </a:p>
              <a:p>
                <a:pPr marL="0" indent="0">
                  <a:buNone/>
                </a:pPr>
                <a:r>
                  <a:rPr lang="en-US" sz="2000" b="0" dirty="0">
                    <a:latin typeface="Arial" panose="020B0604020202020204" pitchFamily="34" charset="0"/>
                    <a:cs typeface="Arial" panose="020B0604020202020204" pitchFamily="34" charset="0"/>
                  </a:rPr>
                  <a:t>where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𝑧</m:t>
                        </m:r>
                      </m:e>
                      <m:sub>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𝛼</m:t>
                            </m:r>
                          </m:num>
                          <m:den>
                            <m:r>
                              <a:rPr lang="en-US" sz="2000" b="0" i="1" smtClean="0">
                                <a:latin typeface="Cambria Math" panose="02040503050406030204" pitchFamily="18" charset="0"/>
                              </a:rPr>
                              <m:t>2</m:t>
                            </m:r>
                          </m:den>
                        </m:f>
                      </m:sub>
                    </m:sSub>
                  </m:oMath>
                </a14:m>
                <a:r>
                  <a:rPr lang="en-US" sz="2000" dirty="0">
                    <a:latin typeface="Arial" panose="020B0604020202020204" pitchFamily="34" charset="0"/>
                    <a:cs typeface="Arial" panose="020B0604020202020204" pitchFamily="34" charset="0"/>
                  </a:rPr>
                  <a:t> is the </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1−</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𝛼</m:t>
                            </m:r>
                          </m:num>
                          <m:den>
                            <m:r>
                              <a:rPr lang="en-US" sz="2000" b="0" i="1" smtClean="0">
                                <a:latin typeface="Cambria Math" panose="02040503050406030204" pitchFamily="18" charset="0"/>
                              </a:rPr>
                              <m:t>2</m:t>
                            </m:r>
                          </m:den>
                        </m:f>
                      </m:e>
                    </m:d>
                    <m:r>
                      <a:rPr lang="en-US" sz="2000" b="0" i="1" smtClean="0">
                        <a:latin typeface="Cambria Math" panose="02040503050406030204" pitchFamily="18" charset="0"/>
                        <a:ea typeface="Cambria Math" panose="02040503050406030204" pitchFamily="18" charset="0"/>
                      </a:rPr>
                      <m:t> </m:t>
                    </m:r>
                  </m:oMath>
                </a14:m>
                <a:r>
                  <a:rPr lang="en-US" sz="2000" dirty="0">
                    <a:latin typeface="Arial" panose="020B0604020202020204" pitchFamily="34" charset="0"/>
                    <a:cs typeface="Arial" panose="020B0604020202020204" pitchFamily="34" charset="0"/>
                  </a:rPr>
                  <a:t>percentile of the standard normal </a:t>
                </a:r>
                <a14:m>
                  <m:oMath xmlns:m="http://schemas.openxmlformats.org/officeDocument/2006/math">
                    <m:r>
                      <a:rPr lang="en-US" sz="2000" b="0" i="1" smtClean="0">
                        <a:latin typeface="Cambria Math" panose="02040503050406030204" pitchFamily="18" charset="0"/>
                      </a:rPr>
                      <m:t>𝑍</m:t>
                    </m:r>
                    <m:r>
                      <a:rPr lang="en-US" sz="2000" b="0" i="1" smtClean="0">
                        <a:latin typeface="Cambria Math" panose="02040503050406030204" pitchFamily="18" charset="0"/>
                      </a:rPr>
                      <m:t>~</m:t>
                    </m:r>
                    <m:r>
                      <a:rPr lang="en-US" sz="2000" b="0" i="1" smtClean="0">
                        <a:latin typeface="Cambria Math" panose="02040503050406030204" pitchFamily="18" charset="0"/>
                      </a:rPr>
                      <m:t>𝑁</m:t>
                    </m:r>
                    <m:r>
                      <a:rPr lang="en-US" sz="2000" b="0" i="1" smtClean="0">
                        <a:latin typeface="Cambria Math" panose="02040503050406030204" pitchFamily="18" charset="0"/>
                      </a:rPr>
                      <m:t>(0,1)</m:t>
                    </m:r>
                  </m:oMath>
                </a14:m>
                <a:r>
                  <a:rPr lang="en-US" sz="2000" dirty="0">
                    <a:latin typeface="Arial" panose="020B0604020202020204" pitchFamily="34" charset="0"/>
                    <a:cs typeface="Arial" panose="020B0604020202020204" pitchFamily="34" charset="0"/>
                  </a:rPr>
                  <a:t> and </a:t>
                </a:r>
                <a14:m>
                  <m:oMath xmlns:m="http://schemas.openxmlformats.org/officeDocument/2006/math">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𝜎</m:t>
                        </m:r>
                      </m:num>
                      <m:den>
                        <m:rad>
                          <m:radPr>
                            <m:degHide m:val="on"/>
                            <m:ctrlPr>
                              <a:rPr lang="en-US" sz="2000" b="0" i="1" smtClean="0">
                                <a:latin typeface="Cambria Math" panose="02040503050406030204" pitchFamily="18" charset="0"/>
                              </a:rPr>
                            </m:ctrlPr>
                          </m:radPr>
                          <m:deg/>
                          <m:e>
                            <m:r>
                              <a:rPr lang="en-US" sz="2000" b="0" i="1" smtClean="0">
                                <a:latin typeface="Cambria Math" panose="02040503050406030204" pitchFamily="18" charset="0"/>
                              </a:rPr>
                              <m:t>𝑛</m:t>
                            </m:r>
                          </m:e>
                        </m:rad>
                      </m:den>
                    </m:f>
                  </m:oMath>
                </a14:m>
                <a:r>
                  <a:rPr lang="en-US" sz="2000" dirty="0">
                    <a:latin typeface="Arial" panose="020B0604020202020204" pitchFamily="34" charset="0"/>
                    <a:cs typeface="Arial" panose="020B0604020202020204" pitchFamily="34" charset="0"/>
                  </a:rPr>
                  <a:t> is the standard error of </a:t>
                </a:r>
                <a14:m>
                  <m:oMath xmlns:m="http://schemas.openxmlformats.org/officeDocument/2006/math">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𝑋</m:t>
                            </m:r>
                          </m:e>
                        </m:acc>
                      </m:e>
                      <m:sub>
                        <m:r>
                          <a:rPr lang="en-US" sz="2000" b="0" i="1" smtClean="0">
                            <a:latin typeface="Cambria Math" panose="02040503050406030204" pitchFamily="18" charset="0"/>
                          </a:rPr>
                          <m:t>𝑛</m:t>
                        </m:r>
                      </m:sub>
                    </m:sSub>
                  </m:oMath>
                </a14:m>
                <a:r>
                  <a:rPr lang="en-US" sz="2000" dirty="0">
                    <a:latin typeface="Arial" panose="020B0604020202020204" pitchFamily="34" charset="0"/>
                    <a:cs typeface="Arial" panose="020B0604020202020204" pitchFamily="34" charset="0"/>
                  </a:rPr>
                  <a:t>, the standard deviation of the sampling distribution</a:t>
                </a:r>
              </a:p>
            </p:txBody>
          </p:sp>
        </mc:Choice>
        <mc:Fallback>
          <p:sp>
            <p:nvSpPr>
              <p:cNvPr id="3" name="Content Placeholder 2">
                <a:extLst>
                  <a:ext uri="{FF2B5EF4-FFF2-40B4-BE49-F238E27FC236}">
                    <a16:creationId xmlns:a16="http://schemas.microsoft.com/office/drawing/2014/main" id="{3442F15A-4DFF-8795-C778-707A666ED6BC}"/>
                  </a:ext>
                </a:extLst>
              </p:cNvPr>
              <p:cNvSpPr>
                <a:spLocks noGrp="1" noRot="1" noChangeAspect="1" noMove="1" noResize="1" noEditPoints="1" noAdjustHandles="1" noChangeArrowheads="1" noChangeShapeType="1" noTextEdit="1"/>
              </p:cNvSpPr>
              <p:nvPr>
                <p:ph idx="1"/>
              </p:nvPr>
            </p:nvSpPr>
            <p:spPr>
              <a:xfrm>
                <a:off x="381000" y="1037684"/>
                <a:ext cx="10515600" cy="4351338"/>
              </a:xfrm>
              <a:blipFill>
                <a:blip r:embed="rId3"/>
                <a:stretch>
                  <a:fillRect l="-638" t="-1261"/>
                </a:stretch>
              </a:blipFill>
            </p:spPr>
            <p:txBody>
              <a:bodyPr/>
              <a:lstStyle/>
              <a:p>
                <a:r>
                  <a:rPr lang="en-US">
                    <a:noFill/>
                  </a:rPr>
                  <a:t> </a:t>
                </a:r>
              </a:p>
            </p:txBody>
          </p:sp>
        </mc:Fallback>
      </mc:AlternateContent>
    </p:spTree>
    <p:extLst>
      <p:ext uri="{BB962C8B-B14F-4D97-AF65-F5344CB8AC3E}">
        <p14:creationId xmlns:p14="http://schemas.microsoft.com/office/powerpoint/2010/main" val="7116739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BA7FE2-50FA-3315-ECA8-C769F043E4B1}"/>
              </a:ext>
            </a:extLst>
          </p:cNvPr>
          <p:cNvSpPr>
            <a:spLocks noGrp="1"/>
          </p:cNvSpPr>
          <p:nvPr>
            <p:ph type="title"/>
          </p:nvPr>
        </p:nvSpPr>
        <p:spPr>
          <a:xfrm>
            <a:off x="166990" y="113166"/>
            <a:ext cx="10515600" cy="591454"/>
          </a:xfrm>
        </p:spPr>
        <p:txBody>
          <a:bodyPr>
            <a:normAutofit fontScale="90000"/>
          </a:bodyPr>
          <a:lstStyle/>
          <a:p>
            <a:r>
              <a:rPr lang="en-US" dirty="0">
                <a:latin typeface="Aptos Display (Headings)"/>
              </a:rPr>
              <a:t>Example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A6A5EB9-7BF3-699D-5A37-7B03D6A8B2A9}"/>
                  </a:ext>
                </a:extLst>
              </p:cNvPr>
              <p:cNvSpPr>
                <a:spLocks noGrp="1"/>
              </p:cNvSpPr>
              <p:nvPr>
                <p:ph idx="1"/>
              </p:nvPr>
            </p:nvSpPr>
            <p:spPr>
              <a:xfrm>
                <a:off x="166990" y="704620"/>
                <a:ext cx="11428380" cy="5006744"/>
              </a:xfrm>
            </p:spPr>
            <p:txBody>
              <a:bodyPr>
                <a:normAutofit/>
              </a:bodyPr>
              <a:lstStyle/>
              <a:p>
                <a:pPr marL="0" indent="0" algn="l">
                  <a:buNone/>
                </a:pPr>
                <a:r>
                  <a:rPr lang="en-US" sz="2000" b="0" i="0" u="none" strike="noStrike" baseline="0" dirty="0">
                    <a:latin typeface="Arial" panose="020B0604020202020204" pitchFamily="34" charset="0"/>
                    <a:cs typeface="Arial" panose="020B0604020202020204" pitchFamily="34" charset="0"/>
                  </a:rPr>
                  <a:t>We measured the Child Behavior Checklist (CBCL) score of 40 randomly chosen children in foster care and got a mean score of 69. Suppose we know the standard deviation of CBCL scores in the population is 4. Find the 95% confidence interval of the </a:t>
                </a:r>
                <a:r>
                  <a:rPr lang="en-US" sz="2000" b="1" i="1" u="none" strike="noStrike" baseline="0" dirty="0">
                    <a:latin typeface="Arial" panose="020B0604020202020204" pitchFamily="34" charset="0"/>
                    <a:cs typeface="Arial" panose="020B0604020202020204" pitchFamily="34" charset="0"/>
                  </a:rPr>
                  <a:t>true mean </a:t>
                </a:r>
                <a:r>
                  <a:rPr lang="en-US" sz="2000" b="0" i="0" u="none" strike="noStrike" baseline="0" dirty="0">
                    <a:latin typeface="Arial" panose="020B0604020202020204" pitchFamily="34" charset="0"/>
                    <a:cs typeface="Arial" panose="020B0604020202020204" pitchFamily="34" charset="0"/>
                  </a:rPr>
                  <a:t>CBCL score of ALL children</a:t>
                </a:r>
              </a:p>
              <a:p>
                <a:pPr algn="l"/>
                <a:r>
                  <a:rPr lang="en-US" sz="2000" dirty="0">
                    <a:latin typeface="Arial" panose="020B0604020202020204" pitchFamily="34" charset="0"/>
                    <a:cs typeface="Arial" panose="020B0604020202020204" pitchFamily="34" charset="0"/>
                  </a:rPr>
                  <a:t>The point estimate of the sample mean, </a:t>
                </a:r>
                <a14:m>
                  <m:oMath xmlns:m="http://schemas.openxmlformats.org/officeDocument/2006/math">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𝑋</m:t>
                            </m:r>
                          </m:e>
                        </m:acc>
                      </m:e>
                      <m:sub>
                        <m:r>
                          <a:rPr lang="en-US" sz="2000" b="0" i="1" smtClean="0">
                            <a:latin typeface="Cambria Math" panose="02040503050406030204" pitchFamily="18" charset="0"/>
                          </a:rPr>
                          <m:t>𝑛</m:t>
                        </m:r>
                        <m:r>
                          <a:rPr lang="en-US" sz="2000" b="0" i="1" smtClean="0">
                            <a:latin typeface="Cambria Math" panose="02040503050406030204" pitchFamily="18" charset="0"/>
                          </a:rPr>
                          <m:t>=40</m:t>
                        </m:r>
                      </m:sub>
                    </m:sSub>
                    <m:r>
                      <a:rPr lang="en-US" sz="2000" b="0" i="1" smtClean="0">
                        <a:latin typeface="Cambria Math" panose="02040503050406030204" pitchFamily="18" charset="0"/>
                      </a:rPr>
                      <m:t>=69</m:t>
                    </m:r>
                  </m:oMath>
                </a14:m>
                <a:endParaRPr lang="en-US" sz="2000" dirty="0">
                  <a:latin typeface="Arial" panose="020B0604020202020204" pitchFamily="34" charset="0"/>
                  <a:cs typeface="Arial" panose="020B0604020202020204" pitchFamily="34" charset="0"/>
                </a:endParaRPr>
              </a:p>
              <a:p>
                <a:pPr algn="l"/>
                <a:r>
                  <a:rPr lang="en-US" sz="2000" dirty="0">
                    <a:latin typeface="Arial" panose="020B0604020202020204" pitchFamily="34" charset="0"/>
                    <a:cs typeface="Arial" panose="020B0604020202020204" pitchFamily="34" charset="0"/>
                  </a:rPr>
                  <a:t>The population standard deviation is </a:t>
                </a:r>
                <a14:m>
                  <m:oMath xmlns:m="http://schemas.openxmlformats.org/officeDocument/2006/math">
                    <m:r>
                      <a:rPr lang="en-US" sz="2000" b="0" i="1" smtClean="0">
                        <a:latin typeface="Cambria Math" panose="02040503050406030204" pitchFamily="18" charset="0"/>
                        <a:ea typeface="Cambria Math" panose="02040503050406030204" pitchFamily="18" charset="0"/>
                      </a:rPr>
                      <m:t>𝜎</m:t>
                    </m:r>
                    <m:r>
                      <a:rPr lang="en-US" sz="2000" b="0" i="1" smtClean="0">
                        <a:latin typeface="Cambria Math" panose="02040503050406030204" pitchFamily="18" charset="0"/>
                        <a:ea typeface="Cambria Math" panose="02040503050406030204" pitchFamily="18" charset="0"/>
                      </a:rPr>
                      <m:t>=4</m:t>
                    </m:r>
                  </m:oMath>
                </a14:m>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Compute the standard error of </a:t>
                </a:r>
                <a14:m>
                  <m:oMath xmlns:m="http://schemas.openxmlformats.org/officeDocument/2006/math">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𝑋</m:t>
                            </m:r>
                          </m:e>
                        </m:acc>
                      </m:e>
                      <m:sub>
                        <m:r>
                          <a:rPr lang="en-US" sz="2000" b="0" i="1" smtClean="0">
                            <a:latin typeface="Cambria Math" panose="02040503050406030204" pitchFamily="18" charset="0"/>
                          </a:rPr>
                          <m:t>40</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𝜎</m:t>
                        </m:r>
                      </m:num>
                      <m:den>
                        <m:rad>
                          <m:radPr>
                            <m:degHide m:val="on"/>
                            <m:ctrlPr>
                              <a:rPr lang="en-US" sz="2000" b="0" i="1" smtClean="0">
                                <a:latin typeface="Cambria Math" panose="02040503050406030204" pitchFamily="18" charset="0"/>
                              </a:rPr>
                            </m:ctrlPr>
                          </m:radPr>
                          <m:deg/>
                          <m:e>
                            <m:r>
                              <a:rPr lang="en-US" sz="2000" b="0" i="1" smtClean="0">
                                <a:latin typeface="Cambria Math" panose="02040503050406030204" pitchFamily="18" charset="0"/>
                              </a:rPr>
                              <m:t>𝑛</m:t>
                            </m:r>
                          </m:e>
                        </m:rad>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4</m:t>
                        </m:r>
                      </m:num>
                      <m:den>
                        <m:rad>
                          <m:radPr>
                            <m:degHide m:val="on"/>
                            <m:ctrlPr>
                              <a:rPr lang="en-US" sz="2000" b="0" i="1" smtClean="0">
                                <a:latin typeface="Cambria Math" panose="02040503050406030204" pitchFamily="18" charset="0"/>
                              </a:rPr>
                            </m:ctrlPr>
                          </m:radPr>
                          <m:deg/>
                          <m:e>
                            <m:r>
                              <a:rPr lang="en-US" sz="2000" b="0" i="1" smtClean="0">
                                <a:latin typeface="Cambria Math" panose="02040503050406030204" pitchFamily="18" charset="0"/>
                              </a:rPr>
                              <m:t>40</m:t>
                            </m:r>
                          </m:e>
                        </m:rad>
                      </m:den>
                    </m:f>
                    <m:r>
                      <a:rPr lang="en-US" sz="2000" b="0" i="1" smtClean="0">
                        <a:latin typeface="Cambria Math" panose="02040503050406030204" pitchFamily="18" charset="0"/>
                      </a:rPr>
                      <m:t>=.63</m:t>
                    </m:r>
                  </m:oMath>
                </a14:m>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What is the z-score representing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𝑧</m:t>
                        </m:r>
                      </m:e>
                      <m:sub>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𝛼</m:t>
                            </m:r>
                          </m:num>
                          <m:den>
                            <m:r>
                              <a:rPr lang="en-US" sz="2000" b="0" i="1" smtClean="0">
                                <a:latin typeface="Cambria Math" panose="02040503050406030204" pitchFamily="18" charset="0"/>
                              </a:rPr>
                              <m:t>2</m:t>
                            </m:r>
                          </m:den>
                        </m:f>
                      </m:sub>
                    </m:sSub>
                  </m:oMath>
                </a14:m>
                <a:r>
                  <a:rPr lang="en-US" sz="2000" dirty="0">
                    <a:latin typeface="Arial" panose="020B0604020202020204" pitchFamily="34" charset="0"/>
                    <a:cs typeface="Arial" panose="020B0604020202020204" pitchFamily="34" charset="0"/>
                  </a:rPr>
                  <a:t> which here =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𝑧</m:t>
                        </m:r>
                      </m:e>
                      <m:sub>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.05</m:t>
                            </m:r>
                          </m:num>
                          <m:den>
                            <m:r>
                              <a:rPr lang="en-US" sz="2000" b="0" i="1" smtClean="0">
                                <a:latin typeface="Cambria Math" panose="02040503050406030204" pitchFamily="18" charset="0"/>
                              </a:rPr>
                              <m:t>2</m:t>
                            </m:r>
                          </m:den>
                        </m:f>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r>
                          <a:rPr lang="en-US" sz="2000" b="0" i="1" smtClean="0">
                            <a:latin typeface="Cambria Math" panose="02040503050406030204" pitchFamily="18" charset="0"/>
                          </a:rPr>
                          <m:t>𝑧</m:t>
                        </m:r>
                      </m:e>
                      <m:sub>
                        <m:r>
                          <a:rPr lang="en-US" sz="2000" b="0" i="1" smtClean="0">
                            <a:latin typeface="Cambria Math" panose="02040503050406030204" pitchFamily="18" charset="0"/>
                          </a:rPr>
                          <m:t>.025</m:t>
                        </m:r>
                      </m:sub>
                    </m:sSub>
                  </m:oMath>
                </a14:m>
                <a:endParaRPr lang="en-US" sz="2000" dirty="0">
                  <a:latin typeface="Arial" panose="020B0604020202020204" pitchFamily="34" charset="0"/>
                  <a:cs typeface="Arial" panose="020B0604020202020204" pitchFamily="34" charset="0"/>
                </a:endParaRPr>
              </a:p>
            </p:txBody>
          </p:sp>
        </mc:Choice>
        <mc:Fallback>
          <p:sp>
            <p:nvSpPr>
              <p:cNvPr id="3" name="Content Placeholder 2">
                <a:extLst>
                  <a:ext uri="{FF2B5EF4-FFF2-40B4-BE49-F238E27FC236}">
                    <a16:creationId xmlns:a16="http://schemas.microsoft.com/office/drawing/2014/main" id="{BA6A5EB9-7BF3-699D-5A37-7B03D6A8B2A9}"/>
                  </a:ext>
                </a:extLst>
              </p:cNvPr>
              <p:cNvSpPr>
                <a:spLocks noGrp="1" noRot="1" noChangeAspect="1" noMove="1" noResize="1" noEditPoints="1" noAdjustHandles="1" noChangeArrowheads="1" noChangeShapeType="1" noTextEdit="1"/>
              </p:cNvSpPr>
              <p:nvPr>
                <p:ph idx="1"/>
              </p:nvPr>
            </p:nvSpPr>
            <p:spPr>
              <a:xfrm>
                <a:off x="166990" y="704620"/>
                <a:ext cx="11428380" cy="5006744"/>
              </a:xfrm>
              <a:blipFill>
                <a:blip r:embed="rId2"/>
                <a:stretch>
                  <a:fillRect l="-533" t="-12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20BF14D-AE30-9D05-AA73-C05B57FB0441}"/>
                  </a:ext>
                </a:extLst>
              </p:cNvPr>
              <p:cNvSpPr txBox="1"/>
              <p:nvPr/>
            </p:nvSpPr>
            <p:spPr>
              <a:xfrm>
                <a:off x="372480" y="3429000"/>
                <a:ext cx="3051935" cy="7087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acc>
                                <m:accPr>
                                  <m: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e>
                              </m:acc>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e>
                            <m:sub>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𝛼</m:t>
                                  </m:r>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den>
                              </m:f>
                            </m:sub>
                          </m:sSub>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𝜎</m:t>
                              </m:r>
                            </m:num>
                            <m:den>
                              <m:rad>
                                <m:radPr>
                                  <m:degHide m:val="on"/>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radPr>
                                <m:deg/>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e>
                              </m:rad>
                            </m:den>
                          </m:f>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acc>
                                <m:accPr>
                                  <m: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e>
                              </m:acc>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e>
                            <m:sub>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𝛼</m:t>
                                  </m:r>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den>
                              </m:f>
                            </m:sub>
                          </m:sSub>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𝜎</m:t>
                              </m:r>
                            </m:num>
                            <m:den>
                              <m:rad>
                                <m:radPr>
                                  <m:degHide m:val="on"/>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radPr>
                                <m:deg/>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e>
                              </m:rad>
                            </m:den>
                          </m:f>
                        </m:e>
                      </m:d>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E20BF14D-AE30-9D05-AA73-C05B57FB0441}"/>
                  </a:ext>
                </a:extLst>
              </p:cNvPr>
              <p:cNvSpPr txBox="1">
                <a:spLocks noRot="1" noChangeAspect="1" noMove="1" noResize="1" noEditPoints="1" noAdjustHandles="1" noChangeArrowheads="1" noChangeShapeType="1" noTextEdit="1"/>
              </p:cNvSpPr>
              <p:nvPr/>
            </p:nvSpPr>
            <p:spPr>
              <a:xfrm>
                <a:off x="372480" y="3429000"/>
                <a:ext cx="3051935" cy="7087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EAE27FB-0750-DE53-6100-F65E682AC040}"/>
                  </a:ext>
                </a:extLst>
              </p:cNvPr>
              <p:cNvSpPr txBox="1"/>
              <p:nvPr/>
            </p:nvSpPr>
            <p:spPr>
              <a:xfrm>
                <a:off x="265476" y="4197585"/>
                <a:ext cx="3423723"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69−1.96(.63),69+1.96(.63) </m:t>
                          </m:r>
                        </m:e>
                      </m:d>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CEAE27FB-0750-DE53-6100-F65E682AC040}"/>
                  </a:ext>
                </a:extLst>
              </p:cNvPr>
              <p:cNvSpPr txBox="1">
                <a:spLocks noRot="1" noChangeAspect="1" noMove="1" noResize="1" noEditPoints="1" noAdjustHandles="1" noChangeArrowheads="1" noChangeShapeType="1" noTextEdit="1"/>
              </p:cNvSpPr>
              <p:nvPr/>
            </p:nvSpPr>
            <p:spPr>
              <a:xfrm>
                <a:off x="265476" y="4197585"/>
                <a:ext cx="3423723" cy="369332"/>
              </a:xfrm>
              <a:prstGeom prst="rect">
                <a:avLst/>
              </a:prstGeom>
              <a:blipFill>
                <a:blip r:embed="rId4"/>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B8E2940-19C7-DDBE-C1FA-99C4A8078117}"/>
                  </a:ext>
                </a:extLst>
              </p:cNvPr>
              <p:cNvSpPr txBox="1"/>
              <p:nvPr/>
            </p:nvSpPr>
            <p:spPr>
              <a:xfrm>
                <a:off x="912969" y="4630100"/>
                <a:ext cx="197095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67.77, 70.23</m:t>
                          </m:r>
                        </m:e>
                      </m:d>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8" name="TextBox 7">
                <a:extLst>
                  <a:ext uri="{FF2B5EF4-FFF2-40B4-BE49-F238E27FC236}">
                    <a16:creationId xmlns:a16="http://schemas.microsoft.com/office/drawing/2014/main" id="{BB8E2940-19C7-DDBE-C1FA-99C4A8078117}"/>
                  </a:ext>
                </a:extLst>
              </p:cNvPr>
              <p:cNvSpPr txBox="1">
                <a:spLocks noRot="1" noChangeAspect="1" noMove="1" noResize="1" noEditPoints="1" noAdjustHandles="1" noChangeArrowheads="1" noChangeShapeType="1" noTextEdit="1"/>
              </p:cNvSpPr>
              <p:nvPr/>
            </p:nvSpPr>
            <p:spPr>
              <a:xfrm>
                <a:off x="912969" y="4630100"/>
                <a:ext cx="1970956" cy="369332"/>
              </a:xfrm>
              <a:prstGeom prst="rect">
                <a:avLst/>
              </a:prstGeom>
              <a:blipFill>
                <a:blip r:embed="rId5"/>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1E0A7B9A-05F9-FE17-C351-65D1A877D5F3}"/>
              </a:ext>
            </a:extLst>
          </p:cNvPr>
          <p:cNvSpPr txBox="1"/>
          <p:nvPr/>
        </p:nvSpPr>
        <p:spPr>
          <a:xfrm>
            <a:off x="265476" y="4999432"/>
            <a:ext cx="4624984"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Reflects the uncertainty of our estimate</a:t>
            </a:r>
          </a:p>
        </p:txBody>
      </p:sp>
    </p:spTree>
    <p:extLst>
      <p:ext uri="{BB962C8B-B14F-4D97-AF65-F5344CB8AC3E}">
        <p14:creationId xmlns:p14="http://schemas.microsoft.com/office/powerpoint/2010/main" val="1266008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anim calcmode="lin" valueType="num">
                                      <p:cBhvr additive="base">
                                        <p:cTn id="1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 calcmode="lin" valueType="num">
                                      <p:cBhvr additive="base">
                                        <p:cTn id="1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anim calcmode="lin" valueType="num">
                                      <p:cBhvr additive="base">
                                        <p:cTn id="25" dur="500" fill="hold"/>
                                        <p:tgtEl>
                                          <p:spTgt spid="5"/>
                                        </p:tgtEl>
                                        <p:attrNameLst>
                                          <p:attrName>ppt_x</p:attrName>
                                        </p:attrNameLst>
                                      </p:cBhvr>
                                      <p:tavLst>
                                        <p:tav tm="0">
                                          <p:val>
                                            <p:strVal val="#ppt_x"/>
                                          </p:val>
                                        </p:tav>
                                        <p:tav tm="100000">
                                          <p:val>
                                            <p:strVal val="#ppt_x"/>
                                          </p:val>
                                        </p:tav>
                                      </p:tavLst>
                                    </p:anim>
                                    <p:anim calcmode="lin" valueType="num">
                                      <p:cBhvr additive="base">
                                        <p:cTn id="26" dur="500" fill="hold"/>
                                        <p:tgtEl>
                                          <p:spTgt spid="5"/>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ppt_x</p:attrName>
                                        </p:attrNameLst>
                                      </p:cBhvr>
                                      <p:tavLst>
                                        <p:tav tm="0">
                                          <p:val>
                                            <p:strVal val="#ppt_x"/>
                                          </p:val>
                                        </p:tav>
                                        <p:tav tm="100000">
                                          <p:val>
                                            <p:strVal val="#ppt_x"/>
                                          </p:val>
                                        </p:tav>
                                      </p:tavLst>
                                    </p:anim>
                                    <p:anim calcmode="lin" valueType="num">
                                      <p:cBhvr additive="base">
                                        <p:cTn id="34" dur="500" fill="hold"/>
                                        <p:tgtEl>
                                          <p:spTgt spid="8"/>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ppt_x</p:attrName>
                                        </p:attrNameLst>
                                      </p:cBhvr>
                                      <p:tavLst>
                                        <p:tav tm="0">
                                          <p:val>
                                            <p:strVal val="#ppt_x"/>
                                          </p:val>
                                        </p:tav>
                                        <p:tav tm="100000">
                                          <p:val>
                                            <p:strVal val="#ppt_x"/>
                                          </p:val>
                                        </p:tav>
                                      </p:tavLst>
                                    </p:anim>
                                    <p:anim calcmode="lin" valueType="num">
                                      <p:cBhvr additive="base">
                                        <p:cTn id="3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8"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281C2-BF80-27D4-1CB1-68D06C1F71AF}"/>
              </a:ext>
            </a:extLst>
          </p:cNvPr>
          <p:cNvSpPr>
            <a:spLocks noGrp="1"/>
          </p:cNvSpPr>
          <p:nvPr>
            <p:ph type="title"/>
          </p:nvPr>
        </p:nvSpPr>
        <p:spPr>
          <a:xfrm>
            <a:off x="98898" y="170571"/>
            <a:ext cx="10515600" cy="714645"/>
          </a:xfrm>
        </p:spPr>
        <p:txBody>
          <a:bodyPr/>
          <a:lstStyle/>
          <a:p>
            <a:r>
              <a:rPr lang="en-US" dirty="0">
                <a:latin typeface="Aptos Display (Headings)"/>
              </a:rPr>
              <a:t>How do we interpret the CI?</a:t>
            </a:r>
          </a:p>
        </p:txBody>
      </p:sp>
      <p:sp>
        <p:nvSpPr>
          <p:cNvPr id="3" name="Content Placeholder 2">
            <a:extLst>
              <a:ext uri="{FF2B5EF4-FFF2-40B4-BE49-F238E27FC236}">
                <a16:creationId xmlns:a16="http://schemas.microsoft.com/office/drawing/2014/main" id="{50B7A43F-378D-1480-B056-D9683A3ECCFE}"/>
              </a:ext>
            </a:extLst>
          </p:cNvPr>
          <p:cNvSpPr>
            <a:spLocks noGrp="1"/>
          </p:cNvSpPr>
          <p:nvPr>
            <p:ph idx="1"/>
          </p:nvPr>
        </p:nvSpPr>
        <p:spPr>
          <a:xfrm>
            <a:off x="293450" y="885216"/>
            <a:ext cx="11010089" cy="4351338"/>
          </a:xfrm>
        </p:spPr>
        <p:txBody>
          <a:bodyPr>
            <a:noAutofit/>
          </a:bodyPr>
          <a:lstStyle/>
          <a:p>
            <a:pPr algn="l"/>
            <a:r>
              <a:rPr lang="en-US" sz="2000" dirty="0">
                <a:latin typeface="Arial" panose="020B0604020202020204" pitchFamily="34" charset="0"/>
                <a:cs typeface="Arial" panose="020B0604020202020204" pitchFamily="34" charset="0"/>
              </a:rPr>
              <a:t>In general, </a:t>
            </a:r>
            <a:r>
              <a:rPr lang="en-US" sz="2000" b="0" i="0" u="none" strike="noStrike" baseline="0" dirty="0">
                <a:latin typeface="Arial" panose="020B0604020202020204" pitchFamily="34" charset="0"/>
                <a:cs typeface="Arial" panose="020B0604020202020204" pitchFamily="34" charset="0"/>
              </a:rPr>
              <a:t>If we were to take many random samples then (1 −𝛼 )% of these confidence intervals will contain the true population mean, 𝜇</a:t>
            </a:r>
          </a:p>
          <a:p>
            <a:r>
              <a:rPr lang="en-US" sz="2000" dirty="0">
                <a:latin typeface="Arial" panose="020B0604020202020204" pitchFamily="34" charset="0"/>
                <a:cs typeface="Arial" panose="020B0604020202020204" pitchFamily="34" charset="0"/>
              </a:rPr>
              <a:t>[67.77, 70.23] (?)</a:t>
            </a:r>
          </a:p>
          <a:p>
            <a:pPr algn="l"/>
            <a:r>
              <a:rPr lang="en-US" sz="2000" dirty="0">
                <a:latin typeface="Arial" panose="020B0604020202020204" pitchFamily="34" charset="0"/>
                <a:cs typeface="Arial" panose="020B0604020202020204" pitchFamily="34" charset="0"/>
              </a:rPr>
              <a:t>This means that we are 95% confident that the true </a:t>
            </a:r>
            <a:r>
              <a:rPr lang="en-US" sz="2000" u="sng" dirty="0">
                <a:latin typeface="Arial" panose="020B0604020202020204" pitchFamily="34" charset="0"/>
                <a:cs typeface="Arial" panose="020B0604020202020204" pitchFamily="34" charset="0"/>
              </a:rPr>
              <a:t>population</a:t>
            </a:r>
            <a:r>
              <a:rPr lang="en-US" sz="2000" dirty="0">
                <a:latin typeface="Arial" panose="020B0604020202020204" pitchFamily="34" charset="0"/>
                <a:cs typeface="Arial" panose="020B0604020202020204" pitchFamily="34" charset="0"/>
              </a:rPr>
              <a:t> mean lies in the interval [67.77, 70.23]</a:t>
            </a:r>
          </a:p>
          <a:p>
            <a:pPr algn="l"/>
            <a:r>
              <a:rPr lang="en-US" sz="2000" dirty="0">
                <a:latin typeface="Arial" panose="020B0604020202020204" pitchFamily="34" charset="0"/>
                <a:cs typeface="Arial" panose="020B0604020202020204" pitchFamily="34" charset="0"/>
              </a:rPr>
              <a:t>Recall: there is a relationship between the confidence interval and hypothesis testing</a:t>
            </a:r>
          </a:p>
          <a:p>
            <a:pPr lvl="1"/>
            <a:r>
              <a:rPr lang="en-US" sz="2000" dirty="0">
                <a:latin typeface="Arial" panose="020B0604020202020204" pitchFamily="34" charset="0"/>
                <a:cs typeface="Arial" panose="020B0604020202020204" pitchFamily="34" charset="0"/>
              </a:rPr>
              <a:t>Any value outside the confidence interval is in our rejection region</a:t>
            </a:r>
          </a:p>
          <a:p>
            <a:pPr lvl="1"/>
            <a:r>
              <a:rPr lang="en-US" sz="2000" dirty="0">
                <a:latin typeface="Arial" panose="020B0604020202020204" pitchFamily="34" charset="0"/>
                <a:cs typeface="Arial" panose="020B0604020202020204" pitchFamily="34" charset="0"/>
              </a:rPr>
              <a:t>So, the confidence interval represents the outermost limits of statistical significance</a:t>
            </a:r>
          </a:p>
          <a:p>
            <a:pPr lvl="1"/>
            <a:r>
              <a:rPr lang="en-US" sz="2000" dirty="0">
                <a:latin typeface="Arial" panose="020B0604020202020204" pitchFamily="34" charset="0"/>
                <a:cs typeface="Arial" panose="020B0604020202020204" pitchFamily="34" charset="0"/>
              </a:rPr>
              <a:t>A CBCL score of 65 is too unlikely to occur by chance and is significantly different from the population mean of 69</a:t>
            </a:r>
          </a:p>
          <a:p>
            <a:pPr lvl="1"/>
            <a:r>
              <a:rPr lang="en-US" sz="2000" dirty="0">
                <a:latin typeface="Arial" panose="020B0604020202020204" pitchFamily="34" charset="0"/>
                <a:cs typeface="Arial" panose="020B0604020202020204" pitchFamily="34" charset="0"/>
              </a:rPr>
              <a:t>What about a score of 70?</a:t>
            </a:r>
          </a:p>
        </p:txBody>
      </p:sp>
    </p:spTree>
    <p:extLst>
      <p:ext uri="{BB962C8B-B14F-4D97-AF65-F5344CB8AC3E}">
        <p14:creationId xmlns:p14="http://schemas.microsoft.com/office/powerpoint/2010/main" val="2200664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1000"/>
                                        <p:tgtEl>
                                          <p:spTgt spid="3">
                                            <p:txEl>
                                              <p:pRg st="3" end="3"/>
                                            </p:txEl>
                                          </p:spTgt>
                                        </p:tgtEl>
                                      </p:cBhvr>
                                    </p:animEffect>
                                    <p:anim calcmode="lin" valueType="num">
                                      <p:cBhvr>
                                        <p:cTn id="14"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 calcmode="lin" valueType="num">
                                      <p:cBhvr additive="base">
                                        <p:cTn id="20"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 calcmode="lin" valueType="num">
                                      <p:cBhvr additive="base">
                                        <p:cTn id="24"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nodeType="click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 calcmode="lin" valueType="num">
                                      <p:cBhvr additive="base">
                                        <p:cTn id="30"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2" presetID="2" presetClass="entr" presetSubtype="4" fill="hold" nodeType="with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 calcmode="lin" valueType="num">
                                      <p:cBhvr additive="base">
                                        <p:cTn id="34"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5"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C7D4E-82F3-5048-737F-723B51D79DAE}"/>
              </a:ext>
            </a:extLst>
          </p:cNvPr>
          <p:cNvSpPr>
            <a:spLocks noGrp="1"/>
          </p:cNvSpPr>
          <p:nvPr>
            <p:ph type="title"/>
          </p:nvPr>
        </p:nvSpPr>
        <p:spPr>
          <a:xfrm>
            <a:off x="371272" y="209483"/>
            <a:ext cx="10515600" cy="763284"/>
          </a:xfrm>
        </p:spPr>
        <p:txBody>
          <a:bodyPr/>
          <a:lstStyle/>
          <a:p>
            <a:r>
              <a:rPr lang="en-US" dirty="0">
                <a:latin typeface="Aptos Display (Headings)"/>
              </a:rPr>
              <a:t>Conceptual Understanding of CIs</a:t>
            </a:r>
          </a:p>
        </p:txBody>
      </p:sp>
      <p:pic>
        <p:nvPicPr>
          <p:cNvPr id="5" name="Content Placeholder 4">
            <a:extLst>
              <a:ext uri="{FF2B5EF4-FFF2-40B4-BE49-F238E27FC236}">
                <a16:creationId xmlns:a16="http://schemas.microsoft.com/office/drawing/2014/main" id="{32C0C8BA-F7E6-530B-7768-B7EAE704D05F}"/>
              </a:ext>
            </a:extLst>
          </p:cNvPr>
          <p:cNvPicPr>
            <a:picLocks noGrp="1" noChangeAspect="1"/>
          </p:cNvPicPr>
          <p:nvPr>
            <p:ph idx="1"/>
          </p:nvPr>
        </p:nvPicPr>
        <p:blipFill>
          <a:blip r:embed="rId2"/>
          <a:stretch>
            <a:fillRect/>
          </a:stretch>
        </p:blipFill>
        <p:spPr>
          <a:xfrm>
            <a:off x="262646" y="972767"/>
            <a:ext cx="8070655" cy="5151183"/>
          </a:xfrm>
        </p:spPr>
      </p:pic>
      <p:sp>
        <p:nvSpPr>
          <p:cNvPr id="3" name="TextBox 2">
            <a:extLst>
              <a:ext uri="{FF2B5EF4-FFF2-40B4-BE49-F238E27FC236}">
                <a16:creationId xmlns:a16="http://schemas.microsoft.com/office/drawing/2014/main" id="{B9D4E1C7-614F-07AC-C42D-8F5CFFE58B2F}"/>
              </a:ext>
            </a:extLst>
          </p:cNvPr>
          <p:cNvSpPr txBox="1"/>
          <p:nvPr/>
        </p:nvSpPr>
        <p:spPr>
          <a:xfrm>
            <a:off x="8333301" y="474345"/>
            <a:ext cx="3338310" cy="59093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vertical lines (error bars) represent confidence intervals around the estimated means.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small dots at the center of each line are the point estimates (e.g., means or effect sizes).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red lines are significantly above the mean, the blue lines overlap</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blue lines indicate estimates that contain the reference value (μ).</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red lines indicate confidence intervals that do not include μ, suggesting statistical significance</a:t>
            </a:r>
          </a:p>
        </p:txBody>
      </p:sp>
    </p:spTree>
    <p:extLst>
      <p:ext uri="{BB962C8B-B14F-4D97-AF65-F5344CB8AC3E}">
        <p14:creationId xmlns:p14="http://schemas.microsoft.com/office/powerpoint/2010/main" val="18517442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37354-EF81-C50A-3820-2B566B3B71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79D810-D272-D7B6-D4A2-E65BF4304048}"/>
              </a:ext>
            </a:extLst>
          </p:cNvPr>
          <p:cNvSpPr>
            <a:spLocks noGrp="1"/>
          </p:cNvSpPr>
          <p:nvPr>
            <p:ph type="title"/>
          </p:nvPr>
        </p:nvSpPr>
        <p:spPr>
          <a:xfrm>
            <a:off x="98898" y="182663"/>
            <a:ext cx="10515600" cy="741465"/>
          </a:xfrm>
        </p:spPr>
        <p:txBody>
          <a:bodyPr/>
          <a:lstStyle/>
          <a:p>
            <a:r>
              <a:rPr lang="en-US" dirty="0">
                <a:latin typeface="Aptos Display (Headings)"/>
              </a:rPr>
              <a:t>Central Limit Theorem (CLT) - Redux</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1B72F6C-1730-9920-3B9D-ABB99AE28279}"/>
                  </a:ext>
                </a:extLst>
              </p:cNvPr>
              <p:cNvSpPr>
                <a:spLocks noGrp="1"/>
              </p:cNvSpPr>
              <p:nvPr>
                <p:ph idx="1"/>
              </p:nvPr>
            </p:nvSpPr>
            <p:spPr>
              <a:xfrm>
                <a:off x="332362" y="1130772"/>
                <a:ext cx="10515600" cy="4351338"/>
              </a:xfrm>
            </p:spPr>
            <p:txBody>
              <a:bodyPr>
                <a:normAutofit/>
              </a:bodyPr>
              <a:lstStyle/>
              <a:p>
                <a:r>
                  <a:rPr lang="en-US" sz="2000" dirty="0">
                    <a:latin typeface="Arial" panose="020B0604020202020204" pitchFamily="34" charset="0"/>
                    <a:cs typeface="Arial" panose="020B0604020202020204" pitchFamily="34" charset="0"/>
                  </a:rPr>
                  <a:t>The</a:t>
                </a:r>
                <a:r>
                  <a:rPr lang="en-US" sz="2000" spc="-20" dirty="0">
                    <a:latin typeface="Arial" panose="020B0604020202020204" pitchFamily="34" charset="0"/>
                    <a:cs typeface="Arial" panose="020B0604020202020204" pitchFamily="34" charset="0"/>
                  </a:rPr>
                  <a:t> </a:t>
                </a:r>
                <a:r>
                  <a:rPr lang="en-US" sz="2000" b="1" dirty="0">
                    <a:latin typeface="Arial" panose="020B0604020202020204" pitchFamily="34" charset="0"/>
                    <a:cs typeface="Arial" panose="020B0604020202020204" pitchFamily="34" charset="0"/>
                  </a:rPr>
                  <a:t>sampling</a:t>
                </a:r>
                <a:r>
                  <a:rPr lang="en-US" sz="2000" b="1" spc="-15" dirty="0">
                    <a:latin typeface="Arial" panose="020B0604020202020204" pitchFamily="34" charset="0"/>
                    <a:cs typeface="Arial" panose="020B0604020202020204" pitchFamily="34" charset="0"/>
                  </a:rPr>
                  <a:t> </a:t>
                </a:r>
                <a:r>
                  <a:rPr lang="en-US" sz="2000" b="1" spc="-10" dirty="0">
                    <a:latin typeface="Arial" panose="020B0604020202020204" pitchFamily="34" charset="0"/>
                    <a:cs typeface="Arial" panose="020B0604020202020204" pitchFamily="34" charset="0"/>
                  </a:rPr>
                  <a:t>distribution</a:t>
                </a:r>
                <a:r>
                  <a:rPr lang="en-US" sz="2000" b="1" spc="-15"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of</a:t>
                </a:r>
                <a:r>
                  <a:rPr lang="en-US" sz="2000" spc="-15" dirty="0">
                    <a:latin typeface="Arial" panose="020B0604020202020204" pitchFamily="34" charset="0"/>
                    <a:cs typeface="Arial" panose="020B0604020202020204" pitchFamily="34" charset="0"/>
                  </a:rPr>
                  <a:t> </a:t>
                </a:r>
                <a14:m>
                  <m:oMath xmlns:m="http://schemas.openxmlformats.org/officeDocument/2006/math">
                    <m:sSub>
                      <m:sSubPr>
                        <m:ctrlPr>
                          <a:rPr lang="en-US" sz="2000" i="1" spc="-15" smtClean="0">
                            <a:latin typeface="Cambria Math" panose="02040503050406030204" pitchFamily="18" charset="0"/>
                            <a:cs typeface="Arial"/>
                          </a:rPr>
                        </m:ctrlPr>
                      </m:sSubPr>
                      <m:e>
                        <m:acc>
                          <m:accPr>
                            <m:chr m:val="̅"/>
                            <m:ctrlPr>
                              <a:rPr lang="en-US" sz="2000" i="1" spc="-15" smtClean="0">
                                <a:latin typeface="Cambria Math" panose="02040503050406030204" pitchFamily="18" charset="0"/>
                                <a:cs typeface="Arial"/>
                              </a:rPr>
                            </m:ctrlPr>
                          </m:accPr>
                          <m:e>
                            <m:r>
                              <a:rPr lang="en-US" sz="2000" b="0" i="1" spc="-15" smtClean="0">
                                <a:latin typeface="Cambria Math" panose="02040503050406030204" pitchFamily="18" charset="0"/>
                                <a:cs typeface="Arial"/>
                              </a:rPr>
                              <m:t>𝑋</m:t>
                            </m:r>
                          </m:e>
                        </m:acc>
                      </m:e>
                      <m:sub>
                        <m:r>
                          <a:rPr lang="en-US" sz="2000" b="0" i="1" spc="-15" smtClean="0">
                            <a:latin typeface="Cambria Math" panose="02040503050406030204" pitchFamily="18" charset="0"/>
                            <a:cs typeface="Arial"/>
                          </a:rPr>
                          <m:t>𝑛</m:t>
                        </m:r>
                      </m:sub>
                    </m:sSub>
                  </m:oMath>
                </a14:m>
                <a:r>
                  <a:rPr lang="en-US" sz="2000" i="1" spc="202" baseline="-11904"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will</a:t>
                </a:r>
                <a:r>
                  <a:rPr lang="en-US" sz="2000" spc="-15"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become</a:t>
                </a:r>
                <a:r>
                  <a:rPr lang="en-US" sz="2000" spc="-15" dirty="0">
                    <a:latin typeface="Arial" panose="020B0604020202020204" pitchFamily="34" charset="0"/>
                    <a:cs typeface="Arial" panose="020B0604020202020204" pitchFamily="34" charset="0"/>
                  </a:rPr>
                  <a:t> </a:t>
                </a:r>
                <a:r>
                  <a:rPr lang="en-US" sz="2000" spc="-10" dirty="0">
                    <a:latin typeface="Arial" panose="020B0604020202020204" pitchFamily="34" charset="0"/>
                    <a:cs typeface="Arial" panose="020B0604020202020204" pitchFamily="34" charset="0"/>
                  </a:rPr>
                  <a:t>approximately </a:t>
                </a:r>
                <a:r>
                  <a:rPr lang="en-US" sz="2000" dirty="0">
                    <a:solidFill>
                      <a:srgbClr val="FF0000"/>
                    </a:solidFill>
                    <a:latin typeface="Arial" panose="020B0604020202020204" pitchFamily="34" charset="0"/>
                    <a:cs typeface="Arial" panose="020B0604020202020204" pitchFamily="34" charset="0"/>
                  </a:rPr>
                  <a:t>normally</a:t>
                </a:r>
                <a:r>
                  <a:rPr lang="en-US" sz="2000" b="1" spc="-20" dirty="0">
                    <a:solidFill>
                      <a:srgbClr val="0000FF"/>
                    </a:solidFill>
                    <a:latin typeface="Arial" panose="020B0604020202020204" pitchFamily="34" charset="0"/>
                    <a:cs typeface="Arial" panose="020B0604020202020204" pitchFamily="34" charset="0"/>
                  </a:rPr>
                  <a:t> </a:t>
                </a:r>
                <a:r>
                  <a:rPr lang="en-US" sz="2000" spc="-10" dirty="0">
                    <a:solidFill>
                      <a:srgbClr val="FF0000"/>
                    </a:solidFill>
                    <a:latin typeface="Arial" panose="020B0604020202020204" pitchFamily="34" charset="0"/>
                    <a:cs typeface="Arial" panose="020B0604020202020204" pitchFamily="34" charset="0"/>
                  </a:rPr>
                  <a:t>distributed</a:t>
                </a:r>
                <a:r>
                  <a:rPr lang="en-US" sz="2000" b="1" spc="-20" dirty="0">
                    <a:solidFill>
                      <a:srgbClr val="0000FF"/>
                    </a:solidFill>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as</a:t>
                </a:r>
                <a:r>
                  <a:rPr lang="en-US" sz="2000" spc="-2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the</a:t>
                </a:r>
                <a:r>
                  <a:rPr lang="en-US" sz="2000" spc="-20" dirty="0">
                    <a:latin typeface="Arial" panose="020B0604020202020204" pitchFamily="34" charset="0"/>
                    <a:cs typeface="Arial" panose="020B0604020202020204" pitchFamily="34" charset="0"/>
                  </a:rPr>
                  <a:t> </a:t>
                </a:r>
                <a:r>
                  <a:rPr lang="en-US" sz="2000" b="1" dirty="0">
                    <a:latin typeface="Arial" panose="020B0604020202020204" pitchFamily="34" charset="0"/>
                    <a:cs typeface="Arial" panose="020B0604020202020204" pitchFamily="34" charset="0"/>
                  </a:rPr>
                  <a:t>sample</a:t>
                </a:r>
                <a:r>
                  <a:rPr lang="en-US" sz="2000" b="1" spc="-20" dirty="0">
                    <a:latin typeface="Arial" panose="020B0604020202020204" pitchFamily="34" charset="0"/>
                    <a:cs typeface="Arial" panose="020B0604020202020204" pitchFamily="34" charset="0"/>
                  </a:rPr>
                  <a:t> </a:t>
                </a:r>
                <a:r>
                  <a:rPr lang="en-US" sz="2000" b="1" dirty="0">
                    <a:latin typeface="Arial" panose="020B0604020202020204" pitchFamily="34" charset="0"/>
                    <a:cs typeface="Arial" panose="020B0604020202020204" pitchFamily="34" charset="0"/>
                  </a:rPr>
                  <a:t>size</a:t>
                </a:r>
                <a:r>
                  <a:rPr lang="en-US" sz="2000" b="1" spc="-20" dirty="0">
                    <a:latin typeface="Arial" panose="020B0604020202020204" pitchFamily="34" charset="0"/>
                    <a:cs typeface="Arial" panose="020B0604020202020204" pitchFamily="34" charset="0"/>
                  </a:rPr>
                  <a:t> </a:t>
                </a:r>
                <a:r>
                  <a:rPr lang="en-US" sz="2000" b="1" dirty="0">
                    <a:latin typeface="Arial" panose="020B0604020202020204" pitchFamily="34" charset="0"/>
                    <a:cs typeface="Arial" panose="020B0604020202020204" pitchFamily="34" charset="0"/>
                  </a:rPr>
                  <a:t>(</a:t>
                </a:r>
                <a:r>
                  <a:rPr lang="en-US" sz="2000" i="1" dirty="0">
                    <a:latin typeface="Arial" panose="020B0604020202020204" pitchFamily="34" charset="0"/>
                    <a:cs typeface="Arial" panose="020B0604020202020204" pitchFamily="34" charset="0"/>
                  </a:rPr>
                  <a:t>n</a:t>
                </a:r>
                <a:r>
                  <a:rPr lang="en-US" sz="2000" b="1" dirty="0">
                    <a:latin typeface="Arial" panose="020B0604020202020204" pitchFamily="34" charset="0"/>
                    <a:cs typeface="Arial" panose="020B0604020202020204" pitchFamily="34" charset="0"/>
                  </a:rPr>
                  <a:t>)</a:t>
                </a:r>
                <a:r>
                  <a:rPr lang="en-US" sz="2000" b="1" spc="-20" dirty="0">
                    <a:latin typeface="Arial" panose="020B0604020202020204" pitchFamily="34" charset="0"/>
                    <a:cs typeface="Arial" panose="020B0604020202020204" pitchFamily="34" charset="0"/>
                  </a:rPr>
                  <a:t> </a:t>
                </a:r>
                <a:r>
                  <a:rPr lang="en-US" sz="2000" b="1" spc="-10" dirty="0">
                    <a:latin typeface="Arial" panose="020B0604020202020204" pitchFamily="34" charset="0"/>
                    <a:cs typeface="Arial" panose="020B0604020202020204" pitchFamily="34" charset="0"/>
                  </a:rPr>
                  <a:t>becomes </a:t>
                </a:r>
                <a:r>
                  <a:rPr lang="en-US" sz="2000" b="1" dirty="0">
                    <a:latin typeface="Arial" panose="020B0604020202020204" pitchFamily="34" charset="0"/>
                    <a:cs typeface="Arial" panose="020B0604020202020204" pitchFamily="34" charset="0"/>
                  </a:rPr>
                  <a:t>“large"</a:t>
                </a:r>
                <a:r>
                  <a:rPr lang="en-US" sz="2000" dirty="0">
                    <a:latin typeface="Arial" panose="020B0604020202020204" pitchFamily="34" charset="0"/>
                    <a:cs typeface="Arial" panose="020B0604020202020204" pitchFamily="34" charset="0"/>
                  </a:rPr>
                  <a:t>,</a:t>
                </a:r>
                <a:r>
                  <a:rPr lang="en-US" sz="2000" spc="-20" dirty="0">
                    <a:latin typeface="Arial" panose="020B0604020202020204" pitchFamily="34" charset="0"/>
                    <a:cs typeface="Arial" panose="020B0604020202020204" pitchFamily="34" charset="0"/>
                  </a:rPr>
                  <a:t> </a:t>
                </a:r>
                <a:r>
                  <a:rPr lang="en-US" sz="2000" spc="-10" dirty="0">
                    <a:solidFill>
                      <a:srgbClr val="FF0000"/>
                    </a:solidFill>
                    <a:latin typeface="Arial" panose="020B0604020202020204" pitchFamily="34" charset="0"/>
                    <a:cs typeface="Arial" panose="020B0604020202020204" pitchFamily="34" charset="0"/>
                  </a:rPr>
                  <a:t>regardless</a:t>
                </a:r>
                <a:r>
                  <a:rPr lang="en-US" sz="2000" spc="-20" dirty="0">
                    <a:solidFill>
                      <a:srgbClr val="FF0000"/>
                    </a:solidFill>
                    <a:latin typeface="Arial" panose="020B0604020202020204" pitchFamily="34" charset="0"/>
                    <a:cs typeface="Arial" panose="020B0604020202020204" pitchFamily="34" charset="0"/>
                  </a:rPr>
                  <a:t> </a:t>
                </a:r>
                <a:r>
                  <a:rPr lang="en-US" sz="2000" dirty="0">
                    <a:solidFill>
                      <a:srgbClr val="FF0000"/>
                    </a:solidFill>
                    <a:latin typeface="Arial" panose="020B0604020202020204" pitchFamily="34" charset="0"/>
                    <a:cs typeface="Arial" panose="020B0604020202020204" pitchFamily="34" charset="0"/>
                  </a:rPr>
                  <a:t>of</a:t>
                </a:r>
                <a:r>
                  <a:rPr lang="en-US" sz="2000" spc="-15" dirty="0">
                    <a:solidFill>
                      <a:srgbClr val="FF0000"/>
                    </a:solidFill>
                    <a:latin typeface="Arial" panose="020B0604020202020204" pitchFamily="34" charset="0"/>
                    <a:cs typeface="Arial" panose="020B0604020202020204" pitchFamily="34" charset="0"/>
                  </a:rPr>
                  <a:t> </a:t>
                </a:r>
                <a:r>
                  <a:rPr lang="en-US" sz="2000" dirty="0">
                    <a:solidFill>
                      <a:srgbClr val="FF0000"/>
                    </a:solidFill>
                    <a:latin typeface="Arial" panose="020B0604020202020204" pitchFamily="34" charset="0"/>
                    <a:cs typeface="Arial" panose="020B0604020202020204" pitchFamily="34" charset="0"/>
                  </a:rPr>
                  <a:t>the</a:t>
                </a:r>
                <a:r>
                  <a:rPr lang="en-US" sz="2000" spc="-20" dirty="0">
                    <a:solidFill>
                      <a:srgbClr val="FF0000"/>
                    </a:solidFill>
                    <a:latin typeface="Arial" panose="020B0604020202020204" pitchFamily="34" charset="0"/>
                    <a:cs typeface="Arial" panose="020B0604020202020204" pitchFamily="34" charset="0"/>
                  </a:rPr>
                  <a:t> </a:t>
                </a:r>
                <a:r>
                  <a:rPr lang="en-US" sz="2000" dirty="0">
                    <a:solidFill>
                      <a:srgbClr val="FF0000"/>
                    </a:solidFill>
                    <a:latin typeface="Arial" panose="020B0604020202020204" pitchFamily="34" charset="0"/>
                    <a:cs typeface="Arial" panose="020B0604020202020204" pitchFamily="34" charset="0"/>
                  </a:rPr>
                  <a:t>shape</a:t>
                </a:r>
                <a:r>
                  <a:rPr lang="en-US" sz="2000" spc="-15" dirty="0">
                    <a:solidFill>
                      <a:srgbClr val="FF0000"/>
                    </a:solidFill>
                    <a:latin typeface="Arial" panose="020B0604020202020204" pitchFamily="34" charset="0"/>
                    <a:cs typeface="Arial" panose="020B0604020202020204" pitchFamily="34" charset="0"/>
                  </a:rPr>
                  <a:t> </a:t>
                </a:r>
                <a:r>
                  <a:rPr lang="en-US" sz="2000" dirty="0">
                    <a:solidFill>
                      <a:srgbClr val="FF0000"/>
                    </a:solidFill>
                    <a:latin typeface="Arial" panose="020B0604020202020204" pitchFamily="34" charset="0"/>
                    <a:cs typeface="Arial" panose="020B0604020202020204" pitchFamily="34" charset="0"/>
                  </a:rPr>
                  <a:t>of</a:t>
                </a:r>
                <a:r>
                  <a:rPr lang="en-US" sz="2000" spc="-20" dirty="0">
                    <a:solidFill>
                      <a:srgbClr val="FF0000"/>
                    </a:solidFill>
                    <a:latin typeface="Arial" panose="020B0604020202020204" pitchFamily="34" charset="0"/>
                    <a:cs typeface="Arial" panose="020B0604020202020204" pitchFamily="34" charset="0"/>
                  </a:rPr>
                  <a:t> </a:t>
                </a:r>
                <a:r>
                  <a:rPr lang="en-US" sz="2000" dirty="0">
                    <a:solidFill>
                      <a:srgbClr val="FF0000"/>
                    </a:solidFill>
                    <a:latin typeface="Arial" panose="020B0604020202020204" pitchFamily="34" charset="0"/>
                    <a:cs typeface="Arial" panose="020B0604020202020204" pitchFamily="34" charset="0"/>
                  </a:rPr>
                  <a:t>the</a:t>
                </a:r>
                <a:r>
                  <a:rPr lang="en-US" sz="2000" spc="-15" dirty="0">
                    <a:solidFill>
                      <a:srgbClr val="FF0000"/>
                    </a:solidFill>
                    <a:latin typeface="Arial" panose="020B0604020202020204" pitchFamily="34" charset="0"/>
                    <a:cs typeface="Arial" panose="020B0604020202020204" pitchFamily="34" charset="0"/>
                  </a:rPr>
                  <a:t> </a:t>
                </a:r>
                <a:r>
                  <a:rPr lang="en-US" sz="2000" spc="-10" dirty="0">
                    <a:solidFill>
                      <a:srgbClr val="FF0000"/>
                    </a:solidFill>
                    <a:latin typeface="Arial" panose="020B0604020202020204" pitchFamily="34" charset="0"/>
                    <a:cs typeface="Arial" panose="020B0604020202020204" pitchFamily="34" charset="0"/>
                  </a:rPr>
                  <a:t>population distribution!</a:t>
                </a:r>
                <a:endParaRPr lang="en-US" sz="2000" dirty="0">
                  <a:solidFill>
                    <a:srgbClr val="FF0000"/>
                  </a:solidFill>
                  <a:latin typeface="Arial" panose="020B0604020202020204" pitchFamily="34" charset="0"/>
                  <a:cs typeface="Arial" panose="020B0604020202020204" pitchFamily="34" charset="0"/>
                </a:endParaRPr>
              </a:p>
              <a:p>
                <a:endParaRPr lang="en-US" sz="2400" dirty="0">
                  <a:latin typeface="Arial" panose="020B0604020202020204" pitchFamily="34" charset="0"/>
                  <a:cs typeface="Arial" panose="020B0604020202020204" pitchFamily="34" charset="0"/>
                </a:endParaRPr>
              </a:p>
            </p:txBody>
          </p:sp>
        </mc:Choice>
        <mc:Fallback>
          <p:sp>
            <p:nvSpPr>
              <p:cNvPr id="3" name="Content Placeholder 2">
                <a:extLst>
                  <a:ext uri="{FF2B5EF4-FFF2-40B4-BE49-F238E27FC236}">
                    <a16:creationId xmlns:a16="http://schemas.microsoft.com/office/drawing/2014/main" id="{71B72F6C-1730-9920-3B9D-ABB99AE28279}"/>
                  </a:ext>
                </a:extLst>
              </p:cNvPr>
              <p:cNvSpPr>
                <a:spLocks noGrp="1" noRot="1" noChangeAspect="1" noMove="1" noResize="1" noEditPoints="1" noAdjustHandles="1" noChangeArrowheads="1" noChangeShapeType="1" noTextEdit="1"/>
              </p:cNvSpPr>
              <p:nvPr>
                <p:ph idx="1"/>
              </p:nvPr>
            </p:nvSpPr>
            <p:spPr>
              <a:xfrm>
                <a:off x="332362" y="1130772"/>
                <a:ext cx="10515600" cy="4351338"/>
              </a:xfrm>
              <a:blipFill>
                <a:blip r:embed="rId2"/>
                <a:stretch>
                  <a:fillRect l="-522" t="-1261"/>
                </a:stretch>
              </a:blipFill>
            </p:spPr>
            <p:txBody>
              <a:bodyPr/>
              <a:lstStyle/>
              <a:p>
                <a:r>
                  <a:rPr lang="en-US">
                    <a:noFill/>
                  </a:rPr>
                  <a:t> </a:t>
                </a:r>
              </a:p>
            </p:txBody>
          </p:sp>
        </mc:Fallback>
      </mc:AlternateContent>
    </p:spTree>
    <p:extLst>
      <p:ext uri="{BB962C8B-B14F-4D97-AF65-F5344CB8AC3E}">
        <p14:creationId xmlns:p14="http://schemas.microsoft.com/office/powerpoint/2010/main" val="10333943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B8DF2-38C5-AFD7-0107-807C52E12963}"/>
              </a:ext>
            </a:extLst>
          </p:cNvPr>
          <p:cNvSpPr>
            <a:spLocks noGrp="1"/>
          </p:cNvSpPr>
          <p:nvPr>
            <p:ph type="title" idx="4294967295"/>
          </p:nvPr>
        </p:nvSpPr>
        <p:spPr>
          <a:xfrm>
            <a:off x="68094" y="75529"/>
            <a:ext cx="7597302" cy="694668"/>
          </a:xfrm>
        </p:spPr>
        <p:txBody>
          <a:bodyPr>
            <a:normAutofit/>
          </a:bodyPr>
          <a:lstStyle/>
          <a:p>
            <a:r>
              <a:rPr lang="en-US" sz="3200" dirty="0">
                <a:latin typeface="Aptos Display (Headings)"/>
              </a:rPr>
              <a:t>From exponential to normal?</a:t>
            </a:r>
          </a:p>
        </p:txBody>
      </p:sp>
      <p:sp>
        <p:nvSpPr>
          <p:cNvPr id="3" name="Content Placeholder 2">
            <a:extLst>
              <a:ext uri="{FF2B5EF4-FFF2-40B4-BE49-F238E27FC236}">
                <a16:creationId xmlns:a16="http://schemas.microsoft.com/office/drawing/2014/main" id="{F522DB5B-78E6-D606-96D1-BE0C103EAD1E}"/>
              </a:ext>
            </a:extLst>
          </p:cNvPr>
          <p:cNvSpPr>
            <a:spLocks noGrp="1"/>
          </p:cNvSpPr>
          <p:nvPr>
            <p:ph idx="4294967295"/>
          </p:nvPr>
        </p:nvSpPr>
        <p:spPr>
          <a:xfrm>
            <a:off x="316714" y="740158"/>
            <a:ext cx="11249473" cy="1644650"/>
          </a:xfrm>
        </p:spPr>
        <p:txBody>
          <a:bodyPr anchor="ctr">
            <a:normAutofit lnSpcReduction="10000"/>
          </a:bodyPr>
          <a:lstStyle/>
          <a:p>
            <a:r>
              <a:rPr lang="en-US" sz="2000" dirty="0">
                <a:latin typeface="Arial" panose="020B0604020202020204" pitchFamily="34" charset="0"/>
                <a:cs typeface="Arial" panose="020B0604020202020204" pitchFamily="34" charset="0"/>
              </a:rPr>
              <a:t>See my R code called </a:t>
            </a:r>
            <a:r>
              <a:rPr lang="en-US" sz="2000" dirty="0" err="1">
                <a:latin typeface="Arial" panose="020B0604020202020204" pitchFamily="34" charset="0"/>
                <a:cs typeface="Arial" panose="020B0604020202020204" pitchFamily="34" charset="0"/>
              </a:rPr>
              <a:t>clt_fun.R</a:t>
            </a:r>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I took n = 100 observations from an exponential distribution with mean = .20 and plotted it (to the left)</a:t>
            </a:r>
          </a:p>
          <a:p>
            <a:r>
              <a:rPr lang="en-US" sz="2000" dirty="0">
                <a:latin typeface="Arial" panose="020B0604020202020204" pitchFamily="34" charset="0"/>
                <a:cs typeface="Arial" panose="020B0604020202020204" pitchFamily="34" charset="0"/>
              </a:rPr>
              <a:t>Then I repeated this process 120 times (took 120 samples of n = 100 observations) and plotted the mean of each sample – according to the CLT this plot </a:t>
            </a:r>
            <a:r>
              <a:rPr lang="en-US" sz="2000" i="1" dirty="0">
                <a:latin typeface="Arial" panose="020B0604020202020204" pitchFamily="34" charset="0"/>
                <a:cs typeface="Arial" panose="020B0604020202020204" pitchFamily="34" charset="0"/>
              </a:rPr>
              <a:t>of the means </a:t>
            </a:r>
            <a:r>
              <a:rPr lang="en-US" sz="2000" dirty="0">
                <a:latin typeface="Arial" panose="020B0604020202020204" pitchFamily="34" charset="0"/>
                <a:cs typeface="Arial" panose="020B0604020202020204" pitchFamily="34" charset="0"/>
              </a:rPr>
              <a:t>should look normal </a:t>
            </a:r>
            <a:r>
              <a:rPr lang="en-US" sz="2000" dirty="0">
                <a:latin typeface="Arial" panose="020B0604020202020204" pitchFamily="34" charset="0"/>
                <a:cs typeface="Arial" panose="020B0604020202020204" pitchFamily="34" charset="0"/>
                <a:sym typeface="Wingdings" panose="05000000000000000000" pitchFamily="2" charset="2"/>
              </a:rPr>
              <a:t></a:t>
            </a:r>
            <a:endParaRPr lang="en-US" sz="2000"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7ECF77ED-D3F9-D996-5EE3-15AE460B54B3}"/>
              </a:ext>
            </a:extLst>
          </p:cNvPr>
          <p:cNvSpPr txBox="1"/>
          <p:nvPr/>
        </p:nvSpPr>
        <p:spPr>
          <a:xfrm>
            <a:off x="1051560" y="2845234"/>
            <a:ext cx="459651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Exponential Distribution (n = 100 observations)</a:t>
            </a:r>
          </a:p>
        </p:txBody>
      </p:sp>
      <p:sp>
        <p:nvSpPr>
          <p:cNvPr id="9" name="TextBox 8">
            <a:extLst>
              <a:ext uri="{FF2B5EF4-FFF2-40B4-BE49-F238E27FC236}">
                <a16:creationId xmlns:a16="http://schemas.microsoft.com/office/drawing/2014/main" id="{D45E4058-B141-CBA9-6531-F95D1CC0F37E}"/>
              </a:ext>
            </a:extLst>
          </p:cNvPr>
          <p:cNvSpPr txBox="1"/>
          <p:nvPr/>
        </p:nvSpPr>
        <p:spPr>
          <a:xfrm>
            <a:off x="6788725" y="2706735"/>
            <a:ext cx="495013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Mean of 120 samples of n = 100 observations from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an exponential distribution</a:t>
            </a:r>
          </a:p>
        </p:txBody>
      </p:sp>
      <p:pic>
        <p:nvPicPr>
          <p:cNvPr id="11" name="Picture 10">
            <a:extLst>
              <a:ext uri="{FF2B5EF4-FFF2-40B4-BE49-F238E27FC236}">
                <a16:creationId xmlns:a16="http://schemas.microsoft.com/office/drawing/2014/main" id="{9F01752E-6529-96E6-29C6-AFE80489CA27}"/>
              </a:ext>
            </a:extLst>
          </p:cNvPr>
          <p:cNvPicPr>
            <a:picLocks noChangeAspect="1"/>
          </p:cNvPicPr>
          <p:nvPr/>
        </p:nvPicPr>
        <p:blipFill rotWithShape="1">
          <a:blip r:embed="rId2"/>
          <a:srcRect t="12242" b="-1"/>
          <a:stretch/>
        </p:blipFill>
        <p:spPr>
          <a:xfrm>
            <a:off x="6621780" y="3541906"/>
            <a:ext cx="5175885" cy="2151626"/>
          </a:xfrm>
          <a:prstGeom prst="rect">
            <a:avLst/>
          </a:prstGeom>
        </p:spPr>
      </p:pic>
      <p:pic>
        <p:nvPicPr>
          <p:cNvPr id="17" name="Picture 16">
            <a:extLst>
              <a:ext uri="{FF2B5EF4-FFF2-40B4-BE49-F238E27FC236}">
                <a16:creationId xmlns:a16="http://schemas.microsoft.com/office/drawing/2014/main" id="{EF92F284-2CA3-FE5C-6CCB-D941CA017139}"/>
              </a:ext>
            </a:extLst>
          </p:cNvPr>
          <p:cNvPicPr>
            <a:picLocks noChangeAspect="1"/>
          </p:cNvPicPr>
          <p:nvPr/>
        </p:nvPicPr>
        <p:blipFill>
          <a:blip r:embed="rId3"/>
          <a:stretch>
            <a:fillRect/>
          </a:stretch>
        </p:blipFill>
        <p:spPr>
          <a:xfrm>
            <a:off x="1051560" y="3429000"/>
            <a:ext cx="5175885" cy="2237824"/>
          </a:xfrm>
          <a:prstGeom prst="rect">
            <a:avLst/>
          </a:prstGeom>
        </p:spPr>
      </p:pic>
      <p:sp>
        <p:nvSpPr>
          <p:cNvPr id="22" name="TextBox 21">
            <a:extLst>
              <a:ext uri="{FF2B5EF4-FFF2-40B4-BE49-F238E27FC236}">
                <a16:creationId xmlns:a16="http://schemas.microsoft.com/office/drawing/2014/main" id="{5F010783-5398-6779-8F0A-78FDD58657B4}"/>
              </a:ext>
            </a:extLst>
          </p:cNvPr>
          <p:cNvSpPr txBox="1"/>
          <p:nvPr/>
        </p:nvSpPr>
        <p:spPr>
          <a:xfrm>
            <a:off x="155643" y="6126714"/>
            <a:ext cx="58442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Try increasing the number of samples from 120 to 1200</a:t>
            </a:r>
          </a:p>
        </p:txBody>
      </p:sp>
      <p:pic>
        <p:nvPicPr>
          <p:cNvPr id="28" name="Picture 27">
            <a:extLst>
              <a:ext uri="{FF2B5EF4-FFF2-40B4-BE49-F238E27FC236}">
                <a16:creationId xmlns:a16="http://schemas.microsoft.com/office/drawing/2014/main" id="{9AF42460-A607-5857-F277-B21EFA40A422}"/>
              </a:ext>
            </a:extLst>
          </p:cNvPr>
          <p:cNvPicPr>
            <a:picLocks noChangeAspect="1"/>
          </p:cNvPicPr>
          <p:nvPr/>
        </p:nvPicPr>
        <p:blipFill>
          <a:blip r:embed="rId4"/>
          <a:stretch>
            <a:fillRect/>
          </a:stretch>
        </p:blipFill>
        <p:spPr>
          <a:xfrm>
            <a:off x="2021912" y="956175"/>
            <a:ext cx="7839075" cy="4800600"/>
          </a:xfrm>
          <a:prstGeom prst="rect">
            <a:avLst/>
          </a:prstGeom>
        </p:spPr>
      </p:pic>
    </p:spTree>
    <p:extLst>
      <p:ext uri="{BB962C8B-B14F-4D97-AF65-F5344CB8AC3E}">
        <p14:creationId xmlns:p14="http://schemas.microsoft.com/office/powerpoint/2010/main" val="10398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500" fill="hold"/>
                                        <p:tgtEl>
                                          <p:spTgt spid="22"/>
                                        </p:tgtEl>
                                        <p:attrNameLst>
                                          <p:attrName>ppt_x</p:attrName>
                                        </p:attrNameLst>
                                      </p:cBhvr>
                                      <p:tavLst>
                                        <p:tav tm="0">
                                          <p:val>
                                            <p:strVal val="#ppt_x"/>
                                          </p:val>
                                        </p:tav>
                                        <p:tav tm="100000">
                                          <p:val>
                                            <p:strVal val="#ppt_x"/>
                                          </p:val>
                                        </p:tav>
                                      </p:tavLst>
                                    </p:anim>
                                    <p:anim calcmode="lin" valueType="num">
                                      <p:cBhvr additive="base">
                                        <p:cTn id="8"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Civil rights activist Al Sharpton and A$AP Rocky. Photo credit: Tom Williams/CQ-Roll Call Inc via Getty Images; Cindy Ord/WireImage">
            <a:extLst>
              <a:ext uri="{FF2B5EF4-FFF2-40B4-BE49-F238E27FC236}">
                <a16:creationId xmlns:a16="http://schemas.microsoft.com/office/drawing/2014/main" id="{2732CF41-2398-09FA-9F16-4738A3FA96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5223" y="1148877"/>
            <a:ext cx="6629400" cy="421005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A05FD9A-3015-D53E-6A46-2915CE3C8946}"/>
              </a:ext>
            </a:extLst>
          </p:cNvPr>
          <p:cNvSpPr txBox="1"/>
          <p:nvPr/>
        </p:nvSpPr>
        <p:spPr>
          <a:xfrm>
            <a:off x="7891564" y="1407242"/>
            <a:ext cx="3587075" cy="369331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2222"/>
                </a:solidFill>
                <a:effectLst/>
                <a:uLnTx/>
                <a:uFillTx/>
                <a:latin typeface="Helvetica Neue"/>
                <a:ea typeface="+mn-ea"/>
                <a:cs typeface="+mn-cs"/>
              </a:rPr>
              <a:t>“Sharpton took to X/Twitter to call out the jury selection process after only four Black people were selected as possible jurors for the New Yorker’s case, writing: “It has been brought to my attention by the [his civil rights </a:t>
            </a:r>
            <a:r>
              <a:rPr kumimoji="0" lang="en-US" sz="1800" b="0" i="0" u="none" strike="noStrike" kern="1200" cap="none" spc="0" normalizeH="0" baseline="0" noProof="0" dirty="0" err="1">
                <a:ln>
                  <a:noFill/>
                </a:ln>
                <a:solidFill>
                  <a:srgbClr val="222222"/>
                </a:solidFill>
                <a:effectLst/>
                <a:uLnTx/>
                <a:uFillTx/>
                <a:latin typeface="Helvetica Neue"/>
                <a:ea typeface="+mn-ea"/>
                <a:cs typeface="+mn-cs"/>
              </a:rPr>
              <a:t>organisation</a:t>
            </a:r>
            <a:r>
              <a:rPr kumimoji="0" lang="en-US" sz="1800" b="0" i="0" u="none" strike="noStrike" kern="1200" cap="none" spc="0" normalizeH="0" baseline="0" noProof="0" dirty="0">
                <a:ln>
                  <a:noFill/>
                </a:ln>
                <a:solidFill>
                  <a:srgbClr val="222222"/>
                </a:solidFill>
                <a:effectLst/>
                <a:uLnTx/>
                <a:uFillTx/>
                <a:latin typeface="Helvetica Neue"/>
                <a:ea typeface="+mn-ea"/>
                <a:cs typeface="+mn-cs"/>
              </a:rPr>
              <a:t>] National Action Network’s Los Angeles office that out of 106 people called to potentially sit as jurors in A$AP Rocky’s trial in Los Angeles, there are only four Black people.”</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3709C88-BD53-2FCE-A5B5-903C1F53C716}"/>
              </a:ext>
            </a:extLst>
          </p:cNvPr>
          <p:cNvSpPr txBox="1"/>
          <p:nvPr/>
        </p:nvSpPr>
        <p:spPr>
          <a:xfrm>
            <a:off x="255351" y="6014405"/>
            <a:ext cx="6094378"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3"/>
              </a:rPr>
              <a:t>Al Sharpton says "ridiculous" jury selection process may "deprive A$AP Rocky of a fair trial"</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56826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graph of numbers and lines&#10;&#10;Description automatically generated with medium confidence">
            <a:extLst>
              <a:ext uri="{FF2B5EF4-FFF2-40B4-BE49-F238E27FC236}">
                <a16:creationId xmlns:a16="http://schemas.microsoft.com/office/drawing/2014/main" id="{C52C6A9B-8AD1-DD26-3799-5EF5B21E35B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36202" y="605117"/>
            <a:ext cx="11719596" cy="5647765"/>
          </a:xfrm>
        </p:spPr>
      </p:pic>
      <p:sp>
        <p:nvSpPr>
          <p:cNvPr id="6" name="TextBox 5">
            <a:extLst>
              <a:ext uri="{FF2B5EF4-FFF2-40B4-BE49-F238E27FC236}">
                <a16:creationId xmlns:a16="http://schemas.microsoft.com/office/drawing/2014/main" id="{DF483A83-2FF7-4E6E-404A-09C5993BC688}"/>
              </a:ext>
            </a:extLst>
          </p:cNvPr>
          <p:cNvSpPr txBox="1"/>
          <p:nvPr/>
        </p:nvSpPr>
        <p:spPr>
          <a:xfrm>
            <a:off x="389106" y="6352162"/>
            <a:ext cx="330789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See my write-up on A$AP Rocky</a:t>
            </a:r>
          </a:p>
        </p:txBody>
      </p:sp>
      <p:sp>
        <p:nvSpPr>
          <p:cNvPr id="7" name="TextBox 6">
            <a:extLst>
              <a:ext uri="{FF2B5EF4-FFF2-40B4-BE49-F238E27FC236}">
                <a16:creationId xmlns:a16="http://schemas.microsoft.com/office/drawing/2014/main" id="{98BD1A53-FBA4-8100-F824-2692368CA7E9}"/>
              </a:ext>
            </a:extLst>
          </p:cNvPr>
          <p:cNvSpPr txBox="1"/>
          <p:nvPr/>
        </p:nvSpPr>
        <p:spPr>
          <a:xfrm>
            <a:off x="7072009" y="136505"/>
            <a:ext cx="5010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Why is the distribution not converging to normal?</a:t>
            </a:r>
          </a:p>
        </p:txBody>
      </p:sp>
    </p:spTree>
    <p:extLst>
      <p:ext uri="{BB962C8B-B14F-4D97-AF65-F5344CB8AC3E}">
        <p14:creationId xmlns:p14="http://schemas.microsoft.com/office/powerpoint/2010/main" val="2662929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numbers and numbers&#10;&#10;Description automatically generated with medium confidence">
            <a:extLst>
              <a:ext uri="{FF2B5EF4-FFF2-40B4-BE49-F238E27FC236}">
                <a16:creationId xmlns:a16="http://schemas.microsoft.com/office/drawing/2014/main" id="{47F7DC4D-DB97-4BA0-72DE-10B79C57BF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4101" y="191654"/>
            <a:ext cx="10297098" cy="6474691"/>
          </a:xfrm>
          <a:prstGeom prst="rect">
            <a:avLst/>
          </a:prstGeom>
        </p:spPr>
      </p:pic>
      <p:sp>
        <p:nvSpPr>
          <p:cNvPr id="6" name="TextBox 5">
            <a:extLst>
              <a:ext uri="{FF2B5EF4-FFF2-40B4-BE49-F238E27FC236}">
                <a16:creationId xmlns:a16="http://schemas.microsoft.com/office/drawing/2014/main" id="{5D22060E-E660-4590-3B1D-A7C9602ABD62}"/>
              </a:ext>
            </a:extLst>
          </p:cNvPr>
          <p:cNvSpPr txBox="1"/>
          <p:nvPr/>
        </p:nvSpPr>
        <p:spPr>
          <a:xfrm>
            <a:off x="9533107" y="5136204"/>
            <a:ext cx="1674241"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Higher precision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More confidence</a:t>
            </a:r>
          </a:p>
        </p:txBody>
      </p:sp>
      <p:sp>
        <p:nvSpPr>
          <p:cNvPr id="7" name="TextBox 6">
            <a:extLst>
              <a:ext uri="{FF2B5EF4-FFF2-40B4-BE49-F238E27FC236}">
                <a16:creationId xmlns:a16="http://schemas.microsoft.com/office/drawing/2014/main" id="{D69371F4-AC40-BCAB-4DFD-5CC8F34FC275}"/>
              </a:ext>
            </a:extLst>
          </p:cNvPr>
          <p:cNvSpPr txBox="1"/>
          <p:nvPr/>
        </p:nvSpPr>
        <p:spPr>
          <a:xfrm>
            <a:off x="2545404" y="1942289"/>
            <a:ext cx="1587422"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Low precision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Low confidence</a:t>
            </a:r>
          </a:p>
        </p:txBody>
      </p:sp>
      <p:sp>
        <p:nvSpPr>
          <p:cNvPr id="2" name="Oval 1">
            <a:extLst>
              <a:ext uri="{FF2B5EF4-FFF2-40B4-BE49-F238E27FC236}">
                <a16:creationId xmlns:a16="http://schemas.microsoft.com/office/drawing/2014/main" id="{0B7A1725-8725-B72A-99B5-2E7F2309A506}"/>
              </a:ext>
            </a:extLst>
          </p:cNvPr>
          <p:cNvSpPr/>
          <p:nvPr/>
        </p:nvSpPr>
        <p:spPr>
          <a:xfrm>
            <a:off x="7818539" y="0"/>
            <a:ext cx="3926048" cy="3319943"/>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79482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theme/theme1.xml><?xml version="1.0" encoding="utf-8"?>
<a:theme xmlns:a="http://schemas.openxmlformats.org/drawingml/2006/main" name="RetrospectVTI">
  <a:themeElements>
    <a:clrScheme name="AnalogousFromRegularSeedRightStep">
      <a:dk1>
        <a:srgbClr val="000000"/>
      </a:dk1>
      <a:lt1>
        <a:srgbClr val="FFFFFF"/>
      </a:lt1>
      <a:dk2>
        <a:srgbClr val="34381F"/>
      </a:dk2>
      <a:lt2>
        <a:srgbClr val="E2E8E7"/>
      </a:lt2>
      <a:accent1>
        <a:srgbClr val="DA3657"/>
      </a:accent1>
      <a:accent2>
        <a:srgbClr val="C84724"/>
      </a:accent2>
      <a:accent3>
        <a:srgbClr val="D39834"/>
      </a:accent3>
      <a:accent4>
        <a:srgbClr val="A2A91E"/>
      </a:accent4>
      <a:accent5>
        <a:srgbClr val="76B52D"/>
      </a:accent5>
      <a:accent6>
        <a:srgbClr val="34BB22"/>
      </a:accent6>
      <a:hlink>
        <a:srgbClr val="31937F"/>
      </a:hlink>
      <a:folHlink>
        <a:srgbClr val="7F7F7F"/>
      </a:folHlink>
    </a:clrScheme>
    <a:fontScheme name="Retrospect">
      <a:majorFont>
        <a:latin typeface="Bookman Old Style"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ranklin Gothic Book"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VTI" id="{ABE3C30C-0FC0-4450-828E-52DE70F1BCCB}" vid="{A6E2497D-935A-4CFD-B9FD-6DCB15FA68BF}"/>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1687</TotalTime>
  <Words>3713</Words>
  <Application>Microsoft Office PowerPoint</Application>
  <PresentationFormat>Widescreen</PresentationFormat>
  <Paragraphs>293</Paragraphs>
  <Slides>36</Slides>
  <Notes>5</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36</vt:i4>
      </vt:variant>
    </vt:vector>
  </HeadingPairs>
  <TitlesOfParts>
    <vt:vector size="48" baseType="lpstr">
      <vt:lpstr>Aptos</vt:lpstr>
      <vt:lpstr>Aptos Display (Headings)</vt:lpstr>
      <vt:lpstr>Arial</vt:lpstr>
      <vt:lpstr>Bookman Old Style</vt:lpstr>
      <vt:lpstr>Calibri</vt:lpstr>
      <vt:lpstr>Calibri Light</vt:lpstr>
      <vt:lpstr>Cambria</vt:lpstr>
      <vt:lpstr>Cambria Math</vt:lpstr>
      <vt:lpstr>Franklin Gothic Book</vt:lpstr>
      <vt:lpstr>Helvetica Neue</vt:lpstr>
      <vt:lpstr>RetrospectVTI</vt:lpstr>
      <vt:lpstr>1_Office Theme</vt:lpstr>
      <vt:lpstr>Regression Mechanics</vt:lpstr>
      <vt:lpstr>Medical Expenditure Panel Survey (Katie’s Study?)</vt:lpstr>
      <vt:lpstr>Medical Expenditure Panel Survey</vt:lpstr>
      <vt:lpstr>PowerPoint Presentation</vt:lpstr>
      <vt:lpstr>Results</vt:lpstr>
      <vt:lpstr>PowerPoint Presentation</vt:lpstr>
      <vt:lpstr>Visualization</vt:lpstr>
      <vt:lpstr>Advanced Topic: Heterogeneous Variable Types</vt:lpstr>
      <vt:lpstr>Categorical Variables</vt:lpstr>
      <vt:lpstr>Categorical Variables: Dummy Variables</vt:lpstr>
      <vt:lpstr>Models with Dummy Variables</vt:lpstr>
      <vt:lpstr>Interpreting Dummy Variables</vt:lpstr>
      <vt:lpstr>PowerPoint Presentation</vt:lpstr>
      <vt:lpstr>Categorical Variables and Dummies</vt:lpstr>
      <vt:lpstr>Example: Recoding dummy variables</vt:lpstr>
      <vt:lpstr>Example</vt:lpstr>
      <vt:lpstr>The correction</vt:lpstr>
      <vt:lpstr>PowerPoint Presentation</vt:lpstr>
      <vt:lpstr>Creating ‘Fast Dummies’ in R</vt:lpstr>
      <vt:lpstr>Quadratic Terms </vt:lpstr>
      <vt:lpstr>Quadratic Terms </vt:lpstr>
      <vt:lpstr>Interaction Terms</vt:lpstr>
      <vt:lpstr>Central Limit Theorem (CLT) &amp; the Law of Large Numbers (LLN)</vt:lpstr>
      <vt:lpstr>Central Limit Theorem (CLT)</vt:lpstr>
      <vt:lpstr>Implications for Sampling Distributions</vt:lpstr>
      <vt:lpstr>Implications for Confidence Intervals</vt:lpstr>
      <vt:lpstr>Practical Considerations</vt:lpstr>
      <vt:lpstr>Constructing Confidence Intervals (CIs) for μ </vt:lpstr>
      <vt:lpstr>Example</vt:lpstr>
      <vt:lpstr>How do we interpret the CI?</vt:lpstr>
      <vt:lpstr>Conceptual Understanding of CIs</vt:lpstr>
      <vt:lpstr>Central Limit Theorem (CLT) - Redux</vt:lpstr>
      <vt:lpstr>From exponential to normal?</vt:lpstr>
      <vt:lpstr>PowerPoint Presentation</vt:lpstr>
      <vt:lpstr>PowerPoint Presentation</vt:lpstr>
      <vt:lpstr>PowerPoint Presentation</vt:lpstr>
    </vt:vector>
  </TitlesOfParts>
  <Company>The Ohio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Barboza-Salerno, Gia</dc:creator>
  <cp:lastModifiedBy>Barboza-Salerno, Gia</cp:lastModifiedBy>
  <cp:revision>20</cp:revision>
  <dcterms:created xsi:type="dcterms:W3CDTF">2026-02-15T12:56:49Z</dcterms:created>
  <dcterms:modified xsi:type="dcterms:W3CDTF">2026-02-16T17:12:28Z</dcterms:modified>
</cp:coreProperties>
</file>