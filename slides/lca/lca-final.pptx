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9" r:id="rId1"/>
    <p:sldMasterId id="2147483750" r:id="rId2"/>
  </p:sldMasterIdLst>
  <p:notesMasterIdLst>
    <p:notesMasterId r:id="rId68"/>
  </p:notesMasterIdLst>
  <p:sldIdLst>
    <p:sldId id="256" r:id="rId3"/>
    <p:sldId id="308" r:id="rId4"/>
    <p:sldId id="367" r:id="rId5"/>
    <p:sldId id="365" r:id="rId6"/>
    <p:sldId id="366" r:id="rId7"/>
    <p:sldId id="368" r:id="rId8"/>
    <p:sldId id="301" r:id="rId9"/>
    <p:sldId id="374" r:id="rId10"/>
    <p:sldId id="373" r:id="rId11"/>
    <p:sldId id="306" r:id="rId12"/>
    <p:sldId id="375" r:id="rId13"/>
    <p:sldId id="376" r:id="rId14"/>
    <p:sldId id="377" r:id="rId15"/>
    <p:sldId id="378" r:id="rId16"/>
    <p:sldId id="317" r:id="rId17"/>
    <p:sldId id="397" r:id="rId18"/>
    <p:sldId id="383" r:id="rId19"/>
    <p:sldId id="384" r:id="rId20"/>
    <p:sldId id="313" r:id="rId21"/>
    <p:sldId id="394" r:id="rId22"/>
    <p:sldId id="395" r:id="rId23"/>
    <p:sldId id="316" r:id="rId24"/>
    <p:sldId id="396" r:id="rId25"/>
    <p:sldId id="318" r:id="rId26"/>
    <p:sldId id="266" r:id="rId27"/>
    <p:sldId id="401" r:id="rId28"/>
    <p:sldId id="398" r:id="rId29"/>
    <p:sldId id="399" r:id="rId30"/>
    <p:sldId id="400" r:id="rId31"/>
    <p:sldId id="320" r:id="rId32"/>
    <p:sldId id="402" r:id="rId33"/>
    <p:sldId id="321" r:id="rId34"/>
    <p:sldId id="404" r:id="rId35"/>
    <p:sldId id="267" r:id="rId36"/>
    <p:sldId id="407" r:id="rId37"/>
    <p:sldId id="268" r:id="rId38"/>
    <p:sldId id="408" r:id="rId39"/>
    <p:sldId id="326" r:id="rId40"/>
    <p:sldId id="409" r:id="rId41"/>
    <p:sldId id="411" r:id="rId42"/>
    <p:sldId id="286" r:id="rId43"/>
    <p:sldId id="412" r:id="rId44"/>
    <p:sldId id="428" r:id="rId45"/>
    <p:sldId id="429" r:id="rId46"/>
    <p:sldId id="430" r:id="rId47"/>
    <p:sldId id="344" r:id="rId48"/>
    <p:sldId id="431" r:id="rId49"/>
    <p:sldId id="423" r:id="rId50"/>
    <p:sldId id="432" r:id="rId51"/>
    <p:sldId id="427" r:id="rId52"/>
    <p:sldId id="279" r:id="rId53"/>
    <p:sldId id="291" r:id="rId54"/>
    <p:sldId id="385" r:id="rId55"/>
    <p:sldId id="288" r:id="rId56"/>
    <p:sldId id="386" r:id="rId57"/>
    <p:sldId id="289" r:id="rId58"/>
    <p:sldId id="387" r:id="rId59"/>
    <p:sldId id="287" r:id="rId60"/>
    <p:sldId id="281" r:id="rId61"/>
    <p:sldId id="389" r:id="rId62"/>
    <p:sldId id="276" r:id="rId63"/>
    <p:sldId id="390" r:id="rId64"/>
    <p:sldId id="290" r:id="rId65"/>
    <p:sldId id="391" r:id="rId66"/>
    <p:sldId id="392" r:id="rId6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448" autoAdjust="0"/>
    <p:restoredTop sz="84700" autoAdjust="0"/>
  </p:normalViewPr>
  <p:slideViewPr>
    <p:cSldViewPr snapToGrid="0">
      <p:cViewPr varScale="1">
        <p:scale>
          <a:sx n="90" d="100"/>
          <a:sy n="90" d="100"/>
        </p:scale>
        <p:origin x="4620"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notesMaster" Target="notesMasters/notesMaster1.xml"/><Relationship Id="rId7" Type="http://schemas.openxmlformats.org/officeDocument/2006/relationships/slide" Target="slides/slide5.xml"/><Relationship Id="rId71"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tableStyles" Target="tableStyle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0D8F6D-3B7E-BD40-BAF3-411240EBF414}" type="datetimeFigureOut">
              <a:rPr lang="en-US" smtClean="0"/>
              <a:t>4/18/2026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C51016E-E657-C44E-BCBC-358B2058F115}" type="slidenum">
              <a:rPr lang="en-US" smtClean="0"/>
              <a:t>‹#›</a:t>
            </a:fld>
            <a:endParaRPr lang="en-US"/>
          </a:p>
        </p:txBody>
      </p:sp>
    </p:spTree>
    <p:extLst>
      <p:ext uri="{BB962C8B-B14F-4D97-AF65-F5344CB8AC3E}">
        <p14:creationId xmlns:p14="http://schemas.microsoft.com/office/powerpoint/2010/main" val="9054799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EBBF01-B209-4B84-B749-B9503FFA2B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E7EE0E-2045-C3A9-57EB-1E7E678D93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8A19AB-4423-D007-9C28-BAA2B3D0C73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800"/>
              </a:spcBef>
              <a:spcAft>
                <a:spcPts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mn-lt"/>
                <a:ea typeface="+mn-ea"/>
                <a:cs typeface="+mn-cs"/>
              </a:rPr>
              <a:t>Single-headed arrow (→): Directional / hypothesized causal</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23232"/>
                </a:solidFill>
                <a:effectLst/>
                <a:uLnTx/>
                <a:uFillTx/>
                <a:latin typeface="+mn-lt"/>
                <a:ea typeface="+mn-ea"/>
                <a:cs typeface="+mn-cs"/>
              </a:rPr>
              <a:t>•  Means: Variable A is hypothesized to PREDICT or CAUSE Variable B</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23232"/>
                </a:solidFill>
                <a:effectLst/>
                <a:uLnTx/>
                <a:uFillTx/>
                <a:latin typeface="+mn-lt"/>
                <a:ea typeface="+mn-ea"/>
                <a:cs typeface="+mn-cs"/>
              </a:rPr>
              <a:t>•  Example: Stress → Anxiety (stress predicts anxiety)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23232"/>
                </a:solidFill>
                <a:effectLst/>
                <a:uLnTx/>
                <a:uFillTx/>
                <a:latin typeface="+mn-lt"/>
                <a:ea typeface="+mn-ea"/>
                <a:cs typeface="+mn-cs"/>
              </a:rPr>
              <a:t>•  Direction matters: the researcher decides which way the arrow points based on THEORY, not statistics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323232"/>
              </a:solidFill>
              <a:effectLst/>
              <a:uLnTx/>
              <a:uFillTx/>
              <a:latin typeface="+mn-lt"/>
              <a:ea typeface="+mn-ea"/>
              <a:cs typeface="+mn-cs"/>
            </a:endParaRPr>
          </a:p>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mn-lt"/>
                <a:ea typeface="+mn-ea"/>
                <a:cs typeface="+mn-cs"/>
              </a:rPr>
              <a:t>Double-headed arrow (↔): Non-directional / correlation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23232"/>
                </a:solidFill>
                <a:effectLst/>
                <a:uLnTx/>
                <a:uFillTx/>
                <a:latin typeface="+mn-lt"/>
                <a:ea typeface="+mn-ea"/>
                <a:cs typeface="+mn-cs"/>
              </a:rPr>
              <a:t>•  Means: A and B are related, but we make NO claim about which causes which</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23232"/>
                </a:solidFill>
                <a:effectLst/>
                <a:uLnTx/>
                <a:uFillTx/>
                <a:latin typeface="+mn-lt"/>
                <a:ea typeface="+mn-ea"/>
                <a:cs typeface="+mn-cs"/>
              </a:rPr>
              <a:t>•  Example: Anxiety ↔ Depression (they co-occur, but we're not claiming one causes the other)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23232"/>
                </a:solidFill>
                <a:effectLst/>
                <a:uLnTx/>
                <a:uFillTx/>
                <a:latin typeface="+mn-lt"/>
                <a:ea typeface="+mn-ea"/>
                <a:cs typeface="+mn-cs"/>
              </a:rPr>
              <a:t>•  Used for correlated predictors, correlated errors, or correlated latent factors</a:t>
            </a:r>
          </a:p>
          <a:p>
            <a:endParaRPr lang="en-US" dirty="0"/>
          </a:p>
        </p:txBody>
      </p:sp>
      <p:sp>
        <p:nvSpPr>
          <p:cNvPr id="4" name="Slide Number Placeholder 3">
            <a:extLst>
              <a:ext uri="{FF2B5EF4-FFF2-40B4-BE49-F238E27FC236}">
                <a16:creationId xmlns:a16="http://schemas.microsoft.com/office/drawing/2014/main" id="{CBABD210-10D5-8A36-2E15-1167BBD0294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C51016E-E657-C44E-BCBC-358B2058F11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32715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B303F6-779F-E59E-3947-AF61B21892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F4164B-0455-3888-210F-EA85482CBD9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9677B2-8104-21B6-315F-DBD2B7B2EA8E}"/>
              </a:ext>
            </a:extLst>
          </p:cNvPr>
          <p:cNvSpPr>
            <a:spLocks noGrp="1"/>
          </p:cNvSpPr>
          <p:nvPr>
            <p:ph type="body" idx="1"/>
          </p:nvPr>
        </p:nvSpPr>
        <p:spPr/>
        <p:txBody>
          <a:bodyPr/>
          <a:lstStyle/>
          <a:p>
            <a:r>
              <a:rPr lang="en-US" dirty="0"/>
              <a:t>Principal Components</a:t>
            </a:r>
          </a:p>
          <a:p>
            <a:pPr lvl="1"/>
            <a:r>
              <a:rPr lang="en-US" dirty="0"/>
              <a:t>Analyzes the variance not the covariance (i.e., communality)</a:t>
            </a:r>
          </a:p>
          <a:p>
            <a:endParaRPr lang="en-US" dirty="0"/>
          </a:p>
          <a:p>
            <a:r>
              <a:rPr lang="en-US" dirty="0"/>
              <a:t>JASP gives the unique variance in the output</a:t>
            </a:r>
          </a:p>
        </p:txBody>
      </p:sp>
      <p:sp>
        <p:nvSpPr>
          <p:cNvPr id="4" name="Slide Number Placeholder 3">
            <a:extLst>
              <a:ext uri="{FF2B5EF4-FFF2-40B4-BE49-F238E27FC236}">
                <a16:creationId xmlns:a16="http://schemas.microsoft.com/office/drawing/2014/main" id="{5F06C0A7-4EEA-5A18-3655-1EF3701751C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C51016E-E657-C44E-BCBC-358B2058F11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802892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202122"/>
                </a:solidFill>
                <a:effectLst/>
                <a:latin typeface="Arial" panose="020B0604020202020204" pitchFamily="34" charset="0"/>
              </a:rPr>
              <a:t>In statistics, </a:t>
            </a: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823CB8-5EDD-48F3-BC20-E0F7BEA8052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857870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the only difference between the Latent Class and Latent Profile models is that the profile models have continuous </a:t>
            </a:r>
            <a:r>
              <a:rPr lang="en-US" i="1" dirty="0"/>
              <a:t>Y’</a:t>
            </a:r>
            <a:r>
              <a:rPr lang="en-US" dirty="0"/>
              <a:t>s and we are not estimating conditional class probabilities we are estimating conditional means of continuous variables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823CB8-5EDD-48F3-BC20-E0F7BEA8052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483400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Variable centered seeks to estimate relationships between variables (e.g. correlations) are of interest</a:t>
            </a:r>
          </a:p>
          <a:p>
            <a:r>
              <a:rPr lang="en-US" dirty="0"/>
              <a:t>Person centered seeks to understand how variables combine across individuals </a:t>
            </a:r>
            <a:r>
              <a:rPr lang="en-US" dirty="0">
                <a:sym typeface="Wingdings" panose="05000000000000000000" pitchFamily="2" charset="2"/>
              </a:rPr>
              <a:t> groupings of </a:t>
            </a:r>
            <a:r>
              <a:rPr lang="en-US" dirty="0" err="1">
                <a:sym typeface="Wingdings" panose="05000000000000000000" pitchFamily="2" charset="2"/>
              </a:rPr>
              <a:t>indiviauals</a:t>
            </a: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823CB8-5EDD-48F3-BC20-E0F7BEA8052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646298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dirty="0"/>
              <a:t>Recall: we discussed briefly that latent classes can differ substantively or ‘by degree’</a:t>
            </a:r>
          </a:p>
          <a:p>
            <a:pPr lvl="0"/>
            <a:r>
              <a:rPr lang="en-US" sz="1200" dirty="0"/>
              <a:t>This has no equivalent in FA</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823CB8-5EDD-48F3-BC20-E0F7BEA8052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277203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researchers found 3 classes best described the frailty concept</a:t>
            </a:r>
          </a:p>
          <a:p>
            <a:r>
              <a:rPr lang="en-US" dirty="0"/>
              <a:t>First thing to note is that these classes differ </a:t>
            </a:r>
            <a:r>
              <a:rPr lang="en-US" i="1" dirty="0"/>
              <a:t>by degree </a:t>
            </a:r>
            <a:r>
              <a:rPr lang="en-US" i="0" dirty="0"/>
              <a:t>(?)</a:t>
            </a: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823CB8-5EDD-48F3-BC20-E0F7BEA8052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891774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Notice: we call the ‘yes’ responses the probability of endorsement</a:t>
            </a:r>
          </a:p>
          <a:p>
            <a:r>
              <a:rPr lang="en-US" dirty="0"/>
              <a:t>Notice: the probability of Yes + the probability of No MUST EQUAL TO ONE</a:t>
            </a:r>
          </a:p>
          <a:p>
            <a:endParaRPr lang="en-US" dirty="0"/>
          </a:p>
          <a:p>
            <a:r>
              <a:rPr lang="en-US" dirty="0"/>
              <a:t>Typically we only present the endorsement probabilities because if we know the </a:t>
            </a:r>
            <a:r>
              <a:rPr lang="en-US" dirty="0" err="1"/>
              <a:t>Pr</a:t>
            </a:r>
            <a:r>
              <a:rPr lang="en-US" dirty="0"/>
              <a:t>(Yes) then the </a:t>
            </a:r>
            <a:r>
              <a:rPr lang="en-US" dirty="0" err="1"/>
              <a:t>Pr</a:t>
            </a:r>
            <a:r>
              <a:rPr lang="en-US" dirty="0"/>
              <a:t>(No) is = 1 – </a:t>
            </a:r>
            <a:r>
              <a:rPr lang="en-US" dirty="0" err="1"/>
              <a:t>Pr</a:t>
            </a:r>
            <a:r>
              <a:rPr lang="en-US" dirty="0"/>
              <a:t>(Yes)</a:t>
            </a:r>
          </a:p>
          <a:p>
            <a:r>
              <a:rPr lang="en-US" dirty="0"/>
              <a:t>See this in the chart on the right</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823CB8-5EDD-48F3-BC20-E0F7BEA8052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921090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means there are no correlations between variables WITHIN classes because we have accounted for the underlying “cause” that is producing those relationships</a:t>
            </a:r>
          </a:p>
          <a:p>
            <a:endParaRPr lang="en-US" dirty="0"/>
          </a:p>
          <a:p>
            <a:r>
              <a:rPr lang="en-US" dirty="0"/>
              <a:t>Let’s think of PTSD items and illustrate these assumptions:</a:t>
            </a:r>
          </a:p>
          <a:p>
            <a:r>
              <a:rPr lang="en-US" dirty="0"/>
              <a:t>The mixture assumption means that we can identify subgroups of persons with different levels of PTSD indicators such as startle response, avoidance behaviors, etc. This implies that PTSD is NOT a unidimensional concept.</a:t>
            </a:r>
          </a:p>
          <a:p>
            <a:endParaRPr lang="en-US" dirty="0"/>
          </a:p>
          <a:p>
            <a:r>
              <a:rPr lang="en-US" dirty="0"/>
              <a:t>The local independence assumption means that the </a:t>
            </a:r>
            <a:r>
              <a:rPr lang="en-US" i="1" dirty="0"/>
              <a:t>class specific </a:t>
            </a:r>
            <a:r>
              <a:rPr lang="en-US" dirty="0"/>
              <a:t>relationships between PTSD indicators are independent once we identify the class</a:t>
            </a:r>
          </a:p>
          <a:p>
            <a:r>
              <a:rPr lang="en-US" dirty="0"/>
              <a:t>Let’s say we identify a class of people with high scores on avoidance of people’ and ‘avoidance of places’– this assumption means that are highly likely to avoid people and places these two variables are no longer related – the underlying latent construct is the cause of these indicators – we might label it as ‘Avoidance’…</a:t>
            </a:r>
          </a:p>
          <a:p>
            <a:endParaRPr lang="en-US" dirty="0"/>
          </a:p>
          <a:p>
            <a:r>
              <a:rPr lang="en-US" dirty="0"/>
              <a:t>Neither of these may be reasonable assumptions but they can be tested by our models.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823CB8-5EDD-48F3-BC20-E0F7BEA8052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543530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823CB8-5EDD-48F3-BC20-E0F7BEA8052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856441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dirty="0">
                <a:solidFill>
                  <a:srgbClr val="323232"/>
                </a:solidFill>
                <a:latin typeface="+mn-lt"/>
              </a:rPr>
              <a:t>Naming is done by the researchers based on the trajectory patterns — it is a substantive interpretation, not automatic.</a:t>
            </a:r>
          </a:p>
          <a:p>
            <a:endParaRPr lang="en-US" dirty="0"/>
          </a:p>
        </p:txBody>
      </p:sp>
      <p:sp>
        <p:nvSpPr>
          <p:cNvPr id="4" name="Slide Number Placeholder 3"/>
          <p:cNvSpPr>
            <a:spLocks noGrp="1"/>
          </p:cNvSpPr>
          <p:nvPr>
            <p:ph type="sldNum" sz="quarter" idx="5"/>
          </p:nvPr>
        </p:nvSpPr>
        <p:spPr/>
        <p:txBody>
          <a:bodyPr/>
          <a:lstStyle/>
          <a:p>
            <a:fld id="{9C51016E-E657-C44E-BCBC-358B2058F115}" type="slidenum">
              <a:rPr lang="en-US" smtClean="0"/>
              <a:t>57</a:t>
            </a:fld>
            <a:endParaRPr lang="en-US"/>
          </a:p>
        </p:txBody>
      </p:sp>
    </p:spTree>
    <p:extLst>
      <p:ext uri="{BB962C8B-B14F-4D97-AF65-F5344CB8AC3E}">
        <p14:creationId xmlns:p14="http://schemas.microsoft.com/office/powerpoint/2010/main" val="9349159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DE6C8-AB1D-4204-BC9C-3366B0BF0435}"/>
              </a:ext>
            </a:extLst>
          </p:cNvPr>
          <p:cNvSpPr>
            <a:spLocks noGrp="1"/>
          </p:cNvSpPr>
          <p:nvPr>
            <p:ph type="ctrTitle"/>
          </p:nvPr>
        </p:nvSpPr>
        <p:spPr>
          <a:xfrm>
            <a:off x="678426" y="889820"/>
            <a:ext cx="9989574" cy="3598606"/>
          </a:xfrm>
        </p:spPr>
        <p:txBody>
          <a:bodyPr anchor="t">
            <a:normAutofit/>
          </a:bodyPr>
          <a:lstStyle>
            <a:lvl1pPr algn="l">
              <a:defRPr sz="5400"/>
            </a:lvl1pPr>
          </a:lstStyle>
          <a:p>
            <a:r>
              <a:rPr lang="en-US"/>
              <a:t>Click to edit Master title style</a:t>
            </a:r>
          </a:p>
        </p:txBody>
      </p:sp>
      <p:sp>
        <p:nvSpPr>
          <p:cNvPr id="3" name="Subtitle 2">
            <a:extLst>
              <a:ext uri="{FF2B5EF4-FFF2-40B4-BE49-F238E27FC236}">
                <a16:creationId xmlns:a16="http://schemas.microsoft.com/office/drawing/2014/main" id="{7A7B9009-EE50-4EE5-B6EB-CD6EC83D3FA3}"/>
              </a:ext>
            </a:extLst>
          </p:cNvPr>
          <p:cNvSpPr>
            <a:spLocks noGrp="1"/>
          </p:cNvSpPr>
          <p:nvPr>
            <p:ph type="subTitle" idx="1"/>
          </p:nvPr>
        </p:nvSpPr>
        <p:spPr>
          <a:xfrm>
            <a:off x="678426" y="4488426"/>
            <a:ext cx="6991776" cy="130277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9C8667E-058A-436F-B8EA-5B3A99D43D09}"/>
              </a:ext>
            </a:extLst>
          </p:cNvPr>
          <p:cNvSpPr>
            <a:spLocks noGrp="1"/>
          </p:cNvSpPr>
          <p:nvPr>
            <p:ph type="dt" sz="half" idx="10"/>
          </p:nvPr>
        </p:nvSpPr>
        <p:spPr/>
        <p:txBody>
          <a:bodyPr/>
          <a:lstStyle/>
          <a:p>
            <a:fld id="{2F3E8B1C-86EF-43CF-8304-249481088644}" type="datetimeFigureOut">
              <a:rPr lang="en-US" smtClean="0"/>
              <a:t>4/18/2026</a:t>
            </a:fld>
            <a:endParaRPr lang="en-US"/>
          </a:p>
        </p:txBody>
      </p:sp>
      <p:sp>
        <p:nvSpPr>
          <p:cNvPr id="5" name="Footer Placeholder 4">
            <a:extLst>
              <a:ext uri="{FF2B5EF4-FFF2-40B4-BE49-F238E27FC236}">
                <a16:creationId xmlns:a16="http://schemas.microsoft.com/office/drawing/2014/main" id="{52680305-1AD7-482D-BFFD-6CDB83AB39A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E5762A1-52E9-402D-B65E-DF193E44CE83}"/>
              </a:ext>
            </a:extLst>
          </p:cNvPr>
          <p:cNvSpPr>
            <a:spLocks noGrp="1"/>
          </p:cNvSpPr>
          <p:nvPr>
            <p:ph type="sldNum" sz="quarter" idx="12"/>
          </p:nvPr>
        </p:nvSpPr>
        <p:spPr/>
        <p:txBody>
          <a:bodyPr/>
          <a:lstStyle/>
          <a:p>
            <a:fld id="{C3DB2ADC-AF19-4574-8C10-79B5B04FCA27}" type="slidenum">
              <a:rPr lang="en-US" smtClean="0"/>
              <a:t>‹#›</a:t>
            </a:fld>
            <a:endParaRPr lang="en-US"/>
          </a:p>
        </p:txBody>
      </p:sp>
    </p:spTree>
    <p:extLst>
      <p:ext uri="{BB962C8B-B14F-4D97-AF65-F5344CB8AC3E}">
        <p14:creationId xmlns:p14="http://schemas.microsoft.com/office/powerpoint/2010/main" val="2783692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87CA6-BFD9-4CB1-8892-F6B062E8244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0CDA8C3-9C0C-4E52-9A62-E4DB159E6B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CC3EC35-E02F-41FF-9232-F90692A902FC}"/>
              </a:ext>
            </a:extLst>
          </p:cNvPr>
          <p:cNvSpPr>
            <a:spLocks noGrp="1"/>
          </p:cNvSpPr>
          <p:nvPr>
            <p:ph type="dt" sz="half" idx="10"/>
          </p:nvPr>
        </p:nvSpPr>
        <p:spPr/>
        <p:txBody>
          <a:bodyPr/>
          <a:lstStyle/>
          <a:p>
            <a:fld id="{2F3E8B1C-86EF-43CF-8304-249481088644}" type="datetimeFigureOut">
              <a:rPr lang="en-US" smtClean="0"/>
              <a:t>4/18/2026</a:t>
            </a:fld>
            <a:endParaRPr lang="en-US"/>
          </a:p>
        </p:txBody>
      </p:sp>
      <p:sp>
        <p:nvSpPr>
          <p:cNvPr id="5" name="Footer Placeholder 4">
            <a:extLst>
              <a:ext uri="{FF2B5EF4-FFF2-40B4-BE49-F238E27FC236}">
                <a16:creationId xmlns:a16="http://schemas.microsoft.com/office/drawing/2014/main" id="{39D13D38-5DF1-443B-8A12-71E834FDC6A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5E644A-4A37-4757-9809-5B035E2874E6}"/>
              </a:ext>
            </a:extLst>
          </p:cNvPr>
          <p:cNvSpPr>
            <a:spLocks noGrp="1"/>
          </p:cNvSpPr>
          <p:nvPr>
            <p:ph type="sldNum" sz="quarter" idx="12"/>
          </p:nvPr>
        </p:nvSpPr>
        <p:spPr/>
        <p:txBody>
          <a:bodyPr/>
          <a:lstStyle/>
          <a:p>
            <a:fld id="{C3DB2ADC-AF19-4574-8C10-79B5B04FCA27}" type="slidenum">
              <a:rPr lang="en-US" smtClean="0"/>
              <a:t>‹#›</a:t>
            </a:fld>
            <a:endParaRPr lang="en-US"/>
          </a:p>
        </p:txBody>
      </p:sp>
    </p:spTree>
    <p:extLst>
      <p:ext uri="{BB962C8B-B14F-4D97-AF65-F5344CB8AC3E}">
        <p14:creationId xmlns:p14="http://schemas.microsoft.com/office/powerpoint/2010/main" val="27605221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6578B-CD85-4BF1-A729-E8E8079B595F}"/>
              </a:ext>
            </a:extLst>
          </p:cNvPr>
          <p:cNvSpPr>
            <a:spLocks noGrp="1"/>
          </p:cNvSpPr>
          <p:nvPr>
            <p:ph type="title"/>
          </p:nvPr>
        </p:nvSpPr>
        <p:spPr>
          <a:xfrm>
            <a:off x="715383" y="1709738"/>
            <a:ext cx="10632067"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58448C1-C13F-4826-8347-EEB00A6643D6}"/>
              </a:ext>
            </a:extLst>
          </p:cNvPr>
          <p:cNvSpPr>
            <a:spLocks noGrp="1"/>
          </p:cNvSpPr>
          <p:nvPr>
            <p:ph type="body" idx="1"/>
          </p:nvPr>
        </p:nvSpPr>
        <p:spPr>
          <a:xfrm>
            <a:off x="715383" y="4589463"/>
            <a:ext cx="10632067"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806546A-957F-4C4D-9744-1177AD258E10}"/>
              </a:ext>
            </a:extLst>
          </p:cNvPr>
          <p:cNvSpPr>
            <a:spLocks noGrp="1"/>
          </p:cNvSpPr>
          <p:nvPr>
            <p:ph type="dt" sz="half" idx="10"/>
          </p:nvPr>
        </p:nvSpPr>
        <p:spPr/>
        <p:txBody>
          <a:bodyPr/>
          <a:lstStyle/>
          <a:p>
            <a:fld id="{2F3E8B1C-86EF-43CF-8304-249481088644}" type="datetimeFigureOut">
              <a:rPr lang="en-US" smtClean="0"/>
              <a:t>4/18/2026</a:t>
            </a:fld>
            <a:endParaRPr lang="en-US"/>
          </a:p>
        </p:txBody>
      </p:sp>
      <p:sp>
        <p:nvSpPr>
          <p:cNvPr id="5" name="Footer Placeholder 4">
            <a:extLst>
              <a:ext uri="{FF2B5EF4-FFF2-40B4-BE49-F238E27FC236}">
                <a16:creationId xmlns:a16="http://schemas.microsoft.com/office/drawing/2014/main" id="{B1DB149C-CC63-4E3A-A83D-EF637EB5197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DB94775-7982-41EC-B584-D51224D38F77}"/>
              </a:ext>
            </a:extLst>
          </p:cNvPr>
          <p:cNvSpPr>
            <a:spLocks noGrp="1"/>
          </p:cNvSpPr>
          <p:nvPr>
            <p:ph type="sldNum" sz="quarter" idx="12"/>
          </p:nvPr>
        </p:nvSpPr>
        <p:spPr/>
        <p:txBody>
          <a:bodyPr/>
          <a:lstStyle/>
          <a:p>
            <a:fld id="{C3DB2ADC-AF19-4574-8C10-79B5B04FCA27}" type="slidenum">
              <a:rPr lang="en-US" smtClean="0"/>
              <a:t>‹#›</a:t>
            </a:fld>
            <a:endParaRPr lang="en-US"/>
          </a:p>
        </p:txBody>
      </p:sp>
    </p:spTree>
    <p:extLst>
      <p:ext uri="{BB962C8B-B14F-4D97-AF65-F5344CB8AC3E}">
        <p14:creationId xmlns:p14="http://schemas.microsoft.com/office/powerpoint/2010/main" val="33331292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E4BD8-507D-48E4-A624-F16A741C3609}"/>
              </a:ext>
            </a:extLst>
          </p:cNvPr>
          <p:cNvSpPr>
            <a:spLocks noGrp="1"/>
          </p:cNvSpPr>
          <p:nvPr>
            <p:ph type="title"/>
          </p:nvPr>
        </p:nvSpPr>
        <p:spPr>
          <a:xfrm>
            <a:off x="700635" y="922096"/>
            <a:ext cx="10691265" cy="1127930"/>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810A07E4-3A39-457C-A059-7DFB6039D947}"/>
              </a:ext>
            </a:extLst>
          </p:cNvPr>
          <p:cNvSpPr>
            <a:spLocks noGrp="1"/>
          </p:cNvSpPr>
          <p:nvPr>
            <p:ph sz="half" idx="1"/>
          </p:nvPr>
        </p:nvSpPr>
        <p:spPr>
          <a:xfrm>
            <a:off x="715383" y="2128684"/>
            <a:ext cx="5304417" cy="38444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B141E17-47CE-4A78-B0FA-0E9786DA67C5}"/>
              </a:ext>
            </a:extLst>
          </p:cNvPr>
          <p:cNvSpPr>
            <a:spLocks noGrp="1"/>
          </p:cNvSpPr>
          <p:nvPr>
            <p:ph sz="half" idx="2"/>
          </p:nvPr>
        </p:nvSpPr>
        <p:spPr>
          <a:xfrm>
            <a:off x="6172200" y="2128684"/>
            <a:ext cx="5219700" cy="38444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F02C13-D3ED-4044-9716-F29D79A184C9}"/>
              </a:ext>
            </a:extLst>
          </p:cNvPr>
          <p:cNvSpPr>
            <a:spLocks noGrp="1"/>
          </p:cNvSpPr>
          <p:nvPr>
            <p:ph type="dt" sz="half" idx="10"/>
          </p:nvPr>
        </p:nvSpPr>
        <p:spPr/>
        <p:txBody>
          <a:bodyPr/>
          <a:lstStyle/>
          <a:p>
            <a:fld id="{2F3E8B1C-86EF-43CF-8304-249481088644}" type="datetimeFigureOut">
              <a:rPr lang="en-US" smtClean="0"/>
              <a:t>4/18/2026</a:t>
            </a:fld>
            <a:endParaRPr lang="en-US"/>
          </a:p>
        </p:txBody>
      </p:sp>
      <p:sp>
        <p:nvSpPr>
          <p:cNvPr id="6" name="Footer Placeholder 5">
            <a:extLst>
              <a:ext uri="{FF2B5EF4-FFF2-40B4-BE49-F238E27FC236}">
                <a16:creationId xmlns:a16="http://schemas.microsoft.com/office/drawing/2014/main" id="{8AF334AD-FB29-4355-B5CF-85E61B4F340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A5AA154-790C-4774-9C21-8C543E733F26}"/>
              </a:ext>
            </a:extLst>
          </p:cNvPr>
          <p:cNvSpPr>
            <a:spLocks noGrp="1"/>
          </p:cNvSpPr>
          <p:nvPr>
            <p:ph type="sldNum" sz="quarter" idx="12"/>
          </p:nvPr>
        </p:nvSpPr>
        <p:spPr/>
        <p:txBody>
          <a:bodyPr/>
          <a:lstStyle/>
          <a:p>
            <a:fld id="{C3DB2ADC-AF19-4574-8C10-79B5B04FCA27}" type="slidenum">
              <a:rPr lang="en-US" smtClean="0"/>
              <a:t>‹#›</a:t>
            </a:fld>
            <a:endParaRPr lang="en-US"/>
          </a:p>
        </p:txBody>
      </p:sp>
    </p:spTree>
    <p:extLst>
      <p:ext uri="{BB962C8B-B14F-4D97-AF65-F5344CB8AC3E}">
        <p14:creationId xmlns:p14="http://schemas.microsoft.com/office/powerpoint/2010/main" val="21905189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7DD35-7673-4F88-86B0-634883B5E345}"/>
              </a:ext>
            </a:extLst>
          </p:cNvPr>
          <p:cNvSpPr>
            <a:spLocks noGrp="1"/>
          </p:cNvSpPr>
          <p:nvPr>
            <p:ph type="title"/>
          </p:nvPr>
        </p:nvSpPr>
        <p:spPr>
          <a:xfrm>
            <a:off x="685887" y="929148"/>
            <a:ext cx="10640005" cy="761540"/>
          </a:xfrm>
        </p:spPr>
        <p:txBody>
          <a:bodyPr/>
          <a:lstStyle/>
          <a:p>
            <a:r>
              <a:rPr lang="en-US"/>
              <a:t>Click to edit Master title style</a:t>
            </a:r>
          </a:p>
        </p:txBody>
      </p:sp>
      <p:sp>
        <p:nvSpPr>
          <p:cNvPr id="3" name="Text Placeholder 2">
            <a:extLst>
              <a:ext uri="{FF2B5EF4-FFF2-40B4-BE49-F238E27FC236}">
                <a16:creationId xmlns:a16="http://schemas.microsoft.com/office/drawing/2014/main" id="{5EC820D7-3E0B-47C6-A583-C4C839C5AF03}"/>
              </a:ext>
            </a:extLst>
          </p:cNvPr>
          <p:cNvSpPr>
            <a:spLocks noGrp="1"/>
          </p:cNvSpPr>
          <p:nvPr>
            <p:ph type="body" idx="1"/>
          </p:nvPr>
        </p:nvSpPr>
        <p:spPr>
          <a:xfrm>
            <a:off x="715384" y="1681163"/>
            <a:ext cx="5282192"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A839A7B-97D5-400F-B802-A0FF28FE9F15}"/>
              </a:ext>
            </a:extLst>
          </p:cNvPr>
          <p:cNvSpPr>
            <a:spLocks noGrp="1"/>
          </p:cNvSpPr>
          <p:nvPr>
            <p:ph sz="half" idx="2"/>
          </p:nvPr>
        </p:nvSpPr>
        <p:spPr>
          <a:xfrm>
            <a:off x="715384" y="2505075"/>
            <a:ext cx="5282192" cy="342377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2E0ECA2-DBF1-4681-9DFA-93AFD1B371DB}"/>
              </a:ext>
            </a:extLst>
          </p:cNvPr>
          <p:cNvSpPr>
            <a:spLocks noGrp="1"/>
          </p:cNvSpPr>
          <p:nvPr>
            <p:ph type="body" sz="quarter" idx="3"/>
          </p:nvPr>
        </p:nvSpPr>
        <p:spPr>
          <a:xfrm>
            <a:off x="6172200" y="1681163"/>
            <a:ext cx="5183188"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90EBBBB-517F-4ED7-9E51-CF0F7590B4D4}"/>
              </a:ext>
            </a:extLst>
          </p:cNvPr>
          <p:cNvSpPr>
            <a:spLocks noGrp="1"/>
          </p:cNvSpPr>
          <p:nvPr>
            <p:ph sz="quarter" idx="4"/>
          </p:nvPr>
        </p:nvSpPr>
        <p:spPr>
          <a:xfrm>
            <a:off x="6172200" y="2505075"/>
            <a:ext cx="5183188" cy="342377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511B5C7-1E37-478F-B4B0-C7202FFE41B9}"/>
              </a:ext>
            </a:extLst>
          </p:cNvPr>
          <p:cNvSpPr>
            <a:spLocks noGrp="1"/>
          </p:cNvSpPr>
          <p:nvPr>
            <p:ph type="dt" sz="half" idx="10"/>
          </p:nvPr>
        </p:nvSpPr>
        <p:spPr/>
        <p:txBody>
          <a:bodyPr/>
          <a:lstStyle/>
          <a:p>
            <a:fld id="{2F3E8B1C-86EF-43CF-8304-249481088644}" type="datetimeFigureOut">
              <a:rPr lang="en-US" smtClean="0"/>
              <a:t>4/18/2026</a:t>
            </a:fld>
            <a:endParaRPr lang="en-US"/>
          </a:p>
        </p:txBody>
      </p:sp>
      <p:sp>
        <p:nvSpPr>
          <p:cNvPr id="8" name="Footer Placeholder 7">
            <a:extLst>
              <a:ext uri="{FF2B5EF4-FFF2-40B4-BE49-F238E27FC236}">
                <a16:creationId xmlns:a16="http://schemas.microsoft.com/office/drawing/2014/main" id="{9153F7EF-507C-4CB3-86C5-8B34FFFC1D8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8E3DEA6-E4EB-4C2A-8B4F-55EC965B6219}"/>
              </a:ext>
            </a:extLst>
          </p:cNvPr>
          <p:cNvSpPr>
            <a:spLocks noGrp="1"/>
          </p:cNvSpPr>
          <p:nvPr>
            <p:ph type="sldNum" sz="quarter" idx="12"/>
          </p:nvPr>
        </p:nvSpPr>
        <p:spPr/>
        <p:txBody>
          <a:bodyPr/>
          <a:lstStyle/>
          <a:p>
            <a:fld id="{C3DB2ADC-AF19-4574-8C10-79B5B04FCA27}" type="slidenum">
              <a:rPr lang="en-US" smtClean="0"/>
              <a:t>‹#›</a:t>
            </a:fld>
            <a:endParaRPr lang="en-US"/>
          </a:p>
        </p:txBody>
      </p:sp>
    </p:spTree>
    <p:extLst>
      <p:ext uri="{BB962C8B-B14F-4D97-AF65-F5344CB8AC3E}">
        <p14:creationId xmlns:p14="http://schemas.microsoft.com/office/powerpoint/2010/main" val="29575948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32964-A933-4B98-A141-A4B316DAFA9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D684C9D-23DA-42B0-9DD3-7592F72E8DC9}"/>
              </a:ext>
            </a:extLst>
          </p:cNvPr>
          <p:cNvSpPr>
            <a:spLocks noGrp="1"/>
          </p:cNvSpPr>
          <p:nvPr>
            <p:ph type="dt" sz="half" idx="10"/>
          </p:nvPr>
        </p:nvSpPr>
        <p:spPr/>
        <p:txBody>
          <a:bodyPr/>
          <a:lstStyle/>
          <a:p>
            <a:fld id="{2F3E8B1C-86EF-43CF-8304-249481088644}" type="datetimeFigureOut">
              <a:rPr lang="en-US" smtClean="0"/>
              <a:t>4/18/2026</a:t>
            </a:fld>
            <a:endParaRPr lang="en-US"/>
          </a:p>
        </p:txBody>
      </p:sp>
      <p:sp>
        <p:nvSpPr>
          <p:cNvPr id="4" name="Footer Placeholder 3">
            <a:extLst>
              <a:ext uri="{FF2B5EF4-FFF2-40B4-BE49-F238E27FC236}">
                <a16:creationId xmlns:a16="http://schemas.microsoft.com/office/drawing/2014/main" id="{68BF8F05-876F-49D8-AE30-5BB2A91ECD5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53D20DA-9260-4577-BB51-789570A243AF}"/>
              </a:ext>
            </a:extLst>
          </p:cNvPr>
          <p:cNvSpPr>
            <a:spLocks noGrp="1"/>
          </p:cNvSpPr>
          <p:nvPr>
            <p:ph type="sldNum" sz="quarter" idx="12"/>
          </p:nvPr>
        </p:nvSpPr>
        <p:spPr/>
        <p:txBody>
          <a:bodyPr/>
          <a:lstStyle/>
          <a:p>
            <a:fld id="{C3DB2ADC-AF19-4574-8C10-79B5B04FCA27}" type="slidenum">
              <a:rPr lang="en-US" smtClean="0"/>
              <a:t>‹#›</a:t>
            </a:fld>
            <a:endParaRPr lang="en-US"/>
          </a:p>
        </p:txBody>
      </p:sp>
    </p:spTree>
    <p:extLst>
      <p:ext uri="{BB962C8B-B14F-4D97-AF65-F5344CB8AC3E}">
        <p14:creationId xmlns:p14="http://schemas.microsoft.com/office/powerpoint/2010/main" val="26263068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2C1F24-E0A1-45A7-8EF5-92CD9799341C}"/>
              </a:ext>
            </a:extLst>
          </p:cNvPr>
          <p:cNvSpPr>
            <a:spLocks noGrp="1"/>
          </p:cNvSpPr>
          <p:nvPr>
            <p:ph type="dt" sz="half" idx="10"/>
          </p:nvPr>
        </p:nvSpPr>
        <p:spPr/>
        <p:txBody>
          <a:bodyPr/>
          <a:lstStyle/>
          <a:p>
            <a:fld id="{2F3E8B1C-86EF-43CF-8304-249481088644}" type="datetimeFigureOut">
              <a:rPr lang="en-US" smtClean="0"/>
              <a:t>4/18/2026</a:t>
            </a:fld>
            <a:endParaRPr lang="en-US"/>
          </a:p>
        </p:txBody>
      </p:sp>
      <p:sp>
        <p:nvSpPr>
          <p:cNvPr id="3" name="Footer Placeholder 2">
            <a:extLst>
              <a:ext uri="{FF2B5EF4-FFF2-40B4-BE49-F238E27FC236}">
                <a16:creationId xmlns:a16="http://schemas.microsoft.com/office/drawing/2014/main" id="{3E021C19-210E-46B0-9036-5D8AECC9260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A880FEF-487E-44DF-8615-DF2210419602}"/>
              </a:ext>
            </a:extLst>
          </p:cNvPr>
          <p:cNvSpPr>
            <a:spLocks noGrp="1"/>
          </p:cNvSpPr>
          <p:nvPr>
            <p:ph type="sldNum" sz="quarter" idx="12"/>
          </p:nvPr>
        </p:nvSpPr>
        <p:spPr/>
        <p:txBody>
          <a:bodyPr/>
          <a:lstStyle/>
          <a:p>
            <a:fld id="{C3DB2ADC-AF19-4574-8C10-79B5B04FCA27}" type="slidenum">
              <a:rPr lang="en-US" smtClean="0"/>
              <a:t>‹#›</a:t>
            </a:fld>
            <a:endParaRPr lang="en-US"/>
          </a:p>
        </p:txBody>
      </p:sp>
    </p:spTree>
    <p:extLst>
      <p:ext uri="{BB962C8B-B14F-4D97-AF65-F5344CB8AC3E}">
        <p14:creationId xmlns:p14="http://schemas.microsoft.com/office/powerpoint/2010/main" val="36601138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568EE-74C8-43A6-90BC-2DDD965CF64A}"/>
              </a:ext>
            </a:extLst>
          </p:cNvPr>
          <p:cNvSpPr>
            <a:spLocks noGrp="1"/>
          </p:cNvSpPr>
          <p:nvPr>
            <p:ph type="title"/>
          </p:nvPr>
        </p:nvSpPr>
        <p:spPr>
          <a:xfrm>
            <a:off x="678426" y="781665"/>
            <a:ext cx="4093599" cy="1223452"/>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71C35AC-CAE3-48CF-A3E4-A075C9FDD71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D9D03EA-5FAD-4609-A2B8-624E426847E3}"/>
              </a:ext>
            </a:extLst>
          </p:cNvPr>
          <p:cNvSpPr>
            <a:spLocks noGrp="1"/>
          </p:cNvSpPr>
          <p:nvPr>
            <p:ph type="body" sz="half" idx="2"/>
          </p:nvPr>
        </p:nvSpPr>
        <p:spPr>
          <a:xfrm>
            <a:off x="688258" y="2315497"/>
            <a:ext cx="4093599" cy="355349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58D2EA-2191-4216-B64D-067BDFE12375}"/>
              </a:ext>
            </a:extLst>
          </p:cNvPr>
          <p:cNvSpPr>
            <a:spLocks noGrp="1"/>
          </p:cNvSpPr>
          <p:nvPr>
            <p:ph type="dt" sz="half" idx="10"/>
          </p:nvPr>
        </p:nvSpPr>
        <p:spPr/>
        <p:txBody>
          <a:bodyPr/>
          <a:lstStyle/>
          <a:p>
            <a:fld id="{2F3E8B1C-86EF-43CF-8304-249481088644}" type="datetimeFigureOut">
              <a:rPr lang="en-US" smtClean="0"/>
              <a:t>4/18/2026</a:t>
            </a:fld>
            <a:endParaRPr lang="en-US"/>
          </a:p>
        </p:txBody>
      </p:sp>
      <p:sp>
        <p:nvSpPr>
          <p:cNvPr id="6" name="Footer Placeholder 5">
            <a:extLst>
              <a:ext uri="{FF2B5EF4-FFF2-40B4-BE49-F238E27FC236}">
                <a16:creationId xmlns:a16="http://schemas.microsoft.com/office/drawing/2014/main" id="{78042128-DAB4-481C-BEE6-3523E8E88BA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E50E382-C500-4A4C-A7C6-43860383AB91}"/>
              </a:ext>
            </a:extLst>
          </p:cNvPr>
          <p:cNvSpPr>
            <a:spLocks noGrp="1"/>
          </p:cNvSpPr>
          <p:nvPr>
            <p:ph type="sldNum" sz="quarter" idx="12"/>
          </p:nvPr>
        </p:nvSpPr>
        <p:spPr/>
        <p:txBody>
          <a:bodyPr/>
          <a:lstStyle/>
          <a:p>
            <a:fld id="{C3DB2ADC-AF19-4574-8C10-79B5B04FCA27}" type="slidenum">
              <a:rPr lang="en-US" smtClean="0"/>
              <a:t>‹#›</a:t>
            </a:fld>
            <a:endParaRPr lang="en-US"/>
          </a:p>
        </p:txBody>
      </p:sp>
    </p:spTree>
    <p:extLst>
      <p:ext uri="{BB962C8B-B14F-4D97-AF65-F5344CB8AC3E}">
        <p14:creationId xmlns:p14="http://schemas.microsoft.com/office/powerpoint/2010/main" val="1625445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FE98B-EACF-4251-A8AF-0D9EDD17C664}"/>
              </a:ext>
            </a:extLst>
          </p:cNvPr>
          <p:cNvSpPr>
            <a:spLocks noGrp="1"/>
          </p:cNvSpPr>
          <p:nvPr>
            <p:ph type="title"/>
          </p:nvPr>
        </p:nvSpPr>
        <p:spPr>
          <a:xfrm>
            <a:off x="683342" y="1066800"/>
            <a:ext cx="4103431" cy="1317523"/>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905F473-761A-4002-AF70-9FF878D0139E}"/>
              </a:ext>
            </a:extLst>
          </p:cNvPr>
          <p:cNvSpPr>
            <a:spLocks noGrp="1"/>
          </p:cNvSpPr>
          <p:nvPr>
            <p:ph type="pic" idx="1"/>
          </p:nvPr>
        </p:nvSpPr>
        <p:spPr>
          <a:xfrm>
            <a:off x="5183188" y="1066800"/>
            <a:ext cx="6172200" cy="47942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A0C2E6A-F834-4540-BB00-E13CB45DC362}"/>
              </a:ext>
            </a:extLst>
          </p:cNvPr>
          <p:cNvSpPr>
            <a:spLocks noGrp="1"/>
          </p:cNvSpPr>
          <p:nvPr>
            <p:ph type="body" sz="half" idx="2"/>
          </p:nvPr>
        </p:nvSpPr>
        <p:spPr>
          <a:xfrm>
            <a:off x="683342" y="2552700"/>
            <a:ext cx="4103431" cy="33162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C38EAB-AD63-415C-B263-BA1D8FBE3CB0}"/>
              </a:ext>
            </a:extLst>
          </p:cNvPr>
          <p:cNvSpPr>
            <a:spLocks noGrp="1"/>
          </p:cNvSpPr>
          <p:nvPr>
            <p:ph type="dt" sz="half" idx="10"/>
          </p:nvPr>
        </p:nvSpPr>
        <p:spPr/>
        <p:txBody>
          <a:bodyPr/>
          <a:lstStyle/>
          <a:p>
            <a:fld id="{2F3E8B1C-86EF-43CF-8304-249481088644}" type="datetimeFigureOut">
              <a:rPr lang="en-US" smtClean="0"/>
              <a:t>4/18/2026</a:t>
            </a:fld>
            <a:endParaRPr lang="en-US"/>
          </a:p>
        </p:txBody>
      </p:sp>
      <p:sp>
        <p:nvSpPr>
          <p:cNvPr id="6" name="Footer Placeholder 5">
            <a:extLst>
              <a:ext uri="{FF2B5EF4-FFF2-40B4-BE49-F238E27FC236}">
                <a16:creationId xmlns:a16="http://schemas.microsoft.com/office/drawing/2014/main" id="{422E5541-B6DE-45E8-BCFE-0DFC4F57407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BB78D45-289B-46AF-8CB9-E6150BEA17ED}"/>
              </a:ext>
            </a:extLst>
          </p:cNvPr>
          <p:cNvSpPr>
            <a:spLocks noGrp="1"/>
          </p:cNvSpPr>
          <p:nvPr>
            <p:ph type="sldNum" sz="quarter" idx="12"/>
          </p:nvPr>
        </p:nvSpPr>
        <p:spPr/>
        <p:txBody>
          <a:bodyPr/>
          <a:lstStyle/>
          <a:p>
            <a:fld id="{C3DB2ADC-AF19-4574-8C10-79B5B04FCA27}" type="slidenum">
              <a:rPr lang="en-US" smtClean="0"/>
              <a:t>‹#›</a:t>
            </a:fld>
            <a:endParaRPr lang="en-US"/>
          </a:p>
        </p:txBody>
      </p:sp>
    </p:spTree>
    <p:extLst>
      <p:ext uri="{BB962C8B-B14F-4D97-AF65-F5344CB8AC3E}">
        <p14:creationId xmlns:p14="http://schemas.microsoft.com/office/powerpoint/2010/main" val="42306816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359C1-C098-4BF4-A55D-782F4E606B8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D343C7E-1E8B-4D38-9B81-1AA2A8978ED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8A70B00-53AE-4D3F-91BE-A8D789ED9864}"/>
              </a:ext>
            </a:extLst>
          </p:cNvPr>
          <p:cNvSpPr>
            <a:spLocks noGrp="1"/>
          </p:cNvSpPr>
          <p:nvPr>
            <p:ph type="dt" sz="half" idx="10"/>
          </p:nvPr>
        </p:nvSpPr>
        <p:spPr/>
        <p:txBody>
          <a:bodyPr/>
          <a:lstStyle/>
          <a:p>
            <a:fld id="{2F3E8B1C-86EF-43CF-8304-249481088644}" type="datetimeFigureOut">
              <a:rPr lang="en-US" smtClean="0"/>
              <a:t>4/18/2026</a:t>
            </a:fld>
            <a:endParaRPr lang="en-US"/>
          </a:p>
        </p:txBody>
      </p:sp>
      <p:sp>
        <p:nvSpPr>
          <p:cNvPr id="5" name="Footer Placeholder 4">
            <a:extLst>
              <a:ext uri="{FF2B5EF4-FFF2-40B4-BE49-F238E27FC236}">
                <a16:creationId xmlns:a16="http://schemas.microsoft.com/office/drawing/2014/main" id="{06647FC7-8124-4F70-A849-B6BCC5189CC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7CEBE4-50DC-47DB-B699-CCC024336C9F}"/>
              </a:ext>
            </a:extLst>
          </p:cNvPr>
          <p:cNvSpPr>
            <a:spLocks noGrp="1"/>
          </p:cNvSpPr>
          <p:nvPr>
            <p:ph type="sldNum" sz="quarter" idx="12"/>
          </p:nvPr>
        </p:nvSpPr>
        <p:spPr/>
        <p:txBody>
          <a:bodyPr/>
          <a:lstStyle/>
          <a:p>
            <a:fld id="{C3DB2ADC-AF19-4574-8C10-79B5B04FCA27}" type="slidenum">
              <a:rPr lang="en-US" smtClean="0"/>
              <a:t>‹#›</a:t>
            </a:fld>
            <a:endParaRPr lang="en-US"/>
          </a:p>
        </p:txBody>
      </p:sp>
    </p:spTree>
    <p:extLst>
      <p:ext uri="{BB962C8B-B14F-4D97-AF65-F5344CB8AC3E}">
        <p14:creationId xmlns:p14="http://schemas.microsoft.com/office/powerpoint/2010/main" val="39710728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418279-D3B8-4C6A-AB74-9DE377771270}"/>
              </a:ext>
            </a:extLst>
          </p:cNvPr>
          <p:cNvSpPr>
            <a:spLocks noGrp="1"/>
          </p:cNvSpPr>
          <p:nvPr>
            <p:ph type="title" orient="vert"/>
          </p:nvPr>
        </p:nvSpPr>
        <p:spPr>
          <a:xfrm>
            <a:off x="9242322" y="997974"/>
            <a:ext cx="2349043" cy="4984956"/>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28F733C-9309-4197-BACA-207CDC8935C9}"/>
              </a:ext>
            </a:extLst>
          </p:cNvPr>
          <p:cNvSpPr>
            <a:spLocks noGrp="1"/>
          </p:cNvSpPr>
          <p:nvPr>
            <p:ph type="body" orient="vert" idx="1"/>
          </p:nvPr>
        </p:nvSpPr>
        <p:spPr>
          <a:xfrm>
            <a:off x="838200" y="997973"/>
            <a:ext cx="8404122" cy="498495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6ACD4D0-5BE6-412D-B08B-5DFFD593513E}"/>
              </a:ext>
            </a:extLst>
          </p:cNvPr>
          <p:cNvSpPr>
            <a:spLocks noGrp="1"/>
          </p:cNvSpPr>
          <p:nvPr>
            <p:ph type="dt" sz="half" idx="10"/>
          </p:nvPr>
        </p:nvSpPr>
        <p:spPr/>
        <p:txBody>
          <a:bodyPr/>
          <a:lstStyle/>
          <a:p>
            <a:fld id="{2F3E8B1C-86EF-43CF-8304-249481088644}" type="datetimeFigureOut">
              <a:rPr lang="en-US" smtClean="0"/>
              <a:t>4/18/2026</a:t>
            </a:fld>
            <a:endParaRPr lang="en-US"/>
          </a:p>
        </p:txBody>
      </p:sp>
      <p:sp>
        <p:nvSpPr>
          <p:cNvPr id="5" name="Footer Placeholder 4">
            <a:extLst>
              <a:ext uri="{FF2B5EF4-FFF2-40B4-BE49-F238E27FC236}">
                <a16:creationId xmlns:a16="http://schemas.microsoft.com/office/drawing/2014/main" id="{55021651-B786-4A39-A10F-F5231D0A2C5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4504D2D-9379-40DE-9F45-3004BE54F16B}"/>
              </a:ext>
            </a:extLst>
          </p:cNvPr>
          <p:cNvSpPr>
            <a:spLocks noGrp="1"/>
          </p:cNvSpPr>
          <p:nvPr>
            <p:ph type="sldNum" sz="quarter" idx="12"/>
          </p:nvPr>
        </p:nvSpPr>
        <p:spPr/>
        <p:txBody>
          <a:bodyPr/>
          <a:lstStyle/>
          <a:p>
            <a:fld id="{C3DB2ADC-AF19-4574-8C10-79B5B04FCA27}" type="slidenum">
              <a:rPr lang="en-US" smtClean="0"/>
              <a:t>‹#›</a:t>
            </a:fld>
            <a:endParaRPr lang="en-US"/>
          </a:p>
        </p:txBody>
      </p:sp>
    </p:spTree>
    <p:extLst>
      <p:ext uri="{BB962C8B-B14F-4D97-AF65-F5344CB8AC3E}">
        <p14:creationId xmlns:p14="http://schemas.microsoft.com/office/powerpoint/2010/main" val="29830925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F8717-DDB0-42A7-8AF8-D0070C54EA6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5C47440-F7B7-499A-B5E1-AB4D65BB29B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F32722D-FBFA-4964-8114-4BC1211F7D57}"/>
              </a:ext>
            </a:extLst>
          </p:cNvPr>
          <p:cNvSpPr>
            <a:spLocks noGrp="1"/>
          </p:cNvSpPr>
          <p:nvPr>
            <p:ph type="dt" sz="half" idx="10"/>
          </p:nvPr>
        </p:nvSpPr>
        <p:spPr/>
        <p:txBody>
          <a:bodyPr/>
          <a:lstStyle/>
          <a:p>
            <a:fld id="{D5EFEAAC-0737-4DFC-8BD9-B15E342526DF}" type="datetimeFigureOut">
              <a:rPr lang="en-US" smtClean="0"/>
              <a:t>4/18/2026</a:t>
            </a:fld>
            <a:endParaRPr lang="en-US"/>
          </a:p>
        </p:txBody>
      </p:sp>
      <p:sp>
        <p:nvSpPr>
          <p:cNvPr id="5" name="Footer Placeholder 4">
            <a:extLst>
              <a:ext uri="{FF2B5EF4-FFF2-40B4-BE49-F238E27FC236}">
                <a16:creationId xmlns:a16="http://schemas.microsoft.com/office/drawing/2014/main" id="{708C1EBB-811E-49CC-8EC2-33604D6655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2E53664-D48E-4B4D-95B6-564FC6DAC5F1}"/>
              </a:ext>
            </a:extLst>
          </p:cNvPr>
          <p:cNvSpPr>
            <a:spLocks noGrp="1"/>
          </p:cNvSpPr>
          <p:nvPr>
            <p:ph type="sldNum" sz="quarter" idx="12"/>
          </p:nvPr>
        </p:nvSpPr>
        <p:spPr/>
        <p:txBody>
          <a:bodyPr/>
          <a:lstStyle/>
          <a:p>
            <a:fld id="{173367A2-C8DE-4C03-B6C1-9E47AE29E274}" type="slidenum">
              <a:rPr lang="en-US" smtClean="0"/>
              <a:t>‹#›</a:t>
            </a:fld>
            <a:endParaRPr lang="en-US"/>
          </a:p>
        </p:txBody>
      </p:sp>
    </p:spTree>
    <p:extLst>
      <p:ext uri="{BB962C8B-B14F-4D97-AF65-F5344CB8AC3E}">
        <p14:creationId xmlns:p14="http://schemas.microsoft.com/office/powerpoint/2010/main" val="230279084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F0D08A-85EB-45E5-8F1D-C3DCD7A9710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68450FA-BD58-4447-A9BF-8F707049386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365B488-3687-4B4D-8E94-5A1A2EB87061}"/>
              </a:ext>
            </a:extLst>
          </p:cNvPr>
          <p:cNvSpPr>
            <a:spLocks noGrp="1"/>
          </p:cNvSpPr>
          <p:nvPr>
            <p:ph type="dt" sz="half" idx="10"/>
          </p:nvPr>
        </p:nvSpPr>
        <p:spPr/>
        <p:txBody>
          <a:bodyPr/>
          <a:lstStyle/>
          <a:p>
            <a:fld id="{D5EFEAAC-0737-4DFC-8BD9-B15E342526DF}" type="datetimeFigureOut">
              <a:rPr lang="en-US" smtClean="0"/>
              <a:t>4/18/2026</a:t>
            </a:fld>
            <a:endParaRPr lang="en-US"/>
          </a:p>
        </p:txBody>
      </p:sp>
      <p:sp>
        <p:nvSpPr>
          <p:cNvPr id="5" name="Footer Placeholder 4">
            <a:extLst>
              <a:ext uri="{FF2B5EF4-FFF2-40B4-BE49-F238E27FC236}">
                <a16:creationId xmlns:a16="http://schemas.microsoft.com/office/drawing/2014/main" id="{37951E97-F850-4D79-AD7C-5ABCC753DF6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06232DA-9E4E-4288-B45D-0C248C60CC75}"/>
              </a:ext>
            </a:extLst>
          </p:cNvPr>
          <p:cNvSpPr>
            <a:spLocks noGrp="1"/>
          </p:cNvSpPr>
          <p:nvPr>
            <p:ph type="sldNum" sz="quarter" idx="12"/>
          </p:nvPr>
        </p:nvSpPr>
        <p:spPr/>
        <p:txBody>
          <a:bodyPr/>
          <a:lstStyle/>
          <a:p>
            <a:fld id="{173367A2-C8DE-4C03-B6C1-9E47AE29E274}" type="slidenum">
              <a:rPr lang="en-US" smtClean="0"/>
              <a:t>‹#›</a:t>
            </a:fld>
            <a:endParaRPr lang="en-US"/>
          </a:p>
        </p:txBody>
      </p:sp>
    </p:spTree>
    <p:extLst>
      <p:ext uri="{BB962C8B-B14F-4D97-AF65-F5344CB8AC3E}">
        <p14:creationId xmlns:p14="http://schemas.microsoft.com/office/powerpoint/2010/main" val="380874929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B0E73B-F17E-4AE9-BA0B-07E11888941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C9A1317-4CBA-46C3-BC18-8D7B215C3F7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E036407-2B5F-434C-B588-BB20D2B42AEF}"/>
              </a:ext>
            </a:extLst>
          </p:cNvPr>
          <p:cNvSpPr>
            <a:spLocks noGrp="1"/>
          </p:cNvSpPr>
          <p:nvPr>
            <p:ph type="dt" sz="half" idx="10"/>
          </p:nvPr>
        </p:nvSpPr>
        <p:spPr/>
        <p:txBody>
          <a:bodyPr/>
          <a:lstStyle/>
          <a:p>
            <a:fld id="{D5EFEAAC-0737-4DFC-8BD9-B15E342526DF}" type="datetimeFigureOut">
              <a:rPr lang="en-US" smtClean="0"/>
              <a:t>4/18/2026</a:t>
            </a:fld>
            <a:endParaRPr lang="en-US"/>
          </a:p>
        </p:txBody>
      </p:sp>
      <p:sp>
        <p:nvSpPr>
          <p:cNvPr id="5" name="Footer Placeholder 4">
            <a:extLst>
              <a:ext uri="{FF2B5EF4-FFF2-40B4-BE49-F238E27FC236}">
                <a16:creationId xmlns:a16="http://schemas.microsoft.com/office/drawing/2014/main" id="{C8224603-10C7-42E1-B60B-501BD0A632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231F125-09FF-407C-8734-F6C1AEB58F8B}"/>
              </a:ext>
            </a:extLst>
          </p:cNvPr>
          <p:cNvSpPr>
            <a:spLocks noGrp="1"/>
          </p:cNvSpPr>
          <p:nvPr>
            <p:ph type="sldNum" sz="quarter" idx="12"/>
          </p:nvPr>
        </p:nvSpPr>
        <p:spPr/>
        <p:txBody>
          <a:bodyPr/>
          <a:lstStyle/>
          <a:p>
            <a:fld id="{173367A2-C8DE-4C03-B6C1-9E47AE29E274}" type="slidenum">
              <a:rPr lang="en-US" smtClean="0"/>
              <a:t>‹#›</a:t>
            </a:fld>
            <a:endParaRPr lang="en-US"/>
          </a:p>
        </p:txBody>
      </p:sp>
    </p:spTree>
    <p:extLst>
      <p:ext uri="{BB962C8B-B14F-4D97-AF65-F5344CB8AC3E}">
        <p14:creationId xmlns:p14="http://schemas.microsoft.com/office/powerpoint/2010/main" val="17999942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249727-BED6-4B0D-9227-858DC4576FB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F69B0C7-FC2C-4780-97C1-7349A058332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F1A09F8-8623-47FC-B47E-823C9D3D677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5BC21F5-CA43-4EA5-A34B-BED403878A18}"/>
              </a:ext>
            </a:extLst>
          </p:cNvPr>
          <p:cNvSpPr>
            <a:spLocks noGrp="1"/>
          </p:cNvSpPr>
          <p:nvPr>
            <p:ph type="dt" sz="half" idx="10"/>
          </p:nvPr>
        </p:nvSpPr>
        <p:spPr/>
        <p:txBody>
          <a:bodyPr/>
          <a:lstStyle/>
          <a:p>
            <a:fld id="{D5EFEAAC-0737-4DFC-8BD9-B15E342526DF}" type="datetimeFigureOut">
              <a:rPr lang="en-US" smtClean="0"/>
              <a:t>4/18/2026</a:t>
            </a:fld>
            <a:endParaRPr lang="en-US"/>
          </a:p>
        </p:txBody>
      </p:sp>
      <p:sp>
        <p:nvSpPr>
          <p:cNvPr id="6" name="Footer Placeholder 5">
            <a:extLst>
              <a:ext uri="{FF2B5EF4-FFF2-40B4-BE49-F238E27FC236}">
                <a16:creationId xmlns:a16="http://schemas.microsoft.com/office/drawing/2014/main" id="{DECD3E66-133C-456C-A496-DB57D6DB2EC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222EA42-5025-46CB-9E4A-3CB6A11A0278}"/>
              </a:ext>
            </a:extLst>
          </p:cNvPr>
          <p:cNvSpPr>
            <a:spLocks noGrp="1"/>
          </p:cNvSpPr>
          <p:nvPr>
            <p:ph type="sldNum" sz="quarter" idx="12"/>
          </p:nvPr>
        </p:nvSpPr>
        <p:spPr/>
        <p:txBody>
          <a:bodyPr/>
          <a:lstStyle/>
          <a:p>
            <a:fld id="{173367A2-C8DE-4C03-B6C1-9E47AE29E274}" type="slidenum">
              <a:rPr lang="en-US" smtClean="0"/>
              <a:t>‹#›</a:t>
            </a:fld>
            <a:endParaRPr lang="en-US"/>
          </a:p>
        </p:txBody>
      </p:sp>
    </p:spTree>
    <p:extLst>
      <p:ext uri="{BB962C8B-B14F-4D97-AF65-F5344CB8AC3E}">
        <p14:creationId xmlns:p14="http://schemas.microsoft.com/office/powerpoint/2010/main" val="12362180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5EE662-D744-4BC3-AC47-812802464CB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FEB6441-3E30-4CD3-9232-EE40467FF8C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4F30F47-2017-43C3-92CC-552DC914476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2C2429C-D2C2-4FB1-9E21-23E05E3620B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30499FF-D030-4A14-AE64-436DFABEA09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69F2933-AE0C-49CA-B52D-3DE9EA13EE72}"/>
              </a:ext>
            </a:extLst>
          </p:cNvPr>
          <p:cNvSpPr>
            <a:spLocks noGrp="1"/>
          </p:cNvSpPr>
          <p:nvPr>
            <p:ph type="dt" sz="half" idx="10"/>
          </p:nvPr>
        </p:nvSpPr>
        <p:spPr/>
        <p:txBody>
          <a:bodyPr/>
          <a:lstStyle/>
          <a:p>
            <a:fld id="{D5EFEAAC-0737-4DFC-8BD9-B15E342526DF}" type="datetimeFigureOut">
              <a:rPr lang="en-US" smtClean="0"/>
              <a:t>4/18/2026</a:t>
            </a:fld>
            <a:endParaRPr lang="en-US"/>
          </a:p>
        </p:txBody>
      </p:sp>
      <p:sp>
        <p:nvSpPr>
          <p:cNvPr id="8" name="Footer Placeholder 7">
            <a:extLst>
              <a:ext uri="{FF2B5EF4-FFF2-40B4-BE49-F238E27FC236}">
                <a16:creationId xmlns:a16="http://schemas.microsoft.com/office/drawing/2014/main" id="{43EB6FC9-57CE-461F-A602-771BE9C685D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5A1341C-67EB-4088-9F95-DDF969851774}"/>
              </a:ext>
            </a:extLst>
          </p:cNvPr>
          <p:cNvSpPr>
            <a:spLocks noGrp="1"/>
          </p:cNvSpPr>
          <p:nvPr>
            <p:ph type="sldNum" sz="quarter" idx="12"/>
          </p:nvPr>
        </p:nvSpPr>
        <p:spPr/>
        <p:txBody>
          <a:bodyPr/>
          <a:lstStyle/>
          <a:p>
            <a:fld id="{173367A2-C8DE-4C03-B6C1-9E47AE29E274}" type="slidenum">
              <a:rPr lang="en-US" smtClean="0"/>
              <a:t>‹#›</a:t>
            </a:fld>
            <a:endParaRPr lang="en-US"/>
          </a:p>
        </p:txBody>
      </p:sp>
    </p:spTree>
    <p:extLst>
      <p:ext uri="{BB962C8B-B14F-4D97-AF65-F5344CB8AC3E}">
        <p14:creationId xmlns:p14="http://schemas.microsoft.com/office/powerpoint/2010/main" val="416599259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216AE8-B84A-41B9-90BF-F776B204DC5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898C4F6-30EC-4C80-A908-705407287691}"/>
              </a:ext>
            </a:extLst>
          </p:cNvPr>
          <p:cNvSpPr>
            <a:spLocks noGrp="1"/>
          </p:cNvSpPr>
          <p:nvPr>
            <p:ph type="dt" sz="half" idx="10"/>
          </p:nvPr>
        </p:nvSpPr>
        <p:spPr/>
        <p:txBody>
          <a:bodyPr/>
          <a:lstStyle/>
          <a:p>
            <a:fld id="{D5EFEAAC-0737-4DFC-8BD9-B15E342526DF}" type="datetimeFigureOut">
              <a:rPr lang="en-US" smtClean="0"/>
              <a:t>4/18/2026</a:t>
            </a:fld>
            <a:endParaRPr lang="en-US"/>
          </a:p>
        </p:txBody>
      </p:sp>
      <p:sp>
        <p:nvSpPr>
          <p:cNvPr id="4" name="Footer Placeholder 3">
            <a:extLst>
              <a:ext uri="{FF2B5EF4-FFF2-40B4-BE49-F238E27FC236}">
                <a16:creationId xmlns:a16="http://schemas.microsoft.com/office/drawing/2014/main" id="{DF9A070F-3EF4-4190-B01A-7C08CAF3B8E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0AD1E88-C48A-4073-BF5C-1ACA29D7873B}"/>
              </a:ext>
            </a:extLst>
          </p:cNvPr>
          <p:cNvSpPr>
            <a:spLocks noGrp="1"/>
          </p:cNvSpPr>
          <p:nvPr>
            <p:ph type="sldNum" sz="quarter" idx="12"/>
          </p:nvPr>
        </p:nvSpPr>
        <p:spPr/>
        <p:txBody>
          <a:bodyPr/>
          <a:lstStyle/>
          <a:p>
            <a:fld id="{173367A2-C8DE-4C03-B6C1-9E47AE29E274}" type="slidenum">
              <a:rPr lang="en-US" smtClean="0"/>
              <a:t>‹#›</a:t>
            </a:fld>
            <a:endParaRPr lang="en-US"/>
          </a:p>
        </p:txBody>
      </p:sp>
    </p:spTree>
    <p:extLst>
      <p:ext uri="{BB962C8B-B14F-4D97-AF65-F5344CB8AC3E}">
        <p14:creationId xmlns:p14="http://schemas.microsoft.com/office/powerpoint/2010/main" val="157695833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39E34D1-876A-4730-A005-B456DA1BF33B}"/>
              </a:ext>
            </a:extLst>
          </p:cNvPr>
          <p:cNvSpPr>
            <a:spLocks noGrp="1"/>
          </p:cNvSpPr>
          <p:nvPr>
            <p:ph type="dt" sz="half" idx="10"/>
          </p:nvPr>
        </p:nvSpPr>
        <p:spPr/>
        <p:txBody>
          <a:bodyPr/>
          <a:lstStyle/>
          <a:p>
            <a:fld id="{D5EFEAAC-0737-4DFC-8BD9-B15E342526DF}" type="datetimeFigureOut">
              <a:rPr lang="en-US" smtClean="0"/>
              <a:t>4/18/2026</a:t>
            </a:fld>
            <a:endParaRPr lang="en-US"/>
          </a:p>
        </p:txBody>
      </p:sp>
      <p:sp>
        <p:nvSpPr>
          <p:cNvPr id="3" name="Footer Placeholder 2">
            <a:extLst>
              <a:ext uri="{FF2B5EF4-FFF2-40B4-BE49-F238E27FC236}">
                <a16:creationId xmlns:a16="http://schemas.microsoft.com/office/drawing/2014/main" id="{AE6D9EF0-0383-41A0-9495-2C9DA2803C7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8FB4AB9-3109-425B-9A4A-745722436E0F}"/>
              </a:ext>
            </a:extLst>
          </p:cNvPr>
          <p:cNvSpPr>
            <a:spLocks noGrp="1"/>
          </p:cNvSpPr>
          <p:nvPr>
            <p:ph type="sldNum" sz="quarter" idx="12"/>
          </p:nvPr>
        </p:nvSpPr>
        <p:spPr/>
        <p:txBody>
          <a:bodyPr/>
          <a:lstStyle/>
          <a:p>
            <a:fld id="{173367A2-C8DE-4C03-B6C1-9E47AE29E274}" type="slidenum">
              <a:rPr lang="en-US" smtClean="0"/>
              <a:t>‹#›</a:t>
            </a:fld>
            <a:endParaRPr lang="en-US"/>
          </a:p>
        </p:txBody>
      </p:sp>
    </p:spTree>
    <p:extLst>
      <p:ext uri="{BB962C8B-B14F-4D97-AF65-F5344CB8AC3E}">
        <p14:creationId xmlns:p14="http://schemas.microsoft.com/office/powerpoint/2010/main" val="64221983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224FF8-8341-4634-9E04-F3A61A55F70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2C66045-CC02-47C1-A97C-B5075882F1B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632D3D8-99C4-4EEE-A1B2-8F2F2E7015B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1ABE081-C44A-4BEB-9619-3E9D8E193BA2}"/>
              </a:ext>
            </a:extLst>
          </p:cNvPr>
          <p:cNvSpPr>
            <a:spLocks noGrp="1"/>
          </p:cNvSpPr>
          <p:nvPr>
            <p:ph type="dt" sz="half" idx="10"/>
          </p:nvPr>
        </p:nvSpPr>
        <p:spPr/>
        <p:txBody>
          <a:bodyPr/>
          <a:lstStyle/>
          <a:p>
            <a:fld id="{D5EFEAAC-0737-4DFC-8BD9-B15E342526DF}" type="datetimeFigureOut">
              <a:rPr lang="en-US" smtClean="0"/>
              <a:t>4/18/2026</a:t>
            </a:fld>
            <a:endParaRPr lang="en-US"/>
          </a:p>
        </p:txBody>
      </p:sp>
      <p:sp>
        <p:nvSpPr>
          <p:cNvPr id="6" name="Footer Placeholder 5">
            <a:extLst>
              <a:ext uri="{FF2B5EF4-FFF2-40B4-BE49-F238E27FC236}">
                <a16:creationId xmlns:a16="http://schemas.microsoft.com/office/drawing/2014/main" id="{6FAD1BD5-43DF-49C6-B7CA-FCEA6FC8DFC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1CA10E0-0CF6-4E1B-A728-0F3AC8B054CF}"/>
              </a:ext>
            </a:extLst>
          </p:cNvPr>
          <p:cNvSpPr>
            <a:spLocks noGrp="1"/>
          </p:cNvSpPr>
          <p:nvPr>
            <p:ph type="sldNum" sz="quarter" idx="12"/>
          </p:nvPr>
        </p:nvSpPr>
        <p:spPr/>
        <p:txBody>
          <a:bodyPr/>
          <a:lstStyle/>
          <a:p>
            <a:fld id="{173367A2-C8DE-4C03-B6C1-9E47AE29E274}" type="slidenum">
              <a:rPr lang="en-US" smtClean="0"/>
              <a:t>‹#›</a:t>
            </a:fld>
            <a:endParaRPr lang="en-US"/>
          </a:p>
        </p:txBody>
      </p:sp>
    </p:spTree>
    <p:extLst>
      <p:ext uri="{BB962C8B-B14F-4D97-AF65-F5344CB8AC3E}">
        <p14:creationId xmlns:p14="http://schemas.microsoft.com/office/powerpoint/2010/main" val="393478377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80A2BC-3CC6-482A-A9CE-152AF0EE893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FA11ED4-CBFE-4994-BF9C-91064C1DB7F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2E6A348-76D7-4923-B39A-7DDDD9FC6A1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F8B54D7-7056-4446-B8E6-FB870CC19535}"/>
              </a:ext>
            </a:extLst>
          </p:cNvPr>
          <p:cNvSpPr>
            <a:spLocks noGrp="1"/>
          </p:cNvSpPr>
          <p:nvPr>
            <p:ph type="dt" sz="half" idx="10"/>
          </p:nvPr>
        </p:nvSpPr>
        <p:spPr/>
        <p:txBody>
          <a:bodyPr/>
          <a:lstStyle/>
          <a:p>
            <a:fld id="{D5EFEAAC-0737-4DFC-8BD9-B15E342526DF}" type="datetimeFigureOut">
              <a:rPr lang="en-US" smtClean="0"/>
              <a:t>4/18/2026</a:t>
            </a:fld>
            <a:endParaRPr lang="en-US"/>
          </a:p>
        </p:txBody>
      </p:sp>
      <p:sp>
        <p:nvSpPr>
          <p:cNvPr id="6" name="Footer Placeholder 5">
            <a:extLst>
              <a:ext uri="{FF2B5EF4-FFF2-40B4-BE49-F238E27FC236}">
                <a16:creationId xmlns:a16="http://schemas.microsoft.com/office/drawing/2014/main" id="{E637A557-166A-44F7-9BE1-19DD657A685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0022D34-17E9-42B3-A2CF-88F95D32741B}"/>
              </a:ext>
            </a:extLst>
          </p:cNvPr>
          <p:cNvSpPr>
            <a:spLocks noGrp="1"/>
          </p:cNvSpPr>
          <p:nvPr>
            <p:ph type="sldNum" sz="quarter" idx="12"/>
          </p:nvPr>
        </p:nvSpPr>
        <p:spPr/>
        <p:txBody>
          <a:bodyPr/>
          <a:lstStyle/>
          <a:p>
            <a:fld id="{173367A2-C8DE-4C03-B6C1-9E47AE29E274}" type="slidenum">
              <a:rPr lang="en-US" smtClean="0"/>
              <a:t>‹#›</a:t>
            </a:fld>
            <a:endParaRPr lang="en-US"/>
          </a:p>
        </p:txBody>
      </p:sp>
    </p:spTree>
    <p:extLst>
      <p:ext uri="{BB962C8B-B14F-4D97-AF65-F5344CB8AC3E}">
        <p14:creationId xmlns:p14="http://schemas.microsoft.com/office/powerpoint/2010/main" val="383129792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ABBC2E-DFD8-4B48-AD68-1E413186262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25EC58E-2D49-4D5C-81D8-CB1D79557E0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4361140-2AB0-45F2-89B5-93375F56478B}"/>
              </a:ext>
            </a:extLst>
          </p:cNvPr>
          <p:cNvSpPr>
            <a:spLocks noGrp="1"/>
          </p:cNvSpPr>
          <p:nvPr>
            <p:ph type="dt" sz="half" idx="10"/>
          </p:nvPr>
        </p:nvSpPr>
        <p:spPr/>
        <p:txBody>
          <a:bodyPr/>
          <a:lstStyle/>
          <a:p>
            <a:fld id="{D5EFEAAC-0737-4DFC-8BD9-B15E342526DF}" type="datetimeFigureOut">
              <a:rPr lang="en-US" smtClean="0"/>
              <a:t>4/18/2026</a:t>
            </a:fld>
            <a:endParaRPr lang="en-US"/>
          </a:p>
        </p:txBody>
      </p:sp>
      <p:sp>
        <p:nvSpPr>
          <p:cNvPr id="5" name="Footer Placeholder 4">
            <a:extLst>
              <a:ext uri="{FF2B5EF4-FFF2-40B4-BE49-F238E27FC236}">
                <a16:creationId xmlns:a16="http://schemas.microsoft.com/office/drawing/2014/main" id="{ABD26E27-51CF-41D3-9334-FC4E94075CF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B215974-3BEF-40E5-AF2D-E348D8AA8F78}"/>
              </a:ext>
            </a:extLst>
          </p:cNvPr>
          <p:cNvSpPr>
            <a:spLocks noGrp="1"/>
          </p:cNvSpPr>
          <p:nvPr>
            <p:ph type="sldNum" sz="quarter" idx="12"/>
          </p:nvPr>
        </p:nvSpPr>
        <p:spPr/>
        <p:txBody>
          <a:bodyPr/>
          <a:lstStyle/>
          <a:p>
            <a:fld id="{173367A2-C8DE-4C03-B6C1-9E47AE29E274}" type="slidenum">
              <a:rPr lang="en-US" smtClean="0"/>
              <a:t>‹#›</a:t>
            </a:fld>
            <a:endParaRPr lang="en-US"/>
          </a:p>
        </p:txBody>
      </p:sp>
    </p:spTree>
    <p:extLst>
      <p:ext uri="{BB962C8B-B14F-4D97-AF65-F5344CB8AC3E}">
        <p14:creationId xmlns:p14="http://schemas.microsoft.com/office/powerpoint/2010/main" val="36241649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928D176-434A-4D5B-85A0-8374AFD599B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D4CC211-184D-4EF0-86A2-9296B62B850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D42819C-B565-4169-9902-6FF532C16BE9}"/>
              </a:ext>
            </a:extLst>
          </p:cNvPr>
          <p:cNvSpPr>
            <a:spLocks noGrp="1"/>
          </p:cNvSpPr>
          <p:nvPr>
            <p:ph type="dt" sz="half" idx="10"/>
          </p:nvPr>
        </p:nvSpPr>
        <p:spPr/>
        <p:txBody>
          <a:bodyPr/>
          <a:lstStyle/>
          <a:p>
            <a:fld id="{D5EFEAAC-0737-4DFC-8BD9-B15E342526DF}" type="datetimeFigureOut">
              <a:rPr lang="en-US" smtClean="0"/>
              <a:t>4/18/2026</a:t>
            </a:fld>
            <a:endParaRPr lang="en-US"/>
          </a:p>
        </p:txBody>
      </p:sp>
      <p:sp>
        <p:nvSpPr>
          <p:cNvPr id="5" name="Footer Placeholder 4">
            <a:extLst>
              <a:ext uri="{FF2B5EF4-FFF2-40B4-BE49-F238E27FC236}">
                <a16:creationId xmlns:a16="http://schemas.microsoft.com/office/drawing/2014/main" id="{6EF1DB75-4726-4B33-BDC7-7AED1C3C20D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F84DD4C-96FD-4EBE-A829-D0F6788F1438}"/>
              </a:ext>
            </a:extLst>
          </p:cNvPr>
          <p:cNvSpPr>
            <a:spLocks noGrp="1"/>
          </p:cNvSpPr>
          <p:nvPr>
            <p:ph type="sldNum" sz="quarter" idx="12"/>
          </p:nvPr>
        </p:nvSpPr>
        <p:spPr/>
        <p:txBody>
          <a:bodyPr/>
          <a:lstStyle/>
          <a:p>
            <a:fld id="{173367A2-C8DE-4C03-B6C1-9E47AE29E274}" type="slidenum">
              <a:rPr lang="en-US" smtClean="0"/>
              <a:t>‹#›</a:t>
            </a:fld>
            <a:endParaRPr lang="en-US"/>
          </a:p>
        </p:txBody>
      </p:sp>
    </p:spTree>
    <p:extLst>
      <p:ext uri="{BB962C8B-B14F-4D97-AF65-F5344CB8AC3E}">
        <p14:creationId xmlns:p14="http://schemas.microsoft.com/office/powerpoint/2010/main" val="16657845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A362AC-B59F-4AC7-B279-57DDD5336BCA}"/>
              </a:ext>
            </a:extLst>
          </p:cNvPr>
          <p:cNvSpPr>
            <a:spLocks noGrp="1"/>
          </p:cNvSpPr>
          <p:nvPr>
            <p:ph type="title"/>
          </p:nvPr>
        </p:nvSpPr>
        <p:spPr>
          <a:xfrm>
            <a:off x="700635" y="922096"/>
            <a:ext cx="10691265" cy="1371030"/>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a:extLst>
              <a:ext uri="{FF2B5EF4-FFF2-40B4-BE49-F238E27FC236}">
                <a16:creationId xmlns:a16="http://schemas.microsoft.com/office/drawing/2014/main" id="{0E6042DB-75BD-4EC1-B6D9-8A72EF940CAA}"/>
              </a:ext>
            </a:extLst>
          </p:cNvPr>
          <p:cNvSpPr>
            <a:spLocks noGrp="1"/>
          </p:cNvSpPr>
          <p:nvPr>
            <p:ph type="body" idx="1"/>
          </p:nvPr>
        </p:nvSpPr>
        <p:spPr>
          <a:xfrm>
            <a:off x="700635" y="2293126"/>
            <a:ext cx="10691265" cy="363608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1DD1378-7C96-4079-B44C-3D86B4657596}"/>
              </a:ext>
            </a:extLst>
          </p:cNvPr>
          <p:cNvSpPr>
            <a:spLocks noGrp="1"/>
          </p:cNvSpPr>
          <p:nvPr>
            <p:ph type="dt" sz="half" idx="2"/>
          </p:nvPr>
        </p:nvSpPr>
        <p:spPr>
          <a:xfrm>
            <a:off x="8369448" y="6356350"/>
            <a:ext cx="2592594" cy="365125"/>
          </a:xfrm>
          <a:prstGeom prst="rect">
            <a:avLst/>
          </a:prstGeom>
        </p:spPr>
        <p:txBody>
          <a:bodyPr vert="horz" lIns="91440" tIns="45720" rIns="91440" bIns="45720" rtlCol="0" anchor="ctr"/>
          <a:lstStyle>
            <a:lvl1pPr algn="r">
              <a:defRPr sz="1050">
                <a:solidFill>
                  <a:schemeClr val="tx1"/>
                </a:solidFill>
                <a:latin typeface="+mj-lt"/>
              </a:defRPr>
            </a:lvl1pPr>
          </a:lstStyle>
          <a:p>
            <a:fld id="{2F3E8B1C-86EF-43CF-8304-249481088644}" type="datetimeFigureOut">
              <a:rPr lang="en-US" smtClean="0"/>
              <a:pPr/>
              <a:t>4/18/2026</a:t>
            </a:fld>
            <a:endParaRPr lang="en-US"/>
          </a:p>
        </p:txBody>
      </p:sp>
      <p:sp>
        <p:nvSpPr>
          <p:cNvPr id="5" name="Footer Placeholder 4">
            <a:extLst>
              <a:ext uri="{FF2B5EF4-FFF2-40B4-BE49-F238E27FC236}">
                <a16:creationId xmlns:a16="http://schemas.microsoft.com/office/drawing/2014/main" id="{D19B6B78-577F-43F5-BAEE-BF72484C9850}"/>
              </a:ext>
            </a:extLst>
          </p:cNvPr>
          <p:cNvSpPr>
            <a:spLocks noGrp="1"/>
          </p:cNvSpPr>
          <p:nvPr>
            <p:ph type="ftr" sz="quarter" idx="3"/>
          </p:nvPr>
        </p:nvSpPr>
        <p:spPr>
          <a:xfrm>
            <a:off x="715383" y="6356350"/>
            <a:ext cx="4539727" cy="365125"/>
          </a:xfrm>
          <a:prstGeom prst="rect">
            <a:avLst/>
          </a:prstGeom>
        </p:spPr>
        <p:txBody>
          <a:bodyPr vert="horz" lIns="91440" tIns="45720" rIns="91440" bIns="45720" rtlCol="0" anchor="ctr"/>
          <a:lstStyle>
            <a:lvl1pPr algn="l">
              <a:defRPr sz="1050">
                <a:solidFill>
                  <a:schemeClr val="tx1"/>
                </a:solidFill>
                <a:latin typeface="+mj-lt"/>
              </a:defRPr>
            </a:lvl1pPr>
          </a:lstStyle>
          <a:p>
            <a:endParaRPr lang="en-US"/>
          </a:p>
        </p:txBody>
      </p:sp>
      <p:sp>
        <p:nvSpPr>
          <p:cNvPr id="6" name="Slide Number Placeholder 5">
            <a:extLst>
              <a:ext uri="{FF2B5EF4-FFF2-40B4-BE49-F238E27FC236}">
                <a16:creationId xmlns:a16="http://schemas.microsoft.com/office/drawing/2014/main" id="{A8CC75B8-AF8F-4D8A-9B3D-D1951A64BADB}"/>
              </a:ext>
            </a:extLst>
          </p:cNvPr>
          <p:cNvSpPr>
            <a:spLocks noGrp="1"/>
          </p:cNvSpPr>
          <p:nvPr>
            <p:ph type="sldNum" sz="quarter" idx="4"/>
          </p:nvPr>
        </p:nvSpPr>
        <p:spPr>
          <a:xfrm>
            <a:off x="10919012" y="6356350"/>
            <a:ext cx="672354" cy="365125"/>
          </a:xfrm>
          <a:prstGeom prst="rect">
            <a:avLst/>
          </a:prstGeom>
        </p:spPr>
        <p:txBody>
          <a:bodyPr vert="horz" lIns="91440" tIns="45720" rIns="91440" bIns="45720" rtlCol="0" anchor="ctr"/>
          <a:lstStyle>
            <a:lvl1pPr algn="r">
              <a:defRPr sz="1800">
                <a:solidFill>
                  <a:schemeClr val="tx1"/>
                </a:solidFill>
              </a:defRPr>
            </a:lvl1pPr>
          </a:lstStyle>
          <a:p>
            <a:fld id="{C3DB2ADC-AF19-4574-8C10-79B5B04FCA27}" type="slidenum">
              <a:rPr lang="en-US" smtClean="0"/>
              <a:pPr/>
              <a:t>‹#›</a:t>
            </a:fld>
            <a:endParaRPr lang="en-US"/>
          </a:p>
        </p:txBody>
      </p:sp>
      <p:cxnSp>
        <p:nvCxnSpPr>
          <p:cNvPr id="7" name="Straight Connector 6">
            <a:extLst>
              <a:ext uri="{FF2B5EF4-FFF2-40B4-BE49-F238E27FC236}">
                <a16:creationId xmlns:a16="http://schemas.microsoft.com/office/drawing/2014/main" id="{F64F9B95-9045-48D2-B9F3-2927E98F54AA}"/>
              </a:ext>
            </a:extLst>
          </p:cNvPr>
          <p:cNvCxnSpPr>
            <a:cxnSpLocks/>
          </p:cNvCxnSpPr>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85AA86F-6A4D-4BCB-A045-D992CDC2959B}"/>
              </a:ext>
            </a:extLst>
          </p:cNvPr>
          <p:cNvCxnSpPr>
            <a:cxnSpLocks/>
          </p:cNvCxnSpPr>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7790292"/>
      </p:ext>
    </p:extLst>
  </p:cSld>
  <p:clrMap bg1="lt1" tx1="dk1" bg2="lt2" tx2="dk2" accent1="accent1" accent2="accent2" accent3="accent3" accent4="accent4" accent5="accent5" accent6="accent6" hlink="hlink" folHlink="folHlink"/>
  <p:sldLayoutIdLst>
    <p:sldLayoutId id="2147483738" r:id="rId1"/>
    <p:sldLayoutId id="2147483739" r:id="rId2"/>
    <p:sldLayoutId id="2147483740" r:id="rId3"/>
    <p:sldLayoutId id="2147483741" r:id="rId4"/>
    <p:sldLayoutId id="2147483742" r:id="rId5"/>
    <p:sldLayoutId id="2147483743" r:id="rId6"/>
    <p:sldLayoutId id="2147483744" r:id="rId7"/>
    <p:sldLayoutId id="2147483745" r:id="rId8"/>
    <p:sldLayoutId id="2147483746" r:id="rId9"/>
    <p:sldLayoutId id="2147483748" r:id="rId10"/>
    <p:sldLayoutId id="2147483747" r:id="rId11"/>
  </p:sldLayoutIdLst>
  <p:txStyles>
    <p:titleStyle>
      <a:lvl1pPr algn="l" defTabSz="914400" rtl="0" eaLnBrk="1" latinLnBrk="0" hangingPunct="1">
        <a:lnSpc>
          <a:spcPct val="100000"/>
        </a:lnSpc>
        <a:spcBef>
          <a:spcPct val="0"/>
        </a:spcBef>
        <a:buNone/>
        <a:defRPr sz="4000" kern="1200" cap="all" spc="30"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8C6BE11-3A56-4CD8-A4FC-5DEB375A927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F21936D-903E-4429-ABAB-F56C410AC83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A65C654-87EF-49C2-AAD8-26571ADE877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5EFEAAC-0737-4DFC-8BD9-B15E342526DF}" type="datetimeFigureOut">
              <a:rPr lang="en-US" smtClean="0"/>
              <a:t>4/18/2026</a:t>
            </a:fld>
            <a:endParaRPr lang="en-US"/>
          </a:p>
        </p:txBody>
      </p:sp>
      <p:sp>
        <p:nvSpPr>
          <p:cNvPr id="5" name="Footer Placeholder 4">
            <a:extLst>
              <a:ext uri="{FF2B5EF4-FFF2-40B4-BE49-F238E27FC236}">
                <a16:creationId xmlns:a16="http://schemas.microsoft.com/office/drawing/2014/main" id="{62479E10-E893-49CC-B731-52A09037BB3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345B66B-5548-49DB-B574-B0D97E3C56D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73367A2-C8DE-4C03-B6C1-9E47AE29E274}" type="slidenum">
              <a:rPr lang="en-US" smtClean="0"/>
              <a:t>‹#›</a:t>
            </a:fld>
            <a:endParaRPr lang="en-US"/>
          </a:p>
        </p:txBody>
      </p:sp>
    </p:spTree>
    <p:extLst>
      <p:ext uri="{BB962C8B-B14F-4D97-AF65-F5344CB8AC3E}">
        <p14:creationId xmlns:p14="http://schemas.microsoft.com/office/powerpoint/2010/main" val="2572952069"/>
      </p:ext>
    </p:extLst>
  </p:cSld>
  <p:clrMap bg1="lt1" tx1="dk1" bg2="lt2" tx2="dk2" accent1="accent1" accent2="accent2" accent3="accent3" accent4="accent4" accent5="accent5" accent6="accent6" hlink="hlink" folHlink="folHlink"/>
  <p:sldLayoutIdLst>
    <p:sldLayoutId id="2147483751" r:id="rId1"/>
    <p:sldLayoutId id="2147483752" r:id="rId2"/>
    <p:sldLayoutId id="2147483753" r:id="rId3"/>
    <p:sldLayoutId id="2147483754" r:id="rId4"/>
    <p:sldLayoutId id="2147483755" r:id="rId5"/>
    <p:sldLayoutId id="2147483756" r:id="rId6"/>
    <p:sldLayoutId id="2147483757" r:id="rId7"/>
    <p:sldLayoutId id="2147483758" r:id="rId8"/>
    <p:sldLayoutId id="2147483759" r:id="rId9"/>
    <p:sldLayoutId id="2147483760" r:id="rId10"/>
    <p:sldLayoutId id="214748376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hyperlink" Target="https://www.cdc.gov/nchs/rapid-surveys/documentation/round-7.html" TargetMode="Externa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51CDB0-97F5-894E-BA81-ED32302BFF3C}"/>
              </a:ext>
            </a:extLst>
          </p:cNvPr>
          <p:cNvSpPr>
            <a:spLocks noGrp="1"/>
          </p:cNvSpPr>
          <p:nvPr>
            <p:ph type="ctrTitle"/>
          </p:nvPr>
        </p:nvSpPr>
        <p:spPr>
          <a:xfrm>
            <a:off x="860961" y="914400"/>
            <a:ext cx="8412480" cy="2286000"/>
          </a:xfrm>
        </p:spPr>
        <p:txBody>
          <a:bodyPr>
            <a:normAutofit/>
          </a:bodyPr>
          <a:lstStyle/>
          <a:p>
            <a:pPr algn="l">
              <a:lnSpc>
                <a:spcPct val="90000"/>
              </a:lnSpc>
            </a:pPr>
            <a:r>
              <a:rPr lang="en-US" sz="4600" cap="none" dirty="0">
                <a:solidFill>
                  <a:srgbClr val="000000"/>
                </a:solidFill>
                <a:latin typeface="Calibri"/>
              </a:rPr>
              <a:t>EFA and LCA</a:t>
            </a:r>
          </a:p>
        </p:txBody>
      </p:sp>
      <p:sp>
        <p:nvSpPr>
          <p:cNvPr id="3" name="Subtitle 2">
            <a:extLst>
              <a:ext uri="{FF2B5EF4-FFF2-40B4-BE49-F238E27FC236}">
                <a16:creationId xmlns:a16="http://schemas.microsoft.com/office/drawing/2014/main" id="{4E1E0400-0A13-3044-9000-3A4DF3D17A48}"/>
              </a:ext>
            </a:extLst>
          </p:cNvPr>
          <p:cNvSpPr>
            <a:spLocks noGrp="1"/>
          </p:cNvSpPr>
          <p:nvPr>
            <p:ph type="subTitle" idx="1"/>
          </p:nvPr>
        </p:nvSpPr>
        <p:spPr>
          <a:xfrm>
            <a:off x="860961" y="3200400"/>
            <a:ext cx="8412480" cy="2286000"/>
          </a:xfrm>
        </p:spPr>
        <p:txBody>
          <a:bodyPr/>
          <a:lstStyle/>
          <a:p>
            <a:pPr algn="l"/>
            <a:r>
              <a:rPr lang="en-US" dirty="0">
                <a:solidFill>
                  <a:srgbClr val="505050"/>
                </a:solidFill>
                <a:latin typeface="Calibri"/>
              </a:rPr>
              <a:t>Part 2</a:t>
            </a:r>
          </a:p>
        </p:txBody>
      </p:sp>
    </p:spTree>
    <p:extLst>
      <p:ext uri="{BB962C8B-B14F-4D97-AF65-F5344CB8AC3E}">
        <p14:creationId xmlns:p14="http://schemas.microsoft.com/office/powerpoint/2010/main" val="1718251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822A2-4FBC-460D-A6CC-7C2DC22F8C1A}"/>
              </a:ext>
            </a:extLst>
          </p:cNvPr>
          <p:cNvSpPr>
            <a:spLocks noGrp="1"/>
          </p:cNvSpPr>
          <p:nvPr>
            <p:ph type="title"/>
          </p:nvPr>
        </p:nvSpPr>
        <p:spPr/>
        <p:txBody>
          <a:bodyPr/>
          <a:lstStyle/>
          <a:p>
            <a:pPr algn="l"/>
            <a:r>
              <a:rPr lang="en-US" dirty="0">
                <a:solidFill>
                  <a:srgbClr val="000000"/>
                </a:solidFill>
                <a:latin typeface="Calibri"/>
              </a:rPr>
              <a:t>Statistical Modeling Context</a:t>
            </a:r>
          </a:p>
        </p:txBody>
      </p:sp>
      <p:graphicFrame>
        <p:nvGraphicFramePr>
          <p:cNvPr id="4" name="Table 4">
            <a:extLst>
              <a:ext uri="{FF2B5EF4-FFF2-40B4-BE49-F238E27FC236}">
                <a16:creationId xmlns:a16="http://schemas.microsoft.com/office/drawing/2014/main" id="{719DEE7C-9F27-4193-8649-DFD3A8AAD797}"/>
              </a:ext>
            </a:extLst>
          </p:cNvPr>
          <p:cNvGraphicFramePr>
            <a:graphicFrameLocks noGrp="1"/>
          </p:cNvGraphicFramePr>
          <p:nvPr>
            <p:ph idx="1"/>
            <p:extLst>
              <p:ext uri="{D42A27DB-BD31-4B8C-83A1-F6EECF244321}">
                <p14:modId xmlns:p14="http://schemas.microsoft.com/office/powerpoint/2010/main" val="487566356"/>
              </p:ext>
            </p:extLst>
          </p:nvPr>
        </p:nvGraphicFramePr>
        <p:xfrm>
          <a:off x="838200" y="1825625"/>
          <a:ext cx="10515600" cy="2595880"/>
        </p:xfrm>
        <a:graphic>
          <a:graphicData uri="http://schemas.openxmlformats.org/drawingml/2006/table">
            <a:tbl>
              <a:tblPr firstRow="1" bandRow="1">
                <a:tableStyleId>{5C22544A-7EE6-4342-B048-85BDC9FD1C3A}</a:tableStyleId>
              </a:tblPr>
              <a:tblGrid>
                <a:gridCol w="1471863">
                  <a:extLst>
                    <a:ext uri="{9D8B030D-6E8A-4147-A177-3AD203B41FA5}">
                      <a16:colId xmlns:a16="http://schemas.microsoft.com/office/drawing/2014/main" val="1812425238"/>
                    </a:ext>
                  </a:extLst>
                </a:gridCol>
                <a:gridCol w="1467853">
                  <a:extLst>
                    <a:ext uri="{9D8B030D-6E8A-4147-A177-3AD203B41FA5}">
                      <a16:colId xmlns:a16="http://schemas.microsoft.com/office/drawing/2014/main" val="2627789445"/>
                    </a:ext>
                  </a:extLst>
                </a:gridCol>
                <a:gridCol w="1756610">
                  <a:extLst>
                    <a:ext uri="{9D8B030D-6E8A-4147-A177-3AD203B41FA5}">
                      <a16:colId xmlns:a16="http://schemas.microsoft.com/office/drawing/2014/main" val="2355014072"/>
                    </a:ext>
                  </a:extLst>
                </a:gridCol>
                <a:gridCol w="2273969">
                  <a:extLst>
                    <a:ext uri="{9D8B030D-6E8A-4147-A177-3AD203B41FA5}">
                      <a16:colId xmlns:a16="http://schemas.microsoft.com/office/drawing/2014/main" val="709826490"/>
                    </a:ext>
                  </a:extLst>
                </a:gridCol>
                <a:gridCol w="3545305">
                  <a:extLst>
                    <a:ext uri="{9D8B030D-6E8A-4147-A177-3AD203B41FA5}">
                      <a16:colId xmlns:a16="http://schemas.microsoft.com/office/drawing/2014/main" val="482992141"/>
                    </a:ext>
                  </a:extLst>
                </a:gridCol>
              </a:tblGrid>
              <a:tr h="370840">
                <a:tc>
                  <a:txBody>
                    <a:bodyPr/>
                    <a:lstStyle/>
                    <a:p>
                      <a:endParaRPr lang="en-US" dirty="0"/>
                    </a:p>
                  </a:txBody>
                  <a:tcPr/>
                </a:tc>
                <a:tc>
                  <a:txBody>
                    <a:bodyPr/>
                    <a:lstStyle/>
                    <a:p>
                      <a:endParaRPr lang="en-US"/>
                    </a:p>
                  </a:txBody>
                  <a:tcPr/>
                </a:tc>
                <a:tc>
                  <a:txBody>
                    <a:bodyPr/>
                    <a:lstStyle/>
                    <a:p>
                      <a:endParaRPr lang="en-US"/>
                    </a:p>
                  </a:txBody>
                  <a:tcPr/>
                </a:tc>
                <a:tc gridSpan="2">
                  <a:txBody>
                    <a:bodyPr/>
                    <a:lstStyle/>
                    <a:p>
                      <a:pPr algn="ctr"/>
                      <a:r>
                        <a:rPr lang="en-US" dirty="0"/>
                        <a:t>Outcome/Dependent Variable</a:t>
                      </a:r>
                    </a:p>
                  </a:txBody>
                  <a:tcPr/>
                </a:tc>
                <a:tc hMerge="1">
                  <a:txBody>
                    <a:bodyPr/>
                    <a:lstStyle/>
                    <a:p>
                      <a:endParaRPr lang="en-US" dirty="0"/>
                    </a:p>
                  </a:txBody>
                  <a:tcPr/>
                </a:tc>
                <a:extLst>
                  <a:ext uri="{0D108BD9-81ED-4DB2-BD59-A6C34878D82A}">
                    <a16:rowId xmlns:a16="http://schemas.microsoft.com/office/drawing/2014/main" val="709902"/>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r>
                        <a:rPr lang="en-US" b="1" dirty="0"/>
                        <a:t>Continuous</a:t>
                      </a:r>
                      <a:endParaRPr lang="en-US" dirty="0"/>
                    </a:p>
                  </a:txBody>
                  <a:tcPr/>
                </a:tc>
                <a:tc>
                  <a:txBody>
                    <a:bodyPr/>
                    <a:lstStyle/>
                    <a:p>
                      <a:r>
                        <a:rPr lang="en-US" b="1" dirty="0"/>
                        <a:t>Categorical</a:t>
                      </a:r>
                      <a:endParaRPr lang="en-US" dirty="0"/>
                    </a:p>
                  </a:txBody>
                  <a:tcPr/>
                </a:tc>
                <a:extLst>
                  <a:ext uri="{0D108BD9-81ED-4DB2-BD59-A6C34878D82A}">
                    <a16:rowId xmlns:a16="http://schemas.microsoft.com/office/drawing/2014/main" val="324978539"/>
                  </a:ext>
                </a:extLst>
              </a:tr>
              <a:tr h="370840">
                <a:tc rowSpan="5">
                  <a:txBody>
                    <a:bodyPr/>
                    <a:lstStyle/>
                    <a:p>
                      <a:r>
                        <a:rPr lang="en-US" b="1" dirty="0"/>
                        <a:t>Predictor Variables</a:t>
                      </a:r>
                    </a:p>
                  </a:txBody>
                  <a:tcPr/>
                </a:tc>
                <a:tc rowSpan="3">
                  <a:txBody>
                    <a:bodyPr/>
                    <a:lstStyle/>
                    <a:p>
                      <a:r>
                        <a:rPr lang="en-US" dirty="0"/>
                        <a:t>Observed</a:t>
                      </a:r>
                    </a:p>
                  </a:txBody>
                  <a:tcPr/>
                </a:tc>
                <a:tc>
                  <a:txBody>
                    <a:bodyPr/>
                    <a:lstStyle/>
                    <a:p>
                      <a:r>
                        <a:rPr lang="en-US" b="1" dirty="0"/>
                        <a:t>Continuous</a:t>
                      </a:r>
                    </a:p>
                  </a:txBody>
                  <a:tcPr/>
                </a:tc>
                <a:tc>
                  <a:txBody>
                    <a:bodyPr/>
                    <a:lstStyle/>
                    <a:p>
                      <a:r>
                        <a:rPr lang="en-US" dirty="0"/>
                        <a:t>Regression</a:t>
                      </a:r>
                    </a:p>
                  </a:txBody>
                  <a:tcPr/>
                </a:tc>
                <a:tc>
                  <a:txBody>
                    <a:bodyPr/>
                    <a:lstStyle/>
                    <a:p>
                      <a:r>
                        <a:rPr lang="en-US" dirty="0"/>
                        <a:t>Logistic</a:t>
                      </a:r>
                    </a:p>
                  </a:txBody>
                  <a:tcPr/>
                </a:tc>
                <a:extLst>
                  <a:ext uri="{0D108BD9-81ED-4DB2-BD59-A6C34878D82A}">
                    <a16:rowId xmlns:a16="http://schemas.microsoft.com/office/drawing/2014/main" val="314858725"/>
                  </a:ext>
                </a:extLst>
              </a:tr>
              <a:tr h="370840">
                <a:tc vMerge="1">
                  <a:txBody>
                    <a:bodyPr/>
                    <a:lstStyle/>
                    <a:p>
                      <a:endParaRPr lang="en-US"/>
                    </a:p>
                  </a:txBody>
                  <a:tcPr/>
                </a:tc>
                <a:tc vMerge="1">
                  <a:txBody>
                    <a:bodyPr/>
                    <a:lstStyle/>
                    <a:p>
                      <a:endParaRPr lang="en-US"/>
                    </a:p>
                  </a:txBody>
                  <a:tcPr/>
                </a:tc>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Including moderation &amp; mediation</a:t>
                      </a:r>
                    </a:p>
                  </a:txBody>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2853113387"/>
                  </a:ext>
                </a:extLst>
              </a:tr>
              <a:tr h="370840">
                <a:tc vMerge="1">
                  <a:txBody>
                    <a:bodyPr/>
                    <a:lstStyle/>
                    <a:p>
                      <a:endParaRPr lang="en-US" dirty="0"/>
                    </a:p>
                  </a:txBody>
                  <a:tcPr/>
                </a:tc>
                <a:tc vMerge="1">
                  <a:txBody>
                    <a:bodyPr/>
                    <a:lstStyle/>
                    <a:p>
                      <a:endParaRPr lang="en-US" dirty="0"/>
                    </a:p>
                  </a:txBody>
                  <a:tcPr/>
                </a:tc>
                <a:tc>
                  <a:txBody>
                    <a:bodyPr/>
                    <a:lstStyle/>
                    <a:p>
                      <a:r>
                        <a:rPr lang="en-US" b="1" dirty="0"/>
                        <a:t>Categorical</a:t>
                      </a:r>
                    </a:p>
                  </a:txBody>
                  <a:tcPr/>
                </a:tc>
                <a:tc>
                  <a:txBody>
                    <a:bodyPr/>
                    <a:lstStyle/>
                    <a:p>
                      <a:r>
                        <a:rPr lang="en-US" dirty="0"/>
                        <a:t>MANOVA/Regression</a:t>
                      </a:r>
                    </a:p>
                  </a:txBody>
                  <a:tcPr/>
                </a:tc>
                <a:tc>
                  <a:txBody>
                    <a:bodyPr/>
                    <a:lstStyle/>
                    <a:p>
                      <a:r>
                        <a:rPr lang="en-US" dirty="0"/>
                        <a:t>Non-parametric (e.g. chi-square)</a:t>
                      </a:r>
                    </a:p>
                  </a:txBody>
                  <a:tcPr/>
                </a:tc>
                <a:extLst>
                  <a:ext uri="{0D108BD9-81ED-4DB2-BD59-A6C34878D82A}">
                    <a16:rowId xmlns:a16="http://schemas.microsoft.com/office/drawing/2014/main" val="1896683424"/>
                  </a:ext>
                </a:extLst>
              </a:tr>
              <a:tr h="370840">
                <a:tc vMerge="1">
                  <a:txBody>
                    <a:bodyPr/>
                    <a:lstStyle/>
                    <a:p>
                      <a:endParaRPr lang="en-US" dirty="0"/>
                    </a:p>
                  </a:txBody>
                  <a:tcPr/>
                </a:tc>
                <a:tc rowSpan="2">
                  <a:txBody>
                    <a:bodyPr/>
                    <a:lstStyle/>
                    <a:p>
                      <a:r>
                        <a:rPr lang="en-US" dirty="0"/>
                        <a:t>Latent</a:t>
                      </a:r>
                    </a:p>
                  </a:txBody>
                  <a:tcPr/>
                </a:tc>
                <a:tc>
                  <a:txBody>
                    <a:bodyPr/>
                    <a:lstStyle/>
                    <a:p>
                      <a:r>
                        <a:rPr lang="en-US" b="1" dirty="0"/>
                        <a:t>Continuous</a:t>
                      </a:r>
                    </a:p>
                  </a:txBody>
                  <a:tcPr/>
                </a:tc>
                <a:tc>
                  <a:txBody>
                    <a:bodyPr/>
                    <a:lstStyle/>
                    <a:p>
                      <a:r>
                        <a:rPr lang="en-US" b="1" dirty="0">
                          <a:solidFill>
                            <a:schemeClr val="accent2"/>
                          </a:solidFill>
                        </a:rPr>
                        <a:t>Factor Analysis</a:t>
                      </a:r>
                    </a:p>
                  </a:txBody>
                  <a:tcPr/>
                </a:tc>
                <a:tc>
                  <a:txBody>
                    <a:bodyPr/>
                    <a:lstStyle/>
                    <a:p>
                      <a:r>
                        <a:rPr lang="en-US" dirty="0"/>
                        <a:t>Item Response Theory</a:t>
                      </a:r>
                    </a:p>
                  </a:txBody>
                  <a:tcPr/>
                </a:tc>
                <a:extLst>
                  <a:ext uri="{0D108BD9-81ED-4DB2-BD59-A6C34878D82A}">
                    <a16:rowId xmlns:a16="http://schemas.microsoft.com/office/drawing/2014/main" val="2325395772"/>
                  </a:ext>
                </a:extLst>
              </a:tr>
              <a:tr h="370840">
                <a:tc vMerge="1">
                  <a:txBody>
                    <a:bodyPr/>
                    <a:lstStyle/>
                    <a:p>
                      <a:endParaRPr lang="en-US" dirty="0"/>
                    </a:p>
                  </a:txBody>
                  <a:tcPr/>
                </a:tc>
                <a:tc vMerge="1">
                  <a:txBody>
                    <a:bodyPr/>
                    <a:lstStyle/>
                    <a:p>
                      <a:endParaRPr lang="en-US" dirty="0"/>
                    </a:p>
                  </a:txBody>
                  <a:tcPr/>
                </a:tc>
                <a:tc>
                  <a:txBody>
                    <a:bodyPr/>
                    <a:lstStyle/>
                    <a:p>
                      <a:r>
                        <a:rPr lang="en-US" b="1" dirty="0"/>
                        <a:t>Categorical</a:t>
                      </a:r>
                    </a:p>
                  </a:txBody>
                  <a:tcPr/>
                </a:tc>
                <a:tc>
                  <a:txBody>
                    <a:bodyPr/>
                    <a:lstStyle/>
                    <a:p>
                      <a:r>
                        <a:rPr lang="en-US" dirty="0"/>
                        <a:t>Latent Profile Analysis</a:t>
                      </a:r>
                    </a:p>
                  </a:txBody>
                  <a:tcPr/>
                </a:tc>
                <a:tc>
                  <a:txBody>
                    <a:bodyPr/>
                    <a:lstStyle/>
                    <a:p>
                      <a:r>
                        <a:rPr lang="en-US" dirty="0"/>
                        <a:t>Latent Class Analysis</a:t>
                      </a:r>
                    </a:p>
                  </a:txBody>
                  <a:tcPr/>
                </a:tc>
                <a:extLst>
                  <a:ext uri="{0D108BD9-81ED-4DB2-BD59-A6C34878D82A}">
                    <a16:rowId xmlns:a16="http://schemas.microsoft.com/office/drawing/2014/main" val="3464375262"/>
                  </a:ext>
                </a:extLst>
              </a:tr>
            </a:tbl>
          </a:graphicData>
        </a:graphic>
      </p:graphicFrame>
      <p:sp>
        <p:nvSpPr>
          <p:cNvPr id="5" name="Oval 4">
            <a:extLst>
              <a:ext uri="{FF2B5EF4-FFF2-40B4-BE49-F238E27FC236}">
                <a16:creationId xmlns:a16="http://schemas.microsoft.com/office/drawing/2014/main" id="{6F4E3935-CC4B-4289-BB14-1D05BA50A7F7}"/>
              </a:ext>
            </a:extLst>
          </p:cNvPr>
          <p:cNvSpPr/>
          <p:nvPr/>
        </p:nvSpPr>
        <p:spPr>
          <a:xfrm>
            <a:off x="5288027" y="3980314"/>
            <a:ext cx="4932947" cy="576128"/>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TextBox 5">
            <a:extLst>
              <a:ext uri="{FF2B5EF4-FFF2-40B4-BE49-F238E27FC236}">
                <a16:creationId xmlns:a16="http://schemas.microsoft.com/office/drawing/2014/main" id="{D582D7BA-DDDE-4FD7-87E9-59CE481C6E74}"/>
              </a:ext>
            </a:extLst>
          </p:cNvPr>
          <p:cNvSpPr txBox="1"/>
          <p:nvPr/>
        </p:nvSpPr>
        <p:spPr>
          <a:xfrm>
            <a:off x="6780056" y="4421505"/>
            <a:ext cx="2254143"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0000"/>
                </a:solidFill>
                <a:effectLst/>
                <a:uLnTx/>
                <a:uFillTx/>
                <a:latin typeface="Calibri" panose="020F0502020204030204"/>
                <a:ea typeface="+mn-ea"/>
                <a:cs typeface="+mn-cs"/>
              </a:rPr>
              <a:t>Finite Mixture Models</a:t>
            </a:r>
          </a:p>
        </p:txBody>
      </p:sp>
      <p:sp>
        <p:nvSpPr>
          <p:cNvPr id="9" name="Rectangle 8"/>
          <p:cNvSpPr/>
          <p:nvPr/>
        </p:nvSpPr>
        <p:spPr>
          <a:xfrm>
            <a:off x="365760" y="228600"/>
            <a:ext cx="8412480" cy="0"/>
          </a:xfrm>
          <a:prstGeom prst="rect">
            <a:avLst/>
          </a:prstGeom>
          <a:noFill/>
          <a:ln w="19050">
            <a:solidFill>
              <a:srgbClr val="B4B4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365760" y="4892040"/>
            <a:ext cx="8412480" cy="0"/>
          </a:xfrm>
          <a:prstGeom prst="rect">
            <a:avLst/>
          </a:prstGeom>
          <a:noFill/>
          <a:ln w="19050">
            <a:solidFill>
              <a:srgbClr val="B4B4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17590257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4BAED2BF-793E-60CE-A242-6828EBB2523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3878D8E4-2B7E-3B56-419D-93E04EFCED4B}"/>
              </a:ext>
            </a:extLst>
          </p:cNvPr>
          <p:cNvSpPr txBox="1"/>
          <p:nvPr/>
        </p:nvSpPr>
        <p:spPr>
          <a:xfrm>
            <a:off x="710143" y="125404"/>
            <a:ext cx="8412480"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3600" b="0" i="0" u="none" strike="noStrike" kern="1200" cap="none" spc="0" normalizeH="0" baseline="0" noProof="0" dirty="0">
                <a:ln>
                  <a:noFill/>
                </a:ln>
                <a:solidFill>
                  <a:srgbClr val="000000"/>
                </a:solidFill>
                <a:effectLst/>
                <a:uLnTx/>
                <a:uFillTx/>
                <a:latin typeface="Calibri"/>
                <a:ea typeface="+mn-ea"/>
                <a:cs typeface="+mn-cs"/>
              </a:rPr>
              <a:t>SEM: Why 'Family of Procedures'?</a:t>
            </a:r>
          </a:p>
        </p:txBody>
      </p:sp>
      <p:sp>
        <p:nvSpPr>
          <p:cNvPr id="6" name="TextBox 5">
            <a:extLst>
              <a:ext uri="{FF2B5EF4-FFF2-40B4-BE49-F238E27FC236}">
                <a16:creationId xmlns:a16="http://schemas.microsoft.com/office/drawing/2014/main" id="{753803CC-FE9B-2F0C-33EC-F22B71EAB0CE}"/>
              </a:ext>
            </a:extLst>
          </p:cNvPr>
          <p:cNvSpPr txBox="1"/>
          <p:nvPr/>
        </p:nvSpPr>
        <p:spPr>
          <a:xfrm>
            <a:off x="710143" y="985652"/>
            <a:ext cx="11082053" cy="4616648"/>
          </a:xfrm>
          <a:prstGeom prst="rect">
            <a:avLst/>
          </a:prstGeom>
          <a:noFill/>
        </p:spPr>
        <p:txBody>
          <a:bodyPr wrap="square">
            <a:spAutoFit/>
          </a:bodyPr>
          <a:lstStyle/>
          <a:p>
            <a:pPr marL="0" marR="0" lvl="0" indent="0" algn="l" defTabSz="914400" rtl="0" eaLnBrk="1" fontAlgn="auto" latinLnBrk="0" hangingPunct="1">
              <a:lnSpc>
                <a:spcPct val="100000"/>
              </a:lnSpc>
              <a:spcBef>
                <a:spcPts val="800"/>
              </a:spcBef>
              <a:spcAft>
                <a:spcPts val="0"/>
              </a:spcAft>
              <a:buClrTx/>
              <a:buSzTx/>
              <a:buFontTx/>
              <a:buNone/>
              <a:tabLst/>
              <a:defRPr/>
            </a:pPr>
            <a:r>
              <a:rPr kumimoji="0" lang="en-US" sz="2000" b="1" i="0" u="none" strike="noStrike" kern="1200" cap="none" spc="0" normalizeH="0" baseline="0" noProof="0" dirty="0">
                <a:ln>
                  <a:noFill/>
                </a:ln>
                <a:solidFill>
                  <a:srgbClr val="000000"/>
                </a:solidFill>
                <a:effectLst/>
                <a:uLnTx/>
                <a:uFillTx/>
                <a:latin typeface="Calibri"/>
                <a:ea typeface="+mn-ea"/>
                <a:cs typeface="+mn-cs"/>
              </a:rPr>
              <a:t>SEM is AKA analysis of covariance structure, covariance structure modeling, and causal modeling</a:t>
            </a:r>
          </a:p>
          <a:p>
            <a:pPr marL="0" marR="0" lvl="0" indent="0" algn="l" defTabSz="914400" rtl="0" eaLnBrk="1" fontAlgn="auto" latinLnBrk="0" hangingPunct="1">
              <a:lnSpc>
                <a:spcPct val="100000"/>
              </a:lnSpc>
              <a:spcBef>
                <a:spcPts val="800"/>
              </a:spcBef>
              <a:spcAft>
                <a:spcPts val="0"/>
              </a:spcAft>
              <a:buClrTx/>
              <a:buSzTx/>
              <a:buFontTx/>
              <a:buNone/>
              <a:tabLst/>
              <a:defRPr/>
            </a:pPr>
            <a:r>
              <a:rPr kumimoji="0" lang="en-US" sz="2000" b="1" i="0" u="none" strike="noStrike" kern="1200" cap="none" spc="0" normalizeH="0" baseline="0" noProof="0" dirty="0">
                <a:ln>
                  <a:noFill/>
                </a:ln>
                <a:solidFill>
                  <a:srgbClr val="000000"/>
                </a:solidFill>
                <a:effectLst/>
                <a:uLnTx/>
                <a:uFillTx/>
                <a:latin typeface="Calibri"/>
                <a:ea typeface="+mn-ea"/>
                <a:cs typeface="+mn-cs"/>
              </a:rPr>
              <a:t>Note: </a:t>
            </a:r>
            <a:r>
              <a:rPr kumimoji="0" lang="en-US" sz="2000" i="0" u="none" strike="noStrike" kern="1200" cap="none" spc="0" normalizeH="0" baseline="0" noProof="0" dirty="0">
                <a:ln>
                  <a:noFill/>
                </a:ln>
                <a:solidFill>
                  <a:srgbClr val="000000"/>
                </a:solidFill>
                <a:effectLst/>
                <a:uLnTx/>
                <a:uFillTx/>
                <a:latin typeface="Calibri"/>
                <a:ea typeface="+mn-ea"/>
                <a:cs typeface="+mn-cs"/>
              </a:rPr>
              <a:t>the design of the study allows for causal inference, not the SEM framework per se</a:t>
            </a:r>
          </a:p>
          <a:p>
            <a:pPr marL="0" marR="0" lvl="0" indent="0" algn="l" defTabSz="914400" rtl="0" eaLnBrk="1" fontAlgn="auto" latinLnBrk="0" hangingPunct="1">
              <a:lnSpc>
                <a:spcPct val="100000"/>
              </a:lnSpc>
              <a:spcBef>
                <a:spcPts val="800"/>
              </a:spcBef>
              <a:spcAft>
                <a:spcPts val="0"/>
              </a:spcAft>
              <a:buClrTx/>
              <a:buSzTx/>
              <a:buFontTx/>
              <a:buNone/>
              <a:tabLst/>
              <a:defRPr/>
            </a:pPr>
            <a:endParaRPr kumimoji="0" lang="en-US" sz="1700" b="1" i="0" u="none" strike="noStrike" kern="1200" cap="none" spc="0" normalizeH="0" baseline="0" noProof="0" dirty="0">
              <a:ln>
                <a:noFill/>
              </a:ln>
              <a:solidFill>
                <a:srgbClr val="000000"/>
              </a:solidFill>
              <a:effectLst/>
              <a:uLnTx/>
              <a:uFillTx/>
              <a:latin typeface="Calibri"/>
              <a:ea typeface="+mn-ea"/>
              <a:cs typeface="+mn-cs"/>
            </a:endParaRPr>
          </a:p>
          <a:p>
            <a:pPr marL="0" marR="0" lvl="0" indent="0" algn="l" defTabSz="914400" rtl="0" eaLnBrk="1" fontAlgn="auto" latinLnBrk="0" hangingPunct="1">
              <a:lnSpc>
                <a:spcPct val="100000"/>
              </a:lnSpc>
              <a:spcBef>
                <a:spcPts val="800"/>
              </a:spcBef>
              <a:spcAft>
                <a:spcPts val="0"/>
              </a:spcAft>
              <a:buClrTx/>
              <a:buSzTx/>
              <a:buFontTx/>
              <a:buNone/>
              <a:tabLst/>
              <a:defRPr/>
            </a:pPr>
            <a:r>
              <a:rPr kumimoji="0" sz="2000" b="1" i="0" u="none" strike="noStrike" kern="1200" cap="none" spc="0" normalizeH="0" baseline="0" noProof="0" dirty="0">
                <a:ln>
                  <a:noFill/>
                </a:ln>
                <a:solidFill>
                  <a:srgbClr val="000000"/>
                </a:solidFill>
                <a:effectLst/>
                <a:uLnTx/>
                <a:uFillTx/>
                <a:latin typeface="Calibri"/>
                <a:ea typeface="+mn-ea"/>
                <a:cs typeface="+mn-cs"/>
              </a:rPr>
              <a:t>SEM is an umbrella for many related methods: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sz="1700" b="1" i="0" u="none" strike="noStrike" kern="1200" cap="none" spc="0" normalizeH="0" baseline="0" noProof="0" dirty="0">
              <a:ln>
                <a:noFill/>
              </a:ln>
              <a:solidFill>
                <a:srgbClr val="000000"/>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500" b="0" i="0" u="none" strike="noStrike" kern="1200" cap="none" spc="0" normalizeH="0" baseline="0" noProof="0" dirty="0">
                <a:ln>
                  <a:noFill/>
                </a:ln>
                <a:solidFill>
                  <a:srgbClr val="323232"/>
                </a:solidFill>
                <a:effectLst/>
                <a:uLnTx/>
                <a:uFillTx/>
                <a:latin typeface="Calibri"/>
                <a:ea typeface="+mn-ea"/>
                <a:cs typeface="+mn-cs"/>
              </a:rPr>
              <a:t>•  </a:t>
            </a:r>
            <a:r>
              <a:rPr kumimoji="0" b="0" i="0" u="none" strike="noStrike" kern="1200" cap="none" spc="0" normalizeH="0" baseline="0" noProof="0" dirty="0">
                <a:ln>
                  <a:noFill/>
                </a:ln>
                <a:solidFill>
                  <a:srgbClr val="323232"/>
                </a:solidFill>
                <a:effectLst/>
                <a:uLnTx/>
                <a:uFillTx/>
                <a:latin typeface="Calibri"/>
                <a:ea typeface="+mn-ea"/>
                <a:cs typeface="+mn-cs"/>
              </a:rPr>
              <a:t>Path Analysis — chains of regression equations among observed variables</a:t>
            </a: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b="0" i="0" u="none" strike="noStrike" kern="1200" cap="none" spc="0" normalizeH="0" baseline="0" noProof="0" dirty="0">
                <a:ln>
                  <a:noFill/>
                </a:ln>
                <a:solidFill>
                  <a:srgbClr val="646464"/>
                </a:solidFill>
                <a:effectLst/>
                <a:uLnTx/>
                <a:uFillTx/>
                <a:latin typeface="Calibri"/>
                <a:ea typeface="+mn-ea"/>
                <a:cs typeface="+mn-cs"/>
              </a:rPr>
              <a:t>◦  Example: Does stress predict sleep quality, which then predicts academic performance?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b="0" i="0" u="none" strike="noStrike" kern="1200" cap="none" spc="0" normalizeH="0" baseline="0" noProof="0" dirty="0">
              <a:ln>
                <a:noFill/>
              </a:ln>
              <a:solidFill>
                <a:srgbClr val="646464"/>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b="0" i="0" u="none" strike="noStrike" kern="1200" cap="none" spc="0" normalizeH="0" baseline="0" noProof="0" dirty="0">
                <a:ln>
                  <a:noFill/>
                </a:ln>
                <a:solidFill>
                  <a:srgbClr val="323232"/>
                </a:solidFill>
                <a:effectLst/>
                <a:uLnTx/>
                <a:uFillTx/>
                <a:latin typeface="Calibri"/>
                <a:ea typeface="+mn-ea"/>
                <a:cs typeface="+mn-cs"/>
              </a:rPr>
              <a:t>•  </a:t>
            </a:r>
            <a:r>
              <a:rPr kumimoji="0" lang="en-US" b="0" i="0" u="none" strike="noStrike" kern="1200" cap="none" spc="0" normalizeH="0" baseline="0" noProof="0" dirty="0">
                <a:ln>
                  <a:noFill/>
                </a:ln>
                <a:solidFill>
                  <a:srgbClr val="323232"/>
                </a:solidFill>
                <a:effectLst/>
                <a:uLnTx/>
                <a:uFillTx/>
                <a:latin typeface="Calibri"/>
                <a:ea typeface="+mn-ea"/>
                <a:cs typeface="+mn-cs"/>
              </a:rPr>
              <a:t>Exploratory</a:t>
            </a:r>
            <a:r>
              <a:rPr kumimoji="0" b="0" i="0" u="none" strike="noStrike" kern="1200" cap="none" spc="0" normalizeH="0" baseline="0" noProof="0" dirty="0">
                <a:ln>
                  <a:noFill/>
                </a:ln>
                <a:solidFill>
                  <a:srgbClr val="323232"/>
                </a:solidFill>
                <a:effectLst/>
                <a:uLnTx/>
                <a:uFillTx/>
                <a:latin typeface="Calibri"/>
                <a:ea typeface="+mn-ea"/>
                <a:cs typeface="+mn-cs"/>
              </a:rPr>
              <a:t> Factor Analysis (</a:t>
            </a:r>
            <a:r>
              <a:rPr kumimoji="0" lang="en-US" b="0" i="0" u="none" strike="noStrike" kern="1200" cap="none" spc="0" normalizeH="0" baseline="0" noProof="0" dirty="0">
                <a:ln>
                  <a:noFill/>
                </a:ln>
                <a:solidFill>
                  <a:srgbClr val="323232"/>
                </a:solidFill>
                <a:effectLst/>
                <a:uLnTx/>
                <a:uFillTx/>
                <a:latin typeface="Calibri"/>
                <a:ea typeface="+mn-ea"/>
                <a:cs typeface="+mn-cs"/>
              </a:rPr>
              <a:t>E</a:t>
            </a:r>
            <a:r>
              <a:rPr kumimoji="0" b="0" i="0" u="none" strike="noStrike" kern="1200" cap="none" spc="0" normalizeH="0" baseline="0" noProof="0" dirty="0">
                <a:ln>
                  <a:noFill/>
                </a:ln>
                <a:solidFill>
                  <a:srgbClr val="323232"/>
                </a:solidFill>
                <a:effectLst/>
                <a:uLnTx/>
                <a:uFillTx/>
                <a:latin typeface="Calibri"/>
                <a:ea typeface="+mn-ea"/>
                <a:cs typeface="+mn-cs"/>
              </a:rPr>
              <a:t>FA) — tests whether items measure the right construct</a:t>
            </a: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b="0" i="0" u="none" strike="noStrike" kern="1200" cap="none" spc="0" normalizeH="0" baseline="0" noProof="0" dirty="0">
                <a:ln>
                  <a:noFill/>
                </a:ln>
                <a:solidFill>
                  <a:srgbClr val="646464"/>
                </a:solidFill>
                <a:effectLst/>
                <a:uLnTx/>
                <a:uFillTx/>
                <a:latin typeface="Calibri"/>
                <a:ea typeface="+mn-ea"/>
                <a:cs typeface="+mn-cs"/>
              </a:rPr>
              <a:t>◦  Example: Do my 8 anxiety items all load onto one 'anxiety' factor?</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b="0" i="0" u="none" strike="noStrike" kern="1200" cap="none" spc="0" normalizeH="0" baseline="0" noProof="0" dirty="0">
              <a:ln>
                <a:noFill/>
              </a:ln>
              <a:solidFill>
                <a:srgbClr val="646464"/>
              </a:solidFill>
              <a:effectLst/>
              <a:uLnTx/>
              <a:uFillTx/>
              <a:latin typeface="Calibri"/>
              <a:ea typeface="+mn-ea"/>
              <a:cs typeface="+mn-cs"/>
            </a:endParaRPr>
          </a:p>
          <a:p>
            <a:pPr marL="403225" lvl="0" indent="-403225"/>
            <a:r>
              <a:rPr kumimoji="0" b="0" i="0" u="none" strike="noStrike" kern="1200" cap="none" spc="0" normalizeH="0" baseline="0" noProof="0" dirty="0">
                <a:ln>
                  <a:noFill/>
                </a:ln>
                <a:solidFill>
                  <a:srgbClr val="323232"/>
                </a:solidFill>
                <a:effectLst/>
                <a:uLnTx/>
                <a:uFillTx/>
                <a:latin typeface="Calibri"/>
                <a:ea typeface="+mn-ea"/>
                <a:cs typeface="+mn-cs"/>
              </a:rPr>
              <a:t>•</a:t>
            </a:r>
            <a:r>
              <a:rPr lang="en-US" dirty="0">
                <a:solidFill>
                  <a:srgbClr val="323232"/>
                </a:solidFill>
                <a:latin typeface="Calibri"/>
              </a:rPr>
              <a:t>  </a:t>
            </a:r>
            <a:r>
              <a:rPr kumimoji="0" lang="en-US" b="0" i="0" u="none" strike="noStrike" kern="1200" cap="none" spc="0" normalizeH="0" baseline="0" noProof="0" dirty="0">
                <a:ln>
                  <a:noFill/>
                </a:ln>
                <a:solidFill>
                  <a:srgbClr val="323232"/>
                </a:solidFill>
                <a:effectLst/>
                <a:uLnTx/>
                <a:uFillTx/>
                <a:latin typeface="Calibri"/>
                <a:ea typeface="+mn-ea"/>
                <a:cs typeface="+mn-cs"/>
              </a:rPr>
              <a:t>Latent Class Analysis (LCA) — identifies unobserved subgroups of individuals based on similar response patterns across categorical indicators</a:t>
            </a:r>
          </a:p>
          <a:p>
            <a:pPr marL="511175" lvl="0" indent="-225425"/>
            <a:r>
              <a:rPr lang="en-US" dirty="0">
                <a:solidFill>
                  <a:srgbClr val="323232"/>
                </a:solidFill>
                <a:latin typeface="Calibri"/>
              </a:rPr>
              <a:t>	</a:t>
            </a:r>
            <a:r>
              <a:rPr kumimoji="0" lang="en-US" b="0" i="0" u="none" strike="noStrike" kern="1200" cap="none" spc="0" normalizeH="0" baseline="0" noProof="0" dirty="0">
                <a:ln>
                  <a:noFill/>
                </a:ln>
                <a:solidFill>
                  <a:srgbClr val="323232"/>
                </a:solidFill>
                <a:effectLst/>
                <a:uLnTx/>
                <a:uFillTx/>
                <a:latin typeface="Calibri"/>
                <a:ea typeface="+mn-ea"/>
                <a:cs typeface="+mn-cs"/>
              </a:rPr>
              <a:t>◦  Example: Are there distinct classes of adolescents based on patterns of substance use, depression symptoms,    </a:t>
            </a:r>
          </a:p>
          <a:p>
            <a:pPr marL="511175" lvl="0" indent="-225425"/>
            <a:r>
              <a:rPr lang="en-US" dirty="0">
                <a:solidFill>
                  <a:srgbClr val="323232"/>
                </a:solidFill>
                <a:latin typeface="Calibri"/>
              </a:rPr>
              <a:t>        </a:t>
            </a:r>
            <a:r>
              <a:rPr kumimoji="0" lang="en-US" b="0" i="0" u="none" strike="noStrike" kern="1200" cap="none" spc="0" normalizeH="0" baseline="0" noProof="0" dirty="0">
                <a:ln>
                  <a:noFill/>
                </a:ln>
                <a:solidFill>
                  <a:srgbClr val="323232"/>
                </a:solidFill>
                <a:effectLst/>
                <a:uLnTx/>
                <a:uFillTx/>
                <a:latin typeface="Calibri"/>
                <a:ea typeface="+mn-ea"/>
                <a:cs typeface="+mn-cs"/>
              </a:rPr>
              <a:t>and delinquent behavior?</a:t>
            </a:r>
            <a:endParaRPr kumimoji="0" b="0" i="0" u="none" strike="noStrike" kern="1200" cap="none" spc="0" normalizeH="0" baseline="0" noProof="0" dirty="0">
              <a:ln>
                <a:noFill/>
              </a:ln>
              <a:solidFill>
                <a:srgbClr val="646464"/>
              </a:solidFill>
              <a:effectLst/>
              <a:uLnTx/>
              <a:uFillTx/>
              <a:latin typeface="Calibri"/>
              <a:ea typeface="+mn-ea"/>
              <a:cs typeface="+mn-cs"/>
            </a:endParaRPr>
          </a:p>
        </p:txBody>
      </p:sp>
    </p:spTree>
    <p:extLst>
      <p:ext uri="{BB962C8B-B14F-4D97-AF65-F5344CB8AC3E}">
        <p14:creationId xmlns:p14="http://schemas.microsoft.com/office/powerpoint/2010/main" val="23786091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Box 3"/>
          <p:cNvSpPr txBox="1"/>
          <p:nvPr/>
        </p:nvSpPr>
        <p:spPr>
          <a:xfrm>
            <a:off x="674519" y="84598"/>
            <a:ext cx="8412480" cy="646331"/>
          </a:xfrm>
          <a:prstGeom prst="rect">
            <a:avLst/>
          </a:prstGeom>
          <a:noFill/>
        </p:spPr>
        <p:txBody>
          <a:bodyPr wrap="square">
            <a:spAutoFit/>
          </a:bodyPr>
          <a:lstStyle/>
          <a:p>
            <a:pPr algn="l"/>
            <a:r>
              <a:rPr sz="3600" b="0" dirty="0">
                <a:solidFill>
                  <a:srgbClr val="000000"/>
                </a:solidFill>
                <a:latin typeface="Calibri"/>
              </a:rPr>
              <a:t>Which Method Do I Use?</a:t>
            </a:r>
          </a:p>
        </p:txBody>
      </p:sp>
      <p:sp>
        <p:nvSpPr>
          <p:cNvPr id="6" name="TextBox 5"/>
          <p:cNvSpPr txBox="1"/>
          <p:nvPr/>
        </p:nvSpPr>
        <p:spPr>
          <a:xfrm>
            <a:off x="781395" y="902524"/>
            <a:ext cx="10417035" cy="4272965"/>
          </a:xfrm>
          <a:prstGeom prst="rect">
            <a:avLst/>
          </a:prstGeom>
          <a:noFill/>
        </p:spPr>
        <p:txBody>
          <a:bodyPr wrap="square">
            <a:spAutoFit/>
          </a:bodyPr>
          <a:lstStyle/>
          <a:p>
            <a:pPr algn="l">
              <a:spcBef>
                <a:spcPts val="800"/>
              </a:spcBef>
            </a:pPr>
            <a:r>
              <a:rPr sz="2000" b="1" i="0" dirty="0">
                <a:solidFill>
                  <a:srgbClr val="000000"/>
                </a:solidFill>
                <a:latin typeface="Calibri"/>
              </a:rPr>
              <a:t>Observed vs Latent predictors:</a:t>
            </a:r>
          </a:p>
          <a:p>
            <a:pPr algn="l"/>
            <a:r>
              <a:rPr sz="2000" b="0" i="0" dirty="0">
                <a:solidFill>
                  <a:srgbClr val="323232"/>
                </a:solidFill>
                <a:latin typeface="Calibri"/>
              </a:rPr>
              <a:t>•  </a:t>
            </a:r>
            <a:r>
              <a:rPr sz="2000" b="0" i="0" u="sng" dirty="0">
                <a:solidFill>
                  <a:srgbClr val="323232"/>
                </a:solidFill>
                <a:latin typeface="Calibri"/>
              </a:rPr>
              <a:t>Observed</a:t>
            </a:r>
            <a:r>
              <a:rPr sz="2000" b="0" i="0" dirty="0">
                <a:solidFill>
                  <a:srgbClr val="323232"/>
                </a:solidFill>
                <a:latin typeface="Calibri"/>
              </a:rPr>
              <a:t> = something you directly measured (age, income, a test score)</a:t>
            </a:r>
          </a:p>
          <a:p>
            <a:pPr algn="l"/>
            <a:r>
              <a:rPr sz="2000" b="0" i="0" dirty="0">
                <a:solidFill>
                  <a:srgbClr val="323232"/>
                </a:solidFill>
                <a:latin typeface="Calibri"/>
              </a:rPr>
              <a:t>•  </a:t>
            </a:r>
            <a:r>
              <a:rPr sz="2000" b="0" i="0" u="sng" dirty="0">
                <a:solidFill>
                  <a:srgbClr val="323232"/>
                </a:solidFill>
                <a:latin typeface="Calibri"/>
              </a:rPr>
              <a:t>Latent</a:t>
            </a:r>
            <a:r>
              <a:rPr sz="2000" b="0" i="0" dirty="0">
                <a:solidFill>
                  <a:srgbClr val="323232"/>
                </a:solidFill>
                <a:latin typeface="Calibri"/>
              </a:rPr>
              <a:t> = something you infer from multiple items (anxiety, intelligence, frailty)</a:t>
            </a:r>
          </a:p>
          <a:p>
            <a:pPr algn="l"/>
            <a:endParaRPr sz="2000" b="0" i="0" dirty="0">
              <a:solidFill>
                <a:srgbClr val="323232"/>
              </a:solidFill>
              <a:latin typeface="Calibri"/>
            </a:endParaRPr>
          </a:p>
          <a:p>
            <a:pPr algn="l">
              <a:spcBef>
                <a:spcPts val="800"/>
              </a:spcBef>
            </a:pPr>
            <a:r>
              <a:rPr sz="2000" b="1" i="0" dirty="0">
                <a:solidFill>
                  <a:srgbClr val="000000"/>
                </a:solidFill>
                <a:latin typeface="Calibri"/>
              </a:rPr>
              <a:t>Continuous vs Categorical outcomes:</a:t>
            </a:r>
          </a:p>
          <a:p>
            <a:pPr algn="l"/>
            <a:r>
              <a:rPr sz="2000" b="0" i="0" dirty="0">
                <a:solidFill>
                  <a:srgbClr val="323232"/>
                </a:solidFill>
                <a:latin typeface="Calibri"/>
              </a:rPr>
              <a:t>•  Continuous outcome → Regression (observed predictors) or Factor Analysis (latent predictors)</a:t>
            </a:r>
          </a:p>
          <a:p>
            <a:pPr algn="l"/>
            <a:r>
              <a:rPr sz="2000" b="0" i="0" dirty="0">
                <a:solidFill>
                  <a:srgbClr val="323232"/>
                </a:solidFill>
                <a:latin typeface="Calibri"/>
              </a:rPr>
              <a:t>•  Categorical outcome → Logistic regression (observed) or LCA (latent)</a:t>
            </a:r>
          </a:p>
          <a:p>
            <a:pPr algn="l"/>
            <a:endParaRPr sz="2000" b="0" i="0" dirty="0">
              <a:solidFill>
                <a:srgbClr val="323232"/>
              </a:solidFill>
              <a:latin typeface="Calibri"/>
            </a:endParaRPr>
          </a:p>
          <a:p>
            <a:pPr algn="l">
              <a:spcBef>
                <a:spcPts val="600"/>
              </a:spcBef>
            </a:pPr>
            <a:r>
              <a:rPr sz="2000" b="1" i="0" dirty="0">
                <a:solidFill>
                  <a:srgbClr val="1F497D"/>
                </a:solidFill>
                <a:latin typeface="Calibri"/>
              </a:rPr>
              <a:t>EXAMPLE</a:t>
            </a:r>
          </a:p>
          <a:p>
            <a:pPr marL="342900" indent="-342900" algn="l">
              <a:buFont typeface="Arial" panose="020B0604020202020204" pitchFamily="34" charset="0"/>
              <a:buChar char="•"/>
            </a:pPr>
            <a:r>
              <a:rPr sz="2000" b="0" i="0" dirty="0">
                <a:solidFill>
                  <a:srgbClr val="323232"/>
                </a:solidFill>
                <a:latin typeface="Calibri"/>
              </a:rPr>
              <a:t>You have 10 survey items about depression and want to know if there are distinct 'types' of depressed people → Latent Categorical predictor, Categorical grouping outcome → use LCA.</a:t>
            </a:r>
          </a:p>
          <a:p>
            <a:pPr marL="342900" indent="-342900" algn="l">
              <a:buFont typeface="Arial" panose="020B0604020202020204" pitchFamily="34" charset="0"/>
              <a:buChar char="•"/>
            </a:pPr>
            <a:r>
              <a:rPr sz="2000" b="0" i="0" dirty="0">
                <a:solidFill>
                  <a:srgbClr val="323232"/>
                </a:solidFill>
                <a:latin typeface="Calibri"/>
              </a:rPr>
              <a:t>You want to predict GPA from study habits (measured directly) → Observed continuous predictor, continuous outcome → Regression.</a:t>
            </a:r>
          </a:p>
        </p:txBody>
      </p:sp>
    </p:spTree>
    <p:extLst>
      <p:ext uri="{BB962C8B-B14F-4D97-AF65-F5344CB8AC3E}">
        <p14:creationId xmlns:p14="http://schemas.microsoft.com/office/powerpoint/2010/main" val="17118591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Box 3"/>
          <p:cNvSpPr txBox="1"/>
          <p:nvPr/>
        </p:nvSpPr>
        <p:spPr>
          <a:xfrm>
            <a:off x="700642" y="92627"/>
            <a:ext cx="11149347" cy="584775"/>
          </a:xfrm>
          <a:prstGeom prst="rect">
            <a:avLst/>
          </a:prstGeom>
          <a:noFill/>
        </p:spPr>
        <p:txBody>
          <a:bodyPr wrap="square">
            <a:spAutoFit/>
          </a:bodyPr>
          <a:lstStyle/>
          <a:p>
            <a:pPr algn="l"/>
            <a:r>
              <a:rPr sz="3200" b="0" dirty="0">
                <a:solidFill>
                  <a:srgbClr val="000000"/>
                </a:solidFill>
                <a:latin typeface="Calibri"/>
              </a:rPr>
              <a:t>Why Does the Distinction Between Observed and Latent Matter?</a:t>
            </a:r>
          </a:p>
        </p:txBody>
      </p:sp>
      <p:sp>
        <p:nvSpPr>
          <p:cNvPr id="6" name="TextBox 5"/>
          <p:cNvSpPr txBox="1"/>
          <p:nvPr/>
        </p:nvSpPr>
        <p:spPr>
          <a:xfrm>
            <a:off x="700642" y="878774"/>
            <a:ext cx="10485914" cy="4888518"/>
          </a:xfrm>
          <a:prstGeom prst="rect">
            <a:avLst/>
          </a:prstGeom>
          <a:noFill/>
        </p:spPr>
        <p:txBody>
          <a:bodyPr wrap="square">
            <a:spAutoFit/>
          </a:bodyPr>
          <a:lstStyle/>
          <a:p>
            <a:pPr algn="l">
              <a:spcBef>
                <a:spcPts val="800"/>
              </a:spcBef>
            </a:pPr>
            <a:r>
              <a:rPr sz="2000" b="1" i="0" dirty="0">
                <a:solidFill>
                  <a:srgbClr val="000000"/>
                </a:solidFill>
                <a:latin typeface="Calibri"/>
              </a:rPr>
              <a:t>Observed variables have MEASUREMENT ERROR baked in.</a:t>
            </a:r>
          </a:p>
          <a:p>
            <a:pPr algn="l"/>
            <a:r>
              <a:rPr sz="2000" b="0" i="0" dirty="0">
                <a:solidFill>
                  <a:srgbClr val="323232"/>
                </a:solidFill>
                <a:latin typeface="Calibri"/>
              </a:rPr>
              <a:t>When you ask someone 'How anxious are you on a scale of 1–10?', that single item is imprecise. People interpret scales differently. They may not accurately report their feelings.</a:t>
            </a:r>
          </a:p>
          <a:p>
            <a:pPr algn="l"/>
            <a:endParaRPr sz="2000" b="0" i="0" dirty="0">
              <a:solidFill>
                <a:srgbClr val="323232"/>
              </a:solidFill>
              <a:latin typeface="Calibri"/>
            </a:endParaRPr>
          </a:p>
          <a:p>
            <a:pPr algn="l">
              <a:spcBef>
                <a:spcPts val="800"/>
              </a:spcBef>
            </a:pPr>
            <a:r>
              <a:rPr sz="2000" b="1" i="0" dirty="0">
                <a:solidFill>
                  <a:srgbClr val="000000"/>
                </a:solidFill>
                <a:latin typeface="Calibri"/>
              </a:rPr>
              <a:t>Latent variables model the UNDERLYING TRUE CONSTRUCT.</a:t>
            </a:r>
          </a:p>
          <a:p>
            <a:pPr algn="l"/>
            <a:r>
              <a:rPr sz="2000" b="0" i="0" dirty="0">
                <a:solidFill>
                  <a:srgbClr val="323232"/>
                </a:solidFill>
                <a:latin typeface="Calibri"/>
              </a:rPr>
              <a:t>If you ask 10 questions about anxiety symptoms, the shared variance across those items is a better estimate of 'true anxiety' than any single item.</a:t>
            </a:r>
          </a:p>
          <a:p>
            <a:pPr algn="l"/>
            <a:endParaRPr sz="2000" b="0" i="0" dirty="0">
              <a:solidFill>
                <a:srgbClr val="323232"/>
              </a:solidFill>
              <a:latin typeface="Calibri"/>
            </a:endParaRPr>
          </a:p>
          <a:p>
            <a:pPr algn="l">
              <a:spcBef>
                <a:spcPts val="600"/>
              </a:spcBef>
            </a:pPr>
            <a:r>
              <a:rPr sz="2000" b="1" i="0" dirty="0">
                <a:solidFill>
                  <a:srgbClr val="1F497D"/>
                </a:solidFill>
                <a:latin typeface="Calibri"/>
              </a:rPr>
              <a:t>ANALOGY</a:t>
            </a:r>
          </a:p>
          <a:p>
            <a:pPr algn="l"/>
            <a:r>
              <a:rPr sz="2000" b="0" i="0" dirty="0">
                <a:solidFill>
                  <a:srgbClr val="323232"/>
                </a:solidFill>
                <a:latin typeface="Calibri"/>
              </a:rPr>
              <a:t>Think of measuring someone's height. One measurement with a ruler = observed (has error). The average of 20 measurements = closer to </a:t>
            </a:r>
            <a:r>
              <a:rPr lang="en-US" sz="2000" b="0" i="0" dirty="0">
                <a:solidFill>
                  <a:srgbClr val="323232"/>
                </a:solidFill>
                <a:latin typeface="Calibri"/>
              </a:rPr>
              <a:t>the </a:t>
            </a:r>
            <a:r>
              <a:rPr sz="2000" b="0" i="0" dirty="0">
                <a:solidFill>
                  <a:srgbClr val="323232"/>
                </a:solidFill>
                <a:latin typeface="Calibri"/>
              </a:rPr>
              <a:t>latent true height. </a:t>
            </a:r>
            <a:r>
              <a:rPr lang="en-US" sz="2000" b="0" i="0" dirty="0">
                <a:solidFill>
                  <a:srgbClr val="323232"/>
                </a:solidFill>
                <a:latin typeface="Calibri"/>
              </a:rPr>
              <a:t>The class of SEM</a:t>
            </a:r>
            <a:r>
              <a:rPr sz="2000" b="0" i="0" dirty="0">
                <a:solidFill>
                  <a:srgbClr val="323232"/>
                </a:solidFill>
                <a:latin typeface="Calibri"/>
              </a:rPr>
              <a:t> formally models this.</a:t>
            </a:r>
          </a:p>
          <a:p>
            <a:pPr algn="l"/>
            <a:endParaRPr sz="2000" b="0" i="0" dirty="0">
              <a:solidFill>
                <a:srgbClr val="323232"/>
              </a:solidFill>
              <a:latin typeface="Calibri"/>
            </a:endParaRPr>
          </a:p>
          <a:p>
            <a:pPr algn="l"/>
            <a:r>
              <a:rPr sz="2000" b="0" i="0" dirty="0">
                <a:solidFill>
                  <a:srgbClr val="323232"/>
                </a:solidFill>
                <a:latin typeface="Calibri"/>
              </a:rPr>
              <a:t>SEM methods use measurement models to </a:t>
            </a:r>
            <a:r>
              <a:rPr sz="2000" b="1" i="0" u="sng" dirty="0">
                <a:solidFill>
                  <a:srgbClr val="323232"/>
                </a:solidFill>
                <a:latin typeface="Calibri"/>
              </a:rPr>
              <a:t>separate true signal from random error</a:t>
            </a:r>
            <a:r>
              <a:rPr lang="en-US" sz="2000" b="0" i="0" dirty="0">
                <a:solidFill>
                  <a:srgbClr val="323232"/>
                </a:solidFill>
                <a:latin typeface="Calibri"/>
              </a:rPr>
              <a:t>,</a:t>
            </a:r>
            <a:r>
              <a:rPr sz="2000" b="0" i="0" dirty="0">
                <a:solidFill>
                  <a:srgbClr val="323232"/>
                </a:solidFill>
                <a:latin typeface="Calibri"/>
              </a:rPr>
              <a:t> which makes estimates more accurate than simple regression.</a:t>
            </a:r>
          </a:p>
        </p:txBody>
      </p:sp>
    </p:spTree>
    <p:extLst>
      <p:ext uri="{BB962C8B-B14F-4D97-AF65-F5344CB8AC3E}">
        <p14:creationId xmlns:p14="http://schemas.microsoft.com/office/powerpoint/2010/main" val="14771303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E74327DD-20F1-333C-5697-A4D917E66EE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5BCC4F4-3F84-EED2-E0B0-3F91AC30F7B1}"/>
              </a:ext>
            </a:extLst>
          </p:cNvPr>
          <p:cNvSpPr txBox="1"/>
          <p:nvPr/>
        </p:nvSpPr>
        <p:spPr>
          <a:xfrm>
            <a:off x="783771" y="88116"/>
            <a:ext cx="8412480"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3600" b="0" i="0" u="none" strike="noStrike" kern="1200" cap="none" spc="0" normalizeH="0" baseline="0" noProof="0" dirty="0">
                <a:ln>
                  <a:noFill/>
                </a:ln>
                <a:solidFill>
                  <a:srgbClr val="000000"/>
                </a:solidFill>
                <a:effectLst/>
                <a:uLnTx/>
                <a:uFillTx/>
                <a:latin typeface="Calibri"/>
                <a:ea typeface="+mn-ea"/>
                <a:cs typeface="+mn-cs"/>
              </a:rPr>
              <a:t>SEM ≠ Causation</a:t>
            </a:r>
          </a:p>
        </p:txBody>
      </p:sp>
      <p:sp>
        <p:nvSpPr>
          <p:cNvPr id="6" name="TextBox 5">
            <a:extLst>
              <a:ext uri="{FF2B5EF4-FFF2-40B4-BE49-F238E27FC236}">
                <a16:creationId xmlns:a16="http://schemas.microsoft.com/office/drawing/2014/main" id="{25163339-FB04-61F8-49F3-2EA8693A0B05}"/>
              </a:ext>
            </a:extLst>
          </p:cNvPr>
          <p:cNvSpPr txBox="1"/>
          <p:nvPr/>
        </p:nvSpPr>
        <p:spPr>
          <a:xfrm>
            <a:off x="783771" y="856501"/>
            <a:ext cx="10725793" cy="5144998"/>
          </a:xfrm>
          <a:prstGeom prst="rect">
            <a:avLst/>
          </a:prstGeom>
          <a:noFill/>
        </p:spPr>
        <p:txBody>
          <a:bodyPr wrap="square">
            <a:spAutoFit/>
          </a:bodyPr>
          <a:lstStyle/>
          <a:p>
            <a:pPr marL="0" marR="0" lvl="0" indent="0" algn="l" defTabSz="914400" rtl="0" eaLnBrk="1" fontAlgn="auto" latinLnBrk="0" hangingPunct="1">
              <a:lnSpc>
                <a:spcPct val="100000"/>
              </a:lnSpc>
              <a:spcBef>
                <a:spcPts val="800"/>
              </a:spcBef>
              <a:spcAft>
                <a:spcPts val="0"/>
              </a:spcAft>
              <a:buClrTx/>
              <a:buSzTx/>
              <a:buFontTx/>
              <a:buNone/>
              <a:tabLst/>
              <a:defRPr/>
            </a:pPr>
            <a:r>
              <a:rPr kumimoji="0" sz="2000" b="1" i="0" u="none" strike="noStrike" kern="1200" cap="none" spc="0" normalizeH="0" baseline="0" noProof="0" dirty="0">
                <a:ln>
                  <a:noFill/>
                </a:ln>
                <a:solidFill>
                  <a:srgbClr val="000000"/>
                </a:solidFill>
                <a:effectLst/>
                <a:uLnTx/>
                <a:uFillTx/>
                <a:latin typeface="Calibri"/>
                <a:ea typeface="+mn-ea"/>
                <a:cs typeface="+mn-cs"/>
              </a:rPr>
              <a:t>A common misconception: 'I used SEM therefore I </a:t>
            </a:r>
            <a:r>
              <a:rPr kumimoji="0" sz="2000" b="1" i="0" u="sng" strike="noStrike" kern="1200" cap="none" spc="0" normalizeH="0" baseline="0" noProof="0" dirty="0">
                <a:ln>
                  <a:noFill/>
                </a:ln>
                <a:solidFill>
                  <a:srgbClr val="000000"/>
                </a:solidFill>
                <a:effectLst/>
                <a:uLnTx/>
                <a:uFillTx/>
                <a:latin typeface="Calibri"/>
                <a:ea typeface="+mn-ea"/>
                <a:cs typeface="+mn-cs"/>
              </a:rPr>
              <a:t>proved</a:t>
            </a:r>
            <a:r>
              <a:rPr kumimoji="0" sz="2000" b="1" i="0" u="none" strike="noStrike" kern="1200" cap="none" spc="0" normalizeH="0" baseline="0" noProof="0" dirty="0">
                <a:ln>
                  <a:noFill/>
                </a:ln>
                <a:solidFill>
                  <a:srgbClr val="000000"/>
                </a:solidFill>
                <a:effectLst/>
                <a:uLnTx/>
                <a:uFillTx/>
                <a:latin typeface="Calibri"/>
                <a:ea typeface="+mn-ea"/>
                <a:cs typeface="+mn-cs"/>
              </a:rPr>
              <a:t> causation.'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sz="2000" b="1" i="0" u="none" strike="noStrike" kern="1200" cap="none" spc="0" normalizeH="0" baseline="0" noProof="0" dirty="0">
              <a:ln>
                <a:noFill/>
              </a:ln>
              <a:solidFill>
                <a:srgbClr val="000000"/>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2000" b="0" i="0" u="none" strike="noStrike" kern="1200" cap="none" spc="0" normalizeH="0" baseline="0" noProof="0" dirty="0">
                <a:ln>
                  <a:noFill/>
                </a:ln>
                <a:solidFill>
                  <a:srgbClr val="323232"/>
                </a:solidFill>
                <a:effectLst/>
                <a:uLnTx/>
                <a:uFillTx/>
                <a:latin typeface="Calibri"/>
                <a:ea typeface="+mn-ea"/>
                <a:cs typeface="+mn-cs"/>
              </a:rPr>
              <a:t>This is WRONG. SEM (like regression) only shows that variables are statistically related in a way consistent with your model. It cannot rule out other explanations.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sz="2000" b="0" i="0" u="none" strike="noStrike" kern="1200" cap="none" spc="0" normalizeH="0" baseline="0" noProof="0" dirty="0">
              <a:ln>
                <a:noFill/>
              </a:ln>
              <a:solidFill>
                <a:srgbClr val="323232"/>
              </a:solidFill>
              <a:effectLst/>
              <a:uLnTx/>
              <a:uFillTx/>
              <a:latin typeface="Calibri"/>
              <a:ea typeface="+mn-ea"/>
              <a:cs typeface="+mn-cs"/>
            </a:endParaRPr>
          </a:p>
          <a:p>
            <a:pPr marL="0" marR="0" lvl="0" indent="0" algn="l" defTabSz="914400" rtl="0" eaLnBrk="1" fontAlgn="auto" latinLnBrk="0" hangingPunct="1">
              <a:lnSpc>
                <a:spcPct val="100000"/>
              </a:lnSpc>
              <a:spcBef>
                <a:spcPts val="400"/>
              </a:spcBef>
              <a:spcAft>
                <a:spcPts val="0"/>
              </a:spcAft>
              <a:buClrTx/>
              <a:buSzTx/>
              <a:buFontTx/>
              <a:buNone/>
              <a:tabLst/>
              <a:defRPr/>
            </a:pPr>
            <a:r>
              <a:rPr kumimoji="0" sz="2000" b="1" i="0" u="none" strike="noStrike" kern="1200" cap="none" spc="0" normalizeH="0" baseline="0" noProof="0" dirty="0">
                <a:ln>
                  <a:noFill/>
                </a:ln>
                <a:solidFill>
                  <a:srgbClr val="000000"/>
                </a:solidFill>
                <a:effectLst/>
                <a:uLnTx/>
                <a:uFillTx/>
                <a:latin typeface="Calibri"/>
                <a:ea typeface="+mn-ea"/>
                <a:cs typeface="+mn-cs"/>
              </a:rPr>
              <a:t>What DOES allow causal inference?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sz="2000" b="0" i="0" u="none" strike="noStrike" kern="1200" cap="none" spc="0" normalizeH="0" baseline="0" noProof="0" dirty="0">
                <a:ln>
                  <a:noFill/>
                </a:ln>
                <a:solidFill>
                  <a:srgbClr val="323232"/>
                </a:solidFill>
                <a:effectLst/>
                <a:uLnTx/>
                <a:uFillTx/>
                <a:latin typeface="Calibri"/>
                <a:ea typeface="+mn-ea"/>
                <a:cs typeface="+mn-cs"/>
              </a:rPr>
              <a:t>•  Randomized controlled experiments (gold standard)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sz="2000" b="0" i="0" u="none" strike="noStrike" kern="1200" cap="none" spc="0" normalizeH="0" baseline="0" noProof="0" dirty="0">
                <a:ln>
                  <a:noFill/>
                </a:ln>
                <a:solidFill>
                  <a:srgbClr val="323232"/>
                </a:solidFill>
                <a:effectLst/>
                <a:uLnTx/>
                <a:uFillTx/>
                <a:latin typeface="Calibri"/>
                <a:ea typeface="+mn-ea"/>
                <a:cs typeface="+mn-cs"/>
              </a:rPr>
              <a:t>•  Strong quasi-experimental designs (regression discontinuity, difference-in-differences)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sz="2000" b="0" i="0" u="none" strike="noStrike" kern="1200" cap="none" spc="0" normalizeH="0" baseline="0" noProof="0" dirty="0">
                <a:ln>
                  <a:noFill/>
                </a:ln>
                <a:solidFill>
                  <a:srgbClr val="323232"/>
                </a:solidFill>
                <a:effectLst/>
                <a:uLnTx/>
                <a:uFillTx/>
                <a:latin typeface="Calibri"/>
                <a:ea typeface="+mn-ea"/>
                <a:cs typeface="+mn-cs"/>
              </a:rPr>
              <a:t>•  Longitudinal data where cause precedes effect in time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sz="2000" b="0" i="0" u="none" strike="noStrike" kern="1200" cap="none" spc="0" normalizeH="0" baseline="0" noProof="0" dirty="0">
              <a:ln>
                <a:noFill/>
              </a:ln>
              <a:solidFill>
                <a:srgbClr val="323232"/>
              </a:solidFill>
              <a:effectLst/>
              <a:uLnTx/>
              <a:uFillTx/>
              <a:latin typeface="Calibri"/>
              <a:ea typeface="+mn-ea"/>
              <a:cs typeface="+mn-cs"/>
            </a:endParaRPr>
          </a:p>
          <a:p>
            <a:pPr marL="0" marR="0" lvl="0" indent="0" algn="l" defTabSz="914400" rtl="0" eaLnBrk="1" fontAlgn="auto" latinLnBrk="0" hangingPunct="1">
              <a:lnSpc>
                <a:spcPct val="100000"/>
              </a:lnSpc>
              <a:spcBef>
                <a:spcPts val="600"/>
              </a:spcBef>
              <a:spcAft>
                <a:spcPts val="0"/>
              </a:spcAft>
              <a:buClrTx/>
              <a:buSzTx/>
              <a:buFontTx/>
              <a:buNone/>
              <a:tabLst/>
              <a:defRPr/>
            </a:pPr>
            <a:r>
              <a:rPr kumimoji="0" sz="2000" b="1" i="0" u="none" strike="noStrike" kern="1200" cap="none" spc="0" normalizeH="0" baseline="0" noProof="0" dirty="0">
                <a:ln>
                  <a:noFill/>
                </a:ln>
                <a:solidFill>
                  <a:srgbClr val="1F497D"/>
                </a:solidFill>
                <a:effectLst/>
                <a:uLnTx/>
                <a:uFillTx/>
                <a:latin typeface="Calibri"/>
                <a:ea typeface="+mn-ea"/>
                <a:cs typeface="+mn-cs"/>
              </a:rPr>
              <a:t>EXAMPLE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sz="2000" b="0" i="0" u="none" strike="noStrike" kern="1200" cap="none" spc="0" normalizeH="0" baseline="0" noProof="0" dirty="0">
                <a:ln>
                  <a:noFill/>
                </a:ln>
                <a:solidFill>
                  <a:srgbClr val="323232"/>
                </a:solidFill>
                <a:effectLst/>
                <a:uLnTx/>
                <a:uFillTx/>
                <a:latin typeface="Calibri"/>
                <a:ea typeface="+mn-ea"/>
                <a:cs typeface="+mn-cs"/>
              </a:rPr>
              <a:t>You find that anxiety → depression in your SEM. But maybe both are caused by a third variable (childhood trauma) you didn't measure. That's confounding — SEM alone cannot rule it out.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sz="2000" b="0" i="0" u="none" strike="noStrike" kern="1200" cap="none" spc="0" normalizeH="0" baseline="0" noProof="0" dirty="0">
              <a:ln>
                <a:noFill/>
              </a:ln>
              <a:solidFill>
                <a:srgbClr val="323232"/>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2000" b="0" i="0" u="none" strike="noStrike" kern="1200" cap="none" spc="0" normalizeH="0" baseline="0" noProof="0" dirty="0">
                <a:ln>
                  <a:noFill/>
                </a:ln>
                <a:solidFill>
                  <a:srgbClr val="323232"/>
                </a:solidFill>
                <a:effectLst/>
                <a:uLnTx/>
                <a:uFillTx/>
                <a:latin typeface="Calibri"/>
                <a:ea typeface="+mn-ea"/>
                <a:cs typeface="+mn-cs"/>
              </a:rPr>
              <a:t>SEM tests whether your hypothesized structure is consistent with the data, not whether that structure is the only possible explanation.</a:t>
            </a:r>
          </a:p>
        </p:txBody>
      </p:sp>
    </p:spTree>
    <p:extLst>
      <p:ext uri="{BB962C8B-B14F-4D97-AF65-F5344CB8AC3E}">
        <p14:creationId xmlns:p14="http://schemas.microsoft.com/office/powerpoint/2010/main" val="20868761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F0EDC83D-4E91-2D86-1A07-E488ABA2FA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5D7D82-57F7-38FA-2F92-A60FFA8846C1}"/>
              </a:ext>
            </a:extLst>
          </p:cNvPr>
          <p:cNvSpPr>
            <a:spLocks noGrp="1"/>
          </p:cNvSpPr>
          <p:nvPr>
            <p:ph type="title"/>
          </p:nvPr>
        </p:nvSpPr>
        <p:spPr>
          <a:xfrm>
            <a:off x="207963" y="301375"/>
            <a:ext cx="10691265" cy="767419"/>
          </a:xfrm>
        </p:spPr>
        <p:txBody>
          <a:bodyPr>
            <a:normAutofit/>
          </a:bodyPr>
          <a:lstStyle/>
          <a:p>
            <a:pPr algn="l"/>
            <a:r>
              <a:rPr lang="en-US" sz="3600" cap="none" dirty="0">
                <a:solidFill>
                  <a:srgbClr val="000000"/>
                </a:solidFill>
                <a:latin typeface="Calibri"/>
              </a:rPr>
              <a:t>Some notation</a:t>
            </a:r>
          </a:p>
        </p:txBody>
      </p:sp>
      <p:sp>
        <p:nvSpPr>
          <p:cNvPr id="3" name="Content Placeholder 2">
            <a:extLst>
              <a:ext uri="{FF2B5EF4-FFF2-40B4-BE49-F238E27FC236}">
                <a16:creationId xmlns:a16="http://schemas.microsoft.com/office/drawing/2014/main" id="{AA2E5252-EB63-7808-6D20-36A916FB7AD8}"/>
              </a:ext>
            </a:extLst>
          </p:cNvPr>
          <p:cNvSpPr>
            <a:spLocks noGrp="1"/>
          </p:cNvSpPr>
          <p:nvPr>
            <p:ph idx="1"/>
          </p:nvPr>
        </p:nvSpPr>
        <p:spPr>
          <a:xfrm>
            <a:off x="365760" y="1068794"/>
            <a:ext cx="11010801" cy="3636088"/>
          </a:xfrm>
        </p:spPr>
        <p:txBody>
          <a:bodyPr/>
          <a:lstStyle/>
          <a:p>
            <a:r>
              <a:rPr lang="en-US" dirty="0">
                <a:latin typeface="Calibri" panose="020F0502020204030204" pitchFamily="34" charset="0"/>
                <a:ea typeface="Calibri" panose="020F0502020204030204" pitchFamily="34" charset="0"/>
                <a:cs typeface="Calibri" panose="020F0502020204030204" pitchFamily="34" charset="0"/>
              </a:rPr>
              <a:t>Observed Variables are denoted by a box</a:t>
            </a:r>
          </a:p>
          <a:p>
            <a:r>
              <a:rPr lang="en-US" dirty="0">
                <a:latin typeface="Calibri" panose="020F0502020204030204" pitchFamily="34" charset="0"/>
                <a:ea typeface="Calibri" panose="020F0502020204030204" pitchFamily="34" charset="0"/>
                <a:cs typeface="Calibri" panose="020F0502020204030204" pitchFamily="34" charset="0"/>
              </a:rPr>
              <a:t>Latent Variables or Factors are denoted by a circle</a:t>
            </a:r>
          </a:p>
          <a:p>
            <a:r>
              <a:rPr lang="en-US" dirty="0">
                <a:latin typeface="Calibri" panose="020F0502020204030204" pitchFamily="34" charset="0"/>
                <a:ea typeface="Calibri" panose="020F0502020204030204" pitchFamily="34" charset="0"/>
                <a:cs typeface="Calibri" panose="020F0502020204030204" pitchFamily="34" charset="0"/>
              </a:rPr>
              <a:t>Error variance in the observed Vs</a:t>
            </a:r>
          </a:p>
          <a:p>
            <a:r>
              <a:rPr lang="en-US" dirty="0">
                <a:latin typeface="Calibri" panose="020F0502020204030204" pitchFamily="34" charset="0"/>
                <a:ea typeface="Calibri" panose="020F0502020204030204" pitchFamily="34" charset="0"/>
                <a:cs typeface="Calibri" panose="020F0502020204030204" pitchFamily="34" charset="0"/>
              </a:rPr>
              <a:t>Disturbances in Fs (unexplained variances – variance not explained by the model)</a:t>
            </a:r>
          </a:p>
        </p:txBody>
      </p:sp>
      <p:sp>
        <p:nvSpPr>
          <p:cNvPr id="4" name="Rectangle 3">
            <a:extLst>
              <a:ext uri="{FF2B5EF4-FFF2-40B4-BE49-F238E27FC236}">
                <a16:creationId xmlns:a16="http://schemas.microsoft.com/office/drawing/2014/main" id="{3F3E4FDD-436B-3AAA-BEA1-9F3A56E6C43D}"/>
              </a:ext>
            </a:extLst>
          </p:cNvPr>
          <p:cNvSpPr/>
          <p:nvPr/>
        </p:nvSpPr>
        <p:spPr>
          <a:xfrm>
            <a:off x="5130504" y="961820"/>
            <a:ext cx="630621" cy="59045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listo MT"/>
                <a:ea typeface="+mn-ea"/>
                <a:cs typeface="+mn-cs"/>
              </a:rPr>
              <a:t>V</a:t>
            </a:r>
          </a:p>
        </p:txBody>
      </p:sp>
      <p:sp>
        <p:nvSpPr>
          <p:cNvPr id="5" name="Oval 4">
            <a:extLst>
              <a:ext uri="{FF2B5EF4-FFF2-40B4-BE49-F238E27FC236}">
                <a16:creationId xmlns:a16="http://schemas.microsoft.com/office/drawing/2014/main" id="{09C39E64-0C1F-E212-FD5D-38DD5E0E35EF}"/>
              </a:ext>
            </a:extLst>
          </p:cNvPr>
          <p:cNvSpPr/>
          <p:nvPr/>
        </p:nvSpPr>
        <p:spPr>
          <a:xfrm>
            <a:off x="6171028" y="1434785"/>
            <a:ext cx="662152" cy="590450"/>
          </a:xfrm>
          <a:prstGeom prst="ellipse">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listo MT"/>
                <a:ea typeface="+mn-ea"/>
                <a:cs typeface="+mn-cs"/>
              </a:rPr>
              <a:t>F</a:t>
            </a:r>
          </a:p>
        </p:txBody>
      </p:sp>
      <p:cxnSp>
        <p:nvCxnSpPr>
          <p:cNvPr id="7" name="Straight Arrow Connector 6">
            <a:extLst>
              <a:ext uri="{FF2B5EF4-FFF2-40B4-BE49-F238E27FC236}">
                <a16:creationId xmlns:a16="http://schemas.microsoft.com/office/drawing/2014/main" id="{D889E7D9-3E9E-C4FD-9DCF-D773E8D093F9}"/>
              </a:ext>
            </a:extLst>
          </p:cNvPr>
          <p:cNvCxnSpPr/>
          <p:nvPr/>
        </p:nvCxnSpPr>
        <p:spPr>
          <a:xfrm>
            <a:off x="679118" y="3596886"/>
            <a:ext cx="2374024"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95A6B77C-F2E0-F473-F620-5F4E542B5FF0}"/>
              </a:ext>
            </a:extLst>
          </p:cNvPr>
          <p:cNvSpPr txBox="1"/>
          <p:nvPr/>
        </p:nvSpPr>
        <p:spPr>
          <a:xfrm>
            <a:off x="3189776" y="3412220"/>
            <a:ext cx="4398049"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rPr>
              <a:t>Directional: Hypothesized structural/causal effect</a:t>
            </a:r>
          </a:p>
        </p:txBody>
      </p:sp>
      <p:cxnSp>
        <p:nvCxnSpPr>
          <p:cNvPr id="10" name="Straight Arrow Connector 9">
            <a:extLst>
              <a:ext uri="{FF2B5EF4-FFF2-40B4-BE49-F238E27FC236}">
                <a16:creationId xmlns:a16="http://schemas.microsoft.com/office/drawing/2014/main" id="{302A9D7B-DA66-FEF6-C727-6A7743F41B36}"/>
              </a:ext>
            </a:extLst>
          </p:cNvPr>
          <p:cNvCxnSpPr>
            <a:cxnSpLocks/>
          </p:cNvCxnSpPr>
          <p:nvPr/>
        </p:nvCxnSpPr>
        <p:spPr>
          <a:xfrm>
            <a:off x="610801" y="4302938"/>
            <a:ext cx="2442341" cy="0"/>
          </a:xfrm>
          <a:prstGeom prst="straightConnector1">
            <a:avLst/>
          </a:prstGeom>
          <a:ln w="2857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97E8C0ED-71B9-F2FB-B5AB-035B46019C16}"/>
              </a:ext>
            </a:extLst>
          </p:cNvPr>
          <p:cNvSpPr txBox="1"/>
          <p:nvPr/>
        </p:nvSpPr>
        <p:spPr>
          <a:xfrm>
            <a:off x="3189776" y="4058551"/>
            <a:ext cx="4814192"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rPr>
              <a:t>Non-Directional: Hypothesized non-structural/non-causal variation</a:t>
            </a:r>
          </a:p>
        </p:txBody>
      </p:sp>
    </p:spTree>
    <p:extLst>
      <p:ext uri="{BB962C8B-B14F-4D97-AF65-F5344CB8AC3E}">
        <p14:creationId xmlns:p14="http://schemas.microsoft.com/office/powerpoint/2010/main" val="38596102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1BA89E0E-7608-4E74-DD53-EFB2A715CE7F}"/>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B92F0221-F4CA-90CA-58D8-C9021E218891}"/>
              </a:ext>
            </a:extLst>
          </p:cNvPr>
          <p:cNvPicPr>
            <a:picLocks noChangeAspect="1"/>
          </p:cNvPicPr>
          <p:nvPr/>
        </p:nvPicPr>
        <p:blipFill rotWithShape="1">
          <a:blip r:embed="rId2"/>
          <a:srcRect l="53569" t="18640" b="35608"/>
          <a:stretch>
            <a:fillRect/>
          </a:stretch>
        </p:blipFill>
        <p:spPr>
          <a:xfrm>
            <a:off x="8916775" y="0"/>
            <a:ext cx="3409823" cy="2309722"/>
          </a:xfrm>
          <a:prstGeom prst="rect">
            <a:avLst/>
          </a:prstGeom>
        </p:spPr>
      </p:pic>
      <p:sp>
        <p:nvSpPr>
          <p:cNvPr id="4" name="TextBox 3">
            <a:extLst>
              <a:ext uri="{FF2B5EF4-FFF2-40B4-BE49-F238E27FC236}">
                <a16:creationId xmlns:a16="http://schemas.microsoft.com/office/drawing/2014/main" id="{FB1C28AE-ED21-D95C-6410-D02FC9C4A113}"/>
              </a:ext>
            </a:extLst>
          </p:cNvPr>
          <p:cNvSpPr txBox="1"/>
          <p:nvPr/>
        </p:nvSpPr>
        <p:spPr>
          <a:xfrm>
            <a:off x="733894" y="0"/>
            <a:ext cx="11092345"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3600" b="0" i="0" u="none" strike="noStrike" kern="1200" cap="none" spc="0" normalizeH="0" baseline="0" noProof="0" dirty="0">
                <a:ln>
                  <a:noFill/>
                </a:ln>
                <a:solidFill>
                  <a:srgbClr val="000000"/>
                </a:solidFill>
                <a:effectLst/>
                <a:uLnTx/>
                <a:uFillTx/>
                <a:latin typeface="Calibri"/>
                <a:ea typeface="+mn-ea"/>
                <a:cs typeface="+mn-cs"/>
              </a:rPr>
              <a:t>EFA: Arrows Go FROM Factor TO Items </a:t>
            </a:r>
          </a:p>
        </p:txBody>
      </p:sp>
      <p:sp>
        <p:nvSpPr>
          <p:cNvPr id="6" name="TextBox 5">
            <a:extLst>
              <a:ext uri="{FF2B5EF4-FFF2-40B4-BE49-F238E27FC236}">
                <a16:creationId xmlns:a16="http://schemas.microsoft.com/office/drawing/2014/main" id="{D69AEFA7-3C83-A425-CEA1-1626B600B6C9}"/>
              </a:ext>
            </a:extLst>
          </p:cNvPr>
          <p:cNvSpPr txBox="1"/>
          <p:nvPr/>
        </p:nvSpPr>
        <p:spPr>
          <a:xfrm>
            <a:off x="733894" y="646331"/>
            <a:ext cx="8801991" cy="6068328"/>
          </a:xfrm>
          <a:prstGeom prst="rect">
            <a:avLst/>
          </a:prstGeom>
          <a:noFill/>
        </p:spPr>
        <p:txBody>
          <a:bodyPr wrap="square">
            <a:spAutoFit/>
          </a:bodyPr>
          <a:lstStyle/>
          <a:p>
            <a:pPr marL="0" marR="0" lvl="0" indent="0" algn="l" defTabSz="914400" rtl="0" eaLnBrk="1" fontAlgn="auto" latinLnBrk="0" hangingPunct="1">
              <a:lnSpc>
                <a:spcPct val="100000"/>
              </a:lnSpc>
              <a:spcBef>
                <a:spcPts val="800"/>
              </a:spcBef>
              <a:spcAft>
                <a:spcPts val="0"/>
              </a:spcAft>
              <a:buClrTx/>
              <a:buSzTx/>
              <a:buFontTx/>
              <a:buNone/>
              <a:tabLst/>
              <a:defRPr/>
            </a:pPr>
            <a:r>
              <a:rPr kumimoji="0" sz="2000" b="1" i="0" u="none" strike="noStrike" kern="1200" cap="none" spc="0" normalizeH="0" baseline="0" noProof="0" dirty="0">
                <a:ln>
                  <a:noFill/>
                </a:ln>
                <a:solidFill>
                  <a:srgbClr val="000000"/>
                </a:solidFill>
                <a:effectLst/>
                <a:uLnTx/>
                <a:uFillTx/>
                <a:latin typeface="Calibri"/>
                <a:ea typeface="+mn-ea"/>
                <a:cs typeface="+mn-cs"/>
              </a:rPr>
              <a:t>This is one of the most important conceptual points in factor analysis: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sz="2000" b="0" i="0" u="none" strike="noStrike" kern="1200" cap="none" spc="0" normalizeH="0" baseline="0" noProof="0" dirty="0">
                <a:ln>
                  <a:noFill/>
                </a:ln>
                <a:solidFill>
                  <a:srgbClr val="323232"/>
                </a:solidFill>
                <a:effectLst/>
                <a:uLnTx/>
                <a:uFillTx/>
                <a:latin typeface="Calibri"/>
                <a:ea typeface="+mn-ea"/>
                <a:cs typeface="+mn-cs"/>
              </a:rPr>
              <a:t>In regression: observed predictors → outcome (arrows point from measured variables to outcome)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sz="2000" b="0" i="0" u="none" strike="noStrike" kern="1200" cap="none" spc="0" normalizeH="0" baseline="0" noProof="0" dirty="0">
                <a:ln>
                  <a:noFill/>
                </a:ln>
                <a:solidFill>
                  <a:srgbClr val="323232"/>
                </a:solidFill>
                <a:effectLst/>
                <a:uLnTx/>
                <a:uFillTx/>
                <a:latin typeface="Calibri"/>
                <a:ea typeface="+mn-ea"/>
                <a:cs typeface="+mn-cs"/>
              </a:rPr>
              <a:t>In factor analysis: latent factor → observed items (arrows point FROM the hidden factor TO the items)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sz="2000" b="0" i="0" u="none" strike="noStrike" kern="1200" cap="none" spc="0" normalizeH="0" baseline="0" noProof="0" dirty="0">
              <a:ln>
                <a:noFill/>
              </a:ln>
              <a:solidFill>
                <a:srgbClr val="323232"/>
              </a:solidFill>
              <a:effectLst/>
              <a:uLnTx/>
              <a:uFillTx/>
              <a:latin typeface="Calibri"/>
              <a:ea typeface="+mn-ea"/>
              <a:cs typeface="+mn-cs"/>
            </a:endParaRPr>
          </a:p>
          <a:p>
            <a:pPr marL="0" marR="0" lvl="0" indent="0" algn="l" defTabSz="914400" rtl="0" eaLnBrk="1" fontAlgn="auto" latinLnBrk="0" hangingPunct="1">
              <a:lnSpc>
                <a:spcPct val="100000"/>
              </a:lnSpc>
              <a:spcBef>
                <a:spcPts val="400"/>
              </a:spcBef>
              <a:spcAft>
                <a:spcPts val="0"/>
              </a:spcAft>
              <a:buClrTx/>
              <a:buSzTx/>
              <a:buFontTx/>
              <a:buNone/>
              <a:tabLst/>
              <a:defRPr/>
            </a:pPr>
            <a:r>
              <a:rPr kumimoji="0" sz="2000" b="1" i="0" u="none" strike="noStrike" kern="1200" cap="none" spc="0" normalizeH="0" baseline="0" noProof="0" dirty="0">
                <a:ln>
                  <a:noFill/>
                </a:ln>
                <a:solidFill>
                  <a:srgbClr val="000000"/>
                </a:solidFill>
                <a:effectLst/>
                <a:uLnTx/>
                <a:uFillTx/>
                <a:latin typeface="Calibri"/>
                <a:ea typeface="+mn-ea"/>
                <a:cs typeface="+mn-cs"/>
              </a:rPr>
              <a:t>Why does direction matter?</a:t>
            </a:r>
          </a:p>
          <a:p>
            <a:pPr marL="225425" marR="0" lvl="0" indent="-225425" algn="l" defTabSz="914400" rtl="0" eaLnBrk="1" fontAlgn="auto" latinLnBrk="0" hangingPunct="1">
              <a:lnSpc>
                <a:spcPct val="100000"/>
              </a:lnSpc>
              <a:spcBef>
                <a:spcPts val="0"/>
              </a:spcBef>
              <a:spcAft>
                <a:spcPts val="0"/>
              </a:spcAft>
              <a:buClrTx/>
              <a:buSzTx/>
              <a:buFontTx/>
              <a:buNone/>
              <a:tabLst/>
              <a:defRPr/>
            </a:pPr>
            <a:r>
              <a:rPr kumimoji="0" sz="2000" b="0" i="0" u="none" strike="noStrike" kern="1200" cap="none" spc="0" normalizeH="0" baseline="0" noProof="0" dirty="0">
                <a:ln>
                  <a:noFill/>
                </a:ln>
                <a:solidFill>
                  <a:srgbClr val="323232"/>
                </a:solidFill>
                <a:effectLst/>
                <a:uLnTx/>
                <a:uFillTx/>
                <a:latin typeface="Calibri"/>
                <a:ea typeface="+mn-ea"/>
                <a:cs typeface="+mn-cs"/>
              </a:rPr>
              <a:t>•  The latent construct (anxiety, intelligence, frailty) is hypothesized to CAUSE the </a:t>
            </a:r>
            <a:r>
              <a:rPr kumimoji="0" lang="en-US" sz="2000" b="0" i="0" u="none" strike="noStrike" kern="1200" cap="none" spc="0" normalizeH="0" baseline="0" noProof="0" dirty="0">
                <a:ln>
                  <a:noFill/>
                </a:ln>
                <a:solidFill>
                  <a:srgbClr val="323232"/>
                </a:solidFill>
                <a:effectLst/>
                <a:uLnTx/>
                <a:uFillTx/>
                <a:latin typeface="Calibri"/>
                <a:ea typeface="+mn-ea"/>
                <a:cs typeface="+mn-cs"/>
              </a:rPr>
              <a:t>  </a:t>
            </a:r>
            <a:r>
              <a:rPr kumimoji="0" sz="2000" b="0" i="0" u="none" strike="noStrike" kern="1200" cap="none" spc="0" normalizeH="0" baseline="0" noProof="0" dirty="0">
                <a:ln>
                  <a:noFill/>
                </a:ln>
                <a:solidFill>
                  <a:srgbClr val="323232"/>
                </a:solidFill>
                <a:effectLst/>
                <a:uLnTx/>
                <a:uFillTx/>
                <a:latin typeface="Calibri"/>
                <a:ea typeface="+mn-ea"/>
                <a:cs typeface="+mn-cs"/>
              </a:rPr>
              <a:t>item responses</a:t>
            </a:r>
            <a:r>
              <a:rPr kumimoji="0" lang="en-US" sz="2000" b="0" i="0" u="none" strike="noStrike" kern="1200" cap="none" spc="0" normalizeH="0" baseline="0" noProof="0" dirty="0">
                <a:ln>
                  <a:noFill/>
                </a:ln>
                <a:solidFill>
                  <a:srgbClr val="323232"/>
                </a:solidFill>
                <a:effectLst/>
                <a:uLnTx/>
                <a:uFillTx/>
                <a:latin typeface="Calibri"/>
                <a:ea typeface="+mn-ea"/>
                <a:cs typeface="+mn-cs"/>
              </a:rPr>
              <a:t> (just like hours studying “causes” good test performance in OLS)</a:t>
            </a:r>
            <a:endParaRPr kumimoji="0" sz="2000" b="0" i="0" u="none" strike="noStrike" kern="1200" cap="none" spc="0" normalizeH="0" baseline="0" noProof="0" dirty="0">
              <a:ln>
                <a:noFill/>
              </a:ln>
              <a:solidFill>
                <a:srgbClr val="323232"/>
              </a:solidFill>
              <a:effectLst/>
              <a:uLnTx/>
              <a:uFillTx/>
              <a:latin typeface="Calibri"/>
              <a:ea typeface="+mn-ea"/>
              <a:cs typeface="+mn-cs"/>
            </a:endParaRPr>
          </a:p>
          <a:p>
            <a:pPr marL="225425" marR="0" lvl="0" indent="-225425" algn="l" defTabSz="914400" rtl="0" eaLnBrk="1" fontAlgn="auto" latinLnBrk="0" hangingPunct="1">
              <a:lnSpc>
                <a:spcPct val="100000"/>
              </a:lnSpc>
              <a:spcBef>
                <a:spcPts val="0"/>
              </a:spcBef>
              <a:spcAft>
                <a:spcPts val="0"/>
              </a:spcAft>
              <a:buClrTx/>
              <a:buSzTx/>
              <a:buFontTx/>
              <a:buNone/>
              <a:tabLst/>
              <a:defRPr/>
            </a:pPr>
            <a:r>
              <a:rPr kumimoji="0" sz="2000" b="0" i="0" u="none" strike="noStrike" kern="1200" cap="none" spc="0" normalizeH="0" baseline="0" noProof="0" dirty="0">
                <a:ln>
                  <a:noFill/>
                </a:ln>
                <a:solidFill>
                  <a:srgbClr val="323232"/>
                </a:solidFill>
                <a:effectLst/>
                <a:uLnTx/>
                <a:uFillTx/>
                <a:latin typeface="Calibri"/>
                <a:ea typeface="+mn-ea"/>
                <a:cs typeface="+mn-cs"/>
              </a:rPr>
              <a:t>•  When you feel more anxious, that's why you say '</a:t>
            </a:r>
            <a:r>
              <a:rPr kumimoji="0" sz="2000" b="0" i="0" u="none" strike="noStrike" kern="1200" cap="none" spc="0" normalizeH="0" baseline="0" noProof="0" dirty="0" err="1">
                <a:ln>
                  <a:noFill/>
                </a:ln>
                <a:solidFill>
                  <a:srgbClr val="323232"/>
                </a:solidFill>
                <a:effectLst/>
                <a:uLnTx/>
                <a:uFillTx/>
                <a:latin typeface="Calibri"/>
                <a:ea typeface="+mn-ea"/>
                <a:cs typeface="+mn-cs"/>
              </a:rPr>
              <a:t>yes'</a:t>
            </a:r>
            <a:r>
              <a:rPr kumimoji="0" sz="2000" b="0" i="0" u="none" strike="noStrike" kern="1200" cap="none" spc="0" normalizeH="0" baseline="0" noProof="0" dirty="0">
                <a:ln>
                  <a:noFill/>
                </a:ln>
                <a:solidFill>
                  <a:srgbClr val="323232"/>
                </a:solidFill>
                <a:effectLst/>
                <a:uLnTx/>
                <a:uFillTx/>
                <a:latin typeface="Calibri"/>
                <a:ea typeface="+mn-ea"/>
                <a:cs typeface="+mn-cs"/>
              </a:rPr>
              <a:t> to items like 'I worry constantly'</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sz="2000" b="0" i="0" u="none" strike="noStrike" kern="1200" cap="none" spc="0" normalizeH="0" baseline="0" noProof="0" dirty="0">
              <a:ln>
                <a:noFill/>
              </a:ln>
              <a:solidFill>
                <a:srgbClr val="323232"/>
              </a:solidFill>
              <a:effectLst/>
              <a:uLnTx/>
              <a:uFillTx/>
              <a:latin typeface="Calibri"/>
              <a:ea typeface="+mn-ea"/>
              <a:cs typeface="+mn-cs"/>
            </a:endParaRPr>
          </a:p>
          <a:p>
            <a:pPr marL="0" marR="0" lvl="0" indent="0" algn="l" defTabSz="914400" rtl="0" eaLnBrk="1" fontAlgn="auto" latinLnBrk="0" hangingPunct="1">
              <a:lnSpc>
                <a:spcPct val="100000"/>
              </a:lnSpc>
              <a:spcBef>
                <a:spcPts val="600"/>
              </a:spcBef>
              <a:spcAft>
                <a:spcPts val="0"/>
              </a:spcAft>
              <a:buClrTx/>
              <a:buSzTx/>
              <a:buFontTx/>
              <a:buNone/>
              <a:tabLst/>
              <a:defRPr/>
            </a:pPr>
            <a:r>
              <a:rPr kumimoji="0" sz="2000" b="1" i="0" u="none" strike="noStrike" kern="1200" cap="none" spc="0" normalizeH="0" baseline="0" noProof="0" dirty="0">
                <a:ln>
                  <a:noFill/>
                </a:ln>
                <a:solidFill>
                  <a:srgbClr val="1F497D"/>
                </a:solidFill>
                <a:effectLst/>
                <a:uLnTx/>
                <a:uFillTx/>
                <a:latin typeface="Calibri"/>
                <a:ea typeface="+mn-ea"/>
                <a:cs typeface="+mn-cs"/>
              </a:rPr>
              <a:t>CONTRAST WITH </a:t>
            </a:r>
            <a:r>
              <a:rPr kumimoji="0" sz="2000" b="1" i="0" u="sng" strike="noStrike" kern="1200" cap="none" spc="0" normalizeH="0" baseline="0" noProof="0" dirty="0">
                <a:ln>
                  <a:noFill/>
                </a:ln>
                <a:solidFill>
                  <a:srgbClr val="1F497D"/>
                </a:solidFill>
                <a:effectLst/>
                <a:uLnTx/>
                <a:uFillTx/>
                <a:latin typeface="Calibri"/>
                <a:ea typeface="+mn-ea"/>
                <a:cs typeface="+mn-cs"/>
              </a:rPr>
              <a:t>FORMATIVE</a:t>
            </a:r>
            <a:r>
              <a:rPr kumimoji="0" sz="2000" b="1" i="0" u="none" strike="noStrike" kern="1200" cap="none" spc="0" normalizeH="0" baseline="0" noProof="0" dirty="0">
                <a:ln>
                  <a:noFill/>
                </a:ln>
                <a:solidFill>
                  <a:srgbClr val="1F497D"/>
                </a:solidFill>
                <a:effectLst/>
                <a:uLnTx/>
                <a:uFillTx/>
                <a:latin typeface="Calibri"/>
                <a:ea typeface="+mn-ea"/>
                <a:cs typeface="+mn-cs"/>
              </a:rPr>
              <a:t> INDICATORS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sz="2000" b="0" i="0" u="none" strike="noStrike" kern="1200" cap="none" spc="0" normalizeH="0" baseline="0" noProof="0" dirty="0">
                <a:ln>
                  <a:noFill/>
                </a:ln>
                <a:solidFill>
                  <a:srgbClr val="323232"/>
                </a:solidFill>
                <a:effectLst/>
                <a:uLnTx/>
                <a:uFillTx/>
                <a:latin typeface="Calibri"/>
                <a:ea typeface="+mn-ea"/>
                <a:cs typeface="+mn-cs"/>
              </a:rPr>
              <a:t>Sometimes items CAUSE the construct (called formative indicators). Example: SES is caused by income + education + occupation — not the other way around. These need different modeling approaches.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sz="2000" b="0" i="0" u="none" strike="noStrike" kern="1200" cap="none" spc="0" normalizeH="0" baseline="0" noProof="0" dirty="0">
              <a:ln>
                <a:noFill/>
              </a:ln>
              <a:solidFill>
                <a:srgbClr val="323232"/>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2000" b="0" i="0" u="none" strike="noStrike" kern="1200" cap="none" spc="0" normalizeH="0" baseline="0" noProof="0" dirty="0">
                <a:ln>
                  <a:noFill/>
                </a:ln>
                <a:solidFill>
                  <a:srgbClr val="323232"/>
                </a:solidFill>
                <a:effectLst/>
                <a:uLnTx/>
                <a:uFillTx/>
                <a:latin typeface="Calibri"/>
                <a:ea typeface="+mn-ea"/>
                <a:cs typeface="+mn-cs"/>
              </a:rPr>
              <a:t>Standard EFA/CFA assumes </a:t>
            </a:r>
            <a:r>
              <a:rPr kumimoji="0" sz="2000" b="1" i="0" u="sng" strike="noStrike" kern="1200" cap="none" spc="0" normalizeH="0" baseline="0" noProof="0" dirty="0">
                <a:ln>
                  <a:noFill/>
                </a:ln>
                <a:solidFill>
                  <a:srgbClr val="323232"/>
                </a:solidFill>
                <a:effectLst/>
                <a:uLnTx/>
                <a:uFillTx/>
                <a:latin typeface="Calibri"/>
                <a:ea typeface="+mn-ea"/>
                <a:cs typeface="+mn-cs"/>
              </a:rPr>
              <a:t>reflective indicators</a:t>
            </a:r>
            <a:r>
              <a:rPr kumimoji="0" sz="2000" b="0" i="0" u="none" strike="noStrike" kern="1200" cap="none" spc="0" normalizeH="0" baseline="0" noProof="0" dirty="0">
                <a:ln>
                  <a:noFill/>
                </a:ln>
                <a:solidFill>
                  <a:srgbClr val="323232"/>
                </a:solidFill>
                <a:effectLst/>
                <a:uLnTx/>
                <a:uFillTx/>
                <a:latin typeface="Calibri"/>
                <a:ea typeface="+mn-ea"/>
                <a:cs typeface="+mn-cs"/>
              </a:rPr>
              <a:t>: the factor causes the item responses. Always think about which direction makes theoretical sense.</a:t>
            </a:r>
          </a:p>
        </p:txBody>
      </p:sp>
    </p:spTree>
    <p:extLst>
      <p:ext uri="{BB962C8B-B14F-4D97-AF65-F5344CB8AC3E}">
        <p14:creationId xmlns:p14="http://schemas.microsoft.com/office/powerpoint/2010/main" val="40815038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71C53B63-ACE3-240E-A004-7F33F62BAD5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EAE1FE42-26A7-A6DC-EC43-47EE79E40315}"/>
              </a:ext>
            </a:extLst>
          </p:cNvPr>
          <p:cNvSpPr txBox="1"/>
          <p:nvPr/>
        </p:nvSpPr>
        <p:spPr>
          <a:xfrm>
            <a:off x="710144" y="68580"/>
            <a:ext cx="10939549"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3600" b="0" i="0" u="none" strike="noStrike" kern="1200" cap="none" spc="0" normalizeH="0" baseline="0" noProof="0" dirty="0">
                <a:ln>
                  <a:noFill/>
                </a:ln>
                <a:solidFill>
                  <a:srgbClr val="000000"/>
                </a:solidFill>
                <a:effectLst/>
                <a:uLnTx/>
                <a:uFillTx/>
                <a:latin typeface="Calibri"/>
                <a:ea typeface="+mn-ea"/>
                <a:cs typeface="+mn-cs"/>
              </a:rPr>
              <a:t>EFA: What Does 'Factors Drive Variables' Actually Mean?</a:t>
            </a:r>
          </a:p>
        </p:txBody>
      </p:sp>
      <p:sp useBgFill="1">
        <p:nvSpPr>
          <p:cNvPr id="6" name="TextBox 5">
            <a:extLst>
              <a:ext uri="{FF2B5EF4-FFF2-40B4-BE49-F238E27FC236}">
                <a16:creationId xmlns:a16="http://schemas.microsoft.com/office/drawing/2014/main" id="{C4985859-6392-EDDA-57FF-31AB3D838A79}"/>
              </a:ext>
            </a:extLst>
          </p:cNvPr>
          <p:cNvSpPr txBox="1"/>
          <p:nvPr/>
        </p:nvSpPr>
        <p:spPr>
          <a:xfrm>
            <a:off x="710144" y="837515"/>
            <a:ext cx="10713918" cy="5760551"/>
          </a:xfrm>
          <a:prstGeom prst="rect">
            <a:avLst/>
          </a:prstGeom>
        </p:spPr>
        <p:txBody>
          <a:bodyPr wrap="square">
            <a:spAutoFit/>
          </a:bodyPr>
          <a:lstStyle/>
          <a:p>
            <a:pPr marL="0" marR="0" lvl="0" indent="0" algn="l" defTabSz="914400" rtl="0" eaLnBrk="1" fontAlgn="auto" latinLnBrk="0" hangingPunct="1">
              <a:lnSpc>
                <a:spcPct val="100000"/>
              </a:lnSpc>
              <a:spcBef>
                <a:spcPts val="800"/>
              </a:spcBef>
              <a:spcAft>
                <a:spcPts val="0"/>
              </a:spcAft>
              <a:buClrTx/>
              <a:buSzTx/>
              <a:buFontTx/>
              <a:buNone/>
              <a:tabLst/>
              <a:defRPr/>
            </a:pPr>
            <a:r>
              <a:rPr kumimoji="0" sz="2000" b="1" i="0" u="none" strike="noStrike" kern="1200" cap="none" spc="0" normalizeH="0" baseline="0" noProof="0" dirty="0">
                <a:ln>
                  <a:noFill/>
                </a:ln>
                <a:solidFill>
                  <a:srgbClr val="000000"/>
                </a:solidFill>
                <a:effectLst/>
                <a:uLnTx/>
                <a:uFillTx/>
                <a:latin typeface="Calibri"/>
                <a:ea typeface="+mn-ea"/>
                <a:cs typeface="+mn-cs"/>
              </a:rPr>
              <a:t>Core idea of factor analysis: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sz="2000" b="0" i="0" u="none" strike="noStrike" kern="1200" cap="none" spc="0" normalizeH="0" baseline="0" noProof="0" dirty="0">
                <a:ln>
                  <a:noFill/>
                </a:ln>
                <a:solidFill>
                  <a:srgbClr val="323232"/>
                </a:solidFill>
                <a:effectLst/>
                <a:uLnTx/>
                <a:uFillTx/>
                <a:latin typeface="Calibri"/>
                <a:ea typeface="+mn-ea"/>
                <a:cs typeface="+mn-cs"/>
              </a:rPr>
              <a:t>We assume there is a HIDDEN (latent) variable that is the real cause of why several observed items correlate with each other.</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sz="2000" b="0" i="0" u="none" strike="noStrike" kern="1200" cap="none" spc="0" normalizeH="0" baseline="0" noProof="0" dirty="0">
              <a:ln>
                <a:noFill/>
              </a:ln>
              <a:solidFill>
                <a:srgbClr val="323232"/>
              </a:solidFill>
              <a:effectLst/>
              <a:uLnTx/>
              <a:uFillTx/>
              <a:latin typeface="Calibri"/>
              <a:ea typeface="+mn-ea"/>
              <a:cs typeface="+mn-cs"/>
            </a:endParaRPr>
          </a:p>
          <a:p>
            <a:pPr marL="0" marR="0" lvl="0" indent="0" algn="l" defTabSz="914400" rtl="0" eaLnBrk="1" fontAlgn="auto" latinLnBrk="0" hangingPunct="1">
              <a:lnSpc>
                <a:spcPct val="100000"/>
              </a:lnSpc>
              <a:spcBef>
                <a:spcPts val="600"/>
              </a:spcBef>
              <a:spcAft>
                <a:spcPts val="0"/>
              </a:spcAft>
              <a:buClrTx/>
              <a:buSzTx/>
              <a:buFontTx/>
              <a:buNone/>
              <a:tabLst/>
              <a:defRPr/>
            </a:pPr>
            <a:r>
              <a:rPr kumimoji="0" sz="2000" b="1" i="0" u="none" strike="noStrike" kern="1200" cap="none" spc="0" normalizeH="0" baseline="0" noProof="0" dirty="0">
                <a:ln>
                  <a:noFill/>
                </a:ln>
                <a:solidFill>
                  <a:srgbClr val="1F497D"/>
                </a:solidFill>
                <a:effectLst/>
                <a:uLnTx/>
                <a:uFillTx/>
                <a:latin typeface="Calibri"/>
                <a:ea typeface="+mn-ea"/>
                <a:cs typeface="+mn-cs"/>
              </a:rPr>
              <a:t>CLASSIC EXAMPLE: Intelligence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sz="2000" b="0" i="0" u="none" strike="noStrike" kern="1200" cap="none" spc="0" normalizeH="0" baseline="0" noProof="0" dirty="0">
                <a:ln>
                  <a:noFill/>
                </a:ln>
                <a:solidFill>
                  <a:srgbClr val="323232"/>
                </a:solidFill>
                <a:effectLst/>
                <a:uLnTx/>
                <a:uFillTx/>
                <a:latin typeface="Calibri"/>
                <a:ea typeface="+mn-ea"/>
                <a:cs typeface="+mn-cs"/>
              </a:rPr>
              <a:t>Students who score high on a math test also tend to score high on a verbal test, a spatial reasoning test, and a logic test. Why?</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sz="2000" b="0" i="0" u="none" strike="noStrike" kern="1200" cap="none" spc="0" normalizeH="0" baseline="0" noProof="0" dirty="0">
              <a:ln>
                <a:noFill/>
              </a:ln>
              <a:solidFill>
                <a:srgbClr val="323232"/>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2000" b="0" i="0" u="none" strike="noStrike" kern="1200" cap="none" spc="0" normalizeH="0" baseline="0" noProof="0" dirty="0">
                <a:ln>
                  <a:noFill/>
                </a:ln>
                <a:solidFill>
                  <a:srgbClr val="323232"/>
                </a:solidFill>
                <a:effectLst/>
                <a:uLnTx/>
                <a:uFillTx/>
                <a:latin typeface="Calibri"/>
                <a:ea typeface="+mn-ea"/>
                <a:cs typeface="+mn-cs"/>
              </a:rPr>
              <a:t>Factor analysis says: these tests correlate because they all tap into an underlying 'g' factor (general intelligence). 'g' is not directly observed — it's inferred from the pattern of correlations.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sz="2000" b="0" i="0" u="none" strike="noStrike" kern="1200" cap="none" spc="0" normalizeH="0" baseline="0" noProof="0" dirty="0">
              <a:ln>
                <a:noFill/>
              </a:ln>
              <a:solidFill>
                <a:srgbClr val="323232"/>
              </a:solidFill>
              <a:effectLst/>
              <a:uLnTx/>
              <a:uFillTx/>
              <a:latin typeface="Calibri"/>
              <a:ea typeface="+mn-ea"/>
              <a:cs typeface="+mn-cs"/>
            </a:endParaRPr>
          </a:p>
          <a:p>
            <a:pPr marL="0" marR="0" lvl="0" indent="0" algn="l" defTabSz="914400" rtl="0" eaLnBrk="1" fontAlgn="auto" latinLnBrk="0" hangingPunct="1">
              <a:lnSpc>
                <a:spcPct val="100000"/>
              </a:lnSpc>
              <a:spcBef>
                <a:spcPts val="400"/>
              </a:spcBef>
              <a:spcAft>
                <a:spcPts val="0"/>
              </a:spcAft>
              <a:buClrTx/>
              <a:buSzTx/>
              <a:buFontTx/>
              <a:buNone/>
              <a:tabLst/>
              <a:defRPr/>
            </a:pPr>
            <a:r>
              <a:rPr kumimoji="0" sz="2000" b="1" i="0" u="none" strike="noStrike" kern="1200" cap="none" spc="0" normalizeH="0" baseline="0" noProof="0" dirty="0">
                <a:ln>
                  <a:noFill/>
                </a:ln>
                <a:solidFill>
                  <a:srgbClr val="000000"/>
                </a:solidFill>
                <a:effectLst/>
                <a:uLnTx/>
                <a:uFillTx/>
                <a:latin typeface="Calibri"/>
                <a:ea typeface="+mn-ea"/>
                <a:cs typeface="+mn-cs"/>
              </a:rPr>
              <a:t>The factor model:</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sz="2000" b="0" i="0" u="none" strike="noStrike" kern="1200" cap="none" spc="0" normalizeH="0" baseline="0" noProof="0" dirty="0">
                <a:ln>
                  <a:noFill/>
                </a:ln>
                <a:solidFill>
                  <a:srgbClr val="323232"/>
                </a:solidFill>
                <a:effectLst/>
                <a:uLnTx/>
                <a:uFillTx/>
                <a:latin typeface="Calibri"/>
                <a:ea typeface="+mn-ea"/>
                <a:cs typeface="+mn-cs"/>
              </a:rPr>
              <a:t>Score on Math Test = (loading × g-factor) + unique error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sz="2000" b="0" i="0" u="none" strike="noStrike" kern="1200" cap="none" spc="0" normalizeH="0" baseline="0" noProof="0" dirty="0">
                <a:ln>
                  <a:noFill/>
                </a:ln>
                <a:solidFill>
                  <a:srgbClr val="323232"/>
                </a:solidFill>
                <a:effectLst/>
                <a:uLnTx/>
                <a:uFillTx/>
                <a:latin typeface="Calibri"/>
                <a:ea typeface="+mn-ea"/>
                <a:cs typeface="+mn-cs"/>
              </a:rPr>
              <a:t>Score on Verbal Test = (loading × g-factor) + unique error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sz="2000" b="0" i="0" u="none" strike="noStrike" kern="1200" cap="none" spc="0" normalizeH="0" baseline="0" noProof="0" dirty="0">
                <a:ln>
                  <a:noFill/>
                </a:ln>
                <a:solidFill>
                  <a:srgbClr val="323232"/>
                </a:solidFill>
                <a:effectLst/>
                <a:uLnTx/>
                <a:uFillTx/>
                <a:latin typeface="Calibri"/>
                <a:ea typeface="+mn-ea"/>
                <a:cs typeface="+mn-cs"/>
              </a:rPr>
              <a:t>Score on Logic Test = (loading × g-factor) + unique error</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sz="2000" b="0" i="0" u="none" strike="noStrike" kern="1200" cap="none" spc="0" normalizeH="0" baseline="0" noProof="0" dirty="0">
              <a:ln>
                <a:noFill/>
              </a:ln>
              <a:solidFill>
                <a:srgbClr val="323232"/>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2000" b="0" i="0" u="none" strike="noStrike" kern="1200" cap="none" spc="0" normalizeH="0" baseline="0" noProof="0" dirty="0">
                <a:ln>
                  <a:noFill/>
                </a:ln>
                <a:solidFill>
                  <a:srgbClr val="323232"/>
                </a:solidFill>
                <a:effectLst/>
                <a:uLnTx/>
                <a:uFillTx/>
                <a:latin typeface="Calibri"/>
                <a:ea typeface="+mn-ea"/>
                <a:cs typeface="+mn-cs"/>
              </a:rPr>
              <a:t>The 'loading' tells you how strongly each test reflects the underlying factor. Higher loading = better indicator.</a:t>
            </a:r>
          </a:p>
        </p:txBody>
      </p:sp>
    </p:spTree>
    <p:extLst>
      <p:ext uri="{BB962C8B-B14F-4D97-AF65-F5344CB8AC3E}">
        <p14:creationId xmlns:p14="http://schemas.microsoft.com/office/powerpoint/2010/main" val="6864816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28AE3CF7-8A41-361A-0F7E-B31B4C8526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508435-016E-F82C-F311-8B194C3A0B00}"/>
              </a:ext>
            </a:extLst>
          </p:cNvPr>
          <p:cNvSpPr>
            <a:spLocks noGrp="1"/>
          </p:cNvSpPr>
          <p:nvPr>
            <p:ph type="title"/>
          </p:nvPr>
        </p:nvSpPr>
        <p:spPr/>
        <p:txBody>
          <a:bodyPr/>
          <a:lstStyle/>
          <a:p>
            <a:pPr algn="l"/>
            <a:r>
              <a:rPr lang="en-US" dirty="0">
                <a:solidFill>
                  <a:srgbClr val="000000"/>
                </a:solidFill>
                <a:latin typeface="Calibri"/>
              </a:rPr>
              <a:t>Exploratory Factor Analysis Specification Conditions &amp; Decisions</a:t>
            </a:r>
          </a:p>
        </p:txBody>
      </p:sp>
      <p:pic>
        <p:nvPicPr>
          <p:cNvPr id="4" name="Picture 2">
            <a:extLst>
              <a:ext uri="{FF2B5EF4-FFF2-40B4-BE49-F238E27FC236}">
                <a16:creationId xmlns:a16="http://schemas.microsoft.com/office/drawing/2014/main" id="{01C94A22-1365-2D92-FB4C-9D822178E70F}"/>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2112565" y="2294373"/>
            <a:ext cx="7561207" cy="3629380"/>
          </a:xfrm>
          <a:prstGeom prst="rect">
            <a:avLst/>
          </a:prstGeom>
          <a:noFill/>
          <a:effectLst/>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C8C69AD4-3C0C-B072-32FF-0B1111A93B5E}"/>
              </a:ext>
            </a:extLst>
          </p:cNvPr>
          <p:cNvSpPr/>
          <p:nvPr/>
        </p:nvSpPr>
        <p:spPr>
          <a:xfrm>
            <a:off x="365760" y="228600"/>
            <a:ext cx="8412480" cy="0"/>
          </a:xfrm>
          <a:prstGeom prst="rect">
            <a:avLst/>
          </a:prstGeom>
          <a:noFill/>
          <a:ln w="19050">
            <a:solidFill>
              <a:srgbClr val="B4B4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Calisto MT"/>
              <a:ea typeface="+mn-ea"/>
              <a:cs typeface="+mn-cs"/>
            </a:endParaRPr>
          </a:p>
        </p:txBody>
      </p:sp>
    </p:spTree>
    <p:extLst>
      <p:ext uri="{BB962C8B-B14F-4D97-AF65-F5344CB8AC3E}">
        <p14:creationId xmlns:p14="http://schemas.microsoft.com/office/powerpoint/2010/main" val="29918694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CB71325B-EF9E-CD46-C443-DC65E236D86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7D90500-1D44-F750-48D7-5251D133C46A}"/>
              </a:ext>
            </a:extLst>
          </p:cNvPr>
          <p:cNvSpPr txBox="1"/>
          <p:nvPr/>
        </p:nvSpPr>
        <p:spPr>
          <a:xfrm>
            <a:off x="710144" y="86375"/>
            <a:ext cx="8412480"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3600" b="0" i="0" u="none" strike="noStrike" kern="1200" cap="none" spc="0" normalizeH="0" baseline="0" noProof="0" dirty="0">
                <a:ln>
                  <a:noFill/>
                </a:ln>
                <a:solidFill>
                  <a:srgbClr val="000000"/>
                </a:solidFill>
                <a:effectLst/>
                <a:uLnTx/>
                <a:uFillTx/>
                <a:latin typeface="Calibri"/>
                <a:ea typeface="+mn-ea"/>
                <a:cs typeface="+mn-cs"/>
              </a:rPr>
              <a:t>EFA: Key Decisions You Must Make</a:t>
            </a:r>
          </a:p>
        </p:txBody>
      </p:sp>
      <p:sp>
        <p:nvSpPr>
          <p:cNvPr id="6" name="TextBox 5">
            <a:extLst>
              <a:ext uri="{FF2B5EF4-FFF2-40B4-BE49-F238E27FC236}">
                <a16:creationId xmlns:a16="http://schemas.microsoft.com/office/drawing/2014/main" id="{3640113E-AE28-B404-22CA-AA2492C21B51}"/>
              </a:ext>
            </a:extLst>
          </p:cNvPr>
          <p:cNvSpPr txBox="1"/>
          <p:nvPr/>
        </p:nvSpPr>
        <p:spPr>
          <a:xfrm>
            <a:off x="710144" y="732706"/>
            <a:ext cx="10844547" cy="5555367"/>
          </a:xfrm>
          <a:prstGeom prst="rect">
            <a:avLst/>
          </a:prstGeom>
          <a:noFill/>
        </p:spPr>
        <p:txBody>
          <a:bodyPr wrap="square">
            <a:spAutoFit/>
          </a:bodyPr>
          <a:lstStyle/>
          <a:p>
            <a:pPr marL="0" marR="0" lvl="0" indent="0" algn="l" defTabSz="914400" rtl="0" eaLnBrk="1" fontAlgn="auto" latinLnBrk="0" hangingPunct="1">
              <a:lnSpc>
                <a:spcPct val="100000"/>
              </a:lnSpc>
              <a:spcBef>
                <a:spcPts val="800"/>
              </a:spcBef>
              <a:spcAft>
                <a:spcPts val="0"/>
              </a:spcAft>
              <a:buClrTx/>
              <a:buSzTx/>
              <a:buFontTx/>
              <a:buNone/>
              <a:tabLst/>
              <a:defRPr/>
            </a:pPr>
            <a:r>
              <a:rPr kumimoji="0" sz="2000" b="1" i="0" u="none" strike="noStrike" kern="1200" cap="none" spc="0" normalizeH="0" baseline="0" noProof="0" dirty="0">
                <a:ln>
                  <a:noFill/>
                </a:ln>
                <a:solidFill>
                  <a:srgbClr val="000000"/>
                </a:solidFill>
                <a:effectLst/>
                <a:uLnTx/>
                <a:uFillTx/>
                <a:latin typeface="Calibri"/>
                <a:ea typeface="+mn-ea"/>
                <a:cs typeface="+mn-cs"/>
              </a:rPr>
              <a:t>1. How many factors to retain?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sz="2000" b="0" i="0" u="none" strike="noStrike" kern="1200" cap="none" spc="0" normalizeH="0" baseline="0" noProof="0" dirty="0">
                <a:ln>
                  <a:noFill/>
                </a:ln>
                <a:solidFill>
                  <a:srgbClr val="323232"/>
                </a:solidFill>
                <a:effectLst/>
                <a:uLnTx/>
                <a:uFillTx/>
                <a:latin typeface="Calibri"/>
                <a:ea typeface="+mn-ea"/>
                <a:cs typeface="+mn-cs"/>
              </a:rPr>
              <a:t>•  Scree plot: plot eigenvalues, look for the 'elbow' — retain factors before the bend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sz="2000" b="0" i="0" u="none" strike="noStrike" kern="1200" cap="none" spc="0" normalizeH="0" baseline="0" noProof="0" dirty="0">
                <a:ln>
                  <a:noFill/>
                </a:ln>
                <a:solidFill>
                  <a:srgbClr val="323232"/>
                </a:solidFill>
                <a:effectLst/>
                <a:uLnTx/>
                <a:uFillTx/>
                <a:latin typeface="Calibri"/>
                <a:ea typeface="+mn-ea"/>
                <a:cs typeface="+mn-cs"/>
              </a:rPr>
              <a:t>•  Kaiser criterion: retain factors with eigenvalue &gt; 1 (rule of thumb, often retains too many)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sz="2000" b="0" i="0" u="none" strike="noStrike" kern="1200" cap="none" spc="0" normalizeH="0" baseline="0" noProof="0" dirty="0">
                <a:ln>
                  <a:noFill/>
                </a:ln>
                <a:solidFill>
                  <a:srgbClr val="323232"/>
                </a:solidFill>
                <a:effectLst/>
                <a:uLnTx/>
                <a:uFillTx/>
                <a:latin typeface="Calibri"/>
                <a:ea typeface="+mn-ea"/>
                <a:cs typeface="+mn-cs"/>
              </a:rPr>
              <a:t>•  Parallel analysis: compare your eigenvalues to those from random data — gold standard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sz="2000" b="0" i="0" u="none" strike="noStrike" kern="1200" cap="none" spc="0" normalizeH="0" baseline="0" noProof="0" dirty="0">
                <a:ln>
                  <a:noFill/>
                </a:ln>
                <a:solidFill>
                  <a:srgbClr val="323232"/>
                </a:solidFill>
                <a:effectLst/>
                <a:uLnTx/>
                <a:uFillTx/>
                <a:latin typeface="Calibri"/>
                <a:ea typeface="+mn-ea"/>
                <a:cs typeface="+mn-cs"/>
              </a:rPr>
              <a:t>•  Theory: how many factors make substantive sense given what you know?</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sz="2000" b="0" i="0" u="none" strike="noStrike" kern="1200" cap="none" spc="0" normalizeH="0" baseline="0" noProof="0" dirty="0">
              <a:ln>
                <a:noFill/>
              </a:ln>
              <a:solidFill>
                <a:srgbClr val="323232"/>
              </a:solidFill>
              <a:effectLst/>
              <a:uLnTx/>
              <a:uFillTx/>
              <a:latin typeface="Calibri"/>
              <a:ea typeface="+mn-ea"/>
              <a:cs typeface="+mn-cs"/>
            </a:endParaRPr>
          </a:p>
          <a:p>
            <a:pPr marL="0" marR="0" lvl="0" indent="0" algn="l" defTabSz="914400" rtl="0" eaLnBrk="1" fontAlgn="auto" latinLnBrk="0" hangingPunct="1">
              <a:lnSpc>
                <a:spcPct val="100000"/>
              </a:lnSpc>
              <a:spcBef>
                <a:spcPts val="600"/>
              </a:spcBef>
              <a:spcAft>
                <a:spcPts val="0"/>
              </a:spcAft>
              <a:buClrTx/>
              <a:buSzTx/>
              <a:buFontTx/>
              <a:buNone/>
              <a:tabLst/>
              <a:defRPr/>
            </a:pPr>
            <a:r>
              <a:rPr kumimoji="0" sz="2000" b="1" i="0" u="none" strike="noStrike" kern="1200" cap="none" spc="0" normalizeH="0" baseline="0" noProof="0" dirty="0">
                <a:ln>
                  <a:noFill/>
                </a:ln>
                <a:solidFill>
                  <a:srgbClr val="000000"/>
                </a:solidFill>
                <a:effectLst/>
                <a:uLnTx/>
                <a:uFillTx/>
                <a:latin typeface="Calibri"/>
                <a:ea typeface="+mn-ea"/>
                <a:cs typeface="+mn-cs"/>
              </a:rPr>
              <a:t>2. Which extraction method?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sz="2000" b="0" i="0" u="none" strike="noStrike" kern="1200" cap="none" spc="0" normalizeH="0" baseline="0" noProof="0" dirty="0">
                <a:ln>
                  <a:noFill/>
                </a:ln>
                <a:solidFill>
                  <a:srgbClr val="323232"/>
                </a:solidFill>
                <a:effectLst/>
                <a:uLnTx/>
                <a:uFillTx/>
                <a:latin typeface="Calibri"/>
                <a:ea typeface="+mn-ea"/>
                <a:cs typeface="+mn-cs"/>
              </a:rPr>
              <a:t>•  Maximum Likelihood (ML): best if data are normally distributed, gives fit statistics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sz="2000" b="0" i="0" u="none" strike="noStrike" kern="1200" cap="none" spc="0" normalizeH="0" baseline="0" noProof="0" dirty="0">
                <a:ln>
                  <a:noFill/>
                </a:ln>
                <a:solidFill>
                  <a:srgbClr val="323232"/>
                </a:solidFill>
                <a:effectLst/>
                <a:uLnTx/>
                <a:uFillTx/>
                <a:latin typeface="Calibri"/>
                <a:ea typeface="+mn-ea"/>
                <a:cs typeface="+mn-cs"/>
              </a:rPr>
              <a:t>•  Principal Axis Factoring (PAF): more robust if normality is questionable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sz="2000" b="0" i="0" u="none" strike="noStrike" kern="1200" cap="none" spc="0" normalizeH="0" baseline="0" noProof="0" dirty="0">
              <a:ln>
                <a:noFill/>
              </a:ln>
              <a:solidFill>
                <a:srgbClr val="323232"/>
              </a:solidFill>
              <a:effectLst/>
              <a:uLnTx/>
              <a:uFillTx/>
              <a:latin typeface="Calibri"/>
              <a:ea typeface="+mn-ea"/>
              <a:cs typeface="+mn-cs"/>
            </a:endParaRPr>
          </a:p>
          <a:p>
            <a:pPr marL="0" marR="0" lvl="0" indent="0" algn="l" defTabSz="914400" rtl="0" eaLnBrk="1" fontAlgn="auto" latinLnBrk="0" hangingPunct="1">
              <a:lnSpc>
                <a:spcPct val="100000"/>
              </a:lnSpc>
              <a:spcBef>
                <a:spcPts val="600"/>
              </a:spcBef>
              <a:spcAft>
                <a:spcPts val="0"/>
              </a:spcAft>
              <a:buClrTx/>
              <a:buSzTx/>
              <a:buFontTx/>
              <a:buNone/>
              <a:tabLst/>
              <a:defRPr/>
            </a:pPr>
            <a:r>
              <a:rPr kumimoji="0" sz="2000" b="1" i="0" u="none" strike="noStrike" kern="1200" cap="none" spc="0" normalizeH="0" baseline="0" noProof="0" dirty="0">
                <a:ln>
                  <a:noFill/>
                </a:ln>
                <a:solidFill>
                  <a:srgbClr val="000000"/>
                </a:solidFill>
                <a:effectLst/>
                <a:uLnTx/>
                <a:uFillTx/>
                <a:latin typeface="Calibri"/>
                <a:ea typeface="+mn-ea"/>
                <a:cs typeface="+mn-cs"/>
              </a:rPr>
              <a:t>3. Which rotation method?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sz="2000" b="0" i="0" u="none" strike="noStrike" kern="1200" cap="none" spc="0" normalizeH="0" baseline="0" noProof="0" dirty="0">
                <a:ln>
                  <a:noFill/>
                </a:ln>
                <a:solidFill>
                  <a:srgbClr val="323232"/>
                </a:solidFill>
                <a:effectLst/>
                <a:uLnTx/>
                <a:uFillTx/>
                <a:latin typeface="Calibri"/>
                <a:ea typeface="+mn-ea"/>
                <a:cs typeface="+mn-cs"/>
              </a:rPr>
              <a:t>•  Orthogonal (e.g., Varimax): assumes factors are UNCORRELATED — rarely true in social science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sz="2000" b="0" i="0" u="none" strike="noStrike" kern="1200" cap="none" spc="0" normalizeH="0" baseline="0" noProof="0" dirty="0">
                <a:ln>
                  <a:noFill/>
                </a:ln>
                <a:solidFill>
                  <a:srgbClr val="323232"/>
                </a:solidFill>
                <a:effectLst/>
                <a:uLnTx/>
                <a:uFillTx/>
                <a:latin typeface="Calibri"/>
                <a:ea typeface="+mn-ea"/>
                <a:cs typeface="+mn-cs"/>
              </a:rPr>
              <a:t>•  Oblique (e.g., </a:t>
            </a:r>
            <a:r>
              <a:rPr kumimoji="0" sz="2000" b="0" i="0" u="none" strike="noStrike" kern="1200" cap="none" spc="0" normalizeH="0" baseline="0" noProof="0" dirty="0" err="1">
                <a:ln>
                  <a:noFill/>
                </a:ln>
                <a:solidFill>
                  <a:srgbClr val="323232"/>
                </a:solidFill>
                <a:effectLst/>
                <a:uLnTx/>
                <a:uFillTx/>
                <a:latin typeface="Calibri"/>
                <a:ea typeface="+mn-ea"/>
                <a:cs typeface="+mn-cs"/>
              </a:rPr>
              <a:t>Oblimin</a:t>
            </a:r>
            <a:r>
              <a:rPr kumimoji="0" sz="2000" b="0" i="0" u="none" strike="noStrike" kern="1200" cap="none" spc="0" normalizeH="0" baseline="0" noProof="0" dirty="0">
                <a:ln>
                  <a:noFill/>
                </a:ln>
                <a:solidFill>
                  <a:srgbClr val="323232"/>
                </a:solidFill>
                <a:effectLst/>
                <a:uLnTx/>
                <a:uFillTx/>
                <a:latin typeface="Calibri"/>
                <a:ea typeface="+mn-ea"/>
                <a:cs typeface="+mn-cs"/>
              </a:rPr>
              <a:t>, Promax): allows factors to correlate — usually preferred</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sz="2000" b="0" i="0" u="none" strike="noStrike" kern="1200" cap="none" spc="0" normalizeH="0" baseline="0" noProof="0" dirty="0">
              <a:ln>
                <a:noFill/>
              </a:ln>
              <a:solidFill>
                <a:srgbClr val="323232"/>
              </a:solidFill>
              <a:effectLst/>
              <a:uLnTx/>
              <a:uFillTx/>
              <a:latin typeface="Calibri"/>
              <a:ea typeface="+mn-ea"/>
              <a:cs typeface="+mn-cs"/>
            </a:endParaRPr>
          </a:p>
          <a:p>
            <a:pPr marL="0" marR="0" lvl="0" indent="0" algn="l" defTabSz="914400" rtl="0" eaLnBrk="1" fontAlgn="auto" latinLnBrk="0" hangingPunct="1">
              <a:lnSpc>
                <a:spcPct val="100000"/>
              </a:lnSpc>
              <a:spcBef>
                <a:spcPts val="600"/>
              </a:spcBef>
              <a:spcAft>
                <a:spcPts val="0"/>
              </a:spcAft>
              <a:buClrTx/>
              <a:buSzTx/>
              <a:buFontTx/>
              <a:buNone/>
              <a:tabLst/>
              <a:defRPr/>
            </a:pPr>
            <a:r>
              <a:rPr kumimoji="0" sz="2000" b="1" i="0" u="none" strike="noStrike" kern="1200" cap="none" spc="0" normalizeH="0" baseline="0" noProof="0" dirty="0">
                <a:ln>
                  <a:noFill/>
                </a:ln>
                <a:solidFill>
                  <a:srgbClr val="1F497D"/>
                </a:solidFill>
                <a:effectLst/>
                <a:uLnTx/>
                <a:uFillTx/>
                <a:latin typeface="Calibri"/>
                <a:ea typeface="+mn-ea"/>
                <a:cs typeface="+mn-cs"/>
              </a:rPr>
              <a:t>PRACTICAL ADVICE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sz="2000" b="0" i="0" u="none" strike="noStrike" kern="1200" cap="none" spc="0" normalizeH="0" baseline="0" noProof="0" dirty="0">
                <a:ln>
                  <a:noFill/>
                </a:ln>
                <a:solidFill>
                  <a:srgbClr val="323232"/>
                </a:solidFill>
                <a:effectLst/>
                <a:uLnTx/>
                <a:uFillTx/>
                <a:latin typeface="Calibri"/>
                <a:ea typeface="+mn-ea"/>
                <a:cs typeface="+mn-cs"/>
              </a:rPr>
              <a:t>In social/behavioral science, factors almost always correlate (anxiety and depression co-occur). Use oblique rotation unless you have strong theoretical reasons to assume independence.</a:t>
            </a:r>
          </a:p>
        </p:txBody>
      </p:sp>
    </p:spTree>
    <p:extLst>
      <p:ext uri="{BB962C8B-B14F-4D97-AF65-F5344CB8AC3E}">
        <p14:creationId xmlns:p14="http://schemas.microsoft.com/office/powerpoint/2010/main" val="6354841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A636F52A-20B1-3D4A-B2F3-273068CBC68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45493751-8151-638F-8C9D-701AD2C2C579}"/>
              </a:ext>
            </a:extLst>
          </p:cNvPr>
          <p:cNvSpPr txBox="1"/>
          <p:nvPr/>
        </p:nvSpPr>
        <p:spPr>
          <a:xfrm>
            <a:off x="365760" y="256032"/>
            <a:ext cx="8412480" cy="54864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2400" b="0" i="0" u="none" strike="noStrike" kern="1200" cap="none" spc="0" normalizeH="0" baseline="0" noProof="0">
                <a:ln>
                  <a:noFill/>
                </a:ln>
                <a:solidFill>
                  <a:srgbClr val="000000"/>
                </a:solidFill>
                <a:effectLst/>
                <a:uLnTx/>
                <a:uFillTx/>
                <a:latin typeface="Calibri"/>
                <a:ea typeface="+mn-ea"/>
                <a:cs typeface="+mn-cs"/>
              </a:rPr>
              <a:t>EFA: What Does a Factor Loading Table Look Like?</a:t>
            </a:r>
          </a:p>
        </p:txBody>
      </p:sp>
      <p:sp>
        <p:nvSpPr>
          <p:cNvPr id="6" name="TextBox 5">
            <a:extLst>
              <a:ext uri="{FF2B5EF4-FFF2-40B4-BE49-F238E27FC236}">
                <a16:creationId xmlns:a16="http://schemas.microsoft.com/office/drawing/2014/main" id="{8163358C-B2AD-B382-2ABC-53AAF7DF41FC}"/>
              </a:ext>
            </a:extLst>
          </p:cNvPr>
          <p:cNvSpPr txBox="1"/>
          <p:nvPr/>
        </p:nvSpPr>
        <p:spPr>
          <a:xfrm>
            <a:off x="533832" y="804672"/>
            <a:ext cx="10997107" cy="5934958"/>
          </a:xfrm>
          <a:prstGeom prst="rect">
            <a:avLst/>
          </a:prstGeom>
          <a:noFill/>
        </p:spPr>
        <p:txBody>
          <a:bodyPr wrap="square">
            <a:spAutoFit/>
          </a:bodyPr>
          <a:lstStyle/>
          <a:p>
            <a:pPr marL="0" marR="0" lvl="0" indent="0" algn="l" defTabSz="914400" rtl="0" eaLnBrk="1" fontAlgn="auto" latinLnBrk="0" hangingPunct="1">
              <a:lnSpc>
                <a:spcPct val="100000"/>
              </a:lnSpc>
              <a:spcBef>
                <a:spcPts val="800"/>
              </a:spcBef>
              <a:spcAft>
                <a:spcPts val="0"/>
              </a:spcAft>
              <a:buClrTx/>
              <a:buSzTx/>
              <a:buFontTx/>
              <a:buNone/>
              <a:tabLst/>
              <a:defRPr/>
            </a:pPr>
            <a:r>
              <a:rPr kumimoji="0" sz="2000" b="1" i="0" u="none" strike="noStrike" kern="1200" cap="none" spc="0" normalizeH="0" baseline="0" noProof="0" dirty="0">
                <a:ln>
                  <a:noFill/>
                </a:ln>
                <a:solidFill>
                  <a:srgbClr val="000000"/>
                </a:solidFill>
                <a:effectLst/>
                <a:uLnTx/>
                <a:uFillTx/>
                <a:latin typeface="Calibri"/>
                <a:ea typeface="+mn-ea"/>
                <a:cs typeface="+mn-cs"/>
              </a:rPr>
              <a:t>Example: 8-item stress questionnaire, 2-factor oblique EFA</a:t>
            </a:r>
            <a:endParaRPr kumimoji="0" lang="en-US" sz="2000" b="1" i="0" u="none" strike="noStrike" kern="1200" cap="none" spc="0" normalizeH="0" baseline="0" noProof="0" dirty="0">
              <a:ln>
                <a:noFill/>
              </a:ln>
              <a:solidFill>
                <a:srgbClr val="000000"/>
              </a:solidFill>
              <a:effectLst/>
              <a:uLnTx/>
              <a:uFillTx/>
              <a:latin typeface="Calibri"/>
              <a:ea typeface="+mn-ea"/>
              <a:cs typeface="+mn-cs"/>
            </a:endParaRPr>
          </a:p>
          <a:p>
            <a:pPr marL="0" marR="0" lvl="0" indent="0" algn="l" defTabSz="914400" rtl="0" eaLnBrk="1" fontAlgn="auto" latinLnBrk="0" hangingPunct="1">
              <a:lnSpc>
                <a:spcPct val="100000"/>
              </a:lnSpc>
              <a:spcBef>
                <a:spcPts val="800"/>
              </a:spcBef>
              <a:spcAft>
                <a:spcPts val="0"/>
              </a:spcAft>
              <a:buClrTx/>
              <a:buSzTx/>
              <a:buFontTx/>
              <a:buNone/>
              <a:tabLst/>
              <a:defRPr/>
            </a:pPr>
            <a:endParaRPr lang="en-US" sz="1700" b="1" dirty="0">
              <a:solidFill>
                <a:srgbClr val="000000"/>
              </a:solidFill>
              <a:latin typeface="Calibri"/>
            </a:endParaRPr>
          </a:p>
          <a:p>
            <a:pPr marL="0" marR="0" lvl="0" indent="0" algn="l" defTabSz="914400" rtl="0" eaLnBrk="1" fontAlgn="auto" latinLnBrk="0" hangingPunct="1">
              <a:lnSpc>
                <a:spcPct val="100000"/>
              </a:lnSpc>
              <a:spcBef>
                <a:spcPts val="800"/>
              </a:spcBef>
              <a:spcAft>
                <a:spcPts val="0"/>
              </a:spcAft>
              <a:buClrTx/>
              <a:buSzTx/>
              <a:buFontTx/>
              <a:buNone/>
              <a:tabLst/>
              <a:defRPr/>
            </a:pPr>
            <a:endParaRPr kumimoji="0" lang="en-US" sz="1700" b="1" i="0" u="none" strike="noStrike" kern="1200" cap="none" spc="0" normalizeH="0" baseline="0" noProof="0" dirty="0">
              <a:ln>
                <a:noFill/>
              </a:ln>
              <a:solidFill>
                <a:srgbClr val="000000"/>
              </a:solidFill>
              <a:effectLst/>
              <a:uLnTx/>
              <a:uFillTx/>
              <a:latin typeface="Calibri"/>
              <a:ea typeface="+mn-ea"/>
              <a:cs typeface="+mn-cs"/>
            </a:endParaRPr>
          </a:p>
          <a:p>
            <a:pPr marL="0" marR="0" lvl="0" indent="0" algn="l" defTabSz="914400" rtl="0" eaLnBrk="1" fontAlgn="auto" latinLnBrk="0" hangingPunct="1">
              <a:lnSpc>
                <a:spcPct val="100000"/>
              </a:lnSpc>
              <a:spcBef>
                <a:spcPts val="800"/>
              </a:spcBef>
              <a:spcAft>
                <a:spcPts val="0"/>
              </a:spcAft>
              <a:buClrTx/>
              <a:buSzTx/>
              <a:buFontTx/>
              <a:buNone/>
              <a:tabLst/>
              <a:defRPr/>
            </a:pPr>
            <a:endParaRPr lang="en-US" sz="1700" b="1" dirty="0">
              <a:solidFill>
                <a:srgbClr val="000000"/>
              </a:solidFill>
              <a:latin typeface="Calibri"/>
            </a:endParaRPr>
          </a:p>
          <a:p>
            <a:pPr marL="0" marR="0" lvl="0" indent="0" algn="l" defTabSz="914400" rtl="0" eaLnBrk="1" fontAlgn="auto" latinLnBrk="0" hangingPunct="1">
              <a:lnSpc>
                <a:spcPct val="100000"/>
              </a:lnSpc>
              <a:spcBef>
                <a:spcPts val="800"/>
              </a:spcBef>
              <a:spcAft>
                <a:spcPts val="0"/>
              </a:spcAft>
              <a:buClrTx/>
              <a:buSzTx/>
              <a:buFontTx/>
              <a:buNone/>
              <a:tabLst/>
              <a:defRPr/>
            </a:pPr>
            <a:endParaRPr kumimoji="0" lang="en-US" sz="1700" b="1" i="0" u="none" strike="noStrike" kern="1200" cap="none" spc="0" normalizeH="0" baseline="0" noProof="0" dirty="0">
              <a:ln>
                <a:noFill/>
              </a:ln>
              <a:solidFill>
                <a:srgbClr val="000000"/>
              </a:solidFill>
              <a:effectLst/>
              <a:uLnTx/>
              <a:uFillTx/>
              <a:latin typeface="Calibri"/>
              <a:ea typeface="+mn-ea"/>
              <a:cs typeface="+mn-cs"/>
            </a:endParaRPr>
          </a:p>
          <a:p>
            <a:pPr marL="0" marR="0" lvl="0" indent="0" algn="l" defTabSz="914400" rtl="0" eaLnBrk="1" fontAlgn="auto" latinLnBrk="0" hangingPunct="1">
              <a:lnSpc>
                <a:spcPct val="100000"/>
              </a:lnSpc>
              <a:spcBef>
                <a:spcPts val="800"/>
              </a:spcBef>
              <a:spcAft>
                <a:spcPts val="0"/>
              </a:spcAft>
              <a:buClrTx/>
              <a:buSzTx/>
              <a:buFontTx/>
              <a:buNone/>
              <a:tabLst/>
              <a:defRPr/>
            </a:pPr>
            <a:endParaRPr lang="en-US" sz="1700" b="1" dirty="0">
              <a:solidFill>
                <a:srgbClr val="000000"/>
              </a:solidFill>
              <a:latin typeface="Calibri"/>
            </a:endParaRPr>
          </a:p>
          <a:p>
            <a:pPr marL="0" marR="0" lvl="0" indent="0" algn="l" defTabSz="914400" rtl="0" eaLnBrk="1" fontAlgn="auto" latinLnBrk="0" hangingPunct="1">
              <a:lnSpc>
                <a:spcPct val="100000"/>
              </a:lnSpc>
              <a:spcBef>
                <a:spcPts val="800"/>
              </a:spcBef>
              <a:spcAft>
                <a:spcPts val="0"/>
              </a:spcAft>
              <a:buClrTx/>
              <a:buSzTx/>
              <a:buFontTx/>
              <a:buNone/>
              <a:tabLst/>
              <a:defRPr/>
            </a:pPr>
            <a:endParaRPr kumimoji="0" lang="en-US" sz="1700" b="1" i="0" u="none" strike="noStrike" kern="1200" cap="none" spc="0" normalizeH="0" baseline="0" noProof="0" dirty="0">
              <a:ln>
                <a:noFill/>
              </a:ln>
              <a:solidFill>
                <a:srgbClr val="000000"/>
              </a:solidFill>
              <a:effectLst/>
              <a:uLnTx/>
              <a:uFillTx/>
              <a:latin typeface="Calibri"/>
              <a:ea typeface="+mn-ea"/>
              <a:cs typeface="+mn-cs"/>
            </a:endParaRPr>
          </a:p>
          <a:p>
            <a:pPr marL="0" marR="0" lvl="0" indent="0" algn="l" defTabSz="914400" rtl="0" eaLnBrk="1" fontAlgn="auto" latinLnBrk="0" hangingPunct="1">
              <a:lnSpc>
                <a:spcPct val="100000"/>
              </a:lnSpc>
              <a:spcBef>
                <a:spcPts val="800"/>
              </a:spcBef>
              <a:spcAft>
                <a:spcPts val="0"/>
              </a:spcAft>
              <a:buClrTx/>
              <a:buSzTx/>
              <a:buFontTx/>
              <a:buNone/>
              <a:tabLst/>
              <a:defRPr/>
            </a:pPr>
            <a:endParaRPr lang="en-US" sz="1700" b="1" dirty="0">
              <a:solidFill>
                <a:srgbClr val="000000"/>
              </a:solidFill>
              <a:latin typeface="Calibri"/>
            </a:endParaRPr>
          </a:p>
          <a:p>
            <a:pPr marL="0" marR="0" lvl="0" indent="0" algn="l" defTabSz="914400" rtl="0" eaLnBrk="1" fontAlgn="auto" latinLnBrk="0" hangingPunct="1">
              <a:lnSpc>
                <a:spcPct val="100000"/>
              </a:lnSpc>
              <a:spcBef>
                <a:spcPts val="800"/>
              </a:spcBef>
              <a:spcAft>
                <a:spcPts val="0"/>
              </a:spcAft>
              <a:buClrTx/>
              <a:buSzTx/>
              <a:buFontTx/>
              <a:buNone/>
              <a:tabLst/>
              <a:defRPr/>
            </a:pPr>
            <a:endParaRPr kumimoji="0" lang="en-US" sz="1700" b="1" i="0" u="none" strike="noStrike" kern="1200" cap="none" spc="0" normalizeH="0" baseline="0" noProof="0" dirty="0">
              <a:ln>
                <a:noFill/>
              </a:ln>
              <a:solidFill>
                <a:srgbClr val="000000"/>
              </a:solidFill>
              <a:effectLst/>
              <a:uLnTx/>
              <a:uFillTx/>
              <a:latin typeface="Calibri"/>
              <a:ea typeface="+mn-ea"/>
              <a:cs typeface="+mn-cs"/>
            </a:endParaRPr>
          </a:p>
          <a:p>
            <a:pPr marL="0" marR="0" lvl="0" indent="0" algn="l" defTabSz="914400" rtl="0" eaLnBrk="1" fontAlgn="auto" latinLnBrk="0" hangingPunct="1">
              <a:lnSpc>
                <a:spcPct val="100000"/>
              </a:lnSpc>
              <a:spcBef>
                <a:spcPts val="800"/>
              </a:spcBef>
              <a:spcAft>
                <a:spcPts val="0"/>
              </a:spcAft>
              <a:buClrTx/>
              <a:buSzTx/>
              <a:buFontTx/>
              <a:buNone/>
              <a:tabLst/>
              <a:defRPr/>
            </a:pPr>
            <a:endParaRPr kumimoji="0" sz="1700" b="1" i="0" u="none" strike="noStrike" kern="1200" cap="none" spc="0" normalizeH="0" baseline="0" noProof="0" dirty="0">
              <a:ln>
                <a:noFill/>
              </a:ln>
              <a:solidFill>
                <a:srgbClr val="000000"/>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sz="1700" b="1" i="0" u="none" strike="noStrike" kern="1200" cap="none" spc="0" normalizeH="0" baseline="0" noProof="0" dirty="0">
              <a:ln>
                <a:noFill/>
              </a:ln>
              <a:solidFill>
                <a:srgbClr val="000000"/>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sz="1500" b="0" i="0" u="none" strike="noStrike" kern="1200" cap="none" spc="0" normalizeH="0" baseline="0" noProof="0" dirty="0">
              <a:ln>
                <a:noFill/>
              </a:ln>
              <a:solidFill>
                <a:srgbClr val="323232"/>
              </a:solidFill>
              <a:effectLst/>
              <a:uLnTx/>
              <a:uFillTx/>
              <a:latin typeface="Calibri"/>
              <a:ea typeface="+mn-ea"/>
              <a:cs typeface="+mn-cs"/>
            </a:endParaRPr>
          </a:p>
          <a:p>
            <a:pPr marL="0" marR="0" lvl="0" indent="0" algn="l" defTabSz="914400" rtl="0" eaLnBrk="1" fontAlgn="auto" latinLnBrk="0" hangingPunct="1">
              <a:lnSpc>
                <a:spcPct val="100000"/>
              </a:lnSpc>
              <a:spcBef>
                <a:spcPts val="400"/>
              </a:spcBef>
              <a:spcAft>
                <a:spcPts val="0"/>
              </a:spcAft>
              <a:buClrTx/>
              <a:buSzTx/>
              <a:buFontTx/>
              <a:buNone/>
              <a:tabLst/>
              <a:defRPr/>
            </a:pPr>
            <a:endParaRPr kumimoji="0" lang="en-US" b="1" i="0" u="none" strike="noStrike" kern="1200" cap="none" spc="0" normalizeH="0" baseline="0" noProof="0" dirty="0">
              <a:ln>
                <a:noFill/>
              </a:ln>
              <a:solidFill>
                <a:srgbClr val="000000"/>
              </a:solidFill>
              <a:effectLst/>
              <a:uLnTx/>
              <a:uFillTx/>
              <a:latin typeface="Calibri"/>
              <a:ea typeface="+mn-ea"/>
              <a:cs typeface="+mn-cs"/>
            </a:endParaRPr>
          </a:p>
          <a:p>
            <a:pPr marL="0" marR="0" lvl="0" indent="0" algn="l" defTabSz="914400" rtl="0" eaLnBrk="1" fontAlgn="auto" latinLnBrk="0" hangingPunct="1">
              <a:lnSpc>
                <a:spcPct val="100000"/>
              </a:lnSpc>
              <a:spcBef>
                <a:spcPts val="400"/>
              </a:spcBef>
              <a:spcAft>
                <a:spcPts val="0"/>
              </a:spcAft>
              <a:buClrTx/>
              <a:buSzTx/>
              <a:buFontTx/>
              <a:buNone/>
              <a:tabLst/>
              <a:defRPr/>
            </a:pPr>
            <a:r>
              <a:rPr kumimoji="0" b="1" i="0" u="none" strike="noStrike" kern="1200" cap="none" spc="0" normalizeH="0" baseline="0" noProof="0" dirty="0">
                <a:ln>
                  <a:noFill/>
                </a:ln>
                <a:solidFill>
                  <a:srgbClr val="000000"/>
                </a:solidFill>
                <a:effectLst/>
                <a:uLnTx/>
                <a:uFillTx/>
                <a:latin typeface="Calibri"/>
                <a:ea typeface="+mn-ea"/>
                <a:cs typeface="+mn-cs"/>
              </a:rPr>
              <a:t>How to interpret: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b="0" i="0" u="none" strike="noStrike" kern="1200" cap="none" spc="0" normalizeH="0" baseline="0" noProof="0" dirty="0">
                <a:ln>
                  <a:noFill/>
                </a:ln>
                <a:solidFill>
                  <a:srgbClr val="323232"/>
                </a:solidFill>
                <a:effectLst/>
                <a:uLnTx/>
                <a:uFillTx/>
                <a:latin typeface="Calibri"/>
                <a:ea typeface="+mn-ea"/>
                <a:cs typeface="+mn-cs"/>
              </a:rPr>
              <a:t>•  Items 1–4 load strongly on Factor 1 → label this 'Work Overload'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b="0" i="0" u="none" strike="noStrike" kern="1200" cap="none" spc="0" normalizeH="0" baseline="0" noProof="0" dirty="0">
                <a:ln>
                  <a:noFill/>
                </a:ln>
                <a:solidFill>
                  <a:srgbClr val="323232"/>
                </a:solidFill>
                <a:effectLst/>
                <a:uLnTx/>
                <a:uFillTx/>
                <a:latin typeface="Calibri"/>
                <a:ea typeface="+mn-ea"/>
                <a:cs typeface="+mn-cs"/>
              </a:rPr>
              <a:t>•  Items 5–8 load strongly on Factor 2 → label this 'Physiological Tension'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b="0" i="0" u="none" strike="noStrike" kern="1200" cap="none" spc="0" normalizeH="0" baseline="0" noProof="0" dirty="0">
                <a:ln>
                  <a:noFill/>
                </a:ln>
                <a:solidFill>
                  <a:srgbClr val="323232"/>
                </a:solidFill>
                <a:effectLst/>
                <a:uLnTx/>
                <a:uFillTx/>
                <a:latin typeface="Calibri"/>
                <a:ea typeface="+mn-ea"/>
                <a:cs typeface="+mn-cs"/>
              </a:rPr>
              <a:t>•  Cross-loadings (&gt; .30 on both factors) indicate items are ambiguous — review them</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b="0" i="0" u="none" strike="noStrike" kern="1200" cap="none" spc="0" normalizeH="0" baseline="0" noProof="0" dirty="0">
                <a:ln>
                  <a:noFill/>
                </a:ln>
                <a:solidFill>
                  <a:srgbClr val="323232"/>
                </a:solidFill>
                <a:effectLst/>
                <a:uLnTx/>
                <a:uFillTx/>
                <a:latin typeface="Calibri"/>
                <a:ea typeface="+mn-ea"/>
                <a:cs typeface="+mn-cs"/>
              </a:rPr>
              <a:t>•  The factor correlation matrix tells you how related the two factors are</a:t>
            </a:r>
          </a:p>
        </p:txBody>
      </p:sp>
      <p:graphicFrame>
        <p:nvGraphicFramePr>
          <p:cNvPr id="7" name="Table 6">
            <a:extLst>
              <a:ext uri="{FF2B5EF4-FFF2-40B4-BE49-F238E27FC236}">
                <a16:creationId xmlns:a16="http://schemas.microsoft.com/office/drawing/2014/main" id="{0D19D739-2631-C9E4-DE37-87A422479C2A}"/>
              </a:ext>
            </a:extLst>
          </p:cNvPr>
          <p:cNvGraphicFramePr>
            <a:graphicFrameLocks noGrp="1"/>
          </p:cNvGraphicFramePr>
          <p:nvPr>
            <p:extLst>
              <p:ext uri="{D42A27DB-BD31-4B8C-83A1-F6EECF244321}">
                <p14:modId xmlns:p14="http://schemas.microsoft.com/office/powerpoint/2010/main" val="3099766974"/>
              </p:ext>
            </p:extLst>
          </p:nvPr>
        </p:nvGraphicFramePr>
        <p:xfrm>
          <a:off x="533833" y="1460853"/>
          <a:ext cx="10691811" cy="3291840"/>
        </p:xfrm>
        <a:graphic>
          <a:graphicData uri="http://schemas.openxmlformats.org/drawingml/2006/table">
            <a:tbl>
              <a:tblPr/>
              <a:tblGrid>
                <a:gridCol w="3563937">
                  <a:extLst>
                    <a:ext uri="{9D8B030D-6E8A-4147-A177-3AD203B41FA5}">
                      <a16:colId xmlns:a16="http://schemas.microsoft.com/office/drawing/2014/main" val="1207673279"/>
                    </a:ext>
                  </a:extLst>
                </a:gridCol>
                <a:gridCol w="3563937">
                  <a:extLst>
                    <a:ext uri="{9D8B030D-6E8A-4147-A177-3AD203B41FA5}">
                      <a16:colId xmlns:a16="http://schemas.microsoft.com/office/drawing/2014/main" val="1441449797"/>
                    </a:ext>
                  </a:extLst>
                </a:gridCol>
                <a:gridCol w="3563937">
                  <a:extLst>
                    <a:ext uri="{9D8B030D-6E8A-4147-A177-3AD203B41FA5}">
                      <a16:colId xmlns:a16="http://schemas.microsoft.com/office/drawing/2014/main" val="28495219"/>
                    </a:ext>
                  </a:extLst>
                </a:gridCol>
              </a:tblGrid>
              <a:tr h="0">
                <a:tc>
                  <a:txBody>
                    <a:bodyPr/>
                    <a:lstStyle/>
                    <a:p>
                      <a:pPr>
                        <a:buNone/>
                      </a:pPr>
                      <a:r>
                        <a:rPr lang="en-US" b="1" dirty="0">
                          <a:latin typeface="Calibri" panose="020F0502020204030204" pitchFamily="34" charset="0"/>
                          <a:ea typeface="Calibri" panose="020F0502020204030204" pitchFamily="34" charset="0"/>
                          <a:cs typeface="Calibri" panose="020F0502020204030204" pitchFamily="34" charset="0"/>
                        </a:rPr>
                        <a:t>Item</a:t>
                      </a:r>
                      <a:endParaRPr lang="en-US" dirty="0">
                        <a:latin typeface="Calibri" panose="020F0502020204030204" pitchFamily="34" charset="0"/>
                        <a:ea typeface="Calibri" panose="020F0502020204030204" pitchFamily="34" charset="0"/>
                        <a:cs typeface="Calibri" panose="020F0502020204030204" pitchFamily="34" charset="0"/>
                      </a:endParaRPr>
                    </a:p>
                  </a:txBody>
                  <a:tcPr anchor="ctr">
                    <a:lnL>
                      <a:noFill/>
                    </a:lnL>
                    <a:lnR>
                      <a:noFill/>
                    </a:lnR>
                    <a:lnT>
                      <a:noFill/>
                    </a:lnT>
                    <a:lnB>
                      <a:noFill/>
                    </a:lnB>
                    <a:noFill/>
                  </a:tcPr>
                </a:tc>
                <a:tc>
                  <a:txBody>
                    <a:bodyPr/>
                    <a:lstStyle/>
                    <a:p>
                      <a:pPr algn="ctr">
                        <a:buNone/>
                      </a:pPr>
                      <a:r>
                        <a:rPr lang="en-US" b="1" dirty="0">
                          <a:latin typeface="Calibri" panose="020F0502020204030204" pitchFamily="34" charset="0"/>
                          <a:ea typeface="Calibri" panose="020F0502020204030204" pitchFamily="34" charset="0"/>
                          <a:cs typeface="Calibri" panose="020F0502020204030204" pitchFamily="34" charset="0"/>
                        </a:rPr>
                        <a:t>Factor 1</a:t>
                      </a:r>
                      <a:endParaRPr lang="en-US" dirty="0">
                        <a:latin typeface="Calibri" panose="020F0502020204030204" pitchFamily="34" charset="0"/>
                        <a:ea typeface="Calibri" panose="020F0502020204030204" pitchFamily="34" charset="0"/>
                        <a:cs typeface="Calibri" panose="020F0502020204030204" pitchFamily="34" charset="0"/>
                      </a:endParaRPr>
                    </a:p>
                  </a:txBody>
                  <a:tcPr anchor="ctr">
                    <a:lnL>
                      <a:noFill/>
                    </a:lnL>
                    <a:lnR>
                      <a:noFill/>
                    </a:lnR>
                    <a:lnT>
                      <a:noFill/>
                    </a:lnT>
                    <a:lnB>
                      <a:noFill/>
                    </a:lnB>
                    <a:noFill/>
                  </a:tcPr>
                </a:tc>
                <a:tc>
                  <a:txBody>
                    <a:bodyPr/>
                    <a:lstStyle/>
                    <a:p>
                      <a:pPr algn="ctr">
                        <a:buNone/>
                      </a:pPr>
                      <a:r>
                        <a:rPr lang="en-US" b="1">
                          <a:latin typeface="Calibri" panose="020F0502020204030204" pitchFamily="34" charset="0"/>
                          <a:ea typeface="Calibri" panose="020F0502020204030204" pitchFamily="34" charset="0"/>
                          <a:cs typeface="Calibri" panose="020F0502020204030204" pitchFamily="34" charset="0"/>
                        </a:rPr>
                        <a:t>Factor 2</a:t>
                      </a:r>
                      <a:endParaRPr lang="en-US">
                        <a:latin typeface="Calibri" panose="020F0502020204030204" pitchFamily="34" charset="0"/>
                        <a:ea typeface="Calibri" panose="020F0502020204030204" pitchFamily="34" charset="0"/>
                        <a:cs typeface="Calibri" panose="020F0502020204030204" pitchFamily="34" charset="0"/>
                      </a:endParaRPr>
                    </a:p>
                  </a:txBody>
                  <a:tcPr anchor="ctr">
                    <a:lnL>
                      <a:noFill/>
                    </a:lnL>
                    <a:lnR>
                      <a:noFill/>
                    </a:lnR>
                    <a:lnT>
                      <a:noFill/>
                    </a:lnT>
                    <a:lnB>
                      <a:noFill/>
                    </a:lnB>
                    <a:noFill/>
                  </a:tcPr>
                </a:tc>
                <a:extLst>
                  <a:ext uri="{0D108BD9-81ED-4DB2-BD59-A6C34878D82A}">
                    <a16:rowId xmlns:a16="http://schemas.microsoft.com/office/drawing/2014/main" val="665563980"/>
                  </a:ext>
                </a:extLst>
              </a:tr>
              <a:tr h="0">
                <a:tc>
                  <a:txBody>
                    <a:bodyPr/>
                    <a:lstStyle/>
                    <a:p>
                      <a:pPr>
                        <a:buNone/>
                      </a:pPr>
                      <a:r>
                        <a:rPr lang="en-US" dirty="0">
                          <a:latin typeface="Calibri" panose="020F0502020204030204" pitchFamily="34" charset="0"/>
                          <a:ea typeface="Calibri" panose="020F0502020204030204" pitchFamily="34" charset="0"/>
                          <a:cs typeface="Calibri" panose="020F0502020204030204" pitchFamily="34" charset="0"/>
                        </a:rPr>
                        <a:t>I feel overwhelmed at work</a:t>
                      </a:r>
                    </a:p>
                  </a:txBody>
                  <a:tcPr anchor="ctr">
                    <a:lnL>
                      <a:noFill/>
                    </a:lnL>
                    <a:lnR>
                      <a:noFill/>
                    </a:lnR>
                    <a:lnT>
                      <a:noFill/>
                    </a:lnT>
                    <a:lnB>
                      <a:noFill/>
                    </a:lnB>
                    <a:noFill/>
                  </a:tcPr>
                </a:tc>
                <a:tc>
                  <a:txBody>
                    <a:bodyPr/>
                    <a:lstStyle/>
                    <a:p>
                      <a:pPr algn="ctr">
                        <a:buNone/>
                      </a:pPr>
                      <a:r>
                        <a:rPr lang="en-US" dirty="0">
                          <a:latin typeface="Calibri" panose="020F0502020204030204" pitchFamily="34" charset="0"/>
                          <a:ea typeface="Calibri" panose="020F0502020204030204" pitchFamily="34" charset="0"/>
                          <a:cs typeface="Calibri" panose="020F0502020204030204" pitchFamily="34" charset="0"/>
                        </a:rPr>
                        <a:t>0.82</a:t>
                      </a:r>
                    </a:p>
                  </a:txBody>
                  <a:tcPr anchor="ctr">
                    <a:lnL>
                      <a:noFill/>
                    </a:lnL>
                    <a:lnR>
                      <a:noFill/>
                    </a:lnR>
                    <a:lnT>
                      <a:noFill/>
                    </a:lnT>
                    <a:lnB>
                      <a:noFill/>
                    </a:lnB>
                    <a:solidFill>
                      <a:schemeClr val="accent6">
                        <a:lumMod val="40000"/>
                        <a:lumOff val="60000"/>
                      </a:schemeClr>
                    </a:solidFill>
                  </a:tcPr>
                </a:tc>
                <a:tc>
                  <a:txBody>
                    <a:bodyPr/>
                    <a:lstStyle/>
                    <a:p>
                      <a:pPr algn="ctr">
                        <a:buNone/>
                      </a:pPr>
                      <a:r>
                        <a:rPr lang="en-US" dirty="0">
                          <a:latin typeface="Calibri" panose="020F0502020204030204" pitchFamily="34" charset="0"/>
                          <a:ea typeface="Calibri" panose="020F0502020204030204" pitchFamily="34" charset="0"/>
                          <a:cs typeface="Calibri" panose="020F0502020204030204" pitchFamily="34" charset="0"/>
                        </a:rPr>
                        <a:t>0.08</a:t>
                      </a:r>
                    </a:p>
                  </a:txBody>
                  <a:tcPr anchor="ctr">
                    <a:lnL>
                      <a:noFill/>
                    </a:lnL>
                    <a:lnR>
                      <a:noFill/>
                    </a:lnR>
                    <a:lnT>
                      <a:noFill/>
                    </a:lnT>
                    <a:lnB>
                      <a:noFill/>
                    </a:lnB>
                    <a:noFill/>
                  </a:tcPr>
                </a:tc>
                <a:extLst>
                  <a:ext uri="{0D108BD9-81ED-4DB2-BD59-A6C34878D82A}">
                    <a16:rowId xmlns:a16="http://schemas.microsoft.com/office/drawing/2014/main" val="747967036"/>
                  </a:ext>
                </a:extLst>
              </a:tr>
              <a:tr h="0">
                <a:tc>
                  <a:txBody>
                    <a:bodyPr/>
                    <a:lstStyle/>
                    <a:p>
                      <a:pPr>
                        <a:buNone/>
                      </a:pPr>
                      <a:r>
                        <a:rPr lang="en-US">
                          <a:latin typeface="Calibri" panose="020F0502020204030204" pitchFamily="34" charset="0"/>
                          <a:ea typeface="Calibri" panose="020F0502020204030204" pitchFamily="34" charset="0"/>
                          <a:cs typeface="Calibri" panose="020F0502020204030204" pitchFamily="34" charset="0"/>
                        </a:rPr>
                        <a:t>My workload is unmanageable</a:t>
                      </a:r>
                    </a:p>
                  </a:txBody>
                  <a:tcPr anchor="ctr">
                    <a:lnL>
                      <a:noFill/>
                    </a:lnL>
                    <a:lnR>
                      <a:noFill/>
                    </a:lnR>
                    <a:lnT>
                      <a:noFill/>
                    </a:lnT>
                    <a:lnB>
                      <a:noFill/>
                    </a:lnB>
                    <a:noFill/>
                  </a:tcPr>
                </a:tc>
                <a:tc>
                  <a:txBody>
                    <a:bodyPr/>
                    <a:lstStyle/>
                    <a:p>
                      <a:pPr algn="ctr">
                        <a:buNone/>
                      </a:pPr>
                      <a:r>
                        <a:rPr lang="en-US" dirty="0">
                          <a:latin typeface="Calibri" panose="020F0502020204030204" pitchFamily="34" charset="0"/>
                          <a:ea typeface="Calibri" panose="020F0502020204030204" pitchFamily="34" charset="0"/>
                          <a:cs typeface="Calibri" panose="020F0502020204030204" pitchFamily="34" charset="0"/>
                        </a:rPr>
                        <a:t>0.79</a:t>
                      </a:r>
                    </a:p>
                  </a:txBody>
                  <a:tcPr anchor="ctr">
                    <a:lnL>
                      <a:noFill/>
                    </a:lnL>
                    <a:lnR>
                      <a:noFill/>
                    </a:lnR>
                    <a:lnT>
                      <a:noFill/>
                    </a:lnT>
                    <a:lnB>
                      <a:noFill/>
                    </a:lnB>
                    <a:solidFill>
                      <a:schemeClr val="accent6">
                        <a:lumMod val="40000"/>
                        <a:lumOff val="60000"/>
                      </a:schemeClr>
                    </a:solidFill>
                  </a:tcPr>
                </a:tc>
                <a:tc>
                  <a:txBody>
                    <a:bodyPr/>
                    <a:lstStyle/>
                    <a:p>
                      <a:pPr algn="ctr">
                        <a:buNone/>
                      </a:pPr>
                      <a:r>
                        <a:rPr lang="en-US">
                          <a:latin typeface="Calibri" panose="020F0502020204030204" pitchFamily="34" charset="0"/>
                          <a:ea typeface="Calibri" panose="020F0502020204030204" pitchFamily="34" charset="0"/>
                          <a:cs typeface="Calibri" panose="020F0502020204030204" pitchFamily="34" charset="0"/>
                        </a:rPr>
                        <a:t>0.11</a:t>
                      </a:r>
                    </a:p>
                  </a:txBody>
                  <a:tcPr anchor="ctr">
                    <a:lnL>
                      <a:noFill/>
                    </a:lnL>
                    <a:lnR>
                      <a:noFill/>
                    </a:lnR>
                    <a:lnT>
                      <a:noFill/>
                    </a:lnT>
                    <a:lnB>
                      <a:noFill/>
                    </a:lnB>
                    <a:noFill/>
                  </a:tcPr>
                </a:tc>
                <a:extLst>
                  <a:ext uri="{0D108BD9-81ED-4DB2-BD59-A6C34878D82A}">
                    <a16:rowId xmlns:a16="http://schemas.microsoft.com/office/drawing/2014/main" val="3239665208"/>
                  </a:ext>
                </a:extLst>
              </a:tr>
              <a:tr h="0">
                <a:tc>
                  <a:txBody>
                    <a:bodyPr/>
                    <a:lstStyle/>
                    <a:p>
                      <a:pPr>
                        <a:buNone/>
                      </a:pPr>
                      <a:r>
                        <a:rPr lang="en-US">
                          <a:latin typeface="Calibri" panose="020F0502020204030204" pitchFamily="34" charset="0"/>
                          <a:ea typeface="Calibri" panose="020F0502020204030204" pitchFamily="34" charset="0"/>
                          <a:cs typeface="Calibri" panose="020F0502020204030204" pitchFamily="34" charset="0"/>
                        </a:rPr>
                        <a:t>I can't keep up with demands</a:t>
                      </a:r>
                    </a:p>
                  </a:txBody>
                  <a:tcPr anchor="ctr">
                    <a:lnL>
                      <a:noFill/>
                    </a:lnL>
                    <a:lnR>
                      <a:noFill/>
                    </a:lnR>
                    <a:lnT>
                      <a:noFill/>
                    </a:lnT>
                    <a:lnB>
                      <a:noFill/>
                    </a:lnB>
                    <a:noFill/>
                  </a:tcPr>
                </a:tc>
                <a:tc>
                  <a:txBody>
                    <a:bodyPr/>
                    <a:lstStyle/>
                    <a:p>
                      <a:pPr algn="ctr">
                        <a:buNone/>
                      </a:pPr>
                      <a:r>
                        <a:rPr lang="en-US" dirty="0">
                          <a:latin typeface="Calibri" panose="020F0502020204030204" pitchFamily="34" charset="0"/>
                          <a:ea typeface="Calibri" panose="020F0502020204030204" pitchFamily="34" charset="0"/>
                          <a:cs typeface="Calibri" panose="020F0502020204030204" pitchFamily="34" charset="0"/>
                        </a:rPr>
                        <a:t>0.74</a:t>
                      </a:r>
                    </a:p>
                  </a:txBody>
                  <a:tcPr anchor="ctr">
                    <a:lnL>
                      <a:noFill/>
                    </a:lnL>
                    <a:lnR>
                      <a:noFill/>
                    </a:lnR>
                    <a:lnT>
                      <a:noFill/>
                    </a:lnT>
                    <a:lnB>
                      <a:noFill/>
                    </a:lnB>
                    <a:solidFill>
                      <a:schemeClr val="accent6">
                        <a:lumMod val="40000"/>
                        <a:lumOff val="60000"/>
                      </a:schemeClr>
                    </a:solidFill>
                  </a:tcPr>
                </a:tc>
                <a:tc>
                  <a:txBody>
                    <a:bodyPr/>
                    <a:lstStyle/>
                    <a:p>
                      <a:pPr algn="ctr">
                        <a:buNone/>
                      </a:pPr>
                      <a:r>
                        <a:rPr lang="en-US">
                          <a:latin typeface="Calibri" panose="020F0502020204030204" pitchFamily="34" charset="0"/>
                          <a:ea typeface="Calibri" panose="020F0502020204030204" pitchFamily="34" charset="0"/>
                          <a:cs typeface="Calibri" panose="020F0502020204030204" pitchFamily="34" charset="0"/>
                        </a:rPr>
                        <a:t>-0.05</a:t>
                      </a:r>
                    </a:p>
                  </a:txBody>
                  <a:tcPr anchor="ctr">
                    <a:lnL>
                      <a:noFill/>
                    </a:lnL>
                    <a:lnR>
                      <a:noFill/>
                    </a:lnR>
                    <a:lnT>
                      <a:noFill/>
                    </a:lnT>
                    <a:lnB>
                      <a:noFill/>
                    </a:lnB>
                    <a:noFill/>
                  </a:tcPr>
                </a:tc>
                <a:extLst>
                  <a:ext uri="{0D108BD9-81ED-4DB2-BD59-A6C34878D82A}">
                    <a16:rowId xmlns:a16="http://schemas.microsoft.com/office/drawing/2014/main" val="1267001481"/>
                  </a:ext>
                </a:extLst>
              </a:tr>
              <a:tr h="0">
                <a:tc>
                  <a:txBody>
                    <a:bodyPr/>
                    <a:lstStyle/>
                    <a:p>
                      <a:pPr>
                        <a:buNone/>
                      </a:pPr>
                      <a:r>
                        <a:rPr lang="en-US">
                          <a:latin typeface="Calibri" panose="020F0502020204030204" pitchFamily="34" charset="0"/>
                          <a:ea typeface="Calibri" panose="020F0502020204030204" pitchFamily="34" charset="0"/>
                          <a:cs typeface="Calibri" panose="020F0502020204030204" pitchFamily="34" charset="0"/>
                        </a:rPr>
                        <a:t>I have too many responsibilities</a:t>
                      </a:r>
                    </a:p>
                  </a:txBody>
                  <a:tcPr anchor="ctr">
                    <a:lnL>
                      <a:noFill/>
                    </a:lnL>
                    <a:lnR>
                      <a:noFill/>
                    </a:lnR>
                    <a:lnT>
                      <a:noFill/>
                    </a:lnT>
                    <a:lnB>
                      <a:noFill/>
                    </a:lnB>
                    <a:noFill/>
                  </a:tcPr>
                </a:tc>
                <a:tc>
                  <a:txBody>
                    <a:bodyPr/>
                    <a:lstStyle/>
                    <a:p>
                      <a:pPr algn="ctr">
                        <a:buNone/>
                      </a:pPr>
                      <a:r>
                        <a:rPr lang="en-US" dirty="0">
                          <a:latin typeface="Calibri" panose="020F0502020204030204" pitchFamily="34" charset="0"/>
                          <a:ea typeface="Calibri" panose="020F0502020204030204" pitchFamily="34" charset="0"/>
                          <a:cs typeface="Calibri" panose="020F0502020204030204" pitchFamily="34" charset="0"/>
                        </a:rPr>
                        <a:t>0.71</a:t>
                      </a:r>
                    </a:p>
                  </a:txBody>
                  <a:tcPr anchor="ctr">
                    <a:lnL>
                      <a:noFill/>
                    </a:lnL>
                    <a:lnR>
                      <a:noFill/>
                    </a:lnR>
                    <a:lnT>
                      <a:noFill/>
                    </a:lnT>
                    <a:lnB>
                      <a:noFill/>
                    </a:lnB>
                    <a:solidFill>
                      <a:schemeClr val="accent6">
                        <a:lumMod val="40000"/>
                        <a:lumOff val="60000"/>
                      </a:schemeClr>
                    </a:solidFill>
                  </a:tcPr>
                </a:tc>
                <a:tc>
                  <a:txBody>
                    <a:bodyPr/>
                    <a:lstStyle/>
                    <a:p>
                      <a:pPr algn="ctr">
                        <a:buNone/>
                      </a:pPr>
                      <a:r>
                        <a:rPr lang="en-US" dirty="0">
                          <a:latin typeface="Calibri" panose="020F0502020204030204" pitchFamily="34" charset="0"/>
                          <a:ea typeface="Calibri" panose="020F0502020204030204" pitchFamily="34" charset="0"/>
                          <a:cs typeface="Calibri" panose="020F0502020204030204" pitchFamily="34" charset="0"/>
                        </a:rPr>
                        <a:t>0.14</a:t>
                      </a:r>
                    </a:p>
                  </a:txBody>
                  <a:tcPr anchor="ctr">
                    <a:lnL>
                      <a:noFill/>
                    </a:lnL>
                    <a:lnR>
                      <a:noFill/>
                    </a:lnR>
                    <a:lnT>
                      <a:noFill/>
                    </a:lnT>
                    <a:lnB>
                      <a:noFill/>
                    </a:lnB>
                    <a:noFill/>
                  </a:tcPr>
                </a:tc>
                <a:extLst>
                  <a:ext uri="{0D108BD9-81ED-4DB2-BD59-A6C34878D82A}">
                    <a16:rowId xmlns:a16="http://schemas.microsoft.com/office/drawing/2014/main" val="1632190000"/>
                  </a:ext>
                </a:extLst>
              </a:tr>
              <a:tr h="0">
                <a:tc>
                  <a:txBody>
                    <a:bodyPr/>
                    <a:lstStyle/>
                    <a:p>
                      <a:pPr>
                        <a:buNone/>
                      </a:pPr>
                      <a:r>
                        <a:rPr lang="en-US">
                          <a:latin typeface="Calibri" panose="020F0502020204030204" pitchFamily="34" charset="0"/>
                          <a:ea typeface="Calibri" panose="020F0502020204030204" pitchFamily="34" charset="0"/>
                          <a:cs typeface="Calibri" panose="020F0502020204030204" pitchFamily="34" charset="0"/>
                        </a:rPr>
                        <a:t>I feel tense and anxious</a:t>
                      </a:r>
                    </a:p>
                  </a:txBody>
                  <a:tcPr anchor="ctr">
                    <a:lnL>
                      <a:noFill/>
                    </a:lnL>
                    <a:lnR>
                      <a:noFill/>
                    </a:lnR>
                    <a:lnT>
                      <a:noFill/>
                    </a:lnT>
                    <a:lnB>
                      <a:noFill/>
                    </a:lnB>
                    <a:noFill/>
                  </a:tcPr>
                </a:tc>
                <a:tc>
                  <a:txBody>
                    <a:bodyPr/>
                    <a:lstStyle/>
                    <a:p>
                      <a:pPr algn="ctr">
                        <a:buNone/>
                      </a:pPr>
                      <a:r>
                        <a:rPr lang="en-US">
                          <a:latin typeface="Calibri" panose="020F0502020204030204" pitchFamily="34" charset="0"/>
                          <a:ea typeface="Calibri" panose="020F0502020204030204" pitchFamily="34" charset="0"/>
                          <a:cs typeface="Calibri" panose="020F0502020204030204" pitchFamily="34" charset="0"/>
                        </a:rPr>
                        <a:t>0.09</a:t>
                      </a:r>
                    </a:p>
                  </a:txBody>
                  <a:tcPr anchor="ctr">
                    <a:lnL>
                      <a:noFill/>
                    </a:lnL>
                    <a:lnR>
                      <a:noFill/>
                    </a:lnR>
                    <a:lnT>
                      <a:noFill/>
                    </a:lnT>
                    <a:lnB>
                      <a:noFill/>
                    </a:lnB>
                    <a:noFill/>
                  </a:tcPr>
                </a:tc>
                <a:tc>
                  <a:txBody>
                    <a:bodyPr/>
                    <a:lstStyle/>
                    <a:p>
                      <a:pPr algn="ctr">
                        <a:buNone/>
                      </a:pPr>
                      <a:r>
                        <a:rPr lang="en-US" dirty="0">
                          <a:latin typeface="Calibri" panose="020F0502020204030204" pitchFamily="34" charset="0"/>
                          <a:ea typeface="Calibri" panose="020F0502020204030204" pitchFamily="34" charset="0"/>
                          <a:cs typeface="Calibri" panose="020F0502020204030204" pitchFamily="34" charset="0"/>
                        </a:rPr>
                        <a:t>0.76</a:t>
                      </a:r>
                    </a:p>
                  </a:txBody>
                  <a:tcPr anchor="ctr">
                    <a:lnL>
                      <a:noFill/>
                    </a:lnL>
                    <a:lnR>
                      <a:noFill/>
                    </a:lnR>
                    <a:lnT>
                      <a:noFill/>
                    </a:lnT>
                    <a:lnB>
                      <a:noFill/>
                    </a:lnB>
                    <a:solidFill>
                      <a:schemeClr val="bg2">
                        <a:lumMod val="90000"/>
                      </a:schemeClr>
                    </a:solidFill>
                  </a:tcPr>
                </a:tc>
                <a:extLst>
                  <a:ext uri="{0D108BD9-81ED-4DB2-BD59-A6C34878D82A}">
                    <a16:rowId xmlns:a16="http://schemas.microsoft.com/office/drawing/2014/main" val="893513588"/>
                  </a:ext>
                </a:extLst>
              </a:tr>
              <a:tr h="0">
                <a:tc>
                  <a:txBody>
                    <a:bodyPr/>
                    <a:lstStyle/>
                    <a:p>
                      <a:pPr>
                        <a:buNone/>
                      </a:pPr>
                      <a:r>
                        <a:rPr lang="en-US">
                          <a:latin typeface="Calibri" panose="020F0502020204030204" pitchFamily="34" charset="0"/>
                          <a:ea typeface="Calibri" panose="020F0502020204030204" pitchFamily="34" charset="0"/>
                          <a:cs typeface="Calibri" panose="020F0502020204030204" pitchFamily="34" charset="0"/>
                        </a:rPr>
                        <a:t>My muscles feel tight</a:t>
                      </a:r>
                    </a:p>
                  </a:txBody>
                  <a:tcPr anchor="ctr">
                    <a:lnL>
                      <a:noFill/>
                    </a:lnL>
                    <a:lnR>
                      <a:noFill/>
                    </a:lnR>
                    <a:lnT>
                      <a:noFill/>
                    </a:lnT>
                    <a:lnB>
                      <a:noFill/>
                    </a:lnB>
                    <a:noFill/>
                  </a:tcPr>
                </a:tc>
                <a:tc>
                  <a:txBody>
                    <a:bodyPr/>
                    <a:lstStyle/>
                    <a:p>
                      <a:pPr algn="ctr">
                        <a:buNone/>
                      </a:pPr>
                      <a:r>
                        <a:rPr lang="en-US">
                          <a:latin typeface="Calibri" panose="020F0502020204030204" pitchFamily="34" charset="0"/>
                          <a:ea typeface="Calibri" panose="020F0502020204030204" pitchFamily="34" charset="0"/>
                          <a:cs typeface="Calibri" panose="020F0502020204030204" pitchFamily="34" charset="0"/>
                        </a:rPr>
                        <a:t>0.12</a:t>
                      </a:r>
                    </a:p>
                  </a:txBody>
                  <a:tcPr anchor="ctr">
                    <a:lnL>
                      <a:noFill/>
                    </a:lnL>
                    <a:lnR>
                      <a:noFill/>
                    </a:lnR>
                    <a:lnT>
                      <a:noFill/>
                    </a:lnT>
                    <a:lnB>
                      <a:noFill/>
                    </a:lnB>
                    <a:noFill/>
                  </a:tcPr>
                </a:tc>
                <a:tc>
                  <a:txBody>
                    <a:bodyPr/>
                    <a:lstStyle/>
                    <a:p>
                      <a:pPr algn="ctr">
                        <a:buNone/>
                      </a:pPr>
                      <a:r>
                        <a:rPr lang="en-US" dirty="0">
                          <a:latin typeface="Calibri" panose="020F0502020204030204" pitchFamily="34" charset="0"/>
                          <a:ea typeface="Calibri" panose="020F0502020204030204" pitchFamily="34" charset="0"/>
                          <a:cs typeface="Calibri" panose="020F0502020204030204" pitchFamily="34" charset="0"/>
                        </a:rPr>
                        <a:t>0.73</a:t>
                      </a:r>
                    </a:p>
                  </a:txBody>
                  <a:tcPr anchor="ctr">
                    <a:lnL>
                      <a:noFill/>
                    </a:lnL>
                    <a:lnR>
                      <a:noFill/>
                    </a:lnR>
                    <a:lnT>
                      <a:noFill/>
                    </a:lnT>
                    <a:lnB>
                      <a:noFill/>
                    </a:lnB>
                    <a:solidFill>
                      <a:schemeClr val="bg2">
                        <a:lumMod val="90000"/>
                      </a:schemeClr>
                    </a:solidFill>
                  </a:tcPr>
                </a:tc>
                <a:extLst>
                  <a:ext uri="{0D108BD9-81ED-4DB2-BD59-A6C34878D82A}">
                    <a16:rowId xmlns:a16="http://schemas.microsoft.com/office/drawing/2014/main" val="2385584885"/>
                  </a:ext>
                </a:extLst>
              </a:tr>
              <a:tr h="0">
                <a:tc>
                  <a:txBody>
                    <a:bodyPr/>
                    <a:lstStyle/>
                    <a:p>
                      <a:pPr>
                        <a:buNone/>
                      </a:pPr>
                      <a:r>
                        <a:rPr lang="en-US">
                          <a:latin typeface="Calibri" panose="020F0502020204030204" pitchFamily="34" charset="0"/>
                          <a:ea typeface="Calibri" panose="020F0502020204030204" pitchFamily="34" charset="0"/>
                          <a:cs typeface="Calibri" panose="020F0502020204030204" pitchFamily="34" charset="0"/>
                        </a:rPr>
                        <a:t>I have trouble sleeping due to worry</a:t>
                      </a:r>
                    </a:p>
                  </a:txBody>
                  <a:tcPr anchor="ctr">
                    <a:lnL>
                      <a:noFill/>
                    </a:lnL>
                    <a:lnR>
                      <a:noFill/>
                    </a:lnR>
                    <a:lnT>
                      <a:noFill/>
                    </a:lnT>
                    <a:lnB>
                      <a:noFill/>
                    </a:lnB>
                    <a:noFill/>
                  </a:tcPr>
                </a:tc>
                <a:tc>
                  <a:txBody>
                    <a:bodyPr/>
                    <a:lstStyle/>
                    <a:p>
                      <a:pPr algn="ctr">
                        <a:buNone/>
                      </a:pPr>
                      <a:r>
                        <a:rPr lang="en-US">
                          <a:latin typeface="Calibri" panose="020F0502020204030204" pitchFamily="34" charset="0"/>
                          <a:ea typeface="Calibri" panose="020F0502020204030204" pitchFamily="34" charset="0"/>
                          <a:cs typeface="Calibri" panose="020F0502020204030204" pitchFamily="34" charset="0"/>
                        </a:rPr>
                        <a:t>0.15</a:t>
                      </a:r>
                    </a:p>
                  </a:txBody>
                  <a:tcPr anchor="ctr">
                    <a:lnL>
                      <a:noFill/>
                    </a:lnL>
                    <a:lnR>
                      <a:noFill/>
                    </a:lnR>
                    <a:lnT>
                      <a:noFill/>
                    </a:lnT>
                    <a:lnB>
                      <a:noFill/>
                    </a:lnB>
                    <a:noFill/>
                  </a:tcPr>
                </a:tc>
                <a:tc>
                  <a:txBody>
                    <a:bodyPr/>
                    <a:lstStyle/>
                    <a:p>
                      <a:pPr algn="ctr">
                        <a:buNone/>
                      </a:pPr>
                      <a:r>
                        <a:rPr lang="en-US" dirty="0">
                          <a:latin typeface="Calibri" panose="020F0502020204030204" pitchFamily="34" charset="0"/>
                          <a:ea typeface="Calibri" panose="020F0502020204030204" pitchFamily="34" charset="0"/>
                          <a:cs typeface="Calibri" panose="020F0502020204030204" pitchFamily="34" charset="0"/>
                        </a:rPr>
                        <a:t>0.68</a:t>
                      </a:r>
                    </a:p>
                  </a:txBody>
                  <a:tcPr anchor="ctr">
                    <a:lnL>
                      <a:noFill/>
                    </a:lnL>
                    <a:lnR>
                      <a:noFill/>
                    </a:lnR>
                    <a:lnT>
                      <a:noFill/>
                    </a:lnT>
                    <a:lnB>
                      <a:noFill/>
                    </a:lnB>
                    <a:solidFill>
                      <a:schemeClr val="bg2">
                        <a:lumMod val="90000"/>
                      </a:schemeClr>
                    </a:solidFill>
                  </a:tcPr>
                </a:tc>
                <a:extLst>
                  <a:ext uri="{0D108BD9-81ED-4DB2-BD59-A6C34878D82A}">
                    <a16:rowId xmlns:a16="http://schemas.microsoft.com/office/drawing/2014/main" val="1070956240"/>
                  </a:ext>
                </a:extLst>
              </a:tr>
              <a:tr h="0">
                <a:tc>
                  <a:txBody>
                    <a:bodyPr/>
                    <a:lstStyle/>
                    <a:p>
                      <a:pPr>
                        <a:buNone/>
                      </a:pPr>
                      <a:r>
                        <a:rPr lang="en-US">
                          <a:latin typeface="Calibri" panose="020F0502020204030204" pitchFamily="34" charset="0"/>
                          <a:ea typeface="Calibri" panose="020F0502020204030204" pitchFamily="34" charset="0"/>
                          <a:cs typeface="Calibri" panose="020F0502020204030204" pitchFamily="34" charset="0"/>
                        </a:rPr>
                        <a:t>I feel on edge</a:t>
                      </a:r>
                    </a:p>
                  </a:txBody>
                  <a:tcPr anchor="ctr">
                    <a:lnL>
                      <a:noFill/>
                    </a:lnL>
                    <a:lnR>
                      <a:noFill/>
                    </a:lnR>
                    <a:lnT>
                      <a:noFill/>
                    </a:lnT>
                    <a:lnB>
                      <a:noFill/>
                    </a:lnB>
                    <a:noFill/>
                  </a:tcPr>
                </a:tc>
                <a:tc>
                  <a:txBody>
                    <a:bodyPr/>
                    <a:lstStyle/>
                    <a:p>
                      <a:pPr algn="ctr">
                        <a:buNone/>
                      </a:pPr>
                      <a:r>
                        <a:rPr lang="en-US">
                          <a:latin typeface="Calibri" panose="020F0502020204030204" pitchFamily="34" charset="0"/>
                          <a:ea typeface="Calibri" panose="020F0502020204030204" pitchFamily="34" charset="0"/>
                          <a:cs typeface="Calibri" panose="020F0502020204030204" pitchFamily="34" charset="0"/>
                        </a:rPr>
                        <a:t>-0.03</a:t>
                      </a:r>
                    </a:p>
                  </a:txBody>
                  <a:tcPr anchor="ctr">
                    <a:lnL>
                      <a:noFill/>
                    </a:lnL>
                    <a:lnR>
                      <a:noFill/>
                    </a:lnR>
                    <a:lnT>
                      <a:noFill/>
                    </a:lnT>
                    <a:lnB>
                      <a:noFill/>
                    </a:lnB>
                    <a:noFill/>
                  </a:tcPr>
                </a:tc>
                <a:tc>
                  <a:txBody>
                    <a:bodyPr/>
                    <a:lstStyle/>
                    <a:p>
                      <a:pPr algn="ctr">
                        <a:buNone/>
                      </a:pPr>
                      <a:r>
                        <a:rPr lang="en-US" dirty="0">
                          <a:latin typeface="Calibri" panose="020F0502020204030204" pitchFamily="34" charset="0"/>
                          <a:ea typeface="Calibri" panose="020F0502020204030204" pitchFamily="34" charset="0"/>
                          <a:cs typeface="Calibri" panose="020F0502020204030204" pitchFamily="34" charset="0"/>
                        </a:rPr>
                        <a:t>0.71</a:t>
                      </a:r>
                    </a:p>
                  </a:txBody>
                  <a:tcPr anchor="ctr">
                    <a:lnL>
                      <a:noFill/>
                    </a:lnL>
                    <a:lnR>
                      <a:noFill/>
                    </a:lnR>
                    <a:lnT>
                      <a:noFill/>
                    </a:lnT>
                    <a:lnB>
                      <a:noFill/>
                    </a:lnB>
                    <a:solidFill>
                      <a:schemeClr val="bg2">
                        <a:lumMod val="90000"/>
                      </a:schemeClr>
                    </a:solidFill>
                  </a:tcPr>
                </a:tc>
                <a:extLst>
                  <a:ext uri="{0D108BD9-81ED-4DB2-BD59-A6C34878D82A}">
                    <a16:rowId xmlns:a16="http://schemas.microsoft.com/office/drawing/2014/main" val="202455930"/>
                  </a:ext>
                </a:extLst>
              </a:tr>
            </a:tbl>
          </a:graphicData>
        </a:graphic>
      </p:graphicFrame>
    </p:spTree>
    <p:extLst>
      <p:ext uri="{BB962C8B-B14F-4D97-AF65-F5344CB8AC3E}">
        <p14:creationId xmlns:p14="http://schemas.microsoft.com/office/powerpoint/2010/main" val="36909284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881DB722-FA2D-8A95-7702-AB49EB895F2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A1AB09A-DD94-296E-455E-72B956116B0E}"/>
              </a:ext>
            </a:extLst>
          </p:cNvPr>
          <p:cNvSpPr txBox="1"/>
          <p:nvPr/>
        </p:nvSpPr>
        <p:spPr>
          <a:xfrm>
            <a:off x="650768" y="68580"/>
            <a:ext cx="8412480"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dirty="0">
                <a:ln>
                  <a:noFill/>
                </a:ln>
                <a:solidFill>
                  <a:srgbClr val="000000"/>
                </a:solidFill>
                <a:effectLst/>
                <a:uLnTx/>
                <a:uFillTx/>
                <a:latin typeface="Calibri"/>
                <a:ea typeface="+mn-ea"/>
                <a:cs typeface="+mn-cs"/>
              </a:rPr>
              <a:t>A good latent variable?</a:t>
            </a:r>
          </a:p>
        </p:txBody>
      </p:sp>
      <p:sp>
        <p:nvSpPr>
          <p:cNvPr id="6" name="TextBox 5">
            <a:extLst>
              <a:ext uri="{FF2B5EF4-FFF2-40B4-BE49-F238E27FC236}">
                <a16:creationId xmlns:a16="http://schemas.microsoft.com/office/drawing/2014/main" id="{F1804B54-0405-734B-6F60-0B78B348BD8B}"/>
              </a:ext>
            </a:extLst>
          </p:cNvPr>
          <p:cNvSpPr txBox="1"/>
          <p:nvPr/>
        </p:nvSpPr>
        <p:spPr>
          <a:xfrm>
            <a:off x="650768" y="926275"/>
            <a:ext cx="11141430" cy="478592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2000" b="0" i="0" u="none" strike="noStrike" kern="1200" cap="none" spc="0" normalizeH="0" baseline="0" noProof="0" dirty="0">
                <a:ln>
                  <a:noFill/>
                </a:ln>
                <a:solidFill>
                  <a:srgbClr val="323232"/>
                </a:solidFill>
                <a:effectLst/>
                <a:uLnTx/>
                <a:uFillTx/>
                <a:latin typeface="Calibri"/>
                <a:ea typeface="+mn-ea"/>
                <a:cs typeface="+mn-cs"/>
              </a:rPr>
              <a:t>•  </a:t>
            </a:r>
            <a:r>
              <a:rPr kumimoji="0" sz="2000" b="1" i="0" u="none" strike="noStrike" kern="1200" cap="none" spc="0" normalizeH="0" baseline="0" noProof="0" dirty="0">
                <a:ln>
                  <a:noFill/>
                </a:ln>
                <a:solidFill>
                  <a:srgbClr val="323232"/>
                </a:solidFill>
                <a:effectLst/>
                <a:uLnTx/>
                <a:uFillTx/>
                <a:latin typeface="Calibri"/>
                <a:ea typeface="+mn-ea"/>
                <a:cs typeface="+mn-cs"/>
              </a:rPr>
              <a:t>Convergent validity</a:t>
            </a:r>
            <a:r>
              <a:rPr kumimoji="0" sz="2000" b="0" i="0" u="none" strike="noStrike" kern="1200" cap="none" spc="0" normalizeH="0" baseline="0" noProof="0" dirty="0">
                <a:ln>
                  <a:noFill/>
                </a:ln>
                <a:solidFill>
                  <a:srgbClr val="323232"/>
                </a:solidFill>
                <a:effectLst/>
                <a:uLnTx/>
                <a:uFillTx/>
                <a:latin typeface="Calibri"/>
                <a:ea typeface="+mn-ea"/>
                <a:cs typeface="+mn-cs"/>
              </a:rPr>
              <a:t>: items that should measure the same thing DO correlate strongly</a:t>
            </a: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sz="2000" b="0" i="0" u="none" strike="noStrike" kern="1200" cap="none" spc="0" normalizeH="0" baseline="0" noProof="0" dirty="0">
                <a:ln>
                  <a:noFill/>
                </a:ln>
                <a:solidFill>
                  <a:srgbClr val="646464"/>
                </a:solidFill>
                <a:effectLst/>
                <a:uLnTx/>
                <a:uFillTx/>
                <a:latin typeface="Calibri"/>
                <a:ea typeface="+mn-ea"/>
                <a:cs typeface="+mn-cs"/>
              </a:rPr>
              <a:t>◦  Example: all anxiety items intercorrelate at r &gt; .40</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sz="2000" b="0" i="0" u="none" strike="noStrike" kern="1200" cap="none" spc="0" normalizeH="0" baseline="0" noProof="0" dirty="0">
              <a:ln>
                <a:noFill/>
              </a:ln>
              <a:solidFill>
                <a:srgbClr val="646464"/>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2000" b="0" i="0" u="none" strike="noStrike" kern="1200" cap="none" spc="0" normalizeH="0" baseline="0" noProof="0" dirty="0">
                <a:ln>
                  <a:noFill/>
                </a:ln>
                <a:solidFill>
                  <a:srgbClr val="323232"/>
                </a:solidFill>
                <a:effectLst/>
                <a:uLnTx/>
                <a:uFillTx/>
                <a:latin typeface="Calibri"/>
                <a:ea typeface="+mn-ea"/>
                <a:cs typeface="+mn-cs"/>
              </a:rPr>
              <a:t>•  </a:t>
            </a:r>
            <a:r>
              <a:rPr kumimoji="0" sz="2000" b="1" i="0" u="none" strike="noStrike" kern="1200" cap="none" spc="0" normalizeH="0" baseline="0" noProof="0" dirty="0">
                <a:ln>
                  <a:noFill/>
                </a:ln>
                <a:solidFill>
                  <a:srgbClr val="323232"/>
                </a:solidFill>
                <a:effectLst/>
                <a:uLnTx/>
                <a:uFillTx/>
                <a:latin typeface="Calibri"/>
                <a:ea typeface="+mn-ea"/>
                <a:cs typeface="+mn-cs"/>
              </a:rPr>
              <a:t>Discriminant validity</a:t>
            </a:r>
            <a:r>
              <a:rPr kumimoji="0" sz="2000" b="0" i="0" u="none" strike="noStrike" kern="1200" cap="none" spc="0" normalizeH="0" baseline="0" noProof="0" dirty="0">
                <a:ln>
                  <a:noFill/>
                </a:ln>
                <a:solidFill>
                  <a:srgbClr val="323232"/>
                </a:solidFill>
                <a:effectLst/>
                <a:uLnTx/>
                <a:uFillTx/>
                <a:latin typeface="Calibri"/>
                <a:ea typeface="+mn-ea"/>
                <a:cs typeface="+mn-cs"/>
              </a:rPr>
              <a:t>: the latent variable is distinct from other constructs</a:t>
            </a: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sz="2000" b="0" i="0" u="none" strike="noStrike" kern="1200" cap="none" spc="0" normalizeH="0" baseline="0" noProof="0" dirty="0">
                <a:ln>
                  <a:noFill/>
                </a:ln>
                <a:solidFill>
                  <a:srgbClr val="646464"/>
                </a:solidFill>
                <a:effectLst/>
                <a:uLnTx/>
                <a:uFillTx/>
                <a:latin typeface="Calibri"/>
                <a:ea typeface="+mn-ea"/>
                <a:cs typeface="+mn-cs"/>
              </a:rPr>
              <a:t>◦  Example: anxiety factor and depression factor are related but not identical (r ~ .50, not .95)</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sz="2000" b="0" i="0" u="none" strike="noStrike" kern="1200" cap="none" spc="0" normalizeH="0" baseline="0" noProof="0" dirty="0">
              <a:ln>
                <a:noFill/>
              </a:ln>
              <a:solidFill>
                <a:srgbClr val="646464"/>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2000" b="0" i="0" u="none" strike="noStrike" kern="1200" cap="none" spc="0" normalizeH="0" baseline="0" noProof="0" dirty="0">
                <a:ln>
                  <a:noFill/>
                </a:ln>
                <a:solidFill>
                  <a:srgbClr val="323232"/>
                </a:solidFill>
                <a:effectLst/>
                <a:uLnTx/>
                <a:uFillTx/>
                <a:latin typeface="Calibri"/>
                <a:ea typeface="+mn-ea"/>
                <a:cs typeface="+mn-cs"/>
              </a:rPr>
              <a:t>•  </a:t>
            </a:r>
            <a:r>
              <a:rPr kumimoji="0" sz="2000" b="1" i="0" u="none" strike="noStrike" kern="1200" cap="none" spc="0" normalizeH="0" baseline="0" noProof="0" dirty="0">
                <a:ln>
                  <a:noFill/>
                </a:ln>
                <a:solidFill>
                  <a:srgbClr val="323232"/>
                </a:solidFill>
                <a:effectLst/>
                <a:uLnTx/>
                <a:uFillTx/>
                <a:latin typeface="Calibri"/>
                <a:ea typeface="+mn-ea"/>
                <a:cs typeface="+mn-cs"/>
              </a:rPr>
              <a:t>Clear factor loadings</a:t>
            </a:r>
            <a:r>
              <a:rPr kumimoji="0" sz="2000" b="0" i="0" u="none" strike="noStrike" kern="1200" cap="none" spc="0" normalizeH="0" baseline="0" noProof="0" dirty="0">
                <a:ln>
                  <a:noFill/>
                </a:ln>
                <a:solidFill>
                  <a:srgbClr val="323232"/>
                </a:solidFill>
                <a:effectLst/>
                <a:uLnTx/>
                <a:uFillTx/>
                <a:latin typeface="Calibri"/>
                <a:ea typeface="+mn-ea"/>
                <a:cs typeface="+mn-cs"/>
              </a:rPr>
              <a:t>: items load strongly on their intended factor (ideally &gt; .50)</a:t>
            </a: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sz="2000" b="0" i="0" u="none" strike="noStrike" kern="1200" cap="none" spc="0" normalizeH="0" baseline="0" noProof="0" dirty="0">
                <a:ln>
                  <a:noFill/>
                </a:ln>
                <a:solidFill>
                  <a:srgbClr val="646464"/>
                </a:solidFill>
                <a:effectLst/>
                <a:uLnTx/>
                <a:uFillTx/>
                <a:latin typeface="Calibri"/>
                <a:ea typeface="+mn-ea"/>
                <a:cs typeface="+mn-cs"/>
              </a:rPr>
              <a:t>◦  Items with loadings &lt; .30 are weak indicators — consider removing them</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sz="2000" b="0" i="0" u="none" strike="noStrike" kern="1200" cap="none" spc="0" normalizeH="0" baseline="0" noProof="0" dirty="0">
              <a:ln>
                <a:noFill/>
              </a:ln>
              <a:solidFill>
                <a:srgbClr val="646464"/>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2000" b="0" i="0" u="none" strike="noStrike" kern="1200" cap="none" spc="0" normalizeH="0" baseline="0" noProof="0" dirty="0">
                <a:ln>
                  <a:noFill/>
                </a:ln>
                <a:solidFill>
                  <a:srgbClr val="323232"/>
                </a:solidFill>
                <a:effectLst/>
                <a:uLnTx/>
                <a:uFillTx/>
                <a:latin typeface="Calibri"/>
                <a:ea typeface="+mn-ea"/>
                <a:cs typeface="+mn-cs"/>
              </a:rPr>
              <a:t>•  Adequate sample size: at minimum 5–10 participants per item, ideally 200+ total</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sz="2000" b="0" i="0" u="none" strike="noStrike" kern="1200" cap="none" spc="0" normalizeH="0" baseline="0" noProof="0" dirty="0">
              <a:ln>
                <a:noFill/>
              </a:ln>
              <a:solidFill>
                <a:srgbClr val="323232"/>
              </a:solidFill>
              <a:effectLst/>
              <a:uLnTx/>
              <a:uFillTx/>
              <a:latin typeface="Calibri"/>
              <a:ea typeface="+mn-ea"/>
              <a:cs typeface="+mn-cs"/>
            </a:endParaRPr>
          </a:p>
          <a:p>
            <a:pPr marL="0" marR="0" lvl="0" indent="0" algn="l" defTabSz="914400" rtl="0" eaLnBrk="1" fontAlgn="auto" latinLnBrk="0" hangingPunct="1">
              <a:lnSpc>
                <a:spcPct val="100000"/>
              </a:lnSpc>
              <a:spcBef>
                <a:spcPts val="600"/>
              </a:spcBef>
              <a:spcAft>
                <a:spcPts val="0"/>
              </a:spcAft>
              <a:buClrTx/>
              <a:buSzTx/>
              <a:buFontTx/>
              <a:buNone/>
              <a:tabLst/>
              <a:defRPr/>
            </a:pPr>
            <a:r>
              <a:rPr kumimoji="0" sz="2000" b="1" i="0" u="none" strike="noStrike" kern="1200" cap="none" spc="0" normalizeH="0" baseline="0" noProof="0" dirty="0">
                <a:ln>
                  <a:noFill/>
                </a:ln>
                <a:solidFill>
                  <a:srgbClr val="1F497D"/>
                </a:solidFill>
                <a:effectLst/>
                <a:uLnTx/>
                <a:uFillTx/>
                <a:latin typeface="Calibri"/>
                <a:ea typeface="+mn-ea"/>
                <a:cs typeface="+mn-cs"/>
              </a:rPr>
              <a:t>CRONBACH'S ALPHA NOTE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sz="2000" b="0" i="0" u="none" strike="noStrike" kern="1200" cap="none" spc="0" normalizeH="0" baseline="0" noProof="0" dirty="0">
                <a:ln>
                  <a:noFill/>
                </a:ln>
                <a:solidFill>
                  <a:srgbClr val="323232"/>
                </a:solidFill>
                <a:effectLst/>
                <a:uLnTx/>
                <a:uFillTx/>
                <a:latin typeface="Calibri"/>
                <a:ea typeface="+mn-ea"/>
                <a:cs typeface="+mn-cs"/>
              </a:rPr>
              <a:t>You may see Cronbach's alpha reported alongside EFA. Alpha measures internal consistency (do items correlate?). However, alpha does NOT confirm unidimensionality — that requires factor analysis. You can have high alpha with multiple factors!</a:t>
            </a:r>
          </a:p>
        </p:txBody>
      </p:sp>
    </p:spTree>
    <p:extLst>
      <p:ext uri="{BB962C8B-B14F-4D97-AF65-F5344CB8AC3E}">
        <p14:creationId xmlns:p14="http://schemas.microsoft.com/office/powerpoint/2010/main" val="25186822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67AB4891-144B-8CF0-6D3C-F8FE48996A1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9C40E9B-96B2-D4BC-628F-17FAC8253A46}"/>
              </a:ext>
            </a:extLst>
          </p:cNvPr>
          <p:cNvSpPr txBox="1"/>
          <p:nvPr/>
        </p:nvSpPr>
        <p:spPr>
          <a:xfrm>
            <a:off x="852647" y="112708"/>
            <a:ext cx="8412480"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3600" b="0" i="0" u="none" strike="noStrike" kern="1200" cap="none" spc="0" normalizeH="0" baseline="0" noProof="0" dirty="0">
                <a:ln>
                  <a:noFill/>
                </a:ln>
                <a:solidFill>
                  <a:srgbClr val="000000"/>
                </a:solidFill>
                <a:effectLst/>
                <a:uLnTx/>
                <a:uFillTx/>
                <a:latin typeface="Calibri"/>
                <a:ea typeface="+mn-ea"/>
                <a:cs typeface="+mn-cs"/>
              </a:rPr>
              <a:t>EFA vs LCA: Same Goal, Different Approach</a:t>
            </a:r>
          </a:p>
        </p:txBody>
      </p:sp>
      <p:sp>
        <p:nvSpPr>
          <p:cNvPr id="6" name="TextBox 5">
            <a:extLst>
              <a:ext uri="{FF2B5EF4-FFF2-40B4-BE49-F238E27FC236}">
                <a16:creationId xmlns:a16="http://schemas.microsoft.com/office/drawing/2014/main" id="{4E0A4958-DB02-8D5B-D821-63892E8419E2}"/>
              </a:ext>
            </a:extLst>
          </p:cNvPr>
          <p:cNvSpPr txBox="1"/>
          <p:nvPr/>
        </p:nvSpPr>
        <p:spPr>
          <a:xfrm>
            <a:off x="852647" y="728260"/>
            <a:ext cx="10820797" cy="6017032"/>
          </a:xfrm>
          <a:prstGeom prst="rect">
            <a:avLst/>
          </a:prstGeom>
          <a:noFill/>
        </p:spPr>
        <p:txBody>
          <a:bodyPr wrap="square">
            <a:spAutoFit/>
          </a:bodyPr>
          <a:lstStyle/>
          <a:p>
            <a:pPr marL="0" marR="0" lvl="0" indent="0" algn="l" defTabSz="914400" rtl="0" eaLnBrk="1" fontAlgn="auto" latinLnBrk="0" hangingPunct="1">
              <a:lnSpc>
                <a:spcPct val="100000"/>
              </a:lnSpc>
              <a:spcBef>
                <a:spcPts val="800"/>
              </a:spcBef>
              <a:spcAft>
                <a:spcPts val="0"/>
              </a:spcAft>
              <a:buClrTx/>
              <a:buSzTx/>
              <a:buFontTx/>
              <a:buNone/>
              <a:tabLst/>
              <a:defRPr/>
            </a:pPr>
            <a:r>
              <a:rPr kumimoji="0" sz="2000" b="1" i="0" u="none" strike="noStrike" kern="1200" cap="none" spc="0" normalizeH="0" baseline="0" noProof="0" dirty="0">
                <a:ln>
                  <a:noFill/>
                </a:ln>
                <a:solidFill>
                  <a:srgbClr val="000000"/>
                </a:solidFill>
                <a:effectLst/>
                <a:uLnTx/>
                <a:uFillTx/>
                <a:latin typeface="Calibri"/>
                <a:ea typeface="+mn-ea"/>
                <a:cs typeface="+mn-cs"/>
              </a:rPr>
              <a:t>Both EFA and LCA reduce complexity. But they do it differently:</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sz="2000" b="1" i="0" u="none" strike="noStrike" kern="1200" cap="none" spc="0" normalizeH="0" baseline="0" noProof="0" dirty="0">
              <a:ln>
                <a:noFill/>
              </a:ln>
              <a:solidFill>
                <a:srgbClr val="000000"/>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2000" b="0" i="0" u="none" strike="noStrike" kern="1200" cap="none" spc="0" normalizeH="0" baseline="0" noProof="0" dirty="0">
                <a:ln>
                  <a:noFill/>
                </a:ln>
                <a:solidFill>
                  <a:srgbClr val="323232"/>
                </a:solidFill>
                <a:effectLst/>
                <a:uLnTx/>
                <a:uFillTx/>
                <a:latin typeface="Calibri"/>
                <a:ea typeface="+mn-ea"/>
                <a:cs typeface="+mn-cs"/>
              </a:rPr>
              <a:t>Feature                  </a:t>
            </a:r>
            <a:r>
              <a:rPr kumimoji="0" lang="en-US" sz="2000" b="0" i="0" u="none" strike="noStrike" kern="1200" cap="none" spc="0" normalizeH="0" baseline="0" noProof="0" dirty="0">
                <a:ln>
                  <a:noFill/>
                </a:ln>
                <a:solidFill>
                  <a:srgbClr val="323232"/>
                </a:solidFill>
                <a:effectLst/>
                <a:uLnTx/>
                <a:uFillTx/>
                <a:latin typeface="Calibri"/>
                <a:ea typeface="+mn-ea"/>
                <a:cs typeface="+mn-cs"/>
              </a:rPr>
              <a:t>		</a:t>
            </a:r>
            <a:r>
              <a:rPr kumimoji="0" sz="2000" b="0" i="0" u="none" strike="noStrike" kern="1200" cap="none" spc="0" normalizeH="0" baseline="0" noProof="0" dirty="0">
                <a:ln>
                  <a:noFill/>
                </a:ln>
                <a:solidFill>
                  <a:srgbClr val="323232"/>
                </a:solidFill>
                <a:effectLst/>
                <a:uLnTx/>
                <a:uFillTx/>
                <a:latin typeface="Calibri"/>
                <a:ea typeface="+mn-ea"/>
                <a:cs typeface="+mn-cs"/>
              </a:rPr>
              <a:t>EFA                       </a:t>
            </a:r>
            <a:r>
              <a:rPr kumimoji="0" lang="en-US" sz="2000" b="0" i="0" u="none" strike="noStrike" kern="1200" cap="none" spc="0" normalizeH="0" baseline="0" noProof="0" dirty="0">
                <a:ln>
                  <a:noFill/>
                </a:ln>
                <a:solidFill>
                  <a:srgbClr val="323232"/>
                </a:solidFill>
                <a:effectLst/>
                <a:uLnTx/>
                <a:uFillTx/>
                <a:latin typeface="Calibri"/>
                <a:ea typeface="+mn-ea"/>
                <a:cs typeface="+mn-cs"/>
              </a:rPr>
              <a:t>			</a:t>
            </a:r>
            <a:r>
              <a:rPr kumimoji="0" sz="2000" b="0" i="0" u="none" strike="noStrike" kern="1200" cap="none" spc="0" normalizeH="0" baseline="0" noProof="0" dirty="0">
                <a:ln>
                  <a:noFill/>
                </a:ln>
                <a:solidFill>
                  <a:srgbClr val="323232"/>
                </a:solidFill>
                <a:effectLst/>
                <a:uLnTx/>
                <a:uFillTx/>
                <a:latin typeface="Calibri"/>
                <a:ea typeface="+mn-ea"/>
                <a:cs typeface="+mn-cs"/>
              </a:rPr>
              <a:t>LCA</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sz="2000" b="0" i="0" u="none" strike="noStrike" kern="1200" cap="none" spc="0" normalizeH="0" baseline="0" noProof="0" dirty="0">
                <a:ln>
                  <a:noFill/>
                </a:ln>
                <a:solidFill>
                  <a:srgbClr val="323232"/>
                </a:solidFill>
                <a:effectLst/>
                <a:uLnTx/>
                <a:uFillTx/>
                <a:latin typeface="Calibri"/>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sz="2000" b="0" i="0" u="none" strike="noStrike" kern="1200" cap="none" spc="0" normalizeH="0" baseline="0" noProof="0" dirty="0">
                <a:ln>
                  <a:noFill/>
                </a:ln>
                <a:solidFill>
                  <a:srgbClr val="323232"/>
                </a:solidFill>
                <a:effectLst/>
                <a:uLnTx/>
                <a:uFillTx/>
                <a:latin typeface="Calibri"/>
                <a:ea typeface="+mn-ea"/>
                <a:cs typeface="+mn-cs"/>
              </a:rPr>
              <a:t>Type of latent variable  </a:t>
            </a:r>
            <a:r>
              <a:rPr kumimoji="0" lang="en-US" sz="2000" b="0" i="0" u="none" strike="noStrike" kern="1200" cap="none" spc="0" normalizeH="0" baseline="0" noProof="0" dirty="0">
                <a:ln>
                  <a:noFill/>
                </a:ln>
                <a:solidFill>
                  <a:srgbClr val="323232"/>
                </a:solidFill>
                <a:effectLst/>
                <a:uLnTx/>
                <a:uFillTx/>
                <a:latin typeface="Calibri"/>
                <a:ea typeface="+mn-ea"/>
                <a:cs typeface="+mn-cs"/>
              </a:rPr>
              <a:t>	</a:t>
            </a:r>
            <a:r>
              <a:rPr kumimoji="0" sz="2000" b="0" i="0" u="none" strike="noStrike" kern="1200" cap="none" spc="0" normalizeH="0" baseline="0" noProof="0" dirty="0">
                <a:ln>
                  <a:noFill/>
                </a:ln>
                <a:solidFill>
                  <a:srgbClr val="323232"/>
                </a:solidFill>
                <a:effectLst/>
                <a:uLnTx/>
                <a:uFillTx/>
                <a:latin typeface="Calibri"/>
                <a:ea typeface="+mn-ea"/>
                <a:cs typeface="+mn-cs"/>
              </a:rPr>
              <a:t>Continuous factor          </a:t>
            </a:r>
            <a:r>
              <a:rPr kumimoji="0" lang="en-US" sz="2000" b="0" i="0" u="none" strike="noStrike" kern="1200" cap="none" spc="0" normalizeH="0" baseline="0" noProof="0" dirty="0">
                <a:ln>
                  <a:noFill/>
                </a:ln>
                <a:solidFill>
                  <a:srgbClr val="323232"/>
                </a:solidFill>
                <a:effectLst/>
                <a:uLnTx/>
                <a:uFillTx/>
                <a:latin typeface="Calibri"/>
                <a:ea typeface="+mn-ea"/>
                <a:cs typeface="+mn-cs"/>
              </a:rPr>
              <a:t>		</a:t>
            </a:r>
            <a:r>
              <a:rPr kumimoji="0" sz="2000" b="0" i="0" u="none" strike="noStrike" kern="1200" cap="none" spc="0" normalizeH="0" baseline="0" noProof="0" dirty="0">
                <a:ln>
                  <a:noFill/>
                </a:ln>
                <a:solidFill>
                  <a:srgbClr val="323232"/>
                </a:solidFill>
                <a:effectLst/>
                <a:uLnTx/>
                <a:uFillTx/>
                <a:latin typeface="Calibri"/>
                <a:ea typeface="+mn-ea"/>
                <a:cs typeface="+mn-cs"/>
              </a:rPr>
              <a:t>Categorical class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sz="2000" b="0" i="0" u="none" strike="noStrike" kern="1200" cap="none" spc="0" normalizeH="0" baseline="0" noProof="0" dirty="0">
                <a:ln>
                  <a:noFill/>
                </a:ln>
                <a:solidFill>
                  <a:srgbClr val="323232"/>
                </a:solidFill>
                <a:effectLst/>
                <a:uLnTx/>
                <a:uFillTx/>
                <a:latin typeface="Calibri"/>
                <a:ea typeface="+mn-ea"/>
                <a:cs typeface="+mn-cs"/>
              </a:rPr>
              <a:t>Grouping unit            </a:t>
            </a:r>
            <a:r>
              <a:rPr kumimoji="0" lang="en-US" sz="2000" b="0" i="0" u="none" strike="noStrike" kern="1200" cap="none" spc="0" normalizeH="0" baseline="0" noProof="0" dirty="0">
                <a:ln>
                  <a:noFill/>
                </a:ln>
                <a:solidFill>
                  <a:srgbClr val="323232"/>
                </a:solidFill>
                <a:effectLst/>
                <a:uLnTx/>
                <a:uFillTx/>
                <a:latin typeface="Calibri"/>
                <a:ea typeface="+mn-ea"/>
                <a:cs typeface="+mn-cs"/>
              </a:rPr>
              <a:t>	</a:t>
            </a:r>
            <a:r>
              <a:rPr kumimoji="0" sz="2000" b="0" i="0" u="none" strike="noStrike" kern="1200" cap="none" spc="0" normalizeH="0" baseline="0" noProof="0" dirty="0">
                <a:ln>
                  <a:noFill/>
                </a:ln>
                <a:solidFill>
                  <a:srgbClr val="323232"/>
                </a:solidFill>
                <a:effectLst/>
                <a:uLnTx/>
                <a:uFillTx/>
                <a:latin typeface="Calibri"/>
                <a:ea typeface="+mn-ea"/>
                <a:cs typeface="+mn-cs"/>
              </a:rPr>
              <a:t>Variables                  </a:t>
            </a:r>
            <a:r>
              <a:rPr kumimoji="0" lang="en-US" sz="2000" b="0" i="0" u="none" strike="noStrike" kern="1200" cap="none" spc="0" normalizeH="0" baseline="0" noProof="0" dirty="0">
                <a:ln>
                  <a:noFill/>
                </a:ln>
                <a:solidFill>
                  <a:srgbClr val="323232"/>
                </a:solidFill>
                <a:effectLst/>
                <a:uLnTx/>
                <a:uFillTx/>
                <a:latin typeface="Calibri"/>
                <a:ea typeface="+mn-ea"/>
                <a:cs typeface="+mn-cs"/>
              </a:rPr>
              <a:t>		</a:t>
            </a:r>
            <a:r>
              <a:rPr kumimoji="0" sz="2000" b="0" i="0" u="none" strike="noStrike" kern="1200" cap="none" spc="0" normalizeH="0" baseline="0" noProof="0" dirty="0">
                <a:ln>
                  <a:noFill/>
                </a:ln>
                <a:solidFill>
                  <a:srgbClr val="323232"/>
                </a:solidFill>
                <a:effectLst/>
                <a:uLnTx/>
                <a:uFillTx/>
                <a:latin typeface="Calibri"/>
                <a:ea typeface="+mn-ea"/>
                <a:cs typeface="+mn-cs"/>
              </a:rPr>
              <a:t>People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sz="2000" b="0" i="0" u="none" strike="noStrike" kern="1200" cap="none" spc="0" normalizeH="0" baseline="0" noProof="0" dirty="0">
                <a:ln>
                  <a:noFill/>
                </a:ln>
                <a:solidFill>
                  <a:srgbClr val="323232"/>
                </a:solidFill>
                <a:effectLst/>
                <a:uLnTx/>
                <a:uFillTx/>
                <a:latin typeface="Calibri"/>
                <a:ea typeface="+mn-ea"/>
                <a:cs typeface="+mn-cs"/>
              </a:rPr>
              <a:t>Output                   </a:t>
            </a:r>
            <a:r>
              <a:rPr kumimoji="0" lang="en-US" sz="2000" b="0" i="0" u="none" strike="noStrike" kern="1200" cap="none" spc="0" normalizeH="0" baseline="0" noProof="0" dirty="0">
                <a:ln>
                  <a:noFill/>
                </a:ln>
                <a:solidFill>
                  <a:srgbClr val="323232"/>
                </a:solidFill>
                <a:effectLst/>
                <a:uLnTx/>
                <a:uFillTx/>
                <a:latin typeface="Calibri"/>
                <a:ea typeface="+mn-ea"/>
                <a:cs typeface="+mn-cs"/>
              </a:rPr>
              <a:t>		</a:t>
            </a:r>
            <a:r>
              <a:rPr kumimoji="0" sz="2000" b="0" i="0" u="none" strike="noStrike" kern="1200" cap="none" spc="0" normalizeH="0" baseline="0" noProof="0" dirty="0">
                <a:ln>
                  <a:noFill/>
                </a:ln>
                <a:solidFill>
                  <a:srgbClr val="323232"/>
                </a:solidFill>
                <a:effectLst/>
                <a:uLnTx/>
                <a:uFillTx/>
                <a:latin typeface="Calibri"/>
                <a:ea typeface="+mn-ea"/>
                <a:cs typeface="+mn-cs"/>
              </a:rPr>
              <a:t>Factor scores (continuous) </a:t>
            </a:r>
            <a:r>
              <a:rPr kumimoji="0" lang="en-US" sz="2000" b="0" i="0" u="none" strike="noStrike" kern="1200" cap="none" spc="0" normalizeH="0" baseline="0" noProof="0" dirty="0">
                <a:ln>
                  <a:noFill/>
                </a:ln>
                <a:solidFill>
                  <a:srgbClr val="323232"/>
                </a:solidFill>
                <a:effectLst/>
                <a:uLnTx/>
                <a:uFillTx/>
                <a:latin typeface="Calibri"/>
                <a:ea typeface="+mn-ea"/>
                <a:cs typeface="+mn-cs"/>
              </a:rPr>
              <a:t>	</a:t>
            </a:r>
            <a:r>
              <a:rPr kumimoji="0" sz="2000" b="0" i="0" u="none" strike="noStrike" kern="1200" cap="none" spc="0" normalizeH="0" baseline="0" noProof="0" dirty="0">
                <a:ln>
                  <a:noFill/>
                </a:ln>
                <a:solidFill>
                  <a:srgbClr val="323232"/>
                </a:solidFill>
                <a:effectLst/>
                <a:uLnTx/>
                <a:uFillTx/>
                <a:latin typeface="Calibri"/>
                <a:ea typeface="+mn-ea"/>
                <a:cs typeface="+mn-cs"/>
              </a:rPr>
              <a:t>Class membership (discrete)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sz="2000" b="0" i="0" u="none" strike="noStrike" kern="1200" cap="none" spc="0" normalizeH="0" baseline="0" noProof="0" dirty="0">
                <a:ln>
                  <a:noFill/>
                </a:ln>
                <a:solidFill>
                  <a:srgbClr val="323232"/>
                </a:solidFill>
                <a:effectLst/>
                <a:uLnTx/>
                <a:uFillTx/>
                <a:latin typeface="Calibri"/>
                <a:ea typeface="+mn-ea"/>
                <a:cs typeface="+mn-cs"/>
              </a:rPr>
              <a:t>Assumes                  </a:t>
            </a:r>
            <a:r>
              <a:rPr kumimoji="0" lang="en-US" sz="2000" b="0" i="0" u="none" strike="noStrike" kern="1200" cap="none" spc="0" normalizeH="0" baseline="0" noProof="0" dirty="0">
                <a:ln>
                  <a:noFill/>
                </a:ln>
                <a:solidFill>
                  <a:srgbClr val="323232"/>
                </a:solidFill>
                <a:effectLst/>
                <a:uLnTx/>
                <a:uFillTx/>
                <a:latin typeface="Calibri"/>
                <a:ea typeface="+mn-ea"/>
                <a:cs typeface="+mn-cs"/>
              </a:rPr>
              <a:t>	</a:t>
            </a:r>
            <a:r>
              <a:rPr kumimoji="0" sz="2000" b="0" i="0" u="none" strike="noStrike" kern="1200" cap="none" spc="0" normalizeH="0" baseline="0" noProof="0" dirty="0">
                <a:ln>
                  <a:noFill/>
                </a:ln>
                <a:solidFill>
                  <a:srgbClr val="323232"/>
                </a:solidFill>
                <a:effectLst/>
                <a:uLnTx/>
                <a:uFillTx/>
                <a:latin typeface="Calibri"/>
                <a:ea typeface="+mn-ea"/>
                <a:cs typeface="+mn-cs"/>
              </a:rPr>
              <a:t>Everyone is on a continuum </a:t>
            </a:r>
            <a:r>
              <a:rPr kumimoji="0" lang="en-US" sz="2000" b="0" i="0" u="none" strike="noStrike" kern="1200" cap="none" spc="0" normalizeH="0" baseline="0" noProof="0" dirty="0">
                <a:ln>
                  <a:noFill/>
                </a:ln>
                <a:solidFill>
                  <a:srgbClr val="323232"/>
                </a:solidFill>
                <a:effectLst/>
                <a:uLnTx/>
                <a:uFillTx/>
                <a:latin typeface="Calibri"/>
                <a:ea typeface="+mn-ea"/>
                <a:cs typeface="+mn-cs"/>
              </a:rPr>
              <a:t>	</a:t>
            </a:r>
            <a:r>
              <a:rPr kumimoji="0" sz="2000" b="0" i="0" u="none" strike="noStrike" kern="1200" cap="none" spc="0" normalizeH="0" baseline="0" noProof="0" dirty="0">
                <a:ln>
                  <a:noFill/>
                </a:ln>
                <a:solidFill>
                  <a:srgbClr val="323232"/>
                </a:solidFill>
                <a:effectLst/>
                <a:uLnTx/>
                <a:uFillTx/>
                <a:latin typeface="Calibri"/>
                <a:ea typeface="+mn-ea"/>
                <a:cs typeface="+mn-cs"/>
              </a:rPr>
              <a:t>People fall into distinct groups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sz="2000" b="0" i="0" u="none" strike="noStrike" kern="1200" cap="none" spc="0" normalizeH="0" baseline="0" noProof="0" dirty="0">
                <a:ln>
                  <a:noFill/>
                </a:ln>
                <a:solidFill>
                  <a:srgbClr val="323232"/>
                </a:solidFill>
                <a:effectLst/>
                <a:uLnTx/>
                <a:uFillTx/>
                <a:latin typeface="Calibri"/>
                <a:ea typeface="+mn-ea"/>
                <a:cs typeface="+mn-cs"/>
              </a:rPr>
              <a:t>Use case                </a:t>
            </a:r>
            <a:r>
              <a:rPr kumimoji="0" lang="en-US" sz="2000" b="0" i="0" u="none" strike="noStrike" kern="1200" cap="none" spc="0" normalizeH="0" baseline="0" noProof="0" dirty="0">
                <a:ln>
                  <a:noFill/>
                </a:ln>
                <a:solidFill>
                  <a:srgbClr val="323232"/>
                </a:solidFill>
                <a:effectLst/>
                <a:uLnTx/>
                <a:uFillTx/>
                <a:latin typeface="Calibri"/>
                <a:ea typeface="+mn-ea"/>
                <a:cs typeface="+mn-cs"/>
              </a:rPr>
              <a:t>		</a:t>
            </a:r>
            <a:r>
              <a:rPr kumimoji="0" sz="2000" b="0" i="0" u="none" strike="noStrike" kern="1200" cap="none" spc="0" normalizeH="0" baseline="0" noProof="0" dirty="0">
                <a:ln>
                  <a:noFill/>
                </a:ln>
                <a:solidFill>
                  <a:srgbClr val="323232"/>
                </a:solidFill>
                <a:effectLst/>
                <a:uLnTx/>
                <a:uFillTx/>
                <a:latin typeface="Calibri"/>
                <a:ea typeface="+mn-ea"/>
                <a:cs typeface="+mn-cs"/>
              </a:rPr>
              <a:t>'What dimensions exist?'   </a:t>
            </a:r>
            <a:r>
              <a:rPr kumimoji="0" lang="en-US" sz="2000" b="0" i="0" u="none" strike="noStrike" kern="1200" cap="none" spc="0" normalizeH="0" baseline="0" noProof="0" dirty="0">
                <a:ln>
                  <a:noFill/>
                </a:ln>
                <a:solidFill>
                  <a:srgbClr val="323232"/>
                </a:solidFill>
                <a:effectLst/>
                <a:uLnTx/>
                <a:uFillTx/>
                <a:latin typeface="Calibri"/>
                <a:ea typeface="+mn-ea"/>
                <a:cs typeface="+mn-cs"/>
              </a:rPr>
              <a:t>		</a:t>
            </a:r>
            <a:r>
              <a:rPr kumimoji="0" sz="2000" b="0" i="0" u="none" strike="noStrike" kern="1200" cap="none" spc="0" normalizeH="0" baseline="0" noProof="0" dirty="0">
                <a:ln>
                  <a:noFill/>
                </a:ln>
                <a:solidFill>
                  <a:srgbClr val="323232"/>
                </a:solidFill>
                <a:effectLst/>
                <a:uLnTx/>
                <a:uFillTx/>
                <a:latin typeface="Calibri"/>
                <a:ea typeface="+mn-ea"/>
                <a:cs typeface="+mn-cs"/>
              </a:rPr>
              <a:t>'What types of people exist?'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sz="2000" b="0" i="0" u="none" strike="noStrike" kern="1200" cap="none" spc="0" normalizeH="0" baseline="0" noProof="0" dirty="0">
              <a:ln>
                <a:noFill/>
              </a:ln>
              <a:solidFill>
                <a:srgbClr val="323232"/>
              </a:solidFill>
              <a:effectLst/>
              <a:uLnTx/>
              <a:uFillTx/>
              <a:latin typeface="Calibri"/>
              <a:ea typeface="+mn-ea"/>
              <a:cs typeface="+mn-cs"/>
            </a:endParaRPr>
          </a:p>
          <a:p>
            <a:pPr marL="0" marR="0" lvl="0" indent="0" algn="l" defTabSz="914400" rtl="0" eaLnBrk="1" fontAlgn="auto" latinLnBrk="0" hangingPunct="1">
              <a:lnSpc>
                <a:spcPct val="100000"/>
              </a:lnSpc>
              <a:spcBef>
                <a:spcPts val="600"/>
              </a:spcBef>
              <a:spcAft>
                <a:spcPts val="0"/>
              </a:spcAft>
              <a:buClrTx/>
              <a:buSzTx/>
              <a:buFontTx/>
              <a:buNone/>
              <a:tabLst/>
              <a:defRPr/>
            </a:pPr>
            <a:r>
              <a:rPr kumimoji="0" sz="2000" b="1" i="0" u="none" strike="noStrike" kern="1200" cap="none" spc="0" normalizeH="0" baseline="0" noProof="0" dirty="0">
                <a:ln>
                  <a:noFill/>
                </a:ln>
                <a:solidFill>
                  <a:srgbClr val="1F497D"/>
                </a:solidFill>
                <a:effectLst/>
                <a:uLnTx/>
                <a:uFillTx/>
                <a:latin typeface="Calibri"/>
                <a:ea typeface="+mn-ea"/>
                <a:cs typeface="+mn-cs"/>
              </a:rPr>
              <a:t>ANALOGY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sz="2000" b="0" i="0" u="none" strike="noStrike" kern="1200" cap="none" spc="0" normalizeH="0" baseline="0" noProof="0" dirty="0">
                <a:ln>
                  <a:noFill/>
                </a:ln>
                <a:solidFill>
                  <a:srgbClr val="323232"/>
                </a:solidFill>
                <a:effectLst/>
                <a:uLnTx/>
                <a:uFillTx/>
                <a:latin typeface="Calibri"/>
                <a:ea typeface="+mn-ea"/>
                <a:cs typeface="+mn-cs"/>
              </a:rPr>
              <a:t>EFA says: 'People vary from low to high on Anxiety.' (a dimension)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sz="2000" b="0" i="0" u="none" strike="noStrike" kern="1200" cap="none" spc="0" normalizeH="0" baseline="0" noProof="0" dirty="0">
                <a:ln>
                  <a:noFill/>
                </a:ln>
                <a:solidFill>
                  <a:srgbClr val="323232"/>
                </a:solidFill>
                <a:effectLst/>
                <a:uLnTx/>
                <a:uFillTx/>
                <a:latin typeface="Calibri"/>
                <a:ea typeface="+mn-ea"/>
                <a:cs typeface="+mn-cs"/>
              </a:rPr>
              <a:t>LCA says: 'There are three types: the Worriers, the Situationally Anxious, and the Non-Anxious.' (categories)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sz="2000" b="0" i="0" u="none" strike="noStrike" kern="1200" cap="none" spc="0" normalizeH="0" baseline="0" noProof="0" dirty="0">
              <a:ln>
                <a:noFill/>
              </a:ln>
              <a:solidFill>
                <a:srgbClr val="323232"/>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2000" b="0" i="0" u="none" strike="noStrike" kern="1200" cap="none" spc="0" normalizeH="0" baseline="0" noProof="0" dirty="0">
                <a:ln>
                  <a:noFill/>
                </a:ln>
                <a:solidFill>
                  <a:srgbClr val="323232"/>
                </a:solidFill>
                <a:effectLst/>
                <a:uLnTx/>
                <a:uFillTx/>
                <a:latin typeface="Calibri"/>
                <a:ea typeface="+mn-ea"/>
                <a:cs typeface="+mn-cs"/>
              </a:rPr>
              <a:t>Neither is 'right' or 'wrong' — the choice depends on whether you believe the underlying structure is truly continuous or truly categorical.</a:t>
            </a:r>
            <a:r>
              <a:rPr kumimoji="0" lang="en-US" sz="2000" b="0" i="0" u="none" strike="noStrike" kern="1200" cap="none" spc="0" normalizeH="0" baseline="0" noProof="0" dirty="0">
                <a:ln>
                  <a:noFill/>
                </a:ln>
                <a:solidFill>
                  <a:srgbClr val="323232"/>
                </a:solidFill>
                <a:effectLst/>
                <a:uLnTx/>
                <a:uFillTx/>
                <a:latin typeface="Calibri"/>
                <a:ea typeface="+mn-ea"/>
                <a:cs typeface="+mn-cs"/>
              </a:rPr>
              <a:t> Both provide more parsimonious ways to view relationships among indicators as the number of latent variables is less than the number of observed variables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sz="2000" b="0" i="0" u="none" strike="noStrike" kern="1200" cap="none" spc="0" normalizeH="0" baseline="0" noProof="0" dirty="0">
              <a:ln>
                <a:noFill/>
              </a:ln>
              <a:solidFill>
                <a:srgbClr val="323232"/>
              </a:solidFill>
              <a:effectLst/>
              <a:uLnTx/>
              <a:uFillTx/>
              <a:latin typeface="Calibri"/>
              <a:ea typeface="+mn-ea"/>
              <a:cs typeface="+mn-cs"/>
            </a:endParaRPr>
          </a:p>
        </p:txBody>
      </p:sp>
    </p:spTree>
    <p:extLst>
      <p:ext uri="{BB962C8B-B14F-4D97-AF65-F5344CB8AC3E}">
        <p14:creationId xmlns:p14="http://schemas.microsoft.com/office/powerpoint/2010/main" val="5397090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E857A8-5C9D-4D1F-BAF8-AD229ACD7130}"/>
              </a:ext>
            </a:extLst>
          </p:cNvPr>
          <p:cNvSpPr>
            <a:spLocks noGrp="1"/>
          </p:cNvSpPr>
          <p:nvPr>
            <p:ph type="title"/>
          </p:nvPr>
        </p:nvSpPr>
        <p:spPr>
          <a:xfrm>
            <a:off x="571328" y="200669"/>
            <a:ext cx="9760206" cy="677020"/>
          </a:xfrm>
        </p:spPr>
        <p:txBody>
          <a:bodyPr>
            <a:normAutofit/>
          </a:bodyPr>
          <a:lstStyle/>
          <a:p>
            <a:pPr algn="l"/>
            <a:r>
              <a:rPr lang="en-US" sz="3600" dirty="0">
                <a:solidFill>
                  <a:srgbClr val="000000"/>
                </a:solidFill>
                <a:latin typeface="Calibri"/>
              </a:rPr>
              <a:t>LCA is a special case of a mixture model</a:t>
            </a:r>
          </a:p>
        </p:txBody>
      </p:sp>
      <p:sp>
        <p:nvSpPr>
          <p:cNvPr id="3" name="Content Placeholder 2">
            <a:extLst>
              <a:ext uri="{FF2B5EF4-FFF2-40B4-BE49-F238E27FC236}">
                <a16:creationId xmlns:a16="http://schemas.microsoft.com/office/drawing/2014/main" id="{00DDADA3-905D-42C5-8A35-2B1737391694}"/>
              </a:ext>
            </a:extLst>
          </p:cNvPr>
          <p:cNvSpPr>
            <a:spLocks noGrp="1"/>
          </p:cNvSpPr>
          <p:nvPr>
            <p:ph idx="1"/>
          </p:nvPr>
        </p:nvSpPr>
        <p:spPr>
          <a:xfrm>
            <a:off x="571328" y="972691"/>
            <a:ext cx="11256495" cy="3785419"/>
          </a:xfrm>
        </p:spPr>
        <p:txBody>
          <a:bodyPr>
            <a:normAutofit/>
          </a:bodyPr>
          <a:lstStyle/>
          <a:p>
            <a:r>
              <a:rPr lang="en-US" sz="2000" dirty="0">
                <a:solidFill>
                  <a:srgbClr val="202122"/>
                </a:solidFill>
              </a:rPr>
              <a:t>A mixture model is a </a:t>
            </a:r>
            <a:r>
              <a:rPr lang="en-US" sz="2000" b="1" i="1" dirty="0">
                <a:solidFill>
                  <a:srgbClr val="202122"/>
                </a:solidFill>
              </a:rPr>
              <a:t>probabilistic model for representing the presence of subpopulations </a:t>
            </a:r>
            <a:r>
              <a:rPr lang="en-US" sz="2000" dirty="0">
                <a:solidFill>
                  <a:srgbClr val="202122"/>
                </a:solidFill>
              </a:rPr>
              <a:t>within an overall population </a:t>
            </a:r>
            <a:r>
              <a:rPr lang="en-US" sz="2000" dirty="0">
                <a:solidFill>
                  <a:srgbClr val="202122"/>
                </a:solidFill>
                <a:sym typeface="Wingdings" panose="05000000000000000000" pitchFamily="2" charset="2"/>
              </a:rPr>
              <a:t> </a:t>
            </a:r>
            <a:r>
              <a:rPr lang="en-US" sz="2000" dirty="0"/>
              <a:t>Modeling a “mixture” of sub-groups within a population</a:t>
            </a:r>
          </a:p>
          <a:p>
            <a:r>
              <a:rPr lang="en-US" sz="2000" dirty="0">
                <a:solidFill>
                  <a:srgbClr val="202122"/>
                </a:solidFill>
              </a:rPr>
              <a:t>No requirement that an observed data set should identify the sub-population to which an individual observation belongs</a:t>
            </a:r>
            <a:endParaRPr lang="en-US" sz="2000" dirty="0"/>
          </a:p>
          <a:p>
            <a:r>
              <a:rPr lang="en-US" sz="2000" dirty="0"/>
              <a:t>Assumes</a:t>
            </a:r>
          </a:p>
          <a:p>
            <a:pPr lvl="1"/>
            <a:r>
              <a:rPr lang="en-US" sz="2000" dirty="0"/>
              <a:t>“Finite” number of homogeneous categories</a:t>
            </a:r>
          </a:p>
          <a:p>
            <a:pPr lvl="1"/>
            <a:r>
              <a:rPr lang="en-US" sz="2000" dirty="0"/>
              <a:t>The population is a mixture of qualitatively different groups of individuals </a:t>
            </a:r>
          </a:p>
          <a:p>
            <a:pPr lvl="1"/>
            <a:r>
              <a:rPr lang="en-US" sz="2000" dirty="0"/>
              <a:t>Groups can be identified based on similarities in response patterns </a:t>
            </a:r>
          </a:p>
        </p:txBody>
      </p:sp>
    </p:spTree>
    <p:extLst>
      <p:ext uri="{BB962C8B-B14F-4D97-AF65-F5344CB8AC3E}">
        <p14:creationId xmlns:p14="http://schemas.microsoft.com/office/powerpoint/2010/main" val="1059299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10144" y="194637"/>
            <a:ext cx="8412480" cy="646331"/>
          </a:xfrm>
          <a:prstGeom prst="rect">
            <a:avLst/>
          </a:prstGeom>
          <a:noFill/>
        </p:spPr>
        <p:txBody>
          <a:bodyPr wrap="square">
            <a:spAutoFit/>
          </a:bodyPr>
          <a:lstStyle/>
          <a:p>
            <a:r>
              <a:rPr lang="en-US" sz="3600" dirty="0">
                <a:solidFill>
                  <a:srgbClr val="000000"/>
                </a:solidFill>
              </a:rPr>
              <a:t>LCA is a special case of a mixture model</a:t>
            </a:r>
            <a:endParaRPr sz="3600" b="0" dirty="0">
              <a:solidFill>
                <a:srgbClr val="000000"/>
              </a:solidFill>
              <a:latin typeface="Calibri"/>
            </a:endParaRPr>
          </a:p>
        </p:txBody>
      </p:sp>
      <p:sp>
        <p:nvSpPr>
          <p:cNvPr id="6" name="TextBox 5"/>
          <p:cNvSpPr txBox="1"/>
          <p:nvPr/>
        </p:nvSpPr>
        <p:spPr>
          <a:xfrm>
            <a:off x="710144" y="840968"/>
            <a:ext cx="11224557" cy="3888244"/>
          </a:xfrm>
          <a:prstGeom prst="rect">
            <a:avLst/>
          </a:prstGeom>
          <a:noFill/>
        </p:spPr>
        <p:txBody>
          <a:bodyPr wrap="square">
            <a:spAutoFit/>
          </a:bodyPr>
          <a:lstStyle/>
          <a:p>
            <a:r>
              <a:rPr lang="en-US" sz="2000" dirty="0"/>
              <a:t>LCA RQ: Can we identify subgroups of individuals who fit various ‘profiles’</a:t>
            </a:r>
          </a:p>
          <a:p>
            <a:pPr algn="l">
              <a:spcBef>
                <a:spcPts val="800"/>
              </a:spcBef>
            </a:pPr>
            <a:r>
              <a:rPr sz="2000" b="1" i="0" dirty="0">
                <a:solidFill>
                  <a:srgbClr val="000000"/>
                </a:solidFill>
                <a:latin typeface="Calibri"/>
              </a:rPr>
              <a:t>Imagine you're looking at a histogram of depression scores:</a:t>
            </a:r>
          </a:p>
          <a:p>
            <a:pPr algn="l"/>
            <a:r>
              <a:rPr sz="2000" b="0" i="0" dirty="0">
                <a:solidFill>
                  <a:srgbClr val="323232"/>
                </a:solidFill>
                <a:latin typeface="Calibri"/>
              </a:rPr>
              <a:t>If you see ONE smooth bell curve → probably a single homogeneous population. </a:t>
            </a:r>
          </a:p>
          <a:p>
            <a:pPr algn="l"/>
            <a:endParaRPr sz="2000" b="0" i="0" dirty="0">
              <a:solidFill>
                <a:srgbClr val="323232"/>
              </a:solidFill>
              <a:latin typeface="Calibri"/>
            </a:endParaRPr>
          </a:p>
          <a:p>
            <a:pPr algn="l"/>
            <a:r>
              <a:rPr sz="2000" b="0" i="0" dirty="0">
                <a:solidFill>
                  <a:srgbClr val="323232"/>
                </a:solidFill>
                <a:latin typeface="Calibri"/>
              </a:rPr>
              <a:t>If you see a </a:t>
            </a:r>
            <a:r>
              <a:rPr sz="2000" b="1" i="0" u="sng" dirty="0">
                <a:solidFill>
                  <a:srgbClr val="323232"/>
                </a:solidFill>
                <a:latin typeface="Calibri"/>
              </a:rPr>
              <a:t>BIMODAL distribution (two humps) </a:t>
            </a:r>
            <a:r>
              <a:rPr sz="2000" b="0" i="0" dirty="0">
                <a:solidFill>
                  <a:srgbClr val="323232"/>
                </a:solidFill>
                <a:latin typeface="Calibri"/>
              </a:rPr>
              <a:t>→ the data may be a MIXTURE of two groups: one group with low depression and one with high depression.</a:t>
            </a:r>
          </a:p>
          <a:p>
            <a:pPr algn="l"/>
            <a:endParaRPr sz="2000" b="0" i="0" dirty="0">
              <a:solidFill>
                <a:srgbClr val="323232"/>
              </a:solidFill>
              <a:latin typeface="Calibri"/>
            </a:endParaRPr>
          </a:p>
          <a:p>
            <a:pPr algn="l"/>
            <a:r>
              <a:rPr sz="2000" b="0" i="0" dirty="0">
                <a:solidFill>
                  <a:srgbClr val="323232"/>
                </a:solidFill>
                <a:latin typeface="Calibri"/>
              </a:rPr>
              <a:t>A mixture model formally decomposes this distribution into its components. It estimates:</a:t>
            </a:r>
          </a:p>
          <a:p>
            <a:pPr algn="l"/>
            <a:r>
              <a:rPr sz="2000" b="0" i="0" dirty="0">
                <a:solidFill>
                  <a:srgbClr val="323232"/>
                </a:solidFill>
                <a:latin typeface="Calibri"/>
              </a:rPr>
              <a:t>•  How many components (classes) explain the distribution best?</a:t>
            </a:r>
          </a:p>
          <a:p>
            <a:pPr algn="l"/>
            <a:r>
              <a:rPr sz="2000" b="0" i="0" dirty="0">
                <a:solidFill>
                  <a:srgbClr val="323232"/>
                </a:solidFill>
                <a:latin typeface="Calibri"/>
              </a:rPr>
              <a:t>•  What does each component look like? </a:t>
            </a:r>
            <a:endParaRPr lang="en-US" sz="2000" b="0" i="0" dirty="0">
              <a:solidFill>
                <a:srgbClr val="323232"/>
              </a:solidFill>
              <a:latin typeface="Calibri"/>
            </a:endParaRPr>
          </a:p>
          <a:p>
            <a:pPr algn="l"/>
            <a:r>
              <a:rPr lang="en-US" sz="2000" b="0" i="0" dirty="0">
                <a:solidFill>
                  <a:srgbClr val="323232"/>
                </a:solidFill>
                <a:latin typeface="Calibri"/>
              </a:rPr>
              <a:t>•  What proportion of the sample belongs to each component?</a:t>
            </a:r>
          </a:p>
          <a:p>
            <a:pPr algn="l"/>
            <a:endParaRPr sz="2000" b="0" i="0" dirty="0">
              <a:solidFill>
                <a:srgbClr val="323232"/>
              </a:solidFill>
              <a:latin typeface="Calibri"/>
            </a:endParaRPr>
          </a:p>
        </p:txBody>
      </p:sp>
    </p:spTree>
    <p:extLst>
      <p:ext uri="{BB962C8B-B14F-4D97-AF65-F5344CB8AC3E}">
        <p14:creationId xmlns:p14="http://schemas.microsoft.com/office/powerpoint/2010/main" val="13372408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TextBox 3"/>
          <p:cNvSpPr txBox="1"/>
          <p:nvPr/>
        </p:nvSpPr>
        <p:spPr>
          <a:xfrm>
            <a:off x="733895" y="101653"/>
            <a:ext cx="8412480" cy="646331"/>
          </a:xfrm>
          <a:prstGeom prst="rect">
            <a:avLst/>
          </a:prstGeom>
          <a:noFill/>
        </p:spPr>
        <p:txBody>
          <a:bodyPr wrap="square">
            <a:spAutoFit/>
          </a:bodyPr>
          <a:lstStyle/>
          <a:p>
            <a:pPr algn="l"/>
            <a:r>
              <a:rPr sz="3600" b="0" dirty="0">
                <a:solidFill>
                  <a:srgbClr val="000000"/>
                </a:solidFill>
                <a:latin typeface="Calibri"/>
              </a:rPr>
              <a:t>Latent Class Analysis: The Core Idea</a:t>
            </a:r>
          </a:p>
        </p:txBody>
      </p:sp>
      <p:sp useBgFill="1">
        <p:nvSpPr>
          <p:cNvPr id="6" name="TextBox 5"/>
          <p:cNvSpPr txBox="1"/>
          <p:nvPr/>
        </p:nvSpPr>
        <p:spPr>
          <a:xfrm>
            <a:off x="733895" y="1036037"/>
            <a:ext cx="11141430" cy="5093702"/>
          </a:xfrm>
          <a:prstGeom prst="rect">
            <a:avLst/>
          </a:prstGeom>
        </p:spPr>
        <p:txBody>
          <a:bodyPr wrap="square">
            <a:spAutoFit/>
          </a:bodyPr>
          <a:lstStyle/>
          <a:p>
            <a:pPr algn="l">
              <a:spcBef>
                <a:spcPts val="800"/>
              </a:spcBef>
            </a:pPr>
            <a:r>
              <a:rPr sz="2000" b="1" i="0" dirty="0">
                <a:solidFill>
                  <a:srgbClr val="000000"/>
                </a:solidFill>
                <a:latin typeface="Calibri"/>
              </a:rPr>
              <a:t>LCA asks: Are there hidden subgroups in the population?</a:t>
            </a:r>
          </a:p>
          <a:p>
            <a:pPr algn="l"/>
            <a:r>
              <a:rPr sz="2000" b="0" i="0" dirty="0">
                <a:solidFill>
                  <a:srgbClr val="323232"/>
                </a:solidFill>
                <a:latin typeface="Calibri"/>
              </a:rPr>
              <a:t>Instead of assuming everyone varies continuously on some dimension (like EFA does), LCA assumes the population is a MIXTURE of qualitatively distinct groups.</a:t>
            </a:r>
          </a:p>
          <a:p>
            <a:pPr algn="l"/>
            <a:endParaRPr sz="2000" b="0" i="0" dirty="0">
              <a:solidFill>
                <a:srgbClr val="323232"/>
              </a:solidFill>
              <a:latin typeface="Calibri"/>
            </a:endParaRPr>
          </a:p>
          <a:p>
            <a:pPr algn="l">
              <a:spcBef>
                <a:spcPts val="600"/>
              </a:spcBef>
            </a:pPr>
            <a:r>
              <a:rPr sz="2000" b="1" i="0" dirty="0">
                <a:solidFill>
                  <a:srgbClr val="1F497D"/>
                </a:solidFill>
                <a:latin typeface="Calibri"/>
              </a:rPr>
              <a:t>EXAMPLE: ACEs Research</a:t>
            </a:r>
          </a:p>
          <a:p>
            <a:pPr algn="l"/>
            <a:r>
              <a:rPr sz="2000" b="0" i="0" dirty="0">
                <a:solidFill>
                  <a:srgbClr val="323232"/>
                </a:solidFill>
                <a:latin typeface="Calibri"/>
              </a:rPr>
              <a:t>You measure 10 types of Adverse Childhood Experiences (abuse, neglect, household </a:t>
            </a:r>
            <a:r>
              <a:rPr lang="en-US" sz="2000" b="0" i="0" dirty="0" err="1">
                <a:solidFill>
                  <a:srgbClr val="323232"/>
                </a:solidFill>
                <a:latin typeface="Calibri"/>
              </a:rPr>
              <a:t>challentes</a:t>
            </a:r>
            <a:r>
              <a:rPr sz="2000" b="0" i="0" dirty="0">
                <a:solidFill>
                  <a:srgbClr val="323232"/>
                </a:solidFill>
                <a:latin typeface="Calibri"/>
              </a:rPr>
              <a:t>, etc.) in 1,000 adults. Instead of summing them up, LCA might reveal:</a:t>
            </a:r>
          </a:p>
          <a:p>
            <a:pPr algn="l"/>
            <a:r>
              <a:rPr sz="2000" b="0" i="0" dirty="0">
                <a:solidFill>
                  <a:srgbClr val="323232"/>
                </a:solidFill>
                <a:latin typeface="Calibri"/>
              </a:rPr>
              <a:t>•  Class 1 (50%): Low ACEs across all types — mostly unexposed</a:t>
            </a:r>
          </a:p>
          <a:p>
            <a:pPr algn="l"/>
            <a:r>
              <a:rPr sz="2000" b="0" i="0" dirty="0">
                <a:solidFill>
                  <a:srgbClr val="323232"/>
                </a:solidFill>
                <a:latin typeface="Calibri"/>
              </a:rPr>
              <a:t>•  Class 2 (30%): High on household </a:t>
            </a:r>
            <a:r>
              <a:rPr lang="en-US" sz="2000" b="0" i="0" dirty="0">
                <a:solidFill>
                  <a:srgbClr val="323232"/>
                </a:solidFill>
                <a:latin typeface="Calibri"/>
              </a:rPr>
              <a:t>challenge</a:t>
            </a:r>
            <a:r>
              <a:rPr sz="2000" b="0" i="0" dirty="0">
                <a:solidFill>
                  <a:srgbClr val="323232"/>
                </a:solidFill>
                <a:latin typeface="Calibri"/>
              </a:rPr>
              <a:t> items only — </a:t>
            </a:r>
            <a:r>
              <a:rPr lang="en-US" sz="2000" b="0" i="0" dirty="0">
                <a:solidFill>
                  <a:srgbClr val="323232"/>
                </a:solidFill>
                <a:latin typeface="Calibri"/>
              </a:rPr>
              <a:t>difficult</a:t>
            </a:r>
            <a:r>
              <a:rPr sz="2000" b="0" i="0" dirty="0">
                <a:solidFill>
                  <a:srgbClr val="323232"/>
                </a:solidFill>
                <a:latin typeface="Calibri"/>
              </a:rPr>
              <a:t> home environment</a:t>
            </a:r>
          </a:p>
          <a:p>
            <a:pPr algn="l"/>
            <a:r>
              <a:rPr sz="2000" b="0" i="0" dirty="0">
                <a:solidFill>
                  <a:srgbClr val="323232"/>
                </a:solidFill>
                <a:latin typeface="Calibri"/>
              </a:rPr>
              <a:t>•  Class 3 (15%): High on abuse and neglect items — direct maltreatment</a:t>
            </a:r>
          </a:p>
          <a:p>
            <a:pPr algn="l"/>
            <a:r>
              <a:rPr sz="2000" b="0" i="0" dirty="0">
                <a:solidFill>
                  <a:srgbClr val="323232"/>
                </a:solidFill>
                <a:latin typeface="Calibri"/>
              </a:rPr>
              <a:t>•  Class 4 (5%): High on all ACE types — pervasive adversity</a:t>
            </a:r>
          </a:p>
          <a:p>
            <a:pPr algn="l"/>
            <a:endParaRPr sz="2000" b="0" i="0" dirty="0">
              <a:solidFill>
                <a:srgbClr val="323232"/>
              </a:solidFill>
              <a:latin typeface="Calibri"/>
            </a:endParaRPr>
          </a:p>
          <a:p>
            <a:pPr algn="l"/>
            <a:r>
              <a:rPr sz="2000" b="0" i="0" dirty="0">
                <a:solidFill>
                  <a:srgbClr val="323232"/>
                </a:solidFill>
                <a:latin typeface="Calibri"/>
              </a:rPr>
              <a:t>Each class has a distinct PROFILE of ACE exposure. This is richer than just an ACE score — it tells you what TYPE of adversity people experienced.</a:t>
            </a:r>
            <a:endParaRPr lang="en-US" sz="2000" b="0" i="0" dirty="0">
              <a:solidFill>
                <a:srgbClr val="323232"/>
              </a:solidFill>
              <a:latin typeface="Calibri"/>
            </a:endParaRPr>
          </a:p>
          <a:p>
            <a:pPr algn="l"/>
            <a:endParaRPr lang="en-US" sz="2000" dirty="0">
              <a:solidFill>
                <a:srgbClr val="323232"/>
              </a:solidFill>
              <a:latin typeface="Calibri"/>
            </a:endParaRPr>
          </a:p>
          <a:p>
            <a:pPr algn="l"/>
            <a:r>
              <a:rPr lang="en-US" sz="2000" b="1" i="0" dirty="0">
                <a:solidFill>
                  <a:srgbClr val="FF0000"/>
                </a:solidFill>
                <a:latin typeface="Calibri"/>
              </a:rPr>
              <a:t>Note</a:t>
            </a:r>
            <a:r>
              <a:rPr lang="en-US" sz="2000" b="0" i="0" dirty="0">
                <a:solidFill>
                  <a:srgbClr val="323232"/>
                </a:solidFill>
                <a:latin typeface="Calibri"/>
              </a:rPr>
              <a:t>: ACEs should not be clustered into different classes, theoretically. Why?</a:t>
            </a:r>
            <a:endParaRPr sz="2000" b="0" i="0" dirty="0">
              <a:solidFill>
                <a:srgbClr val="323232"/>
              </a:solidFill>
              <a:latin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TextBox 3"/>
          <p:cNvSpPr txBox="1"/>
          <p:nvPr/>
        </p:nvSpPr>
        <p:spPr>
          <a:xfrm>
            <a:off x="775794" y="208692"/>
            <a:ext cx="10702043" cy="646331"/>
          </a:xfrm>
          <a:prstGeom prst="rect">
            <a:avLst/>
          </a:prstGeom>
          <a:noFill/>
        </p:spPr>
        <p:txBody>
          <a:bodyPr wrap="square">
            <a:spAutoFit/>
          </a:bodyPr>
          <a:lstStyle/>
          <a:p>
            <a:pPr algn="l"/>
            <a:r>
              <a:rPr sz="3600" b="0" dirty="0">
                <a:solidFill>
                  <a:srgbClr val="000000"/>
                </a:solidFill>
                <a:latin typeface="Calibri"/>
              </a:rPr>
              <a:t>LCA vs Cluster Analysis: What's the Difference?</a:t>
            </a:r>
          </a:p>
        </p:txBody>
      </p:sp>
      <p:sp>
        <p:nvSpPr>
          <p:cNvPr id="6" name="TextBox 5"/>
          <p:cNvSpPr txBox="1"/>
          <p:nvPr/>
        </p:nvSpPr>
        <p:spPr>
          <a:xfrm>
            <a:off x="775794" y="855023"/>
            <a:ext cx="11458106" cy="5068054"/>
          </a:xfrm>
          <a:prstGeom prst="rect">
            <a:avLst/>
          </a:prstGeom>
          <a:noFill/>
        </p:spPr>
        <p:txBody>
          <a:bodyPr wrap="square">
            <a:spAutoFit/>
          </a:bodyPr>
          <a:lstStyle/>
          <a:p>
            <a:pPr algn="l">
              <a:spcBef>
                <a:spcPts val="800"/>
              </a:spcBef>
            </a:pPr>
            <a:r>
              <a:rPr sz="2000" b="1" i="0" dirty="0">
                <a:solidFill>
                  <a:srgbClr val="000000"/>
                </a:solidFill>
                <a:latin typeface="Calibri"/>
              </a:rPr>
              <a:t>Both find groups in data. But they're different in important ways:</a:t>
            </a:r>
          </a:p>
          <a:p>
            <a:pPr algn="l"/>
            <a:endParaRPr sz="2000" b="1" i="0" dirty="0">
              <a:solidFill>
                <a:srgbClr val="000000"/>
              </a:solidFill>
              <a:latin typeface="Calibri"/>
            </a:endParaRPr>
          </a:p>
          <a:p>
            <a:pPr algn="l"/>
            <a:r>
              <a:rPr sz="2000" b="1" i="0" dirty="0">
                <a:solidFill>
                  <a:srgbClr val="323232"/>
                </a:solidFill>
                <a:latin typeface="Calibri"/>
              </a:rPr>
              <a:t>Feature</a:t>
            </a:r>
            <a:r>
              <a:rPr sz="2000" b="0" i="0" dirty="0">
                <a:solidFill>
                  <a:srgbClr val="323232"/>
                </a:solidFill>
                <a:latin typeface="Calibri"/>
              </a:rPr>
              <a:t>              </a:t>
            </a:r>
            <a:r>
              <a:rPr lang="en-US" sz="2000" b="0" i="0" dirty="0">
                <a:solidFill>
                  <a:srgbClr val="323232"/>
                </a:solidFill>
                <a:latin typeface="Calibri"/>
              </a:rPr>
              <a:t>		</a:t>
            </a:r>
            <a:r>
              <a:rPr sz="2000" b="1" i="0" dirty="0">
                <a:solidFill>
                  <a:srgbClr val="323232"/>
                </a:solidFill>
                <a:latin typeface="Calibri"/>
              </a:rPr>
              <a:t>LCA (Model-Based)           </a:t>
            </a:r>
            <a:r>
              <a:rPr lang="en-US" sz="2000" b="1" i="0" dirty="0">
                <a:solidFill>
                  <a:srgbClr val="323232"/>
                </a:solidFill>
                <a:latin typeface="Calibri"/>
              </a:rPr>
              <a:t>		</a:t>
            </a:r>
            <a:r>
              <a:rPr sz="2000" b="1" i="0" dirty="0">
                <a:solidFill>
                  <a:srgbClr val="323232"/>
                </a:solidFill>
                <a:latin typeface="Calibri"/>
              </a:rPr>
              <a:t> Cluster Analysis (Algorithm-Based)</a:t>
            </a:r>
          </a:p>
          <a:p>
            <a:pPr algn="l"/>
            <a:r>
              <a:rPr sz="2000" b="0" i="0" dirty="0">
                <a:solidFill>
                  <a:srgbClr val="323232"/>
                </a:solidFill>
                <a:latin typeface="Calibri"/>
              </a:rPr>
              <a:t>─────────────────────────────────────────────────────────────────────────────────────</a:t>
            </a:r>
          </a:p>
          <a:p>
            <a:pPr algn="l"/>
            <a:endParaRPr lang="en-US" sz="2000" b="0" i="0" dirty="0">
              <a:solidFill>
                <a:srgbClr val="323232"/>
              </a:solidFill>
              <a:latin typeface="Calibri"/>
            </a:endParaRPr>
          </a:p>
          <a:p>
            <a:pPr algn="l"/>
            <a:endParaRPr lang="en-US" sz="2000" dirty="0">
              <a:solidFill>
                <a:srgbClr val="323232"/>
              </a:solidFill>
              <a:latin typeface="Calibri"/>
            </a:endParaRPr>
          </a:p>
          <a:p>
            <a:pPr algn="l"/>
            <a:endParaRPr lang="en-US" sz="2000" b="0" i="0" dirty="0">
              <a:solidFill>
                <a:srgbClr val="323232"/>
              </a:solidFill>
              <a:latin typeface="Calibri"/>
            </a:endParaRPr>
          </a:p>
          <a:p>
            <a:pPr algn="l"/>
            <a:endParaRPr lang="en-US" sz="2000" dirty="0">
              <a:solidFill>
                <a:srgbClr val="323232"/>
              </a:solidFill>
              <a:latin typeface="Calibri"/>
            </a:endParaRPr>
          </a:p>
          <a:p>
            <a:pPr algn="l"/>
            <a:endParaRPr lang="en-US" sz="2000" b="0" i="0" dirty="0">
              <a:solidFill>
                <a:srgbClr val="323232"/>
              </a:solidFill>
              <a:latin typeface="Calibri"/>
            </a:endParaRPr>
          </a:p>
          <a:p>
            <a:pPr algn="l"/>
            <a:endParaRPr lang="en-US" sz="2000" dirty="0">
              <a:solidFill>
                <a:srgbClr val="323232"/>
              </a:solidFill>
              <a:latin typeface="Calibri"/>
            </a:endParaRPr>
          </a:p>
          <a:p>
            <a:pPr algn="l"/>
            <a:endParaRPr lang="en-US" sz="2000" b="0" i="0" dirty="0">
              <a:solidFill>
                <a:srgbClr val="323232"/>
              </a:solidFill>
              <a:latin typeface="Calibri"/>
            </a:endParaRPr>
          </a:p>
          <a:p>
            <a:pPr algn="l">
              <a:spcBef>
                <a:spcPts val="400"/>
              </a:spcBef>
            </a:pPr>
            <a:r>
              <a:rPr sz="2000" b="1" i="0" dirty="0">
                <a:solidFill>
                  <a:srgbClr val="000000"/>
                </a:solidFill>
                <a:latin typeface="Calibri"/>
              </a:rPr>
              <a:t>Why prefer LCA?</a:t>
            </a:r>
          </a:p>
          <a:p>
            <a:pPr algn="l"/>
            <a:r>
              <a:rPr sz="2000" b="0" i="0" dirty="0">
                <a:solidFill>
                  <a:srgbClr val="323232"/>
                </a:solidFill>
                <a:latin typeface="Calibri"/>
              </a:rPr>
              <a:t>•  LCA gives you a formal statistical model you can compare and test</a:t>
            </a:r>
          </a:p>
          <a:p>
            <a:pPr algn="l"/>
            <a:r>
              <a:rPr sz="2000" b="0" i="0" dirty="0">
                <a:solidFill>
                  <a:srgbClr val="323232"/>
                </a:solidFill>
                <a:latin typeface="Calibri"/>
              </a:rPr>
              <a:t>•  You can include covariates to predict class membership</a:t>
            </a:r>
          </a:p>
          <a:p>
            <a:pPr algn="l"/>
            <a:r>
              <a:rPr sz="2000" b="0" i="0" dirty="0">
                <a:solidFill>
                  <a:srgbClr val="323232"/>
                </a:solidFill>
                <a:latin typeface="Calibri"/>
              </a:rPr>
              <a:t>•  Class assignment is probabilistic — people have a probability of being in each class</a:t>
            </a:r>
          </a:p>
          <a:p>
            <a:pPr algn="l"/>
            <a:r>
              <a:rPr sz="2000" b="0" i="0" dirty="0">
                <a:solidFill>
                  <a:srgbClr val="323232"/>
                </a:solidFill>
                <a:latin typeface="Calibri"/>
              </a:rPr>
              <a:t>•  You can formally test </a:t>
            </a:r>
            <a:r>
              <a:rPr lang="en-US" sz="2000" b="0" i="0" dirty="0">
                <a:solidFill>
                  <a:srgbClr val="323232"/>
                </a:solidFill>
                <a:latin typeface="Calibri"/>
              </a:rPr>
              <a:t>'Is</a:t>
            </a:r>
            <a:r>
              <a:rPr sz="2000" b="0" i="0" dirty="0">
                <a:solidFill>
                  <a:srgbClr val="323232"/>
                </a:solidFill>
                <a:latin typeface="Calibri"/>
              </a:rPr>
              <a:t> a 3-class model better than a 2-class model?'</a:t>
            </a:r>
          </a:p>
        </p:txBody>
      </p:sp>
      <p:graphicFrame>
        <p:nvGraphicFramePr>
          <p:cNvPr id="7" name="Table 6">
            <a:extLst>
              <a:ext uri="{FF2B5EF4-FFF2-40B4-BE49-F238E27FC236}">
                <a16:creationId xmlns:a16="http://schemas.microsoft.com/office/drawing/2014/main" id="{FFCB8A95-BE65-7A2F-E228-319A4B166A13}"/>
              </a:ext>
            </a:extLst>
          </p:cNvPr>
          <p:cNvGraphicFramePr>
            <a:graphicFrameLocks noGrp="1"/>
          </p:cNvGraphicFramePr>
          <p:nvPr>
            <p:extLst>
              <p:ext uri="{D42A27DB-BD31-4B8C-83A1-F6EECF244321}">
                <p14:modId xmlns:p14="http://schemas.microsoft.com/office/powerpoint/2010/main" val="318949086"/>
              </p:ext>
            </p:extLst>
          </p:nvPr>
        </p:nvGraphicFramePr>
        <p:xfrm>
          <a:off x="775794" y="2046900"/>
          <a:ext cx="10691811" cy="2194560"/>
        </p:xfrm>
        <a:graphic>
          <a:graphicData uri="http://schemas.openxmlformats.org/drawingml/2006/table">
            <a:tbl>
              <a:tblPr/>
              <a:tblGrid>
                <a:gridCol w="2715551">
                  <a:extLst>
                    <a:ext uri="{9D8B030D-6E8A-4147-A177-3AD203B41FA5}">
                      <a16:colId xmlns:a16="http://schemas.microsoft.com/office/drawing/2014/main" val="114756357"/>
                    </a:ext>
                  </a:extLst>
                </a:gridCol>
                <a:gridCol w="3788229">
                  <a:extLst>
                    <a:ext uri="{9D8B030D-6E8A-4147-A177-3AD203B41FA5}">
                      <a16:colId xmlns:a16="http://schemas.microsoft.com/office/drawing/2014/main" val="194647471"/>
                    </a:ext>
                  </a:extLst>
                </a:gridCol>
                <a:gridCol w="4188031">
                  <a:extLst>
                    <a:ext uri="{9D8B030D-6E8A-4147-A177-3AD203B41FA5}">
                      <a16:colId xmlns:a16="http://schemas.microsoft.com/office/drawing/2014/main" val="395214167"/>
                    </a:ext>
                  </a:extLst>
                </a:gridCol>
              </a:tblGrid>
              <a:tr h="0">
                <a:tc>
                  <a:txBody>
                    <a:bodyPr/>
                    <a:lstStyle/>
                    <a:p>
                      <a:pPr>
                        <a:buNone/>
                      </a:pPr>
                      <a:r>
                        <a:rPr lang="en-US" dirty="0">
                          <a:latin typeface="Calibri" panose="020F0502020204030204" pitchFamily="34" charset="0"/>
                          <a:ea typeface="Calibri" panose="020F0502020204030204" pitchFamily="34" charset="0"/>
                          <a:cs typeface="Calibri" panose="020F0502020204030204" pitchFamily="34" charset="0"/>
                        </a:rPr>
                        <a:t>Foundation</a:t>
                      </a:r>
                    </a:p>
                  </a:txBody>
                  <a:tcPr anchor="ctr">
                    <a:lnL>
                      <a:noFill/>
                    </a:lnL>
                    <a:lnR>
                      <a:noFill/>
                    </a:lnR>
                    <a:lnT>
                      <a:noFill/>
                    </a:lnT>
                    <a:lnB>
                      <a:noFill/>
                    </a:lnB>
                    <a:noFill/>
                  </a:tcPr>
                </a:tc>
                <a:tc>
                  <a:txBody>
                    <a:bodyPr/>
                    <a:lstStyle/>
                    <a:p>
                      <a:pPr>
                        <a:buNone/>
                      </a:pPr>
                      <a:r>
                        <a:rPr lang="en-US" dirty="0">
                          <a:latin typeface="Calibri" panose="020F0502020204030204" pitchFamily="34" charset="0"/>
                          <a:ea typeface="Calibri" panose="020F0502020204030204" pitchFamily="34" charset="0"/>
                          <a:cs typeface="Calibri" panose="020F0502020204030204" pitchFamily="34" charset="0"/>
                        </a:rPr>
                        <a:t>Formal statistical model</a:t>
                      </a:r>
                    </a:p>
                  </a:txBody>
                  <a:tcPr anchor="ctr">
                    <a:lnL>
                      <a:noFill/>
                    </a:lnL>
                    <a:lnR>
                      <a:noFill/>
                    </a:lnR>
                    <a:lnT>
                      <a:noFill/>
                    </a:lnT>
                    <a:lnB>
                      <a:noFill/>
                    </a:lnB>
                    <a:noFill/>
                  </a:tcPr>
                </a:tc>
                <a:tc>
                  <a:txBody>
                    <a:bodyPr/>
                    <a:lstStyle/>
                    <a:p>
                      <a:pPr>
                        <a:buNone/>
                      </a:pPr>
                      <a:r>
                        <a:rPr lang="en-US" dirty="0">
                          <a:latin typeface="Calibri" panose="020F0502020204030204" pitchFamily="34" charset="0"/>
                          <a:ea typeface="Calibri" panose="020F0502020204030204" pitchFamily="34" charset="0"/>
                          <a:cs typeface="Calibri" panose="020F0502020204030204" pitchFamily="34" charset="0"/>
                        </a:rPr>
                        <a:t>Distance/similarity algorithm</a:t>
                      </a:r>
                    </a:p>
                  </a:txBody>
                  <a:tcPr anchor="ctr">
                    <a:lnL>
                      <a:noFill/>
                    </a:lnL>
                    <a:lnR>
                      <a:noFill/>
                    </a:lnR>
                    <a:lnT>
                      <a:noFill/>
                    </a:lnT>
                    <a:lnB>
                      <a:noFill/>
                    </a:lnB>
                    <a:noFill/>
                  </a:tcPr>
                </a:tc>
                <a:extLst>
                  <a:ext uri="{0D108BD9-81ED-4DB2-BD59-A6C34878D82A}">
                    <a16:rowId xmlns:a16="http://schemas.microsoft.com/office/drawing/2014/main" val="1294576265"/>
                  </a:ext>
                </a:extLst>
              </a:tr>
              <a:tr h="0">
                <a:tc>
                  <a:txBody>
                    <a:bodyPr/>
                    <a:lstStyle/>
                    <a:p>
                      <a:pPr>
                        <a:buNone/>
                      </a:pPr>
                      <a:r>
                        <a:rPr lang="en-US" dirty="0">
                          <a:latin typeface="Calibri" panose="020F0502020204030204" pitchFamily="34" charset="0"/>
                          <a:ea typeface="Calibri" panose="020F0502020204030204" pitchFamily="34" charset="0"/>
                          <a:cs typeface="Calibri" panose="020F0502020204030204" pitchFamily="34" charset="0"/>
                        </a:rPr>
                        <a:t>Fit testing</a:t>
                      </a:r>
                    </a:p>
                  </a:txBody>
                  <a:tcPr anchor="ctr">
                    <a:lnL>
                      <a:noFill/>
                    </a:lnL>
                    <a:lnR>
                      <a:noFill/>
                    </a:lnR>
                    <a:lnT>
                      <a:noFill/>
                    </a:lnT>
                    <a:lnB>
                      <a:noFill/>
                    </a:lnB>
                    <a:noFill/>
                  </a:tcPr>
                </a:tc>
                <a:tc>
                  <a:txBody>
                    <a:bodyPr/>
                    <a:lstStyle/>
                    <a:p>
                      <a:pPr>
                        <a:buNone/>
                      </a:pPr>
                      <a:r>
                        <a:rPr lang="en-US">
                          <a:latin typeface="Calibri" panose="020F0502020204030204" pitchFamily="34" charset="0"/>
                          <a:ea typeface="Calibri" panose="020F0502020204030204" pitchFamily="34" charset="0"/>
                          <a:cs typeface="Calibri" panose="020F0502020204030204" pitchFamily="34" charset="0"/>
                        </a:rPr>
                        <a:t>Yes — BIC, LMR, chi-square</a:t>
                      </a:r>
                    </a:p>
                  </a:txBody>
                  <a:tcPr anchor="ctr">
                    <a:lnL>
                      <a:noFill/>
                    </a:lnL>
                    <a:lnR>
                      <a:noFill/>
                    </a:lnR>
                    <a:lnT>
                      <a:noFill/>
                    </a:lnT>
                    <a:lnB>
                      <a:noFill/>
                    </a:lnB>
                    <a:noFill/>
                  </a:tcPr>
                </a:tc>
                <a:tc>
                  <a:txBody>
                    <a:bodyPr/>
                    <a:lstStyle/>
                    <a:p>
                      <a:pPr>
                        <a:buNone/>
                      </a:pPr>
                      <a:r>
                        <a:rPr lang="en-US">
                          <a:latin typeface="Calibri" panose="020F0502020204030204" pitchFamily="34" charset="0"/>
                          <a:ea typeface="Calibri" panose="020F0502020204030204" pitchFamily="34" charset="0"/>
                          <a:cs typeface="Calibri" panose="020F0502020204030204" pitchFamily="34" charset="0"/>
                        </a:rPr>
                        <a:t>No formal fit tests</a:t>
                      </a:r>
                    </a:p>
                  </a:txBody>
                  <a:tcPr anchor="ctr">
                    <a:lnL>
                      <a:noFill/>
                    </a:lnL>
                    <a:lnR>
                      <a:noFill/>
                    </a:lnR>
                    <a:lnT>
                      <a:noFill/>
                    </a:lnT>
                    <a:lnB>
                      <a:noFill/>
                    </a:lnB>
                    <a:noFill/>
                  </a:tcPr>
                </a:tc>
                <a:extLst>
                  <a:ext uri="{0D108BD9-81ED-4DB2-BD59-A6C34878D82A}">
                    <a16:rowId xmlns:a16="http://schemas.microsoft.com/office/drawing/2014/main" val="682635790"/>
                  </a:ext>
                </a:extLst>
              </a:tr>
              <a:tr h="0">
                <a:tc>
                  <a:txBody>
                    <a:bodyPr/>
                    <a:lstStyle/>
                    <a:p>
                      <a:pPr>
                        <a:buNone/>
                      </a:pPr>
                      <a:r>
                        <a:rPr lang="en-US">
                          <a:latin typeface="Calibri" panose="020F0502020204030204" pitchFamily="34" charset="0"/>
                          <a:ea typeface="Calibri" panose="020F0502020204030204" pitchFamily="34" charset="0"/>
                          <a:cs typeface="Calibri" panose="020F0502020204030204" pitchFamily="34" charset="0"/>
                        </a:rPr>
                        <a:t>Handles item types</a:t>
                      </a:r>
                    </a:p>
                  </a:txBody>
                  <a:tcPr anchor="ctr">
                    <a:lnL>
                      <a:noFill/>
                    </a:lnL>
                    <a:lnR>
                      <a:noFill/>
                    </a:lnR>
                    <a:lnT>
                      <a:noFill/>
                    </a:lnT>
                    <a:lnB>
                      <a:noFill/>
                    </a:lnB>
                    <a:noFill/>
                  </a:tcPr>
                </a:tc>
                <a:tc>
                  <a:txBody>
                    <a:bodyPr/>
                    <a:lstStyle/>
                    <a:p>
                      <a:pPr>
                        <a:buNone/>
                      </a:pPr>
                      <a:r>
                        <a:rPr lang="en-US">
                          <a:latin typeface="Calibri" panose="020F0502020204030204" pitchFamily="34" charset="0"/>
                          <a:ea typeface="Calibri" panose="020F0502020204030204" pitchFamily="34" charset="0"/>
                          <a:cs typeface="Calibri" panose="020F0502020204030204" pitchFamily="34" charset="0"/>
                        </a:rPr>
                        <a:t>Categorical and continuous</a:t>
                      </a:r>
                    </a:p>
                  </a:txBody>
                  <a:tcPr anchor="ctr">
                    <a:lnL>
                      <a:noFill/>
                    </a:lnL>
                    <a:lnR>
                      <a:noFill/>
                    </a:lnR>
                    <a:lnT>
                      <a:noFill/>
                    </a:lnT>
                    <a:lnB>
                      <a:noFill/>
                    </a:lnB>
                    <a:noFill/>
                  </a:tcPr>
                </a:tc>
                <a:tc>
                  <a:txBody>
                    <a:bodyPr/>
                    <a:lstStyle/>
                    <a:p>
                      <a:pPr>
                        <a:buNone/>
                      </a:pPr>
                      <a:r>
                        <a:rPr lang="en-US">
                          <a:latin typeface="Calibri" panose="020F0502020204030204" pitchFamily="34" charset="0"/>
                          <a:ea typeface="Calibri" panose="020F0502020204030204" pitchFamily="34" charset="0"/>
                          <a:cs typeface="Calibri" panose="020F0502020204030204" pitchFamily="34" charset="0"/>
                        </a:rPr>
                        <a:t>Usually continuous</a:t>
                      </a:r>
                    </a:p>
                  </a:txBody>
                  <a:tcPr anchor="ctr">
                    <a:lnL>
                      <a:noFill/>
                    </a:lnL>
                    <a:lnR>
                      <a:noFill/>
                    </a:lnR>
                    <a:lnT>
                      <a:noFill/>
                    </a:lnT>
                    <a:lnB>
                      <a:noFill/>
                    </a:lnB>
                    <a:noFill/>
                  </a:tcPr>
                </a:tc>
                <a:extLst>
                  <a:ext uri="{0D108BD9-81ED-4DB2-BD59-A6C34878D82A}">
                    <a16:rowId xmlns:a16="http://schemas.microsoft.com/office/drawing/2014/main" val="2601950362"/>
                  </a:ext>
                </a:extLst>
              </a:tr>
              <a:tr h="0">
                <a:tc>
                  <a:txBody>
                    <a:bodyPr/>
                    <a:lstStyle/>
                    <a:p>
                      <a:pPr>
                        <a:buNone/>
                      </a:pPr>
                      <a:r>
                        <a:rPr lang="en-US">
                          <a:latin typeface="Calibri" panose="020F0502020204030204" pitchFamily="34" charset="0"/>
                          <a:ea typeface="Calibri" panose="020F0502020204030204" pitchFamily="34" charset="0"/>
                          <a:cs typeface="Calibri" panose="020F0502020204030204" pitchFamily="34" charset="0"/>
                        </a:rPr>
                        <a:t>Class uncertainty</a:t>
                      </a:r>
                    </a:p>
                  </a:txBody>
                  <a:tcPr anchor="ctr">
                    <a:lnL>
                      <a:noFill/>
                    </a:lnL>
                    <a:lnR>
                      <a:noFill/>
                    </a:lnR>
                    <a:lnT>
                      <a:noFill/>
                    </a:lnT>
                    <a:lnB>
                      <a:noFill/>
                    </a:lnB>
                    <a:noFill/>
                  </a:tcPr>
                </a:tc>
                <a:tc>
                  <a:txBody>
                    <a:bodyPr/>
                    <a:lstStyle/>
                    <a:p>
                      <a:pPr>
                        <a:buNone/>
                      </a:pPr>
                      <a:r>
                        <a:rPr lang="en-US">
                          <a:latin typeface="Calibri" panose="020F0502020204030204" pitchFamily="34" charset="0"/>
                          <a:ea typeface="Calibri" panose="020F0502020204030204" pitchFamily="34" charset="0"/>
                          <a:cs typeface="Calibri" panose="020F0502020204030204" pitchFamily="34" charset="0"/>
                        </a:rPr>
                        <a:t>Formally modeled</a:t>
                      </a:r>
                    </a:p>
                  </a:txBody>
                  <a:tcPr anchor="ctr">
                    <a:lnL>
                      <a:noFill/>
                    </a:lnL>
                    <a:lnR>
                      <a:noFill/>
                    </a:lnR>
                    <a:lnT>
                      <a:noFill/>
                    </a:lnT>
                    <a:lnB>
                      <a:noFill/>
                    </a:lnB>
                    <a:noFill/>
                  </a:tcPr>
                </a:tc>
                <a:tc>
                  <a:txBody>
                    <a:bodyPr/>
                    <a:lstStyle/>
                    <a:p>
                      <a:pPr>
                        <a:buNone/>
                      </a:pPr>
                      <a:r>
                        <a:rPr lang="en-US">
                          <a:latin typeface="Calibri" panose="020F0502020204030204" pitchFamily="34" charset="0"/>
                          <a:ea typeface="Calibri" panose="020F0502020204030204" pitchFamily="34" charset="0"/>
                          <a:cs typeface="Calibri" panose="020F0502020204030204" pitchFamily="34" charset="0"/>
                        </a:rPr>
                        <a:t>Not modeled</a:t>
                      </a:r>
                    </a:p>
                  </a:txBody>
                  <a:tcPr anchor="ctr">
                    <a:lnL>
                      <a:noFill/>
                    </a:lnL>
                    <a:lnR>
                      <a:noFill/>
                    </a:lnR>
                    <a:lnT>
                      <a:noFill/>
                    </a:lnT>
                    <a:lnB>
                      <a:noFill/>
                    </a:lnB>
                    <a:noFill/>
                  </a:tcPr>
                </a:tc>
                <a:extLst>
                  <a:ext uri="{0D108BD9-81ED-4DB2-BD59-A6C34878D82A}">
                    <a16:rowId xmlns:a16="http://schemas.microsoft.com/office/drawing/2014/main" val="1481401928"/>
                  </a:ext>
                </a:extLst>
              </a:tr>
              <a:tr h="0">
                <a:tc>
                  <a:txBody>
                    <a:bodyPr/>
                    <a:lstStyle/>
                    <a:p>
                      <a:pPr>
                        <a:buNone/>
                      </a:pPr>
                      <a:r>
                        <a:rPr lang="en-US">
                          <a:latin typeface="Calibri" panose="020F0502020204030204" pitchFamily="34" charset="0"/>
                          <a:ea typeface="Calibri" panose="020F0502020204030204" pitchFamily="34" charset="0"/>
                          <a:cs typeface="Calibri" panose="020F0502020204030204" pitchFamily="34" charset="0"/>
                        </a:rPr>
                        <a:t>Replicability</a:t>
                      </a:r>
                    </a:p>
                  </a:txBody>
                  <a:tcPr anchor="ctr">
                    <a:lnL>
                      <a:noFill/>
                    </a:lnL>
                    <a:lnR>
                      <a:noFill/>
                    </a:lnR>
                    <a:lnT>
                      <a:noFill/>
                    </a:lnT>
                    <a:lnB>
                      <a:noFill/>
                    </a:lnB>
                    <a:noFill/>
                  </a:tcPr>
                </a:tc>
                <a:tc>
                  <a:txBody>
                    <a:bodyPr/>
                    <a:lstStyle/>
                    <a:p>
                      <a:pPr>
                        <a:buNone/>
                      </a:pPr>
                      <a:r>
                        <a:rPr lang="en-US">
                          <a:latin typeface="Calibri" panose="020F0502020204030204" pitchFamily="34" charset="0"/>
                          <a:ea typeface="Calibri" panose="020F0502020204030204" pitchFamily="34" charset="0"/>
                          <a:cs typeface="Calibri" panose="020F0502020204030204" pitchFamily="34" charset="0"/>
                        </a:rPr>
                        <a:t>Generally better</a:t>
                      </a:r>
                    </a:p>
                  </a:txBody>
                  <a:tcPr anchor="ctr">
                    <a:lnL>
                      <a:noFill/>
                    </a:lnL>
                    <a:lnR>
                      <a:noFill/>
                    </a:lnR>
                    <a:lnT>
                      <a:noFill/>
                    </a:lnT>
                    <a:lnB>
                      <a:noFill/>
                    </a:lnB>
                    <a:noFill/>
                  </a:tcPr>
                </a:tc>
                <a:tc>
                  <a:txBody>
                    <a:bodyPr/>
                    <a:lstStyle/>
                    <a:p>
                      <a:pPr>
                        <a:buNone/>
                      </a:pPr>
                      <a:r>
                        <a:rPr lang="en-US">
                          <a:latin typeface="Calibri" panose="020F0502020204030204" pitchFamily="34" charset="0"/>
                          <a:ea typeface="Calibri" panose="020F0502020204030204" pitchFamily="34" charset="0"/>
                          <a:cs typeface="Calibri" panose="020F0502020204030204" pitchFamily="34" charset="0"/>
                        </a:rPr>
                        <a:t>Can vary with starting values</a:t>
                      </a:r>
                    </a:p>
                  </a:txBody>
                  <a:tcPr anchor="ctr">
                    <a:lnL>
                      <a:noFill/>
                    </a:lnL>
                    <a:lnR>
                      <a:noFill/>
                    </a:lnR>
                    <a:lnT>
                      <a:noFill/>
                    </a:lnT>
                    <a:lnB>
                      <a:noFill/>
                    </a:lnB>
                    <a:noFill/>
                  </a:tcPr>
                </a:tc>
                <a:extLst>
                  <a:ext uri="{0D108BD9-81ED-4DB2-BD59-A6C34878D82A}">
                    <a16:rowId xmlns:a16="http://schemas.microsoft.com/office/drawing/2014/main" val="2712208200"/>
                  </a:ext>
                </a:extLst>
              </a:tr>
              <a:tr h="0">
                <a:tc>
                  <a:txBody>
                    <a:bodyPr/>
                    <a:lstStyle/>
                    <a:p>
                      <a:pPr>
                        <a:buNone/>
                      </a:pPr>
                      <a:r>
                        <a:rPr lang="en-US" dirty="0">
                          <a:latin typeface="Calibri" panose="020F0502020204030204" pitchFamily="34" charset="0"/>
                          <a:ea typeface="Calibri" panose="020F0502020204030204" pitchFamily="34" charset="0"/>
                          <a:cs typeface="Calibri" panose="020F0502020204030204" pitchFamily="34" charset="0"/>
                        </a:rPr>
                        <a:t>Probabilistic</a:t>
                      </a:r>
                    </a:p>
                  </a:txBody>
                  <a:tcPr anchor="ctr">
                    <a:lnL>
                      <a:noFill/>
                    </a:lnL>
                    <a:lnR>
                      <a:noFill/>
                    </a:lnR>
                    <a:lnT>
                      <a:noFill/>
                    </a:lnT>
                    <a:lnB>
                      <a:noFill/>
                    </a:lnB>
                    <a:noFill/>
                  </a:tcPr>
                </a:tc>
                <a:tc>
                  <a:txBody>
                    <a:bodyPr/>
                    <a:lstStyle/>
                    <a:p>
                      <a:pPr>
                        <a:buNone/>
                      </a:pPr>
                      <a:r>
                        <a:rPr lang="en-US">
                          <a:latin typeface="Calibri" panose="020F0502020204030204" pitchFamily="34" charset="0"/>
                          <a:ea typeface="Calibri" panose="020F0502020204030204" pitchFamily="34" charset="0"/>
                          <a:cs typeface="Calibri" panose="020F0502020204030204" pitchFamily="34" charset="0"/>
                        </a:rPr>
                        <a:t>Yes — soft class assignment</a:t>
                      </a:r>
                    </a:p>
                  </a:txBody>
                  <a:tcPr anchor="ctr">
                    <a:lnL>
                      <a:noFill/>
                    </a:lnL>
                    <a:lnR>
                      <a:noFill/>
                    </a:lnR>
                    <a:lnT>
                      <a:noFill/>
                    </a:lnT>
                    <a:lnB>
                      <a:noFill/>
                    </a:lnB>
                    <a:noFill/>
                  </a:tcPr>
                </a:tc>
                <a:tc>
                  <a:txBody>
                    <a:bodyPr/>
                    <a:lstStyle/>
                    <a:p>
                      <a:pPr>
                        <a:buNone/>
                      </a:pPr>
                      <a:r>
                        <a:rPr lang="en-US" dirty="0">
                          <a:latin typeface="Calibri" panose="020F0502020204030204" pitchFamily="34" charset="0"/>
                          <a:ea typeface="Calibri" panose="020F0502020204030204" pitchFamily="34" charset="0"/>
                          <a:cs typeface="Calibri" panose="020F0502020204030204" pitchFamily="34" charset="0"/>
                        </a:rPr>
                        <a:t>No — hard assignment</a:t>
                      </a:r>
                    </a:p>
                  </a:txBody>
                  <a:tcPr anchor="ctr">
                    <a:lnL>
                      <a:noFill/>
                    </a:lnL>
                    <a:lnR>
                      <a:noFill/>
                    </a:lnR>
                    <a:lnT>
                      <a:noFill/>
                    </a:lnT>
                    <a:lnB>
                      <a:noFill/>
                    </a:lnB>
                    <a:noFill/>
                  </a:tcPr>
                </a:tc>
                <a:extLst>
                  <a:ext uri="{0D108BD9-81ED-4DB2-BD59-A6C34878D82A}">
                    <a16:rowId xmlns:a16="http://schemas.microsoft.com/office/drawing/2014/main" val="3958765613"/>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8A2CF7-A90F-403E-ADA9-AD24F93FBAFE}"/>
              </a:ext>
            </a:extLst>
          </p:cNvPr>
          <p:cNvSpPr>
            <a:spLocks noGrp="1"/>
          </p:cNvSpPr>
          <p:nvPr>
            <p:ph type="title"/>
          </p:nvPr>
        </p:nvSpPr>
        <p:spPr>
          <a:xfrm>
            <a:off x="133636" y="84593"/>
            <a:ext cx="11924727" cy="806056"/>
          </a:xfrm>
        </p:spPr>
        <p:txBody>
          <a:bodyPr>
            <a:normAutofit/>
          </a:bodyPr>
          <a:lstStyle/>
          <a:p>
            <a:pPr algn="l"/>
            <a:r>
              <a:rPr lang="en-US" sz="3600" dirty="0">
                <a:solidFill>
                  <a:srgbClr val="000000"/>
                </a:solidFill>
                <a:latin typeface="Calibri"/>
              </a:rPr>
              <a:t>The Latent Class Model</a:t>
            </a:r>
          </a:p>
        </p:txBody>
      </p:sp>
      <p:sp>
        <p:nvSpPr>
          <p:cNvPr id="3" name="Content Placeholder 2">
            <a:extLst>
              <a:ext uri="{FF2B5EF4-FFF2-40B4-BE49-F238E27FC236}">
                <a16:creationId xmlns:a16="http://schemas.microsoft.com/office/drawing/2014/main" id="{5664BCE8-3AB4-4CFC-9DD9-066AB276FE79}"/>
              </a:ext>
            </a:extLst>
          </p:cNvPr>
          <p:cNvSpPr>
            <a:spLocks noGrp="1"/>
          </p:cNvSpPr>
          <p:nvPr>
            <p:ph idx="1"/>
          </p:nvPr>
        </p:nvSpPr>
        <p:spPr>
          <a:xfrm>
            <a:off x="520615" y="1065338"/>
            <a:ext cx="3412219" cy="3560251"/>
          </a:xfrm>
        </p:spPr>
        <p:txBody>
          <a:bodyPr>
            <a:normAutofit/>
          </a:bodyPr>
          <a:lstStyle/>
          <a:p>
            <a:r>
              <a:rPr lang="en-US" sz="2000" dirty="0"/>
              <a:t>Observed Categorical Items (</a:t>
            </a:r>
            <a:r>
              <a:rPr lang="en-US" sz="2000" i="1" dirty="0"/>
              <a:t>Y</a:t>
            </a:r>
            <a:r>
              <a:rPr lang="en-US" sz="2000" dirty="0"/>
              <a:t>’s)</a:t>
            </a:r>
          </a:p>
          <a:p>
            <a:r>
              <a:rPr lang="en-US" sz="2000" dirty="0"/>
              <a:t>Categorical Latent Class Variable (</a:t>
            </a:r>
            <a:r>
              <a:rPr lang="en-US" sz="2000" i="1" dirty="0"/>
              <a:t>C</a:t>
            </a:r>
            <a:r>
              <a:rPr lang="en-US" sz="2000" dirty="0"/>
              <a:t>) </a:t>
            </a:r>
          </a:p>
          <a:p>
            <a:r>
              <a:rPr lang="en-US" sz="2000" dirty="0"/>
              <a:t>Continuous or Categorical Covariates (</a:t>
            </a:r>
            <a:r>
              <a:rPr lang="en-US" sz="2000" i="1" dirty="0"/>
              <a:t>Z</a:t>
            </a:r>
            <a:r>
              <a:rPr lang="en-US" sz="2000" dirty="0"/>
              <a:t>) </a:t>
            </a:r>
            <a:endParaRPr lang="en-US" dirty="0"/>
          </a:p>
        </p:txBody>
      </p:sp>
      <p:pic>
        <p:nvPicPr>
          <p:cNvPr id="5" name="Picture 4" descr="Diagram&#10;&#10;Description automatically generated">
            <a:extLst>
              <a:ext uri="{FF2B5EF4-FFF2-40B4-BE49-F238E27FC236}">
                <a16:creationId xmlns:a16="http://schemas.microsoft.com/office/drawing/2014/main" id="{2E7EF9FB-E7D8-4B11-8A3A-3B18802F9C65}"/>
              </a:ext>
            </a:extLst>
          </p:cNvPr>
          <p:cNvPicPr>
            <a:picLocks noChangeAspect="1"/>
          </p:cNvPicPr>
          <p:nvPr/>
        </p:nvPicPr>
        <p:blipFill>
          <a:blip r:embed="rId3"/>
          <a:stretch>
            <a:fillRect/>
          </a:stretch>
        </p:blipFill>
        <p:spPr>
          <a:xfrm>
            <a:off x="4028111" y="890649"/>
            <a:ext cx="6656832" cy="4375382"/>
          </a:xfrm>
          <a:prstGeom prst="rect">
            <a:avLst/>
          </a:prstGeom>
        </p:spPr>
      </p:pic>
      <p:sp>
        <p:nvSpPr>
          <p:cNvPr id="4" name="TextBox 3">
            <a:extLst>
              <a:ext uri="{FF2B5EF4-FFF2-40B4-BE49-F238E27FC236}">
                <a16:creationId xmlns:a16="http://schemas.microsoft.com/office/drawing/2014/main" id="{3D278C88-7BC3-4A70-BE54-690A2FDB5BB2}"/>
              </a:ext>
            </a:extLst>
          </p:cNvPr>
          <p:cNvSpPr txBox="1"/>
          <p:nvPr/>
        </p:nvSpPr>
        <p:spPr>
          <a:xfrm>
            <a:off x="7616756" y="3672025"/>
            <a:ext cx="779489" cy="523220"/>
          </a:xfrm>
          <a:prstGeom prst="rect">
            <a:avLst/>
          </a:prstGeom>
          <a:solidFill>
            <a:schemeClr val="tx2"/>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E7E6E6">
                    <a:lumMod val="90000"/>
                  </a:srgbClr>
                </a:solidFill>
                <a:effectLst/>
                <a:uLnTx/>
                <a:uFillTx/>
                <a:latin typeface="Calibri" panose="020F0502020204030204"/>
                <a:ea typeface="+mn-ea"/>
                <a:cs typeface="+mn-cs"/>
              </a:rPr>
              <a:t>C</a:t>
            </a:r>
          </a:p>
        </p:txBody>
      </p:sp>
    </p:spTree>
    <p:extLst>
      <p:ext uri="{BB962C8B-B14F-4D97-AF65-F5344CB8AC3E}">
        <p14:creationId xmlns:p14="http://schemas.microsoft.com/office/powerpoint/2010/main" val="37164113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TextBox 3"/>
          <p:cNvSpPr txBox="1"/>
          <p:nvPr/>
        </p:nvSpPr>
        <p:spPr>
          <a:xfrm>
            <a:off x="790897" y="163759"/>
            <a:ext cx="8412480" cy="646331"/>
          </a:xfrm>
          <a:prstGeom prst="rect">
            <a:avLst/>
          </a:prstGeom>
          <a:noFill/>
        </p:spPr>
        <p:txBody>
          <a:bodyPr wrap="square">
            <a:spAutoFit/>
          </a:bodyPr>
          <a:lstStyle/>
          <a:p>
            <a:pPr algn="l"/>
            <a:r>
              <a:rPr sz="3600" b="0" dirty="0">
                <a:solidFill>
                  <a:srgbClr val="000000"/>
                </a:solidFill>
                <a:latin typeface="Calibri"/>
              </a:rPr>
              <a:t>The Three Components of an LCA Model</a:t>
            </a:r>
          </a:p>
        </p:txBody>
      </p:sp>
      <p:sp>
        <p:nvSpPr>
          <p:cNvPr id="6" name="TextBox 5"/>
          <p:cNvSpPr txBox="1"/>
          <p:nvPr/>
        </p:nvSpPr>
        <p:spPr>
          <a:xfrm>
            <a:off x="790896" y="899674"/>
            <a:ext cx="11238807" cy="5632311"/>
          </a:xfrm>
          <a:prstGeom prst="rect">
            <a:avLst/>
          </a:prstGeom>
          <a:noFill/>
        </p:spPr>
        <p:txBody>
          <a:bodyPr wrap="square">
            <a:spAutoFit/>
          </a:bodyPr>
          <a:lstStyle/>
          <a:p>
            <a:pPr algn="l">
              <a:spcBef>
                <a:spcPts val="800"/>
              </a:spcBef>
            </a:pPr>
            <a:r>
              <a:rPr sz="2000" b="1" i="0" dirty="0">
                <a:solidFill>
                  <a:srgbClr val="000000"/>
                </a:solidFill>
                <a:latin typeface="Calibri"/>
              </a:rPr>
              <a:t>LCA estimates three types of parameters:</a:t>
            </a:r>
          </a:p>
          <a:p>
            <a:pPr algn="l"/>
            <a:endParaRPr sz="2000" b="1" i="0" dirty="0">
              <a:solidFill>
                <a:srgbClr val="000000"/>
              </a:solidFill>
              <a:latin typeface="Calibri"/>
            </a:endParaRPr>
          </a:p>
          <a:p>
            <a:pPr algn="l"/>
            <a:r>
              <a:rPr sz="2000" b="0" i="0" dirty="0">
                <a:solidFill>
                  <a:srgbClr val="323232"/>
                </a:solidFill>
                <a:latin typeface="Calibri"/>
              </a:rPr>
              <a:t>•  1. Class prevalences: What proportion of the population belongs to each class?</a:t>
            </a:r>
          </a:p>
          <a:p>
            <a:pPr lvl="1" algn="l"/>
            <a:r>
              <a:rPr sz="2000" b="0" i="0" dirty="0">
                <a:solidFill>
                  <a:srgbClr val="646464"/>
                </a:solidFill>
                <a:latin typeface="Calibri"/>
              </a:rPr>
              <a:t>◦  Example: 40% in Class 1</a:t>
            </a:r>
            <a:r>
              <a:rPr lang="en-US" sz="2000" b="0" i="0" dirty="0">
                <a:solidFill>
                  <a:srgbClr val="646464"/>
                </a:solidFill>
                <a:latin typeface="Calibri"/>
              </a:rPr>
              <a:t> (e.g., Low Aces)</a:t>
            </a:r>
            <a:r>
              <a:rPr sz="2000" b="0" i="0" dirty="0">
                <a:solidFill>
                  <a:srgbClr val="646464"/>
                </a:solidFill>
                <a:latin typeface="Calibri"/>
              </a:rPr>
              <a:t>, 35% in Class 2, 2</a:t>
            </a:r>
            <a:r>
              <a:rPr lang="en-US" sz="2000" b="0" i="0" dirty="0">
                <a:solidFill>
                  <a:srgbClr val="646464"/>
                </a:solidFill>
                <a:latin typeface="Calibri"/>
              </a:rPr>
              <a:t>0</a:t>
            </a:r>
            <a:r>
              <a:rPr sz="2000" b="0" i="0" dirty="0">
                <a:solidFill>
                  <a:srgbClr val="646464"/>
                </a:solidFill>
                <a:latin typeface="Calibri"/>
              </a:rPr>
              <a:t>% in Class 3</a:t>
            </a:r>
            <a:r>
              <a:rPr lang="en-US" sz="2000" b="0" i="0" dirty="0">
                <a:solidFill>
                  <a:srgbClr val="646464"/>
                </a:solidFill>
                <a:latin typeface="Calibri"/>
              </a:rPr>
              <a:t>, 5% in Class 4</a:t>
            </a:r>
          </a:p>
          <a:p>
            <a:pPr lvl="1"/>
            <a:r>
              <a:rPr lang="en-US" sz="2000" dirty="0">
                <a:solidFill>
                  <a:srgbClr val="646464"/>
                </a:solidFill>
                <a:latin typeface="Calibri"/>
              </a:rPr>
              <a:t>◦  Note: these must sum to 1</a:t>
            </a:r>
            <a:endParaRPr sz="2000" b="0" i="0" dirty="0">
              <a:solidFill>
                <a:srgbClr val="646464"/>
              </a:solidFill>
              <a:latin typeface="Calibri"/>
            </a:endParaRPr>
          </a:p>
          <a:p>
            <a:pPr algn="l"/>
            <a:endParaRPr sz="2000" b="0" i="0" dirty="0">
              <a:solidFill>
                <a:srgbClr val="646464"/>
              </a:solidFill>
              <a:latin typeface="Calibri"/>
            </a:endParaRPr>
          </a:p>
          <a:p>
            <a:pPr algn="l"/>
            <a:r>
              <a:rPr sz="2000" b="0" i="0" dirty="0">
                <a:solidFill>
                  <a:srgbClr val="323232"/>
                </a:solidFill>
                <a:latin typeface="Calibri"/>
              </a:rPr>
              <a:t>•  2. Item-response probabilities: Within each class, what's the probability of endorsing each item?</a:t>
            </a:r>
          </a:p>
          <a:p>
            <a:pPr lvl="1"/>
            <a:r>
              <a:rPr sz="2000" b="0" i="0" dirty="0">
                <a:solidFill>
                  <a:srgbClr val="646464"/>
                </a:solidFill>
                <a:latin typeface="Calibri"/>
              </a:rPr>
              <a:t>◦  Example: P(</a:t>
            </a:r>
            <a:r>
              <a:rPr lang="en-US" sz="2000" b="0" i="0" dirty="0">
                <a:solidFill>
                  <a:srgbClr val="646464"/>
                </a:solidFill>
                <a:latin typeface="Calibri"/>
              </a:rPr>
              <a:t>Neglect</a:t>
            </a:r>
            <a:r>
              <a:rPr sz="2000" b="0" i="0" dirty="0">
                <a:solidFill>
                  <a:srgbClr val="646464"/>
                </a:solidFill>
                <a:latin typeface="Calibri"/>
              </a:rPr>
              <a:t> = Yes | Class 1) = .95,  P(</a:t>
            </a:r>
            <a:r>
              <a:rPr lang="en-US" sz="2000" dirty="0">
                <a:solidFill>
                  <a:srgbClr val="646464"/>
                </a:solidFill>
                <a:latin typeface="Calibri"/>
              </a:rPr>
              <a:t>Neglect</a:t>
            </a:r>
            <a:r>
              <a:rPr sz="2000" b="0" i="0" dirty="0">
                <a:solidFill>
                  <a:srgbClr val="646464"/>
                </a:solidFill>
                <a:latin typeface="Calibri"/>
              </a:rPr>
              <a:t> = Yes | Class 2) = .42,  P(</a:t>
            </a:r>
            <a:r>
              <a:rPr lang="en-US" sz="2000" dirty="0">
                <a:solidFill>
                  <a:srgbClr val="646464"/>
                </a:solidFill>
                <a:latin typeface="Calibri"/>
              </a:rPr>
              <a:t>Neglect</a:t>
            </a:r>
            <a:r>
              <a:rPr sz="2000" b="0" i="0" dirty="0">
                <a:solidFill>
                  <a:srgbClr val="646464"/>
                </a:solidFill>
                <a:latin typeface="Calibri"/>
              </a:rPr>
              <a:t> = Yes | Class 3) = .08</a:t>
            </a:r>
          </a:p>
          <a:p>
            <a:pPr algn="l"/>
            <a:endParaRPr sz="2000" b="0" i="0" dirty="0">
              <a:solidFill>
                <a:srgbClr val="646464"/>
              </a:solidFill>
              <a:latin typeface="Calibri"/>
            </a:endParaRPr>
          </a:p>
          <a:p>
            <a:pPr algn="l"/>
            <a:r>
              <a:rPr sz="2000" b="0" i="0" dirty="0">
                <a:solidFill>
                  <a:srgbClr val="323232"/>
                </a:solidFill>
                <a:latin typeface="Calibri"/>
              </a:rPr>
              <a:t>•  3. Posterior class probabilities: Given this person's response pattern, what's the probability they're in each class?</a:t>
            </a:r>
          </a:p>
          <a:p>
            <a:pPr lvl="1" algn="l"/>
            <a:r>
              <a:rPr sz="2000" b="0" i="0" dirty="0">
                <a:solidFill>
                  <a:srgbClr val="646464"/>
                </a:solidFill>
                <a:latin typeface="Calibri"/>
              </a:rPr>
              <a:t>◦  Example: Person who said Yes to all items: P(Class 1) = .89, P(Class 2) = .09, P(Class 3) = .02</a:t>
            </a:r>
          </a:p>
          <a:p>
            <a:pPr algn="l"/>
            <a:endParaRPr sz="2000" b="0" i="0" dirty="0">
              <a:solidFill>
                <a:srgbClr val="646464"/>
              </a:solidFill>
              <a:latin typeface="Calibri"/>
            </a:endParaRPr>
          </a:p>
          <a:p>
            <a:pPr algn="l"/>
            <a:r>
              <a:rPr sz="2000" b="0" i="0" dirty="0">
                <a:solidFill>
                  <a:srgbClr val="323232"/>
                </a:solidFill>
                <a:latin typeface="Calibri"/>
              </a:rPr>
              <a:t>LCA assigns people PROBABILISTICALLY (soft classification). A person might be 89% likely to be in Class 1 and 11% likely to be in Class 2. This </a:t>
            </a:r>
            <a:r>
              <a:rPr sz="2000" b="1" i="0" u="sng" dirty="0">
                <a:solidFill>
                  <a:srgbClr val="323232"/>
                </a:solidFill>
                <a:latin typeface="Calibri"/>
              </a:rPr>
              <a:t>uncertainty</a:t>
            </a:r>
            <a:r>
              <a:rPr sz="2000" b="0" i="0" dirty="0">
                <a:solidFill>
                  <a:srgbClr val="323232"/>
                </a:solidFill>
                <a:latin typeface="Calibri"/>
              </a:rPr>
              <a:t> is formally modeled.</a:t>
            </a:r>
            <a:r>
              <a:rPr lang="en-US" sz="2000" b="0" i="0" dirty="0">
                <a:solidFill>
                  <a:srgbClr val="323232"/>
                </a:solidFill>
                <a:latin typeface="Calibri"/>
              </a:rPr>
              <a:t> </a:t>
            </a:r>
            <a:endParaRPr sz="2000" b="0" i="0" dirty="0">
              <a:solidFill>
                <a:srgbClr val="323232"/>
              </a:solidFill>
              <a:latin typeface="Calibri"/>
            </a:endParaRPr>
          </a:p>
          <a:p>
            <a:pPr algn="l"/>
            <a:r>
              <a:rPr sz="2000" b="0" i="0" dirty="0">
                <a:solidFill>
                  <a:srgbClr val="323232"/>
                </a:solidFill>
                <a:latin typeface="Calibri"/>
              </a:rPr>
              <a:t>'Modal class assignment' (assigning to the most likely class) is used for descriptive purposes but loses information about uncertainty — </a:t>
            </a:r>
            <a:r>
              <a:rPr lang="en-US" sz="2000" b="1" i="0" dirty="0">
                <a:solidFill>
                  <a:srgbClr val="323232"/>
                </a:solidFill>
                <a:latin typeface="Calibri"/>
              </a:rPr>
              <a:t>DO NOT USE</a:t>
            </a:r>
            <a:r>
              <a:rPr sz="2000" b="1" i="0" dirty="0">
                <a:solidFill>
                  <a:srgbClr val="323232"/>
                </a:solidFill>
                <a:latin typeface="Calibri"/>
              </a:rPr>
              <a: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TextBox 3"/>
          <p:cNvSpPr txBox="1"/>
          <p:nvPr/>
        </p:nvSpPr>
        <p:spPr>
          <a:xfrm>
            <a:off x="745770" y="164770"/>
            <a:ext cx="8412480" cy="646331"/>
          </a:xfrm>
          <a:prstGeom prst="rect">
            <a:avLst/>
          </a:prstGeom>
          <a:noFill/>
        </p:spPr>
        <p:txBody>
          <a:bodyPr wrap="square">
            <a:spAutoFit/>
          </a:bodyPr>
          <a:lstStyle/>
          <a:p>
            <a:pPr algn="l"/>
            <a:r>
              <a:rPr sz="3600" b="0" dirty="0">
                <a:solidFill>
                  <a:srgbClr val="000000"/>
                </a:solidFill>
                <a:latin typeface="Calibri"/>
              </a:rPr>
              <a:t>LCA in Practice: What Can It Answer?</a:t>
            </a:r>
          </a:p>
        </p:txBody>
      </p:sp>
      <p:sp>
        <p:nvSpPr>
          <p:cNvPr id="6" name="TextBox 5"/>
          <p:cNvSpPr txBox="1"/>
          <p:nvPr/>
        </p:nvSpPr>
        <p:spPr>
          <a:xfrm>
            <a:off x="810292" y="811101"/>
            <a:ext cx="10571415" cy="5273238"/>
          </a:xfrm>
          <a:prstGeom prst="rect">
            <a:avLst/>
          </a:prstGeom>
          <a:noFill/>
        </p:spPr>
        <p:txBody>
          <a:bodyPr wrap="square">
            <a:spAutoFit/>
          </a:bodyPr>
          <a:lstStyle/>
          <a:p>
            <a:pPr algn="l">
              <a:spcBef>
                <a:spcPts val="800"/>
              </a:spcBef>
            </a:pPr>
            <a:r>
              <a:rPr sz="2000" b="1" i="0" dirty="0">
                <a:solidFill>
                  <a:srgbClr val="000000"/>
                </a:solidFill>
                <a:latin typeface="Calibri"/>
              </a:rPr>
              <a:t>LCA is useful whenever you want to identify TYPES of people rather than dimensions:</a:t>
            </a:r>
          </a:p>
          <a:p>
            <a:pPr algn="l"/>
            <a:r>
              <a:rPr sz="2000" b="0" i="0" dirty="0">
                <a:solidFill>
                  <a:srgbClr val="323232"/>
                </a:solidFill>
                <a:latin typeface="Calibri"/>
              </a:rPr>
              <a:t>•  What types of bullying victims are there? (cyber-only, physical-only, poly-victims)</a:t>
            </a:r>
          </a:p>
          <a:p>
            <a:pPr algn="l"/>
            <a:r>
              <a:rPr sz="2000" b="0" i="0" dirty="0">
                <a:solidFill>
                  <a:srgbClr val="323232"/>
                </a:solidFill>
                <a:latin typeface="Calibri"/>
              </a:rPr>
              <a:t>•  What profiles of </a:t>
            </a:r>
            <a:r>
              <a:rPr lang="en-US" sz="2000" b="0" i="0" dirty="0">
                <a:solidFill>
                  <a:srgbClr val="323232"/>
                </a:solidFill>
                <a:latin typeface="Calibri"/>
              </a:rPr>
              <a:t>sexual risk-taking</a:t>
            </a:r>
            <a:r>
              <a:rPr sz="2000" b="0" i="0" dirty="0">
                <a:solidFill>
                  <a:srgbClr val="323232"/>
                </a:solidFill>
                <a:latin typeface="Calibri"/>
              </a:rPr>
              <a:t> exist in adolescents?</a:t>
            </a:r>
          </a:p>
          <a:p>
            <a:pPr algn="l"/>
            <a:r>
              <a:rPr sz="2000" b="0" i="0" dirty="0">
                <a:solidFill>
                  <a:srgbClr val="323232"/>
                </a:solidFill>
                <a:latin typeface="Calibri"/>
              </a:rPr>
              <a:t>•  What types of trauma exposure do children experience?</a:t>
            </a:r>
          </a:p>
          <a:p>
            <a:pPr algn="l"/>
            <a:r>
              <a:rPr sz="2000" b="0" i="0" dirty="0">
                <a:solidFill>
                  <a:srgbClr val="323232"/>
                </a:solidFill>
                <a:latin typeface="Calibri"/>
              </a:rPr>
              <a:t>•  What </a:t>
            </a:r>
            <a:r>
              <a:rPr lang="en-US" sz="2000" b="0" i="0" dirty="0">
                <a:solidFill>
                  <a:srgbClr val="323232"/>
                </a:solidFill>
                <a:latin typeface="Calibri"/>
              </a:rPr>
              <a:t>types of Stressful Life Experiences do women experience during pregnancy?</a:t>
            </a:r>
            <a:endParaRPr sz="2000" b="0" i="0" dirty="0">
              <a:solidFill>
                <a:srgbClr val="323232"/>
              </a:solidFill>
              <a:latin typeface="Calibri"/>
            </a:endParaRPr>
          </a:p>
          <a:p>
            <a:pPr algn="l">
              <a:spcBef>
                <a:spcPts val="400"/>
              </a:spcBef>
            </a:pPr>
            <a:endParaRPr lang="en-US" sz="2000" b="1" i="0" dirty="0">
              <a:solidFill>
                <a:srgbClr val="000000"/>
              </a:solidFill>
              <a:latin typeface="Calibri"/>
            </a:endParaRPr>
          </a:p>
          <a:p>
            <a:pPr algn="l">
              <a:spcBef>
                <a:spcPts val="400"/>
              </a:spcBef>
            </a:pPr>
            <a:r>
              <a:rPr sz="2000" b="1" i="0" dirty="0">
                <a:solidFill>
                  <a:srgbClr val="000000"/>
                </a:solidFill>
                <a:latin typeface="Calibri"/>
              </a:rPr>
              <a:t>Longitudinal extensions:</a:t>
            </a:r>
          </a:p>
          <a:p>
            <a:pPr algn="l"/>
            <a:r>
              <a:rPr sz="2000" b="0" i="0" dirty="0">
                <a:solidFill>
                  <a:srgbClr val="323232"/>
                </a:solidFill>
                <a:latin typeface="Calibri"/>
              </a:rPr>
              <a:t>•  Latent Transition Analysis (LTA): Are people in the same class at two time points? Who transitions between classes?</a:t>
            </a:r>
          </a:p>
          <a:p>
            <a:pPr lvl="1" algn="l"/>
            <a:r>
              <a:rPr sz="2000" b="0" i="0" dirty="0">
                <a:solidFill>
                  <a:srgbClr val="646464"/>
                </a:solidFill>
                <a:latin typeface="Calibri"/>
              </a:rPr>
              <a:t>◦  Example: What proportion of 'pre-frail' older adults transition to 'frail' over 2 years?</a:t>
            </a:r>
          </a:p>
          <a:p>
            <a:pPr algn="l"/>
            <a:r>
              <a:rPr sz="2000" b="0" i="0" dirty="0">
                <a:solidFill>
                  <a:srgbClr val="323232"/>
                </a:solidFill>
                <a:latin typeface="Calibri"/>
              </a:rPr>
              <a:t>•  Growth Mixture Modeling (GMM): </a:t>
            </a:r>
            <a:r>
              <a:rPr lang="en-US" sz="2000" b="0" i="0" dirty="0">
                <a:solidFill>
                  <a:srgbClr val="323232"/>
                </a:solidFill>
                <a:latin typeface="Calibri"/>
              </a:rPr>
              <a:t>The classes are growth </a:t>
            </a:r>
            <a:r>
              <a:rPr sz="2000" b="0" i="0" dirty="0">
                <a:solidFill>
                  <a:srgbClr val="323232"/>
                </a:solidFill>
                <a:latin typeface="Calibri"/>
              </a:rPr>
              <a:t>trajectories </a:t>
            </a:r>
            <a:r>
              <a:rPr lang="en-US" sz="2000" b="0" i="0" dirty="0">
                <a:solidFill>
                  <a:srgbClr val="323232"/>
                </a:solidFill>
                <a:latin typeface="Calibri"/>
              </a:rPr>
              <a:t>– What profiles characterize depressive symptoms across developmental age?</a:t>
            </a:r>
            <a:endParaRPr sz="2000" b="0" i="0" dirty="0">
              <a:solidFill>
                <a:srgbClr val="323232"/>
              </a:solidFill>
              <a:latin typeface="Calibri"/>
            </a:endParaRPr>
          </a:p>
          <a:p>
            <a:pPr algn="l">
              <a:spcBef>
                <a:spcPts val="600"/>
              </a:spcBef>
            </a:pPr>
            <a:endParaRPr lang="en-US" sz="2000" b="1" i="0" dirty="0">
              <a:solidFill>
                <a:srgbClr val="1F497D"/>
              </a:solidFill>
              <a:latin typeface="Calibri"/>
            </a:endParaRPr>
          </a:p>
          <a:p>
            <a:pPr algn="l">
              <a:spcBef>
                <a:spcPts val="600"/>
              </a:spcBef>
            </a:pPr>
            <a:r>
              <a:rPr sz="2000" b="1" i="0" dirty="0">
                <a:solidFill>
                  <a:srgbClr val="1F497D"/>
                </a:solidFill>
                <a:latin typeface="Calibri"/>
              </a:rPr>
              <a:t>MULTILEVEL EXTENSION</a:t>
            </a:r>
          </a:p>
          <a:p>
            <a:pPr algn="l"/>
            <a:r>
              <a:rPr sz="2000" b="0" i="0" dirty="0">
                <a:solidFill>
                  <a:srgbClr val="323232"/>
                </a:solidFill>
                <a:latin typeface="Calibri"/>
              </a:rPr>
              <a:t>Multilevel LCA handles clustered data — e.g., students nested within schools. The classes exist at the student level, but you can also look for school-level classes.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B2D694-F36D-4A13-9FA6-0DC6CA237FF2}"/>
              </a:ext>
            </a:extLst>
          </p:cNvPr>
          <p:cNvSpPr>
            <a:spLocks noGrp="1"/>
          </p:cNvSpPr>
          <p:nvPr>
            <p:ph type="title"/>
          </p:nvPr>
        </p:nvSpPr>
        <p:spPr>
          <a:xfrm>
            <a:off x="648929" y="629266"/>
            <a:ext cx="5028401" cy="1622321"/>
          </a:xfrm>
        </p:spPr>
        <p:txBody>
          <a:bodyPr>
            <a:normAutofit/>
          </a:bodyPr>
          <a:lstStyle/>
          <a:p>
            <a:pPr algn="l"/>
            <a:r>
              <a:rPr lang="en-US" sz="3600" dirty="0">
                <a:solidFill>
                  <a:srgbClr val="000000"/>
                </a:solidFill>
                <a:latin typeface="Calibri"/>
              </a:rPr>
              <a:t>Person-centered v. Variable-centered analysis</a:t>
            </a:r>
          </a:p>
        </p:txBody>
      </p:sp>
      <p:sp>
        <p:nvSpPr>
          <p:cNvPr id="3" name="Content Placeholder 2">
            <a:extLst>
              <a:ext uri="{FF2B5EF4-FFF2-40B4-BE49-F238E27FC236}">
                <a16:creationId xmlns:a16="http://schemas.microsoft.com/office/drawing/2014/main" id="{F2C8411E-82DC-47D9-A9B2-6C8C6797E704}"/>
              </a:ext>
            </a:extLst>
          </p:cNvPr>
          <p:cNvSpPr>
            <a:spLocks noGrp="1"/>
          </p:cNvSpPr>
          <p:nvPr>
            <p:ph idx="1"/>
          </p:nvPr>
        </p:nvSpPr>
        <p:spPr>
          <a:xfrm>
            <a:off x="648930" y="2438400"/>
            <a:ext cx="4837469" cy="3785419"/>
          </a:xfrm>
        </p:spPr>
        <p:txBody>
          <a:bodyPr>
            <a:noAutofit/>
          </a:bodyPr>
          <a:lstStyle/>
          <a:p>
            <a:r>
              <a:rPr lang="en-US" sz="2000" dirty="0"/>
              <a:t>LCA is a person-centered approach</a:t>
            </a:r>
          </a:p>
          <a:p>
            <a:r>
              <a:rPr lang="en-US" sz="2000" dirty="0"/>
              <a:t>Variable centered</a:t>
            </a:r>
          </a:p>
          <a:p>
            <a:pPr lvl="1"/>
            <a:r>
              <a:rPr lang="en-US" sz="2000" dirty="0"/>
              <a:t>Correlations/covariances are of interest</a:t>
            </a:r>
          </a:p>
          <a:p>
            <a:pPr lvl="1"/>
            <a:r>
              <a:rPr lang="en-US" sz="2000" dirty="0"/>
              <a:t>Structure among columns (e.g., factor)</a:t>
            </a:r>
          </a:p>
          <a:p>
            <a:r>
              <a:rPr lang="en-US" sz="2000" dirty="0"/>
              <a:t> Person-centered</a:t>
            </a:r>
          </a:p>
          <a:p>
            <a:pPr lvl="1"/>
            <a:r>
              <a:rPr lang="en-US" sz="2000" dirty="0"/>
              <a:t>Structure among rows is of interest</a:t>
            </a:r>
          </a:p>
          <a:p>
            <a:pPr lvl="1"/>
            <a:r>
              <a:rPr lang="en-US" sz="2000" dirty="0"/>
              <a:t>Seeks to group individuals based on shared characteristics</a:t>
            </a:r>
          </a:p>
          <a:p>
            <a:pPr lvl="1"/>
            <a:r>
              <a:rPr lang="en-US" sz="2000" dirty="0"/>
              <a:t>Goal: identify qualitatively distinct groups</a:t>
            </a:r>
          </a:p>
        </p:txBody>
      </p:sp>
      <p:pic>
        <p:nvPicPr>
          <p:cNvPr id="5" name="Picture 4">
            <a:extLst>
              <a:ext uri="{FF2B5EF4-FFF2-40B4-BE49-F238E27FC236}">
                <a16:creationId xmlns:a16="http://schemas.microsoft.com/office/drawing/2014/main" id="{84D002D4-AA0A-4C73-B36A-0CCB4EAFEFCF}"/>
              </a:ext>
            </a:extLst>
          </p:cNvPr>
          <p:cNvPicPr>
            <a:picLocks noChangeAspect="1"/>
          </p:cNvPicPr>
          <p:nvPr/>
        </p:nvPicPr>
        <p:blipFill>
          <a:blip r:embed="rId3"/>
          <a:stretch>
            <a:fillRect/>
          </a:stretch>
        </p:blipFill>
        <p:spPr>
          <a:xfrm>
            <a:off x="5901327" y="807593"/>
            <a:ext cx="5028401" cy="5239568"/>
          </a:xfrm>
          <a:prstGeom prst="rect">
            <a:avLst/>
          </a:prstGeom>
          <a:effectLst/>
        </p:spPr>
      </p:pic>
    </p:spTree>
    <p:extLst>
      <p:ext uri="{BB962C8B-B14F-4D97-AF65-F5344CB8AC3E}">
        <p14:creationId xmlns:p14="http://schemas.microsoft.com/office/powerpoint/2010/main" val="34000096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TextBox 3"/>
          <p:cNvSpPr txBox="1"/>
          <p:nvPr/>
        </p:nvSpPr>
        <p:spPr>
          <a:xfrm>
            <a:off x="757646" y="0"/>
            <a:ext cx="11343310" cy="646331"/>
          </a:xfrm>
          <a:prstGeom prst="rect">
            <a:avLst/>
          </a:prstGeom>
          <a:noFill/>
        </p:spPr>
        <p:txBody>
          <a:bodyPr wrap="square">
            <a:spAutoFit/>
          </a:bodyPr>
          <a:lstStyle/>
          <a:p>
            <a:pPr algn="l"/>
            <a:r>
              <a:rPr sz="3600" b="0" dirty="0">
                <a:solidFill>
                  <a:srgbClr val="000000"/>
                </a:solidFill>
                <a:latin typeface="Calibri"/>
              </a:rPr>
              <a:t>Person-Centered Analysis: Why It Matters Clinically</a:t>
            </a:r>
          </a:p>
        </p:txBody>
      </p:sp>
      <p:sp>
        <p:nvSpPr>
          <p:cNvPr id="6" name="TextBox 5"/>
          <p:cNvSpPr txBox="1"/>
          <p:nvPr/>
        </p:nvSpPr>
        <p:spPr>
          <a:xfrm>
            <a:off x="757646" y="646331"/>
            <a:ext cx="11093928" cy="5786199"/>
          </a:xfrm>
          <a:prstGeom prst="rect">
            <a:avLst/>
          </a:prstGeom>
          <a:noFill/>
        </p:spPr>
        <p:txBody>
          <a:bodyPr wrap="square">
            <a:spAutoFit/>
          </a:bodyPr>
          <a:lstStyle/>
          <a:p>
            <a:pPr algn="l">
              <a:spcBef>
                <a:spcPts val="800"/>
              </a:spcBef>
            </a:pPr>
            <a:r>
              <a:rPr sz="2000" b="1" i="0" dirty="0">
                <a:solidFill>
                  <a:srgbClr val="000000"/>
                </a:solidFill>
                <a:latin typeface="Calibri"/>
              </a:rPr>
              <a:t>Variable-centered: 'Which variables predict outcomes?'</a:t>
            </a:r>
          </a:p>
          <a:p>
            <a:pPr algn="l"/>
            <a:r>
              <a:rPr sz="2000" b="0" i="0" dirty="0">
                <a:solidFill>
                  <a:srgbClr val="323232"/>
                </a:solidFill>
                <a:latin typeface="Calibri"/>
              </a:rPr>
              <a:t>Result: 'High stress AND low social support predict depression.’</a:t>
            </a:r>
            <a:r>
              <a:rPr lang="en-US" sz="2000" b="0" i="0" dirty="0">
                <a:solidFill>
                  <a:srgbClr val="323232"/>
                </a:solidFill>
                <a:latin typeface="Calibri"/>
              </a:rPr>
              <a:t> </a:t>
            </a:r>
            <a:r>
              <a:rPr lang="en-US" sz="2000" b="0" i="0" dirty="0">
                <a:solidFill>
                  <a:srgbClr val="323232"/>
                </a:solidFill>
                <a:latin typeface="Calibri"/>
                <a:sym typeface="Wingdings" panose="05000000000000000000" pitchFamily="2" charset="2"/>
              </a:rPr>
              <a:t> Three variables are somehow associated.</a:t>
            </a:r>
            <a:endParaRPr sz="2000" b="0" i="0" dirty="0">
              <a:solidFill>
                <a:srgbClr val="323232"/>
              </a:solidFill>
              <a:latin typeface="Calibri"/>
            </a:endParaRPr>
          </a:p>
          <a:p>
            <a:pPr algn="l"/>
            <a:r>
              <a:rPr sz="2000" b="0" i="0" dirty="0">
                <a:solidFill>
                  <a:srgbClr val="323232"/>
                </a:solidFill>
                <a:latin typeface="Calibri"/>
              </a:rPr>
              <a:t>Limitation: Treats all high-stress, low-support people as the same. Ignores who these people actually are.</a:t>
            </a:r>
          </a:p>
          <a:p>
            <a:pPr algn="l"/>
            <a:endParaRPr sz="2000" b="0" i="0" dirty="0">
              <a:solidFill>
                <a:srgbClr val="323232"/>
              </a:solidFill>
              <a:latin typeface="Calibri"/>
            </a:endParaRPr>
          </a:p>
          <a:p>
            <a:pPr algn="l">
              <a:spcBef>
                <a:spcPts val="600"/>
              </a:spcBef>
            </a:pPr>
            <a:r>
              <a:rPr sz="2000" b="1" i="0" dirty="0">
                <a:solidFill>
                  <a:srgbClr val="000000"/>
                </a:solidFill>
                <a:latin typeface="Calibri"/>
              </a:rPr>
              <a:t>Person-centered: 'What types of people exist?'</a:t>
            </a:r>
          </a:p>
          <a:p>
            <a:pPr algn="l"/>
            <a:r>
              <a:rPr sz="2000" b="0" i="0" dirty="0">
                <a:solidFill>
                  <a:srgbClr val="323232"/>
                </a:solidFill>
                <a:latin typeface="Calibri"/>
              </a:rPr>
              <a:t>Result: </a:t>
            </a:r>
            <a:r>
              <a:rPr lang="en-US" sz="2000" b="0" i="0" dirty="0">
                <a:solidFill>
                  <a:srgbClr val="323232"/>
                </a:solidFill>
                <a:latin typeface="Calibri"/>
              </a:rPr>
              <a:t>(Putting people into categories)</a:t>
            </a:r>
          </a:p>
          <a:p>
            <a:pPr marL="342900" indent="-342900" algn="l">
              <a:buFont typeface="Arial" panose="020B0604020202020204" pitchFamily="34" charset="0"/>
              <a:buChar char="•"/>
            </a:pPr>
            <a:r>
              <a:rPr sz="2000" b="0" i="0" dirty="0">
                <a:solidFill>
                  <a:srgbClr val="323232"/>
                </a:solidFill>
                <a:latin typeface="Calibri"/>
              </a:rPr>
              <a:t>Type 1 = high stress + low support + high baseline depression (25% of sample). </a:t>
            </a:r>
            <a:endParaRPr lang="en-US" sz="2000" b="0" i="0" dirty="0">
              <a:solidFill>
                <a:srgbClr val="323232"/>
              </a:solidFill>
              <a:latin typeface="Calibri"/>
            </a:endParaRPr>
          </a:p>
          <a:p>
            <a:pPr marL="342900" indent="-342900" algn="l">
              <a:buFont typeface="Arial" panose="020B0604020202020204" pitchFamily="34" charset="0"/>
              <a:buChar char="•"/>
            </a:pPr>
            <a:r>
              <a:rPr sz="2000" b="0" i="0" dirty="0">
                <a:solidFill>
                  <a:srgbClr val="323232"/>
                </a:solidFill>
                <a:latin typeface="Calibri"/>
              </a:rPr>
              <a:t>Type 2 = high stress + high support + resilient (35%).</a:t>
            </a:r>
          </a:p>
          <a:p>
            <a:pPr algn="l"/>
            <a:r>
              <a:rPr sz="2000" b="0" i="0" dirty="0">
                <a:solidFill>
                  <a:srgbClr val="323232"/>
                </a:solidFill>
                <a:latin typeface="Calibri"/>
              </a:rPr>
              <a:t>Insight: People in Type 1 need intensive intervention. People in Type 2 may just need social support bolstering.</a:t>
            </a:r>
          </a:p>
          <a:p>
            <a:pPr algn="l"/>
            <a:endParaRPr sz="2000" b="0" i="0" dirty="0">
              <a:solidFill>
                <a:srgbClr val="323232"/>
              </a:solidFill>
              <a:latin typeface="Calibri"/>
            </a:endParaRPr>
          </a:p>
          <a:p>
            <a:pPr algn="l">
              <a:spcBef>
                <a:spcPts val="600"/>
              </a:spcBef>
            </a:pPr>
            <a:r>
              <a:rPr sz="2000" b="1" i="0" dirty="0">
                <a:solidFill>
                  <a:srgbClr val="1F497D"/>
                </a:solidFill>
                <a:latin typeface="Calibri"/>
              </a:rPr>
              <a:t>CLINICAL EXAMPLE</a:t>
            </a:r>
          </a:p>
          <a:p>
            <a:pPr algn="l"/>
            <a:r>
              <a:rPr sz="2000" b="0" i="0" dirty="0">
                <a:solidFill>
                  <a:srgbClr val="323232"/>
                </a:solidFill>
                <a:latin typeface="Calibri"/>
              </a:rPr>
              <a:t>Variable-centered: anxiety predicts treatment dropout (OR = 1.4, p &lt; .01).</a:t>
            </a:r>
          </a:p>
          <a:p>
            <a:pPr algn="l"/>
            <a:r>
              <a:rPr sz="2000" b="0" i="0" dirty="0">
                <a:solidFill>
                  <a:srgbClr val="323232"/>
                </a:solidFill>
                <a:latin typeface="Calibri"/>
              </a:rPr>
              <a:t>Person-centered: There's a 'high-anxiety, avoidant, low-motivation' subtype that drives most </a:t>
            </a:r>
            <a:r>
              <a:rPr lang="en-US" sz="2000" b="0" i="0" dirty="0">
                <a:solidFill>
                  <a:srgbClr val="323232"/>
                </a:solidFill>
                <a:latin typeface="Calibri"/>
              </a:rPr>
              <a:t>dropouts</a:t>
            </a:r>
            <a:r>
              <a:rPr sz="2000" b="0" i="0" dirty="0">
                <a:solidFill>
                  <a:srgbClr val="323232"/>
                </a:solidFill>
                <a:latin typeface="Calibri"/>
              </a:rPr>
              <a:t>. The other anxious patients stay in treatment. This tells us who needs extra retention effort.</a:t>
            </a:r>
          </a:p>
          <a:p>
            <a:pPr algn="l"/>
            <a:endParaRPr sz="2000" b="0" i="0" dirty="0">
              <a:solidFill>
                <a:srgbClr val="323232"/>
              </a:solidFill>
              <a:latin typeface="Calibri"/>
            </a:endParaRPr>
          </a:p>
          <a:p>
            <a:pPr algn="l"/>
            <a:r>
              <a:rPr sz="2000" b="0" i="0" dirty="0">
                <a:solidFill>
                  <a:srgbClr val="323232"/>
                </a:solidFill>
                <a:latin typeface="Calibri"/>
              </a:rPr>
              <a:t>Neither approach is universally better</a:t>
            </a:r>
            <a:r>
              <a:rPr lang="en-US" sz="2000" b="0" i="0" dirty="0">
                <a:solidFill>
                  <a:srgbClr val="323232"/>
                </a:solidFill>
                <a:latin typeface="Calibri"/>
              </a:rPr>
              <a:t>, it depends on the question you are asking</a:t>
            </a:r>
            <a:r>
              <a:rPr sz="2000" b="0" i="0" dirty="0">
                <a:solidFill>
                  <a:srgbClr val="323232"/>
                </a:solidFill>
                <a:latin typeface="Calibri"/>
              </a:rPr>
              <a: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EFD3F8-3E86-4924-B32D-493893213D4D}"/>
              </a:ext>
            </a:extLst>
          </p:cNvPr>
          <p:cNvSpPr>
            <a:spLocks noGrp="1"/>
          </p:cNvSpPr>
          <p:nvPr>
            <p:ph type="title"/>
          </p:nvPr>
        </p:nvSpPr>
        <p:spPr>
          <a:xfrm>
            <a:off x="365760" y="365127"/>
            <a:ext cx="10515600" cy="596776"/>
          </a:xfrm>
        </p:spPr>
        <p:txBody>
          <a:bodyPr>
            <a:normAutofit/>
          </a:bodyPr>
          <a:lstStyle/>
          <a:p>
            <a:pPr algn="l"/>
            <a:r>
              <a:rPr lang="en-US" sz="3600" dirty="0">
                <a:solidFill>
                  <a:srgbClr val="000000"/>
                </a:solidFill>
                <a:latin typeface="Calibri"/>
              </a:rPr>
              <a:t>Quick examples</a:t>
            </a:r>
          </a:p>
        </p:txBody>
      </p:sp>
      <p:sp>
        <p:nvSpPr>
          <p:cNvPr id="3" name="Content Placeholder 2">
            <a:extLst>
              <a:ext uri="{FF2B5EF4-FFF2-40B4-BE49-F238E27FC236}">
                <a16:creationId xmlns:a16="http://schemas.microsoft.com/office/drawing/2014/main" id="{0CEE42AA-0862-4B59-A52C-CE243707AA12}"/>
              </a:ext>
            </a:extLst>
          </p:cNvPr>
          <p:cNvSpPr>
            <a:spLocks noGrp="1"/>
          </p:cNvSpPr>
          <p:nvPr>
            <p:ph idx="1"/>
          </p:nvPr>
        </p:nvSpPr>
        <p:spPr>
          <a:xfrm>
            <a:off x="541316" y="961903"/>
            <a:ext cx="10515600" cy="4251960"/>
          </a:xfrm>
        </p:spPr>
        <p:txBody>
          <a:bodyPr>
            <a:normAutofit/>
          </a:bodyPr>
          <a:lstStyle/>
          <a:p>
            <a:r>
              <a:rPr lang="en-US" sz="2000" dirty="0"/>
              <a:t>The </a:t>
            </a:r>
            <a:r>
              <a:rPr lang="en-US" sz="2000" b="1" u="sng" dirty="0"/>
              <a:t>Frailty construct </a:t>
            </a:r>
            <a:r>
              <a:rPr lang="en-US" sz="2000" dirty="0"/>
              <a:t>in aging research</a:t>
            </a:r>
          </a:p>
          <a:p>
            <a:pPr lvl="1"/>
            <a:r>
              <a:rPr lang="en-US" sz="2000" b="1" dirty="0"/>
              <a:t>Latent</a:t>
            </a:r>
            <a:r>
              <a:rPr lang="en-US" sz="2000" dirty="0"/>
              <a:t>: status or degree of syndrome</a:t>
            </a:r>
          </a:p>
          <a:p>
            <a:pPr lvl="1"/>
            <a:r>
              <a:rPr lang="en-US" sz="2000" b="1" dirty="0"/>
              <a:t>Manifest</a:t>
            </a:r>
            <a:r>
              <a:rPr lang="en-US" sz="2000" dirty="0"/>
              <a:t>: criteria (as derived from the literature)</a:t>
            </a:r>
          </a:p>
          <a:p>
            <a:pPr lvl="2"/>
            <a:r>
              <a:rPr lang="en-US" dirty="0"/>
              <a:t>Weight loss above threshold</a:t>
            </a:r>
          </a:p>
          <a:p>
            <a:pPr lvl="2"/>
            <a:r>
              <a:rPr lang="en-US" dirty="0"/>
              <a:t>Low energy expenditure</a:t>
            </a:r>
          </a:p>
          <a:p>
            <a:pPr lvl="2"/>
            <a:r>
              <a:rPr lang="en-US" dirty="0"/>
              <a:t>Low walking speed</a:t>
            </a:r>
          </a:p>
          <a:p>
            <a:pPr lvl="2"/>
            <a:r>
              <a:rPr lang="en-US" dirty="0"/>
              <a:t>Weakness beyond threshold</a:t>
            </a:r>
          </a:p>
          <a:p>
            <a:pPr lvl="2"/>
            <a:r>
              <a:rPr lang="en-US" dirty="0"/>
              <a:t>Exhaustion</a:t>
            </a:r>
          </a:p>
          <a:p>
            <a:pPr lvl="1"/>
            <a:r>
              <a:rPr lang="en-US" sz="2000" dirty="0"/>
              <a:t>RQ?</a:t>
            </a:r>
          </a:p>
        </p:txBody>
      </p:sp>
    </p:spTree>
    <p:extLst>
      <p:ext uri="{BB962C8B-B14F-4D97-AF65-F5344CB8AC3E}">
        <p14:creationId xmlns:p14="http://schemas.microsoft.com/office/powerpoint/2010/main" val="5191976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anim calcmode="lin" valueType="num">
                                      <p:cBhvr>
                                        <p:cTn id="1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3">
                                            <p:txEl>
                                              <p:pRg st="3" end="3"/>
                                            </p:txEl>
                                          </p:spTgt>
                                        </p:tgtEl>
                                        <p:attrNameLst>
                                          <p:attrName>style.visibility</p:attrName>
                                        </p:attrNameLst>
                                      </p:cBhvr>
                                      <p:to>
                                        <p:strVal val="visible"/>
                                      </p:to>
                                    </p:set>
                                    <p:anim calcmode="lin" valueType="num">
                                      <p:cBhvr additive="base">
                                        <p:cTn id="24"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6" presetID="2" presetClass="entr" presetSubtype="4" fill="hold" nodeType="withEffect">
                                  <p:stCondLst>
                                    <p:cond delay="0"/>
                                  </p:stCondLst>
                                  <p:childTnLst>
                                    <p:set>
                                      <p:cBhvr>
                                        <p:cTn id="27" dur="1" fill="hold">
                                          <p:stCondLst>
                                            <p:cond delay="0"/>
                                          </p:stCondLst>
                                        </p:cTn>
                                        <p:tgtEl>
                                          <p:spTgt spid="3">
                                            <p:txEl>
                                              <p:pRg st="4" end="4"/>
                                            </p:txEl>
                                          </p:spTgt>
                                        </p:tgtEl>
                                        <p:attrNameLst>
                                          <p:attrName>style.visibility</p:attrName>
                                        </p:attrNameLst>
                                      </p:cBhvr>
                                      <p:to>
                                        <p:strVal val="visible"/>
                                      </p:to>
                                    </p:set>
                                    <p:anim calcmode="lin" valueType="num">
                                      <p:cBhvr additive="base">
                                        <p:cTn id="28"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9" dur="500" fill="hold"/>
                                        <p:tgtEl>
                                          <p:spTgt spid="3">
                                            <p:txEl>
                                              <p:pRg st="4" end="4"/>
                                            </p:txEl>
                                          </p:spTgt>
                                        </p:tgtEl>
                                        <p:attrNameLst>
                                          <p:attrName>ppt_y</p:attrName>
                                        </p:attrNameLst>
                                      </p:cBhvr>
                                      <p:tavLst>
                                        <p:tav tm="0">
                                          <p:val>
                                            <p:strVal val="1+#ppt_h/2"/>
                                          </p:val>
                                        </p:tav>
                                        <p:tav tm="100000">
                                          <p:val>
                                            <p:strVal val="#ppt_y"/>
                                          </p:val>
                                        </p:tav>
                                      </p:tavLst>
                                    </p:anim>
                                  </p:childTnLst>
                                </p:cTn>
                              </p:par>
                              <p:par>
                                <p:cTn id="30" presetID="2" presetClass="entr" presetSubtype="4" fill="hold" nodeType="with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 calcmode="lin" valueType="num">
                                      <p:cBhvr additive="base">
                                        <p:cTn id="32"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3" dur="500" fill="hold"/>
                                        <p:tgtEl>
                                          <p:spTgt spid="3">
                                            <p:txEl>
                                              <p:pRg st="5" end="5"/>
                                            </p:txEl>
                                          </p:spTgt>
                                        </p:tgtEl>
                                        <p:attrNameLst>
                                          <p:attrName>ppt_y</p:attrName>
                                        </p:attrNameLst>
                                      </p:cBhvr>
                                      <p:tavLst>
                                        <p:tav tm="0">
                                          <p:val>
                                            <p:strVal val="1+#ppt_h/2"/>
                                          </p:val>
                                        </p:tav>
                                        <p:tav tm="100000">
                                          <p:val>
                                            <p:strVal val="#ppt_y"/>
                                          </p:val>
                                        </p:tav>
                                      </p:tavLst>
                                    </p:anim>
                                  </p:childTnLst>
                                </p:cTn>
                              </p:par>
                              <p:par>
                                <p:cTn id="34" presetID="2" presetClass="entr" presetSubtype="4" fill="hold" nodeType="withEffect">
                                  <p:stCondLst>
                                    <p:cond delay="0"/>
                                  </p:stCondLst>
                                  <p:childTnLst>
                                    <p:set>
                                      <p:cBhvr>
                                        <p:cTn id="35" dur="1" fill="hold">
                                          <p:stCondLst>
                                            <p:cond delay="0"/>
                                          </p:stCondLst>
                                        </p:cTn>
                                        <p:tgtEl>
                                          <p:spTgt spid="3">
                                            <p:txEl>
                                              <p:pRg st="6" end="6"/>
                                            </p:txEl>
                                          </p:spTgt>
                                        </p:tgtEl>
                                        <p:attrNameLst>
                                          <p:attrName>style.visibility</p:attrName>
                                        </p:attrNameLst>
                                      </p:cBhvr>
                                      <p:to>
                                        <p:strVal val="visible"/>
                                      </p:to>
                                    </p:set>
                                    <p:anim calcmode="lin" valueType="num">
                                      <p:cBhvr additive="base">
                                        <p:cTn id="36"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7" dur="500" fill="hold"/>
                                        <p:tgtEl>
                                          <p:spTgt spid="3">
                                            <p:txEl>
                                              <p:pRg st="6" end="6"/>
                                            </p:txEl>
                                          </p:spTgt>
                                        </p:tgtEl>
                                        <p:attrNameLst>
                                          <p:attrName>ppt_y</p:attrName>
                                        </p:attrNameLst>
                                      </p:cBhvr>
                                      <p:tavLst>
                                        <p:tav tm="0">
                                          <p:val>
                                            <p:strVal val="1+#ppt_h/2"/>
                                          </p:val>
                                        </p:tav>
                                        <p:tav tm="100000">
                                          <p:val>
                                            <p:strVal val="#ppt_y"/>
                                          </p:val>
                                        </p:tav>
                                      </p:tavLst>
                                    </p:anim>
                                  </p:childTnLst>
                                </p:cTn>
                              </p:par>
                              <p:par>
                                <p:cTn id="38" presetID="2" presetClass="entr" presetSubtype="4" fill="hold" nodeType="withEffect">
                                  <p:stCondLst>
                                    <p:cond delay="0"/>
                                  </p:stCondLst>
                                  <p:childTnLst>
                                    <p:set>
                                      <p:cBhvr>
                                        <p:cTn id="39" dur="1" fill="hold">
                                          <p:stCondLst>
                                            <p:cond delay="0"/>
                                          </p:stCondLst>
                                        </p:cTn>
                                        <p:tgtEl>
                                          <p:spTgt spid="3">
                                            <p:txEl>
                                              <p:pRg st="7" end="7"/>
                                            </p:txEl>
                                          </p:spTgt>
                                        </p:tgtEl>
                                        <p:attrNameLst>
                                          <p:attrName>style.visibility</p:attrName>
                                        </p:attrNameLst>
                                      </p:cBhvr>
                                      <p:to>
                                        <p:strVal val="visible"/>
                                      </p:to>
                                    </p:set>
                                    <p:anim calcmode="lin" valueType="num">
                                      <p:cBhvr additive="base">
                                        <p:cTn id="40"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1" dur="500" fill="hold"/>
                                        <p:tgtEl>
                                          <p:spTgt spid="3">
                                            <p:txEl>
                                              <p:pRg st="7" end="7"/>
                                            </p:txEl>
                                          </p:spTgt>
                                        </p:tgtEl>
                                        <p:attrNameLst>
                                          <p:attrName>ppt_y</p:attrName>
                                        </p:attrNameLst>
                                      </p:cBhvr>
                                      <p:tavLst>
                                        <p:tav tm="0">
                                          <p:val>
                                            <p:strVal val="1+#ppt_h/2"/>
                                          </p:val>
                                        </p:tav>
                                        <p:tav tm="100000">
                                          <p:val>
                                            <p:strVal val="#ppt_y"/>
                                          </p:val>
                                        </p:tav>
                                      </p:tavLst>
                                    </p:anim>
                                  </p:childTnLst>
                                </p:cTn>
                              </p:par>
                              <p:par>
                                <p:cTn id="42" presetID="2" presetClass="entr" presetSubtype="4" fill="hold" nodeType="withEffect">
                                  <p:stCondLst>
                                    <p:cond delay="0"/>
                                  </p:stCondLst>
                                  <p:childTnLst>
                                    <p:set>
                                      <p:cBhvr>
                                        <p:cTn id="43" dur="1" fill="hold">
                                          <p:stCondLst>
                                            <p:cond delay="0"/>
                                          </p:stCondLst>
                                        </p:cTn>
                                        <p:tgtEl>
                                          <p:spTgt spid="3">
                                            <p:txEl>
                                              <p:pRg st="8" end="8"/>
                                            </p:txEl>
                                          </p:spTgt>
                                        </p:tgtEl>
                                        <p:attrNameLst>
                                          <p:attrName>style.visibility</p:attrName>
                                        </p:attrNameLst>
                                      </p:cBhvr>
                                      <p:to>
                                        <p:strVal val="visible"/>
                                      </p:to>
                                    </p:set>
                                    <p:anim calcmode="lin" valueType="num">
                                      <p:cBhvr additive="base">
                                        <p:cTn id="44"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45"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A70385-1417-44D4-85E9-24E50CCD15CA}"/>
              </a:ext>
            </a:extLst>
          </p:cNvPr>
          <p:cNvSpPr>
            <a:spLocks noGrp="1"/>
          </p:cNvSpPr>
          <p:nvPr>
            <p:ph type="title"/>
          </p:nvPr>
        </p:nvSpPr>
        <p:spPr>
          <a:xfrm>
            <a:off x="638882" y="639193"/>
            <a:ext cx="3571810" cy="1427113"/>
          </a:xfrm>
        </p:spPr>
        <p:txBody>
          <a:bodyPr vert="horz" lIns="91440" tIns="45720" rIns="91440" bIns="45720" rtlCol="0" anchor="b">
            <a:normAutofit fontScale="90000"/>
          </a:bodyPr>
          <a:lstStyle/>
          <a:p>
            <a:pPr algn="l"/>
            <a:r>
              <a:rPr lang="en-US" sz="3600" kern="1200" dirty="0">
                <a:solidFill>
                  <a:srgbClr val="000000"/>
                </a:solidFill>
                <a:latin typeface="Calibri"/>
                <a:ea typeface="+mj-ea"/>
                <a:cs typeface="+mj-cs"/>
              </a:rPr>
              <a:t>What is frailty among older adults?</a:t>
            </a:r>
          </a:p>
        </p:txBody>
      </p:sp>
      <p:graphicFrame>
        <p:nvGraphicFramePr>
          <p:cNvPr id="4" name="Table 4">
            <a:extLst>
              <a:ext uri="{FF2B5EF4-FFF2-40B4-BE49-F238E27FC236}">
                <a16:creationId xmlns:a16="http://schemas.microsoft.com/office/drawing/2014/main" id="{07A9CF35-0FE3-4E8C-8A85-BFD45524E580}"/>
              </a:ext>
            </a:extLst>
          </p:cNvPr>
          <p:cNvGraphicFramePr>
            <a:graphicFrameLocks noGrp="1"/>
          </p:cNvGraphicFramePr>
          <p:nvPr>
            <p:ph idx="1"/>
            <p:extLst>
              <p:ext uri="{D42A27DB-BD31-4B8C-83A1-F6EECF244321}">
                <p14:modId xmlns:p14="http://schemas.microsoft.com/office/powerpoint/2010/main" val="654943911"/>
              </p:ext>
            </p:extLst>
          </p:nvPr>
        </p:nvGraphicFramePr>
        <p:xfrm>
          <a:off x="4704104" y="640080"/>
          <a:ext cx="7115001" cy="5550415"/>
        </p:xfrm>
        <a:graphic>
          <a:graphicData uri="http://schemas.openxmlformats.org/drawingml/2006/table">
            <a:tbl>
              <a:tblPr firstRow="1" bandRow="1">
                <a:noFill/>
                <a:tableStyleId>{5C22544A-7EE6-4342-B048-85BDC9FD1C3A}</a:tableStyleId>
              </a:tblPr>
              <a:tblGrid>
                <a:gridCol w="3041946">
                  <a:extLst>
                    <a:ext uri="{9D8B030D-6E8A-4147-A177-3AD203B41FA5}">
                      <a16:colId xmlns:a16="http://schemas.microsoft.com/office/drawing/2014/main" val="3876388323"/>
                    </a:ext>
                  </a:extLst>
                </a:gridCol>
                <a:gridCol w="1357685">
                  <a:extLst>
                    <a:ext uri="{9D8B030D-6E8A-4147-A177-3AD203B41FA5}">
                      <a16:colId xmlns:a16="http://schemas.microsoft.com/office/drawing/2014/main" val="1707411806"/>
                    </a:ext>
                  </a:extLst>
                </a:gridCol>
                <a:gridCol w="1357685">
                  <a:extLst>
                    <a:ext uri="{9D8B030D-6E8A-4147-A177-3AD203B41FA5}">
                      <a16:colId xmlns:a16="http://schemas.microsoft.com/office/drawing/2014/main" val="71684652"/>
                    </a:ext>
                  </a:extLst>
                </a:gridCol>
                <a:gridCol w="1357685">
                  <a:extLst>
                    <a:ext uri="{9D8B030D-6E8A-4147-A177-3AD203B41FA5}">
                      <a16:colId xmlns:a16="http://schemas.microsoft.com/office/drawing/2014/main" val="2713223311"/>
                    </a:ext>
                  </a:extLst>
                </a:gridCol>
              </a:tblGrid>
              <a:tr h="749068">
                <a:tc>
                  <a:txBody>
                    <a:bodyPr/>
                    <a:lstStyle/>
                    <a:p>
                      <a:endParaRPr lang="en-US" sz="2000" b="1" cap="none" spc="30">
                        <a:solidFill>
                          <a:schemeClr val="tx1"/>
                        </a:solidFill>
                      </a:endParaRPr>
                    </a:p>
                  </a:txBody>
                  <a:tcPr marL="0" marR="16443" marT="82215" marB="82215" anchor="ctr">
                    <a:lnL w="12700" cmpd="sng">
                      <a:noFill/>
                    </a:lnL>
                    <a:lnR w="12700" cmpd="sng">
                      <a:noFill/>
                    </a:lnR>
                    <a:lnT w="19050" cap="flat" cmpd="sng" algn="ctr">
                      <a:solidFill>
                        <a:schemeClr val="accent1"/>
                      </a:solidFill>
                      <a:prstDash val="solid"/>
                    </a:lnT>
                    <a:lnB w="38100" cmpd="sng">
                      <a:noFill/>
                    </a:lnB>
                    <a:noFill/>
                  </a:tcPr>
                </a:tc>
                <a:tc>
                  <a:txBody>
                    <a:bodyPr/>
                    <a:lstStyle/>
                    <a:p>
                      <a:endParaRPr lang="en-US" sz="2000" b="1" cap="none" spc="30">
                        <a:solidFill>
                          <a:schemeClr val="tx1"/>
                        </a:solidFill>
                      </a:endParaRPr>
                    </a:p>
                  </a:txBody>
                  <a:tcPr marL="0" marR="16443" marT="82215" marB="82215" anchor="ctr">
                    <a:lnL w="12700" cmpd="sng">
                      <a:noFill/>
                    </a:lnL>
                    <a:lnR w="12700" cmpd="sng">
                      <a:noFill/>
                    </a:lnR>
                    <a:lnT w="19050" cap="flat" cmpd="sng" algn="ctr">
                      <a:solidFill>
                        <a:schemeClr val="accent1"/>
                      </a:solidFill>
                      <a:prstDash val="solid"/>
                    </a:lnT>
                    <a:lnB w="38100" cmpd="sng">
                      <a:noFill/>
                    </a:lnB>
                    <a:noFill/>
                  </a:tcPr>
                </a:tc>
                <a:tc>
                  <a:txBody>
                    <a:bodyPr/>
                    <a:lstStyle/>
                    <a:p>
                      <a:endParaRPr lang="en-US" sz="2000" b="1" cap="none" spc="30">
                        <a:solidFill>
                          <a:schemeClr val="tx1"/>
                        </a:solidFill>
                      </a:endParaRPr>
                    </a:p>
                  </a:txBody>
                  <a:tcPr marL="0" marR="16443" marT="82215" marB="82215" anchor="ctr">
                    <a:lnL w="12700" cmpd="sng">
                      <a:noFill/>
                    </a:lnL>
                    <a:lnR w="12700" cmpd="sng">
                      <a:noFill/>
                    </a:lnR>
                    <a:lnT w="19050" cap="flat" cmpd="sng" algn="ctr">
                      <a:solidFill>
                        <a:schemeClr val="accent1"/>
                      </a:solidFill>
                      <a:prstDash val="solid"/>
                    </a:lnT>
                    <a:lnB w="38100" cmpd="sng">
                      <a:noFill/>
                    </a:lnB>
                    <a:noFill/>
                  </a:tcPr>
                </a:tc>
                <a:tc>
                  <a:txBody>
                    <a:bodyPr/>
                    <a:lstStyle/>
                    <a:p>
                      <a:endParaRPr lang="en-US" sz="2000" b="1" cap="none" spc="30">
                        <a:solidFill>
                          <a:schemeClr val="tx1"/>
                        </a:solidFill>
                      </a:endParaRPr>
                    </a:p>
                  </a:txBody>
                  <a:tcPr marL="0" marR="16443" marT="82215" marB="82215" anchor="ctr">
                    <a:lnL w="12700" cmpd="sng">
                      <a:noFill/>
                    </a:lnL>
                    <a:lnR w="12700" cmpd="sng">
                      <a:noFill/>
                    </a:lnR>
                    <a:lnT w="19050" cap="flat" cmpd="sng" algn="ctr">
                      <a:solidFill>
                        <a:schemeClr val="accent1"/>
                      </a:solidFill>
                      <a:prstDash val="solid"/>
                    </a:lnT>
                    <a:lnB w="38100" cmpd="sng">
                      <a:noFill/>
                    </a:lnB>
                    <a:noFill/>
                  </a:tcPr>
                </a:tc>
                <a:extLst>
                  <a:ext uri="{0D108BD9-81ED-4DB2-BD59-A6C34878D82A}">
                    <a16:rowId xmlns:a16="http://schemas.microsoft.com/office/drawing/2014/main" val="2354456267"/>
                  </a:ext>
                </a:extLst>
              </a:tr>
              <a:tr h="559061">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1" cap="none" spc="0" dirty="0">
                          <a:solidFill>
                            <a:schemeClr val="tx1"/>
                          </a:solidFill>
                        </a:rPr>
                        <a:t>Criterion/Item</a:t>
                      </a:r>
                    </a:p>
                  </a:txBody>
                  <a:tcPr marL="0" marR="164429" marT="82215" marB="82215" anchor="ctr">
                    <a:lnL w="12700" cmpd="sng">
                      <a:noFill/>
                      <a:prstDash val="solid"/>
                    </a:lnL>
                    <a:lnR w="12700" cmpd="sng">
                      <a:noFill/>
                      <a:prstDash val="solid"/>
                    </a:lnR>
                    <a:lnT w="38100" cmpd="sng">
                      <a:noFill/>
                    </a:lnT>
                    <a:lnB w="12700" cmpd="sng">
                      <a:noFill/>
                      <a:prstDash val="solid"/>
                    </a:lnB>
                    <a:noFill/>
                  </a:tcPr>
                </a:tc>
                <a:tc gridSpan="3">
                  <a:txBody>
                    <a:bodyPr/>
                    <a:lstStyle/>
                    <a:p>
                      <a:pPr algn="ctr"/>
                      <a:r>
                        <a:rPr lang="en-US" sz="2000" b="1" cap="none" spc="0" dirty="0">
                          <a:solidFill>
                            <a:schemeClr val="tx1"/>
                          </a:solidFill>
                        </a:rPr>
                        <a:t>3-Class Model</a:t>
                      </a:r>
                    </a:p>
                  </a:txBody>
                  <a:tcPr marL="0" marR="164429" marT="82215" marB="82215">
                    <a:lnL w="12700" cmpd="sng">
                      <a:noFill/>
                      <a:prstDash val="solid"/>
                    </a:lnL>
                    <a:lnR w="12700" cmpd="sng">
                      <a:noFill/>
                      <a:prstDash val="solid"/>
                    </a:lnR>
                    <a:lnT w="38100" cmpd="sng">
                      <a:noFill/>
                    </a:lnT>
                    <a:lnB w="9525" cap="flat" cmpd="sng" algn="ctr">
                      <a:solidFill>
                        <a:schemeClr val="accent1"/>
                      </a:solidFill>
                      <a:prstDash val="solid"/>
                    </a:lnB>
                    <a:no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574581986"/>
                  </a:ext>
                </a:extLst>
              </a:tr>
              <a:tr h="887920">
                <a:tc vMerge="1">
                  <a:txBody>
                    <a:bodyPr/>
                    <a:lstStyle/>
                    <a:p>
                      <a:endParaRPr lang="en-US"/>
                    </a:p>
                  </a:txBody>
                  <a:tcPr/>
                </a:tc>
                <a:tc>
                  <a:txBody>
                    <a:bodyPr/>
                    <a:lstStyle/>
                    <a:p>
                      <a:pPr algn="ctr"/>
                      <a:r>
                        <a:rPr lang="en-US" sz="2000" b="1" cap="none" spc="0" dirty="0">
                          <a:solidFill>
                            <a:schemeClr val="tx1"/>
                          </a:solidFill>
                        </a:rPr>
                        <a:t>Class 1</a:t>
                      </a:r>
                    </a:p>
                  </a:txBody>
                  <a:tcPr marL="82215" marR="164429" marT="82215" marB="82215">
                    <a:lnL w="12700" cmpd="sng">
                      <a:noFill/>
                      <a:prstDash val="solid"/>
                    </a:lnL>
                    <a:lnR w="12700" cmpd="sng">
                      <a:noFill/>
                      <a:prstDash val="solid"/>
                    </a:lnR>
                    <a:lnT w="9525" cap="flat" cmpd="sng" algn="ctr">
                      <a:solidFill>
                        <a:schemeClr val="accent1"/>
                      </a:solidFill>
                      <a:prstDash val="solid"/>
                    </a:lnT>
                    <a:lnB w="12700" cmpd="sng">
                      <a:noFill/>
                      <a:prstDash val="solid"/>
                    </a:lnB>
                    <a:solidFill>
                      <a:schemeClr val="accent1">
                        <a:lumMod val="20000"/>
                        <a:lumOff val="80000"/>
                      </a:schemeClr>
                    </a:solidFill>
                  </a:tcPr>
                </a:tc>
                <a:tc>
                  <a:txBody>
                    <a:bodyPr/>
                    <a:lstStyle/>
                    <a:p>
                      <a:pPr algn="ctr"/>
                      <a:r>
                        <a:rPr lang="en-US" sz="2000" b="1" cap="none" spc="0" dirty="0">
                          <a:solidFill>
                            <a:schemeClr val="tx1"/>
                          </a:solidFill>
                        </a:rPr>
                        <a:t>Class 2</a:t>
                      </a:r>
                    </a:p>
                  </a:txBody>
                  <a:tcPr marL="82215" marR="164429" marT="82215" marB="82215">
                    <a:lnL w="12700" cmpd="sng">
                      <a:noFill/>
                      <a:prstDash val="solid"/>
                    </a:lnL>
                    <a:lnR w="12700" cmpd="sng">
                      <a:noFill/>
                      <a:prstDash val="solid"/>
                    </a:lnR>
                    <a:lnT w="9525" cap="flat" cmpd="sng" algn="ctr">
                      <a:solidFill>
                        <a:schemeClr val="accent1"/>
                      </a:solidFill>
                      <a:prstDash val="solid"/>
                    </a:lnT>
                    <a:lnB w="12700" cmpd="sng">
                      <a:noFill/>
                      <a:prstDash val="solid"/>
                    </a:lnB>
                    <a:solidFill>
                      <a:schemeClr val="accent1">
                        <a:lumMod val="20000"/>
                        <a:lumOff val="80000"/>
                      </a:schemeClr>
                    </a:solidFill>
                  </a:tcPr>
                </a:tc>
                <a:tc>
                  <a:txBody>
                    <a:bodyPr/>
                    <a:lstStyle/>
                    <a:p>
                      <a:pPr algn="ctr"/>
                      <a:r>
                        <a:rPr lang="en-US" sz="2000" b="1" cap="none" spc="0" dirty="0">
                          <a:solidFill>
                            <a:schemeClr val="tx1"/>
                          </a:solidFill>
                        </a:rPr>
                        <a:t>Class 3</a:t>
                      </a:r>
                    </a:p>
                    <a:p>
                      <a:pPr algn="ctr"/>
                      <a:endParaRPr lang="en-US" sz="2000" b="1" cap="none" spc="0" dirty="0">
                        <a:solidFill>
                          <a:schemeClr val="tx1"/>
                        </a:solidFill>
                      </a:endParaRPr>
                    </a:p>
                  </a:txBody>
                  <a:tcPr marL="82215" marR="164429" marT="82215" marB="82215">
                    <a:lnL w="12700" cmpd="sng">
                      <a:noFill/>
                      <a:prstDash val="solid"/>
                    </a:lnL>
                    <a:lnR w="12700" cmpd="sng">
                      <a:noFill/>
                      <a:prstDash val="solid"/>
                    </a:lnR>
                    <a:lnT w="9525" cap="flat" cmpd="sng" algn="ctr">
                      <a:solidFill>
                        <a:schemeClr val="accent1"/>
                      </a:solidFill>
                      <a:prstDash val="solid"/>
                    </a:lnT>
                    <a:lnB w="12700" cmpd="sng">
                      <a:noFill/>
                      <a:prstDash val="solid"/>
                    </a:lnB>
                    <a:solidFill>
                      <a:schemeClr val="accent1">
                        <a:lumMod val="20000"/>
                        <a:lumOff val="80000"/>
                      </a:schemeClr>
                    </a:solidFill>
                  </a:tcPr>
                </a:tc>
                <a:extLst>
                  <a:ext uri="{0D108BD9-81ED-4DB2-BD59-A6C34878D82A}">
                    <a16:rowId xmlns:a16="http://schemas.microsoft.com/office/drawing/2014/main" val="277985837"/>
                  </a:ext>
                </a:extLst>
              </a:tr>
              <a:tr h="559061">
                <a:tc>
                  <a:txBody>
                    <a:bodyPr/>
                    <a:lstStyle/>
                    <a:p>
                      <a:r>
                        <a:rPr lang="en-US" sz="2000" cap="none" spc="0">
                          <a:solidFill>
                            <a:schemeClr val="tx1"/>
                          </a:solidFill>
                        </a:rPr>
                        <a:t>Weight Loss</a:t>
                      </a:r>
                    </a:p>
                  </a:txBody>
                  <a:tcPr marL="0" marR="164429" marT="82215" marB="82215">
                    <a:lnL w="12700" cmpd="sng">
                      <a:noFill/>
                      <a:prstDash val="solid"/>
                    </a:lnL>
                    <a:lnR w="12700" cmpd="sng">
                      <a:noFill/>
                      <a:prstDash val="solid"/>
                    </a:lnR>
                    <a:lnT w="12700" cmpd="sng">
                      <a:noFill/>
                      <a:prstDash val="solid"/>
                    </a:lnT>
                    <a:lnB w="9525" cap="flat" cmpd="sng" algn="ctr">
                      <a:solidFill>
                        <a:schemeClr val="accent1"/>
                      </a:solidFill>
                      <a:prstDash val="solid"/>
                    </a:lnB>
                    <a:noFill/>
                  </a:tcPr>
                </a:tc>
                <a:tc>
                  <a:txBody>
                    <a:bodyPr/>
                    <a:lstStyle/>
                    <a:p>
                      <a:pPr algn="ctr"/>
                      <a:r>
                        <a:rPr lang="en-US" sz="2000" cap="none" spc="0" dirty="0">
                          <a:solidFill>
                            <a:schemeClr val="tx1"/>
                          </a:solidFill>
                        </a:rPr>
                        <a:t>.072</a:t>
                      </a:r>
                    </a:p>
                  </a:txBody>
                  <a:tcPr marL="0" marR="164429" marT="82215" marB="82215">
                    <a:lnL w="12700" cmpd="sng">
                      <a:noFill/>
                      <a:prstDash val="solid"/>
                    </a:lnL>
                    <a:lnR w="12700" cmpd="sng">
                      <a:noFill/>
                      <a:prstDash val="solid"/>
                    </a:lnR>
                    <a:lnT w="12700" cmpd="sng">
                      <a:noFill/>
                      <a:prstDash val="solid"/>
                    </a:lnT>
                    <a:lnB w="9525" cap="flat" cmpd="sng" algn="ctr">
                      <a:solidFill>
                        <a:schemeClr val="accent1"/>
                      </a:solidFill>
                      <a:prstDash val="solid"/>
                    </a:lnB>
                    <a:noFill/>
                  </a:tcPr>
                </a:tc>
                <a:tc>
                  <a:txBody>
                    <a:bodyPr/>
                    <a:lstStyle/>
                    <a:p>
                      <a:pPr algn="ctr"/>
                      <a:r>
                        <a:rPr lang="en-US" sz="2000" cap="none" spc="0">
                          <a:solidFill>
                            <a:schemeClr val="tx1"/>
                          </a:solidFill>
                        </a:rPr>
                        <a:t>.11</a:t>
                      </a:r>
                    </a:p>
                  </a:txBody>
                  <a:tcPr marL="0" marR="164429" marT="82215" marB="82215">
                    <a:lnL w="12700" cmpd="sng">
                      <a:noFill/>
                      <a:prstDash val="solid"/>
                    </a:lnL>
                    <a:lnR w="12700" cmpd="sng">
                      <a:noFill/>
                      <a:prstDash val="solid"/>
                    </a:lnR>
                    <a:lnT w="12700" cmpd="sng">
                      <a:noFill/>
                      <a:prstDash val="solid"/>
                    </a:lnT>
                    <a:lnB w="9525" cap="flat" cmpd="sng" algn="ctr">
                      <a:solidFill>
                        <a:schemeClr val="accent1"/>
                      </a:solidFill>
                      <a:prstDash val="solid"/>
                    </a:lnB>
                    <a:noFill/>
                  </a:tcPr>
                </a:tc>
                <a:tc>
                  <a:txBody>
                    <a:bodyPr/>
                    <a:lstStyle/>
                    <a:p>
                      <a:pPr algn="ctr"/>
                      <a:r>
                        <a:rPr lang="en-US" sz="2000" cap="none" spc="0">
                          <a:solidFill>
                            <a:schemeClr val="tx1"/>
                          </a:solidFill>
                        </a:rPr>
                        <a:t>.54 </a:t>
                      </a:r>
                    </a:p>
                  </a:txBody>
                  <a:tcPr marL="0" marR="164429" marT="82215" marB="82215">
                    <a:lnL w="12700" cmpd="sng">
                      <a:noFill/>
                      <a:prstDash val="solid"/>
                    </a:lnL>
                    <a:lnR w="12700" cmpd="sng">
                      <a:noFill/>
                      <a:prstDash val="solid"/>
                    </a:lnR>
                    <a:lnT w="12700" cmpd="sng">
                      <a:noFill/>
                      <a:prstDash val="solid"/>
                    </a:lnT>
                    <a:lnB w="9525" cap="flat" cmpd="sng" algn="ctr">
                      <a:solidFill>
                        <a:schemeClr val="accent1"/>
                      </a:solidFill>
                      <a:prstDash val="solid"/>
                    </a:lnB>
                    <a:noFill/>
                  </a:tcPr>
                </a:tc>
                <a:extLst>
                  <a:ext uri="{0D108BD9-81ED-4DB2-BD59-A6C34878D82A}">
                    <a16:rowId xmlns:a16="http://schemas.microsoft.com/office/drawing/2014/main" val="3197789943"/>
                  </a:ext>
                </a:extLst>
              </a:tr>
              <a:tr h="559061">
                <a:tc>
                  <a:txBody>
                    <a:bodyPr/>
                    <a:lstStyle/>
                    <a:p>
                      <a:r>
                        <a:rPr lang="en-US" sz="2000" cap="none" spc="0">
                          <a:solidFill>
                            <a:schemeClr val="tx1"/>
                          </a:solidFill>
                        </a:rPr>
                        <a:t>Weakness</a:t>
                      </a:r>
                    </a:p>
                  </a:txBody>
                  <a:tcPr marL="82215" marR="164429" marT="82215" marB="82215">
                    <a:lnL w="12700" cmpd="sng">
                      <a:noFill/>
                      <a:prstDash val="solid"/>
                    </a:lnL>
                    <a:lnR w="12700" cmpd="sng">
                      <a:noFill/>
                      <a:prstDash val="solid"/>
                    </a:lnR>
                    <a:lnT w="9525" cap="flat" cmpd="sng" algn="ctr">
                      <a:solidFill>
                        <a:schemeClr val="accent1"/>
                      </a:solidFill>
                      <a:prstDash val="solid"/>
                    </a:lnT>
                    <a:lnB w="12700" cmpd="sng">
                      <a:noFill/>
                      <a:prstDash val="solid"/>
                    </a:lnB>
                    <a:solidFill>
                      <a:schemeClr val="accent1">
                        <a:lumMod val="20000"/>
                        <a:lumOff val="80000"/>
                      </a:schemeClr>
                    </a:solidFill>
                  </a:tcPr>
                </a:tc>
                <a:tc>
                  <a:txBody>
                    <a:bodyPr/>
                    <a:lstStyle/>
                    <a:p>
                      <a:pPr algn="ctr"/>
                      <a:r>
                        <a:rPr lang="en-US" sz="2000" cap="none" spc="0">
                          <a:solidFill>
                            <a:schemeClr val="tx1"/>
                          </a:solidFill>
                        </a:rPr>
                        <a:t>.029</a:t>
                      </a:r>
                    </a:p>
                  </a:txBody>
                  <a:tcPr marL="82215" marR="164429" marT="82215" marB="82215">
                    <a:lnL w="12700" cmpd="sng">
                      <a:noFill/>
                      <a:prstDash val="solid"/>
                    </a:lnL>
                    <a:lnR w="12700" cmpd="sng">
                      <a:noFill/>
                      <a:prstDash val="solid"/>
                    </a:lnR>
                    <a:lnT w="9525" cap="flat" cmpd="sng" algn="ctr">
                      <a:solidFill>
                        <a:schemeClr val="accent1"/>
                      </a:solidFill>
                      <a:prstDash val="solid"/>
                    </a:lnT>
                    <a:lnB w="12700" cmpd="sng">
                      <a:noFill/>
                      <a:prstDash val="solid"/>
                    </a:lnB>
                    <a:solidFill>
                      <a:schemeClr val="accent1">
                        <a:lumMod val="20000"/>
                        <a:lumOff val="80000"/>
                      </a:schemeClr>
                    </a:solidFill>
                  </a:tcPr>
                </a:tc>
                <a:tc>
                  <a:txBody>
                    <a:bodyPr/>
                    <a:lstStyle/>
                    <a:p>
                      <a:pPr algn="ctr"/>
                      <a:r>
                        <a:rPr lang="en-US" sz="2000" cap="none" spc="0" dirty="0">
                          <a:solidFill>
                            <a:schemeClr val="tx1"/>
                          </a:solidFill>
                        </a:rPr>
                        <a:t>.26 </a:t>
                      </a:r>
                    </a:p>
                  </a:txBody>
                  <a:tcPr marL="82215" marR="164429" marT="82215" marB="82215">
                    <a:lnL w="12700" cmpd="sng">
                      <a:noFill/>
                      <a:prstDash val="solid"/>
                    </a:lnL>
                    <a:lnR w="12700" cmpd="sng">
                      <a:noFill/>
                      <a:prstDash val="solid"/>
                    </a:lnR>
                    <a:lnT w="9525" cap="flat" cmpd="sng" algn="ctr">
                      <a:solidFill>
                        <a:schemeClr val="accent1"/>
                      </a:solidFill>
                      <a:prstDash val="solid"/>
                    </a:lnT>
                    <a:lnB w="12700" cmpd="sng">
                      <a:noFill/>
                      <a:prstDash val="solid"/>
                    </a:lnB>
                    <a:solidFill>
                      <a:schemeClr val="accent1">
                        <a:lumMod val="20000"/>
                        <a:lumOff val="80000"/>
                      </a:schemeClr>
                    </a:solidFill>
                  </a:tcPr>
                </a:tc>
                <a:tc>
                  <a:txBody>
                    <a:bodyPr/>
                    <a:lstStyle/>
                    <a:p>
                      <a:pPr algn="ctr"/>
                      <a:r>
                        <a:rPr lang="en-US" sz="2000" cap="none" spc="0">
                          <a:solidFill>
                            <a:schemeClr val="tx1"/>
                          </a:solidFill>
                        </a:rPr>
                        <a:t>.77 </a:t>
                      </a:r>
                    </a:p>
                  </a:txBody>
                  <a:tcPr marL="82215" marR="164429" marT="82215" marB="82215">
                    <a:lnL w="12700" cmpd="sng">
                      <a:noFill/>
                      <a:prstDash val="solid"/>
                    </a:lnL>
                    <a:lnR w="12700" cmpd="sng">
                      <a:noFill/>
                      <a:prstDash val="solid"/>
                    </a:lnR>
                    <a:lnT w="9525" cap="flat" cmpd="sng" algn="ctr">
                      <a:solidFill>
                        <a:schemeClr val="accent1"/>
                      </a:solidFill>
                      <a:prstDash val="solid"/>
                    </a:lnT>
                    <a:lnB w="12700" cmpd="sng">
                      <a:noFill/>
                      <a:prstDash val="solid"/>
                    </a:lnB>
                    <a:solidFill>
                      <a:schemeClr val="accent1">
                        <a:lumMod val="20000"/>
                        <a:lumOff val="80000"/>
                      </a:schemeClr>
                    </a:solidFill>
                  </a:tcPr>
                </a:tc>
                <a:extLst>
                  <a:ext uri="{0D108BD9-81ED-4DB2-BD59-A6C34878D82A}">
                    <a16:rowId xmlns:a16="http://schemas.microsoft.com/office/drawing/2014/main" val="2600235229"/>
                  </a:ext>
                </a:extLst>
              </a:tr>
              <a:tr h="559061">
                <a:tc>
                  <a:txBody>
                    <a:bodyPr/>
                    <a:lstStyle/>
                    <a:p>
                      <a:r>
                        <a:rPr lang="en-US" sz="2000" cap="none" spc="0">
                          <a:solidFill>
                            <a:schemeClr val="tx1"/>
                          </a:solidFill>
                        </a:rPr>
                        <a:t>Slowness</a:t>
                      </a:r>
                    </a:p>
                  </a:txBody>
                  <a:tcPr marL="0" marR="164429" marT="82215" marB="82215">
                    <a:lnL w="12700" cmpd="sng">
                      <a:noFill/>
                      <a:prstDash val="solid"/>
                    </a:lnL>
                    <a:lnR w="12700" cmpd="sng">
                      <a:noFill/>
                      <a:prstDash val="solid"/>
                    </a:lnR>
                    <a:lnT w="12700" cmpd="sng">
                      <a:noFill/>
                      <a:prstDash val="solid"/>
                    </a:lnT>
                    <a:lnB w="9525" cap="flat" cmpd="sng" algn="ctr">
                      <a:solidFill>
                        <a:schemeClr val="accent1"/>
                      </a:solidFill>
                      <a:prstDash val="solid"/>
                    </a:lnB>
                    <a:noFill/>
                  </a:tcPr>
                </a:tc>
                <a:tc>
                  <a:txBody>
                    <a:bodyPr/>
                    <a:lstStyle/>
                    <a:p>
                      <a:pPr algn="ctr"/>
                      <a:r>
                        <a:rPr lang="en-US" sz="2000" cap="none" spc="0">
                          <a:solidFill>
                            <a:schemeClr val="tx1"/>
                          </a:solidFill>
                        </a:rPr>
                        <a:t>.004 </a:t>
                      </a:r>
                    </a:p>
                  </a:txBody>
                  <a:tcPr marL="0" marR="164429" marT="82215" marB="82215">
                    <a:lnL w="12700" cmpd="sng">
                      <a:noFill/>
                      <a:prstDash val="solid"/>
                    </a:lnL>
                    <a:lnR w="12700" cmpd="sng">
                      <a:noFill/>
                      <a:prstDash val="solid"/>
                    </a:lnR>
                    <a:lnT w="12700" cmpd="sng">
                      <a:noFill/>
                      <a:prstDash val="solid"/>
                    </a:lnT>
                    <a:lnB w="9525" cap="flat" cmpd="sng" algn="ctr">
                      <a:solidFill>
                        <a:schemeClr val="accent1"/>
                      </a:solidFill>
                      <a:prstDash val="solid"/>
                    </a:lnB>
                    <a:noFill/>
                  </a:tcPr>
                </a:tc>
                <a:tc>
                  <a:txBody>
                    <a:bodyPr/>
                    <a:lstStyle/>
                    <a:p>
                      <a:pPr algn="ctr"/>
                      <a:r>
                        <a:rPr lang="en-US" sz="2000" cap="none" spc="0" dirty="0">
                          <a:solidFill>
                            <a:schemeClr val="tx1"/>
                          </a:solidFill>
                        </a:rPr>
                        <a:t>.45 </a:t>
                      </a:r>
                    </a:p>
                  </a:txBody>
                  <a:tcPr marL="0" marR="164429" marT="82215" marB="82215">
                    <a:lnL w="12700" cmpd="sng">
                      <a:noFill/>
                      <a:prstDash val="solid"/>
                    </a:lnL>
                    <a:lnR w="12700" cmpd="sng">
                      <a:noFill/>
                      <a:prstDash val="solid"/>
                    </a:lnR>
                    <a:lnT w="12700" cmpd="sng">
                      <a:noFill/>
                      <a:prstDash val="solid"/>
                    </a:lnT>
                    <a:lnB w="9525" cap="flat" cmpd="sng" algn="ctr">
                      <a:solidFill>
                        <a:schemeClr val="accent1"/>
                      </a:solidFill>
                      <a:prstDash val="solid"/>
                    </a:lnB>
                    <a:noFill/>
                  </a:tcPr>
                </a:tc>
                <a:tc>
                  <a:txBody>
                    <a:bodyPr/>
                    <a:lstStyle/>
                    <a:p>
                      <a:pPr algn="ctr"/>
                      <a:r>
                        <a:rPr lang="en-US" sz="2000" cap="none" spc="0">
                          <a:solidFill>
                            <a:schemeClr val="tx1"/>
                          </a:solidFill>
                        </a:rPr>
                        <a:t>.85 </a:t>
                      </a:r>
                    </a:p>
                  </a:txBody>
                  <a:tcPr marL="0" marR="164429" marT="82215" marB="82215">
                    <a:lnL w="12700" cmpd="sng">
                      <a:noFill/>
                      <a:prstDash val="solid"/>
                    </a:lnL>
                    <a:lnR w="12700" cmpd="sng">
                      <a:noFill/>
                      <a:prstDash val="solid"/>
                    </a:lnR>
                    <a:lnT w="12700" cmpd="sng">
                      <a:noFill/>
                      <a:prstDash val="solid"/>
                    </a:lnT>
                    <a:lnB w="9525" cap="flat" cmpd="sng" algn="ctr">
                      <a:solidFill>
                        <a:schemeClr val="accent1"/>
                      </a:solidFill>
                      <a:prstDash val="solid"/>
                    </a:lnB>
                    <a:noFill/>
                  </a:tcPr>
                </a:tc>
                <a:extLst>
                  <a:ext uri="{0D108BD9-81ED-4DB2-BD59-A6C34878D82A}">
                    <a16:rowId xmlns:a16="http://schemas.microsoft.com/office/drawing/2014/main" val="3145139813"/>
                  </a:ext>
                </a:extLst>
              </a:tr>
              <a:tr h="559061">
                <a:tc>
                  <a:txBody>
                    <a:bodyPr/>
                    <a:lstStyle/>
                    <a:p>
                      <a:r>
                        <a:rPr lang="en-US" sz="2000" cap="none" spc="0">
                          <a:solidFill>
                            <a:schemeClr val="tx1"/>
                          </a:solidFill>
                        </a:rPr>
                        <a:t>Low Physical Activity</a:t>
                      </a:r>
                    </a:p>
                  </a:txBody>
                  <a:tcPr marL="82215" marR="164429" marT="82215" marB="82215">
                    <a:lnL w="12700" cmpd="sng">
                      <a:noFill/>
                      <a:prstDash val="solid"/>
                    </a:lnL>
                    <a:lnR w="12700" cmpd="sng">
                      <a:noFill/>
                      <a:prstDash val="solid"/>
                    </a:lnR>
                    <a:lnT w="9525" cap="flat" cmpd="sng" algn="ctr">
                      <a:solidFill>
                        <a:schemeClr val="accent1"/>
                      </a:solidFill>
                      <a:prstDash val="solid"/>
                    </a:lnT>
                    <a:lnB w="12700" cmpd="sng">
                      <a:noFill/>
                      <a:prstDash val="solid"/>
                    </a:lnB>
                    <a:solidFill>
                      <a:schemeClr val="accent1">
                        <a:lumMod val="20000"/>
                        <a:lumOff val="80000"/>
                      </a:schemeClr>
                    </a:solidFill>
                  </a:tcPr>
                </a:tc>
                <a:tc>
                  <a:txBody>
                    <a:bodyPr/>
                    <a:lstStyle/>
                    <a:p>
                      <a:pPr algn="ctr"/>
                      <a:r>
                        <a:rPr lang="en-US" sz="2000" cap="none" spc="0">
                          <a:solidFill>
                            <a:schemeClr val="tx1"/>
                          </a:solidFill>
                        </a:rPr>
                        <a:t>.000</a:t>
                      </a:r>
                    </a:p>
                  </a:txBody>
                  <a:tcPr marL="82215" marR="164429" marT="82215" marB="82215">
                    <a:lnL w="12700" cmpd="sng">
                      <a:noFill/>
                      <a:prstDash val="solid"/>
                    </a:lnL>
                    <a:lnR w="12700" cmpd="sng">
                      <a:noFill/>
                      <a:prstDash val="solid"/>
                    </a:lnR>
                    <a:lnT w="9525" cap="flat" cmpd="sng" algn="ctr">
                      <a:solidFill>
                        <a:schemeClr val="accent1"/>
                      </a:solidFill>
                      <a:prstDash val="solid"/>
                    </a:lnT>
                    <a:lnB w="12700" cmpd="sng">
                      <a:noFill/>
                      <a:prstDash val="solid"/>
                    </a:lnB>
                    <a:solidFill>
                      <a:schemeClr val="accent1">
                        <a:lumMod val="20000"/>
                        <a:lumOff val="80000"/>
                      </a:schemeClr>
                    </a:solidFill>
                  </a:tcPr>
                </a:tc>
                <a:tc>
                  <a:txBody>
                    <a:bodyPr/>
                    <a:lstStyle/>
                    <a:p>
                      <a:pPr algn="ctr"/>
                      <a:r>
                        <a:rPr lang="en-US" sz="2000" cap="none" spc="0">
                          <a:solidFill>
                            <a:schemeClr val="tx1"/>
                          </a:solidFill>
                        </a:rPr>
                        <a:t>.28 </a:t>
                      </a:r>
                    </a:p>
                  </a:txBody>
                  <a:tcPr marL="82215" marR="164429" marT="82215" marB="82215">
                    <a:lnL w="12700" cmpd="sng">
                      <a:noFill/>
                      <a:prstDash val="solid"/>
                    </a:lnL>
                    <a:lnR w="12700" cmpd="sng">
                      <a:noFill/>
                      <a:prstDash val="solid"/>
                    </a:lnR>
                    <a:lnT w="9525" cap="flat" cmpd="sng" algn="ctr">
                      <a:solidFill>
                        <a:schemeClr val="accent1"/>
                      </a:solidFill>
                      <a:prstDash val="solid"/>
                    </a:lnT>
                    <a:lnB w="12700" cmpd="sng">
                      <a:noFill/>
                      <a:prstDash val="solid"/>
                    </a:lnB>
                    <a:solidFill>
                      <a:schemeClr val="accent1">
                        <a:lumMod val="20000"/>
                        <a:lumOff val="80000"/>
                      </a:schemeClr>
                    </a:solidFill>
                  </a:tcPr>
                </a:tc>
                <a:tc>
                  <a:txBody>
                    <a:bodyPr/>
                    <a:lstStyle/>
                    <a:p>
                      <a:pPr algn="ctr"/>
                      <a:r>
                        <a:rPr lang="en-US" sz="2000" cap="none" spc="0" dirty="0">
                          <a:solidFill>
                            <a:schemeClr val="tx1"/>
                          </a:solidFill>
                        </a:rPr>
                        <a:t>.70 </a:t>
                      </a:r>
                    </a:p>
                  </a:txBody>
                  <a:tcPr marL="82215" marR="164429" marT="82215" marB="82215">
                    <a:lnL w="12700" cmpd="sng">
                      <a:noFill/>
                      <a:prstDash val="solid"/>
                    </a:lnL>
                    <a:lnR w="12700" cmpd="sng">
                      <a:noFill/>
                      <a:prstDash val="solid"/>
                    </a:lnR>
                    <a:lnT w="9525" cap="flat" cmpd="sng" algn="ctr">
                      <a:solidFill>
                        <a:schemeClr val="accent1"/>
                      </a:solidFill>
                      <a:prstDash val="solid"/>
                    </a:lnT>
                    <a:lnB w="12700" cmpd="sng">
                      <a:noFill/>
                      <a:prstDash val="solid"/>
                    </a:lnB>
                    <a:solidFill>
                      <a:schemeClr val="accent1">
                        <a:lumMod val="20000"/>
                        <a:lumOff val="80000"/>
                      </a:schemeClr>
                    </a:solidFill>
                  </a:tcPr>
                </a:tc>
                <a:extLst>
                  <a:ext uri="{0D108BD9-81ED-4DB2-BD59-A6C34878D82A}">
                    <a16:rowId xmlns:a16="http://schemas.microsoft.com/office/drawing/2014/main" val="4287867996"/>
                  </a:ext>
                </a:extLst>
              </a:tr>
              <a:tr h="559061">
                <a:tc>
                  <a:txBody>
                    <a:bodyPr/>
                    <a:lstStyle/>
                    <a:p>
                      <a:r>
                        <a:rPr lang="en-US" sz="2000" cap="none" spc="0">
                          <a:solidFill>
                            <a:schemeClr val="tx1"/>
                          </a:solidFill>
                        </a:rPr>
                        <a:t>Exhaustion</a:t>
                      </a:r>
                    </a:p>
                  </a:txBody>
                  <a:tcPr marL="0" marR="164429" marT="82215" marB="82215">
                    <a:lnL w="12700" cmpd="sng">
                      <a:noFill/>
                      <a:prstDash val="solid"/>
                    </a:lnL>
                    <a:lnR w="12700" cmpd="sng">
                      <a:noFill/>
                      <a:prstDash val="solid"/>
                    </a:lnR>
                    <a:lnT w="12700" cmpd="sng">
                      <a:noFill/>
                      <a:prstDash val="solid"/>
                    </a:lnT>
                    <a:lnB w="9525" cap="flat" cmpd="sng" algn="ctr">
                      <a:solidFill>
                        <a:schemeClr val="accent1"/>
                      </a:solidFill>
                      <a:prstDash val="solid"/>
                    </a:lnB>
                    <a:noFill/>
                  </a:tcPr>
                </a:tc>
                <a:tc>
                  <a:txBody>
                    <a:bodyPr/>
                    <a:lstStyle/>
                    <a:p>
                      <a:pPr algn="ctr"/>
                      <a:r>
                        <a:rPr lang="en-US" sz="2000" cap="none" spc="0">
                          <a:solidFill>
                            <a:schemeClr val="tx1"/>
                          </a:solidFill>
                        </a:rPr>
                        <a:t>.027</a:t>
                      </a:r>
                    </a:p>
                  </a:txBody>
                  <a:tcPr marL="0" marR="164429" marT="82215" marB="82215">
                    <a:lnL w="12700" cmpd="sng">
                      <a:noFill/>
                      <a:prstDash val="solid"/>
                    </a:lnL>
                    <a:lnR w="12700" cmpd="sng">
                      <a:noFill/>
                      <a:prstDash val="solid"/>
                    </a:lnR>
                    <a:lnT w="12700" cmpd="sng">
                      <a:noFill/>
                      <a:prstDash val="solid"/>
                    </a:lnT>
                    <a:lnB w="9525" cap="flat" cmpd="sng" algn="ctr">
                      <a:solidFill>
                        <a:schemeClr val="accent1"/>
                      </a:solidFill>
                      <a:prstDash val="solid"/>
                    </a:lnB>
                    <a:noFill/>
                  </a:tcPr>
                </a:tc>
                <a:tc>
                  <a:txBody>
                    <a:bodyPr/>
                    <a:lstStyle/>
                    <a:p>
                      <a:pPr algn="ctr"/>
                      <a:r>
                        <a:rPr lang="en-US" sz="2000" cap="none" spc="0">
                          <a:solidFill>
                            <a:schemeClr val="tx1"/>
                          </a:solidFill>
                        </a:rPr>
                        <a:t>.16</a:t>
                      </a:r>
                    </a:p>
                  </a:txBody>
                  <a:tcPr marL="0" marR="164429" marT="82215" marB="82215">
                    <a:lnL w="12700" cmpd="sng">
                      <a:noFill/>
                      <a:prstDash val="solid"/>
                    </a:lnL>
                    <a:lnR w="12700" cmpd="sng">
                      <a:noFill/>
                      <a:prstDash val="solid"/>
                    </a:lnR>
                    <a:lnT w="12700" cmpd="sng">
                      <a:noFill/>
                      <a:prstDash val="solid"/>
                    </a:lnT>
                    <a:lnB w="9525" cap="flat" cmpd="sng" algn="ctr">
                      <a:solidFill>
                        <a:schemeClr val="accent1"/>
                      </a:solidFill>
                      <a:prstDash val="solid"/>
                    </a:lnB>
                    <a:noFill/>
                  </a:tcPr>
                </a:tc>
                <a:tc>
                  <a:txBody>
                    <a:bodyPr/>
                    <a:lstStyle/>
                    <a:p>
                      <a:pPr algn="ctr"/>
                      <a:r>
                        <a:rPr lang="en-US" sz="2000" cap="none" spc="0" dirty="0">
                          <a:solidFill>
                            <a:schemeClr val="tx1"/>
                          </a:solidFill>
                        </a:rPr>
                        <a:t>.56 </a:t>
                      </a:r>
                    </a:p>
                  </a:txBody>
                  <a:tcPr marL="0" marR="164429" marT="82215" marB="82215">
                    <a:lnL w="12700" cmpd="sng">
                      <a:noFill/>
                      <a:prstDash val="solid"/>
                    </a:lnL>
                    <a:lnR w="12700" cmpd="sng">
                      <a:noFill/>
                      <a:prstDash val="solid"/>
                    </a:lnR>
                    <a:lnT w="12700" cmpd="sng">
                      <a:noFill/>
                      <a:prstDash val="solid"/>
                    </a:lnT>
                    <a:lnB w="9525" cap="flat" cmpd="sng" algn="ctr">
                      <a:solidFill>
                        <a:schemeClr val="accent1"/>
                      </a:solidFill>
                      <a:prstDash val="solid"/>
                    </a:lnB>
                    <a:noFill/>
                  </a:tcPr>
                </a:tc>
                <a:extLst>
                  <a:ext uri="{0D108BD9-81ED-4DB2-BD59-A6C34878D82A}">
                    <a16:rowId xmlns:a16="http://schemas.microsoft.com/office/drawing/2014/main" val="3769982098"/>
                  </a:ext>
                </a:extLst>
              </a:tr>
              <a:tr h="559061">
                <a:tc>
                  <a:txBody>
                    <a:bodyPr/>
                    <a:lstStyle/>
                    <a:p>
                      <a:r>
                        <a:rPr lang="en-US" sz="2000" b="1" cap="none" spc="0" dirty="0">
                          <a:solidFill>
                            <a:schemeClr val="tx1"/>
                          </a:solidFill>
                        </a:rPr>
                        <a:t>Class prevalence (%)</a:t>
                      </a:r>
                    </a:p>
                  </a:txBody>
                  <a:tcPr marL="82215" marR="164429" marT="82215" marB="82215">
                    <a:lnL w="12700" cmpd="sng">
                      <a:noFill/>
                      <a:prstDash val="solid"/>
                    </a:lnL>
                    <a:lnR w="12700" cmpd="sng">
                      <a:noFill/>
                      <a:prstDash val="solid"/>
                    </a:lnR>
                    <a:lnT w="9525" cap="flat" cmpd="sng" algn="ctr">
                      <a:solidFill>
                        <a:schemeClr val="accent1"/>
                      </a:solidFill>
                      <a:prstDash val="solid"/>
                    </a:lnT>
                    <a:lnB w="12700" cmpd="sng">
                      <a:noFill/>
                      <a:prstDash val="solid"/>
                    </a:lnB>
                    <a:solidFill>
                      <a:schemeClr val="accent1">
                        <a:lumMod val="20000"/>
                        <a:lumOff val="80000"/>
                      </a:schemeClr>
                    </a:solidFill>
                  </a:tcPr>
                </a:tc>
                <a:tc>
                  <a:txBody>
                    <a:bodyPr/>
                    <a:lstStyle/>
                    <a:p>
                      <a:pPr algn="ctr"/>
                      <a:r>
                        <a:rPr lang="en-US" sz="2000" cap="none" spc="0">
                          <a:solidFill>
                            <a:schemeClr val="tx1"/>
                          </a:solidFill>
                        </a:rPr>
                        <a:t>39.2</a:t>
                      </a:r>
                    </a:p>
                  </a:txBody>
                  <a:tcPr marL="82215" marR="164429" marT="82215" marB="82215">
                    <a:lnL w="12700" cmpd="sng">
                      <a:noFill/>
                      <a:prstDash val="solid"/>
                    </a:lnL>
                    <a:lnR w="12700" cmpd="sng">
                      <a:noFill/>
                      <a:prstDash val="solid"/>
                    </a:lnR>
                    <a:lnT w="9525" cap="flat" cmpd="sng" algn="ctr">
                      <a:solidFill>
                        <a:schemeClr val="accent1"/>
                      </a:solidFill>
                      <a:prstDash val="solid"/>
                    </a:lnT>
                    <a:lnB w="12700" cmpd="sng">
                      <a:noFill/>
                      <a:prstDash val="solid"/>
                    </a:lnB>
                    <a:solidFill>
                      <a:schemeClr val="accent1">
                        <a:lumMod val="20000"/>
                        <a:lumOff val="80000"/>
                      </a:schemeClr>
                    </a:solidFill>
                  </a:tcPr>
                </a:tc>
                <a:tc>
                  <a:txBody>
                    <a:bodyPr/>
                    <a:lstStyle/>
                    <a:p>
                      <a:pPr algn="ctr"/>
                      <a:r>
                        <a:rPr lang="en-US" sz="2000" cap="none" spc="0">
                          <a:solidFill>
                            <a:schemeClr val="tx1"/>
                          </a:solidFill>
                        </a:rPr>
                        <a:t>53.6 </a:t>
                      </a:r>
                    </a:p>
                  </a:txBody>
                  <a:tcPr marL="82215" marR="164429" marT="82215" marB="82215">
                    <a:lnL w="12700" cmpd="sng">
                      <a:noFill/>
                      <a:prstDash val="solid"/>
                    </a:lnL>
                    <a:lnR w="12700" cmpd="sng">
                      <a:noFill/>
                      <a:prstDash val="solid"/>
                    </a:lnR>
                    <a:lnT w="9525" cap="flat" cmpd="sng" algn="ctr">
                      <a:solidFill>
                        <a:schemeClr val="accent1"/>
                      </a:solidFill>
                      <a:prstDash val="solid"/>
                    </a:lnT>
                    <a:lnB w="12700" cmpd="sng">
                      <a:noFill/>
                      <a:prstDash val="solid"/>
                    </a:lnB>
                    <a:solidFill>
                      <a:schemeClr val="accent1">
                        <a:lumMod val="20000"/>
                        <a:lumOff val="80000"/>
                      </a:schemeClr>
                    </a:solidFill>
                  </a:tcPr>
                </a:tc>
                <a:tc>
                  <a:txBody>
                    <a:bodyPr/>
                    <a:lstStyle/>
                    <a:p>
                      <a:pPr algn="ctr"/>
                      <a:r>
                        <a:rPr lang="en-US" sz="2000" cap="none" spc="0" dirty="0">
                          <a:solidFill>
                            <a:schemeClr val="tx1"/>
                          </a:solidFill>
                        </a:rPr>
                        <a:t>7.2 </a:t>
                      </a:r>
                    </a:p>
                  </a:txBody>
                  <a:tcPr marL="82215" marR="164429" marT="82215" marB="82215">
                    <a:lnL w="12700" cmpd="sng">
                      <a:noFill/>
                      <a:prstDash val="solid"/>
                    </a:lnL>
                    <a:lnR w="12700" cmpd="sng">
                      <a:noFill/>
                      <a:prstDash val="solid"/>
                    </a:lnR>
                    <a:lnT w="9525" cap="flat" cmpd="sng" algn="ctr">
                      <a:solidFill>
                        <a:schemeClr val="accent1"/>
                      </a:solidFill>
                      <a:prstDash val="solid"/>
                    </a:lnT>
                    <a:lnB w="12700" cmpd="sng">
                      <a:noFill/>
                      <a:prstDash val="solid"/>
                    </a:lnB>
                    <a:solidFill>
                      <a:schemeClr val="accent1">
                        <a:lumMod val="20000"/>
                        <a:lumOff val="80000"/>
                      </a:schemeClr>
                    </a:solidFill>
                  </a:tcPr>
                </a:tc>
                <a:extLst>
                  <a:ext uri="{0D108BD9-81ED-4DB2-BD59-A6C34878D82A}">
                    <a16:rowId xmlns:a16="http://schemas.microsoft.com/office/drawing/2014/main" val="3625674360"/>
                  </a:ext>
                </a:extLst>
              </a:tr>
            </a:tbl>
          </a:graphicData>
        </a:graphic>
      </p:graphicFrame>
      <p:sp>
        <p:nvSpPr>
          <p:cNvPr id="8" name="TextBox 7">
            <a:extLst>
              <a:ext uri="{FF2B5EF4-FFF2-40B4-BE49-F238E27FC236}">
                <a16:creationId xmlns:a16="http://schemas.microsoft.com/office/drawing/2014/main" id="{06A834CC-9AC5-480E-B852-A5CC16CE674C}"/>
              </a:ext>
            </a:extLst>
          </p:cNvPr>
          <p:cNvSpPr txBox="1"/>
          <p:nvPr/>
        </p:nvSpPr>
        <p:spPr>
          <a:xfrm>
            <a:off x="4593364" y="180193"/>
            <a:ext cx="7994479"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How would you interpret and label these classes?</a:t>
            </a:r>
          </a:p>
        </p:txBody>
      </p:sp>
      <p:sp>
        <p:nvSpPr>
          <p:cNvPr id="5" name="TextBox 4">
            <a:extLst>
              <a:ext uri="{FF2B5EF4-FFF2-40B4-BE49-F238E27FC236}">
                <a16:creationId xmlns:a16="http://schemas.microsoft.com/office/drawing/2014/main" id="{72E691D3-F3A9-9323-E9E5-0F00FDB1B13E}"/>
              </a:ext>
            </a:extLst>
          </p:cNvPr>
          <p:cNvSpPr txBox="1"/>
          <p:nvPr/>
        </p:nvSpPr>
        <p:spPr>
          <a:xfrm>
            <a:off x="8129376" y="6308475"/>
            <a:ext cx="3816382" cy="369332"/>
          </a:xfrm>
          <a:prstGeom prst="rect">
            <a:avLst/>
          </a:prstGeom>
          <a:noFill/>
        </p:spPr>
        <p:txBody>
          <a:bodyPr wrap="square">
            <a:spAutoFit/>
          </a:bodyPr>
          <a:lstStyle/>
          <a:p>
            <a:r>
              <a:rPr lang="en-US" sz="1800" kern="1200" dirty="0" err="1">
                <a:solidFill>
                  <a:schemeClr val="tx1"/>
                </a:solidFill>
                <a:latin typeface="+mj-lt"/>
                <a:ea typeface="+mj-ea"/>
                <a:cs typeface="+mj-cs"/>
              </a:rPr>
              <a:t>Bandeen</a:t>
            </a:r>
            <a:r>
              <a:rPr lang="en-US" sz="1800" kern="1200" dirty="0">
                <a:solidFill>
                  <a:schemeClr val="tx1"/>
                </a:solidFill>
                <a:latin typeface="+mj-lt"/>
                <a:ea typeface="+mj-ea"/>
                <a:cs typeface="+mj-cs"/>
              </a:rPr>
              <a:t>-Roche et al., J </a:t>
            </a:r>
            <a:r>
              <a:rPr lang="en-US" sz="1800" kern="1200" dirty="0" err="1">
                <a:solidFill>
                  <a:schemeClr val="tx1"/>
                </a:solidFill>
                <a:latin typeface="+mj-lt"/>
                <a:ea typeface="+mj-ea"/>
                <a:cs typeface="+mj-cs"/>
              </a:rPr>
              <a:t>Gerontol</a:t>
            </a:r>
            <a:r>
              <a:rPr lang="en-US" sz="1800" kern="1200" dirty="0">
                <a:solidFill>
                  <a:schemeClr val="tx1"/>
                </a:solidFill>
                <a:latin typeface="+mj-lt"/>
                <a:ea typeface="+mj-ea"/>
                <a:cs typeface="+mj-cs"/>
              </a:rPr>
              <a:t>, 2006 </a:t>
            </a:r>
            <a:endParaRPr lang="en-US" dirty="0"/>
          </a:p>
        </p:txBody>
      </p:sp>
    </p:spTree>
    <p:extLst>
      <p:ext uri="{BB962C8B-B14F-4D97-AF65-F5344CB8AC3E}">
        <p14:creationId xmlns:p14="http://schemas.microsoft.com/office/powerpoint/2010/main" val="73248780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TextBox 3"/>
          <p:cNvSpPr txBox="1"/>
          <p:nvPr/>
        </p:nvSpPr>
        <p:spPr>
          <a:xfrm>
            <a:off x="733103" y="0"/>
            <a:ext cx="11034552" cy="646331"/>
          </a:xfrm>
          <a:prstGeom prst="rect">
            <a:avLst/>
          </a:prstGeom>
          <a:noFill/>
        </p:spPr>
        <p:txBody>
          <a:bodyPr wrap="square">
            <a:spAutoFit/>
          </a:bodyPr>
          <a:lstStyle/>
          <a:p>
            <a:pPr algn="l"/>
            <a:r>
              <a:rPr sz="3600" b="0" dirty="0">
                <a:solidFill>
                  <a:srgbClr val="000000"/>
                </a:solidFill>
                <a:latin typeface="Calibri"/>
              </a:rPr>
              <a:t>Interpreting an LCA Probability Table: Step-by-Step</a:t>
            </a:r>
          </a:p>
        </p:txBody>
      </p:sp>
      <p:sp>
        <p:nvSpPr>
          <p:cNvPr id="6" name="TextBox 5"/>
          <p:cNvSpPr txBox="1"/>
          <p:nvPr/>
        </p:nvSpPr>
        <p:spPr>
          <a:xfrm>
            <a:off x="784562" y="960120"/>
            <a:ext cx="10793879" cy="5144998"/>
          </a:xfrm>
          <a:prstGeom prst="rect">
            <a:avLst/>
          </a:prstGeom>
          <a:noFill/>
        </p:spPr>
        <p:txBody>
          <a:bodyPr wrap="square">
            <a:spAutoFit/>
          </a:bodyPr>
          <a:lstStyle/>
          <a:p>
            <a:pPr algn="l">
              <a:spcBef>
                <a:spcPts val="800"/>
              </a:spcBef>
            </a:pPr>
            <a:r>
              <a:rPr sz="2000" b="1" i="0" dirty="0">
                <a:solidFill>
                  <a:srgbClr val="000000"/>
                </a:solidFill>
                <a:latin typeface="Calibri"/>
              </a:rPr>
              <a:t>When you see an LCA output table, here is how to read it:</a:t>
            </a:r>
          </a:p>
          <a:p>
            <a:pPr algn="l"/>
            <a:r>
              <a:rPr sz="2000" b="0" i="0" dirty="0">
                <a:solidFill>
                  <a:srgbClr val="323232"/>
                </a:solidFill>
                <a:latin typeface="Calibri"/>
              </a:rPr>
              <a:t>Each COLUMN is a class. Each ROW is an indicator item. The cell value is:</a:t>
            </a:r>
          </a:p>
          <a:p>
            <a:pPr algn="l"/>
            <a:r>
              <a:rPr sz="2000" b="0" i="0" dirty="0">
                <a:solidFill>
                  <a:srgbClr val="323232"/>
                </a:solidFill>
                <a:latin typeface="Calibri"/>
              </a:rPr>
              <a:t>   P(item = Yes | Class c)  →  the probability of saying Yes to that item IF you're in that class</a:t>
            </a:r>
          </a:p>
          <a:p>
            <a:pPr algn="l"/>
            <a:endParaRPr sz="2000" b="0" i="0" dirty="0">
              <a:solidFill>
                <a:srgbClr val="323232"/>
              </a:solidFill>
              <a:latin typeface="Calibri"/>
            </a:endParaRPr>
          </a:p>
          <a:p>
            <a:pPr algn="l">
              <a:spcBef>
                <a:spcPts val="400"/>
              </a:spcBef>
            </a:pPr>
            <a:r>
              <a:rPr sz="2000" b="1" i="0" dirty="0">
                <a:solidFill>
                  <a:srgbClr val="000000"/>
                </a:solidFill>
                <a:latin typeface="Calibri"/>
              </a:rPr>
              <a:t>What makes a class interpretable:</a:t>
            </a:r>
          </a:p>
          <a:p>
            <a:pPr algn="l"/>
            <a:r>
              <a:rPr sz="2000" b="0" i="0" dirty="0">
                <a:solidFill>
                  <a:srgbClr val="323232"/>
                </a:solidFill>
                <a:latin typeface="Calibri"/>
              </a:rPr>
              <a:t>•  High probabilities (&gt; .60) on some items indicate the class 'endorses' those items</a:t>
            </a:r>
          </a:p>
          <a:p>
            <a:pPr algn="l"/>
            <a:r>
              <a:rPr sz="2000" b="0" i="0" dirty="0">
                <a:solidFill>
                  <a:srgbClr val="323232"/>
                </a:solidFill>
                <a:latin typeface="Calibri"/>
              </a:rPr>
              <a:t>•  Low probabilities (&lt; .20) on some items indicate the class 'rejects' those items</a:t>
            </a:r>
          </a:p>
          <a:p>
            <a:pPr algn="l"/>
            <a:r>
              <a:rPr sz="2000" b="0" i="0" dirty="0">
                <a:solidFill>
                  <a:srgbClr val="323232"/>
                </a:solidFill>
                <a:latin typeface="Calibri"/>
              </a:rPr>
              <a:t>•  Look for the PATTERN across rows for each column — that's the class profile</a:t>
            </a:r>
          </a:p>
          <a:p>
            <a:pPr algn="l"/>
            <a:endParaRPr sz="2000" b="0" i="0" dirty="0">
              <a:solidFill>
                <a:srgbClr val="323232"/>
              </a:solidFill>
              <a:latin typeface="Calibri"/>
            </a:endParaRPr>
          </a:p>
          <a:p>
            <a:pPr algn="l">
              <a:spcBef>
                <a:spcPts val="600"/>
              </a:spcBef>
            </a:pPr>
            <a:r>
              <a:rPr sz="2000" b="1" i="0" dirty="0">
                <a:solidFill>
                  <a:srgbClr val="1F497D"/>
                </a:solidFill>
                <a:latin typeface="Calibri"/>
              </a:rPr>
              <a:t>FROM THE FRAILTY DATA</a:t>
            </a:r>
          </a:p>
          <a:p>
            <a:pPr algn="l"/>
            <a:r>
              <a:rPr sz="2000" b="0" i="0" dirty="0">
                <a:solidFill>
                  <a:srgbClr val="323232"/>
                </a:solidFill>
                <a:latin typeface="Calibri"/>
              </a:rPr>
              <a:t>Class 3 has probabilities: .54, .77, .85, .70, .56 across the 5 frailty criteria.</a:t>
            </a:r>
          </a:p>
          <a:p>
            <a:pPr algn="l"/>
            <a:r>
              <a:rPr sz="2000" b="0" i="0" dirty="0">
                <a:solidFill>
                  <a:srgbClr val="323232"/>
                </a:solidFill>
                <a:latin typeface="Calibri"/>
              </a:rPr>
              <a:t>All are &gt; .50 → this class endorses ALL frailty criteria → label: 'Frail'</a:t>
            </a:r>
          </a:p>
          <a:p>
            <a:pPr algn="l"/>
            <a:endParaRPr sz="2000" b="0" i="0" dirty="0">
              <a:solidFill>
                <a:srgbClr val="323232"/>
              </a:solidFill>
              <a:latin typeface="Calibri"/>
            </a:endParaRPr>
          </a:p>
          <a:p>
            <a:pPr algn="l"/>
            <a:r>
              <a:rPr sz="2000" b="0" i="0" dirty="0">
                <a:solidFill>
                  <a:srgbClr val="323232"/>
                </a:solidFill>
                <a:latin typeface="Calibri"/>
              </a:rPr>
              <a:t>Class 1 has probabilities: .07, .03, .00, .00, .03 → almost zero on everything → label: 'Not Frail'</a:t>
            </a:r>
          </a:p>
          <a:p>
            <a:pPr algn="l"/>
            <a:endParaRPr sz="2000" b="0" i="0" dirty="0">
              <a:solidFill>
                <a:srgbClr val="323232"/>
              </a:solidFill>
              <a:latin typeface="Calibri"/>
            </a:endParaRPr>
          </a:p>
          <a:p>
            <a:pPr algn="l"/>
            <a:r>
              <a:rPr sz="2000" b="0" i="0" dirty="0">
                <a:solidFill>
                  <a:srgbClr val="323232"/>
                </a:solidFill>
                <a:latin typeface="Calibri"/>
              </a:rPr>
              <a:t>The class PREVALENCE (bottom row) tells you how common each group is in the population.</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extBox 3"/>
          <p:cNvSpPr txBox="1"/>
          <p:nvPr/>
        </p:nvSpPr>
        <p:spPr>
          <a:xfrm>
            <a:off x="698270" y="130531"/>
            <a:ext cx="10737669" cy="646331"/>
          </a:xfrm>
          <a:prstGeom prst="rect">
            <a:avLst/>
          </a:prstGeom>
          <a:noFill/>
        </p:spPr>
        <p:txBody>
          <a:bodyPr wrap="square">
            <a:spAutoFit/>
          </a:bodyPr>
          <a:lstStyle/>
          <a:p>
            <a:pPr algn="l"/>
            <a:r>
              <a:rPr sz="3600" b="0" dirty="0">
                <a:solidFill>
                  <a:srgbClr val="000000"/>
                </a:solidFill>
                <a:latin typeface="Calibri"/>
              </a:rPr>
              <a:t>LCA Example: Frailty in Older Adults (Detailed)</a:t>
            </a:r>
          </a:p>
        </p:txBody>
      </p:sp>
      <p:sp>
        <p:nvSpPr>
          <p:cNvPr id="6" name="TextBox 5"/>
          <p:cNvSpPr txBox="1"/>
          <p:nvPr/>
        </p:nvSpPr>
        <p:spPr>
          <a:xfrm>
            <a:off x="698270" y="848114"/>
            <a:ext cx="10844546" cy="5991384"/>
          </a:xfrm>
          <a:prstGeom prst="rect">
            <a:avLst/>
          </a:prstGeom>
          <a:noFill/>
        </p:spPr>
        <p:txBody>
          <a:bodyPr wrap="square">
            <a:spAutoFit/>
          </a:bodyPr>
          <a:lstStyle/>
          <a:p>
            <a:pPr algn="l">
              <a:spcBef>
                <a:spcPts val="800"/>
              </a:spcBef>
            </a:pPr>
            <a:r>
              <a:rPr sz="2000" b="1" i="0" dirty="0">
                <a:solidFill>
                  <a:srgbClr val="000000"/>
                </a:solidFill>
                <a:latin typeface="Calibri"/>
              </a:rPr>
              <a:t>Data: Community sample of older adults, 5 binary frailty criteria</a:t>
            </a:r>
          </a:p>
          <a:p>
            <a:pPr algn="l"/>
            <a:endParaRPr sz="2000" b="1" i="0" dirty="0">
              <a:solidFill>
                <a:srgbClr val="000000"/>
              </a:solidFill>
              <a:latin typeface="Calibri"/>
            </a:endParaRPr>
          </a:p>
          <a:p>
            <a:pPr algn="l"/>
            <a:r>
              <a:rPr sz="2000" b="0" i="0" dirty="0">
                <a:solidFill>
                  <a:srgbClr val="323232"/>
                </a:solidFill>
                <a:latin typeface="Calibri"/>
              </a:rPr>
              <a:t>Criterion                        </a:t>
            </a:r>
            <a:r>
              <a:rPr lang="en-US" sz="2000" b="0" i="0" dirty="0">
                <a:solidFill>
                  <a:srgbClr val="323232"/>
                </a:solidFill>
                <a:latin typeface="Calibri"/>
              </a:rPr>
              <a:t>		</a:t>
            </a:r>
            <a:r>
              <a:rPr sz="2000" b="0" i="0" dirty="0">
                <a:solidFill>
                  <a:srgbClr val="323232"/>
                </a:solidFill>
                <a:latin typeface="Calibri"/>
              </a:rPr>
              <a:t>Overall Rate</a:t>
            </a:r>
          </a:p>
          <a:p>
            <a:pPr algn="l"/>
            <a:r>
              <a:rPr sz="2000" b="0" i="0" dirty="0">
                <a:solidFill>
                  <a:srgbClr val="323232"/>
                </a:solidFill>
                <a:latin typeface="Calibri"/>
              </a:rPr>
              <a:t>────────────────────────────────────────────</a:t>
            </a:r>
          </a:p>
          <a:p>
            <a:pPr algn="l"/>
            <a:r>
              <a:rPr sz="2000" b="0" i="0" dirty="0">
                <a:solidFill>
                  <a:srgbClr val="323232"/>
                </a:solidFill>
                <a:latin typeface="Calibri"/>
              </a:rPr>
              <a:t>Weight loss &gt; 5% in </a:t>
            </a:r>
            <a:r>
              <a:rPr lang="en-US" sz="2000" b="0" i="0" dirty="0">
                <a:solidFill>
                  <a:srgbClr val="323232"/>
                </a:solidFill>
                <a:latin typeface="Calibri"/>
              </a:rPr>
              <a:t>the </a:t>
            </a:r>
            <a:r>
              <a:rPr sz="2000" b="0" i="0" dirty="0">
                <a:solidFill>
                  <a:srgbClr val="323232"/>
                </a:solidFill>
                <a:latin typeface="Calibri"/>
              </a:rPr>
              <a:t>past year    </a:t>
            </a:r>
            <a:r>
              <a:rPr lang="en-US" sz="2000" b="0" i="0" dirty="0">
                <a:solidFill>
                  <a:srgbClr val="323232"/>
                </a:solidFill>
                <a:latin typeface="Calibri"/>
              </a:rPr>
              <a:t>	</a:t>
            </a:r>
            <a:r>
              <a:rPr sz="2000" b="0" i="0" dirty="0">
                <a:solidFill>
                  <a:srgbClr val="323232"/>
                </a:solidFill>
                <a:latin typeface="Calibri"/>
              </a:rPr>
              <a:t>18.2%</a:t>
            </a:r>
          </a:p>
          <a:p>
            <a:pPr algn="l"/>
            <a:r>
              <a:rPr sz="2000" b="0" i="0" dirty="0">
                <a:solidFill>
                  <a:srgbClr val="323232"/>
                </a:solidFill>
                <a:latin typeface="Calibri"/>
              </a:rPr>
              <a:t>Weakness (grip strength)          </a:t>
            </a:r>
            <a:r>
              <a:rPr lang="en-US" sz="2000" b="0" i="0" dirty="0">
                <a:solidFill>
                  <a:srgbClr val="323232"/>
                </a:solidFill>
                <a:latin typeface="Calibri"/>
              </a:rPr>
              <a:t>	</a:t>
            </a:r>
            <a:r>
              <a:rPr sz="2000" b="0" i="0" dirty="0">
                <a:solidFill>
                  <a:srgbClr val="323232"/>
                </a:solidFill>
                <a:latin typeface="Calibri"/>
              </a:rPr>
              <a:t>22.1%</a:t>
            </a:r>
          </a:p>
          <a:p>
            <a:pPr algn="l"/>
            <a:r>
              <a:rPr sz="2000" b="0" i="0" dirty="0">
                <a:solidFill>
                  <a:srgbClr val="323232"/>
                </a:solidFill>
                <a:latin typeface="Calibri"/>
              </a:rPr>
              <a:t>Slowness (walking speed)           </a:t>
            </a:r>
            <a:r>
              <a:rPr lang="en-US" sz="2000" b="0" i="0" dirty="0">
                <a:solidFill>
                  <a:srgbClr val="323232"/>
                </a:solidFill>
                <a:latin typeface="Calibri"/>
              </a:rPr>
              <a:t>	</a:t>
            </a:r>
            <a:r>
              <a:rPr sz="2000" b="0" i="0" dirty="0">
                <a:solidFill>
                  <a:srgbClr val="323232"/>
                </a:solidFill>
                <a:latin typeface="Calibri"/>
              </a:rPr>
              <a:t>17.6%</a:t>
            </a:r>
          </a:p>
          <a:p>
            <a:pPr algn="l"/>
            <a:r>
              <a:rPr sz="2000" b="0" i="0" dirty="0">
                <a:solidFill>
                  <a:srgbClr val="323232"/>
                </a:solidFill>
                <a:latin typeface="Calibri"/>
              </a:rPr>
              <a:t>Low physical activity              </a:t>
            </a:r>
            <a:r>
              <a:rPr lang="en-US" sz="2000" b="0" i="0" dirty="0">
                <a:solidFill>
                  <a:srgbClr val="323232"/>
                </a:solidFill>
                <a:latin typeface="Calibri"/>
              </a:rPr>
              <a:t>	</a:t>
            </a:r>
            <a:r>
              <a:rPr sz="2000" b="0" i="0" dirty="0">
                <a:solidFill>
                  <a:srgbClr val="323232"/>
                </a:solidFill>
                <a:latin typeface="Calibri"/>
              </a:rPr>
              <a:t>21.4%</a:t>
            </a:r>
          </a:p>
          <a:p>
            <a:pPr algn="l"/>
            <a:r>
              <a:rPr sz="2000" b="0" i="0" dirty="0">
                <a:solidFill>
                  <a:srgbClr val="323232"/>
                </a:solidFill>
                <a:latin typeface="Calibri"/>
              </a:rPr>
              <a:t>Self-reported exhaustion           </a:t>
            </a:r>
            <a:r>
              <a:rPr lang="en-US" sz="2000" b="0" i="0" dirty="0">
                <a:solidFill>
                  <a:srgbClr val="323232"/>
                </a:solidFill>
                <a:latin typeface="Calibri"/>
              </a:rPr>
              <a:t>	</a:t>
            </a:r>
            <a:r>
              <a:rPr sz="2000" b="0" i="0" dirty="0">
                <a:solidFill>
                  <a:srgbClr val="323232"/>
                </a:solidFill>
                <a:latin typeface="Calibri"/>
              </a:rPr>
              <a:t>21.0%</a:t>
            </a:r>
          </a:p>
          <a:p>
            <a:pPr algn="l"/>
            <a:endParaRPr sz="2000" b="0" i="0" dirty="0">
              <a:solidFill>
                <a:srgbClr val="323232"/>
              </a:solidFill>
              <a:latin typeface="Calibri"/>
            </a:endParaRPr>
          </a:p>
          <a:p>
            <a:pPr algn="l">
              <a:spcBef>
                <a:spcPts val="400"/>
              </a:spcBef>
            </a:pPr>
            <a:r>
              <a:rPr sz="2000" b="1" i="0" dirty="0">
                <a:solidFill>
                  <a:srgbClr val="000000"/>
                </a:solidFill>
                <a:latin typeface="Calibri"/>
              </a:rPr>
              <a:t>3-Class LCA Solution (Bandeen-Roche et al., 2006):</a:t>
            </a:r>
          </a:p>
          <a:p>
            <a:pPr algn="l"/>
            <a:r>
              <a:rPr sz="2000" b="0" i="0" dirty="0">
                <a:solidFill>
                  <a:srgbClr val="323232"/>
                </a:solidFill>
                <a:latin typeface="Calibri"/>
              </a:rPr>
              <a:t>Class          </a:t>
            </a:r>
            <a:r>
              <a:rPr lang="en-US" sz="2000" b="0" i="0" dirty="0">
                <a:solidFill>
                  <a:srgbClr val="323232"/>
                </a:solidFill>
                <a:latin typeface="Calibri"/>
              </a:rPr>
              <a:t>		</a:t>
            </a:r>
            <a:r>
              <a:rPr sz="2000" b="0" i="0" dirty="0">
                <a:solidFill>
                  <a:srgbClr val="323232"/>
                </a:solidFill>
                <a:latin typeface="Calibri"/>
              </a:rPr>
              <a:t>Size    </a:t>
            </a:r>
            <a:r>
              <a:rPr lang="en-US" sz="2000" b="0" i="0" dirty="0">
                <a:solidFill>
                  <a:srgbClr val="323232"/>
                </a:solidFill>
                <a:latin typeface="Calibri"/>
              </a:rPr>
              <a:t>		</a:t>
            </a:r>
            <a:r>
              <a:rPr sz="2000" b="0" i="0" dirty="0">
                <a:solidFill>
                  <a:srgbClr val="323232"/>
                </a:solidFill>
                <a:latin typeface="Calibri"/>
              </a:rPr>
              <a:t>Interpretation</a:t>
            </a:r>
          </a:p>
          <a:p>
            <a:pPr algn="l"/>
            <a:r>
              <a:rPr sz="2000" b="0" i="0" dirty="0">
                <a:solidFill>
                  <a:srgbClr val="323232"/>
                </a:solidFill>
                <a:latin typeface="Calibri"/>
              </a:rPr>
              <a:t>─────────────────────────────────────────────────────────────────────</a:t>
            </a:r>
          </a:p>
          <a:p>
            <a:pPr algn="l"/>
            <a:r>
              <a:rPr sz="2000" b="0" i="0" dirty="0">
                <a:solidFill>
                  <a:srgbClr val="323232"/>
                </a:solidFill>
                <a:latin typeface="Calibri"/>
              </a:rPr>
              <a:t>Class 1 (Not Frail)    </a:t>
            </a:r>
            <a:r>
              <a:rPr lang="en-US" sz="2000" b="0" i="0" dirty="0">
                <a:solidFill>
                  <a:srgbClr val="323232"/>
                </a:solidFill>
                <a:latin typeface="Calibri"/>
              </a:rPr>
              <a:t>	</a:t>
            </a:r>
            <a:r>
              <a:rPr sz="2000" b="0" i="0" dirty="0">
                <a:solidFill>
                  <a:srgbClr val="323232"/>
                </a:solidFill>
                <a:latin typeface="Calibri"/>
              </a:rPr>
              <a:t>39.2%   </a:t>
            </a:r>
            <a:r>
              <a:rPr lang="en-US" sz="2000" b="0" i="0" dirty="0">
                <a:solidFill>
                  <a:srgbClr val="323232"/>
                </a:solidFill>
                <a:latin typeface="Calibri"/>
              </a:rPr>
              <a:t>		</a:t>
            </a:r>
            <a:r>
              <a:rPr sz="2000" b="0" i="0" dirty="0">
                <a:solidFill>
                  <a:srgbClr val="323232"/>
                </a:solidFill>
                <a:latin typeface="Calibri"/>
              </a:rPr>
              <a:t>Very low probability of ALL criteria</a:t>
            </a:r>
          </a:p>
          <a:p>
            <a:pPr algn="l"/>
            <a:r>
              <a:rPr sz="2000" b="0" i="0" dirty="0">
                <a:solidFill>
                  <a:srgbClr val="323232"/>
                </a:solidFill>
                <a:latin typeface="Calibri"/>
              </a:rPr>
              <a:t>Class 2 (Pre-frail)    </a:t>
            </a:r>
            <a:r>
              <a:rPr lang="en-US" sz="2000" b="0" i="0" dirty="0">
                <a:solidFill>
                  <a:srgbClr val="323232"/>
                </a:solidFill>
                <a:latin typeface="Calibri"/>
              </a:rPr>
              <a:t>	</a:t>
            </a:r>
            <a:r>
              <a:rPr sz="2000" b="0" i="0" dirty="0">
                <a:solidFill>
                  <a:srgbClr val="323232"/>
                </a:solidFill>
                <a:latin typeface="Calibri"/>
              </a:rPr>
              <a:t>53.6%  </a:t>
            </a:r>
            <a:r>
              <a:rPr lang="en-US" sz="2000" b="0" i="0" dirty="0">
                <a:solidFill>
                  <a:srgbClr val="323232"/>
                </a:solidFill>
                <a:latin typeface="Calibri"/>
              </a:rPr>
              <a:t>		</a:t>
            </a:r>
            <a:r>
              <a:rPr sz="2000" b="0" i="0" dirty="0">
                <a:solidFill>
                  <a:srgbClr val="323232"/>
                </a:solidFill>
                <a:latin typeface="Calibri"/>
              </a:rPr>
              <a:t>Moderate prob on slowness &amp; low activity</a:t>
            </a:r>
          </a:p>
          <a:p>
            <a:pPr algn="l"/>
            <a:r>
              <a:rPr sz="2000" b="0" i="0" dirty="0">
                <a:solidFill>
                  <a:srgbClr val="323232"/>
                </a:solidFill>
                <a:latin typeface="Calibri"/>
              </a:rPr>
              <a:t>Class 3 (Frail)         </a:t>
            </a:r>
            <a:r>
              <a:rPr lang="en-US" sz="2000" b="0" i="0" dirty="0">
                <a:solidFill>
                  <a:srgbClr val="323232"/>
                </a:solidFill>
                <a:latin typeface="Calibri"/>
              </a:rPr>
              <a:t>	</a:t>
            </a:r>
            <a:r>
              <a:rPr sz="2000" b="0" i="0" dirty="0">
                <a:solidFill>
                  <a:srgbClr val="323232"/>
                </a:solidFill>
                <a:latin typeface="Calibri"/>
              </a:rPr>
              <a:t>7.2%   </a:t>
            </a:r>
            <a:r>
              <a:rPr lang="en-US" sz="2000" b="0" i="0" dirty="0">
                <a:solidFill>
                  <a:srgbClr val="323232"/>
                </a:solidFill>
                <a:latin typeface="Calibri"/>
              </a:rPr>
              <a:t>		</a:t>
            </a:r>
            <a:r>
              <a:rPr sz="2000" b="0" i="0" dirty="0">
                <a:solidFill>
                  <a:srgbClr val="323232"/>
                </a:solidFill>
                <a:latin typeface="Calibri"/>
              </a:rPr>
              <a:t>High probability of ALL criteria</a:t>
            </a:r>
          </a:p>
          <a:p>
            <a:pPr algn="l"/>
            <a:endParaRPr sz="2000" b="0" i="0" dirty="0">
              <a:solidFill>
                <a:srgbClr val="323232"/>
              </a:solidFill>
              <a:latin typeface="Calibri"/>
            </a:endParaRPr>
          </a:p>
          <a:p>
            <a:pPr algn="l"/>
            <a:r>
              <a:rPr sz="2000" b="0" i="0" dirty="0">
                <a:solidFill>
                  <a:srgbClr val="323232"/>
                </a:solidFill>
                <a:latin typeface="Calibri"/>
              </a:rPr>
              <a:t>Key insight: The frailty SYNDROME only applies to Class 3 — not just anyone who checks one or two boxes. LCA identifies the co-occurring pattern that defines frailty.</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TextBox 3"/>
          <p:cNvSpPr txBox="1"/>
          <p:nvPr/>
        </p:nvSpPr>
        <p:spPr>
          <a:xfrm>
            <a:off x="817022" y="78064"/>
            <a:ext cx="10664834" cy="646331"/>
          </a:xfrm>
          <a:prstGeom prst="rect">
            <a:avLst/>
          </a:prstGeom>
          <a:noFill/>
        </p:spPr>
        <p:txBody>
          <a:bodyPr wrap="square">
            <a:spAutoFit/>
          </a:bodyPr>
          <a:lstStyle/>
          <a:p>
            <a:pPr algn="l"/>
            <a:r>
              <a:rPr sz="3600" b="0" dirty="0">
                <a:solidFill>
                  <a:srgbClr val="000000"/>
                </a:solidFill>
                <a:latin typeface="Calibri"/>
              </a:rPr>
              <a:t>Understanding Conditional Independence in LCA</a:t>
            </a:r>
          </a:p>
        </p:txBody>
      </p:sp>
      <p:sp>
        <p:nvSpPr>
          <p:cNvPr id="6" name="TextBox 5"/>
          <p:cNvSpPr txBox="1"/>
          <p:nvPr/>
        </p:nvSpPr>
        <p:spPr>
          <a:xfrm>
            <a:off x="817022" y="724395"/>
            <a:ext cx="10761420" cy="5811847"/>
          </a:xfrm>
          <a:prstGeom prst="rect">
            <a:avLst/>
          </a:prstGeom>
          <a:noFill/>
        </p:spPr>
        <p:txBody>
          <a:bodyPr wrap="square">
            <a:spAutoFit/>
          </a:bodyPr>
          <a:lstStyle/>
          <a:p>
            <a:pPr algn="l">
              <a:spcBef>
                <a:spcPts val="800"/>
              </a:spcBef>
            </a:pPr>
            <a:r>
              <a:rPr sz="2000" b="1" i="0" dirty="0">
                <a:solidFill>
                  <a:srgbClr val="000000"/>
                </a:solidFill>
                <a:latin typeface="Calibri"/>
              </a:rPr>
              <a:t>Local (Conditional) Independence Assumption:</a:t>
            </a:r>
          </a:p>
          <a:p>
            <a:pPr algn="l"/>
            <a:r>
              <a:rPr sz="2000" b="0" i="0" dirty="0">
                <a:solidFill>
                  <a:srgbClr val="323232"/>
                </a:solidFill>
                <a:latin typeface="Calibri"/>
              </a:rPr>
              <a:t>Within each class, knowing a person's response to one item gives NO additional information about their response to another item.</a:t>
            </a:r>
          </a:p>
          <a:p>
            <a:pPr algn="l"/>
            <a:endParaRPr sz="2000" b="0" i="0" dirty="0">
              <a:solidFill>
                <a:srgbClr val="323232"/>
              </a:solidFill>
              <a:latin typeface="Calibri"/>
            </a:endParaRPr>
          </a:p>
          <a:p>
            <a:pPr algn="l">
              <a:spcBef>
                <a:spcPts val="400"/>
              </a:spcBef>
            </a:pPr>
            <a:r>
              <a:rPr sz="2000" b="1" i="0" dirty="0">
                <a:solidFill>
                  <a:srgbClr val="000000"/>
                </a:solidFill>
                <a:latin typeface="Calibri"/>
              </a:rPr>
              <a:t>Why do items correlate at all then?</a:t>
            </a:r>
          </a:p>
          <a:p>
            <a:pPr algn="l"/>
            <a:r>
              <a:rPr sz="2000" b="0" i="0" dirty="0">
                <a:solidFill>
                  <a:srgbClr val="323232"/>
                </a:solidFill>
                <a:latin typeface="Calibri"/>
              </a:rPr>
              <a:t>Because of class membership! Items correlate because they're all influenced by the latent class variable. Once you 'control for' class, the correlations disappear.</a:t>
            </a:r>
          </a:p>
          <a:p>
            <a:pPr algn="l"/>
            <a:endParaRPr sz="2000" b="0" i="0" dirty="0">
              <a:solidFill>
                <a:srgbClr val="323232"/>
              </a:solidFill>
              <a:latin typeface="Calibri"/>
            </a:endParaRPr>
          </a:p>
          <a:p>
            <a:pPr algn="l">
              <a:spcBef>
                <a:spcPts val="600"/>
              </a:spcBef>
            </a:pPr>
            <a:r>
              <a:rPr sz="2000" b="1" i="0" dirty="0">
                <a:solidFill>
                  <a:srgbClr val="1F497D"/>
                </a:solidFill>
                <a:latin typeface="Calibri"/>
              </a:rPr>
              <a:t>CONCRETE EXAMPLE</a:t>
            </a:r>
          </a:p>
          <a:p>
            <a:pPr algn="l"/>
            <a:r>
              <a:rPr sz="2000" b="0" i="0" dirty="0">
                <a:solidFill>
                  <a:srgbClr val="323232"/>
                </a:solidFill>
                <a:latin typeface="Calibri"/>
              </a:rPr>
              <a:t>Frailty items (weakness, slowness, low activity) all correlate in the full sample. WHY? Because the 'Frail' class has high rates on ALL of them.</a:t>
            </a:r>
          </a:p>
          <a:p>
            <a:pPr algn="l"/>
            <a:r>
              <a:rPr sz="2000" b="0" i="0" dirty="0">
                <a:solidFill>
                  <a:srgbClr val="323232"/>
                </a:solidFill>
                <a:latin typeface="Calibri"/>
              </a:rPr>
              <a:t>But within the 'Frail' class: knowing someone has weakness doesn't tell you much extra about their slowness — the class membership already explains it.</a:t>
            </a:r>
          </a:p>
          <a:p>
            <a:pPr algn="l"/>
            <a:endParaRPr sz="2000" b="0" i="0" dirty="0">
              <a:solidFill>
                <a:srgbClr val="323232"/>
              </a:solidFill>
              <a:latin typeface="Calibri"/>
            </a:endParaRPr>
          </a:p>
          <a:p>
            <a:pPr algn="l">
              <a:spcBef>
                <a:spcPts val="400"/>
              </a:spcBef>
            </a:pPr>
            <a:r>
              <a:rPr sz="2000" b="1" i="0" dirty="0">
                <a:solidFill>
                  <a:srgbClr val="000000"/>
                </a:solidFill>
                <a:latin typeface="Calibri"/>
              </a:rPr>
              <a:t>What if the assumption is violated?</a:t>
            </a:r>
          </a:p>
          <a:p>
            <a:pPr algn="l"/>
            <a:r>
              <a:rPr sz="2000" b="0" i="0" dirty="0">
                <a:solidFill>
                  <a:srgbClr val="323232"/>
                </a:solidFill>
                <a:latin typeface="Calibri"/>
              </a:rPr>
              <a:t>•  Bivariate residuals will be large (&gt; 3.84) for problematic item pairs</a:t>
            </a:r>
          </a:p>
          <a:p>
            <a:pPr algn="l"/>
            <a:r>
              <a:rPr sz="2000" b="0" i="0" dirty="0">
                <a:solidFill>
                  <a:srgbClr val="323232"/>
                </a:solidFill>
                <a:latin typeface="Calibri"/>
              </a:rPr>
              <a:t>•  Fix: add more classes, combine the correlated items, or use a special model for dependent items</a:t>
            </a:r>
          </a:p>
          <a:p>
            <a:pPr algn="l"/>
            <a:r>
              <a:rPr sz="2000" b="0" i="0" dirty="0">
                <a:solidFill>
                  <a:srgbClr val="323232"/>
                </a:solidFill>
                <a:latin typeface="Calibri"/>
              </a:rPr>
              <a:t>•  In JAMOVI/</a:t>
            </a:r>
            <a:r>
              <a:rPr sz="2000" b="0" i="0" dirty="0" err="1">
                <a:solidFill>
                  <a:srgbClr val="323232"/>
                </a:solidFill>
                <a:latin typeface="Calibri"/>
              </a:rPr>
              <a:t>snowLatent</a:t>
            </a:r>
            <a:r>
              <a:rPr sz="2000" b="0" i="0" dirty="0">
                <a:solidFill>
                  <a:srgbClr val="323232"/>
                </a:solidFill>
                <a:latin typeface="Calibri"/>
              </a:rPr>
              <a:t>: check the 'Bivariate residuals' output table</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TextBox 3"/>
          <p:cNvSpPr txBox="1"/>
          <p:nvPr/>
        </p:nvSpPr>
        <p:spPr>
          <a:xfrm>
            <a:off x="673727" y="0"/>
            <a:ext cx="10844546" cy="646331"/>
          </a:xfrm>
          <a:prstGeom prst="rect">
            <a:avLst/>
          </a:prstGeom>
          <a:noFill/>
        </p:spPr>
        <p:txBody>
          <a:bodyPr wrap="square">
            <a:spAutoFit/>
          </a:bodyPr>
          <a:lstStyle/>
          <a:p>
            <a:pPr algn="l"/>
            <a:r>
              <a:rPr sz="3600" b="0" dirty="0">
                <a:solidFill>
                  <a:srgbClr val="000000"/>
                </a:solidFill>
                <a:latin typeface="Calibri"/>
              </a:rPr>
              <a:t>What Does 'Homogeneity Within Classes' Actually Mean?</a:t>
            </a:r>
          </a:p>
        </p:txBody>
      </p:sp>
      <p:sp>
        <p:nvSpPr>
          <p:cNvPr id="6" name="TextBox 5"/>
          <p:cNvSpPr txBox="1"/>
          <p:nvPr/>
        </p:nvSpPr>
        <p:spPr>
          <a:xfrm>
            <a:off x="757646" y="664140"/>
            <a:ext cx="10760627" cy="5529719"/>
          </a:xfrm>
          <a:prstGeom prst="rect">
            <a:avLst/>
          </a:prstGeom>
          <a:noFill/>
        </p:spPr>
        <p:txBody>
          <a:bodyPr wrap="square">
            <a:spAutoFit/>
          </a:bodyPr>
          <a:lstStyle/>
          <a:p>
            <a:pPr algn="l">
              <a:spcBef>
                <a:spcPts val="800"/>
              </a:spcBef>
            </a:pPr>
            <a:r>
              <a:rPr sz="2000" b="1" i="0" dirty="0">
                <a:solidFill>
                  <a:srgbClr val="000000"/>
                </a:solidFill>
                <a:latin typeface="Calibri"/>
              </a:rPr>
              <a:t>A good LCA class is homogeneous — people within a class are similar to each other and different from people in other classes.</a:t>
            </a:r>
          </a:p>
          <a:p>
            <a:pPr algn="l">
              <a:spcBef>
                <a:spcPts val="400"/>
              </a:spcBef>
            </a:pPr>
            <a:r>
              <a:rPr sz="2000" b="1" i="0" dirty="0">
                <a:solidFill>
                  <a:srgbClr val="000000"/>
                </a:solidFill>
                <a:latin typeface="Calibri"/>
              </a:rPr>
              <a:t>Two ways to measure this:</a:t>
            </a:r>
          </a:p>
          <a:p>
            <a:pPr algn="l"/>
            <a:r>
              <a:rPr sz="2000" b="0" i="0" dirty="0">
                <a:solidFill>
                  <a:srgbClr val="323232"/>
                </a:solidFill>
                <a:latin typeface="Calibri"/>
              </a:rPr>
              <a:t>•  Entropy: global measure of classification accuracy</a:t>
            </a:r>
          </a:p>
          <a:p>
            <a:pPr lvl="1" algn="l"/>
            <a:r>
              <a:rPr sz="2000" b="0" i="0" dirty="0">
                <a:solidFill>
                  <a:srgbClr val="646464"/>
                </a:solidFill>
                <a:latin typeface="Calibri"/>
              </a:rPr>
              <a:t>◦  Ranges 0–1. Entropy = 1 means perfect classification. Entropy &gt; 0.80 is generally good.</a:t>
            </a:r>
          </a:p>
          <a:p>
            <a:pPr lvl="1" algn="l"/>
            <a:r>
              <a:rPr sz="2000" b="0" i="0" dirty="0">
                <a:solidFill>
                  <a:srgbClr val="646464"/>
                </a:solidFill>
                <a:latin typeface="Calibri"/>
              </a:rPr>
              <a:t>◦  Formula: based on how peaked the posterior probabilities are for each person</a:t>
            </a:r>
          </a:p>
          <a:p>
            <a:pPr algn="l"/>
            <a:r>
              <a:rPr sz="2000" b="0" i="0" dirty="0">
                <a:solidFill>
                  <a:srgbClr val="323232"/>
                </a:solidFill>
                <a:latin typeface="Calibri"/>
              </a:rPr>
              <a:t>•  Average posterior class probabilities (</a:t>
            </a:r>
            <a:r>
              <a:rPr sz="2000" b="0" i="0" dirty="0" err="1">
                <a:solidFill>
                  <a:srgbClr val="323232"/>
                </a:solidFill>
                <a:latin typeface="Calibri"/>
              </a:rPr>
              <a:t>AvePP</a:t>
            </a:r>
            <a:r>
              <a:rPr sz="2000" b="0" i="0" dirty="0">
                <a:solidFill>
                  <a:srgbClr val="323232"/>
                </a:solidFill>
                <a:latin typeface="Calibri"/>
              </a:rPr>
              <a:t>):</a:t>
            </a:r>
          </a:p>
          <a:p>
            <a:pPr lvl="1" algn="l"/>
            <a:r>
              <a:rPr sz="2000" b="0" i="0" dirty="0">
                <a:solidFill>
                  <a:srgbClr val="646464"/>
                </a:solidFill>
                <a:latin typeface="Calibri"/>
              </a:rPr>
              <a:t>◦  For each class, average the posterior probability of its assigned members</a:t>
            </a:r>
          </a:p>
          <a:p>
            <a:pPr lvl="1" algn="l"/>
            <a:r>
              <a:rPr sz="2000" b="0" i="0" dirty="0">
                <a:solidFill>
                  <a:srgbClr val="646464"/>
                </a:solidFill>
                <a:latin typeface="Calibri"/>
              </a:rPr>
              <a:t>◦  </a:t>
            </a:r>
            <a:r>
              <a:rPr sz="2000" b="0" i="0" dirty="0" err="1">
                <a:solidFill>
                  <a:srgbClr val="646464"/>
                </a:solidFill>
                <a:latin typeface="Calibri"/>
              </a:rPr>
              <a:t>AvePP</a:t>
            </a:r>
            <a:r>
              <a:rPr sz="2000" b="0" i="0" dirty="0">
                <a:solidFill>
                  <a:srgbClr val="646464"/>
                </a:solidFill>
                <a:latin typeface="Calibri"/>
              </a:rPr>
              <a:t> &gt; 0.70 for assigned members suggests acceptable separation</a:t>
            </a:r>
          </a:p>
          <a:p>
            <a:pPr algn="l"/>
            <a:endParaRPr sz="2000" b="0" i="0" dirty="0">
              <a:solidFill>
                <a:srgbClr val="646464"/>
              </a:solidFill>
              <a:latin typeface="Calibri"/>
            </a:endParaRPr>
          </a:p>
          <a:p>
            <a:pPr algn="l">
              <a:spcBef>
                <a:spcPts val="600"/>
              </a:spcBef>
            </a:pPr>
            <a:r>
              <a:rPr sz="2000" b="1" i="0" dirty="0">
                <a:solidFill>
                  <a:srgbClr val="1F497D"/>
                </a:solidFill>
                <a:latin typeface="Calibri"/>
              </a:rPr>
              <a:t>EXAMPLE: HIGH ENTROPY</a:t>
            </a:r>
          </a:p>
          <a:p>
            <a:pPr algn="l"/>
            <a:r>
              <a:rPr sz="2000" b="0" i="0" dirty="0">
                <a:solidFill>
                  <a:srgbClr val="323232"/>
                </a:solidFill>
                <a:latin typeface="Calibri"/>
              </a:rPr>
              <a:t>Class 1: </a:t>
            </a:r>
            <a:r>
              <a:rPr sz="2000" b="0" i="0" dirty="0" err="1">
                <a:solidFill>
                  <a:srgbClr val="323232"/>
                </a:solidFill>
                <a:latin typeface="Calibri"/>
              </a:rPr>
              <a:t>AvePP</a:t>
            </a:r>
            <a:r>
              <a:rPr sz="2000" b="0" i="0" dirty="0">
                <a:solidFill>
                  <a:srgbClr val="323232"/>
                </a:solidFill>
                <a:latin typeface="Calibri"/>
              </a:rPr>
              <a:t> = 0.94, Class 2: </a:t>
            </a:r>
            <a:r>
              <a:rPr sz="2000" b="0" i="0" dirty="0" err="1">
                <a:solidFill>
                  <a:srgbClr val="323232"/>
                </a:solidFill>
                <a:latin typeface="Calibri"/>
              </a:rPr>
              <a:t>AvePP</a:t>
            </a:r>
            <a:r>
              <a:rPr sz="2000" b="0" i="0" dirty="0">
                <a:solidFill>
                  <a:srgbClr val="323232"/>
                </a:solidFill>
                <a:latin typeface="Calibri"/>
              </a:rPr>
              <a:t> = 0.88, Class 3: </a:t>
            </a:r>
            <a:r>
              <a:rPr sz="2000" b="0" i="0" dirty="0" err="1">
                <a:solidFill>
                  <a:srgbClr val="323232"/>
                </a:solidFill>
                <a:latin typeface="Calibri"/>
              </a:rPr>
              <a:t>AvePP</a:t>
            </a:r>
            <a:r>
              <a:rPr sz="2000" b="0" i="0" dirty="0">
                <a:solidFill>
                  <a:srgbClr val="323232"/>
                </a:solidFill>
                <a:latin typeface="Calibri"/>
              </a:rPr>
              <a:t> = 0.91 → Clean separation, classes are well-defined.</a:t>
            </a:r>
          </a:p>
          <a:p>
            <a:pPr algn="l"/>
            <a:endParaRPr sz="2000" b="0" i="0" dirty="0">
              <a:solidFill>
                <a:srgbClr val="323232"/>
              </a:solidFill>
              <a:latin typeface="Calibri"/>
            </a:endParaRPr>
          </a:p>
          <a:p>
            <a:pPr algn="l">
              <a:spcBef>
                <a:spcPts val="600"/>
              </a:spcBef>
            </a:pPr>
            <a:r>
              <a:rPr sz="2000" b="1" i="0" dirty="0">
                <a:solidFill>
                  <a:srgbClr val="1F497D"/>
                </a:solidFill>
                <a:latin typeface="Calibri"/>
              </a:rPr>
              <a:t>EXAMPLE: LOW ENTROPY</a:t>
            </a:r>
          </a:p>
          <a:p>
            <a:pPr algn="l"/>
            <a:r>
              <a:rPr sz="2000" b="0" i="0" dirty="0">
                <a:solidFill>
                  <a:srgbClr val="323232"/>
                </a:solidFill>
                <a:latin typeface="Calibri"/>
              </a:rPr>
              <a:t>Class 1: </a:t>
            </a:r>
            <a:r>
              <a:rPr sz="2000" b="0" i="0" dirty="0" err="1">
                <a:solidFill>
                  <a:srgbClr val="323232"/>
                </a:solidFill>
                <a:latin typeface="Calibri"/>
              </a:rPr>
              <a:t>AvePP</a:t>
            </a:r>
            <a:r>
              <a:rPr sz="2000" b="0" i="0" dirty="0">
                <a:solidFill>
                  <a:srgbClr val="323232"/>
                </a:solidFill>
                <a:latin typeface="Calibri"/>
              </a:rPr>
              <a:t> = 0.52, Class 2: </a:t>
            </a:r>
            <a:r>
              <a:rPr sz="2000" b="0" i="0" dirty="0" err="1">
                <a:solidFill>
                  <a:srgbClr val="323232"/>
                </a:solidFill>
                <a:latin typeface="Calibri"/>
              </a:rPr>
              <a:t>AvePP</a:t>
            </a:r>
            <a:r>
              <a:rPr sz="2000" b="0" i="0" dirty="0">
                <a:solidFill>
                  <a:srgbClr val="323232"/>
                </a:solidFill>
                <a:latin typeface="Calibri"/>
              </a:rPr>
              <a:t> = 0.48 → Classes barely distinguish people; most people have nearly 50/50 posterior probabilities. This model may not be meaningful.</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049599-58C9-424C-9A13-A4B18AAE47DC}"/>
              </a:ext>
            </a:extLst>
          </p:cNvPr>
          <p:cNvSpPr>
            <a:spLocks noGrp="1"/>
          </p:cNvSpPr>
          <p:nvPr>
            <p:ph type="title"/>
          </p:nvPr>
        </p:nvSpPr>
        <p:spPr>
          <a:xfrm>
            <a:off x="236316" y="318828"/>
            <a:ext cx="10515600" cy="734470"/>
          </a:xfrm>
        </p:spPr>
        <p:txBody>
          <a:bodyPr/>
          <a:lstStyle/>
          <a:p>
            <a:pPr algn="l"/>
            <a:r>
              <a:rPr lang="en-US" dirty="0">
                <a:solidFill>
                  <a:srgbClr val="000000"/>
                </a:solidFill>
                <a:latin typeface="Calibri"/>
              </a:rPr>
              <a:t>Motivating Example: Patterns &amp; Classes</a:t>
            </a:r>
          </a:p>
        </p:txBody>
      </p:sp>
      <p:graphicFrame>
        <p:nvGraphicFramePr>
          <p:cNvPr id="4" name="Table 4">
            <a:extLst>
              <a:ext uri="{FF2B5EF4-FFF2-40B4-BE49-F238E27FC236}">
                <a16:creationId xmlns:a16="http://schemas.microsoft.com/office/drawing/2014/main" id="{3BA74819-16BB-49AA-B20D-780BA724ADD7}"/>
              </a:ext>
            </a:extLst>
          </p:cNvPr>
          <p:cNvGraphicFramePr>
            <a:graphicFrameLocks noGrp="1"/>
          </p:cNvGraphicFramePr>
          <p:nvPr>
            <p:ph idx="1"/>
            <p:extLst>
              <p:ext uri="{D42A27DB-BD31-4B8C-83A1-F6EECF244321}">
                <p14:modId xmlns:p14="http://schemas.microsoft.com/office/powerpoint/2010/main" val="426561856"/>
              </p:ext>
            </p:extLst>
          </p:nvPr>
        </p:nvGraphicFramePr>
        <p:xfrm>
          <a:off x="236316" y="1429055"/>
          <a:ext cx="6271362" cy="3606800"/>
        </p:xfrm>
        <a:graphic>
          <a:graphicData uri="http://schemas.openxmlformats.org/drawingml/2006/table">
            <a:tbl>
              <a:tblPr firstRow="1" bandRow="1">
                <a:tableStyleId>{5C22544A-7EE6-4342-B048-85BDC9FD1C3A}</a:tableStyleId>
              </a:tblPr>
              <a:tblGrid>
                <a:gridCol w="1048473">
                  <a:extLst>
                    <a:ext uri="{9D8B030D-6E8A-4147-A177-3AD203B41FA5}">
                      <a16:colId xmlns:a16="http://schemas.microsoft.com/office/drawing/2014/main" val="1906012346"/>
                    </a:ext>
                  </a:extLst>
                </a:gridCol>
                <a:gridCol w="983849">
                  <a:extLst>
                    <a:ext uri="{9D8B030D-6E8A-4147-A177-3AD203B41FA5}">
                      <a16:colId xmlns:a16="http://schemas.microsoft.com/office/drawing/2014/main" val="1451481408"/>
                    </a:ext>
                  </a:extLst>
                </a:gridCol>
                <a:gridCol w="972273">
                  <a:extLst>
                    <a:ext uri="{9D8B030D-6E8A-4147-A177-3AD203B41FA5}">
                      <a16:colId xmlns:a16="http://schemas.microsoft.com/office/drawing/2014/main" val="2038223790"/>
                    </a:ext>
                  </a:extLst>
                </a:gridCol>
                <a:gridCol w="1616097">
                  <a:extLst>
                    <a:ext uri="{9D8B030D-6E8A-4147-A177-3AD203B41FA5}">
                      <a16:colId xmlns:a16="http://schemas.microsoft.com/office/drawing/2014/main" val="1256061848"/>
                    </a:ext>
                  </a:extLst>
                </a:gridCol>
                <a:gridCol w="1650670">
                  <a:extLst>
                    <a:ext uri="{9D8B030D-6E8A-4147-A177-3AD203B41FA5}">
                      <a16:colId xmlns:a16="http://schemas.microsoft.com/office/drawing/2014/main" val="49419083"/>
                    </a:ext>
                  </a:extLst>
                </a:gridCol>
              </a:tblGrid>
              <a:tr h="370840">
                <a:tc>
                  <a:txBody>
                    <a:bodyPr/>
                    <a:lstStyle/>
                    <a:p>
                      <a:r>
                        <a:rPr lang="en-US" dirty="0"/>
                        <a:t>Y1: CRT</a:t>
                      </a:r>
                    </a:p>
                  </a:txBody>
                  <a:tcPr/>
                </a:tc>
                <a:tc>
                  <a:txBody>
                    <a:bodyPr/>
                    <a:lstStyle/>
                    <a:p>
                      <a:r>
                        <a:rPr lang="en-US" dirty="0"/>
                        <a:t>Y2: CGT</a:t>
                      </a:r>
                    </a:p>
                  </a:txBody>
                  <a:tcPr/>
                </a:tc>
                <a:tc>
                  <a:txBody>
                    <a:bodyPr/>
                    <a:lstStyle/>
                    <a:p>
                      <a:r>
                        <a:rPr lang="en-US" dirty="0"/>
                        <a:t>Y3: CCT</a:t>
                      </a:r>
                    </a:p>
                  </a:txBody>
                  <a:tcPr/>
                </a:tc>
                <a:tc>
                  <a:txBody>
                    <a:bodyPr/>
                    <a:lstStyle/>
                    <a:p>
                      <a:r>
                        <a:rPr lang="en-US" dirty="0"/>
                        <a:t>Observed Frequency</a:t>
                      </a:r>
                    </a:p>
                  </a:txBody>
                  <a:tcPr/>
                </a:tc>
                <a:tc>
                  <a:txBody>
                    <a:bodyPr/>
                    <a:lstStyle/>
                    <a:p>
                      <a:r>
                        <a:rPr lang="en-US" dirty="0"/>
                        <a:t>Observed proportion n/N</a:t>
                      </a:r>
                    </a:p>
                  </a:txBody>
                  <a:tcPr/>
                </a:tc>
                <a:extLst>
                  <a:ext uri="{0D108BD9-81ED-4DB2-BD59-A6C34878D82A}">
                    <a16:rowId xmlns:a16="http://schemas.microsoft.com/office/drawing/2014/main" val="1557259186"/>
                  </a:ext>
                </a:extLst>
              </a:tr>
              <a:tr h="370840">
                <a:tc>
                  <a:txBody>
                    <a:bodyPr/>
                    <a:lstStyle/>
                    <a:p>
                      <a:pPr algn="ctr"/>
                      <a:r>
                        <a:rPr lang="en-US" dirty="0"/>
                        <a:t>Yes</a:t>
                      </a:r>
                    </a:p>
                  </a:txBody>
                  <a:tcPr/>
                </a:tc>
                <a:tc>
                  <a:txBody>
                    <a:bodyPr/>
                    <a:lstStyle/>
                    <a:p>
                      <a:pPr algn="ctr"/>
                      <a:r>
                        <a:rPr lang="en-US" dirty="0"/>
                        <a:t>Yes</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Yes</a:t>
                      </a:r>
                    </a:p>
                  </a:txBody>
                  <a:tcPr/>
                </a:tc>
                <a:tc>
                  <a:txBody>
                    <a:bodyPr/>
                    <a:lstStyle/>
                    <a:p>
                      <a:pPr algn="ctr"/>
                      <a:r>
                        <a:rPr lang="en-US" dirty="0"/>
                        <a:t>696</a:t>
                      </a:r>
                    </a:p>
                  </a:txBody>
                  <a:tcPr/>
                </a:tc>
                <a:tc>
                  <a:txBody>
                    <a:bodyPr/>
                    <a:lstStyle/>
                    <a:p>
                      <a:pPr algn="ctr"/>
                      <a:r>
                        <a:rPr lang="en-US" dirty="0"/>
                        <a:t>.406</a:t>
                      </a:r>
                    </a:p>
                  </a:txBody>
                  <a:tcPr/>
                </a:tc>
                <a:extLst>
                  <a:ext uri="{0D108BD9-81ED-4DB2-BD59-A6C34878D82A}">
                    <a16:rowId xmlns:a16="http://schemas.microsoft.com/office/drawing/2014/main" val="3119478033"/>
                  </a:ext>
                </a:extLst>
              </a:tr>
              <a:tr h="370840">
                <a:tc>
                  <a:txBody>
                    <a:bodyPr/>
                    <a:lstStyle/>
                    <a:p>
                      <a:pPr algn="ctr"/>
                      <a:r>
                        <a:rPr lang="en-US" dirty="0"/>
                        <a:t>Yes</a:t>
                      </a:r>
                    </a:p>
                  </a:txBody>
                  <a:tcPr/>
                </a:tc>
                <a:tc>
                  <a:txBody>
                    <a:bodyPr/>
                    <a:lstStyle/>
                    <a:p>
                      <a:pPr algn="ctr"/>
                      <a:r>
                        <a:rPr lang="en-US" dirty="0"/>
                        <a:t>Yes</a:t>
                      </a:r>
                    </a:p>
                  </a:txBody>
                  <a:tcPr/>
                </a:tc>
                <a:tc>
                  <a:txBody>
                    <a:bodyPr/>
                    <a:lstStyle/>
                    <a:p>
                      <a:pPr algn="ctr"/>
                      <a:r>
                        <a:rPr lang="en-US" dirty="0"/>
                        <a:t>No</a:t>
                      </a:r>
                    </a:p>
                  </a:txBody>
                  <a:tcPr/>
                </a:tc>
                <a:tc>
                  <a:txBody>
                    <a:bodyPr/>
                    <a:lstStyle/>
                    <a:p>
                      <a:pPr algn="ctr"/>
                      <a:r>
                        <a:rPr lang="en-US" dirty="0"/>
                        <a:t>68</a:t>
                      </a:r>
                    </a:p>
                  </a:txBody>
                  <a:tcPr/>
                </a:tc>
                <a:tc>
                  <a:txBody>
                    <a:bodyPr/>
                    <a:lstStyle/>
                    <a:p>
                      <a:pPr algn="ctr"/>
                      <a:r>
                        <a:rPr lang="en-US" dirty="0"/>
                        <a:t>.040</a:t>
                      </a:r>
                    </a:p>
                  </a:txBody>
                  <a:tcPr/>
                </a:tc>
                <a:extLst>
                  <a:ext uri="{0D108BD9-81ED-4DB2-BD59-A6C34878D82A}">
                    <a16:rowId xmlns:a16="http://schemas.microsoft.com/office/drawing/2014/main" val="3110592358"/>
                  </a:ext>
                </a:extLst>
              </a:tr>
              <a:tr h="370840">
                <a:tc>
                  <a:txBody>
                    <a:bodyPr/>
                    <a:lstStyle/>
                    <a:p>
                      <a:pPr algn="ctr"/>
                      <a:r>
                        <a:rPr lang="en-US" dirty="0"/>
                        <a:t>Yes</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No</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Yes</a:t>
                      </a:r>
                    </a:p>
                  </a:txBody>
                  <a:tcPr/>
                </a:tc>
                <a:tc>
                  <a:txBody>
                    <a:bodyPr/>
                    <a:lstStyle/>
                    <a:p>
                      <a:pPr algn="ctr"/>
                      <a:r>
                        <a:rPr lang="en-US" dirty="0"/>
                        <a:t>275</a:t>
                      </a:r>
                    </a:p>
                  </a:txBody>
                  <a:tcPr/>
                </a:tc>
                <a:tc>
                  <a:txBody>
                    <a:bodyPr/>
                    <a:lstStyle/>
                    <a:p>
                      <a:pPr algn="ctr"/>
                      <a:r>
                        <a:rPr lang="en-US" dirty="0"/>
                        <a:t>.161</a:t>
                      </a:r>
                    </a:p>
                  </a:txBody>
                  <a:tcPr/>
                </a:tc>
                <a:extLst>
                  <a:ext uri="{0D108BD9-81ED-4DB2-BD59-A6C34878D82A}">
                    <a16:rowId xmlns:a16="http://schemas.microsoft.com/office/drawing/2014/main" val="2442493954"/>
                  </a:ext>
                </a:extLst>
              </a:tr>
              <a:tr h="370840">
                <a:tc>
                  <a:txBody>
                    <a:bodyPr/>
                    <a:lstStyle/>
                    <a:p>
                      <a:pPr algn="ctr"/>
                      <a:r>
                        <a:rPr lang="en-US" dirty="0"/>
                        <a:t>Yes</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No</a:t>
                      </a:r>
                    </a:p>
                  </a:txBody>
                  <a:tcPr/>
                </a:tc>
                <a:tc>
                  <a:txBody>
                    <a:bodyPr/>
                    <a:lstStyle/>
                    <a:p>
                      <a:pPr algn="ctr"/>
                      <a:r>
                        <a:rPr lang="en-US" dirty="0"/>
                        <a:t>No</a:t>
                      </a:r>
                    </a:p>
                  </a:txBody>
                  <a:tcPr/>
                </a:tc>
                <a:tc>
                  <a:txBody>
                    <a:bodyPr/>
                    <a:lstStyle/>
                    <a:p>
                      <a:pPr algn="ctr"/>
                      <a:r>
                        <a:rPr lang="en-US" dirty="0"/>
                        <a:t>130</a:t>
                      </a:r>
                    </a:p>
                  </a:txBody>
                  <a:tcPr/>
                </a:tc>
                <a:tc>
                  <a:txBody>
                    <a:bodyPr/>
                    <a:lstStyle/>
                    <a:p>
                      <a:pPr algn="ctr"/>
                      <a:r>
                        <a:rPr lang="en-US" dirty="0"/>
                        <a:t>.076</a:t>
                      </a:r>
                    </a:p>
                  </a:txBody>
                  <a:tcPr/>
                </a:tc>
                <a:extLst>
                  <a:ext uri="{0D108BD9-81ED-4DB2-BD59-A6C34878D82A}">
                    <a16:rowId xmlns:a16="http://schemas.microsoft.com/office/drawing/2014/main" val="2898398738"/>
                  </a:ext>
                </a:extLst>
              </a:tr>
              <a:tr h="370840">
                <a:tc>
                  <a:txBody>
                    <a:bodyPr/>
                    <a:lstStyle/>
                    <a:p>
                      <a:pPr algn="ctr"/>
                      <a:r>
                        <a:rPr lang="en-US" dirty="0"/>
                        <a:t>No</a:t>
                      </a:r>
                    </a:p>
                  </a:txBody>
                  <a:tcPr/>
                </a:tc>
                <a:tc>
                  <a:txBody>
                    <a:bodyPr/>
                    <a:lstStyle/>
                    <a:p>
                      <a:pPr algn="ctr"/>
                      <a:r>
                        <a:rPr lang="en-US" dirty="0"/>
                        <a:t>Yes</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Yes</a:t>
                      </a:r>
                    </a:p>
                  </a:txBody>
                  <a:tcPr/>
                </a:tc>
                <a:tc>
                  <a:txBody>
                    <a:bodyPr/>
                    <a:lstStyle/>
                    <a:p>
                      <a:pPr algn="ctr"/>
                      <a:r>
                        <a:rPr lang="en-US" dirty="0"/>
                        <a:t>34</a:t>
                      </a:r>
                    </a:p>
                  </a:txBody>
                  <a:tcPr/>
                </a:tc>
                <a:tc>
                  <a:txBody>
                    <a:bodyPr/>
                    <a:lstStyle/>
                    <a:p>
                      <a:pPr algn="ctr"/>
                      <a:r>
                        <a:rPr lang="en-US" dirty="0"/>
                        <a:t>.020</a:t>
                      </a:r>
                    </a:p>
                  </a:txBody>
                  <a:tcPr/>
                </a:tc>
                <a:extLst>
                  <a:ext uri="{0D108BD9-81ED-4DB2-BD59-A6C34878D82A}">
                    <a16:rowId xmlns:a16="http://schemas.microsoft.com/office/drawing/2014/main" val="3706187012"/>
                  </a:ext>
                </a:extLst>
              </a:tr>
              <a:tr h="370840">
                <a:tc>
                  <a:txBody>
                    <a:bodyPr/>
                    <a:lstStyle/>
                    <a:p>
                      <a:pPr algn="ctr"/>
                      <a:r>
                        <a:rPr lang="en-US" dirty="0"/>
                        <a:t>No</a:t>
                      </a:r>
                    </a:p>
                  </a:txBody>
                  <a:tcPr/>
                </a:tc>
                <a:tc>
                  <a:txBody>
                    <a:bodyPr/>
                    <a:lstStyle/>
                    <a:p>
                      <a:pPr algn="ctr"/>
                      <a:r>
                        <a:rPr lang="en-US" dirty="0"/>
                        <a:t>Yes</a:t>
                      </a:r>
                    </a:p>
                  </a:txBody>
                  <a:tcPr/>
                </a:tc>
                <a:tc>
                  <a:txBody>
                    <a:bodyPr/>
                    <a:lstStyle/>
                    <a:p>
                      <a:pPr algn="ctr"/>
                      <a:r>
                        <a:rPr lang="en-US" dirty="0"/>
                        <a:t>No</a:t>
                      </a:r>
                    </a:p>
                  </a:txBody>
                  <a:tcPr/>
                </a:tc>
                <a:tc>
                  <a:txBody>
                    <a:bodyPr/>
                    <a:lstStyle/>
                    <a:p>
                      <a:pPr algn="ctr"/>
                      <a:r>
                        <a:rPr lang="en-US" dirty="0"/>
                        <a:t>19</a:t>
                      </a:r>
                    </a:p>
                  </a:txBody>
                  <a:tcPr/>
                </a:tc>
                <a:tc>
                  <a:txBody>
                    <a:bodyPr/>
                    <a:lstStyle/>
                    <a:p>
                      <a:pPr algn="ctr"/>
                      <a:r>
                        <a:rPr lang="en-US" dirty="0"/>
                        <a:t>.011</a:t>
                      </a:r>
                    </a:p>
                  </a:txBody>
                  <a:tcPr/>
                </a:tc>
                <a:extLst>
                  <a:ext uri="{0D108BD9-81ED-4DB2-BD59-A6C34878D82A}">
                    <a16:rowId xmlns:a16="http://schemas.microsoft.com/office/drawing/2014/main" val="1383367168"/>
                  </a:ext>
                </a:extLst>
              </a:tr>
              <a:tr h="370840">
                <a:tc>
                  <a:txBody>
                    <a:bodyPr/>
                    <a:lstStyle/>
                    <a:p>
                      <a:pPr algn="ctr"/>
                      <a:r>
                        <a:rPr lang="en-US" dirty="0"/>
                        <a:t>No</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No</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Yes</a:t>
                      </a:r>
                    </a:p>
                  </a:txBody>
                  <a:tcPr/>
                </a:tc>
                <a:tc>
                  <a:txBody>
                    <a:bodyPr/>
                    <a:lstStyle/>
                    <a:p>
                      <a:pPr algn="ctr"/>
                      <a:r>
                        <a:rPr lang="en-US" dirty="0"/>
                        <a:t>125</a:t>
                      </a:r>
                    </a:p>
                  </a:txBody>
                  <a:tcPr/>
                </a:tc>
                <a:tc>
                  <a:txBody>
                    <a:bodyPr/>
                    <a:lstStyle/>
                    <a:p>
                      <a:pPr algn="ctr"/>
                      <a:r>
                        <a:rPr lang="en-US" dirty="0"/>
                        <a:t>.073</a:t>
                      </a:r>
                    </a:p>
                  </a:txBody>
                  <a:tcPr/>
                </a:tc>
                <a:extLst>
                  <a:ext uri="{0D108BD9-81ED-4DB2-BD59-A6C34878D82A}">
                    <a16:rowId xmlns:a16="http://schemas.microsoft.com/office/drawing/2014/main" val="122609613"/>
                  </a:ext>
                </a:extLst>
              </a:tr>
              <a:tr h="370840">
                <a:tc>
                  <a:txBody>
                    <a:bodyPr/>
                    <a:lstStyle/>
                    <a:p>
                      <a:pPr algn="ctr"/>
                      <a:r>
                        <a:rPr lang="en-US" dirty="0"/>
                        <a:t>No</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No</a:t>
                      </a:r>
                    </a:p>
                  </a:txBody>
                  <a:tcPr/>
                </a:tc>
                <a:tc>
                  <a:txBody>
                    <a:bodyPr/>
                    <a:lstStyle/>
                    <a:p>
                      <a:pPr algn="ctr"/>
                      <a:r>
                        <a:rPr lang="en-US" dirty="0"/>
                        <a:t>No</a:t>
                      </a:r>
                    </a:p>
                  </a:txBody>
                  <a:tcPr/>
                </a:tc>
                <a:tc>
                  <a:txBody>
                    <a:bodyPr/>
                    <a:lstStyle/>
                    <a:p>
                      <a:pPr algn="ctr"/>
                      <a:r>
                        <a:rPr lang="en-US" dirty="0"/>
                        <a:t>366</a:t>
                      </a:r>
                    </a:p>
                  </a:txBody>
                  <a:tcPr/>
                </a:tc>
                <a:tc>
                  <a:txBody>
                    <a:bodyPr/>
                    <a:lstStyle/>
                    <a:p>
                      <a:pPr algn="ctr"/>
                      <a:r>
                        <a:rPr lang="en-US" dirty="0"/>
                        <a:t>.214</a:t>
                      </a:r>
                    </a:p>
                  </a:txBody>
                  <a:tcPr/>
                </a:tc>
                <a:extLst>
                  <a:ext uri="{0D108BD9-81ED-4DB2-BD59-A6C34878D82A}">
                    <a16:rowId xmlns:a16="http://schemas.microsoft.com/office/drawing/2014/main" val="756396774"/>
                  </a:ext>
                </a:extLst>
              </a:tr>
            </a:tbl>
          </a:graphicData>
        </a:graphic>
      </p:graphicFrame>
      <p:sp>
        <p:nvSpPr>
          <p:cNvPr id="5" name="TextBox 4">
            <a:extLst>
              <a:ext uri="{FF2B5EF4-FFF2-40B4-BE49-F238E27FC236}">
                <a16:creationId xmlns:a16="http://schemas.microsoft.com/office/drawing/2014/main" id="{5C15E7BC-629B-49DA-BDA9-D7BE0E03A163}"/>
              </a:ext>
            </a:extLst>
          </p:cNvPr>
          <p:cNvSpPr txBox="1"/>
          <p:nvPr/>
        </p:nvSpPr>
        <p:spPr>
          <a:xfrm>
            <a:off x="347129" y="5739985"/>
            <a:ext cx="4815068" cy="9233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Y1: CRT should be taught in schools? (Y/N)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Y2: CGT should be taught in schools? (Y/N)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Y3: CCT should be taught in schools? (Y/N)</a:t>
            </a:r>
          </a:p>
        </p:txBody>
      </p:sp>
      <p:graphicFrame>
        <p:nvGraphicFramePr>
          <p:cNvPr id="6" name="Table 6">
            <a:extLst>
              <a:ext uri="{FF2B5EF4-FFF2-40B4-BE49-F238E27FC236}">
                <a16:creationId xmlns:a16="http://schemas.microsoft.com/office/drawing/2014/main" id="{C8126657-4AFA-4D64-BEDF-977033CFB411}"/>
              </a:ext>
            </a:extLst>
          </p:cNvPr>
          <p:cNvGraphicFramePr>
            <a:graphicFrameLocks noGrp="1"/>
          </p:cNvGraphicFramePr>
          <p:nvPr>
            <p:extLst>
              <p:ext uri="{D42A27DB-BD31-4B8C-83A1-F6EECF244321}">
                <p14:modId xmlns:p14="http://schemas.microsoft.com/office/powerpoint/2010/main" val="3186709309"/>
              </p:ext>
            </p:extLst>
          </p:nvPr>
        </p:nvGraphicFramePr>
        <p:xfrm>
          <a:off x="6992614" y="946163"/>
          <a:ext cx="4752082" cy="5694680"/>
        </p:xfrm>
        <a:graphic>
          <a:graphicData uri="http://schemas.openxmlformats.org/drawingml/2006/table">
            <a:tbl>
              <a:tblPr firstRow="1" bandRow="1">
                <a:tableStyleId>{5C22544A-7EE6-4342-B048-85BDC9FD1C3A}</a:tableStyleId>
              </a:tblPr>
              <a:tblGrid>
                <a:gridCol w="1902004">
                  <a:extLst>
                    <a:ext uri="{9D8B030D-6E8A-4147-A177-3AD203B41FA5}">
                      <a16:colId xmlns:a16="http://schemas.microsoft.com/office/drawing/2014/main" val="2980280746"/>
                    </a:ext>
                  </a:extLst>
                </a:gridCol>
                <a:gridCol w="1246909">
                  <a:extLst>
                    <a:ext uri="{9D8B030D-6E8A-4147-A177-3AD203B41FA5}">
                      <a16:colId xmlns:a16="http://schemas.microsoft.com/office/drawing/2014/main" val="3910751237"/>
                    </a:ext>
                  </a:extLst>
                </a:gridCol>
                <a:gridCol w="1603169">
                  <a:extLst>
                    <a:ext uri="{9D8B030D-6E8A-4147-A177-3AD203B41FA5}">
                      <a16:colId xmlns:a16="http://schemas.microsoft.com/office/drawing/2014/main" val="957628571"/>
                    </a:ext>
                  </a:extLst>
                </a:gridCol>
              </a:tblGrid>
              <a:tr h="370840">
                <a:tc>
                  <a:txBody>
                    <a:bodyPr/>
                    <a:lstStyle/>
                    <a:p>
                      <a:endParaRPr lang="en-US" dirty="0"/>
                    </a:p>
                  </a:txBody>
                  <a:tcPr/>
                </a:tc>
                <a:tc>
                  <a:txBody>
                    <a:bodyPr/>
                    <a:lstStyle/>
                    <a:p>
                      <a:pPr algn="ctr"/>
                      <a:r>
                        <a:rPr lang="en-US" dirty="0"/>
                        <a:t>Class 1</a:t>
                      </a:r>
                    </a:p>
                  </a:txBody>
                  <a:tcPr/>
                </a:tc>
                <a:tc>
                  <a:txBody>
                    <a:bodyPr/>
                    <a:lstStyle/>
                    <a:p>
                      <a:pPr algn="ctr"/>
                      <a:r>
                        <a:rPr lang="en-US" dirty="0"/>
                        <a:t>Class 2</a:t>
                      </a:r>
                    </a:p>
                  </a:txBody>
                  <a:tcPr/>
                </a:tc>
                <a:extLst>
                  <a:ext uri="{0D108BD9-81ED-4DB2-BD59-A6C34878D82A}">
                    <a16:rowId xmlns:a16="http://schemas.microsoft.com/office/drawing/2014/main" val="2923733719"/>
                  </a:ext>
                </a:extLst>
              </a:tr>
              <a:tr h="370840">
                <a:tc>
                  <a:txBody>
                    <a:bodyPr/>
                    <a:lstStyle/>
                    <a:p>
                      <a:r>
                        <a:rPr lang="en-US" b="1" dirty="0"/>
                        <a:t>CRT (Y1)</a:t>
                      </a:r>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499427308"/>
                  </a:ext>
                </a:extLst>
              </a:tr>
              <a:tr h="370840">
                <a:tc>
                  <a:txBody>
                    <a:bodyPr/>
                    <a:lstStyle/>
                    <a:p>
                      <a:r>
                        <a:rPr lang="en-US" dirty="0"/>
                        <a:t> Yes </a:t>
                      </a:r>
                    </a:p>
                    <a:p>
                      <a:r>
                        <a:rPr lang="en-US" dirty="0"/>
                        <a:t>P(Y1=1|C)</a:t>
                      </a:r>
                    </a:p>
                  </a:txBody>
                  <a:tcPr/>
                </a:tc>
                <a:tc>
                  <a:txBody>
                    <a:bodyPr/>
                    <a:lstStyle/>
                    <a:p>
                      <a:pPr algn="ctr"/>
                      <a:r>
                        <a:rPr lang="en-US" dirty="0"/>
                        <a:t>0.96</a:t>
                      </a:r>
                    </a:p>
                  </a:txBody>
                  <a:tcPr/>
                </a:tc>
                <a:tc>
                  <a:txBody>
                    <a:bodyPr/>
                    <a:lstStyle/>
                    <a:p>
                      <a:pPr algn="ctr"/>
                      <a:r>
                        <a:rPr lang="en-US" dirty="0"/>
                        <a:t> 0.23 </a:t>
                      </a:r>
                    </a:p>
                  </a:txBody>
                  <a:tcPr/>
                </a:tc>
                <a:extLst>
                  <a:ext uri="{0D108BD9-81ED-4DB2-BD59-A6C34878D82A}">
                    <a16:rowId xmlns:a16="http://schemas.microsoft.com/office/drawing/2014/main" val="333126746"/>
                  </a:ext>
                </a:extLst>
              </a:tr>
              <a:tr h="370840">
                <a:tc>
                  <a:txBody>
                    <a:bodyPr/>
                    <a:lstStyle/>
                    <a:p>
                      <a:r>
                        <a:rPr lang="en-US" dirty="0"/>
                        <a:t> No</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P(Y1=2|C)</a:t>
                      </a:r>
                    </a:p>
                  </a:txBody>
                  <a:tcPr/>
                </a:tc>
                <a:tc>
                  <a:txBody>
                    <a:bodyPr/>
                    <a:lstStyle/>
                    <a:p>
                      <a:pPr algn="ctr"/>
                      <a:r>
                        <a:rPr lang="en-US" dirty="0"/>
                        <a:t>0.04</a:t>
                      </a:r>
                    </a:p>
                  </a:txBody>
                  <a:tcPr/>
                </a:tc>
                <a:tc>
                  <a:txBody>
                    <a:bodyPr/>
                    <a:lstStyle/>
                    <a:p>
                      <a:pPr algn="ctr"/>
                      <a:r>
                        <a:rPr lang="en-US" dirty="0"/>
                        <a:t>0.77 </a:t>
                      </a:r>
                    </a:p>
                  </a:txBody>
                  <a:tcPr/>
                </a:tc>
                <a:extLst>
                  <a:ext uri="{0D108BD9-81ED-4DB2-BD59-A6C34878D82A}">
                    <a16:rowId xmlns:a16="http://schemas.microsoft.com/office/drawing/2014/main" val="2679516732"/>
                  </a:ext>
                </a:extLst>
              </a:tr>
              <a:tr h="370840">
                <a:tc>
                  <a:txBody>
                    <a:bodyPr/>
                    <a:lstStyle/>
                    <a:p>
                      <a:r>
                        <a:rPr lang="en-US" b="1" dirty="0"/>
                        <a:t>CGT (Y2)</a:t>
                      </a:r>
                    </a:p>
                  </a:txBody>
                  <a:tcPr/>
                </a:tc>
                <a:tc>
                  <a:txBody>
                    <a:bodyPr/>
                    <a:lstStyle/>
                    <a:p>
                      <a:pPr algn="ctr"/>
                      <a:endParaRPr lang="en-US"/>
                    </a:p>
                  </a:txBody>
                  <a:tcPr/>
                </a:tc>
                <a:tc>
                  <a:txBody>
                    <a:bodyPr/>
                    <a:lstStyle/>
                    <a:p>
                      <a:pPr algn="ctr"/>
                      <a:endParaRPr lang="en-US" dirty="0"/>
                    </a:p>
                  </a:txBody>
                  <a:tcPr/>
                </a:tc>
                <a:extLst>
                  <a:ext uri="{0D108BD9-81ED-4DB2-BD59-A6C34878D82A}">
                    <a16:rowId xmlns:a16="http://schemas.microsoft.com/office/drawing/2014/main" val="1010586558"/>
                  </a:ext>
                </a:extLst>
              </a:tr>
              <a:tr h="370840">
                <a:tc>
                  <a:txBody>
                    <a:bodyPr/>
                    <a:lstStyle/>
                    <a:p>
                      <a:r>
                        <a:rPr lang="en-US" dirty="0"/>
                        <a:t> Yes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P(Y2=1|C)</a:t>
                      </a:r>
                    </a:p>
                  </a:txBody>
                  <a:tcPr/>
                </a:tc>
                <a:tc>
                  <a:txBody>
                    <a:bodyPr/>
                    <a:lstStyle/>
                    <a:p>
                      <a:pPr algn="ctr"/>
                      <a:r>
                        <a:rPr lang="en-US" dirty="0"/>
                        <a:t>0.74</a:t>
                      </a:r>
                    </a:p>
                  </a:txBody>
                  <a:tcPr/>
                </a:tc>
                <a:tc>
                  <a:txBody>
                    <a:bodyPr/>
                    <a:lstStyle/>
                    <a:p>
                      <a:pPr algn="ctr"/>
                      <a:r>
                        <a:rPr lang="en-US" dirty="0"/>
                        <a:t> 0.04 </a:t>
                      </a:r>
                    </a:p>
                  </a:txBody>
                  <a:tcPr/>
                </a:tc>
                <a:extLst>
                  <a:ext uri="{0D108BD9-81ED-4DB2-BD59-A6C34878D82A}">
                    <a16:rowId xmlns:a16="http://schemas.microsoft.com/office/drawing/2014/main" val="313395003"/>
                  </a:ext>
                </a:extLst>
              </a:tr>
              <a:tr h="370840">
                <a:tc>
                  <a:txBody>
                    <a:bodyPr/>
                    <a:lstStyle/>
                    <a:p>
                      <a:r>
                        <a:rPr lang="en-US" dirty="0"/>
                        <a:t> No</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P(Y2=2|C)</a:t>
                      </a:r>
                    </a:p>
                  </a:txBody>
                  <a:tcPr/>
                </a:tc>
                <a:tc>
                  <a:txBody>
                    <a:bodyPr/>
                    <a:lstStyle/>
                    <a:p>
                      <a:pPr algn="ctr"/>
                      <a:r>
                        <a:rPr lang="en-US" dirty="0"/>
                        <a:t>0.26 </a:t>
                      </a:r>
                    </a:p>
                  </a:txBody>
                  <a:tcPr/>
                </a:tc>
                <a:tc>
                  <a:txBody>
                    <a:bodyPr/>
                    <a:lstStyle/>
                    <a:p>
                      <a:pPr algn="ctr"/>
                      <a:r>
                        <a:rPr lang="en-US" dirty="0"/>
                        <a:t>0.96</a:t>
                      </a:r>
                    </a:p>
                  </a:txBody>
                  <a:tcPr/>
                </a:tc>
                <a:extLst>
                  <a:ext uri="{0D108BD9-81ED-4DB2-BD59-A6C34878D82A}">
                    <a16:rowId xmlns:a16="http://schemas.microsoft.com/office/drawing/2014/main" val="3836684148"/>
                  </a:ext>
                </a:extLst>
              </a:tr>
              <a:tr h="370840">
                <a:tc>
                  <a:txBody>
                    <a:bodyPr/>
                    <a:lstStyle/>
                    <a:p>
                      <a:r>
                        <a:rPr lang="en-US" b="1" dirty="0"/>
                        <a:t>CCT (Y3)</a:t>
                      </a:r>
                    </a:p>
                  </a:txBody>
                  <a:tcPr/>
                </a:tc>
                <a:tc>
                  <a:txBody>
                    <a:bodyPr/>
                    <a:lstStyle/>
                    <a:p>
                      <a:pPr algn="ctr"/>
                      <a:endParaRPr lang="en-US" dirty="0"/>
                    </a:p>
                  </a:txBody>
                  <a:tcPr/>
                </a:tc>
                <a:tc>
                  <a:txBody>
                    <a:bodyPr/>
                    <a:lstStyle/>
                    <a:p>
                      <a:pPr algn="ctr"/>
                      <a:endParaRPr lang="en-US" dirty="0"/>
                    </a:p>
                  </a:txBody>
                  <a:tcPr/>
                </a:tc>
                <a:extLst>
                  <a:ext uri="{0D108BD9-81ED-4DB2-BD59-A6C34878D82A}">
                    <a16:rowId xmlns:a16="http://schemas.microsoft.com/office/drawing/2014/main" val="3066234691"/>
                  </a:ext>
                </a:extLst>
              </a:tr>
              <a:tr h="370840">
                <a:tc>
                  <a:txBody>
                    <a:bodyPr/>
                    <a:lstStyle/>
                    <a:p>
                      <a:r>
                        <a:rPr lang="en-US" dirty="0"/>
                        <a:t> Yes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P(Y3=1|C)</a:t>
                      </a:r>
                    </a:p>
                  </a:txBody>
                  <a:tcPr/>
                </a:tc>
                <a:tc>
                  <a:txBody>
                    <a:bodyPr/>
                    <a:lstStyle/>
                    <a:p>
                      <a:pPr algn="ctr"/>
                      <a:r>
                        <a:rPr lang="en-US" dirty="0"/>
                        <a:t>0.92</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0.24</a:t>
                      </a:r>
                    </a:p>
                  </a:txBody>
                  <a:tcPr/>
                </a:tc>
                <a:extLst>
                  <a:ext uri="{0D108BD9-81ED-4DB2-BD59-A6C34878D82A}">
                    <a16:rowId xmlns:a16="http://schemas.microsoft.com/office/drawing/2014/main" val="37380148"/>
                  </a:ext>
                </a:extLst>
              </a:tr>
              <a:tr h="370840">
                <a:tc>
                  <a:txBody>
                    <a:bodyPr/>
                    <a:lstStyle/>
                    <a:p>
                      <a:r>
                        <a:rPr lang="en-US" dirty="0"/>
                        <a:t> No</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P(Y3=2|C)</a:t>
                      </a:r>
                    </a:p>
                  </a:txBody>
                  <a:tcPr>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0.08 </a:t>
                      </a:r>
                    </a:p>
                  </a:txBody>
                  <a:tcPr>
                    <a:lnB w="12700" cap="flat" cmpd="sng" algn="ctr">
                      <a:solidFill>
                        <a:schemeClr val="tx1"/>
                      </a:solidFill>
                      <a:prstDash val="solid"/>
                      <a:round/>
                      <a:headEnd type="none" w="med" len="med"/>
                      <a:tailEnd type="none" w="med" len="med"/>
                    </a:lnB>
                  </a:tcPr>
                </a:tc>
                <a:tc>
                  <a:txBody>
                    <a:bodyPr/>
                    <a:lstStyle/>
                    <a:p>
                      <a:pPr algn="ctr"/>
                      <a:r>
                        <a:rPr lang="en-US" dirty="0"/>
                        <a:t>0.76</a:t>
                      </a:r>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50880294"/>
                  </a:ext>
                </a:extLst>
              </a:tr>
              <a:tr h="370840">
                <a:tc>
                  <a:txBody>
                    <a:bodyPr/>
                    <a:lstStyle/>
                    <a:p>
                      <a:r>
                        <a:rPr lang="en-US" b="1" dirty="0"/>
                        <a:t>Class %</a:t>
                      </a:r>
                    </a:p>
                  </a:txBody>
                  <a:tcPr>
                    <a:lnT w="12700" cap="flat" cmpd="sng" algn="ctr">
                      <a:solidFill>
                        <a:schemeClr val="tx1"/>
                      </a:solidFill>
                      <a:prstDash val="solid"/>
                      <a:round/>
                      <a:headEnd type="none" w="med" len="med"/>
                      <a:tailEnd type="none" w="med" len="med"/>
                    </a:lnT>
                  </a:tcPr>
                </a:tc>
                <a:tc>
                  <a:txBody>
                    <a:bodyPr/>
                    <a:lstStyle/>
                    <a:p>
                      <a:pPr algn="r"/>
                      <a:r>
                        <a:rPr lang="en-US" dirty="0"/>
                        <a:t>0.6205</a:t>
                      </a:r>
                    </a:p>
                  </a:txBody>
                  <a:tcPr>
                    <a:lnT w="12700" cap="flat" cmpd="sng" algn="ctr">
                      <a:solidFill>
                        <a:schemeClr val="tx1"/>
                      </a:solidFill>
                      <a:prstDash val="solid"/>
                      <a:round/>
                      <a:headEnd type="none" w="med" len="med"/>
                      <a:tailEnd type="none" w="med" len="med"/>
                    </a:lnT>
                  </a:tcPr>
                </a:tc>
                <a:tc>
                  <a:txBody>
                    <a:bodyPr/>
                    <a:lstStyle/>
                    <a:p>
                      <a:pPr algn="r"/>
                      <a:r>
                        <a:rPr lang="en-US" dirty="0"/>
                        <a:t>0.3795</a:t>
                      </a:r>
                    </a:p>
                  </a:txBody>
                  <a:tcP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187348904"/>
                  </a:ext>
                </a:extLst>
              </a:tr>
            </a:tbl>
          </a:graphicData>
        </a:graphic>
      </p:graphicFrame>
      <p:sp>
        <p:nvSpPr>
          <p:cNvPr id="3" name="TextBox 2">
            <a:extLst>
              <a:ext uri="{FF2B5EF4-FFF2-40B4-BE49-F238E27FC236}">
                <a16:creationId xmlns:a16="http://schemas.microsoft.com/office/drawing/2014/main" id="{6AAA63A5-16BA-4D3B-A3FF-4A226A530B5D}"/>
              </a:ext>
            </a:extLst>
          </p:cNvPr>
          <p:cNvSpPr txBox="1"/>
          <p:nvPr/>
        </p:nvSpPr>
        <p:spPr>
          <a:xfrm>
            <a:off x="347129" y="5370653"/>
            <a:ext cx="251834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Single Class</a:t>
            </a:r>
          </a:p>
        </p:txBody>
      </p:sp>
      <p:sp>
        <p:nvSpPr>
          <p:cNvPr id="7" name="TextBox 6">
            <a:extLst>
              <a:ext uri="{FF2B5EF4-FFF2-40B4-BE49-F238E27FC236}">
                <a16:creationId xmlns:a16="http://schemas.microsoft.com/office/drawing/2014/main" id="{169A1E9A-2A33-4FAE-85BF-2E9604955493}"/>
              </a:ext>
            </a:extLst>
          </p:cNvPr>
          <p:cNvSpPr txBox="1"/>
          <p:nvPr/>
        </p:nvSpPr>
        <p:spPr>
          <a:xfrm>
            <a:off x="9536384" y="6533708"/>
            <a:ext cx="251834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Two Classes</a:t>
            </a:r>
          </a:p>
        </p:txBody>
      </p:sp>
      <p:sp>
        <p:nvSpPr>
          <p:cNvPr id="8" name="Rectangle 7"/>
          <p:cNvSpPr/>
          <p:nvPr/>
        </p:nvSpPr>
        <p:spPr>
          <a:xfrm>
            <a:off x="365760" y="228600"/>
            <a:ext cx="8412480" cy="0"/>
          </a:xfrm>
          <a:prstGeom prst="rect">
            <a:avLst/>
          </a:prstGeom>
          <a:noFill/>
          <a:ln w="19050">
            <a:solidFill>
              <a:srgbClr val="B4B4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1237612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TextBox 3"/>
          <p:cNvSpPr txBox="1"/>
          <p:nvPr/>
        </p:nvSpPr>
        <p:spPr>
          <a:xfrm>
            <a:off x="722019" y="154973"/>
            <a:ext cx="8412480" cy="646331"/>
          </a:xfrm>
          <a:prstGeom prst="rect">
            <a:avLst/>
          </a:prstGeom>
          <a:noFill/>
        </p:spPr>
        <p:txBody>
          <a:bodyPr wrap="square">
            <a:spAutoFit/>
          </a:bodyPr>
          <a:lstStyle/>
          <a:p>
            <a:pPr algn="l"/>
            <a:r>
              <a:rPr sz="3600" b="0" dirty="0">
                <a:solidFill>
                  <a:srgbClr val="000000"/>
                </a:solidFill>
                <a:latin typeface="Calibri"/>
              </a:rPr>
              <a:t>Understanding Response Patterns in LCA</a:t>
            </a:r>
          </a:p>
        </p:txBody>
      </p:sp>
      <p:sp>
        <p:nvSpPr>
          <p:cNvPr id="6" name="TextBox 5"/>
          <p:cNvSpPr txBox="1"/>
          <p:nvPr/>
        </p:nvSpPr>
        <p:spPr>
          <a:xfrm>
            <a:off x="840773" y="960120"/>
            <a:ext cx="10500162" cy="4144724"/>
          </a:xfrm>
          <a:prstGeom prst="rect">
            <a:avLst/>
          </a:prstGeom>
          <a:noFill/>
        </p:spPr>
        <p:txBody>
          <a:bodyPr wrap="square">
            <a:spAutoFit/>
          </a:bodyPr>
          <a:lstStyle/>
          <a:p>
            <a:pPr algn="l">
              <a:spcBef>
                <a:spcPts val="800"/>
              </a:spcBef>
            </a:pPr>
            <a:r>
              <a:rPr sz="2000" b="1" i="0" dirty="0">
                <a:solidFill>
                  <a:srgbClr val="000000"/>
                </a:solidFill>
                <a:latin typeface="Calibri"/>
              </a:rPr>
              <a:t>With K binary items, there are 2^K possible response patterns.</a:t>
            </a:r>
          </a:p>
          <a:p>
            <a:pPr algn="l"/>
            <a:endParaRPr sz="2000" b="1" i="0" dirty="0">
              <a:solidFill>
                <a:srgbClr val="000000"/>
              </a:solidFill>
              <a:latin typeface="Calibri"/>
            </a:endParaRPr>
          </a:p>
          <a:p>
            <a:pPr algn="l"/>
            <a:r>
              <a:rPr sz="2000" b="0" i="0" dirty="0">
                <a:solidFill>
                  <a:srgbClr val="323232"/>
                </a:solidFill>
                <a:latin typeface="Calibri"/>
              </a:rPr>
              <a:t>3 items → 2³ = 8 patterns</a:t>
            </a:r>
          </a:p>
          <a:p>
            <a:pPr algn="l"/>
            <a:r>
              <a:rPr sz="2000" b="0" i="0" dirty="0">
                <a:solidFill>
                  <a:srgbClr val="323232"/>
                </a:solidFill>
                <a:latin typeface="Calibri"/>
              </a:rPr>
              <a:t>7 items → 2⁷ = 128 patterns</a:t>
            </a:r>
          </a:p>
          <a:p>
            <a:pPr algn="l"/>
            <a:r>
              <a:rPr sz="2000" b="0" i="0" dirty="0">
                <a:solidFill>
                  <a:srgbClr val="323232"/>
                </a:solidFill>
                <a:latin typeface="Calibri"/>
              </a:rPr>
              <a:t>10 items → 2¹⁰ = 1024 patterns</a:t>
            </a:r>
          </a:p>
          <a:p>
            <a:pPr algn="l"/>
            <a:endParaRPr sz="2000" b="0" i="0" dirty="0">
              <a:solidFill>
                <a:srgbClr val="323232"/>
              </a:solidFill>
              <a:latin typeface="Calibri"/>
            </a:endParaRPr>
          </a:p>
          <a:p>
            <a:pPr algn="l">
              <a:spcBef>
                <a:spcPts val="400"/>
              </a:spcBef>
            </a:pPr>
            <a:r>
              <a:rPr sz="2000" b="1" i="0" dirty="0">
                <a:solidFill>
                  <a:srgbClr val="000000"/>
                </a:solidFill>
                <a:latin typeface="Calibri"/>
              </a:rPr>
              <a:t>Why this matters:</a:t>
            </a:r>
          </a:p>
          <a:p>
            <a:pPr algn="l"/>
            <a:r>
              <a:rPr sz="2000" b="0" i="0" dirty="0">
                <a:solidFill>
                  <a:srgbClr val="323232"/>
                </a:solidFill>
                <a:latin typeface="Calibri"/>
              </a:rPr>
              <a:t>LCA estimates class probabilities to reproduce the OBSERVED FREQUENCIES of each pattern. A good model makes implied frequencies ≈ observed frequencies.</a:t>
            </a:r>
          </a:p>
          <a:p>
            <a:pPr algn="l"/>
            <a:endParaRPr sz="2000" b="0" i="0" dirty="0">
              <a:solidFill>
                <a:srgbClr val="323232"/>
              </a:solidFill>
              <a:latin typeface="Calibri"/>
            </a:endParaRPr>
          </a:p>
          <a:p>
            <a:pPr algn="l"/>
            <a:r>
              <a:rPr sz="2000" b="0" i="0" dirty="0">
                <a:solidFill>
                  <a:srgbClr val="323232"/>
                </a:solidFill>
                <a:latin typeface="Calibri"/>
              </a:rPr>
              <a:t>With 3 binary items (CRT, CGT, CCT), there are 8 possible response patterns.</a:t>
            </a:r>
          </a:p>
          <a:p>
            <a:pPr algn="l"/>
            <a:r>
              <a:rPr sz="2000" b="0" i="0" dirty="0">
                <a:solidFill>
                  <a:srgbClr val="323232"/>
                </a:solidFill>
                <a:latin typeface="Calibri"/>
              </a:rPr>
              <a:t>Most common: Yes/Yes/Yes (696 people = 40.6% of sample)</a:t>
            </a:r>
          </a:p>
          <a:p>
            <a:pPr algn="l"/>
            <a:r>
              <a:rPr sz="2000" b="0" i="0" dirty="0">
                <a:solidFill>
                  <a:srgbClr val="323232"/>
                </a:solidFill>
                <a:latin typeface="Calibri"/>
              </a:rPr>
              <a:t>Least common: No/Yes/No  (19 people = 1.1% of sample)</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004991-767C-4CAC-843E-E60572242DD1}"/>
              </a:ext>
            </a:extLst>
          </p:cNvPr>
          <p:cNvSpPr>
            <a:spLocks noGrp="1"/>
          </p:cNvSpPr>
          <p:nvPr>
            <p:ph type="title"/>
          </p:nvPr>
        </p:nvSpPr>
        <p:spPr>
          <a:xfrm>
            <a:off x="249382" y="289733"/>
            <a:ext cx="11126789" cy="688895"/>
          </a:xfrm>
        </p:spPr>
        <p:txBody>
          <a:bodyPr>
            <a:normAutofit/>
          </a:bodyPr>
          <a:lstStyle/>
          <a:p>
            <a:pPr algn="l"/>
            <a:r>
              <a:rPr lang="en-US" sz="3600" dirty="0">
                <a:solidFill>
                  <a:srgbClr val="000000"/>
                </a:solidFill>
                <a:latin typeface="Calibri"/>
              </a:rPr>
              <a:t>Two key model assumptions (summary)</a:t>
            </a:r>
          </a:p>
        </p:txBody>
      </p:sp>
      <p:sp>
        <p:nvSpPr>
          <p:cNvPr id="40" name="Content Placeholder 2">
            <a:extLst>
              <a:ext uri="{FF2B5EF4-FFF2-40B4-BE49-F238E27FC236}">
                <a16:creationId xmlns:a16="http://schemas.microsoft.com/office/drawing/2014/main" id="{4BB6F4B4-DF94-432F-B428-783D15CD43F5}"/>
              </a:ext>
            </a:extLst>
          </p:cNvPr>
          <p:cNvSpPr>
            <a:spLocks noGrp="1"/>
          </p:cNvSpPr>
          <p:nvPr>
            <p:ph idx="1"/>
          </p:nvPr>
        </p:nvSpPr>
        <p:spPr>
          <a:xfrm>
            <a:off x="440700" y="978628"/>
            <a:ext cx="11126788" cy="3785419"/>
          </a:xfrm>
        </p:spPr>
        <p:txBody>
          <a:bodyPr>
            <a:normAutofit/>
          </a:bodyPr>
          <a:lstStyle/>
          <a:p>
            <a:pPr marL="0" indent="0">
              <a:buNone/>
            </a:pPr>
            <a:r>
              <a:rPr lang="en-US" sz="2000" dirty="0"/>
              <a:t>1. MIXTURE ASSUMPTION</a:t>
            </a:r>
          </a:p>
          <a:p>
            <a:pPr marL="457200" lvl="1" indent="0">
              <a:buNone/>
            </a:pPr>
            <a:r>
              <a:rPr lang="en-US" sz="2000" dirty="0"/>
              <a:t>There is a latent categorical variable (</a:t>
            </a:r>
            <a:r>
              <a:rPr lang="en-US" sz="2000" u="sng" dirty="0"/>
              <a:t>NOT MANIFEST VARIABLE</a:t>
            </a:r>
            <a:r>
              <a:rPr lang="en-US" sz="2000" dirty="0"/>
              <a:t>) that consists of a finite number of types of people, i.e. classes</a:t>
            </a:r>
          </a:p>
          <a:p>
            <a:pPr marL="0" indent="0">
              <a:buNone/>
            </a:pPr>
            <a:r>
              <a:rPr lang="en-US" sz="2000" dirty="0"/>
              <a:t>2. LOCAL INDEPENDENCE ASSUMPTION</a:t>
            </a:r>
          </a:p>
          <a:p>
            <a:pPr marL="457200" lvl="1" indent="0">
              <a:buNone/>
            </a:pPr>
            <a:r>
              <a:rPr lang="en-US" sz="2000" dirty="0"/>
              <a:t>Within classes, responses are independent</a:t>
            </a:r>
          </a:p>
        </p:txBody>
      </p:sp>
    </p:spTree>
    <p:extLst>
      <p:ext uri="{BB962C8B-B14F-4D97-AF65-F5344CB8AC3E}">
        <p14:creationId xmlns:p14="http://schemas.microsoft.com/office/powerpoint/2010/main" val="212301526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TextBox 3"/>
          <p:cNvSpPr txBox="1"/>
          <p:nvPr/>
        </p:nvSpPr>
        <p:spPr>
          <a:xfrm>
            <a:off x="686394" y="0"/>
            <a:ext cx="10322032" cy="646331"/>
          </a:xfrm>
          <a:prstGeom prst="rect">
            <a:avLst/>
          </a:prstGeom>
          <a:noFill/>
        </p:spPr>
        <p:txBody>
          <a:bodyPr wrap="square">
            <a:spAutoFit/>
          </a:bodyPr>
          <a:lstStyle/>
          <a:p>
            <a:pPr algn="l"/>
            <a:r>
              <a:rPr sz="3600" b="0" dirty="0">
                <a:solidFill>
                  <a:srgbClr val="000000"/>
                </a:solidFill>
                <a:latin typeface="Calibri"/>
              </a:rPr>
              <a:t>Testing Whether the Assumptions Hold</a:t>
            </a:r>
            <a:r>
              <a:rPr lang="en-US" sz="3600" b="0" dirty="0">
                <a:solidFill>
                  <a:srgbClr val="000000"/>
                </a:solidFill>
                <a:latin typeface="Calibri"/>
              </a:rPr>
              <a:t> (Summary)</a:t>
            </a:r>
            <a:endParaRPr sz="3600" b="0" dirty="0">
              <a:solidFill>
                <a:srgbClr val="000000"/>
              </a:solidFill>
              <a:latin typeface="Calibri"/>
            </a:endParaRPr>
          </a:p>
        </p:txBody>
      </p:sp>
      <p:sp>
        <p:nvSpPr>
          <p:cNvPr id="6" name="TextBox 5"/>
          <p:cNvSpPr txBox="1"/>
          <p:nvPr/>
        </p:nvSpPr>
        <p:spPr>
          <a:xfrm>
            <a:off x="686394" y="646331"/>
            <a:ext cx="10975175" cy="5170646"/>
          </a:xfrm>
          <a:prstGeom prst="rect">
            <a:avLst/>
          </a:prstGeom>
          <a:noFill/>
        </p:spPr>
        <p:txBody>
          <a:bodyPr wrap="square">
            <a:spAutoFit/>
          </a:bodyPr>
          <a:lstStyle/>
          <a:p>
            <a:pPr algn="l">
              <a:spcBef>
                <a:spcPts val="800"/>
              </a:spcBef>
            </a:pPr>
            <a:r>
              <a:rPr sz="2000" b="1" i="0" dirty="0">
                <a:solidFill>
                  <a:srgbClr val="000000"/>
                </a:solidFill>
                <a:latin typeface="Calibri"/>
              </a:rPr>
              <a:t>Assumption 1 — Mixture: Is the categorical structure justified?</a:t>
            </a:r>
          </a:p>
          <a:p>
            <a:pPr algn="l"/>
            <a:r>
              <a:rPr sz="2000" b="0" i="0" dirty="0">
                <a:solidFill>
                  <a:srgbClr val="323232"/>
                </a:solidFill>
                <a:latin typeface="Calibri"/>
              </a:rPr>
              <a:t>•  Compare 1-class to 2-class model using BIC and LMR test</a:t>
            </a:r>
          </a:p>
          <a:p>
            <a:pPr algn="l"/>
            <a:r>
              <a:rPr sz="2000" b="0" i="0" dirty="0">
                <a:solidFill>
                  <a:srgbClr val="323232"/>
                </a:solidFill>
                <a:latin typeface="Calibri"/>
              </a:rPr>
              <a:t>•  If 2-class is significantly better than 1-class: evidence that multiple groups exist</a:t>
            </a:r>
          </a:p>
          <a:p>
            <a:pPr algn="l"/>
            <a:r>
              <a:rPr sz="2000" b="0" i="0" dirty="0">
                <a:solidFill>
                  <a:srgbClr val="323232"/>
                </a:solidFill>
                <a:latin typeface="Calibri"/>
              </a:rPr>
              <a:t>•  If 1-class fits well: data may be homogeneous — use regression instead of LCA</a:t>
            </a:r>
          </a:p>
          <a:p>
            <a:pPr algn="l"/>
            <a:endParaRPr sz="2000" b="0" i="0" dirty="0">
              <a:solidFill>
                <a:srgbClr val="323232"/>
              </a:solidFill>
              <a:latin typeface="Calibri"/>
            </a:endParaRPr>
          </a:p>
          <a:p>
            <a:pPr algn="l">
              <a:spcBef>
                <a:spcPts val="600"/>
              </a:spcBef>
            </a:pPr>
            <a:r>
              <a:rPr sz="2000" b="1" i="0" dirty="0">
                <a:solidFill>
                  <a:srgbClr val="000000"/>
                </a:solidFill>
                <a:latin typeface="Calibri"/>
              </a:rPr>
              <a:t>Assumption 2 — Local Independence: Are items correlated within classes?</a:t>
            </a:r>
          </a:p>
          <a:p>
            <a:pPr algn="l"/>
            <a:r>
              <a:rPr sz="2000" b="0" i="0" dirty="0">
                <a:solidFill>
                  <a:srgbClr val="323232"/>
                </a:solidFill>
                <a:latin typeface="Calibri"/>
              </a:rPr>
              <a:t>•  Check bivariate residuals (BVR) for all item pairs in your chosen model</a:t>
            </a:r>
          </a:p>
          <a:p>
            <a:pPr algn="l"/>
            <a:r>
              <a:rPr sz="2000" b="0" i="0" dirty="0">
                <a:solidFill>
                  <a:srgbClr val="323232"/>
                </a:solidFill>
                <a:latin typeface="Calibri"/>
              </a:rPr>
              <a:t>•  BVR &gt; 3.84 indicates a significant violation — those two items correlate beyond what class explains</a:t>
            </a:r>
          </a:p>
          <a:p>
            <a:pPr algn="l"/>
            <a:endParaRPr sz="2000" b="0" i="0" dirty="0">
              <a:solidFill>
                <a:srgbClr val="323232"/>
              </a:solidFill>
              <a:latin typeface="Calibri"/>
            </a:endParaRPr>
          </a:p>
          <a:p>
            <a:pPr algn="l">
              <a:spcBef>
                <a:spcPts val="600"/>
              </a:spcBef>
            </a:pPr>
            <a:r>
              <a:rPr sz="2000" b="1" i="0" dirty="0">
                <a:solidFill>
                  <a:srgbClr val="1F497D"/>
                </a:solidFill>
                <a:latin typeface="Calibri"/>
              </a:rPr>
              <a:t>WHAT TO DO IF LOCAL INDEPENDENCE IS VIOLATED</a:t>
            </a:r>
          </a:p>
          <a:p>
            <a:pPr algn="l"/>
            <a:r>
              <a:rPr sz="2000" b="0" i="0" dirty="0">
                <a:solidFill>
                  <a:srgbClr val="323232"/>
                </a:solidFill>
                <a:latin typeface="Calibri"/>
              </a:rPr>
              <a:t>•  Option 1: Add more classes — maybe the solution needs finer distinctions</a:t>
            </a:r>
          </a:p>
          <a:p>
            <a:pPr algn="l"/>
            <a:r>
              <a:rPr sz="2000" b="0" i="0" dirty="0">
                <a:solidFill>
                  <a:srgbClr val="323232"/>
                </a:solidFill>
                <a:latin typeface="Calibri"/>
              </a:rPr>
              <a:t>•  Option 2: Remove one of the correlated items if they're measuring the same thing</a:t>
            </a:r>
          </a:p>
          <a:p>
            <a:pPr algn="l"/>
            <a:r>
              <a:rPr sz="2000" b="0" i="0" dirty="0">
                <a:solidFill>
                  <a:srgbClr val="323232"/>
                </a:solidFill>
                <a:latin typeface="Calibri"/>
              </a:rPr>
              <a:t>•  Option 3: Combine correlated items into a composite before running LCA</a:t>
            </a:r>
          </a:p>
          <a:p>
            <a:pPr algn="l"/>
            <a:r>
              <a:rPr sz="2000" b="0" i="0" dirty="0">
                <a:solidFill>
                  <a:srgbClr val="323232"/>
                </a:solidFill>
                <a:latin typeface="Calibri"/>
              </a:rPr>
              <a:t>•  Option 4: Use a special 'residual covariance' LCA model (advanced)</a:t>
            </a:r>
          </a:p>
          <a:p>
            <a:pPr algn="l"/>
            <a:endParaRPr sz="2000" b="0" i="0" dirty="0">
              <a:solidFill>
                <a:srgbClr val="323232"/>
              </a:solidFill>
              <a:latin typeface="Calibri"/>
            </a:endParaRPr>
          </a:p>
          <a:p>
            <a:pPr algn="l"/>
            <a:r>
              <a:rPr sz="2000" b="0" i="0" dirty="0">
                <a:solidFill>
                  <a:srgbClr val="323232"/>
                </a:solidFill>
                <a:latin typeface="Calibri"/>
              </a:rPr>
              <a:t>Always report whether you checked and whether it held — reviewers will ask.</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544B73-0162-4CC0-B0BB-E7F900E11B6A}"/>
              </a:ext>
            </a:extLst>
          </p:cNvPr>
          <p:cNvSpPr>
            <a:spLocks noGrp="1"/>
          </p:cNvSpPr>
          <p:nvPr>
            <p:ph type="title"/>
          </p:nvPr>
        </p:nvSpPr>
        <p:spPr>
          <a:xfrm>
            <a:off x="162621" y="228889"/>
            <a:ext cx="9688296" cy="875517"/>
          </a:xfrm>
        </p:spPr>
        <p:txBody>
          <a:bodyPr anchor="b">
            <a:normAutofit/>
          </a:bodyPr>
          <a:lstStyle/>
          <a:p>
            <a:pPr algn="l"/>
            <a:r>
              <a:rPr lang="en-US" sz="3600" dirty="0">
                <a:solidFill>
                  <a:srgbClr val="000000"/>
                </a:solidFill>
                <a:latin typeface="Calibri"/>
              </a:rPr>
              <a:t>Evaluating Model Fit/Selecting the # of classes</a:t>
            </a:r>
          </a:p>
        </p:txBody>
      </p:sp>
      <p:sp>
        <p:nvSpPr>
          <p:cNvPr id="3" name="Content Placeholder 2">
            <a:extLst>
              <a:ext uri="{FF2B5EF4-FFF2-40B4-BE49-F238E27FC236}">
                <a16:creationId xmlns:a16="http://schemas.microsoft.com/office/drawing/2014/main" id="{32DB49BA-AA43-4127-A937-827AE646A707}"/>
              </a:ext>
            </a:extLst>
          </p:cNvPr>
          <p:cNvSpPr>
            <a:spLocks noGrp="1"/>
          </p:cNvSpPr>
          <p:nvPr>
            <p:ph idx="1"/>
          </p:nvPr>
        </p:nvSpPr>
        <p:spPr>
          <a:xfrm>
            <a:off x="352626" y="1104406"/>
            <a:ext cx="9688296" cy="3454358"/>
          </a:xfrm>
        </p:spPr>
        <p:txBody>
          <a:bodyPr anchor="t">
            <a:normAutofit/>
          </a:bodyPr>
          <a:lstStyle/>
          <a:p>
            <a:r>
              <a:rPr lang="en-US" sz="2000" dirty="0"/>
              <a:t>a priori theory</a:t>
            </a:r>
          </a:p>
          <a:p>
            <a:r>
              <a:rPr lang="en-US" sz="2000" dirty="0"/>
              <a:t>Chi-Square goodness of fit</a:t>
            </a:r>
          </a:p>
          <a:p>
            <a:r>
              <a:rPr lang="en-US" sz="2000" dirty="0"/>
              <a:t>Classification error</a:t>
            </a:r>
          </a:p>
          <a:p>
            <a:r>
              <a:rPr lang="en-US" sz="2000" dirty="0"/>
              <a:t>Information Statistics – AIC, BIC, others </a:t>
            </a:r>
          </a:p>
          <a:p>
            <a:r>
              <a:rPr lang="en-US" sz="2000" dirty="0"/>
              <a:t>Lo-</a:t>
            </a:r>
            <a:r>
              <a:rPr lang="en-US" sz="2000" dirty="0" err="1"/>
              <a:t>Mendell</a:t>
            </a:r>
            <a:r>
              <a:rPr lang="en-US" sz="2000" dirty="0"/>
              <a:t>-Rubin (LMR) – (normal </a:t>
            </a:r>
            <a:r>
              <a:rPr lang="en-US" sz="2000" i="1" dirty="0"/>
              <a:t>Y</a:t>
            </a:r>
            <a:r>
              <a:rPr lang="en-US" sz="2000" dirty="0"/>
              <a:t>) </a:t>
            </a:r>
          </a:p>
          <a:p>
            <a:r>
              <a:rPr lang="en-US" sz="2000" dirty="0"/>
              <a:t>Bootstrapped Likelihood Ratio Test</a:t>
            </a:r>
          </a:p>
        </p:txBody>
      </p:sp>
    </p:spTree>
    <p:extLst>
      <p:ext uri="{BB962C8B-B14F-4D97-AF65-F5344CB8AC3E}">
        <p14:creationId xmlns:p14="http://schemas.microsoft.com/office/powerpoint/2010/main" val="422933363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TextBox 3"/>
          <p:cNvSpPr txBox="1"/>
          <p:nvPr/>
        </p:nvSpPr>
        <p:spPr>
          <a:xfrm>
            <a:off x="745770" y="101653"/>
            <a:ext cx="8412480" cy="646331"/>
          </a:xfrm>
          <a:prstGeom prst="rect">
            <a:avLst/>
          </a:prstGeom>
          <a:noFill/>
        </p:spPr>
        <p:txBody>
          <a:bodyPr wrap="square">
            <a:spAutoFit/>
          </a:bodyPr>
          <a:lstStyle/>
          <a:p>
            <a:pPr algn="l"/>
            <a:r>
              <a:rPr sz="3600" b="0" dirty="0">
                <a:solidFill>
                  <a:srgbClr val="000000"/>
                </a:solidFill>
                <a:latin typeface="Calibri"/>
              </a:rPr>
              <a:t>Comparing Models: A Decision Framework</a:t>
            </a:r>
          </a:p>
        </p:txBody>
      </p:sp>
      <p:sp>
        <p:nvSpPr>
          <p:cNvPr id="6" name="TextBox 5"/>
          <p:cNvSpPr txBox="1"/>
          <p:nvPr/>
        </p:nvSpPr>
        <p:spPr>
          <a:xfrm>
            <a:off x="745770" y="960120"/>
            <a:ext cx="10678292" cy="5452775"/>
          </a:xfrm>
          <a:prstGeom prst="rect">
            <a:avLst/>
          </a:prstGeom>
          <a:noFill/>
        </p:spPr>
        <p:txBody>
          <a:bodyPr wrap="square">
            <a:spAutoFit/>
          </a:bodyPr>
          <a:lstStyle/>
          <a:p>
            <a:pPr algn="l">
              <a:spcBef>
                <a:spcPts val="800"/>
              </a:spcBef>
            </a:pPr>
            <a:r>
              <a:rPr sz="2000" b="1" i="0" dirty="0">
                <a:solidFill>
                  <a:srgbClr val="000000"/>
                </a:solidFill>
                <a:latin typeface="Calibri"/>
              </a:rPr>
              <a:t>When should you prefer a k-class model over a (k-1)-class model?</a:t>
            </a:r>
          </a:p>
          <a:p>
            <a:pPr algn="l"/>
            <a:r>
              <a:rPr sz="2000" b="0" i="0" dirty="0">
                <a:solidFill>
                  <a:srgbClr val="323232"/>
                </a:solidFill>
                <a:latin typeface="Calibri"/>
              </a:rPr>
              <a:t>•  1. </a:t>
            </a:r>
            <a:r>
              <a:rPr sz="2000" b="0" i="0" u="sng" dirty="0">
                <a:solidFill>
                  <a:srgbClr val="323232"/>
                </a:solidFill>
                <a:latin typeface="Calibri"/>
              </a:rPr>
              <a:t>BIC</a:t>
            </a:r>
            <a:r>
              <a:rPr lang="en-US" sz="2000" b="0" i="0" u="sng" dirty="0">
                <a:solidFill>
                  <a:srgbClr val="323232"/>
                </a:solidFill>
                <a:latin typeface="Calibri"/>
              </a:rPr>
              <a:t>/</a:t>
            </a:r>
            <a:r>
              <a:rPr lang="en-US" sz="2000" b="0" i="0" u="sng" dirty="0" err="1">
                <a:solidFill>
                  <a:srgbClr val="323232"/>
                </a:solidFill>
                <a:latin typeface="Calibri"/>
              </a:rPr>
              <a:t>aBIC</a:t>
            </a:r>
            <a:r>
              <a:rPr lang="en-US" sz="2000" u="sng" dirty="0">
                <a:solidFill>
                  <a:srgbClr val="323232"/>
                </a:solidFill>
                <a:latin typeface="Calibri"/>
              </a:rPr>
              <a:t>/AIC </a:t>
            </a:r>
            <a:r>
              <a:rPr sz="2000" b="0" i="0" u="sng" dirty="0">
                <a:solidFill>
                  <a:srgbClr val="323232"/>
                </a:solidFill>
                <a:latin typeface="Calibri"/>
              </a:rPr>
              <a:t>improves (decreases) with the addition of a class</a:t>
            </a:r>
          </a:p>
          <a:p>
            <a:pPr algn="l"/>
            <a:r>
              <a:rPr sz="2000" b="0" i="0" dirty="0">
                <a:solidFill>
                  <a:srgbClr val="323232"/>
                </a:solidFill>
                <a:latin typeface="Calibri"/>
              </a:rPr>
              <a:t>•  2. LMR or BLRT test is significant (p &lt; .05): the k-class model fits significantly better</a:t>
            </a:r>
            <a:r>
              <a:rPr lang="en-US" sz="2000" b="0" i="0" dirty="0">
                <a:solidFill>
                  <a:srgbClr val="323232"/>
                </a:solidFill>
                <a:latin typeface="Calibri"/>
              </a:rPr>
              <a:t>**</a:t>
            </a:r>
            <a:endParaRPr sz="2000" b="0" i="0" dirty="0">
              <a:solidFill>
                <a:srgbClr val="323232"/>
              </a:solidFill>
              <a:latin typeface="Calibri"/>
            </a:endParaRPr>
          </a:p>
          <a:p>
            <a:pPr algn="l"/>
            <a:r>
              <a:rPr sz="2000" b="0" i="0" dirty="0">
                <a:solidFill>
                  <a:srgbClr val="323232"/>
                </a:solidFill>
                <a:latin typeface="Calibri"/>
              </a:rPr>
              <a:t>•  3. The new class is large enough to be meaningful (&gt; 5% of sample)</a:t>
            </a:r>
          </a:p>
          <a:p>
            <a:pPr algn="l"/>
            <a:r>
              <a:rPr sz="2000" b="0" i="0" dirty="0">
                <a:solidFill>
                  <a:srgbClr val="323232"/>
                </a:solidFill>
                <a:latin typeface="Calibri"/>
              </a:rPr>
              <a:t>•  4. The new class has a distinct, interpretable profile</a:t>
            </a:r>
          </a:p>
          <a:p>
            <a:pPr algn="l"/>
            <a:r>
              <a:rPr sz="2000" b="0" i="0" dirty="0">
                <a:solidFill>
                  <a:srgbClr val="323232"/>
                </a:solidFill>
                <a:latin typeface="Calibri"/>
              </a:rPr>
              <a:t>•  5. Class separation is adequate (entropy &gt; .80 for assigned members)</a:t>
            </a:r>
          </a:p>
          <a:p>
            <a:pPr algn="l"/>
            <a:endParaRPr sz="2000" b="0" i="0" dirty="0">
              <a:solidFill>
                <a:srgbClr val="323232"/>
              </a:solidFill>
              <a:latin typeface="Calibri"/>
            </a:endParaRPr>
          </a:p>
          <a:p>
            <a:pPr algn="l">
              <a:spcBef>
                <a:spcPts val="400"/>
              </a:spcBef>
            </a:pPr>
            <a:r>
              <a:rPr sz="2000" b="1" i="0" dirty="0">
                <a:solidFill>
                  <a:srgbClr val="000000"/>
                </a:solidFill>
                <a:latin typeface="Calibri"/>
              </a:rPr>
              <a:t>When to STOP adding classes:</a:t>
            </a:r>
          </a:p>
          <a:p>
            <a:pPr algn="l"/>
            <a:r>
              <a:rPr sz="2000" b="0" i="0" dirty="0">
                <a:solidFill>
                  <a:srgbClr val="323232"/>
                </a:solidFill>
                <a:latin typeface="Calibri"/>
              </a:rPr>
              <a:t>•  </a:t>
            </a:r>
            <a:r>
              <a:rPr sz="2000" b="1" i="0" dirty="0">
                <a:solidFill>
                  <a:srgbClr val="323232"/>
                </a:solidFill>
                <a:latin typeface="Calibri"/>
              </a:rPr>
              <a:t>BIC starts increasing again </a:t>
            </a:r>
            <a:r>
              <a:rPr sz="2000" b="0" i="0" dirty="0">
                <a:solidFill>
                  <a:srgbClr val="323232"/>
                </a:solidFill>
                <a:latin typeface="Calibri"/>
              </a:rPr>
              <a:t>(adding classes is hurting parsimony more than it helps fit)</a:t>
            </a:r>
          </a:p>
          <a:p>
            <a:pPr algn="l"/>
            <a:r>
              <a:rPr sz="2000" b="0" i="0" dirty="0">
                <a:solidFill>
                  <a:srgbClr val="323232"/>
                </a:solidFill>
                <a:latin typeface="Calibri"/>
              </a:rPr>
              <a:t>•  New classes are very small (&lt; 5%) and hard to interpret</a:t>
            </a:r>
          </a:p>
          <a:p>
            <a:pPr algn="l"/>
            <a:r>
              <a:rPr sz="2000" b="0" i="0" dirty="0">
                <a:solidFill>
                  <a:srgbClr val="323232"/>
                </a:solidFill>
                <a:latin typeface="Calibri"/>
              </a:rPr>
              <a:t>•  Classes only differ on one or two items — not meaningfully distinct</a:t>
            </a:r>
          </a:p>
          <a:p>
            <a:pPr algn="l"/>
            <a:r>
              <a:rPr sz="2000" b="0" i="0" dirty="0">
                <a:solidFill>
                  <a:srgbClr val="323232"/>
                </a:solidFill>
                <a:latin typeface="Calibri"/>
              </a:rPr>
              <a:t>•  LMR/BLRT no longer significant</a:t>
            </a:r>
          </a:p>
          <a:p>
            <a:pPr algn="l"/>
            <a:endParaRPr sz="2000" b="0" i="0" dirty="0">
              <a:solidFill>
                <a:srgbClr val="323232"/>
              </a:solidFill>
              <a:latin typeface="Calibri"/>
            </a:endParaRPr>
          </a:p>
          <a:p>
            <a:pPr algn="l">
              <a:spcBef>
                <a:spcPts val="600"/>
              </a:spcBef>
            </a:pPr>
            <a:r>
              <a:rPr sz="2000" b="1" i="0" dirty="0">
                <a:solidFill>
                  <a:srgbClr val="1F497D"/>
                </a:solidFill>
                <a:latin typeface="Calibri"/>
              </a:rPr>
              <a:t>RULE OF THUMB</a:t>
            </a:r>
          </a:p>
          <a:p>
            <a:pPr algn="l"/>
            <a:r>
              <a:rPr sz="2000" b="0" i="0" dirty="0">
                <a:solidFill>
                  <a:srgbClr val="323232"/>
                </a:solidFill>
                <a:latin typeface="Calibri"/>
              </a:rPr>
              <a:t>In practice: run 1 through 5+ class models, compare BIC in a table, plot the elbow, check the LMR, then choose the model that is both statistically supported AND theoretically interpretable. Statistics inform — they don't decide.</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BA6E9A-9A0F-4EF7-AE94-4239E727B877}"/>
              </a:ext>
            </a:extLst>
          </p:cNvPr>
          <p:cNvSpPr>
            <a:spLocks noGrp="1"/>
          </p:cNvSpPr>
          <p:nvPr>
            <p:ph type="title"/>
          </p:nvPr>
        </p:nvSpPr>
        <p:spPr>
          <a:xfrm>
            <a:off x="162620" y="109716"/>
            <a:ext cx="9688296" cy="685511"/>
          </a:xfrm>
        </p:spPr>
        <p:txBody>
          <a:bodyPr anchor="b">
            <a:normAutofit/>
          </a:bodyPr>
          <a:lstStyle/>
          <a:p>
            <a:pPr algn="l"/>
            <a:r>
              <a:rPr lang="en-US" sz="3600" dirty="0">
                <a:solidFill>
                  <a:srgbClr val="000000"/>
                </a:solidFill>
                <a:latin typeface="Calibri"/>
              </a:rPr>
              <a:t>Entropy</a:t>
            </a:r>
          </a:p>
        </p:txBody>
      </p:sp>
      <p:sp>
        <p:nvSpPr>
          <p:cNvPr id="3" name="Content Placeholder 2">
            <a:extLst>
              <a:ext uri="{FF2B5EF4-FFF2-40B4-BE49-F238E27FC236}">
                <a16:creationId xmlns:a16="http://schemas.microsoft.com/office/drawing/2014/main" id="{B87D8881-21D0-4337-9BEA-4733CADD3D27}"/>
              </a:ext>
            </a:extLst>
          </p:cNvPr>
          <p:cNvSpPr>
            <a:spLocks noGrp="1"/>
          </p:cNvSpPr>
          <p:nvPr>
            <p:ph idx="1"/>
          </p:nvPr>
        </p:nvSpPr>
        <p:spPr>
          <a:xfrm>
            <a:off x="281374" y="795227"/>
            <a:ext cx="9688296" cy="3454358"/>
          </a:xfrm>
        </p:spPr>
        <p:txBody>
          <a:bodyPr anchor="t">
            <a:normAutofit/>
          </a:bodyPr>
          <a:lstStyle/>
          <a:p>
            <a:r>
              <a:rPr lang="en-US" sz="2000" dirty="0"/>
              <a:t>Similar to our classification ‘error’ table from chi-square and logistic regression</a:t>
            </a:r>
          </a:p>
          <a:p>
            <a:r>
              <a:rPr lang="en-US" sz="2000" dirty="0"/>
              <a:t>Measures classification error</a:t>
            </a:r>
          </a:p>
          <a:p>
            <a:r>
              <a:rPr lang="en-US" sz="2000" dirty="0"/>
              <a:t>Ranges between 0 – 1 (1 = perfect classification)</a:t>
            </a:r>
          </a:p>
        </p:txBody>
      </p:sp>
    </p:spTree>
    <p:extLst>
      <p:ext uri="{BB962C8B-B14F-4D97-AF65-F5344CB8AC3E}">
        <p14:creationId xmlns:p14="http://schemas.microsoft.com/office/powerpoint/2010/main" val="320190152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TextBox 3"/>
          <p:cNvSpPr txBox="1"/>
          <p:nvPr/>
        </p:nvSpPr>
        <p:spPr>
          <a:xfrm>
            <a:off x="686394" y="208531"/>
            <a:ext cx="8412480" cy="548640"/>
          </a:xfrm>
          <a:prstGeom prst="rect">
            <a:avLst/>
          </a:prstGeom>
          <a:noFill/>
        </p:spPr>
        <p:txBody>
          <a:bodyPr wrap="square">
            <a:spAutoFit/>
          </a:bodyPr>
          <a:lstStyle/>
          <a:p>
            <a:pPr algn="l"/>
            <a:r>
              <a:rPr sz="2400" b="0" dirty="0">
                <a:solidFill>
                  <a:srgbClr val="000000"/>
                </a:solidFill>
                <a:latin typeface="Calibri"/>
              </a:rPr>
              <a:t>Entropy: A Worked Example</a:t>
            </a:r>
          </a:p>
        </p:txBody>
      </p:sp>
      <p:sp>
        <p:nvSpPr>
          <p:cNvPr id="6" name="TextBox 5"/>
          <p:cNvSpPr txBox="1"/>
          <p:nvPr/>
        </p:nvSpPr>
        <p:spPr>
          <a:xfrm>
            <a:off x="686394" y="757171"/>
            <a:ext cx="10725793" cy="5811847"/>
          </a:xfrm>
          <a:prstGeom prst="rect">
            <a:avLst/>
          </a:prstGeom>
          <a:noFill/>
        </p:spPr>
        <p:txBody>
          <a:bodyPr wrap="square">
            <a:spAutoFit/>
          </a:bodyPr>
          <a:lstStyle/>
          <a:p>
            <a:pPr algn="l">
              <a:spcBef>
                <a:spcPts val="800"/>
              </a:spcBef>
            </a:pPr>
            <a:r>
              <a:rPr sz="2000" b="1" i="0" dirty="0">
                <a:solidFill>
                  <a:srgbClr val="000000"/>
                </a:solidFill>
                <a:latin typeface="Calibri"/>
              </a:rPr>
              <a:t>Entropy formula (conceptual): based on how certain the model is about each person's class.</a:t>
            </a:r>
          </a:p>
          <a:p>
            <a:pPr algn="l"/>
            <a:r>
              <a:rPr sz="2000" b="0" i="0" dirty="0">
                <a:solidFill>
                  <a:srgbClr val="323232"/>
                </a:solidFill>
                <a:latin typeface="Calibri"/>
              </a:rPr>
              <a:t>Entropy = 1 − [average uncertainty across all people and classes]</a:t>
            </a:r>
          </a:p>
          <a:p>
            <a:pPr algn="l"/>
            <a:endParaRPr sz="2000" b="0" i="0" dirty="0">
              <a:solidFill>
                <a:srgbClr val="323232"/>
              </a:solidFill>
              <a:latin typeface="Calibri"/>
            </a:endParaRPr>
          </a:p>
          <a:p>
            <a:pPr algn="l">
              <a:spcBef>
                <a:spcPts val="400"/>
              </a:spcBef>
            </a:pPr>
            <a:r>
              <a:rPr sz="2000" b="1" i="0" dirty="0">
                <a:solidFill>
                  <a:srgbClr val="000000"/>
                </a:solidFill>
                <a:latin typeface="Calibri"/>
              </a:rPr>
              <a:t>Three scenarios:</a:t>
            </a:r>
          </a:p>
          <a:p>
            <a:pPr algn="l"/>
            <a:r>
              <a:rPr sz="2000" b="0" i="0" dirty="0">
                <a:solidFill>
                  <a:srgbClr val="323232"/>
                </a:solidFill>
                <a:latin typeface="Calibri"/>
              </a:rPr>
              <a:t>•  Person A: P(C1) = 0.97, P(C2) = 0.02, P(C3) = 0.01 → near certain → HIGH ENTROPY contribution</a:t>
            </a:r>
          </a:p>
          <a:p>
            <a:pPr algn="l"/>
            <a:r>
              <a:rPr sz="2000" b="0" i="0" dirty="0">
                <a:solidFill>
                  <a:srgbClr val="323232"/>
                </a:solidFill>
                <a:latin typeface="Calibri"/>
              </a:rPr>
              <a:t>•  Person B: P(C1) = 0.50, P(C2) = 0.48, P(C3) = 0.02 → very uncertain → LOW ENTROPY contribution</a:t>
            </a:r>
          </a:p>
          <a:p>
            <a:pPr algn="l"/>
            <a:r>
              <a:rPr sz="2000" b="0" i="0" dirty="0">
                <a:solidFill>
                  <a:srgbClr val="323232"/>
                </a:solidFill>
                <a:latin typeface="Calibri"/>
              </a:rPr>
              <a:t>•  Person C: P(C1) = 0.33, P(C2) = 0.33, P(C3) = 0.33 → maximally uncertain → ZERO ENTROPY contribution</a:t>
            </a:r>
          </a:p>
          <a:p>
            <a:pPr algn="l"/>
            <a:endParaRPr sz="2000" b="0" i="0" dirty="0">
              <a:solidFill>
                <a:srgbClr val="323232"/>
              </a:solidFill>
              <a:latin typeface="Calibri"/>
            </a:endParaRPr>
          </a:p>
          <a:p>
            <a:pPr algn="l">
              <a:spcBef>
                <a:spcPts val="400"/>
              </a:spcBef>
            </a:pPr>
            <a:r>
              <a:rPr sz="2000" b="1" i="0" dirty="0">
                <a:solidFill>
                  <a:srgbClr val="000000"/>
                </a:solidFill>
                <a:latin typeface="Calibri"/>
              </a:rPr>
              <a:t>Interpreting entropy for your model:</a:t>
            </a:r>
          </a:p>
          <a:p>
            <a:pPr algn="l"/>
            <a:r>
              <a:rPr sz="2000" b="0" i="0" dirty="0">
                <a:solidFill>
                  <a:srgbClr val="323232"/>
                </a:solidFill>
                <a:latin typeface="Calibri"/>
              </a:rPr>
              <a:t>Entropy = 0.85 → 85% of maximum possible certainty → 'Good' separation</a:t>
            </a:r>
          </a:p>
          <a:p>
            <a:pPr algn="l"/>
            <a:r>
              <a:rPr sz="2000" b="0" i="0" dirty="0">
                <a:solidFill>
                  <a:srgbClr val="323232"/>
                </a:solidFill>
                <a:latin typeface="Calibri"/>
              </a:rPr>
              <a:t>Entropy = 0.65 → Classes overlap a lot → Classes may not be distinct enough</a:t>
            </a:r>
          </a:p>
          <a:p>
            <a:pPr algn="l"/>
            <a:r>
              <a:rPr sz="2000" b="0" i="0" dirty="0">
                <a:solidFill>
                  <a:srgbClr val="323232"/>
                </a:solidFill>
                <a:latin typeface="Calibri"/>
              </a:rPr>
              <a:t>Entropy = 0.40 → Most people have similar probabilities for all classes → Rethink the model</a:t>
            </a:r>
          </a:p>
          <a:p>
            <a:pPr algn="l"/>
            <a:endParaRPr sz="2000" b="0" i="0" dirty="0">
              <a:solidFill>
                <a:srgbClr val="323232"/>
              </a:solidFill>
              <a:latin typeface="Calibri"/>
            </a:endParaRPr>
          </a:p>
          <a:p>
            <a:pPr algn="l">
              <a:spcBef>
                <a:spcPts val="600"/>
              </a:spcBef>
            </a:pPr>
            <a:r>
              <a:rPr sz="2000" b="1" i="0" dirty="0">
                <a:solidFill>
                  <a:srgbClr val="1F497D"/>
                </a:solidFill>
                <a:latin typeface="Calibri"/>
              </a:rPr>
              <a:t>PRACTICAL NOTE</a:t>
            </a:r>
          </a:p>
          <a:p>
            <a:pPr algn="l"/>
            <a:r>
              <a:rPr sz="2000" b="0" i="0" dirty="0">
                <a:solidFill>
                  <a:srgbClr val="323232"/>
                </a:solidFill>
                <a:latin typeface="Calibri"/>
              </a:rPr>
              <a:t>Entropy is reported but should NOT be the primary basis for selecting the number of classes. A low-entropy 3-class model can still be preferred if BIC supports it and the classes are theoretically meaningful.</a:t>
            </a:r>
            <a:r>
              <a:rPr lang="en-US" sz="2000" b="0" i="0" dirty="0">
                <a:solidFill>
                  <a:srgbClr val="323232"/>
                </a:solidFill>
                <a:latin typeface="Calibri"/>
              </a:rPr>
              <a:t> </a:t>
            </a:r>
            <a:r>
              <a:rPr lang="en-US" sz="2000" b="1" i="0" u="sng" dirty="0">
                <a:solidFill>
                  <a:srgbClr val="323232"/>
                </a:solidFill>
                <a:latin typeface="Calibri"/>
              </a:rPr>
              <a:t>Entropy is technically not a ‘fit statistic’</a:t>
            </a:r>
            <a:endParaRPr sz="2000" b="0" i="0" dirty="0">
              <a:solidFill>
                <a:srgbClr val="323232"/>
              </a:solidFill>
              <a:latin typeface="Calibri"/>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50C2D1-0CF3-41E0-A4DB-F511725B19B7}"/>
              </a:ext>
            </a:extLst>
          </p:cNvPr>
          <p:cNvSpPr>
            <a:spLocks noGrp="1"/>
          </p:cNvSpPr>
          <p:nvPr>
            <p:ph type="title"/>
          </p:nvPr>
        </p:nvSpPr>
        <p:spPr>
          <a:xfrm>
            <a:off x="245748" y="110136"/>
            <a:ext cx="9688296" cy="721137"/>
          </a:xfrm>
        </p:spPr>
        <p:txBody>
          <a:bodyPr anchor="b">
            <a:normAutofit/>
          </a:bodyPr>
          <a:lstStyle/>
          <a:p>
            <a:pPr algn="l"/>
            <a:r>
              <a:rPr lang="en-US" sz="3600" dirty="0">
                <a:solidFill>
                  <a:srgbClr val="000000"/>
                </a:solidFill>
                <a:latin typeface="Calibri"/>
              </a:rPr>
              <a:t>Information Criterion Statistics</a:t>
            </a:r>
          </a:p>
        </p:txBody>
      </p:sp>
      <p:sp>
        <p:nvSpPr>
          <p:cNvPr id="3" name="Content Placeholder 2">
            <a:extLst>
              <a:ext uri="{FF2B5EF4-FFF2-40B4-BE49-F238E27FC236}">
                <a16:creationId xmlns:a16="http://schemas.microsoft.com/office/drawing/2014/main" id="{7971A87A-CFAC-4E08-A8BA-E18E09693D29}"/>
              </a:ext>
            </a:extLst>
          </p:cNvPr>
          <p:cNvSpPr>
            <a:spLocks noGrp="1"/>
          </p:cNvSpPr>
          <p:nvPr>
            <p:ph idx="1"/>
          </p:nvPr>
        </p:nvSpPr>
        <p:spPr>
          <a:xfrm>
            <a:off x="388252" y="831273"/>
            <a:ext cx="9688296" cy="3454358"/>
          </a:xfrm>
        </p:spPr>
        <p:txBody>
          <a:bodyPr anchor="t">
            <a:normAutofit/>
          </a:bodyPr>
          <a:lstStyle/>
          <a:p>
            <a:r>
              <a:rPr lang="en-US" sz="2000" dirty="0"/>
              <a:t>AIC: -2LL + 2s</a:t>
            </a:r>
          </a:p>
          <a:p>
            <a:r>
              <a:rPr lang="en-US" sz="2000" dirty="0"/>
              <a:t>BIC = -2LL + s*log(N)</a:t>
            </a:r>
          </a:p>
          <a:p>
            <a:pPr marL="0" indent="0">
              <a:buNone/>
            </a:pPr>
            <a:endParaRPr lang="en-US" sz="2000" dirty="0"/>
          </a:p>
          <a:p>
            <a:pPr marL="0" indent="0">
              <a:buNone/>
            </a:pPr>
            <a:r>
              <a:rPr lang="en-US" sz="2000" dirty="0"/>
              <a:t>where s = # of parameters, N = sample size</a:t>
            </a:r>
          </a:p>
          <a:p>
            <a:pPr marL="0" indent="0">
              <a:buNone/>
            </a:pPr>
            <a:r>
              <a:rPr lang="en-US" sz="2000" dirty="0"/>
              <a:t>Here, as in </a:t>
            </a:r>
            <a:r>
              <a:rPr lang="en-US" sz="2000" b="1" u="sng" dirty="0"/>
              <a:t>all SEM models</a:t>
            </a:r>
            <a:r>
              <a:rPr lang="en-US" sz="2000" dirty="0"/>
              <a:t>, smaller values are better</a:t>
            </a:r>
          </a:p>
          <a:p>
            <a:pPr marL="0" indent="0">
              <a:buNone/>
            </a:pPr>
            <a:r>
              <a:rPr lang="en-US" sz="2000" dirty="0"/>
              <a:t>BIC is typically preferred</a:t>
            </a:r>
          </a:p>
          <a:p>
            <a:pPr marL="0" indent="0">
              <a:buNone/>
            </a:pPr>
            <a:endParaRPr lang="en-US" sz="2000" dirty="0"/>
          </a:p>
          <a:p>
            <a:pPr marL="0" indent="0">
              <a:buNone/>
            </a:pPr>
            <a:r>
              <a:rPr lang="en-US" sz="2000" dirty="0"/>
              <a:t>In LVM, the BIC statistic is the gold standard</a:t>
            </a:r>
          </a:p>
        </p:txBody>
      </p:sp>
    </p:spTree>
    <p:extLst>
      <p:ext uri="{BB962C8B-B14F-4D97-AF65-F5344CB8AC3E}">
        <p14:creationId xmlns:p14="http://schemas.microsoft.com/office/powerpoint/2010/main" val="241607639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TextBox 3"/>
          <p:cNvSpPr txBox="1"/>
          <p:nvPr/>
        </p:nvSpPr>
        <p:spPr>
          <a:xfrm>
            <a:off x="769521" y="128254"/>
            <a:ext cx="8412480" cy="646331"/>
          </a:xfrm>
          <a:prstGeom prst="rect">
            <a:avLst/>
          </a:prstGeom>
          <a:noFill/>
        </p:spPr>
        <p:txBody>
          <a:bodyPr wrap="square">
            <a:spAutoFit/>
          </a:bodyPr>
          <a:lstStyle/>
          <a:p>
            <a:pPr algn="l"/>
            <a:r>
              <a:rPr sz="3600" b="0" dirty="0">
                <a:solidFill>
                  <a:srgbClr val="000000"/>
                </a:solidFill>
                <a:latin typeface="Calibri"/>
              </a:rPr>
              <a:t>BIC and AIC: Intuition and Formulas</a:t>
            </a:r>
          </a:p>
        </p:txBody>
      </p:sp>
      <p:sp>
        <p:nvSpPr>
          <p:cNvPr id="6" name="TextBox 5"/>
          <p:cNvSpPr txBox="1"/>
          <p:nvPr/>
        </p:nvSpPr>
        <p:spPr>
          <a:xfrm>
            <a:off x="769520" y="938151"/>
            <a:ext cx="10618915" cy="4503797"/>
          </a:xfrm>
          <a:prstGeom prst="rect">
            <a:avLst/>
          </a:prstGeom>
          <a:noFill/>
        </p:spPr>
        <p:txBody>
          <a:bodyPr wrap="square">
            <a:spAutoFit/>
          </a:bodyPr>
          <a:lstStyle/>
          <a:p>
            <a:pPr algn="l">
              <a:spcBef>
                <a:spcPts val="800"/>
              </a:spcBef>
            </a:pPr>
            <a:r>
              <a:rPr sz="2000" b="1" i="0" dirty="0">
                <a:solidFill>
                  <a:srgbClr val="000000"/>
                </a:solidFill>
                <a:latin typeface="Calibri"/>
              </a:rPr>
              <a:t>Information criteria balance FIT vs PARSIMONY.</a:t>
            </a:r>
          </a:p>
          <a:p>
            <a:pPr algn="l"/>
            <a:r>
              <a:rPr sz="2000" b="0" i="0" dirty="0">
                <a:solidFill>
                  <a:srgbClr val="323232"/>
                </a:solidFill>
                <a:latin typeface="Calibri"/>
              </a:rPr>
              <a:t>AIC = −2 × log-likelihood + 2 × (number of parameters)</a:t>
            </a:r>
          </a:p>
          <a:p>
            <a:pPr algn="l"/>
            <a:r>
              <a:rPr sz="2000" b="0" i="0" dirty="0">
                <a:solidFill>
                  <a:srgbClr val="323232"/>
                </a:solidFill>
                <a:latin typeface="Calibri"/>
              </a:rPr>
              <a:t>BIC = −2 × log-likelihood + ln(N) × (number of parameters)</a:t>
            </a:r>
          </a:p>
          <a:p>
            <a:pPr algn="l"/>
            <a:endParaRPr sz="2000" b="0" i="0" dirty="0">
              <a:solidFill>
                <a:srgbClr val="323232"/>
              </a:solidFill>
              <a:latin typeface="Calibri"/>
            </a:endParaRPr>
          </a:p>
          <a:p>
            <a:pPr algn="l">
              <a:spcBef>
                <a:spcPts val="400"/>
              </a:spcBef>
            </a:pPr>
            <a:r>
              <a:rPr sz="2000" b="1" i="0" dirty="0">
                <a:solidFill>
                  <a:srgbClr val="000000"/>
                </a:solidFill>
                <a:latin typeface="Calibri"/>
              </a:rPr>
              <a:t>Interpretation:</a:t>
            </a:r>
          </a:p>
          <a:p>
            <a:pPr algn="l"/>
            <a:r>
              <a:rPr sz="2000" b="0" i="0" dirty="0">
                <a:solidFill>
                  <a:srgbClr val="323232"/>
                </a:solidFill>
                <a:latin typeface="Calibri"/>
              </a:rPr>
              <a:t>•  −2LL: How well does the model fit? Smaller (more negative) = better fit</a:t>
            </a:r>
          </a:p>
          <a:p>
            <a:pPr algn="l"/>
            <a:r>
              <a:rPr sz="2000" b="0" i="0" dirty="0">
                <a:solidFill>
                  <a:srgbClr val="323232"/>
                </a:solidFill>
                <a:latin typeface="Calibri"/>
              </a:rPr>
              <a:t>•  Penalty term: How complex is the model? More parameters = larger penalty</a:t>
            </a:r>
          </a:p>
          <a:p>
            <a:pPr algn="l"/>
            <a:r>
              <a:rPr sz="2000" b="0" i="0" dirty="0">
                <a:solidFill>
                  <a:srgbClr val="323232"/>
                </a:solidFill>
                <a:latin typeface="Calibri"/>
              </a:rPr>
              <a:t>•  Adding a class improves fit (−2LL decreases) but also adds parameters (penalty increases)</a:t>
            </a:r>
          </a:p>
          <a:p>
            <a:pPr algn="l"/>
            <a:r>
              <a:rPr sz="2000" b="0" i="0" dirty="0">
                <a:solidFill>
                  <a:srgbClr val="323232"/>
                </a:solidFill>
                <a:latin typeface="Calibri"/>
              </a:rPr>
              <a:t>•  The best model has the LOWEST BIC/AIC — it's the best trade-off</a:t>
            </a:r>
          </a:p>
          <a:p>
            <a:pPr algn="l"/>
            <a:endParaRPr sz="2000" b="0" i="0" dirty="0">
              <a:solidFill>
                <a:srgbClr val="323232"/>
              </a:solidFill>
              <a:latin typeface="Calibri"/>
            </a:endParaRPr>
          </a:p>
          <a:p>
            <a:pPr algn="l">
              <a:spcBef>
                <a:spcPts val="400"/>
              </a:spcBef>
            </a:pPr>
            <a:r>
              <a:rPr sz="2000" b="1" i="0" dirty="0">
                <a:solidFill>
                  <a:srgbClr val="000000"/>
                </a:solidFill>
                <a:latin typeface="Calibri"/>
              </a:rPr>
              <a:t>Why BIC is preferred in LCA:</a:t>
            </a:r>
          </a:p>
          <a:p>
            <a:pPr algn="l"/>
            <a:r>
              <a:rPr sz="2000" b="0" i="0" dirty="0">
                <a:solidFill>
                  <a:srgbClr val="323232"/>
                </a:solidFill>
                <a:latin typeface="Calibri"/>
              </a:rPr>
              <a:t>•  AIC tends to OVERFIT — it selects too many classes in large samples</a:t>
            </a:r>
          </a:p>
          <a:p>
            <a:pPr algn="l"/>
            <a:r>
              <a:rPr sz="2000" b="0" i="0" dirty="0">
                <a:solidFill>
                  <a:srgbClr val="323232"/>
                </a:solidFill>
                <a:latin typeface="Calibri"/>
              </a:rPr>
              <a:t>•  BIC's penalty grows with sample size, making it more conservative</a:t>
            </a:r>
          </a:p>
          <a:p>
            <a:pPr algn="l"/>
            <a:r>
              <a:rPr sz="2000" b="0" i="0" dirty="0">
                <a:solidFill>
                  <a:srgbClr val="323232"/>
                </a:solidFill>
                <a:latin typeface="Calibri"/>
              </a:rPr>
              <a:t>•  Simulation studies show BIC more accurately recovers the true number of classes</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TextBox 3"/>
          <p:cNvSpPr txBox="1"/>
          <p:nvPr/>
        </p:nvSpPr>
        <p:spPr>
          <a:xfrm>
            <a:off x="674519" y="0"/>
            <a:ext cx="8412480" cy="707886"/>
          </a:xfrm>
          <a:prstGeom prst="rect">
            <a:avLst/>
          </a:prstGeom>
          <a:noFill/>
        </p:spPr>
        <p:txBody>
          <a:bodyPr wrap="square">
            <a:spAutoFit/>
          </a:bodyPr>
          <a:lstStyle/>
          <a:p>
            <a:pPr algn="l"/>
            <a:r>
              <a:rPr sz="4000" b="0" dirty="0">
                <a:solidFill>
                  <a:srgbClr val="000000"/>
                </a:solidFill>
                <a:latin typeface="Calibri"/>
              </a:rPr>
              <a:t>AIC and BIC: The Elbow Plot</a:t>
            </a:r>
          </a:p>
        </p:txBody>
      </p:sp>
      <p:sp>
        <p:nvSpPr>
          <p:cNvPr id="6" name="TextBox 5"/>
          <p:cNvSpPr txBox="1"/>
          <p:nvPr/>
        </p:nvSpPr>
        <p:spPr>
          <a:xfrm>
            <a:off x="780605" y="707886"/>
            <a:ext cx="11189722" cy="2554545"/>
          </a:xfrm>
          <a:prstGeom prst="rect">
            <a:avLst/>
          </a:prstGeom>
          <a:noFill/>
        </p:spPr>
        <p:txBody>
          <a:bodyPr wrap="square">
            <a:spAutoFit/>
          </a:bodyPr>
          <a:lstStyle/>
          <a:p>
            <a:pPr algn="l">
              <a:spcBef>
                <a:spcPts val="800"/>
              </a:spcBef>
            </a:pPr>
            <a:r>
              <a:rPr sz="2000" b="1" i="0" dirty="0">
                <a:solidFill>
                  <a:srgbClr val="000000"/>
                </a:solidFill>
                <a:latin typeface="Calibri"/>
              </a:rPr>
              <a:t>One practical way to choose the number of classes: the elbow plot.</a:t>
            </a:r>
          </a:p>
          <a:p>
            <a:pPr algn="l"/>
            <a:endParaRPr sz="2000" b="1" i="0" dirty="0">
              <a:solidFill>
                <a:srgbClr val="000000"/>
              </a:solidFill>
              <a:latin typeface="Calibri"/>
            </a:endParaRPr>
          </a:p>
          <a:p>
            <a:pPr algn="l"/>
            <a:r>
              <a:rPr sz="2000" b="0" i="0" dirty="0">
                <a:solidFill>
                  <a:srgbClr val="323232"/>
                </a:solidFill>
                <a:latin typeface="Calibri"/>
              </a:rPr>
              <a:t>Plot AIC (or BIC) on the y-axis, number of classes on the x-axis.</a:t>
            </a:r>
          </a:p>
          <a:p>
            <a:pPr algn="l"/>
            <a:endParaRPr sz="2000" b="0" i="0" dirty="0">
              <a:solidFill>
                <a:srgbClr val="323232"/>
              </a:solidFill>
              <a:latin typeface="Calibri"/>
            </a:endParaRPr>
          </a:p>
          <a:p>
            <a:pPr algn="l"/>
            <a:r>
              <a:rPr sz="2000" b="0" i="0" dirty="0">
                <a:solidFill>
                  <a:srgbClr val="323232"/>
                </a:solidFill>
                <a:latin typeface="Calibri"/>
              </a:rPr>
              <a:t>Typical pattern:</a:t>
            </a:r>
          </a:p>
          <a:p>
            <a:pPr algn="l"/>
            <a:r>
              <a:rPr sz="2000" b="0" i="0" dirty="0">
                <a:solidFill>
                  <a:srgbClr val="323232"/>
                </a:solidFill>
                <a:latin typeface="Calibri"/>
              </a:rPr>
              <a:t>•  Fit improves sharply as you go from 1 → 2 → 3 classes</a:t>
            </a:r>
          </a:p>
          <a:p>
            <a:pPr algn="l"/>
            <a:r>
              <a:rPr sz="2000" b="0" i="0" dirty="0">
                <a:solidFill>
                  <a:srgbClr val="323232"/>
                </a:solidFill>
                <a:latin typeface="Calibri"/>
              </a:rPr>
              <a:t>•  Improvement flattens out after some point — the 'elbow'</a:t>
            </a:r>
          </a:p>
          <a:p>
            <a:pPr algn="l"/>
            <a:r>
              <a:rPr sz="2000" b="0" i="0" dirty="0">
                <a:solidFill>
                  <a:srgbClr val="323232"/>
                </a:solidFill>
                <a:latin typeface="Calibri"/>
              </a:rPr>
              <a:t>•  After the elbow, adding classes gives diminishing returns</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991826-2A76-436D-8E4A-2A9CDD1BB3B5}"/>
              </a:ext>
            </a:extLst>
          </p:cNvPr>
          <p:cNvSpPr>
            <a:spLocks noGrp="1"/>
          </p:cNvSpPr>
          <p:nvPr>
            <p:ph type="title"/>
          </p:nvPr>
        </p:nvSpPr>
        <p:spPr/>
        <p:txBody>
          <a:bodyPr/>
          <a:lstStyle/>
          <a:p>
            <a:pPr algn="l"/>
            <a:r>
              <a:rPr lang="en-US" dirty="0">
                <a:solidFill>
                  <a:srgbClr val="000000"/>
                </a:solidFill>
                <a:latin typeface="Calibri"/>
              </a:rPr>
              <a:t>Model fit Comparisons</a:t>
            </a:r>
          </a:p>
        </p:txBody>
      </p:sp>
      <p:graphicFrame>
        <p:nvGraphicFramePr>
          <p:cNvPr id="4" name="Table 4">
            <a:extLst>
              <a:ext uri="{FF2B5EF4-FFF2-40B4-BE49-F238E27FC236}">
                <a16:creationId xmlns:a16="http://schemas.microsoft.com/office/drawing/2014/main" id="{479472C7-1F8A-41A0-B119-8E3C2ED1607B}"/>
              </a:ext>
            </a:extLst>
          </p:cNvPr>
          <p:cNvGraphicFramePr>
            <a:graphicFrameLocks noGrp="1"/>
          </p:cNvGraphicFramePr>
          <p:nvPr>
            <p:ph idx="1"/>
          </p:nvPr>
        </p:nvGraphicFramePr>
        <p:xfrm>
          <a:off x="838200" y="1825625"/>
          <a:ext cx="10515600" cy="2966720"/>
        </p:xfrm>
        <a:graphic>
          <a:graphicData uri="http://schemas.openxmlformats.org/drawingml/2006/table">
            <a:tbl>
              <a:tblPr firstRow="1" bandRow="1">
                <a:tableStyleId>{5C22544A-7EE6-4342-B048-85BDC9FD1C3A}</a:tableStyleId>
              </a:tblPr>
              <a:tblGrid>
                <a:gridCol w="1752600">
                  <a:extLst>
                    <a:ext uri="{9D8B030D-6E8A-4147-A177-3AD203B41FA5}">
                      <a16:colId xmlns:a16="http://schemas.microsoft.com/office/drawing/2014/main" val="2184434629"/>
                    </a:ext>
                  </a:extLst>
                </a:gridCol>
                <a:gridCol w="1752600">
                  <a:extLst>
                    <a:ext uri="{9D8B030D-6E8A-4147-A177-3AD203B41FA5}">
                      <a16:colId xmlns:a16="http://schemas.microsoft.com/office/drawing/2014/main" val="1967726023"/>
                    </a:ext>
                  </a:extLst>
                </a:gridCol>
                <a:gridCol w="1752600">
                  <a:extLst>
                    <a:ext uri="{9D8B030D-6E8A-4147-A177-3AD203B41FA5}">
                      <a16:colId xmlns:a16="http://schemas.microsoft.com/office/drawing/2014/main" val="2423713324"/>
                    </a:ext>
                  </a:extLst>
                </a:gridCol>
                <a:gridCol w="1752600">
                  <a:extLst>
                    <a:ext uri="{9D8B030D-6E8A-4147-A177-3AD203B41FA5}">
                      <a16:colId xmlns:a16="http://schemas.microsoft.com/office/drawing/2014/main" val="4181898191"/>
                    </a:ext>
                  </a:extLst>
                </a:gridCol>
                <a:gridCol w="1752600">
                  <a:extLst>
                    <a:ext uri="{9D8B030D-6E8A-4147-A177-3AD203B41FA5}">
                      <a16:colId xmlns:a16="http://schemas.microsoft.com/office/drawing/2014/main" val="1346649596"/>
                    </a:ext>
                  </a:extLst>
                </a:gridCol>
                <a:gridCol w="1752600">
                  <a:extLst>
                    <a:ext uri="{9D8B030D-6E8A-4147-A177-3AD203B41FA5}">
                      <a16:colId xmlns:a16="http://schemas.microsoft.com/office/drawing/2014/main" val="1885914690"/>
                    </a:ext>
                  </a:extLst>
                </a:gridCol>
              </a:tblGrid>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955881513"/>
                  </a:ext>
                </a:extLst>
              </a:tr>
              <a:tr h="370840">
                <a:tc>
                  <a:txBody>
                    <a:bodyPr/>
                    <a:lstStyle/>
                    <a:p>
                      <a:endParaRPr lang="en-US"/>
                    </a:p>
                  </a:txBody>
                  <a:tcPr/>
                </a:tc>
                <a:tc>
                  <a:txBody>
                    <a:bodyPr/>
                    <a:lstStyle/>
                    <a:p>
                      <a:r>
                        <a:rPr lang="en-US" dirty="0"/>
                        <a:t>L2</a:t>
                      </a:r>
                    </a:p>
                  </a:txBody>
                  <a:tcPr/>
                </a:tc>
                <a:tc>
                  <a:txBody>
                    <a:bodyPr/>
                    <a:lstStyle/>
                    <a:p>
                      <a:r>
                        <a:rPr lang="en-US" dirty="0"/>
                        <a:t>BIC</a:t>
                      </a:r>
                    </a:p>
                  </a:txBody>
                  <a:tcPr/>
                </a:tc>
                <a:tc>
                  <a:txBody>
                    <a:bodyPr/>
                    <a:lstStyle/>
                    <a:p>
                      <a:r>
                        <a:rPr lang="en-US" dirty="0"/>
                        <a:t>AIC</a:t>
                      </a:r>
                    </a:p>
                  </a:txBody>
                  <a:tcPr/>
                </a:tc>
                <a:tc>
                  <a:txBody>
                    <a:bodyPr/>
                    <a:lstStyle/>
                    <a:p>
                      <a:r>
                        <a:rPr lang="en-US" dirty="0"/>
                        <a:t>df</a:t>
                      </a:r>
                    </a:p>
                  </a:txBody>
                  <a:tcPr/>
                </a:tc>
                <a:tc>
                  <a:txBody>
                    <a:bodyPr/>
                    <a:lstStyle/>
                    <a:p>
                      <a:r>
                        <a:rPr lang="en-US" dirty="0"/>
                        <a:t>P-value</a:t>
                      </a:r>
                    </a:p>
                  </a:txBody>
                  <a:tcPr/>
                </a:tc>
                <a:extLst>
                  <a:ext uri="{0D108BD9-81ED-4DB2-BD59-A6C34878D82A}">
                    <a16:rowId xmlns:a16="http://schemas.microsoft.com/office/drawing/2014/main" val="2185599783"/>
                  </a:ext>
                </a:extLst>
              </a:tr>
              <a:tr h="370840">
                <a:tc>
                  <a:txBody>
                    <a:bodyPr/>
                    <a:lstStyle/>
                    <a:p>
                      <a:r>
                        <a:rPr lang="en-US" dirty="0"/>
                        <a:t>1-C</a:t>
                      </a:r>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201330266"/>
                  </a:ext>
                </a:extLst>
              </a:tr>
              <a:tr h="370840">
                <a:tc>
                  <a:txBody>
                    <a:bodyPr/>
                    <a:lstStyle/>
                    <a:p>
                      <a:r>
                        <a:rPr lang="en-US" dirty="0"/>
                        <a:t>2-C</a:t>
                      </a:r>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054836103"/>
                  </a:ext>
                </a:extLst>
              </a:tr>
              <a:tr h="370840">
                <a:tc>
                  <a:txBody>
                    <a:bodyPr/>
                    <a:lstStyle/>
                    <a:p>
                      <a:r>
                        <a:rPr lang="en-US" dirty="0"/>
                        <a:t>3-C</a:t>
                      </a:r>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87801383"/>
                  </a:ext>
                </a:extLst>
              </a:tr>
              <a:tr h="370840">
                <a:tc>
                  <a:txBody>
                    <a:bodyPr/>
                    <a:lstStyle/>
                    <a:p>
                      <a:r>
                        <a:rPr lang="en-US" dirty="0"/>
                        <a:t>4-C</a:t>
                      </a:r>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189040690"/>
                  </a:ext>
                </a:extLst>
              </a:tr>
              <a:tr h="370840">
                <a:tc>
                  <a:txBody>
                    <a:bodyPr/>
                    <a:lstStyle/>
                    <a:p>
                      <a:r>
                        <a:rPr lang="en-US" dirty="0"/>
                        <a:t>5-C</a:t>
                      </a:r>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615406543"/>
                  </a:ext>
                </a:extLst>
              </a:tr>
              <a:tr h="370840">
                <a:tc>
                  <a:txBody>
                    <a:bodyPr/>
                    <a:lstStyle/>
                    <a:p>
                      <a:r>
                        <a:rPr lang="en-US" dirty="0"/>
                        <a:t>6-C</a:t>
                      </a:r>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615001380"/>
                  </a:ext>
                </a:extLst>
              </a:tr>
            </a:tbl>
          </a:graphicData>
        </a:graphic>
      </p:graphicFrame>
      <p:sp>
        <p:nvSpPr>
          <p:cNvPr id="5" name="TextBox 4">
            <a:extLst>
              <a:ext uri="{FF2B5EF4-FFF2-40B4-BE49-F238E27FC236}">
                <a16:creationId xmlns:a16="http://schemas.microsoft.com/office/drawing/2014/main" id="{D5E81683-B008-40D0-BB08-1CCA35011E9C}"/>
              </a:ext>
            </a:extLst>
          </p:cNvPr>
          <p:cNvSpPr txBox="1"/>
          <p:nvPr/>
        </p:nvSpPr>
        <p:spPr>
          <a:xfrm>
            <a:off x="1574157" y="5660020"/>
            <a:ext cx="610327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Note: Can make elbow plot of AIC/BIC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etc</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to show lowest value</a:t>
            </a:r>
          </a:p>
        </p:txBody>
      </p:sp>
      <p:sp>
        <p:nvSpPr>
          <p:cNvPr id="6" name="Rectangle 5"/>
          <p:cNvSpPr/>
          <p:nvPr/>
        </p:nvSpPr>
        <p:spPr>
          <a:xfrm>
            <a:off x="365760" y="228600"/>
            <a:ext cx="8412480" cy="0"/>
          </a:xfrm>
          <a:prstGeom prst="rect">
            <a:avLst/>
          </a:prstGeom>
          <a:noFill/>
          <a:ln w="19050">
            <a:solidFill>
              <a:srgbClr val="B4B4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65760" y="4892040"/>
            <a:ext cx="8412480" cy="0"/>
          </a:xfrm>
          <a:prstGeom prst="rect">
            <a:avLst/>
          </a:prstGeom>
          <a:noFill/>
          <a:ln w="19050">
            <a:solidFill>
              <a:srgbClr val="B4B4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44778882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TextBox 3"/>
          <p:cNvSpPr txBox="1"/>
          <p:nvPr/>
        </p:nvSpPr>
        <p:spPr>
          <a:xfrm>
            <a:off x="572786" y="0"/>
            <a:ext cx="11046427" cy="707886"/>
          </a:xfrm>
          <a:prstGeom prst="rect">
            <a:avLst/>
          </a:prstGeom>
          <a:noFill/>
        </p:spPr>
        <p:txBody>
          <a:bodyPr wrap="square">
            <a:spAutoFit/>
          </a:bodyPr>
          <a:lstStyle/>
          <a:p>
            <a:pPr algn="l"/>
            <a:r>
              <a:rPr sz="4000" b="0" dirty="0">
                <a:solidFill>
                  <a:srgbClr val="000000"/>
                </a:solidFill>
                <a:latin typeface="Calibri"/>
              </a:rPr>
              <a:t>Selecting Classes: Putting All Criteria Together</a:t>
            </a:r>
          </a:p>
        </p:txBody>
      </p:sp>
      <p:sp>
        <p:nvSpPr>
          <p:cNvPr id="6" name="TextBox 5"/>
          <p:cNvSpPr txBox="1"/>
          <p:nvPr/>
        </p:nvSpPr>
        <p:spPr>
          <a:xfrm>
            <a:off x="757646" y="960120"/>
            <a:ext cx="10713918" cy="1323439"/>
          </a:xfrm>
          <a:prstGeom prst="rect">
            <a:avLst/>
          </a:prstGeom>
          <a:noFill/>
        </p:spPr>
        <p:txBody>
          <a:bodyPr wrap="square">
            <a:spAutoFit/>
          </a:bodyPr>
          <a:lstStyle/>
          <a:p>
            <a:pPr algn="l">
              <a:spcBef>
                <a:spcPts val="800"/>
              </a:spcBef>
            </a:pPr>
            <a:r>
              <a:rPr sz="2000" b="1" i="0" dirty="0">
                <a:solidFill>
                  <a:srgbClr val="000000"/>
                </a:solidFill>
                <a:latin typeface="Calibri"/>
              </a:rPr>
              <a:t>Use ALL of these, in combination:</a:t>
            </a:r>
          </a:p>
          <a:p>
            <a:pPr algn="l"/>
            <a:endParaRPr sz="2000" b="0" i="0" dirty="0">
              <a:solidFill>
                <a:srgbClr val="323232"/>
              </a:solidFill>
              <a:latin typeface="Calibri"/>
            </a:endParaRPr>
          </a:p>
          <a:p>
            <a:pPr algn="l"/>
            <a:r>
              <a:rPr sz="2000" b="0" i="0" dirty="0">
                <a:solidFill>
                  <a:srgbClr val="323232"/>
                </a:solidFill>
                <a:latin typeface="Calibri"/>
              </a:rPr>
              <a:t>When criteria conflict: prioritize BIC, bootstrap fit, and interpretability. Never choose a model purely on statistics — theoretical coherence is essential.</a:t>
            </a:r>
          </a:p>
        </p:txBody>
      </p:sp>
      <p:graphicFrame>
        <p:nvGraphicFramePr>
          <p:cNvPr id="7" name="Table 6">
            <a:extLst>
              <a:ext uri="{FF2B5EF4-FFF2-40B4-BE49-F238E27FC236}">
                <a16:creationId xmlns:a16="http://schemas.microsoft.com/office/drawing/2014/main" id="{94C786E1-FF63-5F5D-F93D-F6A88E18F073}"/>
              </a:ext>
            </a:extLst>
          </p:cNvPr>
          <p:cNvGraphicFramePr>
            <a:graphicFrameLocks noGrp="1"/>
          </p:cNvGraphicFramePr>
          <p:nvPr>
            <p:extLst>
              <p:ext uri="{D42A27DB-BD31-4B8C-83A1-F6EECF244321}">
                <p14:modId xmlns:p14="http://schemas.microsoft.com/office/powerpoint/2010/main" val="1353840593"/>
              </p:ext>
            </p:extLst>
          </p:nvPr>
        </p:nvGraphicFramePr>
        <p:xfrm>
          <a:off x="757646" y="2283559"/>
          <a:ext cx="11153305" cy="4262038"/>
        </p:xfrm>
        <a:graphic>
          <a:graphicData uri="http://schemas.openxmlformats.org/drawingml/2006/table">
            <a:tbl>
              <a:tblPr/>
              <a:tblGrid>
                <a:gridCol w="3221662">
                  <a:extLst>
                    <a:ext uri="{9D8B030D-6E8A-4147-A177-3AD203B41FA5}">
                      <a16:colId xmlns:a16="http://schemas.microsoft.com/office/drawing/2014/main" val="2637360944"/>
                    </a:ext>
                  </a:extLst>
                </a:gridCol>
                <a:gridCol w="4357170">
                  <a:extLst>
                    <a:ext uri="{9D8B030D-6E8A-4147-A177-3AD203B41FA5}">
                      <a16:colId xmlns:a16="http://schemas.microsoft.com/office/drawing/2014/main" val="1243746987"/>
                    </a:ext>
                  </a:extLst>
                </a:gridCol>
                <a:gridCol w="3574473">
                  <a:extLst>
                    <a:ext uri="{9D8B030D-6E8A-4147-A177-3AD203B41FA5}">
                      <a16:colId xmlns:a16="http://schemas.microsoft.com/office/drawing/2014/main" val="2452435376"/>
                    </a:ext>
                  </a:extLst>
                </a:gridCol>
              </a:tblGrid>
              <a:tr h="330633">
                <a:tc>
                  <a:txBody>
                    <a:bodyPr/>
                    <a:lstStyle/>
                    <a:p>
                      <a:pPr>
                        <a:buNone/>
                      </a:pPr>
                      <a:r>
                        <a:rPr lang="en-US" sz="2000" b="1" dirty="0">
                          <a:latin typeface="Calibri" panose="020F0502020204030204" pitchFamily="34" charset="0"/>
                          <a:ea typeface="Calibri" panose="020F0502020204030204" pitchFamily="34" charset="0"/>
                          <a:cs typeface="Calibri" panose="020F0502020204030204" pitchFamily="34" charset="0"/>
                        </a:rPr>
                        <a:t>Criterion</a:t>
                      </a:r>
                      <a:endParaRPr lang="en-US" sz="2000" dirty="0">
                        <a:latin typeface="Calibri" panose="020F0502020204030204" pitchFamily="34" charset="0"/>
                        <a:ea typeface="Calibri" panose="020F0502020204030204" pitchFamily="34" charset="0"/>
                        <a:cs typeface="Calibri" panose="020F0502020204030204" pitchFamily="34" charset="0"/>
                      </a:endParaRPr>
                    </a:p>
                  </a:txBody>
                  <a:tcPr marL="82658" marR="82658" marT="41329" marB="41329" anchor="ctr">
                    <a:lnL>
                      <a:noFill/>
                    </a:lnL>
                    <a:lnR>
                      <a:noFill/>
                    </a:lnR>
                    <a:lnT>
                      <a:noFill/>
                    </a:lnT>
                    <a:lnB>
                      <a:noFill/>
                    </a:lnB>
                    <a:noFill/>
                  </a:tcPr>
                </a:tc>
                <a:tc>
                  <a:txBody>
                    <a:bodyPr/>
                    <a:lstStyle/>
                    <a:p>
                      <a:pPr>
                        <a:buNone/>
                      </a:pPr>
                      <a:r>
                        <a:rPr lang="en-US" sz="2000" b="1">
                          <a:latin typeface="Calibri" panose="020F0502020204030204" pitchFamily="34" charset="0"/>
                          <a:ea typeface="Calibri" panose="020F0502020204030204" pitchFamily="34" charset="0"/>
                          <a:cs typeface="Calibri" panose="020F0502020204030204" pitchFamily="34" charset="0"/>
                        </a:rPr>
                        <a:t>What it tells you</a:t>
                      </a:r>
                      <a:endParaRPr lang="en-US" sz="2000">
                        <a:latin typeface="Calibri" panose="020F0502020204030204" pitchFamily="34" charset="0"/>
                        <a:ea typeface="Calibri" panose="020F0502020204030204" pitchFamily="34" charset="0"/>
                        <a:cs typeface="Calibri" panose="020F0502020204030204" pitchFamily="34" charset="0"/>
                      </a:endParaRPr>
                    </a:p>
                  </a:txBody>
                  <a:tcPr marL="82658" marR="82658" marT="41329" marB="41329" anchor="ctr">
                    <a:lnL>
                      <a:noFill/>
                    </a:lnL>
                    <a:lnR>
                      <a:noFill/>
                    </a:lnR>
                    <a:lnT>
                      <a:noFill/>
                    </a:lnT>
                    <a:lnB>
                      <a:noFill/>
                    </a:lnB>
                    <a:noFill/>
                  </a:tcPr>
                </a:tc>
                <a:tc>
                  <a:txBody>
                    <a:bodyPr/>
                    <a:lstStyle/>
                    <a:p>
                      <a:pPr>
                        <a:buNone/>
                      </a:pPr>
                      <a:r>
                        <a:rPr lang="en-US" sz="2000" b="1">
                          <a:latin typeface="Calibri" panose="020F0502020204030204" pitchFamily="34" charset="0"/>
                          <a:ea typeface="Calibri" panose="020F0502020204030204" pitchFamily="34" charset="0"/>
                          <a:cs typeface="Calibri" panose="020F0502020204030204" pitchFamily="34" charset="0"/>
                        </a:rPr>
                        <a:t>How to use it</a:t>
                      </a:r>
                      <a:endParaRPr lang="en-US" sz="2000">
                        <a:latin typeface="Calibri" panose="020F0502020204030204" pitchFamily="34" charset="0"/>
                        <a:ea typeface="Calibri" panose="020F0502020204030204" pitchFamily="34" charset="0"/>
                        <a:cs typeface="Calibri" panose="020F0502020204030204" pitchFamily="34" charset="0"/>
                      </a:endParaRPr>
                    </a:p>
                  </a:txBody>
                  <a:tcPr marL="82658" marR="82658" marT="41329" marB="41329" anchor="ctr">
                    <a:lnL>
                      <a:noFill/>
                    </a:lnL>
                    <a:lnR>
                      <a:noFill/>
                    </a:lnR>
                    <a:lnT>
                      <a:noFill/>
                    </a:lnT>
                    <a:lnB>
                      <a:noFill/>
                    </a:lnB>
                    <a:noFill/>
                  </a:tcPr>
                </a:tc>
                <a:extLst>
                  <a:ext uri="{0D108BD9-81ED-4DB2-BD59-A6C34878D82A}">
                    <a16:rowId xmlns:a16="http://schemas.microsoft.com/office/drawing/2014/main" val="192947775"/>
                  </a:ext>
                </a:extLst>
              </a:tr>
              <a:tr h="330633">
                <a:tc>
                  <a:txBody>
                    <a:bodyPr/>
                    <a:lstStyle/>
                    <a:p>
                      <a:pPr>
                        <a:buNone/>
                      </a:pPr>
                      <a:r>
                        <a:rPr lang="en-US" sz="2000">
                          <a:latin typeface="Calibri" panose="020F0502020204030204" pitchFamily="34" charset="0"/>
                          <a:ea typeface="Calibri" panose="020F0502020204030204" pitchFamily="34" charset="0"/>
                          <a:cs typeface="Calibri" panose="020F0502020204030204" pitchFamily="34" charset="0"/>
                        </a:rPr>
                        <a:t>BIC</a:t>
                      </a:r>
                    </a:p>
                  </a:txBody>
                  <a:tcPr marL="82658" marR="82658" marT="41329" marB="41329" anchor="ctr">
                    <a:lnL>
                      <a:noFill/>
                    </a:lnL>
                    <a:lnR>
                      <a:noFill/>
                    </a:lnR>
                    <a:lnT>
                      <a:noFill/>
                    </a:lnT>
                    <a:lnB>
                      <a:noFill/>
                    </a:lnB>
                    <a:noFill/>
                  </a:tcPr>
                </a:tc>
                <a:tc>
                  <a:txBody>
                    <a:bodyPr/>
                    <a:lstStyle/>
                    <a:p>
                      <a:pPr>
                        <a:buNone/>
                      </a:pPr>
                      <a:r>
                        <a:rPr lang="en-US" sz="2000" dirty="0">
                          <a:latin typeface="Calibri" panose="020F0502020204030204" pitchFamily="34" charset="0"/>
                          <a:ea typeface="Calibri" panose="020F0502020204030204" pitchFamily="34" charset="0"/>
                          <a:cs typeface="Calibri" panose="020F0502020204030204" pitchFamily="34" charset="0"/>
                        </a:rPr>
                        <a:t>Overall parsimony-corrected fit</a:t>
                      </a:r>
                    </a:p>
                  </a:txBody>
                  <a:tcPr marL="82658" marR="82658" marT="41329" marB="41329" anchor="ctr">
                    <a:lnL>
                      <a:noFill/>
                    </a:lnL>
                    <a:lnR>
                      <a:noFill/>
                    </a:lnR>
                    <a:lnT>
                      <a:noFill/>
                    </a:lnT>
                    <a:lnB>
                      <a:noFill/>
                    </a:lnB>
                    <a:noFill/>
                  </a:tcPr>
                </a:tc>
                <a:tc>
                  <a:txBody>
                    <a:bodyPr/>
                    <a:lstStyle/>
                    <a:p>
                      <a:pPr>
                        <a:buNone/>
                      </a:pPr>
                      <a:r>
                        <a:rPr lang="en-US" sz="2000">
                          <a:latin typeface="Calibri" panose="020F0502020204030204" pitchFamily="34" charset="0"/>
                          <a:ea typeface="Calibri" panose="020F0502020204030204" pitchFamily="34" charset="0"/>
                          <a:cs typeface="Calibri" panose="020F0502020204030204" pitchFamily="34" charset="0"/>
                        </a:rPr>
                        <a:t>Pick lowest</a:t>
                      </a:r>
                    </a:p>
                  </a:txBody>
                  <a:tcPr marL="82658" marR="82658" marT="41329" marB="41329" anchor="ctr">
                    <a:lnL>
                      <a:noFill/>
                    </a:lnL>
                    <a:lnR>
                      <a:noFill/>
                    </a:lnR>
                    <a:lnT>
                      <a:noFill/>
                    </a:lnT>
                    <a:lnB>
                      <a:noFill/>
                    </a:lnB>
                    <a:noFill/>
                  </a:tcPr>
                </a:tc>
                <a:extLst>
                  <a:ext uri="{0D108BD9-81ED-4DB2-BD59-A6C34878D82A}">
                    <a16:rowId xmlns:a16="http://schemas.microsoft.com/office/drawing/2014/main" val="3847622911"/>
                  </a:ext>
                </a:extLst>
              </a:tr>
              <a:tr h="330633">
                <a:tc>
                  <a:txBody>
                    <a:bodyPr/>
                    <a:lstStyle/>
                    <a:p>
                      <a:pPr>
                        <a:buNone/>
                      </a:pPr>
                      <a:r>
                        <a:rPr lang="en-US" sz="2000">
                          <a:latin typeface="Calibri" panose="020F0502020204030204" pitchFamily="34" charset="0"/>
                          <a:ea typeface="Calibri" panose="020F0502020204030204" pitchFamily="34" charset="0"/>
                          <a:cs typeface="Calibri" panose="020F0502020204030204" pitchFamily="34" charset="0"/>
                        </a:rPr>
                        <a:t>AIC</a:t>
                      </a:r>
                    </a:p>
                  </a:txBody>
                  <a:tcPr marL="82658" marR="82658" marT="41329" marB="41329" anchor="ctr">
                    <a:lnL>
                      <a:noFill/>
                    </a:lnL>
                    <a:lnR>
                      <a:noFill/>
                    </a:lnR>
                    <a:lnT>
                      <a:noFill/>
                    </a:lnT>
                    <a:lnB>
                      <a:noFill/>
                    </a:lnB>
                    <a:noFill/>
                  </a:tcPr>
                </a:tc>
                <a:tc>
                  <a:txBody>
                    <a:bodyPr/>
                    <a:lstStyle/>
                    <a:p>
                      <a:pPr>
                        <a:buNone/>
                      </a:pPr>
                      <a:r>
                        <a:rPr lang="en-US" sz="2000">
                          <a:latin typeface="Calibri" panose="020F0502020204030204" pitchFamily="34" charset="0"/>
                          <a:ea typeface="Calibri" panose="020F0502020204030204" pitchFamily="34" charset="0"/>
                          <a:cs typeface="Calibri" panose="020F0502020204030204" pitchFamily="34" charset="0"/>
                        </a:rPr>
                        <a:t>Less penalized fit</a:t>
                      </a:r>
                    </a:p>
                  </a:txBody>
                  <a:tcPr marL="82658" marR="82658" marT="41329" marB="41329" anchor="ctr">
                    <a:lnL>
                      <a:noFill/>
                    </a:lnL>
                    <a:lnR>
                      <a:noFill/>
                    </a:lnR>
                    <a:lnT>
                      <a:noFill/>
                    </a:lnT>
                    <a:lnB>
                      <a:noFill/>
                    </a:lnB>
                    <a:noFill/>
                  </a:tcPr>
                </a:tc>
                <a:tc>
                  <a:txBody>
                    <a:bodyPr/>
                    <a:lstStyle/>
                    <a:p>
                      <a:pPr>
                        <a:buNone/>
                      </a:pPr>
                      <a:r>
                        <a:rPr lang="en-US" sz="2000">
                          <a:latin typeface="Calibri" panose="020F0502020204030204" pitchFamily="34" charset="0"/>
                          <a:ea typeface="Calibri" panose="020F0502020204030204" pitchFamily="34" charset="0"/>
                          <a:cs typeface="Calibri" panose="020F0502020204030204" pitchFamily="34" charset="0"/>
                        </a:rPr>
                        <a:t>Secondary check</a:t>
                      </a:r>
                    </a:p>
                  </a:txBody>
                  <a:tcPr marL="82658" marR="82658" marT="41329" marB="41329" anchor="ctr">
                    <a:lnL>
                      <a:noFill/>
                    </a:lnL>
                    <a:lnR>
                      <a:noFill/>
                    </a:lnR>
                    <a:lnT>
                      <a:noFill/>
                    </a:lnT>
                    <a:lnB>
                      <a:noFill/>
                    </a:lnB>
                    <a:noFill/>
                  </a:tcPr>
                </a:tc>
                <a:extLst>
                  <a:ext uri="{0D108BD9-81ED-4DB2-BD59-A6C34878D82A}">
                    <a16:rowId xmlns:a16="http://schemas.microsoft.com/office/drawing/2014/main" val="182341814"/>
                  </a:ext>
                </a:extLst>
              </a:tr>
              <a:tr h="330633">
                <a:tc>
                  <a:txBody>
                    <a:bodyPr/>
                    <a:lstStyle/>
                    <a:p>
                      <a:pPr>
                        <a:buNone/>
                      </a:pPr>
                      <a:r>
                        <a:rPr lang="en-US" sz="2000">
                          <a:latin typeface="Calibri" panose="020F0502020204030204" pitchFamily="34" charset="0"/>
                          <a:ea typeface="Calibri" panose="020F0502020204030204" pitchFamily="34" charset="0"/>
                          <a:cs typeface="Calibri" panose="020F0502020204030204" pitchFamily="34" charset="0"/>
                        </a:rPr>
                        <a:t>G² p-value</a:t>
                      </a:r>
                    </a:p>
                  </a:txBody>
                  <a:tcPr marL="82658" marR="82658" marT="41329" marB="41329" anchor="ctr">
                    <a:lnL>
                      <a:noFill/>
                    </a:lnL>
                    <a:lnR>
                      <a:noFill/>
                    </a:lnR>
                    <a:lnT>
                      <a:noFill/>
                    </a:lnT>
                    <a:lnB>
                      <a:noFill/>
                    </a:lnB>
                    <a:noFill/>
                  </a:tcPr>
                </a:tc>
                <a:tc>
                  <a:txBody>
                    <a:bodyPr/>
                    <a:lstStyle/>
                    <a:p>
                      <a:pPr>
                        <a:buNone/>
                      </a:pPr>
                      <a:r>
                        <a:rPr lang="en-US" sz="2000">
                          <a:latin typeface="Calibri" panose="020F0502020204030204" pitchFamily="34" charset="0"/>
                          <a:ea typeface="Calibri" panose="020F0502020204030204" pitchFamily="34" charset="0"/>
                          <a:cs typeface="Calibri" panose="020F0502020204030204" pitchFamily="34" charset="0"/>
                        </a:rPr>
                        <a:t>Overall fit test</a:t>
                      </a:r>
                    </a:p>
                  </a:txBody>
                  <a:tcPr marL="82658" marR="82658" marT="41329" marB="41329" anchor="ctr">
                    <a:lnL>
                      <a:noFill/>
                    </a:lnL>
                    <a:lnR>
                      <a:noFill/>
                    </a:lnR>
                    <a:lnT>
                      <a:noFill/>
                    </a:lnT>
                    <a:lnB>
                      <a:noFill/>
                    </a:lnB>
                    <a:noFill/>
                  </a:tcPr>
                </a:tc>
                <a:tc>
                  <a:txBody>
                    <a:bodyPr/>
                    <a:lstStyle/>
                    <a:p>
                      <a:pPr>
                        <a:buNone/>
                      </a:pPr>
                      <a:r>
                        <a:rPr lang="en-US" sz="2000">
                          <a:latin typeface="Calibri" panose="020F0502020204030204" pitchFamily="34" charset="0"/>
                          <a:ea typeface="Calibri" panose="020F0502020204030204" pitchFamily="34" charset="0"/>
                          <a:cs typeface="Calibri" panose="020F0502020204030204" pitchFamily="34" charset="0"/>
                        </a:rPr>
                        <a:t>Want p &gt; .05</a:t>
                      </a:r>
                    </a:p>
                  </a:txBody>
                  <a:tcPr marL="82658" marR="82658" marT="41329" marB="41329" anchor="ctr">
                    <a:lnL>
                      <a:noFill/>
                    </a:lnL>
                    <a:lnR>
                      <a:noFill/>
                    </a:lnR>
                    <a:lnT>
                      <a:noFill/>
                    </a:lnT>
                    <a:lnB>
                      <a:noFill/>
                    </a:lnB>
                    <a:noFill/>
                  </a:tcPr>
                </a:tc>
                <a:extLst>
                  <a:ext uri="{0D108BD9-81ED-4DB2-BD59-A6C34878D82A}">
                    <a16:rowId xmlns:a16="http://schemas.microsoft.com/office/drawing/2014/main" val="1520384525"/>
                  </a:ext>
                </a:extLst>
              </a:tr>
              <a:tr h="330633">
                <a:tc>
                  <a:txBody>
                    <a:bodyPr/>
                    <a:lstStyle/>
                    <a:p>
                      <a:pPr>
                        <a:buNone/>
                      </a:pPr>
                      <a:r>
                        <a:rPr lang="en-US" sz="2000">
                          <a:latin typeface="Calibri" panose="020F0502020204030204" pitchFamily="34" charset="0"/>
                          <a:ea typeface="Calibri" panose="020F0502020204030204" pitchFamily="34" charset="0"/>
                          <a:cs typeface="Calibri" panose="020F0502020204030204" pitchFamily="34" charset="0"/>
                        </a:rPr>
                        <a:t>Bootstrap p</a:t>
                      </a:r>
                    </a:p>
                  </a:txBody>
                  <a:tcPr marL="82658" marR="82658" marT="41329" marB="41329" anchor="ctr">
                    <a:lnL>
                      <a:noFill/>
                    </a:lnL>
                    <a:lnR>
                      <a:noFill/>
                    </a:lnR>
                    <a:lnT>
                      <a:noFill/>
                    </a:lnT>
                    <a:lnB>
                      <a:noFill/>
                    </a:lnB>
                    <a:noFill/>
                  </a:tcPr>
                </a:tc>
                <a:tc>
                  <a:txBody>
                    <a:bodyPr/>
                    <a:lstStyle/>
                    <a:p>
                      <a:pPr>
                        <a:buNone/>
                      </a:pPr>
                      <a:r>
                        <a:rPr lang="en-US" sz="2000">
                          <a:latin typeface="Calibri" panose="020F0502020204030204" pitchFamily="34" charset="0"/>
                          <a:ea typeface="Calibri" panose="020F0502020204030204" pitchFamily="34" charset="0"/>
                          <a:cs typeface="Calibri" panose="020F0502020204030204" pitchFamily="34" charset="0"/>
                        </a:rPr>
                        <a:t>Reliable fit test for sparse tables</a:t>
                      </a:r>
                    </a:p>
                  </a:txBody>
                  <a:tcPr marL="82658" marR="82658" marT="41329" marB="41329" anchor="ctr">
                    <a:lnL>
                      <a:noFill/>
                    </a:lnL>
                    <a:lnR>
                      <a:noFill/>
                    </a:lnR>
                    <a:lnT>
                      <a:noFill/>
                    </a:lnT>
                    <a:lnB>
                      <a:noFill/>
                    </a:lnB>
                    <a:noFill/>
                  </a:tcPr>
                </a:tc>
                <a:tc>
                  <a:txBody>
                    <a:bodyPr/>
                    <a:lstStyle/>
                    <a:p>
                      <a:pPr>
                        <a:buNone/>
                      </a:pPr>
                      <a:r>
                        <a:rPr lang="en-US" sz="2000">
                          <a:latin typeface="Calibri" panose="020F0502020204030204" pitchFamily="34" charset="0"/>
                          <a:ea typeface="Calibri" panose="020F0502020204030204" pitchFamily="34" charset="0"/>
                          <a:cs typeface="Calibri" panose="020F0502020204030204" pitchFamily="34" charset="0"/>
                        </a:rPr>
                        <a:t>Want p &gt; .05</a:t>
                      </a:r>
                    </a:p>
                  </a:txBody>
                  <a:tcPr marL="82658" marR="82658" marT="41329" marB="41329" anchor="ctr">
                    <a:lnL>
                      <a:noFill/>
                    </a:lnL>
                    <a:lnR>
                      <a:noFill/>
                    </a:lnR>
                    <a:lnT>
                      <a:noFill/>
                    </a:lnT>
                    <a:lnB>
                      <a:noFill/>
                    </a:lnB>
                    <a:noFill/>
                  </a:tcPr>
                </a:tc>
                <a:extLst>
                  <a:ext uri="{0D108BD9-81ED-4DB2-BD59-A6C34878D82A}">
                    <a16:rowId xmlns:a16="http://schemas.microsoft.com/office/drawing/2014/main" val="413590510"/>
                  </a:ext>
                </a:extLst>
              </a:tr>
              <a:tr h="330633">
                <a:tc>
                  <a:txBody>
                    <a:bodyPr/>
                    <a:lstStyle/>
                    <a:p>
                      <a:pPr>
                        <a:buNone/>
                      </a:pPr>
                      <a:r>
                        <a:rPr lang="en-US" sz="2000">
                          <a:latin typeface="Calibri" panose="020F0502020204030204" pitchFamily="34" charset="0"/>
                          <a:ea typeface="Calibri" panose="020F0502020204030204" pitchFamily="34" charset="0"/>
                          <a:cs typeface="Calibri" panose="020F0502020204030204" pitchFamily="34" charset="0"/>
                        </a:rPr>
                        <a:t>LMR test</a:t>
                      </a:r>
                    </a:p>
                  </a:txBody>
                  <a:tcPr marL="82658" marR="82658" marT="41329" marB="41329" anchor="ctr">
                    <a:lnL>
                      <a:noFill/>
                    </a:lnL>
                    <a:lnR>
                      <a:noFill/>
                    </a:lnR>
                    <a:lnT>
                      <a:noFill/>
                    </a:lnT>
                    <a:lnB>
                      <a:noFill/>
                    </a:lnB>
                    <a:noFill/>
                  </a:tcPr>
                </a:tc>
                <a:tc>
                  <a:txBody>
                    <a:bodyPr/>
                    <a:lstStyle/>
                    <a:p>
                      <a:pPr>
                        <a:buNone/>
                      </a:pPr>
                      <a:r>
                        <a:rPr lang="en-US" sz="2000">
                          <a:latin typeface="Calibri" panose="020F0502020204030204" pitchFamily="34" charset="0"/>
                          <a:ea typeface="Calibri" panose="020F0502020204030204" pitchFamily="34" charset="0"/>
                          <a:cs typeface="Calibri" panose="020F0502020204030204" pitchFamily="34" charset="0"/>
                        </a:rPr>
                        <a:t>Is k better than k−1?</a:t>
                      </a:r>
                    </a:p>
                  </a:txBody>
                  <a:tcPr marL="82658" marR="82658" marT="41329" marB="41329" anchor="ctr">
                    <a:lnL>
                      <a:noFill/>
                    </a:lnL>
                    <a:lnR>
                      <a:noFill/>
                    </a:lnR>
                    <a:lnT>
                      <a:noFill/>
                    </a:lnT>
                    <a:lnB>
                      <a:noFill/>
                    </a:lnB>
                    <a:noFill/>
                  </a:tcPr>
                </a:tc>
                <a:tc>
                  <a:txBody>
                    <a:bodyPr/>
                    <a:lstStyle/>
                    <a:p>
                      <a:pPr>
                        <a:buNone/>
                      </a:pPr>
                      <a:r>
                        <a:rPr lang="en-US" sz="2000">
                          <a:latin typeface="Calibri" panose="020F0502020204030204" pitchFamily="34" charset="0"/>
                          <a:ea typeface="Calibri" panose="020F0502020204030204" pitchFamily="34" charset="0"/>
                          <a:cs typeface="Calibri" panose="020F0502020204030204" pitchFamily="34" charset="0"/>
                        </a:rPr>
                        <a:t>Want p &lt; .05</a:t>
                      </a:r>
                    </a:p>
                  </a:txBody>
                  <a:tcPr marL="82658" marR="82658" marT="41329" marB="41329" anchor="ctr">
                    <a:lnL>
                      <a:noFill/>
                    </a:lnL>
                    <a:lnR>
                      <a:noFill/>
                    </a:lnR>
                    <a:lnT>
                      <a:noFill/>
                    </a:lnT>
                    <a:lnB>
                      <a:noFill/>
                    </a:lnB>
                    <a:noFill/>
                  </a:tcPr>
                </a:tc>
                <a:extLst>
                  <a:ext uri="{0D108BD9-81ED-4DB2-BD59-A6C34878D82A}">
                    <a16:rowId xmlns:a16="http://schemas.microsoft.com/office/drawing/2014/main" val="1125678625"/>
                  </a:ext>
                </a:extLst>
              </a:tr>
              <a:tr h="330633">
                <a:tc>
                  <a:txBody>
                    <a:bodyPr/>
                    <a:lstStyle/>
                    <a:p>
                      <a:pPr>
                        <a:buNone/>
                      </a:pPr>
                      <a:r>
                        <a:rPr lang="en-US" sz="2000">
                          <a:latin typeface="Calibri" panose="020F0502020204030204" pitchFamily="34" charset="0"/>
                          <a:ea typeface="Calibri" panose="020F0502020204030204" pitchFamily="34" charset="0"/>
                          <a:cs typeface="Calibri" panose="020F0502020204030204" pitchFamily="34" charset="0"/>
                        </a:rPr>
                        <a:t>BLRT</a:t>
                      </a:r>
                    </a:p>
                  </a:txBody>
                  <a:tcPr marL="82658" marR="82658" marT="41329" marB="41329" anchor="ctr">
                    <a:lnL>
                      <a:noFill/>
                    </a:lnL>
                    <a:lnR>
                      <a:noFill/>
                    </a:lnR>
                    <a:lnT>
                      <a:noFill/>
                    </a:lnT>
                    <a:lnB>
                      <a:noFill/>
                    </a:lnB>
                    <a:noFill/>
                  </a:tcPr>
                </a:tc>
                <a:tc>
                  <a:txBody>
                    <a:bodyPr/>
                    <a:lstStyle/>
                    <a:p>
                      <a:pPr>
                        <a:buNone/>
                      </a:pPr>
                      <a:r>
                        <a:rPr lang="en-US" sz="2000">
                          <a:latin typeface="Calibri" panose="020F0502020204030204" pitchFamily="34" charset="0"/>
                          <a:ea typeface="Calibri" panose="020F0502020204030204" pitchFamily="34" charset="0"/>
                          <a:cs typeface="Calibri" panose="020F0502020204030204" pitchFamily="34" charset="0"/>
                        </a:rPr>
                        <a:t>Bootstrapped LMR (more reliable)</a:t>
                      </a:r>
                    </a:p>
                  </a:txBody>
                  <a:tcPr marL="82658" marR="82658" marT="41329" marB="41329" anchor="ctr">
                    <a:lnL>
                      <a:noFill/>
                    </a:lnL>
                    <a:lnR>
                      <a:noFill/>
                    </a:lnR>
                    <a:lnT>
                      <a:noFill/>
                    </a:lnT>
                    <a:lnB>
                      <a:noFill/>
                    </a:lnB>
                    <a:noFill/>
                  </a:tcPr>
                </a:tc>
                <a:tc>
                  <a:txBody>
                    <a:bodyPr/>
                    <a:lstStyle/>
                    <a:p>
                      <a:pPr>
                        <a:buNone/>
                      </a:pPr>
                      <a:r>
                        <a:rPr lang="en-US" sz="2000">
                          <a:latin typeface="Calibri" panose="020F0502020204030204" pitchFamily="34" charset="0"/>
                          <a:ea typeface="Calibri" panose="020F0502020204030204" pitchFamily="34" charset="0"/>
                          <a:cs typeface="Calibri" panose="020F0502020204030204" pitchFamily="34" charset="0"/>
                        </a:rPr>
                        <a:t>Want p &lt; .05</a:t>
                      </a:r>
                    </a:p>
                  </a:txBody>
                  <a:tcPr marL="82658" marR="82658" marT="41329" marB="41329" anchor="ctr">
                    <a:lnL>
                      <a:noFill/>
                    </a:lnL>
                    <a:lnR>
                      <a:noFill/>
                    </a:lnR>
                    <a:lnT>
                      <a:noFill/>
                    </a:lnT>
                    <a:lnB>
                      <a:noFill/>
                    </a:lnB>
                    <a:noFill/>
                  </a:tcPr>
                </a:tc>
                <a:extLst>
                  <a:ext uri="{0D108BD9-81ED-4DB2-BD59-A6C34878D82A}">
                    <a16:rowId xmlns:a16="http://schemas.microsoft.com/office/drawing/2014/main" val="3067696003"/>
                  </a:ext>
                </a:extLst>
              </a:tr>
              <a:tr h="330633">
                <a:tc>
                  <a:txBody>
                    <a:bodyPr/>
                    <a:lstStyle/>
                    <a:p>
                      <a:pPr>
                        <a:buNone/>
                      </a:pPr>
                      <a:r>
                        <a:rPr lang="en-US" sz="2000">
                          <a:latin typeface="Calibri" panose="020F0502020204030204" pitchFamily="34" charset="0"/>
                          <a:ea typeface="Calibri" panose="020F0502020204030204" pitchFamily="34" charset="0"/>
                          <a:cs typeface="Calibri" panose="020F0502020204030204" pitchFamily="34" charset="0"/>
                        </a:rPr>
                        <a:t>Entropy</a:t>
                      </a:r>
                    </a:p>
                  </a:txBody>
                  <a:tcPr marL="82658" marR="82658" marT="41329" marB="41329" anchor="ctr">
                    <a:lnL>
                      <a:noFill/>
                    </a:lnL>
                    <a:lnR>
                      <a:noFill/>
                    </a:lnR>
                    <a:lnT>
                      <a:noFill/>
                    </a:lnT>
                    <a:lnB>
                      <a:noFill/>
                    </a:lnB>
                    <a:noFill/>
                  </a:tcPr>
                </a:tc>
                <a:tc>
                  <a:txBody>
                    <a:bodyPr/>
                    <a:lstStyle/>
                    <a:p>
                      <a:pPr>
                        <a:buNone/>
                      </a:pPr>
                      <a:r>
                        <a:rPr lang="en-US" sz="2000">
                          <a:latin typeface="Calibri" panose="020F0502020204030204" pitchFamily="34" charset="0"/>
                          <a:ea typeface="Calibri" panose="020F0502020204030204" pitchFamily="34" charset="0"/>
                          <a:cs typeface="Calibri" panose="020F0502020204030204" pitchFamily="34" charset="0"/>
                        </a:rPr>
                        <a:t>Classification quality</a:t>
                      </a:r>
                    </a:p>
                  </a:txBody>
                  <a:tcPr marL="82658" marR="82658" marT="41329" marB="41329" anchor="ctr">
                    <a:lnL>
                      <a:noFill/>
                    </a:lnL>
                    <a:lnR>
                      <a:noFill/>
                    </a:lnR>
                    <a:lnT>
                      <a:noFill/>
                    </a:lnT>
                    <a:lnB>
                      <a:noFill/>
                    </a:lnB>
                    <a:noFill/>
                  </a:tcPr>
                </a:tc>
                <a:tc>
                  <a:txBody>
                    <a:bodyPr/>
                    <a:lstStyle/>
                    <a:p>
                      <a:pPr>
                        <a:buNone/>
                      </a:pPr>
                      <a:r>
                        <a:rPr lang="en-US" sz="2000">
                          <a:latin typeface="Calibri" panose="020F0502020204030204" pitchFamily="34" charset="0"/>
                          <a:ea typeface="Calibri" panose="020F0502020204030204" pitchFamily="34" charset="0"/>
                          <a:cs typeface="Calibri" panose="020F0502020204030204" pitchFamily="34" charset="0"/>
                        </a:rPr>
                        <a:t>Want &gt; .80</a:t>
                      </a:r>
                    </a:p>
                  </a:txBody>
                  <a:tcPr marL="82658" marR="82658" marT="41329" marB="41329" anchor="ctr">
                    <a:lnL>
                      <a:noFill/>
                    </a:lnL>
                    <a:lnR>
                      <a:noFill/>
                    </a:lnR>
                    <a:lnT>
                      <a:noFill/>
                    </a:lnT>
                    <a:lnB>
                      <a:noFill/>
                    </a:lnB>
                    <a:noFill/>
                  </a:tcPr>
                </a:tc>
                <a:extLst>
                  <a:ext uri="{0D108BD9-81ED-4DB2-BD59-A6C34878D82A}">
                    <a16:rowId xmlns:a16="http://schemas.microsoft.com/office/drawing/2014/main" val="1850869822"/>
                  </a:ext>
                </a:extLst>
              </a:tr>
              <a:tr h="330633">
                <a:tc>
                  <a:txBody>
                    <a:bodyPr/>
                    <a:lstStyle/>
                    <a:p>
                      <a:pPr>
                        <a:buNone/>
                      </a:pPr>
                      <a:r>
                        <a:rPr lang="en-US" sz="2000">
                          <a:latin typeface="Calibri" panose="020F0502020204030204" pitchFamily="34" charset="0"/>
                          <a:ea typeface="Calibri" panose="020F0502020204030204" pitchFamily="34" charset="0"/>
                          <a:cs typeface="Calibri" panose="020F0502020204030204" pitchFamily="34" charset="0"/>
                        </a:rPr>
                        <a:t>AvePP</a:t>
                      </a:r>
                    </a:p>
                  </a:txBody>
                  <a:tcPr marL="82658" marR="82658" marT="41329" marB="41329" anchor="ctr">
                    <a:lnL>
                      <a:noFill/>
                    </a:lnL>
                    <a:lnR>
                      <a:noFill/>
                    </a:lnR>
                    <a:lnT>
                      <a:noFill/>
                    </a:lnT>
                    <a:lnB>
                      <a:noFill/>
                    </a:lnB>
                    <a:noFill/>
                  </a:tcPr>
                </a:tc>
                <a:tc>
                  <a:txBody>
                    <a:bodyPr/>
                    <a:lstStyle/>
                    <a:p>
                      <a:pPr>
                        <a:buNone/>
                      </a:pPr>
                      <a:r>
                        <a:rPr lang="en-US" sz="2000">
                          <a:latin typeface="Calibri" panose="020F0502020204030204" pitchFamily="34" charset="0"/>
                          <a:ea typeface="Calibri" panose="020F0502020204030204" pitchFamily="34" charset="0"/>
                          <a:cs typeface="Calibri" panose="020F0502020204030204" pitchFamily="34" charset="0"/>
                        </a:rPr>
                        <a:t>Class separation</a:t>
                      </a:r>
                    </a:p>
                  </a:txBody>
                  <a:tcPr marL="82658" marR="82658" marT="41329" marB="41329" anchor="ctr">
                    <a:lnL>
                      <a:noFill/>
                    </a:lnL>
                    <a:lnR>
                      <a:noFill/>
                    </a:lnR>
                    <a:lnT>
                      <a:noFill/>
                    </a:lnT>
                    <a:lnB>
                      <a:noFill/>
                    </a:lnB>
                    <a:noFill/>
                  </a:tcPr>
                </a:tc>
                <a:tc>
                  <a:txBody>
                    <a:bodyPr/>
                    <a:lstStyle/>
                    <a:p>
                      <a:pPr>
                        <a:buNone/>
                      </a:pPr>
                      <a:r>
                        <a:rPr lang="en-US" sz="2000">
                          <a:latin typeface="Calibri" panose="020F0502020204030204" pitchFamily="34" charset="0"/>
                          <a:ea typeface="Calibri" panose="020F0502020204030204" pitchFamily="34" charset="0"/>
                          <a:cs typeface="Calibri" panose="020F0502020204030204" pitchFamily="34" charset="0"/>
                        </a:rPr>
                        <a:t>Want &gt; .70 per class</a:t>
                      </a:r>
                    </a:p>
                  </a:txBody>
                  <a:tcPr marL="82658" marR="82658" marT="41329" marB="41329" anchor="ctr">
                    <a:lnL>
                      <a:noFill/>
                    </a:lnL>
                    <a:lnR>
                      <a:noFill/>
                    </a:lnR>
                    <a:lnT>
                      <a:noFill/>
                    </a:lnT>
                    <a:lnB>
                      <a:noFill/>
                    </a:lnB>
                    <a:noFill/>
                  </a:tcPr>
                </a:tc>
                <a:extLst>
                  <a:ext uri="{0D108BD9-81ED-4DB2-BD59-A6C34878D82A}">
                    <a16:rowId xmlns:a16="http://schemas.microsoft.com/office/drawing/2014/main" val="2946359827"/>
                  </a:ext>
                </a:extLst>
              </a:tr>
              <a:tr h="330633">
                <a:tc>
                  <a:txBody>
                    <a:bodyPr/>
                    <a:lstStyle/>
                    <a:p>
                      <a:pPr>
                        <a:buNone/>
                      </a:pPr>
                      <a:r>
                        <a:rPr lang="en-US" sz="2000">
                          <a:latin typeface="Calibri" panose="020F0502020204030204" pitchFamily="34" charset="0"/>
                          <a:ea typeface="Calibri" panose="020F0502020204030204" pitchFamily="34" charset="0"/>
                          <a:cs typeface="Calibri" panose="020F0502020204030204" pitchFamily="34" charset="0"/>
                        </a:rPr>
                        <a:t>Class size</a:t>
                      </a:r>
                    </a:p>
                  </a:txBody>
                  <a:tcPr marL="82658" marR="82658" marT="41329" marB="41329" anchor="ctr">
                    <a:lnL>
                      <a:noFill/>
                    </a:lnL>
                    <a:lnR>
                      <a:noFill/>
                    </a:lnR>
                    <a:lnT>
                      <a:noFill/>
                    </a:lnT>
                    <a:lnB>
                      <a:noFill/>
                    </a:lnB>
                    <a:noFill/>
                  </a:tcPr>
                </a:tc>
                <a:tc>
                  <a:txBody>
                    <a:bodyPr/>
                    <a:lstStyle/>
                    <a:p>
                      <a:pPr>
                        <a:buNone/>
                      </a:pPr>
                      <a:r>
                        <a:rPr lang="en-US" sz="2000">
                          <a:latin typeface="Calibri" panose="020F0502020204030204" pitchFamily="34" charset="0"/>
                          <a:ea typeface="Calibri" panose="020F0502020204030204" pitchFamily="34" charset="0"/>
                          <a:cs typeface="Calibri" panose="020F0502020204030204" pitchFamily="34" charset="0"/>
                        </a:rPr>
                        <a:t>Are classes large enough?</a:t>
                      </a:r>
                    </a:p>
                  </a:txBody>
                  <a:tcPr marL="82658" marR="82658" marT="41329" marB="41329" anchor="ctr">
                    <a:lnL>
                      <a:noFill/>
                    </a:lnL>
                    <a:lnR>
                      <a:noFill/>
                    </a:lnR>
                    <a:lnT>
                      <a:noFill/>
                    </a:lnT>
                    <a:lnB>
                      <a:noFill/>
                    </a:lnB>
                    <a:noFill/>
                  </a:tcPr>
                </a:tc>
                <a:tc>
                  <a:txBody>
                    <a:bodyPr/>
                    <a:lstStyle/>
                    <a:p>
                      <a:pPr>
                        <a:buNone/>
                      </a:pPr>
                      <a:r>
                        <a:rPr lang="en-US" sz="2000">
                          <a:latin typeface="Calibri" panose="020F0502020204030204" pitchFamily="34" charset="0"/>
                          <a:ea typeface="Calibri" panose="020F0502020204030204" pitchFamily="34" charset="0"/>
                          <a:cs typeface="Calibri" panose="020F0502020204030204" pitchFamily="34" charset="0"/>
                        </a:rPr>
                        <a:t>Want &gt; 5% of N</a:t>
                      </a:r>
                    </a:p>
                  </a:txBody>
                  <a:tcPr marL="82658" marR="82658" marT="41329" marB="41329" anchor="ctr">
                    <a:lnL>
                      <a:noFill/>
                    </a:lnL>
                    <a:lnR>
                      <a:noFill/>
                    </a:lnR>
                    <a:lnT>
                      <a:noFill/>
                    </a:lnT>
                    <a:lnB>
                      <a:noFill/>
                    </a:lnB>
                    <a:noFill/>
                  </a:tcPr>
                </a:tc>
                <a:extLst>
                  <a:ext uri="{0D108BD9-81ED-4DB2-BD59-A6C34878D82A}">
                    <a16:rowId xmlns:a16="http://schemas.microsoft.com/office/drawing/2014/main" val="3833130979"/>
                  </a:ext>
                </a:extLst>
              </a:tr>
              <a:tr h="330633">
                <a:tc>
                  <a:txBody>
                    <a:bodyPr/>
                    <a:lstStyle/>
                    <a:p>
                      <a:pPr>
                        <a:buNone/>
                      </a:pPr>
                      <a:r>
                        <a:rPr lang="en-US" sz="2000">
                          <a:latin typeface="Calibri" panose="020F0502020204030204" pitchFamily="34" charset="0"/>
                          <a:ea typeface="Calibri" panose="020F0502020204030204" pitchFamily="34" charset="0"/>
                          <a:cs typeface="Calibri" panose="020F0502020204030204" pitchFamily="34" charset="0"/>
                        </a:rPr>
                        <a:t>Interpretability</a:t>
                      </a:r>
                    </a:p>
                  </a:txBody>
                  <a:tcPr marL="82658" marR="82658" marT="41329" marB="41329" anchor="ctr">
                    <a:lnL>
                      <a:noFill/>
                    </a:lnL>
                    <a:lnR>
                      <a:noFill/>
                    </a:lnR>
                    <a:lnT>
                      <a:noFill/>
                    </a:lnT>
                    <a:lnB>
                      <a:noFill/>
                    </a:lnB>
                    <a:noFill/>
                  </a:tcPr>
                </a:tc>
                <a:tc>
                  <a:txBody>
                    <a:bodyPr/>
                    <a:lstStyle/>
                    <a:p>
                      <a:pPr>
                        <a:buNone/>
                      </a:pPr>
                      <a:r>
                        <a:rPr lang="en-US" sz="2000" dirty="0">
                          <a:latin typeface="Calibri" panose="020F0502020204030204" pitchFamily="34" charset="0"/>
                          <a:ea typeface="Calibri" panose="020F0502020204030204" pitchFamily="34" charset="0"/>
                          <a:cs typeface="Calibri" panose="020F0502020204030204" pitchFamily="34" charset="0"/>
                        </a:rPr>
                        <a:t>Do classes make theoretical sense?</a:t>
                      </a:r>
                    </a:p>
                  </a:txBody>
                  <a:tcPr marL="82658" marR="82658" marT="41329" marB="41329" anchor="ctr">
                    <a:lnL>
                      <a:noFill/>
                    </a:lnL>
                    <a:lnR>
                      <a:noFill/>
                    </a:lnR>
                    <a:lnT>
                      <a:noFill/>
                    </a:lnT>
                    <a:lnB>
                      <a:noFill/>
                    </a:lnB>
                    <a:noFill/>
                  </a:tcPr>
                </a:tc>
                <a:tc>
                  <a:txBody>
                    <a:bodyPr/>
                    <a:lstStyle/>
                    <a:p>
                      <a:pPr>
                        <a:buNone/>
                      </a:pPr>
                      <a:r>
                        <a:rPr lang="en-US" sz="2000" dirty="0">
                          <a:latin typeface="Calibri" panose="020F0502020204030204" pitchFamily="34" charset="0"/>
                          <a:ea typeface="Calibri" panose="020F0502020204030204" pitchFamily="34" charset="0"/>
                          <a:cs typeface="Calibri" panose="020F0502020204030204" pitchFamily="34" charset="0"/>
                        </a:rPr>
                        <a:t>Always</a:t>
                      </a:r>
                    </a:p>
                  </a:txBody>
                  <a:tcPr marL="82658" marR="82658" marT="41329" marB="41329" anchor="ctr">
                    <a:lnL>
                      <a:noFill/>
                    </a:lnL>
                    <a:lnR>
                      <a:noFill/>
                    </a:lnR>
                    <a:lnT>
                      <a:noFill/>
                    </a:lnT>
                    <a:lnB>
                      <a:noFill/>
                    </a:lnB>
                    <a:noFill/>
                  </a:tcPr>
                </a:tc>
                <a:extLst>
                  <a:ext uri="{0D108BD9-81ED-4DB2-BD59-A6C34878D82A}">
                    <a16:rowId xmlns:a16="http://schemas.microsoft.com/office/drawing/2014/main" val="177813967"/>
                  </a:ext>
                </a:extLst>
              </a:tr>
            </a:tbl>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6ED068E-6674-816E-1BD9-CA4B6A7A0A49}"/>
              </a:ext>
            </a:extLst>
          </p:cNvPr>
          <p:cNvSpPr txBox="1"/>
          <p:nvPr/>
        </p:nvSpPr>
        <p:spPr>
          <a:xfrm>
            <a:off x="709550" y="840754"/>
            <a:ext cx="10690761" cy="923330"/>
          </a:xfrm>
          <a:prstGeom prst="rect">
            <a:avLst/>
          </a:prstGeom>
          <a:noFill/>
        </p:spPr>
        <p:txBody>
          <a:bodyPr wrap="square">
            <a:spAutoFit/>
          </a:bodyPr>
          <a:lstStyle/>
          <a:p>
            <a:r>
              <a:rPr lang="en-US" dirty="0"/>
              <a:t>Are there distinct latent classes of complementary and integrative health (CIH) practice engagement among U.S. adults, and do these classes differ by BMI, GLP-1 medication use, race/ethnicity, self-rated health, and usual source of care?</a:t>
            </a:r>
          </a:p>
        </p:txBody>
      </p:sp>
      <p:sp>
        <p:nvSpPr>
          <p:cNvPr id="5" name="TextBox 4">
            <a:extLst>
              <a:ext uri="{FF2B5EF4-FFF2-40B4-BE49-F238E27FC236}">
                <a16:creationId xmlns:a16="http://schemas.microsoft.com/office/drawing/2014/main" id="{1A99C1CD-3AA5-FA6C-B4F8-F8D9CFE98D05}"/>
              </a:ext>
            </a:extLst>
          </p:cNvPr>
          <p:cNvSpPr txBox="1"/>
          <p:nvPr/>
        </p:nvSpPr>
        <p:spPr>
          <a:xfrm>
            <a:off x="709551" y="88468"/>
            <a:ext cx="7816932" cy="646331"/>
          </a:xfrm>
          <a:prstGeom prst="rect">
            <a:avLst/>
          </a:prstGeom>
          <a:noFill/>
        </p:spPr>
        <p:txBody>
          <a:bodyPr wrap="square">
            <a:spAutoFit/>
          </a:bodyPr>
          <a:lstStyle/>
          <a:p>
            <a:r>
              <a:rPr lang="en-US" sz="3600" dirty="0">
                <a:solidFill>
                  <a:srgbClr val="000000"/>
                </a:solidFill>
                <a:latin typeface="Calibri"/>
              </a:rPr>
              <a:t>Example</a:t>
            </a:r>
            <a:endParaRPr lang="en-US" sz="3600" dirty="0"/>
          </a:p>
        </p:txBody>
      </p:sp>
      <p:sp>
        <p:nvSpPr>
          <p:cNvPr id="7" name="TextBox 6">
            <a:extLst>
              <a:ext uri="{FF2B5EF4-FFF2-40B4-BE49-F238E27FC236}">
                <a16:creationId xmlns:a16="http://schemas.microsoft.com/office/drawing/2014/main" id="{B4E7B0EF-4B91-1303-B019-887D3DFD7D08}"/>
              </a:ext>
            </a:extLst>
          </p:cNvPr>
          <p:cNvSpPr txBox="1"/>
          <p:nvPr/>
        </p:nvSpPr>
        <p:spPr>
          <a:xfrm>
            <a:off x="146025" y="6293531"/>
            <a:ext cx="8208818" cy="369332"/>
          </a:xfrm>
          <a:prstGeom prst="rect">
            <a:avLst/>
          </a:prstGeom>
          <a:noFill/>
        </p:spPr>
        <p:txBody>
          <a:bodyPr wrap="square">
            <a:spAutoFit/>
          </a:bodyPr>
          <a:lstStyle/>
          <a:p>
            <a:r>
              <a:rPr lang="en-US" dirty="0">
                <a:hlinkClick r:id="rId2"/>
              </a:rPr>
              <a:t>Round 7 Datasets and Documentation | Rapid Surveys System | CDC</a:t>
            </a:r>
            <a:endParaRPr lang="en-US" dirty="0"/>
          </a:p>
        </p:txBody>
      </p:sp>
      <p:graphicFrame>
        <p:nvGraphicFramePr>
          <p:cNvPr id="12" name="Table 11">
            <a:extLst>
              <a:ext uri="{FF2B5EF4-FFF2-40B4-BE49-F238E27FC236}">
                <a16:creationId xmlns:a16="http://schemas.microsoft.com/office/drawing/2014/main" id="{5DAC6D13-5779-6172-D2B8-FF03A3D60DF8}"/>
              </a:ext>
            </a:extLst>
          </p:cNvPr>
          <p:cNvGraphicFramePr>
            <a:graphicFrameLocks noGrp="1"/>
          </p:cNvGraphicFramePr>
          <p:nvPr>
            <p:extLst>
              <p:ext uri="{D42A27DB-BD31-4B8C-83A1-F6EECF244321}">
                <p14:modId xmlns:p14="http://schemas.microsoft.com/office/powerpoint/2010/main" val="4176785578"/>
              </p:ext>
            </p:extLst>
          </p:nvPr>
        </p:nvGraphicFramePr>
        <p:xfrm>
          <a:off x="923261" y="1764084"/>
          <a:ext cx="10315353" cy="4265883"/>
        </p:xfrm>
        <a:graphic>
          <a:graphicData uri="http://schemas.openxmlformats.org/drawingml/2006/table">
            <a:tbl>
              <a:tblPr/>
              <a:tblGrid>
                <a:gridCol w="1658319">
                  <a:extLst>
                    <a:ext uri="{9D8B030D-6E8A-4147-A177-3AD203B41FA5}">
                      <a16:colId xmlns:a16="http://schemas.microsoft.com/office/drawing/2014/main" val="3455858673"/>
                    </a:ext>
                  </a:extLst>
                </a:gridCol>
                <a:gridCol w="2421691">
                  <a:extLst>
                    <a:ext uri="{9D8B030D-6E8A-4147-A177-3AD203B41FA5}">
                      <a16:colId xmlns:a16="http://schemas.microsoft.com/office/drawing/2014/main" val="556495299"/>
                    </a:ext>
                  </a:extLst>
                </a:gridCol>
                <a:gridCol w="1599548">
                  <a:extLst>
                    <a:ext uri="{9D8B030D-6E8A-4147-A177-3AD203B41FA5}">
                      <a16:colId xmlns:a16="http://schemas.microsoft.com/office/drawing/2014/main" val="3802878288"/>
                    </a:ext>
                  </a:extLst>
                </a:gridCol>
                <a:gridCol w="1743739">
                  <a:extLst>
                    <a:ext uri="{9D8B030D-6E8A-4147-A177-3AD203B41FA5}">
                      <a16:colId xmlns:a16="http://schemas.microsoft.com/office/drawing/2014/main" val="3985964841"/>
                    </a:ext>
                  </a:extLst>
                </a:gridCol>
                <a:gridCol w="733647">
                  <a:extLst>
                    <a:ext uri="{9D8B030D-6E8A-4147-A177-3AD203B41FA5}">
                      <a16:colId xmlns:a16="http://schemas.microsoft.com/office/drawing/2014/main" val="64162448"/>
                    </a:ext>
                  </a:extLst>
                </a:gridCol>
                <a:gridCol w="2158409">
                  <a:extLst>
                    <a:ext uri="{9D8B030D-6E8A-4147-A177-3AD203B41FA5}">
                      <a16:colId xmlns:a16="http://schemas.microsoft.com/office/drawing/2014/main" val="2218921084"/>
                    </a:ext>
                  </a:extLst>
                </a:gridCol>
              </a:tblGrid>
              <a:tr h="211907">
                <a:tc>
                  <a:txBody>
                    <a:bodyPr/>
                    <a:lstStyle/>
                    <a:p>
                      <a:pPr algn="l">
                        <a:buNone/>
                      </a:pPr>
                      <a:r>
                        <a:rPr lang="en-US" sz="1600" b="0" cap="all" dirty="0">
                          <a:solidFill>
                            <a:srgbClr val="3D3D3A"/>
                          </a:solidFill>
                          <a:effectLst/>
                        </a:rPr>
                        <a:t>Variable</a:t>
                      </a:r>
                    </a:p>
                  </a:txBody>
                  <a:tcPr marL="34550" marR="34550" marT="23033" marB="23033"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l">
                        <a:buNone/>
                      </a:pPr>
                      <a:r>
                        <a:rPr lang="en-US" sz="1600" b="0" cap="all" dirty="0">
                          <a:solidFill>
                            <a:srgbClr val="3D3D3A"/>
                          </a:solidFill>
                          <a:effectLst/>
                        </a:rPr>
                        <a:t>Label</a:t>
                      </a:r>
                    </a:p>
                  </a:txBody>
                  <a:tcPr marL="34550" marR="34550" marT="23033" marB="23033" anchor="ctr">
                    <a:lnL>
                      <a:noFill/>
                    </a:lnL>
                    <a:lnR>
                      <a:noFill/>
                    </a:lnR>
                    <a:lnT>
                      <a:noFill/>
                    </a:lnT>
                    <a:lnB w="12700" cap="flat" cmpd="sng" algn="ctr">
                      <a:solidFill>
                        <a:schemeClr val="tx1"/>
                      </a:solidFill>
                      <a:prstDash val="solid"/>
                      <a:round/>
                      <a:headEnd type="none" w="med" len="med"/>
                      <a:tailEnd type="none" w="med" len="med"/>
                    </a:lnB>
                    <a:noFill/>
                  </a:tcPr>
                </a:tc>
                <a:tc gridSpan="3">
                  <a:txBody>
                    <a:bodyPr/>
                    <a:lstStyle/>
                    <a:p>
                      <a:pPr algn="ctr">
                        <a:buNone/>
                      </a:pPr>
                      <a:r>
                        <a:rPr lang="en-US" sz="1600" b="0" cap="all" dirty="0">
                          <a:solidFill>
                            <a:srgbClr val="3D3D3A"/>
                          </a:solidFill>
                          <a:effectLst/>
                        </a:rPr>
                        <a:t>Values</a:t>
                      </a:r>
                    </a:p>
                  </a:txBody>
                  <a:tcPr marL="34550" marR="34550" marT="23033" marB="23033" anchor="ctr">
                    <a:lnL>
                      <a:noFill/>
                    </a:lnL>
                    <a:lnR>
                      <a:noFill/>
                    </a:lnR>
                    <a:lnT>
                      <a:noFill/>
                    </a:lnT>
                    <a:lnB w="12700" cap="flat" cmpd="sng" algn="ctr">
                      <a:solidFill>
                        <a:schemeClr val="tx1"/>
                      </a:solidFill>
                      <a:prstDash val="solid"/>
                      <a:round/>
                      <a:headEnd type="none" w="med" len="med"/>
                      <a:tailEnd type="none" w="med" len="med"/>
                    </a:lnB>
                    <a:noFill/>
                  </a:tcPr>
                </a:tc>
                <a:tc hMerge="1">
                  <a:txBody>
                    <a:bodyPr/>
                    <a:lstStyle/>
                    <a:p>
                      <a:pPr algn="ctr">
                        <a:buNone/>
                      </a:pPr>
                      <a:endParaRPr lang="en-US" sz="1400" b="0" cap="all" dirty="0">
                        <a:solidFill>
                          <a:srgbClr val="3D3D3A"/>
                        </a:solidFill>
                        <a:effectLst/>
                      </a:endParaRPr>
                    </a:p>
                  </a:txBody>
                  <a:tcPr marL="34550" marR="34550" marT="23033" marB="23033" anchor="ctr">
                    <a:lnL>
                      <a:noFill/>
                    </a:lnL>
                    <a:lnR>
                      <a:noFill/>
                    </a:lnR>
                    <a:lnT>
                      <a:noFill/>
                    </a:lnT>
                    <a:lnB>
                      <a:noFill/>
                    </a:lnB>
                    <a:noFill/>
                  </a:tcPr>
                </a:tc>
                <a:tc hMerge="1">
                  <a:txBody>
                    <a:bodyPr/>
                    <a:lstStyle/>
                    <a:p>
                      <a:pPr algn="ctr">
                        <a:buNone/>
                      </a:pPr>
                      <a:endParaRPr lang="en-US" sz="1400" b="0" cap="all" dirty="0">
                        <a:solidFill>
                          <a:srgbClr val="3D3D3A"/>
                        </a:solidFill>
                        <a:effectLst/>
                      </a:endParaRPr>
                    </a:p>
                  </a:txBody>
                  <a:tcPr marL="34550" marR="34550" marT="23033" marB="23033" anchor="ctr">
                    <a:lnL>
                      <a:noFill/>
                    </a:lnL>
                    <a:lnR>
                      <a:noFill/>
                    </a:lnR>
                    <a:lnT>
                      <a:noFill/>
                    </a:lnT>
                    <a:lnB>
                      <a:noFill/>
                    </a:lnB>
                    <a:noFill/>
                  </a:tcPr>
                </a:tc>
                <a:tc>
                  <a:txBody>
                    <a:bodyPr/>
                    <a:lstStyle/>
                    <a:p>
                      <a:pPr algn="ctr">
                        <a:buNone/>
                      </a:pPr>
                      <a:r>
                        <a:rPr lang="en-US" sz="1600" b="0" cap="all" dirty="0">
                          <a:solidFill>
                            <a:srgbClr val="3D3D3A"/>
                          </a:solidFill>
                          <a:effectLst/>
                        </a:rPr>
                        <a:t>Notes</a:t>
                      </a:r>
                    </a:p>
                  </a:txBody>
                  <a:tcPr marL="34550" marR="34550" marT="23033" marB="23033" anchor="ctr">
                    <a:lnL>
                      <a:noFill/>
                    </a:lnL>
                    <a:lnR>
                      <a:noFill/>
                    </a:lnR>
                    <a:lnT>
                      <a:noFill/>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59461295"/>
                  </a:ext>
                </a:extLst>
              </a:tr>
              <a:tr h="117470">
                <a:tc gridSpan="6">
                  <a:txBody>
                    <a:bodyPr/>
                    <a:lstStyle/>
                    <a:p>
                      <a:pPr algn="l" fontAlgn="t">
                        <a:buNone/>
                      </a:pPr>
                      <a:r>
                        <a:rPr lang="en-US" sz="1600" b="0" dirty="0">
                          <a:solidFill>
                            <a:srgbClr val="3D3D3A"/>
                          </a:solidFill>
                          <a:effectLst/>
                        </a:rPr>
                        <a:t>Manifest indicators (binary LCA items)</a:t>
                      </a:r>
                    </a:p>
                  </a:txBody>
                  <a:tcPr marL="34550" marR="34550" marT="17275" marB="17275">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lnL w="12700" cmpd="sng">
                      <a:noFill/>
                      <a:prstDash val="solid"/>
                    </a:lnL>
                    <a:lnT w="12700" cmpd="sng">
                      <a:noFill/>
                      <a:prstDash val="solid"/>
                    </a:lnT>
                  </a:tcPr>
                </a:tc>
                <a:tc hMerge="1">
                  <a:txBody>
                    <a:bodyPr/>
                    <a:lstStyle/>
                    <a:p>
                      <a:endParaRPr lang="en-US"/>
                    </a:p>
                  </a:txBody>
                  <a:tcPr>
                    <a:lnT>
                      <a:noFill/>
                    </a:lnT>
                  </a:tcPr>
                </a:tc>
                <a:tc hMerge="1">
                  <a:txBody>
                    <a:bodyPr/>
                    <a:lstStyle/>
                    <a:p>
                      <a:endParaRPr lang="en-US"/>
                    </a:p>
                  </a:txBody>
                  <a:tcPr>
                    <a:lnT w="12700" cmpd="sng">
                      <a:noFill/>
                      <a:prstDash val="solid"/>
                    </a:lnT>
                  </a:tcPr>
                </a:tc>
                <a:tc hMerge="1">
                  <a:txBody>
                    <a:bodyPr/>
                    <a:lstStyle/>
                    <a:p>
                      <a:pPr algn="l" fontAlgn="t">
                        <a:buNone/>
                      </a:pPr>
                      <a:endParaRPr lang="en-US" sz="1400" b="0" dirty="0">
                        <a:solidFill>
                          <a:srgbClr val="3D3D3A"/>
                        </a:solidFill>
                        <a:effectLst/>
                      </a:endParaRPr>
                    </a:p>
                  </a:txBody>
                  <a:tcPr marL="34550" marR="34550" marT="17275" marB="17275">
                    <a:lnL>
                      <a:noFill/>
                    </a:lnL>
                    <a:lnR>
                      <a:noFill/>
                    </a:lnR>
                    <a:lnT>
                      <a:noFill/>
                    </a:lnT>
                    <a:lnB>
                      <a:noFill/>
                    </a:lnB>
                    <a:noFill/>
                  </a:tcPr>
                </a:tc>
                <a:tc hMerge="1">
                  <a:txBody>
                    <a:bodyPr/>
                    <a:lstStyle/>
                    <a:p>
                      <a:pPr algn="l" fontAlgn="t">
                        <a:buNone/>
                      </a:pPr>
                      <a:endParaRPr lang="en-US" sz="1400" b="0" dirty="0">
                        <a:solidFill>
                          <a:srgbClr val="3D3D3A"/>
                        </a:solidFill>
                        <a:effectLst/>
                      </a:endParaRPr>
                    </a:p>
                  </a:txBody>
                  <a:tcPr marL="34550" marR="34550" marT="17275" marB="17275">
                    <a:lnL>
                      <a:noFill/>
                    </a:lnL>
                    <a:lnR>
                      <a:noFill/>
                    </a:lnR>
                    <a:lnT>
                      <a:noFill/>
                    </a:lnT>
                    <a:lnB>
                      <a:noFill/>
                    </a:lnB>
                    <a:noFill/>
                  </a:tcPr>
                </a:tc>
                <a:extLst>
                  <a:ext uri="{0D108BD9-81ED-4DB2-BD59-A6C34878D82A}">
                    <a16:rowId xmlns:a16="http://schemas.microsoft.com/office/drawing/2014/main" val="2767988147"/>
                  </a:ext>
                </a:extLst>
              </a:tr>
              <a:tr h="460667">
                <a:tc>
                  <a:txBody>
                    <a:bodyPr/>
                    <a:lstStyle/>
                    <a:p>
                      <a:pPr fontAlgn="t">
                        <a:buNone/>
                      </a:pPr>
                      <a:r>
                        <a:rPr lang="en-US" sz="1600" b="1" dirty="0">
                          <a:solidFill>
                            <a:schemeClr val="tx1"/>
                          </a:solidFill>
                          <a:effectLst/>
                          <a:latin typeface="ui-monospace"/>
                        </a:rPr>
                        <a:t>CIH_MUSART</a:t>
                      </a:r>
                      <a:endParaRPr lang="en-US" sz="1600" b="1" dirty="0">
                        <a:solidFill>
                          <a:schemeClr val="tx1"/>
                        </a:solidFill>
                        <a:effectLst/>
                      </a:endParaRPr>
                    </a:p>
                  </a:txBody>
                  <a:tcPr marL="34550" marR="34550" marT="23033" marB="23033" anchor="ctr">
                    <a:lnL>
                      <a:noFill/>
                    </a:lnL>
                    <a:lnR>
                      <a:noFill/>
                    </a:lnR>
                    <a:lnT w="12700" cap="flat" cmpd="sng" algn="ctr">
                      <a:solidFill>
                        <a:schemeClr val="tx1"/>
                      </a:solidFill>
                      <a:prstDash val="solid"/>
                      <a:round/>
                      <a:headEnd type="none" w="med" len="med"/>
                      <a:tailEnd type="none" w="med" len="med"/>
                    </a:lnT>
                    <a:lnB>
                      <a:noFill/>
                    </a:lnB>
                    <a:noFill/>
                  </a:tcPr>
                </a:tc>
                <a:tc gridSpan="2">
                  <a:txBody>
                    <a:bodyPr/>
                    <a:lstStyle/>
                    <a:p>
                      <a:pPr fontAlgn="t">
                        <a:buNone/>
                      </a:pPr>
                      <a:r>
                        <a:rPr lang="en-US" sz="1600" dirty="0">
                          <a:solidFill>
                            <a:srgbClr val="141413"/>
                          </a:solidFill>
                          <a:effectLst/>
                        </a:rPr>
                        <a:t>Past 3 months, practiced music/art for health</a:t>
                      </a:r>
                    </a:p>
                  </a:txBody>
                  <a:tcPr marL="34550" marR="34550" marT="23033" marB="23033" anchor="ctr">
                    <a:lnL>
                      <a:noFill/>
                    </a:lnL>
                    <a:lnR>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hMerge="1">
                  <a:txBody>
                    <a:bodyPr/>
                    <a:lstStyle/>
                    <a:p>
                      <a:pPr algn="ctr" fontAlgn="t">
                        <a:buNone/>
                      </a:pPr>
                      <a:r>
                        <a:rPr lang="en-US" sz="1400" dirty="0">
                          <a:solidFill>
                            <a:srgbClr val="141413"/>
                          </a:solidFill>
                          <a:effectLst/>
                        </a:rPr>
                        <a:t>0 = No, 1 = Yes</a:t>
                      </a:r>
                    </a:p>
                  </a:txBody>
                  <a:tcPr marL="34550" marR="34550" marT="23033" marB="23033">
                    <a:lnL>
                      <a:noFill/>
                    </a:lnL>
                    <a:lnR>
                      <a:noFill/>
                    </a:lnR>
                    <a:lnB>
                      <a:noFill/>
                    </a:lnB>
                    <a:noFill/>
                  </a:tcPr>
                </a:tc>
                <a:tc>
                  <a:txBody>
                    <a:bodyPr/>
                    <a:lstStyle/>
                    <a:p>
                      <a:pPr algn="ctr" fontAlgn="t">
                        <a:buNone/>
                      </a:pPr>
                      <a:r>
                        <a:rPr lang="en-US" sz="1600" dirty="0">
                          <a:solidFill>
                            <a:srgbClr val="141413"/>
                          </a:solidFill>
                          <a:effectLst/>
                        </a:rPr>
                        <a:t>0 = No, 1 = Yes</a:t>
                      </a:r>
                    </a:p>
                  </a:txBody>
                  <a:tcPr marL="34550" marR="34550" marT="23033" marB="23033" anchor="ctr">
                    <a:lnL>
                      <a:noFill/>
                    </a:lnL>
                    <a:lnR>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gridSpan="2">
                  <a:txBody>
                    <a:bodyPr/>
                    <a:lstStyle/>
                    <a:p>
                      <a:pPr algn="ctr" fontAlgn="t">
                        <a:buNone/>
                      </a:pPr>
                      <a:r>
                        <a:rPr lang="en-US" sz="1600" dirty="0">
                          <a:solidFill>
                            <a:srgbClr val="141413"/>
                          </a:solidFill>
                          <a:effectLst/>
                        </a:rPr>
                        <a:t>12.0% Yes (unweighted); intended for exploratory/benchmarking use</a:t>
                      </a:r>
                    </a:p>
                  </a:txBody>
                  <a:tcPr marL="34550" marR="34550" marT="23033" marB="23033" anchor="ctr">
                    <a:lnL>
                      <a:noFill/>
                    </a:lnL>
                    <a:lnR>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hMerge="1">
                  <a:txBody>
                    <a:bodyPr/>
                    <a:lstStyle/>
                    <a:p>
                      <a:pPr algn="ctr" fontAlgn="t">
                        <a:buNone/>
                      </a:pPr>
                      <a:endParaRPr lang="en-US" sz="1400" dirty="0">
                        <a:solidFill>
                          <a:srgbClr val="141413"/>
                        </a:solidFill>
                        <a:effectLst/>
                      </a:endParaRPr>
                    </a:p>
                  </a:txBody>
                  <a:tcPr marL="34550" marR="34550" marT="23033" marB="23033">
                    <a:lnL>
                      <a:noFill/>
                    </a:lnL>
                    <a:lnR>
                      <a:noFill/>
                    </a:lnR>
                    <a:lnT>
                      <a:noFill/>
                    </a:lnT>
                    <a:lnB>
                      <a:noFill/>
                    </a:lnB>
                    <a:noFill/>
                  </a:tcPr>
                </a:tc>
                <a:extLst>
                  <a:ext uri="{0D108BD9-81ED-4DB2-BD59-A6C34878D82A}">
                    <a16:rowId xmlns:a16="http://schemas.microsoft.com/office/drawing/2014/main" val="159333822"/>
                  </a:ext>
                </a:extLst>
              </a:tr>
              <a:tr h="460667">
                <a:tc>
                  <a:txBody>
                    <a:bodyPr/>
                    <a:lstStyle/>
                    <a:p>
                      <a:pPr fontAlgn="t">
                        <a:buNone/>
                      </a:pPr>
                      <a:r>
                        <a:rPr lang="en-US" sz="1600" b="1" dirty="0">
                          <a:solidFill>
                            <a:schemeClr val="tx1"/>
                          </a:solidFill>
                          <a:effectLst/>
                          <a:latin typeface="ui-monospace"/>
                        </a:rPr>
                        <a:t>CIH_QIGONG</a:t>
                      </a:r>
                      <a:endParaRPr lang="en-US" sz="1600" b="1" dirty="0">
                        <a:solidFill>
                          <a:schemeClr val="tx1"/>
                        </a:solidFill>
                        <a:effectLst/>
                      </a:endParaRPr>
                    </a:p>
                  </a:txBody>
                  <a:tcPr marL="34550" marR="34550" marT="23033" marB="23033" anchor="ctr">
                    <a:lnL>
                      <a:noFill/>
                    </a:lnL>
                    <a:lnR>
                      <a:noFill/>
                    </a:lnR>
                    <a:lnT>
                      <a:noFill/>
                    </a:lnT>
                    <a:lnB>
                      <a:noFill/>
                    </a:lnB>
                    <a:noFill/>
                  </a:tcPr>
                </a:tc>
                <a:tc gridSpan="2">
                  <a:txBody>
                    <a:bodyPr/>
                    <a:lstStyle/>
                    <a:p>
                      <a:pPr fontAlgn="t">
                        <a:buNone/>
                      </a:pPr>
                      <a:r>
                        <a:rPr lang="en-US" sz="1600" dirty="0">
                          <a:solidFill>
                            <a:srgbClr val="141413"/>
                          </a:solidFill>
                          <a:effectLst/>
                        </a:rPr>
                        <a:t>Past 12 months, practiced Qi Gong for health</a:t>
                      </a:r>
                    </a:p>
                  </a:txBody>
                  <a:tcPr marL="34550" marR="34550" marT="23033" marB="23033" anchor="ctr">
                    <a:lnL>
                      <a:noFill/>
                    </a:lnL>
                    <a:lnR>
                      <a:noFill/>
                    </a:lnR>
                    <a:lnT w="12700" cap="flat" cmpd="sng" algn="ctr">
                      <a:noFill/>
                      <a:prstDash val="solid"/>
                      <a:round/>
                      <a:headEnd type="none" w="med" len="med"/>
                      <a:tailEnd type="none" w="med" len="med"/>
                    </a:lnT>
                    <a:lnB>
                      <a:noFill/>
                    </a:lnB>
                    <a:noFill/>
                  </a:tcPr>
                </a:tc>
                <a:tc hMerge="1">
                  <a:txBody>
                    <a:bodyPr/>
                    <a:lstStyle/>
                    <a:p>
                      <a:pPr algn="ctr" fontAlgn="t">
                        <a:buNone/>
                      </a:pPr>
                      <a:r>
                        <a:rPr lang="en-US" sz="1400" dirty="0">
                          <a:solidFill>
                            <a:srgbClr val="141413"/>
                          </a:solidFill>
                          <a:effectLst/>
                        </a:rPr>
                        <a:t>0 = No, 1 = Yes</a:t>
                      </a:r>
                    </a:p>
                  </a:txBody>
                  <a:tcPr marL="34550" marR="34550" marT="23033" marB="23033">
                    <a:lnL>
                      <a:noFill/>
                    </a:lnL>
                    <a:lnR>
                      <a:noFill/>
                    </a:lnR>
                    <a:lnT>
                      <a:noFill/>
                    </a:lnT>
                    <a:lnB>
                      <a:noFill/>
                    </a:lnB>
                    <a:noFill/>
                  </a:tcPr>
                </a:tc>
                <a:tc>
                  <a:txBody>
                    <a:bodyPr/>
                    <a:lstStyle/>
                    <a:p>
                      <a:pPr algn="ctr" fontAlgn="t">
                        <a:buNone/>
                      </a:pPr>
                      <a:r>
                        <a:rPr lang="en-US" sz="1600" dirty="0">
                          <a:solidFill>
                            <a:srgbClr val="141413"/>
                          </a:solidFill>
                          <a:effectLst/>
                        </a:rPr>
                        <a:t>0 = No, 1 = Yes</a:t>
                      </a:r>
                    </a:p>
                  </a:txBody>
                  <a:tcPr marL="34550" marR="34550" marT="23033" marB="23033" anchor="ctr">
                    <a:lnL>
                      <a:noFill/>
                    </a:lnL>
                    <a:lnR>
                      <a:noFill/>
                    </a:lnR>
                    <a:lnT w="12700" cap="flat" cmpd="sng" algn="ctr">
                      <a:noFill/>
                      <a:prstDash val="solid"/>
                      <a:round/>
                      <a:headEnd type="none" w="med" len="med"/>
                      <a:tailEnd type="none" w="med" len="med"/>
                    </a:lnT>
                    <a:lnB>
                      <a:noFill/>
                    </a:lnB>
                    <a:noFill/>
                  </a:tcPr>
                </a:tc>
                <a:tc gridSpan="2">
                  <a:txBody>
                    <a:bodyPr/>
                    <a:lstStyle/>
                    <a:p>
                      <a:pPr algn="ctr" fontAlgn="t">
                        <a:buNone/>
                      </a:pPr>
                      <a:r>
                        <a:rPr lang="en-US" sz="1600">
                          <a:solidFill>
                            <a:srgbClr val="141413"/>
                          </a:solidFill>
                          <a:effectLst/>
                        </a:rPr>
                        <a:t>1.4% Yes (unweighted)</a:t>
                      </a:r>
                      <a:endParaRPr lang="en-US" sz="1600" dirty="0">
                        <a:solidFill>
                          <a:srgbClr val="141413"/>
                        </a:solidFill>
                        <a:effectLst/>
                      </a:endParaRPr>
                    </a:p>
                  </a:txBody>
                  <a:tcPr marL="34550" marR="34550" marT="23033" marB="23033" anchor="ctr">
                    <a:lnL>
                      <a:noFill/>
                    </a:lnL>
                    <a:lnR>
                      <a:noFill/>
                    </a:lnR>
                    <a:lnT w="12700" cap="flat" cmpd="sng" algn="ctr">
                      <a:noFill/>
                      <a:prstDash val="solid"/>
                      <a:round/>
                      <a:headEnd type="none" w="med" len="med"/>
                      <a:tailEnd type="none" w="med" len="med"/>
                    </a:lnT>
                    <a:lnB>
                      <a:noFill/>
                    </a:lnB>
                    <a:noFill/>
                  </a:tcPr>
                </a:tc>
                <a:tc hMerge="1">
                  <a:txBody>
                    <a:bodyPr/>
                    <a:lstStyle/>
                    <a:p>
                      <a:pPr algn="ctr" fontAlgn="t">
                        <a:buNone/>
                      </a:pPr>
                      <a:endParaRPr lang="en-US" sz="1400" dirty="0">
                        <a:solidFill>
                          <a:srgbClr val="141413"/>
                        </a:solidFill>
                        <a:effectLst/>
                      </a:endParaRPr>
                    </a:p>
                  </a:txBody>
                  <a:tcPr marL="34550" marR="34550" marT="23033" marB="23033">
                    <a:lnL>
                      <a:noFill/>
                    </a:lnL>
                    <a:lnR>
                      <a:noFill/>
                    </a:lnR>
                    <a:lnT>
                      <a:noFill/>
                    </a:lnT>
                    <a:lnB>
                      <a:noFill/>
                    </a:lnB>
                    <a:noFill/>
                  </a:tcPr>
                </a:tc>
                <a:extLst>
                  <a:ext uri="{0D108BD9-81ED-4DB2-BD59-A6C34878D82A}">
                    <a16:rowId xmlns:a16="http://schemas.microsoft.com/office/drawing/2014/main" val="1464073128"/>
                  </a:ext>
                </a:extLst>
              </a:tr>
              <a:tr h="377747">
                <a:tc>
                  <a:txBody>
                    <a:bodyPr/>
                    <a:lstStyle/>
                    <a:p>
                      <a:pPr fontAlgn="t">
                        <a:buNone/>
                      </a:pPr>
                      <a:r>
                        <a:rPr lang="en-US" sz="1600" b="1">
                          <a:solidFill>
                            <a:schemeClr val="tx1"/>
                          </a:solidFill>
                          <a:effectLst/>
                          <a:latin typeface="ui-monospace"/>
                        </a:rPr>
                        <a:t>CIH_TAICHI</a:t>
                      </a:r>
                      <a:endParaRPr lang="en-US" sz="1600" b="1">
                        <a:solidFill>
                          <a:schemeClr val="tx1"/>
                        </a:solidFill>
                        <a:effectLst/>
                      </a:endParaRPr>
                    </a:p>
                  </a:txBody>
                  <a:tcPr marL="34550" marR="34550" marT="23033" marB="23033" anchor="ctr">
                    <a:lnL>
                      <a:noFill/>
                    </a:lnL>
                    <a:lnR>
                      <a:noFill/>
                    </a:lnR>
                    <a:lnT>
                      <a:noFill/>
                    </a:lnT>
                    <a:lnB>
                      <a:noFill/>
                    </a:lnB>
                    <a:noFill/>
                  </a:tcPr>
                </a:tc>
                <a:tc gridSpan="2">
                  <a:txBody>
                    <a:bodyPr/>
                    <a:lstStyle/>
                    <a:p>
                      <a:pPr fontAlgn="t">
                        <a:buNone/>
                      </a:pPr>
                      <a:r>
                        <a:rPr lang="en-US" sz="1600" dirty="0">
                          <a:solidFill>
                            <a:srgbClr val="141413"/>
                          </a:solidFill>
                          <a:effectLst/>
                        </a:rPr>
                        <a:t>Past 12 months, practiced Tai Chi for health</a:t>
                      </a:r>
                    </a:p>
                  </a:txBody>
                  <a:tcPr marL="34550" marR="34550" marT="23033" marB="23033" anchor="ctr">
                    <a:lnL>
                      <a:noFill/>
                    </a:lnL>
                    <a:lnR>
                      <a:noFill/>
                    </a:lnR>
                    <a:lnT>
                      <a:noFill/>
                    </a:lnT>
                    <a:lnB>
                      <a:noFill/>
                    </a:lnB>
                    <a:noFill/>
                  </a:tcPr>
                </a:tc>
                <a:tc hMerge="1">
                  <a:txBody>
                    <a:bodyPr/>
                    <a:lstStyle/>
                    <a:p>
                      <a:pPr algn="ctr" fontAlgn="t">
                        <a:buNone/>
                      </a:pPr>
                      <a:r>
                        <a:rPr lang="en-US" sz="1400" dirty="0">
                          <a:solidFill>
                            <a:srgbClr val="141413"/>
                          </a:solidFill>
                          <a:effectLst/>
                        </a:rPr>
                        <a:t>0 = No, 1 = Yes</a:t>
                      </a:r>
                    </a:p>
                  </a:txBody>
                  <a:tcPr marL="34550" marR="34550" marT="23033" marB="23033">
                    <a:lnL>
                      <a:noFill/>
                    </a:lnL>
                    <a:lnR>
                      <a:noFill/>
                    </a:lnR>
                    <a:lnT>
                      <a:noFill/>
                    </a:lnT>
                    <a:lnB>
                      <a:noFill/>
                    </a:lnB>
                    <a:noFill/>
                  </a:tcPr>
                </a:tc>
                <a:tc>
                  <a:txBody>
                    <a:bodyPr/>
                    <a:lstStyle/>
                    <a:p>
                      <a:pPr algn="ctr" fontAlgn="t">
                        <a:buNone/>
                      </a:pPr>
                      <a:r>
                        <a:rPr lang="en-US" sz="1600" dirty="0">
                          <a:solidFill>
                            <a:srgbClr val="141413"/>
                          </a:solidFill>
                          <a:effectLst/>
                        </a:rPr>
                        <a:t>0 = No, 1 = Yes</a:t>
                      </a:r>
                    </a:p>
                  </a:txBody>
                  <a:tcPr marL="34550" marR="34550" marT="23033" marB="23033" anchor="ctr">
                    <a:lnL>
                      <a:noFill/>
                    </a:lnL>
                    <a:lnR>
                      <a:noFill/>
                    </a:lnR>
                    <a:lnT>
                      <a:noFill/>
                    </a:lnT>
                    <a:lnB>
                      <a:noFill/>
                    </a:lnB>
                    <a:noFill/>
                  </a:tcPr>
                </a:tc>
                <a:tc gridSpan="2">
                  <a:txBody>
                    <a:bodyPr/>
                    <a:lstStyle/>
                    <a:p>
                      <a:pPr algn="ctr" fontAlgn="t">
                        <a:buNone/>
                      </a:pPr>
                      <a:r>
                        <a:rPr lang="en-US" sz="1600">
                          <a:solidFill>
                            <a:srgbClr val="141413"/>
                          </a:solidFill>
                          <a:effectLst/>
                        </a:rPr>
                        <a:t>2.4% Yes (unweighted)</a:t>
                      </a:r>
                      <a:endParaRPr lang="en-US" sz="1600" dirty="0">
                        <a:solidFill>
                          <a:srgbClr val="141413"/>
                        </a:solidFill>
                        <a:effectLst/>
                      </a:endParaRPr>
                    </a:p>
                  </a:txBody>
                  <a:tcPr marL="34550" marR="34550" marT="23033" marB="23033" anchor="ctr">
                    <a:lnL>
                      <a:noFill/>
                    </a:lnL>
                    <a:lnR>
                      <a:noFill/>
                    </a:lnR>
                    <a:lnT>
                      <a:noFill/>
                    </a:lnT>
                    <a:lnB>
                      <a:noFill/>
                    </a:lnB>
                    <a:noFill/>
                  </a:tcPr>
                </a:tc>
                <a:tc hMerge="1">
                  <a:txBody>
                    <a:bodyPr/>
                    <a:lstStyle/>
                    <a:p>
                      <a:pPr algn="ctr" fontAlgn="t">
                        <a:buNone/>
                      </a:pPr>
                      <a:endParaRPr lang="en-US" sz="1400" dirty="0">
                        <a:solidFill>
                          <a:srgbClr val="141413"/>
                        </a:solidFill>
                        <a:effectLst/>
                      </a:endParaRPr>
                    </a:p>
                  </a:txBody>
                  <a:tcPr marL="34550" marR="34550" marT="23033" marB="23033">
                    <a:lnL>
                      <a:noFill/>
                    </a:lnL>
                    <a:lnR>
                      <a:noFill/>
                    </a:lnR>
                    <a:lnT>
                      <a:noFill/>
                    </a:lnT>
                    <a:lnB>
                      <a:noFill/>
                    </a:lnB>
                    <a:noFill/>
                  </a:tcPr>
                </a:tc>
                <a:extLst>
                  <a:ext uri="{0D108BD9-81ED-4DB2-BD59-A6C34878D82A}">
                    <a16:rowId xmlns:a16="http://schemas.microsoft.com/office/drawing/2014/main" val="985976739"/>
                  </a:ext>
                </a:extLst>
              </a:tr>
              <a:tr h="377747">
                <a:tc>
                  <a:txBody>
                    <a:bodyPr/>
                    <a:lstStyle/>
                    <a:p>
                      <a:pPr fontAlgn="t">
                        <a:buNone/>
                      </a:pPr>
                      <a:r>
                        <a:rPr lang="en-US" sz="1600" b="1" dirty="0">
                          <a:solidFill>
                            <a:schemeClr val="tx1"/>
                          </a:solidFill>
                          <a:effectLst/>
                          <a:latin typeface="ui-monospace"/>
                        </a:rPr>
                        <a:t>CIH_ACUPUN</a:t>
                      </a:r>
                      <a:endParaRPr lang="en-US" sz="1600" b="1" dirty="0">
                        <a:solidFill>
                          <a:schemeClr val="tx1"/>
                        </a:solidFill>
                        <a:effectLst/>
                      </a:endParaRPr>
                    </a:p>
                  </a:txBody>
                  <a:tcPr marL="34550" marR="34550" marT="23033" marB="23033" anchor="ctr">
                    <a:lnL>
                      <a:noFill/>
                    </a:lnL>
                    <a:lnR>
                      <a:noFill/>
                    </a:lnR>
                    <a:lnT>
                      <a:noFill/>
                    </a:lnT>
                    <a:lnB>
                      <a:noFill/>
                    </a:lnB>
                    <a:noFill/>
                  </a:tcPr>
                </a:tc>
                <a:tc gridSpan="2">
                  <a:txBody>
                    <a:bodyPr/>
                    <a:lstStyle/>
                    <a:p>
                      <a:pPr fontAlgn="t">
                        <a:buNone/>
                      </a:pPr>
                      <a:r>
                        <a:rPr lang="en-US" sz="1600" dirty="0">
                          <a:solidFill>
                            <a:srgbClr val="141413"/>
                          </a:solidFill>
                          <a:effectLst/>
                        </a:rPr>
                        <a:t>Past 12 months, saw acupuncture practitioner</a:t>
                      </a:r>
                    </a:p>
                  </a:txBody>
                  <a:tcPr marL="34550" marR="34550" marT="23033" marB="23033" anchor="ctr">
                    <a:lnL>
                      <a:noFill/>
                    </a:lnL>
                    <a:lnR>
                      <a:noFill/>
                    </a:lnR>
                    <a:lnT>
                      <a:noFill/>
                    </a:lnT>
                    <a:lnB>
                      <a:noFill/>
                    </a:lnB>
                    <a:noFill/>
                  </a:tcPr>
                </a:tc>
                <a:tc hMerge="1">
                  <a:txBody>
                    <a:bodyPr/>
                    <a:lstStyle/>
                    <a:p>
                      <a:pPr algn="ctr" fontAlgn="t">
                        <a:buNone/>
                      </a:pPr>
                      <a:r>
                        <a:rPr lang="en-US" sz="1400" dirty="0">
                          <a:solidFill>
                            <a:srgbClr val="141413"/>
                          </a:solidFill>
                          <a:effectLst/>
                        </a:rPr>
                        <a:t>0 = No, 1 = Yes</a:t>
                      </a:r>
                    </a:p>
                  </a:txBody>
                  <a:tcPr marL="34550" marR="34550" marT="23033" marB="23033">
                    <a:lnL>
                      <a:noFill/>
                    </a:lnL>
                    <a:lnR>
                      <a:noFill/>
                    </a:lnR>
                    <a:lnT>
                      <a:noFill/>
                    </a:lnT>
                    <a:lnB>
                      <a:noFill/>
                    </a:lnB>
                    <a:noFill/>
                  </a:tcPr>
                </a:tc>
                <a:tc>
                  <a:txBody>
                    <a:bodyPr/>
                    <a:lstStyle/>
                    <a:p>
                      <a:pPr algn="ctr" fontAlgn="t">
                        <a:buNone/>
                      </a:pPr>
                      <a:r>
                        <a:rPr lang="en-US" sz="1600" dirty="0">
                          <a:solidFill>
                            <a:srgbClr val="141413"/>
                          </a:solidFill>
                          <a:effectLst/>
                        </a:rPr>
                        <a:t>0 = No, 1 = Yes</a:t>
                      </a:r>
                    </a:p>
                  </a:txBody>
                  <a:tcPr marL="34550" marR="34550" marT="23033" marB="23033" anchor="ctr">
                    <a:lnL>
                      <a:noFill/>
                    </a:lnL>
                    <a:lnR>
                      <a:noFill/>
                    </a:lnR>
                    <a:lnT>
                      <a:noFill/>
                    </a:lnT>
                    <a:lnB>
                      <a:noFill/>
                    </a:lnB>
                    <a:noFill/>
                  </a:tcPr>
                </a:tc>
                <a:tc gridSpan="2">
                  <a:txBody>
                    <a:bodyPr/>
                    <a:lstStyle/>
                    <a:p>
                      <a:pPr algn="ctr" fontAlgn="t">
                        <a:buNone/>
                      </a:pPr>
                      <a:r>
                        <a:rPr lang="en-US" sz="1600" dirty="0">
                          <a:solidFill>
                            <a:srgbClr val="141413"/>
                          </a:solidFill>
                          <a:effectLst/>
                        </a:rPr>
                        <a:t>3.5% Yes (unweighted)</a:t>
                      </a:r>
                    </a:p>
                  </a:txBody>
                  <a:tcPr marL="34550" marR="34550" marT="23033" marB="23033" anchor="ctr">
                    <a:lnL>
                      <a:noFill/>
                    </a:lnL>
                    <a:lnR>
                      <a:noFill/>
                    </a:lnR>
                    <a:lnT>
                      <a:noFill/>
                    </a:lnT>
                    <a:lnB>
                      <a:noFill/>
                    </a:lnB>
                    <a:noFill/>
                  </a:tcPr>
                </a:tc>
                <a:tc hMerge="1">
                  <a:txBody>
                    <a:bodyPr/>
                    <a:lstStyle/>
                    <a:p>
                      <a:pPr algn="ctr" fontAlgn="t">
                        <a:buNone/>
                      </a:pPr>
                      <a:endParaRPr lang="en-US" sz="1400" dirty="0">
                        <a:solidFill>
                          <a:srgbClr val="141413"/>
                        </a:solidFill>
                        <a:effectLst/>
                      </a:endParaRPr>
                    </a:p>
                  </a:txBody>
                  <a:tcPr marL="34550" marR="34550" marT="23033" marB="23033">
                    <a:lnL>
                      <a:noFill/>
                    </a:lnL>
                    <a:lnR>
                      <a:noFill/>
                    </a:lnR>
                    <a:lnT>
                      <a:noFill/>
                    </a:lnT>
                    <a:lnB>
                      <a:noFill/>
                    </a:lnB>
                    <a:noFill/>
                  </a:tcPr>
                </a:tc>
                <a:extLst>
                  <a:ext uri="{0D108BD9-81ED-4DB2-BD59-A6C34878D82A}">
                    <a16:rowId xmlns:a16="http://schemas.microsoft.com/office/drawing/2014/main" val="113374616"/>
                  </a:ext>
                </a:extLst>
              </a:tr>
              <a:tr h="460667">
                <a:tc>
                  <a:txBody>
                    <a:bodyPr/>
                    <a:lstStyle/>
                    <a:p>
                      <a:pPr fontAlgn="t">
                        <a:buNone/>
                      </a:pPr>
                      <a:r>
                        <a:rPr lang="en-US" sz="1600" b="1" dirty="0">
                          <a:solidFill>
                            <a:schemeClr val="tx1"/>
                          </a:solidFill>
                          <a:effectLst/>
                          <a:latin typeface="ui-monospace"/>
                        </a:rPr>
                        <a:t>CIH_REIKI</a:t>
                      </a:r>
                      <a:endParaRPr lang="en-US" sz="1600" b="1" dirty="0">
                        <a:solidFill>
                          <a:schemeClr val="tx1"/>
                        </a:solidFill>
                        <a:effectLst/>
                      </a:endParaRPr>
                    </a:p>
                  </a:txBody>
                  <a:tcPr marL="34550" marR="34550" marT="23033" marB="23033" anchor="ctr">
                    <a:lnL>
                      <a:noFill/>
                    </a:lnL>
                    <a:lnR>
                      <a:noFill/>
                    </a:lnR>
                    <a:lnT>
                      <a:noFill/>
                    </a:lnT>
                    <a:lnB>
                      <a:noFill/>
                    </a:lnB>
                    <a:noFill/>
                  </a:tcPr>
                </a:tc>
                <a:tc gridSpan="2">
                  <a:txBody>
                    <a:bodyPr/>
                    <a:lstStyle/>
                    <a:p>
                      <a:pPr fontAlgn="t">
                        <a:buNone/>
                      </a:pPr>
                      <a:r>
                        <a:rPr lang="en-US" sz="1600">
                          <a:solidFill>
                            <a:srgbClr val="141413"/>
                          </a:solidFill>
                          <a:effectLst/>
                        </a:rPr>
                        <a:t>Past 12 months, saw energy healing/Reiki practitioner</a:t>
                      </a:r>
                    </a:p>
                  </a:txBody>
                  <a:tcPr marL="34550" marR="34550" marT="23033" marB="23033" anchor="ctr">
                    <a:lnL>
                      <a:noFill/>
                    </a:lnL>
                    <a:lnR>
                      <a:noFill/>
                    </a:lnR>
                    <a:lnT>
                      <a:noFill/>
                    </a:lnT>
                    <a:lnB>
                      <a:noFill/>
                    </a:lnB>
                    <a:noFill/>
                  </a:tcPr>
                </a:tc>
                <a:tc hMerge="1">
                  <a:txBody>
                    <a:bodyPr/>
                    <a:lstStyle/>
                    <a:p>
                      <a:pPr algn="ctr" fontAlgn="t">
                        <a:buNone/>
                      </a:pPr>
                      <a:r>
                        <a:rPr lang="en-US" sz="1400" dirty="0">
                          <a:solidFill>
                            <a:srgbClr val="141413"/>
                          </a:solidFill>
                          <a:effectLst/>
                        </a:rPr>
                        <a:t>0 = No, 1 = Yes</a:t>
                      </a:r>
                    </a:p>
                  </a:txBody>
                  <a:tcPr marL="34550" marR="34550" marT="23033" marB="23033">
                    <a:lnL>
                      <a:noFill/>
                    </a:lnL>
                    <a:lnR>
                      <a:noFill/>
                    </a:lnR>
                    <a:lnT>
                      <a:noFill/>
                    </a:lnT>
                    <a:lnB>
                      <a:noFill/>
                    </a:lnB>
                    <a:noFill/>
                  </a:tcPr>
                </a:tc>
                <a:tc>
                  <a:txBody>
                    <a:bodyPr/>
                    <a:lstStyle/>
                    <a:p>
                      <a:pPr algn="ctr" fontAlgn="t">
                        <a:buNone/>
                      </a:pPr>
                      <a:r>
                        <a:rPr lang="en-US" sz="1600" dirty="0">
                          <a:solidFill>
                            <a:srgbClr val="141413"/>
                          </a:solidFill>
                          <a:effectLst/>
                        </a:rPr>
                        <a:t>0 = No, 1 = Yes</a:t>
                      </a:r>
                    </a:p>
                  </a:txBody>
                  <a:tcPr marL="34550" marR="34550" marT="23033" marB="23033" anchor="ctr">
                    <a:lnL>
                      <a:noFill/>
                    </a:lnL>
                    <a:lnR>
                      <a:noFill/>
                    </a:lnR>
                    <a:lnT>
                      <a:noFill/>
                    </a:lnT>
                    <a:lnB>
                      <a:noFill/>
                    </a:lnB>
                    <a:noFill/>
                  </a:tcPr>
                </a:tc>
                <a:tc gridSpan="2">
                  <a:txBody>
                    <a:bodyPr/>
                    <a:lstStyle/>
                    <a:p>
                      <a:pPr algn="ctr" fontAlgn="t">
                        <a:buNone/>
                      </a:pPr>
                      <a:r>
                        <a:rPr lang="en-US" sz="1600" dirty="0">
                          <a:solidFill>
                            <a:srgbClr val="141413"/>
                          </a:solidFill>
                          <a:effectLst/>
                        </a:rPr>
                        <a:t>2.3% Yes (unweighted)</a:t>
                      </a:r>
                    </a:p>
                  </a:txBody>
                  <a:tcPr marL="34550" marR="34550" marT="23033" marB="23033" anchor="ctr">
                    <a:lnL>
                      <a:noFill/>
                    </a:lnL>
                    <a:lnR>
                      <a:noFill/>
                    </a:lnR>
                    <a:lnT>
                      <a:noFill/>
                    </a:lnT>
                    <a:lnB>
                      <a:noFill/>
                    </a:lnB>
                    <a:noFill/>
                  </a:tcPr>
                </a:tc>
                <a:tc hMerge="1">
                  <a:txBody>
                    <a:bodyPr/>
                    <a:lstStyle/>
                    <a:p>
                      <a:pPr algn="ctr" fontAlgn="t">
                        <a:buNone/>
                      </a:pPr>
                      <a:endParaRPr lang="en-US" sz="1400" dirty="0">
                        <a:solidFill>
                          <a:srgbClr val="141413"/>
                        </a:solidFill>
                        <a:effectLst/>
                      </a:endParaRPr>
                    </a:p>
                  </a:txBody>
                  <a:tcPr marL="34550" marR="34550" marT="23033" marB="23033">
                    <a:lnL>
                      <a:noFill/>
                    </a:lnL>
                    <a:lnR>
                      <a:noFill/>
                    </a:lnR>
                    <a:lnT>
                      <a:noFill/>
                    </a:lnT>
                    <a:lnB>
                      <a:noFill/>
                    </a:lnB>
                    <a:noFill/>
                  </a:tcPr>
                </a:tc>
                <a:extLst>
                  <a:ext uri="{0D108BD9-81ED-4DB2-BD59-A6C34878D82A}">
                    <a16:rowId xmlns:a16="http://schemas.microsoft.com/office/drawing/2014/main" val="4125474005"/>
                  </a:ext>
                </a:extLst>
              </a:tr>
              <a:tr h="377747">
                <a:tc>
                  <a:txBody>
                    <a:bodyPr/>
                    <a:lstStyle/>
                    <a:p>
                      <a:pPr fontAlgn="t">
                        <a:buNone/>
                      </a:pPr>
                      <a:r>
                        <a:rPr lang="en-US" sz="1600" b="1" dirty="0">
                          <a:solidFill>
                            <a:schemeClr val="tx1"/>
                          </a:solidFill>
                          <a:effectLst/>
                          <a:latin typeface="ui-monospace"/>
                        </a:rPr>
                        <a:t>CIH_HOMEO</a:t>
                      </a:r>
                      <a:endParaRPr lang="en-US" sz="1600" b="1" dirty="0">
                        <a:solidFill>
                          <a:schemeClr val="tx1"/>
                        </a:solidFill>
                        <a:effectLst/>
                      </a:endParaRPr>
                    </a:p>
                  </a:txBody>
                  <a:tcPr marL="34550" marR="34550" marT="23033" marB="23033" anchor="ctr">
                    <a:lnL>
                      <a:noFill/>
                    </a:lnL>
                    <a:lnR>
                      <a:noFill/>
                    </a:lnR>
                    <a:lnT>
                      <a:noFill/>
                    </a:lnT>
                    <a:lnB>
                      <a:noFill/>
                    </a:lnB>
                    <a:noFill/>
                  </a:tcPr>
                </a:tc>
                <a:tc gridSpan="2">
                  <a:txBody>
                    <a:bodyPr/>
                    <a:lstStyle/>
                    <a:p>
                      <a:pPr fontAlgn="t">
                        <a:buNone/>
                      </a:pPr>
                      <a:r>
                        <a:rPr lang="en-US" sz="1600">
                          <a:solidFill>
                            <a:srgbClr val="141413"/>
                          </a:solidFill>
                          <a:effectLst/>
                        </a:rPr>
                        <a:t>Past 12 months, saw homeopathy practitioner</a:t>
                      </a:r>
                    </a:p>
                  </a:txBody>
                  <a:tcPr marL="34550" marR="34550" marT="23033" marB="23033" anchor="ctr">
                    <a:lnL>
                      <a:noFill/>
                    </a:lnL>
                    <a:lnR>
                      <a:noFill/>
                    </a:lnR>
                    <a:lnT>
                      <a:noFill/>
                    </a:lnT>
                    <a:lnB>
                      <a:noFill/>
                    </a:lnB>
                    <a:noFill/>
                  </a:tcPr>
                </a:tc>
                <a:tc hMerge="1">
                  <a:txBody>
                    <a:bodyPr/>
                    <a:lstStyle/>
                    <a:p>
                      <a:pPr algn="ctr" fontAlgn="t">
                        <a:buNone/>
                      </a:pPr>
                      <a:r>
                        <a:rPr lang="en-US" sz="1400">
                          <a:solidFill>
                            <a:srgbClr val="141413"/>
                          </a:solidFill>
                          <a:effectLst/>
                        </a:rPr>
                        <a:t>0 = No, 1 = Yes</a:t>
                      </a:r>
                    </a:p>
                  </a:txBody>
                  <a:tcPr marL="34550" marR="34550" marT="23033" marB="23033">
                    <a:lnL>
                      <a:noFill/>
                    </a:lnL>
                    <a:lnR>
                      <a:noFill/>
                    </a:lnR>
                    <a:lnT>
                      <a:noFill/>
                    </a:lnT>
                    <a:lnB>
                      <a:noFill/>
                    </a:lnB>
                    <a:noFill/>
                  </a:tcPr>
                </a:tc>
                <a:tc>
                  <a:txBody>
                    <a:bodyPr/>
                    <a:lstStyle/>
                    <a:p>
                      <a:pPr algn="ctr" fontAlgn="t">
                        <a:buNone/>
                      </a:pPr>
                      <a:r>
                        <a:rPr lang="en-US" sz="1600">
                          <a:solidFill>
                            <a:srgbClr val="141413"/>
                          </a:solidFill>
                          <a:effectLst/>
                        </a:rPr>
                        <a:t>0 = No, 1 = Yes</a:t>
                      </a:r>
                    </a:p>
                  </a:txBody>
                  <a:tcPr marL="34550" marR="34550" marT="23033" marB="23033" anchor="ctr">
                    <a:lnL>
                      <a:noFill/>
                    </a:lnL>
                    <a:lnR>
                      <a:noFill/>
                    </a:lnR>
                    <a:lnT>
                      <a:noFill/>
                    </a:lnT>
                    <a:lnB>
                      <a:noFill/>
                    </a:lnB>
                    <a:noFill/>
                  </a:tcPr>
                </a:tc>
                <a:tc gridSpan="2">
                  <a:txBody>
                    <a:bodyPr/>
                    <a:lstStyle/>
                    <a:p>
                      <a:pPr algn="ctr" fontAlgn="t">
                        <a:buNone/>
                      </a:pPr>
                      <a:r>
                        <a:rPr lang="en-US" sz="1600" dirty="0">
                          <a:solidFill>
                            <a:srgbClr val="141413"/>
                          </a:solidFill>
                          <a:effectLst/>
                        </a:rPr>
                        <a:t>3.7% Yes (unweighted)</a:t>
                      </a:r>
                    </a:p>
                  </a:txBody>
                  <a:tcPr marL="34550" marR="34550" marT="23033" marB="23033" anchor="ctr">
                    <a:lnL>
                      <a:noFill/>
                    </a:lnL>
                    <a:lnR>
                      <a:noFill/>
                    </a:lnR>
                    <a:lnT>
                      <a:noFill/>
                    </a:lnT>
                    <a:lnB>
                      <a:noFill/>
                    </a:lnB>
                    <a:noFill/>
                  </a:tcPr>
                </a:tc>
                <a:tc hMerge="1">
                  <a:txBody>
                    <a:bodyPr/>
                    <a:lstStyle/>
                    <a:p>
                      <a:pPr algn="ctr" fontAlgn="t">
                        <a:buNone/>
                      </a:pPr>
                      <a:endParaRPr lang="en-US" sz="1400" dirty="0">
                        <a:solidFill>
                          <a:srgbClr val="141413"/>
                        </a:solidFill>
                        <a:effectLst/>
                      </a:endParaRPr>
                    </a:p>
                  </a:txBody>
                  <a:tcPr marL="34550" marR="34550" marT="23033" marB="23033">
                    <a:lnL>
                      <a:noFill/>
                    </a:lnL>
                    <a:lnR>
                      <a:noFill/>
                    </a:lnR>
                    <a:lnT>
                      <a:noFill/>
                    </a:lnT>
                    <a:lnB>
                      <a:noFill/>
                    </a:lnB>
                    <a:noFill/>
                  </a:tcPr>
                </a:tc>
                <a:extLst>
                  <a:ext uri="{0D108BD9-81ED-4DB2-BD59-A6C34878D82A}">
                    <a16:rowId xmlns:a16="http://schemas.microsoft.com/office/drawing/2014/main" val="4203694580"/>
                  </a:ext>
                </a:extLst>
              </a:tr>
              <a:tr h="792347">
                <a:tc>
                  <a:txBody>
                    <a:bodyPr/>
                    <a:lstStyle/>
                    <a:p>
                      <a:pPr fontAlgn="t">
                        <a:buNone/>
                      </a:pPr>
                      <a:r>
                        <a:rPr lang="en-US" sz="1600" b="1" dirty="0">
                          <a:solidFill>
                            <a:schemeClr val="tx1"/>
                          </a:solidFill>
                          <a:effectLst/>
                          <a:latin typeface="ui-monospace"/>
                        </a:rPr>
                        <a:t>CIH_HLTH12M</a:t>
                      </a:r>
                      <a:endParaRPr lang="en-US" sz="1600" b="1" dirty="0">
                        <a:solidFill>
                          <a:schemeClr val="tx1"/>
                        </a:solidFill>
                        <a:effectLst/>
                      </a:endParaRPr>
                    </a:p>
                  </a:txBody>
                  <a:tcPr marL="34550" marR="34550" marT="23033" marB="23033" anchor="ctr">
                    <a:lnL>
                      <a:noFill/>
                    </a:lnL>
                    <a:lnR>
                      <a:noFill/>
                    </a:lnR>
                    <a:lnT>
                      <a:noFill/>
                    </a:lnT>
                    <a:lnB>
                      <a:noFill/>
                    </a:lnB>
                    <a:noFill/>
                  </a:tcPr>
                </a:tc>
                <a:tc gridSpan="2">
                  <a:txBody>
                    <a:bodyPr/>
                    <a:lstStyle/>
                    <a:p>
                      <a:pPr fontAlgn="t">
                        <a:buNone/>
                      </a:pPr>
                      <a:r>
                        <a:rPr lang="en-US" sz="1600" dirty="0">
                          <a:solidFill>
                            <a:srgbClr val="141413"/>
                          </a:solidFill>
                          <a:effectLst/>
                        </a:rPr>
                        <a:t>Past 12 months, saw traditional healer (e.g., curandero, shaman, Native American healer)</a:t>
                      </a:r>
                    </a:p>
                  </a:txBody>
                  <a:tcPr marL="34550" marR="34550" marT="23033" marB="23033" anchor="ctr">
                    <a:lnL>
                      <a:noFill/>
                    </a:lnL>
                    <a:lnR>
                      <a:noFill/>
                    </a:lnR>
                    <a:lnT>
                      <a:noFill/>
                    </a:lnT>
                    <a:lnB>
                      <a:noFill/>
                    </a:lnB>
                    <a:noFill/>
                  </a:tcPr>
                </a:tc>
                <a:tc hMerge="1">
                  <a:txBody>
                    <a:bodyPr/>
                    <a:lstStyle/>
                    <a:p>
                      <a:pPr algn="ctr" fontAlgn="t">
                        <a:buNone/>
                      </a:pPr>
                      <a:r>
                        <a:rPr lang="en-US" sz="1400">
                          <a:solidFill>
                            <a:srgbClr val="141413"/>
                          </a:solidFill>
                          <a:effectLst/>
                        </a:rPr>
                        <a:t>0 = No, 1 = Yes</a:t>
                      </a:r>
                    </a:p>
                  </a:txBody>
                  <a:tcPr marL="34550" marR="34550" marT="23033" marB="23033">
                    <a:lnL>
                      <a:noFill/>
                    </a:lnL>
                    <a:lnR>
                      <a:noFill/>
                    </a:lnR>
                    <a:lnT>
                      <a:noFill/>
                    </a:lnT>
                    <a:lnB>
                      <a:noFill/>
                    </a:lnB>
                    <a:noFill/>
                  </a:tcPr>
                </a:tc>
                <a:tc>
                  <a:txBody>
                    <a:bodyPr/>
                    <a:lstStyle/>
                    <a:p>
                      <a:pPr algn="ctr" fontAlgn="t">
                        <a:buNone/>
                      </a:pPr>
                      <a:r>
                        <a:rPr lang="en-US" sz="1600" dirty="0">
                          <a:solidFill>
                            <a:srgbClr val="141413"/>
                          </a:solidFill>
                          <a:effectLst/>
                        </a:rPr>
                        <a:t>0 = No, 1 = Yes</a:t>
                      </a:r>
                    </a:p>
                  </a:txBody>
                  <a:tcPr marL="34550" marR="34550" marT="23033" marB="23033" anchor="ctr">
                    <a:lnL>
                      <a:noFill/>
                    </a:lnL>
                    <a:lnR>
                      <a:noFill/>
                    </a:lnR>
                    <a:lnT>
                      <a:noFill/>
                    </a:lnT>
                    <a:lnB>
                      <a:noFill/>
                    </a:lnB>
                    <a:noFill/>
                  </a:tcPr>
                </a:tc>
                <a:tc gridSpan="2">
                  <a:txBody>
                    <a:bodyPr/>
                    <a:lstStyle/>
                    <a:p>
                      <a:pPr algn="ctr" fontAlgn="t">
                        <a:buNone/>
                      </a:pPr>
                      <a:r>
                        <a:rPr lang="en-US" sz="1600" dirty="0">
                          <a:solidFill>
                            <a:srgbClr val="141413"/>
                          </a:solidFill>
                          <a:effectLst/>
                        </a:rPr>
                        <a:t>1.9% Yes (unweighted)</a:t>
                      </a:r>
                    </a:p>
                  </a:txBody>
                  <a:tcPr marL="34550" marR="34550" marT="23033" marB="23033" anchor="ctr">
                    <a:lnL>
                      <a:noFill/>
                    </a:lnL>
                    <a:lnR>
                      <a:noFill/>
                    </a:lnR>
                    <a:lnT>
                      <a:noFill/>
                    </a:lnT>
                    <a:lnB>
                      <a:noFill/>
                    </a:lnB>
                    <a:noFill/>
                  </a:tcPr>
                </a:tc>
                <a:tc hMerge="1">
                  <a:txBody>
                    <a:bodyPr/>
                    <a:lstStyle/>
                    <a:p>
                      <a:pPr algn="ctr" fontAlgn="t">
                        <a:buNone/>
                      </a:pPr>
                      <a:endParaRPr lang="en-US" sz="1400" dirty="0">
                        <a:solidFill>
                          <a:srgbClr val="141413"/>
                        </a:solidFill>
                        <a:effectLst/>
                      </a:endParaRPr>
                    </a:p>
                  </a:txBody>
                  <a:tcPr marL="34550" marR="34550" marT="23033" marB="23033">
                    <a:lnL>
                      <a:noFill/>
                    </a:lnL>
                    <a:lnR>
                      <a:noFill/>
                    </a:lnR>
                    <a:lnT>
                      <a:noFill/>
                    </a:lnT>
                    <a:lnB>
                      <a:noFill/>
                    </a:lnB>
                    <a:noFill/>
                  </a:tcPr>
                </a:tc>
                <a:extLst>
                  <a:ext uri="{0D108BD9-81ED-4DB2-BD59-A6C34878D82A}">
                    <a16:rowId xmlns:a16="http://schemas.microsoft.com/office/drawing/2014/main" val="2426489055"/>
                  </a:ext>
                </a:extLst>
              </a:tr>
            </a:tbl>
          </a:graphicData>
        </a:graphic>
      </p:graphicFrame>
    </p:spTree>
    <p:extLst>
      <p:ext uri="{BB962C8B-B14F-4D97-AF65-F5344CB8AC3E}">
        <p14:creationId xmlns:p14="http://schemas.microsoft.com/office/powerpoint/2010/main" val="19122579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13" name="Rectangle 12">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C0415B1-7854-16C5-E6D0-A33096620BF6}"/>
              </a:ext>
            </a:extLst>
          </p:cNvPr>
          <p:cNvSpPr>
            <a:spLocks noGrp="1"/>
          </p:cNvSpPr>
          <p:nvPr>
            <p:ph type="title"/>
          </p:nvPr>
        </p:nvSpPr>
        <p:spPr>
          <a:xfrm>
            <a:off x="685800" y="899024"/>
            <a:ext cx="10706100" cy="548777"/>
          </a:xfrm>
        </p:spPr>
        <p:txBody>
          <a:bodyPr vert="horz" lIns="91440" tIns="45720" rIns="91440" bIns="45720" rtlCol="0" anchor="t">
            <a:normAutofit fontScale="90000"/>
          </a:bodyPr>
          <a:lstStyle/>
          <a:p>
            <a:r>
              <a:rPr lang="en-US" cap="none" dirty="0">
                <a:latin typeface="Calibri" panose="020F0502020204030204" pitchFamily="34" charset="0"/>
                <a:ea typeface="Calibri" panose="020F0502020204030204" pitchFamily="34" charset="0"/>
                <a:cs typeface="Calibri" panose="020F0502020204030204" pitchFamily="34" charset="0"/>
              </a:rPr>
              <a:t>Latent class model fit indices (1 to 8 classes)</a:t>
            </a:r>
          </a:p>
        </p:txBody>
      </p:sp>
      <p:cxnSp>
        <p:nvCxnSpPr>
          <p:cNvPr id="15" name="Straight Connector 14">
            <a:extLst>
              <a:ext uri="{FF2B5EF4-FFF2-40B4-BE49-F238E27FC236}">
                <a16:creationId xmlns:a16="http://schemas.microsoft.com/office/drawing/2014/main" id="{EE2E603F-4A95-4FE8-BB06-211DFD75DBE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3716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4" name="Content Placeholder 3">
            <a:extLst>
              <a:ext uri="{FF2B5EF4-FFF2-40B4-BE49-F238E27FC236}">
                <a16:creationId xmlns:a16="http://schemas.microsoft.com/office/drawing/2014/main" id="{BAC243B7-571C-CA21-483E-4B2BCF0DC220}"/>
              </a:ext>
            </a:extLst>
          </p:cNvPr>
          <p:cNvGraphicFramePr>
            <a:graphicFrameLocks noGrp="1"/>
          </p:cNvGraphicFramePr>
          <p:nvPr>
            <p:ph idx="1"/>
            <p:extLst>
              <p:ext uri="{D42A27DB-BD31-4B8C-83A1-F6EECF244321}">
                <p14:modId xmlns:p14="http://schemas.microsoft.com/office/powerpoint/2010/main" val="443635523"/>
              </p:ext>
            </p:extLst>
          </p:nvPr>
        </p:nvGraphicFramePr>
        <p:xfrm>
          <a:off x="800100" y="1741469"/>
          <a:ext cx="10591802" cy="4392612"/>
        </p:xfrm>
        <a:graphic>
          <a:graphicData uri="http://schemas.openxmlformats.org/drawingml/2006/table">
            <a:tbl>
              <a:tblPr firstRow="1" firstCol="1" bandRow="1">
                <a:tableStyleId>{9D7B26C5-4107-4FEC-AEDC-1716B250A1EF}</a:tableStyleId>
              </a:tblPr>
              <a:tblGrid>
                <a:gridCol w="1561248">
                  <a:extLst>
                    <a:ext uri="{9D8B030D-6E8A-4147-A177-3AD203B41FA5}">
                      <a16:colId xmlns:a16="http://schemas.microsoft.com/office/drawing/2014/main" val="477804943"/>
                    </a:ext>
                  </a:extLst>
                </a:gridCol>
                <a:gridCol w="1139245">
                  <a:extLst>
                    <a:ext uri="{9D8B030D-6E8A-4147-A177-3AD203B41FA5}">
                      <a16:colId xmlns:a16="http://schemas.microsoft.com/office/drawing/2014/main" val="1985660907"/>
                    </a:ext>
                  </a:extLst>
                </a:gridCol>
                <a:gridCol w="1134240">
                  <a:extLst>
                    <a:ext uri="{9D8B030D-6E8A-4147-A177-3AD203B41FA5}">
                      <a16:colId xmlns:a16="http://schemas.microsoft.com/office/drawing/2014/main" val="603758406"/>
                    </a:ext>
                  </a:extLst>
                </a:gridCol>
                <a:gridCol w="1134240">
                  <a:extLst>
                    <a:ext uri="{9D8B030D-6E8A-4147-A177-3AD203B41FA5}">
                      <a16:colId xmlns:a16="http://schemas.microsoft.com/office/drawing/2014/main" val="3115495774"/>
                    </a:ext>
                  </a:extLst>
                </a:gridCol>
                <a:gridCol w="1179277">
                  <a:extLst>
                    <a:ext uri="{9D8B030D-6E8A-4147-A177-3AD203B41FA5}">
                      <a16:colId xmlns:a16="http://schemas.microsoft.com/office/drawing/2014/main" val="763669959"/>
                    </a:ext>
                  </a:extLst>
                </a:gridCol>
                <a:gridCol w="1609620">
                  <a:extLst>
                    <a:ext uri="{9D8B030D-6E8A-4147-A177-3AD203B41FA5}">
                      <a16:colId xmlns:a16="http://schemas.microsoft.com/office/drawing/2014/main" val="2019680707"/>
                    </a:ext>
                  </a:extLst>
                </a:gridCol>
                <a:gridCol w="1110888">
                  <a:extLst>
                    <a:ext uri="{9D8B030D-6E8A-4147-A177-3AD203B41FA5}">
                      <a16:colId xmlns:a16="http://schemas.microsoft.com/office/drawing/2014/main" val="296458145"/>
                    </a:ext>
                  </a:extLst>
                </a:gridCol>
                <a:gridCol w="1723044">
                  <a:extLst>
                    <a:ext uri="{9D8B030D-6E8A-4147-A177-3AD203B41FA5}">
                      <a16:colId xmlns:a16="http://schemas.microsoft.com/office/drawing/2014/main" val="434112879"/>
                    </a:ext>
                  </a:extLst>
                </a:gridCol>
              </a:tblGrid>
              <a:tr h="526652">
                <a:tc>
                  <a:txBody>
                    <a:bodyPr/>
                    <a:lstStyle/>
                    <a:p>
                      <a:pPr marL="0" marR="0">
                        <a:buNone/>
                      </a:pPr>
                      <a:r>
                        <a:rPr lang="en-US" sz="1800" b="0" cap="none" spc="150" baseline="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Classes</a:t>
                      </a:r>
                    </a:p>
                  </a:txBody>
                  <a:tcPr marL="100051" marR="100051" marT="100051" marB="100051" anchor="ctr"/>
                </a:tc>
                <a:tc>
                  <a:txBody>
                    <a:bodyPr/>
                    <a:lstStyle/>
                    <a:p>
                      <a:pPr marL="0" marR="0">
                        <a:buNone/>
                      </a:pPr>
                      <a:r>
                        <a:rPr lang="en-US" sz="1800" b="0" cap="none" spc="150" baseline="0">
                          <a:solidFill>
                            <a:schemeClr val="tx1"/>
                          </a:solidFill>
                          <a:effectLst/>
                          <a:latin typeface="Calibri" panose="020F0502020204030204" pitchFamily="34" charset="0"/>
                          <a:ea typeface="Calibri" panose="020F0502020204030204" pitchFamily="34" charset="0"/>
                          <a:cs typeface="Calibri" panose="020F0502020204030204" pitchFamily="34" charset="0"/>
                        </a:rPr>
                        <a:t>LL</a:t>
                      </a:r>
                    </a:p>
                  </a:txBody>
                  <a:tcPr marL="100051" marR="100051" marT="100051" marB="100051" anchor="ctr"/>
                </a:tc>
                <a:tc>
                  <a:txBody>
                    <a:bodyPr/>
                    <a:lstStyle/>
                    <a:p>
                      <a:pPr marL="0" marR="0">
                        <a:buNone/>
                      </a:pPr>
                      <a:r>
                        <a:rPr lang="en-US" sz="1800" b="0" cap="none" spc="150" baseline="0">
                          <a:solidFill>
                            <a:schemeClr val="tx1"/>
                          </a:solidFill>
                          <a:effectLst/>
                          <a:latin typeface="Calibri" panose="020F0502020204030204" pitchFamily="34" charset="0"/>
                          <a:ea typeface="Calibri" panose="020F0502020204030204" pitchFamily="34" charset="0"/>
                          <a:cs typeface="Calibri" panose="020F0502020204030204" pitchFamily="34" charset="0"/>
                        </a:rPr>
                        <a:t>AIC</a:t>
                      </a:r>
                    </a:p>
                  </a:txBody>
                  <a:tcPr marL="100051" marR="100051" marT="100051" marB="100051" anchor="ctr"/>
                </a:tc>
                <a:tc>
                  <a:txBody>
                    <a:bodyPr/>
                    <a:lstStyle/>
                    <a:p>
                      <a:pPr marL="0" marR="0">
                        <a:buNone/>
                      </a:pPr>
                      <a:r>
                        <a:rPr lang="en-US" sz="1800" b="0" cap="none" spc="150" baseline="0">
                          <a:solidFill>
                            <a:schemeClr val="tx1"/>
                          </a:solidFill>
                          <a:effectLst/>
                          <a:latin typeface="Calibri" panose="020F0502020204030204" pitchFamily="34" charset="0"/>
                          <a:ea typeface="Calibri" panose="020F0502020204030204" pitchFamily="34" charset="0"/>
                          <a:cs typeface="Calibri" panose="020F0502020204030204" pitchFamily="34" charset="0"/>
                        </a:rPr>
                        <a:t>BIC</a:t>
                      </a:r>
                    </a:p>
                  </a:txBody>
                  <a:tcPr marL="100051" marR="100051" marT="100051" marB="100051" anchor="ctr"/>
                </a:tc>
                <a:tc>
                  <a:txBody>
                    <a:bodyPr/>
                    <a:lstStyle/>
                    <a:p>
                      <a:pPr marL="0" marR="0">
                        <a:buNone/>
                      </a:pPr>
                      <a:r>
                        <a:rPr lang="en-US" sz="1800" b="0" cap="none" spc="150" baseline="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saBIC</a:t>
                      </a:r>
                      <a:endParaRPr lang="en-US" sz="1800" b="0" cap="none" spc="150" baseline="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100051" marR="100051" marT="100051" marB="100051" anchor="ctr"/>
                </a:tc>
                <a:tc>
                  <a:txBody>
                    <a:bodyPr/>
                    <a:lstStyle/>
                    <a:p>
                      <a:pPr marL="0" marR="0">
                        <a:buNone/>
                      </a:pPr>
                      <a:r>
                        <a:rPr lang="en-US" sz="1800" b="0" cap="none" spc="150" baseline="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Entropy</a:t>
                      </a:r>
                    </a:p>
                  </a:txBody>
                  <a:tcPr marL="100051" marR="100051" marT="100051" marB="100051" anchor="ctr"/>
                </a:tc>
                <a:tc>
                  <a:txBody>
                    <a:bodyPr/>
                    <a:lstStyle/>
                    <a:p>
                      <a:pPr marL="0" marR="0">
                        <a:buNone/>
                      </a:pPr>
                      <a:r>
                        <a:rPr lang="en-US" sz="1800" b="0" cap="none" spc="150" baseline="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Npar</a:t>
                      </a:r>
                      <a:endParaRPr lang="en-US" sz="1800" b="0" cap="none" spc="150" baseline="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100051" marR="100051" marT="100051" marB="100051" anchor="ctr"/>
                </a:tc>
                <a:tc>
                  <a:txBody>
                    <a:bodyPr/>
                    <a:lstStyle/>
                    <a:p>
                      <a:pPr marL="0" marR="0">
                        <a:buNone/>
                      </a:pPr>
                      <a:r>
                        <a:rPr lang="en-US" sz="1800" b="0" cap="none" spc="150" baseline="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Selected</a:t>
                      </a:r>
                    </a:p>
                  </a:txBody>
                  <a:tcPr marL="100051" marR="100051" marT="100051" marB="100051" anchor="ctr"/>
                </a:tc>
                <a:extLst>
                  <a:ext uri="{0D108BD9-81ED-4DB2-BD59-A6C34878D82A}">
                    <a16:rowId xmlns:a16="http://schemas.microsoft.com/office/drawing/2014/main" val="504898828"/>
                  </a:ext>
                </a:extLst>
              </a:tr>
              <a:tr h="483245">
                <a:tc>
                  <a:txBody>
                    <a:bodyPr/>
                    <a:lstStyle/>
                    <a:p>
                      <a:pPr marL="0" marR="0">
                        <a:buNone/>
                      </a:pPr>
                      <a:r>
                        <a:rPr lang="en-US" sz="1800" b="0" cap="none" spc="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1</a:t>
                      </a:r>
                    </a:p>
                  </a:txBody>
                  <a:tcPr marL="100051" marR="100051" marT="100051" marB="100051" anchor="ctr"/>
                </a:tc>
                <a:tc>
                  <a:txBody>
                    <a:bodyPr/>
                    <a:lstStyle/>
                    <a:p>
                      <a:pPr marL="0" marR="0">
                        <a:buNone/>
                      </a:pPr>
                      <a:r>
                        <a:rPr lang="en-US" sz="1800" b="0" cap="none" spc="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−8358.58</a:t>
                      </a:r>
                    </a:p>
                  </a:txBody>
                  <a:tcPr marL="100051" marR="100051" marT="100051" marB="100051" anchor="ctr"/>
                </a:tc>
                <a:tc>
                  <a:txBody>
                    <a:bodyPr/>
                    <a:lstStyle/>
                    <a:p>
                      <a:pPr marL="0" marR="0">
                        <a:buNone/>
                      </a:pPr>
                      <a:r>
                        <a:rPr lang="en-US" sz="1800" b="0" cap="none" spc="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16731.15</a:t>
                      </a:r>
                    </a:p>
                  </a:txBody>
                  <a:tcPr marL="100051" marR="100051" marT="100051" marB="100051" anchor="ctr"/>
                </a:tc>
                <a:tc>
                  <a:txBody>
                    <a:bodyPr/>
                    <a:lstStyle/>
                    <a:p>
                      <a:pPr marL="0" marR="0">
                        <a:buNone/>
                      </a:pPr>
                      <a:r>
                        <a:rPr lang="en-US" sz="1800" b="0" cap="none" spc="0">
                          <a:solidFill>
                            <a:schemeClr val="tx1"/>
                          </a:solidFill>
                          <a:effectLst/>
                          <a:latin typeface="Calibri" panose="020F0502020204030204" pitchFamily="34" charset="0"/>
                          <a:ea typeface="Calibri" panose="020F0502020204030204" pitchFamily="34" charset="0"/>
                          <a:cs typeface="Calibri" panose="020F0502020204030204" pitchFamily="34" charset="0"/>
                        </a:rPr>
                        <a:t>16779.93</a:t>
                      </a:r>
                    </a:p>
                  </a:txBody>
                  <a:tcPr marL="100051" marR="100051" marT="100051" marB="100051" anchor="ctr"/>
                </a:tc>
                <a:tc>
                  <a:txBody>
                    <a:bodyPr/>
                    <a:lstStyle/>
                    <a:p>
                      <a:pPr marL="0" marR="0">
                        <a:buNone/>
                      </a:pPr>
                      <a:r>
                        <a:rPr lang="en-US" sz="1800" b="0" cap="none" spc="0">
                          <a:solidFill>
                            <a:schemeClr val="tx1"/>
                          </a:solidFill>
                          <a:effectLst/>
                          <a:latin typeface="Calibri" panose="020F0502020204030204" pitchFamily="34" charset="0"/>
                          <a:ea typeface="Calibri" panose="020F0502020204030204" pitchFamily="34" charset="0"/>
                          <a:cs typeface="Calibri" panose="020F0502020204030204" pitchFamily="34" charset="0"/>
                        </a:rPr>
                        <a:t>16757.68</a:t>
                      </a:r>
                    </a:p>
                  </a:txBody>
                  <a:tcPr marL="100051" marR="100051" marT="100051" marB="100051" anchor="ctr"/>
                </a:tc>
                <a:tc>
                  <a:txBody>
                    <a:bodyPr/>
                    <a:lstStyle/>
                    <a:p>
                      <a:pPr marL="0" marR="0" algn="ctr">
                        <a:buNone/>
                      </a:pPr>
                      <a:r>
                        <a:rPr lang="en-US" sz="1800" b="0" cap="none" spc="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a:t>
                      </a:r>
                    </a:p>
                  </a:txBody>
                  <a:tcPr marL="100051" marR="100051" marT="100051" marB="100051" anchor="ctr"/>
                </a:tc>
                <a:tc>
                  <a:txBody>
                    <a:bodyPr/>
                    <a:lstStyle/>
                    <a:p>
                      <a:pPr marL="0" marR="0" algn="ctr">
                        <a:buNone/>
                      </a:pPr>
                      <a:r>
                        <a:rPr lang="en-US" sz="1800" b="0" cap="none" spc="0">
                          <a:solidFill>
                            <a:schemeClr val="tx1"/>
                          </a:solidFill>
                          <a:effectLst/>
                          <a:latin typeface="Calibri" panose="020F0502020204030204" pitchFamily="34" charset="0"/>
                          <a:ea typeface="Calibri" panose="020F0502020204030204" pitchFamily="34" charset="0"/>
                          <a:cs typeface="Calibri" panose="020F0502020204030204" pitchFamily="34" charset="0"/>
                        </a:rPr>
                        <a:t>7</a:t>
                      </a:r>
                    </a:p>
                  </a:txBody>
                  <a:tcPr marL="100051" marR="100051" marT="100051" marB="100051" anchor="ctr"/>
                </a:tc>
                <a:tc>
                  <a:txBody>
                    <a:bodyPr/>
                    <a:lstStyle/>
                    <a:p>
                      <a:pPr marL="0" marR="0" algn="ctr">
                        <a:buNone/>
                      </a:pPr>
                      <a:r>
                        <a:rPr lang="en-US" sz="1800" b="0" cap="none" spc="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p>
                  </a:txBody>
                  <a:tcPr marL="100051" marR="100051" marT="100051" marB="100051" anchor="ctr"/>
                </a:tc>
                <a:extLst>
                  <a:ext uri="{0D108BD9-81ED-4DB2-BD59-A6C34878D82A}">
                    <a16:rowId xmlns:a16="http://schemas.microsoft.com/office/drawing/2014/main" val="385305851"/>
                  </a:ext>
                </a:extLst>
              </a:tr>
              <a:tr h="483245">
                <a:tc>
                  <a:txBody>
                    <a:bodyPr/>
                    <a:lstStyle/>
                    <a:p>
                      <a:pPr marL="0" marR="0">
                        <a:buNone/>
                      </a:pPr>
                      <a:r>
                        <a:rPr lang="en-US" sz="1800" b="0" cap="none" spc="0">
                          <a:solidFill>
                            <a:schemeClr val="tx1"/>
                          </a:solidFill>
                          <a:effectLst/>
                          <a:latin typeface="Calibri" panose="020F0502020204030204" pitchFamily="34" charset="0"/>
                          <a:ea typeface="Calibri" panose="020F0502020204030204" pitchFamily="34" charset="0"/>
                          <a:cs typeface="Calibri" panose="020F0502020204030204" pitchFamily="34" charset="0"/>
                        </a:rPr>
                        <a:t>2</a:t>
                      </a:r>
                    </a:p>
                  </a:txBody>
                  <a:tcPr marL="100051" marR="100051" marT="100051" marB="100051" anchor="ctr"/>
                </a:tc>
                <a:tc>
                  <a:txBody>
                    <a:bodyPr/>
                    <a:lstStyle/>
                    <a:p>
                      <a:pPr marL="0" marR="0">
                        <a:buNone/>
                      </a:pPr>
                      <a:r>
                        <a:rPr lang="en-US" sz="1800" b="0" cap="none" spc="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−7653.39</a:t>
                      </a:r>
                    </a:p>
                  </a:txBody>
                  <a:tcPr marL="100051" marR="100051" marT="100051" marB="100051" anchor="ctr"/>
                </a:tc>
                <a:tc>
                  <a:txBody>
                    <a:bodyPr/>
                    <a:lstStyle/>
                    <a:p>
                      <a:pPr marL="0" marR="0">
                        <a:buNone/>
                      </a:pPr>
                      <a:r>
                        <a:rPr lang="en-US" sz="1800" b="0" cap="none" spc="0">
                          <a:solidFill>
                            <a:schemeClr val="tx1"/>
                          </a:solidFill>
                          <a:effectLst/>
                          <a:latin typeface="Calibri" panose="020F0502020204030204" pitchFamily="34" charset="0"/>
                          <a:ea typeface="Calibri" panose="020F0502020204030204" pitchFamily="34" charset="0"/>
                          <a:cs typeface="Calibri" panose="020F0502020204030204" pitchFamily="34" charset="0"/>
                        </a:rPr>
                        <a:t>15336.77</a:t>
                      </a:r>
                    </a:p>
                  </a:txBody>
                  <a:tcPr marL="100051" marR="100051" marT="100051" marB="100051" anchor="ctr"/>
                </a:tc>
                <a:tc>
                  <a:txBody>
                    <a:bodyPr/>
                    <a:lstStyle/>
                    <a:p>
                      <a:pPr marL="0" marR="0">
                        <a:buNone/>
                      </a:pPr>
                      <a:r>
                        <a:rPr lang="en-US" sz="1800" b="0" cap="none" spc="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15441.30</a:t>
                      </a:r>
                    </a:p>
                  </a:txBody>
                  <a:tcPr marL="100051" marR="100051" marT="100051" marB="100051" anchor="ctr"/>
                </a:tc>
                <a:tc>
                  <a:txBody>
                    <a:bodyPr/>
                    <a:lstStyle/>
                    <a:p>
                      <a:pPr marL="0" marR="0">
                        <a:buNone/>
                      </a:pPr>
                      <a:r>
                        <a:rPr lang="en-US" sz="1800" b="0" cap="none" spc="0">
                          <a:solidFill>
                            <a:schemeClr val="tx1"/>
                          </a:solidFill>
                          <a:effectLst/>
                          <a:latin typeface="Calibri" panose="020F0502020204030204" pitchFamily="34" charset="0"/>
                          <a:ea typeface="Calibri" panose="020F0502020204030204" pitchFamily="34" charset="0"/>
                          <a:cs typeface="Calibri" panose="020F0502020204030204" pitchFamily="34" charset="0"/>
                        </a:rPr>
                        <a:t>15393.63</a:t>
                      </a:r>
                    </a:p>
                  </a:txBody>
                  <a:tcPr marL="100051" marR="100051" marT="100051" marB="100051" anchor="ctr"/>
                </a:tc>
                <a:tc>
                  <a:txBody>
                    <a:bodyPr/>
                    <a:lstStyle/>
                    <a:p>
                      <a:pPr marL="0" marR="0" algn="ctr">
                        <a:buNone/>
                      </a:pPr>
                      <a:r>
                        <a:rPr lang="en-US" sz="1800" b="0" cap="none" spc="0">
                          <a:solidFill>
                            <a:schemeClr val="tx1"/>
                          </a:solidFill>
                          <a:effectLst/>
                          <a:latin typeface="Calibri" panose="020F0502020204030204" pitchFamily="34" charset="0"/>
                          <a:ea typeface="Calibri" panose="020F0502020204030204" pitchFamily="34" charset="0"/>
                          <a:cs typeface="Calibri" panose="020F0502020204030204" pitchFamily="34" charset="0"/>
                        </a:rPr>
                        <a:t>0.913</a:t>
                      </a:r>
                    </a:p>
                  </a:txBody>
                  <a:tcPr marL="100051" marR="100051" marT="100051" marB="100051" anchor="ctr"/>
                </a:tc>
                <a:tc>
                  <a:txBody>
                    <a:bodyPr/>
                    <a:lstStyle/>
                    <a:p>
                      <a:pPr marL="0" marR="0" algn="ctr">
                        <a:buNone/>
                      </a:pPr>
                      <a:r>
                        <a:rPr lang="en-US" sz="1800" b="0" cap="none" spc="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15</a:t>
                      </a:r>
                    </a:p>
                  </a:txBody>
                  <a:tcPr marL="100051" marR="100051" marT="100051" marB="100051" anchor="ctr"/>
                </a:tc>
                <a:tc>
                  <a:txBody>
                    <a:bodyPr/>
                    <a:lstStyle/>
                    <a:p>
                      <a:pPr marL="0" marR="0" algn="ctr">
                        <a:buNone/>
                      </a:pPr>
                      <a:r>
                        <a:rPr lang="en-US" sz="1800" b="0" cap="none" spc="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p>
                  </a:txBody>
                  <a:tcPr marL="100051" marR="100051" marT="100051" marB="100051" anchor="ctr"/>
                </a:tc>
                <a:extLst>
                  <a:ext uri="{0D108BD9-81ED-4DB2-BD59-A6C34878D82A}">
                    <a16:rowId xmlns:a16="http://schemas.microsoft.com/office/drawing/2014/main" val="1051233363"/>
                  </a:ext>
                </a:extLst>
              </a:tr>
              <a:tr h="483245">
                <a:tc>
                  <a:txBody>
                    <a:bodyPr/>
                    <a:lstStyle/>
                    <a:p>
                      <a:pPr marL="0" marR="0">
                        <a:buNone/>
                      </a:pPr>
                      <a:r>
                        <a:rPr lang="en-US" sz="1800" b="0" cap="none" spc="0">
                          <a:solidFill>
                            <a:schemeClr val="tx1"/>
                          </a:solidFill>
                          <a:effectLst/>
                          <a:latin typeface="Calibri" panose="020F0502020204030204" pitchFamily="34" charset="0"/>
                          <a:ea typeface="Calibri" panose="020F0502020204030204" pitchFamily="34" charset="0"/>
                          <a:cs typeface="Calibri" panose="020F0502020204030204" pitchFamily="34" charset="0"/>
                        </a:rPr>
                        <a:t>3</a:t>
                      </a:r>
                    </a:p>
                  </a:txBody>
                  <a:tcPr marL="100051" marR="100051" marT="100051" marB="100051" anchor="ctr"/>
                </a:tc>
                <a:tc>
                  <a:txBody>
                    <a:bodyPr/>
                    <a:lstStyle/>
                    <a:p>
                      <a:pPr marL="0" marR="0">
                        <a:buNone/>
                      </a:pPr>
                      <a:r>
                        <a:rPr lang="en-US" sz="1800" b="0" cap="none" spc="0">
                          <a:solidFill>
                            <a:schemeClr val="tx1"/>
                          </a:solidFill>
                          <a:effectLst/>
                          <a:latin typeface="Calibri" panose="020F0502020204030204" pitchFamily="34" charset="0"/>
                          <a:ea typeface="Calibri" panose="020F0502020204030204" pitchFamily="34" charset="0"/>
                          <a:cs typeface="Calibri" panose="020F0502020204030204" pitchFamily="34" charset="0"/>
                        </a:rPr>
                        <a:t>−7635.07</a:t>
                      </a:r>
                    </a:p>
                  </a:txBody>
                  <a:tcPr marL="100051" marR="100051" marT="100051" marB="100051" anchor="ctr"/>
                </a:tc>
                <a:tc>
                  <a:txBody>
                    <a:bodyPr/>
                    <a:lstStyle/>
                    <a:p>
                      <a:pPr marL="0" marR="0">
                        <a:buNone/>
                      </a:pPr>
                      <a:r>
                        <a:rPr lang="en-US" sz="1800" b="0" cap="none" spc="0">
                          <a:solidFill>
                            <a:schemeClr val="tx1"/>
                          </a:solidFill>
                          <a:effectLst/>
                          <a:latin typeface="Calibri" panose="020F0502020204030204" pitchFamily="34" charset="0"/>
                          <a:ea typeface="Calibri" panose="020F0502020204030204" pitchFamily="34" charset="0"/>
                          <a:cs typeface="Calibri" panose="020F0502020204030204" pitchFamily="34" charset="0"/>
                        </a:rPr>
                        <a:t>15316.14</a:t>
                      </a:r>
                    </a:p>
                  </a:txBody>
                  <a:tcPr marL="100051" marR="100051" marT="100051" marB="100051" anchor="ctr"/>
                </a:tc>
                <a:tc>
                  <a:txBody>
                    <a:bodyPr/>
                    <a:lstStyle/>
                    <a:p>
                      <a:pPr marL="0" marR="0">
                        <a:buNone/>
                      </a:pPr>
                      <a:r>
                        <a:rPr lang="en-US" sz="1800" b="0" cap="none" spc="0">
                          <a:solidFill>
                            <a:schemeClr val="tx1"/>
                          </a:solidFill>
                          <a:effectLst/>
                          <a:latin typeface="Calibri" panose="020F0502020204030204" pitchFamily="34" charset="0"/>
                          <a:ea typeface="Calibri" panose="020F0502020204030204" pitchFamily="34" charset="0"/>
                          <a:cs typeface="Calibri" panose="020F0502020204030204" pitchFamily="34" charset="0"/>
                        </a:rPr>
                        <a:t>15476.41</a:t>
                      </a:r>
                    </a:p>
                  </a:txBody>
                  <a:tcPr marL="100051" marR="100051" marT="100051" marB="100051" anchor="ctr"/>
                </a:tc>
                <a:tc>
                  <a:txBody>
                    <a:bodyPr/>
                    <a:lstStyle/>
                    <a:p>
                      <a:pPr marL="0" marR="0">
                        <a:buNone/>
                      </a:pPr>
                      <a:r>
                        <a:rPr lang="en-US" sz="1800" b="0" cap="none" spc="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15403.32</a:t>
                      </a:r>
                    </a:p>
                  </a:txBody>
                  <a:tcPr marL="100051" marR="100051" marT="100051" marB="100051" anchor="ctr"/>
                </a:tc>
                <a:tc>
                  <a:txBody>
                    <a:bodyPr/>
                    <a:lstStyle/>
                    <a:p>
                      <a:pPr marL="0" marR="0" algn="ctr">
                        <a:buNone/>
                      </a:pPr>
                      <a:r>
                        <a:rPr lang="en-US" sz="1800" b="0" cap="none" spc="0">
                          <a:solidFill>
                            <a:schemeClr val="tx1"/>
                          </a:solidFill>
                          <a:effectLst/>
                          <a:latin typeface="Calibri" panose="020F0502020204030204" pitchFamily="34" charset="0"/>
                          <a:ea typeface="Calibri" panose="020F0502020204030204" pitchFamily="34" charset="0"/>
                          <a:cs typeface="Calibri" panose="020F0502020204030204" pitchFamily="34" charset="0"/>
                        </a:rPr>
                        <a:t>0.487</a:t>
                      </a:r>
                    </a:p>
                  </a:txBody>
                  <a:tcPr marL="100051" marR="100051" marT="100051" marB="100051" anchor="ctr"/>
                </a:tc>
                <a:tc>
                  <a:txBody>
                    <a:bodyPr/>
                    <a:lstStyle/>
                    <a:p>
                      <a:pPr marL="0" marR="0" algn="ctr">
                        <a:buNone/>
                      </a:pPr>
                      <a:r>
                        <a:rPr lang="en-US" sz="1800" b="0" cap="none" spc="0">
                          <a:solidFill>
                            <a:schemeClr val="tx1"/>
                          </a:solidFill>
                          <a:effectLst/>
                          <a:latin typeface="Calibri" panose="020F0502020204030204" pitchFamily="34" charset="0"/>
                          <a:ea typeface="Calibri" panose="020F0502020204030204" pitchFamily="34" charset="0"/>
                          <a:cs typeface="Calibri" panose="020F0502020204030204" pitchFamily="34" charset="0"/>
                        </a:rPr>
                        <a:t>23</a:t>
                      </a:r>
                    </a:p>
                  </a:txBody>
                  <a:tcPr marL="100051" marR="100051" marT="100051" marB="100051" anchor="ctr"/>
                </a:tc>
                <a:tc>
                  <a:txBody>
                    <a:bodyPr/>
                    <a:lstStyle/>
                    <a:p>
                      <a:pPr marL="0" marR="0" algn="ctr">
                        <a:buNone/>
                      </a:pPr>
                      <a:r>
                        <a:rPr lang="en-US" sz="1800" b="0" cap="none" spc="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p>
                  </a:txBody>
                  <a:tcPr marL="100051" marR="100051" marT="100051" marB="100051" anchor="ctr"/>
                </a:tc>
                <a:extLst>
                  <a:ext uri="{0D108BD9-81ED-4DB2-BD59-A6C34878D82A}">
                    <a16:rowId xmlns:a16="http://schemas.microsoft.com/office/drawing/2014/main" val="774966178"/>
                  </a:ext>
                </a:extLst>
              </a:tr>
              <a:tr h="483245">
                <a:tc>
                  <a:txBody>
                    <a:bodyPr/>
                    <a:lstStyle/>
                    <a:p>
                      <a:pPr marL="0" marR="0">
                        <a:buNone/>
                      </a:pPr>
                      <a:r>
                        <a:rPr lang="en-US" sz="1800" b="0" cap="none" spc="0">
                          <a:solidFill>
                            <a:schemeClr val="tx1"/>
                          </a:solidFill>
                          <a:effectLst/>
                          <a:latin typeface="Calibri" panose="020F0502020204030204" pitchFamily="34" charset="0"/>
                          <a:ea typeface="Calibri" panose="020F0502020204030204" pitchFamily="34" charset="0"/>
                          <a:cs typeface="Calibri" panose="020F0502020204030204" pitchFamily="34" charset="0"/>
                        </a:rPr>
                        <a:t>4</a:t>
                      </a:r>
                    </a:p>
                  </a:txBody>
                  <a:tcPr marL="100051" marR="100051" marT="100051" marB="100051"/>
                </a:tc>
                <a:tc>
                  <a:txBody>
                    <a:bodyPr/>
                    <a:lstStyle/>
                    <a:p>
                      <a:pPr marL="0" marR="0">
                        <a:buNone/>
                      </a:pPr>
                      <a:r>
                        <a:rPr lang="en-US" sz="1800" b="0" cap="none" spc="0">
                          <a:solidFill>
                            <a:schemeClr val="tx1"/>
                          </a:solidFill>
                          <a:effectLst/>
                          <a:latin typeface="Calibri" panose="020F0502020204030204" pitchFamily="34" charset="0"/>
                          <a:ea typeface="Calibri" panose="020F0502020204030204" pitchFamily="34" charset="0"/>
                          <a:cs typeface="Calibri" panose="020F0502020204030204" pitchFamily="34" charset="0"/>
                        </a:rPr>
                        <a:t>−7555.77</a:t>
                      </a:r>
                    </a:p>
                  </a:txBody>
                  <a:tcPr marL="100051" marR="100051" marT="100051" marB="100051"/>
                </a:tc>
                <a:tc>
                  <a:txBody>
                    <a:bodyPr/>
                    <a:lstStyle/>
                    <a:p>
                      <a:pPr marL="0" marR="0">
                        <a:buNone/>
                      </a:pPr>
                      <a:r>
                        <a:rPr lang="en-US" sz="1800" b="0" cap="none" spc="0">
                          <a:solidFill>
                            <a:schemeClr val="tx1"/>
                          </a:solidFill>
                          <a:effectLst/>
                          <a:latin typeface="Calibri" panose="020F0502020204030204" pitchFamily="34" charset="0"/>
                          <a:ea typeface="Calibri" panose="020F0502020204030204" pitchFamily="34" charset="0"/>
                          <a:cs typeface="Calibri" panose="020F0502020204030204" pitchFamily="34" charset="0"/>
                        </a:rPr>
                        <a:t>15173.54</a:t>
                      </a:r>
                    </a:p>
                  </a:txBody>
                  <a:tcPr marL="100051" marR="100051" marT="100051" marB="100051"/>
                </a:tc>
                <a:tc>
                  <a:txBody>
                    <a:bodyPr/>
                    <a:lstStyle/>
                    <a:p>
                      <a:pPr marL="0" marR="0">
                        <a:buNone/>
                      </a:pPr>
                      <a:r>
                        <a:rPr lang="en-US" sz="1800" b="0" cap="none" spc="0">
                          <a:solidFill>
                            <a:schemeClr val="tx1"/>
                          </a:solidFill>
                          <a:effectLst/>
                          <a:latin typeface="Calibri" panose="020F0502020204030204" pitchFamily="34" charset="0"/>
                          <a:ea typeface="Calibri" panose="020F0502020204030204" pitchFamily="34" charset="0"/>
                          <a:cs typeface="Calibri" panose="020F0502020204030204" pitchFamily="34" charset="0"/>
                        </a:rPr>
                        <a:t>15389.56</a:t>
                      </a:r>
                    </a:p>
                  </a:txBody>
                  <a:tcPr marL="100051" marR="100051" marT="100051" marB="100051"/>
                </a:tc>
                <a:tc>
                  <a:txBody>
                    <a:bodyPr/>
                    <a:lstStyle/>
                    <a:p>
                      <a:pPr marL="0" marR="0">
                        <a:buNone/>
                      </a:pPr>
                      <a:r>
                        <a:rPr lang="en-US" sz="1800" b="0" cap="none" spc="0">
                          <a:solidFill>
                            <a:schemeClr val="tx1"/>
                          </a:solidFill>
                          <a:effectLst/>
                          <a:latin typeface="Calibri" panose="020F0502020204030204" pitchFamily="34" charset="0"/>
                          <a:ea typeface="Calibri" panose="020F0502020204030204" pitchFamily="34" charset="0"/>
                          <a:cs typeface="Calibri" panose="020F0502020204030204" pitchFamily="34" charset="0"/>
                        </a:rPr>
                        <a:t>15291.05</a:t>
                      </a:r>
                    </a:p>
                  </a:txBody>
                  <a:tcPr marL="100051" marR="100051" marT="100051" marB="100051"/>
                </a:tc>
                <a:tc>
                  <a:txBody>
                    <a:bodyPr/>
                    <a:lstStyle/>
                    <a:p>
                      <a:pPr marL="0" marR="0" algn="ctr">
                        <a:buNone/>
                      </a:pPr>
                      <a:r>
                        <a:rPr lang="en-US" sz="1800" b="0" cap="none" spc="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0.895</a:t>
                      </a:r>
                    </a:p>
                  </a:txBody>
                  <a:tcPr marL="100051" marR="100051" marT="100051" marB="100051"/>
                </a:tc>
                <a:tc>
                  <a:txBody>
                    <a:bodyPr/>
                    <a:lstStyle/>
                    <a:p>
                      <a:pPr marL="0" marR="0" algn="ctr">
                        <a:buNone/>
                      </a:pPr>
                      <a:r>
                        <a:rPr lang="en-US" sz="1800" b="0" cap="none" spc="0">
                          <a:solidFill>
                            <a:schemeClr val="tx1"/>
                          </a:solidFill>
                          <a:effectLst/>
                          <a:latin typeface="Calibri" panose="020F0502020204030204" pitchFamily="34" charset="0"/>
                          <a:ea typeface="Calibri" panose="020F0502020204030204" pitchFamily="34" charset="0"/>
                          <a:cs typeface="Calibri" panose="020F0502020204030204" pitchFamily="34" charset="0"/>
                        </a:rPr>
                        <a:t>31</a:t>
                      </a:r>
                    </a:p>
                  </a:txBody>
                  <a:tcPr marL="100051" marR="100051" marT="100051" marB="100051"/>
                </a:tc>
                <a:tc>
                  <a:txBody>
                    <a:bodyPr/>
                    <a:lstStyle/>
                    <a:p>
                      <a:pPr marL="0" marR="0" algn="ctr">
                        <a:buNone/>
                      </a:pPr>
                      <a:r>
                        <a:rPr lang="en-US" sz="1800" b="0" cap="none" spc="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BIC, </a:t>
                      </a:r>
                      <a:r>
                        <a:rPr lang="en-US" sz="1800" b="0" cap="none" spc="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saBIC</a:t>
                      </a:r>
                      <a:endParaRPr lang="en-US" sz="1800" b="0" cap="none" spc="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100051" marR="100051" marT="100051" marB="100051"/>
                </a:tc>
                <a:extLst>
                  <a:ext uri="{0D108BD9-81ED-4DB2-BD59-A6C34878D82A}">
                    <a16:rowId xmlns:a16="http://schemas.microsoft.com/office/drawing/2014/main" val="2698660647"/>
                  </a:ext>
                </a:extLst>
              </a:tr>
              <a:tr h="483245">
                <a:tc>
                  <a:txBody>
                    <a:bodyPr/>
                    <a:lstStyle/>
                    <a:p>
                      <a:pPr marL="0" marR="0">
                        <a:buNone/>
                      </a:pPr>
                      <a:r>
                        <a:rPr lang="en-US" sz="1800" b="0" cap="none" spc="0">
                          <a:solidFill>
                            <a:schemeClr val="tx1"/>
                          </a:solidFill>
                          <a:effectLst/>
                          <a:latin typeface="Calibri" panose="020F0502020204030204" pitchFamily="34" charset="0"/>
                          <a:ea typeface="Calibri" panose="020F0502020204030204" pitchFamily="34" charset="0"/>
                          <a:cs typeface="Calibri" panose="020F0502020204030204" pitchFamily="34" charset="0"/>
                        </a:rPr>
                        <a:t>5</a:t>
                      </a:r>
                    </a:p>
                  </a:txBody>
                  <a:tcPr marL="100051" marR="100051" marT="100051" marB="100051" anchor="ctr"/>
                </a:tc>
                <a:tc>
                  <a:txBody>
                    <a:bodyPr/>
                    <a:lstStyle/>
                    <a:p>
                      <a:pPr marL="0" marR="0">
                        <a:buNone/>
                      </a:pPr>
                      <a:r>
                        <a:rPr lang="en-US" sz="1800" b="0" cap="none" spc="0">
                          <a:solidFill>
                            <a:schemeClr val="tx1"/>
                          </a:solidFill>
                          <a:effectLst/>
                          <a:latin typeface="Calibri" panose="020F0502020204030204" pitchFamily="34" charset="0"/>
                          <a:ea typeface="Calibri" panose="020F0502020204030204" pitchFamily="34" charset="0"/>
                          <a:cs typeface="Calibri" panose="020F0502020204030204" pitchFamily="34" charset="0"/>
                        </a:rPr>
                        <a:t>−7543.27</a:t>
                      </a:r>
                    </a:p>
                  </a:txBody>
                  <a:tcPr marL="100051" marR="100051" marT="100051" marB="100051" anchor="ctr"/>
                </a:tc>
                <a:tc>
                  <a:txBody>
                    <a:bodyPr/>
                    <a:lstStyle/>
                    <a:p>
                      <a:pPr marL="0" marR="0">
                        <a:buNone/>
                      </a:pPr>
                      <a:r>
                        <a:rPr lang="en-US" sz="1800" b="0" cap="none" spc="0">
                          <a:solidFill>
                            <a:schemeClr val="tx1"/>
                          </a:solidFill>
                          <a:effectLst/>
                          <a:latin typeface="Calibri" panose="020F0502020204030204" pitchFamily="34" charset="0"/>
                          <a:ea typeface="Calibri" panose="020F0502020204030204" pitchFamily="34" charset="0"/>
                          <a:cs typeface="Calibri" panose="020F0502020204030204" pitchFamily="34" charset="0"/>
                        </a:rPr>
                        <a:t>15164.55</a:t>
                      </a:r>
                    </a:p>
                  </a:txBody>
                  <a:tcPr marL="100051" marR="100051" marT="100051" marB="100051" anchor="ctr"/>
                </a:tc>
                <a:tc>
                  <a:txBody>
                    <a:bodyPr/>
                    <a:lstStyle/>
                    <a:p>
                      <a:pPr marL="0" marR="0">
                        <a:buNone/>
                      </a:pPr>
                      <a:r>
                        <a:rPr lang="en-US" sz="1800" b="0" cap="none" spc="0">
                          <a:solidFill>
                            <a:schemeClr val="tx1"/>
                          </a:solidFill>
                          <a:effectLst/>
                          <a:latin typeface="Calibri" panose="020F0502020204030204" pitchFamily="34" charset="0"/>
                          <a:ea typeface="Calibri" panose="020F0502020204030204" pitchFamily="34" charset="0"/>
                          <a:cs typeface="Calibri" panose="020F0502020204030204" pitchFamily="34" charset="0"/>
                        </a:rPr>
                        <a:t>15436.31</a:t>
                      </a:r>
                    </a:p>
                  </a:txBody>
                  <a:tcPr marL="100051" marR="100051" marT="100051" marB="100051" anchor="ctr"/>
                </a:tc>
                <a:tc>
                  <a:txBody>
                    <a:bodyPr/>
                    <a:lstStyle/>
                    <a:p>
                      <a:pPr marL="0" marR="0">
                        <a:buNone/>
                      </a:pPr>
                      <a:r>
                        <a:rPr lang="en-US" sz="1800" b="0" cap="none" spc="0">
                          <a:solidFill>
                            <a:schemeClr val="tx1"/>
                          </a:solidFill>
                          <a:effectLst/>
                          <a:latin typeface="Calibri" panose="020F0502020204030204" pitchFamily="34" charset="0"/>
                          <a:ea typeface="Calibri" panose="020F0502020204030204" pitchFamily="34" charset="0"/>
                          <a:cs typeface="Calibri" panose="020F0502020204030204" pitchFamily="34" charset="0"/>
                        </a:rPr>
                        <a:t>15312.37</a:t>
                      </a:r>
                    </a:p>
                  </a:txBody>
                  <a:tcPr marL="100051" marR="100051" marT="100051" marB="100051" anchor="ctr"/>
                </a:tc>
                <a:tc>
                  <a:txBody>
                    <a:bodyPr/>
                    <a:lstStyle/>
                    <a:p>
                      <a:pPr marL="0" marR="0" algn="ctr">
                        <a:buNone/>
                      </a:pPr>
                      <a:r>
                        <a:rPr lang="en-US" sz="1800" b="0" cap="none" spc="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0.826</a:t>
                      </a:r>
                    </a:p>
                  </a:txBody>
                  <a:tcPr marL="100051" marR="100051" marT="100051" marB="100051" anchor="ctr"/>
                </a:tc>
                <a:tc>
                  <a:txBody>
                    <a:bodyPr/>
                    <a:lstStyle/>
                    <a:p>
                      <a:pPr marL="0" marR="0" algn="ctr">
                        <a:buNone/>
                      </a:pPr>
                      <a:r>
                        <a:rPr lang="en-US" sz="1800" b="0" cap="none" spc="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39</a:t>
                      </a:r>
                    </a:p>
                  </a:txBody>
                  <a:tcPr marL="100051" marR="100051" marT="100051" marB="100051" anchor="ctr"/>
                </a:tc>
                <a:tc>
                  <a:txBody>
                    <a:bodyPr/>
                    <a:lstStyle/>
                    <a:p>
                      <a:pPr marL="0" marR="0" algn="ctr">
                        <a:buNone/>
                      </a:pPr>
                      <a:r>
                        <a:rPr lang="en-US" sz="1800" b="0" cap="none" spc="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AIC</a:t>
                      </a:r>
                    </a:p>
                  </a:txBody>
                  <a:tcPr marL="100051" marR="100051" marT="100051" marB="100051" anchor="ctr"/>
                </a:tc>
                <a:extLst>
                  <a:ext uri="{0D108BD9-81ED-4DB2-BD59-A6C34878D82A}">
                    <a16:rowId xmlns:a16="http://schemas.microsoft.com/office/drawing/2014/main" val="3268940856"/>
                  </a:ext>
                </a:extLst>
              </a:tr>
              <a:tr h="483245">
                <a:tc>
                  <a:txBody>
                    <a:bodyPr/>
                    <a:lstStyle/>
                    <a:p>
                      <a:pPr marL="0" marR="0">
                        <a:buNone/>
                      </a:pPr>
                      <a:r>
                        <a:rPr lang="en-US" sz="1800" b="0" cap="none" spc="0">
                          <a:solidFill>
                            <a:schemeClr val="tx1"/>
                          </a:solidFill>
                          <a:effectLst/>
                          <a:latin typeface="Calibri" panose="020F0502020204030204" pitchFamily="34" charset="0"/>
                          <a:ea typeface="Calibri" panose="020F0502020204030204" pitchFamily="34" charset="0"/>
                          <a:cs typeface="Calibri" panose="020F0502020204030204" pitchFamily="34" charset="0"/>
                        </a:rPr>
                        <a:t>6</a:t>
                      </a:r>
                    </a:p>
                  </a:txBody>
                  <a:tcPr marL="100051" marR="100051" marT="100051" marB="100051" anchor="ctr"/>
                </a:tc>
                <a:tc>
                  <a:txBody>
                    <a:bodyPr/>
                    <a:lstStyle/>
                    <a:p>
                      <a:pPr marL="0" marR="0">
                        <a:buNone/>
                      </a:pPr>
                      <a:r>
                        <a:rPr lang="en-US" sz="1800" b="0" cap="none" spc="0">
                          <a:solidFill>
                            <a:schemeClr val="tx1"/>
                          </a:solidFill>
                          <a:effectLst/>
                          <a:latin typeface="Calibri" panose="020F0502020204030204" pitchFamily="34" charset="0"/>
                          <a:ea typeface="Calibri" panose="020F0502020204030204" pitchFamily="34" charset="0"/>
                          <a:cs typeface="Calibri" panose="020F0502020204030204" pitchFamily="34" charset="0"/>
                        </a:rPr>
                        <a:t>−7545.92</a:t>
                      </a:r>
                    </a:p>
                  </a:txBody>
                  <a:tcPr marL="100051" marR="100051" marT="100051" marB="100051" anchor="ctr"/>
                </a:tc>
                <a:tc>
                  <a:txBody>
                    <a:bodyPr/>
                    <a:lstStyle/>
                    <a:p>
                      <a:pPr marL="0" marR="0">
                        <a:buNone/>
                      </a:pPr>
                      <a:r>
                        <a:rPr lang="en-US" sz="1800" b="0" cap="none" spc="0">
                          <a:solidFill>
                            <a:schemeClr val="tx1"/>
                          </a:solidFill>
                          <a:effectLst/>
                          <a:latin typeface="Calibri" panose="020F0502020204030204" pitchFamily="34" charset="0"/>
                          <a:ea typeface="Calibri" panose="020F0502020204030204" pitchFamily="34" charset="0"/>
                          <a:cs typeface="Calibri" panose="020F0502020204030204" pitchFamily="34" charset="0"/>
                        </a:rPr>
                        <a:t>15185.85</a:t>
                      </a:r>
                    </a:p>
                  </a:txBody>
                  <a:tcPr marL="100051" marR="100051" marT="100051" marB="100051" anchor="ctr"/>
                </a:tc>
                <a:tc>
                  <a:txBody>
                    <a:bodyPr/>
                    <a:lstStyle/>
                    <a:p>
                      <a:pPr marL="0" marR="0">
                        <a:buNone/>
                      </a:pPr>
                      <a:r>
                        <a:rPr lang="en-US" sz="1800" b="0" cap="none" spc="0">
                          <a:solidFill>
                            <a:schemeClr val="tx1"/>
                          </a:solidFill>
                          <a:effectLst/>
                          <a:latin typeface="Calibri" panose="020F0502020204030204" pitchFamily="34" charset="0"/>
                          <a:ea typeface="Calibri" panose="020F0502020204030204" pitchFamily="34" charset="0"/>
                          <a:cs typeface="Calibri" panose="020F0502020204030204" pitchFamily="34" charset="0"/>
                        </a:rPr>
                        <a:t>15513.35</a:t>
                      </a:r>
                    </a:p>
                  </a:txBody>
                  <a:tcPr marL="100051" marR="100051" marT="100051" marB="100051" anchor="ctr"/>
                </a:tc>
                <a:tc>
                  <a:txBody>
                    <a:bodyPr/>
                    <a:lstStyle/>
                    <a:p>
                      <a:pPr marL="0" marR="0">
                        <a:buNone/>
                      </a:pPr>
                      <a:r>
                        <a:rPr lang="en-US" sz="1800" b="0" cap="none" spc="0">
                          <a:solidFill>
                            <a:schemeClr val="tx1"/>
                          </a:solidFill>
                          <a:effectLst/>
                          <a:latin typeface="Calibri" panose="020F0502020204030204" pitchFamily="34" charset="0"/>
                          <a:ea typeface="Calibri" panose="020F0502020204030204" pitchFamily="34" charset="0"/>
                          <a:cs typeface="Calibri" panose="020F0502020204030204" pitchFamily="34" charset="0"/>
                        </a:rPr>
                        <a:t>15364.00</a:t>
                      </a:r>
                    </a:p>
                  </a:txBody>
                  <a:tcPr marL="100051" marR="100051" marT="100051" marB="100051" anchor="ctr"/>
                </a:tc>
                <a:tc>
                  <a:txBody>
                    <a:bodyPr/>
                    <a:lstStyle/>
                    <a:p>
                      <a:pPr marL="0" marR="0" algn="ctr">
                        <a:buNone/>
                      </a:pPr>
                      <a:r>
                        <a:rPr lang="en-US" sz="1800" b="0" cap="none" spc="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0.814</a:t>
                      </a:r>
                    </a:p>
                  </a:txBody>
                  <a:tcPr marL="100051" marR="100051" marT="100051" marB="100051" anchor="ctr"/>
                </a:tc>
                <a:tc>
                  <a:txBody>
                    <a:bodyPr/>
                    <a:lstStyle/>
                    <a:p>
                      <a:pPr marL="0" marR="0" algn="ctr">
                        <a:buNone/>
                      </a:pPr>
                      <a:r>
                        <a:rPr lang="en-US" sz="1800" b="0" cap="none" spc="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47</a:t>
                      </a:r>
                    </a:p>
                  </a:txBody>
                  <a:tcPr marL="100051" marR="100051" marT="100051" marB="100051" anchor="ctr"/>
                </a:tc>
                <a:tc>
                  <a:txBody>
                    <a:bodyPr/>
                    <a:lstStyle/>
                    <a:p>
                      <a:pPr marL="0" marR="0" algn="ctr">
                        <a:buNone/>
                      </a:pPr>
                      <a:r>
                        <a:rPr lang="en-US" sz="1800" b="0" cap="none" spc="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p>
                  </a:txBody>
                  <a:tcPr marL="100051" marR="100051" marT="100051" marB="100051" anchor="ctr"/>
                </a:tc>
                <a:extLst>
                  <a:ext uri="{0D108BD9-81ED-4DB2-BD59-A6C34878D82A}">
                    <a16:rowId xmlns:a16="http://schemas.microsoft.com/office/drawing/2014/main" val="824942624"/>
                  </a:ext>
                </a:extLst>
              </a:tr>
              <a:tr h="483245">
                <a:tc>
                  <a:txBody>
                    <a:bodyPr/>
                    <a:lstStyle/>
                    <a:p>
                      <a:pPr marL="0" marR="0">
                        <a:buNone/>
                      </a:pPr>
                      <a:r>
                        <a:rPr lang="en-US" sz="1800" b="0" cap="none" spc="0">
                          <a:solidFill>
                            <a:schemeClr val="tx1"/>
                          </a:solidFill>
                          <a:effectLst/>
                          <a:latin typeface="Calibri" panose="020F0502020204030204" pitchFamily="34" charset="0"/>
                          <a:ea typeface="Calibri" panose="020F0502020204030204" pitchFamily="34" charset="0"/>
                          <a:cs typeface="Calibri" panose="020F0502020204030204" pitchFamily="34" charset="0"/>
                        </a:rPr>
                        <a:t>7</a:t>
                      </a:r>
                    </a:p>
                  </a:txBody>
                  <a:tcPr marL="100051" marR="100051" marT="100051" marB="100051" anchor="ctr"/>
                </a:tc>
                <a:tc>
                  <a:txBody>
                    <a:bodyPr/>
                    <a:lstStyle/>
                    <a:p>
                      <a:pPr marL="0" marR="0">
                        <a:buNone/>
                      </a:pPr>
                      <a:r>
                        <a:rPr lang="en-US" sz="1800" b="0" cap="none" spc="0">
                          <a:solidFill>
                            <a:schemeClr val="tx1"/>
                          </a:solidFill>
                          <a:effectLst/>
                          <a:latin typeface="Calibri" panose="020F0502020204030204" pitchFamily="34" charset="0"/>
                          <a:ea typeface="Calibri" panose="020F0502020204030204" pitchFamily="34" charset="0"/>
                          <a:cs typeface="Calibri" panose="020F0502020204030204" pitchFamily="34" charset="0"/>
                        </a:rPr>
                        <a:t>−7540.36</a:t>
                      </a:r>
                    </a:p>
                  </a:txBody>
                  <a:tcPr marL="100051" marR="100051" marT="100051" marB="100051" anchor="ctr"/>
                </a:tc>
                <a:tc>
                  <a:txBody>
                    <a:bodyPr/>
                    <a:lstStyle/>
                    <a:p>
                      <a:pPr marL="0" marR="0">
                        <a:buNone/>
                      </a:pPr>
                      <a:r>
                        <a:rPr lang="en-US" sz="1800" b="0" cap="none" spc="0">
                          <a:solidFill>
                            <a:schemeClr val="tx1"/>
                          </a:solidFill>
                          <a:effectLst/>
                          <a:latin typeface="Calibri" panose="020F0502020204030204" pitchFamily="34" charset="0"/>
                          <a:ea typeface="Calibri" panose="020F0502020204030204" pitchFamily="34" charset="0"/>
                          <a:cs typeface="Calibri" panose="020F0502020204030204" pitchFamily="34" charset="0"/>
                        </a:rPr>
                        <a:t>15190.72</a:t>
                      </a:r>
                    </a:p>
                  </a:txBody>
                  <a:tcPr marL="100051" marR="100051" marT="100051" marB="100051" anchor="ctr"/>
                </a:tc>
                <a:tc>
                  <a:txBody>
                    <a:bodyPr/>
                    <a:lstStyle/>
                    <a:p>
                      <a:pPr marL="0" marR="0">
                        <a:buNone/>
                      </a:pPr>
                      <a:r>
                        <a:rPr lang="en-US" sz="1800" b="0" cap="none" spc="0">
                          <a:solidFill>
                            <a:schemeClr val="tx1"/>
                          </a:solidFill>
                          <a:effectLst/>
                          <a:latin typeface="Calibri" panose="020F0502020204030204" pitchFamily="34" charset="0"/>
                          <a:ea typeface="Calibri" panose="020F0502020204030204" pitchFamily="34" charset="0"/>
                          <a:cs typeface="Calibri" panose="020F0502020204030204" pitchFamily="34" charset="0"/>
                        </a:rPr>
                        <a:t>15573.97</a:t>
                      </a:r>
                    </a:p>
                  </a:txBody>
                  <a:tcPr marL="100051" marR="100051" marT="100051" marB="100051" anchor="ctr"/>
                </a:tc>
                <a:tc>
                  <a:txBody>
                    <a:bodyPr/>
                    <a:lstStyle/>
                    <a:p>
                      <a:pPr marL="0" marR="0">
                        <a:buNone/>
                      </a:pPr>
                      <a:r>
                        <a:rPr lang="en-US" sz="1800" b="0" cap="none" spc="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15399.19</a:t>
                      </a:r>
                    </a:p>
                  </a:txBody>
                  <a:tcPr marL="100051" marR="100051" marT="100051" marB="100051" anchor="ctr"/>
                </a:tc>
                <a:tc>
                  <a:txBody>
                    <a:bodyPr/>
                    <a:lstStyle/>
                    <a:p>
                      <a:pPr marL="0" marR="0" algn="ctr">
                        <a:buNone/>
                      </a:pPr>
                      <a:r>
                        <a:rPr lang="en-US" sz="1800" b="0" cap="none" spc="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0.831</a:t>
                      </a:r>
                    </a:p>
                  </a:txBody>
                  <a:tcPr marL="100051" marR="100051" marT="100051" marB="100051" anchor="ctr"/>
                </a:tc>
                <a:tc>
                  <a:txBody>
                    <a:bodyPr/>
                    <a:lstStyle/>
                    <a:p>
                      <a:pPr marL="0" marR="0" algn="ctr">
                        <a:buNone/>
                      </a:pPr>
                      <a:r>
                        <a:rPr lang="en-US" sz="1800" b="0" cap="none" spc="0">
                          <a:solidFill>
                            <a:schemeClr val="tx1"/>
                          </a:solidFill>
                          <a:effectLst/>
                          <a:latin typeface="Calibri" panose="020F0502020204030204" pitchFamily="34" charset="0"/>
                          <a:ea typeface="Calibri" panose="020F0502020204030204" pitchFamily="34" charset="0"/>
                          <a:cs typeface="Calibri" panose="020F0502020204030204" pitchFamily="34" charset="0"/>
                        </a:rPr>
                        <a:t>55</a:t>
                      </a:r>
                    </a:p>
                  </a:txBody>
                  <a:tcPr marL="100051" marR="100051" marT="100051" marB="100051" anchor="ctr"/>
                </a:tc>
                <a:tc>
                  <a:txBody>
                    <a:bodyPr/>
                    <a:lstStyle/>
                    <a:p>
                      <a:pPr marL="0" marR="0" algn="ctr">
                        <a:buNone/>
                      </a:pPr>
                      <a:r>
                        <a:rPr lang="en-US" sz="1800" b="0" cap="none" spc="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p>
                  </a:txBody>
                  <a:tcPr marL="100051" marR="100051" marT="100051" marB="100051" anchor="ctr"/>
                </a:tc>
                <a:extLst>
                  <a:ext uri="{0D108BD9-81ED-4DB2-BD59-A6C34878D82A}">
                    <a16:rowId xmlns:a16="http://schemas.microsoft.com/office/drawing/2014/main" val="552726597"/>
                  </a:ext>
                </a:extLst>
              </a:tr>
              <a:tr h="483245">
                <a:tc>
                  <a:txBody>
                    <a:bodyPr/>
                    <a:lstStyle/>
                    <a:p>
                      <a:pPr marL="0" marR="0">
                        <a:buNone/>
                      </a:pPr>
                      <a:r>
                        <a:rPr lang="en-US" sz="1800" b="0" cap="none" spc="0">
                          <a:solidFill>
                            <a:schemeClr val="tx1"/>
                          </a:solidFill>
                          <a:effectLst/>
                          <a:latin typeface="Calibri" panose="020F0502020204030204" pitchFamily="34" charset="0"/>
                          <a:ea typeface="Calibri" panose="020F0502020204030204" pitchFamily="34" charset="0"/>
                          <a:cs typeface="Calibri" panose="020F0502020204030204" pitchFamily="34" charset="0"/>
                        </a:rPr>
                        <a:t>8</a:t>
                      </a:r>
                    </a:p>
                  </a:txBody>
                  <a:tcPr marL="100051" marR="100051" marT="100051" marB="100051" anchor="ctr"/>
                </a:tc>
                <a:tc>
                  <a:txBody>
                    <a:bodyPr/>
                    <a:lstStyle/>
                    <a:p>
                      <a:pPr marL="0" marR="0">
                        <a:buNone/>
                      </a:pPr>
                      <a:r>
                        <a:rPr lang="en-US" sz="1800" b="0" cap="none" spc="0">
                          <a:solidFill>
                            <a:schemeClr val="tx1"/>
                          </a:solidFill>
                          <a:effectLst/>
                          <a:latin typeface="Calibri" panose="020F0502020204030204" pitchFamily="34" charset="0"/>
                          <a:ea typeface="Calibri" panose="020F0502020204030204" pitchFamily="34" charset="0"/>
                          <a:cs typeface="Calibri" panose="020F0502020204030204" pitchFamily="34" charset="0"/>
                        </a:rPr>
                        <a:t>−7537.89</a:t>
                      </a:r>
                    </a:p>
                  </a:txBody>
                  <a:tcPr marL="100051" marR="100051" marT="100051" marB="100051" anchor="ctr"/>
                </a:tc>
                <a:tc>
                  <a:txBody>
                    <a:bodyPr/>
                    <a:lstStyle/>
                    <a:p>
                      <a:pPr marL="0" marR="0">
                        <a:buNone/>
                      </a:pPr>
                      <a:r>
                        <a:rPr lang="en-US" sz="1800" b="0" cap="none" spc="0">
                          <a:solidFill>
                            <a:schemeClr val="tx1"/>
                          </a:solidFill>
                          <a:effectLst/>
                          <a:latin typeface="Calibri" panose="020F0502020204030204" pitchFamily="34" charset="0"/>
                          <a:ea typeface="Calibri" panose="020F0502020204030204" pitchFamily="34" charset="0"/>
                          <a:cs typeface="Calibri" panose="020F0502020204030204" pitchFamily="34" charset="0"/>
                        </a:rPr>
                        <a:t>15201.78</a:t>
                      </a:r>
                    </a:p>
                  </a:txBody>
                  <a:tcPr marL="100051" marR="100051" marT="100051" marB="100051" anchor="ctr"/>
                </a:tc>
                <a:tc>
                  <a:txBody>
                    <a:bodyPr/>
                    <a:lstStyle/>
                    <a:p>
                      <a:pPr marL="0" marR="0">
                        <a:buNone/>
                      </a:pPr>
                      <a:r>
                        <a:rPr lang="en-US" sz="1800" b="0" cap="none" spc="0">
                          <a:solidFill>
                            <a:schemeClr val="tx1"/>
                          </a:solidFill>
                          <a:effectLst/>
                          <a:latin typeface="Calibri" panose="020F0502020204030204" pitchFamily="34" charset="0"/>
                          <a:ea typeface="Calibri" panose="020F0502020204030204" pitchFamily="34" charset="0"/>
                          <a:cs typeface="Calibri" panose="020F0502020204030204" pitchFamily="34" charset="0"/>
                        </a:rPr>
                        <a:t>15640.78</a:t>
                      </a:r>
                    </a:p>
                  </a:txBody>
                  <a:tcPr marL="100051" marR="100051" marT="100051" marB="100051" anchor="ctr"/>
                </a:tc>
                <a:tc>
                  <a:txBody>
                    <a:bodyPr/>
                    <a:lstStyle/>
                    <a:p>
                      <a:pPr marL="0" marR="0">
                        <a:buNone/>
                      </a:pPr>
                      <a:r>
                        <a:rPr lang="en-US" sz="1800" b="0" cap="none" spc="0">
                          <a:solidFill>
                            <a:schemeClr val="tx1"/>
                          </a:solidFill>
                          <a:effectLst/>
                          <a:latin typeface="Calibri" panose="020F0502020204030204" pitchFamily="34" charset="0"/>
                          <a:ea typeface="Calibri" panose="020F0502020204030204" pitchFamily="34" charset="0"/>
                          <a:cs typeface="Calibri" panose="020F0502020204030204" pitchFamily="34" charset="0"/>
                        </a:rPr>
                        <a:t>15440.58</a:t>
                      </a:r>
                    </a:p>
                  </a:txBody>
                  <a:tcPr marL="100051" marR="100051" marT="100051" marB="100051" anchor="ctr"/>
                </a:tc>
                <a:tc>
                  <a:txBody>
                    <a:bodyPr/>
                    <a:lstStyle/>
                    <a:p>
                      <a:pPr marL="0" marR="0" algn="ctr">
                        <a:buNone/>
                      </a:pPr>
                      <a:r>
                        <a:rPr lang="en-US" sz="1800" b="0" cap="none" spc="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0.793</a:t>
                      </a:r>
                    </a:p>
                  </a:txBody>
                  <a:tcPr marL="100051" marR="100051" marT="100051" marB="100051" anchor="ctr"/>
                </a:tc>
                <a:tc>
                  <a:txBody>
                    <a:bodyPr/>
                    <a:lstStyle/>
                    <a:p>
                      <a:pPr marL="0" marR="0" algn="ctr">
                        <a:buNone/>
                      </a:pPr>
                      <a:r>
                        <a:rPr lang="en-US" sz="1800" b="0" cap="none" spc="0">
                          <a:solidFill>
                            <a:schemeClr val="tx1"/>
                          </a:solidFill>
                          <a:effectLst/>
                          <a:latin typeface="Calibri" panose="020F0502020204030204" pitchFamily="34" charset="0"/>
                          <a:ea typeface="Calibri" panose="020F0502020204030204" pitchFamily="34" charset="0"/>
                          <a:cs typeface="Calibri" panose="020F0502020204030204" pitchFamily="34" charset="0"/>
                        </a:rPr>
                        <a:t>63</a:t>
                      </a:r>
                    </a:p>
                  </a:txBody>
                  <a:tcPr marL="100051" marR="100051" marT="100051" marB="100051" anchor="ctr"/>
                </a:tc>
                <a:tc>
                  <a:txBody>
                    <a:bodyPr/>
                    <a:lstStyle/>
                    <a:p>
                      <a:pPr marL="0" marR="0" algn="ctr">
                        <a:buNone/>
                      </a:pPr>
                      <a:r>
                        <a:rPr lang="en-US" sz="1800" b="0" cap="none" spc="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p>
                  </a:txBody>
                  <a:tcPr marL="100051" marR="100051" marT="100051" marB="100051" anchor="ctr"/>
                </a:tc>
                <a:extLst>
                  <a:ext uri="{0D108BD9-81ED-4DB2-BD59-A6C34878D82A}">
                    <a16:rowId xmlns:a16="http://schemas.microsoft.com/office/drawing/2014/main" val="3909244135"/>
                  </a:ext>
                </a:extLst>
              </a:tr>
            </a:tbl>
          </a:graphicData>
        </a:graphic>
      </p:graphicFrame>
      <p:sp>
        <p:nvSpPr>
          <p:cNvPr id="5" name="Rectangle 4">
            <a:extLst>
              <a:ext uri="{FF2B5EF4-FFF2-40B4-BE49-F238E27FC236}">
                <a16:creationId xmlns:a16="http://schemas.microsoft.com/office/drawing/2014/main" id="{6571728D-EBEE-C601-CC90-9AEA861B67DB}"/>
              </a:ext>
            </a:extLst>
          </p:cNvPr>
          <p:cNvSpPr/>
          <p:nvPr/>
        </p:nvSpPr>
        <p:spPr>
          <a:xfrm>
            <a:off x="3551274" y="3732028"/>
            <a:ext cx="1031359" cy="1467293"/>
          </a:xfrm>
          <a:prstGeom prst="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2566CA79-4AF0-2698-A5CA-3B391C1EC00B}"/>
              </a:ext>
            </a:extLst>
          </p:cNvPr>
          <p:cNvSpPr/>
          <p:nvPr/>
        </p:nvSpPr>
        <p:spPr>
          <a:xfrm>
            <a:off x="4696047" y="3225394"/>
            <a:ext cx="2108789" cy="1467293"/>
          </a:xfrm>
          <a:prstGeom prst="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1123103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F7C84820-64E8-4A2D-25AF-C4E16755D198}"/>
              </a:ext>
            </a:extLst>
          </p:cNvPr>
          <p:cNvGraphicFramePr>
            <a:graphicFrameLocks noGrp="1"/>
          </p:cNvGraphicFramePr>
          <p:nvPr>
            <p:ph idx="4294967295"/>
            <p:extLst>
              <p:ext uri="{D42A27DB-BD31-4B8C-83A1-F6EECF244321}">
                <p14:modId xmlns:p14="http://schemas.microsoft.com/office/powerpoint/2010/main" val="2315521145"/>
              </p:ext>
            </p:extLst>
          </p:nvPr>
        </p:nvGraphicFramePr>
        <p:xfrm>
          <a:off x="653142" y="963914"/>
          <a:ext cx="11139055" cy="5706612"/>
        </p:xfrm>
        <a:graphic>
          <a:graphicData uri="http://schemas.openxmlformats.org/drawingml/2006/table">
            <a:tbl>
              <a:tblPr firstRow="1" firstCol="1" bandRow="1">
                <a:tableStyleId>{616DA210-FB5B-4158-B5E0-FEB733F419BA}</a:tableStyleId>
              </a:tblPr>
              <a:tblGrid>
                <a:gridCol w="3040083">
                  <a:extLst>
                    <a:ext uri="{9D8B030D-6E8A-4147-A177-3AD203B41FA5}">
                      <a16:colId xmlns:a16="http://schemas.microsoft.com/office/drawing/2014/main" val="1874069096"/>
                    </a:ext>
                  </a:extLst>
                </a:gridCol>
                <a:gridCol w="1781299">
                  <a:extLst>
                    <a:ext uri="{9D8B030D-6E8A-4147-A177-3AD203B41FA5}">
                      <a16:colId xmlns:a16="http://schemas.microsoft.com/office/drawing/2014/main" val="1066846070"/>
                    </a:ext>
                  </a:extLst>
                </a:gridCol>
                <a:gridCol w="2066306">
                  <a:extLst>
                    <a:ext uri="{9D8B030D-6E8A-4147-A177-3AD203B41FA5}">
                      <a16:colId xmlns:a16="http://schemas.microsoft.com/office/drawing/2014/main" val="3374341083"/>
                    </a:ext>
                  </a:extLst>
                </a:gridCol>
                <a:gridCol w="2054431">
                  <a:extLst>
                    <a:ext uri="{9D8B030D-6E8A-4147-A177-3AD203B41FA5}">
                      <a16:colId xmlns:a16="http://schemas.microsoft.com/office/drawing/2014/main" val="531020038"/>
                    </a:ext>
                  </a:extLst>
                </a:gridCol>
                <a:gridCol w="2196936">
                  <a:extLst>
                    <a:ext uri="{9D8B030D-6E8A-4147-A177-3AD203B41FA5}">
                      <a16:colId xmlns:a16="http://schemas.microsoft.com/office/drawing/2014/main" val="2294796362"/>
                    </a:ext>
                  </a:extLst>
                </a:gridCol>
              </a:tblGrid>
              <a:tr h="886740">
                <a:tc>
                  <a:txBody>
                    <a:bodyPr/>
                    <a:lstStyle/>
                    <a:p>
                      <a:pPr marL="0" marR="0" algn="ctr">
                        <a:buNone/>
                      </a:pPr>
                      <a:r>
                        <a:rPr lang="en-US" sz="1800" b="1" cap="none" spc="0" dirty="0">
                          <a:solidFill>
                            <a:schemeClr val="tx1"/>
                          </a:solidFill>
                          <a:effectLst/>
                        </a:rPr>
                        <a:t>CIH indicator</a:t>
                      </a:r>
                      <a:endParaRPr lang="en-US" sz="1800" b="1" cap="none" spc="0" dirty="0">
                        <a:solidFill>
                          <a:schemeClr val="tx1"/>
                        </a:solidFill>
                        <a:effectLst/>
                        <a:latin typeface="Arial" panose="020B0604020202020204" pitchFamily="34" charset="0"/>
                        <a:ea typeface="Arial" panose="020B0604020202020204" pitchFamily="34" charset="0"/>
                      </a:endParaRPr>
                    </a:p>
                  </a:txBody>
                  <a:tcPr marL="0" marR="62432" marT="14984" marB="74918" anchor="ctr"/>
                </a:tc>
                <a:tc>
                  <a:txBody>
                    <a:bodyPr/>
                    <a:lstStyle/>
                    <a:p>
                      <a:pPr marL="0" marR="0" algn="ctr">
                        <a:buNone/>
                      </a:pPr>
                      <a:r>
                        <a:rPr lang="en-US" sz="1800" b="1" cap="none" spc="0" dirty="0">
                          <a:solidFill>
                            <a:schemeClr val="tx1"/>
                          </a:solidFill>
                          <a:effectLst/>
                        </a:rPr>
                        <a:t>Class 1 Movement/Arts (3.4%, n = 182)</a:t>
                      </a:r>
                      <a:endParaRPr lang="en-US" sz="1800" b="1" cap="none" spc="0" dirty="0">
                        <a:solidFill>
                          <a:schemeClr val="tx1"/>
                        </a:solidFill>
                        <a:effectLst/>
                        <a:latin typeface="Arial" panose="020B0604020202020204" pitchFamily="34" charset="0"/>
                        <a:ea typeface="Arial" panose="020B0604020202020204" pitchFamily="34" charset="0"/>
                      </a:endParaRPr>
                    </a:p>
                  </a:txBody>
                  <a:tcPr marL="0" marR="62432" marT="14984" marB="74918" anchor="ctr"/>
                </a:tc>
                <a:tc>
                  <a:txBody>
                    <a:bodyPr/>
                    <a:lstStyle/>
                    <a:p>
                      <a:pPr marL="0" marR="0" algn="ctr">
                        <a:buNone/>
                      </a:pPr>
                      <a:r>
                        <a:rPr lang="en-US" sz="1800" b="1" cap="none" spc="0" dirty="0">
                          <a:solidFill>
                            <a:schemeClr val="tx1"/>
                          </a:solidFill>
                          <a:effectLst/>
                        </a:rPr>
                        <a:t>Class 2 Comprehensive (0.8%, n = 52)</a:t>
                      </a:r>
                      <a:endParaRPr lang="en-US" sz="1800" b="1" cap="none" spc="0" dirty="0">
                        <a:solidFill>
                          <a:schemeClr val="tx1"/>
                        </a:solidFill>
                        <a:effectLst/>
                        <a:latin typeface="Arial" panose="020B0604020202020204" pitchFamily="34" charset="0"/>
                        <a:ea typeface="Arial" panose="020B0604020202020204" pitchFamily="34" charset="0"/>
                      </a:endParaRPr>
                    </a:p>
                  </a:txBody>
                  <a:tcPr marL="0" marR="62432" marT="14984" marB="74918" anchor="ctr"/>
                </a:tc>
                <a:tc>
                  <a:txBody>
                    <a:bodyPr/>
                    <a:lstStyle/>
                    <a:p>
                      <a:pPr marL="0" marR="0" algn="ctr">
                        <a:buNone/>
                      </a:pPr>
                      <a:r>
                        <a:rPr lang="en-US" sz="1800" b="1" cap="none" spc="0" dirty="0">
                          <a:solidFill>
                            <a:schemeClr val="tx1"/>
                          </a:solidFill>
                          <a:effectLst/>
                        </a:rPr>
                        <a:t>Class 3 Mind-Body (3.4%, n = 176)</a:t>
                      </a:r>
                      <a:endParaRPr lang="en-US" sz="1800" b="1" cap="none" spc="0" dirty="0">
                        <a:solidFill>
                          <a:schemeClr val="tx1"/>
                        </a:solidFill>
                        <a:effectLst/>
                        <a:latin typeface="Arial" panose="020B0604020202020204" pitchFamily="34" charset="0"/>
                        <a:ea typeface="Arial" panose="020B0604020202020204" pitchFamily="34" charset="0"/>
                      </a:endParaRPr>
                    </a:p>
                  </a:txBody>
                  <a:tcPr marL="0" marR="62432" marT="14984" marB="74918" anchor="ctr"/>
                </a:tc>
                <a:tc>
                  <a:txBody>
                    <a:bodyPr/>
                    <a:lstStyle/>
                    <a:p>
                      <a:pPr marL="0" marR="0" algn="ctr">
                        <a:buNone/>
                      </a:pPr>
                      <a:r>
                        <a:rPr lang="en-US" sz="1800" b="1" cap="none" spc="0" dirty="0">
                          <a:solidFill>
                            <a:schemeClr val="tx1"/>
                          </a:solidFill>
                          <a:effectLst/>
                        </a:rPr>
                        <a:t>Class 4 Non-Users (92.4%, n = 7,440)</a:t>
                      </a:r>
                      <a:endParaRPr lang="en-US" sz="1800" b="1" cap="none" spc="0" dirty="0">
                        <a:solidFill>
                          <a:schemeClr val="tx1"/>
                        </a:solidFill>
                        <a:effectLst/>
                        <a:latin typeface="Arial" panose="020B0604020202020204" pitchFamily="34" charset="0"/>
                        <a:ea typeface="Arial" panose="020B0604020202020204" pitchFamily="34" charset="0"/>
                      </a:endParaRPr>
                    </a:p>
                  </a:txBody>
                  <a:tcPr marL="0" marR="62432" marT="14984" marB="74918" anchor="ctr"/>
                </a:tc>
                <a:extLst>
                  <a:ext uri="{0D108BD9-81ED-4DB2-BD59-A6C34878D82A}">
                    <a16:rowId xmlns:a16="http://schemas.microsoft.com/office/drawing/2014/main" val="660444781"/>
                  </a:ext>
                </a:extLst>
              </a:tr>
              <a:tr h="759745">
                <a:tc>
                  <a:txBody>
                    <a:bodyPr/>
                    <a:lstStyle/>
                    <a:p>
                      <a:pPr marL="0" marR="0">
                        <a:buNone/>
                      </a:pPr>
                      <a:r>
                        <a:rPr lang="en-US" sz="1800" b="0" cap="none" spc="0" dirty="0">
                          <a:solidFill>
                            <a:schemeClr val="tx1"/>
                          </a:solidFill>
                          <a:effectLst/>
                        </a:rPr>
                        <a:t>Music or art for health</a:t>
                      </a:r>
                      <a:endParaRPr lang="en-US" sz="1800" b="0" cap="none" spc="0" dirty="0">
                        <a:solidFill>
                          <a:schemeClr val="tx1"/>
                        </a:solidFill>
                        <a:effectLst/>
                        <a:latin typeface="Arial" panose="020B0604020202020204" pitchFamily="34" charset="0"/>
                        <a:ea typeface="Arial" panose="020B0604020202020204" pitchFamily="34" charset="0"/>
                      </a:endParaRPr>
                    </a:p>
                  </a:txBody>
                  <a:tcPr marL="0" marR="62432" marT="22476" marB="74918" anchor="ctr"/>
                </a:tc>
                <a:tc>
                  <a:txBody>
                    <a:bodyPr/>
                    <a:lstStyle/>
                    <a:p>
                      <a:pPr marL="0" marR="0" algn="ctr">
                        <a:buNone/>
                      </a:pPr>
                      <a:r>
                        <a:rPr lang="en-US" sz="1800" cap="none" spc="0" dirty="0">
                          <a:solidFill>
                            <a:srgbClr val="FF0000"/>
                          </a:solidFill>
                          <a:effectLst/>
                        </a:rPr>
                        <a:t>0.376</a:t>
                      </a:r>
                      <a:endParaRPr lang="en-US" sz="1800" cap="none" spc="0" dirty="0">
                        <a:solidFill>
                          <a:srgbClr val="FF0000"/>
                        </a:solidFill>
                        <a:effectLst/>
                        <a:latin typeface="Arial" panose="020B0604020202020204" pitchFamily="34" charset="0"/>
                        <a:ea typeface="Arial" panose="020B0604020202020204" pitchFamily="34" charset="0"/>
                      </a:endParaRPr>
                    </a:p>
                  </a:txBody>
                  <a:tcPr marL="0" marR="62432" marT="22476" marB="74918" anchor="ctr"/>
                </a:tc>
                <a:tc>
                  <a:txBody>
                    <a:bodyPr/>
                    <a:lstStyle/>
                    <a:p>
                      <a:pPr marL="0" marR="0" algn="ctr">
                        <a:buNone/>
                      </a:pPr>
                      <a:r>
                        <a:rPr lang="en-US" sz="1800" cap="none" spc="0" dirty="0">
                          <a:solidFill>
                            <a:srgbClr val="FF0000"/>
                          </a:solidFill>
                          <a:effectLst/>
                        </a:rPr>
                        <a:t>0.628</a:t>
                      </a:r>
                      <a:endParaRPr lang="en-US" sz="1800" cap="none" spc="0" dirty="0">
                        <a:solidFill>
                          <a:srgbClr val="FF0000"/>
                        </a:solidFill>
                        <a:effectLst/>
                        <a:latin typeface="Arial" panose="020B0604020202020204" pitchFamily="34" charset="0"/>
                        <a:ea typeface="Arial" panose="020B0604020202020204" pitchFamily="34" charset="0"/>
                      </a:endParaRPr>
                    </a:p>
                  </a:txBody>
                  <a:tcPr marL="0" marR="62432" marT="22476" marB="74918" anchor="ctr"/>
                </a:tc>
                <a:tc>
                  <a:txBody>
                    <a:bodyPr/>
                    <a:lstStyle/>
                    <a:p>
                      <a:pPr marL="0" marR="0" algn="ctr">
                        <a:buNone/>
                      </a:pPr>
                      <a:r>
                        <a:rPr lang="en-US" sz="1800" cap="none" spc="0">
                          <a:solidFill>
                            <a:schemeClr val="tx1"/>
                          </a:solidFill>
                          <a:effectLst/>
                        </a:rPr>
                        <a:t>0.340</a:t>
                      </a:r>
                      <a:endParaRPr lang="en-US" sz="1800" cap="none" spc="0">
                        <a:solidFill>
                          <a:schemeClr val="tx1"/>
                        </a:solidFill>
                        <a:effectLst/>
                        <a:latin typeface="Arial" panose="020B0604020202020204" pitchFamily="34" charset="0"/>
                        <a:ea typeface="Arial" panose="020B0604020202020204" pitchFamily="34" charset="0"/>
                      </a:endParaRPr>
                    </a:p>
                  </a:txBody>
                  <a:tcPr marL="0" marR="62432" marT="22476" marB="74918" anchor="ctr"/>
                </a:tc>
                <a:tc>
                  <a:txBody>
                    <a:bodyPr/>
                    <a:lstStyle/>
                    <a:p>
                      <a:pPr marL="0" marR="0" algn="ctr">
                        <a:buNone/>
                      </a:pPr>
                      <a:r>
                        <a:rPr lang="en-US" sz="1800" cap="none" spc="0" dirty="0">
                          <a:solidFill>
                            <a:srgbClr val="FF0000"/>
                          </a:solidFill>
                          <a:effectLst/>
                        </a:rPr>
                        <a:t>0.100</a:t>
                      </a:r>
                      <a:endParaRPr lang="en-US" sz="1800" cap="none" spc="0" dirty="0">
                        <a:solidFill>
                          <a:srgbClr val="FF0000"/>
                        </a:solidFill>
                        <a:effectLst/>
                        <a:latin typeface="Arial" panose="020B0604020202020204" pitchFamily="34" charset="0"/>
                        <a:ea typeface="Arial" panose="020B0604020202020204" pitchFamily="34" charset="0"/>
                      </a:endParaRPr>
                    </a:p>
                  </a:txBody>
                  <a:tcPr marL="0" marR="62432" marT="22476" marB="74918" anchor="ctr"/>
                </a:tc>
                <a:extLst>
                  <a:ext uri="{0D108BD9-81ED-4DB2-BD59-A6C34878D82A}">
                    <a16:rowId xmlns:a16="http://schemas.microsoft.com/office/drawing/2014/main" val="2146737802"/>
                  </a:ext>
                </a:extLst>
              </a:tr>
              <a:tr h="625125">
                <a:tc>
                  <a:txBody>
                    <a:bodyPr/>
                    <a:lstStyle/>
                    <a:p>
                      <a:pPr marL="0" marR="0">
                        <a:buNone/>
                      </a:pPr>
                      <a:r>
                        <a:rPr lang="en-US" sz="1800" b="0" cap="none" spc="0">
                          <a:solidFill>
                            <a:schemeClr val="tx1"/>
                          </a:solidFill>
                          <a:effectLst/>
                        </a:rPr>
                        <a:t>Qigong</a:t>
                      </a:r>
                      <a:endParaRPr lang="en-US" sz="1800" b="0" cap="none" spc="0">
                        <a:solidFill>
                          <a:schemeClr val="tx1"/>
                        </a:solidFill>
                        <a:effectLst/>
                        <a:latin typeface="Arial" panose="020B0604020202020204" pitchFamily="34" charset="0"/>
                        <a:ea typeface="Arial" panose="020B0604020202020204" pitchFamily="34" charset="0"/>
                      </a:endParaRPr>
                    </a:p>
                  </a:txBody>
                  <a:tcPr marL="0" marR="62432" marT="22476" marB="74918" anchor="ctr"/>
                </a:tc>
                <a:tc>
                  <a:txBody>
                    <a:bodyPr/>
                    <a:lstStyle/>
                    <a:p>
                      <a:pPr marL="0" marR="0" algn="ctr">
                        <a:buNone/>
                      </a:pPr>
                      <a:r>
                        <a:rPr lang="en-US" sz="1800" cap="none" spc="0">
                          <a:solidFill>
                            <a:schemeClr val="tx1"/>
                          </a:solidFill>
                          <a:effectLst/>
                        </a:rPr>
                        <a:t>0.239</a:t>
                      </a:r>
                      <a:endParaRPr lang="en-US" sz="1800" cap="none" spc="0">
                        <a:solidFill>
                          <a:schemeClr val="tx1"/>
                        </a:solidFill>
                        <a:effectLst/>
                        <a:latin typeface="Arial" panose="020B0604020202020204" pitchFamily="34" charset="0"/>
                        <a:ea typeface="Arial" panose="020B0604020202020204" pitchFamily="34" charset="0"/>
                      </a:endParaRPr>
                    </a:p>
                  </a:txBody>
                  <a:tcPr marL="0" marR="62432" marT="22476" marB="74918" anchor="ctr"/>
                </a:tc>
                <a:tc>
                  <a:txBody>
                    <a:bodyPr/>
                    <a:lstStyle/>
                    <a:p>
                      <a:pPr marL="0" marR="0" algn="ctr">
                        <a:buNone/>
                      </a:pPr>
                      <a:r>
                        <a:rPr lang="en-US" sz="1800" cap="none" spc="0" dirty="0">
                          <a:solidFill>
                            <a:srgbClr val="FF0000"/>
                          </a:solidFill>
                          <a:effectLst/>
                        </a:rPr>
                        <a:t>0.732</a:t>
                      </a:r>
                      <a:endParaRPr lang="en-US" sz="1800" cap="none" spc="0" dirty="0">
                        <a:solidFill>
                          <a:srgbClr val="FF0000"/>
                        </a:solidFill>
                        <a:effectLst/>
                        <a:latin typeface="Arial" panose="020B0604020202020204" pitchFamily="34" charset="0"/>
                        <a:ea typeface="Arial" panose="020B0604020202020204" pitchFamily="34" charset="0"/>
                      </a:endParaRPr>
                    </a:p>
                  </a:txBody>
                  <a:tcPr marL="0" marR="62432" marT="22476" marB="74918" anchor="ctr"/>
                </a:tc>
                <a:tc>
                  <a:txBody>
                    <a:bodyPr/>
                    <a:lstStyle/>
                    <a:p>
                      <a:pPr marL="0" marR="0" algn="ctr">
                        <a:buNone/>
                      </a:pPr>
                      <a:r>
                        <a:rPr lang="en-US" sz="1800" cap="none" spc="0">
                          <a:solidFill>
                            <a:schemeClr val="tx1"/>
                          </a:solidFill>
                          <a:effectLst/>
                        </a:rPr>
                        <a:t>0.000</a:t>
                      </a:r>
                      <a:endParaRPr lang="en-US" sz="1800" cap="none" spc="0">
                        <a:solidFill>
                          <a:schemeClr val="tx1"/>
                        </a:solidFill>
                        <a:effectLst/>
                        <a:latin typeface="Arial" panose="020B0604020202020204" pitchFamily="34" charset="0"/>
                        <a:ea typeface="Arial" panose="020B0604020202020204" pitchFamily="34" charset="0"/>
                      </a:endParaRPr>
                    </a:p>
                  </a:txBody>
                  <a:tcPr marL="0" marR="62432" marT="22476" marB="74918" anchor="ctr"/>
                </a:tc>
                <a:tc>
                  <a:txBody>
                    <a:bodyPr/>
                    <a:lstStyle/>
                    <a:p>
                      <a:pPr marL="0" marR="0" algn="ctr">
                        <a:buNone/>
                      </a:pPr>
                      <a:r>
                        <a:rPr lang="en-US" sz="1800" cap="none" spc="0" dirty="0">
                          <a:solidFill>
                            <a:srgbClr val="FF0000"/>
                          </a:solidFill>
                          <a:effectLst/>
                        </a:rPr>
                        <a:t>0.000</a:t>
                      </a:r>
                      <a:endParaRPr lang="en-US" sz="1800" cap="none" spc="0" dirty="0">
                        <a:solidFill>
                          <a:srgbClr val="FF0000"/>
                        </a:solidFill>
                        <a:effectLst/>
                        <a:latin typeface="Arial" panose="020B0604020202020204" pitchFamily="34" charset="0"/>
                        <a:ea typeface="Arial" panose="020B0604020202020204" pitchFamily="34" charset="0"/>
                      </a:endParaRPr>
                    </a:p>
                  </a:txBody>
                  <a:tcPr marL="0" marR="62432" marT="22476" marB="74918" anchor="ctr"/>
                </a:tc>
                <a:extLst>
                  <a:ext uri="{0D108BD9-81ED-4DB2-BD59-A6C34878D82A}">
                    <a16:rowId xmlns:a16="http://schemas.microsoft.com/office/drawing/2014/main" val="1475388464"/>
                  </a:ext>
                </a:extLst>
              </a:tr>
              <a:tr h="669054">
                <a:tc>
                  <a:txBody>
                    <a:bodyPr/>
                    <a:lstStyle/>
                    <a:p>
                      <a:pPr marL="0" marR="0">
                        <a:buNone/>
                      </a:pPr>
                      <a:r>
                        <a:rPr lang="en-US" sz="1800" b="0" cap="none" spc="0">
                          <a:solidFill>
                            <a:schemeClr val="tx1"/>
                          </a:solidFill>
                          <a:effectLst/>
                        </a:rPr>
                        <a:t>Tai chi</a:t>
                      </a:r>
                      <a:endParaRPr lang="en-US" sz="1800" b="0" cap="none" spc="0">
                        <a:solidFill>
                          <a:schemeClr val="tx1"/>
                        </a:solidFill>
                        <a:effectLst/>
                        <a:latin typeface="Arial" panose="020B0604020202020204" pitchFamily="34" charset="0"/>
                        <a:ea typeface="Arial" panose="020B0604020202020204" pitchFamily="34" charset="0"/>
                      </a:endParaRPr>
                    </a:p>
                  </a:txBody>
                  <a:tcPr marL="0" marR="62432" marT="22476" marB="74918" anchor="ctr"/>
                </a:tc>
                <a:tc>
                  <a:txBody>
                    <a:bodyPr/>
                    <a:lstStyle/>
                    <a:p>
                      <a:pPr marL="0" marR="0" algn="ctr">
                        <a:buNone/>
                      </a:pPr>
                      <a:r>
                        <a:rPr lang="en-US" sz="1800" cap="none" spc="0" dirty="0">
                          <a:solidFill>
                            <a:srgbClr val="FF0000"/>
                          </a:solidFill>
                          <a:effectLst/>
                        </a:rPr>
                        <a:t>0.556</a:t>
                      </a:r>
                      <a:endParaRPr lang="en-US" sz="1800" cap="none" spc="0" dirty="0">
                        <a:solidFill>
                          <a:srgbClr val="FF0000"/>
                        </a:solidFill>
                        <a:effectLst/>
                        <a:latin typeface="Arial" panose="020B0604020202020204" pitchFamily="34" charset="0"/>
                        <a:ea typeface="Arial" panose="020B0604020202020204" pitchFamily="34" charset="0"/>
                      </a:endParaRPr>
                    </a:p>
                  </a:txBody>
                  <a:tcPr marL="0" marR="62432" marT="22476" marB="74918" anchor="ctr"/>
                </a:tc>
                <a:tc>
                  <a:txBody>
                    <a:bodyPr/>
                    <a:lstStyle/>
                    <a:p>
                      <a:pPr marL="0" marR="0" algn="ctr">
                        <a:buNone/>
                      </a:pPr>
                      <a:r>
                        <a:rPr lang="en-US" sz="1800" cap="none" spc="0" dirty="0">
                          <a:solidFill>
                            <a:srgbClr val="FF0000"/>
                          </a:solidFill>
                          <a:effectLst/>
                        </a:rPr>
                        <a:t>0.660</a:t>
                      </a:r>
                      <a:endParaRPr lang="en-US" sz="1800" cap="none" spc="0" dirty="0">
                        <a:solidFill>
                          <a:srgbClr val="FF0000"/>
                        </a:solidFill>
                        <a:effectLst/>
                        <a:latin typeface="Arial" panose="020B0604020202020204" pitchFamily="34" charset="0"/>
                        <a:ea typeface="Arial" panose="020B0604020202020204" pitchFamily="34" charset="0"/>
                      </a:endParaRPr>
                    </a:p>
                  </a:txBody>
                  <a:tcPr marL="0" marR="62432" marT="22476" marB="74918" anchor="ctr"/>
                </a:tc>
                <a:tc>
                  <a:txBody>
                    <a:bodyPr/>
                    <a:lstStyle/>
                    <a:p>
                      <a:pPr marL="0" marR="0" algn="ctr">
                        <a:buNone/>
                      </a:pPr>
                      <a:r>
                        <a:rPr lang="en-US" sz="1800" cap="none" spc="0" dirty="0">
                          <a:solidFill>
                            <a:schemeClr val="tx1"/>
                          </a:solidFill>
                          <a:effectLst/>
                        </a:rPr>
                        <a:t>0.029</a:t>
                      </a:r>
                      <a:endParaRPr lang="en-US" sz="1800" cap="none" spc="0" dirty="0">
                        <a:solidFill>
                          <a:schemeClr val="tx1"/>
                        </a:solidFill>
                        <a:effectLst/>
                        <a:latin typeface="Arial" panose="020B0604020202020204" pitchFamily="34" charset="0"/>
                        <a:ea typeface="Arial" panose="020B0604020202020204" pitchFamily="34" charset="0"/>
                      </a:endParaRPr>
                    </a:p>
                  </a:txBody>
                  <a:tcPr marL="0" marR="62432" marT="22476" marB="74918" anchor="ctr"/>
                </a:tc>
                <a:tc>
                  <a:txBody>
                    <a:bodyPr/>
                    <a:lstStyle/>
                    <a:p>
                      <a:pPr marL="0" marR="0" algn="ctr">
                        <a:buNone/>
                      </a:pPr>
                      <a:r>
                        <a:rPr lang="en-US" sz="1800" cap="none" spc="0" dirty="0">
                          <a:solidFill>
                            <a:srgbClr val="FF0000"/>
                          </a:solidFill>
                          <a:effectLst/>
                        </a:rPr>
                        <a:t>0.001</a:t>
                      </a:r>
                      <a:endParaRPr lang="en-US" sz="1800" cap="none" spc="0" dirty="0">
                        <a:solidFill>
                          <a:srgbClr val="FF0000"/>
                        </a:solidFill>
                        <a:effectLst/>
                        <a:latin typeface="Arial" panose="020B0604020202020204" pitchFamily="34" charset="0"/>
                        <a:ea typeface="Arial" panose="020B0604020202020204" pitchFamily="34" charset="0"/>
                      </a:endParaRPr>
                    </a:p>
                  </a:txBody>
                  <a:tcPr marL="0" marR="62432" marT="22476" marB="74918" anchor="ctr"/>
                </a:tc>
                <a:extLst>
                  <a:ext uri="{0D108BD9-81ED-4DB2-BD59-A6C34878D82A}">
                    <a16:rowId xmlns:a16="http://schemas.microsoft.com/office/drawing/2014/main" val="2093481065"/>
                  </a:ext>
                </a:extLst>
              </a:tr>
              <a:tr h="558603">
                <a:tc>
                  <a:txBody>
                    <a:bodyPr/>
                    <a:lstStyle/>
                    <a:p>
                      <a:pPr marL="0" marR="0">
                        <a:buNone/>
                      </a:pPr>
                      <a:r>
                        <a:rPr lang="en-US" sz="1800" b="0" cap="none" spc="0">
                          <a:solidFill>
                            <a:schemeClr val="tx1"/>
                          </a:solidFill>
                          <a:effectLst/>
                        </a:rPr>
                        <a:t>Acupuncture</a:t>
                      </a:r>
                      <a:endParaRPr lang="en-US" sz="1800" b="0" cap="none" spc="0">
                        <a:solidFill>
                          <a:schemeClr val="tx1"/>
                        </a:solidFill>
                        <a:effectLst/>
                        <a:latin typeface="Arial" panose="020B0604020202020204" pitchFamily="34" charset="0"/>
                        <a:ea typeface="Arial" panose="020B0604020202020204" pitchFamily="34" charset="0"/>
                      </a:endParaRPr>
                    </a:p>
                  </a:txBody>
                  <a:tcPr marL="0" marR="62432" marT="22476" marB="74918" anchor="ctr"/>
                </a:tc>
                <a:tc>
                  <a:txBody>
                    <a:bodyPr/>
                    <a:lstStyle/>
                    <a:p>
                      <a:pPr marL="0" marR="0" algn="ctr">
                        <a:buNone/>
                      </a:pPr>
                      <a:r>
                        <a:rPr lang="en-US" sz="1800" cap="none" spc="0">
                          <a:solidFill>
                            <a:schemeClr val="tx1"/>
                          </a:solidFill>
                          <a:effectLst/>
                        </a:rPr>
                        <a:t>0.076</a:t>
                      </a:r>
                      <a:endParaRPr lang="en-US" sz="1800" cap="none" spc="0">
                        <a:solidFill>
                          <a:schemeClr val="tx1"/>
                        </a:solidFill>
                        <a:effectLst/>
                        <a:latin typeface="Arial" panose="020B0604020202020204" pitchFamily="34" charset="0"/>
                        <a:ea typeface="Arial" panose="020B0604020202020204" pitchFamily="34" charset="0"/>
                      </a:endParaRPr>
                    </a:p>
                  </a:txBody>
                  <a:tcPr marL="0" marR="62432" marT="22476" marB="74918" anchor="ctr"/>
                </a:tc>
                <a:tc>
                  <a:txBody>
                    <a:bodyPr/>
                    <a:lstStyle/>
                    <a:p>
                      <a:pPr marL="0" marR="0" algn="ctr">
                        <a:buNone/>
                      </a:pPr>
                      <a:r>
                        <a:rPr lang="en-US" sz="1800" cap="none" spc="0" dirty="0">
                          <a:solidFill>
                            <a:srgbClr val="FF0000"/>
                          </a:solidFill>
                          <a:effectLst/>
                        </a:rPr>
                        <a:t>0.668</a:t>
                      </a:r>
                      <a:endParaRPr lang="en-US" sz="1800" cap="none" spc="0" dirty="0">
                        <a:solidFill>
                          <a:srgbClr val="FF0000"/>
                        </a:solidFill>
                        <a:effectLst/>
                        <a:latin typeface="Arial" panose="020B0604020202020204" pitchFamily="34" charset="0"/>
                        <a:ea typeface="Arial" panose="020B0604020202020204" pitchFamily="34" charset="0"/>
                      </a:endParaRPr>
                    </a:p>
                  </a:txBody>
                  <a:tcPr marL="0" marR="62432" marT="22476" marB="74918" anchor="ctr"/>
                </a:tc>
                <a:tc>
                  <a:txBody>
                    <a:bodyPr/>
                    <a:lstStyle/>
                    <a:p>
                      <a:pPr marL="0" marR="0" algn="ctr">
                        <a:buNone/>
                      </a:pPr>
                      <a:r>
                        <a:rPr lang="en-US" sz="1800" cap="none" spc="0">
                          <a:solidFill>
                            <a:schemeClr val="tx1"/>
                          </a:solidFill>
                          <a:effectLst/>
                        </a:rPr>
                        <a:t>0.297</a:t>
                      </a:r>
                      <a:endParaRPr lang="en-US" sz="1800" cap="none" spc="0">
                        <a:solidFill>
                          <a:schemeClr val="tx1"/>
                        </a:solidFill>
                        <a:effectLst/>
                        <a:latin typeface="Arial" panose="020B0604020202020204" pitchFamily="34" charset="0"/>
                        <a:ea typeface="Arial" panose="020B0604020202020204" pitchFamily="34" charset="0"/>
                      </a:endParaRPr>
                    </a:p>
                  </a:txBody>
                  <a:tcPr marL="0" marR="62432" marT="22476" marB="74918" anchor="ctr"/>
                </a:tc>
                <a:tc>
                  <a:txBody>
                    <a:bodyPr/>
                    <a:lstStyle/>
                    <a:p>
                      <a:pPr marL="0" marR="0" algn="ctr">
                        <a:buNone/>
                      </a:pPr>
                      <a:r>
                        <a:rPr lang="en-US" sz="1800" cap="none" spc="0" dirty="0">
                          <a:solidFill>
                            <a:srgbClr val="FF0000"/>
                          </a:solidFill>
                          <a:effectLst/>
                        </a:rPr>
                        <a:t>0.019</a:t>
                      </a:r>
                      <a:endParaRPr lang="en-US" sz="1800" cap="none" spc="0" dirty="0">
                        <a:solidFill>
                          <a:srgbClr val="FF0000"/>
                        </a:solidFill>
                        <a:effectLst/>
                        <a:latin typeface="Arial" panose="020B0604020202020204" pitchFamily="34" charset="0"/>
                        <a:ea typeface="Arial" panose="020B0604020202020204" pitchFamily="34" charset="0"/>
                      </a:endParaRPr>
                    </a:p>
                  </a:txBody>
                  <a:tcPr marL="0" marR="62432" marT="22476" marB="74918" anchor="ctr"/>
                </a:tc>
                <a:extLst>
                  <a:ext uri="{0D108BD9-81ED-4DB2-BD59-A6C34878D82A}">
                    <a16:rowId xmlns:a16="http://schemas.microsoft.com/office/drawing/2014/main" val="3069823041"/>
                  </a:ext>
                </a:extLst>
              </a:tr>
              <a:tr h="638158">
                <a:tc>
                  <a:txBody>
                    <a:bodyPr/>
                    <a:lstStyle/>
                    <a:p>
                      <a:pPr marL="0" marR="0">
                        <a:buNone/>
                      </a:pPr>
                      <a:r>
                        <a:rPr lang="en-US" sz="1800" b="0" cap="none" spc="0">
                          <a:solidFill>
                            <a:schemeClr val="tx1"/>
                          </a:solidFill>
                          <a:effectLst/>
                        </a:rPr>
                        <a:t>Reiki</a:t>
                      </a:r>
                      <a:endParaRPr lang="en-US" sz="1800" b="0" cap="none" spc="0">
                        <a:solidFill>
                          <a:schemeClr val="tx1"/>
                        </a:solidFill>
                        <a:effectLst/>
                        <a:latin typeface="Arial" panose="020B0604020202020204" pitchFamily="34" charset="0"/>
                        <a:ea typeface="Arial" panose="020B0604020202020204" pitchFamily="34" charset="0"/>
                      </a:endParaRPr>
                    </a:p>
                  </a:txBody>
                  <a:tcPr marL="0" marR="62432" marT="22476" marB="74918" anchor="ctr"/>
                </a:tc>
                <a:tc>
                  <a:txBody>
                    <a:bodyPr/>
                    <a:lstStyle/>
                    <a:p>
                      <a:pPr marL="0" marR="0" algn="ctr">
                        <a:buNone/>
                      </a:pPr>
                      <a:r>
                        <a:rPr lang="en-US" sz="1800" cap="none" spc="0">
                          <a:solidFill>
                            <a:schemeClr val="tx1"/>
                          </a:solidFill>
                          <a:effectLst/>
                        </a:rPr>
                        <a:t>0.060</a:t>
                      </a:r>
                      <a:endParaRPr lang="en-US" sz="1800" cap="none" spc="0">
                        <a:solidFill>
                          <a:schemeClr val="tx1"/>
                        </a:solidFill>
                        <a:effectLst/>
                        <a:latin typeface="Arial" panose="020B0604020202020204" pitchFamily="34" charset="0"/>
                        <a:ea typeface="Arial" panose="020B0604020202020204" pitchFamily="34" charset="0"/>
                      </a:endParaRPr>
                    </a:p>
                  </a:txBody>
                  <a:tcPr marL="0" marR="62432" marT="22476" marB="74918" anchor="ctr"/>
                </a:tc>
                <a:tc>
                  <a:txBody>
                    <a:bodyPr/>
                    <a:lstStyle/>
                    <a:p>
                      <a:pPr marL="0" marR="0" algn="ctr">
                        <a:buNone/>
                      </a:pPr>
                      <a:r>
                        <a:rPr lang="en-US" sz="1800" cap="none" spc="0" dirty="0">
                          <a:solidFill>
                            <a:srgbClr val="FF0000"/>
                          </a:solidFill>
                          <a:effectLst/>
                        </a:rPr>
                        <a:t>0.680</a:t>
                      </a:r>
                      <a:endParaRPr lang="en-US" sz="1800" cap="none" spc="0" dirty="0">
                        <a:solidFill>
                          <a:srgbClr val="FF0000"/>
                        </a:solidFill>
                        <a:effectLst/>
                        <a:latin typeface="Arial" panose="020B0604020202020204" pitchFamily="34" charset="0"/>
                        <a:ea typeface="Arial" panose="020B0604020202020204" pitchFamily="34" charset="0"/>
                      </a:endParaRPr>
                    </a:p>
                  </a:txBody>
                  <a:tcPr marL="0" marR="62432" marT="22476" marB="74918" anchor="ctr"/>
                </a:tc>
                <a:tc>
                  <a:txBody>
                    <a:bodyPr/>
                    <a:lstStyle/>
                    <a:p>
                      <a:pPr marL="0" marR="0" algn="ctr">
                        <a:buNone/>
                      </a:pPr>
                      <a:r>
                        <a:rPr lang="en-US" sz="1800" cap="none" spc="0">
                          <a:solidFill>
                            <a:srgbClr val="FF0000"/>
                          </a:solidFill>
                          <a:effectLst/>
                        </a:rPr>
                        <a:t>0.376</a:t>
                      </a:r>
                      <a:endParaRPr lang="en-US" sz="1800" cap="none" spc="0">
                        <a:solidFill>
                          <a:srgbClr val="FF0000"/>
                        </a:solidFill>
                        <a:effectLst/>
                        <a:latin typeface="Arial" panose="020B0604020202020204" pitchFamily="34" charset="0"/>
                        <a:ea typeface="Arial" panose="020B0604020202020204" pitchFamily="34" charset="0"/>
                      </a:endParaRPr>
                    </a:p>
                  </a:txBody>
                  <a:tcPr marL="0" marR="62432" marT="22476" marB="74918" anchor="ctr"/>
                </a:tc>
                <a:tc>
                  <a:txBody>
                    <a:bodyPr/>
                    <a:lstStyle/>
                    <a:p>
                      <a:pPr marL="0" marR="0" algn="ctr">
                        <a:buNone/>
                      </a:pPr>
                      <a:r>
                        <a:rPr lang="en-US" sz="1800" cap="none" spc="0" dirty="0">
                          <a:solidFill>
                            <a:srgbClr val="FF0000"/>
                          </a:solidFill>
                          <a:effectLst/>
                        </a:rPr>
                        <a:t>0.003</a:t>
                      </a:r>
                      <a:endParaRPr lang="en-US" sz="1800" cap="none" spc="0" dirty="0">
                        <a:solidFill>
                          <a:srgbClr val="FF0000"/>
                        </a:solidFill>
                        <a:effectLst/>
                        <a:latin typeface="Arial" panose="020B0604020202020204" pitchFamily="34" charset="0"/>
                        <a:ea typeface="Arial" panose="020B0604020202020204" pitchFamily="34" charset="0"/>
                      </a:endParaRPr>
                    </a:p>
                  </a:txBody>
                  <a:tcPr marL="0" marR="62432" marT="22476" marB="74918" anchor="ctr"/>
                </a:tc>
                <a:extLst>
                  <a:ext uri="{0D108BD9-81ED-4DB2-BD59-A6C34878D82A}">
                    <a16:rowId xmlns:a16="http://schemas.microsoft.com/office/drawing/2014/main" val="1892864291"/>
                  </a:ext>
                </a:extLst>
              </a:tr>
              <a:tr h="622711">
                <a:tc>
                  <a:txBody>
                    <a:bodyPr/>
                    <a:lstStyle/>
                    <a:p>
                      <a:pPr marL="0" marR="0">
                        <a:buNone/>
                      </a:pPr>
                      <a:r>
                        <a:rPr lang="en-US" sz="1800" b="0" cap="none" spc="0">
                          <a:solidFill>
                            <a:schemeClr val="tx1"/>
                          </a:solidFill>
                          <a:effectLst/>
                        </a:rPr>
                        <a:t>Homeopathy</a:t>
                      </a:r>
                      <a:endParaRPr lang="en-US" sz="1800" b="0" cap="none" spc="0">
                        <a:solidFill>
                          <a:schemeClr val="tx1"/>
                        </a:solidFill>
                        <a:effectLst/>
                        <a:latin typeface="Arial" panose="020B0604020202020204" pitchFamily="34" charset="0"/>
                        <a:ea typeface="Arial" panose="020B0604020202020204" pitchFamily="34" charset="0"/>
                      </a:endParaRPr>
                    </a:p>
                  </a:txBody>
                  <a:tcPr marL="0" marR="62432" marT="22476" marB="74918" anchor="ctr"/>
                </a:tc>
                <a:tc>
                  <a:txBody>
                    <a:bodyPr/>
                    <a:lstStyle/>
                    <a:p>
                      <a:pPr marL="0" marR="0" algn="ctr">
                        <a:buNone/>
                      </a:pPr>
                      <a:r>
                        <a:rPr lang="en-US" sz="1800" cap="none" spc="0">
                          <a:solidFill>
                            <a:schemeClr val="tx1"/>
                          </a:solidFill>
                          <a:effectLst/>
                        </a:rPr>
                        <a:t>0.034</a:t>
                      </a:r>
                      <a:endParaRPr lang="en-US" sz="1800" cap="none" spc="0">
                        <a:solidFill>
                          <a:schemeClr val="tx1"/>
                        </a:solidFill>
                        <a:effectLst/>
                        <a:latin typeface="Arial" panose="020B0604020202020204" pitchFamily="34" charset="0"/>
                        <a:ea typeface="Arial" panose="020B0604020202020204" pitchFamily="34" charset="0"/>
                      </a:endParaRPr>
                    </a:p>
                  </a:txBody>
                  <a:tcPr marL="0" marR="62432" marT="22476" marB="74918" anchor="ctr"/>
                </a:tc>
                <a:tc>
                  <a:txBody>
                    <a:bodyPr/>
                    <a:lstStyle/>
                    <a:p>
                      <a:pPr marL="0" marR="0" algn="ctr">
                        <a:buNone/>
                      </a:pPr>
                      <a:r>
                        <a:rPr lang="en-US" sz="1800" cap="none" spc="0" dirty="0">
                          <a:solidFill>
                            <a:srgbClr val="FF0000"/>
                          </a:solidFill>
                          <a:effectLst/>
                        </a:rPr>
                        <a:t>0.643</a:t>
                      </a:r>
                      <a:endParaRPr lang="en-US" sz="1800" cap="none" spc="0" dirty="0">
                        <a:solidFill>
                          <a:srgbClr val="FF0000"/>
                        </a:solidFill>
                        <a:effectLst/>
                        <a:latin typeface="Arial" panose="020B0604020202020204" pitchFamily="34" charset="0"/>
                        <a:ea typeface="Arial" panose="020B0604020202020204" pitchFamily="34" charset="0"/>
                      </a:endParaRPr>
                    </a:p>
                  </a:txBody>
                  <a:tcPr marL="0" marR="62432" marT="22476" marB="74918" anchor="ctr"/>
                </a:tc>
                <a:tc>
                  <a:txBody>
                    <a:bodyPr/>
                    <a:lstStyle/>
                    <a:p>
                      <a:pPr marL="0" marR="0" algn="ctr">
                        <a:buNone/>
                      </a:pPr>
                      <a:r>
                        <a:rPr lang="en-US" sz="1800" cap="none" spc="0" dirty="0">
                          <a:solidFill>
                            <a:srgbClr val="FF0000"/>
                          </a:solidFill>
                          <a:effectLst/>
                        </a:rPr>
                        <a:t>0.382</a:t>
                      </a:r>
                      <a:endParaRPr lang="en-US" sz="1800" cap="none" spc="0" dirty="0">
                        <a:solidFill>
                          <a:srgbClr val="FF0000"/>
                        </a:solidFill>
                        <a:effectLst/>
                        <a:latin typeface="Arial" panose="020B0604020202020204" pitchFamily="34" charset="0"/>
                        <a:ea typeface="Arial" panose="020B0604020202020204" pitchFamily="34" charset="0"/>
                      </a:endParaRPr>
                    </a:p>
                  </a:txBody>
                  <a:tcPr marL="0" marR="62432" marT="22476" marB="74918" anchor="ctr"/>
                </a:tc>
                <a:tc>
                  <a:txBody>
                    <a:bodyPr/>
                    <a:lstStyle/>
                    <a:p>
                      <a:pPr marL="0" marR="0" algn="ctr">
                        <a:buNone/>
                      </a:pPr>
                      <a:r>
                        <a:rPr lang="en-US" sz="1800" cap="none" spc="0" dirty="0">
                          <a:solidFill>
                            <a:srgbClr val="FF0000"/>
                          </a:solidFill>
                          <a:effectLst/>
                        </a:rPr>
                        <a:t>0.019</a:t>
                      </a:r>
                      <a:endParaRPr lang="en-US" sz="1800" cap="none" spc="0" dirty="0">
                        <a:solidFill>
                          <a:srgbClr val="FF0000"/>
                        </a:solidFill>
                        <a:effectLst/>
                        <a:latin typeface="Arial" panose="020B0604020202020204" pitchFamily="34" charset="0"/>
                        <a:ea typeface="Arial" panose="020B0604020202020204" pitchFamily="34" charset="0"/>
                      </a:endParaRPr>
                    </a:p>
                  </a:txBody>
                  <a:tcPr marL="0" marR="62432" marT="22476" marB="74918" anchor="ctr"/>
                </a:tc>
                <a:extLst>
                  <a:ext uri="{0D108BD9-81ED-4DB2-BD59-A6C34878D82A}">
                    <a16:rowId xmlns:a16="http://schemas.microsoft.com/office/drawing/2014/main" val="2042967374"/>
                  </a:ext>
                </a:extLst>
              </a:tr>
              <a:tr h="645259">
                <a:tc>
                  <a:txBody>
                    <a:bodyPr/>
                    <a:lstStyle/>
                    <a:p>
                      <a:pPr marL="0" marR="0">
                        <a:buNone/>
                      </a:pPr>
                      <a:r>
                        <a:rPr lang="en-US" sz="1800" b="0" cap="none" spc="0" dirty="0">
                          <a:solidFill>
                            <a:schemeClr val="tx1"/>
                          </a:solidFill>
                          <a:effectLst/>
                        </a:rPr>
                        <a:t>Traditional practitioner (e.g., Ayurvedic, Shaman, Medicine Man)</a:t>
                      </a:r>
                      <a:endParaRPr lang="en-US" sz="1800" b="0" cap="none" spc="0" dirty="0">
                        <a:solidFill>
                          <a:schemeClr val="tx1"/>
                        </a:solidFill>
                        <a:effectLst/>
                        <a:latin typeface="Arial" panose="020B0604020202020204" pitchFamily="34" charset="0"/>
                        <a:ea typeface="Arial" panose="020B0604020202020204" pitchFamily="34" charset="0"/>
                      </a:endParaRPr>
                    </a:p>
                  </a:txBody>
                  <a:tcPr marL="0" marR="62432" marT="22476" marB="74918" anchor="ctr"/>
                </a:tc>
                <a:tc>
                  <a:txBody>
                    <a:bodyPr/>
                    <a:lstStyle/>
                    <a:p>
                      <a:pPr marL="0" marR="0" algn="ctr">
                        <a:buNone/>
                      </a:pPr>
                      <a:r>
                        <a:rPr lang="en-US" sz="1800" cap="none" spc="0">
                          <a:solidFill>
                            <a:schemeClr val="tx1"/>
                          </a:solidFill>
                          <a:effectLst/>
                        </a:rPr>
                        <a:t>0.020</a:t>
                      </a:r>
                      <a:endParaRPr lang="en-US" sz="1800" cap="none" spc="0">
                        <a:solidFill>
                          <a:schemeClr val="tx1"/>
                        </a:solidFill>
                        <a:effectLst/>
                        <a:latin typeface="Arial" panose="020B0604020202020204" pitchFamily="34" charset="0"/>
                        <a:ea typeface="Arial" panose="020B0604020202020204" pitchFamily="34" charset="0"/>
                      </a:endParaRPr>
                    </a:p>
                  </a:txBody>
                  <a:tcPr marL="0" marR="62432" marT="22476" marB="74918" anchor="ctr"/>
                </a:tc>
                <a:tc>
                  <a:txBody>
                    <a:bodyPr/>
                    <a:lstStyle/>
                    <a:p>
                      <a:pPr marL="0" marR="0" algn="ctr">
                        <a:buNone/>
                      </a:pPr>
                      <a:r>
                        <a:rPr lang="en-US" sz="1800" cap="none" spc="0" dirty="0">
                          <a:solidFill>
                            <a:srgbClr val="FF0000"/>
                          </a:solidFill>
                          <a:effectLst/>
                        </a:rPr>
                        <a:t>0.636</a:t>
                      </a:r>
                      <a:endParaRPr lang="en-US" sz="1800" cap="none" spc="0" dirty="0">
                        <a:solidFill>
                          <a:srgbClr val="FF0000"/>
                        </a:solidFill>
                        <a:effectLst/>
                        <a:latin typeface="Arial" panose="020B0604020202020204" pitchFamily="34" charset="0"/>
                        <a:ea typeface="Arial" panose="020B0604020202020204" pitchFamily="34" charset="0"/>
                      </a:endParaRPr>
                    </a:p>
                  </a:txBody>
                  <a:tcPr marL="0" marR="62432" marT="22476" marB="74918" anchor="ctr"/>
                </a:tc>
                <a:tc>
                  <a:txBody>
                    <a:bodyPr/>
                    <a:lstStyle/>
                    <a:p>
                      <a:pPr marL="0" marR="0" algn="ctr">
                        <a:buNone/>
                      </a:pPr>
                      <a:r>
                        <a:rPr lang="en-US" sz="1800" cap="none" spc="0">
                          <a:solidFill>
                            <a:schemeClr val="tx1"/>
                          </a:solidFill>
                          <a:effectLst/>
                        </a:rPr>
                        <a:t>0.195</a:t>
                      </a:r>
                      <a:endParaRPr lang="en-US" sz="1800" cap="none" spc="0">
                        <a:solidFill>
                          <a:schemeClr val="tx1"/>
                        </a:solidFill>
                        <a:effectLst/>
                        <a:latin typeface="Arial" panose="020B0604020202020204" pitchFamily="34" charset="0"/>
                        <a:ea typeface="Arial" panose="020B0604020202020204" pitchFamily="34" charset="0"/>
                      </a:endParaRPr>
                    </a:p>
                  </a:txBody>
                  <a:tcPr marL="0" marR="62432" marT="22476" marB="74918" anchor="ctr"/>
                </a:tc>
                <a:tc>
                  <a:txBody>
                    <a:bodyPr/>
                    <a:lstStyle/>
                    <a:p>
                      <a:pPr marL="0" marR="0" algn="ctr">
                        <a:buNone/>
                      </a:pPr>
                      <a:r>
                        <a:rPr lang="en-US" sz="1800" cap="none" spc="0" dirty="0">
                          <a:solidFill>
                            <a:srgbClr val="FF0000"/>
                          </a:solidFill>
                          <a:effectLst/>
                        </a:rPr>
                        <a:t>0.006</a:t>
                      </a:r>
                      <a:endParaRPr lang="en-US" sz="1800" cap="none" spc="0" dirty="0">
                        <a:solidFill>
                          <a:srgbClr val="FF0000"/>
                        </a:solidFill>
                        <a:effectLst/>
                        <a:latin typeface="Arial" panose="020B0604020202020204" pitchFamily="34" charset="0"/>
                        <a:ea typeface="Arial" panose="020B0604020202020204" pitchFamily="34" charset="0"/>
                      </a:endParaRPr>
                    </a:p>
                  </a:txBody>
                  <a:tcPr marL="0" marR="62432" marT="22476" marB="74918" anchor="ctr"/>
                </a:tc>
                <a:extLst>
                  <a:ext uri="{0D108BD9-81ED-4DB2-BD59-A6C34878D82A}">
                    <a16:rowId xmlns:a16="http://schemas.microsoft.com/office/drawing/2014/main" val="3666901631"/>
                  </a:ext>
                </a:extLst>
              </a:tr>
            </a:tbl>
          </a:graphicData>
        </a:graphic>
      </p:graphicFrame>
      <p:sp>
        <p:nvSpPr>
          <p:cNvPr id="8" name="TextBox 7">
            <a:extLst>
              <a:ext uri="{FF2B5EF4-FFF2-40B4-BE49-F238E27FC236}">
                <a16:creationId xmlns:a16="http://schemas.microsoft.com/office/drawing/2014/main" id="{6E684A30-94D6-6D9C-ACE0-42489EDFEC7C}"/>
              </a:ext>
            </a:extLst>
          </p:cNvPr>
          <p:cNvSpPr txBox="1"/>
          <p:nvPr/>
        </p:nvSpPr>
        <p:spPr>
          <a:xfrm>
            <a:off x="546265" y="187474"/>
            <a:ext cx="11139054" cy="646331"/>
          </a:xfrm>
          <a:prstGeom prst="rect">
            <a:avLst/>
          </a:prstGeom>
          <a:noFill/>
        </p:spPr>
        <p:txBody>
          <a:bodyPr wrap="square">
            <a:spAutoFit/>
          </a:bodyPr>
          <a:lstStyle/>
          <a:p>
            <a:r>
              <a:rPr lang="en-US" b="1" cap="none" dirty="0"/>
              <a:t>Item-response probabilities: </a:t>
            </a:r>
            <a:r>
              <a:rPr lang="en-US" b="1" cap="none" dirty="0" err="1"/>
              <a:t>Pr</a:t>
            </a:r>
            <a:r>
              <a:rPr lang="en-US" b="1" cap="none" dirty="0"/>
              <a:t>(Yes) for each CIH indicator by latent class (</a:t>
            </a:r>
            <a:r>
              <a:rPr lang="en-US" b="1" cap="none" dirty="0">
                <a:solidFill>
                  <a:srgbClr val="FF0000"/>
                </a:solidFill>
              </a:rPr>
              <a:t>NOTE: when in doubt interpret by comparing the response probabilities to the ‘typical respondent’ i.e., the average value for the sample)</a:t>
            </a:r>
            <a:r>
              <a:rPr lang="en-US" b="1" cap="none" dirty="0"/>
              <a:t>.</a:t>
            </a:r>
            <a:endParaRPr lang="en-US" dirty="0"/>
          </a:p>
        </p:txBody>
      </p:sp>
    </p:spTree>
    <p:extLst>
      <p:ext uri="{BB962C8B-B14F-4D97-AF65-F5344CB8AC3E}">
        <p14:creationId xmlns:p14="http://schemas.microsoft.com/office/powerpoint/2010/main" val="203691376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15E29A-4F38-40AD-B6A3-7D2644656758}"/>
              </a:ext>
            </a:extLst>
          </p:cNvPr>
          <p:cNvSpPr>
            <a:spLocks noGrp="1"/>
          </p:cNvSpPr>
          <p:nvPr>
            <p:ph type="title"/>
          </p:nvPr>
        </p:nvSpPr>
        <p:spPr>
          <a:xfrm>
            <a:off x="224800" y="162929"/>
            <a:ext cx="6894576" cy="798972"/>
          </a:xfrm>
        </p:spPr>
        <p:txBody>
          <a:bodyPr anchor="b">
            <a:normAutofit/>
          </a:bodyPr>
          <a:lstStyle/>
          <a:p>
            <a:pPr algn="l"/>
            <a:r>
              <a:rPr lang="en-US" sz="3600" dirty="0">
                <a:solidFill>
                  <a:srgbClr val="000000"/>
                </a:solidFill>
                <a:latin typeface="Calibri"/>
              </a:rPr>
              <a:t>Prediction</a:t>
            </a:r>
          </a:p>
        </p:txBody>
      </p:sp>
      <p:sp>
        <p:nvSpPr>
          <p:cNvPr id="3" name="Content Placeholder 2">
            <a:extLst>
              <a:ext uri="{FF2B5EF4-FFF2-40B4-BE49-F238E27FC236}">
                <a16:creationId xmlns:a16="http://schemas.microsoft.com/office/drawing/2014/main" id="{B62CA60E-9E2E-4C9C-A065-739B2DE22A6A}"/>
              </a:ext>
            </a:extLst>
          </p:cNvPr>
          <p:cNvSpPr>
            <a:spLocks noGrp="1"/>
          </p:cNvSpPr>
          <p:nvPr>
            <p:ph idx="1"/>
          </p:nvPr>
        </p:nvSpPr>
        <p:spPr>
          <a:xfrm>
            <a:off x="391053" y="961901"/>
            <a:ext cx="11294265" cy="3483864"/>
          </a:xfrm>
        </p:spPr>
        <p:txBody>
          <a:bodyPr>
            <a:normAutofit/>
          </a:bodyPr>
          <a:lstStyle/>
          <a:p>
            <a:r>
              <a:rPr lang="en-US" sz="2000" dirty="0"/>
              <a:t>We are interested in how the covariate predicts membership in a latent class</a:t>
            </a:r>
          </a:p>
        </p:txBody>
      </p:sp>
    </p:spTree>
    <p:extLst>
      <p:ext uri="{BB962C8B-B14F-4D97-AF65-F5344CB8AC3E}">
        <p14:creationId xmlns:p14="http://schemas.microsoft.com/office/powerpoint/2010/main" val="59886513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DA8F347E-8A52-7270-03EA-910FAFD554F6}"/>
              </a:ext>
            </a:extLst>
          </p:cNvPr>
          <p:cNvGraphicFramePr>
            <a:graphicFrameLocks noGrp="1"/>
          </p:cNvGraphicFramePr>
          <p:nvPr>
            <p:ph idx="4294967295"/>
            <p:extLst>
              <p:ext uri="{D42A27DB-BD31-4B8C-83A1-F6EECF244321}">
                <p14:modId xmlns:p14="http://schemas.microsoft.com/office/powerpoint/2010/main" val="3981092178"/>
              </p:ext>
            </p:extLst>
          </p:nvPr>
        </p:nvGraphicFramePr>
        <p:xfrm>
          <a:off x="213780" y="93046"/>
          <a:ext cx="11768423" cy="6601392"/>
        </p:xfrm>
        <a:graphic>
          <a:graphicData uri="http://schemas.openxmlformats.org/drawingml/2006/table">
            <a:tbl>
              <a:tblPr firstRow="1" firstCol="1" bandRow="1">
                <a:tableStyleId>{616DA210-FB5B-4158-B5E0-FEB733F419BA}</a:tableStyleId>
              </a:tblPr>
              <a:tblGrid>
                <a:gridCol w="2912948">
                  <a:extLst>
                    <a:ext uri="{9D8B030D-6E8A-4147-A177-3AD203B41FA5}">
                      <a16:colId xmlns:a16="http://schemas.microsoft.com/office/drawing/2014/main" val="3414085716"/>
                    </a:ext>
                  </a:extLst>
                </a:gridCol>
                <a:gridCol w="2973036">
                  <a:extLst>
                    <a:ext uri="{9D8B030D-6E8A-4147-A177-3AD203B41FA5}">
                      <a16:colId xmlns:a16="http://schemas.microsoft.com/office/drawing/2014/main" val="2358072664"/>
                    </a:ext>
                  </a:extLst>
                </a:gridCol>
                <a:gridCol w="3028130">
                  <a:extLst>
                    <a:ext uri="{9D8B030D-6E8A-4147-A177-3AD203B41FA5}">
                      <a16:colId xmlns:a16="http://schemas.microsoft.com/office/drawing/2014/main" val="696597003"/>
                    </a:ext>
                  </a:extLst>
                </a:gridCol>
                <a:gridCol w="2854309">
                  <a:extLst>
                    <a:ext uri="{9D8B030D-6E8A-4147-A177-3AD203B41FA5}">
                      <a16:colId xmlns:a16="http://schemas.microsoft.com/office/drawing/2014/main" val="2206635957"/>
                    </a:ext>
                  </a:extLst>
                </a:gridCol>
              </a:tblGrid>
              <a:tr h="437552">
                <a:tc>
                  <a:txBody>
                    <a:bodyPr/>
                    <a:lstStyle/>
                    <a:p>
                      <a:pPr marL="0" marR="0" algn="l" fontAlgn="ctr">
                        <a:buNone/>
                      </a:pPr>
                      <a:r>
                        <a:rPr lang="en-US" sz="1600" b="1"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Predictor</a:t>
                      </a:r>
                      <a:endParaRPr lang="en-US" sz="4000" b="0" i="0" u="none" strike="noStrike" dirty="0">
                        <a:effectLst/>
                        <a:latin typeface="Calibri" panose="020F0502020204030204" pitchFamily="34" charset="0"/>
                        <a:ea typeface="Calibri" panose="020F0502020204030204" pitchFamily="34" charset="0"/>
                        <a:cs typeface="Calibri" panose="020F0502020204030204" pitchFamily="34" charset="0"/>
                      </a:endParaRPr>
                    </a:p>
                  </a:txBody>
                  <a:tcPr marL="69540" marR="69540" marT="46360" marB="463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fontAlgn="ctr">
                        <a:buNone/>
                      </a:pPr>
                      <a:r>
                        <a:rPr lang="en-US" sz="1600" b="1"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Class 1: Movement/Arts </a:t>
                      </a:r>
                    </a:p>
                    <a:p>
                      <a:pPr marL="0" marR="0" algn="ctr" fontAlgn="ctr">
                        <a:buNone/>
                      </a:pPr>
                      <a:r>
                        <a:rPr lang="en-US" sz="1600" b="1"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OR (95% CI)</a:t>
                      </a:r>
                      <a:endParaRPr lang="en-US" sz="3600" b="0" i="0" u="none" strike="noStrike" dirty="0">
                        <a:effectLst/>
                        <a:latin typeface="Calibri" panose="020F0502020204030204" pitchFamily="34" charset="0"/>
                        <a:ea typeface="Calibri" panose="020F0502020204030204" pitchFamily="34" charset="0"/>
                        <a:cs typeface="Calibri" panose="020F0502020204030204" pitchFamily="34" charset="0"/>
                      </a:endParaRPr>
                    </a:p>
                  </a:txBody>
                  <a:tcPr marL="69540" marR="69540" marT="46360" marB="463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marL="0" marR="0" algn="ctr" fontAlgn="ctr">
                        <a:buNone/>
                      </a:pPr>
                      <a:r>
                        <a:rPr lang="en-US" sz="1600" b="1"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Class 2: Comprehensive </a:t>
                      </a:r>
                    </a:p>
                    <a:p>
                      <a:pPr marL="0" marR="0" algn="ctr" fontAlgn="ctr">
                        <a:buNone/>
                      </a:pPr>
                      <a:r>
                        <a:rPr lang="en-US" sz="1600" b="1"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OR (95% CI)</a:t>
                      </a:r>
                      <a:endParaRPr lang="en-US" sz="3600" b="0" i="0" u="none" strike="noStrike" dirty="0">
                        <a:effectLst/>
                        <a:latin typeface="Calibri" panose="020F0502020204030204" pitchFamily="34" charset="0"/>
                        <a:ea typeface="Calibri" panose="020F0502020204030204" pitchFamily="34" charset="0"/>
                        <a:cs typeface="Calibri" panose="020F0502020204030204" pitchFamily="34" charset="0"/>
                      </a:endParaRPr>
                    </a:p>
                  </a:txBody>
                  <a:tcPr marL="69540" marR="69540" marT="46360" marB="463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8E8E8"/>
                    </a:solidFill>
                  </a:tcPr>
                </a:tc>
                <a:tc>
                  <a:txBody>
                    <a:bodyPr/>
                    <a:lstStyle/>
                    <a:p>
                      <a:pPr marL="0" marR="0" algn="ctr" fontAlgn="ctr">
                        <a:buNone/>
                      </a:pPr>
                      <a:r>
                        <a:rPr lang="en-US" sz="1600" b="1"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Class 3: Mind-Body </a:t>
                      </a:r>
                    </a:p>
                    <a:p>
                      <a:pPr marL="0" marR="0" algn="ctr" fontAlgn="ctr">
                        <a:buNone/>
                      </a:pPr>
                      <a:r>
                        <a:rPr lang="en-US" sz="1600" b="1"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OR (95% CI)</a:t>
                      </a:r>
                      <a:endParaRPr lang="en-US" sz="4000" b="0" i="0" u="none" strike="noStrike" dirty="0">
                        <a:effectLst/>
                        <a:latin typeface="Calibri" panose="020F0502020204030204" pitchFamily="34" charset="0"/>
                        <a:ea typeface="Calibri" panose="020F0502020204030204" pitchFamily="34" charset="0"/>
                        <a:cs typeface="Calibri" panose="020F0502020204030204" pitchFamily="34" charset="0"/>
                      </a:endParaRPr>
                    </a:p>
                  </a:txBody>
                  <a:tcPr marL="69540" marR="69540" marT="46360" marB="463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16760836"/>
                  </a:ext>
                </a:extLst>
              </a:tr>
              <a:tr h="281283">
                <a:tc gridSpan="4">
                  <a:txBody>
                    <a:bodyPr/>
                    <a:lstStyle/>
                    <a:p>
                      <a:pPr marL="0" marR="0" algn="l" fontAlgn="t">
                        <a:buNone/>
                      </a:pPr>
                      <a:r>
                        <a:rPr lang="en-US" sz="1600" b="1"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Usual care type (ref = Doctor/health center)</a:t>
                      </a:r>
                      <a:endParaRPr lang="en-US" sz="1600" b="0" i="0" u="none" strike="noStrike" dirty="0">
                        <a:effectLst/>
                        <a:latin typeface="Calibri" panose="020F0502020204030204" pitchFamily="34" charset="0"/>
                        <a:ea typeface="Calibri" panose="020F0502020204030204" pitchFamily="34" charset="0"/>
                        <a:cs typeface="Calibri" panose="020F0502020204030204" pitchFamily="34" charset="0"/>
                      </a:endParaRPr>
                    </a:p>
                  </a:txBody>
                  <a:tcPr marL="83448" marR="83448" marT="41724" marB="41724">
                    <a:lnT w="12700" cap="flat" cmpd="sng" algn="ctr">
                      <a:solidFill>
                        <a:schemeClr val="tx1"/>
                      </a:solidFill>
                      <a:prstDash val="solid"/>
                      <a:round/>
                      <a:headEnd type="none" w="med" len="med"/>
                      <a:tailEnd type="none" w="med" len="med"/>
                    </a:lnT>
                  </a:tcPr>
                </a:tc>
                <a:tc hMerge="1">
                  <a:txBody>
                    <a:bodyPr/>
                    <a:lstStyle/>
                    <a:p>
                      <a:endParaRPr lang="en-US"/>
                    </a:p>
                  </a:txBody>
                  <a:tcPr>
                    <a:lnT w="12700" cap="flat" cmpd="sng" algn="ctr">
                      <a:solidFill>
                        <a:srgbClr val="CCCCCC"/>
                      </a:solidFill>
                      <a:prstDash val="solid"/>
                      <a:round/>
                      <a:headEnd type="none" w="med" len="med"/>
                      <a:tailEnd type="none" w="med" len="med"/>
                    </a:lnT>
                  </a:tcPr>
                </a:tc>
                <a:tc hMerge="1">
                  <a:txBody>
                    <a:bodyPr/>
                    <a:lstStyle/>
                    <a:p>
                      <a:endParaRPr lang="en-US"/>
                    </a:p>
                  </a:txBody>
                  <a:tcPr>
                    <a:lnT w="12700" cap="flat" cmpd="sng" algn="ctr">
                      <a:solidFill>
                        <a:srgbClr val="CCCCCC"/>
                      </a:solidFill>
                      <a:prstDash val="solid"/>
                      <a:round/>
                      <a:headEnd type="none" w="med" len="med"/>
                      <a:tailEnd type="none" w="med" len="med"/>
                    </a:lnT>
                  </a:tcPr>
                </a:tc>
                <a:tc hMerge="1">
                  <a:txBody>
                    <a:bodyPr/>
                    <a:lstStyle/>
                    <a:p>
                      <a:endParaRPr lang="en-US"/>
                    </a:p>
                  </a:txBody>
                  <a:tcPr/>
                </a:tc>
                <a:extLst>
                  <a:ext uri="{0D108BD9-81ED-4DB2-BD59-A6C34878D82A}">
                    <a16:rowId xmlns:a16="http://schemas.microsoft.com/office/drawing/2014/main" val="2217191850"/>
                  </a:ext>
                </a:extLst>
              </a:tr>
              <a:tr h="292061">
                <a:tc>
                  <a:txBody>
                    <a:bodyPr/>
                    <a:lstStyle/>
                    <a:p>
                      <a:pPr marL="0" marR="0" algn="l" fontAlgn="ctr">
                        <a:buNone/>
                      </a:pPr>
                      <a:r>
                        <a:rPr lang="en-US" sz="1600" b="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No usual place</a:t>
                      </a:r>
                      <a:endParaRPr lang="en-US" sz="1600" b="0" i="0" u="none" strike="noStrike" dirty="0">
                        <a:effectLst/>
                        <a:latin typeface="Calibri" panose="020F0502020204030204" pitchFamily="34" charset="0"/>
                        <a:ea typeface="Calibri" panose="020F0502020204030204" pitchFamily="34" charset="0"/>
                        <a:cs typeface="Calibri" panose="020F0502020204030204" pitchFamily="34" charset="0"/>
                      </a:endParaRPr>
                    </a:p>
                  </a:txBody>
                  <a:tcPr marL="69540" marR="69540" marT="46360" marB="46360" anchor="ctr"/>
                </a:tc>
                <a:tc>
                  <a:txBody>
                    <a:bodyPr/>
                    <a:lstStyle/>
                    <a:p>
                      <a:pPr marL="0" marR="0" algn="ctr" fontAlgn="ctr">
                        <a:buNone/>
                      </a:pPr>
                      <a:r>
                        <a:rPr lang="en-US" sz="1600" b="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0.617 (0.033, 11.652)</a:t>
                      </a:r>
                      <a:endParaRPr lang="en-US" sz="1600" b="0" i="0" u="none" strike="noStrike" dirty="0">
                        <a:effectLst/>
                        <a:latin typeface="Calibri" panose="020F0502020204030204" pitchFamily="34" charset="0"/>
                        <a:ea typeface="Calibri" panose="020F0502020204030204" pitchFamily="34" charset="0"/>
                        <a:cs typeface="Calibri" panose="020F0502020204030204" pitchFamily="34" charset="0"/>
                      </a:endParaRPr>
                    </a:p>
                  </a:txBody>
                  <a:tcPr marL="69540" marR="69540" marT="46360" marB="46360" anchor="ctr"/>
                </a:tc>
                <a:tc>
                  <a:txBody>
                    <a:bodyPr/>
                    <a:lstStyle/>
                    <a:p>
                      <a:pPr marL="0" marR="0" algn="ctr" fontAlgn="ctr">
                        <a:buNone/>
                      </a:pPr>
                      <a:r>
                        <a:rPr lang="en-US" sz="1600" b="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0.456 (0.036, 5.742)</a:t>
                      </a:r>
                      <a:endParaRPr lang="en-US" sz="16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69540" marR="69540" marT="46360" marB="46360" anchor="ctr"/>
                </a:tc>
                <a:tc>
                  <a:txBody>
                    <a:bodyPr/>
                    <a:lstStyle/>
                    <a:p>
                      <a:pPr marL="0" marR="0" algn="ctr" fontAlgn="ctr">
                        <a:buNone/>
                      </a:pPr>
                      <a:r>
                        <a:rPr lang="en-US" sz="1600" b="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0.382 (0.022, 6.515)</a:t>
                      </a:r>
                      <a:endParaRPr lang="en-US" sz="16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69540" marR="69540" marT="46360" marB="46360" anchor="ctr"/>
                </a:tc>
                <a:extLst>
                  <a:ext uri="{0D108BD9-81ED-4DB2-BD59-A6C34878D82A}">
                    <a16:rowId xmlns:a16="http://schemas.microsoft.com/office/drawing/2014/main" val="2858517760"/>
                  </a:ext>
                </a:extLst>
              </a:tr>
              <a:tr h="292061">
                <a:tc>
                  <a:txBody>
                    <a:bodyPr/>
                    <a:lstStyle/>
                    <a:p>
                      <a:pPr marL="0" marR="0" algn="l" fontAlgn="ctr">
                        <a:buNone/>
                      </a:pPr>
                      <a:r>
                        <a:rPr lang="en-US" sz="1600" b="1"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Urgent care*</a:t>
                      </a:r>
                      <a:endParaRPr lang="en-US" sz="1600" b="0" i="0" u="none" strike="noStrike" dirty="0">
                        <a:effectLst/>
                        <a:latin typeface="Calibri" panose="020F0502020204030204" pitchFamily="34" charset="0"/>
                        <a:ea typeface="Calibri" panose="020F0502020204030204" pitchFamily="34" charset="0"/>
                        <a:cs typeface="Calibri" panose="020F0502020204030204" pitchFamily="34" charset="0"/>
                      </a:endParaRPr>
                    </a:p>
                  </a:txBody>
                  <a:tcPr marL="69540" marR="69540" marT="46360" marB="46360" anchor="ctr"/>
                </a:tc>
                <a:tc>
                  <a:txBody>
                    <a:bodyPr/>
                    <a:lstStyle/>
                    <a:p>
                      <a:pPr marL="0" marR="0" algn="ctr" fontAlgn="ctr">
                        <a:buNone/>
                      </a:pPr>
                      <a:r>
                        <a:rPr lang="en-US" sz="1600" b="1"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0.216* (0.08, 0.583)</a:t>
                      </a:r>
                      <a:endParaRPr lang="en-US" sz="1600" b="0" i="0" u="none" strike="noStrike" dirty="0">
                        <a:effectLst/>
                        <a:latin typeface="Calibri" panose="020F0502020204030204" pitchFamily="34" charset="0"/>
                        <a:ea typeface="Calibri" panose="020F0502020204030204" pitchFamily="34" charset="0"/>
                        <a:cs typeface="Calibri" panose="020F0502020204030204" pitchFamily="34" charset="0"/>
                      </a:endParaRPr>
                    </a:p>
                  </a:txBody>
                  <a:tcPr marL="69540" marR="69540" marT="46360" marB="46360" anchor="ctr"/>
                </a:tc>
                <a:tc>
                  <a:txBody>
                    <a:bodyPr/>
                    <a:lstStyle/>
                    <a:p>
                      <a:pPr marL="0" marR="0" algn="ctr" fontAlgn="ctr">
                        <a:buNone/>
                      </a:pPr>
                      <a:r>
                        <a:rPr lang="en-US" sz="1600" b="1"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0.268* (0.128, 0.562)</a:t>
                      </a:r>
                      <a:endParaRPr lang="en-US" sz="16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69540" marR="69540" marT="46360" marB="46360" anchor="ctr"/>
                </a:tc>
                <a:tc>
                  <a:txBody>
                    <a:bodyPr/>
                    <a:lstStyle/>
                    <a:p>
                      <a:pPr marL="0" marR="0" algn="ctr" fontAlgn="ctr">
                        <a:buNone/>
                      </a:pPr>
                      <a:r>
                        <a:rPr lang="en-US" sz="1600" b="1"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0.215* (0.091, 0.509)</a:t>
                      </a:r>
                      <a:endParaRPr lang="en-US" sz="16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69540" marR="69540" marT="46360" marB="46360" anchor="ctr"/>
                </a:tc>
                <a:extLst>
                  <a:ext uri="{0D108BD9-81ED-4DB2-BD59-A6C34878D82A}">
                    <a16:rowId xmlns:a16="http://schemas.microsoft.com/office/drawing/2014/main" val="3377187620"/>
                  </a:ext>
                </a:extLst>
              </a:tr>
              <a:tr h="292061">
                <a:tc>
                  <a:txBody>
                    <a:bodyPr/>
                    <a:lstStyle/>
                    <a:p>
                      <a:pPr marL="0" marR="0" algn="l" fontAlgn="ctr">
                        <a:buNone/>
                      </a:pPr>
                      <a:r>
                        <a:rPr lang="en-US" sz="1600" b="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Hospital ER</a:t>
                      </a:r>
                      <a:endParaRPr lang="en-US" sz="16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69540" marR="69540" marT="46360" marB="46360" anchor="ctr"/>
                </a:tc>
                <a:tc>
                  <a:txBody>
                    <a:bodyPr/>
                    <a:lstStyle/>
                    <a:p>
                      <a:pPr marL="0" marR="0" algn="ctr" fontAlgn="ctr">
                        <a:buNone/>
                      </a:pPr>
                      <a:r>
                        <a:rPr lang="en-US" sz="1600" b="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0.473 (0.115, 1.940)</a:t>
                      </a:r>
                      <a:endParaRPr lang="en-US" sz="1600" b="0" i="0" u="none" strike="noStrike" dirty="0">
                        <a:effectLst/>
                        <a:latin typeface="Calibri" panose="020F0502020204030204" pitchFamily="34" charset="0"/>
                        <a:ea typeface="Calibri" panose="020F0502020204030204" pitchFamily="34" charset="0"/>
                        <a:cs typeface="Calibri" panose="020F0502020204030204" pitchFamily="34" charset="0"/>
                      </a:endParaRPr>
                    </a:p>
                  </a:txBody>
                  <a:tcPr marL="69540" marR="69540" marT="46360" marB="46360" anchor="ctr"/>
                </a:tc>
                <a:tc>
                  <a:txBody>
                    <a:bodyPr/>
                    <a:lstStyle/>
                    <a:p>
                      <a:pPr marL="0" marR="0" algn="ctr" fontAlgn="ctr">
                        <a:buNone/>
                      </a:pPr>
                      <a:r>
                        <a:rPr lang="en-US" sz="1600" b="1"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0.249* (0.077, 0.803)</a:t>
                      </a:r>
                      <a:endParaRPr lang="en-US" sz="1600" b="0" i="0" u="none" strike="noStrike" dirty="0">
                        <a:effectLst/>
                        <a:latin typeface="Calibri" panose="020F0502020204030204" pitchFamily="34" charset="0"/>
                        <a:ea typeface="Calibri" panose="020F0502020204030204" pitchFamily="34" charset="0"/>
                        <a:cs typeface="Calibri" panose="020F0502020204030204" pitchFamily="34" charset="0"/>
                      </a:endParaRPr>
                    </a:p>
                  </a:txBody>
                  <a:tcPr marL="69540" marR="69540" marT="46360" marB="46360" anchor="ctr"/>
                </a:tc>
                <a:tc>
                  <a:txBody>
                    <a:bodyPr/>
                    <a:lstStyle/>
                    <a:p>
                      <a:pPr marL="0" marR="0" algn="ctr" fontAlgn="ctr">
                        <a:buNone/>
                      </a:pPr>
                      <a:r>
                        <a:rPr lang="en-US" sz="1600" b="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0.441 (0.122, 1.597)</a:t>
                      </a:r>
                      <a:endParaRPr lang="en-US" sz="16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69540" marR="69540" marT="46360" marB="46360" anchor="ctr"/>
                </a:tc>
                <a:extLst>
                  <a:ext uri="{0D108BD9-81ED-4DB2-BD59-A6C34878D82A}">
                    <a16:rowId xmlns:a16="http://schemas.microsoft.com/office/drawing/2014/main" val="698806601"/>
                  </a:ext>
                </a:extLst>
              </a:tr>
              <a:tr h="292061">
                <a:tc>
                  <a:txBody>
                    <a:bodyPr/>
                    <a:lstStyle/>
                    <a:p>
                      <a:pPr marL="0" marR="0" algn="l" fontAlgn="ctr">
                        <a:buNone/>
                      </a:pPr>
                      <a:r>
                        <a:rPr lang="en-US" sz="1600" b="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VA medical center</a:t>
                      </a:r>
                      <a:endParaRPr lang="en-US" sz="16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69540" marR="69540" marT="46360" marB="46360" anchor="ctr"/>
                </a:tc>
                <a:tc>
                  <a:txBody>
                    <a:bodyPr/>
                    <a:lstStyle/>
                    <a:p>
                      <a:pPr marL="0" marR="0" algn="ctr" fontAlgn="ctr">
                        <a:buNone/>
                      </a:pPr>
                      <a:r>
                        <a:rPr lang="en-US" sz="1600" b="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1.786 (0.288, 11.085)</a:t>
                      </a:r>
                      <a:endParaRPr lang="en-US" sz="1600" b="0" i="0" u="none" strike="noStrike" dirty="0">
                        <a:effectLst/>
                        <a:latin typeface="Calibri" panose="020F0502020204030204" pitchFamily="34" charset="0"/>
                        <a:ea typeface="Calibri" panose="020F0502020204030204" pitchFamily="34" charset="0"/>
                        <a:cs typeface="Calibri" panose="020F0502020204030204" pitchFamily="34" charset="0"/>
                      </a:endParaRPr>
                    </a:p>
                  </a:txBody>
                  <a:tcPr marL="69540" marR="69540" marT="46360" marB="46360" anchor="ctr"/>
                </a:tc>
                <a:tc>
                  <a:txBody>
                    <a:bodyPr/>
                    <a:lstStyle/>
                    <a:p>
                      <a:pPr marL="0" marR="0" algn="ctr" fontAlgn="ctr">
                        <a:buNone/>
                      </a:pPr>
                      <a:r>
                        <a:rPr lang="en-US" sz="1600" b="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0.461 (0.083, 2.564)</a:t>
                      </a:r>
                      <a:endParaRPr lang="en-US" sz="1600" b="0" i="0" u="none" strike="noStrike" dirty="0">
                        <a:effectLst/>
                        <a:latin typeface="Calibri" panose="020F0502020204030204" pitchFamily="34" charset="0"/>
                        <a:ea typeface="Calibri" panose="020F0502020204030204" pitchFamily="34" charset="0"/>
                        <a:cs typeface="Calibri" panose="020F0502020204030204" pitchFamily="34" charset="0"/>
                      </a:endParaRPr>
                    </a:p>
                  </a:txBody>
                  <a:tcPr marL="69540" marR="69540" marT="46360" marB="46360" anchor="ctr"/>
                </a:tc>
                <a:tc>
                  <a:txBody>
                    <a:bodyPr/>
                    <a:lstStyle/>
                    <a:p>
                      <a:pPr marL="0" marR="0" algn="ctr" fontAlgn="ctr">
                        <a:buNone/>
                      </a:pPr>
                      <a:r>
                        <a:rPr lang="en-US" sz="1600" b="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0.531 (0.083, 3.404)</a:t>
                      </a:r>
                      <a:endParaRPr lang="en-US" sz="1600" b="0" i="0" u="none" strike="noStrike" dirty="0">
                        <a:effectLst/>
                        <a:latin typeface="Calibri" panose="020F0502020204030204" pitchFamily="34" charset="0"/>
                        <a:ea typeface="Calibri" panose="020F0502020204030204" pitchFamily="34" charset="0"/>
                        <a:cs typeface="Calibri" panose="020F0502020204030204" pitchFamily="34" charset="0"/>
                      </a:endParaRPr>
                    </a:p>
                  </a:txBody>
                  <a:tcPr marL="69540" marR="69540" marT="46360" marB="46360" anchor="ctr"/>
                </a:tc>
                <a:extLst>
                  <a:ext uri="{0D108BD9-81ED-4DB2-BD59-A6C34878D82A}">
                    <a16:rowId xmlns:a16="http://schemas.microsoft.com/office/drawing/2014/main" val="667399559"/>
                  </a:ext>
                </a:extLst>
              </a:tr>
              <a:tr h="292061">
                <a:tc>
                  <a:txBody>
                    <a:bodyPr/>
                    <a:lstStyle/>
                    <a:p>
                      <a:pPr marL="0" marR="0" algn="l" fontAlgn="ctr">
                        <a:buNone/>
                      </a:pPr>
                      <a:r>
                        <a:rPr lang="en-US" sz="1600" b="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Other</a:t>
                      </a:r>
                      <a:endParaRPr lang="en-US" sz="16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69540" marR="69540" marT="46360" marB="46360" anchor="ctr"/>
                </a:tc>
                <a:tc>
                  <a:txBody>
                    <a:bodyPr/>
                    <a:lstStyle/>
                    <a:p>
                      <a:pPr marL="0" marR="0" algn="ctr" fontAlgn="ctr">
                        <a:buNone/>
                      </a:pPr>
                      <a:r>
                        <a:rPr lang="en-US" sz="1600" b="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0.475 (0.040, 5.666)</a:t>
                      </a:r>
                      <a:endParaRPr lang="en-US" sz="1600" b="0" i="0" u="none" strike="noStrike" dirty="0">
                        <a:effectLst/>
                        <a:latin typeface="Calibri" panose="020F0502020204030204" pitchFamily="34" charset="0"/>
                        <a:ea typeface="Calibri" panose="020F0502020204030204" pitchFamily="34" charset="0"/>
                        <a:cs typeface="Calibri" panose="020F0502020204030204" pitchFamily="34" charset="0"/>
                      </a:endParaRPr>
                    </a:p>
                  </a:txBody>
                  <a:tcPr marL="69540" marR="69540" marT="46360" marB="46360" anchor="ctr"/>
                </a:tc>
                <a:tc>
                  <a:txBody>
                    <a:bodyPr/>
                    <a:lstStyle/>
                    <a:p>
                      <a:pPr marL="0" marR="0" algn="ctr" fontAlgn="ctr">
                        <a:buNone/>
                      </a:pPr>
                      <a:r>
                        <a:rPr lang="en-US" sz="1600" b="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0.179 (0.021, 1.522)</a:t>
                      </a:r>
                      <a:endParaRPr lang="en-US" sz="1600" b="0" i="0" u="none" strike="noStrike" dirty="0">
                        <a:effectLst/>
                        <a:latin typeface="Calibri" panose="020F0502020204030204" pitchFamily="34" charset="0"/>
                        <a:ea typeface="Calibri" panose="020F0502020204030204" pitchFamily="34" charset="0"/>
                        <a:cs typeface="Calibri" panose="020F0502020204030204" pitchFamily="34" charset="0"/>
                      </a:endParaRPr>
                    </a:p>
                  </a:txBody>
                  <a:tcPr marL="69540" marR="69540" marT="46360" marB="46360" anchor="ctr"/>
                </a:tc>
                <a:tc>
                  <a:txBody>
                    <a:bodyPr/>
                    <a:lstStyle/>
                    <a:p>
                      <a:pPr marL="0" marR="0" algn="ctr" fontAlgn="ctr">
                        <a:buNone/>
                      </a:pPr>
                      <a:r>
                        <a:rPr lang="en-US" sz="1600" b="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0.501 (0.052, 4.826)</a:t>
                      </a:r>
                      <a:endParaRPr lang="en-US" sz="1600" b="0" i="0" u="none" strike="noStrike" dirty="0">
                        <a:effectLst/>
                        <a:latin typeface="Calibri" panose="020F0502020204030204" pitchFamily="34" charset="0"/>
                        <a:ea typeface="Calibri" panose="020F0502020204030204" pitchFamily="34" charset="0"/>
                        <a:cs typeface="Calibri" panose="020F0502020204030204" pitchFamily="34" charset="0"/>
                      </a:endParaRPr>
                    </a:p>
                  </a:txBody>
                  <a:tcPr marL="69540" marR="69540" marT="46360" marB="46360" anchor="ctr"/>
                </a:tc>
                <a:extLst>
                  <a:ext uri="{0D108BD9-81ED-4DB2-BD59-A6C34878D82A}">
                    <a16:rowId xmlns:a16="http://schemas.microsoft.com/office/drawing/2014/main" val="2986727624"/>
                  </a:ext>
                </a:extLst>
              </a:tr>
              <a:tr h="281283">
                <a:tc gridSpan="4">
                  <a:txBody>
                    <a:bodyPr/>
                    <a:lstStyle/>
                    <a:p>
                      <a:pPr marL="0" marR="0" algn="l" fontAlgn="t">
                        <a:buNone/>
                      </a:pPr>
                      <a:r>
                        <a:rPr lang="en-US" sz="1600" b="1"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Race/ethnicity (ref = White)</a:t>
                      </a:r>
                      <a:endParaRPr lang="en-US" sz="1600" b="0" i="0" u="none" strike="noStrike" dirty="0">
                        <a:effectLst/>
                        <a:latin typeface="Calibri" panose="020F0502020204030204" pitchFamily="34" charset="0"/>
                        <a:ea typeface="Calibri" panose="020F0502020204030204" pitchFamily="34" charset="0"/>
                        <a:cs typeface="Calibri" panose="020F0502020204030204" pitchFamily="34" charset="0"/>
                      </a:endParaRPr>
                    </a:p>
                  </a:txBody>
                  <a:tcPr marL="83448" marR="83448" marT="41724" marB="41724"/>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584603097"/>
                  </a:ext>
                </a:extLst>
              </a:tr>
              <a:tr h="0">
                <a:tc>
                  <a:txBody>
                    <a:bodyPr/>
                    <a:lstStyle/>
                    <a:p>
                      <a:pPr marL="0" marR="0" algn="l" fontAlgn="ctr">
                        <a:buNone/>
                      </a:pPr>
                      <a:r>
                        <a:rPr lang="en-US" sz="1600" b="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Black</a:t>
                      </a:r>
                      <a:endParaRPr lang="en-US" sz="1600" b="0" i="0" u="none" strike="noStrike" dirty="0">
                        <a:effectLst/>
                        <a:latin typeface="Calibri" panose="020F0502020204030204" pitchFamily="34" charset="0"/>
                        <a:ea typeface="Calibri" panose="020F0502020204030204" pitchFamily="34" charset="0"/>
                        <a:cs typeface="Calibri" panose="020F0502020204030204" pitchFamily="34" charset="0"/>
                      </a:endParaRPr>
                    </a:p>
                  </a:txBody>
                  <a:tcPr marL="69540" marR="69540" marT="46360" marB="46360" anchor="ctr"/>
                </a:tc>
                <a:tc>
                  <a:txBody>
                    <a:bodyPr/>
                    <a:lstStyle/>
                    <a:p>
                      <a:pPr marL="0" marR="0" algn="ctr" fontAlgn="ctr">
                        <a:buNone/>
                      </a:pPr>
                      <a:r>
                        <a:rPr lang="en-US" sz="1600" b="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0.494 (0.191, 1.283)</a:t>
                      </a:r>
                      <a:endParaRPr lang="en-US" sz="1600" b="0" i="0" u="none" strike="noStrike" dirty="0">
                        <a:effectLst/>
                        <a:latin typeface="Calibri" panose="020F0502020204030204" pitchFamily="34" charset="0"/>
                        <a:ea typeface="Calibri" panose="020F0502020204030204" pitchFamily="34" charset="0"/>
                        <a:cs typeface="Calibri" panose="020F0502020204030204" pitchFamily="34" charset="0"/>
                      </a:endParaRPr>
                    </a:p>
                  </a:txBody>
                  <a:tcPr marL="69540" marR="69540" marT="46360" marB="46360" anchor="ctr"/>
                </a:tc>
                <a:tc>
                  <a:txBody>
                    <a:bodyPr/>
                    <a:lstStyle/>
                    <a:p>
                      <a:pPr marL="0" marR="0" algn="ctr" fontAlgn="ctr">
                        <a:buNone/>
                      </a:pPr>
                      <a:r>
                        <a:rPr lang="en-US" sz="1600" b="1"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0.295* (0.132, 0.663)</a:t>
                      </a:r>
                      <a:endParaRPr lang="en-US" sz="1600" b="0" i="0" u="none" strike="noStrike" dirty="0">
                        <a:effectLst/>
                        <a:latin typeface="Calibri" panose="020F0502020204030204" pitchFamily="34" charset="0"/>
                        <a:ea typeface="Calibri" panose="020F0502020204030204" pitchFamily="34" charset="0"/>
                        <a:cs typeface="Calibri" panose="020F0502020204030204" pitchFamily="34" charset="0"/>
                      </a:endParaRPr>
                    </a:p>
                  </a:txBody>
                  <a:tcPr marL="69540" marR="69540" marT="46360" marB="46360" anchor="ctr"/>
                </a:tc>
                <a:tc>
                  <a:txBody>
                    <a:bodyPr/>
                    <a:lstStyle/>
                    <a:p>
                      <a:pPr marL="0" marR="0" algn="ctr" fontAlgn="ctr">
                        <a:buNone/>
                      </a:pPr>
                      <a:r>
                        <a:rPr lang="en-US" sz="1600" b="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0.446 (0.184, 1.079)</a:t>
                      </a:r>
                      <a:endParaRPr lang="en-US" sz="16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69540" marR="69540" marT="46360" marB="46360" anchor="ctr"/>
                </a:tc>
                <a:extLst>
                  <a:ext uri="{0D108BD9-81ED-4DB2-BD59-A6C34878D82A}">
                    <a16:rowId xmlns:a16="http://schemas.microsoft.com/office/drawing/2014/main" val="1927907616"/>
                  </a:ext>
                </a:extLst>
              </a:tr>
              <a:tr h="0">
                <a:tc>
                  <a:txBody>
                    <a:bodyPr/>
                    <a:lstStyle/>
                    <a:p>
                      <a:pPr marL="0" marR="0" algn="l" fontAlgn="ctr">
                        <a:buNone/>
                      </a:pPr>
                      <a:r>
                        <a:rPr lang="en-US" sz="1600" b="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Hispanic</a:t>
                      </a:r>
                      <a:endParaRPr lang="en-US" sz="16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69540" marR="69540" marT="46360" marB="46360" anchor="ctr"/>
                </a:tc>
                <a:tc>
                  <a:txBody>
                    <a:bodyPr/>
                    <a:lstStyle/>
                    <a:p>
                      <a:pPr marL="0" marR="0" algn="ctr" fontAlgn="ctr">
                        <a:buNone/>
                      </a:pPr>
                      <a:r>
                        <a:rPr lang="en-US" sz="1600" b="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0.697 (0.204, 2.382)</a:t>
                      </a:r>
                      <a:endParaRPr lang="en-US" sz="1600" b="0" i="0" u="none" strike="noStrike" dirty="0">
                        <a:effectLst/>
                        <a:latin typeface="Calibri" panose="020F0502020204030204" pitchFamily="34" charset="0"/>
                        <a:ea typeface="Calibri" panose="020F0502020204030204" pitchFamily="34" charset="0"/>
                        <a:cs typeface="Calibri" panose="020F0502020204030204" pitchFamily="34" charset="0"/>
                      </a:endParaRPr>
                    </a:p>
                  </a:txBody>
                  <a:tcPr marL="69540" marR="69540" marT="46360" marB="46360" anchor="ctr"/>
                </a:tc>
                <a:tc>
                  <a:txBody>
                    <a:bodyPr/>
                    <a:lstStyle/>
                    <a:p>
                      <a:pPr marL="0" marR="0" algn="ctr" fontAlgn="ctr">
                        <a:buNone/>
                      </a:pPr>
                      <a:r>
                        <a:rPr lang="en-US" sz="1600" b="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0.586 (0.200, 1.718)</a:t>
                      </a:r>
                      <a:endParaRPr lang="en-US" sz="1600" b="0" i="0" u="none" strike="noStrike" dirty="0">
                        <a:effectLst/>
                        <a:latin typeface="Calibri" panose="020F0502020204030204" pitchFamily="34" charset="0"/>
                        <a:ea typeface="Calibri" panose="020F0502020204030204" pitchFamily="34" charset="0"/>
                        <a:cs typeface="Calibri" panose="020F0502020204030204" pitchFamily="34" charset="0"/>
                      </a:endParaRPr>
                    </a:p>
                  </a:txBody>
                  <a:tcPr marL="69540" marR="69540" marT="46360" marB="46360" anchor="ctr"/>
                </a:tc>
                <a:tc>
                  <a:txBody>
                    <a:bodyPr/>
                    <a:lstStyle/>
                    <a:p>
                      <a:pPr marL="0" marR="0" algn="ctr" fontAlgn="ctr">
                        <a:buNone/>
                      </a:pPr>
                      <a:r>
                        <a:rPr lang="en-US" sz="1600" b="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1.156 (0.377, 3.546)</a:t>
                      </a:r>
                      <a:endParaRPr lang="en-US" sz="16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69540" marR="69540" marT="46360" marB="46360" anchor="ctr"/>
                </a:tc>
                <a:extLst>
                  <a:ext uri="{0D108BD9-81ED-4DB2-BD59-A6C34878D82A}">
                    <a16:rowId xmlns:a16="http://schemas.microsoft.com/office/drawing/2014/main" val="4001931896"/>
                  </a:ext>
                </a:extLst>
              </a:tr>
              <a:tr h="0">
                <a:tc>
                  <a:txBody>
                    <a:bodyPr/>
                    <a:lstStyle/>
                    <a:p>
                      <a:pPr marL="0" marR="0" algn="l" fontAlgn="ctr">
                        <a:buNone/>
                      </a:pPr>
                      <a:r>
                        <a:rPr lang="en-US" sz="1600" b="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Other</a:t>
                      </a:r>
                      <a:endParaRPr lang="en-US" sz="16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69540" marR="69540" marT="46360" marB="46360" anchor="ctr"/>
                </a:tc>
                <a:tc>
                  <a:txBody>
                    <a:bodyPr/>
                    <a:lstStyle/>
                    <a:p>
                      <a:pPr marL="0" marR="0" algn="ctr" fontAlgn="ctr">
                        <a:buNone/>
                      </a:pPr>
                      <a:r>
                        <a:rPr lang="en-US" sz="1600" b="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0.480 (0.190, 1.210)</a:t>
                      </a:r>
                      <a:endParaRPr lang="en-US" sz="16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69540" marR="69540" marT="46360" marB="46360" anchor="ctr"/>
                </a:tc>
                <a:tc>
                  <a:txBody>
                    <a:bodyPr/>
                    <a:lstStyle/>
                    <a:p>
                      <a:pPr marL="0" marR="0" algn="ctr" fontAlgn="ctr">
                        <a:buNone/>
                      </a:pPr>
                      <a:r>
                        <a:rPr lang="en-US" sz="1600" b="1"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0.315* (0.143, 0.695)</a:t>
                      </a:r>
                      <a:endParaRPr lang="en-US" sz="1600" b="0" i="0" u="none" strike="noStrike" dirty="0">
                        <a:effectLst/>
                        <a:latin typeface="Calibri" panose="020F0502020204030204" pitchFamily="34" charset="0"/>
                        <a:ea typeface="Calibri" panose="020F0502020204030204" pitchFamily="34" charset="0"/>
                        <a:cs typeface="Calibri" panose="020F0502020204030204" pitchFamily="34" charset="0"/>
                      </a:endParaRPr>
                    </a:p>
                  </a:txBody>
                  <a:tcPr marL="69540" marR="69540" marT="46360" marB="46360" anchor="ctr"/>
                </a:tc>
                <a:tc>
                  <a:txBody>
                    <a:bodyPr/>
                    <a:lstStyle/>
                    <a:p>
                      <a:pPr marL="0" marR="0" algn="ctr" fontAlgn="ctr">
                        <a:buNone/>
                      </a:pPr>
                      <a:r>
                        <a:rPr lang="en-US" sz="1600" b="1"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0.274* (0.112, 0.668)</a:t>
                      </a:r>
                      <a:endParaRPr lang="en-US" sz="1600" b="0" i="0" u="none" strike="noStrike" dirty="0">
                        <a:effectLst/>
                        <a:latin typeface="Calibri" panose="020F0502020204030204" pitchFamily="34" charset="0"/>
                        <a:ea typeface="Calibri" panose="020F0502020204030204" pitchFamily="34" charset="0"/>
                        <a:cs typeface="Calibri" panose="020F0502020204030204" pitchFamily="34" charset="0"/>
                      </a:endParaRPr>
                    </a:p>
                  </a:txBody>
                  <a:tcPr marL="69540" marR="69540" marT="46360" marB="46360" anchor="ctr"/>
                </a:tc>
                <a:extLst>
                  <a:ext uri="{0D108BD9-81ED-4DB2-BD59-A6C34878D82A}">
                    <a16:rowId xmlns:a16="http://schemas.microsoft.com/office/drawing/2014/main" val="3253416791"/>
                  </a:ext>
                </a:extLst>
              </a:tr>
              <a:tr h="281283">
                <a:tc gridSpan="4">
                  <a:txBody>
                    <a:bodyPr/>
                    <a:lstStyle/>
                    <a:p>
                      <a:pPr marL="0" marR="0" algn="l" fontAlgn="t">
                        <a:buNone/>
                      </a:pPr>
                      <a:r>
                        <a:rPr lang="en-US" sz="1600" b="1"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GLP-1 medication type (ref = No GLP-1, no diabetes)</a:t>
                      </a:r>
                      <a:endParaRPr lang="en-US" sz="1600" b="0" i="0" u="none" strike="noStrike" dirty="0">
                        <a:effectLst/>
                        <a:latin typeface="Calibri" panose="020F0502020204030204" pitchFamily="34" charset="0"/>
                        <a:ea typeface="Calibri" panose="020F0502020204030204" pitchFamily="34" charset="0"/>
                        <a:cs typeface="Calibri" panose="020F0502020204030204" pitchFamily="34" charset="0"/>
                      </a:endParaRPr>
                    </a:p>
                  </a:txBody>
                  <a:tcPr marL="83448" marR="83448" marT="41724" marB="41724"/>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222980090"/>
                  </a:ext>
                </a:extLst>
              </a:tr>
              <a:tr h="0">
                <a:tc>
                  <a:txBody>
                    <a:bodyPr/>
                    <a:lstStyle/>
                    <a:p>
                      <a:pPr marL="0" marR="0" algn="l" fontAlgn="ctr">
                        <a:buNone/>
                      </a:pPr>
                      <a:r>
                        <a:rPr lang="en-US" sz="1600" b="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GLP-1, likely weight loss</a:t>
                      </a:r>
                      <a:endParaRPr lang="en-US" sz="1600" b="0" i="0" u="none" strike="noStrike" dirty="0">
                        <a:effectLst/>
                        <a:latin typeface="Calibri" panose="020F0502020204030204" pitchFamily="34" charset="0"/>
                        <a:ea typeface="Calibri" panose="020F0502020204030204" pitchFamily="34" charset="0"/>
                        <a:cs typeface="Calibri" panose="020F0502020204030204" pitchFamily="34" charset="0"/>
                      </a:endParaRPr>
                    </a:p>
                  </a:txBody>
                  <a:tcPr marL="69540" marR="69540" marT="46360" marB="46360" anchor="ctr"/>
                </a:tc>
                <a:tc>
                  <a:txBody>
                    <a:bodyPr/>
                    <a:lstStyle/>
                    <a:p>
                      <a:pPr marL="0" marR="0" algn="ctr" fontAlgn="ctr">
                        <a:buNone/>
                      </a:pPr>
                      <a:r>
                        <a:rPr lang="en-US" sz="1600" b="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0.063 (0.004, 1.012)</a:t>
                      </a:r>
                      <a:endParaRPr lang="en-US" sz="16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69540" marR="69540" marT="46360" marB="46360" anchor="ctr"/>
                </a:tc>
                <a:tc>
                  <a:txBody>
                    <a:bodyPr/>
                    <a:lstStyle/>
                    <a:p>
                      <a:pPr marL="0" marR="0" algn="ctr" fontAlgn="ctr">
                        <a:buNone/>
                      </a:pPr>
                      <a:r>
                        <a:rPr lang="en-US" sz="1600" b="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0.440 (0.110, 1.769)</a:t>
                      </a:r>
                      <a:endParaRPr lang="en-US" sz="1600" b="0" i="0" u="none" strike="noStrike" dirty="0">
                        <a:effectLst/>
                        <a:latin typeface="Calibri" panose="020F0502020204030204" pitchFamily="34" charset="0"/>
                        <a:ea typeface="Calibri" panose="020F0502020204030204" pitchFamily="34" charset="0"/>
                        <a:cs typeface="Calibri" panose="020F0502020204030204" pitchFamily="34" charset="0"/>
                      </a:endParaRPr>
                    </a:p>
                  </a:txBody>
                  <a:tcPr marL="69540" marR="69540" marT="46360" marB="46360" anchor="ctr"/>
                </a:tc>
                <a:tc>
                  <a:txBody>
                    <a:bodyPr/>
                    <a:lstStyle/>
                    <a:p>
                      <a:pPr marL="0" marR="0" algn="ctr" fontAlgn="ctr">
                        <a:buNone/>
                      </a:pPr>
                      <a:r>
                        <a:rPr lang="en-US" sz="1600" b="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0.572 (0.126, 2.588)</a:t>
                      </a:r>
                      <a:endParaRPr lang="en-US" sz="16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69540" marR="69540" marT="46360" marB="46360" anchor="ctr"/>
                </a:tc>
                <a:extLst>
                  <a:ext uri="{0D108BD9-81ED-4DB2-BD59-A6C34878D82A}">
                    <a16:rowId xmlns:a16="http://schemas.microsoft.com/office/drawing/2014/main" val="3724837480"/>
                  </a:ext>
                </a:extLst>
              </a:tr>
              <a:tr h="0">
                <a:tc>
                  <a:txBody>
                    <a:bodyPr/>
                    <a:lstStyle/>
                    <a:p>
                      <a:pPr marL="0" marR="0" algn="l" fontAlgn="ctr">
                        <a:buNone/>
                      </a:pPr>
                      <a:r>
                        <a:rPr lang="en-US" sz="1600" b="1"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GLP-1, prediabetes*</a:t>
                      </a:r>
                      <a:endParaRPr lang="en-US" sz="16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69540" marR="69540" marT="46360" marB="46360" anchor="ctr"/>
                </a:tc>
                <a:tc>
                  <a:txBody>
                    <a:bodyPr/>
                    <a:lstStyle/>
                    <a:p>
                      <a:pPr marL="0" marR="0" algn="ctr" fontAlgn="ctr">
                        <a:buNone/>
                      </a:pPr>
                      <a:r>
                        <a:rPr lang="en-US" sz="1600" b="1"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0.101* (0.018, 0.547)</a:t>
                      </a:r>
                      <a:endParaRPr lang="en-US" sz="1600" b="0" i="0" u="none" strike="noStrike" dirty="0">
                        <a:effectLst/>
                        <a:latin typeface="Calibri" panose="020F0502020204030204" pitchFamily="34" charset="0"/>
                        <a:ea typeface="Calibri" panose="020F0502020204030204" pitchFamily="34" charset="0"/>
                        <a:cs typeface="Calibri" panose="020F0502020204030204" pitchFamily="34" charset="0"/>
                      </a:endParaRPr>
                    </a:p>
                  </a:txBody>
                  <a:tcPr marL="69540" marR="69540" marT="46360" marB="46360" anchor="ctr"/>
                </a:tc>
                <a:tc>
                  <a:txBody>
                    <a:bodyPr/>
                    <a:lstStyle/>
                    <a:p>
                      <a:pPr marL="0" marR="0" algn="ctr" fontAlgn="ctr">
                        <a:buNone/>
                      </a:pPr>
                      <a:r>
                        <a:rPr lang="en-US" sz="1600" b="1"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0.128* (0.042, 0.395)</a:t>
                      </a:r>
                      <a:endParaRPr lang="en-US" sz="1600" b="0" i="0" u="none" strike="noStrike" dirty="0">
                        <a:effectLst/>
                        <a:latin typeface="Calibri" panose="020F0502020204030204" pitchFamily="34" charset="0"/>
                        <a:ea typeface="Calibri" panose="020F0502020204030204" pitchFamily="34" charset="0"/>
                        <a:cs typeface="Calibri" panose="020F0502020204030204" pitchFamily="34" charset="0"/>
                      </a:endParaRPr>
                    </a:p>
                  </a:txBody>
                  <a:tcPr marL="69540" marR="69540" marT="46360" marB="46360" anchor="ctr"/>
                </a:tc>
                <a:tc>
                  <a:txBody>
                    <a:bodyPr/>
                    <a:lstStyle/>
                    <a:p>
                      <a:pPr marL="0" marR="0" algn="ctr" fontAlgn="ctr">
                        <a:buNone/>
                      </a:pPr>
                      <a:r>
                        <a:rPr lang="en-US" sz="1600" b="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0.288 (0.082, 1.012)</a:t>
                      </a:r>
                      <a:endParaRPr lang="en-US" sz="16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69540" marR="69540" marT="46360" marB="46360" anchor="ctr"/>
                </a:tc>
                <a:extLst>
                  <a:ext uri="{0D108BD9-81ED-4DB2-BD59-A6C34878D82A}">
                    <a16:rowId xmlns:a16="http://schemas.microsoft.com/office/drawing/2014/main" val="2227352824"/>
                  </a:ext>
                </a:extLst>
              </a:tr>
              <a:tr h="0">
                <a:tc>
                  <a:txBody>
                    <a:bodyPr/>
                    <a:lstStyle/>
                    <a:p>
                      <a:pPr marL="0" marR="0" algn="l" fontAlgn="ctr">
                        <a:buNone/>
                      </a:pPr>
                      <a:r>
                        <a:rPr lang="en-US" sz="1600" b="1"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GLP-1, active diabetes*</a:t>
                      </a:r>
                      <a:endParaRPr lang="en-US" sz="16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69540" marR="69540" marT="46360" marB="46360" anchor="ctr"/>
                </a:tc>
                <a:tc>
                  <a:txBody>
                    <a:bodyPr/>
                    <a:lstStyle/>
                    <a:p>
                      <a:pPr marL="0" marR="0" algn="ctr" fontAlgn="ctr">
                        <a:buNone/>
                      </a:pPr>
                      <a:r>
                        <a:rPr lang="en-US" sz="1600" b="1"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0.077* (0.026, 0.226)</a:t>
                      </a:r>
                      <a:endParaRPr lang="en-US" sz="1600" b="0" i="0" u="none" strike="noStrike" dirty="0">
                        <a:effectLst/>
                        <a:latin typeface="Calibri" panose="020F0502020204030204" pitchFamily="34" charset="0"/>
                        <a:ea typeface="Calibri" panose="020F0502020204030204" pitchFamily="34" charset="0"/>
                        <a:cs typeface="Calibri" panose="020F0502020204030204" pitchFamily="34" charset="0"/>
                      </a:endParaRPr>
                    </a:p>
                  </a:txBody>
                  <a:tcPr marL="69540" marR="69540" marT="46360" marB="46360" anchor="ctr"/>
                </a:tc>
                <a:tc>
                  <a:txBody>
                    <a:bodyPr/>
                    <a:lstStyle/>
                    <a:p>
                      <a:pPr marL="0" marR="0" algn="ctr" fontAlgn="ctr">
                        <a:buNone/>
                      </a:pPr>
                      <a:r>
                        <a:rPr lang="en-US" sz="1600" b="1"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0.083* (0.039, 0.180)</a:t>
                      </a:r>
                      <a:endParaRPr lang="en-US" sz="1600" b="0" i="0" u="none" strike="noStrike" dirty="0">
                        <a:effectLst/>
                        <a:latin typeface="Calibri" panose="020F0502020204030204" pitchFamily="34" charset="0"/>
                        <a:ea typeface="Calibri" panose="020F0502020204030204" pitchFamily="34" charset="0"/>
                        <a:cs typeface="Calibri" panose="020F0502020204030204" pitchFamily="34" charset="0"/>
                      </a:endParaRPr>
                    </a:p>
                  </a:txBody>
                  <a:tcPr marL="69540" marR="69540" marT="46360" marB="46360" anchor="ctr"/>
                </a:tc>
                <a:tc>
                  <a:txBody>
                    <a:bodyPr/>
                    <a:lstStyle/>
                    <a:p>
                      <a:pPr marL="0" marR="0" algn="ctr" fontAlgn="ctr">
                        <a:buNone/>
                      </a:pPr>
                      <a:r>
                        <a:rPr lang="en-US" sz="1600" b="1"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0.092* (0.036, 0.231)</a:t>
                      </a:r>
                      <a:endParaRPr lang="en-US" sz="1600" b="0" i="0" u="none" strike="noStrike" dirty="0">
                        <a:effectLst/>
                        <a:latin typeface="Calibri" panose="020F0502020204030204" pitchFamily="34" charset="0"/>
                        <a:ea typeface="Calibri" panose="020F0502020204030204" pitchFamily="34" charset="0"/>
                        <a:cs typeface="Calibri" panose="020F0502020204030204" pitchFamily="34" charset="0"/>
                      </a:endParaRPr>
                    </a:p>
                  </a:txBody>
                  <a:tcPr marL="69540" marR="69540" marT="46360" marB="46360" anchor="ctr"/>
                </a:tc>
                <a:extLst>
                  <a:ext uri="{0D108BD9-81ED-4DB2-BD59-A6C34878D82A}">
                    <a16:rowId xmlns:a16="http://schemas.microsoft.com/office/drawing/2014/main" val="2791851228"/>
                  </a:ext>
                </a:extLst>
              </a:tr>
              <a:tr h="0">
                <a:tc>
                  <a:txBody>
                    <a:bodyPr/>
                    <a:lstStyle/>
                    <a:p>
                      <a:pPr marL="0" marR="0" algn="l" fontAlgn="ctr">
                        <a:buNone/>
                      </a:pPr>
                      <a:r>
                        <a:rPr lang="en-US" sz="1600" b="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Diabetes, no GLP-1</a:t>
                      </a:r>
                      <a:endParaRPr lang="en-US" sz="16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69540" marR="69540" marT="46360" marB="46360" anchor="ctr"/>
                </a:tc>
                <a:tc>
                  <a:txBody>
                    <a:bodyPr/>
                    <a:lstStyle/>
                    <a:p>
                      <a:pPr marL="0" marR="0" algn="ctr" fontAlgn="ctr">
                        <a:buNone/>
                      </a:pPr>
                      <a:r>
                        <a:rPr lang="en-US" sz="1600" b="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0.509 (0.052, 4.978)</a:t>
                      </a:r>
                      <a:endParaRPr lang="en-US" sz="16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69540" marR="69540" marT="46360" marB="46360" anchor="ctr"/>
                </a:tc>
                <a:tc>
                  <a:txBody>
                    <a:bodyPr/>
                    <a:lstStyle/>
                    <a:p>
                      <a:pPr marL="0" marR="0" algn="ctr" fontAlgn="ctr">
                        <a:buNone/>
                      </a:pPr>
                      <a:r>
                        <a:rPr lang="en-US" sz="1600" b="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0.959 (0.121, 7.572)</a:t>
                      </a:r>
                      <a:endParaRPr lang="en-US" sz="1600" b="0" i="0" u="none" strike="noStrike" dirty="0">
                        <a:effectLst/>
                        <a:latin typeface="Calibri" panose="020F0502020204030204" pitchFamily="34" charset="0"/>
                        <a:ea typeface="Calibri" panose="020F0502020204030204" pitchFamily="34" charset="0"/>
                        <a:cs typeface="Calibri" panose="020F0502020204030204" pitchFamily="34" charset="0"/>
                      </a:endParaRPr>
                    </a:p>
                  </a:txBody>
                  <a:tcPr marL="69540" marR="69540" marT="46360" marB="46360" anchor="ctr"/>
                </a:tc>
                <a:tc>
                  <a:txBody>
                    <a:bodyPr/>
                    <a:lstStyle/>
                    <a:p>
                      <a:pPr marL="0" marR="0" algn="ctr" fontAlgn="ctr">
                        <a:buNone/>
                      </a:pPr>
                      <a:r>
                        <a:rPr lang="en-US" sz="1600" b="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1.295 (0.156, 10.764)</a:t>
                      </a:r>
                      <a:endParaRPr lang="en-US" sz="1600" b="0" i="0" u="none" strike="noStrike" dirty="0">
                        <a:effectLst/>
                        <a:latin typeface="Calibri" panose="020F0502020204030204" pitchFamily="34" charset="0"/>
                        <a:ea typeface="Calibri" panose="020F0502020204030204" pitchFamily="34" charset="0"/>
                        <a:cs typeface="Calibri" panose="020F0502020204030204" pitchFamily="34" charset="0"/>
                      </a:endParaRPr>
                    </a:p>
                  </a:txBody>
                  <a:tcPr marL="69540" marR="69540" marT="46360" marB="46360" anchor="ctr"/>
                </a:tc>
                <a:extLst>
                  <a:ext uri="{0D108BD9-81ED-4DB2-BD59-A6C34878D82A}">
                    <a16:rowId xmlns:a16="http://schemas.microsoft.com/office/drawing/2014/main" val="2191678933"/>
                  </a:ext>
                </a:extLst>
              </a:tr>
              <a:tr h="281283">
                <a:tc gridSpan="4">
                  <a:txBody>
                    <a:bodyPr/>
                    <a:lstStyle/>
                    <a:p>
                      <a:pPr marL="0" marR="0" algn="l" fontAlgn="t">
                        <a:buNone/>
                      </a:pPr>
                      <a:r>
                        <a:rPr lang="en-US" sz="1600" b="1"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Continuous/ordinal covariates</a:t>
                      </a:r>
                      <a:endParaRPr lang="en-US" sz="1600" b="0" i="0" u="none" strike="noStrike" dirty="0">
                        <a:effectLst/>
                        <a:latin typeface="Calibri" panose="020F0502020204030204" pitchFamily="34" charset="0"/>
                        <a:ea typeface="Calibri" panose="020F0502020204030204" pitchFamily="34" charset="0"/>
                        <a:cs typeface="Calibri" panose="020F0502020204030204" pitchFamily="34" charset="0"/>
                      </a:endParaRPr>
                    </a:p>
                  </a:txBody>
                  <a:tcPr marL="83448" marR="83448" marT="41724" marB="41724"/>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28542637"/>
                  </a:ext>
                </a:extLst>
              </a:tr>
              <a:tr h="0">
                <a:tc>
                  <a:txBody>
                    <a:bodyPr/>
                    <a:lstStyle/>
                    <a:p>
                      <a:pPr marL="0" marR="0" algn="l" fontAlgn="ctr">
                        <a:buNone/>
                      </a:pPr>
                      <a:r>
                        <a:rPr lang="en-US" sz="1600" b="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BMI category (1–6)</a:t>
                      </a:r>
                      <a:endParaRPr lang="en-US" sz="1600" b="0" i="0" u="none" strike="noStrike" dirty="0">
                        <a:effectLst/>
                        <a:latin typeface="Calibri" panose="020F0502020204030204" pitchFamily="34" charset="0"/>
                        <a:ea typeface="Calibri" panose="020F0502020204030204" pitchFamily="34" charset="0"/>
                        <a:cs typeface="Calibri" panose="020F0502020204030204" pitchFamily="34" charset="0"/>
                      </a:endParaRPr>
                    </a:p>
                  </a:txBody>
                  <a:tcPr marL="69540" marR="69540" marT="46360" marB="46360" anchor="ctr"/>
                </a:tc>
                <a:tc>
                  <a:txBody>
                    <a:bodyPr/>
                    <a:lstStyle/>
                    <a:p>
                      <a:pPr marL="0" marR="0" algn="ctr" fontAlgn="ctr">
                        <a:buNone/>
                      </a:pPr>
                      <a:r>
                        <a:rPr lang="en-US" sz="1600" b="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0.958 (0.711, 1.290)</a:t>
                      </a:r>
                      <a:endParaRPr lang="en-US" sz="1600" b="0"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69540" marR="69540" marT="46360" marB="46360" anchor="ctr"/>
                </a:tc>
                <a:tc>
                  <a:txBody>
                    <a:bodyPr/>
                    <a:lstStyle/>
                    <a:p>
                      <a:pPr marL="0" marR="0" algn="ctr" fontAlgn="ctr">
                        <a:buNone/>
                      </a:pPr>
                      <a:r>
                        <a:rPr lang="en-US" sz="1600" b="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1.067 (0.825, 1.380)</a:t>
                      </a:r>
                      <a:endParaRPr lang="en-US" sz="1600" b="0" i="0" u="none" strike="noStrike" dirty="0">
                        <a:effectLst/>
                        <a:latin typeface="Calibri" panose="020F0502020204030204" pitchFamily="34" charset="0"/>
                        <a:ea typeface="Calibri" panose="020F0502020204030204" pitchFamily="34" charset="0"/>
                        <a:cs typeface="Calibri" panose="020F0502020204030204" pitchFamily="34" charset="0"/>
                      </a:endParaRPr>
                    </a:p>
                  </a:txBody>
                  <a:tcPr marL="69540" marR="69540" marT="46360" marB="46360" anchor="ctr"/>
                </a:tc>
                <a:tc>
                  <a:txBody>
                    <a:bodyPr/>
                    <a:lstStyle/>
                    <a:p>
                      <a:pPr marL="0" marR="0" algn="ctr" fontAlgn="ctr">
                        <a:buNone/>
                      </a:pPr>
                      <a:r>
                        <a:rPr lang="en-US" sz="1600" b="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0.938 (0.711, 1.236)</a:t>
                      </a:r>
                      <a:endParaRPr lang="en-US" sz="1600" b="0" i="0" u="none" strike="noStrike" dirty="0">
                        <a:effectLst/>
                        <a:latin typeface="Calibri" panose="020F0502020204030204" pitchFamily="34" charset="0"/>
                        <a:ea typeface="Calibri" panose="020F0502020204030204" pitchFamily="34" charset="0"/>
                        <a:cs typeface="Calibri" panose="020F0502020204030204" pitchFamily="34" charset="0"/>
                      </a:endParaRPr>
                    </a:p>
                  </a:txBody>
                  <a:tcPr marL="69540" marR="69540" marT="46360" marB="46360" anchor="ctr"/>
                </a:tc>
                <a:extLst>
                  <a:ext uri="{0D108BD9-81ED-4DB2-BD59-A6C34878D82A}">
                    <a16:rowId xmlns:a16="http://schemas.microsoft.com/office/drawing/2014/main" val="3753707506"/>
                  </a:ext>
                </a:extLst>
              </a:tr>
              <a:tr h="0">
                <a:tc>
                  <a:txBody>
                    <a:bodyPr/>
                    <a:lstStyle/>
                    <a:p>
                      <a:pPr marL="0" marR="0" algn="l" fontAlgn="ctr">
                        <a:buNone/>
                      </a:pPr>
                      <a:r>
                        <a:rPr lang="en-US" sz="1600" b="1"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Self-rated health (1–5)*</a:t>
                      </a:r>
                      <a:endParaRPr lang="en-US" sz="1600" b="0" i="0" u="none" strike="noStrike" dirty="0">
                        <a:effectLst/>
                        <a:latin typeface="Calibri" panose="020F0502020204030204" pitchFamily="34" charset="0"/>
                        <a:ea typeface="Calibri" panose="020F0502020204030204" pitchFamily="34" charset="0"/>
                        <a:cs typeface="Calibri" panose="020F0502020204030204" pitchFamily="34" charset="0"/>
                      </a:endParaRPr>
                    </a:p>
                  </a:txBody>
                  <a:tcPr marL="69540" marR="69540" marT="46360" marB="46360" anchor="ctr"/>
                </a:tc>
                <a:tc>
                  <a:txBody>
                    <a:bodyPr/>
                    <a:lstStyle/>
                    <a:p>
                      <a:pPr marL="0" marR="0" algn="ctr" fontAlgn="ctr">
                        <a:buNone/>
                      </a:pPr>
                      <a:r>
                        <a:rPr lang="en-US" sz="1600" b="1"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2.219* (1.464, 3.364)</a:t>
                      </a:r>
                      <a:endParaRPr lang="en-US" sz="1600" b="0" i="0" u="none" strike="noStrike" dirty="0">
                        <a:effectLst/>
                        <a:latin typeface="Calibri" panose="020F0502020204030204" pitchFamily="34" charset="0"/>
                        <a:ea typeface="Calibri" panose="020F0502020204030204" pitchFamily="34" charset="0"/>
                        <a:cs typeface="Calibri" panose="020F0502020204030204" pitchFamily="34" charset="0"/>
                      </a:endParaRPr>
                    </a:p>
                  </a:txBody>
                  <a:tcPr marL="69540" marR="69540" marT="46360" marB="46360" anchor="ctr"/>
                </a:tc>
                <a:tc>
                  <a:txBody>
                    <a:bodyPr/>
                    <a:lstStyle/>
                    <a:p>
                      <a:pPr marL="0" marR="0" algn="ctr" fontAlgn="ctr">
                        <a:buNone/>
                      </a:pPr>
                      <a:r>
                        <a:rPr lang="en-US" sz="1600" b="1"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2.042* (1.415, 2.949)</a:t>
                      </a:r>
                      <a:endParaRPr lang="en-US" sz="1600" b="0" i="0" u="none" strike="noStrike" dirty="0">
                        <a:effectLst/>
                        <a:latin typeface="Calibri" panose="020F0502020204030204" pitchFamily="34" charset="0"/>
                        <a:ea typeface="Calibri" panose="020F0502020204030204" pitchFamily="34" charset="0"/>
                        <a:cs typeface="Calibri" panose="020F0502020204030204" pitchFamily="34" charset="0"/>
                      </a:endParaRPr>
                    </a:p>
                  </a:txBody>
                  <a:tcPr marL="69540" marR="69540" marT="46360" marB="46360" anchor="ctr"/>
                </a:tc>
                <a:tc>
                  <a:txBody>
                    <a:bodyPr/>
                    <a:lstStyle/>
                    <a:p>
                      <a:pPr marL="0" marR="0" algn="ctr" fontAlgn="ctr">
                        <a:buNone/>
                      </a:pPr>
                      <a:r>
                        <a:rPr lang="en-US" sz="1600" b="1"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2.251* (1.522, 3.328)</a:t>
                      </a:r>
                      <a:endParaRPr lang="en-US" sz="1600" b="0" i="0" u="none" strike="noStrike" dirty="0">
                        <a:effectLst/>
                        <a:latin typeface="Calibri" panose="020F0502020204030204" pitchFamily="34" charset="0"/>
                        <a:ea typeface="Calibri" panose="020F0502020204030204" pitchFamily="34" charset="0"/>
                        <a:cs typeface="Calibri" panose="020F0502020204030204" pitchFamily="34" charset="0"/>
                      </a:endParaRPr>
                    </a:p>
                  </a:txBody>
                  <a:tcPr marL="69540" marR="69540" marT="46360" marB="46360" anchor="ctr"/>
                </a:tc>
                <a:extLst>
                  <a:ext uri="{0D108BD9-81ED-4DB2-BD59-A6C34878D82A}">
                    <a16:rowId xmlns:a16="http://schemas.microsoft.com/office/drawing/2014/main" val="2612193476"/>
                  </a:ext>
                </a:extLst>
              </a:tr>
            </a:tbl>
          </a:graphicData>
        </a:graphic>
      </p:graphicFrame>
    </p:spTree>
    <p:extLst>
      <p:ext uri="{BB962C8B-B14F-4D97-AF65-F5344CB8AC3E}">
        <p14:creationId xmlns:p14="http://schemas.microsoft.com/office/powerpoint/2010/main" val="353028907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TextBox 3"/>
          <p:cNvSpPr txBox="1"/>
          <p:nvPr/>
        </p:nvSpPr>
        <p:spPr>
          <a:xfrm>
            <a:off x="674519" y="235131"/>
            <a:ext cx="8412480" cy="548640"/>
          </a:xfrm>
          <a:prstGeom prst="rect">
            <a:avLst/>
          </a:prstGeom>
          <a:noFill/>
        </p:spPr>
        <p:txBody>
          <a:bodyPr wrap="square">
            <a:spAutoFit/>
          </a:bodyPr>
          <a:lstStyle/>
          <a:p>
            <a:pPr algn="l"/>
            <a:r>
              <a:rPr sz="2400" b="0" dirty="0">
                <a:solidFill>
                  <a:srgbClr val="000000"/>
                </a:solidFill>
                <a:latin typeface="Calibri"/>
              </a:rPr>
              <a:t>Predicting Class Membership: The Distal Outcome Approach</a:t>
            </a:r>
          </a:p>
        </p:txBody>
      </p:sp>
      <p:sp>
        <p:nvSpPr>
          <p:cNvPr id="6" name="TextBox 5"/>
          <p:cNvSpPr txBox="1"/>
          <p:nvPr/>
        </p:nvSpPr>
        <p:spPr>
          <a:xfrm>
            <a:off x="674519" y="960120"/>
            <a:ext cx="10808920" cy="5452775"/>
          </a:xfrm>
          <a:prstGeom prst="rect">
            <a:avLst/>
          </a:prstGeom>
          <a:noFill/>
        </p:spPr>
        <p:txBody>
          <a:bodyPr wrap="square">
            <a:spAutoFit/>
          </a:bodyPr>
          <a:lstStyle/>
          <a:p>
            <a:pPr algn="l">
              <a:spcBef>
                <a:spcPts val="800"/>
              </a:spcBef>
            </a:pPr>
            <a:r>
              <a:rPr sz="2000" b="1" i="0" dirty="0">
                <a:solidFill>
                  <a:srgbClr val="000000"/>
                </a:solidFill>
                <a:latin typeface="Calibri"/>
              </a:rPr>
              <a:t>Two types of external variables in LCA:</a:t>
            </a:r>
          </a:p>
          <a:p>
            <a:pPr algn="l"/>
            <a:endParaRPr sz="2000" b="1" i="0" dirty="0">
              <a:solidFill>
                <a:srgbClr val="000000"/>
              </a:solidFill>
              <a:latin typeface="Calibri"/>
            </a:endParaRPr>
          </a:p>
          <a:p>
            <a:pPr algn="l"/>
            <a:r>
              <a:rPr sz="2000" b="0" i="0" dirty="0">
                <a:solidFill>
                  <a:srgbClr val="323232"/>
                </a:solidFill>
                <a:latin typeface="Calibri"/>
              </a:rPr>
              <a:t>•  Covariates: variables that PREDICT class membership (entered before or simultaneously)</a:t>
            </a:r>
          </a:p>
          <a:p>
            <a:pPr lvl="1" algn="l"/>
            <a:r>
              <a:rPr sz="2000" b="0" i="0" dirty="0">
                <a:solidFill>
                  <a:srgbClr val="646464"/>
                </a:solidFill>
                <a:latin typeface="Calibri"/>
              </a:rPr>
              <a:t>◦  Example: gender, age, income predicting which political participation class you're in</a:t>
            </a:r>
          </a:p>
          <a:p>
            <a:pPr algn="l"/>
            <a:endParaRPr sz="2000" b="0" i="0" dirty="0">
              <a:solidFill>
                <a:srgbClr val="646464"/>
              </a:solidFill>
              <a:latin typeface="Calibri"/>
            </a:endParaRPr>
          </a:p>
          <a:p>
            <a:pPr algn="l"/>
            <a:r>
              <a:rPr sz="2000" b="0" i="0" dirty="0">
                <a:solidFill>
                  <a:srgbClr val="323232"/>
                </a:solidFill>
                <a:latin typeface="Calibri"/>
              </a:rPr>
              <a:t>•  Distal outcomes: variables we examine AFTER establishing class membership</a:t>
            </a:r>
          </a:p>
          <a:p>
            <a:pPr lvl="1" algn="l"/>
            <a:r>
              <a:rPr sz="2000" b="0" i="0" dirty="0">
                <a:solidFill>
                  <a:srgbClr val="646464"/>
                </a:solidFill>
                <a:latin typeface="Calibri"/>
              </a:rPr>
              <a:t>◦  Example: class membership predicts later voting behavior, health outcomes, civic engagement</a:t>
            </a:r>
          </a:p>
          <a:p>
            <a:pPr algn="l"/>
            <a:endParaRPr sz="2000" b="0" i="0" dirty="0">
              <a:solidFill>
                <a:srgbClr val="646464"/>
              </a:solidFill>
              <a:latin typeface="Calibri"/>
            </a:endParaRPr>
          </a:p>
          <a:p>
            <a:pPr algn="l">
              <a:spcBef>
                <a:spcPts val="400"/>
              </a:spcBef>
            </a:pPr>
            <a:r>
              <a:rPr sz="2000" b="1" i="0" dirty="0">
                <a:solidFill>
                  <a:srgbClr val="000000"/>
                </a:solidFill>
                <a:latin typeface="Calibri"/>
              </a:rPr>
              <a:t>The correct order:</a:t>
            </a:r>
          </a:p>
          <a:p>
            <a:pPr algn="l"/>
            <a:r>
              <a:rPr sz="2000" b="0" i="0" dirty="0">
                <a:solidFill>
                  <a:srgbClr val="323232"/>
                </a:solidFill>
                <a:latin typeface="Calibri"/>
              </a:rPr>
              <a:t>1. Find the best class solution (without covariates)</a:t>
            </a:r>
          </a:p>
          <a:p>
            <a:pPr algn="l"/>
            <a:r>
              <a:rPr sz="2000" b="0" i="0" dirty="0">
                <a:solidFill>
                  <a:srgbClr val="323232"/>
                </a:solidFill>
                <a:latin typeface="Calibri"/>
              </a:rPr>
              <a:t>2. Add covariates to predict class membership (multinomial logistic regression)</a:t>
            </a:r>
          </a:p>
          <a:p>
            <a:pPr algn="l"/>
            <a:r>
              <a:rPr sz="2000" b="0" i="0" dirty="0">
                <a:solidFill>
                  <a:srgbClr val="323232"/>
                </a:solidFill>
                <a:latin typeface="Calibri"/>
              </a:rPr>
              <a:t>3. Examine distal outcomes by class (compare means or proportions across classes)</a:t>
            </a:r>
          </a:p>
          <a:p>
            <a:pPr algn="l"/>
            <a:endParaRPr sz="2000" b="0" i="0" dirty="0">
              <a:solidFill>
                <a:srgbClr val="323232"/>
              </a:solidFill>
              <a:latin typeface="Calibri"/>
            </a:endParaRPr>
          </a:p>
          <a:p>
            <a:pPr algn="l">
              <a:spcBef>
                <a:spcPts val="600"/>
              </a:spcBef>
            </a:pPr>
            <a:r>
              <a:rPr sz="2000" b="1" i="0" dirty="0">
                <a:solidFill>
                  <a:srgbClr val="1F497D"/>
                </a:solidFill>
                <a:latin typeface="Calibri"/>
              </a:rPr>
              <a:t>COMMON MISTAKE TO AVOID</a:t>
            </a:r>
          </a:p>
          <a:p>
            <a:pPr algn="l"/>
            <a:r>
              <a:rPr sz="2000" b="0" i="0" dirty="0">
                <a:solidFill>
                  <a:srgbClr val="323232"/>
                </a:solidFill>
                <a:latin typeface="Calibri"/>
              </a:rPr>
              <a:t>Do NOT include the distal outcome as an indicator in the LCA model. The classes should be defined by the core indicators, not by the variable you want to predict. Mixing them biases both the class solution and the prediction.</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6452BE-2FD5-DDAA-4062-A960CE237276}"/>
              </a:ext>
            </a:extLst>
          </p:cNvPr>
          <p:cNvSpPr>
            <a:spLocks noGrp="1"/>
          </p:cNvSpPr>
          <p:nvPr>
            <p:ph type="title"/>
          </p:nvPr>
        </p:nvSpPr>
        <p:spPr/>
        <p:txBody>
          <a:bodyPr/>
          <a:lstStyle/>
          <a:p>
            <a:r>
              <a:rPr lang="en-US" dirty="0"/>
              <a:t>Future reference</a:t>
            </a:r>
          </a:p>
        </p:txBody>
      </p:sp>
    </p:spTree>
    <p:extLst>
      <p:ext uri="{BB962C8B-B14F-4D97-AF65-F5344CB8AC3E}">
        <p14:creationId xmlns:p14="http://schemas.microsoft.com/office/powerpoint/2010/main" val="397825214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TextBox 3"/>
          <p:cNvSpPr txBox="1"/>
          <p:nvPr/>
        </p:nvSpPr>
        <p:spPr>
          <a:xfrm>
            <a:off x="365760" y="256032"/>
            <a:ext cx="8412480" cy="548640"/>
          </a:xfrm>
          <a:prstGeom prst="rect">
            <a:avLst/>
          </a:prstGeom>
          <a:noFill/>
        </p:spPr>
        <p:txBody>
          <a:bodyPr wrap="square">
            <a:spAutoFit/>
          </a:bodyPr>
          <a:lstStyle/>
          <a:p>
            <a:pPr algn="l"/>
            <a:r>
              <a:rPr sz="2200" b="0" dirty="0">
                <a:solidFill>
                  <a:srgbClr val="000000"/>
                </a:solidFill>
                <a:latin typeface="Calibri"/>
              </a:rPr>
              <a:t>Complete Concept Map: SEM, EFA, CFA, LCA, GMM</a:t>
            </a:r>
          </a:p>
        </p:txBody>
      </p:sp>
      <p:sp>
        <p:nvSpPr>
          <p:cNvPr id="6" name="TextBox 5"/>
          <p:cNvSpPr txBox="1"/>
          <p:nvPr/>
        </p:nvSpPr>
        <p:spPr>
          <a:xfrm>
            <a:off x="365760" y="914400"/>
            <a:ext cx="8412480" cy="5693866"/>
          </a:xfrm>
          <a:prstGeom prst="rect">
            <a:avLst/>
          </a:prstGeom>
          <a:noFill/>
        </p:spPr>
        <p:txBody>
          <a:bodyPr wrap="square">
            <a:spAutoFit/>
          </a:bodyPr>
          <a:lstStyle/>
          <a:p>
            <a:pPr algn="l">
              <a:spcBef>
                <a:spcPts val="800"/>
              </a:spcBef>
            </a:pPr>
            <a:r>
              <a:rPr sz="1700" b="1" i="0" dirty="0">
                <a:solidFill>
                  <a:srgbClr val="000000"/>
                </a:solidFill>
                <a:latin typeface="Calibri"/>
              </a:rPr>
              <a:t>How all methods in this deck relate to each other:</a:t>
            </a:r>
          </a:p>
          <a:p>
            <a:pPr algn="l"/>
            <a:endParaRPr sz="1700" b="1" i="0" dirty="0">
              <a:solidFill>
                <a:srgbClr val="000000"/>
              </a:solidFill>
              <a:latin typeface="Calibri"/>
            </a:endParaRPr>
          </a:p>
          <a:p>
            <a:pPr algn="l"/>
            <a:endParaRPr lang="en-US" sz="1500" b="0" i="0" dirty="0">
              <a:solidFill>
                <a:srgbClr val="323232"/>
              </a:solidFill>
              <a:latin typeface="Calibri"/>
            </a:endParaRPr>
          </a:p>
          <a:p>
            <a:pPr algn="l"/>
            <a:endParaRPr lang="en-US" sz="1500" dirty="0">
              <a:solidFill>
                <a:srgbClr val="323232"/>
              </a:solidFill>
              <a:latin typeface="Calibri"/>
            </a:endParaRPr>
          </a:p>
          <a:p>
            <a:pPr algn="l"/>
            <a:endParaRPr lang="en-US" sz="1500" b="0" i="0" dirty="0">
              <a:solidFill>
                <a:srgbClr val="323232"/>
              </a:solidFill>
              <a:latin typeface="Calibri"/>
            </a:endParaRPr>
          </a:p>
          <a:p>
            <a:pPr algn="l"/>
            <a:endParaRPr lang="en-US" sz="1500" dirty="0">
              <a:solidFill>
                <a:srgbClr val="323232"/>
              </a:solidFill>
              <a:latin typeface="Calibri"/>
            </a:endParaRPr>
          </a:p>
          <a:p>
            <a:pPr algn="l"/>
            <a:endParaRPr lang="en-US" sz="1500" b="0" i="0" dirty="0">
              <a:solidFill>
                <a:srgbClr val="323232"/>
              </a:solidFill>
              <a:latin typeface="Calibri"/>
            </a:endParaRPr>
          </a:p>
          <a:p>
            <a:pPr algn="l"/>
            <a:endParaRPr lang="en-US" sz="1500" dirty="0">
              <a:solidFill>
                <a:srgbClr val="323232"/>
              </a:solidFill>
              <a:latin typeface="Calibri"/>
            </a:endParaRPr>
          </a:p>
          <a:p>
            <a:pPr algn="l"/>
            <a:endParaRPr lang="en-US" sz="1500" b="0" i="0" dirty="0">
              <a:solidFill>
                <a:srgbClr val="323232"/>
              </a:solidFill>
              <a:latin typeface="Calibri"/>
            </a:endParaRPr>
          </a:p>
          <a:p>
            <a:pPr algn="l"/>
            <a:endParaRPr lang="en-US" sz="1500" dirty="0">
              <a:solidFill>
                <a:srgbClr val="323232"/>
              </a:solidFill>
              <a:latin typeface="Calibri"/>
            </a:endParaRPr>
          </a:p>
          <a:p>
            <a:pPr algn="l"/>
            <a:endParaRPr lang="en-US" sz="1500" b="0" i="0" dirty="0">
              <a:solidFill>
                <a:srgbClr val="323232"/>
              </a:solidFill>
              <a:latin typeface="Calibri"/>
            </a:endParaRPr>
          </a:p>
          <a:p>
            <a:pPr algn="l"/>
            <a:endParaRPr lang="en-US" sz="1500" dirty="0">
              <a:solidFill>
                <a:srgbClr val="323232"/>
              </a:solidFill>
              <a:latin typeface="Calibri"/>
            </a:endParaRPr>
          </a:p>
          <a:p>
            <a:pPr algn="l"/>
            <a:endParaRPr lang="en-US" sz="1500" b="0" i="0" dirty="0">
              <a:solidFill>
                <a:srgbClr val="323232"/>
              </a:solidFill>
              <a:latin typeface="Calibri"/>
            </a:endParaRPr>
          </a:p>
          <a:p>
            <a:pPr algn="l"/>
            <a:endParaRPr lang="en-US" sz="1500" dirty="0">
              <a:solidFill>
                <a:srgbClr val="323232"/>
              </a:solidFill>
              <a:latin typeface="Calibri"/>
            </a:endParaRPr>
          </a:p>
          <a:p>
            <a:pPr algn="l"/>
            <a:endParaRPr lang="en-US" sz="1500" b="0" i="0" dirty="0">
              <a:solidFill>
                <a:srgbClr val="323232"/>
              </a:solidFill>
              <a:latin typeface="Calibri"/>
            </a:endParaRPr>
          </a:p>
          <a:p>
            <a:pPr algn="l"/>
            <a:endParaRPr lang="en-US" sz="1500" dirty="0">
              <a:solidFill>
                <a:srgbClr val="323232"/>
              </a:solidFill>
              <a:latin typeface="Calibri"/>
            </a:endParaRPr>
          </a:p>
          <a:p>
            <a:pPr algn="l"/>
            <a:endParaRPr lang="en-US" sz="1500" b="0" i="0" dirty="0">
              <a:solidFill>
                <a:srgbClr val="323232"/>
              </a:solidFill>
              <a:latin typeface="Calibri"/>
            </a:endParaRPr>
          </a:p>
          <a:p>
            <a:pPr algn="l"/>
            <a:endParaRPr lang="en-US" sz="1500" dirty="0">
              <a:solidFill>
                <a:srgbClr val="323232"/>
              </a:solidFill>
              <a:latin typeface="Calibri"/>
            </a:endParaRPr>
          </a:p>
          <a:p>
            <a:pPr algn="l"/>
            <a:endParaRPr lang="en-US" sz="1500" b="0" i="0" dirty="0">
              <a:solidFill>
                <a:srgbClr val="323232"/>
              </a:solidFill>
              <a:latin typeface="Calibri"/>
            </a:endParaRPr>
          </a:p>
          <a:p>
            <a:pPr algn="l"/>
            <a:endParaRPr lang="en-US" sz="1500" dirty="0">
              <a:solidFill>
                <a:srgbClr val="323232"/>
              </a:solidFill>
              <a:latin typeface="Calibri"/>
            </a:endParaRPr>
          </a:p>
          <a:p>
            <a:pPr algn="l"/>
            <a:endParaRPr lang="en-US" sz="1500" b="0" i="0" dirty="0">
              <a:solidFill>
                <a:srgbClr val="323232"/>
              </a:solidFill>
              <a:latin typeface="Calibri"/>
            </a:endParaRPr>
          </a:p>
          <a:p>
            <a:pPr algn="l"/>
            <a:endParaRPr sz="1500" b="0" i="0" dirty="0">
              <a:solidFill>
                <a:srgbClr val="323232"/>
              </a:solidFill>
              <a:latin typeface="Calibri"/>
            </a:endParaRPr>
          </a:p>
          <a:p>
            <a:pPr algn="l"/>
            <a:r>
              <a:rPr sz="1500" b="0" i="0" dirty="0">
                <a:solidFill>
                  <a:srgbClr val="323232"/>
                </a:solidFill>
                <a:latin typeface="Calibri"/>
              </a:rPr>
              <a:t>All of these can be combined — e.g., GMM uses growth curve + mixture; Second-order growth curves use CFA + growth modeling. The flexibility is the point of SEM as a framework.</a:t>
            </a:r>
          </a:p>
        </p:txBody>
      </p:sp>
      <p:pic>
        <p:nvPicPr>
          <p:cNvPr id="12" name="Picture 11">
            <a:extLst>
              <a:ext uri="{FF2B5EF4-FFF2-40B4-BE49-F238E27FC236}">
                <a16:creationId xmlns:a16="http://schemas.microsoft.com/office/drawing/2014/main" id="{2DB07080-A219-06C6-F646-53FF3E4E3FBA}"/>
              </a:ext>
            </a:extLst>
          </p:cNvPr>
          <p:cNvPicPr>
            <a:picLocks noChangeAspect="1"/>
          </p:cNvPicPr>
          <p:nvPr/>
        </p:nvPicPr>
        <p:blipFill>
          <a:blip r:embed="rId2"/>
          <a:stretch>
            <a:fillRect/>
          </a:stretch>
        </p:blipFill>
        <p:spPr>
          <a:xfrm>
            <a:off x="365760" y="1427281"/>
            <a:ext cx="7522551" cy="4516319"/>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64275F-31B9-5A45-8C8D-BEA9AE2DB74B}"/>
              </a:ext>
            </a:extLst>
          </p:cNvPr>
          <p:cNvSpPr>
            <a:spLocks noGrp="1"/>
          </p:cNvSpPr>
          <p:nvPr>
            <p:ph type="title"/>
          </p:nvPr>
        </p:nvSpPr>
        <p:spPr>
          <a:xfrm>
            <a:off x="695324" y="904730"/>
            <a:ext cx="4257675" cy="1652590"/>
          </a:xfrm>
        </p:spPr>
        <p:txBody>
          <a:bodyPr>
            <a:normAutofit/>
          </a:bodyPr>
          <a:lstStyle/>
          <a:p>
            <a:pPr algn="l"/>
            <a:r>
              <a:rPr lang="en-US" dirty="0">
                <a:solidFill>
                  <a:srgbClr val="000000"/>
                </a:solidFill>
                <a:latin typeface="Calibri"/>
              </a:rPr>
              <a:t>Latent Class Mixture models</a:t>
            </a:r>
          </a:p>
        </p:txBody>
      </p:sp>
      <p:sp>
        <p:nvSpPr>
          <p:cNvPr id="3" name="Content Placeholder 2">
            <a:extLst>
              <a:ext uri="{FF2B5EF4-FFF2-40B4-BE49-F238E27FC236}">
                <a16:creationId xmlns:a16="http://schemas.microsoft.com/office/drawing/2014/main" id="{586F0B2B-AE3D-6C45-AA5E-7DD36432971E}"/>
              </a:ext>
            </a:extLst>
          </p:cNvPr>
          <p:cNvSpPr>
            <a:spLocks noGrp="1"/>
          </p:cNvSpPr>
          <p:nvPr>
            <p:ph idx="1"/>
          </p:nvPr>
        </p:nvSpPr>
        <p:spPr>
          <a:xfrm>
            <a:off x="5133974" y="952369"/>
            <a:ext cx="6418727" cy="1450590"/>
          </a:xfrm>
        </p:spPr>
        <p:txBody>
          <a:bodyPr>
            <a:normAutofit/>
          </a:bodyPr>
          <a:lstStyle/>
          <a:p>
            <a:r>
              <a:rPr lang="en-US" dirty="0">
                <a:latin typeface="Calibri" panose="020F0502020204030204" pitchFamily="34" charset="0"/>
                <a:ea typeface="Calibri" panose="020F0502020204030204" pitchFamily="34" charset="0"/>
                <a:cs typeface="Calibri" panose="020F0502020204030204" pitchFamily="34" charset="0"/>
              </a:rPr>
              <a:t>RQ: LCA is good to construct typologies</a:t>
            </a:r>
          </a:p>
          <a:p>
            <a:r>
              <a:rPr lang="en-US" dirty="0">
                <a:latin typeface="Calibri" panose="020F0502020204030204" pitchFamily="34" charset="0"/>
                <a:ea typeface="Calibri" panose="020F0502020204030204" pitchFamily="34" charset="0"/>
                <a:cs typeface="Calibri" panose="020F0502020204030204" pitchFamily="34" charset="0"/>
              </a:rPr>
              <a:t>How do families experience ACEs?</a:t>
            </a:r>
          </a:p>
          <a:p>
            <a:r>
              <a:rPr lang="en-US" dirty="0">
                <a:latin typeface="Calibri" panose="020F0502020204030204" pitchFamily="34" charset="0"/>
                <a:ea typeface="Calibri" panose="020F0502020204030204" pitchFamily="34" charset="0"/>
                <a:cs typeface="Calibri" panose="020F0502020204030204" pitchFamily="34" charset="0"/>
              </a:rPr>
              <a:t>How do children experience F2F and cyber-bullying?</a:t>
            </a:r>
          </a:p>
        </p:txBody>
      </p:sp>
      <p:pic>
        <p:nvPicPr>
          <p:cNvPr id="5" name="Picture 4" descr="Diagram&#10;&#10;Description automatically generated">
            <a:extLst>
              <a:ext uri="{FF2B5EF4-FFF2-40B4-BE49-F238E27FC236}">
                <a16:creationId xmlns:a16="http://schemas.microsoft.com/office/drawing/2014/main" id="{B116F88C-DE02-4FB9-9D6C-C0E87A43D16E}"/>
              </a:ext>
            </a:extLst>
          </p:cNvPr>
          <p:cNvPicPr>
            <a:picLocks noChangeAspect="1"/>
          </p:cNvPicPr>
          <p:nvPr/>
        </p:nvPicPr>
        <p:blipFill rotWithShape="1">
          <a:blip r:embed="rId2"/>
          <a:srcRect t="9708"/>
          <a:stretch/>
        </p:blipFill>
        <p:spPr>
          <a:xfrm>
            <a:off x="1136431" y="3429000"/>
            <a:ext cx="4495800" cy="2253296"/>
          </a:xfrm>
          <a:prstGeom prst="rect">
            <a:avLst/>
          </a:prstGeom>
        </p:spPr>
      </p:pic>
      <p:pic>
        <p:nvPicPr>
          <p:cNvPr id="7" name="Picture 6" descr="Chart, line chart&#10;&#10;Description automatically generated">
            <a:extLst>
              <a:ext uri="{FF2B5EF4-FFF2-40B4-BE49-F238E27FC236}">
                <a16:creationId xmlns:a16="http://schemas.microsoft.com/office/drawing/2014/main" id="{B7BCDC08-0A49-4D56-A02F-BA23DE5E7145}"/>
              </a:ext>
            </a:extLst>
          </p:cNvPr>
          <p:cNvPicPr>
            <a:picLocks noChangeAspect="1"/>
          </p:cNvPicPr>
          <p:nvPr/>
        </p:nvPicPr>
        <p:blipFill rotWithShape="1">
          <a:blip r:embed="rId3"/>
          <a:srcRect l="5348" r="2" b="2"/>
          <a:stretch/>
        </p:blipFill>
        <p:spPr>
          <a:xfrm>
            <a:off x="6209622" y="3048000"/>
            <a:ext cx="5182278" cy="2737551"/>
          </a:xfrm>
          <a:prstGeom prst="rect">
            <a:avLst/>
          </a:prstGeom>
        </p:spPr>
      </p:pic>
    </p:spTree>
    <p:extLst>
      <p:ext uri="{BB962C8B-B14F-4D97-AF65-F5344CB8AC3E}">
        <p14:creationId xmlns:p14="http://schemas.microsoft.com/office/powerpoint/2010/main" val="23190127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EC286-8047-4EA4-9205-010269034681}"/>
              </a:ext>
            </a:extLst>
          </p:cNvPr>
          <p:cNvSpPr>
            <a:spLocks noGrp="1"/>
          </p:cNvSpPr>
          <p:nvPr>
            <p:ph type="title"/>
          </p:nvPr>
        </p:nvSpPr>
        <p:spPr>
          <a:xfrm>
            <a:off x="639299" y="420872"/>
            <a:ext cx="4257675" cy="1652590"/>
          </a:xfrm>
        </p:spPr>
        <p:txBody>
          <a:bodyPr>
            <a:normAutofit/>
          </a:bodyPr>
          <a:lstStyle/>
          <a:p>
            <a:pPr algn="l"/>
            <a:r>
              <a:rPr lang="en-US" sz="3600" dirty="0">
                <a:solidFill>
                  <a:srgbClr val="000000"/>
                </a:solidFill>
                <a:latin typeface="Calibri"/>
              </a:rPr>
              <a:t>Growth mixture modeling</a:t>
            </a:r>
          </a:p>
        </p:txBody>
      </p:sp>
      <p:sp>
        <p:nvSpPr>
          <p:cNvPr id="36" name="Content Placeholder 10">
            <a:extLst>
              <a:ext uri="{FF2B5EF4-FFF2-40B4-BE49-F238E27FC236}">
                <a16:creationId xmlns:a16="http://schemas.microsoft.com/office/drawing/2014/main" id="{F406B310-C637-4F03-8EFE-86E72C16A65E}"/>
              </a:ext>
            </a:extLst>
          </p:cNvPr>
          <p:cNvSpPr>
            <a:spLocks noGrp="1"/>
          </p:cNvSpPr>
          <p:nvPr>
            <p:ph idx="1"/>
          </p:nvPr>
        </p:nvSpPr>
        <p:spPr>
          <a:xfrm>
            <a:off x="5133974" y="420872"/>
            <a:ext cx="6418727" cy="1286539"/>
          </a:xfrm>
        </p:spPr>
        <p:txBody>
          <a:bodyPr>
            <a:normAutofit/>
          </a:bodyPr>
          <a:lstStyle/>
          <a:p>
            <a:r>
              <a:rPr lang="en-US" dirty="0">
                <a:latin typeface="Calibri" panose="020F0502020204030204" pitchFamily="34" charset="0"/>
                <a:ea typeface="Calibri" panose="020F0502020204030204" pitchFamily="34" charset="0"/>
                <a:cs typeface="Calibri" panose="020F0502020204030204" pitchFamily="34" charset="0"/>
              </a:rPr>
              <a:t>RQ: How does depression manifest developmentally? </a:t>
            </a:r>
          </a:p>
          <a:p>
            <a:r>
              <a:rPr lang="en-US" dirty="0">
                <a:latin typeface="Calibri" panose="020F0502020204030204" pitchFamily="34" charset="0"/>
                <a:ea typeface="Calibri" panose="020F0502020204030204" pitchFamily="34" charset="0"/>
                <a:cs typeface="Calibri" panose="020F0502020204030204" pitchFamily="34" charset="0"/>
              </a:rPr>
              <a:t>Example: Do all people follow the same trajectory?</a:t>
            </a:r>
          </a:p>
        </p:txBody>
      </p:sp>
      <p:pic>
        <p:nvPicPr>
          <p:cNvPr id="5" name="Content Placeholder 4" descr="Diagram&#10;&#10;Description automatically generated">
            <a:extLst>
              <a:ext uri="{FF2B5EF4-FFF2-40B4-BE49-F238E27FC236}">
                <a16:creationId xmlns:a16="http://schemas.microsoft.com/office/drawing/2014/main" id="{C811E736-F480-47A3-B96F-6276DBA4566B}"/>
              </a:ext>
            </a:extLst>
          </p:cNvPr>
          <p:cNvPicPr>
            <a:picLocks noChangeAspect="1"/>
          </p:cNvPicPr>
          <p:nvPr/>
        </p:nvPicPr>
        <p:blipFill rotWithShape="1">
          <a:blip r:embed="rId2"/>
          <a:stretch/>
        </p:blipFill>
        <p:spPr>
          <a:xfrm>
            <a:off x="1320756" y="2024860"/>
            <a:ext cx="4124325" cy="4152900"/>
          </a:xfrm>
          <a:prstGeom prst="rect">
            <a:avLst/>
          </a:prstGeom>
        </p:spPr>
      </p:pic>
      <p:pic>
        <p:nvPicPr>
          <p:cNvPr id="7" name="Picture 6" descr="Chart, line chart&#10;&#10;Description automatically generated">
            <a:extLst>
              <a:ext uri="{FF2B5EF4-FFF2-40B4-BE49-F238E27FC236}">
                <a16:creationId xmlns:a16="http://schemas.microsoft.com/office/drawing/2014/main" id="{D59C9A01-C3D6-49D9-AE7C-167F5E50D44A}"/>
              </a:ext>
            </a:extLst>
          </p:cNvPr>
          <p:cNvPicPr>
            <a:picLocks noChangeAspect="1"/>
          </p:cNvPicPr>
          <p:nvPr/>
        </p:nvPicPr>
        <p:blipFill rotWithShape="1">
          <a:blip r:embed="rId3"/>
          <a:stretch/>
        </p:blipFill>
        <p:spPr>
          <a:xfrm>
            <a:off x="5937163" y="2207860"/>
            <a:ext cx="5189164" cy="3572675"/>
          </a:xfrm>
          <a:prstGeom prst="rect">
            <a:avLst/>
          </a:prstGeom>
        </p:spPr>
      </p:pic>
    </p:spTree>
    <p:extLst>
      <p:ext uri="{BB962C8B-B14F-4D97-AF65-F5344CB8AC3E}">
        <p14:creationId xmlns:p14="http://schemas.microsoft.com/office/powerpoint/2010/main" val="113062767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Box 3"/>
          <p:cNvSpPr txBox="1"/>
          <p:nvPr/>
        </p:nvSpPr>
        <p:spPr>
          <a:xfrm>
            <a:off x="722020" y="204061"/>
            <a:ext cx="11283934" cy="646331"/>
          </a:xfrm>
          <a:prstGeom prst="rect">
            <a:avLst/>
          </a:prstGeom>
          <a:noFill/>
        </p:spPr>
        <p:txBody>
          <a:bodyPr wrap="square">
            <a:spAutoFit/>
          </a:bodyPr>
          <a:lstStyle/>
          <a:p>
            <a:pPr algn="l"/>
            <a:r>
              <a:rPr sz="3600" b="0" dirty="0">
                <a:solidFill>
                  <a:srgbClr val="000000"/>
                </a:solidFill>
                <a:latin typeface="Calibri"/>
              </a:rPr>
              <a:t>Growth Mixture Modeling: Building Intuition</a:t>
            </a:r>
          </a:p>
        </p:txBody>
      </p:sp>
      <p:sp>
        <p:nvSpPr>
          <p:cNvPr id="6" name="TextBox 5"/>
          <p:cNvSpPr txBox="1"/>
          <p:nvPr/>
        </p:nvSpPr>
        <p:spPr>
          <a:xfrm>
            <a:off x="805146" y="882396"/>
            <a:ext cx="10690167" cy="5093702"/>
          </a:xfrm>
          <a:prstGeom prst="rect">
            <a:avLst/>
          </a:prstGeom>
          <a:noFill/>
        </p:spPr>
        <p:txBody>
          <a:bodyPr wrap="square">
            <a:spAutoFit/>
          </a:bodyPr>
          <a:lstStyle/>
          <a:p>
            <a:pPr algn="l">
              <a:spcBef>
                <a:spcPts val="800"/>
              </a:spcBef>
            </a:pPr>
            <a:r>
              <a:rPr sz="2000" b="1" i="0" dirty="0">
                <a:solidFill>
                  <a:srgbClr val="000000"/>
                </a:solidFill>
                <a:latin typeface="Calibri"/>
              </a:rPr>
              <a:t>Question: Does everyone follow the same trajectory over time?</a:t>
            </a:r>
            <a:r>
              <a:rPr lang="en-US" sz="2000" b="1" i="0" dirty="0">
                <a:solidFill>
                  <a:srgbClr val="000000"/>
                </a:solidFill>
                <a:latin typeface="Calibri"/>
              </a:rPr>
              <a:t> </a:t>
            </a:r>
            <a:endParaRPr sz="2000" b="1" i="0" dirty="0">
              <a:solidFill>
                <a:srgbClr val="000000"/>
              </a:solidFill>
              <a:latin typeface="Calibri"/>
            </a:endParaRPr>
          </a:p>
          <a:p>
            <a:pPr algn="l"/>
            <a:r>
              <a:rPr sz="2000" b="0" i="0" dirty="0">
                <a:solidFill>
                  <a:srgbClr val="323232"/>
                </a:solidFill>
                <a:latin typeface="Calibri"/>
              </a:rPr>
              <a:t>A standard latent growth model assumes ONE average trajectory for everyone. GMM relaxes this — it allows for MULTIPLE distinct trajectories.</a:t>
            </a:r>
          </a:p>
          <a:p>
            <a:pPr algn="l">
              <a:spcBef>
                <a:spcPts val="600"/>
              </a:spcBef>
            </a:pPr>
            <a:r>
              <a:rPr sz="2000" b="1" i="0" dirty="0">
                <a:solidFill>
                  <a:srgbClr val="1F497D"/>
                </a:solidFill>
                <a:latin typeface="Calibri"/>
              </a:rPr>
              <a:t>EXAMPLE: Depression Trajectories After Divorce</a:t>
            </a:r>
          </a:p>
          <a:p>
            <a:pPr algn="l"/>
            <a:r>
              <a:rPr sz="2000" b="0" i="0" dirty="0">
                <a:solidFill>
                  <a:srgbClr val="323232"/>
                </a:solidFill>
                <a:latin typeface="Calibri"/>
              </a:rPr>
              <a:t>You track depression monthly for 2 years in 500 recently divorced adults. A standard growth model might show: on average, depression decreases over time.</a:t>
            </a:r>
          </a:p>
          <a:p>
            <a:pPr algn="l"/>
            <a:endParaRPr sz="2000" b="0" i="0" dirty="0">
              <a:solidFill>
                <a:srgbClr val="323232"/>
              </a:solidFill>
              <a:latin typeface="Calibri"/>
            </a:endParaRPr>
          </a:p>
          <a:p>
            <a:pPr algn="l"/>
            <a:r>
              <a:rPr sz="2000" b="0" i="0" dirty="0">
                <a:solidFill>
                  <a:srgbClr val="323232"/>
                </a:solidFill>
                <a:latin typeface="Calibri"/>
              </a:rPr>
              <a:t>But GMM might reveal:</a:t>
            </a:r>
          </a:p>
          <a:p>
            <a:pPr algn="l"/>
            <a:r>
              <a:rPr sz="2000" b="0" i="0" dirty="0">
                <a:solidFill>
                  <a:srgbClr val="323232"/>
                </a:solidFill>
                <a:latin typeface="Calibri"/>
              </a:rPr>
              <a:t>•  Class 1 (60%): Recovery group — high initial depression, steady decline to normal</a:t>
            </a:r>
          </a:p>
          <a:p>
            <a:pPr algn="l"/>
            <a:r>
              <a:rPr sz="2000" b="0" i="0" dirty="0">
                <a:solidFill>
                  <a:srgbClr val="323232"/>
                </a:solidFill>
                <a:latin typeface="Calibri"/>
              </a:rPr>
              <a:t>•  Class 2 (25%): Resilient group — low depression throughout, minimal change</a:t>
            </a:r>
          </a:p>
          <a:p>
            <a:pPr algn="l"/>
            <a:r>
              <a:rPr sz="2000" b="0" i="0" dirty="0">
                <a:solidFill>
                  <a:srgbClr val="323232"/>
                </a:solidFill>
                <a:latin typeface="Calibri"/>
              </a:rPr>
              <a:t>•  Class 3 (15%): Chronic group — high and stable depression, never recovers</a:t>
            </a:r>
          </a:p>
          <a:p>
            <a:pPr algn="l"/>
            <a:endParaRPr sz="2000" b="0" i="0" dirty="0">
              <a:solidFill>
                <a:srgbClr val="323232"/>
              </a:solidFill>
              <a:latin typeface="Calibri"/>
            </a:endParaRPr>
          </a:p>
          <a:p>
            <a:pPr algn="l"/>
            <a:r>
              <a:rPr sz="2000" b="0" i="0" dirty="0">
                <a:solidFill>
                  <a:srgbClr val="323232"/>
                </a:solidFill>
                <a:latin typeface="Calibri"/>
              </a:rPr>
              <a:t>The average trajectory hides the chronic group! They look like they'll recover 'on average,' but they never do. GMM reveals this important subgroup.</a:t>
            </a:r>
          </a:p>
          <a:p>
            <a:pPr algn="l"/>
            <a:endParaRPr sz="2000" b="0" i="0" dirty="0">
              <a:solidFill>
                <a:srgbClr val="323232"/>
              </a:solidFill>
              <a:latin typeface="Calibri"/>
            </a:endParaRPr>
          </a:p>
          <a:p>
            <a:pPr algn="l"/>
            <a:r>
              <a:rPr sz="2000" b="0" i="0" dirty="0">
                <a:solidFill>
                  <a:srgbClr val="323232"/>
                </a:solidFill>
                <a:latin typeface="Calibri"/>
              </a:rPr>
              <a:t>This is called 'heterogeneity in trajectories' — the population is not homogeneous.</a:t>
            </a:r>
          </a:p>
        </p:txBody>
      </p:sp>
    </p:spTree>
    <p:extLst>
      <p:ext uri="{BB962C8B-B14F-4D97-AF65-F5344CB8AC3E}">
        <p14:creationId xmlns:p14="http://schemas.microsoft.com/office/powerpoint/2010/main" val="159506404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87DDE5F-3A39-49F9-8570-2AE20D4876DB}"/>
              </a:ext>
            </a:extLst>
          </p:cNvPr>
          <p:cNvSpPr>
            <a:spLocks noGrp="1"/>
          </p:cNvSpPr>
          <p:nvPr>
            <p:ph type="title"/>
          </p:nvPr>
        </p:nvSpPr>
        <p:spPr>
          <a:xfrm>
            <a:off x="685799" y="902447"/>
            <a:ext cx="4316507" cy="1928741"/>
          </a:xfrm>
        </p:spPr>
        <p:txBody>
          <a:bodyPr>
            <a:normAutofit/>
          </a:bodyPr>
          <a:lstStyle/>
          <a:p>
            <a:pPr algn="l"/>
            <a:r>
              <a:rPr lang="en-US" dirty="0">
                <a:solidFill>
                  <a:srgbClr val="000000"/>
                </a:solidFill>
                <a:latin typeface="Calibri"/>
              </a:rPr>
              <a:t>Growth Mixture Modeling</a:t>
            </a:r>
            <a:endParaRPr lang="en-US" dirty="0"/>
          </a:p>
        </p:txBody>
      </p:sp>
      <p:sp>
        <p:nvSpPr>
          <p:cNvPr id="3" name="Content Placeholder 2">
            <a:extLst>
              <a:ext uri="{FF2B5EF4-FFF2-40B4-BE49-F238E27FC236}">
                <a16:creationId xmlns:a16="http://schemas.microsoft.com/office/drawing/2014/main" id="{19DB4BEE-A654-40D1-ABB1-699EEAFFDC21}"/>
              </a:ext>
            </a:extLst>
          </p:cNvPr>
          <p:cNvSpPr>
            <a:spLocks noGrp="1"/>
          </p:cNvSpPr>
          <p:nvPr>
            <p:ph idx="1"/>
          </p:nvPr>
        </p:nvSpPr>
        <p:spPr>
          <a:xfrm>
            <a:off x="5562600" y="457200"/>
            <a:ext cx="5943600" cy="2582391"/>
          </a:xfrm>
        </p:spPr>
        <p:txBody>
          <a:bodyPr>
            <a:normAutofit/>
          </a:bodyPr>
          <a:lstStyle/>
          <a:p>
            <a:pPr>
              <a:lnSpc>
                <a:spcPct val="110000"/>
              </a:lnSpc>
            </a:pPr>
            <a:r>
              <a:rPr lang="en-US" dirty="0">
                <a:latin typeface="Calibri" panose="020F0502020204030204" pitchFamily="34" charset="0"/>
                <a:ea typeface="Calibri" panose="020F0502020204030204" pitchFamily="34" charset="0"/>
                <a:cs typeface="Calibri" panose="020F0502020204030204" pitchFamily="34" charset="0"/>
              </a:rPr>
              <a:t>Goals were to explore</a:t>
            </a:r>
          </a:p>
          <a:p>
            <a:pPr lvl="1">
              <a:lnSpc>
                <a:spcPct val="110000"/>
              </a:lnSpc>
            </a:pPr>
            <a:r>
              <a:rPr lang="en-US" sz="2000" b="0" i="0" dirty="0">
                <a:effectLst/>
                <a:latin typeface="Calibri" panose="020F0502020204030204" pitchFamily="34" charset="0"/>
                <a:ea typeface="Calibri" panose="020F0502020204030204" pitchFamily="34" charset="0"/>
                <a:cs typeface="Calibri" panose="020F0502020204030204" pitchFamily="34" charset="0"/>
              </a:rPr>
              <a:t>Potential heterogeneity in </a:t>
            </a:r>
            <a:r>
              <a:rPr lang="en-US" sz="2000" b="1" i="0" dirty="0">
                <a:effectLst/>
                <a:latin typeface="Calibri" panose="020F0502020204030204" pitchFamily="34" charset="0"/>
                <a:ea typeface="Calibri" panose="020F0502020204030204" pitchFamily="34" charset="0"/>
                <a:cs typeface="Calibri" panose="020F0502020204030204" pitchFamily="34" charset="0"/>
              </a:rPr>
              <a:t>dual trajectories </a:t>
            </a:r>
            <a:r>
              <a:rPr lang="en-US" sz="2000" b="0" i="0" dirty="0">
                <a:effectLst/>
                <a:latin typeface="Calibri" panose="020F0502020204030204" pitchFamily="34" charset="0"/>
                <a:ea typeface="Calibri" panose="020F0502020204030204" pitchFamily="34" charset="0"/>
                <a:cs typeface="Calibri" panose="020F0502020204030204" pitchFamily="34" charset="0"/>
              </a:rPr>
              <a:t>of PSE and depressive symptoms among first-time postpartum mothers and</a:t>
            </a:r>
          </a:p>
          <a:p>
            <a:pPr lvl="1">
              <a:lnSpc>
                <a:spcPct val="110000"/>
              </a:lnSpc>
            </a:pPr>
            <a:r>
              <a:rPr lang="en-US" sz="2000" b="0" i="0" dirty="0">
                <a:effectLst/>
                <a:latin typeface="Calibri" panose="020F0502020204030204" pitchFamily="34" charset="0"/>
                <a:ea typeface="Calibri" panose="020F0502020204030204" pitchFamily="34" charset="0"/>
                <a:cs typeface="Calibri" panose="020F0502020204030204" pitchFamily="34" charset="0"/>
              </a:rPr>
              <a:t>Whether the dual trajectory classes are differentially associated with poor outcomes in early childhood</a:t>
            </a:r>
            <a:endParaRPr lang="en-US" sz="2000" dirty="0">
              <a:latin typeface="Calibri" panose="020F0502020204030204" pitchFamily="34" charset="0"/>
              <a:ea typeface="Calibri" panose="020F0502020204030204" pitchFamily="34" charset="0"/>
              <a:cs typeface="Calibri" panose="020F0502020204030204" pitchFamily="34" charset="0"/>
            </a:endParaRPr>
          </a:p>
        </p:txBody>
      </p:sp>
      <p:pic>
        <p:nvPicPr>
          <p:cNvPr id="4" name="Picture 3" descr="Diagram&#10;&#10;Description automatically generated">
            <a:extLst>
              <a:ext uri="{FF2B5EF4-FFF2-40B4-BE49-F238E27FC236}">
                <a16:creationId xmlns:a16="http://schemas.microsoft.com/office/drawing/2014/main" id="{DA2408A4-DCF0-4DE8-B164-193D4723B498}"/>
              </a:ext>
            </a:extLst>
          </p:cNvPr>
          <p:cNvPicPr>
            <a:picLocks noChangeAspect="1"/>
          </p:cNvPicPr>
          <p:nvPr/>
        </p:nvPicPr>
        <p:blipFill rotWithShape="1">
          <a:blip r:embed="rId2"/>
          <a:srcRect b="22080"/>
          <a:stretch/>
        </p:blipFill>
        <p:spPr>
          <a:xfrm>
            <a:off x="809065" y="3039591"/>
            <a:ext cx="10582835" cy="2762458"/>
          </a:xfrm>
          <a:prstGeom prst="rect">
            <a:avLst/>
          </a:prstGeom>
        </p:spPr>
      </p:pic>
      <p:sp>
        <p:nvSpPr>
          <p:cNvPr id="24" name="TextBox 23">
            <a:extLst>
              <a:ext uri="{FF2B5EF4-FFF2-40B4-BE49-F238E27FC236}">
                <a16:creationId xmlns:a16="http://schemas.microsoft.com/office/drawing/2014/main" id="{57FE8CF4-F126-4E36-970A-084F34D46F0C}"/>
              </a:ext>
            </a:extLst>
          </p:cNvPr>
          <p:cNvSpPr txBox="1"/>
          <p:nvPr/>
        </p:nvSpPr>
        <p:spPr>
          <a:xfrm>
            <a:off x="222030" y="6172326"/>
            <a:ext cx="11497003" cy="607539"/>
          </a:xfrm>
          <a:prstGeom prst="rect">
            <a:avLst/>
          </a:prstGeom>
          <a:noFill/>
        </p:spPr>
        <p:txBody>
          <a:bodyPr wrap="square">
            <a:spAutoFit/>
          </a:bodyPr>
          <a:lstStyle/>
          <a:p>
            <a:pPr marL="0" marR="0">
              <a:lnSpc>
                <a:spcPct val="107000"/>
              </a:lnSpc>
              <a:spcBef>
                <a:spcPts val="0"/>
              </a:spcBef>
              <a:spcAft>
                <a:spcPts val="800"/>
              </a:spcAft>
            </a:pPr>
            <a:r>
              <a:rPr lang="en-US" sz="1600" dirty="0">
                <a:effectLst/>
                <a:latin typeface="Calibri" panose="020F0502020204030204" pitchFamily="34" charset="0"/>
                <a:ea typeface="Calibri" panose="020F0502020204030204" pitchFamily="34" charset="0"/>
                <a:cs typeface="Times New Roman" panose="02020603050405020304" pitchFamily="18" charset="0"/>
              </a:rPr>
              <a:t>Barboza, G. E., &amp; </a:t>
            </a:r>
            <a:r>
              <a:rPr lang="en-US" sz="1600" dirty="0" err="1">
                <a:effectLst/>
                <a:latin typeface="Calibri" panose="020F0502020204030204" pitchFamily="34" charset="0"/>
                <a:ea typeface="Calibri" panose="020F0502020204030204" pitchFamily="34" charset="0"/>
                <a:cs typeface="Times New Roman" panose="02020603050405020304" pitchFamily="18" charset="0"/>
              </a:rPr>
              <a:t>Schiamberg</a:t>
            </a:r>
            <a:r>
              <a:rPr lang="en-US" sz="1600" dirty="0">
                <a:effectLst/>
                <a:latin typeface="Calibri" panose="020F0502020204030204" pitchFamily="34" charset="0"/>
                <a:ea typeface="Calibri" panose="020F0502020204030204" pitchFamily="34" charset="0"/>
                <a:cs typeface="Times New Roman" panose="02020603050405020304" pitchFamily="18" charset="0"/>
              </a:rPr>
              <a:t>, L. (2021). Dual trajectories of parenting self‐efficacy and depressive symptoms in new, postpartum mothers and socioemotional adjustment in early childhood: A growth mixture model. Infant mental health journal, 42(5), 636-654.</a:t>
            </a:r>
          </a:p>
        </p:txBody>
      </p:sp>
    </p:spTree>
    <p:extLst>
      <p:ext uri="{BB962C8B-B14F-4D97-AF65-F5344CB8AC3E}">
        <p14:creationId xmlns:p14="http://schemas.microsoft.com/office/powerpoint/2010/main" val="251065836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Box 3"/>
          <p:cNvSpPr txBox="1"/>
          <p:nvPr/>
        </p:nvSpPr>
        <p:spPr>
          <a:xfrm>
            <a:off x="722020" y="235818"/>
            <a:ext cx="8412480" cy="646331"/>
          </a:xfrm>
          <a:prstGeom prst="rect">
            <a:avLst/>
          </a:prstGeom>
          <a:noFill/>
        </p:spPr>
        <p:txBody>
          <a:bodyPr wrap="square">
            <a:spAutoFit/>
          </a:bodyPr>
          <a:lstStyle/>
          <a:p>
            <a:pPr algn="l"/>
            <a:r>
              <a:rPr sz="3600" b="0" dirty="0">
                <a:solidFill>
                  <a:srgbClr val="000000"/>
                </a:solidFill>
                <a:latin typeface="Calibri"/>
              </a:rPr>
              <a:t>Reading a GMM Study: What to Look For</a:t>
            </a:r>
          </a:p>
        </p:txBody>
      </p:sp>
      <p:sp>
        <p:nvSpPr>
          <p:cNvPr id="6" name="TextBox 5"/>
          <p:cNvSpPr txBox="1"/>
          <p:nvPr/>
        </p:nvSpPr>
        <p:spPr>
          <a:xfrm>
            <a:off x="722020" y="882149"/>
            <a:ext cx="10844546" cy="5093702"/>
          </a:xfrm>
          <a:prstGeom prst="rect">
            <a:avLst/>
          </a:prstGeom>
          <a:noFill/>
        </p:spPr>
        <p:txBody>
          <a:bodyPr wrap="square">
            <a:spAutoFit/>
          </a:bodyPr>
          <a:lstStyle/>
          <a:p>
            <a:pPr algn="l">
              <a:spcBef>
                <a:spcPts val="800"/>
              </a:spcBef>
            </a:pPr>
            <a:r>
              <a:rPr sz="2000" b="1" i="0" dirty="0">
                <a:solidFill>
                  <a:srgbClr val="000000"/>
                </a:solidFill>
                <a:latin typeface="Calibri"/>
              </a:rPr>
              <a:t>Barboza &amp; Schiamberg 2021:</a:t>
            </a:r>
          </a:p>
          <a:p>
            <a:pPr algn="l"/>
            <a:r>
              <a:rPr lang="en-US" sz="2000" b="0" i="0" dirty="0">
                <a:solidFill>
                  <a:srgbClr val="323232"/>
                </a:solidFill>
                <a:latin typeface="Calibri"/>
              </a:rPr>
              <a:t>• </a:t>
            </a:r>
            <a:r>
              <a:rPr sz="2000" b="0" i="0" dirty="0">
                <a:solidFill>
                  <a:srgbClr val="323232"/>
                </a:solidFill>
                <a:latin typeface="Calibri"/>
              </a:rPr>
              <a:t> What outcomes were modeled? (e.g., PSE and depressive symptoms)</a:t>
            </a:r>
          </a:p>
          <a:p>
            <a:pPr algn="l"/>
            <a:r>
              <a:rPr sz="2000" b="0" i="0" dirty="0">
                <a:solidFill>
                  <a:srgbClr val="323232"/>
                </a:solidFill>
                <a:latin typeface="Calibri"/>
              </a:rPr>
              <a:t>•  What time points were included? (e.g., 1 month, 3 months, 6 months postpartum)</a:t>
            </a:r>
          </a:p>
          <a:p>
            <a:pPr algn="l"/>
            <a:r>
              <a:rPr sz="2000" b="0" i="0" dirty="0">
                <a:solidFill>
                  <a:srgbClr val="323232"/>
                </a:solidFill>
                <a:latin typeface="Calibri"/>
              </a:rPr>
              <a:t>•  How many classes did they find, and what are the trajectory shapes?</a:t>
            </a:r>
          </a:p>
          <a:p>
            <a:pPr algn="l"/>
            <a:r>
              <a:rPr sz="2000" b="0" i="0" dirty="0">
                <a:solidFill>
                  <a:srgbClr val="323232"/>
                </a:solidFill>
                <a:latin typeface="Calibri"/>
              </a:rPr>
              <a:t>•  What are the class prevalences? (e.g., 60% in Class 1)</a:t>
            </a:r>
          </a:p>
          <a:p>
            <a:pPr algn="l"/>
            <a:r>
              <a:rPr sz="2000" b="0" i="0" dirty="0">
                <a:solidFill>
                  <a:srgbClr val="323232"/>
                </a:solidFill>
                <a:latin typeface="Calibri"/>
              </a:rPr>
              <a:t>•  How did they validate the classes? (predictive validity, external outcomes)</a:t>
            </a:r>
          </a:p>
          <a:p>
            <a:pPr algn="l">
              <a:spcBef>
                <a:spcPts val="600"/>
              </a:spcBef>
            </a:pPr>
            <a:r>
              <a:rPr sz="2000" b="1" i="0" dirty="0">
                <a:solidFill>
                  <a:srgbClr val="1F497D"/>
                </a:solidFill>
                <a:latin typeface="Calibri"/>
              </a:rPr>
              <a:t>WHAT DUAL TRAJECTORY MEANS</a:t>
            </a:r>
          </a:p>
          <a:p>
            <a:pPr algn="l"/>
            <a:r>
              <a:rPr sz="2000" b="0" i="0" dirty="0">
                <a:solidFill>
                  <a:srgbClr val="323232"/>
                </a:solidFill>
                <a:latin typeface="Calibri"/>
              </a:rPr>
              <a:t>A 'dual trajectory' model simultaneously estimates two growth curves (PSE and depression) and finds classes that reflect combinations of both trajectories.</a:t>
            </a:r>
          </a:p>
          <a:p>
            <a:pPr algn="l"/>
            <a:endParaRPr sz="2000" b="0" i="0" dirty="0">
              <a:solidFill>
                <a:srgbClr val="323232"/>
              </a:solidFill>
              <a:latin typeface="Calibri"/>
            </a:endParaRPr>
          </a:p>
          <a:p>
            <a:pPr algn="l"/>
            <a:r>
              <a:rPr sz="2000" b="1" i="0" dirty="0">
                <a:solidFill>
                  <a:srgbClr val="323232"/>
                </a:solidFill>
                <a:latin typeface="Calibri"/>
              </a:rPr>
              <a:t>For example: </a:t>
            </a:r>
            <a:r>
              <a:rPr sz="2000" b="0" i="0" dirty="0">
                <a:solidFill>
                  <a:srgbClr val="323232"/>
                </a:solidFill>
                <a:latin typeface="Calibri"/>
              </a:rPr>
              <a:t>Class 1 might have HIGH PSE that stays high + LOW depression that stays low. Class 3 might have LOW PSE that declines further + HIGH depression that worsens. These are 'joint' patterns across both outcomes simultaneously.</a:t>
            </a:r>
          </a:p>
          <a:p>
            <a:pPr algn="l"/>
            <a:endParaRPr sz="2000" b="0" i="0" dirty="0">
              <a:solidFill>
                <a:srgbClr val="323232"/>
              </a:solidFill>
              <a:latin typeface="Calibri"/>
            </a:endParaRPr>
          </a:p>
          <a:p>
            <a:pPr algn="l"/>
            <a:r>
              <a:rPr sz="2000" b="0" i="0" dirty="0">
                <a:solidFill>
                  <a:srgbClr val="323232"/>
                </a:solidFill>
                <a:latin typeface="Calibri"/>
              </a:rPr>
              <a:t>This is more informative than looking at each outcome separately — it captures how the two developmental processes co-occur.</a:t>
            </a:r>
          </a:p>
        </p:txBody>
      </p:sp>
    </p:spTree>
    <p:extLst>
      <p:ext uri="{BB962C8B-B14F-4D97-AF65-F5344CB8AC3E}">
        <p14:creationId xmlns:p14="http://schemas.microsoft.com/office/powerpoint/2010/main" val="387917092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87DDE5F-3A39-49F9-8570-2AE20D4876DB}"/>
              </a:ext>
            </a:extLst>
          </p:cNvPr>
          <p:cNvSpPr>
            <a:spLocks noGrp="1"/>
          </p:cNvSpPr>
          <p:nvPr>
            <p:ph type="title"/>
          </p:nvPr>
        </p:nvSpPr>
        <p:spPr>
          <a:xfrm>
            <a:off x="685799" y="902447"/>
            <a:ext cx="4316507" cy="1928741"/>
          </a:xfrm>
        </p:spPr>
        <p:txBody>
          <a:bodyPr>
            <a:normAutofit/>
          </a:bodyPr>
          <a:lstStyle/>
          <a:p>
            <a:pPr algn="l"/>
            <a:r>
              <a:rPr lang="en-US" dirty="0">
                <a:solidFill>
                  <a:srgbClr val="000000"/>
                </a:solidFill>
                <a:latin typeface="Calibri"/>
              </a:rPr>
              <a:t>Growth Mixture Modeling</a:t>
            </a:r>
          </a:p>
        </p:txBody>
      </p:sp>
      <p:sp>
        <p:nvSpPr>
          <p:cNvPr id="3" name="Content Placeholder 2">
            <a:extLst>
              <a:ext uri="{FF2B5EF4-FFF2-40B4-BE49-F238E27FC236}">
                <a16:creationId xmlns:a16="http://schemas.microsoft.com/office/drawing/2014/main" id="{19DB4BEE-A654-40D1-ABB1-699EEAFFDC21}"/>
              </a:ext>
            </a:extLst>
          </p:cNvPr>
          <p:cNvSpPr>
            <a:spLocks noGrp="1"/>
          </p:cNvSpPr>
          <p:nvPr>
            <p:ph idx="1"/>
          </p:nvPr>
        </p:nvSpPr>
        <p:spPr>
          <a:xfrm>
            <a:off x="5562600" y="968377"/>
            <a:ext cx="5943600" cy="1732182"/>
          </a:xfrm>
        </p:spPr>
        <p:txBody>
          <a:bodyPr>
            <a:normAutofit/>
          </a:bodyPr>
          <a:lstStyle/>
          <a:p>
            <a:pPr>
              <a:lnSpc>
                <a:spcPct val="110000"/>
              </a:lnSpc>
            </a:pPr>
            <a:r>
              <a:rPr lang="en-US" dirty="0">
                <a:latin typeface="Calibri" panose="020F0502020204030204" pitchFamily="34" charset="0"/>
                <a:ea typeface="Calibri" panose="020F0502020204030204" pitchFamily="34" charset="0"/>
                <a:cs typeface="Calibri" panose="020F0502020204030204" pitchFamily="34" charset="0"/>
              </a:rPr>
              <a:t>Three classes of dual trajectories found</a:t>
            </a:r>
          </a:p>
          <a:p>
            <a:pPr>
              <a:lnSpc>
                <a:spcPct val="110000"/>
              </a:lnSpc>
            </a:pPr>
            <a:r>
              <a:rPr lang="en-US" dirty="0">
                <a:latin typeface="Calibri" panose="020F0502020204030204" pitchFamily="34" charset="0"/>
                <a:ea typeface="Calibri" panose="020F0502020204030204" pitchFamily="34" charset="0"/>
                <a:cs typeface="Calibri" panose="020F0502020204030204" pitchFamily="34" charset="0"/>
              </a:rPr>
              <a:t>Predictive validity established as low-risk classes had very low levels of moderate to severe depression compared to the high-risk classes</a:t>
            </a:r>
          </a:p>
        </p:txBody>
      </p:sp>
      <p:sp>
        <p:nvSpPr>
          <p:cNvPr id="24" name="TextBox 23">
            <a:extLst>
              <a:ext uri="{FF2B5EF4-FFF2-40B4-BE49-F238E27FC236}">
                <a16:creationId xmlns:a16="http://schemas.microsoft.com/office/drawing/2014/main" id="{57FE8CF4-F126-4E36-970A-084F34D46F0C}"/>
              </a:ext>
            </a:extLst>
          </p:cNvPr>
          <p:cNvSpPr txBox="1"/>
          <p:nvPr/>
        </p:nvSpPr>
        <p:spPr>
          <a:xfrm>
            <a:off x="329359" y="5955553"/>
            <a:ext cx="11497003" cy="607539"/>
          </a:xfrm>
          <a:prstGeom prst="rect">
            <a:avLst/>
          </a:prstGeom>
          <a:noFill/>
        </p:spPr>
        <p:txBody>
          <a:bodyPr wrap="square">
            <a:spAutoFit/>
          </a:bodyPr>
          <a:lstStyle/>
          <a:p>
            <a:pPr marL="0" marR="0">
              <a:lnSpc>
                <a:spcPct val="107000"/>
              </a:lnSpc>
              <a:spcBef>
                <a:spcPts val="0"/>
              </a:spcBef>
              <a:spcAft>
                <a:spcPts val="800"/>
              </a:spcAft>
            </a:pPr>
            <a:r>
              <a:rPr lang="en-US" sz="1600" dirty="0">
                <a:effectLst/>
                <a:latin typeface="Calibri" panose="020F0502020204030204" pitchFamily="34" charset="0"/>
                <a:ea typeface="Calibri" panose="020F0502020204030204" pitchFamily="34" charset="0"/>
                <a:cs typeface="Times New Roman" panose="02020603050405020304" pitchFamily="18" charset="0"/>
              </a:rPr>
              <a:t>Barboza, G. E., &amp; </a:t>
            </a:r>
            <a:r>
              <a:rPr lang="en-US" sz="1600" dirty="0" err="1">
                <a:effectLst/>
                <a:latin typeface="Calibri" panose="020F0502020204030204" pitchFamily="34" charset="0"/>
                <a:ea typeface="Calibri" panose="020F0502020204030204" pitchFamily="34" charset="0"/>
                <a:cs typeface="Times New Roman" panose="02020603050405020304" pitchFamily="18" charset="0"/>
              </a:rPr>
              <a:t>Schiamberg</a:t>
            </a:r>
            <a:r>
              <a:rPr lang="en-US" sz="1600" dirty="0">
                <a:effectLst/>
                <a:latin typeface="Calibri" panose="020F0502020204030204" pitchFamily="34" charset="0"/>
                <a:ea typeface="Calibri" panose="020F0502020204030204" pitchFamily="34" charset="0"/>
                <a:cs typeface="Times New Roman" panose="02020603050405020304" pitchFamily="18" charset="0"/>
              </a:rPr>
              <a:t>, L. (2021). Dual trajectories of parenting self‐efficacy and depressive symptoms in new, postpartum mothers and socioemotional adjustment in early childhood: A growth mixture model. Infant mental health journal, 42(5), 636-654.</a:t>
            </a:r>
          </a:p>
        </p:txBody>
      </p:sp>
      <p:pic>
        <p:nvPicPr>
          <p:cNvPr id="9" name="Picture 8" descr="Chart, line chart&#10;&#10;Description automatically generated">
            <a:extLst>
              <a:ext uri="{FF2B5EF4-FFF2-40B4-BE49-F238E27FC236}">
                <a16:creationId xmlns:a16="http://schemas.microsoft.com/office/drawing/2014/main" id="{BD3EB039-A264-4885-BC5C-1AC741234454}"/>
              </a:ext>
            </a:extLst>
          </p:cNvPr>
          <p:cNvPicPr>
            <a:picLocks noChangeAspect="1"/>
          </p:cNvPicPr>
          <p:nvPr/>
        </p:nvPicPr>
        <p:blipFill rotWithShape="1">
          <a:blip r:embed="rId2"/>
          <a:srcRect r="1856" b="1"/>
          <a:stretch/>
        </p:blipFill>
        <p:spPr>
          <a:xfrm>
            <a:off x="329359" y="2846231"/>
            <a:ext cx="5761878" cy="2700558"/>
          </a:xfrm>
          <a:prstGeom prst="rect">
            <a:avLst/>
          </a:prstGeom>
        </p:spPr>
      </p:pic>
      <p:pic>
        <p:nvPicPr>
          <p:cNvPr id="10" name="Picture 9">
            <a:extLst>
              <a:ext uri="{FF2B5EF4-FFF2-40B4-BE49-F238E27FC236}">
                <a16:creationId xmlns:a16="http://schemas.microsoft.com/office/drawing/2014/main" id="{F30F7CDB-F54C-4B44-B8A3-F76687878937}"/>
              </a:ext>
            </a:extLst>
          </p:cNvPr>
          <p:cNvPicPr>
            <a:picLocks noChangeAspect="1"/>
          </p:cNvPicPr>
          <p:nvPr/>
        </p:nvPicPr>
        <p:blipFill>
          <a:blip r:embed="rId3"/>
          <a:stretch>
            <a:fillRect/>
          </a:stretch>
        </p:blipFill>
        <p:spPr>
          <a:xfrm>
            <a:off x="6100481" y="2857913"/>
            <a:ext cx="5877407" cy="2483203"/>
          </a:xfrm>
          <a:prstGeom prst="rect">
            <a:avLst/>
          </a:prstGeom>
        </p:spPr>
      </p:pic>
      <p:sp>
        <p:nvSpPr>
          <p:cNvPr id="38" name="Rectangle 37"/>
          <p:cNvSpPr/>
          <p:nvPr/>
        </p:nvSpPr>
        <p:spPr>
          <a:xfrm>
            <a:off x="365760" y="4892040"/>
            <a:ext cx="8412480" cy="0"/>
          </a:xfrm>
          <a:prstGeom prst="rect">
            <a:avLst/>
          </a:prstGeom>
          <a:noFill/>
          <a:ln w="19050">
            <a:solidFill>
              <a:srgbClr val="B4B4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53881131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Box 3"/>
          <p:cNvSpPr txBox="1"/>
          <p:nvPr/>
        </p:nvSpPr>
        <p:spPr>
          <a:xfrm>
            <a:off x="786542" y="23751"/>
            <a:ext cx="10618915" cy="646331"/>
          </a:xfrm>
          <a:prstGeom prst="rect">
            <a:avLst/>
          </a:prstGeom>
          <a:noFill/>
        </p:spPr>
        <p:txBody>
          <a:bodyPr wrap="square">
            <a:spAutoFit/>
          </a:bodyPr>
          <a:lstStyle/>
          <a:p>
            <a:pPr algn="l"/>
            <a:r>
              <a:rPr sz="3600" b="0" dirty="0">
                <a:solidFill>
                  <a:srgbClr val="000000"/>
                </a:solidFill>
                <a:latin typeface="Calibri"/>
              </a:rPr>
              <a:t>Interpreting GMM Classes: The Labeling Step</a:t>
            </a:r>
          </a:p>
        </p:txBody>
      </p:sp>
      <p:sp>
        <p:nvSpPr>
          <p:cNvPr id="6" name="TextBox 5"/>
          <p:cNvSpPr txBox="1"/>
          <p:nvPr/>
        </p:nvSpPr>
        <p:spPr>
          <a:xfrm>
            <a:off x="786542" y="670082"/>
            <a:ext cx="10708772" cy="4580741"/>
          </a:xfrm>
          <a:prstGeom prst="rect">
            <a:avLst/>
          </a:prstGeom>
          <a:noFill/>
        </p:spPr>
        <p:txBody>
          <a:bodyPr wrap="square">
            <a:spAutoFit/>
          </a:bodyPr>
          <a:lstStyle/>
          <a:p>
            <a:pPr algn="l">
              <a:spcBef>
                <a:spcPts val="800"/>
              </a:spcBef>
            </a:pPr>
            <a:r>
              <a:rPr sz="2000" b="1" i="0" dirty="0">
                <a:solidFill>
                  <a:srgbClr val="000000"/>
                </a:solidFill>
                <a:latin typeface="Calibri"/>
              </a:rPr>
              <a:t>After finding classes, you must NAME them. This requires judgment:</a:t>
            </a:r>
          </a:p>
          <a:p>
            <a:pPr algn="l">
              <a:spcBef>
                <a:spcPts val="400"/>
              </a:spcBef>
            </a:pPr>
            <a:r>
              <a:rPr sz="2000" b="1" i="0" dirty="0">
                <a:solidFill>
                  <a:srgbClr val="000000"/>
                </a:solidFill>
                <a:latin typeface="Calibri"/>
              </a:rPr>
              <a:t>Step 1: Look at the trajectory shape for each class</a:t>
            </a:r>
          </a:p>
          <a:p>
            <a:pPr algn="l"/>
            <a:r>
              <a:rPr sz="2000" b="0" i="0" dirty="0">
                <a:solidFill>
                  <a:srgbClr val="323232"/>
                </a:solidFill>
                <a:latin typeface="Calibri"/>
              </a:rPr>
              <a:t>•  Is the intercept (starting point) high or low?</a:t>
            </a:r>
          </a:p>
          <a:p>
            <a:pPr algn="l"/>
            <a:r>
              <a:rPr sz="2000" b="0" i="0" dirty="0">
                <a:solidFill>
                  <a:srgbClr val="323232"/>
                </a:solidFill>
                <a:latin typeface="Calibri"/>
              </a:rPr>
              <a:t>•  Is the slope positive (increasing), negative (decreasing), or flat?</a:t>
            </a:r>
          </a:p>
          <a:p>
            <a:pPr algn="l"/>
            <a:r>
              <a:rPr sz="2000" b="0" i="0" dirty="0">
                <a:solidFill>
                  <a:srgbClr val="323232"/>
                </a:solidFill>
                <a:latin typeface="Calibri"/>
              </a:rPr>
              <a:t>•  Is there a quadratic component (curve that accelerates or decelerates)?</a:t>
            </a:r>
          </a:p>
          <a:p>
            <a:pPr algn="l">
              <a:spcBef>
                <a:spcPts val="400"/>
              </a:spcBef>
            </a:pPr>
            <a:r>
              <a:rPr sz="2000" b="1" i="0" dirty="0">
                <a:solidFill>
                  <a:srgbClr val="000000"/>
                </a:solidFill>
                <a:latin typeface="Calibri"/>
              </a:rPr>
              <a:t>Step 2: Label based on the profile</a:t>
            </a:r>
          </a:p>
          <a:p>
            <a:pPr algn="l"/>
            <a:r>
              <a:rPr sz="2000" b="0" i="0" dirty="0">
                <a:solidFill>
                  <a:srgbClr val="323232"/>
                </a:solidFill>
                <a:latin typeface="Calibri"/>
              </a:rPr>
              <a:t>•  'High-stable' = high starting point, slope near zero</a:t>
            </a:r>
          </a:p>
          <a:p>
            <a:pPr algn="l"/>
            <a:r>
              <a:rPr sz="2000" b="0" i="0" dirty="0">
                <a:solidFill>
                  <a:srgbClr val="323232"/>
                </a:solidFill>
                <a:latin typeface="Calibri"/>
              </a:rPr>
              <a:t>•  'Low-recovering' = high start, negative slope, levels off</a:t>
            </a:r>
          </a:p>
          <a:p>
            <a:pPr algn="l"/>
            <a:r>
              <a:rPr sz="2000" b="0" i="0" dirty="0">
                <a:solidFill>
                  <a:srgbClr val="323232"/>
                </a:solidFill>
                <a:latin typeface="Calibri"/>
              </a:rPr>
              <a:t>•  'Resilient' = low throughout</a:t>
            </a:r>
          </a:p>
          <a:p>
            <a:pPr algn="l">
              <a:spcBef>
                <a:spcPts val="600"/>
              </a:spcBef>
            </a:pPr>
            <a:r>
              <a:rPr sz="2000" b="1" i="0" dirty="0">
                <a:solidFill>
                  <a:srgbClr val="1F497D"/>
                </a:solidFill>
                <a:latin typeface="Calibri"/>
              </a:rPr>
              <a:t>BARBOZA &amp; SCHIAMBERG 2021</a:t>
            </a:r>
          </a:p>
          <a:p>
            <a:pPr algn="l"/>
            <a:r>
              <a:rPr sz="2000" b="0" i="0" dirty="0">
                <a:solidFill>
                  <a:srgbClr val="323232"/>
                </a:solidFill>
                <a:latin typeface="Calibri"/>
              </a:rPr>
              <a:t>found 3 classes based on dual PSE + depression trajectories:</a:t>
            </a:r>
          </a:p>
          <a:p>
            <a:pPr algn="l"/>
            <a:r>
              <a:rPr sz="2000" b="0" i="0" dirty="0">
                <a:solidFill>
                  <a:srgbClr val="323232"/>
                </a:solidFill>
                <a:latin typeface="Calibri"/>
              </a:rPr>
              <a:t>•  Class 1 = 'Low-risk': High PSE, low depression — healthy adaptive mothers</a:t>
            </a:r>
          </a:p>
          <a:p>
            <a:pPr algn="l"/>
            <a:r>
              <a:rPr sz="2000" b="0" i="0" dirty="0">
                <a:solidFill>
                  <a:srgbClr val="323232"/>
                </a:solidFill>
                <a:latin typeface="Calibri"/>
              </a:rPr>
              <a:t>•  Class 2 = 'Moderate-risk': Moderate PSE, moderate depression — some difficulty</a:t>
            </a:r>
          </a:p>
          <a:p>
            <a:pPr algn="l"/>
            <a:r>
              <a:rPr sz="2000" b="0" i="0" dirty="0">
                <a:solidFill>
                  <a:srgbClr val="323232"/>
                </a:solidFill>
                <a:latin typeface="Calibri"/>
              </a:rPr>
              <a:t>•  Class 3 = 'High-risk': Low PSE, high depression — struggling mothers</a:t>
            </a:r>
          </a:p>
        </p:txBody>
      </p:sp>
    </p:spTree>
    <p:extLst>
      <p:ext uri="{BB962C8B-B14F-4D97-AF65-F5344CB8AC3E}">
        <p14:creationId xmlns:p14="http://schemas.microsoft.com/office/powerpoint/2010/main" val="235491237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B1AFC2-D95C-4171-86D4-4E53D9C4C68B}"/>
              </a:ext>
            </a:extLst>
          </p:cNvPr>
          <p:cNvSpPr>
            <a:spLocks noGrp="1"/>
          </p:cNvSpPr>
          <p:nvPr>
            <p:ph type="title"/>
          </p:nvPr>
        </p:nvSpPr>
        <p:spPr>
          <a:xfrm>
            <a:off x="685799" y="902447"/>
            <a:ext cx="4316507" cy="1928741"/>
          </a:xfrm>
        </p:spPr>
        <p:txBody>
          <a:bodyPr>
            <a:normAutofit/>
          </a:bodyPr>
          <a:lstStyle/>
          <a:p>
            <a:pPr algn="l"/>
            <a:r>
              <a:rPr lang="en-US" dirty="0">
                <a:solidFill>
                  <a:srgbClr val="000000"/>
                </a:solidFill>
                <a:latin typeface="Calibri"/>
              </a:rPr>
              <a:t>Growth Mixture Modeling</a:t>
            </a:r>
          </a:p>
        </p:txBody>
      </p:sp>
      <p:sp>
        <p:nvSpPr>
          <p:cNvPr id="3" name="Content Placeholder 2">
            <a:extLst>
              <a:ext uri="{FF2B5EF4-FFF2-40B4-BE49-F238E27FC236}">
                <a16:creationId xmlns:a16="http://schemas.microsoft.com/office/drawing/2014/main" id="{57E7F807-1976-4576-90DF-B4314AC2B17B}"/>
              </a:ext>
            </a:extLst>
          </p:cNvPr>
          <p:cNvSpPr>
            <a:spLocks noGrp="1"/>
          </p:cNvSpPr>
          <p:nvPr>
            <p:ph idx="1"/>
          </p:nvPr>
        </p:nvSpPr>
        <p:spPr>
          <a:xfrm>
            <a:off x="5562600" y="968377"/>
            <a:ext cx="5943600" cy="1732182"/>
          </a:xfrm>
        </p:spPr>
        <p:txBody>
          <a:bodyPr>
            <a:normAutofit/>
          </a:bodyPr>
          <a:lstStyle/>
          <a:p>
            <a:r>
              <a:rPr lang="en-US" b="0" i="0" dirty="0">
                <a:effectLst/>
                <a:latin typeface="Calibri" panose="020F0502020204030204" pitchFamily="34" charset="0"/>
                <a:ea typeface="Calibri" panose="020F0502020204030204" pitchFamily="34" charset="0"/>
                <a:cs typeface="Calibri" panose="020F0502020204030204" pitchFamily="34" charset="0"/>
              </a:rPr>
              <a:t>Subgroup analysis showed that children of mothers in the low-risk class showed significantly fewer total externalizing problem behaviors compared with the higher risk classes</a:t>
            </a:r>
            <a:endParaRPr lang="en-US" dirty="0">
              <a:latin typeface="Calibri" panose="020F0502020204030204" pitchFamily="34" charset="0"/>
              <a:ea typeface="Calibri" panose="020F0502020204030204" pitchFamily="34" charset="0"/>
              <a:cs typeface="Calibri" panose="020F0502020204030204" pitchFamily="34" charset="0"/>
            </a:endParaRPr>
          </a:p>
        </p:txBody>
      </p:sp>
      <p:pic>
        <p:nvPicPr>
          <p:cNvPr id="5" name="Picture 4">
            <a:extLst>
              <a:ext uri="{FF2B5EF4-FFF2-40B4-BE49-F238E27FC236}">
                <a16:creationId xmlns:a16="http://schemas.microsoft.com/office/drawing/2014/main" id="{91D1C7E7-6047-4DED-A185-90F36F5BF807}"/>
              </a:ext>
            </a:extLst>
          </p:cNvPr>
          <p:cNvPicPr>
            <a:picLocks noChangeAspect="1"/>
          </p:cNvPicPr>
          <p:nvPr/>
        </p:nvPicPr>
        <p:blipFill rotWithShape="1">
          <a:blip r:embed="rId2"/>
          <a:srcRect b="24883"/>
          <a:stretch/>
        </p:blipFill>
        <p:spPr>
          <a:xfrm>
            <a:off x="809065" y="3039591"/>
            <a:ext cx="10582835" cy="2762458"/>
          </a:xfrm>
          <a:prstGeom prst="rect">
            <a:avLst/>
          </a:prstGeom>
        </p:spPr>
      </p:pic>
    </p:spTree>
    <p:extLst>
      <p:ext uri="{BB962C8B-B14F-4D97-AF65-F5344CB8AC3E}">
        <p14:creationId xmlns:p14="http://schemas.microsoft.com/office/powerpoint/2010/main" val="246783593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41271E-B481-6C4B-BEDB-46F96FA12BCA}"/>
              </a:ext>
            </a:extLst>
          </p:cNvPr>
          <p:cNvSpPr>
            <a:spLocks noGrp="1"/>
          </p:cNvSpPr>
          <p:nvPr>
            <p:ph type="title"/>
          </p:nvPr>
        </p:nvSpPr>
        <p:spPr>
          <a:xfrm>
            <a:off x="695325" y="897753"/>
            <a:ext cx="3635046" cy="1575391"/>
          </a:xfrm>
        </p:spPr>
        <p:txBody>
          <a:bodyPr>
            <a:normAutofit/>
          </a:bodyPr>
          <a:lstStyle/>
          <a:p>
            <a:pPr algn="l"/>
            <a:r>
              <a:rPr lang="en-US" sz="3600" dirty="0">
                <a:solidFill>
                  <a:srgbClr val="000000"/>
                </a:solidFill>
                <a:latin typeface="Calibri"/>
              </a:rPr>
              <a:t>Latent growth models</a:t>
            </a:r>
          </a:p>
        </p:txBody>
      </p:sp>
      <p:sp>
        <p:nvSpPr>
          <p:cNvPr id="9" name="Content Placeholder 8">
            <a:extLst>
              <a:ext uri="{FF2B5EF4-FFF2-40B4-BE49-F238E27FC236}">
                <a16:creationId xmlns:a16="http://schemas.microsoft.com/office/drawing/2014/main" id="{5A3D892B-E644-4EF9-9F63-6AB1D7E73538}"/>
              </a:ext>
            </a:extLst>
          </p:cNvPr>
          <p:cNvSpPr>
            <a:spLocks noGrp="1"/>
          </p:cNvSpPr>
          <p:nvPr>
            <p:ph idx="1"/>
          </p:nvPr>
        </p:nvSpPr>
        <p:spPr>
          <a:xfrm>
            <a:off x="695325" y="2710035"/>
            <a:ext cx="3587668" cy="3500265"/>
          </a:xfrm>
        </p:spPr>
        <p:txBody>
          <a:bodyPr>
            <a:normAutofit/>
          </a:bodyPr>
          <a:lstStyle/>
          <a:p>
            <a:r>
              <a:rPr lang="en-US" dirty="0">
                <a:latin typeface="Calibri" panose="020F0502020204030204" pitchFamily="34" charset="0"/>
                <a:ea typeface="Calibri" panose="020F0502020204030204" pitchFamily="34" charset="0"/>
                <a:cs typeface="Calibri" panose="020F0502020204030204" pitchFamily="34" charset="0"/>
              </a:rPr>
              <a:t>Example of latent growth curve model of PTS</a:t>
            </a:r>
          </a:p>
          <a:p>
            <a:r>
              <a:rPr lang="en-US" dirty="0">
                <a:latin typeface="Calibri" panose="020F0502020204030204" pitchFamily="34" charset="0"/>
                <a:ea typeface="Calibri" panose="020F0502020204030204" pitchFamily="34" charset="0"/>
                <a:cs typeface="Calibri" panose="020F0502020204030204" pitchFamily="34" charset="0"/>
              </a:rPr>
              <a:t>Example parallel process model that explores how growth in one symptom affects growth in another </a:t>
            </a:r>
          </a:p>
        </p:txBody>
      </p:sp>
      <p:pic>
        <p:nvPicPr>
          <p:cNvPr id="7" name="Picture 6">
            <a:extLst>
              <a:ext uri="{FF2B5EF4-FFF2-40B4-BE49-F238E27FC236}">
                <a16:creationId xmlns:a16="http://schemas.microsoft.com/office/drawing/2014/main" id="{C851A162-6648-41DF-A523-4A559AE71E03}"/>
              </a:ext>
            </a:extLst>
          </p:cNvPr>
          <p:cNvPicPr>
            <a:picLocks noChangeAspect="1"/>
          </p:cNvPicPr>
          <p:nvPr/>
        </p:nvPicPr>
        <p:blipFill rotWithShape="1">
          <a:blip r:embed="rId2"/>
          <a:srcRect b="5950"/>
          <a:stretch/>
        </p:blipFill>
        <p:spPr>
          <a:xfrm>
            <a:off x="5591774" y="235677"/>
            <a:ext cx="5386200" cy="6196632"/>
          </a:xfrm>
          <a:prstGeom prst="rect">
            <a:avLst/>
          </a:prstGeom>
        </p:spPr>
      </p:pic>
      <p:pic>
        <p:nvPicPr>
          <p:cNvPr id="15" name="Picture 14">
            <a:extLst>
              <a:ext uri="{FF2B5EF4-FFF2-40B4-BE49-F238E27FC236}">
                <a16:creationId xmlns:a16="http://schemas.microsoft.com/office/drawing/2014/main" id="{14CE4452-E754-48A5-9270-1FED9C1B3ECC}"/>
              </a:ext>
            </a:extLst>
          </p:cNvPr>
          <p:cNvPicPr>
            <a:picLocks noChangeAspect="1"/>
          </p:cNvPicPr>
          <p:nvPr/>
        </p:nvPicPr>
        <p:blipFill rotWithShape="1">
          <a:blip r:embed="rId3"/>
          <a:srcRect t="3290"/>
          <a:stretch/>
        </p:blipFill>
        <p:spPr>
          <a:xfrm>
            <a:off x="6792966" y="298739"/>
            <a:ext cx="3670187" cy="2560075"/>
          </a:xfrm>
          <a:prstGeom prst="rect">
            <a:avLst/>
          </a:prstGeom>
        </p:spPr>
      </p:pic>
    </p:spTree>
    <p:extLst>
      <p:ext uri="{BB962C8B-B14F-4D97-AF65-F5344CB8AC3E}">
        <p14:creationId xmlns:p14="http://schemas.microsoft.com/office/powerpoint/2010/main" val="35127198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Box 3"/>
          <p:cNvSpPr txBox="1"/>
          <p:nvPr/>
        </p:nvSpPr>
        <p:spPr>
          <a:xfrm>
            <a:off x="715290" y="0"/>
            <a:ext cx="11212682" cy="646331"/>
          </a:xfrm>
          <a:prstGeom prst="rect">
            <a:avLst/>
          </a:prstGeom>
          <a:noFill/>
        </p:spPr>
        <p:txBody>
          <a:bodyPr wrap="square">
            <a:spAutoFit/>
          </a:bodyPr>
          <a:lstStyle/>
          <a:p>
            <a:pPr algn="l"/>
            <a:r>
              <a:rPr sz="3600" b="0" dirty="0">
                <a:solidFill>
                  <a:srgbClr val="000000"/>
                </a:solidFill>
                <a:latin typeface="Calibri"/>
              </a:rPr>
              <a:t>Latent Growth Curve Models: What Are We Modeling?</a:t>
            </a:r>
          </a:p>
        </p:txBody>
      </p:sp>
      <p:sp>
        <p:nvSpPr>
          <p:cNvPr id="6" name="TextBox 5"/>
          <p:cNvSpPr txBox="1"/>
          <p:nvPr/>
        </p:nvSpPr>
        <p:spPr>
          <a:xfrm>
            <a:off x="810293" y="945988"/>
            <a:ext cx="11117679" cy="5093702"/>
          </a:xfrm>
          <a:prstGeom prst="rect">
            <a:avLst/>
          </a:prstGeom>
          <a:noFill/>
        </p:spPr>
        <p:txBody>
          <a:bodyPr wrap="square">
            <a:spAutoFit/>
          </a:bodyPr>
          <a:lstStyle/>
          <a:p>
            <a:pPr algn="l">
              <a:spcBef>
                <a:spcPts val="800"/>
              </a:spcBef>
            </a:pPr>
            <a:r>
              <a:rPr sz="2000" b="1" i="0" dirty="0">
                <a:solidFill>
                  <a:srgbClr val="000000"/>
                </a:solidFill>
                <a:latin typeface="Calibri"/>
              </a:rPr>
              <a:t>A latent growth curve model (LGCM) captures two things about change over time:</a:t>
            </a:r>
          </a:p>
          <a:p>
            <a:pPr algn="l"/>
            <a:r>
              <a:rPr sz="2000" b="0" i="0" dirty="0">
                <a:solidFill>
                  <a:srgbClr val="323232"/>
                </a:solidFill>
                <a:latin typeface="Calibri"/>
              </a:rPr>
              <a:t>•  Intercept: where does the person START? (their baseline level)</a:t>
            </a:r>
          </a:p>
          <a:p>
            <a:pPr algn="l"/>
            <a:r>
              <a:rPr sz="2000" b="0" i="0" dirty="0">
                <a:solidFill>
                  <a:srgbClr val="323232"/>
                </a:solidFill>
                <a:latin typeface="Calibri"/>
              </a:rPr>
              <a:t>•  Slope: how fast do they CHANGE over time? (growth rate)</a:t>
            </a:r>
          </a:p>
          <a:p>
            <a:pPr algn="l"/>
            <a:r>
              <a:rPr sz="2000" b="0" i="0" dirty="0">
                <a:solidFill>
                  <a:srgbClr val="323232"/>
                </a:solidFill>
                <a:latin typeface="Calibri"/>
              </a:rPr>
              <a:t>•  Quadratic: does the rate of change itself change? (curved trajectory)</a:t>
            </a:r>
          </a:p>
          <a:p>
            <a:pPr algn="l"/>
            <a:endParaRPr sz="2000" b="0" i="0" dirty="0">
              <a:solidFill>
                <a:srgbClr val="323232"/>
              </a:solidFill>
              <a:latin typeface="Calibri"/>
            </a:endParaRPr>
          </a:p>
          <a:p>
            <a:pPr algn="l"/>
            <a:r>
              <a:rPr sz="2000" b="0" i="0" dirty="0">
                <a:solidFill>
                  <a:srgbClr val="323232"/>
                </a:solidFill>
                <a:latin typeface="Calibri"/>
              </a:rPr>
              <a:t>These are treated as LATENT VARIABLES — each person has their own true starting point and growth rate, which we estimate from their observed scores across time points.</a:t>
            </a:r>
          </a:p>
          <a:p>
            <a:pPr algn="l">
              <a:spcBef>
                <a:spcPts val="600"/>
              </a:spcBef>
            </a:pPr>
            <a:r>
              <a:rPr sz="2000" b="1" i="0" dirty="0">
                <a:solidFill>
                  <a:srgbClr val="1F497D"/>
                </a:solidFill>
                <a:latin typeface="Calibri"/>
              </a:rPr>
              <a:t>EXAMPLE: PTSD Symptoms After Trauma</a:t>
            </a:r>
          </a:p>
          <a:p>
            <a:pPr algn="l"/>
            <a:r>
              <a:rPr sz="2000" b="0" i="0" dirty="0">
                <a:solidFill>
                  <a:srgbClr val="323232"/>
                </a:solidFill>
                <a:latin typeface="Calibri"/>
              </a:rPr>
              <a:t>You measure PTSD at 1 month, 3 months, 6 months, and 12 months after a traumatic event.</a:t>
            </a:r>
          </a:p>
          <a:p>
            <a:pPr algn="l"/>
            <a:r>
              <a:rPr sz="2000" b="0" i="0" dirty="0">
                <a:solidFill>
                  <a:srgbClr val="323232"/>
                </a:solidFill>
                <a:latin typeface="Calibri"/>
              </a:rPr>
              <a:t>•  Intercept factor: each person's true PTSD level at 1 month</a:t>
            </a:r>
          </a:p>
          <a:p>
            <a:pPr algn="l"/>
            <a:r>
              <a:rPr sz="2000" b="0" i="0" dirty="0">
                <a:solidFill>
                  <a:srgbClr val="323232"/>
                </a:solidFill>
                <a:latin typeface="Calibri"/>
              </a:rPr>
              <a:t>•  Slope factor: each person's rate of PTSD decrease (or increase) over 12 months</a:t>
            </a:r>
          </a:p>
          <a:p>
            <a:pPr algn="l"/>
            <a:endParaRPr sz="2000" b="0" i="0" dirty="0">
              <a:solidFill>
                <a:srgbClr val="323232"/>
              </a:solidFill>
              <a:latin typeface="Calibri"/>
            </a:endParaRPr>
          </a:p>
          <a:p>
            <a:pPr algn="l"/>
            <a:r>
              <a:rPr sz="2000" b="0" i="0" dirty="0">
                <a:solidFill>
                  <a:srgbClr val="323232"/>
                </a:solidFill>
                <a:latin typeface="Calibri"/>
              </a:rPr>
              <a:t>People differ in BOTH their starting level (some start high, some low) and their trajectory (some recover fast, some slowly, some get worse). The model estimates means AND variances of both.</a:t>
            </a:r>
          </a:p>
          <a:p>
            <a:pPr algn="l"/>
            <a:endParaRPr sz="2000" b="0" i="0" dirty="0">
              <a:solidFill>
                <a:srgbClr val="323232"/>
              </a:solidFill>
              <a:latin typeface="Calibri"/>
            </a:endParaRPr>
          </a:p>
          <a:p>
            <a:pPr algn="l"/>
            <a:r>
              <a:rPr sz="2000" b="0" i="0" dirty="0">
                <a:solidFill>
                  <a:srgbClr val="323232"/>
                </a:solidFill>
                <a:latin typeface="Calibri"/>
              </a:rPr>
              <a:t>You can then ask: what predicts higher starting points? What predicts faster recovery?</a:t>
            </a:r>
          </a:p>
        </p:txBody>
      </p:sp>
    </p:spTree>
    <p:extLst>
      <p:ext uri="{BB962C8B-B14F-4D97-AF65-F5344CB8AC3E}">
        <p14:creationId xmlns:p14="http://schemas.microsoft.com/office/powerpoint/2010/main" val="143316629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B267FB-D9D5-9E4D-98E5-A2841D2678EB}"/>
              </a:ext>
            </a:extLst>
          </p:cNvPr>
          <p:cNvSpPr>
            <a:spLocks noGrp="1"/>
          </p:cNvSpPr>
          <p:nvPr>
            <p:ph type="title"/>
          </p:nvPr>
        </p:nvSpPr>
        <p:spPr>
          <a:xfrm>
            <a:off x="653820" y="4624394"/>
            <a:ext cx="10803074" cy="1037503"/>
          </a:xfrm>
        </p:spPr>
        <p:txBody>
          <a:bodyPr vert="horz" lIns="91440" tIns="45720" rIns="91440" bIns="45720" rtlCol="0" anchor="t">
            <a:normAutofit/>
          </a:bodyPr>
          <a:lstStyle/>
          <a:p>
            <a:pPr algn="l"/>
            <a:r>
              <a:rPr lang="en-US" sz="5400">
                <a:solidFill>
                  <a:srgbClr val="000000"/>
                </a:solidFill>
                <a:latin typeface="Calibri"/>
              </a:rPr>
              <a:t>Second order CFA</a:t>
            </a:r>
          </a:p>
        </p:txBody>
      </p:sp>
      <p:sp>
        <p:nvSpPr>
          <p:cNvPr id="3" name="Content Placeholder 2">
            <a:extLst>
              <a:ext uri="{FF2B5EF4-FFF2-40B4-BE49-F238E27FC236}">
                <a16:creationId xmlns:a16="http://schemas.microsoft.com/office/drawing/2014/main" id="{762F0E4D-717A-1042-9267-D95F6E8D0CD2}"/>
              </a:ext>
            </a:extLst>
          </p:cNvPr>
          <p:cNvSpPr>
            <a:spLocks noGrp="1"/>
          </p:cNvSpPr>
          <p:nvPr>
            <p:ph idx="1"/>
          </p:nvPr>
        </p:nvSpPr>
        <p:spPr>
          <a:xfrm>
            <a:off x="695325" y="5717686"/>
            <a:ext cx="8476052" cy="636316"/>
          </a:xfrm>
        </p:spPr>
        <p:txBody>
          <a:bodyPr vert="horz" lIns="91440" tIns="45720" rIns="91440" bIns="45720" rtlCol="0" anchor="t">
            <a:normAutofit/>
          </a:bodyPr>
          <a:lstStyle/>
          <a:p>
            <a:pPr marL="0" indent="0">
              <a:buNone/>
            </a:pPr>
            <a:r>
              <a:rPr lang="en-US"/>
              <a:t>The first order latent factor explains a higher order latent factor</a:t>
            </a:r>
          </a:p>
        </p:txBody>
      </p:sp>
      <p:pic>
        <p:nvPicPr>
          <p:cNvPr id="10" name="Picture 9">
            <a:extLst>
              <a:ext uri="{FF2B5EF4-FFF2-40B4-BE49-F238E27FC236}">
                <a16:creationId xmlns:a16="http://schemas.microsoft.com/office/drawing/2014/main" id="{FCB5F461-D9EE-5943-B96C-FB902551B6EE}"/>
              </a:ext>
            </a:extLst>
          </p:cNvPr>
          <p:cNvPicPr>
            <a:picLocks noChangeAspect="1"/>
          </p:cNvPicPr>
          <p:nvPr/>
        </p:nvPicPr>
        <p:blipFill>
          <a:blip r:embed="rId2"/>
          <a:stretch>
            <a:fillRect/>
          </a:stretch>
        </p:blipFill>
        <p:spPr>
          <a:xfrm>
            <a:off x="1708544" y="723900"/>
            <a:ext cx="8774912" cy="3466090"/>
          </a:xfrm>
          <a:prstGeom prst="rect">
            <a:avLst/>
          </a:prstGeom>
        </p:spPr>
      </p:pic>
    </p:spTree>
    <p:extLst>
      <p:ext uri="{BB962C8B-B14F-4D97-AF65-F5344CB8AC3E}">
        <p14:creationId xmlns:p14="http://schemas.microsoft.com/office/powerpoint/2010/main" val="33174706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Box 3"/>
          <p:cNvSpPr txBox="1"/>
          <p:nvPr/>
        </p:nvSpPr>
        <p:spPr>
          <a:xfrm>
            <a:off x="756062" y="101653"/>
            <a:ext cx="11200806" cy="646331"/>
          </a:xfrm>
          <a:prstGeom prst="rect">
            <a:avLst/>
          </a:prstGeom>
          <a:noFill/>
        </p:spPr>
        <p:txBody>
          <a:bodyPr wrap="square">
            <a:spAutoFit/>
          </a:bodyPr>
          <a:lstStyle/>
          <a:p>
            <a:pPr algn="l"/>
            <a:r>
              <a:rPr sz="3600" b="0" dirty="0">
                <a:solidFill>
                  <a:srgbClr val="000000"/>
                </a:solidFill>
                <a:latin typeface="Calibri"/>
              </a:rPr>
              <a:t>Second-Order CFA: Factors That Explain Factors</a:t>
            </a:r>
          </a:p>
        </p:txBody>
      </p:sp>
      <p:sp>
        <p:nvSpPr>
          <p:cNvPr id="6" name="TextBox 5"/>
          <p:cNvSpPr txBox="1"/>
          <p:nvPr/>
        </p:nvSpPr>
        <p:spPr>
          <a:xfrm>
            <a:off x="756062" y="920300"/>
            <a:ext cx="11665527" cy="4837222"/>
          </a:xfrm>
          <a:prstGeom prst="rect">
            <a:avLst/>
          </a:prstGeom>
          <a:noFill/>
        </p:spPr>
        <p:txBody>
          <a:bodyPr wrap="square">
            <a:spAutoFit/>
          </a:bodyPr>
          <a:lstStyle/>
          <a:p>
            <a:pPr algn="l">
              <a:spcBef>
                <a:spcPts val="800"/>
              </a:spcBef>
            </a:pPr>
            <a:r>
              <a:rPr sz="2000" b="1" i="0" dirty="0">
                <a:solidFill>
                  <a:srgbClr val="000000"/>
                </a:solidFill>
                <a:latin typeface="Calibri"/>
              </a:rPr>
              <a:t>Sometimes factors themselves are explained by a higher-order factor:</a:t>
            </a:r>
          </a:p>
          <a:p>
            <a:pPr algn="l">
              <a:spcBef>
                <a:spcPts val="600"/>
              </a:spcBef>
            </a:pPr>
            <a:r>
              <a:rPr sz="2000" b="1" i="0" dirty="0">
                <a:solidFill>
                  <a:srgbClr val="1F497D"/>
                </a:solidFill>
                <a:latin typeface="Calibri"/>
              </a:rPr>
              <a:t>CLASSIC EXAMPLE: Intelligence</a:t>
            </a:r>
          </a:p>
          <a:p>
            <a:pPr algn="l"/>
            <a:r>
              <a:rPr sz="2000" b="0" i="0" dirty="0">
                <a:solidFill>
                  <a:srgbClr val="323232"/>
                </a:solidFill>
                <a:latin typeface="Calibri"/>
              </a:rPr>
              <a:t>First-order factors from a cognitive test battery:</a:t>
            </a:r>
          </a:p>
          <a:p>
            <a:pPr algn="l"/>
            <a:r>
              <a:rPr sz="2000" b="0" i="0" dirty="0">
                <a:solidFill>
                  <a:srgbClr val="323232"/>
                </a:solidFill>
                <a:latin typeface="Calibri"/>
              </a:rPr>
              <a:t>•  Factor 1: Verbal Ability (vocabulary, reading comprehension, verbal analogies)</a:t>
            </a:r>
          </a:p>
          <a:p>
            <a:pPr algn="l"/>
            <a:r>
              <a:rPr sz="2000" b="0" i="0" dirty="0">
                <a:solidFill>
                  <a:srgbClr val="323232"/>
                </a:solidFill>
                <a:latin typeface="Calibri"/>
              </a:rPr>
              <a:t>•  Factor 2: Spatial Ability (mental rotation, pattern recognition, visual memory)</a:t>
            </a:r>
          </a:p>
          <a:p>
            <a:pPr algn="l"/>
            <a:r>
              <a:rPr sz="2000" b="0" i="0" dirty="0">
                <a:solidFill>
                  <a:srgbClr val="323232"/>
                </a:solidFill>
                <a:latin typeface="Calibri"/>
              </a:rPr>
              <a:t>•  Factor 3: Numerical Ability (arithmetic, algebra, number series)</a:t>
            </a:r>
          </a:p>
          <a:p>
            <a:pPr algn="l"/>
            <a:endParaRPr sz="2000" b="0" i="0" dirty="0">
              <a:solidFill>
                <a:srgbClr val="323232"/>
              </a:solidFill>
              <a:latin typeface="Calibri"/>
            </a:endParaRPr>
          </a:p>
          <a:p>
            <a:pPr algn="l"/>
            <a:r>
              <a:rPr sz="2000" b="0" i="0" dirty="0">
                <a:solidFill>
                  <a:srgbClr val="323232"/>
                </a:solidFill>
                <a:latin typeface="Calibri"/>
              </a:rPr>
              <a:t>These three factors themselves CORRELATE with each other. Why? Because there's a higher-order 'g' (general intelligence) factor explaining the correlations among them.</a:t>
            </a:r>
          </a:p>
          <a:p>
            <a:pPr algn="l"/>
            <a:r>
              <a:rPr sz="2000" b="0" i="0" dirty="0">
                <a:solidFill>
                  <a:srgbClr val="323232"/>
                </a:solidFill>
                <a:latin typeface="Calibri"/>
              </a:rPr>
              <a:t>In second-order CFA:</a:t>
            </a:r>
          </a:p>
          <a:p>
            <a:pPr algn="l"/>
            <a:r>
              <a:rPr sz="2000" b="0" i="0" dirty="0">
                <a:solidFill>
                  <a:srgbClr val="323232"/>
                </a:solidFill>
                <a:latin typeface="Calibri"/>
              </a:rPr>
              <a:t>•  First-order: items → Verbal, Spatial, Numerical factors</a:t>
            </a:r>
          </a:p>
          <a:p>
            <a:pPr algn="l"/>
            <a:r>
              <a:rPr sz="2000" b="0" i="0" dirty="0">
                <a:solidFill>
                  <a:srgbClr val="323232"/>
                </a:solidFill>
                <a:latin typeface="Calibri"/>
              </a:rPr>
              <a:t>•  Second-order: Verbal, Spatial, Numerical → General Intelligence 'g'</a:t>
            </a:r>
          </a:p>
          <a:p>
            <a:pPr algn="l">
              <a:spcBef>
                <a:spcPts val="400"/>
              </a:spcBef>
            </a:pPr>
            <a:r>
              <a:rPr sz="2000" b="1" i="0" dirty="0">
                <a:solidFill>
                  <a:srgbClr val="000000"/>
                </a:solidFill>
                <a:latin typeface="Calibri"/>
              </a:rPr>
              <a:t>When to use it:</a:t>
            </a:r>
          </a:p>
          <a:p>
            <a:pPr algn="l"/>
            <a:r>
              <a:rPr sz="2000" b="0" i="0" dirty="0">
                <a:solidFill>
                  <a:srgbClr val="323232"/>
                </a:solidFill>
                <a:latin typeface="Calibri"/>
              </a:rPr>
              <a:t>•  When you have multiple correlated factors and a theoretical reason to believe they share a common cause</a:t>
            </a:r>
          </a:p>
          <a:p>
            <a:pPr algn="l"/>
            <a:r>
              <a:rPr sz="2000" b="0" i="0" dirty="0">
                <a:solidFill>
                  <a:srgbClr val="323232"/>
                </a:solidFill>
                <a:latin typeface="Calibri"/>
              </a:rPr>
              <a:t>•  When you want to test hierarchical theories of a construct</a:t>
            </a:r>
          </a:p>
        </p:txBody>
      </p:sp>
    </p:spTree>
    <p:extLst>
      <p:ext uri="{BB962C8B-B14F-4D97-AF65-F5344CB8AC3E}">
        <p14:creationId xmlns:p14="http://schemas.microsoft.com/office/powerpoint/2010/main" val="129193292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D8D7D9-8885-400D-B5D9-35CE33C97A90}"/>
              </a:ext>
            </a:extLst>
          </p:cNvPr>
          <p:cNvSpPr>
            <a:spLocks noGrp="1"/>
          </p:cNvSpPr>
          <p:nvPr>
            <p:ph type="title"/>
          </p:nvPr>
        </p:nvSpPr>
        <p:spPr>
          <a:xfrm>
            <a:off x="695325" y="907037"/>
            <a:ext cx="3819821" cy="1955690"/>
          </a:xfrm>
        </p:spPr>
        <p:txBody>
          <a:bodyPr>
            <a:normAutofit/>
          </a:bodyPr>
          <a:lstStyle/>
          <a:p>
            <a:pPr algn="l"/>
            <a:r>
              <a:rPr lang="en-US" dirty="0">
                <a:solidFill>
                  <a:srgbClr val="000000"/>
                </a:solidFill>
                <a:latin typeface="Calibri"/>
              </a:rPr>
              <a:t>Second order growth curve model</a:t>
            </a:r>
          </a:p>
        </p:txBody>
      </p:sp>
      <p:sp>
        <p:nvSpPr>
          <p:cNvPr id="8" name="Content Placeholder 7">
            <a:extLst>
              <a:ext uri="{FF2B5EF4-FFF2-40B4-BE49-F238E27FC236}">
                <a16:creationId xmlns:a16="http://schemas.microsoft.com/office/drawing/2014/main" id="{BA7ED52C-6C1F-4FA5-849D-6A5D97B4AAA2}"/>
              </a:ext>
            </a:extLst>
          </p:cNvPr>
          <p:cNvSpPr>
            <a:spLocks noGrp="1"/>
          </p:cNvSpPr>
          <p:nvPr>
            <p:ph idx="1"/>
          </p:nvPr>
        </p:nvSpPr>
        <p:spPr>
          <a:xfrm>
            <a:off x="695325" y="2862727"/>
            <a:ext cx="3706113" cy="3372250"/>
          </a:xfrm>
        </p:spPr>
        <p:txBody>
          <a:bodyPr>
            <a:normAutofit fontScale="85000" lnSpcReduction="10000"/>
          </a:bodyPr>
          <a:lstStyle/>
          <a:p>
            <a:r>
              <a:rPr lang="en-US" dirty="0"/>
              <a:t>Here is a growth curve model with intercept, slope and quadratic</a:t>
            </a:r>
          </a:p>
          <a:p>
            <a:r>
              <a:rPr lang="en-US" dirty="0"/>
              <a:t>The growth is believed to mediate the relationship between ‘readiness to parent’ and child behavior</a:t>
            </a:r>
          </a:p>
          <a:p>
            <a:r>
              <a:rPr lang="en-US" dirty="0"/>
              <a:t>PS is comprised of three subscales</a:t>
            </a:r>
          </a:p>
          <a:p>
            <a:r>
              <a:rPr lang="en-US" dirty="0"/>
              <a:t>Perceived SS moderates the relationship between readiness to parent and growth in PS</a:t>
            </a:r>
          </a:p>
        </p:txBody>
      </p:sp>
      <p:pic>
        <p:nvPicPr>
          <p:cNvPr id="4" name="Content Placeholder 4">
            <a:extLst>
              <a:ext uri="{FF2B5EF4-FFF2-40B4-BE49-F238E27FC236}">
                <a16:creationId xmlns:a16="http://schemas.microsoft.com/office/drawing/2014/main" id="{F43E5D0F-5A70-4EB9-8C32-1DBFCD09D43F}"/>
              </a:ext>
            </a:extLst>
          </p:cNvPr>
          <p:cNvPicPr>
            <a:picLocks noChangeAspect="1"/>
          </p:cNvPicPr>
          <p:nvPr/>
        </p:nvPicPr>
        <p:blipFill rotWithShape="1">
          <a:blip r:embed="rId2"/>
          <a:srcRect t="1055" r="2" b="2"/>
          <a:stretch/>
        </p:blipFill>
        <p:spPr>
          <a:xfrm>
            <a:off x="4876800" y="735286"/>
            <a:ext cx="6515100" cy="5398813"/>
          </a:xfrm>
          <a:prstGeom prst="rect">
            <a:avLst/>
          </a:prstGeom>
        </p:spPr>
      </p:pic>
    </p:spTree>
    <p:extLst>
      <p:ext uri="{BB962C8B-B14F-4D97-AF65-F5344CB8AC3E}">
        <p14:creationId xmlns:p14="http://schemas.microsoft.com/office/powerpoint/2010/main" val="357514133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Box 3"/>
          <p:cNvSpPr txBox="1"/>
          <p:nvPr/>
        </p:nvSpPr>
        <p:spPr>
          <a:xfrm>
            <a:off x="686393" y="210379"/>
            <a:ext cx="11174681" cy="646331"/>
          </a:xfrm>
          <a:prstGeom prst="rect">
            <a:avLst/>
          </a:prstGeom>
          <a:noFill/>
        </p:spPr>
        <p:txBody>
          <a:bodyPr wrap="square">
            <a:spAutoFit/>
          </a:bodyPr>
          <a:lstStyle/>
          <a:p>
            <a:pPr algn="l"/>
            <a:r>
              <a:rPr sz="3600" b="0" dirty="0">
                <a:solidFill>
                  <a:srgbClr val="000000"/>
                </a:solidFill>
                <a:latin typeface="Calibri"/>
              </a:rPr>
              <a:t>Complex SEM Models: Putting It All Together</a:t>
            </a:r>
          </a:p>
        </p:txBody>
      </p:sp>
      <p:sp>
        <p:nvSpPr>
          <p:cNvPr id="6" name="TextBox 5"/>
          <p:cNvSpPr txBox="1"/>
          <p:nvPr/>
        </p:nvSpPr>
        <p:spPr>
          <a:xfrm>
            <a:off x="686393" y="907588"/>
            <a:ext cx="11174681" cy="5093702"/>
          </a:xfrm>
          <a:prstGeom prst="rect">
            <a:avLst/>
          </a:prstGeom>
          <a:noFill/>
        </p:spPr>
        <p:txBody>
          <a:bodyPr wrap="square">
            <a:spAutoFit/>
          </a:bodyPr>
          <a:lstStyle/>
          <a:p>
            <a:pPr algn="l">
              <a:spcBef>
                <a:spcPts val="800"/>
              </a:spcBef>
            </a:pPr>
            <a:r>
              <a:rPr sz="2000" b="1" i="0" dirty="0">
                <a:solidFill>
                  <a:srgbClr val="000000"/>
                </a:solidFill>
                <a:latin typeface="Calibri"/>
              </a:rPr>
              <a:t>Advanced SEM models can combine multiple features simultaneously:</a:t>
            </a:r>
          </a:p>
          <a:p>
            <a:pPr algn="l"/>
            <a:endParaRPr sz="2000" b="1" i="0" dirty="0">
              <a:solidFill>
                <a:srgbClr val="000000"/>
              </a:solidFill>
              <a:latin typeface="Calibri"/>
            </a:endParaRPr>
          </a:p>
          <a:p>
            <a:pPr algn="l"/>
            <a:r>
              <a:rPr sz="2000" b="0" i="0" dirty="0">
                <a:solidFill>
                  <a:srgbClr val="323232"/>
                </a:solidFill>
                <a:latin typeface="Calibri"/>
              </a:rPr>
              <a:t>•  Latent growth + mediation: Does trajectory of skill X mediate the effect of intervention Y on outcome Z?</a:t>
            </a:r>
          </a:p>
          <a:p>
            <a:pPr algn="l"/>
            <a:r>
              <a:rPr sz="2000" b="0" i="0" dirty="0">
                <a:solidFill>
                  <a:srgbClr val="323232"/>
                </a:solidFill>
                <a:latin typeface="Calibri"/>
              </a:rPr>
              <a:t>•  Latent growth + moderation: Does social support moderate the slope of depression recovery?</a:t>
            </a:r>
          </a:p>
          <a:p>
            <a:pPr algn="l"/>
            <a:r>
              <a:rPr sz="2000" b="0" i="0" dirty="0">
                <a:solidFill>
                  <a:srgbClr val="323232"/>
                </a:solidFill>
                <a:latin typeface="Calibri"/>
              </a:rPr>
              <a:t>•  Multi-group SEM: Does the same model hold for males and females? For different cultures?</a:t>
            </a:r>
          </a:p>
          <a:p>
            <a:pPr algn="l"/>
            <a:r>
              <a:rPr sz="2000" b="0" i="0" dirty="0">
                <a:solidFill>
                  <a:srgbClr val="323232"/>
                </a:solidFill>
                <a:latin typeface="Calibri"/>
              </a:rPr>
              <a:t>•  Parallel processes: Do changes in one variable over time relate to changes in another variable?</a:t>
            </a:r>
          </a:p>
          <a:p>
            <a:pPr algn="l"/>
            <a:endParaRPr sz="2000" b="0" i="0" dirty="0">
              <a:solidFill>
                <a:srgbClr val="323232"/>
              </a:solidFill>
              <a:latin typeface="Calibri"/>
            </a:endParaRPr>
          </a:p>
          <a:p>
            <a:pPr algn="l">
              <a:spcBef>
                <a:spcPts val="600"/>
              </a:spcBef>
            </a:pPr>
            <a:r>
              <a:rPr sz="2000" b="1" i="0" dirty="0">
                <a:solidFill>
                  <a:srgbClr val="1F497D"/>
                </a:solidFill>
                <a:latin typeface="Calibri"/>
              </a:rPr>
              <a:t>THE SLIDE 18 MODEL EXPLAINED</a:t>
            </a:r>
          </a:p>
          <a:p>
            <a:pPr algn="l"/>
            <a:r>
              <a:rPr sz="2000" b="0" i="0" dirty="0">
                <a:solidFill>
                  <a:srgbClr val="323232"/>
                </a:solidFill>
                <a:latin typeface="Calibri"/>
              </a:rPr>
              <a:t>The model shown has:</a:t>
            </a:r>
          </a:p>
          <a:p>
            <a:pPr algn="l"/>
            <a:r>
              <a:rPr sz="2000" b="0" i="0" dirty="0">
                <a:solidFill>
                  <a:srgbClr val="323232"/>
                </a:solidFill>
                <a:latin typeface="Calibri"/>
              </a:rPr>
              <a:t>•  A growth curve for Parenting Skills (PS) with intercept, slope, and quadratic term</a:t>
            </a:r>
          </a:p>
          <a:p>
            <a:pPr algn="l"/>
            <a:r>
              <a:rPr sz="2000" b="0" i="0" dirty="0">
                <a:solidFill>
                  <a:srgbClr val="323232"/>
                </a:solidFill>
                <a:latin typeface="Calibri"/>
              </a:rPr>
              <a:t>•  PS is measured by 3 subscales (observed indicators)</a:t>
            </a:r>
          </a:p>
          <a:p>
            <a:pPr algn="l"/>
            <a:r>
              <a:rPr sz="2000" b="0" i="0" dirty="0">
                <a:solidFill>
                  <a:srgbClr val="323232"/>
                </a:solidFill>
                <a:latin typeface="Calibri"/>
              </a:rPr>
              <a:t>•  'Readiness to parent' predicts the PS growth trajectory</a:t>
            </a:r>
          </a:p>
          <a:p>
            <a:pPr algn="l"/>
            <a:r>
              <a:rPr sz="2000" b="0" i="0" dirty="0">
                <a:solidFill>
                  <a:srgbClr val="323232"/>
                </a:solidFill>
                <a:latin typeface="Calibri"/>
              </a:rPr>
              <a:t>•  The PS trajectory mediates the effect of readiness on child behavior outcomes</a:t>
            </a:r>
          </a:p>
          <a:p>
            <a:pPr algn="l"/>
            <a:r>
              <a:rPr sz="2000" b="0" i="0" dirty="0">
                <a:solidFill>
                  <a:srgbClr val="323232"/>
                </a:solidFill>
                <a:latin typeface="Calibri"/>
              </a:rPr>
              <a:t>•  Perceived social support MODERATES (changes) the relationship between readiness and growth in PS</a:t>
            </a:r>
          </a:p>
          <a:p>
            <a:pPr algn="l"/>
            <a:endParaRPr sz="2000" b="0" i="0" dirty="0">
              <a:solidFill>
                <a:srgbClr val="323232"/>
              </a:solidFill>
              <a:latin typeface="Calibri"/>
            </a:endParaRPr>
          </a:p>
          <a:p>
            <a:pPr algn="l"/>
            <a:r>
              <a:rPr sz="2000" b="0" i="0" dirty="0">
                <a:solidFill>
                  <a:srgbClr val="323232"/>
                </a:solidFill>
                <a:latin typeface="Calibri"/>
              </a:rPr>
              <a:t>This is a full 'moderated mediation with growth' model — one of the most complex SEM applications.</a:t>
            </a:r>
          </a:p>
        </p:txBody>
      </p:sp>
    </p:spTree>
    <p:extLst>
      <p:ext uri="{BB962C8B-B14F-4D97-AF65-F5344CB8AC3E}">
        <p14:creationId xmlns:p14="http://schemas.microsoft.com/office/powerpoint/2010/main" val="313085313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57646" y="100406"/>
            <a:ext cx="10559538" cy="646331"/>
          </a:xfrm>
          <a:prstGeom prst="rect">
            <a:avLst/>
          </a:prstGeom>
          <a:noFill/>
        </p:spPr>
        <p:txBody>
          <a:bodyPr wrap="square">
            <a:spAutoFit/>
          </a:bodyPr>
          <a:lstStyle/>
          <a:p>
            <a:pPr algn="l"/>
            <a:r>
              <a:rPr sz="3600" b="0" dirty="0">
                <a:solidFill>
                  <a:srgbClr val="000000"/>
                </a:solidFill>
                <a:latin typeface="Calibri"/>
              </a:rPr>
              <a:t>Running EFA in JAMOVI: Quick Guide</a:t>
            </a:r>
          </a:p>
        </p:txBody>
      </p:sp>
      <p:sp>
        <p:nvSpPr>
          <p:cNvPr id="6" name="TextBox 5"/>
          <p:cNvSpPr txBox="1"/>
          <p:nvPr/>
        </p:nvSpPr>
        <p:spPr>
          <a:xfrm>
            <a:off x="757646" y="1043366"/>
            <a:ext cx="10678292" cy="4811574"/>
          </a:xfrm>
          <a:prstGeom prst="rect">
            <a:avLst/>
          </a:prstGeom>
          <a:noFill/>
        </p:spPr>
        <p:txBody>
          <a:bodyPr wrap="square">
            <a:spAutoFit/>
          </a:bodyPr>
          <a:lstStyle/>
          <a:p>
            <a:pPr algn="l">
              <a:spcBef>
                <a:spcPts val="800"/>
              </a:spcBef>
            </a:pPr>
            <a:r>
              <a:rPr sz="2000" b="1" i="0" dirty="0">
                <a:solidFill>
                  <a:srgbClr val="000000"/>
                </a:solidFill>
                <a:latin typeface="Calibri"/>
              </a:rPr>
              <a:t>JAMOVI makes EFA accessible. Here are the key steps:</a:t>
            </a:r>
          </a:p>
          <a:p>
            <a:pPr algn="l"/>
            <a:r>
              <a:rPr sz="2000" b="0" i="0" dirty="0">
                <a:solidFill>
                  <a:srgbClr val="323232"/>
                </a:solidFill>
                <a:latin typeface="Calibri"/>
              </a:rPr>
              <a:t>•  1. Open your data file in JAMOVI</a:t>
            </a:r>
          </a:p>
          <a:p>
            <a:pPr algn="l"/>
            <a:r>
              <a:rPr sz="2000" b="0" i="0" dirty="0">
                <a:solidFill>
                  <a:srgbClr val="323232"/>
                </a:solidFill>
                <a:latin typeface="Calibri"/>
              </a:rPr>
              <a:t>•  2. Go to: Factor → Exploratory Factor Analysis</a:t>
            </a:r>
          </a:p>
          <a:p>
            <a:pPr algn="l"/>
            <a:r>
              <a:rPr sz="2000" b="0" i="0" dirty="0">
                <a:solidFill>
                  <a:srgbClr val="323232"/>
                </a:solidFill>
                <a:latin typeface="Calibri"/>
              </a:rPr>
              <a:t>•  3. Move your items into the 'Variables' box</a:t>
            </a:r>
          </a:p>
          <a:p>
            <a:pPr algn="l">
              <a:spcBef>
                <a:spcPts val="400"/>
              </a:spcBef>
            </a:pPr>
            <a:r>
              <a:rPr sz="2000" b="1" i="0" dirty="0">
                <a:solidFill>
                  <a:srgbClr val="000000"/>
                </a:solidFill>
                <a:latin typeface="Calibri"/>
              </a:rPr>
              <a:t>Key settings to check:</a:t>
            </a:r>
          </a:p>
          <a:p>
            <a:pPr algn="l"/>
            <a:r>
              <a:rPr sz="2000" b="0" i="0" dirty="0">
                <a:solidFill>
                  <a:srgbClr val="323232"/>
                </a:solidFill>
                <a:latin typeface="Calibri"/>
              </a:rPr>
              <a:t>•  Extraction method: Maximum Likelihood (if normal) or Principal Axis Factoring</a:t>
            </a:r>
          </a:p>
          <a:p>
            <a:pPr algn="l"/>
            <a:r>
              <a:rPr sz="2000" b="0" i="0" dirty="0">
                <a:solidFill>
                  <a:srgbClr val="323232"/>
                </a:solidFill>
                <a:latin typeface="Calibri"/>
              </a:rPr>
              <a:t>•  Rotation: </a:t>
            </a:r>
            <a:r>
              <a:rPr sz="2000" b="0" i="0" dirty="0" err="1">
                <a:solidFill>
                  <a:srgbClr val="323232"/>
                </a:solidFill>
                <a:latin typeface="Calibri"/>
              </a:rPr>
              <a:t>Oblimin</a:t>
            </a:r>
            <a:r>
              <a:rPr sz="2000" b="0" i="0" dirty="0">
                <a:solidFill>
                  <a:srgbClr val="323232"/>
                </a:solidFill>
                <a:latin typeface="Calibri"/>
              </a:rPr>
              <a:t> (oblique) for most social science data</a:t>
            </a:r>
          </a:p>
          <a:p>
            <a:pPr algn="l"/>
            <a:r>
              <a:rPr sz="2000" b="0" i="0" dirty="0">
                <a:solidFill>
                  <a:srgbClr val="323232"/>
                </a:solidFill>
                <a:latin typeface="Calibri"/>
              </a:rPr>
              <a:t>•  Number of factors: try Parallel Analysis first, then compare to Scree plot</a:t>
            </a:r>
          </a:p>
          <a:p>
            <a:pPr algn="l"/>
            <a:r>
              <a:rPr sz="2000" b="0" i="0" dirty="0">
                <a:solidFill>
                  <a:srgbClr val="323232"/>
                </a:solidFill>
                <a:latin typeface="Calibri"/>
              </a:rPr>
              <a:t>•  Minimum loading to display: set to .30 or .40 to suppress weak loadings</a:t>
            </a:r>
          </a:p>
          <a:p>
            <a:pPr algn="l">
              <a:spcBef>
                <a:spcPts val="400"/>
              </a:spcBef>
            </a:pPr>
            <a:r>
              <a:rPr sz="2000" b="1" i="0" dirty="0">
                <a:solidFill>
                  <a:srgbClr val="000000"/>
                </a:solidFill>
                <a:latin typeface="Calibri"/>
              </a:rPr>
              <a:t>Key output to interpret:</a:t>
            </a:r>
          </a:p>
          <a:p>
            <a:pPr algn="l"/>
            <a:r>
              <a:rPr sz="2000" b="0" i="0" dirty="0">
                <a:solidFill>
                  <a:srgbClr val="323232"/>
                </a:solidFill>
                <a:latin typeface="Calibri"/>
              </a:rPr>
              <a:t>•  Factor Loadings table: which items load on which factors?</a:t>
            </a:r>
          </a:p>
          <a:p>
            <a:pPr algn="l"/>
            <a:r>
              <a:rPr sz="2000" b="0" i="0" dirty="0">
                <a:solidFill>
                  <a:srgbClr val="323232"/>
                </a:solidFill>
                <a:latin typeface="Calibri"/>
              </a:rPr>
              <a:t>•  </a:t>
            </a:r>
            <a:r>
              <a:rPr sz="2000" b="0" i="0" dirty="0" err="1">
                <a:solidFill>
                  <a:srgbClr val="323232"/>
                </a:solidFill>
                <a:latin typeface="Calibri"/>
              </a:rPr>
              <a:t>Uniquenesses</a:t>
            </a:r>
            <a:r>
              <a:rPr sz="2000" b="0" i="0" dirty="0">
                <a:solidFill>
                  <a:srgbClr val="323232"/>
                </a:solidFill>
                <a:latin typeface="Calibri"/>
              </a:rPr>
              <a:t>: high uniqueness (&gt; .80) means the item isn't well-explained by any factor</a:t>
            </a:r>
          </a:p>
          <a:p>
            <a:pPr algn="l"/>
            <a:r>
              <a:rPr sz="2000" b="0" i="0" dirty="0">
                <a:solidFill>
                  <a:srgbClr val="323232"/>
                </a:solidFill>
                <a:latin typeface="Calibri"/>
              </a:rPr>
              <a:t>•  Factor correlations: how much do your factors correlate?</a:t>
            </a:r>
          </a:p>
          <a:p>
            <a:pPr algn="l"/>
            <a:r>
              <a:rPr sz="2000" b="0" i="0" dirty="0">
                <a:solidFill>
                  <a:srgbClr val="323232"/>
                </a:solidFill>
                <a:latin typeface="Calibri"/>
              </a:rPr>
              <a:t>•  Model fit: CFI &gt; .95, RMSEA &lt; .06 suggest good fit (if using ML extraction)</a:t>
            </a:r>
          </a:p>
          <a:p>
            <a:pPr algn="l"/>
            <a:r>
              <a:rPr sz="2000" b="0" i="0" dirty="0">
                <a:solidFill>
                  <a:srgbClr val="323232"/>
                </a:solidFill>
                <a:latin typeface="Calibri"/>
              </a:rPr>
              <a:t>For LCA in JAMOVI: install '</a:t>
            </a:r>
            <a:r>
              <a:rPr sz="2000" b="0" i="0" dirty="0" err="1">
                <a:solidFill>
                  <a:srgbClr val="323232"/>
                </a:solidFill>
                <a:latin typeface="Calibri"/>
              </a:rPr>
              <a:t>snowLatent</a:t>
            </a:r>
            <a:r>
              <a:rPr sz="2000" b="0" i="0" dirty="0">
                <a:solidFill>
                  <a:srgbClr val="323232"/>
                </a:solidFill>
                <a:latin typeface="Calibri"/>
              </a:rPr>
              <a:t>' package from the JAMOVI library.</a:t>
            </a:r>
          </a:p>
        </p:txBody>
      </p:sp>
    </p:spTree>
    <p:extLst>
      <p:ext uri="{BB962C8B-B14F-4D97-AF65-F5344CB8AC3E}">
        <p14:creationId xmlns:p14="http://schemas.microsoft.com/office/powerpoint/2010/main" val="1412858921"/>
      </p:ext>
    </p:extLst>
  </p:cSld>
  <p:clrMapOvr>
    <a:masterClrMapping/>
  </p:clrMapOvr>
</p:sld>
</file>

<file path=ppt/theme/theme1.xml><?xml version="1.0" encoding="utf-8"?>
<a:theme xmlns:a="http://schemas.openxmlformats.org/drawingml/2006/main" name="ChronicleVTI">
  <a:themeElements>
    <a:clrScheme name="Chronicle">
      <a:dk1>
        <a:srgbClr val="000000"/>
      </a:dk1>
      <a:lt1>
        <a:srgbClr val="FFFFFF"/>
      </a:lt1>
      <a:dk2>
        <a:srgbClr val="1C1C32"/>
      </a:dk2>
      <a:lt2>
        <a:srgbClr val="F8F4F1"/>
      </a:lt2>
      <a:accent1>
        <a:srgbClr val="734B67"/>
      </a:accent1>
      <a:accent2>
        <a:srgbClr val="959EBB"/>
      </a:accent2>
      <a:accent3>
        <a:srgbClr val="596781"/>
      </a:accent3>
      <a:accent4>
        <a:srgbClr val="7F6E8C"/>
      </a:accent4>
      <a:accent5>
        <a:srgbClr val="DB9A8F"/>
      </a:accent5>
      <a:accent6>
        <a:srgbClr val="C29AB1"/>
      </a:accent6>
      <a:hlink>
        <a:srgbClr val="778BA2"/>
      </a:hlink>
      <a:folHlink>
        <a:srgbClr val="A27C99"/>
      </a:folHlink>
    </a:clrScheme>
    <a:fontScheme name="Univers Calisto">
      <a:majorFont>
        <a:latin typeface="Univers Condensed"/>
        <a:ea typeface=""/>
        <a:cs typeface=""/>
      </a:majorFont>
      <a:minorFont>
        <a:latin typeface="Calisto M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hronicleVTI" id="{508E4D90-5116-4BF0-876B-3F422DD1F65F}" vid="{AA21DC3D-92A8-43A4-8358-ED428371CD5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4665</TotalTime>
  <Words>8581</Words>
  <Application>Microsoft Office PowerPoint</Application>
  <PresentationFormat>Widescreen</PresentationFormat>
  <Paragraphs>1124</Paragraphs>
  <Slides>65</Slides>
  <Notes>11</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65</vt:i4>
      </vt:variant>
    </vt:vector>
  </HeadingPairs>
  <TitlesOfParts>
    <vt:vector size="74" baseType="lpstr">
      <vt:lpstr>Arial</vt:lpstr>
      <vt:lpstr>Calibri</vt:lpstr>
      <vt:lpstr>Calibri Light</vt:lpstr>
      <vt:lpstr>Calisto MT</vt:lpstr>
      <vt:lpstr>ui-monospace</vt:lpstr>
      <vt:lpstr>Univers Condensed</vt:lpstr>
      <vt:lpstr>Wingdings</vt:lpstr>
      <vt:lpstr>ChronicleVTI</vt:lpstr>
      <vt:lpstr>Office Theme</vt:lpstr>
      <vt:lpstr>EFA and LCA</vt:lpstr>
      <vt:lpstr>Statistical Modeling Context</vt:lpstr>
      <vt:lpstr>PowerPoint Presentation</vt:lpstr>
      <vt:lpstr>PowerPoint Presentation</vt:lpstr>
      <vt:lpstr>PowerPoint Presentation</vt:lpstr>
      <vt:lpstr>PowerPoint Presentation</vt:lpstr>
      <vt:lpstr>Some notation</vt:lpstr>
      <vt:lpstr>PowerPoint Presentation</vt:lpstr>
      <vt:lpstr>PowerPoint Presentation</vt:lpstr>
      <vt:lpstr>Exploratory Factor Analysis Specification Conditions &amp; Decisions</vt:lpstr>
      <vt:lpstr>PowerPoint Presentation</vt:lpstr>
      <vt:lpstr>PowerPoint Presentation</vt:lpstr>
      <vt:lpstr>PowerPoint Presentation</vt:lpstr>
      <vt:lpstr>PowerPoint Presentation</vt:lpstr>
      <vt:lpstr>LCA is a special case of a mixture model</vt:lpstr>
      <vt:lpstr>PowerPoint Presentation</vt:lpstr>
      <vt:lpstr>PowerPoint Presentation</vt:lpstr>
      <vt:lpstr>PowerPoint Presentation</vt:lpstr>
      <vt:lpstr>The Latent Class Model</vt:lpstr>
      <vt:lpstr>PowerPoint Presentation</vt:lpstr>
      <vt:lpstr>PowerPoint Presentation</vt:lpstr>
      <vt:lpstr>Person-centered v. Variable-centered analysis</vt:lpstr>
      <vt:lpstr>PowerPoint Presentation</vt:lpstr>
      <vt:lpstr>Quick examples</vt:lpstr>
      <vt:lpstr>What is frailty among older adults?</vt:lpstr>
      <vt:lpstr>PowerPoint Presentation</vt:lpstr>
      <vt:lpstr>PowerPoint Presentation</vt:lpstr>
      <vt:lpstr>PowerPoint Presentation</vt:lpstr>
      <vt:lpstr>PowerPoint Presentation</vt:lpstr>
      <vt:lpstr>Motivating Example: Patterns &amp; Classes</vt:lpstr>
      <vt:lpstr>PowerPoint Presentation</vt:lpstr>
      <vt:lpstr>Two key model assumptions (summary)</vt:lpstr>
      <vt:lpstr>PowerPoint Presentation</vt:lpstr>
      <vt:lpstr>Evaluating Model Fit/Selecting the # of classes</vt:lpstr>
      <vt:lpstr>PowerPoint Presentation</vt:lpstr>
      <vt:lpstr>Entropy</vt:lpstr>
      <vt:lpstr>PowerPoint Presentation</vt:lpstr>
      <vt:lpstr>Information Criterion Statistics</vt:lpstr>
      <vt:lpstr>PowerPoint Presentation</vt:lpstr>
      <vt:lpstr>PowerPoint Presentation</vt:lpstr>
      <vt:lpstr>Model fit Comparisons</vt:lpstr>
      <vt:lpstr>PowerPoint Presentation</vt:lpstr>
      <vt:lpstr>PowerPoint Presentation</vt:lpstr>
      <vt:lpstr>Latent class model fit indices (1 to 8 classes)</vt:lpstr>
      <vt:lpstr>PowerPoint Presentation</vt:lpstr>
      <vt:lpstr>Prediction</vt:lpstr>
      <vt:lpstr>PowerPoint Presentation</vt:lpstr>
      <vt:lpstr>PowerPoint Presentation</vt:lpstr>
      <vt:lpstr>Future reference</vt:lpstr>
      <vt:lpstr>PowerPoint Presentation</vt:lpstr>
      <vt:lpstr>Latent Class Mixture models</vt:lpstr>
      <vt:lpstr>Growth mixture modeling</vt:lpstr>
      <vt:lpstr>PowerPoint Presentation</vt:lpstr>
      <vt:lpstr>Growth Mixture Modeling</vt:lpstr>
      <vt:lpstr>PowerPoint Presentation</vt:lpstr>
      <vt:lpstr>Growth Mixture Modeling</vt:lpstr>
      <vt:lpstr>PowerPoint Presentation</vt:lpstr>
      <vt:lpstr>Growth Mixture Modeling</vt:lpstr>
      <vt:lpstr>Latent growth models</vt:lpstr>
      <vt:lpstr>PowerPoint Presentation</vt:lpstr>
      <vt:lpstr>Second order CFA</vt:lpstr>
      <vt:lpstr>PowerPoint Presentation</vt:lpstr>
      <vt:lpstr>Second order growth curve model</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Path Analysis, Confirmatory Factor Analysis and Structural Equation Modeling</dc:title>
  <dc:creator>Gia Barboza</dc:creator>
  <cp:lastModifiedBy>Barboza-Salerno, Gia</cp:lastModifiedBy>
  <cp:revision>127</cp:revision>
  <dcterms:created xsi:type="dcterms:W3CDTF">2021-10-11T16:53:15Z</dcterms:created>
  <dcterms:modified xsi:type="dcterms:W3CDTF">2026-04-21T11:47:30Z</dcterms:modified>
</cp:coreProperties>
</file>