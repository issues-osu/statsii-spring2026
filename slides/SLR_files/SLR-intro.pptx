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68" r:id="rId3"/>
    <p:sldId id="292" r:id="rId4"/>
    <p:sldId id="293" r:id="rId5"/>
    <p:sldId id="674" r:id="rId6"/>
    <p:sldId id="729" r:id="rId7"/>
    <p:sldId id="730" r:id="rId8"/>
    <p:sldId id="731" r:id="rId9"/>
    <p:sldId id="752" r:id="rId10"/>
    <p:sldId id="745" r:id="rId11"/>
    <p:sldId id="739" r:id="rId12"/>
    <p:sldId id="740" r:id="rId13"/>
    <p:sldId id="741" r:id="rId14"/>
    <p:sldId id="767" r:id="rId15"/>
    <p:sldId id="312" r:id="rId16"/>
    <p:sldId id="313" r:id="rId17"/>
    <p:sldId id="259" r:id="rId18"/>
    <p:sldId id="260" r:id="rId19"/>
    <p:sldId id="314" r:id="rId20"/>
    <p:sldId id="315" r:id="rId21"/>
    <p:sldId id="755" r:id="rId22"/>
    <p:sldId id="31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1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32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401589-A7AB-4B38-9636-83BDFB45624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C417045-28FB-4818-88E1-6C881253EE46}">
      <dgm:prSet/>
      <dgm:spPr/>
      <dgm:t>
        <a:bodyPr/>
        <a:lstStyle/>
        <a:p>
          <a:r>
            <a:rPr lang="en-US" dirty="0" err="1"/>
            <a:t>cov</a:t>
          </a:r>
          <a:r>
            <a:rPr lang="en-US" dirty="0"/>
            <a:t>(X,Y) &gt; 0 </a:t>
          </a:r>
          <a:r>
            <a:rPr lang="en-US" dirty="0">
              <a:sym typeface="Wingdings" panose="05000000000000000000" pitchFamily="2" charset="2"/>
            </a:rPr>
            <a:t></a:t>
          </a:r>
          <a:r>
            <a:rPr lang="en-US" dirty="0"/>
            <a:t> X and Y are positively correlated</a:t>
          </a:r>
        </a:p>
      </dgm:t>
    </dgm:pt>
    <dgm:pt modelId="{6AF7D822-FF40-4DF1-93C1-A8C0E56E1AFA}" type="parTrans" cxnId="{D6BB6852-AA13-487C-B199-9F36ED8C51F8}">
      <dgm:prSet/>
      <dgm:spPr/>
      <dgm:t>
        <a:bodyPr/>
        <a:lstStyle/>
        <a:p>
          <a:endParaRPr lang="en-US"/>
        </a:p>
      </dgm:t>
    </dgm:pt>
    <dgm:pt modelId="{2EA2DB50-6AF0-45EA-BAE5-C63007AEDE1D}" type="sibTrans" cxnId="{D6BB6852-AA13-487C-B199-9F36ED8C51F8}">
      <dgm:prSet/>
      <dgm:spPr/>
      <dgm:t>
        <a:bodyPr/>
        <a:lstStyle/>
        <a:p>
          <a:endParaRPr lang="en-US"/>
        </a:p>
      </dgm:t>
    </dgm:pt>
    <dgm:pt modelId="{30F3931F-7DB6-480E-85B0-5F10B533C5A8}">
      <dgm:prSet/>
      <dgm:spPr/>
      <dgm:t>
        <a:bodyPr/>
        <a:lstStyle/>
        <a:p>
          <a:r>
            <a:rPr lang="en-US" dirty="0" err="1"/>
            <a:t>cov</a:t>
          </a:r>
          <a:r>
            <a:rPr lang="en-US" dirty="0"/>
            <a:t>(X,Y) &lt; 0 </a:t>
          </a:r>
          <a:r>
            <a:rPr lang="en-US" dirty="0">
              <a:sym typeface="Wingdings" panose="05000000000000000000" pitchFamily="2" charset="2"/>
            </a:rPr>
            <a:t>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/>
            <a:t>X and Y are inversely correlated</a:t>
          </a:r>
        </a:p>
      </dgm:t>
    </dgm:pt>
    <dgm:pt modelId="{4F25E870-508B-4F79-8D73-E61360CC3162}" type="parTrans" cxnId="{3D641764-93FF-4B8D-B187-6D826AE6C785}">
      <dgm:prSet/>
      <dgm:spPr/>
      <dgm:t>
        <a:bodyPr/>
        <a:lstStyle/>
        <a:p>
          <a:endParaRPr lang="en-US"/>
        </a:p>
      </dgm:t>
    </dgm:pt>
    <dgm:pt modelId="{1C0493DF-036E-4135-9950-A53DA0C87BFA}" type="sibTrans" cxnId="{3D641764-93FF-4B8D-B187-6D826AE6C785}">
      <dgm:prSet/>
      <dgm:spPr/>
      <dgm:t>
        <a:bodyPr/>
        <a:lstStyle/>
        <a:p>
          <a:endParaRPr lang="en-US"/>
        </a:p>
      </dgm:t>
    </dgm:pt>
    <dgm:pt modelId="{0B1C0C58-1EF1-4F17-A7B6-10E1FC3C99B8}">
      <dgm:prSet/>
      <dgm:spPr/>
      <dgm:t>
        <a:bodyPr/>
        <a:lstStyle/>
        <a:p>
          <a:r>
            <a:rPr lang="en-US" dirty="0" err="1"/>
            <a:t>cov</a:t>
          </a:r>
          <a:r>
            <a:rPr lang="en-US" dirty="0"/>
            <a:t>(X,Y) = 0 </a:t>
          </a:r>
          <a:r>
            <a:rPr lang="en-US" dirty="0">
              <a:sym typeface="Wingdings" panose="05000000000000000000" pitchFamily="2" charset="2"/>
            </a:rPr>
            <a:t></a:t>
          </a:r>
          <a:r>
            <a:rPr lang="en-US" dirty="0"/>
            <a:t> X and Y are independent</a:t>
          </a:r>
        </a:p>
      </dgm:t>
    </dgm:pt>
    <dgm:pt modelId="{17600C08-B89D-4166-A2F9-2BF1C863630C}" type="parTrans" cxnId="{8530520B-4A9B-4631-88E7-EFF26DD449A3}">
      <dgm:prSet/>
      <dgm:spPr/>
      <dgm:t>
        <a:bodyPr/>
        <a:lstStyle/>
        <a:p>
          <a:endParaRPr lang="en-US"/>
        </a:p>
      </dgm:t>
    </dgm:pt>
    <dgm:pt modelId="{3B1F0E69-559E-42BC-9A18-6229087CD319}" type="sibTrans" cxnId="{8530520B-4A9B-4631-88E7-EFF26DD449A3}">
      <dgm:prSet/>
      <dgm:spPr/>
      <dgm:t>
        <a:bodyPr/>
        <a:lstStyle/>
        <a:p>
          <a:endParaRPr lang="en-US"/>
        </a:p>
      </dgm:t>
    </dgm:pt>
    <dgm:pt modelId="{03C578B1-3675-4D34-B088-0684D894EB2B}" type="pres">
      <dgm:prSet presAssocID="{D6401589-A7AB-4B38-9636-83BDFB45624C}" presName="linear" presStyleCnt="0">
        <dgm:presLayoutVars>
          <dgm:animLvl val="lvl"/>
          <dgm:resizeHandles val="exact"/>
        </dgm:presLayoutVars>
      </dgm:prSet>
      <dgm:spPr/>
    </dgm:pt>
    <dgm:pt modelId="{835DCBA9-6AA4-4F95-BA7D-FD4E5AAB0827}" type="pres">
      <dgm:prSet presAssocID="{1C417045-28FB-4818-88E1-6C881253EE4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B1C585F-6BE3-4A69-AEA4-AC9BAC73FECB}" type="pres">
      <dgm:prSet presAssocID="{2EA2DB50-6AF0-45EA-BAE5-C63007AEDE1D}" presName="spacer" presStyleCnt="0"/>
      <dgm:spPr/>
    </dgm:pt>
    <dgm:pt modelId="{82E3281D-6BEE-4F09-BFB0-B2A59AC5A9A5}" type="pres">
      <dgm:prSet presAssocID="{30F3931F-7DB6-480E-85B0-5F10B533C5A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5F01E34-0835-4898-9598-DCBCDB677A48}" type="pres">
      <dgm:prSet presAssocID="{1C0493DF-036E-4135-9950-A53DA0C87BFA}" presName="spacer" presStyleCnt="0"/>
      <dgm:spPr/>
    </dgm:pt>
    <dgm:pt modelId="{07676FB8-9069-41E2-B804-810EBC751492}" type="pres">
      <dgm:prSet presAssocID="{0B1C0C58-1EF1-4F17-A7B6-10E1FC3C99B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530520B-4A9B-4631-88E7-EFF26DD449A3}" srcId="{D6401589-A7AB-4B38-9636-83BDFB45624C}" destId="{0B1C0C58-1EF1-4F17-A7B6-10E1FC3C99B8}" srcOrd="2" destOrd="0" parTransId="{17600C08-B89D-4166-A2F9-2BF1C863630C}" sibTransId="{3B1F0E69-559E-42BC-9A18-6229087CD319}"/>
    <dgm:cxn modelId="{B5B82E3E-6A7E-4495-991C-E8DF5018EA99}" type="presOf" srcId="{0B1C0C58-1EF1-4F17-A7B6-10E1FC3C99B8}" destId="{07676FB8-9069-41E2-B804-810EBC751492}" srcOrd="0" destOrd="0" presId="urn:microsoft.com/office/officeart/2005/8/layout/vList2"/>
    <dgm:cxn modelId="{343F6741-FC54-411C-B716-F7479A3FE284}" type="presOf" srcId="{30F3931F-7DB6-480E-85B0-5F10B533C5A8}" destId="{82E3281D-6BEE-4F09-BFB0-B2A59AC5A9A5}" srcOrd="0" destOrd="0" presId="urn:microsoft.com/office/officeart/2005/8/layout/vList2"/>
    <dgm:cxn modelId="{3D641764-93FF-4B8D-B187-6D826AE6C785}" srcId="{D6401589-A7AB-4B38-9636-83BDFB45624C}" destId="{30F3931F-7DB6-480E-85B0-5F10B533C5A8}" srcOrd="1" destOrd="0" parTransId="{4F25E870-508B-4F79-8D73-E61360CC3162}" sibTransId="{1C0493DF-036E-4135-9950-A53DA0C87BFA}"/>
    <dgm:cxn modelId="{D6BB6852-AA13-487C-B199-9F36ED8C51F8}" srcId="{D6401589-A7AB-4B38-9636-83BDFB45624C}" destId="{1C417045-28FB-4818-88E1-6C881253EE46}" srcOrd="0" destOrd="0" parTransId="{6AF7D822-FF40-4DF1-93C1-A8C0E56E1AFA}" sibTransId="{2EA2DB50-6AF0-45EA-BAE5-C63007AEDE1D}"/>
    <dgm:cxn modelId="{9501C176-66DC-4D98-98A0-66AC7EB6CFB5}" type="presOf" srcId="{D6401589-A7AB-4B38-9636-83BDFB45624C}" destId="{03C578B1-3675-4D34-B088-0684D894EB2B}" srcOrd="0" destOrd="0" presId="urn:microsoft.com/office/officeart/2005/8/layout/vList2"/>
    <dgm:cxn modelId="{4FDFACEF-177D-4807-8EAD-2A054BD65AFC}" type="presOf" srcId="{1C417045-28FB-4818-88E1-6C881253EE46}" destId="{835DCBA9-6AA4-4F95-BA7D-FD4E5AAB0827}" srcOrd="0" destOrd="0" presId="urn:microsoft.com/office/officeart/2005/8/layout/vList2"/>
    <dgm:cxn modelId="{9E727835-5D33-446C-99DF-C3E6C5B53CBE}" type="presParOf" srcId="{03C578B1-3675-4D34-B088-0684D894EB2B}" destId="{835DCBA9-6AA4-4F95-BA7D-FD4E5AAB0827}" srcOrd="0" destOrd="0" presId="urn:microsoft.com/office/officeart/2005/8/layout/vList2"/>
    <dgm:cxn modelId="{B5410610-9951-47D0-8738-35983CD67125}" type="presParOf" srcId="{03C578B1-3675-4D34-B088-0684D894EB2B}" destId="{EB1C585F-6BE3-4A69-AEA4-AC9BAC73FECB}" srcOrd="1" destOrd="0" presId="urn:microsoft.com/office/officeart/2005/8/layout/vList2"/>
    <dgm:cxn modelId="{3F0A8A25-21E5-41F1-A887-DE7B7CB50041}" type="presParOf" srcId="{03C578B1-3675-4D34-B088-0684D894EB2B}" destId="{82E3281D-6BEE-4F09-BFB0-B2A59AC5A9A5}" srcOrd="2" destOrd="0" presId="urn:microsoft.com/office/officeart/2005/8/layout/vList2"/>
    <dgm:cxn modelId="{CBC73D3B-68A3-4016-BA08-017AC9EB064D}" type="presParOf" srcId="{03C578B1-3675-4D34-B088-0684D894EB2B}" destId="{B5F01E34-0835-4898-9598-DCBCDB677A48}" srcOrd="3" destOrd="0" presId="urn:microsoft.com/office/officeart/2005/8/layout/vList2"/>
    <dgm:cxn modelId="{B6533F7F-EDFC-4F4A-BCD5-7024E2214824}" type="presParOf" srcId="{03C578B1-3675-4D34-B088-0684D894EB2B}" destId="{07676FB8-9069-41E2-B804-810EBC75149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5DCBA9-6AA4-4F95-BA7D-FD4E5AAB0827}">
      <dsp:nvSpPr>
        <dsp:cNvPr id="0" name=""/>
        <dsp:cNvSpPr/>
      </dsp:nvSpPr>
      <dsp:spPr>
        <a:xfrm>
          <a:off x="0" y="34118"/>
          <a:ext cx="5332657" cy="1193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/>
            <a:t>cov</a:t>
          </a:r>
          <a:r>
            <a:rPr lang="en-US" sz="3000" kern="1200" dirty="0"/>
            <a:t>(X,Y) &gt; 0 </a:t>
          </a:r>
          <a:r>
            <a:rPr lang="en-US" sz="3000" kern="1200" dirty="0">
              <a:sym typeface="Wingdings" panose="05000000000000000000" pitchFamily="2" charset="2"/>
            </a:rPr>
            <a:t></a:t>
          </a:r>
          <a:r>
            <a:rPr lang="en-US" sz="3000" kern="1200" dirty="0"/>
            <a:t> X and Y are positively correlated</a:t>
          </a:r>
        </a:p>
      </dsp:txBody>
      <dsp:txXfrm>
        <a:off x="58257" y="92375"/>
        <a:ext cx="5216143" cy="1076886"/>
      </dsp:txXfrm>
    </dsp:sp>
    <dsp:sp modelId="{82E3281D-6BEE-4F09-BFB0-B2A59AC5A9A5}">
      <dsp:nvSpPr>
        <dsp:cNvPr id="0" name=""/>
        <dsp:cNvSpPr/>
      </dsp:nvSpPr>
      <dsp:spPr>
        <a:xfrm>
          <a:off x="0" y="1313918"/>
          <a:ext cx="5332657" cy="1193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/>
            <a:t>cov</a:t>
          </a:r>
          <a:r>
            <a:rPr lang="en-US" sz="3000" kern="1200" dirty="0"/>
            <a:t>(X,Y) &lt; 0 </a:t>
          </a:r>
          <a:r>
            <a:rPr lang="en-US" sz="3000" kern="1200" dirty="0">
              <a:sym typeface="Wingdings" panose="05000000000000000000" pitchFamily="2" charset="2"/>
            </a:rPr>
            <a:t></a:t>
          </a:r>
          <a:r>
            <a:rPr lang="en-US" sz="3000" kern="1200" dirty="0">
              <a:solidFill>
                <a:schemeClr val="tx1"/>
              </a:solidFill>
            </a:rPr>
            <a:t> </a:t>
          </a:r>
          <a:r>
            <a:rPr lang="en-US" sz="3000" kern="1200" dirty="0"/>
            <a:t>X and Y are inversely correlated</a:t>
          </a:r>
        </a:p>
      </dsp:txBody>
      <dsp:txXfrm>
        <a:off x="58257" y="1372175"/>
        <a:ext cx="5216143" cy="1076886"/>
      </dsp:txXfrm>
    </dsp:sp>
    <dsp:sp modelId="{07676FB8-9069-41E2-B804-810EBC751492}">
      <dsp:nvSpPr>
        <dsp:cNvPr id="0" name=""/>
        <dsp:cNvSpPr/>
      </dsp:nvSpPr>
      <dsp:spPr>
        <a:xfrm>
          <a:off x="0" y="2593718"/>
          <a:ext cx="5332657" cy="1193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/>
            <a:t>cov</a:t>
          </a:r>
          <a:r>
            <a:rPr lang="en-US" sz="3000" kern="1200" dirty="0"/>
            <a:t>(X,Y) = 0 </a:t>
          </a:r>
          <a:r>
            <a:rPr lang="en-US" sz="3000" kern="1200" dirty="0">
              <a:sym typeface="Wingdings" panose="05000000000000000000" pitchFamily="2" charset="2"/>
            </a:rPr>
            <a:t></a:t>
          </a:r>
          <a:r>
            <a:rPr lang="en-US" sz="3000" kern="1200" dirty="0"/>
            <a:t> X and Y are independent</a:t>
          </a:r>
        </a:p>
      </dsp:txBody>
      <dsp:txXfrm>
        <a:off x="58257" y="2651975"/>
        <a:ext cx="5216143" cy="10768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26.02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24.10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2929 183,'-59'-3,"-109"-19,-27-3,-569 20,402 9,264-5,-1 5,1 4,0 5,-115 30,115-16,1 4,-128 60,205-80,1 1,1 1,0 0,1 2,1-1,-18 21,7-3,1 0,-29 50,39-54,2 0,1 2,2-1,0 2,2-1,1 1,-5 44,7-12,2 0,9 110,-4-159,2 0,0 0,1-1,0 0,1 0,0 0,1 0,1-1,0 0,0 0,1-1,1 1,15 14,10 8,3-1,61 42,-14-18,3-4,2-4,3-4,143 50,402 80,-293-110,397 24,353-35,-764-42,1320 35,-1120-35,285 1,326 1,-673-2,376 20,256-11,-715-24,-100 5,310-5,-481-7,0-5,-2-5,121-37,-218 53,-1 0,0-1,0 0,-1-1,21-12,-28 14,0-1,-1 0,1 0,-1 0,0-1,0 0,-1 0,1 0,-1 0,-1-1,1 1,3-12,3-9,-1 0,-1 0,-1-1,-2 0,0 0,-2 0,-1-33,-4-4,-3-1,-3 0,-21-87,18 83,9 53,0 1,-1-1,-10-30,4 15,0 1,-7-59,14 70,-1-1,-1 0,0 1,-2-1,0 1,-2 1,0-1,-1 1,-15-24,-10-2,-3 0,-1 3,-3 1,-1 2,-1 1,-90-57,73 60,-2 2,-1 3,-95-31,-211-35,-171 10,-85 6,2 1,-316 44,424 22,7-1,-26 2,8-1,454 13,-760-15,428 4,-66-4,-382 3,522 15,-574-3,871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24.97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28.12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1 733,'9'-18,"6"-18,11-17,13-16,9-14,5-2,2 1,1 5,-10 13,-7 12,-7 16,-9 10,-3 5,-6 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29.32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0,'1'2,"0"0,1 0,-1-1,1 1,-1-1,1 1,0-1,0 0,0 1,-1-1,1 0,0 0,1 0,-1-1,0 1,3 0,2 2,54 19,0-2,2-3,112 17,195-1,-123-28,-79-3,-166-2,0 0,1 0,-1 0,0 0,0 0,1 0,-1 0,0 1,0 0,1-1,-1 1,0 0,0 0,0 0,0 0,0 0,0 1,0-1,-1 0,1 1,0 0,-1-1,1 1,-1 0,0 0,1 0,-1 0,1 3,0 2,-1 0,-1 0,1 0,-1 0,-1 0,1 0,-3 11,0 5,-1 14,-10 43,11-68,0-1,-1 1,-1-1,1 0,-2 0,0 0,-12 17,2-10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34.80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1,'0'9,"0"11,0 20,0 17,0 6,0 2,0-6,0 9,0 2,0 1,0 3,4 1,2-3,0-10,-2-11,0-13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35.69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236 235,'0'-2,"0"0,1 0,-1 0,1 1,0-1,0 0,-1 0,1 0,0 1,1-1,-1 0,0 1,0-1,1 1,-1 0,1-1,-1 1,1 0,-1 0,1 0,3-2,45-17,-39 16,91-35,2 5,1 4,197-28,-215 50,0 3,0 5,112 12,-154-6,-1 2,1 2,-2 1,0 3,0 2,-1 1,-1 2,43 27,-67-34,-1 0,1 1,-2 1,0 0,-1 1,0 1,-1 0,-1 0,0 2,-2-1,0 2,-1-1,0 1,-2 0,0 1,-1 0,-1 0,3 27,-2-12,-1 0,-2 0,-1 40,-3-64,1-1,-2 0,1 0,-2 0,1 0,-1 0,0 0,-1 0,-1-1,1 0,-1 0,-1 0,0-1,0 1,-12 11,1-6,0 0,-1-1,-1-1,0 0,-1-2,-38 15,-134 34,191-58,-110 24,0-4,-225 12,-233-33,352-4,149 4,28 1,-1-2,-41-6,78 6,0 1,0-1,0 0,0 0,0-1,0 1,1-1,-1 0,-4-3,-3-5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36.9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1 204,'33'0,"-12"2,1-2,-1-1,0 0,0-2,26-6,-43 8,-1 0,1 0,0 0,-1-1,1 0,-1 0,1 0,-1 0,0 0,0-1,0 1,0-1,0 0,0 0,-1 0,0 0,1 0,-1-1,-1 1,1-1,0 1,-1-1,1 0,-1 1,0-1,-1 0,1 0,-1 0,1 0,-1 0,0 0,-1 0,1 0,-2-6,1 6,-1 1,1-1,-1 0,0 1,0 0,0-1,0 1,-1 0,1 0,-1 0,0 1,0-1,0 0,0 1,0 0,0 0,-1 0,1 0,-1 1,0-1,-4 0,-3-3,-1 1,-1 1,1 0,-1 0,-19 0,30 3,-1 0,0 0,1 0,-1 0,0 1,1-1,-1 1,1-1,-1 1,1 0,-1 0,1 0,-1 1,1-1,0 1,0-1,0 1,0 0,0-1,-3 5,2-2,1 0,0 0,0 0,0 1,0-1,0 1,1-1,0 1,0-1,0 1,1 5,-1 1,1 0,1 0,0 1,0-1,1 0,0 0,1 0,1 0,6 14,-1-9,2 0,0-1,1-1,0 1,1-2,0 0,1 0,1-2,16 11,5 1,0-2,2-2,40 16,-15-11,1-3,1-2,1-4,131 15,-194-30,1 1,-1-1,0 0,1 0,-1 0,1-1,-1 1,0-1,0 0,1 0,-1 0,0 0,0 0,0-1,0 1,5-4,6-12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37.71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1,'8'5,"0"1,-1 0,1 1,-1 0,-1 0,1 0,-1 1,6 10,2 2,37 55,-3 2,-4 3,35 87,0-1,156 326,-217-460,-3-11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38.20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1,'4'0,"11"0,11 0,10 0,16 0,30 4,23 2,19 0,7-2,-11 0,-12-2,-21-1,-20-1,-22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39.12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1 342,'8'-1,"0"0,0-1,0 0,0 0,-1-1,1 1,-1-2,1 1,-1-1,0 0,0-1,-1 1,8-8,8-7,-1-1,22-28,-34 37,0-1,-1 1,0-2,9-19,-15 27,1 0,-2 0,1 0,0 0,-1 0,0 0,0 0,-1 0,1 0,-1-1,0 1,-1 0,1 0,-1 0,-3-10,3 13,-1-1,0 1,0-1,0 1,0-1,-1 1,1 0,-1 0,1 0,-1 1,0-1,1 1,-1-1,0 1,0 0,0 0,0 0,0 0,0 1,-1-1,1 1,0 0,-4 0,-12 0,0 0,-27 4,45-4,-3 1,0-1,1 1,-1 0,0 0,1 0,-1 0,1 1,-1-1,1 1,0 0,-1 0,1 0,0 0,1 1,-1-1,0 1,1 0,-1-1,1 1,0 0,0 1,-2 2,2 0,0 0,0 0,0 1,1-1,0 0,0 0,1 1,0-1,0 1,0-1,1 0,1 9,1-4,-1-1,1 0,1 0,0 0,0-1,1 1,9 12,-11-17,1 0,-1-1,1 1,0-1,0 0,1 0,-1 0,1-1,0 0,0 1,0-2,0 1,6 2,9-1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40.00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98,'2'0,"-1"0,1 1,0-1,-1 0,1 1,0-1,-1 1,1 0,-1-1,1 1,-1 0,0 0,1 0,-1 0,0 0,1 1,-1-1,0 0,0 0,0 1,1 2,18 38,-3-5,-27-105,9 65,1-1,-1 0,1 1,0-1,0 0,1 1,-1-1,1 1,-1-1,1 0,0 1,1-1,-1 1,0 0,1-1,0 1,0 0,0 0,0 0,0 0,1 1,-1-1,4-2,2-1,1 0,0 1,0 0,1 1,-1-1,20-4,-4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41.34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52,'1'0,"0"0,1 1,-1-1,0 1,0 0,0-1,0 1,0 0,0 0,0-1,0 1,-1 0,1 0,0 0,0 0,-1 0,1 0,0 0,-1 0,1 1,-1-1,0 0,1 0,-1 0,0 0,0 1,1 1,3 39,-3-37,-6 32,-2-27,0-27,5 6,0 0,1 0,0 0,1 0,0-1,1 1,2-11,-2 19,0-1,0 1,0-1,0 1,1-1,-1 1,1 0,0 0,0 0,0 0,3-4,-3 6,0-1,-1 1,1 0,-1 0,1 0,0 0,0 0,0 1,0-1,0 0,-1 1,1 0,0-1,0 1,0 0,0 0,0 0,0 0,0 0,0 1,0-1,3 1,1 1,1 1,-1-1,0 1,0 1,0-1,0 1,-1 0,1 0,-1 0,0 1,0 0,-1 0,1 0,-1 1,0 0,6 11,-3-2,0 0,-1 0,-1 0,0 0,5 31,-2-19,-8-26,0-1,1 1,-1-1,0 1,1-1,-1 0,0 1,1-1,-1 0,0 1,1-1,-1 0,1 1,-1-1,1 0,-1 0,0 1,1-1,-1 0,1 0,-1 0,1 0,-1 0,1 0,-1 0,2 0,1-1,0-1,-1 1,1-1,0 0,-1 0,1 0,-1 0,0 0,0-1,1 1,-2-1,4-4,19-26,31-39,-50 66,1-1,0 1,1 1,0-1,-1 1,2 0,13-7,-20 11,1 0,0 1,-1-1,1 1,0-1,0 1,0-1,-1 1,1 0,0 0,0 0,0 0,-1 0,1 0,0 1,0-1,0 1,-1-1,1 1,0-1,0 1,-1 0,1 0,2 2,-2-1,1 1,0 0,-1 0,0 0,0 1,0-1,0 0,0 1,-1-1,1 1,0 4,2 9,-1-1,0 1,-1 0,-1 19,-1-11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41.80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1,'4'0,"2"4,-1 6,0 6,2 4,1 4,-1 1,-2 1,-2-3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42.26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43.13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1 171,'7'-8,"0"-1,0 0,9-18,-13 20,0 1,1 0,0 0,0 0,1 0,0 1,-1 0,2 0,-1 0,1 0,11-6,-4 3,1 1,0 0,0 2,0-1,24-4,-36 9,1 1,0-1,-1 1,1 0,-1 0,1 0,0 1,-1-1,1 0,-1 1,1 0,-1-1,1 1,-1 0,1 0,-1 1,0-1,1 0,-1 1,0 0,0-1,0 1,0 0,-1 0,1 0,0 0,-1 0,1 0,-1 1,0-1,0 0,0 1,0-1,0 1,-1-1,1 1,-1-1,1 1,-1 0,0 3,2 88,-3-66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43.88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0,'4'0,"7"0,0 4,-1 7,-2 9,1 1,0 2,-2 2,-2 0,-2-4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44.25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45.21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69 1,'-1'0,"0"0,-1-1,1 1,-1 0,1 0,-1 0,1 1,0-1,-1 0,1 0,0 1,-1-1,1 1,0-1,-1 1,1 0,0-1,0 1,0 0,-1 0,1 0,0 0,0 0,0 0,1 0,-1 0,0 0,0 0,1 1,-1-1,0 0,1 1,-1-1,1 0,0 1,-1-1,1 0,0 1,0-1,0 1,0-1,0 0,0 1,0-1,1 1,-1-1,0 0,1 1,-1-1,1 0,-1 1,2 0,4 13,1 0,0 0,17 23,-11-18,-9-12,0-1,-1 1,0-1,0 1,0 0,-1 1,2 14,-4-21,0 0,0 0,0 0,0 0,0 1,0-1,-1 0,1 0,-1 0,0 0,1 0,-1 0,0 0,0-1,0 1,-1 0,1 0,0-1,-1 1,1-1,-1 1,1-1,-1 1,0-1,1 0,-1 0,0 0,0 0,0 0,0 0,0-1,0 1,0-1,0 1,-3-1,-44 3,25-3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46.17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0,'4'6,"-1"0,0-1,0 1,-1 1,1-1,-1 0,0 1,-1-1,2 12,1 2,18 73,-3 1,-5 0,4 177,-18-222,0-27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46.75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80,'4'0,"6"0,10 0,11-4,8-2,6-4,9 0,-1 1,-4 2,-7-1,-10-5,-11 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47.23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0,'0'5,"4"1,1 4,1 4,-2 5,-1 3,-1 3,-1-4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47.63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38:48.34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234 0,'-13'1,"-1"0,1 1,0 1,-1 0,2 1,-1 0,0 1,1 0,0 1,0 0,0 1,-20 17,27-18,-1 1,2-1,-1 2,1-1,0 0,0 1,1-1,0 1,1 0,-1 0,2 1,-1-1,1 0,0 16,0-20,1 1,1-1,-1 1,1-1,0 1,0-1,0 0,0 0,1 1,-1-1,1 0,0 0,1 0,-1-1,1 1,-1-1,1 1,0-1,0 0,1 0,-1 0,1 0,-1-1,1 1,0-1,0 0,0 0,6 2,16 1,-2-2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41:00.59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41:01.74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41:02.21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1,'5'0,"1"0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0T22:41:02.61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95484A-91D4-4A68-AAE0-4F7E6D655092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7E1E9-08E3-4D94-9C31-6671549D3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660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 = slope 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  <a:sym typeface="Wingdings" panose="05000000000000000000" pitchFamily="2" charset="2"/>
              </a:rPr>
              <a:t> change in </a:t>
            </a:r>
            <a:r>
              <a:rPr kumimoji="0" lang="en-US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  <a:sym typeface="Wingdings" panose="05000000000000000000" pitchFamily="2" charset="2"/>
              </a:rPr>
              <a:t>Y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  <a:sym typeface="Wingdings" panose="05000000000000000000" pitchFamily="2" charset="2"/>
              </a:rPr>
              <a:t> over change in </a:t>
            </a:r>
            <a:r>
              <a:rPr kumimoji="0" lang="en-US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Grande"/>
                <a:ea typeface="+mn-ea"/>
                <a:cs typeface="+mn-cs"/>
                <a:sym typeface="Wingdings" panose="05000000000000000000" pitchFamily="2" charset="2"/>
              </a:rPr>
              <a:t>X</a:t>
            </a:r>
            <a:endParaRPr kumimoji="0" lang="en-US" altLang="en-US" sz="12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4D021D-2B26-4719-9098-EA777E5221A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47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B9CA3FC-A089-45E3-A57B-CD2C3DFC36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FD4DB9-74D8-4AE8-A7C1-D436FF785786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12642" name="Rectangle 2">
            <a:extLst>
              <a:ext uri="{FF2B5EF4-FFF2-40B4-BE49-F238E27FC236}">
                <a16:creationId xmlns:a16="http://schemas.microsoft.com/office/drawing/2014/main" id="{0AF44005-3B9B-4FD1-9D20-DDAC9FA7F6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F5458960-7BC9-49F9-9D8B-E5100AB7A8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4A2A-263B-AE0F-6450-BAF676EFB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BC4274-0C0C-C8C7-210C-8C79C7618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4A290-DE13-817B-A33C-56CA6F9CF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F301-0D02-440D-8BAB-7507B1BE5B2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D5F97-44F9-BDD9-AC3D-6C72E0168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FBFB3-B345-1B0C-FCAF-5EC2EEEAD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D9D1-13E3-432F-B20E-C00DD3263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23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7AEC4-2464-FD3A-8116-9C3CDC1F0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143AA-D9B9-B6B2-C04D-01168FC6B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2AD8C-7036-2600-73EF-013269088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F301-0D02-440D-8BAB-7507B1BE5B2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967D2-1FD8-CED0-6A98-DE8BAC459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4B0BE-6429-1483-FCDB-A347294D7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D9D1-13E3-432F-B20E-C00DD3263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63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5A790-D63F-665B-332A-A73FC62F3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44AE9-8E33-F886-5979-1EE8142AC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0905E-946C-9846-CA8D-B4971BDB6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F301-0D02-440D-8BAB-7507B1BE5B2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12F5C-763A-8589-8BEE-B92B47BF1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96218-E479-7F09-8654-A3CEE30DC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D9D1-13E3-432F-B20E-C00DD3263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204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728FB-2BC6-4DE6-2E8E-FB528116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26613-A6EE-6B01-A4CF-5CC5CA0849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A05404-5F99-88D7-6B61-28DCD771A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3FCA8-3C03-B8FF-4945-7DFF4CED0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F301-0D02-440D-8BAB-7507B1BE5B2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9EC9EC-DAF5-F48D-063A-7F5F5128C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8542DA-9819-1F9B-1D5A-023D3D315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D9D1-13E3-432F-B20E-C00DD3263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569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A4E00-338C-F52B-0ED7-EA71FA327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C67FD-29B0-AB66-F5E7-BE3523FF8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22C1F2-33BE-42BD-CBE9-6BF5CD137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F8D876-C6D9-6B46-6F58-8AA848E516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160C0C-2A07-FDED-DF68-854E764817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1DA450-199D-0E95-AC91-597F88AA6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F301-0D02-440D-8BAB-7507B1BE5B2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9F4C1C-DDA3-6373-7574-9583EF3E5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C84775-046C-888C-33C3-40CFA6339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D9D1-13E3-432F-B20E-C00DD3263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026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C9ABA-87FD-F208-A3C1-91E7D21B1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4942C3-1E27-9E5C-D266-F83FA0D7C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F301-0D02-440D-8BAB-7507B1BE5B2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DDEAB2-624E-2213-D019-6310B0CCE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446F8C-81BD-B7ED-FBEF-A0CDC914F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D9D1-13E3-432F-B20E-C00DD3263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97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5AE98E-FF86-04F5-FE65-0CEBAFF47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F301-0D02-440D-8BAB-7507B1BE5B2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8C8B99-5F61-2DD5-D8BD-1F26DB6F3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2B595-2F9A-CD4B-5143-A83B7FD06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D9D1-13E3-432F-B20E-C00DD3263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614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3515E-9CDE-818D-E18E-E7F5EF785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22188-65DE-FE8A-4C66-0066CD22D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B409A-5552-47A6-E2B4-9EC1FA119B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D115A-C4A0-A967-F874-C826ABC16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F301-0D02-440D-8BAB-7507B1BE5B2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3C10B1-0029-FDF8-1EBB-2D9637A15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6BC7A8-95E7-01CA-D76E-6051F9C84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D9D1-13E3-432F-B20E-C00DD3263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337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1AE8F-DC50-FD98-FFAE-9C0D19198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B2C57-2F40-1264-EE09-3BF055BE27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325671-F457-FF62-FEE9-1F757C77AD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67808-B131-7A3E-E88C-FAE2BE17D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F301-0D02-440D-8BAB-7507B1BE5B2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E64A3B-021B-278E-D72A-DB240005F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29C4A1-9AB9-2491-26BF-42E34ABE2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D9D1-13E3-432F-B20E-C00DD3263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236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ACD66-9D65-F2CF-632E-46561E049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890A87-1C37-1B7E-1DA1-AEB7A1B335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E56C3-8F9A-26EC-BECA-B6D7E24AF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F301-0D02-440D-8BAB-7507B1BE5B2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78444-04AE-9EB2-3D87-05B2D6E85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22D95-4838-BBA3-D612-AFC2E7E0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D9D1-13E3-432F-B20E-C00DD3263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696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8734E0-AA1E-A108-BBA9-872490BA21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6F89A9-C7F1-E173-1837-DA53F7DB52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56675-9D53-85F0-E8B9-F153C459E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F301-0D02-440D-8BAB-7507B1BE5B2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5A0BE-223C-1858-D12E-AAF8C53EE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F1BF2-522D-AC25-9358-19B08D3AD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D9D1-13E3-432F-B20E-C00DD3263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65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edi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F5D581-F5B0-4701-B187-0D4FAB44900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ru-RU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E5F41AB-E2B9-45DD-B1C7-9F4DBA4946B9}"/>
              </a:ext>
            </a:extLst>
          </p:cNvPr>
          <p:cNvSpPr/>
          <p:nvPr userDrawn="1"/>
        </p:nvSpPr>
        <p:spPr>
          <a:xfrm>
            <a:off x="2445759" y="-12700"/>
            <a:ext cx="7289800" cy="6883400"/>
          </a:xfrm>
          <a:custGeom>
            <a:avLst/>
            <a:gdLst>
              <a:gd name="connsiteX0" fmla="*/ 5063490 w 7289800"/>
              <a:gd name="connsiteY0" fmla="*/ 12700 h 6883400"/>
              <a:gd name="connsiteX1" fmla="*/ 2499360 w 7289800"/>
              <a:gd name="connsiteY1" fmla="*/ 6870700 h 6883400"/>
              <a:gd name="connsiteX2" fmla="*/ 4721860 w 7289800"/>
              <a:gd name="connsiteY2" fmla="*/ 6870700 h 6883400"/>
              <a:gd name="connsiteX3" fmla="*/ 7285990 w 7289800"/>
              <a:gd name="connsiteY3" fmla="*/ 12700 h 6883400"/>
              <a:gd name="connsiteX4" fmla="*/ 5063490 w 7289800"/>
              <a:gd name="connsiteY4" fmla="*/ 12700 h 6883400"/>
              <a:gd name="connsiteX5" fmla="*/ 12700 w 7289800"/>
              <a:gd name="connsiteY5" fmla="*/ 6870700 h 6883400"/>
              <a:gd name="connsiteX6" fmla="*/ 2235200 w 7289800"/>
              <a:gd name="connsiteY6" fmla="*/ 6870700 h 6883400"/>
              <a:gd name="connsiteX7" fmla="*/ 4799331 w 7289800"/>
              <a:gd name="connsiteY7" fmla="*/ 12700 h 6883400"/>
              <a:gd name="connsiteX8" fmla="*/ 2576830 w 7289800"/>
              <a:gd name="connsiteY8" fmla="*/ 12700 h 6883400"/>
              <a:gd name="connsiteX9" fmla="*/ 12700 w 7289800"/>
              <a:gd name="connsiteY9" fmla="*/ 6870700 h 68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89800" h="6883400">
                <a:moveTo>
                  <a:pt x="5063490" y="12700"/>
                </a:moveTo>
                <a:lnTo>
                  <a:pt x="2499360" y="6870700"/>
                </a:lnTo>
                <a:lnTo>
                  <a:pt x="4721860" y="6870700"/>
                </a:lnTo>
                <a:lnTo>
                  <a:pt x="7285990" y="12700"/>
                </a:lnTo>
                <a:lnTo>
                  <a:pt x="5063490" y="12700"/>
                </a:lnTo>
                <a:close/>
                <a:moveTo>
                  <a:pt x="12700" y="6870700"/>
                </a:moveTo>
                <a:lnTo>
                  <a:pt x="2235200" y="6870700"/>
                </a:lnTo>
                <a:lnTo>
                  <a:pt x="4799331" y="12700"/>
                </a:lnTo>
                <a:lnTo>
                  <a:pt x="2576830" y="12700"/>
                </a:lnTo>
                <a:lnTo>
                  <a:pt x="12700" y="68707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56579"/>
            <a:ext cx="10515600" cy="1325563"/>
          </a:xfrm>
        </p:spPr>
        <p:txBody>
          <a:bodyPr lIns="0" r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VIDEO SLIDE</a:t>
            </a:r>
            <a:endParaRPr lang="ru-RU" dirty="0"/>
          </a:p>
        </p:txBody>
      </p:sp>
      <p:sp>
        <p:nvSpPr>
          <p:cNvPr id="16" name="Media Placeholder 7">
            <a:extLst>
              <a:ext uri="{FF2B5EF4-FFF2-40B4-BE49-F238E27FC236}">
                <a16:creationId xmlns:a16="http://schemas.microsoft.com/office/drawing/2014/main" id="{A11F77F4-4B16-4503-B9B6-AE22C686E3E3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1395984" y="1497770"/>
            <a:ext cx="9400032" cy="4215384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media</a:t>
            </a:r>
            <a:endParaRPr lang="ru-RU" dirty="0"/>
          </a:p>
        </p:txBody>
      </p:sp>
      <p:sp>
        <p:nvSpPr>
          <p:cNvPr id="12" name="Graphic 4">
            <a:extLst>
              <a:ext uri="{FF2B5EF4-FFF2-40B4-BE49-F238E27FC236}">
                <a16:creationId xmlns:a16="http://schemas.microsoft.com/office/drawing/2014/main" id="{C7654E36-50FF-425E-B595-F3957610B5D8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5935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454B59-47F4-8222-A636-737CFC6E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033A4-1C04-D531-AC84-5012F7945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4A4CC-045F-0BE4-B63E-44A1C86F9D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EAF301-0D02-440D-8BAB-7507B1BE5B2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47A00-0C50-92D5-E4A2-DFC6D37770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8390F-09B2-5F68-F4FC-A894CCFFCD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36D9D1-13E3-432F-B20E-C00DD3263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32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4.png"/><Relationship Id="rId26" Type="http://schemas.openxmlformats.org/officeDocument/2006/relationships/image" Target="../media/image18.png"/><Relationship Id="rId39" Type="http://schemas.openxmlformats.org/officeDocument/2006/relationships/customXml" Target="../ink/ink20.xml"/><Relationship Id="rId21" Type="http://schemas.openxmlformats.org/officeDocument/2006/relationships/customXml" Target="../ink/ink10.xml"/><Relationship Id="rId34" Type="http://schemas.openxmlformats.org/officeDocument/2006/relationships/customXml" Target="../ink/ink17.xml"/><Relationship Id="rId42" Type="http://schemas.openxmlformats.org/officeDocument/2006/relationships/image" Target="../media/image25.png"/><Relationship Id="rId47" Type="http://schemas.openxmlformats.org/officeDocument/2006/relationships/image" Target="../media/image27.png"/><Relationship Id="rId7" Type="http://schemas.openxmlformats.org/officeDocument/2006/relationships/customXml" Target="../ink/ink3.xml"/><Relationship Id="rId2" Type="http://schemas.openxmlformats.org/officeDocument/2006/relationships/image" Target="../media/image5.png"/><Relationship Id="rId16" Type="http://schemas.openxmlformats.org/officeDocument/2006/relationships/image" Target="../media/image13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11" Type="http://schemas.openxmlformats.org/officeDocument/2006/relationships/customXml" Target="../ink/ink5.xml"/><Relationship Id="rId24" Type="http://schemas.openxmlformats.org/officeDocument/2006/relationships/image" Target="../media/image17.png"/><Relationship Id="rId32" Type="http://schemas.openxmlformats.org/officeDocument/2006/relationships/customXml" Target="../ink/ink16.xml"/><Relationship Id="rId37" Type="http://schemas.openxmlformats.org/officeDocument/2006/relationships/customXml" Target="../ink/ink19.xml"/><Relationship Id="rId40" Type="http://schemas.openxmlformats.org/officeDocument/2006/relationships/image" Target="../media/image24.png"/><Relationship Id="rId45" Type="http://schemas.openxmlformats.org/officeDocument/2006/relationships/customXml" Target="../ink/ink23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9.png"/><Relationship Id="rId36" Type="http://schemas.openxmlformats.org/officeDocument/2006/relationships/customXml" Target="../ink/ink18.xml"/><Relationship Id="rId10" Type="http://schemas.openxmlformats.org/officeDocument/2006/relationships/image" Target="../media/image10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4" Type="http://schemas.openxmlformats.org/officeDocument/2006/relationships/image" Target="../media/image26.png"/><Relationship Id="rId4" Type="http://schemas.openxmlformats.org/officeDocument/2006/relationships/image" Target="../media/image6.png"/><Relationship Id="rId9" Type="http://schemas.openxmlformats.org/officeDocument/2006/relationships/customXml" Target="../ink/ink4.xml"/><Relationship Id="rId14" Type="http://schemas.openxmlformats.org/officeDocument/2006/relationships/image" Target="../media/image12.png"/><Relationship Id="rId22" Type="http://schemas.openxmlformats.org/officeDocument/2006/relationships/image" Target="../media/image16.png"/><Relationship Id="rId27" Type="http://schemas.openxmlformats.org/officeDocument/2006/relationships/customXml" Target="../ink/ink13.xml"/><Relationship Id="rId30" Type="http://schemas.openxmlformats.org/officeDocument/2006/relationships/image" Target="../media/image20.png"/><Relationship Id="rId35" Type="http://schemas.openxmlformats.org/officeDocument/2006/relationships/image" Target="../media/image22.png"/><Relationship Id="rId43" Type="http://schemas.openxmlformats.org/officeDocument/2006/relationships/customXml" Target="../ink/ink22.xml"/><Relationship Id="rId8" Type="http://schemas.openxmlformats.org/officeDocument/2006/relationships/image" Target="../media/image8.png"/><Relationship Id="rId3" Type="http://schemas.openxmlformats.org/officeDocument/2006/relationships/customXml" Target="../ink/ink1.xml"/><Relationship Id="rId12" Type="http://schemas.openxmlformats.org/officeDocument/2006/relationships/image" Target="../media/image11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image" Target="../media/image21.png"/><Relationship Id="rId38" Type="http://schemas.openxmlformats.org/officeDocument/2006/relationships/image" Target="../media/image23.png"/><Relationship Id="rId46" Type="http://schemas.openxmlformats.org/officeDocument/2006/relationships/customXml" Target="../ink/ink24.xml"/><Relationship Id="rId20" Type="http://schemas.openxmlformats.org/officeDocument/2006/relationships/image" Target="../media/image15.png"/><Relationship Id="rId41" Type="http://schemas.openxmlformats.org/officeDocument/2006/relationships/customXml" Target="../ink/ink2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.xml"/><Relationship Id="rId3" Type="http://schemas.openxmlformats.org/officeDocument/2006/relationships/image" Target="../media/image29.wmf"/><Relationship Id="rId7" Type="http://schemas.openxmlformats.org/officeDocument/2006/relationships/image" Target="../media/image8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5.xml"/><Relationship Id="rId11" Type="http://schemas.openxmlformats.org/officeDocument/2006/relationships/customXml" Target="../ink/ink28.xml"/><Relationship Id="rId5" Type="http://schemas.openxmlformats.org/officeDocument/2006/relationships/image" Target="../media/image30.wmf"/><Relationship Id="rId10" Type="http://schemas.openxmlformats.org/officeDocument/2006/relationships/image" Target="../media/image31.png"/><Relationship Id="rId4" Type="http://schemas.openxmlformats.org/officeDocument/2006/relationships/oleObject" Target="../embeddings/oleObject3.bin"/><Relationship Id="rId9" Type="http://schemas.openxmlformats.org/officeDocument/2006/relationships/customXml" Target="../ink/ink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DB34-32C7-ED14-F941-B2251ED319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2DFC6B-34BF-998E-8699-8AA8FC6775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42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Simple linear regression (an overview)</a:t>
            </a:r>
          </a:p>
          <a:p>
            <a:r>
              <a:rPr lang="en-US" dirty="0"/>
              <a:t>What multiple linear regression is and how it works</a:t>
            </a:r>
          </a:p>
          <a:p>
            <a:pPr lvl="1"/>
            <a:r>
              <a:rPr lang="en-US" dirty="0"/>
              <a:t>Characteristics</a:t>
            </a:r>
          </a:p>
          <a:p>
            <a:pPr lvl="1"/>
            <a:r>
              <a:rPr lang="en-US" dirty="0"/>
              <a:t>Sample size</a:t>
            </a:r>
          </a:p>
          <a:p>
            <a:pPr lvl="1"/>
            <a:r>
              <a:rPr lang="en-US" dirty="0"/>
              <a:t>Power</a:t>
            </a:r>
          </a:p>
          <a:p>
            <a:pPr lvl="1"/>
            <a:r>
              <a:rPr lang="en-US" dirty="0"/>
              <a:t>Effect Size</a:t>
            </a:r>
          </a:p>
          <a:p>
            <a:pPr lvl="1"/>
            <a:r>
              <a:rPr lang="en-US" dirty="0"/>
              <a:t>Assumptions</a:t>
            </a:r>
          </a:p>
          <a:p>
            <a:r>
              <a:rPr lang="en-US" dirty="0"/>
              <a:t>Mathematical introduction snapshot</a:t>
            </a:r>
          </a:p>
          <a:p>
            <a:r>
              <a:rPr lang="en-US" dirty="0"/>
              <a:t>Code and examples posted to CANVAS for W3</a:t>
            </a:r>
          </a:p>
        </p:txBody>
      </p:sp>
    </p:spTree>
    <p:extLst>
      <p:ext uri="{BB962C8B-B14F-4D97-AF65-F5344CB8AC3E}">
        <p14:creationId xmlns:p14="http://schemas.microsoft.com/office/powerpoint/2010/main" val="1182217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D7FBBE-A20C-4B1D-90B6-5532C7C69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95E168-DA5E-4888-8D8A-92B118324C14}" type="slidenum">
              <a:rPr lang="ru-RU" smtClean="0"/>
              <a:pPr>
                <a:spcAft>
                  <a:spcPts val="600"/>
                </a:spcAft>
              </a:pPr>
              <a:t>3</a:t>
            </a:fld>
            <a:endParaRPr lang="ru-RU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3C249D8E-1B1B-4C20-A54F-B66E633DC79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57163"/>
            <a:ext cx="10515600" cy="1325562"/>
          </a:xfrm>
        </p:spPr>
        <p:txBody>
          <a:bodyPr/>
          <a:lstStyle/>
          <a:p>
            <a:r>
              <a:rPr lang="en-US" dirty="0"/>
              <a:t>Model selection for continuous dependent variables</a:t>
            </a:r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6B88C205-B8AB-46D7-9FF7-6073B30B4B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2161809"/>
              </p:ext>
            </p:extLst>
          </p:nvPr>
        </p:nvGraphicFramePr>
        <p:xfrm>
          <a:off x="178654" y="1482725"/>
          <a:ext cx="9732148" cy="4282837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1414264">
                  <a:extLst>
                    <a:ext uri="{9D8B030D-6E8A-4147-A177-3AD203B41FA5}">
                      <a16:colId xmlns:a16="http://schemas.microsoft.com/office/drawing/2014/main" val="2200425388"/>
                    </a:ext>
                  </a:extLst>
                </a:gridCol>
                <a:gridCol w="2662437">
                  <a:extLst>
                    <a:ext uri="{9D8B030D-6E8A-4147-A177-3AD203B41FA5}">
                      <a16:colId xmlns:a16="http://schemas.microsoft.com/office/drawing/2014/main" val="3306377049"/>
                    </a:ext>
                  </a:extLst>
                </a:gridCol>
                <a:gridCol w="2807604">
                  <a:extLst>
                    <a:ext uri="{9D8B030D-6E8A-4147-A177-3AD203B41FA5}">
                      <a16:colId xmlns:a16="http://schemas.microsoft.com/office/drawing/2014/main" val="1335301271"/>
                    </a:ext>
                  </a:extLst>
                </a:gridCol>
                <a:gridCol w="2847843">
                  <a:extLst>
                    <a:ext uri="{9D8B030D-6E8A-4147-A177-3AD203B41FA5}">
                      <a16:colId xmlns:a16="http://schemas.microsoft.com/office/drawing/2014/main" val="3742422588"/>
                    </a:ext>
                  </a:extLst>
                </a:gridCol>
              </a:tblGrid>
              <a:tr h="432251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100" b="0" i="0" u="none" strike="noStrike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0" i="0" u="none" strike="noStrike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Outcome Variable</a:t>
                      </a:r>
                    </a:p>
                  </a:txBody>
                  <a:tcPr marL="90673" marR="69748" marT="69748" marB="69748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Are the observations independent or correlated?</a:t>
                      </a:r>
                    </a:p>
                  </a:txBody>
                  <a:tcPr marL="90673" marR="69748" marT="69748" marB="69748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100" b="0" i="0" u="none" strike="noStrike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0" i="0" u="none" strike="noStrike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Alternatives if the normality assumption is violated (and small sample size):</a:t>
                      </a:r>
                    </a:p>
                  </a:txBody>
                  <a:tcPr marL="90673" marR="69748" marT="69748" marB="69748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050416"/>
                  </a:ext>
                </a:extLst>
              </a:tr>
              <a:tr h="4322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0" i="0" u="none" strike="noStrike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independent</a:t>
                      </a:r>
                    </a:p>
                  </a:txBody>
                  <a:tcPr marL="90673" marR="69748" marT="69748" marB="69748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0" i="0" u="none" strike="noStrike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correlated </a:t>
                      </a:r>
                    </a:p>
                  </a:txBody>
                  <a:tcPr marL="90673" marR="69748" marT="69748" marB="69748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1276731"/>
                  </a:ext>
                </a:extLst>
              </a:tr>
              <a:tr h="341833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0" i="0" u="none" strike="noStrike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Continuous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0" i="0" u="none" strike="noStrike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(e.g. pain scale, cognitive function)</a:t>
                      </a:r>
                    </a:p>
                  </a:txBody>
                  <a:tcPr marL="90673" marR="69748" marT="69748" marB="69748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1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T-test:</a:t>
                      </a:r>
                      <a:r>
                        <a:rPr kumimoji="0" lang="en-GB" alt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compares means between two independent groups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1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ANOVA:</a:t>
                      </a:r>
                      <a:r>
                        <a:rPr kumimoji="0" lang="en-GB" alt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compares means between more than two independent groups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1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Pearson’s correlation coefficient</a:t>
                      </a:r>
                      <a:r>
                        <a:rPr kumimoji="0" lang="en-GB" alt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(linear correlation): shows linear correlation between two continuous variables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1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Linear regression:</a:t>
                      </a:r>
                      <a:r>
                        <a:rPr kumimoji="0" lang="en-GB" alt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multivariate regression technique used when the outcome is continuous; gives slopes</a:t>
                      </a:r>
                      <a:endParaRPr kumimoji="0" lang="en-US" alt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0673" marR="69748" marT="69748" marB="69748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Paired </a:t>
                      </a:r>
                      <a:r>
                        <a:rPr kumimoji="0" lang="en-US" altLang="en-US" sz="1100" b="1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ttest</a:t>
                      </a:r>
                      <a:r>
                        <a:rPr kumimoji="0" lang="en-US" altLang="en-US" sz="11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:</a:t>
                      </a:r>
                      <a:r>
                        <a:rPr kumimoji="0" lang="en-US" alt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compares means between two related groups (e.g., the same subjects before and after)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Repeated-measures ANOVA:</a:t>
                      </a:r>
                      <a:r>
                        <a:rPr kumimoji="0" lang="en-US" alt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compares changes over time in the means of two or more groups (repeated measurements)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Mixed models/GEE modeling</a:t>
                      </a:r>
                      <a:r>
                        <a:rPr kumimoji="0" lang="en-US" alt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: multivariate regression techniques to compare changes over time between two or more groups; gives rate of change over time</a:t>
                      </a:r>
                    </a:p>
                  </a:txBody>
                  <a:tcPr marL="90673" marR="69748" marT="69748" marB="69748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0" i="0" u="sng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Non-parametric statistics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Wilcoxon sign-rank test</a:t>
                      </a:r>
                      <a:r>
                        <a:rPr kumimoji="0" lang="en-US" alt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: non-parametric alternative to the paired </a:t>
                      </a:r>
                      <a:r>
                        <a:rPr kumimoji="0" lang="en-US" altLang="en-US" sz="11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ttest</a:t>
                      </a:r>
                      <a:endParaRPr kumimoji="0" lang="en-US" altLang="en-US" sz="1100" b="1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100" b="1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Wilcoxon sum-rank test</a:t>
                      </a:r>
                      <a:r>
                        <a:rPr kumimoji="0" lang="en-US" alt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(=Mann-Whitney U test): non-parametric alternative to the </a:t>
                      </a:r>
                      <a:r>
                        <a:rPr kumimoji="0" lang="en-US" altLang="en-US" sz="11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ttest</a:t>
                      </a:r>
                      <a:endParaRPr kumimoji="0" lang="en-US" alt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Kruskal-Wallis test: </a:t>
                      </a:r>
                      <a:r>
                        <a:rPr kumimoji="0" lang="en-US" alt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non-parametric alternative to ANOVA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Spearman rank correlation coefficient:</a:t>
                      </a:r>
                      <a:r>
                        <a:rPr kumimoji="0" lang="en-US" alt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non-parametric alternative to Pearson’s correlation coefficient </a:t>
                      </a:r>
                      <a:endParaRPr kumimoji="0" lang="en-US" altLang="en-US" sz="1100" b="1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0673" marR="69748" marT="69748" marB="69748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335816"/>
                  </a:ext>
                </a:extLst>
              </a:tr>
            </a:tbl>
          </a:graphicData>
        </a:graphic>
      </p:graphicFrame>
      <p:sp>
        <p:nvSpPr>
          <p:cNvPr id="8" name="Oval 22">
            <a:extLst>
              <a:ext uri="{FF2B5EF4-FFF2-40B4-BE49-F238E27FC236}">
                <a16:creationId xmlns:a16="http://schemas.microsoft.com/office/drawing/2014/main" id="{E9666A15-4B6E-4872-ABFD-077460EEF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0526" y="3309937"/>
            <a:ext cx="2971800" cy="1219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921D0B-B0DC-F6DB-27B0-4F92CB19AE92}"/>
              </a:ext>
            </a:extLst>
          </p:cNvPr>
          <p:cNvSpPr txBox="1"/>
          <p:nvPr/>
        </p:nvSpPr>
        <p:spPr>
          <a:xfrm>
            <a:off x="178654" y="6356349"/>
            <a:ext cx="2835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 </a:t>
            </a:r>
            <a:r>
              <a:rPr lang="en-US" dirty="0" err="1"/>
              <a:t>PTSD_foster_care.jasp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475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2FD20C-5C16-4480-9078-9A041F9C49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730162" y="6002372"/>
            <a:ext cx="54944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95E168-DA5E-4888-8D8A-92B118324C14}" type="slidenum">
              <a:rPr lang="ru-RU" smtClean="0"/>
              <a:pPr>
                <a:spcAft>
                  <a:spcPts val="600"/>
                </a:spcAft>
              </a:pPr>
              <a:t>4</a:t>
            </a:fld>
            <a:endParaRPr lang="ru-RU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196108-FA77-4C93-B1A1-5D7598960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78" y="185596"/>
            <a:ext cx="8304212" cy="665430"/>
          </a:xfrm>
        </p:spPr>
        <p:txBody>
          <a:bodyPr anchor="b">
            <a:normAutofit/>
          </a:bodyPr>
          <a:lstStyle/>
          <a:p>
            <a:r>
              <a:rPr lang="en-US" dirty="0"/>
              <a:t>Covariance and Correlation</a:t>
            </a:r>
          </a:p>
        </p:txBody>
      </p:sp>
      <p:graphicFrame>
        <p:nvGraphicFramePr>
          <p:cNvPr id="18" name="Text Placeholder 13">
            <a:extLst>
              <a:ext uri="{FF2B5EF4-FFF2-40B4-BE49-F238E27FC236}">
                <a16:creationId xmlns:a16="http://schemas.microsoft.com/office/drawing/2014/main" id="{75528EAE-1FB9-4AD9-849A-781C5322E2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3761342"/>
              </p:ext>
            </p:extLst>
          </p:nvPr>
        </p:nvGraphicFramePr>
        <p:xfrm>
          <a:off x="268242" y="2004646"/>
          <a:ext cx="5332657" cy="38212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F5E089-DC0C-4586-9CEC-32FD71571E93}"/>
                  </a:ext>
                </a:extLst>
              </p:cNvPr>
              <p:cNvSpPr txBox="1"/>
              <p:nvPr/>
            </p:nvSpPr>
            <p:spPr>
              <a:xfrm>
                <a:off x="408963" y="1125414"/>
                <a:ext cx="4448119" cy="7405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𝑐𝑜𝑣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F5E089-DC0C-4586-9CEC-32FD71571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963" y="1125414"/>
                <a:ext cx="4448119" cy="7405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5B688BDD-4774-6E44-43EB-CA701FA2C447}"/>
                  </a:ext>
                </a:extLst>
              </p:cNvPr>
              <p:cNvSpPr txBox="1"/>
              <p:nvPr/>
            </p:nvSpPr>
            <p:spPr bwMode="auto">
              <a:xfrm>
                <a:off x="6372678" y="851026"/>
                <a:ext cx="4843220" cy="3213467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𝑐𝑜𝑣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var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var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func>
                            </m:e>
                          </m:rad>
                        </m:den>
                      </m:f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̄"/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)(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̄"/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num>
                            <m:den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̄"/>
                                          <m:ctrlP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nary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den>
                              </m:f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̄"/>
                                          <m:ctrlP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nary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5B688BDD-4774-6E44-43EB-CA701FA2C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72678" y="851026"/>
                <a:ext cx="4843220" cy="32134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8EE8184-59BA-2B9A-44B6-9994FD42EFC9}"/>
              </a:ext>
            </a:extLst>
          </p:cNvPr>
          <p:cNvSpPr txBox="1"/>
          <p:nvPr/>
        </p:nvSpPr>
        <p:spPr>
          <a:xfrm>
            <a:off x="6372678" y="3545307"/>
            <a:ext cx="5259545" cy="1402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dirty="0"/>
              <a:t>Standardized covariance (recall standardization)</a:t>
            </a:r>
          </a:p>
          <a:p>
            <a:pPr>
              <a:lnSpc>
                <a:spcPct val="120000"/>
              </a:lnSpc>
            </a:pPr>
            <a:r>
              <a:rPr lang="en-US" altLang="en-US" sz="1800" dirty="0"/>
              <a:t>Measures the relative strength of the </a:t>
            </a:r>
            <a:r>
              <a:rPr lang="en-US" altLang="en-US" sz="1800" b="1" i="1" dirty="0">
                <a:solidFill>
                  <a:schemeClr val="accent5"/>
                </a:solidFill>
              </a:rPr>
              <a:t>linear</a:t>
            </a:r>
            <a:r>
              <a:rPr lang="en-US" altLang="en-US" sz="1800" i="1" dirty="0"/>
              <a:t> </a:t>
            </a:r>
            <a:r>
              <a:rPr lang="en-US" altLang="en-US" sz="1800" dirty="0"/>
              <a:t>relationship between two variables</a:t>
            </a:r>
          </a:p>
          <a:p>
            <a:pPr>
              <a:lnSpc>
                <a:spcPct val="120000"/>
              </a:lnSpc>
            </a:pPr>
            <a:r>
              <a:rPr lang="en-US" altLang="en-US" sz="1800" dirty="0"/>
              <a:t>Unit-less</a:t>
            </a:r>
          </a:p>
        </p:txBody>
      </p:sp>
    </p:spTree>
    <p:extLst>
      <p:ext uri="{BB962C8B-B14F-4D97-AF65-F5344CB8AC3E}">
        <p14:creationId xmlns:p14="http://schemas.microsoft.com/office/powerpoint/2010/main" val="2758773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706" name="Line 2">
            <a:extLst>
              <a:ext uri="{FF2B5EF4-FFF2-40B4-BE49-F238E27FC236}">
                <a16:creationId xmlns:a16="http://schemas.microsoft.com/office/drawing/2014/main" id="{68D69DB0-7DEA-4FF9-9ADF-008DD07028B9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2590800"/>
            <a:ext cx="2286000" cy="0"/>
          </a:xfrm>
          <a:prstGeom prst="line">
            <a:avLst/>
          </a:prstGeom>
          <a:noFill/>
          <a:ln w="25400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07" name="Line 3">
            <a:extLst>
              <a:ext uri="{FF2B5EF4-FFF2-40B4-BE49-F238E27FC236}">
                <a16:creationId xmlns:a16="http://schemas.microsoft.com/office/drawing/2014/main" id="{8C906BD0-7172-4D44-8F76-0F2B874D1FE7}"/>
              </a:ext>
            </a:extLst>
          </p:cNvPr>
          <p:cNvSpPr>
            <a:spLocks noChangeShapeType="1"/>
          </p:cNvSpPr>
          <p:nvPr/>
        </p:nvSpPr>
        <p:spPr bwMode="auto">
          <a:xfrm>
            <a:off x="7918450" y="5181600"/>
            <a:ext cx="2286000" cy="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08" name="Rectangle 4">
            <a:extLst>
              <a:ext uri="{FF2B5EF4-FFF2-40B4-BE49-F238E27FC236}">
                <a16:creationId xmlns:a16="http://schemas.microsoft.com/office/drawing/2014/main" id="{096493B2-8266-49CA-AAA8-01EE3775BF1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04447" y="228600"/>
            <a:ext cx="11787554" cy="1143000"/>
          </a:xfrm>
        </p:spPr>
        <p:txBody>
          <a:bodyPr>
            <a:normAutofit fontScale="90000"/>
          </a:bodyPr>
          <a:lstStyle/>
          <a:p>
            <a:pPr>
              <a:lnSpc>
                <a:spcPct val="80000"/>
              </a:lnSpc>
            </a:pPr>
            <a:r>
              <a:rPr lang="en-US" altLang="en-US"/>
              <a:t>Scatter Plots of Data with Various Correlation Coefficients</a:t>
            </a:r>
          </a:p>
        </p:txBody>
      </p:sp>
      <p:sp>
        <p:nvSpPr>
          <p:cNvPr id="968709" name="Line 5">
            <a:extLst>
              <a:ext uri="{FF2B5EF4-FFF2-40B4-BE49-F238E27FC236}">
                <a16:creationId xmlns:a16="http://schemas.microsoft.com/office/drawing/2014/main" id="{4FE838CA-91A8-472E-BD29-21CA0A62D8C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8338" y="1985964"/>
            <a:ext cx="0" cy="1519237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968710" name="Line 6">
            <a:extLst>
              <a:ext uri="{FF2B5EF4-FFF2-40B4-BE49-F238E27FC236}">
                <a16:creationId xmlns:a16="http://schemas.microsoft.com/office/drawing/2014/main" id="{A886FC93-B362-4E1B-A76A-BB4C50C29C7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938339" y="2133601"/>
            <a:ext cx="2574925" cy="873125"/>
          </a:xfrm>
          <a:prstGeom prst="line">
            <a:avLst/>
          </a:prstGeom>
          <a:noFill/>
          <a:ln w="28575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11" name="Oval 7">
            <a:extLst>
              <a:ext uri="{FF2B5EF4-FFF2-40B4-BE49-F238E27FC236}">
                <a16:creationId xmlns:a16="http://schemas.microsoft.com/office/drawing/2014/main" id="{7851D545-9979-4CE2-9B04-295A8B01AAD8}"/>
              </a:ext>
            </a:extLst>
          </p:cNvPr>
          <p:cNvSpPr>
            <a:spLocks noChangeArrowheads="1"/>
          </p:cNvSpPr>
          <p:nvPr/>
        </p:nvSpPr>
        <p:spPr bwMode="auto">
          <a:xfrm rot="7282380" flipH="1">
            <a:off x="4056063" y="28194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12" name="Oval 8">
            <a:extLst>
              <a:ext uri="{FF2B5EF4-FFF2-40B4-BE49-F238E27FC236}">
                <a16:creationId xmlns:a16="http://schemas.microsoft.com/office/drawing/2014/main" id="{925E0237-2CB6-432D-AFB2-6AA99A90F4B7}"/>
              </a:ext>
            </a:extLst>
          </p:cNvPr>
          <p:cNvSpPr>
            <a:spLocks noChangeArrowheads="1"/>
          </p:cNvSpPr>
          <p:nvPr/>
        </p:nvSpPr>
        <p:spPr bwMode="auto">
          <a:xfrm rot="7282380" flipH="1">
            <a:off x="3294063" y="25146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13" name="Oval 9">
            <a:extLst>
              <a:ext uri="{FF2B5EF4-FFF2-40B4-BE49-F238E27FC236}">
                <a16:creationId xmlns:a16="http://schemas.microsoft.com/office/drawing/2014/main" id="{33EC51D4-DA18-4B8D-B35C-04B83365DDD3}"/>
              </a:ext>
            </a:extLst>
          </p:cNvPr>
          <p:cNvSpPr>
            <a:spLocks noChangeArrowheads="1"/>
          </p:cNvSpPr>
          <p:nvPr/>
        </p:nvSpPr>
        <p:spPr bwMode="auto">
          <a:xfrm rot="7282380" flipH="1">
            <a:off x="2989263" y="24384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14" name="Oval 10">
            <a:extLst>
              <a:ext uri="{FF2B5EF4-FFF2-40B4-BE49-F238E27FC236}">
                <a16:creationId xmlns:a16="http://schemas.microsoft.com/office/drawing/2014/main" id="{D0A64292-1391-42C9-AE58-38FA58DB7DAB}"/>
              </a:ext>
            </a:extLst>
          </p:cNvPr>
          <p:cNvSpPr>
            <a:spLocks noChangeArrowheads="1"/>
          </p:cNvSpPr>
          <p:nvPr/>
        </p:nvSpPr>
        <p:spPr bwMode="auto">
          <a:xfrm rot="7282380" flipH="1">
            <a:off x="1998663" y="20574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15" name="Oval 11">
            <a:extLst>
              <a:ext uri="{FF2B5EF4-FFF2-40B4-BE49-F238E27FC236}">
                <a16:creationId xmlns:a16="http://schemas.microsoft.com/office/drawing/2014/main" id="{19970D5F-3E66-45B8-873E-4CA231DBCDD5}"/>
              </a:ext>
            </a:extLst>
          </p:cNvPr>
          <p:cNvSpPr>
            <a:spLocks noChangeArrowheads="1"/>
          </p:cNvSpPr>
          <p:nvPr/>
        </p:nvSpPr>
        <p:spPr bwMode="auto">
          <a:xfrm rot="7282380" flipH="1">
            <a:off x="2379663" y="22098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16" name="Oval 12">
            <a:extLst>
              <a:ext uri="{FF2B5EF4-FFF2-40B4-BE49-F238E27FC236}">
                <a16:creationId xmlns:a16="http://schemas.microsoft.com/office/drawing/2014/main" id="{459D6CB9-A116-4B1A-BB4D-970EE9F64974}"/>
              </a:ext>
            </a:extLst>
          </p:cNvPr>
          <p:cNvSpPr>
            <a:spLocks noChangeArrowheads="1"/>
          </p:cNvSpPr>
          <p:nvPr/>
        </p:nvSpPr>
        <p:spPr bwMode="auto">
          <a:xfrm rot="7282380" flipH="1">
            <a:off x="2684463" y="22860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rot="10800000" vert="eaVert" wrap="none" anchor="ctr"/>
          <a:lstStyle/>
          <a:p>
            <a:pPr algn="ctr"/>
            <a:endParaRPr lang="en-US" altLang="en-US" sz="8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968717" name="Text Box 13">
            <a:extLst>
              <a:ext uri="{FF2B5EF4-FFF2-40B4-BE49-F238E27FC236}">
                <a16:creationId xmlns:a16="http://schemas.microsoft.com/office/drawing/2014/main" id="{F35A7153-CB70-4DCD-86D5-4FDCBF0F5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16002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>
                <a:solidFill>
                  <a:schemeClr val="tx2"/>
                </a:solidFill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968718" name="Line 14">
            <a:extLst>
              <a:ext uri="{FF2B5EF4-FFF2-40B4-BE49-F238E27FC236}">
                <a16:creationId xmlns:a16="http://schemas.microsoft.com/office/drawing/2014/main" id="{C6C4BD74-F30C-4F69-B69F-1D824B6DA3D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22463" y="3505200"/>
            <a:ext cx="2286000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968719" name="Oval 15">
            <a:extLst>
              <a:ext uri="{FF2B5EF4-FFF2-40B4-BE49-F238E27FC236}">
                <a16:creationId xmlns:a16="http://schemas.microsoft.com/office/drawing/2014/main" id="{68A4C3AA-9D6B-44DF-971B-6A1D91865EC5}"/>
              </a:ext>
            </a:extLst>
          </p:cNvPr>
          <p:cNvSpPr>
            <a:spLocks noChangeArrowheads="1"/>
          </p:cNvSpPr>
          <p:nvPr/>
        </p:nvSpPr>
        <p:spPr bwMode="auto">
          <a:xfrm rot="7282380" flipH="1">
            <a:off x="3675063" y="26670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20" name="Text Box 16">
            <a:extLst>
              <a:ext uri="{FF2B5EF4-FFF2-40B4-BE49-F238E27FC236}">
                <a16:creationId xmlns:a16="http://schemas.microsoft.com/office/drawing/2014/main" id="{9D1E6A74-53A9-470D-8AD5-11DC1E7CB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32766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968721" name="Line 17">
            <a:extLst>
              <a:ext uri="{FF2B5EF4-FFF2-40B4-BE49-F238E27FC236}">
                <a16:creationId xmlns:a16="http://schemas.microsoft.com/office/drawing/2014/main" id="{9CD0F97D-196E-4E55-90B8-25907E458D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2675" y="1985964"/>
            <a:ext cx="0" cy="1519237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968722" name="Line 18">
            <a:extLst>
              <a:ext uri="{FF2B5EF4-FFF2-40B4-BE49-F238E27FC236}">
                <a16:creationId xmlns:a16="http://schemas.microsoft.com/office/drawing/2014/main" id="{C2FF543B-6A31-431C-953C-075E5D2F832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92676" y="2133601"/>
            <a:ext cx="2574925" cy="873125"/>
          </a:xfrm>
          <a:prstGeom prst="line">
            <a:avLst/>
          </a:prstGeom>
          <a:noFill/>
          <a:ln w="28575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23" name="Oval 19">
            <a:extLst>
              <a:ext uri="{FF2B5EF4-FFF2-40B4-BE49-F238E27FC236}">
                <a16:creationId xmlns:a16="http://schemas.microsoft.com/office/drawing/2014/main" id="{A26EE303-75AA-4DAA-903F-7F8B6B2CAEE8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010400" y="31242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24" name="Oval 20">
            <a:extLst>
              <a:ext uri="{FF2B5EF4-FFF2-40B4-BE49-F238E27FC236}">
                <a16:creationId xmlns:a16="http://schemas.microsoft.com/office/drawing/2014/main" id="{13F27DAE-585C-4D9D-BBCD-164291BE50A4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934200" y="27432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25" name="Oval 21">
            <a:extLst>
              <a:ext uri="{FF2B5EF4-FFF2-40B4-BE49-F238E27FC236}">
                <a16:creationId xmlns:a16="http://schemas.microsoft.com/office/drawing/2014/main" id="{2A9759D4-416D-4916-8518-4EEBF1B975C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105400" y="17526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26" name="Oval 22">
            <a:extLst>
              <a:ext uri="{FF2B5EF4-FFF2-40B4-BE49-F238E27FC236}">
                <a16:creationId xmlns:a16="http://schemas.microsoft.com/office/drawing/2014/main" id="{31229842-7EE9-4AC4-9F8D-5A5321CC9A6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257800" y="21336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27" name="Oval 23">
            <a:extLst>
              <a:ext uri="{FF2B5EF4-FFF2-40B4-BE49-F238E27FC236}">
                <a16:creationId xmlns:a16="http://schemas.microsoft.com/office/drawing/2014/main" id="{607D19F6-CBB0-4DF8-A5F0-C1EDF2E73659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629400" y="29718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28" name="Oval 24">
            <a:extLst>
              <a:ext uri="{FF2B5EF4-FFF2-40B4-BE49-F238E27FC236}">
                <a16:creationId xmlns:a16="http://schemas.microsoft.com/office/drawing/2014/main" id="{79BF9C27-2FD3-4DAD-8499-027564751B7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953000" y="24384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29" name="Oval 25">
            <a:extLst>
              <a:ext uri="{FF2B5EF4-FFF2-40B4-BE49-F238E27FC236}">
                <a16:creationId xmlns:a16="http://schemas.microsoft.com/office/drawing/2014/main" id="{BC9EAF3A-F434-489D-AAD0-D5ACFDC5B4E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248400" y="27432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30" name="Oval 26">
            <a:extLst>
              <a:ext uri="{FF2B5EF4-FFF2-40B4-BE49-F238E27FC236}">
                <a16:creationId xmlns:a16="http://schemas.microsoft.com/office/drawing/2014/main" id="{65504223-3F5D-4D9C-ABEE-7E2C630A7059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715000" y="21336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31" name="Oval 27">
            <a:extLst>
              <a:ext uri="{FF2B5EF4-FFF2-40B4-BE49-F238E27FC236}">
                <a16:creationId xmlns:a16="http://schemas.microsoft.com/office/drawing/2014/main" id="{3EE87328-5FFD-4DC6-9923-2FD916245136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943600" y="19812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32" name="Oval 28">
            <a:extLst>
              <a:ext uri="{FF2B5EF4-FFF2-40B4-BE49-F238E27FC236}">
                <a16:creationId xmlns:a16="http://schemas.microsoft.com/office/drawing/2014/main" id="{95040439-A388-4035-BE63-0A1334B03C7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781800" y="25146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33" name="Oval 29">
            <a:extLst>
              <a:ext uri="{FF2B5EF4-FFF2-40B4-BE49-F238E27FC236}">
                <a16:creationId xmlns:a16="http://schemas.microsoft.com/office/drawing/2014/main" id="{43F6B43A-0B53-463F-B2A7-9A913DF1822C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334000" y="24384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34" name="Oval 30">
            <a:extLst>
              <a:ext uri="{FF2B5EF4-FFF2-40B4-BE49-F238E27FC236}">
                <a16:creationId xmlns:a16="http://schemas.microsoft.com/office/drawing/2014/main" id="{9B7F08AA-7B71-4490-8D93-2EE1E3D9562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553200" y="22860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endParaRPr lang="en-US" altLang="en-US" sz="8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968735" name="Oval 31">
            <a:extLst>
              <a:ext uri="{FF2B5EF4-FFF2-40B4-BE49-F238E27FC236}">
                <a16:creationId xmlns:a16="http://schemas.microsoft.com/office/drawing/2014/main" id="{DB44479D-B294-45F9-9F0F-9309FC8604B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638800" y="24384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36" name="Oval 32">
            <a:extLst>
              <a:ext uri="{FF2B5EF4-FFF2-40B4-BE49-F238E27FC236}">
                <a16:creationId xmlns:a16="http://schemas.microsoft.com/office/drawing/2014/main" id="{20C1363E-4979-4919-9D96-3E716757CC9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019800" y="25146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37" name="Oval 33">
            <a:extLst>
              <a:ext uri="{FF2B5EF4-FFF2-40B4-BE49-F238E27FC236}">
                <a16:creationId xmlns:a16="http://schemas.microsoft.com/office/drawing/2014/main" id="{DEC540F8-CE31-42CC-91E9-118C8B50EC7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791200" y="27432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38" name="Text Box 34">
            <a:extLst>
              <a:ext uri="{FF2B5EF4-FFF2-40B4-BE49-F238E27FC236}">
                <a16:creationId xmlns:a16="http://schemas.microsoft.com/office/drawing/2014/main" id="{BD5D151C-F0BD-44A2-8964-63E3D2531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15240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>
                <a:solidFill>
                  <a:schemeClr val="tx2"/>
                </a:solidFill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968739" name="Line 35">
            <a:extLst>
              <a:ext uri="{FF2B5EF4-FFF2-40B4-BE49-F238E27FC236}">
                <a16:creationId xmlns:a16="http://schemas.microsoft.com/office/drawing/2014/main" id="{72CCA55E-35B7-434B-B503-6FA2FCEE31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505200"/>
            <a:ext cx="2286000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968740" name="Text Box 36">
            <a:extLst>
              <a:ext uri="{FF2B5EF4-FFF2-40B4-BE49-F238E27FC236}">
                <a16:creationId xmlns:a16="http://schemas.microsoft.com/office/drawing/2014/main" id="{DA4F61FC-AF9B-41D5-BBCC-45F167AFC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8988" y="32766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>
                <a:solidFill>
                  <a:schemeClr val="tx2"/>
                </a:solidFill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968741" name="Line 37">
            <a:extLst>
              <a:ext uri="{FF2B5EF4-FFF2-40B4-BE49-F238E27FC236}">
                <a16:creationId xmlns:a16="http://schemas.microsoft.com/office/drawing/2014/main" id="{7044C4AB-376F-4097-83EA-F40F96FBF11A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8288" y="1985964"/>
            <a:ext cx="0" cy="1519237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968742" name="Oval 38">
            <a:extLst>
              <a:ext uri="{FF2B5EF4-FFF2-40B4-BE49-F238E27FC236}">
                <a16:creationId xmlns:a16="http://schemas.microsoft.com/office/drawing/2014/main" id="{6BC09628-4464-42A7-90C6-7B4371C6949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177213" y="28194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43" name="Oval 39">
            <a:extLst>
              <a:ext uri="{FF2B5EF4-FFF2-40B4-BE49-F238E27FC236}">
                <a16:creationId xmlns:a16="http://schemas.microsoft.com/office/drawing/2014/main" id="{90C27149-1F25-4AD0-BD0A-1E00F3F1364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10006013" y="21336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44" name="Oval 40">
            <a:extLst>
              <a:ext uri="{FF2B5EF4-FFF2-40B4-BE49-F238E27FC236}">
                <a16:creationId xmlns:a16="http://schemas.microsoft.com/office/drawing/2014/main" id="{9AE4400C-EA00-42C6-9801-FE63427F981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10158413" y="24384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45" name="Oval 41">
            <a:extLst>
              <a:ext uri="{FF2B5EF4-FFF2-40B4-BE49-F238E27FC236}">
                <a16:creationId xmlns:a16="http://schemas.microsoft.com/office/drawing/2014/main" id="{BAD4B1DD-DC48-4733-9F47-A35191A74C6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244013" y="27432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46" name="Oval 42">
            <a:extLst>
              <a:ext uri="{FF2B5EF4-FFF2-40B4-BE49-F238E27FC236}">
                <a16:creationId xmlns:a16="http://schemas.microsoft.com/office/drawing/2014/main" id="{529D96BD-1623-4B66-9AE1-1A6A9DF218F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320213" y="21336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47" name="Oval 43">
            <a:extLst>
              <a:ext uri="{FF2B5EF4-FFF2-40B4-BE49-F238E27FC236}">
                <a16:creationId xmlns:a16="http://schemas.microsoft.com/office/drawing/2014/main" id="{02CFA515-9152-455A-8983-6AD8CAB4558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839200" y="20574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48" name="Oval 44">
            <a:extLst>
              <a:ext uri="{FF2B5EF4-FFF2-40B4-BE49-F238E27FC236}">
                <a16:creationId xmlns:a16="http://schemas.microsoft.com/office/drawing/2014/main" id="{FB60407E-89EC-444D-9F7D-2D4F399D4CD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024813" y="22098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49" name="Oval 45">
            <a:extLst>
              <a:ext uri="{FF2B5EF4-FFF2-40B4-BE49-F238E27FC236}">
                <a16:creationId xmlns:a16="http://schemas.microsoft.com/office/drawing/2014/main" id="{DE842453-8B46-47A3-9773-C4682EA1F176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329613" y="23622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50" name="Oval 46">
            <a:extLst>
              <a:ext uri="{FF2B5EF4-FFF2-40B4-BE49-F238E27FC236}">
                <a16:creationId xmlns:a16="http://schemas.microsoft.com/office/drawing/2014/main" id="{EA14E90C-F2D1-471B-9EBF-5AF82E20A0DC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634413" y="2549525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endParaRPr lang="en-US" altLang="en-US" sz="8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968751" name="Oval 47">
            <a:extLst>
              <a:ext uri="{FF2B5EF4-FFF2-40B4-BE49-F238E27FC236}">
                <a16:creationId xmlns:a16="http://schemas.microsoft.com/office/drawing/2014/main" id="{895A0B0D-8231-4880-9CD7-EB35DA80274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015413" y="25146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52" name="Oval 48">
            <a:extLst>
              <a:ext uri="{FF2B5EF4-FFF2-40B4-BE49-F238E27FC236}">
                <a16:creationId xmlns:a16="http://schemas.microsoft.com/office/drawing/2014/main" id="{2EE90986-FDB1-4104-8546-A8020B41B58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786813" y="28194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53" name="Text Box 49">
            <a:extLst>
              <a:ext uri="{FF2B5EF4-FFF2-40B4-BE49-F238E27FC236}">
                <a16:creationId xmlns:a16="http://schemas.microsoft.com/office/drawing/2014/main" id="{D6C353F7-C55C-456A-ABB9-EF2A30D58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3813" y="15240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>
                <a:solidFill>
                  <a:schemeClr val="tx2"/>
                </a:solidFill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968754" name="Line 50">
            <a:extLst>
              <a:ext uri="{FF2B5EF4-FFF2-40B4-BE49-F238E27FC236}">
                <a16:creationId xmlns:a16="http://schemas.microsoft.com/office/drawing/2014/main" id="{34EF5958-B23A-449C-8D46-017B57CB73B5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2413" y="3505200"/>
            <a:ext cx="2286000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968755" name="Oval 51">
            <a:extLst>
              <a:ext uri="{FF2B5EF4-FFF2-40B4-BE49-F238E27FC236}">
                <a16:creationId xmlns:a16="http://schemas.microsoft.com/office/drawing/2014/main" id="{68248A3C-78EE-48D8-9BAC-670CD5EA6A9E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753600" y="26670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56" name="Text Box 52">
            <a:extLst>
              <a:ext uri="{FF2B5EF4-FFF2-40B4-BE49-F238E27FC236}">
                <a16:creationId xmlns:a16="http://schemas.microsoft.com/office/drawing/2014/main" id="{CC06D733-5E5E-4DFB-81AF-4555B2347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34600" y="32766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>
                <a:solidFill>
                  <a:schemeClr val="tx2"/>
                </a:solidFill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968757" name="Line 53">
            <a:extLst>
              <a:ext uri="{FF2B5EF4-FFF2-40B4-BE49-F238E27FC236}">
                <a16:creationId xmlns:a16="http://schemas.microsoft.com/office/drawing/2014/main" id="{1976A468-1902-42F1-ABB4-FBA99A42E4E2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6338" y="4576764"/>
            <a:ext cx="0" cy="1519237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968758" name="Line 54">
            <a:extLst>
              <a:ext uri="{FF2B5EF4-FFF2-40B4-BE49-F238E27FC236}">
                <a16:creationId xmlns:a16="http://schemas.microsoft.com/office/drawing/2014/main" id="{0A252E06-E435-419C-A763-FDF3A40819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86339" y="4724401"/>
            <a:ext cx="2574925" cy="873125"/>
          </a:xfrm>
          <a:prstGeom prst="line">
            <a:avLst/>
          </a:prstGeom>
          <a:noFill/>
          <a:ln w="28575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59" name="Oval 55">
            <a:extLst>
              <a:ext uri="{FF2B5EF4-FFF2-40B4-BE49-F238E27FC236}">
                <a16:creationId xmlns:a16="http://schemas.microsoft.com/office/drawing/2014/main" id="{47ABC922-AE8A-481B-9E93-3603B71AE7C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046663" y="57150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60" name="Oval 56">
            <a:extLst>
              <a:ext uri="{FF2B5EF4-FFF2-40B4-BE49-F238E27FC236}">
                <a16:creationId xmlns:a16="http://schemas.microsoft.com/office/drawing/2014/main" id="{F8E62BC4-537E-4F6C-9231-9F5EDA432B7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275263" y="54102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61" name="Oval 57">
            <a:extLst>
              <a:ext uri="{FF2B5EF4-FFF2-40B4-BE49-F238E27FC236}">
                <a16:creationId xmlns:a16="http://schemas.microsoft.com/office/drawing/2014/main" id="{74257FD4-2048-472E-9716-1A3B161E80E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934200" y="41148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62" name="Oval 58">
            <a:extLst>
              <a:ext uri="{FF2B5EF4-FFF2-40B4-BE49-F238E27FC236}">
                <a16:creationId xmlns:a16="http://schemas.microsoft.com/office/drawing/2014/main" id="{A34E0906-197D-427E-B8CA-537461D52CBE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104063" y="47244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63" name="Oval 59">
            <a:extLst>
              <a:ext uri="{FF2B5EF4-FFF2-40B4-BE49-F238E27FC236}">
                <a16:creationId xmlns:a16="http://schemas.microsoft.com/office/drawing/2014/main" id="{5A829AC8-1977-4433-BD7A-E262D9A6CA2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562600" y="57150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64" name="Oval 60">
            <a:extLst>
              <a:ext uri="{FF2B5EF4-FFF2-40B4-BE49-F238E27FC236}">
                <a16:creationId xmlns:a16="http://schemas.microsoft.com/office/drawing/2014/main" id="{C069609F-97AA-4EDB-9691-A59A5626B14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315200" y="51816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65" name="Oval 61">
            <a:extLst>
              <a:ext uri="{FF2B5EF4-FFF2-40B4-BE49-F238E27FC236}">
                <a16:creationId xmlns:a16="http://schemas.microsoft.com/office/drawing/2014/main" id="{8046D2ED-5DB1-4BCB-9521-24FFDCCEFE4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477000" y="55626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66" name="Oval 62">
            <a:extLst>
              <a:ext uri="{FF2B5EF4-FFF2-40B4-BE49-F238E27FC236}">
                <a16:creationId xmlns:a16="http://schemas.microsoft.com/office/drawing/2014/main" id="{AD036661-F340-48B7-9D49-C862D87C911C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553200" y="44196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67" name="Oval 63">
            <a:extLst>
              <a:ext uri="{FF2B5EF4-FFF2-40B4-BE49-F238E27FC236}">
                <a16:creationId xmlns:a16="http://schemas.microsoft.com/office/drawing/2014/main" id="{F02E0D7B-FDB5-45C7-9477-1A29A696A41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943600" y="44196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68" name="Oval 64">
            <a:extLst>
              <a:ext uri="{FF2B5EF4-FFF2-40B4-BE49-F238E27FC236}">
                <a16:creationId xmlns:a16="http://schemas.microsoft.com/office/drawing/2014/main" id="{715D27B6-7FC2-44BF-A703-C3C3C8BB1D6C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105400" y="50292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69" name="Oval 65">
            <a:extLst>
              <a:ext uri="{FF2B5EF4-FFF2-40B4-BE49-F238E27FC236}">
                <a16:creationId xmlns:a16="http://schemas.microsoft.com/office/drawing/2014/main" id="{6DD57878-DDCB-4153-9333-C06A55EF6F3E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334000" y="45720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70" name="Oval 66">
            <a:extLst>
              <a:ext uri="{FF2B5EF4-FFF2-40B4-BE49-F238E27FC236}">
                <a16:creationId xmlns:a16="http://schemas.microsoft.com/office/drawing/2014/main" id="{BE509877-26A9-4732-BA03-62874B0156C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715000" y="49530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endParaRPr lang="en-US" altLang="en-US" sz="8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968771" name="Oval 67">
            <a:extLst>
              <a:ext uri="{FF2B5EF4-FFF2-40B4-BE49-F238E27FC236}">
                <a16:creationId xmlns:a16="http://schemas.microsoft.com/office/drawing/2014/main" id="{18AE7B86-9B00-458C-B219-28D5EE40F0C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858000" y="51054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72" name="Oval 68">
            <a:extLst>
              <a:ext uri="{FF2B5EF4-FFF2-40B4-BE49-F238E27FC236}">
                <a16:creationId xmlns:a16="http://schemas.microsoft.com/office/drawing/2014/main" id="{5AEAF9B7-091D-476F-808C-A5A35CF9EE0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113463" y="51054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73" name="Oval 69">
            <a:extLst>
              <a:ext uri="{FF2B5EF4-FFF2-40B4-BE49-F238E27FC236}">
                <a16:creationId xmlns:a16="http://schemas.microsoft.com/office/drawing/2014/main" id="{BE85A9BC-CDB0-4DB3-BAA9-19CDDF38C4CE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096000" y="57912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74" name="Text Box 70">
            <a:extLst>
              <a:ext uri="{FF2B5EF4-FFF2-40B4-BE49-F238E27FC236}">
                <a16:creationId xmlns:a16="http://schemas.microsoft.com/office/drawing/2014/main" id="{470A60BB-BDD6-450F-88FD-452EB198E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8050" y="43434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>
                <a:solidFill>
                  <a:schemeClr val="tx2"/>
                </a:solidFill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968775" name="Line 71">
            <a:extLst>
              <a:ext uri="{FF2B5EF4-FFF2-40B4-BE49-F238E27FC236}">
                <a16:creationId xmlns:a16="http://schemas.microsoft.com/office/drawing/2014/main" id="{08A81174-13BF-49E7-B4A4-5F788E6376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0463" y="6096000"/>
            <a:ext cx="2286000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968776" name="Oval 72">
            <a:extLst>
              <a:ext uri="{FF2B5EF4-FFF2-40B4-BE49-F238E27FC236}">
                <a16:creationId xmlns:a16="http://schemas.microsoft.com/office/drawing/2014/main" id="{B63DF551-AB54-4E6B-8F9E-B22E343E796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858000" y="54864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77" name="Text Box 73">
            <a:extLst>
              <a:ext uri="{FF2B5EF4-FFF2-40B4-BE49-F238E27FC236}">
                <a16:creationId xmlns:a16="http://schemas.microsoft.com/office/drawing/2014/main" id="{2A0212AB-35AF-4415-91D8-7D140C2E6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2650" y="58674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>
                <a:solidFill>
                  <a:schemeClr val="tx2"/>
                </a:solidFill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968778" name="Line 74">
            <a:extLst>
              <a:ext uri="{FF2B5EF4-FFF2-40B4-BE49-F238E27FC236}">
                <a16:creationId xmlns:a16="http://schemas.microsoft.com/office/drawing/2014/main" id="{CF695A3D-BAD9-4AAD-8B9D-A5696A45E5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20875" y="4576764"/>
            <a:ext cx="0" cy="1519237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968779" name="Line 75">
            <a:extLst>
              <a:ext uri="{FF2B5EF4-FFF2-40B4-BE49-F238E27FC236}">
                <a16:creationId xmlns:a16="http://schemas.microsoft.com/office/drawing/2014/main" id="{BED5664A-264C-4BA7-BDA5-F74D3F27BC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20876" y="4724401"/>
            <a:ext cx="2574925" cy="873125"/>
          </a:xfrm>
          <a:prstGeom prst="line">
            <a:avLst/>
          </a:prstGeom>
          <a:noFill/>
          <a:ln w="28575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80" name="Oval 76">
            <a:extLst>
              <a:ext uri="{FF2B5EF4-FFF2-40B4-BE49-F238E27FC236}">
                <a16:creationId xmlns:a16="http://schemas.microsoft.com/office/drawing/2014/main" id="{819D8BDB-CFED-480D-920B-F017E250B58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1981200" y="54102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81" name="Oval 77">
            <a:extLst>
              <a:ext uri="{FF2B5EF4-FFF2-40B4-BE49-F238E27FC236}">
                <a16:creationId xmlns:a16="http://schemas.microsoft.com/office/drawing/2014/main" id="{7C1C0835-3EEC-42EB-815D-55E9B17E9E4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286000" y="53340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82" name="Oval 78">
            <a:extLst>
              <a:ext uri="{FF2B5EF4-FFF2-40B4-BE49-F238E27FC236}">
                <a16:creationId xmlns:a16="http://schemas.microsoft.com/office/drawing/2014/main" id="{811F6519-DF57-49DA-9085-D1D6A1F74D3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343400" y="46482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83" name="Oval 79">
            <a:extLst>
              <a:ext uri="{FF2B5EF4-FFF2-40B4-BE49-F238E27FC236}">
                <a16:creationId xmlns:a16="http://schemas.microsoft.com/office/drawing/2014/main" id="{7CB1D043-8A66-4C7D-A40F-05F05CCEFF1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962400" y="47244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84" name="Oval 80">
            <a:extLst>
              <a:ext uri="{FF2B5EF4-FFF2-40B4-BE49-F238E27FC236}">
                <a16:creationId xmlns:a16="http://schemas.microsoft.com/office/drawing/2014/main" id="{DA1F2395-8B67-432A-9867-CE83ECA89073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590800" y="51816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endParaRPr lang="en-US" altLang="en-US" sz="8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968785" name="Oval 81">
            <a:extLst>
              <a:ext uri="{FF2B5EF4-FFF2-40B4-BE49-F238E27FC236}">
                <a16:creationId xmlns:a16="http://schemas.microsoft.com/office/drawing/2014/main" id="{54B5A453-8212-4072-96B6-3DB3292DCC9C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276600" y="49530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86" name="Oval 82">
            <a:extLst>
              <a:ext uri="{FF2B5EF4-FFF2-40B4-BE49-F238E27FC236}">
                <a16:creationId xmlns:a16="http://schemas.microsoft.com/office/drawing/2014/main" id="{A8EE3868-A16E-4C4B-8842-0E7B55DDA4F8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971800" y="51054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87" name="Text Box 83">
            <a:extLst>
              <a:ext uri="{FF2B5EF4-FFF2-40B4-BE49-F238E27FC236}">
                <a16:creationId xmlns:a16="http://schemas.microsoft.com/office/drawing/2014/main" id="{F7C1CD01-4BFB-4FAB-9A0A-82DED887A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388" y="43434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>
                <a:solidFill>
                  <a:schemeClr val="tx2"/>
                </a:solidFill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968788" name="Line 84">
            <a:extLst>
              <a:ext uri="{FF2B5EF4-FFF2-40B4-BE49-F238E27FC236}">
                <a16:creationId xmlns:a16="http://schemas.microsoft.com/office/drawing/2014/main" id="{05C37C4E-4CF7-45DB-AB7B-2EC0E2B1EEA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6096000"/>
            <a:ext cx="2286000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968789" name="Oval 85">
            <a:extLst>
              <a:ext uri="{FF2B5EF4-FFF2-40B4-BE49-F238E27FC236}">
                <a16:creationId xmlns:a16="http://schemas.microsoft.com/office/drawing/2014/main" id="{4BC6D4D9-1316-4700-99FE-FE9E2328421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657600" y="48768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90" name="Text Box 86">
            <a:extLst>
              <a:ext uri="{FF2B5EF4-FFF2-40B4-BE49-F238E27FC236}">
                <a16:creationId xmlns:a16="http://schemas.microsoft.com/office/drawing/2014/main" id="{39C5970C-BC9B-482F-9BB1-E68FFA792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7188" y="58674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>
                <a:solidFill>
                  <a:schemeClr val="tx2"/>
                </a:solidFill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968791" name="Text Box 87">
            <a:extLst>
              <a:ext uri="{FF2B5EF4-FFF2-40B4-BE49-F238E27FC236}">
                <a16:creationId xmlns:a16="http://schemas.microsoft.com/office/drawing/2014/main" id="{00FDFFE7-242D-40E2-B005-CD6D8E406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2389" y="3581400"/>
            <a:ext cx="915987" cy="4699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>
                <a:solidFill>
                  <a:schemeClr val="accent5"/>
                </a:solidFill>
                <a:latin typeface="Arial" panose="020B0604020202020204" pitchFamily="34" charset="0"/>
              </a:rPr>
              <a:t>r = -1</a:t>
            </a:r>
          </a:p>
        </p:txBody>
      </p:sp>
      <p:sp>
        <p:nvSpPr>
          <p:cNvPr id="968792" name="Text Box 88">
            <a:extLst>
              <a:ext uri="{FF2B5EF4-FFF2-40B4-BE49-F238E27FC236}">
                <a16:creationId xmlns:a16="http://schemas.microsoft.com/office/drawing/2014/main" id="{F65C7C7F-B1F5-4EF8-A787-AFBBB863D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076" y="3590925"/>
            <a:ext cx="1000125" cy="4699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>
                <a:solidFill>
                  <a:schemeClr val="accent5"/>
                </a:solidFill>
                <a:latin typeface="Arial" panose="020B0604020202020204" pitchFamily="34" charset="0"/>
              </a:rPr>
              <a:t>r = -.6</a:t>
            </a:r>
          </a:p>
        </p:txBody>
      </p:sp>
      <p:sp>
        <p:nvSpPr>
          <p:cNvPr id="968793" name="Text Box 89">
            <a:extLst>
              <a:ext uri="{FF2B5EF4-FFF2-40B4-BE49-F238E27FC236}">
                <a16:creationId xmlns:a16="http://schemas.microsoft.com/office/drawing/2014/main" id="{0D49C668-6A9D-4986-ACA1-4BAC775B0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3590925"/>
            <a:ext cx="814388" cy="4699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>
                <a:solidFill>
                  <a:schemeClr val="accent5"/>
                </a:solidFill>
                <a:latin typeface="Arial" panose="020B0604020202020204" pitchFamily="34" charset="0"/>
              </a:rPr>
              <a:t>r = 0</a:t>
            </a:r>
          </a:p>
        </p:txBody>
      </p:sp>
      <p:sp>
        <p:nvSpPr>
          <p:cNvPr id="968794" name="Text Box 90">
            <a:extLst>
              <a:ext uri="{FF2B5EF4-FFF2-40B4-BE49-F238E27FC236}">
                <a16:creationId xmlns:a16="http://schemas.microsoft.com/office/drawing/2014/main" id="{809F6798-7615-4720-B831-39E21BE622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6739" y="6161088"/>
            <a:ext cx="1076325" cy="4699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>
                <a:solidFill>
                  <a:schemeClr val="accent5"/>
                </a:solidFill>
                <a:latin typeface="Arial" panose="020B0604020202020204" pitchFamily="34" charset="0"/>
              </a:rPr>
              <a:t>r = +.3</a:t>
            </a:r>
          </a:p>
        </p:txBody>
      </p:sp>
      <p:sp>
        <p:nvSpPr>
          <p:cNvPr id="968795" name="Text Box 91">
            <a:extLst>
              <a:ext uri="{FF2B5EF4-FFF2-40B4-BE49-F238E27FC236}">
                <a16:creationId xmlns:a16="http://schemas.microsoft.com/office/drawing/2014/main" id="{2C0DAD4C-AB0D-401D-BAD0-A222D7555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275" y="6146800"/>
            <a:ext cx="992188" cy="4699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>
                <a:solidFill>
                  <a:schemeClr val="accent5"/>
                </a:solidFill>
                <a:latin typeface="Arial" panose="020B0604020202020204" pitchFamily="34" charset="0"/>
              </a:rPr>
              <a:t>r = +1</a:t>
            </a:r>
          </a:p>
        </p:txBody>
      </p:sp>
      <p:sp>
        <p:nvSpPr>
          <p:cNvPr id="968796" name="Line 92">
            <a:extLst>
              <a:ext uri="{FF2B5EF4-FFF2-40B4-BE49-F238E27FC236}">
                <a16:creationId xmlns:a16="http://schemas.microsoft.com/office/drawing/2014/main" id="{0E2B4C33-CFF2-4B4E-ADEE-1FC02BD5FC90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1938" y="4576764"/>
            <a:ext cx="0" cy="1519237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968797" name="Oval 93">
            <a:extLst>
              <a:ext uri="{FF2B5EF4-FFF2-40B4-BE49-F238E27FC236}">
                <a16:creationId xmlns:a16="http://schemas.microsoft.com/office/drawing/2014/main" id="{61F22E72-D270-4321-A7A3-4D894EE55F3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10058400" y="51054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98" name="Oval 94">
            <a:extLst>
              <a:ext uri="{FF2B5EF4-FFF2-40B4-BE49-F238E27FC236}">
                <a16:creationId xmlns:a16="http://schemas.microsoft.com/office/drawing/2014/main" id="{30802241-E758-4F99-9533-CC87FD83C7D3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525000" y="51054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799" name="Oval 95">
            <a:extLst>
              <a:ext uri="{FF2B5EF4-FFF2-40B4-BE49-F238E27FC236}">
                <a16:creationId xmlns:a16="http://schemas.microsoft.com/office/drawing/2014/main" id="{E971457C-AFC1-4B7A-930D-77C6F046E49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077200" y="51054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800" name="Oval 96">
            <a:extLst>
              <a:ext uri="{FF2B5EF4-FFF2-40B4-BE49-F238E27FC236}">
                <a16:creationId xmlns:a16="http://schemas.microsoft.com/office/drawing/2014/main" id="{FB99765B-A81D-4E40-B2C2-E24D4B83D40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382000" y="51054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801" name="Oval 97">
            <a:extLst>
              <a:ext uri="{FF2B5EF4-FFF2-40B4-BE49-F238E27FC236}">
                <a16:creationId xmlns:a16="http://schemas.microsoft.com/office/drawing/2014/main" id="{B52E083B-6755-4280-B39E-E2628B4FB14E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686800" y="51054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endParaRPr lang="en-US" altLang="en-US" sz="8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968802" name="Oval 98">
            <a:extLst>
              <a:ext uri="{FF2B5EF4-FFF2-40B4-BE49-F238E27FC236}">
                <a16:creationId xmlns:a16="http://schemas.microsoft.com/office/drawing/2014/main" id="{218007D2-714E-4D5B-8DB2-710C0FA11E64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009063" y="51054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803" name="Text Box 99">
            <a:extLst>
              <a:ext uri="{FF2B5EF4-FFF2-40B4-BE49-F238E27FC236}">
                <a16:creationId xmlns:a16="http://schemas.microsoft.com/office/drawing/2014/main" id="{6D8FBB21-901A-4EA6-9B5A-03514A23E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7463" y="41148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>
                <a:solidFill>
                  <a:schemeClr val="tx2"/>
                </a:solidFill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968804" name="Line 100">
            <a:extLst>
              <a:ext uri="{FF2B5EF4-FFF2-40B4-BE49-F238E27FC236}">
                <a16:creationId xmlns:a16="http://schemas.microsoft.com/office/drawing/2014/main" id="{12E7B9E1-1F6E-46E7-AA37-F660BFE48106}"/>
              </a:ext>
            </a:extLst>
          </p:cNvPr>
          <p:cNvSpPr>
            <a:spLocks noChangeShapeType="1"/>
          </p:cNvSpPr>
          <p:nvPr/>
        </p:nvSpPr>
        <p:spPr bwMode="auto">
          <a:xfrm>
            <a:off x="7866063" y="6096000"/>
            <a:ext cx="2286000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968805" name="Text Box 101">
            <a:extLst>
              <a:ext uri="{FF2B5EF4-FFF2-40B4-BE49-F238E27FC236}">
                <a16:creationId xmlns:a16="http://schemas.microsoft.com/office/drawing/2014/main" id="{B9231961-C72A-4E8B-AE1E-F15A726853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8250" y="5867400"/>
            <a:ext cx="3561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solidFill>
                  <a:schemeClr val="tx2"/>
                </a:solidFill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968806" name="Text Box 102">
            <a:extLst>
              <a:ext uri="{FF2B5EF4-FFF2-40B4-BE49-F238E27FC236}">
                <a16:creationId xmlns:a16="http://schemas.microsoft.com/office/drawing/2014/main" id="{329D1F3F-D769-41D0-91C7-3999164C83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0925" y="6159500"/>
            <a:ext cx="814388" cy="4699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>
                <a:solidFill>
                  <a:schemeClr val="accent5"/>
                </a:solidFill>
                <a:latin typeface="Arial" panose="020B0604020202020204" pitchFamily="34" charset="0"/>
              </a:rPr>
              <a:t>r = 0</a:t>
            </a:r>
          </a:p>
        </p:txBody>
      </p:sp>
      <p:sp>
        <p:nvSpPr>
          <p:cNvPr id="968807" name="Oval 103">
            <a:extLst>
              <a:ext uri="{FF2B5EF4-FFF2-40B4-BE49-F238E27FC236}">
                <a16:creationId xmlns:a16="http://schemas.microsoft.com/office/drawing/2014/main" id="{0BDB9BD1-113A-4E24-B2A7-EAD6CDEF807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477000" y="48768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808" name="Oval 104">
            <a:extLst>
              <a:ext uri="{FF2B5EF4-FFF2-40B4-BE49-F238E27FC236}">
                <a16:creationId xmlns:a16="http://schemas.microsoft.com/office/drawing/2014/main" id="{D6A661B1-38C1-4A1B-A563-2D411B9EC71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5867400" y="54864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  <p:sp>
        <p:nvSpPr>
          <p:cNvPr id="968809" name="Oval 105">
            <a:extLst>
              <a:ext uri="{FF2B5EF4-FFF2-40B4-BE49-F238E27FC236}">
                <a16:creationId xmlns:a16="http://schemas.microsoft.com/office/drawing/2014/main" id="{F3C4062C-2056-4D72-806E-390E158C6A8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6248400" y="4495800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146" name="Line 2">
            <a:extLst>
              <a:ext uri="{FF2B5EF4-FFF2-40B4-BE49-F238E27FC236}">
                <a16:creationId xmlns:a16="http://schemas.microsoft.com/office/drawing/2014/main" id="{60610E49-B644-4F0B-AEC2-3FE76B9257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4724400"/>
            <a:ext cx="0" cy="14478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47" name="Oval 3">
            <a:extLst>
              <a:ext uri="{FF2B5EF4-FFF2-40B4-BE49-F238E27FC236}">
                <a16:creationId xmlns:a16="http://schemas.microsoft.com/office/drawing/2014/main" id="{6E1D458F-EBED-4A64-851F-BC93C04071E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191000" y="5867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48" name="Oval 4">
            <a:extLst>
              <a:ext uri="{FF2B5EF4-FFF2-40B4-BE49-F238E27FC236}">
                <a16:creationId xmlns:a16="http://schemas.microsoft.com/office/drawing/2014/main" id="{62AAD655-E933-41E7-8255-F1A9DF55F65E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895600" y="4953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49" name="Oval 5">
            <a:extLst>
              <a:ext uri="{FF2B5EF4-FFF2-40B4-BE49-F238E27FC236}">
                <a16:creationId xmlns:a16="http://schemas.microsoft.com/office/drawing/2014/main" id="{F243EB97-349B-4FC7-8259-7084EEC7AE28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648200" y="5791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50" name="Oval 6">
            <a:extLst>
              <a:ext uri="{FF2B5EF4-FFF2-40B4-BE49-F238E27FC236}">
                <a16:creationId xmlns:a16="http://schemas.microsoft.com/office/drawing/2014/main" id="{D9C83FE3-ECB2-4B09-9A73-BB25D431F2E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276600" y="4800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51" name="Oval 7">
            <a:extLst>
              <a:ext uri="{FF2B5EF4-FFF2-40B4-BE49-F238E27FC236}">
                <a16:creationId xmlns:a16="http://schemas.microsoft.com/office/drawing/2014/main" id="{8499FA45-9DAC-4E15-9097-D8D843FA41D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038600" y="5486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52" name="Oval 8">
            <a:extLst>
              <a:ext uri="{FF2B5EF4-FFF2-40B4-BE49-F238E27FC236}">
                <a16:creationId xmlns:a16="http://schemas.microsoft.com/office/drawing/2014/main" id="{986D0B7F-F619-43AD-AA64-5D3B5517061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343400" y="5638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53" name="Oval 9">
            <a:extLst>
              <a:ext uri="{FF2B5EF4-FFF2-40B4-BE49-F238E27FC236}">
                <a16:creationId xmlns:a16="http://schemas.microsoft.com/office/drawing/2014/main" id="{6B01601C-7DFA-407A-9D0C-E0089785B29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581400" y="5029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54" name="Oval 10">
            <a:extLst>
              <a:ext uri="{FF2B5EF4-FFF2-40B4-BE49-F238E27FC236}">
                <a16:creationId xmlns:a16="http://schemas.microsoft.com/office/drawing/2014/main" id="{2B26B77A-8FF1-46FA-86C3-9E6D4E19B6D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819400" y="4724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55" name="Oval 11">
            <a:extLst>
              <a:ext uri="{FF2B5EF4-FFF2-40B4-BE49-F238E27FC236}">
                <a16:creationId xmlns:a16="http://schemas.microsoft.com/office/drawing/2014/main" id="{20F2CA42-BFEA-4878-AB0F-3E6482A3F406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124200" y="5105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56" name="Oval 12">
            <a:extLst>
              <a:ext uri="{FF2B5EF4-FFF2-40B4-BE49-F238E27FC236}">
                <a16:creationId xmlns:a16="http://schemas.microsoft.com/office/drawing/2014/main" id="{E54E7063-C462-43BB-A1E4-06CA72C5C906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352800" y="5334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030157" name="Oval 13">
            <a:extLst>
              <a:ext uri="{FF2B5EF4-FFF2-40B4-BE49-F238E27FC236}">
                <a16:creationId xmlns:a16="http://schemas.microsoft.com/office/drawing/2014/main" id="{516DA9C8-4787-40B7-A44C-AF152FAE287E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962400" y="5715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58" name="Oval 14">
            <a:extLst>
              <a:ext uri="{FF2B5EF4-FFF2-40B4-BE49-F238E27FC236}">
                <a16:creationId xmlns:a16="http://schemas.microsoft.com/office/drawing/2014/main" id="{448731FE-E6CC-45CF-9BA9-A62DC5C1263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886200" y="5257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59" name="Oval 15">
            <a:extLst>
              <a:ext uri="{FF2B5EF4-FFF2-40B4-BE49-F238E27FC236}">
                <a16:creationId xmlns:a16="http://schemas.microsoft.com/office/drawing/2014/main" id="{C7AFA9B5-D85D-42F6-BD07-E38F311574F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657600" y="5334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60" name="Text Box 16">
            <a:extLst>
              <a:ext uri="{FF2B5EF4-FFF2-40B4-BE49-F238E27FC236}">
                <a16:creationId xmlns:a16="http://schemas.microsoft.com/office/drawing/2014/main" id="{C738F5AC-DA43-48D1-8514-2E331C073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4465639"/>
            <a:ext cx="354013" cy="396875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dirty="0">
                <a:solidFill>
                  <a:schemeClr val="accent5"/>
                </a:solidFill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1030161" name="Line 17">
            <a:extLst>
              <a:ext uri="{FF2B5EF4-FFF2-40B4-BE49-F238E27FC236}">
                <a16:creationId xmlns:a16="http://schemas.microsoft.com/office/drawing/2014/main" id="{87A22895-4616-4AF1-AD36-9C7214F754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6172200"/>
            <a:ext cx="2286000" cy="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62" name="Text Box 18">
            <a:extLst>
              <a:ext uri="{FF2B5EF4-FFF2-40B4-BE49-F238E27FC236}">
                <a16:creationId xmlns:a16="http://schemas.microsoft.com/office/drawing/2014/main" id="{B4AEAB35-AB29-4E0D-9CC8-49AC7014F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9188" y="6065839"/>
            <a:ext cx="354012" cy="396875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dirty="0">
                <a:solidFill>
                  <a:schemeClr val="accent5"/>
                </a:solidFill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1030163" name="Line 19">
            <a:extLst>
              <a:ext uri="{FF2B5EF4-FFF2-40B4-BE49-F238E27FC236}">
                <a16:creationId xmlns:a16="http://schemas.microsoft.com/office/drawing/2014/main" id="{3EF031FC-2557-4E8B-88F2-B68CDB717B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2438400"/>
            <a:ext cx="0" cy="15240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64" name="Oval 20">
            <a:extLst>
              <a:ext uri="{FF2B5EF4-FFF2-40B4-BE49-F238E27FC236}">
                <a16:creationId xmlns:a16="http://schemas.microsoft.com/office/drawing/2014/main" id="{E92CECB2-DD32-447C-BBF8-B699FEDA527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743200" y="3657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65" name="Oval 21">
            <a:extLst>
              <a:ext uri="{FF2B5EF4-FFF2-40B4-BE49-F238E27FC236}">
                <a16:creationId xmlns:a16="http://schemas.microsoft.com/office/drawing/2014/main" id="{9C91133F-2C9C-42EA-B502-C78C33FF751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971800" y="3352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66" name="Oval 22">
            <a:extLst>
              <a:ext uri="{FF2B5EF4-FFF2-40B4-BE49-F238E27FC236}">
                <a16:creationId xmlns:a16="http://schemas.microsoft.com/office/drawing/2014/main" id="{BEB4C2CC-DCE6-4999-A1EF-F0F602343FD3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648200" y="2286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67" name="Oval 23">
            <a:extLst>
              <a:ext uri="{FF2B5EF4-FFF2-40B4-BE49-F238E27FC236}">
                <a16:creationId xmlns:a16="http://schemas.microsoft.com/office/drawing/2014/main" id="{29A42099-3D1C-4913-A85A-E51809409E7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800600" y="2667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68" name="Oval 24">
            <a:extLst>
              <a:ext uri="{FF2B5EF4-FFF2-40B4-BE49-F238E27FC236}">
                <a16:creationId xmlns:a16="http://schemas.microsoft.com/office/drawing/2014/main" id="{D116F655-FB3A-4E5B-8310-450607DE6A1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200400" y="3505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69" name="Oval 25">
            <a:extLst>
              <a:ext uri="{FF2B5EF4-FFF2-40B4-BE49-F238E27FC236}">
                <a16:creationId xmlns:a16="http://schemas.microsoft.com/office/drawing/2014/main" id="{6932A1FC-E60E-427D-846F-B66C7F77C6EC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419600" y="2667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70" name="Oval 26">
            <a:extLst>
              <a:ext uri="{FF2B5EF4-FFF2-40B4-BE49-F238E27FC236}">
                <a16:creationId xmlns:a16="http://schemas.microsoft.com/office/drawing/2014/main" id="{A2F1D32F-2F27-42D7-B92D-6CCDA45E328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038600" y="3276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71" name="Oval 27">
            <a:extLst>
              <a:ext uri="{FF2B5EF4-FFF2-40B4-BE49-F238E27FC236}">
                <a16:creationId xmlns:a16="http://schemas.microsoft.com/office/drawing/2014/main" id="{FDB4A6DE-3DF4-46D4-A5C7-C9922E1183B4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114800" y="2667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72" name="Oval 28">
            <a:extLst>
              <a:ext uri="{FF2B5EF4-FFF2-40B4-BE49-F238E27FC236}">
                <a16:creationId xmlns:a16="http://schemas.microsoft.com/office/drawing/2014/main" id="{CCE57761-AB7A-4FFA-9CBB-8852D54CBD1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733800" y="2514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73" name="Oval 29">
            <a:extLst>
              <a:ext uri="{FF2B5EF4-FFF2-40B4-BE49-F238E27FC236}">
                <a16:creationId xmlns:a16="http://schemas.microsoft.com/office/drawing/2014/main" id="{FF248011-CD58-4ACF-986C-E9A4675E984C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819400" y="3048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74" name="Oval 30">
            <a:extLst>
              <a:ext uri="{FF2B5EF4-FFF2-40B4-BE49-F238E27FC236}">
                <a16:creationId xmlns:a16="http://schemas.microsoft.com/office/drawing/2014/main" id="{2EFC2AF3-2314-4394-ABD2-93CE68B593D9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124200" y="2895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75" name="Oval 31">
            <a:extLst>
              <a:ext uri="{FF2B5EF4-FFF2-40B4-BE49-F238E27FC236}">
                <a16:creationId xmlns:a16="http://schemas.microsoft.com/office/drawing/2014/main" id="{A688F5EB-153D-4AE3-8C33-D73623E5548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429000" y="3082925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030176" name="Oval 32">
            <a:extLst>
              <a:ext uri="{FF2B5EF4-FFF2-40B4-BE49-F238E27FC236}">
                <a16:creationId xmlns:a16="http://schemas.microsoft.com/office/drawing/2014/main" id="{FAC32706-EF30-46C4-ABAC-CC20854A9576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343400" y="2971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77" name="Oval 33">
            <a:extLst>
              <a:ext uri="{FF2B5EF4-FFF2-40B4-BE49-F238E27FC236}">
                <a16:creationId xmlns:a16="http://schemas.microsoft.com/office/drawing/2014/main" id="{0740DD90-8A99-4E02-BD82-D6AFB9AC0CC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810000" y="3048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78" name="Oval 34">
            <a:extLst>
              <a:ext uri="{FF2B5EF4-FFF2-40B4-BE49-F238E27FC236}">
                <a16:creationId xmlns:a16="http://schemas.microsoft.com/office/drawing/2014/main" id="{5CFF230C-7EB2-48DA-B3C5-0336D45D105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581400" y="3352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79" name="Text Box 35">
            <a:extLst>
              <a:ext uri="{FF2B5EF4-FFF2-40B4-BE49-F238E27FC236}">
                <a16:creationId xmlns:a16="http://schemas.microsoft.com/office/drawing/2014/main" id="{D9AD3A28-9EC1-43A8-8B2F-AB233F9A8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2255839"/>
            <a:ext cx="354013" cy="396875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dirty="0">
                <a:solidFill>
                  <a:schemeClr val="accent5"/>
                </a:solidFill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1030180" name="Line 36">
            <a:extLst>
              <a:ext uri="{FF2B5EF4-FFF2-40B4-BE49-F238E27FC236}">
                <a16:creationId xmlns:a16="http://schemas.microsoft.com/office/drawing/2014/main" id="{CD96D519-D9D8-49E8-A54A-75049204100E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3962400"/>
            <a:ext cx="2286000" cy="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81" name="Oval 37">
            <a:extLst>
              <a:ext uri="{FF2B5EF4-FFF2-40B4-BE49-F238E27FC236}">
                <a16:creationId xmlns:a16="http://schemas.microsoft.com/office/drawing/2014/main" id="{19FB657C-B860-48AC-9519-6F94345593E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648200" y="2971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82" name="Text Box 38">
            <a:extLst>
              <a:ext uri="{FF2B5EF4-FFF2-40B4-BE49-F238E27FC236}">
                <a16:creationId xmlns:a16="http://schemas.microsoft.com/office/drawing/2014/main" id="{914EDA67-6A15-4868-9199-F2FD4E001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9188" y="3856039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dirty="0">
                <a:solidFill>
                  <a:schemeClr val="accent5"/>
                </a:solidFill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1030183" name="Rectangle 39">
            <a:extLst>
              <a:ext uri="{FF2B5EF4-FFF2-40B4-BE49-F238E27FC236}">
                <a16:creationId xmlns:a16="http://schemas.microsoft.com/office/drawing/2014/main" id="{1F017F08-520E-45C8-88C9-F85FB20CC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371600"/>
            <a:ext cx="8077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5342" tIns="42672" rIns="85342" bIns="42672"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30184" name="Line 40">
            <a:extLst>
              <a:ext uri="{FF2B5EF4-FFF2-40B4-BE49-F238E27FC236}">
                <a16:creationId xmlns:a16="http://schemas.microsoft.com/office/drawing/2014/main" id="{0CA01F25-3ED2-43DF-8183-5066963BB883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4724400"/>
            <a:ext cx="0" cy="14478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85" name="Oval 41">
            <a:extLst>
              <a:ext uri="{FF2B5EF4-FFF2-40B4-BE49-F238E27FC236}">
                <a16:creationId xmlns:a16="http://schemas.microsoft.com/office/drawing/2014/main" id="{255EAA6D-7F0F-4036-9973-91F11AF3705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543800" y="5715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86" name="Oval 42">
            <a:extLst>
              <a:ext uri="{FF2B5EF4-FFF2-40B4-BE49-F238E27FC236}">
                <a16:creationId xmlns:a16="http://schemas.microsoft.com/office/drawing/2014/main" id="{B9B9FEA8-6681-49A3-BAA4-4BDDD56F83BE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848600" y="5562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87" name="Oval 43">
            <a:extLst>
              <a:ext uri="{FF2B5EF4-FFF2-40B4-BE49-F238E27FC236}">
                <a16:creationId xmlns:a16="http://schemas.microsoft.com/office/drawing/2014/main" id="{50F3CCA1-B39C-4EBD-AB78-4F213891B14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372600" y="4495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88" name="Oval 44">
            <a:extLst>
              <a:ext uri="{FF2B5EF4-FFF2-40B4-BE49-F238E27FC236}">
                <a16:creationId xmlns:a16="http://schemas.microsoft.com/office/drawing/2014/main" id="{F838AC22-5125-4A93-A149-0B16CF8909C9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296400" y="4800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89" name="Oval 45">
            <a:extLst>
              <a:ext uri="{FF2B5EF4-FFF2-40B4-BE49-F238E27FC236}">
                <a16:creationId xmlns:a16="http://schemas.microsoft.com/office/drawing/2014/main" id="{B03F2597-68DD-4004-BDA2-0714EB8874A6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924800" y="5791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90" name="Oval 46">
            <a:extLst>
              <a:ext uri="{FF2B5EF4-FFF2-40B4-BE49-F238E27FC236}">
                <a16:creationId xmlns:a16="http://schemas.microsoft.com/office/drawing/2014/main" id="{05CE2FB5-42E7-458B-B7E6-920707169C1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991600" y="4648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91" name="Oval 47">
            <a:extLst>
              <a:ext uri="{FF2B5EF4-FFF2-40B4-BE49-F238E27FC236}">
                <a16:creationId xmlns:a16="http://schemas.microsoft.com/office/drawing/2014/main" id="{295137E7-F823-43C0-AED7-A92353A42E54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915400" y="5410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92" name="Oval 48">
            <a:extLst>
              <a:ext uri="{FF2B5EF4-FFF2-40B4-BE49-F238E27FC236}">
                <a16:creationId xmlns:a16="http://schemas.microsoft.com/office/drawing/2014/main" id="{FEBFF7B9-71DA-4B71-919C-BBB6F454008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839200" y="5105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93" name="Oval 49">
            <a:extLst>
              <a:ext uri="{FF2B5EF4-FFF2-40B4-BE49-F238E27FC236}">
                <a16:creationId xmlns:a16="http://schemas.microsoft.com/office/drawing/2014/main" id="{F79144AD-A840-485C-84F9-FCFDF99BAF39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144000" y="4343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94" name="Oval 50">
            <a:extLst>
              <a:ext uri="{FF2B5EF4-FFF2-40B4-BE49-F238E27FC236}">
                <a16:creationId xmlns:a16="http://schemas.microsoft.com/office/drawing/2014/main" id="{09F57E89-8BA7-412B-91B6-9C2403218F9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153400" y="5486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030195" name="Oval 51">
            <a:extLst>
              <a:ext uri="{FF2B5EF4-FFF2-40B4-BE49-F238E27FC236}">
                <a16:creationId xmlns:a16="http://schemas.microsoft.com/office/drawing/2014/main" id="{F429669C-F0A0-41B3-986E-3A4120CA5E1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144000" y="5105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96" name="Oval 52">
            <a:extLst>
              <a:ext uri="{FF2B5EF4-FFF2-40B4-BE49-F238E27FC236}">
                <a16:creationId xmlns:a16="http://schemas.microsoft.com/office/drawing/2014/main" id="{C82975E4-E457-46CA-855D-273C5E13D74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534400" y="5334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97" name="Oval 53">
            <a:extLst>
              <a:ext uri="{FF2B5EF4-FFF2-40B4-BE49-F238E27FC236}">
                <a16:creationId xmlns:a16="http://schemas.microsoft.com/office/drawing/2014/main" id="{95DC185D-BCA6-4595-BFD0-FBAD122CAA6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382000" y="5638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198" name="Text Box 54">
            <a:extLst>
              <a:ext uri="{FF2B5EF4-FFF2-40B4-BE49-F238E27FC236}">
                <a16:creationId xmlns:a16="http://schemas.microsoft.com/office/drawing/2014/main" id="{8990FCD4-E21E-4412-9294-787AC833C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1" y="4465639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dirty="0">
                <a:solidFill>
                  <a:schemeClr val="accent5"/>
                </a:solidFill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1030199" name="Line 55">
            <a:extLst>
              <a:ext uri="{FF2B5EF4-FFF2-40B4-BE49-F238E27FC236}">
                <a16:creationId xmlns:a16="http://schemas.microsoft.com/office/drawing/2014/main" id="{DD921F09-D620-413F-9F2C-5D012459327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6172200"/>
            <a:ext cx="2286000" cy="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200" name="Line 56">
            <a:extLst>
              <a:ext uri="{FF2B5EF4-FFF2-40B4-BE49-F238E27FC236}">
                <a16:creationId xmlns:a16="http://schemas.microsoft.com/office/drawing/2014/main" id="{965239E8-7318-4C85-BB45-09E6F4F71A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67600" y="2438400"/>
            <a:ext cx="0" cy="15240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201" name="Oval 57">
            <a:extLst>
              <a:ext uri="{FF2B5EF4-FFF2-40B4-BE49-F238E27FC236}">
                <a16:creationId xmlns:a16="http://schemas.microsoft.com/office/drawing/2014/main" id="{1AE48A80-C8F3-4508-BCBF-FA8BB1F0D25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543800" y="3657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202" name="Oval 58">
            <a:extLst>
              <a:ext uri="{FF2B5EF4-FFF2-40B4-BE49-F238E27FC236}">
                <a16:creationId xmlns:a16="http://schemas.microsoft.com/office/drawing/2014/main" id="{7C0C7385-F1FB-4022-886D-B984D32A086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772400" y="3352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203" name="Oval 59">
            <a:extLst>
              <a:ext uri="{FF2B5EF4-FFF2-40B4-BE49-F238E27FC236}">
                <a16:creationId xmlns:a16="http://schemas.microsoft.com/office/drawing/2014/main" id="{738AC118-4EAB-468F-AA95-BDC948E70A6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677400" y="3200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204" name="Oval 60">
            <a:extLst>
              <a:ext uri="{FF2B5EF4-FFF2-40B4-BE49-F238E27FC236}">
                <a16:creationId xmlns:a16="http://schemas.microsoft.com/office/drawing/2014/main" id="{1609429A-1AD9-4BEE-A771-32BEBCD3D4B8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220200" y="2590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205" name="Oval 61">
            <a:extLst>
              <a:ext uri="{FF2B5EF4-FFF2-40B4-BE49-F238E27FC236}">
                <a16:creationId xmlns:a16="http://schemas.microsoft.com/office/drawing/2014/main" id="{1EA0249E-7F80-44B7-A4EA-F434C241F19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153400" y="2667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206" name="Oval 62">
            <a:extLst>
              <a:ext uri="{FF2B5EF4-FFF2-40B4-BE49-F238E27FC236}">
                <a16:creationId xmlns:a16="http://schemas.microsoft.com/office/drawing/2014/main" id="{779EDB24-D90F-4409-8CB6-B9E5FEE295D9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677400" y="3505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207" name="Oval 63">
            <a:extLst>
              <a:ext uri="{FF2B5EF4-FFF2-40B4-BE49-F238E27FC236}">
                <a16:creationId xmlns:a16="http://schemas.microsoft.com/office/drawing/2014/main" id="{DFFA2C2F-5D01-4771-BD5E-9D18B3C5543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372600" y="3276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208" name="Oval 64">
            <a:extLst>
              <a:ext uri="{FF2B5EF4-FFF2-40B4-BE49-F238E27FC236}">
                <a16:creationId xmlns:a16="http://schemas.microsoft.com/office/drawing/2014/main" id="{F86AEA57-7FCE-43B6-89FD-59A7644E9DC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915400" y="2743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209" name="Oval 65">
            <a:extLst>
              <a:ext uri="{FF2B5EF4-FFF2-40B4-BE49-F238E27FC236}">
                <a16:creationId xmlns:a16="http://schemas.microsoft.com/office/drawing/2014/main" id="{A1608702-474A-4465-A921-633BACC4BB48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534400" y="2590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210" name="Oval 66">
            <a:extLst>
              <a:ext uri="{FF2B5EF4-FFF2-40B4-BE49-F238E27FC236}">
                <a16:creationId xmlns:a16="http://schemas.microsoft.com/office/drawing/2014/main" id="{9EA83A1E-2C9F-4F90-8922-C473E657FBA8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696200" y="3048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211" name="Oval 67">
            <a:extLst>
              <a:ext uri="{FF2B5EF4-FFF2-40B4-BE49-F238E27FC236}">
                <a16:creationId xmlns:a16="http://schemas.microsoft.com/office/drawing/2014/main" id="{D1EA82D7-FDF2-4892-A443-3756185D262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924800" y="2895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212" name="Oval 68">
            <a:extLst>
              <a:ext uri="{FF2B5EF4-FFF2-40B4-BE49-F238E27FC236}">
                <a16:creationId xmlns:a16="http://schemas.microsoft.com/office/drawing/2014/main" id="{B90B5616-9E64-47EF-9BC7-8702E7CAAE2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229600" y="3082925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030213" name="Oval 69">
            <a:extLst>
              <a:ext uri="{FF2B5EF4-FFF2-40B4-BE49-F238E27FC236}">
                <a16:creationId xmlns:a16="http://schemas.microsoft.com/office/drawing/2014/main" id="{A2D26949-7E4B-4F3F-845A-28CACBBFDB1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144000" y="2971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214" name="Oval 70">
            <a:extLst>
              <a:ext uri="{FF2B5EF4-FFF2-40B4-BE49-F238E27FC236}">
                <a16:creationId xmlns:a16="http://schemas.microsoft.com/office/drawing/2014/main" id="{A2300E1E-1DFB-4A4A-921A-E28C31A32206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610600" y="2895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215" name="Oval 71">
            <a:extLst>
              <a:ext uri="{FF2B5EF4-FFF2-40B4-BE49-F238E27FC236}">
                <a16:creationId xmlns:a16="http://schemas.microsoft.com/office/drawing/2014/main" id="{95D603EB-7B7B-4EEE-A537-F1280DBEE2B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839200" y="2438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216" name="Text Box 72">
            <a:extLst>
              <a:ext uri="{FF2B5EF4-FFF2-40B4-BE49-F238E27FC236}">
                <a16:creationId xmlns:a16="http://schemas.microsoft.com/office/drawing/2014/main" id="{798ECA04-4A27-434C-9BEC-DFC4F7DD5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1" y="2255839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dirty="0">
                <a:solidFill>
                  <a:schemeClr val="accent5"/>
                </a:solidFill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1030217" name="Line 73">
            <a:extLst>
              <a:ext uri="{FF2B5EF4-FFF2-40B4-BE49-F238E27FC236}">
                <a16:creationId xmlns:a16="http://schemas.microsoft.com/office/drawing/2014/main" id="{85E6D858-AFCB-4EFB-93D0-69AE129DC71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3962400"/>
            <a:ext cx="2286000" cy="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218" name="Oval 74">
            <a:extLst>
              <a:ext uri="{FF2B5EF4-FFF2-40B4-BE49-F238E27FC236}">
                <a16:creationId xmlns:a16="http://schemas.microsoft.com/office/drawing/2014/main" id="{C2DD99B4-4A6A-442F-BEEF-C8E14D9273F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448800" y="2971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219" name="Text Box 75">
            <a:extLst>
              <a:ext uri="{FF2B5EF4-FFF2-40B4-BE49-F238E27FC236}">
                <a16:creationId xmlns:a16="http://schemas.microsoft.com/office/drawing/2014/main" id="{BD453999-5B94-4525-87CF-A89A21C46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9788" y="3856039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dirty="0">
                <a:solidFill>
                  <a:schemeClr val="accent5"/>
                </a:solidFill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1030220" name="Text Box 76">
            <a:extLst>
              <a:ext uri="{FF2B5EF4-FFF2-40B4-BE49-F238E27FC236}">
                <a16:creationId xmlns:a16="http://schemas.microsoft.com/office/drawing/2014/main" id="{6CFEA2A9-5E45-4A01-802D-0156D09AB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3601" y="6065839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dirty="0">
                <a:solidFill>
                  <a:schemeClr val="accent5"/>
                </a:solidFill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1030221" name="Text Box 77">
            <a:extLst>
              <a:ext uri="{FF2B5EF4-FFF2-40B4-BE49-F238E27FC236}">
                <a16:creationId xmlns:a16="http://schemas.microsoft.com/office/drawing/2014/main" id="{263282CD-D1C2-45A7-86FD-71399FB65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1676401"/>
            <a:ext cx="2667000" cy="409575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 dirty="0">
                <a:latin typeface="Arial" panose="020B0604020202020204" pitchFamily="34" charset="0"/>
              </a:rPr>
              <a:t>Linear relationships</a:t>
            </a:r>
          </a:p>
        </p:txBody>
      </p:sp>
      <p:sp>
        <p:nvSpPr>
          <p:cNvPr id="1030222" name="Text Box 78">
            <a:extLst>
              <a:ext uri="{FF2B5EF4-FFF2-40B4-BE49-F238E27FC236}">
                <a16:creationId xmlns:a16="http://schemas.microsoft.com/office/drawing/2014/main" id="{9B1AB533-D1BA-47B5-8D60-D65045F331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1676401"/>
            <a:ext cx="3200400" cy="409575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>
                <a:latin typeface="Arial" panose="020B0604020202020204" pitchFamily="34" charset="0"/>
              </a:rPr>
              <a:t>Curvilinear relationships</a:t>
            </a:r>
          </a:p>
        </p:txBody>
      </p:sp>
      <p:sp>
        <p:nvSpPr>
          <p:cNvPr id="1030223" name="Line 79">
            <a:extLst>
              <a:ext uri="{FF2B5EF4-FFF2-40B4-BE49-F238E27FC236}">
                <a16:creationId xmlns:a16="http://schemas.microsoft.com/office/drawing/2014/main" id="{6E4160CF-C566-4323-BBFE-81068FE6C0F7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1676400"/>
            <a:ext cx="0" cy="4724400"/>
          </a:xfrm>
          <a:prstGeom prst="line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30224" name="Line 80">
            <a:extLst>
              <a:ext uri="{FF2B5EF4-FFF2-40B4-BE49-F238E27FC236}">
                <a16:creationId xmlns:a16="http://schemas.microsoft.com/office/drawing/2014/main" id="{C36ECC58-DE70-49D3-A6AD-B540976589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2590800"/>
            <a:ext cx="2362200" cy="11430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/>
          <a:lstStyle/>
          <a:p>
            <a:endParaRPr lang="en-US"/>
          </a:p>
        </p:txBody>
      </p:sp>
      <p:sp>
        <p:nvSpPr>
          <p:cNvPr id="1030225" name="Line 81">
            <a:extLst>
              <a:ext uri="{FF2B5EF4-FFF2-40B4-BE49-F238E27FC236}">
                <a16:creationId xmlns:a16="http://schemas.microsoft.com/office/drawing/2014/main" id="{1B8FB222-95DC-4B6B-B2DB-08439F3F8D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4724400"/>
            <a:ext cx="1828800" cy="1295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/>
          <a:lstStyle/>
          <a:p>
            <a:endParaRPr lang="en-US"/>
          </a:p>
        </p:txBody>
      </p:sp>
      <p:sp>
        <p:nvSpPr>
          <p:cNvPr id="1030226" name="Freeform 82">
            <a:extLst>
              <a:ext uri="{FF2B5EF4-FFF2-40B4-BE49-F238E27FC236}">
                <a16:creationId xmlns:a16="http://schemas.microsoft.com/office/drawing/2014/main" id="{1E700FBE-4098-4C97-A7F5-9465AA3F55C1}"/>
              </a:ext>
            </a:extLst>
          </p:cNvPr>
          <p:cNvSpPr>
            <a:spLocks/>
          </p:cNvSpPr>
          <p:nvPr/>
        </p:nvSpPr>
        <p:spPr bwMode="auto">
          <a:xfrm>
            <a:off x="7620000" y="2692400"/>
            <a:ext cx="2209800" cy="1117600"/>
          </a:xfrm>
          <a:custGeom>
            <a:avLst/>
            <a:gdLst>
              <a:gd name="T0" fmla="*/ 0 w 1392"/>
              <a:gd name="T1" fmla="*/ 704 h 704"/>
              <a:gd name="T2" fmla="*/ 720 w 1392"/>
              <a:gd name="T3" fmla="*/ 32 h 704"/>
              <a:gd name="T4" fmla="*/ 1392 w 1392"/>
              <a:gd name="T5" fmla="*/ 512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92" h="704">
                <a:moveTo>
                  <a:pt x="0" y="704"/>
                </a:moveTo>
                <a:cubicBezTo>
                  <a:pt x="244" y="384"/>
                  <a:pt x="488" y="64"/>
                  <a:pt x="720" y="32"/>
                </a:cubicBezTo>
                <a:cubicBezTo>
                  <a:pt x="952" y="0"/>
                  <a:pt x="1172" y="256"/>
                  <a:pt x="1392" y="512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/>
          <a:lstStyle/>
          <a:p>
            <a:endParaRPr lang="en-US"/>
          </a:p>
        </p:txBody>
      </p:sp>
      <p:sp>
        <p:nvSpPr>
          <p:cNvPr id="1030227" name="Freeform 83">
            <a:extLst>
              <a:ext uri="{FF2B5EF4-FFF2-40B4-BE49-F238E27FC236}">
                <a16:creationId xmlns:a16="http://schemas.microsoft.com/office/drawing/2014/main" id="{3ECE00E2-2805-4A38-A3F4-5DEF33407C95}"/>
              </a:ext>
            </a:extLst>
          </p:cNvPr>
          <p:cNvSpPr>
            <a:spLocks/>
          </p:cNvSpPr>
          <p:nvPr/>
        </p:nvSpPr>
        <p:spPr bwMode="auto">
          <a:xfrm>
            <a:off x="7620000" y="4419600"/>
            <a:ext cx="1828800" cy="1447800"/>
          </a:xfrm>
          <a:custGeom>
            <a:avLst/>
            <a:gdLst>
              <a:gd name="T0" fmla="*/ 0 w 1152"/>
              <a:gd name="T1" fmla="*/ 912 h 912"/>
              <a:gd name="T2" fmla="*/ 816 w 1152"/>
              <a:gd name="T3" fmla="*/ 624 h 912"/>
              <a:gd name="T4" fmla="*/ 1152 w 1152"/>
              <a:gd name="T5" fmla="*/ 0 h 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52" h="912">
                <a:moveTo>
                  <a:pt x="0" y="912"/>
                </a:moveTo>
                <a:cubicBezTo>
                  <a:pt x="312" y="844"/>
                  <a:pt x="624" y="776"/>
                  <a:pt x="816" y="624"/>
                </a:cubicBezTo>
                <a:cubicBezTo>
                  <a:pt x="1008" y="472"/>
                  <a:pt x="1080" y="236"/>
                  <a:pt x="1152" y="0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/>
          <a:lstStyle/>
          <a:p>
            <a:endParaRPr lang="en-US"/>
          </a:p>
        </p:txBody>
      </p:sp>
      <p:sp>
        <p:nvSpPr>
          <p:cNvPr id="1030228" name="Rectangle 84">
            <a:extLst>
              <a:ext uri="{FF2B5EF4-FFF2-40B4-BE49-F238E27FC236}">
                <a16:creationId xmlns:a16="http://schemas.microsoft.com/office/drawing/2014/main" id="{569400CD-4E60-4A8A-A7DA-601C0ACFA8D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54013" y="285450"/>
            <a:ext cx="10515600" cy="827155"/>
          </a:xfrm>
          <a:noFill/>
          <a:ln/>
        </p:spPr>
        <p:txBody>
          <a:bodyPr/>
          <a:lstStyle/>
          <a:p>
            <a:r>
              <a:rPr lang="en-US" altLang="en-US" dirty="0"/>
              <a:t>Linear Correlation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170" name="Line 2">
            <a:extLst>
              <a:ext uri="{FF2B5EF4-FFF2-40B4-BE49-F238E27FC236}">
                <a16:creationId xmlns:a16="http://schemas.microsoft.com/office/drawing/2014/main" id="{514BA853-B3CC-442A-B3CC-274A03DBB4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4724400"/>
            <a:ext cx="0" cy="14478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031171" name="Oval 3">
            <a:extLst>
              <a:ext uri="{FF2B5EF4-FFF2-40B4-BE49-F238E27FC236}">
                <a16:creationId xmlns:a16="http://schemas.microsoft.com/office/drawing/2014/main" id="{6F1A2F79-862A-455E-8C94-09E5FBBA87F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267200" y="5791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172" name="Oval 4">
            <a:extLst>
              <a:ext uri="{FF2B5EF4-FFF2-40B4-BE49-F238E27FC236}">
                <a16:creationId xmlns:a16="http://schemas.microsoft.com/office/drawing/2014/main" id="{F8BF2532-7DFA-4E78-A04F-F0559003E81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895600" y="4953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173" name="Oval 5">
            <a:extLst>
              <a:ext uri="{FF2B5EF4-FFF2-40B4-BE49-F238E27FC236}">
                <a16:creationId xmlns:a16="http://schemas.microsoft.com/office/drawing/2014/main" id="{97EEE005-AF74-444B-BAE3-02F0A907B1F8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648200" y="5791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174" name="Oval 6">
            <a:extLst>
              <a:ext uri="{FF2B5EF4-FFF2-40B4-BE49-F238E27FC236}">
                <a16:creationId xmlns:a16="http://schemas.microsoft.com/office/drawing/2014/main" id="{47B93920-E1AA-440F-9DB6-2DF36C9820E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276600" y="4800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175" name="Oval 7">
            <a:extLst>
              <a:ext uri="{FF2B5EF4-FFF2-40B4-BE49-F238E27FC236}">
                <a16:creationId xmlns:a16="http://schemas.microsoft.com/office/drawing/2014/main" id="{7C05183D-7A66-4C6A-A652-97919BB64E03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038600" y="5486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176" name="Oval 8">
            <a:extLst>
              <a:ext uri="{FF2B5EF4-FFF2-40B4-BE49-F238E27FC236}">
                <a16:creationId xmlns:a16="http://schemas.microsoft.com/office/drawing/2014/main" id="{8E4CBC02-FBD2-42DE-928B-DA99AD1BB6C3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343400" y="5638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177" name="Oval 9">
            <a:extLst>
              <a:ext uri="{FF2B5EF4-FFF2-40B4-BE49-F238E27FC236}">
                <a16:creationId xmlns:a16="http://schemas.microsoft.com/office/drawing/2014/main" id="{F91DE016-9BD5-4C00-86FD-DCEF07B0C95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657600" y="5105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178" name="Oval 10">
            <a:extLst>
              <a:ext uri="{FF2B5EF4-FFF2-40B4-BE49-F238E27FC236}">
                <a16:creationId xmlns:a16="http://schemas.microsoft.com/office/drawing/2014/main" id="{4EE39266-0BAB-4995-A0FC-E0270BE5C56E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819400" y="4724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179" name="Oval 11">
            <a:extLst>
              <a:ext uri="{FF2B5EF4-FFF2-40B4-BE49-F238E27FC236}">
                <a16:creationId xmlns:a16="http://schemas.microsoft.com/office/drawing/2014/main" id="{277CBDAF-1B5C-4ABE-A1E5-ED5DE6A5B4E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124200" y="5105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180" name="Oval 12">
            <a:extLst>
              <a:ext uri="{FF2B5EF4-FFF2-40B4-BE49-F238E27FC236}">
                <a16:creationId xmlns:a16="http://schemas.microsoft.com/office/drawing/2014/main" id="{60585A30-011C-4C74-A606-0BDFEDD885D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429000" y="5181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031181" name="Oval 13">
            <a:extLst>
              <a:ext uri="{FF2B5EF4-FFF2-40B4-BE49-F238E27FC236}">
                <a16:creationId xmlns:a16="http://schemas.microsoft.com/office/drawing/2014/main" id="{2C0AB873-F2ED-4AED-8C35-15C7FB2DF89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962400" y="5715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182" name="Oval 14">
            <a:extLst>
              <a:ext uri="{FF2B5EF4-FFF2-40B4-BE49-F238E27FC236}">
                <a16:creationId xmlns:a16="http://schemas.microsoft.com/office/drawing/2014/main" id="{F940C3D8-7CDC-456E-A7FC-A950E7514E53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886200" y="5257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183" name="Oval 15">
            <a:extLst>
              <a:ext uri="{FF2B5EF4-FFF2-40B4-BE49-F238E27FC236}">
                <a16:creationId xmlns:a16="http://schemas.microsoft.com/office/drawing/2014/main" id="{2DF1ED49-1B87-49E7-9C42-839C3F20547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657600" y="5410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184" name="Text Box 16">
            <a:extLst>
              <a:ext uri="{FF2B5EF4-FFF2-40B4-BE49-F238E27FC236}">
                <a16:creationId xmlns:a16="http://schemas.microsoft.com/office/drawing/2014/main" id="{826B0F0A-C25E-4E06-B6CE-59943A9CD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4465639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dirty="0">
                <a:solidFill>
                  <a:schemeClr val="accent5"/>
                </a:solidFill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1031185" name="Line 17">
            <a:extLst>
              <a:ext uri="{FF2B5EF4-FFF2-40B4-BE49-F238E27FC236}">
                <a16:creationId xmlns:a16="http://schemas.microsoft.com/office/drawing/2014/main" id="{4B9B239E-3E0F-4882-8C87-A1B95C005E3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6172200"/>
            <a:ext cx="2286000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031186" name="Text Box 18">
            <a:extLst>
              <a:ext uri="{FF2B5EF4-FFF2-40B4-BE49-F238E27FC236}">
                <a16:creationId xmlns:a16="http://schemas.microsoft.com/office/drawing/2014/main" id="{170DE36E-F02B-41DD-A073-4AAED96EF9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9188" y="6065839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dirty="0">
                <a:solidFill>
                  <a:schemeClr val="accent5"/>
                </a:solidFill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1031187" name="Line 19">
            <a:extLst>
              <a:ext uri="{FF2B5EF4-FFF2-40B4-BE49-F238E27FC236}">
                <a16:creationId xmlns:a16="http://schemas.microsoft.com/office/drawing/2014/main" id="{4393540D-87BF-49E7-8867-7A57B9699D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2438400"/>
            <a:ext cx="0" cy="15240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031188" name="Oval 20">
            <a:extLst>
              <a:ext uri="{FF2B5EF4-FFF2-40B4-BE49-F238E27FC236}">
                <a16:creationId xmlns:a16="http://schemas.microsoft.com/office/drawing/2014/main" id="{594FDCA6-839D-461B-8E05-ED6BAD02C314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743200" y="3657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189" name="Oval 21">
            <a:extLst>
              <a:ext uri="{FF2B5EF4-FFF2-40B4-BE49-F238E27FC236}">
                <a16:creationId xmlns:a16="http://schemas.microsoft.com/office/drawing/2014/main" id="{5FCEA5DE-25C0-4E22-B48A-CFDCE0427F6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2971800" y="3352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190" name="Oval 22">
            <a:extLst>
              <a:ext uri="{FF2B5EF4-FFF2-40B4-BE49-F238E27FC236}">
                <a16:creationId xmlns:a16="http://schemas.microsoft.com/office/drawing/2014/main" id="{E6C9E794-02F7-43D5-84F2-8A8ED78995D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648200" y="2286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191" name="Oval 23">
            <a:extLst>
              <a:ext uri="{FF2B5EF4-FFF2-40B4-BE49-F238E27FC236}">
                <a16:creationId xmlns:a16="http://schemas.microsoft.com/office/drawing/2014/main" id="{11DA7D01-6025-4B49-B650-CD9B8A2139B6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800600" y="2667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192" name="Oval 24">
            <a:extLst>
              <a:ext uri="{FF2B5EF4-FFF2-40B4-BE49-F238E27FC236}">
                <a16:creationId xmlns:a16="http://schemas.microsoft.com/office/drawing/2014/main" id="{57ABECBF-5338-45CE-9884-8FC39DA2D0E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200400" y="3505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193" name="Oval 25">
            <a:extLst>
              <a:ext uri="{FF2B5EF4-FFF2-40B4-BE49-F238E27FC236}">
                <a16:creationId xmlns:a16="http://schemas.microsoft.com/office/drawing/2014/main" id="{D3CDD365-BE58-4738-B67B-484FBFDE546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953000" y="2438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194" name="Oval 26">
            <a:extLst>
              <a:ext uri="{FF2B5EF4-FFF2-40B4-BE49-F238E27FC236}">
                <a16:creationId xmlns:a16="http://schemas.microsoft.com/office/drawing/2014/main" id="{813D273A-223F-40BD-96FE-A67B748BD774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114800" y="2971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195" name="Oval 27">
            <a:extLst>
              <a:ext uri="{FF2B5EF4-FFF2-40B4-BE49-F238E27FC236}">
                <a16:creationId xmlns:a16="http://schemas.microsoft.com/office/drawing/2014/main" id="{8E96FACE-784E-4321-86EE-6F4F2253622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114800" y="2667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196" name="Oval 28">
            <a:extLst>
              <a:ext uri="{FF2B5EF4-FFF2-40B4-BE49-F238E27FC236}">
                <a16:creationId xmlns:a16="http://schemas.microsoft.com/office/drawing/2014/main" id="{D845DD47-357B-4DFD-BEB9-5E0D7168D92D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495800" y="2667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197" name="Oval 29">
            <a:extLst>
              <a:ext uri="{FF2B5EF4-FFF2-40B4-BE49-F238E27FC236}">
                <a16:creationId xmlns:a16="http://schemas.microsoft.com/office/drawing/2014/main" id="{3BA893D8-2E0A-40E5-9067-E0CDCFEB1A1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810000" y="2819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198" name="Oval 30">
            <a:extLst>
              <a:ext uri="{FF2B5EF4-FFF2-40B4-BE49-F238E27FC236}">
                <a16:creationId xmlns:a16="http://schemas.microsoft.com/office/drawing/2014/main" id="{58FC1266-3248-44D2-AA86-005ED692B6B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200400" y="3200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199" name="Oval 31">
            <a:extLst>
              <a:ext uri="{FF2B5EF4-FFF2-40B4-BE49-F238E27FC236}">
                <a16:creationId xmlns:a16="http://schemas.microsoft.com/office/drawing/2014/main" id="{011DCDD8-4485-4DEB-A7D8-53D46860D99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429000" y="3082925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031200" name="Oval 32">
            <a:extLst>
              <a:ext uri="{FF2B5EF4-FFF2-40B4-BE49-F238E27FC236}">
                <a16:creationId xmlns:a16="http://schemas.microsoft.com/office/drawing/2014/main" id="{9A4EA380-7873-40A1-8804-7867F025B02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4343400" y="2971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01" name="Oval 33">
            <a:extLst>
              <a:ext uri="{FF2B5EF4-FFF2-40B4-BE49-F238E27FC236}">
                <a16:creationId xmlns:a16="http://schemas.microsoft.com/office/drawing/2014/main" id="{518C1185-B848-4B0A-8AEF-AA93AEE20EF6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810000" y="3048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02" name="Oval 34">
            <a:extLst>
              <a:ext uri="{FF2B5EF4-FFF2-40B4-BE49-F238E27FC236}">
                <a16:creationId xmlns:a16="http://schemas.microsoft.com/office/drawing/2014/main" id="{9865D5FF-7ACC-4B02-B870-4D39A04C0D19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3581400" y="3352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03" name="Text Box 35">
            <a:extLst>
              <a:ext uri="{FF2B5EF4-FFF2-40B4-BE49-F238E27FC236}">
                <a16:creationId xmlns:a16="http://schemas.microsoft.com/office/drawing/2014/main" id="{39639517-29C9-4C27-8FAD-D0198668A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2255839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dirty="0">
                <a:solidFill>
                  <a:schemeClr val="accent5"/>
                </a:solidFill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1031204" name="Line 36">
            <a:extLst>
              <a:ext uri="{FF2B5EF4-FFF2-40B4-BE49-F238E27FC236}">
                <a16:creationId xmlns:a16="http://schemas.microsoft.com/office/drawing/2014/main" id="{2E109C67-BAAC-4A57-9083-A3582DDCA4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3962400"/>
            <a:ext cx="2286000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031205" name="Text Box 37">
            <a:extLst>
              <a:ext uri="{FF2B5EF4-FFF2-40B4-BE49-F238E27FC236}">
                <a16:creationId xmlns:a16="http://schemas.microsoft.com/office/drawing/2014/main" id="{A7781154-DF29-47D1-8D40-818935150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9188" y="3856039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dirty="0">
                <a:solidFill>
                  <a:schemeClr val="accent5"/>
                </a:solidFill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1031206" name="Rectangle 38">
            <a:extLst>
              <a:ext uri="{FF2B5EF4-FFF2-40B4-BE49-F238E27FC236}">
                <a16:creationId xmlns:a16="http://schemas.microsoft.com/office/drawing/2014/main" id="{89CA4717-510A-4E23-8568-8412907D4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371600"/>
            <a:ext cx="8077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5342" tIns="42672" rIns="85342" bIns="42672"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31207" name="Line 39">
            <a:extLst>
              <a:ext uri="{FF2B5EF4-FFF2-40B4-BE49-F238E27FC236}">
                <a16:creationId xmlns:a16="http://schemas.microsoft.com/office/drawing/2014/main" id="{D003F5EB-0ABB-420A-B66F-A9D73FFFB1E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4724400"/>
            <a:ext cx="0" cy="14478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031208" name="Oval 40">
            <a:extLst>
              <a:ext uri="{FF2B5EF4-FFF2-40B4-BE49-F238E27FC236}">
                <a16:creationId xmlns:a16="http://schemas.microsoft.com/office/drawing/2014/main" id="{751C4DC8-D1A9-4843-B5CB-6CEEB2A7BC13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620000" y="5105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09" name="Oval 41">
            <a:extLst>
              <a:ext uri="{FF2B5EF4-FFF2-40B4-BE49-F238E27FC236}">
                <a16:creationId xmlns:a16="http://schemas.microsoft.com/office/drawing/2014/main" id="{DB87AD18-A4CF-461B-BB58-A44EFEFD097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620000" y="4648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10" name="Oval 42">
            <a:extLst>
              <a:ext uri="{FF2B5EF4-FFF2-40B4-BE49-F238E27FC236}">
                <a16:creationId xmlns:a16="http://schemas.microsoft.com/office/drawing/2014/main" id="{5EE31940-7D20-4359-8EAE-3CF8CC770E6C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077200" y="5257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11" name="Oval 43">
            <a:extLst>
              <a:ext uri="{FF2B5EF4-FFF2-40B4-BE49-F238E27FC236}">
                <a16:creationId xmlns:a16="http://schemas.microsoft.com/office/drawing/2014/main" id="{CED48213-A2D3-4B25-82CE-B3AE945FE91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915400" y="5867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12" name="Oval 44">
            <a:extLst>
              <a:ext uri="{FF2B5EF4-FFF2-40B4-BE49-F238E27FC236}">
                <a16:creationId xmlns:a16="http://schemas.microsoft.com/office/drawing/2014/main" id="{EAF55288-BAA4-431B-AA0C-D544F8147F5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772400" y="5334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13" name="Oval 45">
            <a:extLst>
              <a:ext uri="{FF2B5EF4-FFF2-40B4-BE49-F238E27FC236}">
                <a16:creationId xmlns:a16="http://schemas.microsoft.com/office/drawing/2014/main" id="{1A85C8FD-63D2-43FE-9D33-F3423931ACF9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458200" y="4724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14" name="Oval 46">
            <a:extLst>
              <a:ext uri="{FF2B5EF4-FFF2-40B4-BE49-F238E27FC236}">
                <a16:creationId xmlns:a16="http://schemas.microsoft.com/office/drawing/2014/main" id="{7510554E-674A-40E1-8D2D-9383594E6748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839200" y="5410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15" name="Oval 47">
            <a:extLst>
              <a:ext uri="{FF2B5EF4-FFF2-40B4-BE49-F238E27FC236}">
                <a16:creationId xmlns:a16="http://schemas.microsoft.com/office/drawing/2014/main" id="{B6C1221B-9DA7-4A9C-935A-55CA2CBF9E4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763000" y="5029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16" name="Oval 48">
            <a:extLst>
              <a:ext uri="{FF2B5EF4-FFF2-40B4-BE49-F238E27FC236}">
                <a16:creationId xmlns:a16="http://schemas.microsoft.com/office/drawing/2014/main" id="{0E8DF80A-1393-4D03-8504-D7590F7B3EB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458200" y="5029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17" name="Oval 49">
            <a:extLst>
              <a:ext uri="{FF2B5EF4-FFF2-40B4-BE49-F238E27FC236}">
                <a16:creationId xmlns:a16="http://schemas.microsoft.com/office/drawing/2014/main" id="{6F6F20D6-EC57-488F-A8B2-93673187686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077200" y="4800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031218" name="Oval 50">
            <a:extLst>
              <a:ext uri="{FF2B5EF4-FFF2-40B4-BE49-F238E27FC236}">
                <a16:creationId xmlns:a16="http://schemas.microsoft.com/office/drawing/2014/main" id="{8B8D28DB-9A1B-4C98-BBAE-FB23506493D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067800" y="5029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19" name="Oval 51">
            <a:extLst>
              <a:ext uri="{FF2B5EF4-FFF2-40B4-BE49-F238E27FC236}">
                <a16:creationId xmlns:a16="http://schemas.microsoft.com/office/drawing/2014/main" id="{DA11896E-B4F9-4D5B-91CE-9E6F7ADBF3D6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534400" y="5334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20" name="Oval 52">
            <a:extLst>
              <a:ext uri="{FF2B5EF4-FFF2-40B4-BE49-F238E27FC236}">
                <a16:creationId xmlns:a16="http://schemas.microsoft.com/office/drawing/2014/main" id="{FCD69780-13D7-4421-8838-A33117BD81A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305800" y="5715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21" name="Text Box 53">
            <a:extLst>
              <a:ext uri="{FF2B5EF4-FFF2-40B4-BE49-F238E27FC236}">
                <a16:creationId xmlns:a16="http://schemas.microsoft.com/office/drawing/2014/main" id="{51614DA3-21EC-45B1-BABF-1A2947FB7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1" y="4465639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dirty="0">
                <a:solidFill>
                  <a:schemeClr val="accent5"/>
                </a:solidFill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1031222" name="Line 54">
            <a:extLst>
              <a:ext uri="{FF2B5EF4-FFF2-40B4-BE49-F238E27FC236}">
                <a16:creationId xmlns:a16="http://schemas.microsoft.com/office/drawing/2014/main" id="{3071D415-7FCD-4E39-B56C-EE8817CE7F6A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6172200"/>
            <a:ext cx="2286000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031223" name="Line 55">
            <a:extLst>
              <a:ext uri="{FF2B5EF4-FFF2-40B4-BE49-F238E27FC236}">
                <a16:creationId xmlns:a16="http://schemas.microsoft.com/office/drawing/2014/main" id="{20934CF2-2660-45F9-84D4-0A803BC95C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67600" y="2438400"/>
            <a:ext cx="0" cy="15240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031224" name="Oval 56">
            <a:extLst>
              <a:ext uri="{FF2B5EF4-FFF2-40B4-BE49-F238E27FC236}">
                <a16:creationId xmlns:a16="http://schemas.microsoft.com/office/drawing/2014/main" id="{229D9E0A-FE90-4001-B46B-C199B0CAC4A3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610600" y="2514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25" name="Oval 57">
            <a:extLst>
              <a:ext uri="{FF2B5EF4-FFF2-40B4-BE49-F238E27FC236}">
                <a16:creationId xmlns:a16="http://schemas.microsoft.com/office/drawing/2014/main" id="{314AD718-C035-44E6-9C38-7AB38D728CE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772400" y="3352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26" name="Oval 58">
            <a:extLst>
              <a:ext uri="{FF2B5EF4-FFF2-40B4-BE49-F238E27FC236}">
                <a16:creationId xmlns:a16="http://schemas.microsoft.com/office/drawing/2014/main" id="{24AB6F09-5478-41F5-8279-490036AD4B5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839200" y="3276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27" name="Oval 59">
            <a:extLst>
              <a:ext uri="{FF2B5EF4-FFF2-40B4-BE49-F238E27FC236}">
                <a16:creationId xmlns:a16="http://schemas.microsoft.com/office/drawing/2014/main" id="{0F25088B-9397-4847-8B37-30E191FC3C7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220200" y="2590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28" name="Oval 60">
            <a:extLst>
              <a:ext uri="{FF2B5EF4-FFF2-40B4-BE49-F238E27FC236}">
                <a16:creationId xmlns:a16="http://schemas.microsoft.com/office/drawing/2014/main" id="{567EF235-8561-4C61-9A36-90DD3CFC41A0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077200" y="2590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29" name="Oval 61">
            <a:extLst>
              <a:ext uri="{FF2B5EF4-FFF2-40B4-BE49-F238E27FC236}">
                <a16:creationId xmlns:a16="http://schemas.microsoft.com/office/drawing/2014/main" id="{142E887D-511E-4B83-9AD1-29555B26F4A3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153400" y="3657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30" name="Oval 62">
            <a:extLst>
              <a:ext uri="{FF2B5EF4-FFF2-40B4-BE49-F238E27FC236}">
                <a16:creationId xmlns:a16="http://schemas.microsoft.com/office/drawing/2014/main" id="{493880EB-6B18-4898-9680-08EB855E7686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382000" y="3276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31" name="Oval 63">
            <a:extLst>
              <a:ext uri="{FF2B5EF4-FFF2-40B4-BE49-F238E27FC236}">
                <a16:creationId xmlns:a16="http://schemas.microsoft.com/office/drawing/2014/main" id="{75FA09CC-06C7-447B-9AF6-741A6911F148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915400" y="2667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32" name="Oval 64">
            <a:extLst>
              <a:ext uri="{FF2B5EF4-FFF2-40B4-BE49-F238E27FC236}">
                <a16:creationId xmlns:a16="http://schemas.microsoft.com/office/drawing/2014/main" id="{F47E8F01-B278-4EA4-BD31-068BBD95DF09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382000" y="2286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33" name="Oval 65">
            <a:extLst>
              <a:ext uri="{FF2B5EF4-FFF2-40B4-BE49-F238E27FC236}">
                <a16:creationId xmlns:a16="http://schemas.microsoft.com/office/drawing/2014/main" id="{884B464E-B8A8-484C-9DA4-344FE8B2256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772400" y="3048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34" name="Oval 66">
            <a:extLst>
              <a:ext uri="{FF2B5EF4-FFF2-40B4-BE49-F238E27FC236}">
                <a16:creationId xmlns:a16="http://schemas.microsoft.com/office/drawing/2014/main" id="{BB95FEE1-F94A-45F3-99F3-764ED5D607D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7696200" y="2590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35" name="Oval 67">
            <a:extLst>
              <a:ext uri="{FF2B5EF4-FFF2-40B4-BE49-F238E27FC236}">
                <a16:creationId xmlns:a16="http://schemas.microsoft.com/office/drawing/2014/main" id="{19AB51F4-182B-46BF-BB38-111BB711C8D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229600" y="2971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031236" name="Oval 68">
            <a:extLst>
              <a:ext uri="{FF2B5EF4-FFF2-40B4-BE49-F238E27FC236}">
                <a16:creationId xmlns:a16="http://schemas.microsoft.com/office/drawing/2014/main" id="{CE39A194-F02A-45E8-A18B-23BBF0E351F6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144000" y="2971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37" name="Oval 69">
            <a:extLst>
              <a:ext uri="{FF2B5EF4-FFF2-40B4-BE49-F238E27FC236}">
                <a16:creationId xmlns:a16="http://schemas.microsoft.com/office/drawing/2014/main" id="{AF3411DE-A153-4C96-8228-F3C70016A0EE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610600" y="2895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38" name="Oval 70">
            <a:extLst>
              <a:ext uri="{FF2B5EF4-FFF2-40B4-BE49-F238E27FC236}">
                <a16:creationId xmlns:a16="http://schemas.microsoft.com/office/drawing/2014/main" id="{B6E6BE90-4D94-477F-86AD-3AB7BA9AC3CA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839200" y="2133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39" name="Text Box 71">
            <a:extLst>
              <a:ext uri="{FF2B5EF4-FFF2-40B4-BE49-F238E27FC236}">
                <a16:creationId xmlns:a16="http://schemas.microsoft.com/office/drawing/2014/main" id="{4EF51ABA-8FC0-469B-A951-A4E5D1F31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1" y="2255839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dirty="0">
                <a:solidFill>
                  <a:schemeClr val="accent5"/>
                </a:solidFill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1031240" name="Line 72">
            <a:extLst>
              <a:ext uri="{FF2B5EF4-FFF2-40B4-BE49-F238E27FC236}">
                <a16:creationId xmlns:a16="http://schemas.microsoft.com/office/drawing/2014/main" id="{D2733C7F-36E1-4C78-8554-0EC4A433A0D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3962400"/>
            <a:ext cx="2286000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031241" name="Oval 73">
            <a:extLst>
              <a:ext uri="{FF2B5EF4-FFF2-40B4-BE49-F238E27FC236}">
                <a16:creationId xmlns:a16="http://schemas.microsoft.com/office/drawing/2014/main" id="{11A17818-3629-4562-B21E-D890A8E00F9B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677400" y="23622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42" name="Text Box 74">
            <a:extLst>
              <a:ext uri="{FF2B5EF4-FFF2-40B4-BE49-F238E27FC236}">
                <a16:creationId xmlns:a16="http://schemas.microsoft.com/office/drawing/2014/main" id="{49AF197F-2A53-4726-9BF1-A49FEAC69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9788" y="3856039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dirty="0">
                <a:solidFill>
                  <a:schemeClr val="accent5"/>
                </a:solidFill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1031243" name="Text Box 75">
            <a:extLst>
              <a:ext uri="{FF2B5EF4-FFF2-40B4-BE49-F238E27FC236}">
                <a16:creationId xmlns:a16="http://schemas.microsoft.com/office/drawing/2014/main" id="{96C789F5-6370-4507-8FF5-9CA44FBE4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3601" y="6065839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dirty="0">
                <a:solidFill>
                  <a:schemeClr val="accent5"/>
                </a:solidFill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1031244" name="Text Box 76">
            <a:extLst>
              <a:ext uri="{FF2B5EF4-FFF2-40B4-BE49-F238E27FC236}">
                <a16:creationId xmlns:a16="http://schemas.microsoft.com/office/drawing/2014/main" id="{345795F3-1929-4E19-AAB1-866A827F5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1676401"/>
            <a:ext cx="2667000" cy="409575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>
                <a:latin typeface="Arial" panose="020B0604020202020204" pitchFamily="34" charset="0"/>
              </a:rPr>
              <a:t>Strong relationships</a:t>
            </a:r>
          </a:p>
        </p:txBody>
      </p:sp>
      <p:sp>
        <p:nvSpPr>
          <p:cNvPr id="1031245" name="Text Box 77">
            <a:extLst>
              <a:ext uri="{FF2B5EF4-FFF2-40B4-BE49-F238E27FC236}">
                <a16:creationId xmlns:a16="http://schemas.microsoft.com/office/drawing/2014/main" id="{92E9A0A9-4ED3-4328-B0A6-28A7FC026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1676401"/>
            <a:ext cx="2590800" cy="409575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>
                <a:latin typeface="Arial" panose="020B0604020202020204" pitchFamily="34" charset="0"/>
              </a:rPr>
              <a:t>Weak relationships</a:t>
            </a:r>
          </a:p>
        </p:txBody>
      </p:sp>
      <p:sp>
        <p:nvSpPr>
          <p:cNvPr id="1031246" name="Line 78">
            <a:extLst>
              <a:ext uri="{FF2B5EF4-FFF2-40B4-BE49-F238E27FC236}">
                <a16:creationId xmlns:a16="http://schemas.microsoft.com/office/drawing/2014/main" id="{02B3A1DB-AEDB-4B75-8140-93817769BA7A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1676400"/>
            <a:ext cx="0" cy="4724400"/>
          </a:xfrm>
          <a:prstGeom prst="line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31247" name="Oval 79">
            <a:extLst>
              <a:ext uri="{FF2B5EF4-FFF2-40B4-BE49-F238E27FC236}">
                <a16:creationId xmlns:a16="http://schemas.microsoft.com/office/drawing/2014/main" id="{CA4C84B8-3D45-421A-9233-231D63140A54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525000" y="2819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48" name="Oval 80">
            <a:extLst>
              <a:ext uri="{FF2B5EF4-FFF2-40B4-BE49-F238E27FC236}">
                <a16:creationId xmlns:a16="http://schemas.microsoft.com/office/drawing/2014/main" id="{98E1882A-73CA-473B-A959-F1C04B2BC765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372600" y="2209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49" name="Oval 81">
            <a:extLst>
              <a:ext uri="{FF2B5EF4-FFF2-40B4-BE49-F238E27FC236}">
                <a16:creationId xmlns:a16="http://schemas.microsoft.com/office/drawing/2014/main" id="{5CF62F78-30C8-4B55-89A7-1208944D2C89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144000" y="55626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50" name="Oval 82">
            <a:extLst>
              <a:ext uri="{FF2B5EF4-FFF2-40B4-BE49-F238E27FC236}">
                <a16:creationId xmlns:a16="http://schemas.microsoft.com/office/drawing/2014/main" id="{5CE7FBE4-56D1-46AB-949F-2FB8A90D5887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525000" y="5257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51" name="Oval 83">
            <a:extLst>
              <a:ext uri="{FF2B5EF4-FFF2-40B4-BE49-F238E27FC236}">
                <a16:creationId xmlns:a16="http://schemas.microsoft.com/office/drawing/2014/main" id="{799F1D09-5B52-402F-845F-0DB5784E24F2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372600" y="49530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52" name="Oval 84">
            <a:extLst>
              <a:ext uri="{FF2B5EF4-FFF2-40B4-BE49-F238E27FC236}">
                <a16:creationId xmlns:a16="http://schemas.microsoft.com/office/drawing/2014/main" id="{2A43F8C9-BBD5-496D-8948-2FBFA48D3E6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9525000" y="56388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53" name="Oval 85">
            <a:extLst>
              <a:ext uri="{FF2B5EF4-FFF2-40B4-BE49-F238E27FC236}">
                <a16:creationId xmlns:a16="http://schemas.microsoft.com/office/drawing/2014/main" id="{553EDB66-B981-4E27-8E82-8B312CB324CF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839200" y="4724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54" name="Oval 86">
            <a:extLst>
              <a:ext uri="{FF2B5EF4-FFF2-40B4-BE49-F238E27FC236}">
                <a16:creationId xmlns:a16="http://schemas.microsoft.com/office/drawing/2014/main" id="{41C2AE56-3FA6-4A47-8FCB-320199C8C371}"/>
              </a:ext>
            </a:extLst>
          </p:cNvPr>
          <p:cNvSpPr>
            <a:spLocks noChangeArrowheads="1"/>
          </p:cNvSpPr>
          <p:nvPr/>
        </p:nvSpPr>
        <p:spPr bwMode="auto">
          <a:xfrm rot="14317620">
            <a:off x="8153400" y="4343400"/>
            <a:ext cx="228600" cy="2286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255" name="Line 87">
            <a:extLst>
              <a:ext uri="{FF2B5EF4-FFF2-40B4-BE49-F238E27FC236}">
                <a16:creationId xmlns:a16="http://schemas.microsoft.com/office/drawing/2014/main" id="{93009EB4-061D-419C-BD67-5426D51EB1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3200" y="2209800"/>
            <a:ext cx="2057400" cy="1295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31256" name="Line 88">
            <a:extLst>
              <a:ext uri="{FF2B5EF4-FFF2-40B4-BE49-F238E27FC236}">
                <a16:creationId xmlns:a16="http://schemas.microsoft.com/office/drawing/2014/main" id="{553579D4-EF84-4927-9D83-FAA4FB43DE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667000"/>
            <a:ext cx="2057400" cy="1295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31257" name="Line 89">
            <a:extLst>
              <a:ext uri="{FF2B5EF4-FFF2-40B4-BE49-F238E27FC236}">
                <a16:creationId xmlns:a16="http://schemas.microsoft.com/office/drawing/2014/main" id="{170D142E-9B9F-4DDC-8FE9-3E3087BF4C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7600" y="2057400"/>
            <a:ext cx="1143000" cy="68580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31258" name="Line 90">
            <a:extLst>
              <a:ext uri="{FF2B5EF4-FFF2-40B4-BE49-F238E27FC236}">
                <a16:creationId xmlns:a16="http://schemas.microsoft.com/office/drawing/2014/main" id="{1589FD13-0F1B-4F4C-881C-A7041C9B21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34400" y="2895600"/>
            <a:ext cx="1676400" cy="106680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31259" name="Line 91">
            <a:extLst>
              <a:ext uri="{FF2B5EF4-FFF2-40B4-BE49-F238E27FC236}">
                <a16:creationId xmlns:a16="http://schemas.microsoft.com/office/drawing/2014/main" id="{B6F6FAB5-93DC-4105-A824-BD71DC9C27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4572000"/>
            <a:ext cx="1905000" cy="1371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31260" name="Line 92">
            <a:extLst>
              <a:ext uri="{FF2B5EF4-FFF2-40B4-BE49-F238E27FC236}">
                <a16:creationId xmlns:a16="http://schemas.microsoft.com/office/drawing/2014/main" id="{9C08A6BC-304C-44A6-9A11-E932E37968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4953000"/>
            <a:ext cx="1676400" cy="1219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31261" name="Line 93">
            <a:extLst>
              <a:ext uri="{FF2B5EF4-FFF2-40B4-BE49-F238E27FC236}">
                <a16:creationId xmlns:a16="http://schemas.microsoft.com/office/drawing/2014/main" id="{F5DFC966-EFF7-4E93-8751-1974F092261C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4267200"/>
            <a:ext cx="1524000" cy="114300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31262" name="Line 94">
            <a:extLst>
              <a:ext uri="{FF2B5EF4-FFF2-40B4-BE49-F238E27FC236}">
                <a16:creationId xmlns:a16="http://schemas.microsoft.com/office/drawing/2014/main" id="{4EDF242E-5F16-4118-8FB2-EFE95B729CDF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5486400"/>
            <a:ext cx="990600" cy="68580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31263" name="Line 95">
            <a:extLst>
              <a:ext uri="{FF2B5EF4-FFF2-40B4-BE49-F238E27FC236}">
                <a16:creationId xmlns:a16="http://schemas.microsoft.com/office/drawing/2014/main" id="{A98490D7-3742-4CAA-A649-2FCC55E117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2514600"/>
            <a:ext cx="2057400" cy="1295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/>
          <a:lstStyle/>
          <a:p>
            <a:endParaRPr lang="en-US"/>
          </a:p>
        </p:txBody>
      </p:sp>
      <p:sp>
        <p:nvSpPr>
          <p:cNvPr id="1031264" name="Line 96">
            <a:extLst>
              <a:ext uri="{FF2B5EF4-FFF2-40B4-BE49-F238E27FC236}">
                <a16:creationId xmlns:a16="http://schemas.microsoft.com/office/drawing/2014/main" id="{C12908C1-C981-456E-8D6C-45CA20FC50F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4724400"/>
            <a:ext cx="1905000" cy="13716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/>
          <a:lstStyle/>
          <a:p>
            <a:endParaRPr lang="en-US"/>
          </a:p>
        </p:txBody>
      </p:sp>
      <p:sp>
        <p:nvSpPr>
          <p:cNvPr id="1031265" name="Line 97">
            <a:extLst>
              <a:ext uri="{FF2B5EF4-FFF2-40B4-BE49-F238E27FC236}">
                <a16:creationId xmlns:a16="http://schemas.microsoft.com/office/drawing/2014/main" id="{1B208E06-A21F-4AA7-9D76-1D650868A2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6200" y="2209800"/>
            <a:ext cx="2057400" cy="1295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/>
          <a:lstStyle/>
          <a:p>
            <a:endParaRPr lang="en-US"/>
          </a:p>
        </p:txBody>
      </p:sp>
      <p:sp>
        <p:nvSpPr>
          <p:cNvPr id="1031266" name="Line 98">
            <a:extLst>
              <a:ext uri="{FF2B5EF4-FFF2-40B4-BE49-F238E27FC236}">
                <a16:creationId xmlns:a16="http://schemas.microsoft.com/office/drawing/2014/main" id="{8524D89B-D5C2-4969-937D-D5C45D095771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4724400"/>
            <a:ext cx="1752600" cy="1295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/>
          <a:lstStyle/>
          <a:p>
            <a:endParaRPr lang="en-US"/>
          </a:p>
        </p:txBody>
      </p:sp>
      <p:sp>
        <p:nvSpPr>
          <p:cNvPr id="1031267" name="Rectangle 99">
            <a:extLst>
              <a:ext uri="{FF2B5EF4-FFF2-40B4-BE49-F238E27FC236}">
                <a16:creationId xmlns:a16="http://schemas.microsoft.com/office/drawing/2014/main" id="{D063141F-6F9D-4E1B-9D4E-E8266B6BCF6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4638" y="346997"/>
            <a:ext cx="10515600" cy="773046"/>
          </a:xfrm>
          <a:noFill/>
          <a:ln/>
        </p:spPr>
        <p:txBody>
          <a:bodyPr/>
          <a:lstStyle/>
          <a:p>
            <a:r>
              <a:rPr lang="en-US" altLang="en-US" dirty="0"/>
              <a:t>Linear Correlation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CBF56-2F47-407A-C2F9-5CDFE89EA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9B6A0A-8C46-7468-A7A7-028D54FB4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95E168-DA5E-4888-8D8A-92B118324C14}" type="slidenum">
              <a:rPr lang="ru-RU" smtClean="0"/>
              <a:pPr>
                <a:spcAft>
                  <a:spcPts val="600"/>
                </a:spcAft>
              </a:pPr>
              <a:t>8</a:t>
            </a:fld>
            <a:endParaRPr lang="ru-RU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FDFDBE03-979C-8E13-01C2-413796AF444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57163"/>
            <a:ext cx="10515600" cy="1325562"/>
          </a:xfrm>
        </p:spPr>
        <p:txBody>
          <a:bodyPr/>
          <a:lstStyle/>
          <a:p>
            <a:r>
              <a:rPr lang="en-US" dirty="0"/>
              <a:t>Model selection for continuous dependent variables</a:t>
            </a:r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2313D4FC-D99C-B8E0-0FE8-E9FDE5109873}"/>
              </a:ext>
            </a:extLst>
          </p:cNvPr>
          <p:cNvGraphicFramePr>
            <a:graphicFrameLocks/>
          </p:cNvGraphicFramePr>
          <p:nvPr/>
        </p:nvGraphicFramePr>
        <p:xfrm>
          <a:off x="178654" y="1482725"/>
          <a:ext cx="9732148" cy="4282837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1414264">
                  <a:extLst>
                    <a:ext uri="{9D8B030D-6E8A-4147-A177-3AD203B41FA5}">
                      <a16:colId xmlns:a16="http://schemas.microsoft.com/office/drawing/2014/main" val="2200425388"/>
                    </a:ext>
                  </a:extLst>
                </a:gridCol>
                <a:gridCol w="2662437">
                  <a:extLst>
                    <a:ext uri="{9D8B030D-6E8A-4147-A177-3AD203B41FA5}">
                      <a16:colId xmlns:a16="http://schemas.microsoft.com/office/drawing/2014/main" val="3306377049"/>
                    </a:ext>
                  </a:extLst>
                </a:gridCol>
                <a:gridCol w="2807604">
                  <a:extLst>
                    <a:ext uri="{9D8B030D-6E8A-4147-A177-3AD203B41FA5}">
                      <a16:colId xmlns:a16="http://schemas.microsoft.com/office/drawing/2014/main" val="1335301271"/>
                    </a:ext>
                  </a:extLst>
                </a:gridCol>
                <a:gridCol w="2847843">
                  <a:extLst>
                    <a:ext uri="{9D8B030D-6E8A-4147-A177-3AD203B41FA5}">
                      <a16:colId xmlns:a16="http://schemas.microsoft.com/office/drawing/2014/main" val="3742422588"/>
                    </a:ext>
                  </a:extLst>
                </a:gridCol>
              </a:tblGrid>
              <a:tr h="432251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100" b="0" i="0" u="none" strike="noStrike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0" i="0" u="none" strike="noStrike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Outcome Variable</a:t>
                      </a:r>
                    </a:p>
                  </a:txBody>
                  <a:tcPr marL="90673" marR="69748" marT="69748" marB="69748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Are the observations independent or correlated?</a:t>
                      </a:r>
                    </a:p>
                  </a:txBody>
                  <a:tcPr marL="90673" marR="69748" marT="69748" marB="69748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100" b="0" i="0" u="none" strike="noStrike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0" i="0" u="none" strike="noStrike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Alternatives if the normality assumption is violated (and small sample size):</a:t>
                      </a:r>
                    </a:p>
                  </a:txBody>
                  <a:tcPr marL="90673" marR="69748" marT="69748" marB="69748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050416"/>
                  </a:ext>
                </a:extLst>
              </a:tr>
              <a:tr h="4322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0" i="0" u="none" strike="noStrike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independent</a:t>
                      </a:r>
                    </a:p>
                  </a:txBody>
                  <a:tcPr marL="90673" marR="69748" marT="69748" marB="69748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0" i="0" u="none" strike="noStrike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correlated </a:t>
                      </a:r>
                    </a:p>
                  </a:txBody>
                  <a:tcPr marL="90673" marR="69748" marT="69748" marB="69748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1276731"/>
                  </a:ext>
                </a:extLst>
              </a:tr>
              <a:tr h="341833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0" i="0" u="none" strike="noStrike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Continuous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0" i="0" u="none" strike="noStrike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(e.g. pain scale, cognitive function)</a:t>
                      </a:r>
                    </a:p>
                  </a:txBody>
                  <a:tcPr marL="90673" marR="69748" marT="69748" marB="69748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1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T-test:</a:t>
                      </a:r>
                      <a:r>
                        <a:rPr kumimoji="0" lang="en-GB" alt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compares means between two independent groups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1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ANOVA:</a:t>
                      </a:r>
                      <a:r>
                        <a:rPr kumimoji="0" lang="en-GB" alt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compares means between more than two independent groups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1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Pearson’s correlation coefficient</a:t>
                      </a:r>
                      <a:r>
                        <a:rPr kumimoji="0" lang="en-GB" alt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(linear correlation): shows linear correlation between two continuous variables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1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Linear regression:</a:t>
                      </a:r>
                      <a:r>
                        <a:rPr kumimoji="0" lang="en-GB" alt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multivariate regression technique used when the outcome is continuous; gives slopes</a:t>
                      </a:r>
                      <a:endParaRPr kumimoji="0" lang="en-US" alt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0673" marR="69748" marT="69748" marB="69748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Paired </a:t>
                      </a:r>
                      <a:r>
                        <a:rPr kumimoji="0" lang="en-US" altLang="en-US" sz="1100" b="1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ttest</a:t>
                      </a:r>
                      <a:r>
                        <a:rPr kumimoji="0" lang="en-US" altLang="en-US" sz="11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:</a:t>
                      </a:r>
                      <a:r>
                        <a:rPr kumimoji="0" lang="en-US" alt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compares means between two related groups (e.g., the same subjects before and after)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Repeated-measures ANOVA:</a:t>
                      </a:r>
                      <a:r>
                        <a:rPr kumimoji="0" lang="en-US" alt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compares changes over time in the means of two or more groups (repeated measurements)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Mixed models/GEE modeling</a:t>
                      </a:r>
                      <a:r>
                        <a:rPr kumimoji="0" lang="en-US" alt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: multivariate regression techniques to compare changes over time between two or more groups; gives rate of change over time</a:t>
                      </a:r>
                    </a:p>
                  </a:txBody>
                  <a:tcPr marL="90673" marR="69748" marT="69748" marB="69748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0" i="0" u="sng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Non-parametric statistics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Wilcoxon sign-rank test</a:t>
                      </a:r>
                      <a:r>
                        <a:rPr kumimoji="0" lang="en-US" alt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: non-parametric alternative to the paired </a:t>
                      </a:r>
                      <a:r>
                        <a:rPr kumimoji="0" lang="en-US" altLang="en-US" sz="11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ttest</a:t>
                      </a:r>
                      <a:endParaRPr kumimoji="0" lang="en-US" altLang="en-US" sz="1100" b="1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100" b="1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Wilcoxon sum-rank test</a:t>
                      </a:r>
                      <a:r>
                        <a:rPr kumimoji="0" lang="en-US" alt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(=Mann-Whitney U test): non-parametric alternative to the </a:t>
                      </a:r>
                      <a:r>
                        <a:rPr kumimoji="0" lang="en-US" altLang="en-US" sz="11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ttest</a:t>
                      </a:r>
                      <a:endParaRPr kumimoji="0" lang="en-US" alt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Kruskal-Wallis test: </a:t>
                      </a:r>
                      <a:r>
                        <a:rPr kumimoji="0" lang="en-US" alt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non-parametric alternative to ANOVA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1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Spearman rank correlation coefficient:</a:t>
                      </a:r>
                      <a:r>
                        <a:rPr kumimoji="0" lang="en-US" alt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non-parametric alternative to Pearson’s correlation coefficient </a:t>
                      </a:r>
                      <a:endParaRPr kumimoji="0" lang="en-US" altLang="en-US" sz="1100" b="1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0673" marR="69748" marT="69748" marB="69748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335816"/>
                  </a:ext>
                </a:extLst>
              </a:tr>
            </a:tbl>
          </a:graphicData>
        </a:graphic>
      </p:graphicFrame>
      <p:sp>
        <p:nvSpPr>
          <p:cNvPr id="8" name="Oval 22">
            <a:extLst>
              <a:ext uri="{FF2B5EF4-FFF2-40B4-BE49-F238E27FC236}">
                <a16:creationId xmlns:a16="http://schemas.microsoft.com/office/drawing/2014/main" id="{0E10988C-1E19-1611-EE8E-042A7294D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0526" y="3309937"/>
            <a:ext cx="2971800" cy="1219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A1F058-3388-714A-DFFC-3BB36D99DFDB}"/>
              </a:ext>
            </a:extLst>
          </p:cNvPr>
          <p:cNvSpPr txBox="1"/>
          <p:nvPr/>
        </p:nvSpPr>
        <p:spPr>
          <a:xfrm>
            <a:off x="178654" y="6356349"/>
            <a:ext cx="2835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 </a:t>
            </a:r>
            <a:r>
              <a:rPr lang="en-US" dirty="0" err="1"/>
              <a:t>PTSD_foster_care.jasp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046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707BE0-129E-8709-64CB-2D6E37212E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F097E9-54E9-D42E-9D26-E6F0B491F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 of Regression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053633-8E83-65B1-255F-08EF8AAE3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2800" dirty="0">
                <a:latin typeface="+mj-lt"/>
              </a:rPr>
              <a:t>Regression analysis serves 3 major purposes:</a:t>
            </a:r>
          </a:p>
          <a:p>
            <a:pPr marL="1291590" lvl="2" indent="-514350" algn="l" rtl="0" eaLnBrk="1" hangingPunct="1">
              <a:buFont typeface="+mj-lt"/>
              <a:buAutoNum type="arabicPeriod"/>
            </a:pPr>
            <a:r>
              <a:rPr lang="en-US" altLang="en-US" sz="2800" dirty="0">
                <a:latin typeface="+mj-lt"/>
              </a:rPr>
              <a:t>Description</a:t>
            </a:r>
          </a:p>
          <a:p>
            <a:pPr marL="1291590" lvl="2" indent="-514350" algn="l" rtl="0" eaLnBrk="1" hangingPunct="1">
              <a:buFont typeface="+mj-lt"/>
              <a:buAutoNum type="arabicPeriod"/>
            </a:pPr>
            <a:r>
              <a:rPr lang="en-US" altLang="en-US" sz="2800" dirty="0">
                <a:latin typeface="+mj-lt"/>
              </a:rPr>
              <a:t>Prediction</a:t>
            </a:r>
          </a:p>
          <a:p>
            <a:pPr marL="1291590" lvl="2" indent="-514350" algn="l" rtl="0" eaLnBrk="1" hangingPunct="1">
              <a:buFont typeface="+mj-lt"/>
              <a:buAutoNum type="arabicPeriod"/>
            </a:pPr>
            <a:r>
              <a:rPr lang="en-US" altLang="en-US" sz="2800" dirty="0">
                <a:latin typeface="+mj-lt"/>
              </a:rPr>
              <a:t>Control </a:t>
            </a:r>
            <a:r>
              <a:rPr lang="en-US" altLang="en-US" sz="2800" dirty="0">
                <a:latin typeface="+mj-lt"/>
                <a:sym typeface="Wingdings" panose="05000000000000000000" pitchFamily="2" charset="2"/>
              </a:rPr>
              <a:t> ceteris paribus</a:t>
            </a:r>
          </a:p>
          <a:p>
            <a:pPr marL="1291590" lvl="2" indent="-514350" algn="l" rtl="0" eaLnBrk="1" hangingPunct="1">
              <a:buFont typeface="+mj-lt"/>
              <a:buAutoNum type="arabicPeriod"/>
            </a:pPr>
            <a:endParaRPr lang="en-US" altLang="en-US" sz="2800" dirty="0">
              <a:highlight>
                <a:srgbClr val="00FFFF"/>
              </a:highlight>
              <a:latin typeface="+mj-lt"/>
            </a:endParaRPr>
          </a:p>
          <a:p>
            <a:pPr algn="l" rtl="0" eaLnBrk="1" hangingPunct="1"/>
            <a:r>
              <a:rPr lang="en-US" altLang="en-US" sz="2800" dirty="0">
                <a:latin typeface="+mj-lt"/>
              </a:rPr>
              <a:t>The several purposes of regression analysis frequently overlap in practice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935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57DDA7-C7CD-DBE7-3F0A-EF45A297AB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F5E8456-0E59-7F79-5D1E-9EA252C5B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Mechanics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9D4745-E67D-4A50-6236-19BDD9DB0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>
              <a:lnSpc>
                <a:spcPct val="90000"/>
              </a:lnSpc>
            </a:pPr>
            <a:r>
              <a:rPr lang="en-US" altLang="ar-SA" sz="2800" dirty="0">
                <a:cs typeface="+mj-cs"/>
              </a:rPr>
              <a:t>Simple regression analysis is a statistical tool that gives us the ability to estimate the relationship between a dependent variable (usually called y) and an independent variable (usually called x).</a:t>
            </a:r>
          </a:p>
          <a:p>
            <a:pPr lvl="1"/>
            <a:r>
              <a:rPr lang="en-US" altLang="ar-SA" dirty="0">
                <a:cs typeface="+mj-cs"/>
              </a:rPr>
              <a:t>The dependent variable is the variable for which we want to make a prediction</a:t>
            </a:r>
          </a:p>
          <a:p>
            <a:pPr lvl="1"/>
            <a:r>
              <a:rPr lang="en-US" altLang="ar-SA" dirty="0">
                <a:cs typeface="+mj-cs"/>
              </a:rPr>
              <a:t>While various non-linear forms may be used, simple linear regression models are the most common (and the most useless)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793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8DF10A-CC81-404A-BAE5-F2AFADF85F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93CB6580-7287-4513-9175-76E38676F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245968FD-F5FB-4A28-843F-9E4EE7202D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en-US" sz="2000" dirty="0">
                    <a:ea typeface="ＭＳ Ｐゴシック" panose="020B0600070205080204" pitchFamily="34" charset="-128"/>
                  </a:rPr>
                  <a:t>Aims to predict the value of an </a:t>
                </a:r>
                <a:r>
                  <a:rPr lang="en-US" altLang="en-US" sz="2000" dirty="0">
                    <a:solidFill>
                      <a:schemeClr val="hlink"/>
                    </a:solidFill>
                    <a:ea typeface="ＭＳ Ｐゴシック" panose="020B0600070205080204" pitchFamily="34" charset="-128"/>
                  </a:rPr>
                  <a:t>outcome of a continuous variable, </a:t>
                </a:r>
                <a:r>
                  <a:rPr lang="en-US" altLang="en-US" sz="2000" i="1" dirty="0">
                    <a:solidFill>
                      <a:schemeClr val="hlink"/>
                    </a:solidFill>
                    <a:ea typeface="ＭＳ Ｐゴシック" panose="020B0600070205080204" pitchFamily="34" charset="-128"/>
                  </a:rPr>
                  <a:t>Y</a:t>
                </a:r>
                <a:r>
                  <a:rPr lang="en-US" altLang="en-US" sz="2000" dirty="0">
                    <a:ea typeface="ＭＳ Ｐゴシック" panose="020B0600070205080204" pitchFamily="34" charset="-128"/>
                  </a:rPr>
                  <a:t>, based on the value of one or more explanatory variables,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𝑋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1</m:t>
                        </m:r>
                      </m:sub>
                    </m:sSub>
                    <m:r>
                      <a:rPr lang="en-US" altLang="en-US" sz="20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, …</m:t>
                    </m:r>
                    <m:sSub>
                      <m:sSubPr>
                        <m:ctrlPr>
                          <a:rPr lang="en-US" altLang="en-US" sz="2000" i="1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𝑋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en-US" sz="2000" dirty="0">
                    <a:ea typeface="ＭＳ Ｐゴシック" panose="020B0600070205080204" pitchFamily="34" charset="-128"/>
                  </a:rPr>
                  <a:t>.</a:t>
                </a:r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000" dirty="0">
                  <a:solidFill>
                    <a:srgbClr val="FF99FF"/>
                  </a:solidFill>
                  <a:ea typeface="ＭＳ Ｐゴシック" panose="020B0600070205080204" pitchFamily="34" charset="-128"/>
                </a:endParaRP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US" altLang="en-US" sz="2000" dirty="0">
                    <a:solidFill>
                      <a:schemeClr val="tx2"/>
                    </a:solidFill>
                    <a:ea typeface="ＭＳ Ｐゴシック" panose="020B0600070205080204" pitchFamily="34" charset="-128"/>
                  </a:rPr>
                  <a:t>What is the relationship between </a:t>
                </a:r>
                <a:r>
                  <a:rPr lang="en-US" altLang="en-US" sz="2000" dirty="0">
                    <a:solidFill>
                      <a:schemeClr val="hlink"/>
                    </a:solidFill>
                    <a:ea typeface="ＭＳ Ｐゴシック" panose="020B0600070205080204" pitchFamily="34" charset="-128"/>
                  </a:rPr>
                  <a:t>average Y</a:t>
                </a:r>
                <a:r>
                  <a:rPr lang="en-US" altLang="en-US" sz="2000" dirty="0">
                    <a:solidFill>
                      <a:schemeClr val="tx2"/>
                    </a:solidFill>
                    <a:ea typeface="ＭＳ Ｐゴシック" panose="020B0600070205080204" pitchFamily="34" charset="-128"/>
                  </a:rPr>
                  <a:t> and</a:t>
                </a:r>
                <a:r>
                  <a:rPr lang="en-US" altLang="en-US" sz="2000" dirty="0">
                    <a:solidFill>
                      <a:schemeClr val="accent1"/>
                    </a:solidFill>
                    <a:ea typeface="ＭＳ Ｐゴシック" panose="020B0600070205080204" pitchFamily="34" charset="-128"/>
                  </a:rPr>
                  <a:t> </a:t>
                </a:r>
                <a:r>
                  <a:rPr lang="en-US" altLang="en-US" sz="2000" dirty="0" err="1">
                    <a:ea typeface="ＭＳ Ｐゴシック" panose="020B0600070205080204" pitchFamily="34" charset="-128"/>
                  </a:rPr>
                  <a:t>Xs</a:t>
                </a:r>
                <a:r>
                  <a:rPr lang="en-US" altLang="en-US" sz="2000" dirty="0">
                    <a:solidFill>
                      <a:schemeClr val="tx2"/>
                    </a:solidFill>
                    <a:ea typeface="ＭＳ Ｐゴシック" panose="020B0600070205080204" pitchFamily="34" charset="-128"/>
                  </a:rPr>
                  <a:t>? </a:t>
                </a:r>
              </a:p>
              <a:p>
                <a:pPr lvl="2" eaLnBrk="1" hangingPunct="1">
                  <a:lnSpc>
                    <a:spcPct val="90000"/>
                  </a:lnSpc>
                </a:pPr>
                <a:r>
                  <a:rPr lang="en-US" altLang="en-US" dirty="0">
                    <a:ea typeface="ＭＳ Ｐゴシック" panose="020B0600070205080204" pitchFamily="34" charset="-128"/>
                  </a:rPr>
                  <a:t>The analysis “models” this as a line</a:t>
                </a:r>
              </a:p>
              <a:p>
                <a:pPr lvl="2" eaLnBrk="1" hangingPunct="1">
                  <a:lnSpc>
                    <a:spcPct val="90000"/>
                  </a:lnSpc>
                </a:pPr>
                <a:r>
                  <a:rPr lang="en-US" altLang="en-US" dirty="0">
                    <a:ea typeface="ＭＳ Ｐゴシック" panose="020B0600070205080204" pitchFamily="34" charset="-128"/>
                    <a:cs typeface="Times New Roman" panose="02020603050405020304" pitchFamily="18" charset="0"/>
                  </a:rPr>
                  <a:t>We care about “slope”—size, direction</a:t>
                </a:r>
              </a:p>
              <a:p>
                <a:pPr lvl="2" eaLnBrk="1" hangingPunct="1">
                  <a:lnSpc>
                    <a:spcPct val="90000"/>
                  </a:lnSpc>
                </a:pPr>
                <a:r>
                  <a:rPr lang="en-US" altLang="en-US" dirty="0">
                    <a:ea typeface="ＭＳ Ｐゴシック" panose="020B0600070205080204" pitchFamily="34" charset="-128"/>
                    <a:cs typeface="Times New Roman" panose="02020603050405020304" pitchFamily="18" charset="0"/>
                  </a:rPr>
                  <a:t>Slope=0 corresponds to “no association.”</a:t>
                </a:r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000" dirty="0">
                  <a:ea typeface="ＭＳ Ｐゴシック" panose="020B0600070205080204" pitchFamily="34" charset="-128"/>
                </a:endParaRP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US" altLang="en-US" sz="2000" dirty="0">
                    <a:solidFill>
                      <a:schemeClr val="tx2"/>
                    </a:solidFill>
                    <a:ea typeface="ＭＳ Ｐゴシック" panose="020B0600070205080204" pitchFamily="34" charset="-128"/>
                  </a:rPr>
                  <a:t>How precisely can we predict a </a:t>
                </a:r>
                <a:r>
                  <a:rPr lang="en-US" altLang="en-US" sz="2000" dirty="0">
                    <a:solidFill>
                      <a:schemeClr val="hlink"/>
                    </a:solidFill>
                    <a:ea typeface="ＭＳ Ｐゴシック" panose="020B0600070205080204" pitchFamily="34" charset="-128"/>
                  </a:rPr>
                  <a:t>Y</a:t>
                </a:r>
                <a:r>
                  <a:rPr lang="en-US" altLang="en-US" sz="2000" dirty="0">
                    <a:solidFill>
                      <a:schemeClr val="tx2"/>
                    </a:solidFill>
                    <a:ea typeface="ＭＳ Ｐゴシック" panose="020B0600070205080204" pitchFamily="34" charset="-128"/>
                  </a:rPr>
                  <a:t> conditional on certain values of the independent variables?</a:t>
                </a:r>
                <a:endParaRPr lang="en-US" sz="2000" dirty="0"/>
              </a:p>
            </p:txBody>
          </p:sp>
        </mc:Choice>
        <mc:Fallback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245968FD-F5FB-4A28-843F-9E4EE7202D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5984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1206A-CA01-E0EC-3FE4-CFD90D286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76271-F287-A49B-D5C1-17BAB000B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464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88F9E8-9C66-496D-B37E-83065854B1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523E8C-F049-4B08-BEAA-E3C6C7BC7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Linear regression –Terminology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EF4A57-9583-44FE-A333-D825FEAAB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Outcome, Y</a:t>
            </a:r>
          </a:p>
          <a:p>
            <a:pPr lvl="1"/>
            <a:r>
              <a:rPr lang="en-US" dirty="0"/>
              <a:t>Dependent variable</a:t>
            </a:r>
          </a:p>
          <a:p>
            <a:pPr lvl="1"/>
            <a:r>
              <a:rPr lang="en-US" dirty="0"/>
              <a:t>Response variable</a:t>
            </a:r>
          </a:p>
          <a:p>
            <a:endParaRPr lang="en-US" dirty="0"/>
          </a:p>
          <a:p>
            <a:r>
              <a:rPr lang="en-US" dirty="0"/>
              <a:t>Explanatory variable (predictor), X</a:t>
            </a:r>
          </a:p>
          <a:p>
            <a:pPr lvl="1"/>
            <a:r>
              <a:rPr lang="en-US" dirty="0"/>
              <a:t>Independent variable</a:t>
            </a:r>
          </a:p>
          <a:p>
            <a:pPr lvl="1"/>
            <a:r>
              <a:rPr lang="en-US" dirty="0"/>
              <a:t>Covariate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751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3AB8544D-C554-42E4-9EFA-0D06D3EFB9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2899" y="2251075"/>
            <a:ext cx="1167693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The first order linear model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  <a:buFontTx/>
              <a:buNone/>
            </a:pPr>
            <a:endParaRPr lang="en-US" altLang="en-US" dirty="0"/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i="1" dirty="0"/>
              <a:t>Y</a:t>
            </a:r>
            <a:r>
              <a:rPr lang="en-US" altLang="en-US" dirty="0"/>
              <a:t> = dependent variable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i="1" dirty="0"/>
              <a:t>X</a:t>
            </a:r>
            <a:r>
              <a:rPr lang="en-US" altLang="en-US" dirty="0"/>
              <a:t> = independent variable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/>
              <a:t>b = </a:t>
            </a:r>
            <a:r>
              <a:rPr lang="en-US" altLang="en-US" i="1" dirty="0"/>
              <a:t>Y</a:t>
            </a:r>
            <a:r>
              <a:rPr lang="en-US" altLang="en-US" dirty="0"/>
              <a:t>-intercept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/>
              <a:t>m = slope of the line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altLang="en-US" dirty="0"/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/>
              <a:t>Define b, and m</a:t>
            </a:r>
          </a:p>
        </p:txBody>
      </p:sp>
      <p:grpSp>
        <p:nvGrpSpPr>
          <p:cNvPr id="5139" name="Group 19">
            <a:extLst>
              <a:ext uri="{FF2B5EF4-FFF2-40B4-BE49-F238E27FC236}">
                <a16:creationId xmlns:a16="http://schemas.microsoft.com/office/drawing/2014/main" id="{B2F21EE9-2C77-471D-ABD4-62AF99B3E280}"/>
              </a:ext>
            </a:extLst>
          </p:cNvPr>
          <p:cNvGrpSpPr>
            <a:grpSpLocks/>
          </p:cNvGrpSpPr>
          <p:nvPr/>
        </p:nvGrpSpPr>
        <p:grpSpPr bwMode="auto">
          <a:xfrm>
            <a:off x="5427784" y="2333626"/>
            <a:ext cx="6268916" cy="3527510"/>
            <a:chOff x="3408" y="2496"/>
            <a:chExt cx="1680" cy="1248"/>
          </a:xfrm>
        </p:grpSpPr>
        <p:sp>
          <p:nvSpPr>
            <p:cNvPr id="5125" name="Line 5">
              <a:extLst>
                <a:ext uri="{FF2B5EF4-FFF2-40B4-BE49-F238E27FC236}">
                  <a16:creationId xmlns:a16="http://schemas.microsoft.com/office/drawing/2014/main" id="{843618FE-798D-4F38-953F-A19A27B193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496"/>
              <a:ext cx="0" cy="1248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Lucida Grande"/>
                <a:ea typeface="+mn-ea"/>
                <a:cs typeface="+mn-cs"/>
              </a:endParaRPr>
            </a:p>
          </p:txBody>
        </p:sp>
        <p:sp>
          <p:nvSpPr>
            <p:cNvPr id="5126" name="Line 6">
              <a:extLst>
                <a:ext uri="{FF2B5EF4-FFF2-40B4-BE49-F238E27FC236}">
                  <a16:creationId xmlns:a16="http://schemas.microsoft.com/office/drawing/2014/main" id="{88CA9C3C-6F99-4006-92CD-2C496EACE2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3744"/>
              <a:ext cx="168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Lucida Grande"/>
                <a:ea typeface="+mn-ea"/>
                <a:cs typeface="+mn-cs"/>
              </a:endParaRPr>
            </a:p>
          </p:txBody>
        </p:sp>
      </p:grpSp>
      <p:sp>
        <p:nvSpPr>
          <p:cNvPr id="5127" name="Text Box 7">
            <a:extLst>
              <a:ext uri="{FF2B5EF4-FFF2-40B4-BE49-F238E27FC236}">
                <a16:creationId xmlns:a16="http://schemas.microsoft.com/office/drawing/2014/main" id="{ADBD7636-BA92-4C33-8193-F2755C88A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54023" y="5630303"/>
            <a:ext cx="3658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ucida Grande"/>
                <a:ea typeface="+mn-ea"/>
                <a:cs typeface="+mn-cs"/>
              </a:rPr>
              <a:t>X</a:t>
            </a:r>
          </a:p>
        </p:txBody>
      </p:sp>
      <p:sp>
        <p:nvSpPr>
          <p:cNvPr id="5128" name="Text Box 8">
            <a:extLst>
              <a:ext uri="{FF2B5EF4-FFF2-40B4-BE49-F238E27FC236}">
                <a16:creationId xmlns:a16="http://schemas.microsoft.com/office/drawing/2014/main" id="{F551C333-5A32-4AE9-9B66-AB8843E7F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0492" y="1895788"/>
            <a:ext cx="3545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ucida Grande"/>
                <a:ea typeface="+mn-ea"/>
                <a:cs typeface="+mn-cs"/>
              </a:rPr>
              <a:t>Y</a:t>
            </a:r>
          </a:p>
        </p:txBody>
      </p:sp>
      <p:sp>
        <p:nvSpPr>
          <p:cNvPr id="5131" name="Line 11">
            <a:extLst>
              <a:ext uri="{FF2B5EF4-FFF2-40B4-BE49-F238E27FC236}">
                <a16:creationId xmlns:a16="http://schemas.microsoft.com/office/drawing/2014/main" id="{7BE12063-0D72-40E0-826F-E53AA150AD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27784" y="2588212"/>
            <a:ext cx="3725742" cy="2366657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5132" name="Text Box 12">
            <a:extLst>
              <a:ext uri="{FF2B5EF4-FFF2-40B4-BE49-F238E27FC236}">
                <a16:creationId xmlns:a16="http://schemas.microsoft.com/office/drawing/2014/main" id="{B5A56E8F-6C7B-4C09-9C49-58DA87417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373" y="4736996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</a:t>
            </a:r>
          </a:p>
        </p:txBody>
      </p:sp>
      <p:sp>
        <p:nvSpPr>
          <p:cNvPr id="5133" name="Freeform 13">
            <a:extLst>
              <a:ext uri="{FF2B5EF4-FFF2-40B4-BE49-F238E27FC236}">
                <a16:creationId xmlns:a16="http://schemas.microsoft.com/office/drawing/2014/main" id="{14DF4386-25B6-4D05-9B7F-ABBC016A3464}"/>
              </a:ext>
            </a:extLst>
          </p:cNvPr>
          <p:cNvSpPr>
            <a:spLocks/>
          </p:cNvSpPr>
          <p:nvPr/>
        </p:nvSpPr>
        <p:spPr bwMode="auto">
          <a:xfrm>
            <a:off x="5791207" y="4282098"/>
            <a:ext cx="685800" cy="457200"/>
          </a:xfrm>
          <a:custGeom>
            <a:avLst/>
            <a:gdLst>
              <a:gd name="T0" fmla="*/ 0 w 432"/>
              <a:gd name="T1" fmla="*/ 288 h 288"/>
              <a:gd name="T2" fmla="*/ 432 w 432"/>
              <a:gd name="T3" fmla="*/ 288 h 288"/>
              <a:gd name="T4" fmla="*/ 432 w 432"/>
              <a:gd name="T5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" h="288">
                <a:moveTo>
                  <a:pt x="0" y="288"/>
                </a:moveTo>
                <a:lnTo>
                  <a:pt x="432" y="288"/>
                </a:lnTo>
                <a:lnTo>
                  <a:pt x="432" y="0"/>
                </a:lnTo>
              </a:path>
            </a:pathLst>
          </a:cu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5134" name="Text Box 14">
            <a:extLst>
              <a:ext uri="{FF2B5EF4-FFF2-40B4-BE49-F238E27FC236}">
                <a16:creationId xmlns:a16="http://schemas.microsoft.com/office/drawing/2014/main" id="{510ED92D-47EA-46E0-8CF8-1620F89CF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1010" y="4726001"/>
            <a:ext cx="5822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ucida Grande"/>
                <a:ea typeface="+mn-ea"/>
                <a:cs typeface="+mn-cs"/>
              </a:rPr>
              <a:t>Run</a:t>
            </a:r>
          </a:p>
        </p:txBody>
      </p:sp>
      <p:sp>
        <p:nvSpPr>
          <p:cNvPr id="5135" name="Text Box 15">
            <a:extLst>
              <a:ext uri="{FF2B5EF4-FFF2-40B4-BE49-F238E27FC236}">
                <a16:creationId xmlns:a16="http://schemas.microsoft.com/office/drawing/2014/main" id="{9570667C-D9CC-4A72-8910-3012E14AB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841" y="4356669"/>
            <a:ext cx="5966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ucida Grande"/>
                <a:ea typeface="+mn-ea"/>
                <a:cs typeface="+mn-cs"/>
              </a:rPr>
              <a:t>Rise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C6B8D43-2081-666E-D8C9-ED70C622D35E}"/>
                  </a:ext>
                </a:extLst>
              </p:cNvPr>
              <p:cNvSpPr txBox="1"/>
              <p:nvPr/>
            </p:nvSpPr>
            <p:spPr>
              <a:xfrm>
                <a:off x="0" y="2790120"/>
                <a:ext cx="4856884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𝑚𝑋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C6B8D43-2081-666E-D8C9-ED70C622D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790120"/>
                <a:ext cx="4856884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0">
            <a:extLst>
              <a:ext uri="{FF2B5EF4-FFF2-40B4-BE49-F238E27FC236}">
                <a16:creationId xmlns:a16="http://schemas.microsoft.com/office/drawing/2014/main" id="{F9A79B0E-2E88-FF6C-6E6C-EF60208A79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0568" y="344573"/>
            <a:ext cx="7569868" cy="616509"/>
          </a:xfrm>
          <a:noFill/>
          <a:ln/>
        </p:spPr>
        <p:txBody>
          <a:bodyPr>
            <a:normAutofit/>
          </a:bodyPr>
          <a:lstStyle/>
          <a:p>
            <a:pPr algn="l"/>
            <a:r>
              <a:rPr lang="en-US" altLang="en-US" sz="3600" dirty="0"/>
              <a:t>Functional Form</a:t>
            </a:r>
          </a:p>
        </p:txBody>
      </p:sp>
    </p:spTree>
    <p:extLst>
      <p:ext uri="{BB962C8B-B14F-4D97-AF65-F5344CB8AC3E}">
        <p14:creationId xmlns:p14="http://schemas.microsoft.com/office/powerpoint/2010/main" val="3887467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4" name="Text Box 6">
            <a:extLst>
              <a:ext uri="{FF2B5EF4-FFF2-40B4-BE49-F238E27FC236}">
                <a16:creationId xmlns:a16="http://schemas.microsoft.com/office/drawing/2014/main" id="{DD9C6A54-212B-48AC-80B8-546D9C759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3249" y="5802143"/>
            <a:ext cx="12715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House size</a:t>
            </a:r>
          </a:p>
        </p:txBody>
      </p:sp>
      <p:sp>
        <p:nvSpPr>
          <p:cNvPr id="68615" name="Text Box 7">
            <a:extLst>
              <a:ext uri="{FF2B5EF4-FFF2-40B4-BE49-F238E27FC236}">
                <a16:creationId xmlns:a16="http://schemas.microsoft.com/office/drawing/2014/main" id="{EFDFE6A6-CFB2-41F2-B985-2967467DA248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3146960" y="3432717"/>
            <a:ext cx="19464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House Cost</a:t>
            </a:r>
          </a:p>
        </p:txBody>
      </p:sp>
      <p:sp>
        <p:nvSpPr>
          <p:cNvPr id="68618" name="Freeform 10">
            <a:extLst>
              <a:ext uri="{FF2B5EF4-FFF2-40B4-BE49-F238E27FC236}">
                <a16:creationId xmlns:a16="http://schemas.microsoft.com/office/drawing/2014/main" id="{5080EA59-72A5-4179-AD5A-E3ED80EA1F2E}"/>
              </a:ext>
            </a:extLst>
          </p:cNvPr>
          <p:cNvSpPr>
            <a:spLocks/>
          </p:cNvSpPr>
          <p:nvPr/>
        </p:nvSpPr>
        <p:spPr bwMode="auto">
          <a:xfrm>
            <a:off x="4343401" y="4025384"/>
            <a:ext cx="5468814" cy="369332"/>
          </a:xfrm>
          <a:custGeom>
            <a:avLst/>
            <a:gdLst>
              <a:gd name="T0" fmla="*/ 0 w 2304"/>
              <a:gd name="T1" fmla="*/ 0 h 1824"/>
              <a:gd name="T2" fmla="*/ 0 w 2304"/>
              <a:gd name="T3" fmla="*/ 1824 h 1824"/>
              <a:gd name="T4" fmla="*/ 2304 w 2304"/>
              <a:gd name="T5" fmla="*/ 1824 h 18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04" h="1824">
                <a:moveTo>
                  <a:pt x="0" y="0"/>
                </a:moveTo>
                <a:lnTo>
                  <a:pt x="0" y="1824"/>
                </a:lnTo>
                <a:lnTo>
                  <a:pt x="2304" y="1824"/>
                </a:lnTo>
              </a:path>
            </a:pathLst>
          </a:custGeom>
          <a:noFill/>
          <a:ln w="9525" cap="flat" cmpd="sng">
            <a:solidFill>
              <a:schemeClr val="bg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68619" name="Text Box 11">
            <a:extLst>
              <a:ext uri="{FF2B5EF4-FFF2-40B4-BE49-F238E27FC236}">
                <a16:creationId xmlns:a16="http://schemas.microsoft.com/office/drawing/2014/main" id="{0D99BDB0-AF20-4C1E-8E0F-0B67D24F9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8937" y="4580304"/>
            <a:ext cx="1646605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000" u="sng" dirty="0"/>
              <a:t>Most</a:t>
            </a:r>
            <a:r>
              <a:rPr lang="en-US" altLang="en-US" dirty="0"/>
              <a:t> lots sell </a:t>
            </a:r>
          </a:p>
          <a:p>
            <a:pPr algn="l"/>
            <a:r>
              <a:rPr lang="en-US" altLang="en-US" dirty="0"/>
              <a:t>for $25,000</a:t>
            </a:r>
          </a:p>
        </p:txBody>
      </p:sp>
      <p:sp>
        <p:nvSpPr>
          <p:cNvPr id="68620" name="Text Box 12">
            <a:extLst>
              <a:ext uri="{FF2B5EF4-FFF2-40B4-BE49-F238E27FC236}">
                <a16:creationId xmlns:a16="http://schemas.microsoft.com/office/drawing/2014/main" id="{3226909B-8DC7-4934-A33C-F28B7A9667A8}"/>
              </a:ext>
            </a:extLst>
          </p:cNvPr>
          <p:cNvSpPr txBox="1">
            <a:spLocks noChangeArrowheads="1"/>
          </p:cNvSpPr>
          <p:nvPr/>
        </p:nvSpPr>
        <p:spPr bwMode="auto">
          <a:xfrm rot="20254797">
            <a:off x="4444927" y="3335276"/>
            <a:ext cx="351891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000" dirty="0"/>
              <a:t>Building a house costs </a:t>
            </a:r>
            <a:r>
              <a:rPr lang="en-US" altLang="en-US" sz="2000" u="sng" dirty="0"/>
              <a:t>about</a:t>
            </a:r>
            <a:r>
              <a:rPr lang="en-US" altLang="en-US" sz="2000" dirty="0"/>
              <a:t> </a:t>
            </a:r>
          </a:p>
          <a:p>
            <a:pPr algn="l"/>
            <a:r>
              <a:rPr lang="en-US" altLang="en-US" sz="2000" dirty="0"/>
              <a:t>$75 per square foot. </a:t>
            </a:r>
          </a:p>
        </p:txBody>
      </p:sp>
      <p:sp>
        <p:nvSpPr>
          <p:cNvPr id="68621" name="Line 13">
            <a:extLst>
              <a:ext uri="{FF2B5EF4-FFF2-40B4-BE49-F238E27FC236}">
                <a16:creationId xmlns:a16="http://schemas.microsoft.com/office/drawing/2014/main" id="{91B4E5DC-DB82-4422-B0CB-A4040AABF6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399" y="2131202"/>
            <a:ext cx="6093069" cy="272496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68623" name="Text Box 15">
            <a:extLst>
              <a:ext uri="{FF2B5EF4-FFF2-40B4-BE49-F238E27FC236}">
                <a16:creationId xmlns:a16="http://schemas.microsoft.com/office/drawing/2014/main" id="{1DE9E29E-8200-4FD0-B81A-82514C14E662}"/>
              </a:ext>
            </a:extLst>
          </p:cNvPr>
          <p:cNvSpPr txBox="1">
            <a:spLocks noChangeArrowheads="1"/>
          </p:cNvSpPr>
          <p:nvPr/>
        </p:nvSpPr>
        <p:spPr bwMode="auto">
          <a:xfrm rot="20257664">
            <a:off x="4794753" y="3958790"/>
            <a:ext cx="348306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000" dirty="0"/>
              <a:t>House cost = 25000 + 75(Size)</a:t>
            </a:r>
          </a:p>
        </p:txBody>
      </p:sp>
      <p:sp>
        <p:nvSpPr>
          <p:cNvPr id="68625" name="Line 17">
            <a:extLst>
              <a:ext uri="{FF2B5EF4-FFF2-40B4-BE49-F238E27FC236}">
                <a16:creationId xmlns:a16="http://schemas.microsoft.com/office/drawing/2014/main" id="{5A729D9B-D855-4E37-A907-F7F2077067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4856163"/>
            <a:ext cx="4572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28" name="Rectangle 20">
            <a:extLst>
              <a:ext uri="{FF2B5EF4-FFF2-40B4-BE49-F238E27FC236}">
                <a16:creationId xmlns:a16="http://schemas.microsoft.com/office/drawing/2014/main" id="{8B460409-62EE-4B1B-BD28-288EB4D244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l"/>
            <a:r>
              <a:rPr lang="en-US" altLang="en-US" sz="3600"/>
              <a:t>The Model</a:t>
            </a:r>
          </a:p>
        </p:txBody>
      </p:sp>
      <p:sp>
        <p:nvSpPr>
          <p:cNvPr id="68629" name="Rectangle 21">
            <a:extLst>
              <a:ext uri="{FF2B5EF4-FFF2-40B4-BE49-F238E27FC236}">
                <a16:creationId xmlns:a16="http://schemas.microsoft.com/office/drawing/2014/main" id="{4A1173F1-0F1C-4EE1-998F-CE4ABB619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849" y="2131202"/>
            <a:ext cx="7772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US" dirty="0">
                <a:latin typeface="Arial Narrow" panose="020B0606020202030204" pitchFamily="34" charset="0"/>
              </a:rPr>
              <a:t>The model has a deterministic and a probabilistic components</a:t>
            </a:r>
          </a:p>
        </p:txBody>
      </p:sp>
      <p:sp>
        <p:nvSpPr>
          <p:cNvPr id="2" name="Freeform 10">
            <a:extLst>
              <a:ext uri="{FF2B5EF4-FFF2-40B4-BE49-F238E27FC236}">
                <a16:creationId xmlns:a16="http://schemas.microsoft.com/office/drawing/2014/main" id="{A5F93AF5-267A-3982-C3E5-4A8F02DC6FD7}"/>
              </a:ext>
            </a:extLst>
          </p:cNvPr>
          <p:cNvSpPr>
            <a:spLocks/>
          </p:cNvSpPr>
          <p:nvPr/>
        </p:nvSpPr>
        <p:spPr bwMode="auto">
          <a:xfrm>
            <a:off x="4343401" y="2690812"/>
            <a:ext cx="5468814" cy="3038476"/>
          </a:xfrm>
          <a:custGeom>
            <a:avLst/>
            <a:gdLst>
              <a:gd name="T0" fmla="*/ 0 w 2304"/>
              <a:gd name="T1" fmla="*/ 0 h 1824"/>
              <a:gd name="T2" fmla="*/ 0 w 2304"/>
              <a:gd name="T3" fmla="*/ 1824 h 1824"/>
              <a:gd name="T4" fmla="*/ 2304 w 2304"/>
              <a:gd name="T5" fmla="*/ 1824 h 18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04" h="1824">
                <a:moveTo>
                  <a:pt x="0" y="0"/>
                </a:moveTo>
                <a:lnTo>
                  <a:pt x="0" y="1824"/>
                </a:lnTo>
                <a:lnTo>
                  <a:pt x="2304" y="1824"/>
                </a:lnTo>
              </a:path>
            </a:pathLst>
          </a:cu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square" anchor="ctr">
            <a:spAutoFit/>
          </a:bodyPr>
          <a:lstStyle/>
          <a:p>
            <a:endParaRPr lang="en-US"/>
          </a:p>
        </p:txBody>
      </p:sp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764CA06A-0C4F-177A-DDFA-1D66A49E4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979880"/>
              </p:ext>
            </p:extLst>
          </p:nvPr>
        </p:nvGraphicFramePr>
        <p:xfrm>
          <a:off x="8779977" y="72386"/>
          <a:ext cx="331298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491">
                  <a:extLst>
                    <a:ext uri="{9D8B030D-6E8A-4147-A177-3AD203B41FA5}">
                      <a16:colId xmlns:a16="http://schemas.microsoft.com/office/drawing/2014/main" val="2079246040"/>
                    </a:ext>
                  </a:extLst>
                </a:gridCol>
                <a:gridCol w="1656491">
                  <a:extLst>
                    <a:ext uri="{9D8B030D-6E8A-4147-A177-3AD203B41FA5}">
                      <a16:colId xmlns:a16="http://schemas.microsoft.com/office/drawing/2014/main" val="20659025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Housing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Housing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90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 sq. ft.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670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1,000 sq. ft.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207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2,500 sq. ft.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$212,500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70184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DB8797E-5FA8-7EB4-4B3F-25241CA05CCE}"/>
              </a:ext>
            </a:extLst>
          </p:cNvPr>
          <p:cNvSpPr txBox="1"/>
          <p:nvPr/>
        </p:nvSpPr>
        <p:spPr>
          <a:xfrm>
            <a:off x="4776049" y="6288898"/>
            <a:ext cx="6929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the expected value of the house  when the house size is 0?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8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9" grpId="0" autoUpdateAnimBg="0"/>
      <p:bldP spid="68620" grpId="0" autoUpdateAnimBg="0"/>
      <p:bldP spid="68623" grpId="0" autoUpdateAnimBg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42" name="Text Box 10">
            <a:extLst>
              <a:ext uri="{FF2B5EF4-FFF2-40B4-BE49-F238E27FC236}">
                <a16:creationId xmlns:a16="http://schemas.microsoft.com/office/drawing/2014/main" id="{4B367DB7-AC62-450D-B792-C44B58C06CCE}"/>
              </a:ext>
            </a:extLst>
          </p:cNvPr>
          <p:cNvSpPr txBox="1">
            <a:spLocks noChangeArrowheads="1"/>
          </p:cNvSpPr>
          <p:nvPr/>
        </p:nvSpPr>
        <p:spPr bwMode="auto">
          <a:xfrm rot="20207">
            <a:off x="7025436" y="2967635"/>
            <a:ext cx="42145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400" dirty="0"/>
              <a:t>House cost = 25000 + 75 (Size)</a:t>
            </a:r>
          </a:p>
        </p:txBody>
      </p:sp>
      <p:sp>
        <p:nvSpPr>
          <p:cNvPr id="69635" name="Text Box 3">
            <a:extLst>
              <a:ext uri="{FF2B5EF4-FFF2-40B4-BE49-F238E27FC236}">
                <a16:creationId xmlns:a16="http://schemas.microsoft.com/office/drawing/2014/main" id="{57B32E86-DD05-4957-B6D5-F85EF84BA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5701" y="6314894"/>
            <a:ext cx="12715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House size</a:t>
            </a:r>
          </a:p>
        </p:txBody>
      </p:sp>
      <p:sp>
        <p:nvSpPr>
          <p:cNvPr id="69637" name="Freeform 5">
            <a:extLst>
              <a:ext uri="{FF2B5EF4-FFF2-40B4-BE49-F238E27FC236}">
                <a16:creationId xmlns:a16="http://schemas.microsoft.com/office/drawing/2014/main" id="{C02AB34F-1222-425D-92CC-BAD566FED14F}"/>
              </a:ext>
            </a:extLst>
          </p:cNvPr>
          <p:cNvSpPr>
            <a:spLocks/>
          </p:cNvSpPr>
          <p:nvPr/>
        </p:nvSpPr>
        <p:spPr bwMode="auto">
          <a:xfrm>
            <a:off x="2823076" y="4193516"/>
            <a:ext cx="6533875" cy="369332"/>
          </a:xfrm>
          <a:custGeom>
            <a:avLst/>
            <a:gdLst>
              <a:gd name="T0" fmla="*/ 0 w 2304"/>
              <a:gd name="T1" fmla="*/ 0 h 1824"/>
              <a:gd name="T2" fmla="*/ 0 w 2304"/>
              <a:gd name="T3" fmla="*/ 1824 h 1824"/>
              <a:gd name="T4" fmla="*/ 2304 w 2304"/>
              <a:gd name="T5" fmla="*/ 1824 h 18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04" h="1824">
                <a:moveTo>
                  <a:pt x="0" y="0"/>
                </a:moveTo>
                <a:lnTo>
                  <a:pt x="0" y="1824"/>
                </a:lnTo>
                <a:lnTo>
                  <a:pt x="2304" y="1824"/>
                </a:lnTo>
              </a:path>
            </a:pathLst>
          </a:custGeom>
          <a:noFill/>
          <a:ln w="9525" cap="flat" cmpd="sng">
            <a:solidFill>
              <a:schemeClr val="bg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69638" name="Text Box 6">
            <a:extLst>
              <a:ext uri="{FF2B5EF4-FFF2-40B4-BE49-F238E27FC236}">
                <a16:creationId xmlns:a16="http://schemas.microsoft.com/office/drawing/2014/main" id="{2975B9EB-E97E-4933-BA7D-8EFC0A09E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773" y="4536333"/>
            <a:ext cx="27616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en-US" dirty="0"/>
              <a:t>Most lots sell for $25,000</a:t>
            </a:r>
          </a:p>
        </p:txBody>
      </p:sp>
      <p:sp>
        <p:nvSpPr>
          <p:cNvPr id="69640" name="Line 8">
            <a:extLst>
              <a:ext uri="{FF2B5EF4-FFF2-40B4-BE49-F238E27FC236}">
                <a16:creationId xmlns:a16="http://schemas.microsoft.com/office/drawing/2014/main" id="{FB9127DB-E17A-44FE-BFD7-7AC00DFC17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5049" y="2947952"/>
            <a:ext cx="4309977" cy="1790701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69643" name="Text Box 11">
            <a:extLst>
              <a:ext uri="{FF2B5EF4-FFF2-40B4-BE49-F238E27FC236}">
                <a16:creationId xmlns:a16="http://schemas.microsoft.com/office/drawing/2014/main" id="{D02459E2-BDF9-4E2E-AEB8-B64E82B1DEB9}"/>
              </a:ext>
            </a:extLst>
          </p:cNvPr>
          <p:cNvSpPr txBox="1">
            <a:spLocks noChangeArrowheads="1"/>
          </p:cNvSpPr>
          <p:nvPr/>
        </p:nvSpPr>
        <p:spPr bwMode="auto">
          <a:xfrm rot="61149">
            <a:off x="11231528" y="2952395"/>
            <a:ext cx="5036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 dirty="0">
                <a:latin typeface="Symbol" panose="05050102010706020507" pitchFamily="18" charset="2"/>
              </a:rPr>
              <a:t>+ </a:t>
            </a:r>
            <a:r>
              <a:rPr lang="en-US" altLang="en-US" sz="2400" b="1" dirty="0">
                <a:latin typeface="Symbol" panose="05050102010706020507" pitchFamily="18" charset="2"/>
              </a:rPr>
              <a:t>e</a:t>
            </a:r>
          </a:p>
        </p:txBody>
      </p:sp>
      <p:grpSp>
        <p:nvGrpSpPr>
          <p:cNvPr id="69663" name="Group 31">
            <a:extLst>
              <a:ext uri="{FF2B5EF4-FFF2-40B4-BE49-F238E27FC236}">
                <a16:creationId xmlns:a16="http://schemas.microsoft.com/office/drawing/2014/main" id="{A9F2C7C2-2664-4F3D-B69E-761C57B8CA19}"/>
              </a:ext>
            </a:extLst>
          </p:cNvPr>
          <p:cNvGrpSpPr>
            <a:grpSpLocks/>
          </p:cNvGrpSpPr>
          <p:nvPr/>
        </p:nvGrpSpPr>
        <p:grpSpPr bwMode="auto">
          <a:xfrm>
            <a:off x="3520851" y="3900453"/>
            <a:ext cx="136525" cy="990600"/>
            <a:chOff x="2208" y="2256"/>
            <a:chExt cx="86" cy="624"/>
          </a:xfrm>
          <a:solidFill>
            <a:schemeClr val="bg2">
              <a:lumMod val="20000"/>
              <a:lumOff val="80000"/>
            </a:schemeClr>
          </a:solidFill>
        </p:grpSpPr>
        <p:pic>
          <p:nvPicPr>
            <p:cNvPr id="69644" name="Picture 12">
              <a:extLst>
                <a:ext uri="{FF2B5EF4-FFF2-40B4-BE49-F238E27FC236}">
                  <a16:creationId xmlns:a16="http://schemas.microsoft.com/office/drawing/2014/main" id="{5C8AD8D4-D53C-4310-B993-1EBE9E6C38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8" y="2256"/>
              <a:ext cx="86" cy="86"/>
            </a:xfrm>
            <a:prstGeom prst="rect">
              <a:avLst/>
            </a:prstGeom>
            <a:grpFill/>
          </p:spPr>
        </p:pic>
        <p:pic>
          <p:nvPicPr>
            <p:cNvPr id="69645" name="Picture 13">
              <a:extLst>
                <a:ext uri="{FF2B5EF4-FFF2-40B4-BE49-F238E27FC236}">
                  <a16:creationId xmlns:a16="http://schemas.microsoft.com/office/drawing/2014/main" id="{8E171B8C-950F-4CC6-9151-7AF094AFA3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8" y="2410"/>
              <a:ext cx="86" cy="86"/>
            </a:xfrm>
            <a:prstGeom prst="rect">
              <a:avLst/>
            </a:prstGeom>
            <a:grpFill/>
          </p:spPr>
        </p:pic>
        <p:pic>
          <p:nvPicPr>
            <p:cNvPr id="69646" name="Picture 14">
              <a:extLst>
                <a:ext uri="{FF2B5EF4-FFF2-40B4-BE49-F238E27FC236}">
                  <a16:creationId xmlns:a16="http://schemas.microsoft.com/office/drawing/2014/main" id="{01DFBDB9-E87C-4DB6-8890-E7EFA9ADC4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8" y="2544"/>
              <a:ext cx="86" cy="86"/>
            </a:xfrm>
            <a:prstGeom prst="rect">
              <a:avLst/>
            </a:prstGeom>
            <a:grpFill/>
          </p:spPr>
        </p:pic>
        <p:pic>
          <p:nvPicPr>
            <p:cNvPr id="69647" name="Picture 15">
              <a:extLst>
                <a:ext uri="{FF2B5EF4-FFF2-40B4-BE49-F238E27FC236}">
                  <a16:creationId xmlns:a16="http://schemas.microsoft.com/office/drawing/2014/main" id="{554C30A7-C2EC-40A9-B9BF-FF509517DC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8" y="2794"/>
              <a:ext cx="86" cy="86"/>
            </a:xfrm>
            <a:prstGeom prst="rect">
              <a:avLst/>
            </a:prstGeom>
            <a:grpFill/>
          </p:spPr>
        </p:pic>
      </p:grpSp>
      <p:grpSp>
        <p:nvGrpSpPr>
          <p:cNvPr id="69664" name="Group 32">
            <a:extLst>
              <a:ext uri="{FF2B5EF4-FFF2-40B4-BE49-F238E27FC236}">
                <a16:creationId xmlns:a16="http://schemas.microsoft.com/office/drawing/2014/main" id="{F20358C2-B154-4A0C-A581-3CE217DE0082}"/>
              </a:ext>
            </a:extLst>
          </p:cNvPr>
          <p:cNvGrpSpPr>
            <a:grpSpLocks/>
          </p:cNvGrpSpPr>
          <p:nvPr/>
        </p:nvGrpSpPr>
        <p:grpSpPr bwMode="auto">
          <a:xfrm>
            <a:off x="3993926" y="3671853"/>
            <a:ext cx="136525" cy="990600"/>
            <a:chOff x="2506" y="2112"/>
            <a:chExt cx="86" cy="624"/>
          </a:xfrm>
          <a:solidFill>
            <a:schemeClr val="bg2">
              <a:lumMod val="20000"/>
              <a:lumOff val="80000"/>
            </a:schemeClr>
          </a:solidFill>
        </p:grpSpPr>
        <p:pic>
          <p:nvPicPr>
            <p:cNvPr id="69648" name="Picture 16">
              <a:extLst>
                <a:ext uri="{FF2B5EF4-FFF2-40B4-BE49-F238E27FC236}">
                  <a16:creationId xmlns:a16="http://schemas.microsoft.com/office/drawing/2014/main" id="{16C94E26-539F-44DE-9D5D-48996735D9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6" y="2112"/>
              <a:ext cx="86" cy="86"/>
            </a:xfrm>
            <a:prstGeom prst="rect">
              <a:avLst/>
            </a:prstGeom>
            <a:grpFill/>
          </p:spPr>
        </p:pic>
        <p:pic>
          <p:nvPicPr>
            <p:cNvPr id="69649" name="Picture 17">
              <a:extLst>
                <a:ext uri="{FF2B5EF4-FFF2-40B4-BE49-F238E27FC236}">
                  <a16:creationId xmlns:a16="http://schemas.microsoft.com/office/drawing/2014/main" id="{985EC1EB-33D3-423D-978D-7629B7F0D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6" y="2266"/>
              <a:ext cx="86" cy="86"/>
            </a:xfrm>
            <a:prstGeom prst="rect">
              <a:avLst/>
            </a:prstGeom>
            <a:grpFill/>
          </p:spPr>
        </p:pic>
        <p:pic>
          <p:nvPicPr>
            <p:cNvPr id="69650" name="Picture 18">
              <a:extLst>
                <a:ext uri="{FF2B5EF4-FFF2-40B4-BE49-F238E27FC236}">
                  <a16:creationId xmlns:a16="http://schemas.microsoft.com/office/drawing/2014/main" id="{C03EBBAF-25D8-41CE-8582-1CADA3EE21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6" y="2400"/>
              <a:ext cx="86" cy="86"/>
            </a:xfrm>
            <a:prstGeom prst="rect">
              <a:avLst/>
            </a:prstGeom>
            <a:grpFill/>
          </p:spPr>
        </p:pic>
        <p:pic>
          <p:nvPicPr>
            <p:cNvPr id="69651" name="Picture 19">
              <a:extLst>
                <a:ext uri="{FF2B5EF4-FFF2-40B4-BE49-F238E27FC236}">
                  <a16:creationId xmlns:a16="http://schemas.microsoft.com/office/drawing/2014/main" id="{8737210C-3211-470E-8AE8-7C13042617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6" y="2650"/>
              <a:ext cx="86" cy="86"/>
            </a:xfrm>
            <a:prstGeom prst="rect">
              <a:avLst/>
            </a:prstGeom>
            <a:grpFill/>
          </p:spPr>
        </p:pic>
      </p:grpSp>
      <p:grpSp>
        <p:nvGrpSpPr>
          <p:cNvPr id="69666" name="Group 34">
            <a:extLst>
              <a:ext uri="{FF2B5EF4-FFF2-40B4-BE49-F238E27FC236}">
                <a16:creationId xmlns:a16="http://schemas.microsoft.com/office/drawing/2014/main" id="{0DDB9AF8-D2A5-44C2-B7FA-C7EAE99A44A0}"/>
              </a:ext>
            </a:extLst>
          </p:cNvPr>
          <p:cNvGrpSpPr>
            <a:grpSpLocks/>
          </p:cNvGrpSpPr>
          <p:nvPr/>
        </p:nvGrpSpPr>
        <p:grpSpPr bwMode="auto">
          <a:xfrm>
            <a:off x="5599682" y="3232335"/>
            <a:ext cx="136525" cy="990600"/>
            <a:chOff x="3466" y="1872"/>
            <a:chExt cx="86" cy="624"/>
          </a:xfrm>
          <a:solidFill>
            <a:schemeClr val="bg2">
              <a:lumMod val="20000"/>
              <a:lumOff val="80000"/>
            </a:schemeClr>
          </a:solidFill>
        </p:grpSpPr>
        <p:pic>
          <p:nvPicPr>
            <p:cNvPr id="69656" name="Picture 24">
              <a:extLst>
                <a:ext uri="{FF2B5EF4-FFF2-40B4-BE49-F238E27FC236}">
                  <a16:creationId xmlns:a16="http://schemas.microsoft.com/office/drawing/2014/main" id="{AF5CDE29-0EB1-4762-9EBB-8372EFD1B5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66" y="1872"/>
              <a:ext cx="86" cy="86"/>
            </a:xfrm>
            <a:prstGeom prst="rect">
              <a:avLst/>
            </a:prstGeom>
            <a:grpFill/>
          </p:spPr>
        </p:pic>
        <p:pic>
          <p:nvPicPr>
            <p:cNvPr id="69657" name="Picture 25">
              <a:extLst>
                <a:ext uri="{FF2B5EF4-FFF2-40B4-BE49-F238E27FC236}">
                  <a16:creationId xmlns:a16="http://schemas.microsoft.com/office/drawing/2014/main" id="{567D7E98-A2FE-4354-A66F-4831A5BEA2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66" y="2026"/>
              <a:ext cx="86" cy="86"/>
            </a:xfrm>
            <a:prstGeom prst="rect">
              <a:avLst/>
            </a:prstGeom>
            <a:grpFill/>
          </p:spPr>
        </p:pic>
        <p:pic>
          <p:nvPicPr>
            <p:cNvPr id="69658" name="Picture 26">
              <a:extLst>
                <a:ext uri="{FF2B5EF4-FFF2-40B4-BE49-F238E27FC236}">
                  <a16:creationId xmlns:a16="http://schemas.microsoft.com/office/drawing/2014/main" id="{A4A6CB68-6262-4C7A-928C-321E9B559C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66" y="2160"/>
              <a:ext cx="86" cy="86"/>
            </a:xfrm>
            <a:prstGeom prst="rect">
              <a:avLst/>
            </a:prstGeom>
            <a:grpFill/>
          </p:spPr>
        </p:pic>
        <p:pic>
          <p:nvPicPr>
            <p:cNvPr id="69659" name="Picture 27">
              <a:extLst>
                <a:ext uri="{FF2B5EF4-FFF2-40B4-BE49-F238E27FC236}">
                  <a16:creationId xmlns:a16="http://schemas.microsoft.com/office/drawing/2014/main" id="{230751AE-6294-4F65-B1BB-7F91C3BA8D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66" y="2410"/>
              <a:ext cx="86" cy="86"/>
            </a:xfrm>
            <a:prstGeom prst="rect">
              <a:avLst/>
            </a:prstGeom>
            <a:grpFill/>
          </p:spPr>
        </p:pic>
      </p:grpSp>
      <p:grpSp>
        <p:nvGrpSpPr>
          <p:cNvPr id="69665" name="Group 33">
            <a:extLst>
              <a:ext uri="{FF2B5EF4-FFF2-40B4-BE49-F238E27FC236}">
                <a16:creationId xmlns:a16="http://schemas.microsoft.com/office/drawing/2014/main" id="{2415F5F8-E748-4FE9-AE5D-B7910BCAD7C4}"/>
              </a:ext>
            </a:extLst>
          </p:cNvPr>
          <p:cNvGrpSpPr>
            <a:grpSpLocks/>
          </p:cNvGrpSpPr>
          <p:nvPr/>
        </p:nvGrpSpPr>
        <p:grpSpPr bwMode="auto">
          <a:xfrm>
            <a:off x="4740051" y="3214653"/>
            <a:ext cx="136525" cy="1524000"/>
            <a:chOff x="2976" y="1824"/>
            <a:chExt cx="86" cy="960"/>
          </a:xfrm>
          <a:solidFill>
            <a:schemeClr val="bg2">
              <a:lumMod val="20000"/>
              <a:lumOff val="80000"/>
            </a:schemeClr>
          </a:solidFill>
        </p:grpSpPr>
        <p:pic>
          <p:nvPicPr>
            <p:cNvPr id="69652" name="Picture 20">
              <a:extLst>
                <a:ext uri="{FF2B5EF4-FFF2-40B4-BE49-F238E27FC236}">
                  <a16:creationId xmlns:a16="http://schemas.microsoft.com/office/drawing/2014/main" id="{290BD3D1-5C04-4880-9BF6-1C6F9CCCB2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1824"/>
              <a:ext cx="86" cy="86"/>
            </a:xfrm>
            <a:prstGeom prst="rect">
              <a:avLst/>
            </a:prstGeom>
            <a:grpFill/>
          </p:spPr>
        </p:pic>
        <p:pic>
          <p:nvPicPr>
            <p:cNvPr id="69653" name="Picture 21">
              <a:extLst>
                <a:ext uri="{FF2B5EF4-FFF2-40B4-BE49-F238E27FC236}">
                  <a16:creationId xmlns:a16="http://schemas.microsoft.com/office/drawing/2014/main" id="{45428437-9A2C-4FFF-AEBF-2858231D9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1978"/>
              <a:ext cx="86" cy="86"/>
            </a:xfrm>
            <a:prstGeom prst="rect">
              <a:avLst/>
            </a:prstGeom>
            <a:grpFill/>
          </p:spPr>
        </p:pic>
        <p:pic>
          <p:nvPicPr>
            <p:cNvPr id="69654" name="Picture 22">
              <a:extLst>
                <a:ext uri="{FF2B5EF4-FFF2-40B4-BE49-F238E27FC236}">
                  <a16:creationId xmlns:a16="http://schemas.microsoft.com/office/drawing/2014/main" id="{4CD620A2-848A-4A55-866C-36AD871F28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2112"/>
              <a:ext cx="86" cy="86"/>
            </a:xfrm>
            <a:prstGeom prst="rect">
              <a:avLst/>
            </a:prstGeom>
            <a:grpFill/>
          </p:spPr>
        </p:pic>
        <p:pic>
          <p:nvPicPr>
            <p:cNvPr id="69655" name="Picture 23">
              <a:extLst>
                <a:ext uri="{FF2B5EF4-FFF2-40B4-BE49-F238E27FC236}">
                  <a16:creationId xmlns:a16="http://schemas.microsoft.com/office/drawing/2014/main" id="{A2512740-504A-42AD-84CF-5DBF3E43CD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2362"/>
              <a:ext cx="86" cy="86"/>
            </a:xfrm>
            <a:prstGeom prst="rect">
              <a:avLst/>
            </a:prstGeom>
            <a:grpFill/>
          </p:spPr>
        </p:pic>
        <p:pic>
          <p:nvPicPr>
            <p:cNvPr id="69660" name="Picture 28">
              <a:extLst>
                <a:ext uri="{FF2B5EF4-FFF2-40B4-BE49-F238E27FC236}">
                  <a16:creationId xmlns:a16="http://schemas.microsoft.com/office/drawing/2014/main" id="{CC20FE5B-B389-4985-8961-EEC52E11A7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2458"/>
              <a:ext cx="86" cy="86"/>
            </a:xfrm>
            <a:prstGeom prst="rect">
              <a:avLst/>
            </a:prstGeom>
            <a:grpFill/>
          </p:spPr>
        </p:pic>
        <p:pic>
          <p:nvPicPr>
            <p:cNvPr id="69661" name="Picture 29">
              <a:extLst>
                <a:ext uri="{FF2B5EF4-FFF2-40B4-BE49-F238E27FC236}">
                  <a16:creationId xmlns:a16="http://schemas.microsoft.com/office/drawing/2014/main" id="{A96C494B-6F6C-40B7-B222-6EE35A3CB7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2698"/>
              <a:ext cx="86" cy="86"/>
            </a:xfrm>
            <a:prstGeom prst="rect">
              <a:avLst/>
            </a:prstGeom>
            <a:grpFill/>
          </p:spPr>
        </p:pic>
      </p:grpSp>
      <p:sp>
        <p:nvSpPr>
          <p:cNvPr id="69662" name="Text Box 30">
            <a:extLst>
              <a:ext uri="{FF2B5EF4-FFF2-40B4-BE49-F238E27FC236}">
                <a16:creationId xmlns:a16="http://schemas.microsoft.com/office/drawing/2014/main" id="{C3F30D71-3CFE-40EC-88DF-1A70CFEA92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773" y="1113019"/>
            <a:ext cx="102459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en-US" sz="2800" dirty="0"/>
              <a:t>However, house cost vary even among same size houses!</a:t>
            </a:r>
          </a:p>
        </p:txBody>
      </p:sp>
      <p:sp>
        <p:nvSpPr>
          <p:cNvPr id="69668" name="Text Box 36">
            <a:extLst>
              <a:ext uri="{FF2B5EF4-FFF2-40B4-BE49-F238E27FC236}">
                <a16:creationId xmlns:a16="http://schemas.microsoft.com/office/drawing/2014/main" id="{58200BAF-D4CC-4737-82FF-8975D7B3D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0492" y="5321029"/>
            <a:ext cx="79523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en-US" dirty="0"/>
              <a:t>Since cost behave unpredictably, we add a random component. </a:t>
            </a:r>
          </a:p>
        </p:txBody>
      </p:sp>
      <p:grpSp>
        <p:nvGrpSpPr>
          <p:cNvPr id="69675" name="Group 43">
            <a:extLst>
              <a:ext uri="{FF2B5EF4-FFF2-40B4-BE49-F238E27FC236}">
                <a16:creationId xmlns:a16="http://schemas.microsoft.com/office/drawing/2014/main" id="{309328DB-57DC-470A-A48C-06D3A909490C}"/>
              </a:ext>
            </a:extLst>
          </p:cNvPr>
          <p:cNvGrpSpPr>
            <a:grpSpLocks/>
          </p:cNvGrpSpPr>
          <p:nvPr/>
        </p:nvGrpSpPr>
        <p:grpSpPr bwMode="auto">
          <a:xfrm>
            <a:off x="5438551" y="3379753"/>
            <a:ext cx="95250" cy="857250"/>
            <a:chOff x="3468" y="2172"/>
            <a:chExt cx="60" cy="540"/>
          </a:xfrm>
          <a:solidFill>
            <a:schemeClr val="bg2">
              <a:lumMod val="20000"/>
              <a:lumOff val="80000"/>
            </a:schemeClr>
          </a:solidFill>
        </p:grpSpPr>
        <p:sp>
          <p:nvSpPr>
            <p:cNvPr id="69671" name="Line 39">
              <a:extLst>
                <a:ext uri="{FF2B5EF4-FFF2-40B4-BE49-F238E27FC236}">
                  <a16:creationId xmlns:a16="http://schemas.microsoft.com/office/drawing/2014/main" id="{FD483504-7CE0-454B-997E-3AF4B5A6C6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8" y="2340"/>
              <a:ext cx="0" cy="156"/>
            </a:xfrm>
            <a:prstGeom prst="line">
              <a:avLst/>
            </a:prstGeom>
            <a:grpFill/>
            <a:ln w="9525">
              <a:solidFill>
                <a:schemeClr val="accent3">
                  <a:lumMod val="20000"/>
                  <a:lumOff val="80000"/>
                </a:schemeClr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9672" name="Line 40">
              <a:extLst>
                <a:ext uri="{FF2B5EF4-FFF2-40B4-BE49-F238E27FC236}">
                  <a16:creationId xmlns:a16="http://schemas.microsoft.com/office/drawing/2014/main" id="{F94FEC71-A1FF-4AB3-A372-8854795C23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8" y="2328"/>
              <a:ext cx="0" cy="384"/>
            </a:xfrm>
            <a:prstGeom prst="line">
              <a:avLst/>
            </a:prstGeom>
            <a:grpFill/>
            <a:ln w="9525">
              <a:solidFill>
                <a:schemeClr val="accent3">
                  <a:lumMod val="20000"/>
                  <a:lumOff val="80000"/>
                </a:schemeClr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9674" name="Line 42">
              <a:extLst>
                <a:ext uri="{FF2B5EF4-FFF2-40B4-BE49-F238E27FC236}">
                  <a16:creationId xmlns:a16="http://schemas.microsoft.com/office/drawing/2014/main" id="{D112CB89-1629-43B1-BAAC-30A21EE236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4" y="2172"/>
              <a:ext cx="0" cy="156"/>
            </a:xfrm>
            <a:prstGeom prst="line">
              <a:avLst/>
            </a:prstGeom>
            <a:grpFill/>
            <a:ln w="9525">
              <a:solidFill>
                <a:schemeClr val="accent3">
                  <a:lumMod val="20000"/>
                  <a:lumOff val="80000"/>
                </a:schemeClr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37" name="Text Box 7">
            <a:extLst>
              <a:ext uri="{FF2B5EF4-FFF2-40B4-BE49-F238E27FC236}">
                <a16:creationId xmlns:a16="http://schemas.microsoft.com/office/drawing/2014/main" id="{0C5A73D2-11E2-4EB7-9469-1D4E61D8F0A9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665161" y="3274462"/>
            <a:ext cx="19464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House Cost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1885393-F517-4F67-8B26-550DE37F0B1A}"/>
                  </a:ext>
                </a:extLst>
              </p14:cNvPr>
              <p14:cNvContentPartPr/>
              <p14:nvPr/>
            </p14:nvContentPartPr>
            <p14:xfrm>
              <a:off x="11738844" y="4516095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1885393-F517-4F67-8B26-550DE37F0B1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729844" y="4507095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CFC9D8E6-8C52-4F57-AB59-0AEBD45D3C40}"/>
              </a:ext>
            </a:extLst>
          </p:cNvPr>
          <p:cNvGrpSpPr/>
          <p:nvPr/>
        </p:nvGrpSpPr>
        <p:grpSpPr>
          <a:xfrm>
            <a:off x="6842484" y="2253495"/>
            <a:ext cx="4537800" cy="1377360"/>
            <a:chOff x="6842484" y="2253495"/>
            <a:chExt cx="4537800" cy="137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0E9ADB8-3045-4E2D-A7FA-B0DCC5803802}"/>
                    </a:ext>
                  </a:extLst>
                </p14:cNvPr>
                <p14:cNvContentPartPr/>
                <p14:nvPr/>
              </p14:nvContentPartPr>
              <p14:xfrm>
                <a:off x="6842484" y="2778735"/>
                <a:ext cx="4537800" cy="8521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0E9ADB8-3045-4E2D-A7FA-B0DCC580380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833484" y="2770095"/>
                  <a:ext cx="4555440" cy="86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9B070B9-FD66-4076-AEF0-3A387F43D5C9}"/>
                    </a:ext>
                  </a:extLst>
                </p14:cNvPr>
                <p14:cNvContentPartPr/>
                <p14:nvPr/>
              </p14:nvContentPartPr>
              <p14:xfrm>
                <a:off x="8053884" y="2798175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9B070B9-FD66-4076-AEF0-3A387F43D5C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045244" y="278953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2C69D87-2FDF-42A2-BC19-0D1D5C39D9F3}"/>
                    </a:ext>
                  </a:extLst>
                </p14:cNvPr>
                <p14:cNvContentPartPr/>
                <p14:nvPr/>
              </p14:nvContentPartPr>
              <p14:xfrm>
                <a:off x="8848044" y="2433135"/>
                <a:ext cx="171360" cy="263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2C69D87-2FDF-42A2-BC19-0D1D5C39D9F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839404" y="2424135"/>
                  <a:ext cx="1890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51E2B65-7877-4C26-BA39-AC8583764032}"/>
                    </a:ext>
                  </a:extLst>
                </p14:cNvPr>
                <p14:cNvContentPartPr/>
                <p14:nvPr/>
              </p14:nvContentPartPr>
              <p14:xfrm>
                <a:off x="8931204" y="2253495"/>
                <a:ext cx="448560" cy="188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51E2B65-7877-4C26-BA39-AC858376403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922564" y="2244495"/>
                  <a:ext cx="46620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0628BCA-0C3E-4F24-9B03-62A51DAE185B}"/>
              </a:ext>
            </a:extLst>
          </p:cNvPr>
          <p:cNvGrpSpPr/>
          <p:nvPr/>
        </p:nvGrpSpPr>
        <p:grpSpPr>
          <a:xfrm>
            <a:off x="9077724" y="1754535"/>
            <a:ext cx="2763720" cy="462240"/>
            <a:chOff x="9077724" y="1754535"/>
            <a:chExt cx="2763720" cy="46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1D7ACBA-8DF7-4DA5-85C0-6D939FBD425D}"/>
                    </a:ext>
                  </a:extLst>
                </p14:cNvPr>
                <p14:cNvContentPartPr/>
                <p14:nvPr/>
              </p14:nvContentPartPr>
              <p14:xfrm>
                <a:off x="9318924" y="1818975"/>
                <a:ext cx="9000" cy="322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1D7ACBA-8DF7-4DA5-85C0-6D939FBD425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310284" y="1810335"/>
                  <a:ext cx="2664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011536D-7604-4126-B335-279E34EEB595}"/>
                    </a:ext>
                  </a:extLst>
                </p14:cNvPr>
                <p14:cNvContentPartPr/>
                <p14:nvPr/>
              </p14:nvContentPartPr>
              <p14:xfrm>
                <a:off x="9077724" y="1790175"/>
                <a:ext cx="741240" cy="392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011536D-7604-4126-B335-279E34EEB59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068724" y="1781535"/>
                  <a:ext cx="75888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B7971FB-7EF5-4B81-B540-BAC59A1794FA}"/>
                    </a:ext>
                  </a:extLst>
                </p14:cNvPr>
                <p14:cNvContentPartPr/>
                <p14:nvPr/>
              </p14:nvContentPartPr>
              <p14:xfrm>
                <a:off x="9863964" y="2014095"/>
                <a:ext cx="326880" cy="202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B7971FB-7EF5-4B81-B540-BAC59A1794F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855324" y="2005455"/>
                  <a:ext cx="3445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800CADD-8EB6-4D7F-B1B4-DCEF2ECDDA0F}"/>
                    </a:ext>
                  </a:extLst>
                </p14:cNvPr>
                <p14:cNvContentPartPr/>
                <p14:nvPr/>
              </p14:nvContentPartPr>
              <p14:xfrm>
                <a:off x="10002564" y="1754535"/>
                <a:ext cx="235080" cy="433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800CADD-8EB6-4D7F-B1B4-DCEF2ECDDA0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993924" y="1745895"/>
                  <a:ext cx="25272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3F029E8-606D-4CE3-9583-87E23E273F2A}"/>
                    </a:ext>
                  </a:extLst>
                </p14:cNvPr>
                <p14:cNvContentPartPr/>
                <p14:nvPr/>
              </p14:nvContentPartPr>
              <p14:xfrm>
                <a:off x="10002564" y="2003655"/>
                <a:ext cx="361440" cy="10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3F029E8-606D-4CE3-9583-87E23E273F2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993924" y="1995015"/>
                  <a:ext cx="3790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33174E2-95F6-4DA5-9DCB-D281B258935D}"/>
                    </a:ext>
                  </a:extLst>
                </p14:cNvPr>
                <p14:cNvContentPartPr/>
                <p14:nvPr/>
              </p14:nvContentPartPr>
              <p14:xfrm>
                <a:off x="10390644" y="2010495"/>
                <a:ext cx="94680" cy="123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33174E2-95F6-4DA5-9DCB-D281B258935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382004" y="2001855"/>
                  <a:ext cx="1123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732AAB4-887F-4D91-8EE7-3B0FE0DBF107}"/>
                    </a:ext>
                  </a:extLst>
                </p14:cNvPr>
                <p14:cNvContentPartPr/>
                <p14:nvPr/>
              </p14:nvContentPartPr>
              <p14:xfrm>
                <a:off x="10584684" y="2015175"/>
                <a:ext cx="70920" cy="71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732AAB4-887F-4D91-8EE7-3B0FE0DBF10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575684" y="2006175"/>
                  <a:ext cx="885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6AFFAE3-3F25-49F6-9AA8-99482F01F5B9}"/>
                    </a:ext>
                  </a:extLst>
                </p14:cNvPr>
                <p14:cNvContentPartPr/>
                <p14:nvPr/>
              </p14:nvContentPartPr>
              <p14:xfrm>
                <a:off x="10769364" y="2022375"/>
                <a:ext cx="177120" cy="86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6AFFAE3-3F25-49F6-9AA8-99482F01F5B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760364" y="2013735"/>
                  <a:ext cx="1947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E81E0C3-0D13-44C1-AFE3-1EC634C6F5F0}"/>
                    </a:ext>
                  </a:extLst>
                </p14:cNvPr>
                <p14:cNvContentPartPr/>
                <p14:nvPr/>
              </p14:nvContentPartPr>
              <p14:xfrm>
                <a:off x="11000484" y="2040735"/>
                <a:ext cx="18360" cy="53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E81E0C3-0D13-44C1-AFE3-1EC634C6F5F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991484" y="2032095"/>
                  <a:ext cx="360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9DD0885-45C9-4D92-8E85-599B5DDC156F}"/>
                    </a:ext>
                  </a:extLst>
                </p14:cNvPr>
                <p14:cNvContentPartPr/>
                <p14:nvPr/>
              </p14:nvContentPartPr>
              <p14:xfrm>
                <a:off x="11018844" y="1893135"/>
                <a:ext cx="36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9DD0885-45C9-4D92-8E85-599B5DDC156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009844" y="188449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2144126-3E16-4FB9-B91C-461F56C9AC60}"/>
                    </a:ext>
                  </a:extLst>
                </p14:cNvPr>
                <p14:cNvContentPartPr/>
                <p14:nvPr/>
              </p14:nvContentPartPr>
              <p14:xfrm>
                <a:off x="11083284" y="1988895"/>
                <a:ext cx="103320" cy="66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2144126-3E16-4FB9-B91C-461F56C9AC6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074644" y="1979895"/>
                  <a:ext cx="1209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1A51FB5-8D0A-41EE-BA36-D99D1A1CA689}"/>
                    </a:ext>
                  </a:extLst>
                </p14:cNvPr>
                <p14:cNvContentPartPr/>
                <p14:nvPr/>
              </p14:nvContentPartPr>
              <p14:xfrm>
                <a:off x="11240604" y="2013375"/>
                <a:ext cx="27720" cy="54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1A51FB5-8D0A-41EE-BA36-D99D1A1CA68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231604" y="2004375"/>
                  <a:ext cx="453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46C401D-1C87-4218-BAE9-B87A06BE0343}"/>
                    </a:ext>
                  </a:extLst>
                </p14:cNvPr>
                <p14:cNvContentPartPr/>
                <p14:nvPr/>
              </p14:nvContentPartPr>
              <p14:xfrm>
                <a:off x="11230884" y="1865415"/>
                <a:ext cx="3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46C401D-1C87-4218-BAE9-B87A06BE034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222244" y="185677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6642188-5E87-4338-996E-AA1C23E2D9AD}"/>
                    </a:ext>
                  </a:extLst>
                </p14:cNvPr>
                <p14:cNvContentPartPr/>
                <p14:nvPr/>
              </p14:nvContentPartPr>
              <p14:xfrm>
                <a:off x="11363364" y="1966935"/>
                <a:ext cx="42840" cy="104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6642188-5E87-4338-996E-AA1C23E2D9A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354364" y="1957935"/>
                  <a:ext cx="604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6A48323-6061-4381-A039-CB61379C822A}"/>
                    </a:ext>
                  </a:extLst>
                </p14:cNvPr>
                <p14:cNvContentPartPr/>
                <p14:nvPr/>
              </p14:nvContentPartPr>
              <p14:xfrm>
                <a:off x="11508084" y="1791615"/>
                <a:ext cx="37800" cy="257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6A48323-6061-4381-A039-CB61379C822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499444" y="1782615"/>
                  <a:ext cx="554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5D367A9-E935-4B97-867A-06ACEFCEA825}"/>
                    </a:ext>
                  </a:extLst>
                </p14:cNvPr>
                <p14:cNvContentPartPr/>
                <p14:nvPr/>
              </p14:nvContentPartPr>
              <p14:xfrm>
                <a:off x="11462004" y="1984575"/>
                <a:ext cx="144360" cy="28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5D367A9-E935-4B97-867A-06ACEFCEA82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453364" y="1975935"/>
                  <a:ext cx="1620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CEDE632-C1D5-42ED-88B0-7C6718780D5C}"/>
                    </a:ext>
                  </a:extLst>
                </p14:cNvPr>
                <p14:cNvContentPartPr/>
                <p14:nvPr/>
              </p14:nvContentPartPr>
              <p14:xfrm>
                <a:off x="11628324" y="2077815"/>
                <a:ext cx="9720" cy="43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CEDE632-C1D5-42ED-88B0-7C6718780D5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619324" y="2068815"/>
                  <a:ext cx="273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9B540C2-9311-48C0-86E2-FCF844EFF044}"/>
                    </a:ext>
                  </a:extLst>
                </p14:cNvPr>
                <p14:cNvContentPartPr/>
                <p14:nvPr/>
              </p14:nvContentPartPr>
              <p14:xfrm>
                <a:off x="11646684" y="1948575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9B540C2-9311-48C0-86E2-FCF844EFF04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638044" y="193993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153EBC1-5D94-423C-AE9F-00A1E2A3199E}"/>
                    </a:ext>
                  </a:extLst>
                </p14:cNvPr>
                <p14:cNvContentPartPr/>
                <p14:nvPr/>
              </p14:nvContentPartPr>
              <p14:xfrm>
                <a:off x="11756844" y="2013375"/>
                <a:ext cx="84600" cy="112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153EBC1-5D94-423C-AE9F-00A1E2A3199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747844" y="2004375"/>
                  <a:ext cx="102240" cy="130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" name="Freeform 5">
            <a:extLst>
              <a:ext uri="{FF2B5EF4-FFF2-40B4-BE49-F238E27FC236}">
                <a16:creationId xmlns:a16="http://schemas.microsoft.com/office/drawing/2014/main" id="{DD9ECB62-22F4-C870-CBCF-36ADCD01F7D5}"/>
              </a:ext>
            </a:extLst>
          </p:cNvPr>
          <p:cNvSpPr>
            <a:spLocks/>
          </p:cNvSpPr>
          <p:nvPr/>
        </p:nvSpPr>
        <p:spPr bwMode="auto">
          <a:xfrm>
            <a:off x="2823076" y="2503940"/>
            <a:ext cx="6533875" cy="3748485"/>
          </a:xfrm>
          <a:custGeom>
            <a:avLst/>
            <a:gdLst>
              <a:gd name="T0" fmla="*/ 0 w 2304"/>
              <a:gd name="T1" fmla="*/ 0 h 1824"/>
              <a:gd name="T2" fmla="*/ 0 w 2304"/>
              <a:gd name="T3" fmla="*/ 1824 h 1824"/>
              <a:gd name="T4" fmla="*/ 2304 w 2304"/>
              <a:gd name="T5" fmla="*/ 1824 h 18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04" h="1824">
                <a:moveTo>
                  <a:pt x="0" y="0"/>
                </a:moveTo>
                <a:lnTo>
                  <a:pt x="0" y="1824"/>
                </a:lnTo>
                <a:lnTo>
                  <a:pt x="2304" y="1824"/>
                </a:lnTo>
              </a:path>
            </a:pathLst>
          </a:cu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square" anchor="ctr">
            <a:spAutoFit/>
          </a:bodyPr>
          <a:lstStyle/>
          <a:p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13C7575-2669-7BFD-0CBE-5CB2FF252733}"/>
              </a:ext>
            </a:extLst>
          </p:cNvPr>
          <p:cNvCxnSpPr>
            <a:cxnSpLocks/>
            <a:stCxn id="30" idx="0"/>
          </p:cNvCxnSpPr>
          <p:nvPr/>
        </p:nvCxnSpPr>
        <p:spPr>
          <a:xfrm flipV="1">
            <a:off x="10958903" y="3414023"/>
            <a:ext cx="520351" cy="14087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754FDC7-8C3A-0CAD-F568-57CB4B5E92C2}"/>
              </a:ext>
            </a:extLst>
          </p:cNvPr>
          <p:cNvSpPr txBox="1"/>
          <p:nvPr/>
        </p:nvSpPr>
        <p:spPr>
          <a:xfrm>
            <a:off x="10077598" y="4822790"/>
            <a:ext cx="17626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types of variables might be part of the error term?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5082E46-309E-3AFD-8928-6DB943D62349}"/>
              </a:ext>
            </a:extLst>
          </p:cNvPr>
          <p:cNvCxnSpPr>
            <a:cxnSpLocks/>
          </p:cNvCxnSpPr>
          <p:nvPr/>
        </p:nvCxnSpPr>
        <p:spPr>
          <a:xfrm flipV="1">
            <a:off x="6996646" y="3414023"/>
            <a:ext cx="4482608" cy="19070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9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9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9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9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69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9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9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43" grpId="0" autoUpdateAnimBg="0"/>
      <p:bldP spid="69662" grpId="0" autoUpdateAnimBg="0"/>
      <p:bldP spid="69668" grpId="0" autoUpdateAnimBg="0"/>
      <p:bldP spid="3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3AB8544D-C554-42E4-9EFA-0D06D3EFB9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71181" y="2195512"/>
            <a:ext cx="7772400" cy="4114800"/>
          </a:xfr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The first order linear model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  <a:buFontTx/>
              <a:buNone/>
            </a:pPr>
            <a:endParaRPr lang="en-US" altLang="en-US" dirty="0"/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/>
              <a:t>Y = dependent variable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/>
              <a:t>X = independent variable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Symbol" panose="05050102010706020507" pitchFamily="18" charset="2"/>
              </a:rPr>
              <a:t>b</a:t>
            </a:r>
            <a:r>
              <a:rPr lang="en-US" altLang="en-US" baseline="-25000" dirty="0"/>
              <a:t>0</a:t>
            </a:r>
            <a:r>
              <a:rPr lang="en-US" altLang="en-US" dirty="0"/>
              <a:t> = Y-intercept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Symbol" panose="05050102010706020507" pitchFamily="18" charset="2"/>
              </a:rPr>
              <a:t>b</a:t>
            </a:r>
            <a:r>
              <a:rPr lang="en-US" altLang="en-US" baseline="-25000" dirty="0"/>
              <a:t>1</a:t>
            </a:r>
            <a:r>
              <a:rPr lang="en-US" altLang="en-US" dirty="0"/>
              <a:t> = slope of the line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Symbol" panose="05050102010706020507" pitchFamily="18" charset="2"/>
              </a:rPr>
              <a:t>e</a:t>
            </a:r>
            <a:r>
              <a:rPr lang="en-US" altLang="en-US" dirty="0"/>
              <a:t> = error variable</a:t>
            </a:r>
          </a:p>
        </p:txBody>
      </p:sp>
      <p:graphicFrame>
        <p:nvGraphicFramePr>
          <p:cNvPr id="5124" name="Object 4">
            <a:extLst>
              <a:ext uri="{FF2B5EF4-FFF2-40B4-BE49-F238E27FC236}">
                <a16:creationId xmlns:a16="http://schemas.microsoft.com/office/drawing/2014/main" id="{04286BA5-DD75-4597-ADD2-8F1ED8800E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7610960"/>
              </p:ext>
            </p:extLst>
          </p:nvPr>
        </p:nvGraphicFramePr>
        <p:xfrm>
          <a:off x="4478338" y="547688"/>
          <a:ext cx="33686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03300" imgH="177800" progId="Equation.3">
                  <p:embed/>
                </p:oleObj>
              </mc:Choice>
              <mc:Fallback>
                <p:oleObj name="Equation" r:id="rId2" imgW="1003300" imgH="177800" progId="Equation.3">
                  <p:embed/>
                  <p:pic>
                    <p:nvPicPr>
                      <p:cNvPr id="5124" name="Object 4">
                        <a:extLst>
                          <a:ext uri="{FF2B5EF4-FFF2-40B4-BE49-F238E27FC236}">
                            <a16:creationId xmlns:a16="http://schemas.microsoft.com/office/drawing/2014/main" id="{04286BA5-DD75-4597-ADD2-8F1ED8800E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8338" y="547688"/>
                        <a:ext cx="3368675" cy="59690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>
                        <a:noFill/>
                      </a:ln>
                      <a:effectLst>
                        <a:outerShdw dist="117088" dir="18636078" algn="ctr" rotWithShape="0">
                          <a:srgbClr val="2C2CB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39" name="Group 19">
            <a:extLst>
              <a:ext uri="{FF2B5EF4-FFF2-40B4-BE49-F238E27FC236}">
                <a16:creationId xmlns:a16="http://schemas.microsoft.com/office/drawing/2014/main" id="{B2F21EE9-2C77-471D-ABD4-62AF99B3E280}"/>
              </a:ext>
            </a:extLst>
          </p:cNvPr>
          <p:cNvGrpSpPr>
            <a:grpSpLocks/>
          </p:cNvGrpSpPr>
          <p:nvPr/>
        </p:nvGrpSpPr>
        <p:grpSpPr bwMode="auto">
          <a:xfrm>
            <a:off x="5427784" y="3494478"/>
            <a:ext cx="4964723" cy="2366657"/>
            <a:chOff x="3408" y="2496"/>
            <a:chExt cx="1680" cy="1248"/>
          </a:xfrm>
        </p:grpSpPr>
        <p:sp>
          <p:nvSpPr>
            <p:cNvPr id="5125" name="Line 5">
              <a:extLst>
                <a:ext uri="{FF2B5EF4-FFF2-40B4-BE49-F238E27FC236}">
                  <a16:creationId xmlns:a16="http://schemas.microsoft.com/office/drawing/2014/main" id="{843618FE-798D-4F38-953F-A19A27B193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496"/>
              <a:ext cx="0" cy="1248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6" name="Line 6">
              <a:extLst>
                <a:ext uri="{FF2B5EF4-FFF2-40B4-BE49-F238E27FC236}">
                  <a16:creationId xmlns:a16="http://schemas.microsoft.com/office/drawing/2014/main" id="{88CA9C3C-6F99-4006-92CD-2C496EACE2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3744"/>
              <a:ext cx="168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27" name="Text Box 7">
            <a:extLst>
              <a:ext uri="{FF2B5EF4-FFF2-40B4-BE49-F238E27FC236}">
                <a16:creationId xmlns:a16="http://schemas.microsoft.com/office/drawing/2014/main" id="{ADBD7636-BA92-4C33-8193-F2755C88A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2669" y="5630302"/>
            <a:ext cx="365806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l"/>
            <a:r>
              <a:rPr lang="en-US" altLang="en-US" sz="2400" dirty="0"/>
              <a:t>X</a:t>
            </a:r>
          </a:p>
        </p:txBody>
      </p:sp>
      <p:sp>
        <p:nvSpPr>
          <p:cNvPr id="5128" name="Text Box 8">
            <a:extLst>
              <a:ext uri="{FF2B5EF4-FFF2-40B4-BE49-F238E27FC236}">
                <a16:creationId xmlns:a16="http://schemas.microsoft.com/office/drawing/2014/main" id="{F551C333-5A32-4AE9-9B66-AB8843E7F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0490" y="3003566"/>
            <a:ext cx="354584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l"/>
            <a:r>
              <a:rPr lang="en-US" altLang="en-US" sz="2400" dirty="0"/>
              <a:t>Y</a:t>
            </a:r>
          </a:p>
        </p:txBody>
      </p:sp>
      <p:sp>
        <p:nvSpPr>
          <p:cNvPr id="5131" name="Line 11">
            <a:extLst>
              <a:ext uri="{FF2B5EF4-FFF2-40B4-BE49-F238E27FC236}">
                <a16:creationId xmlns:a16="http://schemas.microsoft.com/office/drawing/2014/main" id="{7BE12063-0D72-40E0-826F-E53AA150AD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27783" y="1975592"/>
            <a:ext cx="4507519" cy="297927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5132" name="Text Box 12">
            <a:extLst>
              <a:ext uri="{FF2B5EF4-FFF2-40B4-BE49-F238E27FC236}">
                <a16:creationId xmlns:a16="http://schemas.microsoft.com/office/drawing/2014/main" id="{B5A56E8F-6C7B-4C09-9C49-58DA87417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4095" y="4667000"/>
            <a:ext cx="385763" cy="36671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l"/>
            <a:r>
              <a:rPr lang="en-US" altLang="en-US" dirty="0">
                <a:latin typeface="Symbol" panose="05050102010706020507" pitchFamily="18" charset="2"/>
              </a:rPr>
              <a:t>b</a:t>
            </a:r>
            <a:r>
              <a:rPr lang="en-US" altLang="en-US" baseline="-25000" dirty="0">
                <a:latin typeface="Times New Roman" panose="02020603050405020304" pitchFamily="18" charset="0"/>
              </a:rPr>
              <a:t>0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5133" name="Freeform 13">
            <a:extLst>
              <a:ext uri="{FF2B5EF4-FFF2-40B4-BE49-F238E27FC236}">
                <a16:creationId xmlns:a16="http://schemas.microsoft.com/office/drawing/2014/main" id="{14DF4386-25B6-4D05-9B7F-ABBC016A3464}"/>
              </a:ext>
            </a:extLst>
          </p:cNvPr>
          <p:cNvSpPr>
            <a:spLocks/>
          </p:cNvSpPr>
          <p:nvPr/>
        </p:nvSpPr>
        <p:spPr bwMode="auto">
          <a:xfrm>
            <a:off x="5791207" y="4282098"/>
            <a:ext cx="685800" cy="457200"/>
          </a:xfrm>
          <a:custGeom>
            <a:avLst/>
            <a:gdLst>
              <a:gd name="T0" fmla="*/ 0 w 432"/>
              <a:gd name="T1" fmla="*/ 288 h 288"/>
              <a:gd name="T2" fmla="*/ 432 w 432"/>
              <a:gd name="T3" fmla="*/ 288 h 288"/>
              <a:gd name="T4" fmla="*/ 432 w 432"/>
              <a:gd name="T5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" h="288">
                <a:moveTo>
                  <a:pt x="0" y="288"/>
                </a:moveTo>
                <a:lnTo>
                  <a:pt x="432" y="288"/>
                </a:lnTo>
                <a:lnTo>
                  <a:pt x="432" y="0"/>
                </a:lnTo>
              </a:path>
            </a:pathLst>
          </a:cu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5134" name="Text Box 14">
            <a:extLst>
              <a:ext uri="{FF2B5EF4-FFF2-40B4-BE49-F238E27FC236}">
                <a16:creationId xmlns:a16="http://schemas.microsoft.com/office/drawing/2014/main" id="{510ED92D-47EA-46E0-8CF8-1620F89CF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1569" y="4793704"/>
            <a:ext cx="582211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l"/>
            <a:r>
              <a:rPr lang="en-US" altLang="en-US" dirty="0"/>
              <a:t>Run</a:t>
            </a:r>
          </a:p>
        </p:txBody>
      </p:sp>
      <p:sp>
        <p:nvSpPr>
          <p:cNvPr id="5135" name="Text Box 15">
            <a:extLst>
              <a:ext uri="{FF2B5EF4-FFF2-40B4-BE49-F238E27FC236}">
                <a16:creationId xmlns:a16="http://schemas.microsoft.com/office/drawing/2014/main" id="{9570667C-D9CC-4A72-8910-3012E14AB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3874" y="4344125"/>
            <a:ext cx="612668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l"/>
            <a:r>
              <a:rPr lang="en-US" altLang="en-US" dirty="0"/>
              <a:t>Rise</a:t>
            </a:r>
          </a:p>
        </p:txBody>
      </p:sp>
      <p:sp>
        <p:nvSpPr>
          <p:cNvPr id="5136" name="Text Box 16">
            <a:extLst>
              <a:ext uri="{FF2B5EF4-FFF2-40B4-BE49-F238E27FC236}">
                <a16:creationId xmlns:a16="http://schemas.microsoft.com/office/drawing/2014/main" id="{45030B29-F80D-4506-8FDF-6BFFF3042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7701" y="3280565"/>
            <a:ext cx="1505797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l"/>
            <a:r>
              <a:rPr lang="en-US" altLang="en-US" dirty="0">
                <a:latin typeface="Symbol" panose="05050102010706020507" pitchFamily="18" charset="2"/>
              </a:rPr>
              <a:t>b</a:t>
            </a:r>
            <a:r>
              <a:rPr lang="en-US" altLang="en-US" baseline="-25000" dirty="0">
                <a:latin typeface="Symbol" panose="05050102010706020507" pitchFamily="18" charset="2"/>
              </a:rPr>
              <a:t>1</a:t>
            </a:r>
            <a:r>
              <a:rPr lang="en-US" altLang="en-US" dirty="0"/>
              <a:t> = Rise/Run</a:t>
            </a:r>
          </a:p>
        </p:txBody>
      </p:sp>
      <p:sp>
        <p:nvSpPr>
          <p:cNvPr id="5138" name="Text Box 18">
            <a:extLst>
              <a:ext uri="{FF2B5EF4-FFF2-40B4-BE49-F238E27FC236}">
                <a16:creationId xmlns:a16="http://schemas.microsoft.com/office/drawing/2014/main" id="{E334A014-6370-478B-BED6-B83DFB7BE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3055" y="1204185"/>
            <a:ext cx="5195091" cy="646331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en-US" dirty="0">
                <a:latin typeface="Symbol" panose="05050102010706020507" pitchFamily="18" charset="2"/>
              </a:rPr>
              <a:t>b</a:t>
            </a:r>
            <a:r>
              <a:rPr lang="en-US" altLang="en-US" baseline="-25000" dirty="0"/>
              <a:t>0</a:t>
            </a:r>
            <a:r>
              <a:rPr lang="en-US" altLang="en-US" dirty="0"/>
              <a:t> and </a:t>
            </a:r>
            <a:r>
              <a:rPr lang="en-US" altLang="en-US" dirty="0">
                <a:latin typeface="Symbol" panose="05050102010706020507" pitchFamily="18" charset="2"/>
              </a:rPr>
              <a:t>b</a:t>
            </a:r>
            <a:r>
              <a:rPr lang="en-US" altLang="en-US" baseline="-25000" dirty="0"/>
              <a:t>1</a:t>
            </a:r>
            <a:r>
              <a:rPr lang="en-US" altLang="en-US" dirty="0"/>
              <a:t> are unknown population parameters, therefore are estimated from the data.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8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98E72F4-F025-446E-84A3-F88D6ABA06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Estimating the model parameters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3C7DAE65-B90A-4087-AD06-B7EFBCD111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6508" y="2362199"/>
            <a:ext cx="5052646" cy="4130675"/>
          </a:xfrm>
        </p:spPr>
        <p:txBody>
          <a:bodyPr>
            <a:normAutofit/>
          </a:bodyPr>
          <a:lstStyle/>
          <a:p>
            <a:r>
              <a:rPr lang="en-US" altLang="en-US" dirty="0"/>
              <a:t>The estimates are determined by </a:t>
            </a:r>
          </a:p>
          <a:p>
            <a:pPr lvl="1"/>
            <a:r>
              <a:rPr lang="en-US" altLang="en-US" dirty="0"/>
              <a:t>drawing a sample from the population of interest,</a:t>
            </a:r>
          </a:p>
          <a:p>
            <a:pPr lvl="1"/>
            <a:r>
              <a:rPr lang="en-US" altLang="en-US" dirty="0"/>
              <a:t>calculating sample statistics.</a:t>
            </a:r>
          </a:p>
          <a:p>
            <a:pPr lvl="1"/>
            <a:r>
              <a:rPr lang="en-US" altLang="en-US" dirty="0"/>
              <a:t>producing a straight line that cuts through the data.</a:t>
            </a:r>
          </a:p>
        </p:txBody>
      </p:sp>
      <p:sp>
        <p:nvSpPr>
          <p:cNvPr id="8220" name="Text Box 28">
            <a:extLst>
              <a:ext uri="{FF2B5EF4-FFF2-40B4-BE49-F238E27FC236}">
                <a16:creationId xmlns:a16="http://schemas.microsoft.com/office/drawing/2014/main" id="{28E18FEA-2677-4911-B0DD-9AD084C03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61" y="6099262"/>
            <a:ext cx="7117679" cy="461665"/>
          </a:xfrm>
          <a:prstGeom prst="rect">
            <a:avLst/>
          </a:prstGeom>
          <a:solidFill>
            <a:srgbClr val="D1D1D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Question: What should be considered a good line?</a:t>
            </a:r>
          </a:p>
        </p:txBody>
      </p:sp>
      <p:sp>
        <p:nvSpPr>
          <p:cNvPr id="26" name="Freeform 4">
            <a:extLst>
              <a:ext uri="{FF2B5EF4-FFF2-40B4-BE49-F238E27FC236}">
                <a16:creationId xmlns:a16="http://schemas.microsoft.com/office/drawing/2014/main" id="{A371CDE9-80D0-45BD-9304-F4050E975A08}"/>
              </a:ext>
            </a:extLst>
          </p:cNvPr>
          <p:cNvSpPr>
            <a:spLocks/>
          </p:cNvSpPr>
          <p:nvPr/>
        </p:nvSpPr>
        <p:spPr bwMode="auto">
          <a:xfrm>
            <a:off x="5931878" y="3024922"/>
            <a:ext cx="4335141" cy="2224086"/>
          </a:xfrm>
          <a:custGeom>
            <a:avLst/>
            <a:gdLst>
              <a:gd name="T0" fmla="*/ 0 w 2112"/>
              <a:gd name="T1" fmla="*/ 0 h 1248"/>
              <a:gd name="T2" fmla="*/ 0 w 2112"/>
              <a:gd name="T3" fmla="*/ 1248 h 1248"/>
              <a:gd name="T4" fmla="*/ 2112 w 2112"/>
              <a:gd name="T5" fmla="*/ 1248 h 1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12" h="1248">
                <a:moveTo>
                  <a:pt x="0" y="0"/>
                </a:moveTo>
                <a:lnTo>
                  <a:pt x="0" y="1248"/>
                </a:lnTo>
                <a:lnTo>
                  <a:pt x="2112" y="1248"/>
                </a:lnTo>
              </a:path>
            </a:pathLst>
          </a:cu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27" name="Text Box 7">
            <a:extLst>
              <a:ext uri="{FF2B5EF4-FFF2-40B4-BE49-F238E27FC236}">
                <a16:creationId xmlns:a16="http://schemas.microsoft.com/office/drawing/2014/main" id="{D4160A6A-9AC2-499A-8D01-28BEC12B8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4603" y="3151921"/>
            <a:ext cx="3159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w</a:t>
            </a:r>
          </a:p>
        </p:txBody>
      </p:sp>
      <p:sp>
        <p:nvSpPr>
          <p:cNvPr id="28" name="Text Box 8">
            <a:extLst>
              <a:ext uri="{FF2B5EF4-FFF2-40B4-BE49-F238E27FC236}">
                <a16:creationId xmlns:a16="http://schemas.microsoft.com/office/drawing/2014/main" id="{E7EE1DAE-8305-4624-919C-AAF6FE091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1803" y="3456721"/>
            <a:ext cx="3159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w</a:t>
            </a:r>
          </a:p>
        </p:txBody>
      </p:sp>
      <p:sp>
        <p:nvSpPr>
          <p:cNvPr id="29" name="Text Box 9">
            <a:extLst>
              <a:ext uri="{FF2B5EF4-FFF2-40B4-BE49-F238E27FC236}">
                <a16:creationId xmlns:a16="http://schemas.microsoft.com/office/drawing/2014/main" id="{5B65F67C-60B1-4F00-9938-2D40ABBCB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1803" y="3913921"/>
            <a:ext cx="3159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w</a:t>
            </a:r>
          </a:p>
        </p:txBody>
      </p:sp>
      <p:sp>
        <p:nvSpPr>
          <p:cNvPr id="30" name="Text Box 10">
            <a:extLst>
              <a:ext uri="{FF2B5EF4-FFF2-40B4-BE49-F238E27FC236}">
                <a16:creationId xmlns:a16="http://schemas.microsoft.com/office/drawing/2014/main" id="{731C1A05-CB93-40D3-BE02-305E118F1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1803" y="4258409"/>
            <a:ext cx="3159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w</a:t>
            </a:r>
          </a:p>
        </p:txBody>
      </p:sp>
      <p:sp>
        <p:nvSpPr>
          <p:cNvPr id="31" name="Text Box 11">
            <a:extLst>
              <a:ext uri="{FF2B5EF4-FFF2-40B4-BE49-F238E27FC236}">
                <a16:creationId xmlns:a16="http://schemas.microsoft.com/office/drawing/2014/main" id="{B2B6E184-EC38-4815-84E6-B8442EE2A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5202" y="4106009"/>
            <a:ext cx="2998788" cy="366713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w 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w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 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w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     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w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ingdings" panose="05000000000000000000" pitchFamily="2" charset="2"/>
              <a:ea typeface="+mn-ea"/>
              <a:cs typeface="+mn-cs"/>
            </a:endParaRPr>
          </a:p>
        </p:txBody>
      </p:sp>
      <p:sp>
        <p:nvSpPr>
          <p:cNvPr id="32" name="Text Box 12">
            <a:extLst>
              <a:ext uri="{FF2B5EF4-FFF2-40B4-BE49-F238E27FC236}">
                <a16:creationId xmlns:a16="http://schemas.microsoft.com/office/drawing/2014/main" id="{0ED642C0-9B4C-42E6-8A76-527D64D48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3528" y="3761521"/>
            <a:ext cx="3159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w</a:t>
            </a:r>
          </a:p>
        </p:txBody>
      </p:sp>
      <p:sp>
        <p:nvSpPr>
          <p:cNvPr id="33" name="Text Box 13">
            <a:extLst>
              <a:ext uri="{FF2B5EF4-FFF2-40B4-BE49-F238E27FC236}">
                <a16:creationId xmlns:a16="http://schemas.microsoft.com/office/drawing/2014/main" id="{51B896FD-620F-4999-955B-C0940954E4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4717" y="4375884"/>
            <a:ext cx="13493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w   w</a:t>
            </a:r>
          </a:p>
        </p:txBody>
      </p:sp>
      <p:sp>
        <p:nvSpPr>
          <p:cNvPr id="34" name="Text Box 14">
            <a:extLst>
              <a:ext uri="{FF2B5EF4-FFF2-40B4-BE49-F238E27FC236}">
                <a16:creationId xmlns:a16="http://schemas.microsoft.com/office/drawing/2014/main" id="{7092A3A7-349C-4EE1-99F4-35BF5D1E4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1003" y="4029809"/>
            <a:ext cx="3159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w</a:t>
            </a:r>
          </a:p>
        </p:txBody>
      </p:sp>
      <p:sp>
        <p:nvSpPr>
          <p:cNvPr id="35" name="Text Box 15">
            <a:extLst>
              <a:ext uri="{FF2B5EF4-FFF2-40B4-BE49-F238E27FC236}">
                <a16:creationId xmlns:a16="http://schemas.microsoft.com/office/drawing/2014/main" id="{C83BC05B-CE2A-4B46-8298-71C0ECE8E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7266" y="4371121"/>
            <a:ext cx="9048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w  w</a:t>
            </a:r>
          </a:p>
        </p:txBody>
      </p:sp>
      <p:sp>
        <p:nvSpPr>
          <p:cNvPr id="36" name="Text Box 16">
            <a:extLst>
              <a:ext uri="{FF2B5EF4-FFF2-40B4-BE49-F238E27FC236}">
                <a16:creationId xmlns:a16="http://schemas.microsoft.com/office/drawing/2014/main" id="{3D7F7799-3353-49F8-8A37-23B7E65DB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3128" y="4675921"/>
            <a:ext cx="3159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w</a:t>
            </a:r>
          </a:p>
        </p:txBody>
      </p:sp>
      <p:sp>
        <p:nvSpPr>
          <p:cNvPr id="37" name="Line 18">
            <a:extLst>
              <a:ext uri="{FF2B5EF4-FFF2-40B4-BE49-F238E27FC236}">
                <a16:creationId xmlns:a16="http://schemas.microsoft.com/office/drawing/2014/main" id="{ECD5F60E-3F94-4EA2-8794-8F8E116F096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9759" y="3640077"/>
            <a:ext cx="0" cy="914400"/>
          </a:xfrm>
          <a:prstGeom prst="line">
            <a:avLst/>
          </a:prstGeom>
          <a:ln>
            <a:headEnd type="diamond"/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38" name="Line 19">
            <a:extLst>
              <a:ext uri="{FF2B5EF4-FFF2-40B4-BE49-F238E27FC236}">
                <a16:creationId xmlns:a16="http://schemas.microsoft.com/office/drawing/2014/main" id="{E8A0484B-56BD-4978-9EB6-3E8FAC7B11FB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2840" y="4106008"/>
            <a:ext cx="0" cy="609600"/>
          </a:xfrm>
          <a:prstGeom prst="line">
            <a:avLst/>
          </a:prstGeom>
          <a:ln>
            <a:headEnd type="diamond"/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39" name="Line 21">
            <a:extLst>
              <a:ext uri="{FF2B5EF4-FFF2-40B4-BE49-F238E27FC236}">
                <a16:creationId xmlns:a16="http://schemas.microsoft.com/office/drawing/2014/main" id="{78984C38-7875-4473-8087-5EA1FF7C287C}"/>
              </a:ext>
            </a:extLst>
          </p:cNvPr>
          <p:cNvSpPr>
            <a:spLocks noChangeShapeType="1"/>
          </p:cNvSpPr>
          <p:nvPr/>
        </p:nvSpPr>
        <p:spPr bwMode="auto">
          <a:xfrm>
            <a:off x="7861484" y="3875821"/>
            <a:ext cx="0" cy="990600"/>
          </a:xfrm>
          <a:prstGeom prst="line">
            <a:avLst/>
          </a:prstGeom>
          <a:ln>
            <a:headEnd type="diamond"/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40" name="Line 22">
            <a:extLst>
              <a:ext uri="{FF2B5EF4-FFF2-40B4-BE49-F238E27FC236}">
                <a16:creationId xmlns:a16="http://schemas.microsoft.com/office/drawing/2014/main" id="{FD6E8F9F-A90C-4052-88FC-34F7BBF474C1}"/>
              </a:ext>
            </a:extLst>
          </p:cNvPr>
          <p:cNvSpPr>
            <a:spLocks noChangeShapeType="1"/>
          </p:cNvSpPr>
          <p:nvPr/>
        </p:nvSpPr>
        <p:spPr bwMode="auto">
          <a:xfrm>
            <a:off x="8471084" y="4166333"/>
            <a:ext cx="0" cy="838200"/>
          </a:xfrm>
          <a:prstGeom prst="line">
            <a:avLst/>
          </a:prstGeom>
          <a:ln>
            <a:headEnd type="diamond"/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41" name="Line 23">
            <a:extLst>
              <a:ext uri="{FF2B5EF4-FFF2-40B4-BE49-F238E27FC236}">
                <a16:creationId xmlns:a16="http://schemas.microsoft.com/office/drawing/2014/main" id="{502D5253-E5E3-448E-97AF-90A15205B4C1}"/>
              </a:ext>
            </a:extLst>
          </p:cNvPr>
          <p:cNvSpPr>
            <a:spLocks noChangeShapeType="1"/>
          </p:cNvSpPr>
          <p:nvPr/>
        </p:nvSpPr>
        <p:spPr bwMode="auto">
          <a:xfrm>
            <a:off x="9248959" y="4186788"/>
            <a:ext cx="0" cy="533400"/>
          </a:xfrm>
          <a:prstGeom prst="line">
            <a:avLst/>
          </a:prstGeom>
          <a:ln>
            <a:headEnd type="diamond"/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42" name="Line 24">
            <a:extLst>
              <a:ext uri="{FF2B5EF4-FFF2-40B4-BE49-F238E27FC236}">
                <a16:creationId xmlns:a16="http://schemas.microsoft.com/office/drawing/2014/main" id="{5B250964-0826-4928-AA5D-EDA936A2934E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1877" y="3766283"/>
            <a:ext cx="4114800" cy="1066800"/>
          </a:xfrm>
          <a:prstGeom prst="line">
            <a:avLst/>
          </a:prstGeom>
          <a:noFill/>
          <a:ln w="9525">
            <a:solidFill>
              <a:schemeClr val="accent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43" name="Line 25">
            <a:extLst>
              <a:ext uri="{FF2B5EF4-FFF2-40B4-BE49-F238E27FC236}">
                <a16:creationId xmlns:a16="http://schemas.microsoft.com/office/drawing/2014/main" id="{15F6868B-3BE1-4147-BA16-EDBB5360D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1877" y="3267808"/>
            <a:ext cx="4038600" cy="1905000"/>
          </a:xfrm>
          <a:prstGeom prst="line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44" name="Line 27">
            <a:extLst>
              <a:ext uri="{FF2B5EF4-FFF2-40B4-BE49-F238E27FC236}">
                <a16:creationId xmlns:a16="http://schemas.microsoft.com/office/drawing/2014/main" id="{6BECAD8C-AFCA-4181-B11D-489F40DF97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1877" y="4029808"/>
            <a:ext cx="4038600" cy="609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45" name="Text Box 29">
            <a:extLst>
              <a:ext uri="{FF2B5EF4-FFF2-40B4-BE49-F238E27FC236}">
                <a16:creationId xmlns:a16="http://schemas.microsoft.com/office/drawing/2014/main" id="{D501DB62-636D-4504-BB4C-377D3D2AA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1008" y="5249008"/>
            <a:ext cx="3209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ucida Grande"/>
                <a:ea typeface="+mn-ea"/>
                <a:cs typeface="+mn-cs"/>
              </a:rPr>
              <a:t>X</a:t>
            </a:r>
          </a:p>
        </p:txBody>
      </p:sp>
      <p:sp>
        <p:nvSpPr>
          <p:cNvPr id="46" name="Text Box 30">
            <a:extLst>
              <a:ext uri="{FF2B5EF4-FFF2-40B4-BE49-F238E27FC236}">
                <a16:creationId xmlns:a16="http://schemas.microsoft.com/office/drawing/2014/main" id="{3A0B756B-ECE6-496F-95D0-FA70D732C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5335" y="2979081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ucida Grande"/>
                <a:ea typeface="+mn-ea"/>
                <a:cs typeface="+mn-cs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4189850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20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4C589ADD-B4D9-4709-B8DC-0BF19E6456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4031" y="1033272"/>
            <a:ext cx="10005337" cy="782638"/>
          </a:xfrm>
        </p:spPr>
        <p:txBody>
          <a:bodyPr>
            <a:normAutofit/>
          </a:bodyPr>
          <a:lstStyle/>
          <a:p>
            <a:r>
              <a:rPr lang="en-US" altLang="en-US" dirty="0"/>
              <a:t>The Least Squares (Regression) Line</a:t>
            </a:r>
          </a:p>
        </p:txBody>
      </p:sp>
      <p:sp>
        <p:nvSpPr>
          <p:cNvPr id="70663" name="Text Box 7">
            <a:extLst>
              <a:ext uri="{FF2B5EF4-FFF2-40B4-BE49-F238E27FC236}">
                <a16:creationId xmlns:a16="http://schemas.microsoft.com/office/drawing/2014/main" id="{ADA6FF94-A1BF-4E68-B685-A2E63D15B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336" y="2531519"/>
            <a:ext cx="10148047" cy="1692771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endParaRPr lang="en-US" altLang="en-US" sz="2400" dirty="0"/>
          </a:p>
          <a:p>
            <a:pPr algn="l"/>
            <a:r>
              <a:rPr lang="en-US" altLang="en-US" sz="2400" dirty="0"/>
              <a:t>A good line is one that minimizes the sum of squared differences between the points and the line.</a:t>
            </a:r>
            <a:endParaRPr lang="en-US" altLang="en-US" sz="3200" dirty="0"/>
          </a:p>
          <a:p>
            <a:pPr algn="l"/>
            <a:endParaRPr lang="en-US" altLang="en-US" sz="3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Text Box 3">
            <a:extLst>
              <a:ext uri="{FF2B5EF4-FFF2-40B4-BE49-F238E27FC236}">
                <a16:creationId xmlns:a16="http://schemas.microsoft.com/office/drawing/2014/main" id="{AE3F5BE8-8696-43DA-AFFD-814CB9D20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0175" y="4987925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3</a:t>
            </a:r>
          </a:p>
        </p:txBody>
      </p:sp>
      <p:sp>
        <p:nvSpPr>
          <p:cNvPr id="71684" name="Text Box 4">
            <a:extLst>
              <a:ext uri="{FF2B5EF4-FFF2-40B4-BE49-F238E27FC236}">
                <a16:creationId xmlns:a16="http://schemas.microsoft.com/office/drawing/2014/main" id="{2C7DB27F-1663-410A-B05C-58A2C000C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28194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3</a:t>
            </a:r>
          </a:p>
        </p:txBody>
      </p:sp>
      <p:sp>
        <p:nvSpPr>
          <p:cNvPr id="71685" name="Line 5">
            <a:extLst>
              <a:ext uri="{FF2B5EF4-FFF2-40B4-BE49-F238E27FC236}">
                <a16:creationId xmlns:a16="http://schemas.microsoft.com/office/drawing/2014/main" id="{6B465A7D-9CED-4796-B04A-5EA17B283B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59050" y="3062288"/>
            <a:ext cx="2819400" cy="0"/>
          </a:xfrm>
          <a:prstGeom prst="line">
            <a:avLst/>
          </a:prstGeom>
          <a:noFill/>
          <a:ln w="317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86" name="Line 6">
            <a:extLst>
              <a:ext uri="{FF2B5EF4-FFF2-40B4-BE49-F238E27FC236}">
                <a16:creationId xmlns:a16="http://schemas.microsoft.com/office/drawing/2014/main" id="{A95F7F05-939D-45C9-AF3F-35C633ACB66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53050" y="3068638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88" name="Freeform 8">
            <a:extLst>
              <a:ext uri="{FF2B5EF4-FFF2-40B4-BE49-F238E27FC236}">
                <a16:creationId xmlns:a16="http://schemas.microsoft.com/office/drawing/2014/main" id="{2FD4A5DA-42D3-4B9F-8D07-3A25473C3B3B}"/>
              </a:ext>
            </a:extLst>
          </p:cNvPr>
          <p:cNvSpPr>
            <a:spLocks/>
          </p:cNvSpPr>
          <p:nvPr/>
        </p:nvSpPr>
        <p:spPr bwMode="auto">
          <a:xfrm>
            <a:off x="2559050" y="1676400"/>
            <a:ext cx="4724400" cy="3352800"/>
          </a:xfrm>
          <a:custGeom>
            <a:avLst/>
            <a:gdLst>
              <a:gd name="T0" fmla="*/ 0 w 3744"/>
              <a:gd name="T1" fmla="*/ 0 h 2112"/>
              <a:gd name="T2" fmla="*/ 0 w 3744"/>
              <a:gd name="T3" fmla="*/ 2112 h 2112"/>
              <a:gd name="T4" fmla="*/ 3744 w 3744"/>
              <a:gd name="T5" fmla="*/ 2112 h 2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44" h="2112">
                <a:moveTo>
                  <a:pt x="0" y="0"/>
                </a:moveTo>
                <a:lnTo>
                  <a:pt x="0" y="2112"/>
                </a:lnTo>
                <a:lnTo>
                  <a:pt x="3744" y="211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89" name="Text Box 9">
            <a:extLst>
              <a:ext uri="{FF2B5EF4-FFF2-40B4-BE49-F238E27FC236}">
                <a16:creationId xmlns:a16="http://schemas.microsoft.com/office/drawing/2014/main" id="{DD3BD78C-F0B3-4077-9307-D70868A0B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7538" y="3581401"/>
            <a:ext cx="3159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>
                <a:solidFill>
                  <a:srgbClr val="FF0066"/>
                </a:solidFill>
                <a:latin typeface="Wingdings" panose="05000000000000000000" pitchFamily="2" charset="2"/>
              </a:rPr>
              <a:t>w</a:t>
            </a:r>
          </a:p>
        </p:txBody>
      </p:sp>
      <p:sp>
        <p:nvSpPr>
          <p:cNvPr id="71690" name="Text Box 10">
            <a:extLst>
              <a:ext uri="{FF2B5EF4-FFF2-40B4-BE49-F238E27FC236}">
                <a16:creationId xmlns:a16="http://schemas.microsoft.com/office/drawing/2014/main" id="{CF0D4E02-ACEF-47E5-8293-A0D17176D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26" y="3844926"/>
            <a:ext cx="3159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>
                <a:solidFill>
                  <a:srgbClr val="FF0066"/>
                </a:solidFill>
                <a:latin typeface="Wingdings" panose="05000000000000000000" pitchFamily="2" charset="2"/>
              </a:rPr>
              <a:t>w</a:t>
            </a:r>
          </a:p>
        </p:txBody>
      </p:sp>
      <p:sp>
        <p:nvSpPr>
          <p:cNvPr id="71691" name="Text Box 11">
            <a:extLst>
              <a:ext uri="{FF2B5EF4-FFF2-40B4-BE49-F238E27FC236}">
                <a16:creationId xmlns:a16="http://schemas.microsoft.com/office/drawing/2014/main" id="{79FB92BF-0781-454C-9C37-D0C06C272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7976" y="2286001"/>
            <a:ext cx="3159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>
                <a:solidFill>
                  <a:srgbClr val="FF0066"/>
                </a:solidFill>
                <a:latin typeface="Wingdings" panose="05000000000000000000" pitchFamily="2" charset="2"/>
              </a:rPr>
              <a:t>w</a:t>
            </a:r>
          </a:p>
        </p:txBody>
      </p:sp>
      <p:sp>
        <p:nvSpPr>
          <p:cNvPr id="71692" name="Text Box 12">
            <a:extLst>
              <a:ext uri="{FF2B5EF4-FFF2-40B4-BE49-F238E27FC236}">
                <a16:creationId xmlns:a16="http://schemas.microsoft.com/office/drawing/2014/main" id="{84B36763-F529-400D-8921-4DF5AD1CC5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6651" y="2743201"/>
            <a:ext cx="3159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>
                <a:solidFill>
                  <a:srgbClr val="FF0066"/>
                </a:solidFill>
                <a:latin typeface="Wingdings" panose="05000000000000000000" pitchFamily="2" charset="2"/>
              </a:rPr>
              <a:t>w</a:t>
            </a:r>
          </a:p>
        </p:txBody>
      </p:sp>
      <p:sp>
        <p:nvSpPr>
          <p:cNvPr id="71693" name="Line 13">
            <a:extLst>
              <a:ext uri="{FF2B5EF4-FFF2-40B4-BE49-F238E27FC236}">
                <a16:creationId xmlns:a16="http://schemas.microsoft.com/office/drawing/2014/main" id="{C1E51FD3-6667-4624-AB22-F167314C0C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59050" y="2432050"/>
            <a:ext cx="3803650" cy="23685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94" name="Line 14">
            <a:extLst>
              <a:ext uri="{FF2B5EF4-FFF2-40B4-BE49-F238E27FC236}">
                <a16:creationId xmlns:a16="http://schemas.microsoft.com/office/drawing/2014/main" id="{DA2AB780-5D44-40BF-A505-53FF26171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21050" y="3733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95" name="Line 15">
            <a:extLst>
              <a:ext uri="{FF2B5EF4-FFF2-40B4-BE49-F238E27FC236}">
                <a16:creationId xmlns:a16="http://schemas.microsoft.com/office/drawing/2014/main" id="{62B3E9E0-B3D5-4D45-BC7B-2794CEA31E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70375" y="25146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96" name="Line 16">
            <a:extLst>
              <a:ext uri="{FF2B5EF4-FFF2-40B4-BE49-F238E27FC236}">
                <a16:creationId xmlns:a16="http://schemas.microsoft.com/office/drawing/2014/main" id="{ACCFCDF2-8C55-4AFC-A3F6-D4952A3B4B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3814" y="2419350"/>
            <a:ext cx="14287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97" name="Text Box 17">
            <a:extLst>
              <a:ext uri="{FF2B5EF4-FFF2-40B4-BE49-F238E27FC236}">
                <a16:creationId xmlns:a16="http://schemas.microsoft.com/office/drawing/2014/main" id="{5793D703-8336-4567-856D-1AA78E651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6650" y="4987925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4</a:t>
            </a:r>
          </a:p>
        </p:txBody>
      </p:sp>
      <p:grpSp>
        <p:nvGrpSpPr>
          <p:cNvPr id="71698" name="Group 18">
            <a:extLst>
              <a:ext uri="{FF2B5EF4-FFF2-40B4-BE49-F238E27FC236}">
                <a16:creationId xmlns:a16="http://schemas.microsoft.com/office/drawing/2014/main" id="{49F3CFF1-F4FF-450F-86B1-C118B174A642}"/>
              </a:ext>
            </a:extLst>
          </p:cNvPr>
          <p:cNvGrpSpPr>
            <a:grpSpLocks/>
          </p:cNvGrpSpPr>
          <p:nvPr/>
        </p:nvGrpSpPr>
        <p:grpSpPr bwMode="auto">
          <a:xfrm>
            <a:off x="2314576" y="4073525"/>
            <a:ext cx="1163638" cy="1284288"/>
            <a:chOff x="854" y="3382"/>
            <a:chExt cx="733" cy="809"/>
          </a:xfrm>
        </p:grpSpPr>
        <p:sp>
          <p:nvSpPr>
            <p:cNvPr id="71699" name="Text Box 19">
              <a:extLst>
                <a:ext uri="{FF2B5EF4-FFF2-40B4-BE49-F238E27FC236}">
                  <a16:creationId xmlns:a16="http://schemas.microsoft.com/office/drawing/2014/main" id="{F25A7949-E29A-48FA-B062-D3ABE42862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3958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1</a:t>
              </a:r>
            </a:p>
          </p:txBody>
        </p:sp>
        <p:sp>
          <p:nvSpPr>
            <p:cNvPr id="71700" name="Text Box 20">
              <a:extLst>
                <a:ext uri="{FF2B5EF4-FFF2-40B4-BE49-F238E27FC236}">
                  <a16:creationId xmlns:a16="http://schemas.microsoft.com/office/drawing/2014/main" id="{C90D00E5-9F6F-4D16-9B21-1BFB51FEDE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4" y="338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/>
                <a:t>1</a:t>
              </a:r>
            </a:p>
          </p:txBody>
        </p:sp>
      </p:grpSp>
      <p:sp>
        <p:nvSpPr>
          <p:cNvPr id="71701" name="Text Box 21">
            <a:extLst>
              <a:ext uri="{FF2B5EF4-FFF2-40B4-BE49-F238E27FC236}">
                <a16:creationId xmlns:a16="http://schemas.microsoft.com/office/drawing/2014/main" id="{E57DF1D1-D6B5-41BC-A125-E26EDBAE9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4575" y="2092325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4</a:t>
            </a:r>
          </a:p>
        </p:txBody>
      </p:sp>
      <p:sp>
        <p:nvSpPr>
          <p:cNvPr id="71702" name="Text Box 22">
            <a:extLst>
              <a:ext uri="{FF2B5EF4-FFF2-40B4-BE49-F238E27FC236}">
                <a16:creationId xmlns:a16="http://schemas.microsoft.com/office/drawing/2014/main" id="{5CBDA142-AE84-4370-BB3B-51C7FE49D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1138" y="3657600"/>
            <a:ext cx="6222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(1,2)</a:t>
            </a:r>
          </a:p>
        </p:txBody>
      </p:sp>
      <p:sp>
        <p:nvSpPr>
          <p:cNvPr id="71703" name="Line 23">
            <a:extLst>
              <a:ext uri="{FF2B5EF4-FFF2-40B4-BE49-F238E27FC236}">
                <a16:creationId xmlns:a16="http://schemas.microsoft.com/office/drawing/2014/main" id="{8F946483-8FFE-442B-AB40-8BF3A0C473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59050" y="4343400"/>
            <a:ext cx="762000" cy="0"/>
          </a:xfrm>
          <a:prstGeom prst="line">
            <a:avLst/>
          </a:prstGeom>
          <a:noFill/>
          <a:ln w="317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04" name="Text Box 24">
            <a:extLst>
              <a:ext uri="{FF2B5EF4-FFF2-40B4-BE49-F238E27FC236}">
                <a16:creationId xmlns:a16="http://schemas.microsoft.com/office/drawing/2014/main" id="{1BA033F0-8EFE-4960-91D9-00EBD2EA9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9563" y="4987925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2</a:t>
            </a:r>
          </a:p>
        </p:txBody>
      </p:sp>
      <p:sp>
        <p:nvSpPr>
          <p:cNvPr id="71705" name="Text Box 25">
            <a:extLst>
              <a:ext uri="{FF2B5EF4-FFF2-40B4-BE49-F238E27FC236}">
                <a16:creationId xmlns:a16="http://schemas.microsoft.com/office/drawing/2014/main" id="{9FE8C34C-2634-42A8-9E65-46D8A3673A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813" y="3463925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2</a:t>
            </a:r>
          </a:p>
        </p:txBody>
      </p:sp>
      <p:sp>
        <p:nvSpPr>
          <p:cNvPr id="71706" name="Line 26">
            <a:extLst>
              <a:ext uri="{FF2B5EF4-FFF2-40B4-BE49-F238E27FC236}">
                <a16:creationId xmlns:a16="http://schemas.microsoft.com/office/drawing/2014/main" id="{6B6EBD6F-7EE9-402E-8C7E-BE81028083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9526" y="3733800"/>
            <a:ext cx="1719263" cy="0"/>
          </a:xfrm>
          <a:prstGeom prst="line">
            <a:avLst/>
          </a:prstGeom>
          <a:noFill/>
          <a:ln w="317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07" name="Text Box 27">
            <a:extLst>
              <a:ext uri="{FF2B5EF4-FFF2-40B4-BE49-F238E27FC236}">
                <a16:creationId xmlns:a16="http://schemas.microsoft.com/office/drawing/2014/main" id="{6E8052D4-AE43-45F3-9EE2-736FA4710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3050" y="2057400"/>
            <a:ext cx="6222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(2,4)</a:t>
            </a:r>
          </a:p>
        </p:txBody>
      </p:sp>
      <p:sp>
        <p:nvSpPr>
          <p:cNvPr id="71708" name="Text Box 28">
            <a:extLst>
              <a:ext uri="{FF2B5EF4-FFF2-40B4-BE49-F238E27FC236}">
                <a16:creationId xmlns:a16="http://schemas.microsoft.com/office/drawing/2014/main" id="{0389B1A1-6301-4405-ADA6-B08E1FD23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2576" y="3733800"/>
            <a:ext cx="7970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(3,1.5)</a:t>
            </a:r>
          </a:p>
        </p:txBody>
      </p:sp>
      <p:sp>
        <p:nvSpPr>
          <p:cNvPr id="71709" name="Line 29">
            <a:extLst>
              <a:ext uri="{FF2B5EF4-FFF2-40B4-BE49-F238E27FC236}">
                <a16:creationId xmlns:a16="http://schemas.microsoft.com/office/drawing/2014/main" id="{90A6CE0C-C2E6-4F80-ABB4-9B35AB4CA7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59050" y="2438400"/>
            <a:ext cx="3810000" cy="0"/>
          </a:xfrm>
          <a:prstGeom prst="line">
            <a:avLst/>
          </a:prstGeom>
          <a:noFill/>
          <a:ln w="317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10" name="Text Box 30">
            <a:extLst>
              <a:ext uri="{FF2B5EF4-FFF2-40B4-BE49-F238E27FC236}">
                <a16:creationId xmlns:a16="http://schemas.microsoft.com/office/drawing/2014/main" id="{F073D92A-2C9F-457E-8B93-F9D437DD2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497" y="272441"/>
            <a:ext cx="337739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b="1" dirty="0"/>
              <a:t>Sum of squared differences =</a:t>
            </a:r>
          </a:p>
        </p:txBody>
      </p:sp>
      <p:sp>
        <p:nvSpPr>
          <p:cNvPr id="71711" name="Text Box 31">
            <a:extLst>
              <a:ext uri="{FF2B5EF4-FFF2-40B4-BE49-F238E27FC236}">
                <a16:creationId xmlns:a16="http://schemas.microsoft.com/office/drawing/2014/main" id="{C887CD9A-5A39-4FD1-BBF7-C6A955A223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9370" y="267803"/>
            <a:ext cx="115768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b="1" dirty="0"/>
              <a:t>(2 - 1)</a:t>
            </a:r>
            <a:r>
              <a:rPr lang="en-US" altLang="en-US" b="1" baseline="30000" dirty="0"/>
              <a:t>2</a:t>
            </a:r>
            <a:r>
              <a:rPr lang="en-US" altLang="en-US" b="1" dirty="0"/>
              <a:t> +</a:t>
            </a:r>
          </a:p>
        </p:txBody>
      </p:sp>
      <p:sp>
        <p:nvSpPr>
          <p:cNvPr id="71712" name="Text Box 32">
            <a:extLst>
              <a:ext uri="{FF2B5EF4-FFF2-40B4-BE49-F238E27FC236}">
                <a16:creationId xmlns:a16="http://schemas.microsoft.com/office/drawing/2014/main" id="{2D0A78F3-D5D4-4CF7-91C9-C8039D3B3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2551" y="278885"/>
            <a:ext cx="11352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b="1" dirty="0"/>
              <a:t>(4 - 2)</a:t>
            </a:r>
            <a:r>
              <a:rPr lang="en-US" altLang="en-US" b="1" baseline="30000" dirty="0"/>
              <a:t>2 </a:t>
            </a:r>
            <a:r>
              <a:rPr lang="en-US" altLang="en-US" b="1" dirty="0"/>
              <a:t>+</a:t>
            </a:r>
          </a:p>
        </p:txBody>
      </p:sp>
      <p:sp>
        <p:nvSpPr>
          <p:cNvPr id="71713" name="Text Box 33">
            <a:extLst>
              <a:ext uri="{FF2B5EF4-FFF2-40B4-BE49-F238E27FC236}">
                <a16:creationId xmlns:a16="http://schemas.microsoft.com/office/drawing/2014/main" id="{1EC4287E-28C8-4A2F-AA5C-379B6A72A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3372" y="289441"/>
            <a:ext cx="13532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b="1" dirty="0"/>
              <a:t>(1.5 - 3)</a:t>
            </a:r>
            <a:r>
              <a:rPr lang="en-US" altLang="en-US" b="1" baseline="30000" dirty="0"/>
              <a:t>2</a:t>
            </a:r>
            <a:r>
              <a:rPr lang="en-US" altLang="en-US" b="1" dirty="0"/>
              <a:t> +</a:t>
            </a:r>
          </a:p>
        </p:txBody>
      </p:sp>
      <p:sp>
        <p:nvSpPr>
          <p:cNvPr id="71714" name="Text Box 34">
            <a:extLst>
              <a:ext uri="{FF2B5EF4-FFF2-40B4-BE49-F238E27FC236}">
                <a16:creationId xmlns:a16="http://schemas.microsoft.com/office/drawing/2014/main" id="{98E65E80-1FEA-4CC9-A103-B4C720145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76" y="2701925"/>
            <a:ext cx="7970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(4,3.2)</a:t>
            </a:r>
          </a:p>
        </p:txBody>
      </p:sp>
      <p:sp>
        <p:nvSpPr>
          <p:cNvPr id="71715" name="Text Box 35">
            <a:extLst>
              <a:ext uri="{FF2B5EF4-FFF2-40B4-BE49-F238E27FC236}">
                <a16:creationId xmlns:a16="http://schemas.microsoft.com/office/drawing/2014/main" id="{6261E51C-3F0B-4C34-AD8E-407158E52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4942" y="312443"/>
            <a:ext cx="187904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b="1" dirty="0"/>
              <a:t>(3.2 - 4)</a:t>
            </a:r>
            <a:r>
              <a:rPr lang="en-US" altLang="en-US" b="1" baseline="30000" dirty="0"/>
              <a:t>2</a:t>
            </a:r>
            <a:r>
              <a:rPr lang="en-US" altLang="en-US" b="1" dirty="0"/>
              <a:t> = 6.89</a:t>
            </a:r>
          </a:p>
        </p:txBody>
      </p:sp>
      <p:sp>
        <p:nvSpPr>
          <p:cNvPr id="71716" name="Line 36">
            <a:extLst>
              <a:ext uri="{FF2B5EF4-FFF2-40B4-BE49-F238E27FC236}">
                <a16:creationId xmlns:a16="http://schemas.microsoft.com/office/drawing/2014/main" id="{3B615F14-F081-492A-B526-EA368D0292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9050" y="3394075"/>
            <a:ext cx="3810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1717" name="Group 37">
            <a:extLst>
              <a:ext uri="{FF2B5EF4-FFF2-40B4-BE49-F238E27FC236}">
                <a16:creationId xmlns:a16="http://schemas.microsoft.com/office/drawing/2014/main" id="{878DDCE7-9D00-4708-B51E-0BF8C5E45D6F}"/>
              </a:ext>
            </a:extLst>
          </p:cNvPr>
          <p:cNvGrpSpPr>
            <a:grpSpLocks/>
          </p:cNvGrpSpPr>
          <p:nvPr/>
        </p:nvGrpSpPr>
        <p:grpSpPr bwMode="auto">
          <a:xfrm>
            <a:off x="3302000" y="2514601"/>
            <a:ext cx="3048000" cy="1489075"/>
            <a:chOff x="1488" y="2400"/>
            <a:chExt cx="1920" cy="938"/>
          </a:xfrm>
        </p:grpSpPr>
        <p:sp>
          <p:nvSpPr>
            <p:cNvPr id="71718" name="Line 38">
              <a:extLst>
                <a:ext uri="{FF2B5EF4-FFF2-40B4-BE49-F238E27FC236}">
                  <a16:creationId xmlns:a16="http://schemas.microsoft.com/office/drawing/2014/main" id="{275C9686-5CA0-49DB-87A8-F1AFFF2DED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950"/>
              <a:ext cx="0" cy="24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19" name="Line 39">
              <a:extLst>
                <a:ext uri="{FF2B5EF4-FFF2-40B4-BE49-F238E27FC236}">
                  <a16:creationId xmlns:a16="http://schemas.microsoft.com/office/drawing/2014/main" id="{89F327EC-0F3A-4C24-B6A7-E88F717E3E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50" y="2400"/>
              <a:ext cx="0" cy="554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20" name="Line 40">
              <a:extLst>
                <a:ext uri="{FF2B5EF4-FFF2-40B4-BE49-F238E27FC236}">
                  <a16:creationId xmlns:a16="http://schemas.microsoft.com/office/drawing/2014/main" id="{C9C299CB-06A4-4008-A84A-14B767916B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8" y="2666"/>
              <a:ext cx="0" cy="28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21" name="Line 41">
              <a:extLst>
                <a:ext uri="{FF2B5EF4-FFF2-40B4-BE49-F238E27FC236}">
                  <a16:creationId xmlns:a16="http://schemas.microsoft.com/office/drawing/2014/main" id="{1905D5FB-C3A3-436D-96E4-3AD64D88D6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2" y="2954"/>
              <a:ext cx="0" cy="384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1722" name="Group 42">
            <a:extLst>
              <a:ext uri="{FF2B5EF4-FFF2-40B4-BE49-F238E27FC236}">
                <a16:creationId xmlns:a16="http://schemas.microsoft.com/office/drawing/2014/main" id="{AAC393B5-3731-4E95-923A-D396904CB94C}"/>
              </a:ext>
            </a:extLst>
          </p:cNvPr>
          <p:cNvGrpSpPr>
            <a:grpSpLocks/>
          </p:cNvGrpSpPr>
          <p:nvPr/>
        </p:nvGrpSpPr>
        <p:grpSpPr bwMode="auto">
          <a:xfrm>
            <a:off x="296497" y="586606"/>
            <a:ext cx="9452647" cy="528705"/>
            <a:chOff x="1056" y="1785"/>
            <a:chExt cx="4831" cy="233"/>
          </a:xfrm>
        </p:grpSpPr>
        <p:sp>
          <p:nvSpPr>
            <p:cNvPr id="71723" name="Text Box 43">
              <a:extLst>
                <a:ext uri="{FF2B5EF4-FFF2-40B4-BE49-F238E27FC236}">
                  <a16:creationId xmlns:a16="http://schemas.microsoft.com/office/drawing/2014/main" id="{509B03FE-47B0-402A-B0E4-DDDF94076D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785"/>
              <a:ext cx="21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b="1">
                  <a:solidFill>
                    <a:schemeClr val="accent2"/>
                  </a:solidFill>
                </a:rPr>
                <a:t>Sum of squared differences =</a:t>
              </a:r>
            </a:p>
          </p:txBody>
        </p:sp>
        <p:sp>
          <p:nvSpPr>
            <p:cNvPr id="71724" name="Text Box 44">
              <a:extLst>
                <a:ext uri="{FF2B5EF4-FFF2-40B4-BE49-F238E27FC236}">
                  <a16:creationId xmlns:a16="http://schemas.microsoft.com/office/drawing/2014/main" id="{736B1C5C-7AD1-41B8-9F57-FE36859A1D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6" y="1785"/>
              <a:ext cx="81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b="1">
                  <a:solidFill>
                    <a:schemeClr val="accent2"/>
                  </a:solidFill>
                </a:rPr>
                <a:t>(2 -2.5)</a:t>
              </a:r>
              <a:r>
                <a:rPr lang="en-US" altLang="en-US" b="1" baseline="30000">
                  <a:solidFill>
                    <a:schemeClr val="accent2"/>
                  </a:solidFill>
                </a:rPr>
                <a:t>2</a:t>
              </a:r>
              <a:r>
                <a:rPr lang="en-US" altLang="en-US" b="1">
                  <a:solidFill>
                    <a:schemeClr val="accent2"/>
                  </a:solidFill>
                </a:rPr>
                <a:t> +</a:t>
              </a:r>
            </a:p>
          </p:txBody>
        </p:sp>
        <p:sp>
          <p:nvSpPr>
            <p:cNvPr id="71725" name="Text Box 45">
              <a:extLst>
                <a:ext uri="{FF2B5EF4-FFF2-40B4-BE49-F238E27FC236}">
                  <a16:creationId xmlns:a16="http://schemas.microsoft.com/office/drawing/2014/main" id="{68F85103-838C-403D-8AB8-1E9A63BADD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9" y="1785"/>
              <a:ext cx="83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b="1">
                  <a:solidFill>
                    <a:schemeClr val="accent2"/>
                  </a:solidFill>
                </a:rPr>
                <a:t>(4 - 2.5)</a:t>
              </a:r>
              <a:r>
                <a:rPr lang="en-US" altLang="en-US" b="1" baseline="30000">
                  <a:solidFill>
                    <a:schemeClr val="accent2"/>
                  </a:solidFill>
                </a:rPr>
                <a:t>2 </a:t>
              </a:r>
              <a:r>
                <a:rPr lang="en-US" altLang="en-US" b="1">
                  <a:solidFill>
                    <a:schemeClr val="accent2"/>
                  </a:solidFill>
                </a:rPr>
                <a:t>+</a:t>
              </a:r>
            </a:p>
          </p:txBody>
        </p:sp>
        <p:sp>
          <p:nvSpPr>
            <p:cNvPr id="71726" name="Text Box 46">
              <a:extLst>
                <a:ext uri="{FF2B5EF4-FFF2-40B4-BE49-F238E27FC236}">
                  <a16:creationId xmlns:a16="http://schemas.microsoft.com/office/drawing/2014/main" id="{2451F8C6-E5CB-4507-93CB-2143A37512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785"/>
              <a:ext cx="97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b="1">
                  <a:solidFill>
                    <a:schemeClr val="accent2"/>
                  </a:solidFill>
                </a:rPr>
                <a:t>(1.5 - 2.5)</a:t>
              </a:r>
              <a:r>
                <a:rPr lang="en-US" altLang="en-US" b="1" baseline="30000">
                  <a:solidFill>
                    <a:schemeClr val="accent2"/>
                  </a:solidFill>
                </a:rPr>
                <a:t>2</a:t>
              </a:r>
              <a:r>
                <a:rPr lang="en-US" altLang="en-US" b="1">
                  <a:solidFill>
                    <a:schemeClr val="accent2"/>
                  </a:solidFill>
                </a:rPr>
                <a:t> +</a:t>
              </a:r>
            </a:p>
          </p:txBody>
        </p:sp>
        <p:sp>
          <p:nvSpPr>
            <p:cNvPr id="71727" name="Text Box 47">
              <a:extLst>
                <a:ext uri="{FF2B5EF4-FFF2-40B4-BE49-F238E27FC236}">
                  <a16:creationId xmlns:a16="http://schemas.microsoft.com/office/drawing/2014/main" id="{133E20B9-C6D2-48D2-989F-5735A4F5F8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0" y="1785"/>
              <a:ext cx="130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b="1">
                  <a:solidFill>
                    <a:schemeClr val="accent2"/>
                  </a:solidFill>
                </a:rPr>
                <a:t>(3.2 - 2.5)</a:t>
              </a:r>
              <a:r>
                <a:rPr lang="en-US" altLang="en-US" b="1" baseline="30000">
                  <a:solidFill>
                    <a:schemeClr val="accent2"/>
                  </a:solidFill>
                </a:rPr>
                <a:t>2</a:t>
              </a:r>
              <a:r>
                <a:rPr lang="en-US" altLang="en-US" b="1">
                  <a:solidFill>
                    <a:schemeClr val="accent2"/>
                  </a:solidFill>
                </a:rPr>
                <a:t> = 3.99</a:t>
              </a:r>
            </a:p>
          </p:txBody>
        </p:sp>
      </p:grpSp>
      <p:sp>
        <p:nvSpPr>
          <p:cNvPr id="71728" name="Text Box 48">
            <a:extLst>
              <a:ext uri="{FF2B5EF4-FFF2-40B4-BE49-F238E27FC236}">
                <a16:creationId xmlns:a16="http://schemas.microsoft.com/office/drawing/2014/main" id="{C4F8ACBC-70B3-4546-9F15-08F1BB677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2175" y="3159125"/>
            <a:ext cx="4844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2.5</a:t>
            </a:r>
          </a:p>
        </p:txBody>
      </p:sp>
      <p:sp>
        <p:nvSpPr>
          <p:cNvPr id="71731" name="Text Box 51">
            <a:extLst>
              <a:ext uri="{FF2B5EF4-FFF2-40B4-BE49-F238E27FC236}">
                <a16:creationId xmlns:a16="http://schemas.microsoft.com/office/drawing/2014/main" id="{8D8A57A3-3A06-492A-8143-799DC7FBC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6281" y="2936876"/>
            <a:ext cx="3374642" cy="1569660"/>
          </a:xfrm>
          <a:prstGeom prst="rect">
            <a:avLst/>
          </a:prstGeom>
          <a:solidFill>
            <a:srgbClr val="D1D1D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400" dirty="0"/>
              <a:t>The smaller the sum of </a:t>
            </a:r>
          </a:p>
          <a:p>
            <a:pPr algn="l"/>
            <a:r>
              <a:rPr lang="en-US" altLang="en-US" sz="2400" dirty="0"/>
              <a:t>squared differences</a:t>
            </a:r>
          </a:p>
          <a:p>
            <a:pPr algn="l"/>
            <a:r>
              <a:rPr lang="en-US" altLang="en-US" sz="2400" dirty="0"/>
              <a:t>the better the fit of the </a:t>
            </a:r>
          </a:p>
          <a:p>
            <a:pPr algn="l"/>
            <a:r>
              <a:rPr lang="en-US" altLang="en-US" sz="2400" dirty="0"/>
              <a:t>line to the data.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1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1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71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1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71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7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71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71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1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17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17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71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0" grpId="0" autoUpdateAnimBg="0"/>
      <p:bldP spid="71711" grpId="0" autoUpdateAnimBg="0"/>
      <p:bldP spid="71712" grpId="0" autoUpdateAnimBg="0"/>
      <p:bldP spid="71713" grpId="0" autoUpdateAnimBg="0"/>
      <p:bldP spid="71715" grpId="0" autoUpdateAnimBg="0"/>
      <p:bldP spid="71731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707BE0-129E-8709-64CB-2D6E37212E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F097E9-54E9-D42E-9D26-E6F0B491F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statement of the model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053633-8E83-65B1-255F-08EF8AAE3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 rtl="0" eaLnBrk="1" hangingPunct="1">
              <a:lnSpc>
                <a:spcPct val="90000"/>
              </a:lnSpc>
            </a:pPr>
            <a:r>
              <a:rPr lang="en-US" altLang="ar-SA" sz="2000" dirty="0">
                <a:latin typeface="Arial" panose="020B0604020202020204" pitchFamily="34" charset="0"/>
                <a:cs typeface="Arial" panose="020B0604020202020204" pitchFamily="34" charset="0"/>
              </a:rPr>
              <a:t>If the scatter plot of our sample data suggests a linear relationship between two variables i.e. we can summarize the relationship by drawing a straight line on the plot.</a:t>
            </a:r>
          </a:p>
          <a:p>
            <a:pPr algn="l" rtl="0" eaLnBrk="1" hangingPunct="1">
              <a:lnSpc>
                <a:spcPct val="90000"/>
              </a:lnSpc>
            </a:pPr>
            <a:endParaRPr lang="en-US" altLang="ar-SA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The values of the regression </a:t>
            </a:r>
            <a:r>
              <a:rPr kumimoji="0" lang="en-US" altLang="en-US" sz="20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parameters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 </a:t>
            </a: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</a:t>
            </a:r>
            <a:r>
              <a:rPr kumimoji="0" lang="en-US" altLang="en-US" sz="2000" b="0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0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, and </a:t>
            </a: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</a:t>
            </a:r>
            <a:r>
              <a:rPr kumimoji="0" lang="en-US" altLang="en-US" sz="2000" b="0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1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are not known. We estimate them from data. </a:t>
            </a:r>
          </a:p>
          <a:p>
            <a: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</a:t>
            </a:r>
            <a:r>
              <a:rPr kumimoji="0" lang="en-US" altLang="en-US" sz="2000" b="0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0 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indicates the intercept of Y</a:t>
            </a:r>
          </a:p>
          <a:p>
            <a: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</a:t>
            </a:r>
            <a:r>
              <a:rPr kumimoji="0" lang="en-US" altLang="en-US" sz="2000" b="0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 indicates the change in the mean response in </a:t>
            </a: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Y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 </a:t>
            </a:r>
            <a:r>
              <a:rPr kumimoji="0" lang="en-US" altLang="en-US" sz="20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per unit increase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in X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is a known independent variable</a:t>
            </a:r>
          </a:p>
          <a:p>
            <a:pPr marL="457200" marR="0" lvl="0" indent="-4572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Deviations </a:t>
            </a: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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 are independent N(o, </a:t>
            </a:r>
            <a:r>
              <a:rPr kumimoji="0" lang="en-US" altLang="en-US" sz="2000" b="0" i="0" u="none" strike="noStrike" kern="1200" cap="none" spc="0" normalizeH="0" baseline="30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2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itchFamily="18" charset="2"/>
              </a:rPr>
              <a:t>) </a:t>
            </a:r>
          </a:p>
          <a:p>
            <a:pPr algn="l" rtl="0" eaLnBrk="1" hangingPunct="1">
              <a:lnSpc>
                <a:spcPct val="90000"/>
              </a:lnSpc>
            </a:pPr>
            <a:r>
              <a:rPr lang="en-US" altLang="ar-SA" sz="2000" b="1" dirty="0">
                <a:latin typeface="Arial" panose="020B0604020202020204" pitchFamily="34" charset="0"/>
                <a:cs typeface="Arial" panose="020B0604020202020204" pitchFamily="34" charset="0"/>
              </a:rPr>
              <a:t>Least squares </a:t>
            </a:r>
            <a:r>
              <a:rPr lang="en-US" altLang="ar-SA" sz="2000" dirty="0">
                <a:latin typeface="Arial" panose="020B0604020202020204" pitchFamily="34" charset="0"/>
                <a:cs typeface="Arial" panose="020B0604020202020204" pitchFamily="34" charset="0"/>
              </a:rPr>
              <a:t>method give us the “best” estimated line for our set of sample data.</a:t>
            </a:r>
          </a:p>
          <a:p>
            <a:pPr marL="457200" indent="-457200"/>
            <a:endParaRPr lang="en-US" altLang="en-US" sz="2000" dirty="0">
              <a:latin typeface="Times New Roman" pitchFamily="18" charset="0"/>
            </a:endParaRPr>
          </a:p>
          <a:p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162F4CF-7D9D-7A25-3541-6622780921C8}"/>
                  </a:ext>
                </a:extLst>
              </p:cNvPr>
              <p:cNvSpPr txBox="1"/>
              <p:nvPr/>
            </p:nvSpPr>
            <p:spPr>
              <a:xfrm>
                <a:off x="1162684" y="2469167"/>
                <a:ext cx="253056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i="1" dirty="0">
                    <a:solidFill>
                      <a:schemeClr val="tx1"/>
                    </a:solidFill>
                  </a:rPr>
                  <a:t>X</a:t>
                </a:r>
                <a:r>
                  <a:rPr lang="en-US" sz="2800" dirty="0">
                    <a:solidFill>
                      <a:schemeClr val="tx1"/>
                    </a:solidFill>
                  </a:rPr>
                  <a:t>+</a:t>
                </a:r>
                <a:r>
                  <a:rPr lang="el-GR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ε</a:t>
                </a:r>
                <a:endParaRPr lang="en-US" sz="2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162F4CF-7D9D-7A25-3541-662278092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684" y="2469167"/>
                <a:ext cx="2530565" cy="430887"/>
              </a:xfrm>
              <a:prstGeom prst="rect">
                <a:avLst/>
              </a:prstGeom>
              <a:blipFill>
                <a:blip r:embed="rId2"/>
                <a:stretch>
                  <a:fillRect t="-28169" r="-4337" b="-49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4287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17416DCA-FDDC-4FEB-B8E9-130E606DBE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1663" y="752049"/>
            <a:ext cx="8959053" cy="782638"/>
          </a:xfrm>
        </p:spPr>
        <p:txBody>
          <a:bodyPr>
            <a:normAutofit/>
          </a:bodyPr>
          <a:lstStyle/>
          <a:p>
            <a:r>
              <a:rPr lang="en-US" altLang="en-US" dirty="0"/>
              <a:t>The Estimated Coefficients</a:t>
            </a:r>
          </a:p>
        </p:txBody>
      </p:sp>
      <p:sp>
        <p:nvSpPr>
          <p:cNvPr id="72708" name="Rectangle 4">
            <a:extLst>
              <a:ext uri="{FF2B5EF4-FFF2-40B4-BE49-F238E27FC236}">
                <a16:creationId xmlns:a16="http://schemas.microsoft.com/office/drawing/2014/main" id="{5F1153E3-5E85-4A38-BDDE-250717825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438400"/>
            <a:ext cx="4267200" cy="3352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709" name="Rectangle 5">
            <a:extLst>
              <a:ext uri="{FF2B5EF4-FFF2-40B4-BE49-F238E27FC236}">
                <a16:creationId xmlns:a16="http://schemas.microsoft.com/office/drawing/2014/main" id="{C8CE86E1-C482-4AFD-9621-8EB074868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438400"/>
            <a:ext cx="4191000" cy="3352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710" name="Text Box 6">
            <a:extLst>
              <a:ext uri="{FF2B5EF4-FFF2-40B4-BE49-F238E27FC236}">
                <a16:creationId xmlns:a16="http://schemas.microsoft.com/office/drawing/2014/main" id="{601EBCC7-2D23-4942-A93A-1DA2B34B8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671460"/>
            <a:ext cx="4114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en-US" dirty="0"/>
              <a:t>To calculate the estimates of the line coefficients, that minimize the differences between the data points and the line, use the formulas: </a:t>
            </a:r>
          </a:p>
        </p:txBody>
      </p:sp>
      <p:graphicFrame>
        <p:nvGraphicFramePr>
          <p:cNvPr id="72711" name="Object 7">
            <a:extLst>
              <a:ext uri="{FF2B5EF4-FFF2-40B4-BE49-F238E27FC236}">
                <a16:creationId xmlns:a16="http://schemas.microsoft.com/office/drawing/2014/main" id="{700B10F5-ADB4-4BE6-BC07-CF37DFA725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33650" y="4057650"/>
          <a:ext cx="323850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84300" imgH="698500" progId="Equation.3">
                  <p:embed/>
                </p:oleObj>
              </mc:Choice>
              <mc:Fallback>
                <p:oleObj name="Equation" r:id="rId2" imgW="1384300" imgH="698500" progId="Equation.3">
                  <p:embed/>
                  <p:pic>
                    <p:nvPicPr>
                      <p:cNvPr id="72711" name="Object 7">
                        <a:extLst>
                          <a:ext uri="{FF2B5EF4-FFF2-40B4-BE49-F238E27FC236}">
                            <a16:creationId xmlns:a16="http://schemas.microsoft.com/office/drawing/2014/main" id="{700B10F5-ADB4-4BE6-BC07-CF37DFA725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3650" y="4057650"/>
                        <a:ext cx="3238500" cy="1562100"/>
                      </a:xfrm>
                      <a:prstGeom prst="rect">
                        <a:avLst/>
                      </a:prstGeom>
                      <a:solidFill>
                        <a:srgbClr val="FF9900"/>
                      </a:solidFill>
                      <a:ln w="9525">
                        <a:solidFill>
                          <a:srgbClr val="2C2CB0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18900000" algn="ctr" rotWithShape="0">
                          <a:schemeClr val="tx1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2" name="Text Box 8">
            <a:extLst>
              <a:ext uri="{FF2B5EF4-FFF2-40B4-BE49-F238E27FC236}">
                <a16:creationId xmlns:a16="http://schemas.microsoft.com/office/drawing/2014/main" id="{795B5FF8-2BED-4E95-B4B6-47D4767CE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1" y="2647951"/>
            <a:ext cx="380999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en-US" dirty="0"/>
              <a:t>The regression equation that estimates the equation of the first order linear model is: </a:t>
            </a:r>
          </a:p>
        </p:txBody>
      </p:sp>
      <p:graphicFrame>
        <p:nvGraphicFramePr>
          <p:cNvPr id="72713" name="Object 9">
            <a:extLst>
              <a:ext uri="{FF2B5EF4-FFF2-40B4-BE49-F238E27FC236}">
                <a16:creationId xmlns:a16="http://schemas.microsoft.com/office/drawing/2014/main" id="{5DFBBA8F-1CE5-4AB9-9370-7BADED5CEB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56463" y="4227514"/>
          <a:ext cx="226695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62000" imgH="215900" progId="Equation.3">
                  <p:embed/>
                </p:oleObj>
              </mc:Choice>
              <mc:Fallback>
                <p:oleObj name="Equation" r:id="rId4" imgW="762000" imgH="215900" progId="Equation.3">
                  <p:embed/>
                  <p:pic>
                    <p:nvPicPr>
                      <p:cNvPr id="72713" name="Object 9">
                        <a:extLst>
                          <a:ext uri="{FF2B5EF4-FFF2-40B4-BE49-F238E27FC236}">
                            <a16:creationId xmlns:a16="http://schemas.microsoft.com/office/drawing/2014/main" id="{5DFBBA8F-1CE5-4AB9-9370-7BADED5CEB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6463" y="4227514"/>
                        <a:ext cx="2266950" cy="642937"/>
                      </a:xfrm>
                      <a:prstGeom prst="rect">
                        <a:avLst/>
                      </a:prstGeom>
                      <a:solidFill>
                        <a:srgbClr val="FF9900"/>
                      </a:solidFill>
                      <a:ln w="9525">
                        <a:solidFill>
                          <a:srgbClr val="2C2CB0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18900000" algn="ctr" rotWithShape="0">
                          <a:schemeClr val="tx1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22610C5-8691-416D-9926-FF01CDE00F68}"/>
                  </a:ext>
                </a:extLst>
              </p14:cNvPr>
              <p14:cNvContentPartPr/>
              <p14:nvPr/>
            </p14:nvContentPartPr>
            <p14:xfrm>
              <a:off x="3925404" y="3177255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22610C5-8691-416D-9926-FF01CDE00F6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16404" y="316825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CF551F3-AEDF-49E2-914C-560BFAADA1C4}"/>
                  </a:ext>
                </a:extLst>
              </p14:cNvPr>
              <p14:cNvContentPartPr/>
              <p14:nvPr/>
            </p14:nvContentPartPr>
            <p14:xfrm>
              <a:off x="3407724" y="3666495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CF551F3-AEDF-49E2-914C-560BFAADA1C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99084" y="3657855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EE23CBEA-5E4E-4C9D-9D28-8BDB73DE764E}"/>
              </a:ext>
            </a:extLst>
          </p:cNvPr>
          <p:cNvGrpSpPr/>
          <p:nvPr/>
        </p:nvGrpSpPr>
        <p:grpSpPr>
          <a:xfrm>
            <a:off x="3657204" y="3398655"/>
            <a:ext cx="9720" cy="360"/>
            <a:chOff x="3657204" y="3398655"/>
            <a:chExt cx="972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D477C58-7A2E-4D88-8F32-8C444DA44A6F}"/>
                    </a:ext>
                  </a:extLst>
                </p14:cNvPr>
                <p14:cNvContentPartPr/>
                <p14:nvPr/>
              </p14:nvContentPartPr>
              <p14:xfrm>
                <a:off x="3657204" y="3398655"/>
                <a:ext cx="3960" cy="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D477C58-7A2E-4D88-8F32-8C444DA44A6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648204" y="3390015"/>
                  <a:ext cx="21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3AEBF03-C0D6-4611-AE8B-755C290FDE77}"/>
                    </a:ext>
                  </a:extLst>
                </p14:cNvPr>
                <p14:cNvContentPartPr/>
                <p14:nvPr/>
              </p14:nvContentPartPr>
              <p14:xfrm>
                <a:off x="3666564" y="3398655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3AEBF03-C0D6-4611-AE8B-755C290FDE7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657924" y="339001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0" grpId="0" autoUpdateAnimBg="0"/>
      <p:bldP spid="72712" grpId="0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1393</Words>
  <Application>Microsoft Office PowerPoint</Application>
  <PresentationFormat>Widescreen</PresentationFormat>
  <Paragraphs>285</Paragraphs>
  <Slides>22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5" baseType="lpstr">
      <vt:lpstr>ＭＳ Ｐゴシック</vt:lpstr>
      <vt:lpstr>Aptos</vt:lpstr>
      <vt:lpstr>Aptos Display</vt:lpstr>
      <vt:lpstr>Arial</vt:lpstr>
      <vt:lpstr>Arial Narrow</vt:lpstr>
      <vt:lpstr>Cambria Math</vt:lpstr>
      <vt:lpstr>Lucida Grande</vt:lpstr>
      <vt:lpstr>Symbol</vt:lpstr>
      <vt:lpstr>Tahoma</vt:lpstr>
      <vt:lpstr>Times New Roman</vt:lpstr>
      <vt:lpstr>Wingdings</vt:lpstr>
      <vt:lpstr>Office Theme</vt:lpstr>
      <vt:lpstr>Equation</vt:lpstr>
      <vt:lpstr>PowerPoint Presentation</vt:lpstr>
      <vt:lpstr>Overview</vt:lpstr>
      <vt:lpstr>Model selection for continuous dependent variables</vt:lpstr>
      <vt:lpstr>Covariance and Correlation</vt:lpstr>
      <vt:lpstr>Scatter Plots of Data with Various Correlation Coefficients</vt:lpstr>
      <vt:lpstr>Linear Correlation</vt:lpstr>
      <vt:lpstr>Linear Correlation</vt:lpstr>
      <vt:lpstr>Model selection for continuous dependent variables</vt:lpstr>
      <vt:lpstr>Uses of Regression Analysis</vt:lpstr>
      <vt:lpstr>Mechanics</vt:lpstr>
      <vt:lpstr>Introduction: Linear Regression</vt:lpstr>
      <vt:lpstr>PowerPoint Presentation</vt:lpstr>
      <vt:lpstr>Linear regression –Terminology</vt:lpstr>
      <vt:lpstr>Functional Form</vt:lpstr>
      <vt:lpstr>The Model</vt:lpstr>
      <vt:lpstr>PowerPoint Presentation</vt:lpstr>
      <vt:lpstr>PowerPoint Presentation</vt:lpstr>
      <vt:lpstr>Estimating the model parameters</vt:lpstr>
      <vt:lpstr>The Least Squares (Regression) Line</vt:lpstr>
      <vt:lpstr>PowerPoint Presentation</vt:lpstr>
      <vt:lpstr>Formal statement of the model</vt:lpstr>
      <vt:lpstr>The Estimated Coefficients</vt:lpstr>
    </vt:vector>
  </TitlesOfParts>
  <Company>The Ohio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Barboza-Salerno, Gia</dc:creator>
  <cp:lastModifiedBy>Barboza-Salerno, Gia</cp:lastModifiedBy>
  <cp:revision>2</cp:revision>
  <dcterms:created xsi:type="dcterms:W3CDTF">2026-01-24T21:50:48Z</dcterms:created>
  <dcterms:modified xsi:type="dcterms:W3CDTF">2026-01-24T22:14:24Z</dcterms:modified>
</cp:coreProperties>
</file>