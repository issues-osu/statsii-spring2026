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4"/>
    <p:sldMasterId id="2147483726" r:id="rId5"/>
    <p:sldMasterId id="2147483738" r:id="rId6"/>
  </p:sldMasterIdLst>
  <p:notesMasterIdLst>
    <p:notesMasterId r:id="rId79"/>
  </p:notesMasterIdLst>
  <p:sldIdLst>
    <p:sldId id="256" r:id="rId7"/>
    <p:sldId id="1197" r:id="rId8"/>
    <p:sldId id="1195" r:id="rId9"/>
    <p:sldId id="1250" r:id="rId10"/>
    <p:sldId id="1201" r:id="rId11"/>
    <p:sldId id="1214" r:id="rId12"/>
    <p:sldId id="1215" r:id="rId13"/>
    <p:sldId id="1216" r:id="rId14"/>
    <p:sldId id="1217" r:id="rId15"/>
    <p:sldId id="1218" r:id="rId16"/>
    <p:sldId id="1219" r:id="rId17"/>
    <p:sldId id="1198" r:id="rId18"/>
    <p:sldId id="1266" r:id="rId19"/>
    <p:sldId id="1267" r:id="rId20"/>
    <p:sldId id="1249" r:id="rId21"/>
    <p:sldId id="1212" r:id="rId22"/>
    <p:sldId id="1268" r:id="rId23"/>
    <p:sldId id="1199" r:id="rId24"/>
    <p:sldId id="1221" r:id="rId25"/>
    <p:sldId id="1222" r:id="rId26"/>
    <p:sldId id="1223" r:id="rId27"/>
    <p:sldId id="1310" r:id="rId28"/>
    <p:sldId id="1311" r:id="rId29"/>
    <p:sldId id="1312" r:id="rId30"/>
    <p:sldId id="1227" r:id="rId31"/>
    <p:sldId id="1228" r:id="rId32"/>
    <p:sldId id="1251" r:id="rId33"/>
    <p:sldId id="1280" r:id="rId34"/>
    <p:sldId id="1288" r:id="rId35"/>
    <p:sldId id="1281" r:id="rId36"/>
    <p:sldId id="1269" r:id="rId37"/>
    <p:sldId id="1284" r:id="rId38"/>
    <p:sldId id="1229" r:id="rId39"/>
    <p:sldId id="1282" r:id="rId40"/>
    <p:sldId id="259" r:id="rId41"/>
    <p:sldId id="1231" r:id="rId42"/>
    <p:sldId id="1237" r:id="rId43"/>
    <p:sldId id="261" r:id="rId44"/>
    <p:sldId id="1240" r:id="rId45"/>
    <p:sldId id="1241" r:id="rId46"/>
    <p:sldId id="1242" r:id="rId47"/>
    <p:sldId id="1286" r:id="rId48"/>
    <p:sldId id="1243" r:id="rId49"/>
    <p:sldId id="270" r:id="rId50"/>
    <p:sldId id="1270" r:id="rId51"/>
    <p:sldId id="265" r:id="rId52"/>
    <p:sldId id="272" r:id="rId53"/>
    <p:sldId id="1257" r:id="rId54"/>
    <p:sldId id="274" r:id="rId55"/>
    <p:sldId id="1232" r:id="rId56"/>
    <p:sldId id="1233" r:id="rId57"/>
    <p:sldId id="1292" r:id="rId58"/>
    <p:sldId id="1293" r:id="rId59"/>
    <p:sldId id="1244" r:id="rId60"/>
    <p:sldId id="1277" r:id="rId61"/>
    <p:sldId id="1275" r:id="rId62"/>
    <p:sldId id="1276" r:id="rId63"/>
    <p:sldId id="1278" r:id="rId64"/>
    <p:sldId id="1279" r:id="rId65"/>
    <p:sldId id="1246" r:id="rId66"/>
    <p:sldId id="1245" r:id="rId67"/>
    <p:sldId id="1247" r:id="rId68"/>
    <p:sldId id="1294" r:id="rId69"/>
    <p:sldId id="1274" r:id="rId70"/>
    <p:sldId id="1295" r:id="rId71"/>
    <p:sldId id="1296" r:id="rId72"/>
    <p:sldId id="1297" r:id="rId73"/>
    <p:sldId id="1298" r:id="rId74"/>
    <p:sldId id="1273" r:id="rId75"/>
    <p:sldId id="1272" r:id="rId76"/>
    <p:sldId id="1271" r:id="rId77"/>
    <p:sldId id="1285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a Barboza" initials="GB" lastIdx="3" clrIdx="0">
    <p:extLst>
      <p:ext uri="{19B8F6BF-5375-455C-9EA6-DF929625EA0E}">
        <p15:presenceInfo xmlns:p15="http://schemas.microsoft.com/office/powerpoint/2012/main" userId="S::gbarboza@uccs.edu::9307f127-aeda-4625-8294-3425b4072387" providerId="AD"/>
      </p:ext>
    </p:extLst>
  </p:cmAuthor>
  <p:cmAuthor id="2" name="Gia Barboza" initials="GB [2]" lastIdx="1" clrIdx="1">
    <p:extLst>
      <p:ext uri="{19B8F6BF-5375-455C-9EA6-DF929625EA0E}">
        <p15:presenceInfo xmlns:p15="http://schemas.microsoft.com/office/powerpoint/2012/main" userId="Gia Barboz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01" autoAdjust="0"/>
    <p:restoredTop sz="81170" autoAdjust="0"/>
  </p:normalViewPr>
  <p:slideViewPr>
    <p:cSldViewPr snapToGrid="0" snapToObjects="1">
      <p:cViewPr varScale="1">
        <p:scale>
          <a:sx n="98" d="100"/>
          <a:sy n="98" d="100"/>
        </p:scale>
        <p:origin x="6276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tableStyles" Target="tableStyles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5.xml"/><Relationship Id="rId82" Type="http://schemas.openxmlformats.org/officeDocument/2006/relationships/viewProps" Target="viewProps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04DB63-9D86-684F-A9E3-E3196FF1FBD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DF63CE-93CB-D64C-B697-00536316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375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138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04300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8198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5191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outcome is developing coronavirus</a:t>
            </a:r>
          </a:p>
          <a:p>
            <a:r>
              <a:rPr lang="en-US" dirty="0"/>
              <a:t>Percent of vaccinated developing corona = 18/(18+134) = 18/152 = .118 or 11.8%</a:t>
            </a:r>
          </a:p>
          <a:p>
            <a:r>
              <a:rPr lang="en-US" dirty="0"/>
              <a:t>Percent of unvaccinated developing </a:t>
            </a:r>
            <a:r>
              <a:rPr lang="en-US" dirty="0" err="1"/>
              <a:t>coron</a:t>
            </a:r>
            <a:r>
              <a:rPr lang="en-US" dirty="0"/>
              <a:t> = 3/(3+4) = 3/7 = .429 = 42.9%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1986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50601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</a:t>
            </a:r>
          </a:p>
          <a:p>
            <a:pPr lvl="1"/>
            <a:r>
              <a:rPr lang="en-US" dirty="0"/>
              <a:t>The model is nonlinear (aka sigmoidal)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93B654-F051-464E-B9B3-C283C12DF62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3835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where π (0≤π≤1) is the probability of an event happening (success) and denoted π=P(success). We find the estimates for β0, β1, …, βp, using the maximum likelihood method. This method is one of several methods used in statistics to estimate parameters of a mathematical model. The goal of the estimator is to estimate the parameters β0, β1, …, βp which maximize the log likelihood function. 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392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517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is the percentage of correct predictions of the cases that are coded as 0 for the dependent variable </a:t>
            </a:r>
            <a:r>
              <a:rPr lang="en-US" b="1" dirty="0"/>
              <a:t>50</a:t>
            </a:r>
          </a:p>
          <a:p>
            <a:r>
              <a:rPr lang="en-US" dirty="0"/>
              <a:t>sensitivity is the percentage of correct predictions of the cases that are coded as 1 for the dependent variable </a:t>
            </a:r>
            <a:r>
              <a:rPr lang="en-US" b="1" dirty="0"/>
              <a:t>66.7</a:t>
            </a:r>
          </a:p>
          <a:p>
            <a:r>
              <a:rPr lang="en-US" dirty="0"/>
              <a:t>false negative rate the percentage of cases in error where the dependent variable is predicted to be 0 </a:t>
            </a:r>
            <a:r>
              <a:rPr lang="en-US" b="1" dirty="0"/>
              <a:t>50</a:t>
            </a:r>
            <a:endParaRPr lang="en-US" dirty="0"/>
          </a:p>
          <a:p>
            <a:r>
              <a:rPr lang="en-US" dirty="0"/>
              <a:t>false positive rate the percentage of cases in error where the dependent variable is predicted to be 1 </a:t>
            </a:r>
            <a:r>
              <a:rPr lang="en-US" b="1" dirty="0"/>
              <a:t>33.3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58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5491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3554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25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118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4361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688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67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848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546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529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6963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0B86-7DAD-4460-B9E3-8342259ECA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DD800-5E40-47F1-86E6-09D20E8BA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E73E4-9783-484D-91C6-A353C5311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4BF39B-3802-4F5C-8708-3721BE10D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698C1-61D7-457F-BE88-B66881D5E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928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471DC-CDE4-4A68-B576-050D0716B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450E1-7258-4338-A205-263E5063B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23792-6976-4359-A506-A358965F4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54B60-F775-42A1-ACC3-9E1362B03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E454E-A15D-4797-AED4-E12E57673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5406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EB37-8101-4199-B302-C7E6B715E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83DEFD-6784-4320-90D7-E863E0E58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EE817-4340-4ED0-A273-44CC8FCE2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182BA-D128-4C80-8FCE-86B6F96F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0C214-7ABD-4B06-80D8-A8DE5F8C6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7562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3FE7A-739C-4426-930F-2C3374A06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D0D4B-592A-4B70-81E3-59E45D65B1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C52DAE-2BC0-4EDB-8591-DD68DFB49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85272D-FC1D-4AE7-81CA-48B4931B9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36823-9EC5-4571-80D2-E35EAF196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528D7-596D-46B6-82DE-6517BE83D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85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E3B52-7EA0-49D7-BC47-FF5ACF01E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987A9-A848-4E60-8876-6855080993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4AB8AF-2773-4FE9-8B1F-865ECE3B8B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4F3FED-0B19-461F-8688-C5547FA15D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3B9086-372E-4CAE-8826-9F0656A3EC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6BF706-A301-44B3-9543-556F2E528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BC399B-B918-4384-94FA-70CBC00B1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F3DD3C-EA90-41EB-BF48-3E29773D9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2546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95FAE-E1B1-4BF0-8CE1-DCF45695A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0D8CA-FDC7-45B8-9FD2-B6A15E8B9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AC0A22-F288-4F6A-9761-AA17AD577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E50559-7E36-4F2A-B247-942269ABC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9591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E340DA-3190-48D2-939A-4A0283D82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BD7856-3C74-4A24-A499-8167B44DE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9A51A-F132-435C-8584-B93A6796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5405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CD195-C6C9-4B64-A9DB-0FDB00D87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86536-0A00-4184-B235-6A52F6C28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82F7B8-AFB2-4C1E-A75E-88C486AD8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C36736-0658-4817-B101-7877E37D7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F6DA71-D9E9-4C70-B351-5B0559B0C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C0BFEC-526A-48CC-A660-88983A10D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760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7C117-5B44-47A7-914D-EFEB6A216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0D8A2C-D944-4C38-9270-4BFBEA849D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71210B-7C43-4890-9F67-0B49F19BF9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CEED2-68FE-4280-8C62-1DFA5510B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8C127-D6D2-4D07-A69E-E5946C0D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7D6099-4E79-48DB-8BE9-E5DF33384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63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3375A-4ED3-43A1-8C6C-784526C69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BAD7A0-338C-4604-AB7E-F61D922F65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42105-0EAB-459A-BCEB-0A68BE5FA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0B28C-633F-4805-AC49-EBAD82B49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02BA8-DC1F-46C1-96DB-236BC3701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9751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683572-FC4D-4E93-954C-61912D5ED3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7FD491-ECE6-4603-ACA1-F9918DE056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73C3F-DDC6-4887-B535-2777C5052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5D599-B434-498A-B8EC-16F06FA99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05D2B-5564-4DAF-B22E-A57A6722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2749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167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55130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2031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15880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40673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49119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38737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91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423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55035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13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66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24" r:id="rId6"/>
    <p:sldLayoutId id="2147483719" r:id="rId7"/>
    <p:sldLayoutId id="2147483720" r:id="rId8"/>
    <p:sldLayoutId id="2147483721" r:id="rId9"/>
    <p:sldLayoutId id="2147483723" r:id="rId10"/>
    <p:sldLayoutId id="214748372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69776-B814-45CE-A4A7-3881B4840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D5E69-8555-4162-87BC-603C55EBC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24F13-879E-4E4A-B687-E9B6D81DAE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CC280-096B-48D6-81CE-C888701C9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4269B-8B00-471A-9B6B-96C069C96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858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2562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tags" Target="../tags/tag15.xml"/><Relationship Id="rId7" Type="http://schemas.openxmlformats.org/officeDocument/2006/relationships/tags" Target="../tags/tag19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0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10.png"/><Relationship Id="rId4" Type="http://schemas.openxmlformats.org/officeDocument/2006/relationships/image" Target="../media/image10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1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10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8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DA780-44C1-8643-B62D-9D542D334E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Risk Ratios, Odds Ratios, and Logistic Regression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ABEB3C-1EAC-6C42-A884-E4EC369001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February 17, 2026</a:t>
            </a:r>
          </a:p>
        </p:txBody>
      </p:sp>
    </p:spTree>
    <p:extLst>
      <p:ext uri="{BB962C8B-B14F-4D97-AF65-F5344CB8AC3E}">
        <p14:creationId xmlns:p14="http://schemas.microsoft.com/office/powerpoint/2010/main" val="231338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C1F93-4E7E-1A43-9109-6E08EC26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4" y="150416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Measures of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71D94-F189-4340-92BB-2867B98C3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974" y="840292"/>
            <a:ext cx="10058400" cy="3760891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 social science we estimate all types of different things: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among of drug use in a population; by type and frequency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“risk” of developing a mental health problem or some other outcome following a violent victimization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risks and benefits of a proposed treatment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This requires an understanding of: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Measures of frequency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Proportions and odds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Prevalence and incidence rates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Risk (absolute and relative)   (e.g., the risk of something happening (or not) v the risk of one thing in relation to another)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335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B9B8-0E49-F24D-AF05-3DC84D3C9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54456"/>
            <a:ext cx="10058400" cy="841806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Four Primary Risk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33711-461D-1F4E-8B0C-2A32D9E7B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519" y="691063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Prevalence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Incidence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Relative Risk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Odds Ratios</a:t>
            </a:r>
          </a:p>
        </p:txBody>
      </p:sp>
    </p:spTree>
    <p:extLst>
      <p:ext uri="{BB962C8B-B14F-4D97-AF65-F5344CB8AC3E}">
        <p14:creationId xmlns:p14="http://schemas.microsoft.com/office/powerpoint/2010/main" val="1116407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BD858-DB02-4929-BBAB-EA5356CCA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97" y="160144"/>
            <a:ext cx="10058400" cy="559703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3129A-DBED-465F-BA3D-F0A7139D41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0157" y="862449"/>
                <a:ext cx="11470856" cy="4604496"/>
              </a:xfrm>
            </p:spPr>
            <p:txBody>
              <a:bodyPr>
                <a:no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Def’n:  the proportion of a defined group or population that has some outcome, 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O,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at a </a:t>
                </a:r>
                <a:r>
                  <a:rPr lang="en-US" sz="20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given point in time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prevalence ranges from 0 to 1 (i.e., it’s a proportion), but is usually referred to as a rate and is often expressed as a %.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100%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</a:p>
              <a:p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= number of cases observed at time </a:t>
                </a:r>
                <a:r>
                  <a:rPr lang="en-US" sz="2000" b="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t </a:t>
                </a:r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:r>
                  <a:rPr lang="en-US" sz="2000" b="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N =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total number of individuals at time 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Example: 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Of 100 incarcerated persons, 35 reported child abuse histories. Therefore, our estimate of the prevalence of child abuse among persons who are incarcerated = 35%   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prevalence rate answers the question: “What fraction of the group is affected at this moment in time?”</a:t>
                </a: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3129A-DBED-465F-BA3D-F0A7139D4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0157" y="862449"/>
                <a:ext cx="11470856" cy="4604496"/>
              </a:xfrm>
              <a:blipFill>
                <a:blip r:embed="rId3"/>
                <a:stretch>
                  <a:fillRect l="-584" t="-529" r="-1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951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12E1-44A7-8841-8227-58EA12C968D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517525"/>
            <a:ext cx="3084513" cy="1960563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Incidence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DEE8E-7696-C545-BBED-9677B36112A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32298" y="1382628"/>
            <a:ext cx="3005138" cy="409274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special type of proportion that includes a specific </a:t>
            </a:r>
            <a:r>
              <a:rPr lang="en-US" altLang="en-US" sz="2000" i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 period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altLang="en-US" sz="2000" i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population-at-risk</a:t>
            </a:r>
          </a:p>
          <a:p>
            <a:pPr>
              <a:lnSpc>
                <a:spcPct val="10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Numerator = the number of </a:t>
            </a:r>
            <a:r>
              <a:rPr lang="en-US" altLang="en-US" sz="2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newly affected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individuals occurring over a specified time period</a:t>
            </a:r>
          </a:p>
          <a:p>
            <a:pPr>
              <a:lnSpc>
                <a:spcPct val="10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Denominator = the </a:t>
            </a:r>
            <a:r>
              <a:rPr lang="en-US" altLang="en-US" sz="2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population-at-risk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over the same time period</a:t>
            </a:r>
          </a:p>
          <a:p>
            <a:pPr>
              <a:lnSpc>
                <a:spcPct val="100000"/>
              </a:lnSpc>
            </a:pPr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Chart, histogram&#10;&#10;Description automatically generated">
            <a:extLst>
              <a:ext uri="{FF2B5EF4-FFF2-40B4-BE49-F238E27FC236}">
                <a16:creationId xmlns:a16="http://schemas.microsoft.com/office/drawing/2014/main" id="{BFF7C0DE-1531-FF36-9D3C-ACF0E12A83B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469"/>
          <a:stretch/>
        </p:blipFill>
        <p:spPr bwMode="auto">
          <a:xfrm>
            <a:off x="4329515" y="801399"/>
            <a:ext cx="7605103" cy="3519814"/>
          </a:xfrm>
          <a:prstGeom prst="rect">
            <a:avLst/>
          </a:prstGeom>
          <a:noFill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CC9A5-CF85-7A39-E678-A9F000EFCB83}"/>
              </a:ext>
            </a:extLst>
          </p:cNvPr>
          <p:cNvSpPr txBox="1"/>
          <p:nvPr/>
        </p:nvSpPr>
        <p:spPr>
          <a:xfrm>
            <a:off x="4442660" y="500319"/>
            <a:ext cx="462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Daily COVID-19 Cases (7 Day Moving Average)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5B1372-A47B-8A5A-151E-A44CE4D587E7}"/>
              </a:ext>
            </a:extLst>
          </p:cNvPr>
          <p:cNvSpPr txBox="1"/>
          <p:nvPr/>
        </p:nvSpPr>
        <p:spPr>
          <a:xfrm>
            <a:off x="4595276" y="4408163"/>
            <a:ext cx="59284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Blue areas represent most deprived 20% of neighborhoods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Red areas represent least deprived 20% of neighborhoods</a:t>
            </a:r>
          </a:p>
        </p:txBody>
      </p:sp>
    </p:spTree>
    <p:extLst>
      <p:ext uri="{BB962C8B-B14F-4D97-AF65-F5344CB8AC3E}">
        <p14:creationId xmlns:p14="http://schemas.microsoft.com/office/powerpoint/2010/main" val="1120746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B8755-5542-EC47-855F-7F77BB90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35" y="267149"/>
            <a:ext cx="10058400" cy="588886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Quantifying Risk and Interpreting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2A04C-C040-E741-A126-259FE3FEE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250" y="863062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Information on the effect of a potential risk factor or beneficial treatment can be presented in several different ways: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Relative Risk (RR)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Odds Ratio (OR)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Percent decrease or increase in Odds</a:t>
            </a:r>
          </a:p>
          <a:p>
            <a:r>
              <a:rPr lang="en-US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way risk information is presented and interpreted can have a profound effect on decision-making processes with implications for policy and treatment outcomes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744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B8755-5542-EC47-855F-7F77BB90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53" y="169872"/>
            <a:ext cx="10058400" cy="1055814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Quantifying Risk (or Benefit) Presentation and Interpretation of Information on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2A04C-C040-E741-A126-259FE3FEE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250" y="1271623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We might also think of these as measures of association.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Measures of association quantify the potential relationship between “exposure” and “outcome” among two groups.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Recall there are two types of association (+) and (-)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two main measures are Relative Risk (RR) and Odds Ratio (OR)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5864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9D544-DA4D-6043-AA82-72485F328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19" y="208782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Relative Risk, Risk Ratio, or Rate Ratio (RR)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0ED753-9725-FE43-82EE-E19AD8E86F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7433" y="937569"/>
                <a:ext cx="10058400" cy="376089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general definition of RR is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𝑅𝑖𝑠𝑘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𝑔𝑟𝑜𝑢𝑝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𝑝𝑟𝑖𝑚𝑎𝑟𝑦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𝑖𝑛𝑡𝑒𝑟𝑒𝑠𝑡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𝑅𝑖𝑠𝑘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𝑡h𝑎𝑡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𝑠𝑎𝑚𝑒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𝑐𝑜𝑚𝑝𝑎𝑟𝑖𝑠𝑜𝑛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𝑔𝑟𝑜𝑢𝑝</m:t>
                        </m:r>
                      </m:den>
                    </m:f>
                  </m:oMath>
                </a14:m>
                <a:endParaRPr lang="en-US" sz="2400" dirty="0"/>
              </a:p>
              <a:p>
                <a:r>
                  <a:rPr lang="en-US" dirty="0"/>
                  <a:t>Here we could be taking the ratio of two prevalence measures (i.e. proportions) or two rate measures (e.g., murder rates).</a:t>
                </a:r>
              </a:p>
              <a:p>
                <a:r>
                  <a:rPr lang="en-US" dirty="0"/>
                  <a:t>A RR = 1.0 the risk is the same for both groups, if RR &gt; 1.0 the risk is greater for group in numerator and if RR &lt; 1.0 it indicates decreased risk for group in numerator.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0ED753-9725-FE43-82EE-E19AD8E86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7433" y="937569"/>
                <a:ext cx="10058400" cy="3760891"/>
              </a:xfrm>
              <a:blipFill>
                <a:blip r:embed="rId2"/>
                <a:stretch>
                  <a:fillRect l="-1515" t="-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295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04FC6-2401-7243-9451-D41B51D1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05" y="88200"/>
            <a:ext cx="11558405" cy="748380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Example: PTSD among foster youth by physical abuse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7D49802-2B18-9E4D-91D3-5BB6B98AB7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770029"/>
              </p:ext>
            </p:extLst>
          </p:nvPr>
        </p:nvGraphicFramePr>
        <p:xfrm>
          <a:off x="1096963" y="2108200"/>
          <a:ext cx="5929479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299410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PTSD?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Abused?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= 294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0D7411E-E2F3-7F4F-B748-90BF8810F0CF}"/>
              </a:ext>
            </a:extLst>
          </p:cNvPr>
          <p:cNvCxnSpPr>
            <a:cxnSpLocks/>
          </p:cNvCxnSpPr>
          <p:nvPr/>
        </p:nvCxnSpPr>
        <p:spPr>
          <a:xfrm>
            <a:off x="7026442" y="3092116"/>
            <a:ext cx="1335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C9CC82-BAD3-194C-B6AB-2D5B2122263C}"/>
              </a:ext>
            </a:extLst>
          </p:cNvPr>
          <p:cNvSpPr txBox="1"/>
          <p:nvPr/>
        </p:nvSpPr>
        <p:spPr>
          <a:xfrm>
            <a:off x="8361947" y="2907450"/>
            <a:ext cx="3441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BB22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Row marginals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762EAC8-44E7-014A-98DF-C9B1C93EAB87}"/>
              </a:ext>
            </a:extLst>
          </p:cNvPr>
          <p:cNvCxnSpPr/>
          <p:nvPr/>
        </p:nvCxnSpPr>
        <p:spPr>
          <a:xfrm>
            <a:off x="3633537" y="4498586"/>
            <a:ext cx="0" cy="4170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1ECABA-F77A-5D45-916E-01B9F89AAD04}"/>
              </a:ext>
            </a:extLst>
          </p:cNvPr>
          <p:cNvSpPr txBox="1"/>
          <p:nvPr/>
        </p:nvSpPr>
        <p:spPr>
          <a:xfrm>
            <a:off x="2859504" y="4966724"/>
            <a:ext cx="246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39834">
                    <a:lumMod val="75000"/>
                  </a:srgb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Column marginals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EAA9F1-1FBC-F740-AA64-21E4E33D9D23}"/>
              </a:ext>
            </a:extLst>
          </p:cNvPr>
          <p:cNvSpPr txBox="1"/>
          <p:nvPr/>
        </p:nvSpPr>
        <p:spPr>
          <a:xfrm>
            <a:off x="8462156" y="3298257"/>
            <a:ext cx="37298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row marginal answers the question: Among foster youth who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were physically abused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what percentage developed PTSD?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28/157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5A8B76-3A15-5C4B-B195-4AE9621133A9}"/>
              </a:ext>
            </a:extLst>
          </p:cNvPr>
          <p:cNvSpPr txBox="1"/>
          <p:nvPr/>
        </p:nvSpPr>
        <p:spPr>
          <a:xfrm>
            <a:off x="2859505" y="5261913"/>
            <a:ext cx="35607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column marginal answers the question: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Among foster youth who developed PTSD</a:t>
            </a:r>
            <a:r>
              <a:rPr kumimoji="0" lang="en-US" sz="1800" b="0" i="1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percentage were physically abused?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28/32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987860-C10C-DC0D-611F-B3CAA90AE3B3}"/>
              </a:ext>
            </a:extLst>
          </p:cNvPr>
          <p:cNvSpPr txBox="1"/>
          <p:nvPr/>
        </p:nvSpPr>
        <p:spPr>
          <a:xfrm>
            <a:off x="8462157" y="4915681"/>
            <a:ext cx="33408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: this is NOT the same as the probability of being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abused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AND having PTSD (28/294)</a:t>
            </a:r>
          </a:p>
        </p:txBody>
      </p:sp>
    </p:spTree>
    <p:extLst>
      <p:ext uri="{BB962C8B-B14F-4D97-AF65-F5344CB8AC3E}">
        <p14:creationId xmlns:p14="http://schemas.microsoft.com/office/powerpoint/2010/main" val="1566686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  <p:bldP spid="13" grpId="0"/>
      <p:bldP spid="14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7D49802-2B18-9E4D-91D3-5BB6B98AB7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3909533"/>
              </p:ext>
            </p:extLst>
          </p:nvPr>
        </p:nvGraphicFramePr>
        <p:xfrm>
          <a:off x="2720458" y="83444"/>
          <a:ext cx="6121985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491916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PTSD?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Abused?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= 294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1EAA9F1-1FBC-F740-AA64-21E4E33D9D23}"/>
              </a:ext>
            </a:extLst>
          </p:cNvPr>
          <p:cNvSpPr txBox="1"/>
          <p:nvPr/>
        </p:nvSpPr>
        <p:spPr>
          <a:xfrm>
            <a:off x="547348" y="2745364"/>
            <a:ext cx="105713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risk ratio (RR) of developing PTSD among foster youth who were physically abused compared to those who were not?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5A8B76-3A15-5C4B-B195-4AE9621133A9}"/>
              </a:ext>
            </a:extLst>
          </p:cNvPr>
          <p:cNvSpPr txBox="1"/>
          <p:nvPr/>
        </p:nvSpPr>
        <p:spPr>
          <a:xfrm>
            <a:off x="547348" y="3506828"/>
            <a:ext cx="1109730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percentage of physically abused developed PTSD? This is also the ‘risk’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28/157 = 17.8%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percentage of those</a:t>
            </a:r>
            <a:r>
              <a:rPr kumimoji="0" lang="en-US" sz="20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not physically abused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developed PTSD? This is also the ‘risk’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/137 = 2.9%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17F942-F5CB-014C-B286-CA6EBEB73C32}"/>
                  </a:ext>
                </a:extLst>
              </p:cNvPr>
              <p:cNvSpPr txBox="1"/>
              <p:nvPr/>
            </p:nvSpPr>
            <p:spPr>
              <a:xfrm>
                <a:off x="5334898" y="5074285"/>
                <a:ext cx="1750799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𝑅𝑅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17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8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9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6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17F942-F5CB-014C-B286-CA6EBEB73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898" y="5074285"/>
                <a:ext cx="1750799" cy="5203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22D6AB3-DA9D-1444-81EA-AA4B1E157905}"/>
              </a:ext>
            </a:extLst>
          </p:cNvPr>
          <p:cNvSpPr txBox="1"/>
          <p:nvPr/>
        </p:nvSpPr>
        <p:spPr>
          <a:xfrm>
            <a:off x="644734" y="5779350"/>
            <a:ext cx="10684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XXXXX were XXXXX times more likely to develop PTSD compared to XXXXX</a:t>
            </a:r>
          </a:p>
        </p:txBody>
      </p:sp>
    </p:spTree>
    <p:extLst>
      <p:ext uri="{BB962C8B-B14F-4D97-AF65-F5344CB8AC3E}">
        <p14:creationId xmlns:p14="http://schemas.microsoft.com/office/powerpoint/2010/main" val="3595086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04FC6-2401-7243-9451-D41B51D1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55" y="101302"/>
            <a:ext cx="10058400" cy="110895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Your Turn: Incidence of COVID-19 in a sample of individuals who received the Pfizer Vaccine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7D49802-2B18-9E4D-91D3-5BB6B98AB7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1211289"/>
              </p:ext>
            </p:extLst>
          </p:nvPr>
        </p:nvGraphicFramePr>
        <p:xfrm>
          <a:off x="231765" y="1222188"/>
          <a:ext cx="592947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299410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Developed Coronavirus?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Vaccinated?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/>
                          </a:solidFill>
                        </a:rPr>
                        <a:t>152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Total = 159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3250DA2-01C7-5448-BDC7-7F92E2023501}"/>
              </a:ext>
            </a:extLst>
          </p:cNvPr>
          <p:cNvSpPr txBox="1"/>
          <p:nvPr/>
        </p:nvSpPr>
        <p:spPr>
          <a:xfrm>
            <a:off x="231766" y="4254520"/>
            <a:ext cx="118929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relative risk of developing COVID-19 among individuals who have been vaccinated (compared to those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who have not?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D72EB5-3937-5D4E-8FF0-844976ECB021}"/>
              </a:ext>
            </a:extLst>
          </p:cNvPr>
          <p:cNvSpPr txBox="1"/>
          <p:nvPr/>
        </p:nvSpPr>
        <p:spPr>
          <a:xfrm>
            <a:off x="246770" y="4907100"/>
            <a:ext cx="4301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outcome we are looking for?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BA6928-9391-8F42-A5E1-CAD6DCE9E48E}"/>
              </a:ext>
            </a:extLst>
          </p:cNvPr>
          <p:cNvSpPr txBox="1"/>
          <p:nvPr/>
        </p:nvSpPr>
        <p:spPr>
          <a:xfrm>
            <a:off x="231765" y="5276432"/>
            <a:ext cx="5891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 of vaccinated persons developed corona?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5FFD8B-A3AC-9246-914E-CD7968D8A3F7}"/>
              </a:ext>
            </a:extLst>
          </p:cNvPr>
          <p:cNvSpPr txBox="1"/>
          <p:nvPr/>
        </p:nvSpPr>
        <p:spPr>
          <a:xfrm>
            <a:off x="231765" y="5628606"/>
            <a:ext cx="6147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 of unvaccinated persons developed corona?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5A1649-FB68-3548-B959-59CEE9568627}"/>
              </a:ext>
            </a:extLst>
          </p:cNvPr>
          <p:cNvSpPr txBox="1"/>
          <p:nvPr/>
        </p:nvSpPr>
        <p:spPr>
          <a:xfrm>
            <a:off x="231765" y="5980780"/>
            <a:ext cx="43268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Compute and interpret the relative risk…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ABF6F3-0536-AB4A-B39D-90E394D38D1D}"/>
                  </a:ext>
                </a:extLst>
              </p:cNvPr>
              <p:cNvSpPr txBox="1"/>
              <p:nvPr/>
            </p:nvSpPr>
            <p:spPr>
              <a:xfrm>
                <a:off x="8354772" y="4672572"/>
                <a:ext cx="2180405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𝑅𝑅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11.8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42.9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=.28&lt;1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ABF6F3-0536-AB4A-B39D-90E394D38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772" y="4672572"/>
                <a:ext cx="2180405" cy="520399"/>
              </a:xfrm>
              <a:prstGeom prst="rect">
                <a:avLst/>
              </a:prstGeom>
              <a:blipFill>
                <a:blip r:embed="rId3"/>
                <a:stretch>
                  <a:fillRect l="-2326" t="-4762" r="-1744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C035AB7D-F2EA-7541-B6F4-154F000FAE89}"/>
              </a:ext>
            </a:extLst>
          </p:cNvPr>
          <p:cNvSpPr txBox="1"/>
          <p:nvPr/>
        </p:nvSpPr>
        <p:spPr>
          <a:xfrm>
            <a:off x="7209043" y="5318903"/>
            <a:ext cx="504497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risk of developing COVID-19 among those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who are vaccinated by the Pfizer vaccine is .28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times that of those who are not</a:t>
            </a:r>
          </a:p>
        </p:txBody>
      </p:sp>
    </p:spTree>
    <p:extLst>
      <p:ext uri="{BB962C8B-B14F-4D97-AF65-F5344CB8AC3E}">
        <p14:creationId xmlns:p14="http://schemas.microsoft.com/office/powerpoint/2010/main" val="7593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3C05-18A7-DC40-9891-387662471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31" y="130961"/>
            <a:ext cx="11470856" cy="773711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Relationship between prevalence, probability and odds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1790" y="928091"/>
                <a:ext cx="10513695" cy="3760891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Let </a:t>
                </a:r>
                <a:r>
                  <a:rPr lang="en-US" i="1" dirty="0"/>
                  <a:t>p = </a:t>
                </a:r>
                <a:r>
                  <a:rPr lang="en-US" dirty="0"/>
                  <a:t>the probability of some outcome, then</a:t>
                </a:r>
              </a:p>
              <a:p>
                <a:r>
                  <a:rPr lang="en-US" dirty="0"/>
                  <a:t>Odds for that outcome is defined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𝑂𝐷𝐷𝑆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(1 −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1790" y="928091"/>
                <a:ext cx="10513695" cy="3760891"/>
              </a:xfrm>
              <a:blipFill>
                <a:blip r:embed="rId2"/>
                <a:stretch>
                  <a:fillRect l="-522" t="-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6399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C09A-750A-0D0E-4C2A-AE249399E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787" y="179599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DFB1C-3769-AA9F-9E8F-C6E2E7E60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45" y="989521"/>
            <a:ext cx="10058400" cy="3760891"/>
          </a:xfrm>
        </p:spPr>
        <p:txBody>
          <a:bodyPr/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Three possibilities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If Odds are &lt; 1 then the odds are “lower”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If Odds are &gt; 1 then odds are higher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If Odds = 1 then the odds are the same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Here .1282 &lt; 1, the odds of pre-term birth are lower than full-term births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Note: the Null Hypothesis for the exponentiated logit coefficients in a logistic regression analysis is that the ODDS ratio = 1, why?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8076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2856-2CCC-8C88-1109-F404F6574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70" y="160144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93A88-8E2A-4EA0-46D0-C1ED0F40F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23" y="862449"/>
            <a:ext cx="10058400" cy="3760891"/>
          </a:xfrm>
        </p:spPr>
        <p:txBody>
          <a:bodyPr/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 North Carolina the probability of a pre-term birth is .1136. Compute and interpret:</a:t>
            </a:r>
          </a:p>
          <a:p>
            <a:pPr marL="544068" lvl="1" indent="-342900">
              <a:buAutoNum type="arabicParenBoth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odds that a woman will have a pre-term birth; and</a:t>
            </a:r>
          </a:p>
          <a:p>
            <a:pPr marL="544068" lvl="1" indent="-342900">
              <a:buAutoNum type="arabicParenBoth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odds that a woman will not have a pre-term birth.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674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F6026-931C-4B3C-87BF-6AEDE54B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522" y="160144"/>
            <a:ext cx="10058400" cy="702305"/>
          </a:xfrm>
        </p:spPr>
        <p:txBody>
          <a:bodyPr>
            <a:normAutofit fontScale="90000"/>
          </a:bodyPr>
          <a:lstStyle/>
          <a:p>
            <a:r>
              <a:rPr lang="en-US" dirty="0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78A9E-AD7C-4E96-AC8C-2A3038A2D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22" y="888931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Odds for pre-term birth = (.𝟏𝟏𝟑𝟔)/(𝟏−.𝟏𝟏𝟑𝟔)=(.𝟏𝟏𝟑𝟔)/(.𝟖𝟖𝟔𝟒)=.𝟏𝟐𝟖𝟐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Odds for full-term birth = (.𝟖𝟖𝟔𝟒)/(𝟏−.𝟖𝟖𝟔𝟒)=(.𝟖𝟖𝟔𝟒)/(.𝟏𝟏𝟑𝟔)=𝟕.𝟖𝟎𝟑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Let’s say that the odds of a full-term birth are 7.803 as we calculated. If we had the following 95% confidence interval for this estimate can you tell me if the estimate is statistically significant? </a:t>
            </a:r>
          </a:p>
          <a:p>
            <a:endParaRPr lang="en-US" dirty="0"/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𝟕.𝟖𝟎𝟑 (6.879 – 8.342)</a:t>
            </a:r>
          </a:p>
        </p:txBody>
      </p:sp>
    </p:spTree>
    <p:extLst>
      <p:ext uri="{BB962C8B-B14F-4D97-AF65-F5344CB8AC3E}">
        <p14:creationId xmlns:p14="http://schemas.microsoft.com/office/powerpoint/2010/main" val="142556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3C05-18A7-DC40-9891-387662471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97" y="179599"/>
            <a:ext cx="10058400" cy="67643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Relationship between probability and odds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9612" y="882516"/>
                <a:ext cx="10058400" cy="3760891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Let 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odds =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ODDS that some outcome will occur, then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probability for that outcome is defined as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9612" y="882516"/>
                <a:ext cx="10058400" cy="3760891"/>
              </a:xfrm>
              <a:blipFill>
                <a:blip r:embed="rId2"/>
                <a:stretch>
                  <a:fillRect l="-606" t="-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D296F99-98BF-9C4D-8D5A-1DAE6A7CD91E}"/>
              </a:ext>
            </a:extLst>
          </p:cNvPr>
          <p:cNvSpPr txBox="1"/>
          <p:nvPr/>
        </p:nvSpPr>
        <p:spPr>
          <a:xfrm>
            <a:off x="299612" y="2667656"/>
            <a:ext cx="111065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Intuition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: The odds of a child being substantiated for neglect are 3:4 after being reported for maltreatment.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odds are 3 to 4 substantiated versus not substantiated therefore the probability of a substantiation 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3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out of 4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or .75 (following our rules of probability)</a:t>
            </a:r>
          </a:p>
        </p:txBody>
      </p:sp>
    </p:spTree>
    <p:extLst>
      <p:ext uri="{BB962C8B-B14F-4D97-AF65-F5344CB8AC3E}">
        <p14:creationId xmlns:p14="http://schemas.microsoft.com/office/powerpoint/2010/main" val="20466254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8502E-8B28-B572-7C56-92AA6381A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063" y="98463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5E3F85-A002-FA7C-0E71-63FCDC16FF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2096" y="813596"/>
                <a:ext cx="10058400" cy="3760891"/>
              </a:xfrm>
            </p:spPr>
            <p:txBody>
              <a:bodyPr/>
              <a:lstStyle/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Example: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At OSU, the ODDS that a student will graduate are twice as high compared to those who do not graduate.  Compute the probability that a randomly selected person will graduate from OSU: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𝑜𝑢𝑡𝑐𝑜𝑚𝑒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5E3F85-A002-FA7C-0E71-63FCDC16FF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2096" y="813596"/>
                <a:ext cx="10058400" cy="3760891"/>
              </a:xfrm>
              <a:blipFill>
                <a:blip r:embed="rId2"/>
                <a:stretch>
                  <a:fillRect l="-667" t="-648" r="-1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2A8E87F-C579-DC55-A419-72F861F9BD48}"/>
              </a:ext>
            </a:extLst>
          </p:cNvPr>
          <p:cNvSpPr txBox="1"/>
          <p:nvPr/>
        </p:nvSpPr>
        <p:spPr>
          <a:xfrm>
            <a:off x="302096" y="2967335"/>
            <a:ext cx="112349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odds are 2 to 1 (2:1) graduating versus not graduating therefore the probability of graduating 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out of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3 or .667 (following our rules of probability)</a:t>
            </a:r>
          </a:p>
        </p:txBody>
      </p:sp>
    </p:spTree>
    <p:extLst>
      <p:ext uri="{BB962C8B-B14F-4D97-AF65-F5344CB8AC3E}">
        <p14:creationId xmlns:p14="http://schemas.microsoft.com/office/powerpoint/2010/main" val="1207926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EA57E56-054A-5C45-9D8F-27BF6452B39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5642" y="185738"/>
            <a:ext cx="3176588" cy="553564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Intuition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E8D6944-61D8-6C4C-92F1-0D5C3102B2F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51753" y="1814512"/>
            <a:ext cx="4017524" cy="3228975"/>
          </a:xfrm>
        </p:spPr>
        <p:txBody>
          <a:bodyPr vert="horz" lIns="0" tIns="45720" rIns="0" bIns="45720" rtlCol="0">
            <a:normAutofit/>
          </a:bodyPr>
          <a:lstStyle/>
          <a:p>
            <a:pPr marL="342900" marR="0" lvl="0" indent="-342900" fontAlgn="auto">
              <a:spcBef>
                <a:spcPct val="20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•"/>
              <a:tabLst/>
              <a:defRPr/>
            </a:pPr>
            <a:r>
              <a:rPr kumimoji="0" lang="en-US" altLang="en-US" sz="2000" i="0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Probability and odds are more alike the lower the probability of the outcome,  </a:t>
            </a:r>
            <a:r>
              <a:rPr kumimoji="0" lang="en-US" altLang="en-US" sz="2000" i="1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 = P </a:t>
            </a:r>
            <a:r>
              <a:rPr kumimoji="0" lang="en-US" altLang="en-US" sz="2000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  <a:r>
              <a:rPr kumimoji="0" lang="en-US" altLang="en-US" sz="2000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42900" marR="0" lvl="0" indent="-342900" fontAlgn="auto">
              <a:spcBef>
                <a:spcPct val="20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•"/>
              <a:tabLst/>
              <a:defRPr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Check these for yourself, by hand</a:t>
            </a:r>
            <a:endParaRPr kumimoji="0" lang="en-US" altLang="en-US" sz="2000" u="none" strike="noStrike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0" name="Group 52">
            <a:extLst>
              <a:ext uri="{FF2B5EF4-FFF2-40B4-BE49-F238E27FC236}">
                <a16:creationId xmlns:a16="http://schemas.microsoft.com/office/drawing/2014/main" id="{41DF3BF6-9A1C-D24B-B6EF-1A3EA220D16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529207"/>
              </p:ext>
            </p:extLst>
          </p:nvPr>
        </p:nvGraphicFramePr>
        <p:xfrm>
          <a:off x="5350098" y="643466"/>
          <a:ext cx="5499259" cy="549984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</a:tblPr>
              <a:tblGrid>
                <a:gridCol w="32262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Probability</a:t>
                      </a:r>
                    </a:p>
                  </a:txBody>
                  <a:tcPr marL="119600" marR="107742" marT="92000" marB="92000" anchor="ctr" horzOverflow="overflow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Odds</a:t>
                      </a:r>
                    </a:p>
                  </a:txBody>
                  <a:tcPr marL="119600" marR="107742" marT="92000" marB="9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0.50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0.25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0.20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0.11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0.053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0.01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0.0101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099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D8C89-AED8-8E45-894F-731A49CE6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35" y="90675"/>
            <a:ext cx="10058400" cy="64862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Computing 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4D170-A88C-8A46-8AC3-50AF663C3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335" y="739302"/>
            <a:ext cx="10058400" cy="3760891"/>
          </a:xfrm>
        </p:spPr>
        <p:txBody>
          <a:bodyPr/>
          <a:lstStyle/>
          <a:p>
            <a:r>
              <a:rPr lang="en-US" dirty="0"/>
              <a:t>Recall the odds of an event or outcome, A, is defined 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32F8C03-2F0E-7E44-A8BE-AB13845B66B8}"/>
                  </a:ext>
                </a:extLst>
              </p:cNvPr>
              <p:cNvSpPr/>
              <p:nvPr/>
            </p:nvSpPr>
            <p:spPr>
              <a:xfrm>
                <a:off x="2235735" y="1518247"/>
                <a:ext cx="6658682" cy="6806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𝑂𝐷𝐷𝑆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 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𝑝𝑟𝑜𝑏𝑎𝑏𝑖𝑙𝑖𝑡𝑦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𝑜𝑓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𝑡h𝑒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𝑜𝑢𝑡𝑐𝑜𝑚𝑒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(1 −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𝑡h𝑒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𝑝𝑟𝑜𝑏𝑎𝑏𝑖𝑙𝑖𝑡𝑦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𝑜𝑓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𝑡h𝑒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𝑜𝑢𝑡𝑐𝑜𝑚𝑒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Franklin Gothic Book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1 −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den>
                    </m:f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32F8C03-2F0E-7E44-A8BE-AB13845B66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5735" y="1518247"/>
                <a:ext cx="6658682" cy="680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4DB5487A-AE92-5F43-93D4-2B02BC232CC9}"/>
              </a:ext>
            </a:extLst>
          </p:cNvPr>
          <p:cNvSpPr/>
          <p:nvPr/>
        </p:nvSpPr>
        <p:spPr>
          <a:xfrm>
            <a:off x="1036320" y="2464438"/>
            <a:ext cx="1034555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For example, suppose we roll a single (fair) die, compute the odds of rolling a 3: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Let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A –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we observe a “3” after 1 roll of a fair die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What is the P(A)? 1/6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What is 1 - P(A)? 5/6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Compute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Interpret: The odds of getting a “3” are 1 in 5 (intuitive) and the odds of not getting a “3” are 5 in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2930F2C-5E9D-ED44-B3CC-CCA26D3EF154}"/>
                  </a:ext>
                </a:extLst>
              </p:cNvPr>
              <p:cNvSpPr/>
              <p:nvPr/>
            </p:nvSpPr>
            <p:spPr>
              <a:xfrm>
                <a:off x="3863787" y="4087328"/>
                <a:ext cx="4239153" cy="6806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𝑂𝐷𝐷𝑆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Franklin Gothic Book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1 −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m:rPr>
                        <m:nor/>
                      </m:rPr>
                      <a: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Franklin Gothic Book" panose="020F0502020204030204"/>
                        <a:ea typeface="+mn-ea"/>
                        <a:cs typeface="+mn-cs"/>
                      </a:rPr>
                      <m:t> 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1/6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5/6</m:t>
                        </m:r>
                      </m:den>
                    </m:f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Franklin Gothic Book" panose="020F0502020204030204"/>
                    <a:ea typeface="+mn-ea"/>
                    <a:cs typeface="+mn-cs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</m:t>
                        </m:r>
                      </m:den>
                    </m:f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2930F2C-5E9D-ED44-B3CC-CCA26D3EF1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787" y="4087328"/>
                <a:ext cx="4239153" cy="68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757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90D90-D6F8-5B48-B06A-2A0E1CD70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28" y="223701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327AB-4739-9B43-A439-089A1A342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8968" y="1057933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To compute the odds we need to introduce the idea of conditional probability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6BE7CE6-DAF4-7547-8BF4-27893BA2CF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28534118"/>
              </p:ext>
            </p:extLst>
          </p:nvPr>
        </p:nvGraphicFramePr>
        <p:xfrm>
          <a:off x="1098968" y="1888111"/>
          <a:ext cx="5929479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299410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PTSD?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Abused?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= 294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3B1F45-D483-7C42-85A7-BF77D338640F}"/>
              </a:ext>
            </a:extLst>
          </p:cNvPr>
          <p:cNvCxnSpPr/>
          <p:nvPr/>
        </p:nvCxnSpPr>
        <p:spPr>
          <a:xfrm>
            <a:off x="3635542" y="4401729"/>
            <a:ext cx="0" cy="4170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EDD691B-DEA7-4042-8D5B-741A6148C349}"/>
              </a:ext>
            </a:extLst>
          </p:cNvPr>
          <p:cNvSpPr txBox="1"/>
          <p:nvPr/>
        </p:nvSpPr>
        <p:spPr>
          <a:xfrm>
            <a:off x="2861510" y="4818824"/>
            <a:ext cx="192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39834">
                    <a:lumMod val="75000"/>
                  </a:srgbClr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Column marginals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8F7B3A-D8D2-EA43-9788-33A6058328CE}"/>
              </a:ext>
            </a:extLst>
          </p:cNvPr>
          <p:cNvCxnSpPr>
            <a:cxnSpLocks/>
          </p:cNvCxnSpPr>
          <p:nvPr/>
        </p:nvCxnSpPr>
        <p:spPr>
          <a:xfrm flipV="1">
            <a:off x="711551" y="2582562"/>
            <a:ext cx="515822" cy="1789662"/>
          </a:xfrm>
          <a:prstGeom prst="straightConnector1">
            <a:avLst/>
          </a:prstGeom>
          <a:ln w="22225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B86A364-1036-0142-A143-EAA64544F164}"/>
              </a:ext>
            </a:extLst>
          </p:cNvPr>
          <p:cNvSpPr txBox="1"/>
          <p:nvPr/>
        </p:nvSpPr>
        <p:spPr>
          <a:xfrm>
            <a:off x="218416" y="4344072"/>
            <a:ext cx="192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2E8E7">
                    <a:lumMod val="25000"/>
                  </a:srgbClr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“Risk factor”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C49D995-1A11-9B47-B224-2934F22FE093}"/>
              </a:ext>
            </a:extLst>
          </p:cNvPr>
          <p:cNvCxnSpPr>
            <a:cxnSpLocks/>
          </p:cNvCxnSpPr>
          <p:nvPr/>
        </p:nvCxnSpPr>
        <p:spPr>
          <a:xfrm>
            <a:off x="5439962" y="2104145"/>
            <a:ext cx="4355431" cy="0"/>
          </a:xfrm>
          <a:prstGeom prst="straightConnector1">
            <a:avLst/>
          </a:prstGeom>
          <a:ln w="22225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112ABAA-190C-F34D-9246-933CF0E19420}"/>
              </a:ext>
            </a:extLst>
          </p:cNvPr>
          <p:cNvSpPr txBox="1"/>
          <p:nvPr/>
        </p:nvSpPr>
        <p:spPr>
          <a:xfrm>
            <a:off x="9795393" y="1947188"/>
            <a:ext cx="192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2E8E7">
                    <a:lumMod val="25000"/>
                  </a:srgbClr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Outcome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6294F53-5B43-1A40-A778-FECD03B44E74}"/>
                  </a:ext>
                </a:extLst>
              </p:cNvPr>
              <p:cNvSpPr txBox="1"/>
              <p:nvPr/>
            </p:nvSpPr>
            <p:spPr>
              <a:xfrm>
                <a:off x="7097620" y="2196518"/>
                <a:ext cx="4569645" cy="11805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Probability of getting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PTSD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0" lang="en-US" sz="18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kumimoji="0" lang="en-US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PTSD</m:t>
                          </m:r>
                          <m:r>
                            <m:rPr>
                              <m:nor/>
                            </m:rPr>
                            <a:rPr kumimoji="0" lang="en-US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)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kumimoji="0" lang="en-US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Total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32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294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6294F53-5B43-1A40-A778-FECD03B44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620" y="2196518"/>
                <a:ext cx="4569645" cy="1180516"/>
              </a:xfrm>
              <a:prstGeom prst="rect">
                <a:avLst/>
              </a:prstGeom>
              <a:blipFill>
                <a:blip r:embed="rId2"/>
                <a:stretch>
                  <a:fillRect l="-1067" t="-2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83EF3A-BCC3-E448-982B-B79656228759}"/>
                  </a:ext>
                </a:extLst>
              </p:cNvPr>
              <p:cNvSpPr txBox="1"/>
              <p:nvPr/>
            </p:nvSpPr>
            <p:spPr>
              <a:xfrm>
                <a:off x="7101955" y="3504689"/>
                <a:ext cx="4121641" cy="14382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Probability of getting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PTSD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 conditional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on </a:t>
                </a:r>
                <a:r>
                  <a:rPr lang="en-US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experiencing abuse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kumimoji="0" lang="en-US" sz="20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p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PTSD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| 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Abused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) </m:t>
                        </m:r>
                      </m:num>
                      <m:den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Abuse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total</m:t>
                        </m:r>
                      </m:den>
                    </m:f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28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/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157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83EF3A-BCC3-E448-982B-B79656228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1955" y="3504689"/>
                <a:ext cx="4121641" cy="1438214"/>
              </a:xfrm>
              <a:prstGeom prst="rect">
                <a:avLst/>
              </a:prstGeom>
              <a:blipFill>
                <a:blip r:embed="rId3"/>
                <a:stretch>
                  <a:fillRect l="-1183" t="-2542" r="-888" b="-12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E829DBAE-D43D-2246-B4AB-BF1347581EA9}"/>
              </a:ext>
            </a:extLst>
          </p:cNvPr>
          <p:cNvSpPr txBox="1"/>
          <p:nvPr/>
        </p:nvSpPr>
        <p:spPr>
          <a:xfrm>
            <a:off x="7097620" y="1427520"/>
            <a:ext cx="3628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Different questions can be asked….</a:t>
            </a:r>
          </a:p>
        </p:txBody>
      </p:sp>
    </p:spTree>
    <p:extLst>
      <p:ext uri="{BB962C8B-B14F-4D97-AF65-F5344CB8AC3E}">
        <p14:creationId xmlns:p14="http://schemas.microsoft.com/office/powerpoint/2010/main" val="116714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A925E-8CB7-5E47-B6F2-C32351E28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Odds </a:t>
            </a:r>
            <a:r>
              <a:rPr lang="en-US" i="1" dirty="0"/>
              <a:t>Ratio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3E2D6-0656-3C48-8B76-E1D9C8FB5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75688"/>
            <a:ext cx="10058400" cy="3760891"/>
          </a:xfrm>
        </p:spPr>
        <p:txBody>
          <a:bodyPr/>
          <a:lstStyle/>
          <a:p>
            <a:r>
              <a:rPr lang="en-US" dirty="0"/>
              <a:t>The Odds Ratio (OR) for an outcome associated with a risk factor is ratio of the odds for the outcome for those with risk factor and the odds for the outcome for those without the risk factor</a:t>
            </a:r>
          </a:p>
          <a:p>
            <a:endParaRPr lang="en-US" dirty="0"/>
          </a:p>
        </p:txBody>
      </p:sp>
      <p:sp>
        <p:nvSpPr>
          <p:cNvPr id="28" name="Text Box 4">
            <a:extLst>
              <a:ext uri="{FF2B5EF4-FFF2-40B4-BE49-F238E27FC236}">
                <a16:creationId xmlns:a16="http://schemas.microsoft.com/office/drawing/2014/main" id="{29F38063-47C4-F843-9C04-A4B38A68E534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579336" y="3125254"/>
            <a:ext cx="5094287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P(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Outcome|Risk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 Factor)</a:t>
            </a:r>
          </a:p>
        </p:txBody>
      </p:sp>
      <p:sp>
        <p:nvSpPr>
          <p:cNvPr id="29" name="Text Box 5">
            <a:extLst>
              <a:ext uri="{FF2B5EF4-FFF2-40B4-BE49-F238E27FC236}">
                <a16:creationId xmlns:a16="http://schemas.microsoft.com/office/drawing/2014/main" id="{B9A6ADC3-0C91-3947-BD65-20DE51208F8E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341210" y="3742762"/>
            <a:ext cx="55705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1 – P(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Outcome|Risk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 Factor)</a:t>
            </a:r>
          </a:p>
        </p:txBody>
      </p:sp>
      <p:sp>
        <p:nvSpPr>
          <p:cNvPr id="30" name="Text Box 7">
            <a:extLst>
              <a:ext uri="{FF2B5EF4-FFF2-40B4-BE49-F238E27FC236}">
                <a16:creationId xmlns:a16="http://schemas.microsoft.com/office/drawing/2014/main" id="{E79151DD-D66A-4B4E-8320-3667A8C457C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640278" y="4412746"/>
            <a:ext cx="604226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P(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Outcome|No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 Risk Factor)</a:t>
            </a:r>
          </a:p>
        </p:txBody>
      </p:sp>
      <p:sp>
        <p:nvSpPr>
          <p:cNvPr id="31" name="Text Box 8">
            <a:extLst>
              <a:ext uri="{FF2B5EF4-FFF2-40B4-BE49-F238E27FC236}">
                <a16:creationId xmlns:a16="http://schemas.microsoft.com/office/drawing/2014/main" id="{73230906-070D-014B-9E9F-4C70176AC5ED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340016" y="5089472"/>
            <a:ext cx="610711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1 – P(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Outcome|No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 Risk Factor)</a:t>
            </a:r>
          </a:p>
        </p:txBody>
      </p:sp>
      <p:sp>
        <p:nvSpPr>
          <p:cNvPr id="32" name="Text Box 9">
            <a:extLst>
              <a:ext uri="{FF2B5EF4-FFF2-40B4-BE49-F238E27FC236}">
                <a16:creationId xmlns:a16="http://schemas.microsoft.com/office/drawing/2014/main" id="{967B840C-6962-F94A-B18A-B7C78488F4E6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340016" y="4551918"/>
            <a:ext cx="60658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itchFamily="66" charset="0"/>
                <a:ea typeface="+mn-ea"/>
                <a:cs typeface="+mn-cs"/>
              </a:rPr>
              <a:t>_______________________</a:t>
            </a:r>
          </a:p>
        </p:txBody>
      </p:sp>
      <p:sp>
        <p:nvSpPr>
          <p:cNvPr id="40" name="Text Box 9">
            <a:extLst>
              <a:ext uri="{FF2B5EF4-FFF2-40B4-BE49-F238E27FC236}">
                <a16:creationId xmlns:a16="http://schemas.microsoft.com/office/drawing/2014/main" id="{E7BBC300-C9C7-F347-AB9B-DE6C033CD1AD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3579336" y="3270113"/>
            <a:ext cx="60658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itchFamily="66" charset="0"/>
                <a:ea typeface="+mn-ea"/>
                <a:cs typeface="+mn-cs"/>
              </a:rPr>
              <a:t>_________________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3AF31A2-6396-684A-BFF1-C5E60D8B02EB}"/>
              </a:ext>
            </a:extLst>
          </p:cNvPr>
          <p:cNvCxnSpPr/>
          <p:nvPr/>
        </p:nvCxnSpPr>
        <p:spPr>
          <a:xfrm>
            <a:off x="2045368" y="4412746"/>
            <a:ext cx="8819148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F8592F4-FB14-8841-BDE1-B066A621C61A}"/>
              </a:ext>
            </a:extLst>
          </p:cNvPr>
          <p:cNvSpPr txBox="1"/>
          <p:nvPr/>
        </p:nvSpPr>
        <p:spPr>
          <a:xfrm>
            <a:off x="831382" y="4056134"/>
            <a:ext cx="1479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OR =</a:t>
            </a:r>
          </a:p>
        </p:txBody>
      </p:sp>
      <p:sp>
        <p:nvSpPr>
          <p:cNvPr id="44" name="AutoShape 12">
            <a:extLst>
              <a:ext uri="{FF2B5EF4-FFF2-40B4-BE49-F238E27FC236}">
                <a16:creationId xmlns:a16="http://schemas.microsoft.com/office/drawing/2014/main" id="{461D1E1E-0DE8-434F-B8EB-2D7F545E84F2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280887" y="5300124"/>
            <a:ext cx="2580874" cy="993067"/>
          </a:xfrm>
          <a:prstGeom prst="wedgeRoundRectCallout">
            <a:avLst>
              <a:gd name="adj1" fmla="val 69628"/>
              <a:gd name="adj2" fmla="val -88518"/>
              <a:gd name="adj3" fmla="val 16667"/>
            </a:avLst>
          </a:prstGeom>
          <a:solidFill>
            <a:schemeClr val="bg2">
              <a:lumMod val="50000"/>
            </a:schemeClr>
          </a:solidFill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Odds for outcome among those without the risk factor.</a:t>
            </a:r>
          </a:p>
        </p:txBody>
      </p:sp>
      <p:sp>
        <p:nvSpPr>
          <p:cNvPr id="45" name="AutoShape 11">
            <a:extLst>
              <a:ext uri="{FF2B5EF4-FFF2-40B4-BE49-F238E27FC236}">
                <a16:creationId xmlns:a16="http://schemas.microsoft.com/office/drawing/2014/main" id="{D4D65AFE-7C3B-4D40-BA9E-B5C34A40F5D8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9447128" y="2923234"/>
            <a:ext cx="2580874" cy="1051184"/>
          </a:xfrm>
          <a:prstGeom prst="wedgeRoundRectCallout">
            <a:avLst>
              <a:gd name="adj1" fmla="val -92162"/>
              <a:gd name="adj2" fmla="val 12847"/>
              <a:gd name="adj3" fmla="val 16667"/>
            </a:avLst>
          </a:prstGeom>
          <a:solidFill>
            <a:schemeClr val="bg2">
              <a:lumMod val="50000"/>
            </a:schemeClr>
          </a:solidFill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Odds for outcome among those with risk factor present</a:t>
            </a:r>
          </a:p>
        </p:txBody>
      </p:sp>
    </p:spTree>
    <p:extLst>
      <p:ext uri="{BB962C8B-B14F-4D97-AF65-F5344CB8AC3E}">
        <p14:creationId xmlns:p14="http://schemas.microsoft.com/office/powerpoint/2010/main" val="2162892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40" grpId="0"/>
      <p:bldP spid="44" grpId="0" animBg="1"/>
      <p:bldP spid="4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BA12FF5-A9B6-5E17-C224-4D1AE6933862}"/>
              </a:ext>
            </a:extLst>
          </p:cNvPr>
          <p:cNvSpPr txBox="1"/>
          <p:nvPr/>
        </p:nvSpPr>
        <p:spPr>
          <a:xfrm>
            <a:off x="284533" y="603767"/>
            <a:ext cx="80326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P(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risk|cervical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cancer) &amp; is P(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risk|No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cervical cancer)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4458A1-1C1B-A0FB-291E-11C0282198CA}"/>
              </a:ext>
            </a:extLst>
          </p:cNvPr>
          <p:cNvSpPr txBox="1"/>
          <p:nvPr/>
        </p:nvSpPr>
        <p:spPr>
          <a:xfrm>
            <a:off x="284533" y="1124897"/>
            <a:ext cx="526996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Here,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risk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corresponds to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Age at first pregnancy &lt; 25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Risk group = Age &lt; 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Non-risk group = Age &gt; 25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2352ED7-66A7-656B-6F2B-A294C53A9B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4380138"/>
              </p:ext>
            </p:extLst>
          </p:nvPr>
        </p:nvGraphicFramePr>
        <p:xfrm>
          <a:off x="355465" y="2625654"/>
          <a:ext cx="9814398" cy="158496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325887439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32795357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05652615"/>
                    </a:ext>
                  </a:extLst>
                </a:gridCol>
                <a:gridCol w="1927698">
                  <a:extLst>
                    <a:ext uri="{9D8B030D-6E8A-4147-A177-3AD203B41FA5}">
                      <a16:colId xmlns:a16="http://schemas.microsoft.com/office/drawing/2014/main" val="16823661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at 1st Pregnancy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Cervical Cancer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Cervical Cancer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9895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&lt; 25 (risk)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660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&gt; 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437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37875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05FEE2-945C-E5D2-AB44-361D65953774}"/>
                  </a:ext>
                </a:extLst>
              </p:cNvPr>
              <p:cNvSpPr txBox="1"/>
              <p:nvPr/>
            </p:nvSpPr>
            <p:spPr>
              <a:xfrm>
                <a:off x="517997" y="4583275"/>
                <a:ext cx="4744667" cy="22747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Probability of risk given cervical cancer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cervical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cancer</m:t>
                          </m:r>
                        </m:e>
                      </m:d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49</m:t>
                          </m:r>
                        </m:den>
                      </m:f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857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So about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85.7%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of women with cervical cancer were in the risk group.</a:t>
                </a:r>
              </a:p>
              <a:p>
                <a:pPr>
                  <a:buNone/>
                </a:pPr>
                <a:b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05FEE2-945C-E5D2-AB44-361D65953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997" y="4583275"/>
                <a:ext cx="4744667" cy="2274725"/>
              </a:xfrm>
              <a:prstGeom prst="rect">
                <a:avLst/>
              </a:prstGeom>
              <a:blipFill>
                <a:blip r:embed="rId2"/>
                <a:stretch>
                  <a:fillRect l="-1157" t="-1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7740275-6B33-51B6-AE94-580235EFA51F}"/>
                  </a:ext>
                </a:extLst>
              </p:cNvPr>
              <p:cNvSpPr txBox="1"/>
              <p:nvPr/>
            </p:nvSpPr>
            <p:spPr>
              <a:xfrm>
                <a:off x="5997102" y="4270580"/>
                <a:ext cx="5014609" cy="19977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Probability of risk given no cervical cancer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no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cervical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cancer</m:t>
                          </m:r>
                        </m:e>
                      </m:d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203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317</m:t>
                          </m:r>
                        </m:den>
                      </m:f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640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So about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64.0%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of women without cervical cancer were in the risk group.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7740275-6B33-51B6-AE94-580235EFA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102" y="4270580"/>
                <a:ext cx="5014609" cy="1997726"/>
              </a:xfrm>
              <a:prstGeom prst="rect">
                <a:avLst/>
              </a:prstGeom>
              <a:blipFill>
                <a:blip r:embed="rId3"/>
                <a:stretch>
                  <a:fillRect l="-1095" b="-42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802EF8F-D583-76D7-2A84-3F2F0ED70DA1}"/>
              </a:ext>
            </a:extLst>
          </p:cNvPr>
          <p:cNvSpPr txBox="1"/>
          <p:nvPr/>
        </p:nvSpPr>
        <p:spPr>
          <a:xfrm>
            <a:off x="284532" y="112028"/>
            <a:ext cx="70209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Compute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odds ratio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of 1st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preg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. before (or at) age 25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9224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6737F6-9AD3-1637-BA1A-6F1A4F842772}"/>
              </a:ext>
            </a:extLst>
          </p:cNvPr>
          <p:cNvSpPr txBox="1"/>
          <p:nvPr/>
        </p:nvSpPr>
        <p:spPr>
          <a:xfrm>
            <a:off x="255350" y="272773"/>
            <a:ext cx="111162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are the odds for the risk factor amongst the cervical cancer? Amongst no cervical cancer?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EFC4AA-34BC-F298-2443-A423742FC99F}"/>
                  </a:ext>
                </a:extLst>
              </p:cNvPr>
              <p:cNvSpPr txBox="1"/>
              <p:nvPr/>
            </p:nvSpPr>
            <p:spPr>
              <a:xfrm>
                <a:off x="187256" y="2914825"/>
                <a:ext cx="6094378" cy="25507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br>
                  <a:rPr lang="ar-AE" b="1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1. Odds of risk factor among those without cervical cancer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Among cervical cancer cases: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Risk (Age &lt; 25) = 42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risk (Age &gt; 25) = 7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Odds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EFC4AA-34BC-F298-2443-A423742FC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256" y="2914825"/>
                <a:ext cx="6094378" cy="2550763"/>
              </a:xfrm>
              <a:prstGeom prst="rect">
                <a:avLst/>
              </a:prstGeom>
              <a:blipFill>
                <a:blip r:embed="rId2"/>
                <a:stretch>
                  <a:fillRect l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9E2AA6-9FA6-C7CA-F404-7CF7A5BE930F}"/>
                  </a:ext>
                </a:extLst>
              </p:cNvPr>
              <p:cNvSpPr txBox="1"/>
              <p:nvPr/>
            </p:nvSpPr>
            <p:spPr>
              <a:xfrm>
                <a:off x="6281634" y="3450166"/>
                <a:ext cx="6094378" cy="1995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2. Odds of risk factor among those without cervical cancer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Among women without cervical cancer: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Risk (Age &lt; 25) = 203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risk (Age &gt; 25) = 114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Odds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203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114</m:t>
                          </m:r>
                        </m:den>
                      </m:f>
                      <m:r>
                        <a:rPr lang="ar-AE" b="0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78</m:t>
                      </m:r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9E2AA6-9FA6-C7CA-F404-7CF7A5BE9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634" y="3450166"/>
                <a:ext cx="6094378" cy="1995931"/>
              </a:xfrm>
              <a:prstGeom prst="rect">
                <a:avLst/>
              </a:prstGeom>
              <a:blipFill>
                <a:blip r:embed="rId3"/>
                <a:stretch>
                  <a:fillRect l="-800" t="-1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CFC16F-2BCC-5C6A-E137-1077CA139D3E}"/>
                  </a:ext>
                </a:extLst>
              </p:cNvPr>
              <p:cNvSpPr txBox="1"/>
              <p:nvPr/>
            </p:nvSpPr>
            <p:spPr>
              <a:xfrm>
                <a:off x="255350" y="817810"/>
                <a:ext cx="7643510" cy="14541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We calculate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odds of the risk factor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within each disease group.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Risk factor =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Age at first pregnancy &lt; 25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Odds are: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odds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no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CFC16F-2BCC-5C6A-E137-1077CA139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350" y="817810"/>
                <a:ext cx="7643510" cy="1454181"/>
              </a:xfrm>
              <a:prstGeom prst="rect">
                <a:avLst/>
              </a:prstGeom>
              <a:blipFill>
                <a:blip r:embed="rId4"/>
                <a:stretch>
                  <a:fillRect l="-718" t="-2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2273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080301-89C8-9936-5FEF-31B8B34F4E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718829"/>
              </p:ext>
            </p:extLst>
          </p:nvPr>
        </p:nvGraphicFramePr>
        <p:xfrm>
          <a:off x="595008" y="407896"/>
          <a:ext cx="10515600" cy="11887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401228773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389500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431178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at 1st Pregnancy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Cervical Cancer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Cervical Cancer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725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&lt; 25 (risk)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708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&gt; 25 (no risk)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23116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AF0629-4A1A-470D-E408-F212D4D5EEF7}"/>
                  </a:ext>
                </a:extLst>
              </p:cNvPr>
              <p:cNvSpPr txBox="1"/>
              <p:nvPr/>
            </p:nvSpPr>
            <p:spPr>
              <a:xfrm>
                <a:off x="478277" y="1972827"/>
                <a:ext cx="10932268" cy="41120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odds ratio (OR)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compares the odds of exposure (risk factor) among cases to the odds among non-cases.</a:t>
                </a:r>
              </a:p>
              <a:p>
                <a:pPr>
                  <a:buNone/>
                </a:pPr>
                <a:endParaRPr lang="en-US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Step 1: Odds of risk among cases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Step 2: Odds of risk among non-cases:                                                                                                   </a:t>
                </a:r>
              </a:p>
              <a:p>
                <a:pPr algn="ctr">
                  <a:buNone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400">
                            <a:latin typeface="Cambria Math" panose="02040503050406030204" pitchFamily="18" charset="0"/>
                          </a:rPr>
                          <m:t>203</m:t>
                        </m:r>
                      </m:num>
                      <m:den>
                        <m:r>
                          <a:rPr lang="ar-AE" sz="2400" i="0">
                            <a:latin typeface="Cambria Math" panose="02040503050406030204" pitchFamily="18" charset="0"/>
                          </a:rPr>
                          <m:t>114</m:t>
                        </m:r>
                      </m:den>
                    </m:f>
                    <m:r>
                      <a:rPr lang="ar-AE" sz="2400" i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ar-AE" sz="2400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400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2400" i="0">
                        <a:latin typeface="Cambria Math" panose="02040503050406030204" pitchFamily="18" charset="0"/>
                      </a:rPr>
                      <m:t>78</m:t>
                    </m:r>
                  </m:oMath>
                </a14:m>
                <a:endParaRPr lang="ar-AE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Step 3: Odds Ratio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𝑂𝑅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78</m:t>
                          </m:r>
                        </m:den>
                      </m:f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42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114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203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𝑂𝑅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4788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1421</m:t>
                          </m:r>
                        </m:den>
                      </m:f>
                      <m:r>
                        <a:rPr lang="ar-AE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37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AF0629-4A1A-470D-E408-F212D4D5E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77" y="1972827"/>
                <a:ext cx="10932268" cy="4112088"/>
              </a:xfrm>
              <a:prstGeom prst="rect">
                <a:avLst/>
              </a:prstGeom>
              <a:blipFill>
                <a:blip r:embed="rId2"/>
                <a:stretch>
                  <a:fillRect l="-446" t="-8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9650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FEB4C-66E8-DE47-886A-61F78E8C0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063" y="215839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Easy Formula to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06FFB-696C-D04B-9FE6-BF68706E2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157" y="925171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Again, the question is: compute the odds ratio of having a 1st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preg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before (or at) age 25 among women who have cervical cancer and those who do not</a:t>
            </a:r>
          </a:p>
        </p:txBody>
      </p:sp>
      <p:sp>
        <p:nvSpPr>
          <p:cNvPr id="11" name="Text Box 45">
            <a:extLst>
              <a:ext uri="{FF2B5EF4-FFF2-40B4-BE49-F238E27FC236}">
                <a16:creationId xmlns:a16="http://schemas.microsoft.com/office/drawing/2014/main" id="{8E080D7B-AE11-8B48-A93C-512B80470714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7397784" y="2465762"/>
            <a:ext cx="2255746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OR = _____</a:t>
            </a:r>
          </a:p>
        </p:txBody>
      </p:sp>
      <p:sp>
        <p:nvSpPr>
          <p:cNvPr id="12" name="Text Box 47">
            <a:extLst>
              <a:ext uri="{FF2B5EF4-FFF2-40B4-BE49-F238E27FC236}">
                <a16:creationId xmlns:a16="http://schemas.microsoft.com/office/drawing/2014/main" id="{4AF60082-D2AB-994F-A617-979FAFC957C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587275" y="2980111"/>
            <a:ext cx="146526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b x c</a:t>
            </a:r>
          </a:p>
        </p:txBody>
      </p:sp>
      <p:sp>
        <p:nvSpPr>
          <p:cNvPr id="13" name="Text Box 46">
            <a:extLst>
              <a:ext uri="{FF2B5EF4-FFF2-40B4-BE49-F238E27FC236}">
                <a16:creationId xmlns:a16="http://schemas.microsoft.com/office/drawing/2014/main" id="{C4E0D58F-10CD-7C42-A9A1-E10C4B5BAF9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623335" y="2345111"/>
            <a:ext cx="14525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a x d</a:t>
            </a:r>
          </a:p>
        </p:txBody>
      </p:sp>
      <p:graphicFrame>
        <p:nvGraphicFramePr>
          <p:cNvPr id="16" name="Group 52">
            <a:extLst>
              <a:ext uri="{FF2B5EF4-FFF2-40B4-BE49-F238E27FC236}">
                <a16:creationId xmlns:a16="http://schemas.microsoft.com/office/drawing/2014/main" id="{2476E832-01D9-9E47-87E9-9E5E3D396EF3}"/>
              </a:ext>
            </a:extLst>
          </p:cNvPr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10315916"/>
              </p:ext>
            </p:extLst>
          </p:nvPr>
        </p:nvGraphicFramePr>
        <p:xfrm>
          <a:off x="514168" y="1968212"/>
          <a:ext cx="6157762" cy="1920240"/>
        </p:xfrm>
        <a:graphic>
          <a:graphicData uri="http://schemas.openxmlformats.org/drawingml/2006/table">
            <a:tbl>
              <a:tblPr/>
              <a:tblGrid>
                <a:gridCol w="2981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1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45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9744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Risk Factor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Status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Case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Risk Factor Present</a:t>
                      </a:r>
                    </a:p>
                  </a:txBody>
                  <a:tcPr anchor="b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Risk Factor Absent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24265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FEB4C-66E8-DE47-886A-61F78E8C0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188050"/>
            <a:ext cx="10058400" cy="71711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Easy Formula to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06FFB-696C-D04B-9FE6-BF68706E2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67" y="971336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Again, the question is: compute the odds ratio of having a child before (or at) age 25 among women who have cervical cancer and those who do not</a:t>
            </a:r>
          </a:p>
        </p:txBody>
      </p:sp>
      <p:sp>
        <p:nvSpPr>
          <p:cNvPr id="11" name="Text Box 45">
            <a:extLst>
              <a:ext uri="{FF2B5EF4-FFF2-40B4-BE49-F238E27FC236}">
                <a16:creationId xmlns:a16="http://schemas.microsoft.com/office/drawing/2014/main" id="{8E080D7B-AE11-8B48-A93C-512B80470714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8038587" y="2726607"/>
            <a:ext cx="31170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OR = _____</a:t>
            </a:r>
          </a:p>
        </p:txBody>
      </p:sp>
      <p:sp>
        <p:nvSpPr>
          <p:cNvPr id="12" name="Text Box 47">
            <a:extLst>
              <a:ext uri="{FF2B5EF4-FFF2-40B4-BE49-F238E27FC236}">
                <a16:creationId xmlns:a16="http://schemas.microsoft.com/office/drawing/2014/main" id="{4AF60082-D2AB-994F-A617-979FAFC957C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899934" y="3057970"/>
            <a:ext cx="21095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7 x 203</a:t>
            </a:r>
          </a:p>
        </p:txBody>
      </p:sp>
      <p:sp>
        <p:nvSpPr>
          <p:cNvPr id="13" name="Text Box 46">
            <a:extLst>
              <a:ext uri="{FF2B5EF4-FFF2-40B4-BE49-F238E27FC236}">
                <a16:creationId xmlns:a16="http://schemas.microsoft.com/office/drawing/2014/main" id="{C4E0D58F-10CD-7C42-A9A1-E10C4B5BAF9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839201" y="2721683"/>
            <a:ext cx="21095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42 x 114</a:t>
            </a:r>
          </a:p>
        </p:txBody>
      </p:sp>
      <p:graphicFrame>
        <p:nvGraphicFramePr>
          <p:cNvPr id="16" name="Group 52">
            <a:extLst>
              <a:ext uri="{FF2B5EF4-FFF2-40B4-BE49-F238E27FC236}">
                <a16:creationId xmlns:a16="http://schemas.microsoft.com/office/drawing/2014/main" id="{2476E832-01D9-9E47-87E9-9E5E3D396EF3}"/>
              </a:ext>
            </a:extLst>
          </p:cNvPr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454134244"/>
              </p:ext>
            </p:extLst>
          </p:nvPr>
        </p:nvGraphicFramePr>
        <p:xfrm>
          <a:off x="462348" y="1919029"/>
          <a:ext cx="5659437" cy="2538486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885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7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357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Age at 1</a:t>
                      </a:r>
                      <a:r>
                        <a:rPr kumimoji="0" lang="en-US" altLang="en-US" sz="2000" b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st</a:t>
                      </a: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Pregnancy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Cancer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No Cancer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9228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Age &lt;= 25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 = 42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b = 7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68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Age &gt; 25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 = 203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d = 114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A11DA23-9F19-914C-8ABD-4DD36F98DD1D}"/>
              </a:ext>
            </a:extLst>
          </p:cNvPr>
          <p:cNvSpPr txBox="1"/>
          <p:nvPr/>
        </p:nvSpPr>
        <p:spPr>
          <a:xfrm>
            <a:off x="7097842" y="3493473"/>
            <a:ext cx="39222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4902 x 1421 = 3.4!</a:t>
            </a:r>
          </a:p>
        </p:txBody>
      </p:sp>
      <p:sp>
        <p:nvSpPr>
          <p:cNvPr id="9" name="Text Box 45">
            <a:extLst>
              <a:ext uri="{FF2B5EF4-FFF2-40B4-BE49-F238E27FC236}">
                <a16:creationId xmlns:a16="http://schemas.microsoft.com/office/drawing/2014/main" id="{7BD3DC17-D151-F748-9E05-1EF847D1C851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8899934" y="254221"/>
            <a:ext cx="2255746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OR = _____</a:t>
            </a:r>
          </a:p>
        </p:txBody>
      </p:sp>
      <p:sp>
        <p:nvSpPr>
          <p:cNvPr id="10" name="Text Box 47">
            <a:extLst>
              <a:ext uri="{FF2B5EF4-FFF2-40B4-BE49-F238E27FC236}">
                <a16:creationId xmlns:a16="http://schemas.microsoft.com/office/drawing/2014/main" id="{64C64142-6068-1340-A041-3F95B4631D36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10089425" y="768570"/>
            <a:ext cx="146526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b x c</a:t>
            </a:r>
          </a:p>
        </p:txBody>
      </p:sp>
      <p:sp>
        <p:nvSpPr>
          <p:cNvPr id="14" name="Text Box 46">
            <a:extLst>
              <a:ext uri="{FF2B5EF4-FFF2-40B4-BE49-F238E27FC236}">
                <a16:creationId xmlns:a16="http://schemas.microsoft.com/office/drawing/2014/main" id="{1013A958-D68B-E040-9985-1C37BE9C618C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9991005" y="89499"/>
            <a:ext cx="14525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a x d</a:t>
            </a:r>
          </a:p>
        </p:txBody>
      </p:sp>
    </p:spTree>
    <p:extLst>
      <p:ext uri="{BB962C8B-B14F-4D97-AF65-F5344CB8AC3E}">
        <p14:creationId xmlns:p14="http://schemas.microsoft.com/office/powerpoint/2010/main" val="37759683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CB22E-3770-4D41-810B-434FFC5FD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35" y="179598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Other interpretations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B6D912-2E8E-4A35-A521-4D62C07D0C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8523" y="881903"/>
                <a:ext cx="10058400" cy="3760891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the odds as a percent increase or decrease (this is often the better interpretation because people understand percentages better than they understand odds)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percent change in the odds is defined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−1)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100</m:t>
                    </m:r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Odds ratio = 1.89 calculate the percent change in the odds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|(1 – 1.89)| X 100 = 89% increase</a:t>
                </a: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the odds of a first pregnancy among women aged 25 or younger is [(3.4 - 1) * 100 =] 240% higher among women who had cervical cancer compared to those who have not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B6D912-2E8E-4A35-A521-4D62C07D0C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8523" y="881903"/>
                <a:ext cx="10058400" cy="3760891"/>
              </a:xfrm>
              <a:blipFill>
                <a:blip r:embed="rId2"/>
                <a:stretch>
                  <a:fillRect l="-667" t="-810" r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02857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5EF9D-9FBE-5650-1B26-DDB8519D204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09107" y="127590"/>
            <a:ext cx="10058400" cy="744279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56C36-BA8B-E098-8A6A-401001D4B76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09107" y="871869"/>
            <a:ext cx="11982893" cy="4997119"/>
          </a:xfrm>
        </p:spPr>
        <p:txBody>
          <a:bodyPr>
            <a:normAutofit/>
          </a:bodyPr>
          <a:lstStyle/>
          <a:p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Logistic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regression is used when the dependent variable is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qualitative (e.g., Yes/No)</a:t>
            </a:r>
          </a:p>
          <a:p>
            <a:r>
              <a:rPr lang="en-US" sz="2000" b="1" dirty="0">
                <a:solidFill>
                  <a:srgbClr val="24242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Recall</a:t>
            </a:r>
            <a:endParaRPr lang="en-US" b="1" dirty="0">
              <a:solidFill>
                <a:srgbClr val="24242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18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qualitative variable (also known as categorical) is not numerical, and its values fit into categories. It is also divided into two types:</a:t>
            </a:r>
          </a:p>
          <a:p>
            <a:pPr lvl="1"/>
            <a:r>
              <a:rPr lang="en-US" sz="16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Nominal: no ordering is possible or implied in the categories (for example </a:t>
            </a:r>
            <a:r>
              <a:rPr lang="en-US" sz="1600" b="0" i="1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sex at birth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pPr lvl="1"/>
            <a:r>
              <a:rPr lang="en-US" sz="16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Ordinal: an order is implied in the categories (for example the health status, such as poor/reasonable/good, a Likert scale)</a:t>
            </a:r>
          </a:p>
          <a:p>
            <a:pPr algn="l"/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variable, also known as dichotomous, is a special case of a qualitative nominal variable when there are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two categories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421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131A9-29DF-2285-A265-C66D4E48635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5060" y="0"/>
            <a:ext cx="12106940" cy="79718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Research Questions &amp; Methodological Approaches</a:t>
            </a:r>
            <a:endParaRPr lang="en-US" sz="4000" dirty="0">
              <a:latin typeface="Aptos Display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E611A-72D1-EA71-D0E2-6540A6C0C08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93405" y="1084521"/>
            <a:ext cx="11259879" cy="4784467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Medicine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Estimate the risk factors associated with a disease or a harmful condition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 the risk of developing a disease based on a patient’s medical history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Determine the most “important” biological factors associated with a specific disease or condition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Economics/Business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Estimate a debtor’s likelihood to default on a loan based on creditworthiness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a customer’s propensity to buy a certain product or service given a demographic profile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Psychology/Social Work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Estimate the probability of developing PTSD following trauma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Political Science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 question I examined ad nauseum in graduate school: What predicts voting behavior?</a:t>
            </a:r>
          </a:p>
        </p:txBody>
      </p:sp>
    </p:spTree>
    <p:extLst>
      <p:ext uri="{BB962C8B-B14F-4D97-AF65-F5344CB8AC3E}">
        <p14:creationId xmlns:p14="http://schemas.microsoft.com/office/powerpoint/2010/main" val="27485863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131A9-29DF-2285-A265-C66D4E48635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5312" y="85504"/>
            <a:ext cx="10058400" cy="935406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Generalized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E611A-72D1-EA71-D0E2-6540A6C0C08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8344" y="935665"/>
            <a:ext cx="11089758" cy="4933323"/>
          </a:xfrm>
        </p:spPr>
        <p:txBody>
          <a:bodyPr>
            <a:normAutofit/>
          </a:bodyPr>
          <a:lstStyle/>
          <a:p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 categories: Binary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logistic regression is used when the goal is to estimate the relationship between a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 dependent variable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(= two outcomes), and one or more independent variables (of any type)</a:t>
            </a:r>
          </a:p>
          <a:p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than two categories: Multinomial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logistic regression is used when the goal is to estimate the relationship between a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nominal dependent variable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with three or more </a:t>
            </a:r>
            <a:r>
              <a:rPr lang="en-US" sz="2000" b="0" i="1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unordered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outcomes, and one or more independent variables (of any type).</a:t>
            </a:r>
          </a:p>
          <a:p>
            <a:r>
              <a:rPr lang="en-US" sz="2000" b="1" dirty="0">
                <a:solidFill>
                  <a:srgbClr val="24242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than two </a:t>
            </a:r>
            <a:r>
              <a:rPr lang="en-US" sz="2000" b="1" i="1" dirty="0">
                <a:solidFill>
                  <a:srgbClr val="24242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</a:t>
            </a:r>
            <a:r>
              <a:rPr lang="en-US" sz="2000" b="1" dirty="0">
                <a:solidFill>
                  <a:srgbClr val="24242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categories: 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Ordinal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logistic regression is used when the goal is to estimate the relationship between an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ordinal dependent variable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with three or more </a:t>
            </a:r>
            <a:r>
              <a:rPr lang="en-US" sz="2000" b="0" i="1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outcomes, and one or more independent variables (of any type).</a:t>
            </a:r>
          </a:p>
          <a:p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Categorical regressions (i.e., of the logistic family) (and Poisson regression) are both part of a broader type of model called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generalized linear models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(abbreviated as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GLM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88001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2281D-467D-4832-A4E8-BB8AA28C0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64" y="338328"/>
            <a:ext cx="11354620" cy="1608328"/>
          </a:xfrm>
        </p:spPr>
        <p:txBody>
          <a:bodyPr>
            <a:noAutofit/>
          </a:bodyPr>
          <a:lstStyle/>
          <a:p>
            <a:br>
              <a:rPr lang="en-US" sz="2800" dirty="0">
                <a:latin typeface="+mn-lt"/>
              </a:rPr>
            </a:br>
            <a:r>
              <a:rPr lang="en-US" sz="2000" dirty="0">
                <a:latin typeface="+mn-lt"/>
              </a:rPr>
              <a:t>The sigmoidal function models the probability that </a:t>
            </a:r>
            <a:r>
              <a:rPr lang="en-US" sz="2000" i="1" dirty="0">
                <a:latin typeface="+mn-lt"/>
              </a:rPr>
              <a:t>Y</a:t>
            </a:r>
            <a:r>
              <a:rPr lang="en-US" sz="2000" dirty="0">
                <a:latin typeface="+mn-lt"/>
              </a:rPr>
              <a:t> = 1 conditional on </a:t>
            </a:r>
            <a:r>
              <a:rPr lang="en-US" sz="2000" i="1" dirty="0">
                <a:latin typeface="+mn-lt"/>
              </a:rPr>
              <a:t>X</a:t>
            </a:r>
            <a:r>
              <a:rPr lang="en-US" sz="2000" dirty="0">
                <a:latin typeface="+mn-lt"/>
              </a:rPr>
              <a:t> (i.e., values falling along the x-axis); using the </a:t>
            </a:r>
            <a:r>
              <a:rPr lang="en-US" sz="2000" b="1" dirty="0">
                <a:latin typeface="+mn-lt"/>
              </a:rPr>
              <a:t>logit function ensures that the Y values will be between 0 and 1 for all values of </a:t>
            </a:r>
            <a:r>
              <a:rPr lang="en-US" sz="2000" b="1" i="1" dirty="0">
                <a:latin typeface="+mn-lt"/>
              </a:rPr>
              <a:t>X </a:t>
            </a:r>
            <a:r>
              <a:rPr lang="en-US" sz="2000" b="1" dirty="0">
                <a:latin typeface="+mn-lt"/>
              </a:rPr>
              <a:t>(i.e., no matter the range of </a:t>
            </a:r>
            <a:r>
              <a:rPr lang="en-US" sz="2000" b="1" i="1" dirty="0">
                <a:latin typeface="+mn-lt"/>
              </a:rPr>
              <a:t>X</a:t>
            </a:r>
            <a:r>
              <a:rPr lang="en-US" sz="2000" b="1" dirty="0">
                <a:latin typeface="+mn-lt"/>
              </a:rPr>
              <a:t>)</a:t>
            </a:r>
            <a:endParaRPr lang="en-US" sz="2400" dirty="0">
              <a:latin typeface="+mn-lt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AAE9118-0436-4488-AC4A-C14DF6A7B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2211010"/>
            <a:ext cx="12192002" cy="464699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ounded Rectangle 26">
            <a:extLst>
              <a:ext uri="{FF2B5EF4-FFF2-40B4-BE49-F238E27FC236}">
                <a16:creationId xmlns:a16="http://schemas.microsoft.com/office/drawing/2014/main" id="{1B10F861-B8F1-49C7-BD58-EAB20CEE7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564" y="2423160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Content Placeholder 8" descr="Chart, scatter chart&#10;&#10;Description automatically generated">
            <a:extLst>
              <a:ext uri="{FF2B5EF4-FFF2-40B4-BE49-F238E27FC236}">
                <a16:creationId xmlns:a16="http://schemas.microsoft.com/office/drawing/2014/main" id="{70291898-414A-45B5-94D5-9EC0A31A07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426" y="2742397"/>
            <a:ext cx="4791844" cy="3291840"/>
          </a:xfrm>
          <a:prstGeom prst="rect">
            <a:avLst/>
          </a:prstGeom>
        </p:spPr>
      </p:pic>
      <p:sp>
        <p:nvSpPr>
          <p:cNvPr id="77" name="Rounded Rectangle 16">
            <a:extLst>
              <a:ext uri="{FF2B5EF4-FFF2-40B4-BE49-F238E27FC236}">
                <a16:creationId xmlns:a16="http://schemas.microsoft.com/office/drawing/2014/main" id="{61F6E425-22AB-4DA2-8FAC-58ADB58EF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4749" y="2423160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Content Placeholder 5" descr="Chart&#10;&#10;Description automatically generated with medium confidence">
            <a:extLst>
              <a:ext uri="{FF2B5EF4-FFF2-40B4-BE49-F238E27FC236}">
                <a16:creationId xmlns:a16="http://schemas.microsoft.com/office/drawing/2014/main" id="{736FE4E7-268E-4A16-A406-4E1E7D762F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7055" y="2595405"/>
            <a:ext cx="4892519" cy="3596976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DEABAA-813A-4874-B016-F313226DFF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348" y="4897208"/>
            <a:ext cx="1835874" cy="551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40BD9-D205-EFE0-A16B-9094F5E415BA}"/>
              </a:ext>
            </a:extLst>
          </p:cNvPr>
          <p:cNvSpPr txBox="1"/>
          <p:nvPr/>
        </p:nvSpPr>
        <p:spPr>
          <a:xfrm>
            <a:off x="0" y="15689"/>
            <a:ext cx="91968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Linear vs. 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2382938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1DE15-C4D6-030B-C542-A1B201DDBCA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4047" y="117217"/>
            <a:ext cx="10058400" cy="871795"/>
          </a:xfrm>
        </p:spPr>
        <p:txBody>
          <a:bodyPr>
            <a:normAutofit/>
          </a:bodyPr>
          <a:lstStyle/>
          <a:p>
            <a:r>
              <a:rPr lang="it-IT" sz="4000" i="0" dirty="0">
                <a:solidFill>
                  <a:srgbClr val="242424"/>
                </a:solidFill>
                <a:effectLst/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Univariate versus multivariate logistic regression</a:t>
            </a:r>
            <a:endParaRPr lang="en-US" sz="4000" dirty="0">
              <a:latin typeface="Aptos Display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BBE09-854D-458D-6800-B74DEF58EFB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36696" y="864191"/>
            <a:ext cx="11359117" cy="3760788"/>
          </a:xfrm>
        </p:spPr>
        <p:txBody>
          <a:bodyPr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Univariate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binary logistic regression includes </a:t>
            </a:r>
            <a:r>
              <a:rPr lang="en-US" sz="24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 independent variable</a:t>
            </a:r>
            <a:endParaRPr lang="en-US" sz="2400" b="0" i="0" dirty="0">
              <a:solidFill>
                <a:srgbClr val="242424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l">
              <a:buNone/>
            </a:pPr>
            <a:r>
              <a:rPr lang="en-US" sz="24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Multivariate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binary logistic regression includes </a:t>
            </a:r>
            <a:r>
              <a:rPr lang="en-US" sz="2400" b="1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 or more independent variables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b="0" i="0" dirty="0">
                <a:solidFill>
                  <a:srgbClr val="2424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Variables can be quantitative or qualitative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8943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>
            <a:extLst>
              <a:ext uri="{FF2B5EF4-FFF2-40B4-BE49-F238E27FC236}">
                <a16:creationId xmlns:a16="http://schemas.microsoft.com/office/drawing/2014/main" id="{2B9976F6-A221-45F9-95F8-2C25678B825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6396" y="73422"/>
            <a:ext cx="10058400" cy="753376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Mechanics of Logistic Regression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CC54D2-80C9-4F83-8555-6438845ACA63}"/>
              </a:ext>
            </a:extLst>
          </p:cNvPr>
          <p:cNvSpPr>
            <a:spLocks/>
          </p:cNvSpPr>
          <p:nvPr/>
        </p:nvSpPr>
        <p:spPr>
          <a:xfrm>
            <a:off x="435935" y="1043413"/>
            <a:ext cx="9779907" cy="4652942"/>
          </a:xfrm>
          <a:prstGeom prst="rect">
            <a:avLst/>
          </a:prstGeom>
        </p:spPr>
        <p:txBody>
          <a:bodyPr>
            <a:normAutofit/>
          </a:bodyPr>
          <a:lstStyle/>
          <a:p>
            <a:pPr defTabSz="822960">
              <a:spcAft>
                <a:spcPts val="600"/>
              </a:spcAft>
            </a:pPr>
            <a:r>
              <a:rPr lang="en-US" altLang="en-US" sz="2160" kern="1200" dirty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A regression where the dependent variable is measured 0/1 (pass/fail; vote/didn’t vote, etc.)</a:t>
            </a:r>
          </a:p>
          <a:p>
            <a:pPr>
              <a:spcAft>
                <a:spcPts val="600"/>
              </a:spcAft>
            </a:pPr>
            <a:endParaRPr lang="en-US" altLang="en-US" sz="2400" dirty="0">
              <a:solidFill>
                <a:schemeClr val="tx1"/>
              </a:solidFill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  <p:sp>
        <p:nvSpPr>
          <p:cNvPr id="25602" name="TextBox 2">
            <a:extLst>
              <a:ext uri="{FF2B5EF4-FFF2-40B4-BE49-F238E27FC236}">
                <a16:creationId xmlns:a16="http://schemas.microsoft.com/office/drawing/2014/main" id="{BEF90FC6-BAD4-4DE4-888F-BE5386B116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935" y="1822389"/>
            <a:ext cx="9956523" cy="753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822960">
              <a:spcAft>
                <a:spcPts val="600"/>
              </a:spcAft>
            </a:pPr>
            <a:r>
              <a:rPr lang="en-US" altLang="en-US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In ordinary regression the model predicts the mean of </a:t>
            </a:r>
            <a:r>
              <a:rPr lang="en-US" altLang="en-US" sz="2160" i="1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Y</a:t>
            </a:r>
            <a:r>
              <a:rPr lang="en-US" altLang="en-US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 for any combination of predictors</a:t>
            </a:r>
            <a:endParaRPr lang="en-US" alt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2">
                <a:extLst>
                  <a:ext uri="{FF2B5EF4-FFF2-40B4-BE49-F238E27FC236}">
                    <a16:creationId xmlns:a16="http://schemas.microsoft.com/office/drawing/2014/main" id="{9793DB9C-5B4E-4917-A37D-D950BA04C119}"/>
                  </a:ext>
                </a:extLst>
              </p:cNvPr>
              <p:cNvSpPr txBox="1"/>
              <p:nvPr/>
            </p:nvSpPr>
            <p:spPr bwMode="auto">
              <a:xfrm>
                <a:off x="5554563" y="3710098"/>
                <a:ext cx="4939772" cy="6737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>
                <a:noAutofit/>
              </a:bodyPr>
              <a:lstStyle/>
              <a:p>
                <a:pPr defTabSz="822960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̄"/>
                          <m:ctrlP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</m:acc>
                      <m:r>
                        <a:rPr lang="en-US" sz="18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sz="18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800" i="1" kern="12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kern="12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800" i="1" kern="12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den>
                      </m:f>
                      <m:r>
                        <a:rPr lang="en-US" sz="18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#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′</m:t>
                          </m:r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num>
                        <m:den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#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trials</m:t>
                          </m:r>
                        </m:den>
                      </m:f>
                      <m:r>
                        <a:rPr lang="en-US" sz="18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Proportion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of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 "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success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"</m:t>
                      </m:r>
                    </m:oMath>
                  </m:oMathPara>
                </a14:m>
                <a:endParaRPr lang="en-US" sz="2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Object 2">
                <a:extLst>
                  <a:ext uri="{FF2B5EF4-FFF2-40B4-BE49-F238E27FC236}">
                    <a16:creationId xmlns:a16="http://schemas.microsoft.com/office/drawing/2014/main" id="{9793DB9C-5B4E-4917-A37D-D950BA04C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54563" y="3710098"/>
                <a:ext cx="4939772" cy="6737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C86280F-160A-4640-970F-EE9AAD6596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935" y="2857859"/>
            <a:ext cx="4827529" cy="1089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822960">
              <a:spcAft>
                <a:spcPts val="600"/>
              </a:spcAft>
            </a:pPr>
            <a:r>
              <a:rPr lang="en-US" altLang="en-US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Goal of logistic regression: Predict the </a:t>
            </a:r>
            <a:r>
              <a:rPr lang="ja-JP" altLang="en-US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“</a:t>
            </a:r>
            <a:r>
              <a:rPr lang="en-US" altLang="ja-JP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true</a:t>
            </a:r>
            <a:r>
              <a:rPr lang="ja-JP" altLang="en-US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”</a:t>
            </a:r>
            <a:r>
              <a:rPr lang="en-US" altLang="ja-JP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 proportion of success, </a:t>
            </a:r>
            <a:r>
              <a:rPr lang="en-US" altLang="ja-JP" sz="2160" i="1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p</a:t>
            </a:r>
            <a:r>
              <a:rPr lang="en-US" altLang="ja-JP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, at any value of the predictor. </a:t>
            </a:r>
            <a:endParaRPr lang="en-US" alt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DD36B6-FC3E-419A-83E4-27A65E08F4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54562" y="2857859"/>
            <a:ext cx="4467027" cy="753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822960">
              <a:spcAft>
                <a:spcPts val="600"/>
              </a:spcAft>
            </a:pPr>
            <a:r>
              <a:rPr lang="en-US" altLang="en-US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What’</a:t>
            </a:r>
            <a:r>
              <a:rPr lang="en-US" altLang="ja-JP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 the </a:t>
            </a:r>
            <a:r>
              <a:rPr lang="ja-JP" altLang="en-US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“</a:t>
            </a:r>
            <a:r>
              <a:rPr lang="en-US" altLang="ja-JP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mean</a:t>
            </a:r>
            <a:r>
              <a:rPr lang="ja-JP" altLang="en-US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”</a:t>
            </a:r>
            <a:r>
              <a:rPr lang="en-US" altLang="ja-JP" sz="2160" kern="1200" dirty="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 of a 0/1 indicator variable?</a:t>
            </a:r>
            <a:endParaRPr lang="en-US" alt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776B74-CCBB-D7FD-BD13-0F2531D4F9B8}"/>
              </a:ext>
            </a:extLst>
          </p:cNvPr>
          <p:cNvSpPr txBox="1"/>
          <p:nvPr/>
        </p:nvSpPr>
        <p:spPr>
          <a:xfrm>
            <a:off x="435935" y="4036445"/>
            <a:ext cx="27907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22960">
              <a:spcAft>
                <a:spcPts val="600"/>
              </a:spcAft>
            </a:pPr>
            <a:r>
              <a:rPr lang="en-US" altLang="en-US" i="1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p</a:t>
            </a:r>
            <a:r>
              <a:rPr lang="en-US" altLang="en-US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= Proportion of </a:t>
            </a:r>
            <a:r>
              <a:rPr lang="ja-JP" altLang="en-US" kern="1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“</a:t>
            </a:r>
            <a:r>
              <a:rPr lang="en-US" altLang="ja-JP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Success”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13928-F236-DAD8-1D74-DEE09BBA8A6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8981" y="112565"/>
            <a:ext cx="8794898" cy="77086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From Odds to Probability and Back Again</a:t>
            </a:r>
            <a:endParaRPr lang="en-US" dirty="0">
              <a:latin typeface="Aptos Display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56164-ABED-E159-8AD9-B6980C27D7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61506" y="883425"/>
            <a:ext cx="10643191" cy="4389585"/>
          </a:xfrm>
        </p:spPr>
        <p:txBody>
          <a:bodyPr anchor="t">
            <a:normAutofit/>
          </a:bodyPr>
          <a:lstStyle/>
          <a:p>
            <a:r>
              <a:rPr lang="en-US" sz="2000" dirty="0"/>
              <a:t>Binary logistic regression models the probability that Y = 1.</a:t>
            </a:r>
          </a:p>
          <a:p>
            <a:r>
              <a:rPr lang="en-US" sz="2000" dirty="0"/>
              <a:t>For example, if </a:t>
            </a:r>
            <a:r>
              <a:rPr lang="en-US" sz="2000" i="1" dirty="0"/>
              <a:t>Y</a:t>
            </a:r>
            <a:r>
              <a:rPr lang="en-US" sz="2000" dirty="0"/>
              <a:t> = 1 if the student passed, and 0 otherwise, we are modeling the likelihood that the student passes or not (conditional on the independent variables in the model)</a:t>
            </a:r>
          </a:p>
          <a:p>
            <a:r>
              <a:rPr lang="en-US" sz="2000" dirty="0"/>
              <a:t>This likelihood will be framed as a probability</a:t>
            </a:r>
          </a:p>
        </p:txBody>
      </p:sp>
    </p:spTree>
    <p:extLst>
      <p:ext uri="{BB962C8B-B14F-4D97-AF65-F5344CB8AC3E}">
        <p14:creationId xmlns:p14="http://schemas.microsoft.com/office/powerpoint/2010/main" val="378019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01137" y="117217"/>
            <a:ext cx="10058400" cy="722755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Recall the relation between odds and probability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68018" y="935003"/>
            <a:ext cx="10288587" cy="1489220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0000"/>
              </a:lnSpc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Odds and logit (or log odds)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Odds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the ratio of the probability of the dependent variable’s two outcomes</a:t>
            </a:r>
          </a:p>
          <a:p>
            <a:pPr lvl="1">
              <a:lnSpc>
                <a:spcPct val="100000"/>
              </a:lnSpc>
            </a:pP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Taking the log odds of </a:t>
            </a:r>
            <a:r>
              <a:rPr lang="en-US" sz="2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 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creates a linear relationship between </a:t>
            </a:r>
            <a:r>
              <a:rPr lang="en-US" sz="2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 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the probability of </a:t>
            </a:r>
            <a:r>
              <a:rPr lang="en-US" sz="2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 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Pampel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2000)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787E5D80-AD4A-4396-B7F1-134C0F036960}"/>
                  </a:ext>
                </a:extLst>
              </p:cNvPr>
              <p:cNvSpPr txBox="1"/>
              <p:nvPr/>
            </p:nvSpPr>
            <p:spPr bwMode="auto">
              <a:xfrm>
                <a:off x="2273654" y="4001361"/>
                <a:ext cx="8901165" cy="88656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𝐿𝑜𝑔𝑖𝑡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787E5D80-AD4A-4396-B7F1-134C0F036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73654" y="4001361"/>
                <a:ext cx="8901165" cy="886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9852F1D-1343-CE8B-05C6-DCEBAA6FA0B6}"/>
                  </a:ext>
                </a:extLst>
              </p:cNvPr>
              <p:cNvSpPr txBox="1"/>
              <p:nvPr/>
            </p:nvSpPr>
            <p:spPr>
              <a:xfrm>
                <a:off x="3156155" y="3429000"/>
                <a:ext cx="609531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9852F1D-1343-CE8B-05C6-DCEBAA6FA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155" y="3429000"/>
                <a:ext cx="6095316" cy="461665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128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C2E9C-DBDF-4A3D-BEAD-3BA4B47E5C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3292" y="39694"/>
            <a:ext cx="11320130" cy="862000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Equivalent forms of the logistic regression model</a:t>
            </a:r>
            <a:endParaRPr lang="en-US" sz="3600" dirty="0">
              <a:latin typeface="Aptos Display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01497155-E329-4FDD-91DF-34B582DB4C79}"/>
                  </a:ext>
                </a:extLst>
              </p:cNvPr>
              <p:cNvSpPr txBox="1"/>
              <p:nvPr/>
            </p:nvSpPr>
            <p:spPr bwMode="auto">
              <a:xfrm>
                <a:off x="1387535" y="2400480"/>
                <a:ext cx="2956127" cy="64611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01497155-E329-4FDD-91DF-34B582DB4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87535" y="2400480"/>
                <a:ext cx="2956127" cy="6461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81F2D02-B539-489A-84FD-97DEDFDB0DA5}"/>
              </a:ext>
            </a:extLst>
          </p:cNvPr>
          <p:cNvSpPr txBox="1"/>
          <p:nvPr/>
        </p:nvSpPr>
        <p:spPr>
          <a:xfrm>
            <a:off x="1382298" y="3077372"/>
            <a:ext cx="29353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natural log (aka </a:t>
            </a:r>
            <a:r>
              <a:rPr lang="ja-JP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US" altLang="ja-JP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ln</a:t>
            </a:r>
            <a:r>
              <a:rPr lang="ja-JP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”</a:t>
            </a:r>
            <a:r>
              <a:rPr lang="en-US" altLang="ja-JP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72F2F8-609B-4E41-83EB-E8B6A677D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7535" y="1657635"/>
            <a:ext cx="26114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Logit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275860-03AE-4FCA-BBCF-9CE1A4C11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9087" y="1663409"/>
            <a:ext cx="32972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Probability form</a:t>
            </a:r>
          </a:p>
        </p:txBody>
      </p:sp>
      <p:sp>
        <p:nvSpPr>
          <p:cNvPr id="14" name="Text Box 5">
            <a:extLst>
              <a:ext uri="{FF2B5EF4-FFF2-40B4-BE49-F238E27FC236}">
                <a16:creationId xmlns:a16="http://schemas.microsoft.com/office/drawing/2014/main" id="{FDA5AE77-0ED1-44B7-8289-A15FC3847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840" y="3046594"/>
            <a:ext cx="4909817" cy="4001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alt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proportion of 1</a:t>
            </a:r>
            <a:r>
              <a:rPr lang="ja-JP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’</a:t>
            </a:r>
            <a:r>
              <a:rPr lang="en-US" altLang="ja-JP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 (yes, success) at any X</a:t>
            </a:r>
            <a:endParaRPr lang="en-US" alt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C991B2-E8AB-463B-A80C-8457676EC668}"/>
                  </a:ext>
                </a:extLst>
              </p:cNvPr>
              <p:cNvSpPr txBox="1"/>
              <p:nvPr/>
            </p:nvSpPr>
            <p:spPr>
              <a:xfrm>
                <a:off x="6129307" y="2295071"/>
                <a:ext cx="3761709" cy="6224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C991B2-E8AB-463B-A80C-8457676EC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9307" y="2295071"/>
                <a:ext cx="3761709" cy="6224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Box 3">
            <a:extLst>
              <a:ext uri="{FF2B5EF4-FFF2-40B4-BE49-F238E27FC236}">
                <a16:creationId xmlns:a16="http://schemas.microsoft.com/office/drawing/2014/main" id="{62EC7582-A1C1-408E-B7C4-3FA5343A75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6743" y="971818"/>
            <a:ext cx="3962400" cy="52322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2800" i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en-US" sz="28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Binary response</a:t>
            </a:r>
          </a:p>
        </p:txBody>
      </p:sp>
      <p:sp>
        <p:nvSpPr>
          <p:cNvPr id="21" name="Text Box 4">
            <a:extLst>
              <a:ext uri="{FF2B5EF4-FFF2-40B4-BE49-F238E27FC236}">
                <a16:creationId xmlns:a16="http://schemas.microsoft.com/office/drawing/2014/main" id="{650432B5-16B0-4C5C-B9E9-B5DCF7B59F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3357" y="981192"/>
            <a:ext cx="5067300" cy="52322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2800" i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en-US" sz="28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Quantitative predictor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8B8C49-8ABD-4E57-957D-CA52695C6CA5}"/>
              </a:ext>
            </a:extLst>
          </p:cNvPr>
          <p:cNvCxnSpPr/>
          <p:nvPr/>
        </p:nvCxnSpPr>
        <p:spPr>
          <a:xfrm>
            <a:off x="2389450" y="2873892"/>
            <a:ext cx="1609522" cy="1743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5BA3F73-8720-4511-ADF5-3E05367E4A77}"/>
              </a:ext>
            </a:extLst>
          </p:cNvPr>
          <p:cNvSpPr txBox="1"/>
          <p:nvPr/>
        </p:nvSpPr>
        <p:spPr>
          <a:xfrm>
            <a:off x="3514362" y="4586249"/>
            <a:ext cx="123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 Odds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DA766D-AB4A-45C7-A2BF-4252DC4E3E37}"/>
              </a:ext>
            </a:extLst>
          </p:cNvPr>
          <p:cNvCxnSpPr>
            <a:cxnSpLocks/>
          </p:cNvCxnSpPr>
          <p:nvPr/>
        </p:nvCxnSpPr>
        <p:spPr>
          <a:xfrm>
            <a:off x="7761550" y="2807217"/>
            <a:ext cx="733222" cy="1866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42DAC6C-97DF-40B6-ACE9-4F17987DD161}"/>
              </a:ext>
            </a:extLst>
          </p:cNvPr>
          <p:cNvSpPr txBox="1"/>
          <p:nvPr/>
        </p:nvSpPr>
        <p:spPr>
          <a:xfrm>
            <a:off x="8010162" y="4643275"/>
            <a:ext cx="123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Probability</a:t>
            </a:r>
          </a:p>
        </p:txBody>
      </p:sp>
    </p:spTree>
    <p:extLst>
      <p:ext uri="{BB962C8B-B14F-4D97-AF65-F5344CB8AC3E}">
        <p14:creationId xmlns:p14="http://schemas.microsoft.com/office/powerpoint/2010/main" val="1436014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17500" y="166689"/>
            <a:ext cx="10058400" cy="7794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Mechanics of Logistic Regression</a:t>
            </a:r>
            <a:endParaRPr lang="en-US" sz="4000" dirty="0">
              <a:latin typeface="Aptos Display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17500" y="946151"/>
            <a:ext cx="11264900" cy="3790950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Logit of </a:t>
            </a:r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interpretation:  For each one-unit change in the independent variable, the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 odds of Y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increases (decreases) by the beta coefficient</a:t>
            </a:r>
          </a:p>
          <a:p>
            <a:pPr lvl="2">
              <a:lnSpc>
                <a:spcPct val="100000"/>
              </a:lnSpc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nobody knows what log odds are!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Exponentiate the logit (</a:t>
            </a:r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(i.e., the outcome of the logistic regression equation), to convert it back to the odds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Interpret the independent variables as affecting the odds (rather than log odds) of the outcome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Convert odds to probability:  Probability values close to one indicate increased likelihood of occurrence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Much more intuitive</a:t>
            </a:r>
          </a:p>
        </p:txBody>
      </p:sp>
    </p:spTree>
    <p:extLst>
      <p:ext uri="{BB962C8B-B14F-4D97-AF65-F5344CB8AC3E}">
        <p14:creationId xmlns:p14="http://schemas.microsoft.com/office/powerpoint/2010/main" val="2167194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175708" y="115216"/>
            <a:ext cx="10058400" cy="594789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58184" y="710005"/>
            <a:ext cx="11933816" cy="5158983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Overall logistic regression model determines the extent to which the predicted values accurately represent the observed values (Xie, Pendergast, &amp; Clarke, 2008) </a:t>
            </a:r>
          </a:p>
          <a:p>
            <a:pPr lvl="2">
              <a:lnSpc>
                <a:spcPct val="100000"/>
              </a:lnSpc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Change in log likelihood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Hosmer and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Lemeshow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goodness-of-fit test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Pseudo-variance explained</a:t>
            </a:r>
          </a:p>
          <a:p>
            <a:pPr lvl="2">
              <a:lnSpc>
                <a:spcPct val="100000"/>
              </a:lnSpc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group membership</a:t>
            </a:r>
          </a:p>
          <a:p>
            <a:pPr marL="201168" lvl="1" indent="0">
              <a:lnSpc>
                <a:spcPct val="100000"/>
              </a:lnSpc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Significance tests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Beta coefficients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 logistic regression coefficient determines if the individual coefficients are statistically significantly different from zero</a:t>
            </a:r>
          </a:p>
        </p:txBody>
      </p:sp>
    </p:spTree>
    <p:extLst>
      <p:ext uri="{BB962C8B-B14F-4D97-AF65-F5344CB8AC3E}">
        <p14:creationId xmlns:p14="http://schemas.microsoft.com/office/powerpoint/2010/main" val="2857234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4041-CBC4-4575-9F14-5FDD2019745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2678" y="103766"/>
            <a:ext cx="10058400" cy="885246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Change in Log Likelihood test for model fit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372F2-1624-402A-8468-B2A48F23DD56}"/>
                  </a:ext>
                </a:extLst>
              </p:cNvPr>
              <p:cNvSpPr>
                <a:spLocks noGrp="1"/>
              </p:cNvSpPr>
              <p:nvPr>
                <p:ph idx="4294967295"/>
              </p:nvPr>
            </p:nvSpPr>
            <p:spPr>
              <a:xfrm>
                <a:off x="376518" y="871369"/>
                <a:ext cx="11815482" cy="4997619"/>
              </a:xfrm>
            </p:spPr>
            <p:txBody>
              <a:bodyPr>
                <a:normAutofit/>
              </a:bodyPr>
              <a:lstStyle/>
              <a:p>
                <a:r>
                  <a:rPr lang="en-US" sz="2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Test of overall model fit</a:t>
                </a:r>
              </a:p>
              <a:p>
                <a:pPr lvl="1"/>
                <a:r>
                  <a:rPr lang="en-US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Useful when </a:t>
                </a:r>
                <a:r>
                  <a:rPr lang="en-US" sz="2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comparing two </a:t>
                </a:r>
                <a:r>
                  <a:rPr lang="en-US" sz="2000" b="1" u="sng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nested</a:t>
                </a:r>
                <a:r>
                  <a:rPr lang="en-US" sz="2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models</a:t>
                </a:r>
              </a:p>
              <a:p>
                <a:pPr lvl="1"/>
                <a:r>
                  <a:rPr lang="en-US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test is based on the change in the log likelihood function from the smaller model (with fewer variables) to a larger model (with the same variables in the smaller model and one or more additional variables)</a:t>
                </a:r>
              </a:p>
              <a:p>
                <a:pPr lvl="1"/>
                <a:r>
                  <a:rPr lang="en-US" sz="19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Note</a:t>
                </a:r>
                <a:r>
                  <a:rPr lang="en-US" sz="19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this includes the intercept-only model with no predictors</a:t>
                </a:r>
              </a:p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test is all regression coefficients are 0 </a:t>
                </a:r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  <a:sym typeface="Wingdings" panose="05000000000000000000" pitchFamily="2" charset="2"/>
                  </a:rPr>
                  <a:t></a:t>
                </a:r>
                <a:endPara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endPara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test statistic computed as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	  -2 * </a:t>
                </a:r>
                <a:r>
                  <a:rPr lang="en-US" i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LL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[diff]</a:t>
                </a:r>
                <a:r>
                  <a:rPr lang="en-US" i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 distributed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with </a:t>
                </a:r>
                <a:r>
                  <a:rPr lang="en-US" i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df </a:t>
                </a:r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= </a:t>
                </a:r>
                <a:r>
                  <a:rPr lang="en-US" i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df</a:t>
                </a:r>
                <a:r>
                  <a:rPr lang="en-US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[larger model] </a:t>
                </a:r>
                <a:r>
                  <a:rPr lang="en-US" i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– df</a:t>
                </a:r>
                <a:r>
                  <a:rPr lang="en-US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[smaller model] </a:t>
                </a:r>
              </a:p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larger the difference, the better the model fit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372F2-1624-402A-8468-B2A48F23DD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376518" y="871369"/>
                <a:ext cx="11815482" cy="4997619"/>
              </a:xfrm>
              <a:blipFill>
                <a:blip r:embed="rId3"/>
                <a:stretch>
                  <a:fillRect l="-929" t="-1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987E29-92CE-43BA-A41E-F22554E96866}"/>
                  </a:ext>
                </a:extLst>
              </p:cNvPr>
              <p:cNvSpPr txBox="1"/>
              <p:nvPr/>
            </p:nvSpPr>
            <p:spPr>
              <a:xfrm>
                <a:off x="1655039" y="3429000"/>
                <a:ext cx="234538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987E29-92CE-43BA-A41E-F22554E96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039" y="3429000"/>
                <a:ext cx="2345386" cy="307777"/>
              </a:xfrm>
              <a:prstGeom prst="rect">
                <a:avLst/>
              </a:prstGeom>
              <a:blipFill>
                <a:blip r:embed="rId4"/>
                <a:stretch>
                  <a:fillRect l="-3636" r="-2857" b="-3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9CDCBE-0518-4FD6-816F-4726773A7022}"/>
                  </a:ext>
                </a:extLst>
              </p:cNvPr>
              <p:cNvSpPr txBox="1"/>
              <p:nvPr/>
            </p:nvSpPr>
            <p:spPr>
              <a:xfrm>
                <a:off x="4685944" y="3428811"/>
                <a:ext cx="25605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𝑎𝑡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𝑙𝑒𝑎𝑠𝑡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𝑜𝑛𝑒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≠0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9CDCBE-0518-4FD6-816F-4726773A7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5944" y="3428811"/>
                <a:ext cx="2560509" cy="307777"/>
              </a:xfrm>
              <a:prstGeom prst="rect">
                <a:avLst/>
              </a:prstGeom>
              <a:blipFill>
                <a:blip r:embed="rId5"/>
                <a:stretch>
                  <a:fillRect l="-1905" r="-1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3572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0087E-DD38-4FDC-8EB7-BB05AA3CF1E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1" y="1"/>
            <a:ext cx="12027049" cy="98901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Group Membership for determining model fit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81530-2B9E-4FE1-95DA-69F42BFFA8D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184" y="989013"/>
            <a:ext cx="11933816" cy="4879975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 predicted probability is above a cutoff (usually .5) assign 1, otherwise 0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crosstab table of predicted to observed probabilities provides the frequency and percentage of cases correctly classified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perfect model produces 100% correctly classified cases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model that classifies no better than chance would provide 50% correctly classified cases.</a:t>
            </a:r>
          </a:p>
        </p:txBody>
      </p:sp>
    </p:spTree>
    <p:extLst>
      <p:ext uri="{BB962C8B-B14F-4D97-AF65-F5344CB8AC3E}">
        <p14:creationId xmlns:p14="http://schemas.microsoft.com/office/powerpoint/2010/main" val="27038185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9F38-35B4-4F8E-BADA-C5AE210B75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061" y="104458"/>
            <a:ext cx="12019878" cy="788427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Terminology for Predicted Group Membership table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AA21B-7A98-4758-B57D-B260C537174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2729" y="892885"/>
            <a:ext cx="11327803" cy="497610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Sensitivity is the probability that the dependent variable was coded as a “1” and our model predicted a “1” i.e., it was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classified correctly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percentage of correct predictions of the cases that are coded as 1 for the dependent variable</a:t>
            </a:r>
          </a:p>
          <a:p>
            <a:pPr lvl="1"/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You have the disease and we said you did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Specificity is the probability that a case-coded dependent variable was coded as a “0” and our model predicted a “0” i.e., it was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classified correctly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percentage of correct predictions of the cases that are coded as 0 for the dependent variable</a:t>
            </a:r>
          </a:p>
          <a:p>
            <a:pPr lvl="1"/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You don’t have the disease and we said you didn’t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should sound really familiar</a:t>
            </a:r>
          </a:p>
        </p:txBody>
      </p:sp>
    </p:spTree>
    <p:extLst>
      <p:ext uri="{BB962C8B-B14F-4D97-AF65-F5344CB8AC3E}">
        <p14:creationId xmlns:p14="http://schemas.microsoft.com/office/powerpoint/2010/main" val="2024426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9F38-35B4-4F8E-BADA-C5AE210B75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6819" y="104458"/>
            <a:ext cx="11998362" cy="788427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Terminology for Predicted Group Membership table (2)</a:t>
            </a:r>
            <a:endParaRPr lang="en-US" sz="4000" dirty="0">
              <a:latin typeface="Aptos Display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AA21B-7A98-4758-B57D-B260C537174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93638" y="796066"/>
            <a:ext cx="11998362" cy="5072922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False positive rate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the probability that a case coded as 0 for the dependent variable (aka ‘negative’) is classified incorrectly. 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other words, this is the percentage of cases in error where the dependent variable is predicted to be 1 (i.e., disease), but in fact the observed value is 0 (i.e., no disease)</a:t>
            </a:r>
          </a:p>
          <a:p>
            <a:pPr lvl="1"/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you have the disease, but you don’t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False negative rate is the probability that a case coded as 1 for the dependent variable (aka ‘positive’) is classified incorrectly. 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other words, this is the percentage of cases in error where the dependent variable is predicted to be 0 (i.e., unprepared), but in fact the observed value is 1 (i.e., prepared)</a:t>
            </a:r>
          </a:p>
          <a:p>
            <a:pPr lvl="1"/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you don’t have the disease, but you we said you did</a:t>
            </a:r>
          </a:p>
          <a:p>
            <a:pPr lvl="1"/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9200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C4A59-E9A6-4DE9-AE99-8AB720FC81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546" y="141393"/>
            <a:ext cx="12062908" cy="82070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 of Significance of the Logistic Regression Coefficients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E1859-49F3-489B-9D8E-C5E62CC5419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15557" y="962093"/>
            <a:ext cx="10058400" cy="3760788"/>
          </a:xfrm>
        </p:spPr>
        <p:txBody>
          <a:bodyPr/>
          <a:lstStyle/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second test in logistic regression is the test of the statistical significance of each regression coefficient, b</a:t>
            </a:r>
            <a:r>
              <a:rPr lang="en-US" sz="2000" i="1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</a:t>
            </a:r>
          </a:p>
          <a:p>
            <a:endParaRPr lang="en-US" baseline="-25000" dirty="0"/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test statistic is called a Wald test computed as</a:t>
            </a:r>
          </a:p>
          <a:p>
            <a:endParaRPr lang="en-US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05E3DE-E098-4903-9E24-6B4A43D36FD4}"/>
                  </a:ext>
                </a:extLst>
              </p:cNvPr>
              <p:cNvSpPr txBox="1"/>
              <p:nvPr/>
            </p:nvSpPr>
            <p:spPr>
              <a:xfrm>
                <a:off x="1818043" y="1754721"/>
                <a:ext cx="145110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05E3DE-E098-4903-9E24-6B4A43D36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43" y="1754721"/>
                <a:ext cx="1451103" cy="369332"/>
              </a:xfrm>
              <a:prstGeom prst="rect">
                <a:avLst/>
              </a:prstGeom>
              <a:blipFill>
                <a:blip r:embed="rId2"/>
                <a:stretch>
                  <a:fillRect l="-4202" r="-462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49A721C-42DB-441D-BA47-D7CB91A7F8BA}"/>
                  </a:ext>
                </a:extLst>
              </p:cNvPr>
              <p:cNvSpPr txBox="1"/>
              <p:nvPr/>
            </p:nvSpPr>
            <p:spPr>
              <a:xfrm>
                <a:off x="3597318" y="1765787"/>
                <a:ext cx="145110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49A721C-42DB-441D-BA47-D7CB91A7F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7318" y="1765787"/>
                <a:ext cx="1451103" cy="369332"/>
              </a:xfrm>
              <a:prstGeom prst="rect">
                <a:avLst/>
              </a:prstGeom>
              <a:blipFill>
                <a:blip r:embed="rId3"/>
                <a:stretch>
                  <a:fillRect l="-3782" r="-420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610B12-E0EC-4E8B-AA22-533671D070CC}"/>
                  </a:ext>
                </a:extLst>
              </p:cNvPr>
              <p:cNvSpPr txBox="1"/>
              <p:nvPr/>
            </p:nvSpPr>
            <p:spPr>
              <a:xfrm>
                <a:off x="1818043" y="2973715"/>
                <a:ext cx="2768593" cy="9105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𝑆𝐸</m:t>
                              </m:r>
                            </m:e>
                            <m:sub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sub>
                          </m:sSub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610B12-E0EC-4E8B-AA22-533671D07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43" y="2973715"/>
                <a:ext cx="2768593" cy="9105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60155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80682" y="93700"/>
            <a:ext cx="12030635" cy="1025095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Logistic Regression Is and How It Works: Assumptions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4294967295"/>
          </p:nvPr>
        </p:nvSpPr>
        <p:spPr>
          <a:xfrm>
            <a:off x="261769" y="903343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Noncollinearity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Linearity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Independence of errors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 of </a:t>
            </a:r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fixed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Conditions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Nonzero cell counts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Nonseparation of data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Lack of influential points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Sufficient sample size</a:t>
            </a:r>
          </a:p>
        </p:txBody>
      </p:sp>
    </p:spTree>
    <p:extLst>
      <p:ext uri="{BB962C8B-B14F-4D97-AF65-F5344CB8AC3E}">
        <p14:creationId xmlns:p14="http://schemas.microsoft.com/office/powerpoint/2010/main" val="8152016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68249-B226-456F-95E1-AA631EEC9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37" y="193004"/>
            <a:ext cx="10515600" cy="818216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Recall the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312C49-5026-4454-89FE-2A46E52B08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8599" y="1029560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				</a:t>
                </a:r>
                <a:r>
                  <a:rPr lang="en-US" i="1" dirty="0"/>
                  <a:t>Y</a:t>
                </a:r>
                <a:r>
                  <a:rPr lang="en-US" dirty="0"/>
                  <a:t> =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eqAr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312C49-5026-4454-89FE-2A46E52B08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599" y="1029560"/>
                <a:ext cx="10515600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148F5C5-499D-4BC9-9285-BE0C4067476A}"/>
              </a:ext>
            </a:extLst>
          </p:cNvPr>
          <p:cNvSpPr txBox="1"/>
          <p:nvPr/>
        </p:nvSpPr>
        <p:spPr>
          <a:xfrm>
            <a:off x="5034578" y="1139007"/>
            <a:ext cx="3059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If the condition is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D95A28-087D-495A-AD91-F9A84FEC4D7A}"/>
              </a:ext>
            </a:extLst>
          </p:cNvPr>
          <p:cNvSpPr txBox="1"/>
          <p:nvPr/>
        </p:nvSpPr>
        <p:spPr>
          <a:xfrm>
            <a:off x="5034578" y="1617786"/>
            <a:ext cx="3059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If the condition is true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0F3C21-4A56-4C6F-BB5B-1FFF3DC8B8CD}"/>
                  </a:ext>
                </a:extLst>
              </p:cNvPr>
              <p:cNvSpPr txBox="1"/>
              <p:nvPr/>
            </p:nvSpPr>
            <p:spPr>
              <a:xfrm>
                <a:off x="2020507" y="3707332"/>
                <a:ext cx="7153048" cy="4816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cs typeface="+mn-cs"/>
                  </a:rPr>
                  <a:t>Our goal is to estimate the unknown parameters,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cs typeface="+mn-cs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0F3C21-4A56-4C6F-BB5B-1FFF3DC8B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507" y="3707332"/>
                <a:ext cx="7153048" cy="481670"/>
              </a:xfrm>
              <a:prstGeom prst="rect">
                <a:avLst/>
              </a:prstGeom>
              <a:blipFill>
                <a:blip r:embed="rId3"/>
                <a:stretch>
                  <a:fillRect l="-1278" t="-6329" b="-278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2137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53788" y="0"/>
            <a:ext cx="12084424" cy="1100398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What Logistic Regression Is and How It Works: Sample Size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4294967295"/>
          </p:nvPr>
        </p:nvSpPr>
        <p:spPr>
          <a:xfrm>
            <a:off x="261769" y="838797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/>
              <a:t>Logistic regression is a large sample procedure</a:t>
            </a:r>
          </a:p>
          <a:p>
            <a:r>
              <a:rPr lang="en-US" sz="2000" dirty="0"/>
              <a:t>Samples of size 100 or greater are needed to accurately conduct tests of significance for logistic regression coefficients</a:t>
            </a:r>
          </a:p>
        </p:txBody>
      </p:sp>
    </p:spTree>
    <p:extLst>
      <p:ext uri="{BB962C8B-B14F-4D97-AF65-F5344CB8AC3E}">
        <p14:creationId xmlns:p14="http://schemas.microsoft.com/office/powerpoint/2010/main" val="30097056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75303" y="115216"/>
            <a:ext cx="12041393" cy="971307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What Logistic Regression Is and How It Works: Effect Size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4294967295"/>
          </p:nvPr>
        </p:nvSpPr>
        <p:spPr>
          <a:xfrm>
            <a:off x="164951" y="924859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/>
              <a:t>Multiple </a:t>
            </a:r>
            <a:r>
              <a:rPr lang="en-US" sz="2000" i="1" dirty="0"/>
              <a:t>R</a:t>
            </a:r>
            <a:r>
              <a:rPr lang="en-US" sz="2000" i="1" baseline="30000" dirty="0"/>
              <a:t>2</a:t>
            </a:r>
            <a:r>
              <a:rPr lang="en-US" sz="2000" i="1" dirty="0"/>
              <a:t> </a:t>
            </a:r>
            <a:r>
              <a:rPr lang="en-US" sz="2000" dirty="0"/>
              <a:t>pseudo-variance explained values </a:t>
            </a:r>
          </a:p>
          <a:p>
            <a:r>
              <a:rPr lang="en-US" sz="2000" dirty="0"/>
              <a:t>Odds Ratio</a:t>
            </a:r>
          </a:p>
        </p:txBody>
      </p:sp>
    </p:spTree>
    <p:extLst>
      <p:ext uri="{BB962C8B-B14F-4D97-AF65-F5344CB8AC3E}">
        <p14:creationId xmlns:p14="http://schemas.microsoft.com/office/powerpoint/2010/main" val="3045752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D315B-0A04-4813-9215-7394D8BA60F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8889" y="141119"/>
            <a:ext cx="10058400" cy="86373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Review Algebra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CEF6C8-21BD-4B38-BB06-EF64D0D2D43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8889" y="1145479"/>
            <a:ext cx="10058400" cy="3760788"/>
          </a:xfrm>
        </p:spPr>
        <p:txBody>
          <a:bodyPr/>
          <a:lstStyle/>
          <a:p>
            <a:r>
              <a:rPr lang="en-US" dirty="0"/>
              <a:t>Properties of exponents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Properties of logarithms</a:t>
            </a:r>
          </a:p>
          <a:p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5AE2A1-43C0-47EE-86DA-1D6BF0AF1F24}"/>
                  </a:ext>
                </a:extLst>
              </p:cNvPr>
              <p:cNvSpPr txBox="1"/>
              <p:nvPr/>
            </p:nvSpPr>
            <p:spPr>
              <a:xfrm>
                <a:off x="348462" y="1760822"/>
                <a:ext cx="262064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5AE2A1-43C0-47EE-86DA-1D6BF0AF1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462" y="1760822"/>
                <a:ext cx="2620649" cy="369332"/>
              </a:xfrm>
              <a:prstGeom prst="rect">
                <a:avLst/>
              </a:prstGeom>
              <a:blipFill>
                <a:blip r:embed="rId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E60CE5-24BC-4E00-9D8B-148812D1ED3A}"/>
                  </a:ext>
                </a:extLst>
              </p:cNvPr>
              <p:cNvSpPr txBox="1"/>
              <p:nvPr/>
            </p:nvSpPr>
            <p:spPr>
              <a:xfrm>
                <a:off x="504450" y="3160896"/>
                <a:ext cx="15483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E60CE5-24BC-4E00-9D8B-148812D1E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450" y="3160896"/>
                <a:ext cx="1548308" cy="369332"/>
              </a:xfrm>
              <a:prstGeom prst="rect">
                <a:avLst/>
              </a:prstGeom>
              <a:blipFill>
                <a:blip r:embed="rId3"/>
                <a:stretch>
                  <a:fillRect l="-4331" r="-1575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1E23CE-C477-47FC-8C3D-E658CAD5C28A}"/>
                  </a:ext>
                </a:extLst>
              </p:cNvPr>
              <p:cNvSpPr txBox="1"/>
              <p:nvPr/>
            </p:nvSpPr>
            <p:spPr>
              <a:xfrm>
                <a:off x="504450" y="3662672"/>
                <a:ext cx="1360052" cy="3857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1E23CE-C477-47FC-8C3D-E658CAD5C2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450" y="3662672"/>
                <a:ext cx="1360052" cy="385747"/>
              </a:xfrm>
              <a:prstGeom prst="rect">
                <a:avLst/>
              </a:prstGeom>
              <a:blipFill>
                <a:blip r:embed="rId4"/>
                <a:stretch>
                  <a:fillRect l="-2691" t="-4762" r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ABBBE0-2E3A-4BEF-B149-F74872B5E652}"/>
                  </a:ext>
                </a:extLst>
              </p:cNvPr>
              <p:cNvSpPr txBox="1"/>
              <p:nvPr/>
            </p:nvSpPr>
            <p:spPr>
              <a:xfrm>
                <a:off x="528074" y="4169313"/>
                <a:ext cx="7952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ABBBE0-2E3A-4BEF-B149-F74872B5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74" y="4169313"/>
                <a:ext cx="795282" cy="307777"/>
              </a:xfrm>
              <a:prstGeom prst="rect">
                <a:avLst/>
              </a:prstGeom>
              <a:blipFill>
                <a:blip r:embed="rId5"/>
                <a:stretch>
                  <a:fillRect l="-4615" t="-4000" r="-692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96C62B-3D23-4D82-AE5C-349FBF06EFDD}"/>
                  </a:ext>
                </a:extLst>
              </p:cNvPr>
              <p:cNvSpPr txBox="1"/>
              <p:nvPr/>
            </p:nvSpPr>
            <p:spPr>
              <a:xfrm>
                <a:off x="348462" y="2176321"/>
                <a:ext cx="648652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2400" dirty="0"/>
                  <a:t> +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96C62B-3D23-4D82-AE5C-349FBF06E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462" y="2176321"/>
                <a:ext cx="6486525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08708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0" y="160338"/>
            <a:ext cx="10058400" cy="64611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Mathematical Snapshot</a:t>
            </a: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-634701" y="-92278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1ED671-7C71-718E-BECE-C9FDF83C58A2}"/>
                  </a:ext>
                </a:extLst>
              </p:cNvPr>
              <p:cNvSpPr txBox="1"/>
              <p:nvPr/>
            </p:nvSpPr>
            <p:spPr>
              <a:xfrm>
                <a:off x="381877" y="1017330"/>
                <a:ext cx="47982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𝐿𝑜𝑔𝑖𝑡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1ED671-7C71-718E-BECE-C9FDF83C5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877" y="1017330"/>
                <a:ext cx="4798219" cy="369332"/>
              </a:xfrm>
              <a:prstGeom prst="rect">
                <a:avLst/>
              </a:prstGeom>
              <a:blipFill>
                <a:blip r:embed="rId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33345E-7221-B1DA-C100-A40069917444}"/>
                  </a:ext>
                </a:extLst>
              </p:cNvPr>
              <p:cNvSpPr txBox="1"/>
              <p:nvPr/>
            </p:nvSpPr>
            <p:spPr>
              <a:xfrm>
                <a:off x="411563" y="1589414"/>
                <a:ext cx="280939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𝐿𝑜𝑔𝑖𝑡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33345E-7221-B1DA-C100-A40069917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63" y="1589414"/>
                <a:ext cx="2809399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F38747-4A77-E96E-1272-F4A63823A2B7}"/>
                  </a:ext>
                </a:extLst>
              </p:cNvPr>
              <p:cNvSpPr txBox="1"/>
              <p:nvPr/>
            </p:nvSpPr>
            <p:spPr>
              <a:xfrm>
                <a:off x="5533859" y="1097721"/>
                <a:ext cx="39258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interpreted as “log odds of Y”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F38747-4A77-E96E-1272-F4A63823A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3859" y="1097721"/>
                <a:ext cx="3925883" cy="369332"/>
              </a:xfrm>
              <a:prstGeom prst="rect">
                <a:avLst/>
              </a:prstGeom>
              <a:blipFill>
                <a:blip r:embed="rId4"/>
                <a:stretch>
                  <a:fillRect l="-466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BC12C92-916F-58B2-5DCE-F11AB8CCF465}"/>
                  </a:ext>
                </a:extLst>
              </p:cNvPr>
              <p:cNvSpPr txBox="1"/>
              <p:nvPr/>
            </p:nvSpPr>
            <p:spPr>
              <a:xfrm>
                <a:off x="7549785" y="2264904"/>
                <a:ext cx="1217184" cy="3215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BC12C92-916F-58B2-5DCE-F11AB8CCF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9785" y="2264904"/>
                <a:ext cx="1217184" cy="321563"/>
              </a:xfrm>
              <a:prstGeom prst="rect">
                <a:avLst/>
              </a:prstGeom>
              <a:blipFill>
                <a:blip r:embed="rId5"/>
                <a:stretch>
                  <a:fillRect t="-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08787E-438E-B360-B5A4-D2B8FF073193}"/>
                  </a:ext>
                </a:extLst>
              </p:cNvPr>
              <p:cNvSpPr txBox="1"/>
              <p:nvPr/>
            </p:nvSpPr>
            <p:spPr>
              <a:xfrm>
                <a:off x="549809" y="2149883"/>
                <a:ext cx="2809399" cy="382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𝐿𝑜𝑔𝑖𝑡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08787E-438E-B360-B5A4-D2B8FF073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809" y="2149883"/>
                <a:ext cx="2809399" cy="382284"/>
              </a:xfrm>
              <a:prstGeom prst="rect">
                <a:avLst/>
              </a:prstGeom>
              <a:blipFill>
                <a:blip r:embed="rId6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DC5DC3CC-DCD2-DA21-D873-3010D3546D7C}"/>
              </a:ext>
            </a:extLst>
          </p:cNvPr>
          <p:cNvSpPr txBox="1"/>
          <p:nvPr/>
        </p:nvSpPr>
        <p:spPr>
          <a:xfrm>
            <a:off x="5533859" y="1691207"/>
            <a:ext cx="3206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Take the exponent of each side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3DE6E7-90C5-9EEC-BED6-EC6FC5BCCF7B}"/>
                  </a:ext>
                </a:extLst>
              </p:cNvPr>
              <p:cNvSpPr txBox="1"/>
              <p:nvPr/>
            </p:nvSpPr>
            <p:spPr>
              <a:xfrm>
                <a:off x="582270" y="2839145"/>
                <a:ext cx="1768634" cy="382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3DE6E7-90C5-9EEC-BED6-EC6FC5BCC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0" y="2839145"/>
                <a:ext cx="1768634" cy="382284"/>
              </a:xfrm>
              <a:prstGeom prst="rect">
                <a:avLst/>
              </a:prstGeom>
              <a:blipFill>
                <a:blip r:embed="rId7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C0F1A63-A609-19E6-7A21-387729387AB4}"/>
              </a:ext>
            </a:extLst>
          </p:cNvPr>
          <p:cNvSpPr txBox="1"/>
          <p:nvPr/>
        </p:nvSpPr>
        <p:spPr>
          <a:xfrm>
            <a:off x="5476017" y="2217135"/>
            <a:ext cx="2191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follows because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96A4B7-F534-E4D3-6452-E27AF9479FCA}"/>
                  </a:ext>
                </a:extLst>
              </p:cNvPr>
              <p:cNvSpPr txBox="1"/>
              <p:nvPr/>
            </p:nvSpPr>
            <p:spPr>
              <a:xfrm>
                <a:off x="5486781" y="2766291"/>
                <a:ext cx="49938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e>
                    </m:func>
                    <m:r>
                      <a:rPr lang="en-US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is interpreted as the “odds of Y”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96A4B7-F534-E4D3-6452-E27AF9479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781" y="2766291"/>
                <a:ext cx="4993803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365513E-049A-9793-5FCA-91B16A3C3D82}"/>
                  </a:ext>
                </a:extLst>
              </p:cNvPr>
              <p:cNvSpPr txBox="1"/>
              <p:nvPr/>
            </p:nvSpPr>
            <p:spPr>
              <a:xfrm>
                <a:off x="7514730" y="3300661"/>
                <a:ext cx="1185861" cy="622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𝑂𝑑𝑑𝑠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𝑂𝑑𝑑𝑠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365513E-049A-9793-5FCA-91B16A3C3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730" y="3300661"/>
                <a:ext cx="1185861" cy="6228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9AE9B02-41DF-BC0B-FB6C-058B66EC3F59}"/>
                  </a:ext>
                </a:extLst>
              </p:cNvPr>
              <p:cNvSpPr txBox="1"/>
              <p:nvPr/>
            </p:nvSpPr>
            <p:spPr>
              <a:xfrm>
                <a:off x="582270" y="3223365"/>
                <a:ext cx="2532906" cy="7147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9AE9B02-41DF-BC0B-FB6C-058B66EC3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0" y="3223365"/>
                <a:ext cx="2532906" cy="71474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63537F7A-5F48-9077-5A0E-1A3C41816B9D}"/>
              </a:ext>
            </a:extLst>
          </p:cNvPr>
          <p:cNvSpPr txBox="1"/>
          <p:nvPr/>
        </p:nvSpPr>
        <p:spPr>
          <a:xfrm>
            <a:off x="5476017" y="3429181"/>
            <a:ext cx="2828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follows because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CDC405-50B2-AA85-B634-DE800A51EA3D}"/>
              </a:ext>
            </a:extLst>
          </p:cNvPr>
          <p:cNvSpPr txBox="1"/>
          <p:nvPr/>
        </p:nvSpPr>
        <p:spPr>
          <a:xfrm>
            <a:off x="8581168" y="3453947"/>
            <a:ext cx="971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 that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9EB3EA-2E0B-640F-0C6E-12948C9709A2}"/>
                  </a:ext>
                </a:extLst>
              </p:cNvPr>
              <p:cNvSpPr txBox="1"/>
              <p:nvPr/>
            </p:nvSpPr>
            <p:spPr>
              <a:xfrm>
                <a:off x="9289827" y="3352929"/>
                <a:ext cx="954404" cy="622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9EB3EA-2E0B-640F-0C6E-12948C970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9827" y="3352929"/>
                <a:ext cx="954404" cy="6228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79F37A20-BCA6-5C8F-FC88-AE98D50186FB}"/>
              </a:ext>
            </a:extLst>
          </p:cNvPr>
          <p:cNvSpPr txBox="1"/>
          <p:nvPr/>
        </p:nvSpPr>
        <p:spPr>
          <a:xfrm>
            <a:off x="10214584" y="3315447"/>
            <a:ext cx="12897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is a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F2C2F6A-E6E3-2F58-E50E-369BBDD116B6}"/>
                  </a:ext>
                </a:extLst>
              </p:cNvPr>
              <p:cNvSpPr txBox="1"/>
              <p:nvPr/>
            </p:nvSpPr>
            <p:spPr>
              <a:xfrm>
                <a:off x="411563" y="3961778"/>
                <a:ext cx="3687394" cy="7147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F2C2F6A-E6E3-2F58-E50E-369BBDD1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63" y="3961778"/>
                <a:ext cx="3687394" cy="71474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99508CF7-2331-E401-6427-759A87AE3535}"/>
              </a:ext>
            </a:extLst>
          </p:cNvPr>
          <p:cNvSpPr txBox="1"/>
          <p:nvPr/>
        </p:nvSpPr>
        <p:spPr>
          <a:xfrm>
            <a:off x="5510398" y="4175792"/>
            <a:ext cx="4946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is interpreted as a ‘conditional’ probability</a:t>
            </a:r>
          </a:p>
        </p:txBody>
      </p:sp>
    </p:spTree>
    <p:extLst>
      <p:ext uri="{BB962C8B-B14F-4D97-AF65-F5344CB8AC3E}">
        <p14:creationId xmlns:p14="http://schemas.microsoft.com/office/powerpoint/2010/main" val="387196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3" grpId="0"/>
      <p:bldP spid="24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B3177-9003-436F-A9D5-6D351AC317B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2274"/>
            <a:ext cx="10058400" cy="82070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 Logistic Regression in JASP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05CA9-287C-4726-94BD-C6CA296BD0B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54193" y="738001"/>
            <a:ext cx="10058400" cy="3355975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the file </a:t>
            </a:r>
            <a:r>
              <a:rPr lang="en-US" sz="20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gpa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-college-</a:t>
            </a:r>
            <a:r>
              <a:rPr lang="en-US" sz="20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enroll.JASP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20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gpa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-college-</a:t>
            </a:r>
            <a:r>
              <a:rPr lang="en-US" sz="20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enroll.sav</a:t>
            </a:r>
            <a:endParaRPr lang="en-US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Regression  Binary Logistic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this example we have</a:t>
            </a:r>
          </a:p>
          <a:p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 =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college enrollment</a:t>
            </a:r>
          </a:p>
          <a:p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2000" i="1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undergraduate GPA</a:t>
            </a:r>
          </a:p>
        </p:txBody>
      </p:sp>
    </p:spTree>
    <p:extLst>
      <p:ext uri="{BB962C8B-B14F-4D97-AF65-F5344CB8AC3E}">
        <p14:creationId xmlns:p14="http://schemas.microsoft.com/office/powerpoint/2010/main" val="8667068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6E92F5-FB21-E444-3F2F-D1E66FCAB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415773"/>
              </p:ext>
            </p:extLst>
          </p:nvPr>
        </p:nvGraphicFramePr>
        <p:xfrm>
          <a:off x="381312" y="801611"/>
          <a:ext cx="10515600" cy="2952750"/>
        </p:xfrm>
        <a:graphic>
          <a:graphicData uri="http://schemas.openxmlformats.org/drawingml/2006/table">
            <a:tbl>
              <a:tblPr/>
              <a:tblGrid>
                <a:gridCol w="1168400">
                  <a:extLst>
                    <a:ext uri="{9D8B030D-6E8A-4147-A177-3AD203B41FA5}">
                      <a16:colId xmlns:a16="http://schemas.microsoft.com/office/drawing/2014/main" val="3843200138"/>
                    </a:ext>
                  </a:extLst>
                </a:gridCol>
                <a:gridCol w="1514501">
                  <a:extLst>
                    <a:ext uri="{9D8B030D-6E8A-4147-A177-3AD203B41FA5}">
                      <a16:colId xmlns:a16="http://schemas.microsoft.com/office/drawing/2014/main" val="1434266747"/>
                    </a:ext>
                  </a:extLst>
                </a:gridCol>
                <a:gridCol w="822299">
                  <a:extLst>
                    <a:ext uri="{9D8B030D-6E8A-4147-A177-3AD203B41FA5}">
                      <a16:colId xmlns:a16="http://schemas.microsoft.com/office/drawing/2014/main" val="418922800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4166501099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48757948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35304041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4232493274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757346752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995893854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Coefficients</a:t>
                      </a: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7531734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600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Wald Test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794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Estimate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Standard Error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Odds Ratio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z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Wald Statistic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df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5016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M₀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(Intercept)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0.405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0.645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1.500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0.628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0.395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.530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58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M₁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(Intercept)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-2.144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2.416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0.117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-0.888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0.788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.375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83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gpa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0.883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0.821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2.419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1.076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1.157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.282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98952"/>
                  </a:ext>
                </a:extLst>
              </a:tr>
              <a:tr h="0">
                <a:tc gridSpan="9">
                  <a:txBody>
                    <a:bodyPr/>
                    <a:lstStyle/>
                    <a:p>
                      <a:pPr algn="r"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B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83715"/>
                  </a:ext>
                </a:extLst>
              </a:tr>
              <a:tr h="0">
                <a:tc gridSpan="9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 enroll level '1' coded as class 1.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740603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C92702B-4E32-4C91-B645-6FD9BA970A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29550"/>
            <a:ext cx="10058400" cy="690601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Focus on the results first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10FF22-9FD9-4FA6-8A65-B2DCFFE45870}"/>
              </a:ext>
            </a:extLst>
          </p:cNvPr>
          <p:cNvSpPr/>
          <p:nvPr/>
        </p:nvSpPr>
        <p:spPr>
          <a:xfrm>
            <a:off x="5316591" y="1425364"/>
            <a:ext cx="645042" cy="57853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D74A25-255B-4E55-893E-357A6016F7AF}"/>
              </a:ext>
            </a:extLst>
          </p:cNvPr>
          <p:cNvSpPr/>
          <p:nvPr/>
        </p:nvSpPr>
        <p:spPr>
          <a:xfrm>
            <a:off x="3077359" y="1459068"/>
            <a:ext cx="970428" cy="55212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AC2E61-6BF9-4FD0-808B-8C770B9F8F05}"/>
              </a:ext>
            </a:extLst>
          </p:cNvPr>
          <p:cNvSpPr/>
          <p:nvPr/>
        </p:nvSpPr>
        <p:spPr>
          <a:xfrm>
            <a:off x="8692126" y="1081107"/>
            <a:ext cx="970428" cy="395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F72237-FA41-3DDD-DC24-1BA17F7B2FB5}"/>
                  </a:ext>
                </a:extLst>
              </p:cNvPr>
              <p:cNvSpPr txBox="1"/>
              <p:nvPr/>
            </p:nvSpPr>
            <p:spPr>
              <a:xfrm>
                <a:off x="3773061" y="3938813"/>
                <a:ext cx="40870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144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833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𝐺𝑃𝐴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F72237-FA41-3DDD-DC24-1BA17F7B2F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061" y="3938813"/>
                <a:ext cx="4087016" cy="369332"/>
              </a:xfrm>
              <a:prstGeom prst="rect">
                <a:avLst/>
              </a:prstGeom>
              <a:blipFill>
                <a:blip r:embed="rId2"/>
                <a:stretch>
                  <a:fillRect l="-2239" r="-1343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3DA7642-41E1-5A3F-D821-A3170E51A496}"/>
                  </a:ext>
                </a:extLst>
              </p:cNvPr>
              <p:cNvSpPr txBox="1"/>
              <p:nvPr/>
            </p:nvSpPr>
            <p:spPr>
              <a:xfrm>
                <a:off x="2456745" y="4413682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𝑃𝑟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+ 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3DA7642-41E1-5A3F-D821-A3170E51A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6745" y="4413682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E06CA87-D927-9DF7-318A-ABE3341E237B}"/>
              </a:ext>
            </a:extLst>
          </p:cNvPr>
          <p:cNvSpPr txBox="1"/>
          <p:nvPr/>
        </p:nvSpPr>
        <p:spPr>
          <a:xfrm>
            <a:off x="8389949" y="4383398"/>
            <a:ext cx="310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 of enrolling in</a:t>
            </a:r>
          </a:p>
          <a:p>
            <a:r>
              <a:rPr lang="en-US" dirty="0"/>
              <a:t>college ‘conditional on’ values</a:t>
            </a:r>
          </a:p>
          <a:p>
            <a:r>
              <a:rPr lang="en-US" dirty="0"/>
              <a:t>of one’s grade point average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8D735E-394D-4A2C-8B4C-5CCAB1D083C0}"/>
              </a:ext>
            </a:extLst>
          </p:cNvPr>
          <p:cNvSpPr txBox="1">
            <a:spLocks/>
          </p:cNvSpPr>
          <p:nvPr/>
        </p:nvSpPr>
        <p:spPr>
          <a:xfrm>
            <a:off x="730415" y="5341764"/>
            <a:ext cx="10462436" cy="174162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The Wald test is the test statistic for the logistic regression model</a:t>
            </a:r>
          </a:p>
          <a:p>
            <a:r>
              <a:rPr lang="en-US" sz="1800" dirty="0"/>
              <a:t>The sig. is the </a:t>
            </a:r>
            <a:r>
              <a:rPr lang="en-US" sz="1800" i="1" dirty="0"/>
              <a:t>p-</a:t>
            </a:r>
            <a:r>
              <a:rPr lang="en-US" sz="1800" dirty="0"/>
              <a:t>value</a:t>
            </a:r>
          </a:p>
          <a:p>
            <a:r>
              <a:rPr lang="en-US" sz="1800" dirty="0"/>
              <a:t>EXP(B) is the odds ratio – the interpretation is: the odds of enrolling in college are about 2.5 times greater for each one unit increase in undergraduate </a:t>
            </a:r>
            <a:r>
              <a:rPr lang="en-US" sz="1800" dirty="0" err="1"/>
              <a:t>gpa</a:t>
            </a:r>
            <a:r>
              <a:rPr lang="en-US" sz="1800" dirty="0"/>
              <a:t>, but the result is not statistically significant</a:t>
            </a:r>
          </a:p>
        </p:txBody>
      </p:sp>
    </p:spTree>
    <p:extLst>
      <p:ext uri="{BB962C8B-B14F-4D97-AF65-F5344CB8AC3E}">
        <p14:creationId xmlns:p14="http://schemas.microsoft.com/office/powerpoint/2010/main" val="4147087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24F3E-5BAE-409A-9807-42BDE840E0F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2677" y="115215"/>
            <a:ext cx="10058400" cy="66293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ptos Display" panose="020B0004020202020204" pitchFamily="34" charset="0"/>
              </a:rPr>
              <a:t>Computing probabilities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AD625-5B64-45E1-8616-FA6D8069542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012" y="775072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/>
              <a:t>The most useful part of logistic regression is the ability to predict the conditional probability of Y given values of the independent variables</a:t>
            </a:r>
          </a:p>
          <a:p>
            <a:r>
              <a:rPr lang="en-US" sz="2000" dirty="0"/>
              <a:t>For example: what is the probability of college enrollment given that your </a:t>
            </a:r>
            <a:r>
              <a:rPr lang="en-US" sz="2000" dirty="0" err="1"/>
              <a:t>gpa</a:t>
            </a:r>
            <a:r>
              <a:rPr lang="en-US" sz="2000" dirty="0"/>
              <a:t> is 1.0, 2.0, 3.0 and 4.0?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EE2294-70E7-43BD-AD6A-D565B45E79FD}"/>
                  </a:ext>
                </a:extLst>
              </p:cNvPr>
              <p:cNvSpPr txBox="1"/>
              <p:nvPr/>
            </p:nvSpPr>
            <p:spPr>
              <a:xfrm>
                <a:off x="3564215" y="2038759"/>
                <a:ext cx="3985169" cy="5803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EE2294-70E7-43BD-AD6A-D565B45E7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215" y="2038759"/>
                <a:ext cx="3985169" cy="5803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B61E837-8F63-40F7-82D9-A4355D7593B7}"/>
                  </a:ext>
                </a:extLst>
              </p:cNvPr>
              <p:cNvSpPr txBox="1"/>
              <p:nvPr/>
            </p:nvSpPr>
            <p:spPr>
              <a:xfrm>
                <a:off x="731520" y="2989952"/>
                <a:ext cx="9282133" cy="5947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</m:sup>
                        </m:sSup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261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261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den>
                    </m:f>
                  </m:oMath>
                </a14:m>
                <a:r>
                  <a:rPr lang="en-US" dirty="0"/>
                  <a:t>=.221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B61E837-8F63-40F7-82D9-A4355D759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989952"/>
                <a:ext cx="9282133" cy="594715"/>
              </a:xfrm>
              <a:prstGeom prst="rect">
                <a:avLst/>
              </a:prstGeom>
              <a:blipFill>
                <a:blip r:embed="rId3"/>
                <a:stretch>
                  <a:fillRect b="-17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08E333-4387-48F5-A215-9C520E7DA9D1}"/>
                  </a:ext>
                </a:extLst>
              </p:cNvPr>
              <p:cNvSpPr txBox="1"/>
              <p:nvPr/>
            </p:nvSpPr>
            <p:spPr>
              <a:xfrm>
                <a:off x="731519" y="3767106"/>
                <a:ext cx="9282133" cy="5947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766</m:t>
                            </m:r>
                          </m:sup>
                        </m:sSup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766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378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378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den>
                    </m:f>
                  </m:oMath>
                </a14:m>
                <a:r>
                  <a:rPr lang="en-US" dirty="0"/>
                  <a:t>=.407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08E333-4387-48F5-A215-9C520E7DA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3767106"/>
                <a:ext cx="9282133" cy="594715"/>
              </a:xfrm>
              <a:prstGeom prst="rect">
                <a:avLst/>
              </a:prstGeom>
              <a:blipFill>
                <a:blip r:embed="rId4"/>
                <a:stretch>
                  <a:fillRect b="-16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21419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88592-CE93-4392-BBC5-60190B89BDD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4193" y="136732"/>
            <a:ext cx="10058400" cy="75615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Table of predicted probabilities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377D854E-34D6-463D-AC09-5E8448F25F1E}"/>
                  </a:ext>
                </a:extLst>
              </p:cNvPr>
              <p:cNvGraphicFramePr>
                <a:graphicFrameLocks noGrp="1"/>
              </p:cNvGraphicFramePr>
              <p:nvPr>
                <p:ph idx="4294967295"/>
                <p:extLst>
                  <p:ext uri="{D42A27DB-BD31-4B8C-83A1-F6EECF244321}">
                    <p14:modId xmlns:p14="http://schemas.microsoft.com/office/powerpoint/2010/main" val="382643130"/>
                  </p:ext>
                </p:extLst>
              </p:nvPr>
            </p:nvGraphicFramePr>
            <p:xfrm>
              <a:off x="874955" y="1284033"/>
              <a:ext cx="10058400" cy="2144967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1676400">
                      <a:extLst>
                        <a:ext uri="{9D8B030D-6E8A-4147-A177-3AD203B41FA5}">
                          <a16:colId xmlns:a16="http://schemas.microsoft.com/office/drawing/2014/main" val="170996473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99993849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1550207710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70189335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035241444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8759188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GPA (</a:t>
                          </a:r>
                          <a:r>
                            <a:rPr lang="en-US" i="1" dirty="0"/>
                            <a:t>X)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1+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p>
                              </m:sSup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  <m:r>
                                      <m:rPr>
                                        <m:nor/>
                                      </m:rPr>
                                      <a:rPr lang="en-US" dirty="0"/>
                                      <m:t> </m:t>
                                    </m:r>
                                  </m:num>
                                  <m:den>
                                    <m:r>
                                      <m:rPr>
                                        <m:nor/>
                                      </m:rPr>
                                      <a:rPr lang="en-US" dirty="0" smtClean="0"/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a:rPr lang="en-US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  <m:r>
                                      <m:rPr>
                                        <m:nor/>
                                      </m:rPr>
                                      <a:rPr lang="en-US" dirty="0"/>
                                      <m:t>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75983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0.283370514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1.2833705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0.220801796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162621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0.685230501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1.6852305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0.406609363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0665245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1.65698552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2.6569855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0.623633628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872651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4.006828377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5.0068284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0.800272763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9526079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377D854E-34D6-463D-AC09-5E8448F25F1E}"/>
                  </a:ext>
                </a:extLst>
              </p:cNvPr>
              <p:cNvGraphicFramePr>
                <a:graphicFrameLocks noGrp="1"/>
              </p:cNvGraphicFramePr>
              <p:nvPr>
                <p:ph idx="4294967295"/>
                <p:extLst>
                  <p:ext uri="{D42A27DB-BD31-4B8C-83A1-F6EECF244321}">
                    <p14:modId xmlns:p14="http://schemas.microsoft.com/office/powerpoint/2010/main" val="382643130"/>
                  </p:ext>
                </p:extLst>
              </p:nvPr>
            </p:nvGraphicFramePr>
            <p:xfrm>
              <a:off x="874955" y="1284033"/>
              <a:ext cx="10058400" cy="2144967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1676400">
                      <a:extLst>
                        <a:ext uri="{9D8B030D-6E8A-4147-A177-3AD203B41FA5}">
                          <a16:colId xmlns:a16="http://schemas.microsoft.com/office/drawing/2014/main" val="170996473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99993849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1550207710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70189335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035241444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875918851"/>
                        </a:ext>
                      </a:extLst>
                    </a:gridCol>
                  </a:tblGrid>
                  <a:tr h="6616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GPA (</a:t>
                          </a:r>
                          <a:r>
                            <a:rPr lang="en-US" i="1" dirty="0"/>
                            <a:t>X)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364" t="-4587" r="-401818" b="-2449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9638" t="-4587" r="-300362" b="-2449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727" t="-4587" r="-201455" b="-2449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727" t="-4587" r="-101455" b="-2449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727" t="-4587" r="-1455" b="-2449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75983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0.283370514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1.2833705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0.220801796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162621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0.685230501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1.6852305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0.406609363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0665245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1.65698552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2.6569855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0.623633628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872651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4.006828377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5.0068284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0.800272763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952607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EC701E6-5502-4197-874B-1292E30CE029}"/>
              </a:ext>
            </a:extLst>
          </p:cNvPr>
          <p:cNvSpPr txBox="1"/>
          <p:nvPr/>
        </p:nvSpPr>
        <p:spPr>
          <a:xfrm>
            <a:off x="1245140" y="4844374"/>
            <a:ext cx="862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excel file gpa_college_enrollment_example.xlsx </a:t>
            </a:r>
          </a:p>
        </p:txBody>
      </p:sp>
    </p:spTree>
    <p:extLst>
      <p:ext uri="{BB962C8B-B14F-4D97-AF65-F5344CB8AC3E}">
        <p14:creationId xmlns:p14="http://schemas.microsoft.com/office/powerpoint/2010/main" val="12159149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AE8189E-3779-F1C7-693C-33EDDBC97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138078"/>
              </p:ext>
            </p:extLst>
          </p:nvPr>
        </p:nvGraphicFramePr>
        <p:xfrm>
          <a:off x="692285" y="2585576"/>
          <a:ext cx="10515600" cy="2707005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40942703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703151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6380491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14407287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 i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Confusion matrix</a:t>
                      </a: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601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Predicted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06930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Observed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 Correct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513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9361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66.667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60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Overall % Correct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720"/>
                        </a:spcAft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720"/>
                        </a:spcAft>
                        <a:buNone/>
                      </a:pPr>
                      <a:endParaRPr lang="en-US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60.000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5635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algn="r">
                        <a:buNone/>
                      </a:pPr>
                      <a:endParaRPr lang="en-US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B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098960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 The cut-off value is set to 0.5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156272"/>
                  </a:ext>
                </a:extLst>
              </a:tr>
            </a:tbl>
          </a:graphicData>
        </a:graphic>
      </p:graphicFrame>
      <p:sp>
        <p:nvSpPr>
          <p:cNvPr id="9" name="Oval 8">
            <a:extLst>
              <a:ext uri="{FF2B5EF4-FFF2-40B4-BE49-F238E27FC236}">
                <a16:creationId xmlns:a16="http://schemas.microsoft.com/office/drawing/2014/main" id="{2739AF46-B258-0AD3-FA4B-457A4DF19058}"/>
              </a:ext>
            </a:extLst>
          </p:cNvPr>
          <p:cNvSpPr/>
          <p:nvPr/>
        </p:nvSpPr>
        <p:spPr>
          <a:xfrm>
            <a:off x="6772231" y="6187259"/>
            <a:ext cx="775290" cy="492546"/>
          </a:xfrm>
          <a:prstGeom prst="ellipse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57490-60E8-4A13-BD6E-B91E64C0AE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5915" y="124573"/>
            <a:ext cx="10058400" cy="777669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Model Summary &amp; Classification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1259038B-CDAB-47D6-886B-082DE35B153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8739" y="905710"/>
            <a:ext cx="10058400" cy="376078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/>
              <a:t>The classification table is provided. Here we correctly classify 60% of enrollments, better than chance (not much better)</a:t>
            </a:r>
          </a:p>
          <a:p>
            <a:pPr lvl="1">
              <a:lnSpc>
                <a:spcPct val="100000"/>
              </a:lnSpc>
            </a:pPr>
            <a:r>
              <a:rPr lang="en-US" sz="1800" dirty="0"/>
              <a:t>Using the 50% cutoff, when the observed </a:t>
            </a:r>
            <a:r>
              <a:rPr lang="en-US" sz="1800" i="1" dirty="0"/>
              <a:t>Y </a:t>
            </a:r>
            <a:r>
              <a:rPr lang="en-US" sz="1800" dirty="0"/>
              <a:t>was the student did not enroll in college, we predicted enrollment correctly 1/2 of the time</a:t>
            </a:r>
          </a:p>
          <a:p>
            <a:pPr lvl="1">
              <a:lnSpc>
                <a:spcPct val="100000"/>
              </a:lnSpc>
            </a:pPr>
            <a:r>
              <a:rPr lang="en-US" sz="1800" dirty="0"/>
              <a:t>Similarly, using the same cutoff, when the student did enroll, we were correct 4 of 6 times (2/3)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DA7E47-8BE0-422F-B853-2C9AB974566B}"/>
              </a:ext>
            </a:extLst>
          </p:cNvPr>
          <p:cNvSpPr txBox="1"/>
          <p:nvPr/>
        </p:nvSpPr>
        <p:spPr>
          <a:xfrm>
            <a:off x="6741751" y="5862961"/>
            <a:ext cx="2596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Sensitivity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629D47-D904-483B-83F3-77111F653A97}"/>
              </a:ext>
            </a:extLst>
          </p:cNvPr>
          <p:cNvSpPr txBox="1"/>
          <p:nvPr/>
        </p:nvSpPr>
        <p:spPr>
          <a:xfrm>
            <a:off x="6711271" y="5585207"/>
            <a:ext cx="2596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Specificity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8868A5-9CDF-42AA-9D5D-FAF4BD4826DE}"/>
              </a:ext>
            </a:extLst>
          </p:cNvPr>
          <p:cNvSpPr txBox="1"/>
          <p:nvPr/>
        </p:nvSpPr>
        <p:spPr>
          <a:xfrm>
            <a:off x="6741751" y="6187259"/>
            <a:ext cx="294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(2 + 4)/(2+2+2+4) = 60%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D0AE6F-D04F-3A4E-0BFF-12E76371821F}"/>
              </a:ext>
            </a:extLst>
          </p:cNvPr>
          <p:cNvCxnSpPr>
            <a:cxnSpLocks/>
          </p:cNvCxnSpPr>
          <p:nvPr/>
        </p:nvCxnSpPr>
        <p:spPr>
          <a:xfrm>
            <a:off x="5582047" y="3959035"/>
            <a:ext cx="857250" cy="277754"/>
          </a:xfrm>
          <a:prstGeom prst="line">
            <a:avLst/>
          </a:prstGeom>
          <a:ln w="25400" cap="flat" cmpd="sng" algn="ctr">
            <a:solidFill>
              <a:srgbClr val="00B0F0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B6A3BF7-649F-FE58-E07D-6A1B3404E1B6}"/>
              </a:ext>
            </a:extLst>
          </p:cNvPr>
          <p:cNvCxnSpPr/>
          <p:nvPr/>
        </p:nvCxnSpPr>
        <p:spPr>
          <a:xfrm flipV="1">
            <a:off x="5582047" y="3959035"/>
            <a:ext cx="857250" cy="277754"/>
          </a:xfrm>
          <a:prstGeom prst="straightConnector1">
            <a:avLst/>
          </a:prstGeom>
          <a:ln w="412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1765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B24B4-42EA-A715-5F37-508F956EA9A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1919473" cy="828339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More on classifications and correctly predicted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86F58-9930-4F5B-BE9B-6F3291535FD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69346" y="828339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Your observed outcome in logistic regression can ONLY be 0 or 1</a:t>
            </a:r>
          </a:p>
          <a:p>
            <a:r>
              <a:rPr lang="en-US" sz="2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The predicted probabilities from the model can take on all possible values between 0 and 1</a:t>
            </a:r>
          </a:p>
          <a:p>
            <a:r>
              <a:rPr lang="en-US" sz="2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So, for a given observation, the predicted probability from the model may have been 0.51 (51% probability of success), but your observation was actually a 0 (not a success)</a:t>
            </a:r>
          </a:p>
          <a:p>
            <a:r>
              <a:rPr lang="en-US" sz="2000" dirty="0">
                <a:solidFill>
                  <a:srgbClr val="000000"/>
                </a:solidFill>
                <a:latin typeface="Helvetica" panose="020B0604020202020204" pitchFamily="34" charset="0"/>
              </a:rPr>
              <a:t>By default, SPSS uses a classification of 50/50 </a:t>
            </a:r>
            <a:r>
              <a:rPr lang="en-US" sz="2000" dirty="0">
                <a:solidFill>
                  <a:srgbClr val="000000"/>
                </a:solidFill>
                <a:latin typeface="Helvetica" panose="020B0604020202020204" pitchFamily="34" charset="0"/>
                <a:sym typeface="Wingdings" panose="05000000000000000000" pitchFamily="2" charset="2"/>
              </a:rPr>
              <a:t> if the probability is .51 or greater, the case is coded as “1” (i.e., a success) and if it is &lt;= .50 it’s coded as “0” (i.e., a fail)</a:t>
            </a:r>
          </a:p>
          <a:p>
            <a:r>
              <a:rPr lang="en-US" sz="2000" dirty="0">
                <a:solidFill>
                  <a:srgbClr val="000000"/>
                </a:solidFill>
                <a:latin typeface="Helvetica" panose="020B0604020202020204" pitchFamily="34" charset="0"/>
                <a:sym typeface="Wingdings" panose="05000000000000000000" pitchFamily="2" charset="2"/>
              </a:rPr>
              <a:t>The next slide shows how we can add the probabilities and classifications to our dataset for additional intuition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853291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52BD35A-BC99-4831-A358-06E2CEB96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6E24C1-2968-40DC-A36E-F6B85F0F0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732" y="521208"/>
            <a:ext cx="11146536" cy="5815584"/>
          </a:xfrm>
          <a:prstGeom prst="rect">
            <a:avLst/>
          </a:prstGeom>
          <a:solidFill>
            <a:srgbClr val="FFFFFF"/>
          </a:solidFill>
          <a:ln w="69850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834EFA-2021-FFCB-C7A9-7E2FCBF6D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021" y="905933"/>
            <a:ext cx="6071962" cy="503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1098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C120ABA-0A93-A85A-0CD0-BB51AEB45E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77"/>
          <a:stretch>
            <a:fillRect/>
          </a:stretch>
        </p:blipFill>
        <p:spPr>
          <a:xfrm>
            <a:off x="2073349" y="910606"/>
            <a:ext cx="5057025" cy="43141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6BB42F5-0984-CB35-175B-279CD9D3026E}"/>
              </a:ext>
            </a:extLst>
          </p:cNvPr>
          <p:cNvSpPr/>
          <p:nvPr/>
        </p:nvSpPr>
        <p:spPr>
          <a:xfrm>
            <a:off x="2073348" y="1750803"/>
            <a:ext cx="5138023" cy="36894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FE9C12-0ADF-E550-AFB5-0C42E36693D6}"/>
              </a:ext>
            </a:extLst>
          </p:cNvPr>
          <p:cNvSpPr/>
          <p:nvPr/>
        </p:nvSpPr>
        <p:spPr>
          <a:xfrm>
            <a:off x="2073350" y="2087674"/>
            <a:ext cx="5138022" cy="36894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028F0-D2B3-D766-5FE3-9A79D25C5E84}"/>
              </a:ext>
            </a:extLst>
          </p:cNvPr>
          <p:cNvSpPr/>
          <p:nvPr/>
        </p:nvSpPr>
        <p:spPr>
          <a:xfrm>
            <a:off x="2073347" y="3688946"/>
            <a:ext cx="5138023" cy="36894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849120-65DC-100A-41B2-B1934E2184CD}"/>
              </a:ext>
            </a:extLst>
          </p:cNvPr>
          <p:cNvSpPr/>
          <p:nvPr/>
        </p:nvSpPr>
        <p:spPr>
          <a:xfrm>
            <a:off x="2073346" y="4811785"/>
            <a:ext cx="5138023" cy="36894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520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55F33-9A05-F8DA-EFAD-644DFCD8EA8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4951" y="104459"/>
            <a:ext cx="10058400" cy="70167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Improving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DF778-D732-03AC-743F-C9D2FB979A5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37073" y="806133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/>
              <a:t>We can change the default value from .5 to something else</a:t>
            </a:r>
          </a:p>
          <a:p>
            <a:r>
              <a:rPr lang="en-US" sz="2000" b="1" dirty="0"/>
              <a:t>Example</a:t>
            </a:r>
            <a:r>
              <a:rPr lang="en-US" sz="2000" dirty="0"/>
              <a:t>: Let’s change the default to .4 and see how this ‘improves’ our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3108738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AF65FF-D2B9-2348-D01B-F77CBFBD2FB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2998001" y="80088"/>
            <a:ext cx="4956987" cy="2107318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C6C0BE-4883-C90D-0E42-1767DCA3B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194" y="2482481"/>
            <a:ext cx="7468036" cy="32165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4FD4462-4A3E-35F7-9D91-56044DE54736}"/>
              </a:ext>
            </a:extLst>
          </p:cNvPr>
          <p:cNvSpPr/>
          <p:nvPr/>
        </p:nvSpPr>
        <p:spPr>
          <a:xfrm>
            <a:off x="1777194" y="4804299"/>
            <a:ext cx="7468036" cy="820324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B3CC69-52D5-79FF-9A15-594BB045188C}"/>
              </a:ext>
            </a:extLst>
          </p:cNvPr>
          <p:cNvSpPr txBox="1"/>
          <p:nvPr/>
        </p:nvSpPr>
        <p:spPr>
          <a:xfrm>
            <a:off x="9367285" y="4804299"/>
            <a:ext cx="25758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we changed</a:t>
            </a:r>
          </a:p>
          <a:p>
            <a:r>
              <a:rPr lang="en-US" dirty="0"/>
              <a:t>the default value from .5</a:t>
            </a:r>
          </a:p>
          <a:p>
            <a:r>
              <a:rPr lang="en-US" dirty="0"/>
              <a:t>to .4, what changed?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28A70-9836-4BE3-784C-D39BB8AAA3CC}"/>
              </a:ext>
            </a:extLst>
          </p:cNvPr>
          <p:cNvSpPr txBox="1"/>
          <p:nvPr/>
        </p:nvSpPr>
        <p:spPr>
          <a:xfrm>
            <a:off x="4561367" y="2047686"/>
            <a:ext cx="2317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Default = 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34549C-4249-88DF-A118-B5A4811FB759}"/>
              </a:ext>
            </a:extLst>
          </p:cNvPr>
          <p:cNvSpPr txBox="1"/>
          <p:nvPr/>
        </p:nvSpPr>
        <p:spPr>
          <a:xfrm>
            <a:off x="6796039" y="2050549"/>
            <a:ext cx="2317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Default = .4</a:t>
            </a:r>
          </a:p>
        </p:txBody>
      </p:sp>
    </p:spTree>
    <p:extLst>
      <p:ext uri="{BB962C8B-B14F-4D97-AF65-F5344CB8AC3E}">
        <p14:creationId xmlns:p14="http://schemas.microsoft.com/office/powerpoint/2010/main" val="2124870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1CD89-37FD-48D2-9E79-5B60D30DEEA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435" y="115216"/>
            <a:ext cx="10058400" cy="70167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You may want to report…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B4FF1-DF4D-45EC-8664-8A90BCA3965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43435" y="1055734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/>
              <a:t>Is the 60% correctly predicted rate better than chance (i.e., 50%)</a:t>
            </a:r>
          </a:p>
          <a:p>
            <a:r>
              <a:rPr lang="en-US" sz="2000" dirty="0"/>
              <a:t>You can report Press’s Q, which is distributed as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971BDC-E25F-40D9-987F-0EABD6D6E33D}"/>
                  </a:ext>
                </a:extLst>
              </p:cNvPr>
              <p:cNvSpPr txBox="1"/>
              <p:nvPr/>
            </p:nvSpPr>
            <p:spPr>
              <a:xfrm>
                <a:off x="952051" y="2148755"/>
                <a:ext cx="2252133" cy="727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𝑛𝐾</m:t>
                                </m:r>
                              </m:e>
                            </m:d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2800" dirty="0"/>
                  <a:t>,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971BDC-E25F-40D9-987F-0EABD6D6E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051" y="2148755"/>
                <a:ext cx="2252133" cy="727443"/>
              </a:xfrm>
              <a:prstGeom prst="rect">
                <a:avLst/>
              </a:prstGeom>
              <a:blipFill>
                <a:blip r:embed="rId2"/>
                <a:stretch>
                  <a:fillRect r="-2162" b="-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F49C63-A36B-4C07-91F8-2CDD213928D6}"/>
                  </a:ext>
                </a:extLst>
              </p:cNvPr>
              <p:cNvSpPr txBox="1"/>
              <p:nvPr/>
            </p:nvSpPr>
            <p:spPr>
              <a:xfrm>
                <a:off x="952051" y="2988228"/>
                <a:ext cx="5772151" cy="727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2800" dirty="0"/>
                  <a:t>= .4 &lt;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/>
                  <a:t>(1) = 3.841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F49C63-A36B-4C07-91F8-2CDD21392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051" y="2988228"/>
                <a:ext cx="5772151" cy="727443"/>
              </a:xfrm>
              <a:prstGeom prst="rect">
                <a:avLst/>
              </a:prstGeom>
              <a:blipFill>
                <a:blip r:embed="rId3"/>
                <a:stretch>
                  <a:fillRect b="-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3DF58DF-CBC8-4522-863B-4583193A99B6}"/>
              </a:ext>
            </a:extLst>
          </p:cNvPr>
          <p:cNvSpPr txBox="1"/>
          <p:nvPr/>
        </p:nvSpPr>
        <p:spPr>
          <a:xfrm>
            <a:off x="3514628" y="2064898"/>
            <a:ext cx="63071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N</a:t>
            </a:r>
            <a:r>
              <a:rPr lang="en-US" dirty="0"/>
              <a:t> is the total sample size, </a:t>
            </a:r>
          </a:p>
          <a:p>
            <a:r>
              <a:rPr lang="en-US" i="1" dirty="0"/>
              <a:t>n</a:t>
            </a:r>
            <a:r>
              <a:rPr lang="en-US" dirty="0"/>
              <a:t> represents the number of cases that were correctly classified</a:t>
            </a:r>
          </a:p>
          <a:p>
            <a:r>
              <a:rPr lang="en-US" i="1" dirty="0"/>
              <a:t>K</a:t>
            </a:r>
            <a:r>
              <a:rPr lang="en-US" dirty="0"/>
              <a:t> equals the number of groups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7063E7-D566-4E17-8897-F10C2179A75D}"/>
              </a:ext>
            </a:extLst>
          </p:cNvPr>
          <p:cNvSpPr txBox="1"/>
          <p:nvPr/>
        </p:nvSpPr>
        <p:spPr>
          <a:xfrm>
            <a:off x="845870" y="3896583"/>
            <a:ext cx="6784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this case, the results are no better than chance</a:t>
            </a:r>
          </a:p>
        </p:txBody>
      </p:sp>
    </p:spTree>
    <p:extLst>
      <p:ext uri="{BB962C8B-B14F-4D97-AF65-F5344CB8AC3E}">
        <p14:creationId xmlns:p14="http://schemas.microsoft.com/office/powerpoint/2010/main" val="15188108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026E7-85EF-41F4-815F-5317A9437FB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4905375"/>
            <a:ext cx="4989513" cy="1554163"/>
          </a:xfrm>
        </p:spPr>
        <p:txBody>
          <a:bodyPr anchor="ctr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Log-Likelihood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5FFE-6309-4459-8B5E-2C421C6AA68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97663" y="4905375"/>
            <a:ext cx="5494337" cy="1554163"/>
          </a:xfrm>
        </p:spPr>
        <p:txBody>
          <a:bodyPr anchor="ctr">
            <a:normAutofit fontScale="85000" lnSpcReduction="2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The model summary information is provided only as a method of comparison </a:t>
            </a:r>
          </a:p>
          <a:p>
            <a:r>
              <a:rPr lang="en-US" dirty="0">
                <a:solidFill>
                  <a:srgbClr val="FFFFFF"/>
                </a:solidFill>
              </a:rPr>
              <a:t>Let’s compare this model with a model that includes student gender (next slide)</a:t>
            </a:r>
          </a:p>
          <a:p>
            <a:endParaRPr lang="en-US" dirty="0">
              <a:solidFill>
                <a:srgbClr val="FFFFFF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A3DD9D3-F30C-4CD3-A4B5-3F56451BB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739515"/>
              </p:ext>
            </p:extLst>
          </p:nvPr>
        </p:nvGraphicFramePr>
        <p:xfrm>
          <a:off x="236536" y="399316"/>
          <a:ext cx="11767396" cy="3038475"/>
        </p:xfrm>
        <a:graphic>
          <a:graphicData uri="http://schemas.openxmlformats.org/drawingml/2006/table">
            <a:tbl>
              <a:tblPr/>
              <a:tblGrid>
                <a:gridCol w="955964">
                  <a:extLst>
                    <a:ext uri="{9D8B030D-6E8A-4147-A177-3AD203B41FA5}">
                      <a16:colId xmlns:a16="http://schemas.microsoft.com/office/drawing/2014/main" val="2496199252"/>
                    </a:ext>
                  </a:extLst>
                </a:gridCol>
                <a:gridCol w="1231140">
                  <a:extLst>
                    <a:ext uri="{9D8B030D-6E8A-4147-A177-3AD203B41FA5}">
                      <a16:colId xmlns:a16="http://schemas.microsoft.com/office/drawing/2014/main" val="643499005"/>
                    </a:ext>
                  </a:extLst>
                </a:gridCol>
                <a:gridCol w="680788">
                  <a:extLst>
                    <a:ext uri="{9D8B030D-6E8A-4147-A177-3AD203B41FA5}">
                      <a16:colId xmlns:a16="http://schemas.microsoft.com/office/drawing/2014/main" val="4137440084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3506898811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433470389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2973702748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4233934513"/>
                    </a:ext>
                  </a:extLst>
                </a:gridCol>
                <a:gridCol w="1195765">
                  <a:extLst>
                    <a:ext uri="{9D8B030D-6E8A-4147-A177-3AD203B41FA5}">
                      <a16:colId xmlns:a16="http://schemas.microsoft.com/office/drawing/2014/main" val="3676231118"/>
                    </a:ext>
                  </a:extLst>
                </a:gridCol>
                <a:gridCol w="1391055">
                  <a:extLst>
                    <a:ext uri="{9D8B030D-6E8A-4147-A177-3AD203B41FA5}">
                      <a16:colId xmlns:a16="http://schemas.microsoft.com/office/drawing/2014/main" val="899870101"/>
                    </a:ext>
                  </a:extLst>
                </a:gridCol>
                <a:gridCol w="893492">
                  <a:extLst>
                    <a:ext uri="{9D8B030D-6E8A-4147-A177-3AD203B41FA5}">
                      <a16:colId xmlns:a16="http://schemas.microsoft.com/office/drawing/2014/main" val="79339416"/>
                    </a:ext>
                  </a:extLst>
                </a:gridCol>
                <a:gridCol w="1595336">
                  <a:extLst>
                    <a:ext uri="{9D8B030D-6E8A-4147-A177-3AD203B41FA5}">
                      <a16:colId xmlns:a16="http://schemas.microsoft.com/office/drawing/2014/main" val="2046739626"/>
                    </a:ext>
                  </a:extLst>
                </a:gridCol>
              </a:tblGrid>
              <a:tr h="3886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 Summary - enroll</a:t>
                      </a: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488088"/>
                  </a:ext>
                </a:extLst>
              </a:tr>
              <a:tr h="8801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Deviance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df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ΔΧ²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McFadden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Nagelkerke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Tjur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Cox &amp; Snell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85897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M₀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13.460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15.460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15.763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71168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M₁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12.169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16.169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16.775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1.291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.256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0.096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0.164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0.121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6871236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r">
                        <a:buNone/>
                      </a:pPr>
                      <a:endParaRPr lang="en-US" sz="1600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8572194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 M₁ includes </a:t>
                      </a:r>
                      <a:r>
                        <a:rPr lang="en-US" sz="1800" b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gpa</a:t>
                      </a:r>
                      <a:endParaRPr lang="en-US" sz="1800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1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87081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03155-03F1-46FE-9942-AC2351FCE62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8513" y="52846"/>
            <a:ext cx="11492597" cy="1002666"/>
          </a:xfrm>
        </p:spPr>
        <p:txBody>
          <a:bodyPr/>
          <a:lstStyle/>
          <a:p>
            <a:r>
              <a:rPr lang="en-US" dirty="0">
                <a:latin typeface="Aptos Display" panose="020B0004020202020204" pitchFamily="34" charset="0"/>
              </a:rPr>
              <a:t>Does the addition of gender improve the model fit?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8B12E-381E-45BB-B69C-AB614904B5DE}"/>
                  </a:ext>
                </a:extLst>
              </p:cNvPr>
              <p:cNvSpPr txBox="1"/>
              <p:nvPr/>
            </p:nvSpPr>
            <p:spPr>
              <a:xfrm>
                <a:off x="620890" y="1055512"/>
                <a:ext cx="55445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= 2(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)=−(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936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169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233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8B12E-381E-45BB-B69C-AB614904B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890" y="1055512"/>
                <a:ext cx="5544531" cy="276999"/>
              </a:xfrm>
              <a:prstGeom prst="rect">
                <a:avLst/>
              </a:prstGeom>
              <a:blipFill>
                <a:blip r:embed="rId2"/>
                <a:stretch>
                  <a:fillRect l="-1540" t="-28261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0A5FDF3-5FCB-46F2-BD37-DCC0BC184D00}"/>
              </a:ext>
            </a:extLst>
          </p:cNvPr>
          <p:cNvSpPr txBox="1"/>
          <p:nvPr/>
        </p:nvSpPr>
        <p:spPr>
          <a:xfrm>
            <a:off x="603115" y="1680867"/>
            <a:ext cx="10633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m2</a:t>
            </a:r>
            <a:r>
              <a:rPr lang="en-US" dirty="0"/>
              <a:t> = model with additional predictors, it is also called the unrestricted model</a:t>
            </a:r>
          </a:p>
          <a:p>
            <a:r>
              <a:rPr lang="en-US" b="1" dirty="0"/>
              <a:t>m1</a:t>
            </a:r>
            <a:r>
              <a:rPr lang="en-US" dirty="0"/>
              <a:t> = model with fewer predictors, it is nested in m2, it is also called the restricted model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70D3A0-DD90-40E5-A603-A042900E723C}"/>
              </a:ext>
            </a:extLst>
          </p:cNvPr>
          <p:cNvSpPr txBox="1"/>
          <p:nvPr/>
        </p:nvSpPr>
        <p:spPr>
          <a:xfrm>
            <a:off x="600226" y="2409653"/>
            <a:ext cx="104491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is one parameter difference between the models, and one degree of freedom</a:t>
            </a:r>
          </a:p>
          <a:p>
            <a:endParaRPr lang="en-US" dirty="0"/>
          </a:p>
          <a:p>
            <a:r>
              <a:rPr lang="en-US" dirty="0"/>
              <a:t>The critical value is greater than the calculated statistic and hence there is no statistically significant difference between these models!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19B9A7-42A2-1969-F04C-B17DA2E93F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5730900"/>
              </p:ext>
            </p:extLst>
          </p:nvPr>
        </p:nvGraphicFramePr>
        <p:xfrm>
          <a:off x="533792" y="3635601"/>
          <a:ext cx="10515604" cy="2924175"/>
        </p:xfrm>
        <a:graphic>
          <a:graphicData uri="http://schemas.openxmlformats.org/drawingml/2006/table">
            <a:tbl>
              <a:tblPr/>
              <a:tblGrid>
                <a:gridCol w="955964">
                  <a:extLst>
                    <a:ext uri="{9D8B030D-6E8A-4147-A177-3AD203B41FA5}">
                      <a16:colId xmlns:a16="http://schemas.microsoft.com/office/drawing/2014/main" val="1693055911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846159057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3795572188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597922720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653930322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538867394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706858175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4180996554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207238853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722178133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239258291"/>
                    </a:ext>
                  </a:extLst>
                </a:gridCol>
              </a:tblGrid>
              <a:tr h="3886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 Summary - enroll</a:t>
                      </a: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668909"/>
                  </a:ext>
                </a:extLst>
              </a:tr>
              <a:tr h="8801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Deviance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df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ΔΧ²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McFadden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Nagelkerke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Tjur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Cox &amp; Snell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1936882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M₀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12.169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16.169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16.775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296955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M₁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10.936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16.936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17.843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1.234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.267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0.101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0.165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0.217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4475592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r">
                        <a:buNone/>
                      </a:pPr>
                      <a:endParaRPr lang="en-US" sz="1800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9001015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sz="1800" b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 M₀ includes gpa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4048391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 M₁ includes </a:t>
                      </a:r>
                      <a:r>
                        <a:rPr lang="en-US" sz="1800" b="0" dirty="0" err="1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gpa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, gender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332062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B4CA1CD-5AFE-4F71-C26A-F105448BB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792" y="838365"/>
            <a:ext cx="10789204" cy="7233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08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Content Placeholder 3">
            <a:extLst>
              <a:ext uri="{FF2B5EF4-FFF2-40B4-BE49-F238E27FC236}">
                <a16:creationId xmlns:a16="http://schemas.microsoft.com/office/drawing/2014/main" id="{C5B20AED-241A-00C8-803A-F6F8745B7D3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82880" y="671364"/>
            <a:ext cx="4227755" cy="423412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Probability of enrolling in college conditional on high school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increases the probability of enrolling increases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probability is about .30 for 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1.5 but increases to about .9 for 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4.5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6D37AC1-3C1E-1EDB-5E13-6D335935B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3447" y="478972"/>
            <a:ext cx="6892560" cy="4812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3302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C44C-13C3-4FAE-84BC-3F1882C70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do this in JASP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A3E65-DEFB-B6D2-6710-DBD422FD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Unsheltered-demographic-</a:t>
            </a:r>
            <a:r>
              <a:rPr lang="en-US" dirty="0" err="1"/>
              <a:t>survey.jasp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4144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0FE46-FEF1-677C-1185-5A6C31A07F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8739" y="287338"/>
            <a:ext cx="10058400" cy="594789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C359F-B15E-9CA4-ECE3-38A1680AF08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8739" y="882127"/>
            <a:ext cx="11973261" cy="4986861"/>
          </a:xfrm>
        </p:spPr>
        <p:txBody>
          <a:bodyPr>
            <a:normAutofit/>
          </a:bodyPr>
          <a:lstStyle/>
          <a:p>
            <a:r>
              <a:rPr lang="en-US" sz="2000" dirty="0"/>
              <a:t>Open the SPSS file </a:t>
            </a:r>
            <a:r>
              <a:rPr lang="en-US" sz="2000" dirty="0" err="1"/>
              <a:t>passing.sav</a:t>
            </a:r>
            <a:endParaRPr lang="en-US" sz="2000" dirty="0"/>
          </a:p>
          <a:p>
            <a:r>
              <a:rPr lang="en-US" sz="2000" dirty="0"/>
              <a:t>The data has three made-up variables:</a:t>
            </a:r>
          </a:p>
          <a:p>
            <a:pPr lvl="1"/>
            <a:r>
              <a:rPr lang="en-US" sz="1800" dirty="0"/>
              <a:t>Passed a statistics test</a:t>
            </a:r>
          </a:p>
          <a:p>
            <a:pPr lvl="1"/>
            <a:r>
              <a:rPr lang="en-US" sz="1800" dirty="0"/>
              <a:t>Hours of study</a:t>
            </a:r>
          </a:p>
          <a:p>
            <a:pPr lvl="1"/>
            <a:r>
              <a:rPr lang="en-US" sz="1800" dirty="0"/>
              <a:t>Gender (1 = male, 0 = female)</a:t>
            </a:r>
          </a:p>
          <a:p>
            <a:r>
              <a:rPr lang="en-US" sz="2000" dirty="0"/>
              <a:t>Run a binary logistic regression of passed on hours</a:t>
            </a:r>
          </a:p>
          <a:p>
            <a:pPr lvl="1"/>
            <a:r>
              <a:rPr lang="en-US" sz="1800" dirty="0"/>
              <a:t>Write out the regression equation</a:t>
            </a:r>
          </a:p>
          <a:p>
            <a:pPr lvl="1"/>
            <a:r>
              <a:rPr lang="en-US" sz="1800" dirty="0"/>
              <a:t>Predict the probability of passing for 0, 50, 100, 150,200 and 250 hours of studying</a:t>
            </a:r>
          </a:p>
          <a:p>
            <a:pPr lvl="1"/>
            <a:r>
              <a:rPr lang="en-US" sz="1800" dirty="0"/>
              <a:t>Add gender into the model and interpret the coefficient in terms of odds and percent change in odds</a:t>
            </a:r>
          </a:p>
          <a:p>
            <a:pPr lvl="1"/>
            <a:r>
              <a:rPr lang="en-US" sz="1800" dirty="0"/>
              <a:t>Does adding gender improve the model fit?</a:t>
            </a:r>
          </a:p>
          <a:p>
            <a:pPr lvl="1"/>
            <a:r>
              <a:rPr lang="en-US" sz="1800" dirty="0"/>
              <a:t>Compute the probability of passing for males and females for 100 study hours</a:t>
            </a:r>
          </a:p>
        </p:txBody>
      </p:sp>
    </p:spTree>
    <p:extLst>
      <p:ext uri="{BB962C8B-B14F-4D97-AF65-F5344CB8AC3E}">
        <p14:creationId xmlns:p14="http://schemas.microsoft.com/office/powerpoint/2010/main" val="29869215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163F7-EFC9-4C87-B335-27E1274865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03201" y="177515"/>
            <a:ext cx="10058400" cy="770117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Model &amp; 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/>
              <p:nvPr/>
            </p:nvSpPr>
            <p:spPr>
              <a:xfrm>
                <a:off x="4302093" y="978230"/>
                <a:ext cx="33701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9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082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2093" y="978230"/>
                <a:ext cx="3370153" cy="369332"/>
              </a:xfrm>
              <a:prstGeom prst="rect">
                <a:avLst/>
              </a:prstGeom>
              <a:blipFill>
                <a:blip r:embed="rId2"/>
                <a:stretch>
                  <a:fillRect l="-2893" r="-1447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/>
              <p:nvPr/>
            </p:nvSpPr>
            <p:spPr>
              <a:xfrm>
                <a:off x="2939169" y="1390366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169" y="1390366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711D712-E684-4676-87BA-AC5B02F84AB6}"/>
              </a:ext>
            </a:extLst>
          </p:cNvPr>
          <p:cNvSpPr txBox="1"/>
          <p:nvPr/>
        </p:nvSpPr>
        <p:spPr>
          <a:xfrm>
            <a:off x="2762685" y="2144010"/>
            <a:ext cx="7990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Check: What is the Probability of passing when hours =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exp(.082) = 1.085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40820363-54E8-45FA-89E0-0EA585BDC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78344"/>
              </p:ext>
            </p:extLst>
          </p:nvPr>
        </p:nvGraphicFramePr>
        <p:xfrm>
          <a:off x="2356670" y="2874199"/>
          <a:ext cx="812800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18754584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967530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42886392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39887754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8613431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90099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26842621"/>
                    </a:ext>
                  </a:extLst>
                </a:gridCol>
              </a:tblGrid>
              <a:tr h="370840">
                <a:tc gridSpan="7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8467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809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P(</a:t>
                      </a:r>
                      <a:r>
                        <a:rPr lang="en-US" i="1" dirty="0" err="1"/>
                        <a:t>Y</a:t>
                      </a:r>
                      <a:r>
                        <a:rPr lang="en-US" dirty="0" err="1"/>
                        <a:t>|</a:t>
                      </a:r>
                      <a:r>
                        <a:rPr lang="en-US" i="1" dirty="0" err="1"/>
                        <a:t>x</a:t>
                      </a:r>
                      <a:r>
                        <a:rPr lang="en-US" dirty="0"/>
                        <a:t>=</a:t>
                      </a:r>
                      <a:r>
                        <a:rPr lang="en-US" i="1" dirty="0"/>
                        <a:t>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0.9783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47072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9BFAC01-B762-44F6-A22C-C6A5E71CB662}"/>
              </a:ext>
            </a:extLst>
          </p:cNvPr>
          <p:cNvSpPr txBox="1"/>
          <p:nvPr/>
        </p:nvSpPr>
        <p:spPr>
          <a:xfrm>
            <a:off x="1951576" y="4180365"/>
            <a:ext cx="9110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[exp(.082)-1  *100] percent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864E1C-FC24-40CD-88EB-56160CC74F78}"/>
              </a:ext>
            </a:extLst>
          </p:cNvPr>
          <p:cNvSpPr txBox="1"/>
          <p:nvPr/>
        </p:nvSpPr>
        <p:spPr>
          <a:xfrm>
            <a:off x="1951576" y="4584763"/>
            <a:ext cx="8246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about 8.5 percent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E1CEBD-AB22-4755-84C1-0CC6A42074C3}"/>
              </a:ext>
            </a:extLst>
          </p:cNvPr>
          <p:cNvSpPr txBox="1"/>
          <p:nvPr/>
        </p:nvSpPr>
        <p:spPr>
          <a:xfrm>
            <a:off x="1926685" y="4952487"/>
            <a:ext cx="798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are 1.085 times higher for each additional hour spent studying</a:t>
            </a:r>
          </a:p>
        </p:txBody>
      </p:sp>
    </p:spTree>
    <p:extLst>
      <p:ext uri="{BB962C8B-B14F-4D97-AF65-F5344CB8AC3E}">
        <p14:creationId xmlns:p14="http://schemas.microsoft.com/office/powerpoint/2010/main" val="4651650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90F50EE-3E9C-4D70-8911-85E6EB10C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984250"/>
            <a:ext cx="10248900" cy="133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202D87-EF44-4197-A53C-6B819DDDC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" y="2387600"/>
            <a:ext cx="7277100" cy="15271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A9C83C5-2881-4CAC-AECD-A4C2057AFE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8500" y="2387600"/>
            <a:ext cx="2901950" cy="15271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64F81D-97CC-4113-9427-80E741A2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824" y="4379976"/>
            <a:ext cx="8147304" cy="1069848"/>
          </a:xfrm>
          <a:solidFill>
            <a:srgbClr val="FFFFFF"/>
          </a:solidFill>
          <a:ln w="31750" cap="sq">
            <a:solidFill>
              <a:srgbClr val="5E5E52"/>
            </a:solidFill>
            <a:miter lim="800000"/>
          </a:ln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3200" kern="120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Jasp Output</a:t>
            </a:r>
          </a:p>
        </p:txBody>
      </p:sp>
    </p:spTree>
    <p:extLst>
      <p:ext uri="{BB962C8B-B14F-4D97-AF65-F5344CB8AC3E}">
        <p14:creationId xmlns:p14="http://schemas.microsoft.com/office/powerpoint/2010/main" val="36617963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213E0-80F6-4DD6-BEF5-8865BB70B21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4611" y="143596"/>
            <a:ext cx="12192000" cy="766911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Let’s add a binary variable, gender, to the equation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528926-4E69-4F93-9F91-6AA98D05D3F4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054250" y="832686"/>
            <a:ext cx="9156700" cy="219710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537E22-804A-499A-86EA-1C1A018ADED4}"/>
              </a:ext>
            </a:extLst>
          </p:cNvPr>
          <p:cNvSpPr txBox="1"/>
          <p:nvPr/>
        </p:nvSpPr>
        <p:spPr>
          <a:xfrm>
            <a:off x="1167422" y="3161120"/>
            <a:ext cx="867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for males are [exp(-.654)-1  *100] percent lower compared to females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D3283C-4D5C-47B5-9D2A-EAADCDF306B4}"/>
              </a:ext>
            </a:extLst>
          </p:cNvPr>
          <p:cNvSpPr txBox="1"/>
          <p:nvPr/>
        </p:nvSpPr>
        <p:spPr>
          <a:xfrm>
            <a:off x="1167422" y="3477120"/>
            <a:ext cx="6685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for males are 48.01% lower compared to females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DA3BBF-7BB5-4231-9771-4C2B483C9EE0}"/>
              </a:ext>
            </a:extLst>
          </p:cNvPr>
          <p:cNvSpPr txBox="1"/>
          <p:nvPr/>
        </p:nvSpPr>
        <p:spPr>
          <a:xfrm>
            <a:off x="1167422" y="3789340"/>
            <a:ext cx="8169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are .5100 (exp(-.654)) times lower for males compared to females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F960B7-222F-FC88-9945-14E7BCADE7E2}"/>
              </a:ext>
            </a:extLst>
          </p:cNvPr>
          <p:cNvSpPr txBox="1"/>
          <p:nvPr/>
        </p:nvSpPr>
        <p:spPr>
          <a:xfrm>
            <a:off x="1167422" y="4158672"/>
            <a:ext cx="10186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file probability of passing by gender.xlsx has the probability of passing for males and females given 100</a:t>
            </a:r>
          </a:p>
          <a:p>
            <a:r>
              <a:rPr lang="en-US" dirty="0"/>
              <a:t>hours of study time</a:t>
            </a:r>
          </a:p>
        </p:txBody>
      </p:sp>
    </p:spTree>
    <p:extLst>
      <p:ext uri="{BB962C8B-B14F-4D97-AF65-F5344CB8AC3E}">
        <p14:creationId xmlns:p14="http://schemas.microsoft.com/office/powerpoint/2010/main" val="16376108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8D735E-394D-4A2C-8B4C-5CCAB1D083C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54938" y="4683337"/>
            <a:ext cx="10461625" cy="1741488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Wald test is the test statistic for the logistic regression model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sig. is the </a:t>
            </a:r>
            <a:r>
              <a:rPr lang="en-U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p-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EXP(B) is the odds ratio – the interpretation is: the odds of enrolling in college are about 2.5 times greater for each one unit increase in undergraduate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gpa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but the result is not statistically significant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5BCF5B8-0A5C-E2D0-F94A-DC57F9298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09843"/>
              </p:ext>
            </p:extLst>
          </p:nvPr>
        </p:nvGraphicFramePr>
        <p:xfrm>
          <a:off x="916116" y="1499384"/>
          <a:ext cx="10058398" cy="2834640"/>
        </p:xfrm>
        <a:graphic>
          <a:graphicData uri="http://schemas.openxmlformats.org/drawingml/2006/table">
            <a:tbl>
              <a:tblPr/>
              <a:tblGrid>
                <a:gridCol w="1207916">
                  <a:extLst>
                    <a:ext uri="{9D8B030D-6E8A-4147-A177-3AD203B41FA5}">
                      <a16:colId xmlns:a16="http://schemas.microsoft.com/office/drawing/2014/main" val="1266141950"/>
                    </a:ext>
                  </a:extLst>
                </a:gridCol>
                <a:gridCol w="228998">
                  <a:extLst>
                    <a:ext uri="{9D8B030D-6E8A-4147-A177-3AD203B41FA5}">
                      <a16:colId xmlns:a16="http://schemas.microsoft.com/office/drawing/2014/main" val="1308021979"/>
                    </a:ext>
                  </a:extLst>
                </a:gridCol>
                <a:gridCol w="949193">
                  <a:extLst>
                    <a:ext uri="{9D8B030D-6E8A-4147-A177-3AD203B41FA5}">
                      <a16:colId xmlns:a16="http://schemas.microsoft.com/office/drawing/2014/main" val="3519772311"/>
                    </a:ext>
                  </a:extLst>
                </a:gridCol>
                <a:gridCol w="487721">
                  <a:extLst>
                    <a:ext uri="{9D8B030D-6E8A-4147-A177-3AD203B41FA5}">
                      <a16:colId xmlns:a16="http://schemas.microsoft.com/office/drawing/2014/main" val="4018022940"/>
                    </a:ext>
                  </a:extLst>
                </a:gridCol>
                <a:gridCol w="925185">
                  <a:extLst>
                    <a:ext uri="{9D8B030D-6E8A-4147-A177-3AD203B41FA5}">
                      <a16:colId xmlns:a16="http://schemas.microsoft.com/office/drawing/2014/main" val="252498594"/>
                    </a:ext>
                  </a:extLst>
                </a:gridCol>
                <a:gridCol w="511729">
                  <a:extLst>
                    <a:ext uri="{9D8B030D-6E8A-4147-A177-3AD203B41FA5}">
                      <a16:colId xmlns:a16="http://schemas.microsoft.com/office/drawing/2014/main" val="2145613635"/>
                    </a:ext>
                  </a:extLst>
                </a:gridCol>
                <a:gridCol w="924217">
                  <a:extLst>
                    <a:ext uri="{9D8B030D-6E8A-4147-A177-3AD203B41FA5}">
                      <a16:colId xmlns:a16="http://schemas.microsoft.com/office/drawing/2014/main" val="3346246456"/>
                    </a:ext>
                  </a:extLst>
                </a:gridCol>
                <a:gridCol w="512697">
                  <a:extLst>
                    <a:ext uri="{9D8B030D-6E8A-4147-A177-3AD203B41FA5}">
                      <a16:colId xmlns:a16="http://schemas.microsoft.com/office/drawing/2014/main" val="1842628089"/>
                    </a:ext>
                  </a:extLst>
                </a:gridCol>
                <a:gridCol w="984210">
                  <a:extLst>
                    <a:ext uri="{9D8B030D-6E8A-4147-A177-3AD203B41FA5}">
                      <a16:colId xmlns:a16="http://schemas.microsoft.com/office/drawing/2014/main" val="470072508"/>
                    </a:ext>
                  </a:extLst>
                </a:gridCol>
                <a:gridCol w="452704">
                  <a:extLst>
                    <a:ext uri="{9D8B030D-6E8A-4147-A177-3AD203B41FA5}">
                      <a16:colId xmlns:a16="http://schemas.microsoft.com/office/drawing/2014/main" val="3813175979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3520804221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245727872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505849115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3011440029"/>
                    </a:ext>
                  </a:extLst>
                </a:gridCol>
              </a:tblGrid>
              <a:tr h="0">
                <a:tc gridSpan="14"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Coefficients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473745"/>
                  </a:ext>
                </a:extLst>
              </a:tr>
              <a:tr h="0">
                <a:tc gridSpan="8">
                  <a:txBody>
                    <a:bodyPr/>
                    <a:lstStyle/>
                    <a:p>
                      <a:pPr algn="ctr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Wald 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0323138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Estimate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Standard Error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Wald Statistic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792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(Intercept)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-2.144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2.416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-0.888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0.788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0.375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071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gpa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0.883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0.821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1.076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1.157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0.282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0728406"/>
                  </a:ext>
                </a:extLst>
              </a:tr>
              <a:tr h="0">
                <a:tc gridSpan="14">
                  <a:txBody>
                    <a:bodyPr/>
                    <a:lstStyle/>
                    <a:p>
                      <a:pPr algn="r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189068"/>
                  </a:ext>
                </a:extLst>
              </a:tr>
              <a:tr h="0">
                <a:tc gridSpan="14">
                  <a:txBody>
                    <a:bodyPr/>
                    <a:lstStyle/>
                    <a:p>
                      <a:pPr algn="l"/>
                      <a:r>
                        <a:rPr lang="en-US" i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Note.</a:t>
                      </a:r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 enroll level '1' coded as class 1.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2433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C241F4-BBA8-7330-2447-7397425EB31C}"/>
                  </a:ext>
                </a:extLst>
              </p:cNvPr>
              <p:cNvSpPr txBox="1"/>
              <p:nvPr/>
            </p:nvSpPr>
            <p:spPr>
              <a:xfrm>
                <a:off x="3078993" y="142152"/>
                <a:ext cx="40870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144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833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𝐺𝑃𝐴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C241F4-BBA8-7330-2447-7397425EB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993" y="142152"/>
                <a:ext cx="4087016" cy="369332"/>
              </a:xfrm>
              <a:prstGeom prst="rect">
                <a:avLst/>
              </a:prstGeom>
              <a:blipFill>
                <a:blip r:embed="rId2"/>
                <a:stretch>
                  <a:fillRect l="-2086" r="-1341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9F0524-EC87-8345-2884-8A924220204B}"/>
                  </a:ext>
                </a:extLst>
              </p:cNvPr>
              <p:cNvSpPr txBox="1"/>
              <p:nvPr/>
            </p:nvSpPr>
            <p:spPr>
              <a:xfrm>
                <a:off x="2074501" y="521361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𝑃𝑟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+ 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9F0524-EC87-8345-2884-8A9242202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501" y="521361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9658401-48AA-E5B5-4C1D-7B4D01DE7355}"/>
              </a:ext>
            </a:extLst>
          </p:cNvPr>
          <p:cNvSpPr txBox="1"/>
          <p:nvPr/>
        </p:nvSpPr>
        <p:spPr>
          <a:xfrm>
            <a:off x="7943809" y="449995"/>
            <a:ext cx="40178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Probability of enrolling in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college ‘conditional on’ values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one’s grade point average</a:t>
            </a:r>
          </a:p>
        </p:txBody>
      </p:sp>
    </p:spTree>
    <p:extLst>
      <p:ext uri="{BB962C8B-B14F-4D97-AF65-F5344CB8AC3E}">
        <p14:creationId xmlns:p14="http://schemas.microsoft.com/office/powerpoint/2010/main" val="423048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0FE46-FEF1-677C-1185-5A6C31A07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C359F-B15E-9CA4-ECE3-38A1680AF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Open the file </a:t>
            </a:r>
            <a:r>
              <a:rPr lang="en-US" dirty="0" err="1"/>
              <a:t>passing.JASP</a:t>
            </a:r>
            <a:r>
              <a:rPr lang="en-US" dirty="0"/>
              <a:t> in JASP</a:t>
            </a:r>
          </a:p>
          <a:p>
            <a:r>
              <a:rPr lang="en-US" dirty="0"/>
              <a:t>The data has three made-up variables:</a:t>
            </a:r>
          </a:p>
          <a:p>
            <a:pPr lvl="1"/>
            <a:r>
              <a:rPr lang="en-US" dirty="0"/>
              <a:t>Passed a statistics test</a:t>
            </a:r>
          </a:p>
          <a:p>
            <a:pPr lvl="1"/>
            <a:r>
              <a:rPr lang="en-US" dirty="0"/>
              <a:t>Hours of study</a:t>
            </a:r>
          </a:p>
          <a:p>
            <a:pPr lvl="1"/>
            <a:r>
              <a:rPr lang="en-US" dirty="0"/>
              <a:t>Gender (1 = male, 0 = female)</a:t>
            </a:r>
          </a:p>
          <a:p>
            <a:r>
              <a:rPr lang="en-US" dirty="0"/>
              <a:t>Run a binary logistic regression of passed on hours</a:t>
            </a:r>
          </a:p>
          <a:p>
            <a:pPr lvl="1"/>
            <a:r>
              <a:rPr lang="en-US" dirty="0"/>
              <a:t>Write out the regression equation</a:t>
            </a:r>
          </a:p>
          <a:p>
            <a:pPr lvl="1"/>
            <a:r>
              <a:rPr lang="en-US" dirty="0"/>
              <a:t>Predict the probability of passing for 0, 50, 100, 150,200 and 250 hours of studying</a:t>
            </a:r>
          </a:p>
          <a:p>
            <a:pPr lvl="1"/>
            <a:r>
              <a:rPr lang="en-US" dirty="0"/>
              <a:t>Add gender into the model and interpret the coefficient in terms of odds and percent change in odds</a:t>
            </a:r>
          </a:p>
          <a:p>
            <a:pPr lvl="1"/>
            <a:r>
              <a:rPr lang="en-US" dirty="0"/>
              <a:t>Does adding gender improve the model fit?</a:t>
            </a:r>
          </a:p>
          <a:p>
            <a:pPr lvl="1"/>
            <a:r>
              <a:rPr lang="en-US" dirty="0"/>
              <a:t>Compute the probability of passing for males and females for 100 study hours</a:t>
            </a:r>
          </a:p>
        </p:txBody>
      </p:sp>
    </p:spTree>
    <p:extLst>
      <p:ext uri="{BB962C8B-B14F-4D97-AF65-F5344CB8AC3E}">
        <p14:creationId xmlns:p14="http://schemas.microsoft.com/office/powerpoint/2010/main" val="151317587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163F7-EFC9-4C87-B335-27E127486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Model &amp; 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/>
              <p:nvPr/>
            </p:nvSpPr>
            <p:spPr>
              <a:xfrm>
                <a:off x="4560276" y="1494859"/>
                <a:ext cx="33701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9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082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0276" y="1494859"/>
                <a:ext cx="3370153" cy="369332"/>
              </a:xfrm>
              <a:prstGeom prst="rect">
                <a:avLst/>
              </a:prstGeom>
              <a:blipFill>
                <a:blip r:embed="rId2"/>
                <a:stretch>
                  <a:fillRect l="-2712" r="-1627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/>
              <p:nvPr/>
            </p:nvSpPr>
            <p:spPr>
              <a:xfrm>
                <a:off x="3197352" y="2009226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7352" y="2009226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711D712-E684-4676-87BA-AC5B02F84AB6}"/>
              </a:ext>
            </a:extLst>
          </p:cNvPr>
          <p:cNvSpPr txBox="1"/>
          <p:nvPr/>
        </p:nvSpPr>
        <p:spPr>
          <a:xfrm>
            <a:off x="2625612" y="2820422"/>
            <a:ext cx="7990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Check: What is the Probability of passing when hours =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exp(.082) = 1.085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40820363-54E8-45FA-89E0-0EA585BDCB00}"/>
              </a:ext>
            </a:extLst>
          </p:cNvPr>
          <p:cNvGraphicFramePr>
            <a:graphicFrameLocks noGrp="1"/>
          </p:cNvGraphicFramePr>
          <p:nvPr/>
        </p:nvGraphicFramePr>
        <p:xfrm>
          <a:off x="2625612" y="3567499"/>
          <a:ext cx="812800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18754584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967530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42886392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39887754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8613431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90099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26842621"/>
                    </a:ext>
                  </a:extLst>
                </a:gridCol>
              </a:tblGrid>
              <a:tr h="370840">
                <a:tc gridSpan="7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8467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809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P(</a:t>
                      </a:r>
                      <a:r>
                        <a:rPr lang="en-US" i="1" dirty="0" err="1"/>
                        <a:t>Y</a:t>
                      </a:r>
                      <a:r>
                        <a:rPr lang="en-US" dirty="0" err="1"/>
                        <a:t>|</a:t>
                      </a:r>
                      <a:r>
                        <a:rPr lang="en-US" i="1" dirty="0" err="1"/>
                        <a:t>x</a:t>
                      </a:r>
                      <a:r>
                        <a:rPr lang="en-US" dirty="0"/>
                        <a:t>=</a:t>
                      </a:r>
                      <a:r>
                        <a:rPr lang="en-US" i="1" dirty="0"/>
                        <a:t>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0.9783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47072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9BFAC01-B762-44F6-A22C-C6A5E71CB662}"/>
              </a:ext>
            </a:extLst>
          </p:cNvPr>
          <p:cNvSpPr txBox="1"/>
          <p:nvPr/>
        </p:nvSpPr>
        <p:spPr>
          <a:xfrm>
            <a:off x="2134456" y="4765669"/>
            <a:ext cx="9110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[exp(.082)-1  *100] percent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864E1C-FC24-40CD-88EB-56160CC74F78}"/>
              </a:ext>
            </a:extLst>
          </p:cNvPr>
          <p:cNvSpPr txBox="1"/>
          <p:nvPr/>
        </p:nvSpPr>
        <p:spPr>
          <a:xfrm>
            <a:off x="2134456" y="5112675"/>
            <a:ext cx="8246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about 8.5 percent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E1CEBD-AB22-4755-84C1-0CC6A42074C3}"/>
              </a:ext>
            </a:extLst>
          </p:cNvPr>
          <p:cNvSpPr txBox="1"/>
          <p:nvPr/>
        </p:nvSpPr>
        <p:spPr>
          <a:xfrm>
            <a:off x="2101028" y="5431213"/>
            <a:ext cx="798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are 1.085 times higher for each additional hour spent studying</a:t>
            </a:r>
          </a:p>
        </p:txBody>
      </p:sp>
    </p:spTree>
    <p:extLst>
      <p:ext uri="{BB962C8B-B14F-4D97-AF65-F5344CB8AC3E}">
        <p14:creationId xmlns:p14="http://schemas.microsoft.com/office/powerpoint/2010/main" val="97383663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1F281-EB49-C1F7-10D6-82B23DC8B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example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F0B45-6F42-A7C5-F4EF-B1CAE12CC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example </a:t>
            </a:r>
            <a:r>
              <a:rPr lang="en-US" dirty="0" err="1"/>
              <a:t>logistic.R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728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2&quot;/&gt;&lt;/TableIndex&gt;&lt;/ShapeTextInfo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6&quot;/&gt;&lt;/TableIndex&gt;&lt;/ShapeTextInfo&gt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5&quot;/&gt;&lt;/TableIndex&gt;&lt;/ShapeTextInfo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9&quot;/&gt;&lt;/TableIndex&gt;&lt;/ShapeTextInfo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3&quot;/&gt;&lt;/TableIndex&gt;&lt;/ShapeTextInfo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3&quot;/&gt;&lt;/TableIndex&gt;&lt;/ShapeTextInfo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3&quot;/&gt;&lt;lineCharCount val=&quot;17&quot;/&gt;&lt;lineCharCount val=&quot;14&quot;/&gt;&lt;lineCharCount val=&quot;24&quot;/&gt;&lt;/TableIndex&gt;&lt;/ShapeTextInfo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3&quot;/&gt;&lt;lineCharCount val=&quot;17&quot;/&gt;&lt;lineCharCount val=&quot;19&quot;/&gt;&lt;lineCharCount val=&quot;19&quot;/&gt;&lt;/TableIndex&gt;&lt;/ShapeTextInfo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0&quot;/&gt;&lt;/TableIndex&gt;&lt;/ShapeTextInfo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1&quot; col=&quot;1&quot;&gt;&lt;linesCount val=&quot;4&quot;/&gt;&lt;lineCharCount val=&quot;1&quot;/&gt;&lt;lineCharCount val=&quot;5&quot;/&gt;&lt;lineCharCount val=&quot;7&quot;/&gt;&lt;lineCharCount val=&quot;6&quot;/&gt;&lt;/TableIndex&gt;&lt;TableIndex row=&quot;1&quot; col=&quot;2&quot;&gt;&lt;linesCount val=&quot;3&quot;/&gt;&lt;lineCharCount val=&quot;1&quot;/&gt;&lt;lineCharCount val=&quot;1&quot;/&gt;&lt;lineCharCount val=&quot;7&quot;/&gt;&lt;/TableIndex&gt;&lt;TableIndex row=&quot;1&quot; col=&quot;3&quot;&gt;&lt;linesCount val=&quot;3&quot;/&gt;&lt;lineCharCount val=&quot;1&quot;/&gt;&lt;lineCharCount val=&quot;1&quot;/&gt;&lt;lineCharCount val=&quot;7&quot;/&gt;&lt;/TableIndex&gt;&lt;TableIndex row=&quot;2&quot; col=&quot;1&quot;&gt;&lt;linesCount val=&quot;3&quot;/&gt;&lt;lineCharCount val=&quot;5&quot;/&gt;&lt;lineCharCount val=&quot;7&quot;/&gt;&lt;lineCharCount val=&quot;7&quot;/&gt;&lt;/TableIndex&gt;&lt;TableIndex row=&quot;2&quot; col=&quot;2&quot;&gt;&lt;linesCount val=&quot;2&quot;/&gt;&lt;lineCharCount val=&quot;1&quot;/&gt;&lt;lineCharCount val=&quot;1&quot;/&gt;&lt;/TableIndex&gt;&lt;TableIndex row=&quot;2&quot; col=&quot;3&quot;&gt;&lt;linesCount val=&quot;2&quot;/&gt;&lt;lineCharCount val=&quot;1&quot;/&gt;&lt;lineCharCount val=&quot;1&quot;/&gt;&lt;/TableIndex&gt;&lt;TableIndex row=&quot;3&quot; col=&quot;1&quot;&gt;&lt;linesCount val=&quot;3&quot;/&gt;&lt;lineCharCount val=&quot;5&quot;/&gt;&lt;lineCharCount val=&quot;7&quot;/&gt;&lt;lineCharCount val=&quot;6&quot;/&gt;&lt;/TableIndex&gt;&lt;TableIndex row=&quot;3&quot; col=&quot;2&quot;&gt;&lt;linesCount val=&quot;2&quot;/&gt;&lt;lineCharCount val=&quot;1&quot;/&gt;&lt;lineCharCount val=&quot;1&quot;/&gt;&lt;/TableIndex&gt;&lt;TableIndex row=&quot;3&quot; col=&quot;3&quot;&gt;&lt;linesCount val=&quot;2&quot;/&gt;&lt;lineCharCount val=&quot;1&quot;/&gt;&lt;lineCharCount val=&quot;1&quot;/&gt;&lt;/TableIndex&gt;&lt;/ShapeTextInfo&gt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0&quot;/&gt;&lt;/TableIndex&gt;&lt;/ShapeTextInfo&gt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1&quot; col=&quot;1&quot;&gt;&lt;linesCount val=&quot;4&quot;/&gt;&lt;lineCharCount val=&quot;1&quot;/&gt;&lt;lineCharCount val=&quot;5&quot;/&gt;&lt;lineCharCount val=&quot;7&quot;/&gt;&lt;lineCharCount val=&quot;6&quot;/&gt;&lt;/TableIndex&gt;&lt;TableIndex row=&quot;1&quot; col=&quot;2&quot;&gt;&lt;linesCount val=&quot;3&quot;/&gt;&lt;lineCharCount val=&quot;1&quot;/&gt;&lt;lineCharCount val=&quot;1&quot;/&gt;&lt;lineCharCount val=&quot;7&quot;/&gt;&lt;/TableIndex&gt;&lt;TableIndex row=&quot;1&quot; col=&quot;3&quot;&gt;&lt;linesCount val=&quot;3&quot;/&gt;&lt;lineCharCount val=&quot;1&quot;/&gt;&lt;lineCharCount val=&quot;1&quot;/&gt;&lt;lineCharCount val=&quot;7&quot;/&gt;&lt;/TableIndex&gt;&lt;TableIndex row=&quot;2&quot; col=&quot;1&quot;&gt;&lt;linesCount val=&quot;3&quot;/&gt;&lt;lineCharCount val=&quot;5&quot;/&gt;&lt;lineCharCount val=&quot;7&quot;/&gt;&lt;lineCharCount val=&quot;7&quot;/&gt;&lt;/TableIndex&gt;&lt;TableIndex row=&quot;2&quot; col=&quot;2&quot;&gt;&lt;linesCount val=&quot;2&quot;/&gt;&lt;lineCharCount val=&quot;1&quot;/&gt;&lt;lineCharCount val=&quot;1&quot;/&gt;&lt;/TableIndex&gt;&lt;TableIndex row=&quot;2&quot; col=&quot;3&quot;&gt;&lt;linesCount val=&quot;2&quot;/&gt;&lt;lineCharCount val=&quot;1&quot;/&gt;&lt;lineCharCount val=&quot;1&quot;/&gt;&lt;/TableIndex&gt;&lt;TableIndex row=&quot;3&quot; col=&quot;1&quot;&gt;&lt;linesCount val=&quot;3&quot;/&gt;&lt;lineCharCount val=&quot;5&quot;/&gt;&lt;lineCharCount val=&quot;7&quot;/&gt;&lt;lineCharCount val=&quot;6&quot;/&gt;&lt;/TableIndex&gt;&lt;TableIndex row=&quot;3&quot; col=&quot;2&quot;&gt;&lt;linesCount val=&quot;2&quot;/&gt;&lt;lineCharCount val=&quot;1&quot;/&gt;&lt;lineCharCount val=&quot;1&quot;/&gt;&lt;/TableIndex&gt;&lt;TableIndex row=&quot;3&quot; col=&quot;3&quot;&gt;&lt;linesCount val=&quot;2&quot;/&gt;&lt;lineCharCount val=&quot;1&quot;/&gt;&lt;lineCharCount val=&quot;1&quot;/&gt;&lt;/TableIndex&gt;&lt;/ShapeTextInfo&gt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0&quot;/&gt;&lt;/TableIndex&gt;&lt;/ShapeTextInfo&gt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heme/theme1.xml><?xml version="1.0" encoding="utf-8"?>
<a:theme xmlns:a="http://schemas.openxmlformats.org/drawingml/2006/main" name="RetrospectVTI">
  <a:themeElements>
    <a:clrScheme name="AnalogousFromRegularSeedRightStep">
      <a:dk1>
        <a:srgbClr val="000000"/>
      </a:dk1>
      <a:lt1>
        <a:srgbClr val="FFFFFF"/>
      </a:lt1>
      <a:dk2>
        <a:srgbClr val="34381F"/>
      </a:dk2>
      <a:lt2>
        <a:srgbClr val="E2E8E7"/>
      </a:lt2>
      <a:accent1>
        <a:srgbClr val="DA3657"/>
      </a:accent1>
      <a:accent2>
        <a:srgbClr val="C84724"/>
      </a:accent2>
      <a:accent3>
        <a:srgbClr val="D39834"/>
      </a:accent3>
      <a:accent4>
        <a:srgbClr val="A2A91E"/>
      </a:accent4>
      <a:accent5>
        <a:srgbClr val="76B52D"/>
      </a:accent5>
      <a:accent6>
        <a:srgbClr val="34BB22"/>
      </a:accent6>
      <a:hlink>
        <a:srgbClr val="31937F"/>
      </a:hlink>
      <a:folHlink>
        <a:srgbClr val="7F7F7F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RetrospectVTI">
  <a:themeElements>
    <a:clrScheme name="AnalogousFromRegularSeedRightStep">
      <a:dk1>
        <a:srgbClr val="000000"/>
      </a:dk1>
      <a:lt1>
        <a:srgbClr val="FFFFFF"/>
      </a:lt1>
      <a:dk2>
        <a:srgbClr val="34381F"/>
      </a:dk2>
      <a:lt2>
        <a:srgbClr val="E2E8E7"/>
      </a:lt2>
      <a:accent1>
        <a:srgbClr val="DA3657"/>
      </a:accent1>
      <a:accent2>
        <a:srgbClr val="C84724"/>
      </a:accent2>
      <a:accent3>
        <a:srgbClr val="D39834"/>
      </a:accent3>
      <a:accent4>
        <a:srgbClr val="A2A91E"/>
      </a:accent4>
      <a:accent5>
        <a:srgbClr val="76B52D"/>
      </a:accent5>
      <a:accent6>
        <a:srgbClr val="34BB22"/>
      </a:accent6>
      <a:hlink>
        <a:srgbClr val="31937F"/>
      </a:hlink>
      <a:folHlink>
        <a:srgbClr val="7F7F7F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af2c334-a430-41de-afde-7e5b02016b0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89A7FC12CB50A4097C486CD8CD69117" ma:contentTypeVersion="18" ma:contentTypeDescription="Create a new document." ma:contentTypeScope="" ma:versionID="5c596426e029c3bf96e8f575ab8c5d52">
  <xsd:schema xmlns:xsd="http://www.w3.org/2001/XMLSchema" xmlns:xs="http://www.w3.org/2001/XMLSchema" xmlns:p="http://schemas.microsoft.com/office/2006/metadata/properties" xmlns:ns3="8af2c334-a430-41de-afde-7e5b02016b08" xmlns:ns4="c4f41175-a8a9-44da-a6ab-b9a6b5c297b1" targetNamespace="http://schemas.microsoft.com/office/2006/metadata/properties" ma:root="true" ma:fieldsID="5030ff6c0d614aeeb250d09e255b9f02" ns3:_="" ns4:_="">
    <xsd:import namespace="8af2c334-a430-41de-afde-7e5b02016b08"/>
    <xsd:import namespace="c4f41175-a8a9-44da-a6ab-b9a6b5c297b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f2c334-a430-41de-afde-7e5b02016b0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f41175-a8a9-44da-a6ab-b9a6b5c297b1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9BFB997-11AF-42E3-BCA1-DE0EAF7DA776}">
  <ds:schemaRefs>
    <ds:schemaRef ds:uri="c4f41175-a8a9-44da-a6ab-b9a6b5c297b1"/>
    <ds:schemaRef ds:uri="http://purl.org/dc/elements/1.1/"/>
    <ds:schemaRef ds:uri="http://purl.org/dc/dcmitype/"/>
    <ds:schemaRef ds:uri="http://purl.org/dc/terms/"/>
    <ds:schemaRef ds:uri="http://schemas.microsoft.com/office/2006/metadata/properties"/>
    <ds:schemaRef ds:uri="http://schemas.microsoft.com/office/2006/documentManagement/types"/>
    <ds:schemaRef ds:uri="8af2c334-a430-41de-afde-7e5b02016b08"/>
    <ds:schemaRef ds:uri="http://www.w3.org/XML/1998/namespace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76016826-2327-483A-A4D4-719C389409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130217C-F380-4AB9-B296-54D64B6453D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f2c334-a430-41de-afde-7e5b02016b08"/>
    <ds:schemaRef ds:uri="c4f41175-a8a9-44da-a6ab-b9a6b5c297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18189</TotalTime>
  <Words>5923</Words>
  <Application>Microsoft Office PowerPoint</Application>
  <PresentationFormat>Widescreen</PresentationFormat>
  <Paragraphs>858</Paragraphs>
  <Slides>72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7" baseType="lpstr">
      <vt:lpstr>Aptos Display</vt:lpstr>
      <vt:lpstr>Arial</vt:lpstr>
      <vt:lpstr>Bookman Old Style</vt:lpstr>
      <vt:lpstr>Calibri</vt:lpstr>
      <vt:lpstr>Calibri Light</vt:lpstr>
      <vt:lpstr>Cambria Math</vt:lpstr>
      <vt:lpstr>Comic Sans MS</vt:lpstr>
      <vt:lpstr>Franklin Gothic Book</vt:lpstr>
      <vt:lpstr>Helvetica</vt:lpstr>
      <vt:lpstr>Palatino Linotype</vt:lpstr>
      <vt:lpstr>source-serif-pro</vt:lpstr>
      <vt:lpstr>Times New Roman</vt:lpstr>
      <vt:lpstr>RetrospectVTI</vt:lpstr>
      <vt:lpstr>Office Theme</vt:lpstr>
      <vt:lpstr>1_RetrospectVTI</vt:lpstr>
      <vt:lpstr>Risk Ratios, Odds Ratios, and Logistic Regression</vt:lpstr>
      <vt:lpstr>Measures of Risk</vt:lpstr>
      <vt:lpstr>Four Primary Risk Measures</vt:lpstr>
      <vt:lpstr>Prevalence</vt:lpstr>
      <vt:lpstr>Incidence</vt:lpstr>
      <vt:lpstr>Quantifying Risk and Interpreting Risk</vt:lpstr>
      <vt:lpstr>Quantifying Risk (or Benefit) Presentation and Interpretation of Information on Risk</vt:lpstr>
      <vt:lpstr>Relative Risk, Risk Ratio, or Rate Ratio (RR)</vt:lpstr>
      <vt:lpstr>Example: PTSD among foster youth by physical abuse</vt:lpstr>
      <vt:lpstr>PowerPoint Presentation</vt:lpstr>
      <vt:lpstr>Your Turn: Incidence of COVID-19 in a sample of individuals who received the Pfizer Vaccine</vt:lpstr>
      <vt:lpstr>Relationship between prevalence, probability and odds</vt:lpstr>
      <vt:lpstr>Interpretation</vt:lpstr>
      <vt:lpstr>Example</vt:lpstr>
      <vt:lpstr>Solution</vt:lpstr>
      <vt:lpstr>Relationship between probability and odds</vt:lpstr>
      <vt:lpstr>Example</vt:lpstr>
      <vt:lpstr>Intuition</vt:lpstr>
      <vt:lpstr>Computing Odds</vt:lpstr>
      <vt:lpstr>Example</vt:lpstr>
      <vt:lpstr>The Odds Ratio</vt:lpstr>
      <vt:lpstr>PowerPoint Presentation</vt:lpstr>
      <vt:lpstr>PowerPoint Presentation</vt:lpstr>
      <vt:lpstr>PowerPoint Presentation</vt:lpstr>
      <vt:lpstr>Easy Formula to use</vt:lpstr>
      <vt:lpstr>Easy Formula to use</vt:lpstr>
      <vt:lpstr>Other interpretations</vt:lpstr>
      <vt:lpstr>Introduction</vt:lpstr>
      <vt:lpstr>Research Questions &amp; Methodological Approaches</vt:lpstr>
      <vt:lpstr>Generalized Linear Models</vt:lpstr>
      <vt:lpstr> The sigmoidal function models the probability that Y = 1 conditional on X (i.e., values falling along the x-axis); using the logit function ensures that the Y values will be between 0 and 1 for all values of X (i.e., no matter the range of X)</vt:lpstr>
      <vt:lpstr>Univariate versus multivariate logistic regression</vt:lpstr>
      <vt:lpstr>Mechanics of Logistic Regression</vt:lpstr>
      <vt:lpstr>From Odds to Probability and Back Again</vt:lpstr>
      <vt:lpstr>Recall the relation between odds and probability</vt:lpstr>
      <vt:lpstr>Equivalent forms of the logistic regression model</vt:lpstr>
      <vt:lpstr>Mechanics of Logistic Regression</vt:lpstr>
      <vt:lpstr>Model fit</vt:lpstr>
      <vt:lpstr>Change in Log Likelihood test for model fit (1)</vt:lpstr>
      <vt:lpstr>Predicted Group Membership for determining model fit (2)</vt:lpstr>
      <vt:lpstr>Terminology for Predicted Group Membership table (1)</vt:lpstr>
      <vt:lpstr>Terminology for Predicted Group Membership table (2)</vt:lpstr>
      <vt:lpstr>Test of Significance of the Logistic Regression Coefficients</vt:lpstr>
      <vt:lpstr>What Logistic Regression Is and How It Works: Assumptions </vt:lpstr>
      <vt:lpstr>Recall the model</vt:lpstr>
      <vt:lpstr>What Logistic Regression Is and How It Works: Sample Size</vt:lpstr>
      <vt:lpstr>What Logistic Regression Is and How It Works: Effect Size</vt:lpstr>
      <vt:lpstr>Review Algebra</vt:lpstr>
      <vt:lpstr>Mathematical Snapshot</vt:lpstr>
      <vt:lpstr>Binary Logistic Regression in JASP</vt:lpstr>
      <vt:lpstr>Focus on the results first</vt:lpstr>
      <vt:lpstr>Computing probabilities</vt:lpstr>
      <vt:lpstr>Table of predicted probabilities</vt:lpstr>
      <vt:lpstr>Model Summary &amp; Classification</vt:lpstr>
      <vt:lpstr>More on classifications and correctly predicted observations</vt:lpstr>
      <vt:lpstr>PowerPoint Presentation</vt:lpstr>
      <vt:lpstr>PowerPoint Presentation</vt:lpstr>
      <vt:lpstr>Improving classification</vt:lpstr>
      <vt:lpstr>PowerPoint Presentation</vt:lpstr>
      <vt:lpstr>You may want to report…</vt:lpstr>
      <vt:lpstr>Log-Likelihood</vt:lpstr>
      <vt:lpstr>Does the addition of gender improve the model fit?</vt:lpstr>
      <vt:lpstr>PowerPoint Presentation</vt:lpstr>
      <vt:lpstr>Let’s do this in JASP</vt:lpstr>
      <vt:lpstr>Your turn</vt:lpstr>
      <vt:lpstr>Model &amp; Interpretation</vt:lpstr>
      <vt:lpstr>Jasp Output</vt:lpstr>
      <vt:lpstr>Let’s add a binary variable, gender, to the equation</vt:lpstr>
      <vt:lpstr>PowerPoint Presentation</vt:lpstr>
      <vt:lpstr>Your turn</vt:lpstr>
      <vt:lpstr>Model &amp; Interpretation</vt:lpstr>
      <vt:lpstr>Full example in 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8</dc:title>
  <dc:creator>Gia Barboza</dc:creator>
  <cp:lastModifiedBy>Barboza-Salerno, Gia</cp:lastModifiedBy>
  <cp:revision>249</cp:revision>
  <dcterms:created xsi:type="dcterms:W3CDTF">2021-03-16T23:24:52Z</dcterms:created>
  <dcterms:modified xsi:type="dcterms:W3CDTF">2026-02-15T13:43:36Z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0x010100A89A7FC12CB50A4097C486CD8CD69117</vt:lpwstr>
  </property>
</Properties>
</file>